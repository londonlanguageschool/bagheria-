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OPENING (3 min)
OPENING (3 min). SB 1a. Teach pick someone up / drop someone off. TG extra challenge: ask for more information (Where were you going? Who did you pick up?). TG lead-in idea: 2 minutes – five things people do at an airport (check in, board, fly, land, meet somebody…).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2. Vocabulary · airports (1) (3 min)
SIGNS 1–6 (3 min). SB 1b. Pairs match; click once per sign. Key (TG): 1 baggage reclaim 2 departures 3 arrivals 4 terminal 5 lifts 6 trolley. Drill: baggage /ˈbæɡɪdʒ/, customs /ˈkʌstəmz/, trolley /ˈtrɒli/. Watch out: customs ≠ costumes!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3. Vocabulary · airports (2) (3 min)
SIGNS 7–12 (3 min). Key (TG): 7 bag drop 8 customs 9 check-in 10 passport control 11 gates 12 security check. Then 1c: students cover the words and test each other: point at a sign → say the word.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4. Listening · where are you? (3 min)
WHERE ARE YOU? (3 min). Audio 3.2 isn't in our files – READ the lines aloud (act them!). Item 1 is the book's example. Key (TG): 1 a lift 2 baggage reclaim 3 security check 4 gates 5 passport control 6 check-in.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5. Pronunciation · the letter g (1) (3 min)
LETTER g (1) (3 min). 2a: baggage – gg = /ɡ/, ge = /dʒ/ (both in one word – the e.g.!). Key (TG): /ɡ/ gate, foggy, forget, guide · /dʒ/ large, village, engineer.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6. Pronunciation · the letter g (2) (3 min)
LETTER g (2) (3 min). Key (TG): /ɡ/ guest, begin, gift, guarantee, organize · /dʒ/ agent, region, emergency, general. 2c: g = /dʒ/ when it's followed by e or i (but get, give, begin, gift = /ɡ/ – learn them!).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7. Reading · No more boring stopovers (5 min)
READING (8 min). 3a: read once – 'Is it a good idea?' (show the photo of the founders). 3b: gap 1 is the example (D). TG tip: look at the words before and after each gap – mainly connectors (and, or, so, because). One click per gap. Key (TG): 1 D 2 H 3 E 4 F (5–8 next slide). Extra questions (TG): What is TripAside? Which airports offer trips? Is TripAside unique?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8. Reading · No more boring stopovers (4 min)
READING PART 2 (4 min). Key (TG): 5 C 6 G 7 B 8 A. Then: Is it a good idea? Would you book a tour? (READING (8 min) – 3a: read once – 'Is it a good idea?' (show the photo of the founders). 3b: gap 1 is the example (D). TG tip: look at the words before and after each gap – mainly connectors (and, or, so, because). One click per gap. Key (TG): 1 D 2 H 3 E 4 F 5 C 6 G 7 B 8 A. Extra questions (TG): What is TripAside? Which airports offer trips? Is TripAside unique?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9. Vocabulary · air travel (3 min)
AIR TRAVEL WORDS (3 min). SB 3c – the first 5 are from the book (TG definitions); the last 3 recycle the opening. Drill the stress.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10. Listening · Jake meets his guide (7 min)
LISTENING (7 min). Audio 3.4 isn't in our files – READ the conversation in two voices (or ask a strong student to read Anna). First: which city? Then the 10 sentences (exactly as the book). Key (TG): 1T 2F 3F 4T 5F 6T 7T 8F 9F 10T.
SCRIPT: A Hello, Mr Bevan. I'm Anna, your tour guide. J Hi. Please, call me Jake. A OK, Jake. Nice to meet you. How was the flight? Are you very tired? J No, I'm fine. A Great. Let's go to the car park, then. Is it your first time here? J Yeah. I was in Europe when I was a student, but somehow I never got here. A And your final destination is London, is that right? J Yes. I'm going to give a talk at a conference in Oxford. A So work, not pleasure? J Yes – well, maybe some pleasure, too. I have a friend – well, an ex-girlfriend, really, who I was with when I was a student. She's British – she lives in Oxford – and we're planning to meet up. A That's nice! OK, so now I'm going to tell you a bit about our tour today. We're going to drive to the centre – it takes about forty-five minutes – and then we're going to start at the Colosseum. J Great. I've always wanted to see it. A And then we're going to visit the Forum. After that, we're going to see the Pantheon – one of the oldest buildings in the city. J Wow. A So, then we are very near the Via del Corso, where all the best shops are. Would you like to maybe do some shopping? J Well, I'd like to see the shops, but I'm probably not going to buy anything. A Maybe a little present – a present for your friend in Oxford? J Well, maybe. A And then I'm sure you're going to be hungry, so I'm going to take you to a really nice restaurant for lunch. We can have pizza, or a good carbonara, a gelato – an ice cream, that is. Our typical dishes, but I promise you, very different from Italian food in America. J Sounds great. And then back to the airport, I guess? A That's right. We need to allow time for that. J Yes, I don't want to miss my flight. A Don't worry. We do this tour every day – and nobody has ever missed their flight. J Is it going to be very hot today? A No, not too hot. It's going to be nice: about twenty-two degrees. J Perfect. It's going to be a fantastic day. A Here we are. If you can just wait a minute while I pay for the parking. Oh, Mr Bevan – Jake – is this yours? J My passport! Thanks, Anna. Typical me. I always lose things when I'm travelling.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11. Grammar · be going to (5 min)
GRAMMAR (5 min). 4a: 1 is the example. Read Jake and Anna's lines aloud if needed (no audio 3.5). One click per gap. Key (TG): 1 'm going to give 2 're going to drive 3 're going to visit 4 'm (probably) not going to buy 5 Is (it) going to be 6 's going to be. 4b: 1–3 Pl, 4–6 Pr. Note (TG): fast speech – going to sounds like 'gonna'.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12. Grammar Bank 3A · the rule (3 min)
RULE (3 min). Grammar Bank 3A – examples from the GB and TG. Click once per column. Then GB exercises p.131 (homework or now): a 1 Is…going to learn 2 aren't going to go, 're going to stay 3 're going to be 4 's going to get 5 'm going to cook 6 'm not going to listen 7 are…going to do, 'm going to study · b 1 's going to win 2 're going to be 3 're going to break.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13. Game · predictions (4 min)
FORTUNE TELLER (4 min). The first is the example. Accept any good prediction with going to; extra point for a funny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14. Speaking · What are your plans? (4 min)
PLANS (4 min). SB 4d: use the Communication pages (A p.103, B p.109) or these questions. Sit A and B face to face. Get feedback: 'Marco is going to…'.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15. Speaking · plan a stopover tour (8 min)
SPEAKING (8 min). SB 5: travellers arrive at 9 a.m. and must be back at 3.30 p.m. – we use Palermo (Falcone Borsellino) so it's real for them. Monitor and correct going to. Each pair presents; class votes with a show of hands.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16. Exit · what can you remember? (2 min)
EXIT (2 min). Pairs, books closed.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17. Review · what did you do today? (1 min)
TODAY YOU… (1 min). Read each line (one per click: the tick appears). Students show thumbs up / middle / down: can they do it now? Note any thumbs down for the next lesson's recap.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18. OPTIONAL EXTENSIONS
The lesson ended on the previous slide ("Today you…"). Use the next slides only if there is time left, or keep them for a quick start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19. Speaking · stopovers (3 min)
EXTRA (3 min). SB 3f. If you've had a long stopover, tell them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jpe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jpe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jpe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jpe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jpe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jpe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jpe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rs_1"/>
          <p:cNvSpPr/>
          <p:nvPr/>
        </p:nvSpPr>
        <p:spPr>
          <a:xfrm>
            <a:off x="411480" y="29260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English File Pre-intermediate · SB pp.22–23</a:t>
            </a:r>
            <a:endParaRPr lang="en-US" sz="1000" dirty="0"/>
          </a:p>
        </p:txBody>
      </p:sp>
      <p:sp>
        <p:nvSpPr>
          <p:cNvPr id="4" name="bd_2"/>
          <p:cNvSpPr/>
          <p:nvPr/>
        </p:nvSpPr>
        <p:spPr>
          <a:xfrm>
            <a:off x="365760" y="640080"/>
            <a:ext cx="1051560" cy="1051560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3A</a:t>
            </a:r>
            <a:endParaRPr lang="en-US" sz="2800" dirty="0"/>
          </a:p>
        </p:txBody>
      </p:sp>
      <p:pic>
        <p:nvPicPr>
          <p:cNvPr id="5" name="bry_3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713232"/>
            <a:ext cx="3566160" cy="868680"/>
          </a:xfrm>
          <a:prstGeom prst="rect">
            <a:avLst/>
          </a:prstGeom>
        </p:spPr>
      </p:pic>
      <p:sp>
        <p:nvSpPr>
          <p:cNvPr id="6" name="t_4"/>
          <p:cNvSpPr/>
          <p:nvPr/>
        </p:nvSpPr>
        <p:spPr>
          <a:xfrm>
            <a:off x="1645920" y="7315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TripAside</a:t>
            </a:r>
            <a:endParaRPr lang="en-US" sz="3000" dirty="0"/>
          </a:p>
        </p:txBody>
      </p:sp>
      <p:pic>
        <p:nvPicPr>
          <p:cNvPr id="7" name="brp_5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1517904"/>
            <a:ext cx="3017520" cy="384048"/>
          </a:xfrm>
          <a:prstGeom prst="rect">
            <a:avLst/>
          </a:prstGeom>
        </p:spPr>
      </p:pic>
      <p:sp>
        <p:nvSpPr>
          <p:cNvPr id="8" name="st_6"/>
          <p:cNvSpPr/>
          <p:nvPr/>
        </p:nvSpPr>
        <p:spPr>
          <a:xfrm>
            <a:off x="1691640" y="1517904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Airports · be going to (plans and predictions)</a:t>
            </a:r>
            <a:endParaRPr lang="en-US" sz="1050" dirty="0"/>
          </a:p>
        </p:txBody>
      </p:sp>
      <p:sp>
        <p:nvSpPr>
          <p:cNvPr id="9" name="cd_7"/>
          <p:cNvSpPr/>
          <p:nvPr/>
        </p:nvSpPr>
        <p:spPr>
          <a:xfrm>
            <a:off x="365760" y="2148840"/>
            <a:ext cx="4206240" cy="1691640"/>
          </a:xfrm>
          <a:prstGeom prst="roundRect">
            <a:avLst>
              <a:gd name="adj" fmla="val 7568"/>
            </a:avLst>
          </a:prstGeom>
          <a:solidFill>
            <a:srgbClr val="E3F1FD"/>
          </a:solidFill>
          <a:ln w="28575">
            <a:solidFill>
              <a:srgbClr val="A9D3F5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0" name="ii_8"/>
          <p:cNvSpPr/>
          <p:nvPr/>
        </p:nvSpPr>
        <p:spPr>
          <a:xfrm>
            <a:off x="457200" y="2221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11" name="ih_9"/>
          <p:cNvSpPr/>
          <p:nvPr/>
        </p:nvSpPr>
        <p:spPr>
          <a:xfrm>
            <a:off x="932688" y="22402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Today you're going to…</a:t>
            </a:r>
            <a:endParaRPr lang="en-US" sz="1600" dirty="0"/>
          </a:p>
        </p:txBody>
      </p:sp>
      <p:sp>
        <p:nvSpPr>
          <p:cNvPr id="12" name="il_10"/>
          <p:cNvSpPr/>
          <p:nvPr/>
        </p:nvSpPr>
        <p:spPr>
          <a:xfrm>
            <a:off x="932688" y="2642616"/>
            <a:ext cx="3547872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✈️  learn 12 airport words and signs</a:t>
            </a:r>
            <a:endParaRPr lang="en-US" sz="850" dirty="0"/>
          </a:p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8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🔤  say the letter g: girl or jazz?</a:t>
            </a:r>
            <a:endParaRPr lang="en-US" sz="850" dirty="0"/>
          </a:p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8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📖  read about stopover tours</a:t>
            </a:r>
            <a:endParaRPr lang="en-US" sz="850" dirty="0"/>
          </a:p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8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🔮  be going to: plans and predictions</a:t>
            </a:r>
            <a:endParaRPr lang="en-US" sz="850" dirty="0"/>
          </a:p>
          <a:p>
            <a:pPr indent="0" marL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8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🗺️  plan a tour from Palermo airport</a:t>
            </a:r>
            <a:endParaRPr lang="en-US" sz="850" dirty="0"/>
          </a:p>
        </p:txBody>
      </p:sp>
      <p:sp>
        <p:nvSpPr>
          <p:cNvPr id="13" name="R1_ex11"/>
          <p:cNvSpPr/>
          <p:nvPr/>
        </p:nvSpPr>
        <p:spPr>
          <a:xfrm>
            <a:off x="365760" y="3950208"/>
            <a:ext cx="4206240" cy="603504"/>
          </a:xfrm>
          <a:prstGeom prst="roundRect">
            <a:avLst>
              <a:gd name="adj" fmla="val 18182"/>
            </a:avLst>
          </a:prstGeom>
          <a:solidFill>
            <a:srgbClr val="FFF6CC"/>
          </a:solidFill>
          <a:ln w="28575">
            <a:solidFill>
              <a:srgbClr val="FFE07A"/>
            </a:solidFill>
          </a:ln>
        </p:spPr>
        <p:txBody>
          <a:bodyPr wrap="square" lIns="152400" tIns="25400" rIns="152400" bIns="2540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E8508F"/>
                </a:solidFill>
                <a:latin typeface="Segoe UI Black" pitchFamily="34" charset="0"/>
                <a:ea typeface="Segoe UI Black" pitchFamily="34" charset="-122"/>
                <a:cs typeface="Segoe UI Black" pitchFamily="34" charset="-120"/>
              </a:rPr>
              <a:t>EXAMPLE  </a:t>
            </a:r>
            <a:pPr indent="0" marL="0">
              <a:buNone/>
            </a:pPr>
            <a:r>
              <a:rPr lang="en-US" sz="130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Last August I went to Palermo airport to pick up my cousin from London.</a:t>
            </a:r>
            <a:endParaRPr lang="en-US" sz="1000" dirty="0"/>
          </a:p>
        </p:txBody>
      </p:sp>
      <p:sp>
        <p:nvSpPr>
          <p:cNvPr id="14" name="pf_12"/>
          <p:cNvSpPr/>
          <p:nvPr/>
        </p:nvSpPr>
        <p:spPr>
          <a:xfrm rot="90000">
            <a:off x="4846320" y="777240"/>
            <a:ext cx="3977640" cy="3200400"/>
          </a:xfrm>
          <a:prstGeom prst="roundRect">
            <a:avLst>
              <a:gd name="adj" fmla="val 4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15" name="ph_13" descr="/home/claude/lls-course/v2/cache/a2_3a_jake_anna_jpg_935x748_3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90000">
            <a:off x="4892040" y="822960"/>
            <a:ext cx="3886200" cy="3108960"/>
          </a:xfrm>
          <a:prstGeom prst="rect">
            <a:avLst/>
          </a:prstGeom>
        </p:spPr>
      </p:pic>
      <p:sp>
        <p:nvSpPr>
          <p:cNvPr id="16" name="bb_14"/>
          <p:cNvSpPr/>
          <p:nvPr/>
        </p:nvSpPr>
        <p:spPr>
          <a:xfrm>
            <a:off x="5120640" y="3611880"/>
            <a:ext cx="3566160" cy="822960"/>
          </a:xfrm>
          <a:prstGeom prst="wedgeRoundRectCallout">
            <a:avLst/>
          </a:prstGeom>
          <a:solidFill>
            <a:srgbClr val="FFFFF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0000"/>
              </a:srgbClr>
            </a:outerShdw>
          </a:effectLst>
        </p:spPr>
        <p:txBody>
          <a:bodyPr wrap="square" lIns="127000" tIns="50800" rIns="1270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When was the last time you went to an airport? Was it to travel somewhere or to pick up or drop off someone?</a:t>
            </a:r>
            <a:endParaRPr lang="en-US" sz="1300" dirty="0"/>
          </a:p>
        </p:txBody>
      </p:sp>
      <p:sp>
        <p:nvSpPr>
          <p:cNvPr id="17" name="st_15"/>
          <p:cNvSpPr/>
          <p:nvPr/>
        </p:nvSpPr>
        <p:spPr>
          <a:xfrm rot="360000">
            <a:off x="7543800" y="502920"/>
            <a:ext cx="1325880" cy="38404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💡 THINK · PENSA</a:t>
            </a:r>
            <a:endParaRPr lang="en-US" sz="950" dirty="0"/>
          </a:p>
        </p:txBody>
      </p:sp>
      <p:pic>
        <p:nvPicPr>
          <p:cNvPr id="18" name="logo_16" descr="/home/claude/lls-course/v2/img/log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5632" y="4526280"/>
            <a:ext cx="502920" cy="502920"/>
          </a:xfrm>
          <a:prstGeom prst="rect">
            <a:avLst/>
          </a:prstGeom>
        </p:spPr>
      </p:pic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17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2800" dirty="0"/>
          </a:p>
        </p:txBody>
      </p:sp>
      <p:pic>
        <p:nvPicPr>
          <p:cNvPr id="4" name="brY_18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3405226" cy="621792"/>
          </a:xfrm>
          <a:prstGeom prst="rect">
            <a:avLst/>
          </a:prstGeom>
        </p:spPr>
      </p:pic>
      <p:sp>
        <p:nvSpPr>
          <p:cNvPr id="5" name="title_19"/>
          <p:cNvSpPr/>
          <p:nvPr/>
        </p:nvSpPr>
        <p:spPr>
          <a:xfrm>
            <a:off x="1261872" y="164592"/>
            <a:ext cx="31309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Airport signs (1)</a:t>
            </a:r>
            <a:endParaRPr lang="en-US" sz="2500" dirty="0"/>
          </a:p>
        </p:txBody>
      </p:sp>
      <p:pic>
        <p:nvPicPr>
          <p:cNvPr id="6" name="brP_20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4466844" cy="402336"/>
          </a:xfrm>
          <a:prstGeom prst="rect">
            <a:avLst/>
          </a:prstGeom>
        </p:spPr>
      </p:pic>
      <p:sp>
        <p:nvSpPr>
          <p:cNvPr id="7" name="ins_21"/>
          <p:cNvSpPr/>
          <p:nvPr/>
        </p:nvSpPr>
        <p:spPr>
          <a:xfrm>
            <a:off x="1353312" y="731520"/>
            <a:ext cx="42108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Match the signs 1–6 to the words. Say them!</a:t>
            </a:r>
            <a:endParaRPr lang="en-US" sz="1250" dirty="0"/>
          </a:p>
        </p:txBody>
      </p:sp>
      <p:sp>
        <p:nvSpPr>
          <p:cNvPr id="8" name="insIT_22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Abbina i cartelli 1–6 alle parole. Dille!</a:t>
            </a:r>
            <a:endParaRPr lang="en-US" sz="950" dirty="0"/>
          </a:p>
        </p:txBody>
      </p:sp>
      <p:sp>
        <p:nvSpPr>
          <p:cNvPr id="9" name="note_23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👀 LOOK</a:t>
            </a:r>
            <a:pPr algn="ctr" indent="0" marL="0">
              <a:buNone/>
            </a:pPr>
            <a:r>
              <a:rPr lang="en-US" sz="1200" dirty="0">
                <a:solidFill>
                  <a:srgbClr val="5B6785"/>
                </a:solidFill>
              </a:rPr>
              <a:t> → </a:t>
            </a:r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🔗 MATCH</a:t>
            </a:r>
            <a:endParaRPr lang="en-US" sz="11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3 min   👥 pairs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Vocabulary · Controlled practice</a:t>
            </a:r>
            <a:endParaRPr lang="en-US" sz="1150" dirty="0"/>
          </a:p>
        </p:txBody>
      </p:sp>
      <p:pic>
        <p:nvPicPr>
          <p:cNvPr id="10" name="logo_24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25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3A · Vocabulary · airports (1)   ·   📖 SB p.22 · 1b, 1c (TG key 3.1)</a:t>
            </a:r>
            <a:endParaRPr lang="en-US" sz="800" dirty="0"/>
          </a:p>
        </p:txBody>
      </p:sp>
      <p:sp>
        <p:nvSpPr>
          <p:cNvPr id="12" name="cd_26"/>
          <p:cNvSpPr/>
          <p:nvPr/>
        </p:nvSpPr>
        <p:spPr>
          <a:xfrm>
            <a:off x="320040" y="1417320"/>
            <a:ext cx="2697480" cy="1371600"/>
          </a:xfrm>
          <a:prstGeom prst="roundRect">
            <a:avLst>
              <a:gd name="adj" fmla="val 9333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3" name="ii_27"/>
          <p:cNvSpPr/>
          <p:nvPr/>
        </p:nvSpPr>
        <p:spPr>
          <a:xfrm>
            <a:off x="4114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⭐</a:t>
            </a:r>
            <a:endParaRPr lang="en-US" sz="2200" dirty="0"/>
          </a:p>
        </p:txBody>
      </p:sp>
      <p:sp>
        <p:nvSpPr>
          <p:cNvPr id="14" name="ih_28"/>
          <p:cNvSpPr/>
          <p:nvPr/>
        </p:nvSpPr>
        <p:spPr>
          <a:xfrm>
            <a:off x="886968" y="15087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Example</a:t>
            </a:r>
            <a:endParaRPr lang="en-US" sz="1300" dirty="0"/>
          </a:p>
        </p:txBody>
      </p:sp>
      <p:sp>
        <p:nvSpPr>
          <p:cNvPr id="15" name="il_29"/>
          <p:cNvSpPr/>
          <p:nvPr/>
        </p:nvSpPr>
        <p:spPr>
          <a:xfrm>
            <a:off x="886968" y="1911096"/>
            <a:ext cx="203911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arrivals · bag drop · baggage reclaim · check-in · customs · departures · gates · lifts · passport control · security check · terminal · trolley</a:t>
            </a:r>
            <a:endParaRPr lang="en-US" sz="900" dirty="0"/>
          </a:p>
        </p:txBody>
      </p:sp>
      <p:sp>
        <p:nvSpPr>
          <p:cNvPr id="16" name="pf_30"/>
          <p:cNvSpPr/>
          <p:nvPr/>
        </p:nvSpPr>
        <p:spPr>
          <a:xfrm rot="-90000">
            <a:off x="899806" y="2971800"/>
            <a:ext cx="1537948" cy="1691640"/>
          </a:xfrm>
          <a:prstGeom prst="roundRect">
            <a:avLst>
              <a:gd name="adj" fmla="val 1010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17" name="ph_31" descr="/home/claude/lls-course/v2/cache/a2_3a_signs_jpg_348x385_3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90000">
            <a:off x="945526" y="3017520"/>
            <a:ext cx="1446508" cy="1600200"/>
          </a:xfrm>
          <a:prstGeom prst="rect">
            <a:avLst/>
          </a:prstGeom>
        </p:spPr>
      </p:pic>
      <p:sp>
        <p:nvSpPr>
          <p:cNvPr id="18" name="bd_32"/>
          <p:cNvSpPr/>
          <p:nvPr/>
        </p:nvSpPr>
        <p:spPr>
          <a:xfrm>
            <a:off x="3246120" y="1490472"/>
            <a:ext cx="310896" cy="310896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000" dirty="0"/>
          </a:p>
        </p:txBody>
      </p:sp>
      <p:sp>
        <p:nvSpPr>
          <p:cNvPr id="19" name="q_33"/>
          <p:cNvSpPr/>
          <p:nvPr/>
        </p:nvSpPr>
        <p:spPr>
          <a:xfrm>
            <a:off x="3630168" y="141732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Sign 1</a:t>
            </a:r>
            <a:endParaRPr lang="en-US" sz="1150" dirty="0"/>
          </a:p>
        </p:txBody>
      </p:sp>
      <p:sp>
        <p:nvSpPr>
          <p:cNvPr id="20" name="R1_chip34"/>
          <p:cNvSpPr/>
          <p:nvPr/>
        </p:nvSpPr>
        <p:spPr>
          <a:xfrm>
            <a:off x="5806440" y="141732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baggage reclaim</a:t>
            </a:r>
            <a:endParaRPr lang="en-US" sz="1050" dirty="0"/>
          </a:p>
        </p:txBody>
      </p:sp>
      <p:sp>
        <p:nvSpPr>
          <p:cNvPr id="21" name="bd_35"/>
          <p:cNvSpPr/>
          <p:nvPr/>
        </p:nvSpPr>
        <p:spPr>
          <a:xfrm>
            <a:off x="3246120" y="1993392"/>
            <a:ext cx="310896" cy="310896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000" dirty="0"/>
          </a:p>
        </p:txBody>
      </p:sp>
      <p:sp>
        <p:nvSpPr>
          <p:cNvPr id="22" name="q_36"/>
          <p:cNvSpPr/>
          <p:nvPr/>
        </p:nvSpPr>
        <p:spPr>
          <a:xfrm>
            <a:off x="3630168" y="192024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Sign 2</a:t>
            </a:r>
            <a:endParaRPr lang="en-US" sz="1150" dirty="0"/>
          </a:p>
        </p:txBody>
      </p:sp>
      <p:sp>
        <p:nvSpPr>
          <p:cNvPr id="23" name="R2_chip37"/>
          <p:cNvSpPr/>
          <p:nvPr/>
        </p:nvSpPr>
        <p:spPr>
          <a:xfrm>
            <a:off x="5806440" y="192024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departures</a:t>
            </a:r>
            <a:endParaRPr lang="en-US" sz="1050" dirty="0"/>
          </a:p>
        </p:txBody>
      </p:sp>
      <p:sp>
        <p:nvSpPr>
          <p:cNvPr id="24" name="bd_38"/>
          <p:cNvSpPr/>
          <p:nvPr/>
        </p:nvSpPr>
        <p:spPr>
          <a:xfrm>
            <a:off x="3246120" y="2496312"/>
            <a:ext cx="310896" cy="310896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000" dirty="0"/>
          </a:p>
        </p:txBody>
      </p:sp>
      <p:sp>
        <p:nvSpPr>
          <p:cNvPr id="25" name="q_39"/>
          <p:cNvSpPr/>
          <p:nvPr/>
        </p:nvSpPr>
        <p:spPr>
          <a:xfrm>
            <a:off x="3630168" y="242316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Sign 3</a:t>
            </a:r>
            <a:endParaRPr lang="en-US" sz="1150" dirty="0"/>
          </a:p>
        </p:txBody>
      </p:sp>
      <p:sp>
        <p:nvSpPr>
          <p:cNvPr id="26" name="R3_chip40"/>
          <p:cNvSpPr/>
          <p:nvPr/>
        </p:nvSpPr>
        <p:spPr>
          <a:xfrm>
            <a:off x="5806440" y="242316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arrivals</a:t>
            </a:r>
            <a:endParaRPr lang="en-US" sz="1050" dirty="0"/>
          </a:p>
        </p:txBody>
      </p:sp>
      <p:sp>
        <p:nvSpPr>
          <p:cNvPr id="27" name="bd_41"/>
          <p:cNvSpPr/>
          <p:nvPr/>
        </p:nvSpPr>
        <p:spPr>
          <a:xfrm>
            <a:off x="3246120" y="2999232"/>
            <a:ext cx="310896" cy="310896"/>
          </a:xfrm>
          <a:prstGeom prst="ellipse">
            <a:avLst/>
          </a:prstGeom>
          <a:solidFill>
            <a:srgbClr val="F2B705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000" dirty="0"/>
          </a:p>
        </p:txBody>
      </p:sp>
      <p:sp>
        <p:nvSpPr>
          <p:cNvPr id="28" name="q_42"/>
          <p:cNvSpPr/>
          <p:nvPr/>
        </p:nvSpPr>
        <p:spPr>
          <a:xfrm>
            <a:off x="3630168" y="292608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Sign 4</a:t>
            </a:r>
            <a:endParaRPr lang="en-US" sz="1150" dirty="0"/>
          </a:p>
        </p:txBody>
      </p:sp>
      <p:sp>
        <p:nvSpPr>
          <p:cNvPr id="29" name="R4_chip43"/>
          <p:cNvSpPr/>
          <p:nvPr/>
        </p:nvSpPr>
        <p:spPr>
          <a:xfrm>
            <a:off x="5806440" y="292608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terminal</a:t>
            </a:r>
            <a:endParaRPr lang="en-US" sz="1050" dirty="0"/>
          </a:p>
        </p:txBody>
      </p:sp>
      <p:sp>
        <p:nvSpPr>
          <p:cNvPr id="30" name="bd_44"/>
          <p:cNvSpPr/>
          <p:nvPr/>
        </p:nvSpPr>
        <p:spPr>
          <a:xfrm>
            <a:off x="3246120" y="3502152"/>
            <a:ext cx="310896" cy="310896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</a:t>
            </a:r>
            <a:endParaRPr lang="en-US" sz="1000" dirty="0"/>
          </a:p>
        </p:txBody>
      </p:sp>
      <p:sp>
        <p:nvSpPr>
          <p:cNvPr id="31" name="q_45"/>
          <p:cNvSpPr/>
          <p:nvPr/>
        </p:nvSpPr>
        <p:spPr>
          <a:xfrm>
            <a:off x="3630168" y="342900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Sign 5</a:t>
            </a:r>
            <a:endParaRPr lang="en-US" sz="1150" dirty="0"/>
          </a:p>
        </p:txBody>
      </p:sp>
      <p:sp>
        <p:nvSpPr>
          <p:cNvPr id="32" name="R5_chip46"/>
          <p:cNvSpPr/>
          <p:nvPr/>
        </p:nvSpPr>
        <p:spPr>
          <a:xfrm>
            <a:off x="5806440" y="342900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lifts</a:t>
            </a:r>
            <a:endParaRPr lang="en-US" sz="1050" dirty="0"/>
          </a:p>
        </p:txBody>
      </p:sp>
      <p:sp>
        <p:nvSpPr>
          <p:cNvPr id="33" name="bd_47"/>
          <p:cNvSpPr/>
          <p:nvPr/>
        </p:nvSpPr>
        <p:spPr>
          <a:xfrm>
            <a:off x="3246120" y="4005072"/>
            <a:ext cx="310896" cy="310896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6</a:t>
            </a:r>
            <a:endParaRPr lang="en-US" sz="1000" dirty="0"/>
          </a:p>
        </p:txBody>
      </p:sp>
      <p:sp>
        <p:nvSpPr>
          <p:cNvPr id="34" name="q_48"/>
          <p:cNvSpPr/>
          <p:nvPr/>
        </p:nvSpPr>
        <p:spPr>
          <a:xfrm>
            <a:off x="3630168" y="393192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Sign 6</a:t>
            </a:r>
            <a:endParaRPr lang="en-US" sz="1150" dirty="0"/>
          </a:p>
        </p:txBody>
      </p:sp>
      <p:sp>
        <p:nvSpPr>
          <p:cNvPr id="35" name="R6_chip49"/>
          <p:cNvSpPr/>
          <p:nvPr/>
        </p:nvSpPr>
        <p:spPr>
          <a:xfrm>
            <a:off x="5806440" y="393192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trolley</a:t>
            </a:r>
            <a:endParaRPr lang="en-US" sz="10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50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2800" dirty="0"/>
          </a:p>
        </p:txBody>
      </p:sp>
      <p:pic>
        <p:nvPicPr>
          <p:cNvPr id="4" name="brY_51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3405226" cy="621792"/>
          </a:xfrm>
          <a:prstGeom prst="rect">
            <a:avLst/>
          </a:prstGeom>
        </p:spPr>
      </p:pic>
      <p:sp>
        <p:nvSpPr>
          <p:cNvPr id="5" name="title_52"/>
          <p:cNvSpPr/>
          <p:nvPr/>
        </p:nvSpPr>
        <p:spPr>
          <a:xfrm>
            <a:off x="1261872" y="164592"/>
            <a:ext cx="31309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Airport signs (2)</a:t>
            </a:r>
            <a:endParaRPr lang="en-US" sz="2500" dirty="0"/>
          </a:p>
        </p:txBody>
      </p:sp>
      <p:pic>
        <p:nvPicPr>
          <p:cNvPr id="6" name="brP_53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5257800" cy="402336"/>
          </a:xfrm>
          <a:prstGeom prst="rect">
            <a:avLst/>
          </a:prstGeom>
        </p:spPr>
      </p:pic>
      <p:sp>
        <p:nvSpPr>
          <p:cNvPr id="7" name="ins_54"/>
          <p:cNvSpPr/>
          <p:nvPr/>
        </p:nvSpPr>
        <p:spPr>
          <a:xfrm>
            <a:off x="1353312" y="731520"/>
            <a:ext cx="5001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Match the signs 7–12. Then cover the words and say them!</a:t>
            </a:r>
            <a:endParaRPr lang="en-US" sz="1250" dirty="0"/>
          </a:p>
        </p:txBody>
      </p:sp>
      <p:sp>
        <p:nvSpPr>
          <p:cNvPr id="8" name="insIT_55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Abbina i cartelli 7–12. Poi copri le parole e dille!</a:t>
            </a:r>
            <a:endParaRPr lang="en-US" sz="950" dirty="0"/>
          </a:p>
        </p:txBody>
      </p:sp>
      <p:sp>
        <p:nvSpPr>
          <p:cNvPr id="9" name="note_56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👀 LOOK</a:t>
            </a:r>
            <a:pPr algn="ctr" indent="0" marL="0">
              <a:buNone/>
            </a:pPr>
            <a:r>
              <a:rPr lang="en-US" sz="1200" dirty="0">
                <a:solidFill>
                  <a:srgbClr val="5B6785"/>
                </a:solidFill>
              </a:rPr>
              <a:t> → </a:t>
            </a:r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🔊 SAY IT</a:t>
            </a:r>
            <a:endParaRPr lang="en-US" sz="11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3 min   👥 pairs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Vocabulary · Controlled practice</a:t>
            </a:r>
            <a:endParaRPr lang="en-US" sz="1150" dirty="0"/>
          </a:p>
        </p:txBody>
      </p:sp>
      <p:pic>
        <p:nvPicPr>
          <p:cNvPr id="10" name="logo_57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58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3A · Vocabulary · airports (2)   ·   📖 SB p.22 · 1b, 1c (TG key 3.1)</a:t>
            </a:r>
            <a:endParaRPr lang="en-US" sz="800" dirty="0"/>
          </a:p>
        </p:txBody>
      </p:sp>
      <p:sp>
        <p:nvSpPr>
          <p:cNvPr id="12" name="cd_59"/>
          <p:cNvSpPr/>
          <p:nvPr/>
        </p:nvSpPr>
        <p:spPr>
          <a:xfrm>
            <a:off x="320040" y="1417320"/>
            <a:ext cx="2697480" cy="1371600"/>
          </a:xfrm>
          <a:prstGeom prst="roundRect">
            <a:avLst>
              <a:gd name="adj" fmla="val 9333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3" name="ii_60"/>
          <p:cNvSpPr/>
          <p:nvPr/>
        </p:nvSpPr>
        <p:spPr>
          <a:xfrm>
            <a:off x="4114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⭐</a:t>
            </a:r>
            <a:endParaRPr lang="en-US" sz="2200" dirty="0"/>
          </a:p>
        </p:txBody>
      </p:sp>
      <p:sp>
        <p:nvSpPr>
          <p:cNvPr id="14" name="ih_61"/>
          <p:cNvSpPr/>
          <p:nvPr/>
        </p:nvSpPr>
        <p:spPr>
          <a:xfrm>
            <a:off x="886968" y="15087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Example</a:t>
            </a:r>
            <a:endParaRPr lang="en-US" sz="1300" dirty="0"/>
          </a:p>
        </p:txBody>
      </p:sp>
      <p:sp>
        <p:nvSpPr>
          <p:cNvPr id="15" name="il_62"/>
          <p:cNvSpPr/>
          <p:nvPr/>
        </p:nvSpPr>
        <p:spPr>
          <a:xfrm>
            <a:off x="886968" y="1911096"/>
            <a:ext cx="203911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arrivals · bag drop · baggage reclaim · check-in · customs · departures · gates · lifts · passport control · security check · terminal · trolley</a:t>
            </a:r>
            <a:endParaRPr lang="en-US" sz="900" dirty="0"/>
          </a:p>
        </p:txBody>
      </p:sp>
      <p:sp>
        <p:nvSpPr>
          <p:cNvPr id="16" name="pf_63"/>
          <p:cNvSpPr/>
          <p:nvPr/>
        </p:nvSpPr>
        <p:spPr>
          <a:xfrm rot="-90000">
            <a:off x="899806" y="2971800"/>
            <a:ext cx="1537948" cy="1691640"/>
          </a:xfrm>
          <a:prstGeom prst="roundRect">
            <a:avLst>
              <a:gd name="adj" fmla="val 1010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17" name="ph_64" descr="/home/claude/lls-course/v2/cache/a2_3a_signs_jpg_348x385_3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90000">
            <a:off x="945526" y="3017520"/>
            <a:ext cx="1446508" cy="1600200"/>
          </a:xfrm>
          <a:prstGeom prst="rect">
            <a:avLst/>
          </a:prstGeom>
        </p:spPr>
      </p:pic>
      <p:sp>
        <p:nvSpPr>
          <p:cNvPr id="18" name="bd_65"/>
          <p:cNvSpPr/>
          <p:nvPr/>
        </p:nvSpPr>
        <p:spPr>
          <a:xfrm>
            <a:off x="3246120" y="1490472"/>
            <a:ext cx="310896" cy="310896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000" dirty="0"/>
          </a:p>
        </p:txBody>
      </p:sp>
      <p:sp>
        <p:nvSpPr>
          <p:cNvPr id="19" name="q_66"/>
          <p:cNvSpPr/>
          <p:nvPr/>
        </p:nvSpPr>
        <p:spPr>
          <a:xfrm>
            <a:off x="3630168" y="141732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Sign 7</a:t>
            </a:r>
            <a:endParaRPr lang="en-US" sz="1150" dirty="0"/>
          </a:p>
        </p:txBody>
      </p:sp>
      <p:sp>
        <p:nvSpPr>
          <p:cNvPr id="20" name="R1_chip67"/>
          <p:cNvSpPr/>
          <p:nvPr/>
        </p:nvSpPr>
        <p:spPr>
          <a:xfrm>
            <a:off x="5806440" y="141732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bag drop</a:t>
            </a:r>
            <a:endParaRPr lang="en-US" sz="1050" dirty="0"/>
          </a:p>
        </p:txBody>
      </p:sp>
      <p:sp>
        <p:nvSpPr>
          <p:cNvPr id="21" name="bd_68"/>
          <p:cNvSpPr/>
          <p:nvPr/>
        </p:nvSpPr>
        <p:spPr>
          <a:xfrm>
            <a:off x="3246120" y="1993392"/>
            <a:ext cx="310896" cy="310896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000" dirty="0"/>
          </a:p>
        </p:txBody>
      </p:sp>
      <p:sp>
        <p:nvSpPr>
          <p:cNvPr id="22" name="q_69"/>
          <p:cNvSpPr/>
          <p:nvPr/>
        </p:nvSpPr>
        <p:spPr>
          <a:xfrm>
            <a:off x="3630168" y="192024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Sign 8</a:t>
            </a:r>
            <a:endParaRPr lang="en-US" sz="1150" dirty="0"/>
          </a:p>
        </p:txBody>
      </p:sp>
      <p:sp>
        <p:nvSpPr>
          <p:cNvPr id="23" name="R2_chip70"/>
          <p:cNvSpPr/>
          <p:nvPr/>
        </p:nvSpPr>
        <p:spPr>
          <a:xfrm>
            <a:off x="5806440" y="192024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customs</a:t>
            </a:r>
            <a:endParaRPr lang="en-US" sz="1050" dirty="0"/>
          </a:p>
        </p:txBody>
      </p:sp>
      <p:sp>
        <p:nvSpPr>
          <p:cNvPr id="24" name="bd_71"/>
          <p:cNvSpPr/>
          <p:nvPr/>
        </p:nvSpPr>
        <p:spPr>
          <a:xfrm>
            <a:off x="3246120" y="2496312"/>
            <a:ext cx="310896" cy="310896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000" dirty="0"/>
          </a:p>
        </p:txBody>
      </p:sp>
      <p:sp>
        <p:nvSpPr>
          <p:cNvPr id="25" name="q_72"/>
          <p:cNvSpPr/>
          <p:nvPr/>
        </p:nvSpPr>
        <p:spPr>
          <a:xfrm>
            <a:off x="3630168" y="242316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Sign 9</a:t>
            </a:r>
            <a:endParaRPr lang="en-US" sz="1150" dirty="0"/>
          </a:p>
        </p:txBody>
      </p:sp>
      <p:sp>
        <p:nvSpPr>
          <p:cNvPr id="26" name="R3_chip73"/>
          <p:cNvSpPr/>
          <p:nvPr/>
        </p:nvSpPr>
        <p:spPr>
          <a:xfrm>
            <a:off x="5806440" y="242316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check-in</a:t>
            </a:r>
            <a:endParaRPr lang="en-US" sz="1050" dirty="0"/>
          </a:p>
        </p:txBody>
      </p:sp>
      <p:sp>
        <p:nvSpPr>
          <p:cNvPr id="27" name="bd_74"/>
          <p:cNvSpPr/>
          <p:nvPr/>
        </p:nvSpPr>
        <p:spPr>
          <a:xfrm>
            <a:off x="3246120" y="2999232"/>
            <a:ext cx="310896" cy="310896"/>
          </a:xfrm>
          <a:prstGeom prst="ellipse">
            <a:avLst/>
          </a:prstGeom>
          <a:solidFill>
            <a:srgbClr val="F2B705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000" dirty="0"/>
          </a:p>
        </p:txBody>
      </p:sp>
      <p:sp>
        <p:nvSpPr>
          <p:cNvPr id="28" name="q_75"/>
          <p:cNvSpPr/>
          <p:nvPr/>
        </p:nvSpPr>
        <p:spPr>
          <a:xfrm>
            <a:off x="3630168" y="292608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Sign 10</a:t>
            </a:r>
            <a:endParaRPr lang="en-US" sz="1150" dirty="0"/>
          </a:p>
        </p:txBody>
      </p:sp>
      <p:sp>
        <p:nvSpPr>
          <p:cNvPr id="29" name="R4_chip76"/>
          <p:cNvSpPr/>
          <p:nvPr/>
        </p:nvSpPr>
        <p:spPr>
          <a:xfrm>
            <a:off x="5806440" y="292608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passport control</a:t>
            </a:r>
            <a:endParaRPr lang="en-US" sz="1050" dirty="0"/>
          </a:p>
        </p:txBody>
      </p:sp>
      <p:sp>
        <p:nvSpPr>
          <p:cNvPr id="30" name="bd_77"/>
          <p:cNvSpPr/>
          <p:nvPr/>
        </p:nvSpPr>
        <p:spPr>
          <a:xfrm>
            <a:off x="3246120" y="3502152"/>
            <a:ext cx="310896" cy="310896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</a:t>
            </a:r>
            <a:endParaRPr lang="en-US" sz="1000" dirty="0"/>
          </a:p>
        </p:txBody>
      </p:sp>
      <p:sp>
        <p:nvSpPr>
          <p:cNvPr id="31" name="q_78"/>
          <p:cNvSpPr/>
          <p:nvPr/>
        </p:nvSpPr>
        <p:spPr>
          <a:xfrm>
            <a:off x="3630168" y="342900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Sign 11</a:t>
            </a:r>
            <a:endParaRPr lang="en-US" sz="1150" dirty="0"/>
          </a:p>
        </p:txBody>
      </p:sp>
      <p:sp>
        <p:nvSpPr>
          <p:cNvPr id="32" name="R5_chip79"/>
          <p:cNvSpPr/>
          <p:nvPr/>
        </p:nvSpPr>
        <p:spPr>
          <a:xfrm>
            <a:off x="5806440" y="342900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gates</a:t>
            </a:r>
            <a:endParaRPr lang="en-US" sz="1050" dirty="0"/>
          </a:p>
        </p:txBody>
      </p:sp>
      <p:sp>
        <p:nvSpPr>
          <p:cNvPr id="33" name="bd_80"/>
          <p:cNvSpPr/>
          <p:nvPr/>
        </p:nvSpPr>
        <p:spPr>
          <a:xfrm>
            <a:off x="3246120" y="4005072"/>
            <a:ext cx="310896" cy="310896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6</a:t>
            </a:r>
            <a:endParaRPr lang="en-US" sz="1000" dirty="0"/>
          </a:p>
        </p:txBody>
      </p:sp>
      <p:sp>
        <p:nvSpPr>
          <p:cNvPr id="34" name="q_81"/>
          <p:cNvSpPr/>
          <p:nvPr/>
        </p:nvSpPr>
        <p:spPr>
          <a:xfrm>
            <a:off x="3630168" y="393192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Sign 12</a:t>
            </a:r>
            <a:endParaRPr lang="en-US" sz="1150" dirty="0"/>
          </a:p>
        </p:txBody>
      </p:sp>
      <p:sp>
        <p:nvSpPr>
          <p:cNvPr id="35" name="R6_chip82"/>
          <p:cNvSpPr/>
          <p:nvPr/>
        </p:nvSpPr>
        <p:spPr>
          <a:xfrm>
            <a:off x="5806440" y="3931920"/>
            <a:ext cx="3063240" cy="457200"/>
          </a:xfrm>
          <a:prstGeom prst="roundRect">
            <a:avLst>
              <a:gd name="adj" fmla="val 20000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security check</a:t>
            </a:r>
            <a:endParaRPr lang="en-US" sz="10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83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2800" dirty="0"/>
          </a:p>
        </p:txBody>
      </p:sp>
      <p:pic>
        <p:nvPicPr>
          <p:cNvPr id="4" name="brY_84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2933395" cy="621792"/>
          </a:xfrm>
          <a:prstGeom prst="rect">
            <a:avLst/>
          </a:prstGeom>
        </p:spPr>
      </p:pic>
      <p:sp>
        <p:nvSpPr>
          <p:cNvPr id="5" name="title_85"/>
          <p:cNvSpPr/>
          <p:nvPr/>
        </p:nvSpPr>
        <p:spPr>
          <a:xfrm>
            <a:off x="1261872" y="164592"/>
            <a:ext cx="26590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Where are you?</a:t>
            </a:r>
            <a:endParaRPr lang="en-US" sz="2500" dirty="0"/>
          </a:p>
        </p:txBody>
      </p:sp>
      <p:pic>
        <p:nvPicPr>
          <p:cNvPr id="6" name="brP_86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5248656" cy="402336"/>
          </a:xfrm>
          <a:prstGeom prst="rect">
            <a:avLst/>
          </a:prstGeom>
        </p:spPr>
      </p:pic>
      <p:sp>
        <p:nvSpPr>
          <p:cNvPr id="7" name="ins_87"/>
          <p:cNvSpPr/>
          <p:nvPr/>
        </p:nvSpPr>
        <p:spPr>
          <a:xfrm>
            <a:off x="1353312" y="731520"/>
            <a:ext cx="4992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Listen to the teacher. Where are you? Say the place!</a:t>
            </a:r>
            <a:endParaRPr lang="en-US" sz="1250" dirty="0"/>
          </a:p>
        </p:txBody>
      </p:sp>
      <p:sp>
        <p:nvSpPr>
          <p:cNvPr id="8" name="insIT_88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Ascolta l'insegnante. Dove sei? Di' il posto!</a:t>
            </a:r>
            <a:endParaRPr lang="en-US" sz="950" dirty="0"/>
          </a:p>
        </p:txBody>
      </p:sp>
      <p:sp>
        <p:nvSpPr>
          <p:cNvPr id="9" name="note_89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🎧 LISTEN</a:t>
            </a:r>
            <a:pPr algn="ctr" indent="0" marL="0">
              <a:buNone/>
            </a:pPr>
            <a:r>
              <a:rPr lang="en-US" sz="1200" dirty="0">
                <a:solidFill>
                  <a:srgbClr val="5B6785"/>
                </a:solidFill>
              </a:rPr>
              <a:t> → </a:t>
            </a:r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🎲 PLAY</a:t>
            </a:r>
            <a:endParaRPr lang="en-US" sz="11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3 min   🏆 teams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Listening · Communicative game</a:t>
            </a:r>
            <a:endParaRPr lang="en-US" sz="1150" dirty="0"/>
          </a:p>
        </p:txBody>
      </p:sp>
      <p:pic>
        <p:nvPicPr>
          <p:cNvPr id="10" name="logo_90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91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3A · Listening · where are you?   ·   📖 SB p.22 · 1d · audio 3.2 (script TG p.41)</a:t>
            </a:r>
            <a:endParaRPr lang="en-US" sz="800" dirty="0"/>
          </a:p>
        </p:txBody>
      </p:sp>
      <p:sp>
        <p:nvSpPr>
          <p:cNvPr id="12" name="cd_92"/>
          <p:cNvSpPr/>
          <p:nvPr/>
        </p:nvSpPr>
        <p:spPr>
          <a:xfrm>
            <a:off x="320040" y="1417320"/>
            <a:ext cx="2697480" cy="1917192"/>
          </a:xfrm>
          <a:prstGeom prst="roundRect">
            <a:avLst>
              <a:gd name="adj" fmla="val 6677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3" name="ii_93"/>
          <p:cNvSpPr/>
          <p:nvPr/>
        </p:nvSpPr>
        <p:spPr>
          <a:xfrm>
            <a:off x="4114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🎲</a:t>
            </a:r>
            <a:endParaRPr lang="en-US" sz="2200" dirty="0"/>
          </a:p>
        </p:txBody>
      </p:sp>
      <p:sp>
        <p:nvSpPr>
          <p:cNvPr id="14" name="ih_94"/>
          <p:cNvSpPr/>
          <p:nvPr/>
        </p:nvSpPr>
        <p:spPr>
          <a:xfrm>
            <a:off x="886968" y="15087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How to play</a:t>
            </a:r>
            <a:endParaRPr lang="en-US" sz="1400" dirty="0"/>
          </a:p>
        </p:txBody>
      </p:sp>
      <p:sp>
        <p:nvSpPr>
          <p:cNvPr id="15" name="il_95"/>
          <p:cNvSpPr/>
          <p:nvPr/>
        </p:nvSpPr>
        <p:spPr>
          <a:xfrm>
            <a:off x="886968" y="1911096"/>
            <a:ext cx="2039112" cy="13502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Teacher reads an announcement or a conversation.</a:t>
            </a:r>
            <a:endParaRPr lang="en-US" sz="115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First team to say the place = 1 point.</a:t>
            </a:r>
            <a:endParaRPr lang="en-US" sz="115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Use the airport words!</a:t>
            </a:r>
            <a:endParaRPr lang="en-US" sz="1150" dirty="0"/>
          </a:p>
        </p:txBody>
      </p:sp>
      <p:sp>
        <p:nvSpPr>
          <p:cNvPr id="16" name="st_96"/>
          <p:cNvSpPr/>
          <p:nvPr/>
        </p:nvSpPr>
        <p:spPr>
          <a:xfrm rot="-180000">
            <a:off x="502920" y="3517392"/>
            <a:ext cx="2286000" cy="777240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TEAM A  ☆☆☆☆☆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TEAM B  ☆☆☆☆☆</a:t>
            </a:r>
            <a:endParaRPr lang="en-US" sz="1250" dirty="0"/>
          </a:p>
        </p:txBody>
      </p:sp>
      <p:sp>
        <p:nvSpPr>
          <p:cNvPr id="17" name="bd_97"/>
          <p:cNvSpPr/>
          <p:nvPr/>
        </p:nvSpPr>
        <p:spPr>
          <a:xfrm>
            <a:off x="3246120" y="1491234"/>
            <a:ext cx="329184" cy="329184"/>
          </a:xfrm>
          <a:prstGeom prst="ellipse">
            <a:avLst/>
          </a:prstGeom>
          <a:solidFill>
            <a:srgbClr val="7B5CD6"/>
          </a:solidFill>
          <a:ln w="28575">
            <a:solidFill>
              <a:srgbClr val="CDBFF3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e.g.</a:t>
            </a:r>
            <a:endParaRPr lang="en-US" sz="500" dirty="0"/>
          </a:p>
        </p:txBody>
      </p:sp>
      <p:sp>
        <p:nvSpPr>
          <p:cNvPr id="18" name="gq_98"/>
          <p:cNvSpPr/>
          <p:nvPr/>
        </p:nvSpPr>
        <p:spPr>
          <a:xfrm>
            <a:off x="3657600" y="1417320"/>
            <a:ext cx="2514600" cy="477012"/>
          </a:xfrm>
          <a:prstGeom prst="roundRect">
            <a:avLst>
              <a:gd name="adj" fmla="val 19169"/>
            </a:avLst>
          </a:prstGeom>
          <a:solidFill>
            <a:srgbClr val="EEE8FB"/>
          </a:solidFill>
          <a:ln w="28575">
            <a:solidFill>
              <a:srgbClr val="CDBFF3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'Doors opening. Second floor. Departures. Check-in and bag drop.'</a:t>
            </a:r>
            <a:endParaRPr lang="en-US" sz="900" dirty="0"/>
          </a:p>
        </p:txBody>
      </p:sp>
      <p:sp>
        <p:nvSpPr>
          <p:cNvPr id="19" name="chip_99"/>
          <p:cNvSpPr/>
          <p:nvPr/>
        </p:nvSpPr>
        <p:spPr>
          <a:xfrm>
            <a:off x="6263640" y="1417320"/>
            <a:ext cx="2560320" cy="477012"/>
          </a:xfrm>
          <a:prstGeom prst="roundRect">
            <a:avLst>
              <a:gd name="adj" fmla="val 19169"/>
            </a:avLst>
          </a:prstGeom>
          <a:solidFill>
            <a:srgbClr val="EEE8FB"/>
          </a:solidFill>
          <a:ln w="28575">
            <a:solidFill>
              <a:srgbClr val="CDBFF3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a lift</a:t>
            </a:r>
            <a:endParaRPr lang="en-US" sz="1200" dirty="0"/>
          </a:p>
        </p:txBody>
      </p:sp>
      <p:sp>
        <p:nvSpPr>
          <p:cNvPr id="20" name="bd_100"/>
          <p:cNvSpPr/>
          <p:nvPr/>
        </p:nvSpPr>
        <p:spPr>
          <a:xfrm>
            <a:off x="3246120" y="2032254"/>
            <a:ext cx="329184" cy="329184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gq_101"/>
          <p:cNvSpPr/>
          <p:nvPr/>
        </p:nvSpPr>
        <p:spPr>
          <a:xfrm>
            <a:off x="3657600" y="1958340"/>
            <a:ext cx="2514600" cy="477012"/>
          </a:xfrm>
          <a:prstGeom prst="roundRect">
            <a:avLst>
              <a:gd name="adj" fmla="val 19169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'Excuse me. My suitcase hasn't arrived…' 'Lost luggage is that window over there.'</a:t>
            </a:r>
            <a:endParaRPr lang="en-US" sz="900" dirty="0"/>
          </a:p>
        </p:txBody>
      </p:sp>
      <p:sp>
        <p:nvSpPr>
          <p:cNvPr id="22" name="R1_chip102"/>
          <p:cNvSpPr/>
          <p:nvPr/>
        </p:nvSpPr>
        <p:spPr>
          <a:xfrm>
            <a:off x="6263640" y="1958340"/>
            <a:ext cx="2560320" cy="477012"/>
          </a:xfrm>
          <a:prstGeom prst="roundRect">
            <a:avLst>
              <a:gd name="adj" fmla="val 19169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baggage reclaim</a:t>
            </a:r>
            <a:endParaRPr lang="en-US" sz="1200" dirty="0"/>
          </a:p>
        </p:txBody>
      </p:sp>
      <p:sp>
        <p:nvSpPr>
          <p:cNvPr id="23" name="bd_103"/>
          <p:cNvSpPr/>
          <p:nvPr/>
        </p:nvSpPr>
        <p:spPr>
          <a:xfrm>
            <a:off x="3246120" y="2573274"/>
            <a:ext cx="329184" cy="329184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gq_104"/>
          <p:cNvSpPr/>
          <p:nvPr/>
        </p:nvSpPr>
        <p:spPr>
          <a:xfrm>
            <a:off x="3657600" y="2499360"/>
            <a:ext cx="2514600" cy="477012"/>
          </a:xfrm>
          <a:prstGeom prst="roundRect">
            <a:avLst>
              <a:gd name="adj" fmla="val 19169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'Can you take your boots off, please? … Put them on the belt.'</a:t>
            </a:r>
            <a:endParaRPr lang="en-US" sz="900" dirty="0"/>
          </a:p>
        </p:txBody>
      </p:sp>
      <p:sp>
        <p:nvSpPr>
          <p:cNvPr id="25" name="R2_chip105"/>
          <p:cNvSpPr/>
          <p:nvPr/>
        </p:nvSpPr>
        <p:spPr>
          <a:xfrm>
            <a:off x="6263640" y="2499360"/>
            <a:ext cx="2560320" cy="477012"/>
          </a:xfrm>
          <a:prstGeom prst="roundRect">
            <a:avLst>
              <a:gd name="adj" fmla="val 19169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security check</a:t>
            </a:r>
            <a:endParaRPr lang="en-US" sz="1200" dirty="0"/>
          </a:p>
        </p:txBody>
      </p:sp>
      <p:sp>
        <p:nvSpPr>
          <p:cNvPr id="26" name="bd_106"/>
          <p:cNvSpPr/>
          <p:nvPr/>
        </p:nvSpPr>
        <p:spPr>
          <a:xfrm>
            <a:off x="3246120" y="3114294"/>
            <a:ext cx="329184" cy="329184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gq_107"/>
          <p:cNvSpPr/>
          <p:nvPr/>
        </p:nvSpPr>
        <p:spPr>
          <a:xfrm>
            <a:off x="3657600" y="3040380"/>
            <a:ext cx="2514600" cy="477012"/>
          </a:xfrm>
          <a:prstGeom prst="roundRect">
            <a:avLst>
              <a:gd name="adj" fmla="val 19169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'Boarding for British Airways flight BA0564 to Milan will begin in a few minutes…'</a:t>
            </a:r>
            <a:endParaRPr lang="en-US" sz="900" dirty="0"/>
          </a:p>
        </p:txBody>
      </p:sp>
      <p:sp>
        <p:nvSpPr>
          <p:cNvPr id="28" name="R3_chip108"/>
          <p:cNvSpPr/>
          <p:nvPr/>
        </p:nvSpPr>
        <p:spPr>
          <a:xfrm>
            <a:off x="6263640" y="3040380"/>
            <a:ext cx="2560320" cy="477012"/>
          </a:xfrm>
          <a:prstGeom prst="roundRect">
            <a:avLst>
              <a:gd name="adj" fmla="val 19169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gates</a:t>
            </a:r>
            <a:endParaRPr lang="en-US" sz="1200" dirty="0"/>
          </a:p>
        </p:txBody>
      </p:sp>
      <p:sp>
        <p:nvSpPr>
          <p:cNvPr id="29" name="bd_109"/>
          <p:cNvSpPr/>
          <p:nvPr/>
        </p:nvSpPr>
        <p:spPr>
          <a:xfrm>
            <a:off x="3246120" y="3655314"/>
            <a:ext cx="329184" cy="329184"/>
          </a:xfrm>
          <a:prstGeom prst="ellipse">
            <a:avLst/>
          </a:prstGeom>
          <a:solidFill>
            <a:srgbClr val="F2B705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gq_110"/>
          <p:cNvSpPr/>
          <p:nvPr/>
        </p:nvSpPr>
        <p:spPr>
          <a:xfrm>
            <a:off x="3657600" y="3581400"/>
            <a:ext cx="2514600" cy="477012"/>
          </a:xfrm>
          <a:prstGeom prst="roundRect">
            <a:avLst>
              <a:gd name="adj" fmla="val 19169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'Are you here on vacation?' 'Er, yes.' 'How long are you staying?' 'Two weeks.'</a:t>
            </a:r>
            <a:endParaRPr lang="en-US" sz="900" dirty="0"/>
          </a:p>
        </p:txBody>
      </p:sp>
      <p:sp>
        <p:nvSpPr>
          <p:cNvPr id="31" name="R4_chip111"/>
          <p:cNvSpPr/>
          <p:nvPr/>
        </p:nvSpPr>
        <p:spPr>
          <a:xfrm>
            <a:off x="6263640" y="3581400"/>
            <a:ext cx="2560320" cy="477012"/>
          </a:xfrm>
          <a:prstGeom prst="roundRect">
            <a:avLst>
              <a:gd name="adj" fmla="val 19169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passport control</a:t>
            </a:r>
            <a:endParaRPr lang="en-US" sz="1200" dirty="0"/>
          </a:p>
        </p:txBody>
      </p:sp>
      <p:sp>
        <p:nvSpPr>
          <p:cNvPr id="32" name="bd_112"/>
          <p:cNvSpPr/>
          <p:nvPr/>
        </p:nvSpPr>
        <p:spPr>
          <a:xfrm>
            <a:off x="3246120" y="4196334"/>
            <a:ext cx="329184" cy="329184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gq_113"/>
          <p:cNvSpPr/>
          <p:nvPr/>
        </p:nvSpPr>
        <p:spPr>
          <a:xfrm>
            <a:off x="3657600" y="4122420"/>
            <a:ext cx="2514600" cy="477012"/>
          </a:xfrm>
          <a:prstGeom prst="roundRect">
            <a:avLst>
              <a:gd name="adj" fmla="val 19169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'Passport and boarding pass, please. How many bags are you checking in?'</a:t>
            </a:r>
            <a:endParaRPr lang="en-US" sz="900" dirty="0"/>
          </a:p>
        </p:txBody>
      </p:sp>
      <p:sp>
        <p:nvSpPr>
          <p:cNvPr id="34" name="R5_chip114"/>
          <p:cNvSpPr/>
          <p:nvPr/>
        </p:nvSpPr>
        <p:spPr>
          <a:xfrm>
            <a:off x="6263640" y="4122420"/>
            <a:ext cx="2560320" cy="477012"/>
          </a:xfrm>
          <a:prstGeom prst="roundRect">
            <a:avLst>
              <a:gd name="adj" fmla="val 19169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check-in</a:t>
            </a:r>
            <a:endParaRPr lang="en-US" sz="12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115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</a:t>
            </a:r>
            <a:endParaRPr lang="en-US" sz="2800" dirty="0"/>
          </a:p>
        </p:txBody>
      </p:sp>
      <p:pic>
        <p:nvPicPr>
          <p:cNvPr id="4" name="brY_116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3405226" cy="621792"/>
          </a:xfrm>
          <a:prstGeom prst="rect">
            <a:avLst/>
          </a:prstGeom>
        </p:spPr>
      </p:pic>
      <p:sp>
        <p:nvSpPr>
          <p:cNvPr id="5" name="title_117"/>
          <p:cNvSpPr/>
          <p:nvPr/>
        </p:nvSpPr>
        <p:spPr>
          <a:xfrm>
            <a:off x="1261872" y="164592"/>
            <a:ext cx="31309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Girl or jazz? (1)</a:t>
            </a:r>
            <a:endParaRPr lang="en-US" sz="2500" dirty="0"/>
          </a:p>
        </p:txBody>
      </p:sp>
      <p:pic>
        <p:nvPicPr>
          <p:cNvPr id="6" name="brP_118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3511296" cy="402336"/>
          </a:xfrm>
          <a:prstGeom prst="rect">
            <a:avLst/>
          </a:prstGeom>
        </p:spPr>
      </p:pic>
      <p:sp>
        <p:nvSpPr>
          <p:cNvPr id="7" name="ins_119"/>
          <p:cNvSpPr/>
          <p:nvPr/>
        </p:nvSpPr>
        <p:spPr>
          <a:xfrm>
            <a:off x="1353312" y="731520"/>
            <a:ext cx="3255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Say the words. g = girl or jazz?</a:t>
            </a:r>
            <a:endParaRPr lang="en-US" sz="1250" dirty="0"/>
          </a:p>
        </p:txBody>
      </p:sp>
      <p:sp>
        <p:nvSpPr>
          <p:cNvPr id="8" name="insIT_120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Di' le parole. g = girl o jazz?</a:t>
            </a:r>
            <a:endParaRPr lang="en-US" sz="950" dirty="0"/>
          </a:p>
        </p:txBody>
      </p:sp>
      <p:sp>
        <p:nvSpPr>
          <p:cNvPr id="9" name="note_121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🔊 SAY IT</a:t>
            </a:r>
            <a:pPr algn="ctr" indent="0" marL="0">
              <a:buNone/>
            </a:pPr>
            <a:r>
              <a:rPr lang="en-US" sz="1200" dirty="0">
                <a:solidFill>
                  <a:srgbClr val="5B6785"/>
                </a:solidFill>
              </a:rPr>
              <a:t> → </a:t>
            </a:r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🔗 MATCH</a:t>
            </a:r>
            <a:endParaRPr lang="en-US" sz="11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3 min   👥 pairs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Pronunciation · Guided discovery</a:t>
            </a:r>
            <a:endParaRPr lang="en-US" sz="1150" dirty="0"/>
          </a:p>
        </p:txBody>
      </p:sp>
      <p:pic>
        <p:nvPicPr>
          <p:cNvPr id="10" name="logo_122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123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3A · Pronunciation · the letter g (1)   ·   📖 SB p.22 · 2a, 2b (TG key 3.3)</a:t>
            </a:r>
            <a:endParaRPr lang="en-US" sz="800" dirty="0"/>
          </a:p>
        </p:txBody>
      </p:sp>
      <p:sp>
        <p:nvSpPr>
          <p:cNvPr id="12" name="cd_124"/>
          <p:cNvSpPr/>
          <p:nvPr/>
        </p:nvSpPr>
        <p:spPr>
          <a:xfrm>
            <a:off x="320040" y="1417320"/>
            <a:ext cx="2697480" cy="1527048"/>
          </a:xfrm>
          <a:prstGeom prst="roundRect">
            <a:avLst>
              <a:gd name="adj" fmla="val 8383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3" name="ii_125"/>
          <p:cNvSpPr/>
          <p:nvPr/>
        </p:nvSpPr>
        <p:spPr>
          <a:xfrm>
            <a:off x="4114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🏷️</a:t>
            </a:r>
            <a:endParaRPr lang="en-US" sz="2200" dirty="0"/>
          </a:p>
        </p:txBody>
      </p:sp>
      <p:sp>
        <p:nvSpPr>
          <p:cNvPr id="14" name="ih_126"/>
          <p:cNvSpPr/>
          <p:nvPr/>
        </p:nvSpPr>
        <p:spPr>
          <a:xfrm>
            <a:off x="886968" y="15087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The sounds</a:t>
            </a:r>
            <a:endParaRPr lang="en-US" sz="1300" dirty="0"/>
          </a:p>
        </p:txBody>
      </p:sp>
      <p:sp>
        <p:nvSpPr>
          <p:cNvPr id="15" name="lg_127"/>
          <p:cNvSpPr/>
          <p:nvPr/>
        </p:nvSpPr>
        <p:spPr>
          <a:xfrm>
            <a:off x="457200" y="198424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F7A6C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👧 girl /ɡ/</a:t>
            </a:r>
            <a:endParaRPr lang="en-US" sz="1050" dirty="0"/>
          </a:p>
        </p:txBody>
      </p:sp>
      <p:sp>
        <p:nvSpPr>
          <p:cNvPr id="16" name="lg_128"/>
          <p:cNvSpPr/>
          <p:nvPr/>
        </p:nvSpPr>
        <p:spPr>
          <a:xfrm>
            <a:off x="1719072" y="198424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8FC9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🎷 jazz /dʒ/</a:t>
            </a:r>
            <a:endParaRPr lang="en-US" sz="1050" dirty="0"/>
          </a:p>
        </p:txBody>
      </p:sp>
      <p:sp>
        <p:nvSpPr>
          <p:cNvPr id="17" name="sq_129"/>
          <p:cNvSpPr/>
          <p:nvPr/>
        </p:nvSpPr>
        <p:spPr>
          <a:xfrm>
            <a:off x="3246120" y="1417320"/>
            <a:ext cx="3840480" cy="347472"/>
          </a:xfrm>
          <a:prstGeom prst="roundRect">
            <a:avLst>
              <a:gd name="adj" fmla="val 26316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e.g. ba</a:t>
            </a:r>
            <a:pPr indent="0" marL="0">
              <a:buNone/>
            </a:pPr>
            <a:r>
              <a:rPr lang="en-US" sz="1200" b="1" dirty="0">
                <a:solidFill>
                  <a:srgbClr val="C2185B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gg</a:t>
            </a:r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</a:t>
            </a:r>
            <a:pPr indent="0" marL="0">
              <a:buNone/>
            </a:pPr>
            <a:r>
              <a:rPr lang="en-US" sz="1200" b="1" dirty="0">
                <a:solidFill>
                  <a:srgbClr val="C2185B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</a:t>
            </a:r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</a:t>
            </a:r>
            <a:endParaRPr lang="en-US" sz="1200" dirty="0"/>
          </a:p>
        </p:txBody>
      </p:sp>
      <p:sp>
        <p:nvSpPr>
          <p:cNvPr id="18" name="R1_tag130"/>
          <p:cNvSpPr/>
          <p:nvPr/>
        </p:nvSpPr>
        <p:spPr>
          <a:xfrm>
            <a:off x="7178040" y="1417320"/>
            <a:ext cx="1691640" cy="347472"/>
          </a:xfrm>
          <a:prstGeom prst="roundRect">
            <a:avLst>
              <a:gd name="adj" fmla="val 65789"/>
            </a:avLst>
          </a:prstGeom>
          <a:solidFill>
            <a:srgbClr val="F7A6C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👧 girl /ɡ/</a:t>
            </a:r>
            <a:endParaRPr lang="en-US" sz="1150" dirty="0"/>
          </a:p>
        </p:txBody>
      </p:sp>
      <p:sp>
        <p:nvSpPr>
          <p:cNvPr id="19" name="sq_131"/>
          <p:cNvSpPr/>
          <p:nvPr/>
        </p:nvSpPr>
        <p:spPr>
          <a:xfrm>
            <a:off x="3246120" y="1828800"/>
            <a:ext cx="3840480" cy="347472"/>
          </a:xfrm>
          <a:prstGeom prst="roundRect">
            <a:avLst>
              <a:gd name="adj" fmla="val 26316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185B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</a:t>
            </a:r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ate</a:t>
            </a:r>
            <a:endParaRPr lang="en-US" sz="1200" dirty="0"/>
          </a:p>
        </p:txBody>
      </p:sp>
      <p:sp>
        <p:nvSpPr>
          <p:cNvPr id="20" name="R2_tag132"/>
          <p:cNvSpPr/>
          <p:nvPr/>
        </p:nvSpPr>
        <p:spPr>
          <a:xfrm>
            <a:off x="7178040" y="1828800"/>
            <a:ext cx="1691640" cy="347472"/>
          </a:xfrm>
          <a:prstGeom prst="roundRect">
            <a:avLst>
              <a:gd name="adj" fmla="val 65789"/>
            </a:avLst>
          </a:prstGeom>
          <a:solidFill>
            <a:srgbClr val="F7A6C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👧 girl /ɡ/</a:t>
            </a:r>
            <a:endParaRPr lang="en-US" sz="1150" dirty="0"/>
          </a:p>
        </p:txBody>
      </p:sp>
      <p:sp>
        <p:nvSpPr>
          <p:cNvPr id="21" name="sq_133"/>
          <p:cNvSpPr/>
          <p:nvPr/>
        </p:nvSpPr>
        <p:spPr>
          <a:xfrm>
            <a:off x="3246120" y="2240280"/>
            <a:ext cx="3840480" cy="347472"/>
          </a:xfrm>
          <a:prstGeom prst="roundRect">
            <a:avLst>
              <a:gd name="adj" fmla="val 26316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fo</a:t>
            </a:r>
            <a:pPr indent="0" marL="0">
              <a:buNone/>
            </a:pPr>
            <a:r>
              <a:rPr lang="en-US" sz="1200" b="1" dirty="0">
                <a:solidFill>
                  <a:srgbClr val="C2185B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gg</a:t>
            </a:r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y</a:t>
            </a:r>
            <a:endParaRPr lang="en-US" sz="1200" dirty="0"/>
          </a:p>
        </p:txBody>
      </p:sp>
      <p:sp>
        <p:nvSpPr>
          <p:cNvPr id="22" name="R3_tag134"/>
          <p:cNvSpPr/>
          <p:nvPr/>
        </p:nvSpPr>
        <p:spPr>
          <a:xfrm>
            <a:off x="7178040" y="2240280"/>
            <a:ext cx="1691640" cy="347472"/>
          </a:xfrm>
          <a:prstGeom prst="roundRect">
            <a:avLst>
              <a:gd name="adj" fmla="val 65789"/>
            </a:avLst>
          </a:prstGeom>
          <a:solidFill>
            <a:srgbClr val="F7A6C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👧 girl /ɡ/</a:t>
            </a:r>
            <a:endParaRPr lang="en-US" sz="1150" dirty="0"/>
          </a:p>
        </p:txBody>
      </p:sp>
      <p:sp>
        <p:nvSpPr>
          <p:cNvPr id="23" name="sq_135"/>
          <p:cNvSpPr/>
          <p:nvPr/>
        </p:nvSpPr>
        <p:spPr>
          <a:xfrm>
            <a:off x="3246120" y="2651760"/>
            <a:ext cx="3840480" cy="347472"/>
          </a:xfrm>
          <a:prstGeom prst="roundRect">
            <a:avLst>
              <a:gd name="adj" fmla="val 26316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for</a:t>
            </a:r>
            <a:pPr indent="0" marL="0">
              <a:buNone/>
            </a:pPr>
            <a:r>
              <a:rPr lang="en-US" sz="1200" b="1" dirty="0">
                <a:solidFill>
                  <a:srgbClr val="C2185B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</a:t>
            </a:r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et</a:t>
            </a:r>
            <a:endParaRPr lang="en-US" sz="1200" dirty="0"/>
          </a:p>
        </p:txBody>
      </p:sp>
      <p:sp>
        <p:nvSpPr>
          <p:cNvPr id="24" name="R4_tag136"/>
          <p:cNvSpPr/>
          <p:nvPr/>
        </p:nvSpPr>
        <p:spPr>
          <a:xfrm>
            <a:off x="7178040" y="2651760"/>
            <a:ext cx="1691640" cy="347472"/>
          </a:xfrm>
          <a:prstGeom prst="roundRect">
            <a:avLst>
              <a:gd name="adj" fmla="val 65789"/>
            </a:avLst>
          </a:prstGeom>
          <a:solidFill>
            <a:srgbClr val="F7A6C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👧 girl /ɡ/</a:t>
            </a:r>
            <a:endParaRPr lang="en-US" sz="1150" dirty="0"/>
          </a:p>
        </p:txBody>
      </p:sp>
      <p:sp>
        <p:nvSpPr>
          <p:cNvPr id="25" name="sq_137"/>
          <p:cNvSpPr/>
          <p:nvPr/>
        </p:nvSpPr>
        <p:spPr>
          <a:xfrm>
            <a:off x="3246120" y="3063240"/>
            <a:ext cx="3840480" cy="347472"/>
          </a:xfrm>
          <a:prstGeom prst="roundRect">
            <a:avLst>
              <a:gd name="adj" fmla="val 26316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185B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</a:t>
            </a:r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uide</a:t>
            </a:r>
            <a:endParaRPr lang="en-US" sz="1200" dirty="0"/>
          </a:p>
        </p:txBody>
      </p:sp>
      <p:sp>
        <p:nvSpPr>
          <p:cNvPr id="26" name="R5_tag138"/>
          <p:cNvSpPr/>
          <p:nvPr/>
        </p:nvSpPr>
        <p:spPr>
          <a:xfrm>
            <a:off x="7178040" y="3063240"/>
            <a:ext cx="1691640" cy="347472"/>
          </a:xfrm>
          <a:prstGeom prst="roundRect">
            <a:avLst>
              <a:gd name="adj" fmla="val 65789"/>
            </a:avLst>
          </a:prstGeom>
          <a:solidFill>
            <a:srgbClr val="F7A6C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👧 girl /ɡ/</a:t>
            </a:r>
            <a:endParaRPr lang="en-US" sz="1150" dirty="0"/>
          </a:p>
        </p:txBody>
      </p:sp>
      <p:sp>
        <p:nvSpPr>
          <p:cNvPr id="27" name="sq_139"/>
          <p:cNvSpPr/>
          <p:nvPr/>
        </p:nvSpPr>
        <p:spPr>
          <a:xfrm>
            <a:off x="3246120" y="3474720"/>
            <a:ext cx="3840480" cy="347472"/>
          </a:xfrm>
          <a:prstGeom prst="roundRect">
            <a:avLst>
              <a:gd name="adj" fmla="val 26316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lar</a:t>
            </a:r>
            <a:pPr indent="0" marL="0">
              <a:buNone/>
            </a:pPr>
            <a:r>
              <a:rPr lang="en-US" sz="1200" b="1" dirty="0">
                <a:solidFill>
                  <a:srgbClr val="C2185B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</a:t>
            </a:r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</a:t>
            </a:r>
            <a:endParaRPr lang="en-US" sz="1200" dirty="0"/>
          </a:p>
        </p:txBody>
      </p:sp>
      <p:sp>
        <p:nvSpPr>
          <p:cNvPr id="28" name="R6_tag140"/>
          <p:cNvSpPr/>
          <p:nvPr/>
        </p:nvSpPr>
        <p:spPr>
          <a:xfrm>
            <a:off x="7178040" y="3474720"/>
            <a:ext cx="1691640" cy="347472"/>
          </a:xfrm>
          <a:prstGeom prst="roundRect">
            <a:avLst>
              <a:gd name="adj" fmla="val 65789"/>
            </a:avLst>
          </a:prstGeom>
          <a:solidFill>
            <a:srgbClr val="8FC9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🎷 jazz /dʒ/</a:t>
            </a:r>
            <a:endParaRPr lang="en-US" sz="1150" dirty="0"/>
          </a:p>
        </p:txBody>
      </p:sp>
      <p:sp>
        <p:nvSpPr>
          <p:cNvPr id="29" name="sq_141"/>
          <p:cNvSpPr/>
          <p:nvPr/>
        </p:nvSpPr>
        <p:spPr>
          <a:xfrm>
            <a:off x="3246120" y="3886200"/>
            <a:ext cx="3840480" cy="347472"/>
          </a:xfrm>
          <a:prstGeom prst="roundRect">
            <a:avLst>
              <a:gd name="adj" fmla="val 26316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villa</a:t>
            </a:r>
            <a:pPr indent="0" marL="0">
              <a:buNone/>
            </a:pPr>
            <a:r>
              <a:rPr lang="en-US" sz="1200" b="1" dirty="0">
                <a:solidFill>
                  <a:srgbClr val="C2185B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</a:t>
            </a:r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</a:t>
            </a:r>
            <a:endParaRPr lang="en-US" sz="1200" dirty="0"/>
          </a:p>
        </p:txBody>
      </p:sp>
      <p:sp>
        <p:nvSpPr>
          <p:cNvPr id="30" name="R7_tag142"/>
          <p:cNvSpPr/>
          <p:nvPr/>
        </p:nvSpPr>
        <p:spPr>
          <a:xfrm>
            <a:off x="7178040" y="3886200"/>
            <a:ext cx="1691640" cy="347472"/>
          </a:xfrm>
          <a:prstGeom prst="roundRect">
            <a:avLst>
              <a:gd name="adj" fmla="val 65789"/>
            </a:avLst>
          </a:prstGeom>
          <a:solidFill>
            <a:srgbClr val="8FC9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🎷 jazz /dʒ/</a:t>
            </a:r>
            <a:endParaRPr lang="en-US" sz="1150" dirty="0"/>
          </a:p>
        </p:txBody>
      </p:sp>
      <p:sp>
        <p:nvSpPr>
          <p:cNvPr id="31" name="sq_143"/>
          <p:cNvSpPr/>
          <p:nvPr/>
        </p:nvSpPr>
        <p:spPr>
          <a:xfrm>
            <a:off x="3246120" y="4297680"/>
            <a:ext cx="3840480" cy="347472"/>
          </a:xfrm>
          <a:prstGeom prst="roundRect">
            <a:avLst>
              <a:gd name="adj" fmla="val 26316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en</a:t>
            </a:r>
            <a:pPr indent="0" marL="0">
              <a:buNone/>
            </a:pPr>
            <a:r>
              <a:rPr lang="en-US" sz="1200" b="1" dirty="0">
                <a:solidFill>
                  <a:srgbClr val="C2185B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</a:t>
            </a:r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ineer</a:t>
            </a:r>
            <a:endParaRPr lang="en-US" sz="1200" dirty="0"/>
          </a:p>
        </p:txBody>
      </p:sp>
      <p:sp>
        <p:nvSpPr>
          <p:cNvPr id="32" name="R8_tag144"/>
          <p:cNvSpPr/>
          <p:nvPr/>
        </p:nvSpPr>
        <p:spPr>
          <a:xfrm>
            <a:off x="7178040" y="4297680"/>
            <a:ext cx="1691640" cy="347472"/>
          </a:xfrm>
          <a:prstGeom prst="roundRect">
            <a:avLst>
              <a:gd name="adj" fmla="val 65789"/>
            </a:avLst>
          </a:prstGeom>
          <a:solidFill>
            <a:srgbClr val="8FC9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🎷 jazz /dʒ/</a:t>
            </a:r>
            <a:endParaRPr lang="en-US" sz="11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145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6</a:t>
            </a:r>
            <a:endParaRPr lang="en-US" sz="2800" dirty="0"/>
          </a:p>
        </p:txBody>
      </p:sp>
      <p:pic>
        <p:nvPicPr>
          <p:cNvPr id="4" name="brY_146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3405226" cy="621792"/>
          </a:xfrm>
          <a:prstGeom prst="rect">
            <a:avLst/>
          </a:prstGeom>
        </p:spPr>
      </p:pic>
      <p:sp>
        <p:nvSpPr>
          <p:cNvPr id="5" name="title_147"/>
          <p:cNvSpPr/>
          <p:nvPr/>
        </p:nvSpPr>
        <p:spPr>
          <a:xfrm>
            <a:off x="1261872" y="164592"/>
            <a:ext cx="31309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Girl or jazz? (2)</a:t>
            </a:r>
            <a:endParaRPr lang="en-US" sz="2500" dirty="0"/>
          </a:p>
        </p:txBody>
      </p:sp>
      <p:pic>
        <p:nvPicPr>
          <p:cNvPr id="6" name="brP_148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5074920" cy="402336"/>
          </a:xfrm>
          <a:prstGeom prst="rect">
            <a:avLst/>
          </a:prstGeom>
        </p:spPr>
      </p:pic>
      <p:sp>
        <p:nvSpPr>
          <p:cNvPr id="7" name="ins_149"/>
          <p:cNvSpPr/>
          <p:nvPr/>
        </p:nvSpPr>
        <p:spPr>
          <a:xfrm>
            <a:off x="1353312" y="731520"/>
            <a:ext cx="48188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Say the words. g = girl or jazz? When is g = /dʒ/?</a:t>
            </a:r>
            <a:endParaRPr lang="en-US" sz="1250" dirty="0"/>
          </a:p>
        </p:txBody>
      </p:sp>
      <p:sp>
        <p:nvSpPr>
          <p:cNvPr id="8" name="insIT_150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Di' le parole. g = girl o jazz? Quando g = /dʒ/?</a:t>
            </a:r>
            <a:endParaRPr lang="en-US" sz="950" dirty="0"/>
          </a:p>
        </p:txBody>
      </p:sp>
      <p:sp>
        <p:nvSpPr>
          <p:cNvPr id="9" name="note_151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🔊 SAY IT</a:t>
            </a:r>
            <a:pPr algn="ctr" indent="0" marL="0">
              <a:buNone/>
            </a:pPr>
            <a:r>
              <a:rPr lang="en-US" sz="1200" dirty="0">
                <a:solidFill>
                  <a:srgbClr val="5B6785"/>
                </a:solidFill>
              </a:rPr>
              <a:t> → </a:t>
            </a:r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🔗 MATCH</a:t>
            </a:r>
            <a:endParaRPr lang="en-US" sz="11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3 min   👥 pairs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Pronunciation · Guided discovery</a:t>
            </a:r>
            <a:endParaRPr lang="en-US" sz="1150" dirty="0"/>
          </a:p>
        </p:txBody>
      </p:sp>
      <p:pic>
        <p:nvPicPr>
          <p:cNvPr id="10" name="logo_152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153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3A · Pronunciation · the letter g (2)   ·   📖 SB p.22 · 2b, 2c (TG key 3.3)</a:t>
            </a:r>
            <a:endParaRPr lang="en-US" sz="800" dirty="0"/>
          </a:p>
        </p:txBody>
      </p:sp>
      <p:sp>
        <p:nvSpPr>
          <p:cNvPr id="12" name="cd_154"/>
          <p:cNvSpPr/>
          <p:nvPr/>
        </p:nvSpPr>
        <p:spPr>
          <a:xfrm>
            <a:off x="320040" y="1417320"/>
            <a:ext cx="2697480" cy="1527048"/>
          </a:xfrm>
          <a:prstGeom prst="roundRect">
            <a:avLst>
              <a:gd name="adj" fmla="val 8383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3" name="ii_155"/>
          <p:cNvSpPr/>
          <p:nvPr/>
        </p:nvSpPr>
        <p:spPr>
          <a:xfrm>
            <a:off x="4114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🏷️</a:t>
            </a:r>
            <a:endParaRPr lang="en-US" sz="2200" dirty="0"/>
          </a:p>
        </p:txBody>
      </p:sp>
      <p:sp>
        <p:nvSpPr>
          <p:cNvPr id="14" name="ih_156"/>
          <p:cNvSpPr/>
          <p:nvPr/>
        </p:nvSpPr>
        <p:spPr>
          <a:xfrm>
            <a:off x="886968" y="15087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The sounds</a:t>
            </a:r>
            <a:endParaRPr lang="en-US" sz="1300" dirty="0"/>
          </a:p>
        </p:txBody>
      </p:sp>
      <p:sp>
        <p:nvSpPr>
          <p:cNvPr id="15" name="lg_157"/>
          <p:cNvSpPr/>
          <p:nvPr/>
        </p:nvSpPr>
        <p:spPr>
          <a:xfrm>
            <a:off x="457200" y="198424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F7A6C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👧 girl /ɡ/</a:t>
            </a:r>
            <a:endParaRPr lang="en-US" sz="1050" dirty="0"/>
          </a:p>
        </p:txBody>
      </p:sp>
      <p:sp>
        <p:nvSpPr>
          <p:cNvPr id="16" name="lg_158"/>
          <p:cNvSpPr/>
          <p:nvPr/>
        </p:nvSpPr>
        <p:spPr>
          <a:xfrm>
            <a:off x="1719072" y="198424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8FC9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🎷 jazz /dʒ/</a:t>
            </a:r>
            <a:endParaRPr lang="en-US" sz="1050" dirty="0"/>
          </a:p>
        </p:txBody>
      </p:sp>
      <p:sp>
        <p:nvSpPr>
          <p:cNvPr id="17" name="sq_159"/>
          <p:cNvSpPr/>
          <p:nvPr/>
        </p:nvSpPr>
        <p:spPr>
          <a:xfrm>
            <a:off x="3246120" y="1417320"/>
            <a:ext cx="3840480" cy="301752"/>
          </a:xfrm>
          <a:prstGeom prst="roundRect">
            <a:avLst>
              <a:gd name="adj" fmla="val 30303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</a:t>
            </a:r>
            <a:pPr indent="0" marL="0">
              <a:buNone/>
            </a:pPr>
            <a:r>
              <a:rPr lang="en-US" sz="1200" b="1" dirty="0">
                <a:solidFill>
                  <a:srgbClr val="C2185B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</a:t>
            </a:r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ent</a:t>
            </a:r>
            <a:endParaRPr lang="en-US" sz="1200" dirty="0"/>
          </a:p>
        </p:txBody>
      </p:sp>
      <p:sp>
        <p:nvSpPr>
          <p:cNvPr id="18" name="R1_tag160"/>
          <p:cNvSpPr/>
          <p:nvPr/>
        </p:nvSpPr>
        <p:spPr>
          <a:xfrm>
            <a:off x="7178040" y="1417320"/>
            <a:ext cx="1691640" cy="301752"/>
          </a:xfrm>
          <a:prstGeom prst="roundRect">
            <a:avLst>
              <a:gd name="adj" fmla="val 75758"/>
            </a:avLst>
          </a:prstGeom>
          <a:solidFill>
            <a:srgbClr val="8FC9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🎷 jazz /dʒ/</a:t>
            </a:r>
            <a:endParaRPr lang="en-US" sz="1150" dirty="0"/>
          </a:p>
        </p:txBody>
      </p:sp>
      <p:sp>
        <p:nvSpPr>
          <p:cNvPr id="19" name="sq_161"/>
          <p:cNvSpPr/>
          <p:nvPr/>
        </p:nvSpPr>
        <p:spPr>
          <a:xfrm>
            <a:off x="3246120" y="1783080"/>
            <a:ext cx="3840480" cy="301752"/>
          </a:xfrm>
          <a:prstGeom prst="roundRect">
            <a:avLst>
              <a:gd name="adj" fmla="val 30303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185B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</a:t>
            </a:r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uest</a:t>
            </a:r>
            <a:endParaRPr lang="en-US" sz="1200" dirty="0"/>
          </a:p>
        </p:txBody>
      </p:sp>
      <p:sp>
        <p:nvSpPr>
          <p:cNvPr id="20" name="R2_tag162"/>
          <p:cNvSpPr/>
          <p:nvPr/>
        </p:nvSpPr>
        <p:spPr>
          <a:xfrm>
            <a:off x="7178040" y="1783080"/>
            <a:ext cx="1691640" cy="301752"/>
          </a:xfrm>
          <a:prstGeom prst="roundRect">
            <a:avLst>
              <a:gd name="adj" fmla="val 75758"/>
            </a:avLst>
          </a:prstGeom>
          <a:solidFill>
            <a:srgbClr val="F7A6C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👧 girl /ɡ/</a:t>
            </a:r>
            <a:endParaRPr lang="en-US" sz="1150" dirty="0"/>
          </a:p>
        </p:txBody>
      </p:sp>
      <p:sp>
        <p:nvSpPr>
          <p:cNvPr id="21" name="sq_163"/>
          <p:cNvSpPr/>
          <p:nvPr/>
        </p:nvSpPr>
        <p:spPr>
          <a:xfrm>
            <a:off x="3246120" y="2148840"/>
            <a:ext cx="3840480" cy="301752"/>
          </a:xfrm>
          <a:prstGeom prst="roundRect">
            <a:avLst>
              <a:gd name="adj" fmla="val 30303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</a:t>
            </a:r>
            <a:pPr indent="0" marL="0">
              <a:buNone/>
            </a:pPr>
            <a:r>
              <a:rPr lang="en-US" sz="1200" b="1" dirty="0">
                <a:solidFill>
                  <a:srgbClr val="C2185B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</a:t>
            </a:r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ion</a:t>
            </a:r>
            <a:endParaRPr lang="en-US" sz="1200" dirty="0"/>
          </a:p>
        </p:txBody>
      </p:sp>
      <p:sp>
        <p:nvSpPr>
          <p:cNvPr id="22" name="R3_tag164"/>
          <p:cNvSpPr/>
          <p:nvPr/>
        </p:nvSpPr>
        <p:spPr>
          <a:xfrm>
            <a:off x="7178040" y="2148840"/>
            <a:ext cx="1691640" cy="301752"/>
          </a:xfrm>
          <a:prstGeom prst="roundRect">
            <a:avLst>
              <a:gd name="adj" fmla="val 75758"/>
            </a:avLst>
          </a:prstGeom>
          <a:solidFill>
            <a:srgbClr val="8FC9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🎷 jazz /dʒ/</a:t>
            </a:r>
            <a:endParaRPr lang="en-US" sz="1150" dirty="0"/>
          </a:p>
        </p:txBody>
      </p:sp>
      <p:sp>
        <p:nvSpPr>
          <p:cNvPr id="23" name="sq_165"/>
          <p:cNvSpPr/>
          <p:nvPr/>
        </p:nvSpPr>
        <p:spPr>
          <a:xfrm>
            <a:off x="3246120" y="2514600"/>
            <a:ext cx="3840480" cy="301752"/>
          </a:xfrm>
          <a:prstGeom prst="roundRect">
            <a:avLst>
              <a:gd name="adj" fmla="val 30303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emer</a:t>
            </a:r>
            <a:pPr indent="0" marL="0">
              <a:buNone/>
            </a:pPr>
            <a:r>
              <a:rPr lang="en-US" sz="1200" b="1" dirty="0">
                <a:solidFill>
                  <a:srgbClr val="C2185B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</a:t>
            </a:r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ency</a:t>
            </a:r>
            <a:endParaRPr lang="en-US" sz="1200" dirty="0"/>
          </a:p>
        </p:txBody>
      </p:sp>
      <p:sp>
        <p:nvSpPr>
          <p:cNvPr id="24" name="R4_tag166"/>
          <p:cNvSpPr/>
          <p:nvPr/>
        </p:nvSpPr>
        <p:spPr>
          <a:xfrm>
            <a:off x="7178040" y="2514600"/>
            <a:ext cx="1691640" cy="301752"/>
          </a:xfrm>
          <a:prstGeom prst="roundRect">
            <a:avLst>
              <a:gd name="adj" fmla="val 75758"/>
            </a:avLst>
          </a:prstGeom>
          <a:solidFill>
            <a:srgbClr val="8FC9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🎷 jazz /dʒ/</a:t>
            </a:r>
            <a:endParaRPr lang="en-US" sz="1150" dirty="0"/>
          </a:p>
        </p:txBody>
      </p:sp>
      <p:sp>
        <p:nvSpPr>
          <p:cNvPr id="25" name="sq_167"/>
          <p:cNvSpPr/>
          <p:nvPr/>
        </p:nvSpPr>
        <p:spPr>
          <a:xfrm>
            <a:off x="3246120" y="2880360"/>
            <a:ext cx="3840480" cy="301752"/>
          </a:xfrm>
          <a:prstGeom prst="roundRect">
            <a:avLst>
              <a:gd name="adj" fmla="val 30303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be</a:t>
            </a:r>
            <a:pPr indent="0" marL="0">
              <a:buNone/>
            </a:pPr>
            <a:r>
              <a:rPr lang="en-US" sz="1200" b="1" dirty="0">
                <a:solidFill>
                  <a:srgbClr val="C2185B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</a:t>
            </a:r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</a:t>
            </a:r>
            <a:endParaRPr lang="en-US" sz="1200" dirty="0"/>
          </a:p>
        </p:txBody>
      </p:sp>
      <p:sp>
        <p:nvSpPr>
          <p:cNvPr id="26" name="R5_tag168"/>
          <p:cNvSpPr/>
          <p:nvPr/>
        </p:nvSpPr>
        <p:spPr>
          <a:xfrm>
            <a:off x="7178040" y="2880360"/>
            <a:ext cx="1691640" cy="301752"/>
          </a:xfrm>
          <a:prstGeom prst="roundRect">
            <a:avLst>
              <a:gd name="adj" fmla="val 75758"/>
            </a:avLst>
          </a:prstGeom>
          <a:solidFill>
            <a:srgbClr val="F7A6C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👧 girl /ɡ/</a:t>
            </a:r>
            <a:endParaRPr lang="en-US" sz="1150" dirty="0"/>
          </a:p>
        </p:txBody>
      </p:sp>
      <p:sp>
        <p:nvSpPr>
          <p:cNvPr id="27" name="sq_169"/>
          <p:cNvSpPr/>
          <p:nvPr/>
        </p:nvSpPr>
        <p:spPr>
          <a:xfrm>
            <a:off x="3246120" y="3246120"/>
            <a:ext cx="3840480" cy="301752"/>
          </a:xfrm>
          <a:prstGeom prst="roundRect">
            <a:avLst>
              <a:gd name="adj" fmla="val 30303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185B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</a:t>
            </a:r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ift</a:t>
            </a:r>
            <a:endParaRPr lang="en-US" sz="1200" dirty="0"/>
          </a:p>
        </p:txBody>
      </p:sp>
      <p:sp>
        <p:nvSpPr>
          <p:cNvPr id="28" name="R6_tag170"/>
          <p:cNvSpPr/>
          <p:nvPr/>
        </p:nvSpPr>
        <p:spPr>
          <a:xfrm>
            <a:off x="7178040" y="3246120"/>
            <a:ext cx="1691640" cy="301752"/>
          </a:xfrm>
          <a:prstGeom prst="roundRect">
            <a:avLst>
              <a:gd name="adj" fmla="val 75758"/>
            </a:avLst>
          </a:prstGeom>
          <a:solidFill>
            <a:srgbClr val="F7A6C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👧 girl /ɡ/</a:t>
            </a:r>
            <a:endParaRPr lang="en-US" sz="1150" dirty="0"/>
          </a:p>
        </p:txBody>
      </p:sp>
      <p:sp>
        <p:nvSpPr>
          <p:cNvPr id="29" name="sq_171"/>
          <p:cNvSpPr/>
          <p:nvPr/>
        </p:nvSpPr>
        <p:spPr>
          <a:xfrm>
            <a:off x="3246120" y="3611880"/>
            <a:ext cx="3840480" cy="301752"/>
          </a:xfrm>
          <a:prstGeom prst="roundRect">
            <a:avLst>
              <a:gd name="adj" fmla="val 30303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185B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</a:t>
            </a:r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eneral</a:t>
            </a:r>
            <a:endParaRPr lang="en-US" sz="1200" dirty="0"/>
          </a:p>
        </p:txBody>
      </p:sp>
      <p:sp>
        <p:nvSpPr>
          <p:cNvPr id="30" name="R7_tag172"/>
          <p:cNvSpPr/>
          <p:nvPr/>
        </p:nvSpPr>
        <p:spPr>
          <a:xfrm>
            <a:off x="7178040" y="3611880"/>
            <a:ext cx="1691640" cy="301752"/>
          </a:xfrm>
          <a:prstGeom prst="roundRect">
            <a:avLst>
              <a:gd name="adj" fmla="val 75758"/>
            </a:avLst>
          </a:prstGeom>
          <a:solidFill>
            <a:srgbClr val="8FC9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🎷 jazz /dʒ/</a:t>
            </a:r>
            <a:endParaRPr lang="en-US" sz="1150" dirty="0"/>
          </a:p>
        </p:txBody>
      </p:sp>
      <p:sp>
        <p:nvSpPr>
          <p:cNvPr id="31" name="sq_173"/>
          <p:cNvSpPr/>
          <p:nvPr/>
        </p:nvSpPr>
        <p:spPr>
          <a:xfrm>
            <a:off x="3246120" y="3977640"/>
            <a:ext cx="3840480" cy="301752"/>
          </a:xfrm>
          <a:prstGeom prst="roundRect">
            <a:avLst>
              <a:gd name="adj" fmla="val 30303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2185B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</a:t>
            </a:r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uarantee</a:t>
            </a:r>
            <a:endParaRPr lang="en-US" sz="1200" dirty="0"/>
          </a:p>
        </p:txBody>
      </p:sp>
      <p:sp>
        <p:nvSpPr>
          <p:cNvPr id="32" name="R8_tag174"/>
          <p:cNvSpPr/>
          <p:nvPr/>
        </p:nvSpPr>
        <p:spPr>
          <a:xfrm>
            <a:off x="7178040" y="3977640"/>
            <a:ext cx="1691640" cy="301752"/>
          </a:xfrm>
          <a:prstGeom prst="roundRect">
            <a:avLst>
              <a:gd name="adj" fmla="val 75758"/>
            </a:avLst>
          </a:prstGeom>
          <a:solidFill>
            <a:srgbClr val="F7A6C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👧 girl /ɡ/</a:t>
            </a:r>
            <a:endParaRPr lang="en-US" sz="1150" dirty="0"/>
          </a:p>
        </p:txBody>
      </p:sp>
      <p:sp>
        <p:nvSpPr>
          <p:cNvPr id="33" name="sq_175"/>
          <p:cNvSpPr/>
          <p:nvPr/>
        </p:nvSpPr>
        <p:spPr>
          <a:xfrm>
            <a:off x="3246120" y="4343400"/>
            <a:ext cx="3840480" cy="301752"/>
          </a:xfrm>
          <a:prstGeom prst="roundRect">
            <a:avLst>
              <a:gd name="adj" fmla="val 30303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or</a:t>
            </a:r>
            <a:pPr indent="0" marL="0">
              <a:buNone/>
            </a:pPr>
            <a:r>
              <a:rPr lang="en-US" sz="1200" b="1" dirty="0">
                <a:solidFill>
                  <a:srgbClr val="C2185B"/>
                </a:solidFill>
                <a:highlight>
                  <a:srgbClr val="FFF1A8"/>
                </a:highlight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</a:t>
            </a:r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anize</a:t>
            </a:r>
            <a:endParaRPr lang="en-US" sz="1200" dirty="0"/>
          </a:p>
        </p:txBody>
      </p:sp>
      <p:sp>
        <p:nvSpPr>
          <p:cNvPr id="34" name="R9_tag176"/>
          <p:cNvSpPr/>
          <p:nvPr/>
        </p:nvSpPr>
        <p:spPr>
          <a:xfrm>
            <a:off x="7178040" y="4343400"/>
            <a:ext cx="1691640" cy="301752"/>
          </a:xfrm>
          <a:prstGeom prst="roundRect">
            <a:avLst>
              <a:gd name="adj" fmla="val 75758"/>
            </a:avLst>
          </a:prstGeom>
          <a:solidFill>
            <a:srgbClr val="F7A6C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👧 girl /ɡ/</a:t>
            </a:r>
            <a:endParaRPr lang="en-US" sz="11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177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7</a:t>
            </a:r>
            <a:endParaRPr lang="en-US" sz="2800" dirty="0"/>
          </a:p>
        </p:txBody>
      </p:sp>
      <p:pic>
        <p:nvPicPr>
          <p:cNvPr id="4" name="brY_178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5135270" cy="621792"/>
          </a:xfrm>
          <a:prstGeom prst="rect">
            <a:avLst/>
          </a:prstGeom>
        </p:spPr>
      </p:pic>
      <p:sp>
        <p:nvSpPr>
          <p:cNvPr id="5" name="title_179"/>
          <p:cNvSpPr/>
          <p:nvPr/>
        </p:nvSpPr>
        <p:spPr>
          <a:xfrm>
            <a:off x="1261872" y="164592"/>
            <a:ext cx="486095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No more boring stopovers (1)</a:t>
            </a:r>
            <a:endParaRPr lang="en-US" sz="2500" dirty="0"/>
          </a:p>
        </p:txBody>
      </p:sp>
      <p:pic>
        <p:nvPicPr>
          <p:cNvPr id="6" name="brP_180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5257800" cy="402336"/>
          </a:xfrm>
          <a:prstGeom prst="rect">
            <a:avLst/>
          </a:prstGeom>
        </p:spPr>
      </p:pic>
      <p:sp>
        <p:nvSpPr>
          <p:cNvPr id="7" name="ins_181"/>
          <p:cNvSpPr/>
          <p:nvPr/>
        </p:nvSpPr>
        <p:spPr>
          <a:xfrm>
            <a:off x="1353312" y="731520"/>
            <a:ext cx="5001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Read the article. Complete it with phrases A–H. Is it a good idea?</a:t>
            </a:r>
            <a:endParaRPr lang="en-US" sz="1100" dirty="0"/>
          </a:p>
        </p:txBody>
      </p:sp>
      <p:sp>
        <p:nvSpPr>
          <p:cNvPr id="8" name="insIT_182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Leggi l'articolo. Completalo con le frasi A–H. È una buona idea?</a:t>
            </a:r>
            <a:endParaRPr lang="en-US" sz="950" dirty="0"/>
          </a:p>
        </p:txBody>
      </p:sp>
      <p:sp>
        <p:nvSpPr>
          <p:cNvPr id="9" name="note_183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👀 READ</a:t>
            </a:r>
            <a:pPr algn="ctr" indent="0" marL="0">
              <a:buNone/>
            </a:pPr>
            <a:r>
              <a:rPr lang="en-US" sz="1200" dirty="0">
                <a:solidFill>
                  <a:srgbClr val="5B6785"/>
                </a:solidFill>
              </a:rPr>
              <a:t> → </a:t>
            </a:r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✏️ FILL THE GAPS</a:t>
            </a:r>
            <a:endParaRPr lang="en-US" sz="11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5 min   👥 pairs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Reading · Text cohesion</a:t>
            </a:r>
            <a:endParaRPr lang="en-US" sz="1150" dirty="0"/>
          </a:p>
        </p:txBody>
      </p:sp>
      <p:pic>
        <p:nvPicPr>
          <p:cNvPr id="10" name="logo_184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185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3A · Reading · No more boring stopovers   ·   📖 SB p.22 · 3a, 3b · part 1 (TG key)</a:t>
            </a:r>
            <a:endParaRPr lang="en-US" sz="800" dirty="0"/>
          </a:p>
        </p:txBody>
      </p:sp>
      <p:sp>
        <p:nvSpPr>
          <p:cNvPr id="12" name="cd_186"/>
          <p:cNvSpPr/>
          <p:nvPr/>
        </p:nvSpPr>
        <p:spPr>
          <a:xfrm>
            <a:off x="320040" y="1417320"/>
            <a:ext cx="5760720" cy="3364992"/>
          </a:xfrm>
          <a:prstGeom prst="roundRect">
            <a:avLst>
              <a:gd name="adj" fmla="val 3804"/>
            </a:avLst>
          </a:prstGeom>
          <a:solidFill>
            <a:srgbClr val="FFFFFF"/>
          </a:solidFill>
          <a:ln w="28575">
            <a:solidFill>
              <a:srgbClr val="A8E5BE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3" name="rd_187"/>
          <p:cNvSpPr/>
          <p:nvPr/>
        </p:nvSpPr>
        <p:spPr>
          <a:xfrm>
            <a:off x="457200" y="1527048"/>
            <a:ext cx="5486400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Few things are more depressing than spending hours in an airport terminal waiting for a connecting flight.</a:t>
            </a:r>
            <a:endParaRPr lang="en-US" sz="11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There you are, sitting in the departure lounge watching the clock, or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7B5CD6"/>
                </a:solidFill>
                <a:highlight>
                  <a:srgbClr val="EEE8FB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(1) D looking around the duty-free shop for the eighth time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And the most frustrating thing is that outside the airport there is a foreign city which you'd really like to look around, full of great tourist attractions, restaurants, and shops. But you don't want to leave the airport, because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(2)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and will miss your flight.</a:t>
            </a:r>
            <a:endParaRPr lang="en-US" sz="11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Frenchman Emmanuel Rozenblum and his sister were on a stopover at Warsaw's main airport three years ago. But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(3)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so they decided to go into town.</a:t>
            </a:r>
            <a:endParaRPr lang="en-US" sz="11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'We left the airport on our own,' says Mr Rozenblum, 'but we didn't know which bus to take, and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(4)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.'</a:t>
            </a:r>
            <a:endParaRPr lang="en-US" sz="1100" dirty="0"/>
          </a:p>
        </p:txBody>
      </p:sp>
      <p:sp>
        <p:nvSpPr>
          <p:cNvPr id="14" name="R1_rdA188"/>
          <p:cNvSpPr/>
          <p:nvPr/>
        </p:nvSpPr>
        <p:spPr>
          <a:xfrm>
            <a:off x="457200" y="1527048"/>
            <a:ext cx="5486400" cy="30906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Few things are more depressing than spending hours in an airport terminal waiting for a connecting flight.</a:t>
            </a:r>
            <a:endParaRPr lang="en-US" sz="11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There you are, sitting in the departure lounge watching the clock, or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7B5CD6"/>
                </a:solidFill>
                <a:highlight>
                  <a:srgbClr val="EEE8FB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(1) D looking around the duty-free shop for the eighth time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And the most frustrating thing is that outside the airport there is a foreign city which you'd really like to look around, full of great tourist attractions, restaurants, and shops. But you don't want to leave the airport, because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(2) H you're terrified that you won't get back in time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and will miss your flight.</a:t>
            </a:r>
            <a:endParaRPr lang="en-US" sz="11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Frenchman Emmanuel Rozenblum and his sister were on a stopover at Warsaw's main airport three years ago. But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(3)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so they decided to go into town.</a:t>
            </a:r>
            <a:endParaRPr lang="en-US" sz="11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'We left the airport on our own,' says Mr Rozenblum, 'but we didn't know which bus to take, and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(4)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.'</a:t>
            </a:r>
            <a:endParaRPr lang="en-US" sz="1100" dirty="0"/>
          </a:p>
        </p:txBody>
      </p:sp>
      <p:sp>
        <p:nvSpPr>
          <p:cNvPr id="15" name="R2_rdA189"/>
          <p:cNvSpPr/>
          <p:nvPr/>
        </p:nvSpPr>
        <p:spPr>
          <a:xfrm>
            <a:off x="457200" y="1527048"/>
            <a:ext cx="5486400" cy="30906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Few things are more depressing than spending hours in an airport terminal waiting for a connecting flight.</a:t>
            </a:r>
            <a:endParaRPr lang="en-US" sz="11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There you are, sitting in the departure lounge watching the clock, or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7B5CD6"/>
                </a:solidFill>
                <a:highlight>
                  <a:srgbClr val="EEE8FB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(1) D looking around the duty-free shop for the eighth time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And the most frustrating thing is that outside the airport there is a foreign city which you'd really like to look around, full of great tourist attractions, restaurants, and shops. But you don't want to leave the airport, because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(2) H you're terrified that you won't get back in time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and will miss your flight.</a:t>
            </a:r>
            <a:endParaRPr lang="en-US" sz="11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Frenchman Emmanuel Rozenblum and his sister were on a stopover at Warsaw's main airport three years ago. But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(3) E they really didn't want to spend eight hours waiting for their connecting flight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so they decided to go into town.</a:t>
            </a:r>
            <a:endParaRPr lang="en-US" sz="11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'We left the airport on our own,' says Mr Rozenblum, 'but we didn't know which bus to take, and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(4)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.'</a:t>
            </a:r>
            <a:endParaRPr lang="en-US" sz="1100" dirty="0"/>
          </a:p>
        </p:txBody>
      </p:sp>
      <p:sp>
        <p:nvSpPr>
          <p:cNvPr id="16" name="R3_rdA190"/>
          <p:cNvSpPr/>
          <p:nvPr/>
        </p:nvSpPr>
        <p:spPr>
          <a:xfrm>
            <a:off x="457200" y="1527048"/>
            <a:ext cx="5486400" cy="30906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Few things are more depressing than spending hours in an airport terminal waiting for a connecting flight.</a:t>
            </a:r>
            <a:endParaRPr lang="en-US" sz="11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There you are, sitting in the departure lounge watching the clock, or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7B5CD6"/>
                </a:solidFill>
                <a:highlight>
                  <a:srgbClr val="EEE8FB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(1) D looking around the duty-free shop for the eighth time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And the most frustrating thing is that outside the airport there is a foreign city which you'd really like to look around, full of great tourist attractions, restaurants, and shops. But you don't want to leave the airport, because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(2) H you're terrified that you won't get back in time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and will miss your flight.</a:t>
            </a:r>
            <a:endParaRPr lang="en-US" sz="11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Frenchman Emmanuel Rozenblum and his sister were on a stopover at Warsaw's main airport three years ago. But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(3) E they really didn't want to spend eight hours waiting for their connecting flight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so they decided to go into town.</a:t>
            </a:r>
            <a:endParaRPr lang="en-US" sz="11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'We left the airport on our own,' says Mr Rozenblum, 'but we didn't know which bus to take, and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(4) F we were really stressed about getting back in time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.'</a:t>
            </a:r>
            <a:endParaRPr lang="en-US" sz="1100" dirty="0"/>
          </a:p>
        </p:txBody>
      </p:sp>
      <p:sp>
        <p:nvSpPr>
          <p:cNvPr id="17" name="rbh_191"/>
          <p:cNvSpPr/>
          <p:nvPr/>
        </p:nvSpPr>
        <p:spPr>
          <a:xfrm>
            <a:off x="6263640" y="1417320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Phrases A–H</a:t>
            </a:r>
            <a:endParaRPr lang="en-US" sz="1300" dirty="0"/>
          </a:p>
        </p:txBody>
      </p:sp>
      <p:sp>
        <p:nvSpPr>
          <p:cNvPr id="18" name="bd_192"/>
          <p:cNvSpPr/>
          <p:nvPr/>
        </p:nvSpPr>
        <p:spPr>
          <a:xfrm>
            <a:off x="6263640" y="1830515"/>
            <a:ext cx="310896" cy="310896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</a:t>
            </a:r>
            <a:endParaRPr lang="en-US" sz="1000" dirty="0"/>
          </a:p>
        </p:txBody>
      </p:sp>
      <p:sp>
        <p:nvSpPr>
          <p:cNvPr id="19" name="rb_193"/>
          <p:cNvSpPr/>
          <p:nvPr/>
        </p:nvSpPr>
        <p:spPr>
          <a:xfrm>
            <a:off x="6647688" y="1828800"/>
            <a:ext cx="2240280" cy="314325"/>
          </a:xfrm>
          <a:prstGeom prst="roundRect">
            <a:avLst>
              <a:gd name="adj" fmla="val 29091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don't just go to sleep at the airport</a:t>
            </a:r>
            <a:endParaRPr lang="en-US" sz="900" dirty="0"/>
          </a:p>
        </p:txBody>
      </p:sp>
      <p:sp>
        <p:nvSpPr>
          <p:cNvPr id="20" name="bd_194"/>
          <p:cNvSpPr/>
          <p:nvPr/>
        </p:nvSpPr>
        <p:spPr>
          <a:xfrm>
            <a:off x="6263640" y="2199704"/>
            <a:ext cx="310896" cy="310896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</a:t>
            </a:r>
            <a:endParaRPr lang="en-US" sz="1000" dirty="0"/>
          </a:p>
        </p:txBody>
      </p:sp>
      <p:sp>
        <p:nvSpPr>
          <p:cNvPr id="21" name="rb_195"/>
          <p:cNvSpPr/>
          <p:nvPr/>
        </p:nvSpPr>
        <p:spPr>
          <a:xfrm>
            <a:off x="6647688" y="2197989"/>
            <a:ext cx="2240280" cy="314325"/>
          </a:xfrm>
          <a:prstGeom prst="roundRect">
            <a:avLst>
              <a:gd name="adj" fmla="val 29091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It was an immediate success</a:t>
            </a:r>
            <a:endParaRPr lang="en-US" sz="900" dirty="0"/>
          </a:p>
        </p:txBody>
      </p:sp>
      <p:sp>
        <p:nvSpPr>
          <p:cNvPr id="22" name="bd_196"/>
          <p:cNvSpPr/>
          <p:nvPr/>
        </p:nvSpPr>
        <p:spPr>
          <a:xfrm>
            <a:off x="6263640" y="2568893"/>
            <a:ext cx="310896" cy="310896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</a:t>
            </a:r>
            <a:endParaRPr lang="en-US" sz="1000" dirty="0"/>
          </a:p>
        </p:txBody>
      </p:sp>
      <p:sp>
        <p:nvSpPr>
          <p:cNvPr id="23" name="rb_197"/>
          <p:cNvSpPr/>
          <p:nvPr/>
        </p:nvSpPr>
        <p:spPr>
          <a:xfrm>
            <a:off x="6647688" y="2567178"/>
            <a:ext cx="2240280" cy="314325"/>
          </a:xfrm>
          <a:prstGeom prst="roundRect">
            <a:avLst>
              <a:gd name="adj" fmla="val 29091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experience gave Emmanuel the idea for a new business</a:t>
            </a:r>
            <a:endParaRPr lang="en-US" sz="900" dirty="0"/>
          </a:p>
        </p:txBody>
      </p:sp>
      <p:sp>
        <p:nvSpPr>
          <p:cNvPr id="24" name="bd_198"/>
          <p:cNvSpPr/>
          <p:nvPr/>
        </p:nvSpPr>
        <p:spPr>
          <a:xfrm>
            <a:off x="6263640" y="2938082"/>
            <a:ext cx="310896" cy="310896"/>
          </a:xfrm>
          <a:prstGeom prst="ellipse">
            <a:avLst/>
          </a:prstGeom>
          <a:solidFill>
            <a:srgbClr val="F2B705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D</a:t>
            </a:r>
            <a:endParaRPr lang="en-US" sz="1000" dirty="0"/>
          </a:p>
        </p:txBody>
      </p:sp>
      <p:sp>
        <p:nvSpPr>
          <p:cNvPr id="25" name="rb_199"/>
          <p:cNvSpPr/>
          <p:nvPr/>
        </p:nvSpPr>
        <p:spPr>
          <a:xfrm>
            <a:off x="6647688" y="2936367"/>
            <a:ext cx="2240280" cy="314325"/>
          </a:xfrm>
          <a:prstGeom prst="roundRect">
            <a:avLst>
              <a:gd name="adj" fmla="val 29091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looking around the duty-free shop for the eighth time</a:t>
            </a:r>
            <a:endParaRPr lang="en-US" sz="900" dirty="0"/>
          </a:p>
        </p:txBody>
      </p:sp>
      <p:sp>
        <p:nvSpPr>
          <p:cNvPr id="26" name="bd_200"/>
          <p:cNvSpPr/>
          <p:nvPr/>
        </p:nvSpPr>
        <p:spPr>
          <a:xfrm>
            <a:off x="6263640" y="3307271"/>
            <a:ext cx="310896" cy="310896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E</a:t>
            </a:r>
            <a:endParaRPr lang="en-US" sz="1000" dirty="0"/>
          </a:p>
        </p:txBody>
      </p:sp>
      <p:sp>
        <p:nvSpPr>
          <p:cNvPr id="27" name="rb_201"/>
          <p:cNvSpPr/>
          <p:nvPr/>
        </p:nvSpPr>
        <p:spPr>
          <a:xfrm>
            <a:off x="6647688" y="3305556"/>
            <a:ext cx="2240280" cy="314325"/>
          </a:xfrm>
          <a:prstGeom prst="roundRect">
            <a:avLst>
              <a:gd name="adj" fmla="val 29091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they really didn't want to spend eight hours waiting for their connecting flight</a:t>
            </a:r>
            <a:endParaRPr lang="en-US" sz="700" dirty="0"/>
          </a:p>
        </p:txBody>
      </p:sp>
      <p:sp>
        <p:nvSpPr>
          <p:cNvPr id="28" name="bd_202"/>
          <p:cNvSpPr/>
          <p:nvPr/>
        </p:nvSpPr>
        <p:spPr>
          <a:xfrm>
            <a:off x="6263640" y="3676460"/>
            <a:ext cx="310896" cy="310896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F</a:t>
            </a:r>
            <a:endParaRPr lang="en-US" sz="1000" dirty="0"/>
          </a:p>
        </p:txBody>
      </p:sp>
      <p:sp>
        <p:nvSpPr>
          <p:cNvPr id="29" name="rb_203"/>
          <p:cNvSpPr/>
          <p:nvPr/>
        </p:nvSpPr>
        <p:spPr>
          <a:xfrm>
            <a:off x="6647688" y="3674745"/>
            <a:ext cx="2240280" cy="314325"/>
          </a:xfrm>
          <a:prstGeom prst="roundRect">
            <a:avLst>
              <a:gd name="adj" fmla="val 29091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we were really stressed about getting back in time</a:t>
            </a:r>
            <a:endParaRPr lang="en-US" sz="900" dirty="0"/>
          </a:p>
        </p:txBody>
      </p:sp>
      <p:sp>
        <p:nvSpPr>
          <p:cNvPr id="30" name="bd_204"/>
          <p:cNvSpPr/>
          <p:nvPr/>
        </p:nvSpPr>
        <p:spPr>
          <a:xfrm>
            <a:off x="6263640" y="4045648"/>
            <a:ext cx="310896" cy="310896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</a:t>
            </a:r>
            <a:endParaRPr lang="en-US" sz="1000" dirty="0"/>
          </a:p>
        </p:txBody>
      </p:sp>
      <p:sp>
        <p:nvSpPr>
          <p:cNvPr id="31" name="rb_205"/>
          <p:cNvSpPr/>
          <p:nvPr/>
        </p:nvSpPr>
        <p:spPr>
          <a:xfrm>
            <a:off x="6647688" y="4043934"/>
            <a:ext cx="2240280" cy="314325"/>
          </a:xfrm>
          <a:prstGeom prst="roundRect">
            <a:avLst>
              <a:gd name="adj" fmla="val 29091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guarantees to get them back to the airport in time for their connecting flight</a:t>
            </a:r>
            <a:endParaRPr lang="en-US" sz="700" dirty="0"/>
          </a:p>
        </p:txBody>
      </p:sp>
      <p:sp>
        <p:nvSpPr>
          <p:cNvPr id="32" name="bd_206"/>
          <p:cNvSpPr/>
          <p:nvPr/>
        </p:nvSpPr>
        <p:spPr>
          <a:xfrm>
            <a:off x="6263640" y="4414838"/>
            <a:ext cx="310896" cy="310896"/>
          </a:xfrm>
          <a:prstGeom prst="ellipse">
            <a:avLst/>
          </a:prstGeom>
          <a:solidFill>
            <a:srgbClr val="F2B705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</a:t>
            </a:r>
            <a:endParaRPr lang="en-US" sz="1000" dirty="0"/>
          </a:p>
        </p:txBody>
      </p:sp>
      <p:sp>
        <p:nvSpPr>
          <p:cNvPr id="33" name="rb_207"/>
          <p:cNvSpPr/>
          <p:nvPr/>
        </p:nvSpPr>
        <p:spPr>
          <a:xfrm>
            <a:off x="6647688" y="4413123"/>
            <a:ext cx="2240280" cy="314325"/>
          </a:xfrm>
          <a:prstGeom prst="roundRect">
            <a:avLst>
              <a:gd name="adj" fmla="val 29091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you're terrified that you won't get back in time</a:t>
            </a:r>
            <a:endParaRPr lang="en-US" sz="9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208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8</a:t>
            </a:r>
            <a:endParaRPr lang="en-US" sz="2800" dirty="0"/>
          </a:p>
        </p:txBody>
      </p:sp>
      <p:pic>
        <p:nvPicPr>
          <p:cNvPr id="4" name="brY_209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5135270" cy="621792"/>
          </a:xfrm>
          <a:prstGeom prst="rect">
            <a:avLst/>
          </a:prstGeom>
        </p:spPr>
      </p:pic>
      <p:sp>
        <p:nvSpPr>
          <p:cNvPr id="5" name="title_210"/>
          <p:cNvSpPr/>
          <p:nvPr/>
        </p:nvSpPr>
        <p:spPr>
          <a:xfrm>
            <a:off x="1261872" y="164592"/>
            <a:ext cx="486095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No more boring stopovers (2)</a:t>
            </a:r>
            <a:endParaRPr lang="en-US" sz="2500" dirty="0"/>
          </a:p>
        </p:txBody>
      </p:sp>
      <p:pic>
        <p:nvPicPr>
          <p:cNvPr id="6" name="brP_211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4379976" cy="402336"/>
          </a:xfrm>
          <a:prstGeom prst="rect">
            <a:avLst/>
          </a:prstGeom>
        </p:spPr>
      </p:pic>
      <p:sp>
        <p:nvSpPr>
          <p:cNvPr id="7" name="ins_212"/>
          <p:cNvSpPr/>
          <p:nvPr/>
        </p:nvSpPr>
        <p:spPr>
          <a:xfrm>
            <a:off x="1353312" y="731520"/>
            <a:ext cx="41239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Read part 2. Complete it with phrases A–H.</a:t>
            </a:r>
            <a:endParaRPr lang="en-US" sz="1250" dirty="0"/>
          </a:p>
        </p:txBody>
      </p:sp>
      <p:sp>
        <p:nvSpPr>
          <p:cNvPr id="8" name="insIT_213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Leggi la parte 2. Completala con le frasi A–H.</a:t>
            </a:r>
            <a:endParaRPr lang="en-US" sz="950" dirty="0"/>
          </a:p>
        </p:txBody>
      </p:sp>
      <p:sp>
        <p:nvSpPr>
          <p:cNvPr id="9" name="note_214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👀 READ</a:t>
            </a:r>
            <a:pPr algn="ctr" indent="0" marL="0">
              <a:buNone/>
            </a:pPr>
            <a:r>
              <a:rPr lang="en-US" sz="1200" dirty="0">
                <a:solidFill>
                  <a:srgbClr val="5B6785"/>
                </a:solidFill>
              </a:rPr>
              <a:t> → </a:t>
            </a:r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✏️ FILL THE GAPS</a:t>
            </a:r>
            <a:endParaRPr lang="en-US" sz="11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4 min   👥 pairs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Reading · Text cohesion</a:t>
            </a:r>
            <a:endParaRPr lang="en-US" sz="1150" dirty="0"/>
          </a:p>
        </p:txBody>
      </p:sp>
      <p:pic>
        <p:nvPicPr>
          <p:cNvPr id="10" name="logo_215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216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3A · Reading · No more boring stopovers   ·   📖 SB p.22 · 3b · part 2 (TG key)</a:t>
            </a:r>
            <a:endParaRPr lang="en-US" sz="800" dirty="0"/>
          </a:p>
        </p:txBody>
      </p:sp>
      <p:sp>
        <p:nvSpPr>
          <p:cNvPr id="12" name="cd_217"/>
          <p:cNvSpPr/>
          <p:nvPr/>
        </p:nvSpPr>
        <p:spPr>
          <a:xfrm>
            <a:off x="320040" y="1417320"/>
            <a:ext cx="5760720" cy="3364992"/>
          </a:xfrm>
          <a:prstGeom prst="roundRect">
            <a:avLst>
              <a:gd name="adj" fmla="val 3804"/>
            </a:avLst>
          </a:prstGeom>
          <a:solidFill>
            <a:srgbClr val="FFFFFF"/>
          </a:solidFill>
          <a:ln w="28575">
            <a:solidFill>
              <a:srgbClr val="A8E5BE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3" name="rd_218"/>
          <p:cNvSpPr/>
          <p:nvPr/>
        </p:nvSpPr>
        <p:spPr>
          <a:xfrm>
            <a:off x="457200" y="1527048"/>
            <a:ext cx="5486400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more boring stopovers – go on a guided tour! (2)</a:t>
            </a:r>
            <a:endParaRPr lang="en-US" sz="11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They caught their flight, and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(5)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Millions of air travellers make stopovers every year, so Emmanuel thought he could organize short guided trips into the nearest city or countryside.</a:t>
            </a:r>
            <a:endParaRPr lang="en-US" sz="11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His idea is that a guide picks up the travellers at the airport, takes them quickly around the sights and to a restaurant, and then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(6)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1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March 2015, he and business partner Anna Veyrenc started their 'stopover tours' business, called TripAside, in Paris.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(7)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and today it has expanded to Frankfurt, London, Brussels, Rome, and Madrid. Now other small companies are offering similar tours worldwide, from Beijing to Moscow. So, next time you have a long stopover between flights,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(8)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– book a tour!</a:t>
            </a:r>
            <a:endParaRPr lang="en-US" sz="1100" dirty="0"/>
          </a:p>
        </p:txBody>
      </p:sp>
      <p:sp>
        <p:nvSpPr>
          <p:cNvPr id="14" name="R1_rdA219"/>
          <p:cNvSpPr/>
          <p:nvPr/>
        </p:nvSpPr>
        <p:spPr>
          <a:xfrm>
            <a:off x="457200" y="1527048"/>
            <a:ext cx="5486400" cy="30906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more boring stopovers – go on a guided tour! (2)</a:t>
            </a:r>
            <a:endParaRPr lang="en-US" sz="11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They caught their flight, and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(5) C the experience gave Emmanuel the idea for a new business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Millions of air travellers make stopovers every year, so Emmanuel thought he could organize short guided trips into the nearest city or countryside.</a:t>
            </a:r>
            <a:endParaRPr lang="en-US" sz="11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His idea is that a guide picks up the travellers at the airport, takes them quickly around the sights and to a restaurant, and then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(6)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1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March 2015, he and business partner Anna Veyrenc started their 'stopover tours' business, called TripAside, in Paris.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(7)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and today it has expanded to Frankfurt, London, Brussels, Rome, and Madrid. Now other small companies are offering similar tours worldwide, from Beijing to Moscow. So, next time you have a long stopover between flights,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(8)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– book a tour!</a:t>
            </a:r>
            <a:endParaRPr lang="en-US" sz="1100" dirty="0"/>
          </a:p>
        </p:txBody>
      </p:sp>
      <p:sp>
        <p:nvSpPr>
          <p:cNvPr id="15" name="R2_rdA220"/>
          <p:cNvSpPr/>
          <p:nvPr/>
        </p:nvSpPr>
        <p:spPr>
          <a:xfrm>
            <a:off x="457200" y="1527048"/>
            <a:ext cx="5486400" cy="30906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more boring stopovers – go on a guided tour! (2)</a:t>
            </a:r>
            <a:endParaRPr lang="en-US" sz="11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They caught their flight, and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(5) C the experience gave Emmanuel the idea for a new business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Millions of air travellers make stopovers every year, so Emmanuel thought he could organize short guided trips into the nearest city or countryside.</a:t>
            </a:r>
            <a:endParaRPr lang="en-US" sz="11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His idea is that a guide picks up the travellers at the airport, takes them quickly around the sights and to a restaurant, and then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(6) G guarantees to get them back to the airport in time for their connecting flight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1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March 2015, he and business partner Anna Veyrenc started their 'stopover tours' business, called TripAside, in Paris.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(7)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and today it has expanded to Frankfurt, London, Brussels, Rome, and Madrid. Now other small companies are offering similar tours worldwide, from Beijing to Moscow. So, next time you have a long stopover between flights,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(8)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– book a tour!</a:t>
            </a:r>
            <a:endParaRPr lang="en-US" sz="1100" dirty="0"/>
          </a:p>
        </p:txBody>
      </p:sp>
      <p:sp>
        <p:nvSpPr>
          <p:cNvPr id="16" name="R3_rdA221"/>
          <p:cNvSpPr/>
          <p:nvPr/>
        </p:nvSpPr>
        <p:spPr>
          <a:xfrm>
            <a:off x="457200" y="1527048"/>
            <a:ext cx="5486400" cy="30906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more boring stopovers – go on a guided tour! (2)</a:t>
            </a:r>
            <a:endParaRPr lang="en-US" sz="11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They caught their flight, and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(5) C the experience gave Emmanuel the idea for a new business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Millions of air travellers make stopovers every year, so Emmanuel thought he could organize short guided trips into the nearest city or countryside.</a:t>
            </a:r>
            <a:endParaRPr lang="en-US" sz="11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His idea is that a guide picks up the travellers at the airport, takes them quickly around the sights and to a restaurant, and then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(6) G guarantees to get them back to the airport in time for their connecting flight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1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March 2015, he and business partner Anna Veyrenc started their 'stopover tours' business, called TripAside, in Paris.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(7) B It was an immediate success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and today it has expanded to Frankfurt, London, Brussels, Rome, and Madrid. Now other small companies are offering similar tours worldwide, from Beijing to Moscow. So, next time you have a long stopover between flights,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(8)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– book a tour!</a:t>
            </a:r>
            <a:endParaRPr lang="en-US" sz="1100" dirty="0"/>
          </a:p>
        </p:txBody>
      </p:sp>
      <p:sp>
        <p:nvSpPr>
          <p:cNvPr id="17" name="R4_rdA222"/>
          <p:cNvSpPr/>
          <p:nvPr/>
        </p:nvSpPr>
        <p:spPr>
          <a:xfrm>
            <a:off x="457200" y="1527048"/>
            <a:ext cx="5486400" cy="30906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more boring stopovers – go on a guided tour! (2)</a:t>
            </a:r>
            <a:endParaRPr lang="en-US" sz="11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They caught their flight, and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(5) C the experience gave Emmanuel the idea for a new business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Millions of air travellers make stopovers every year, so Emmanuel thought he could organize short guided trips into the nearest city or countryside.</a:t>
            </a:r>
            <a:endParaRPr lang="en-US" sz="11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His idea is that a guide picks up the travellers at the airport, takes them quickly around the sights and to a restaurant, and then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(6) G guarantees to get them back to the airport in time for their connecting flight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1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March 2015, he and business partner Anna Veyrenc started their 'stopover tours' business, called TripAside, in Paris.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(7) B It was an immediate success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and today it has expanded to Frankfurt, London, Brussels, Rome, and Madrid. Now other small companies are offering similar tours worldwide, from Beijing to Moscow. So, next time you have a long stopover between flights,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(8) A don't just go to sleep at the airport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– book a tour!</a:t>
            </a:r>
            <a:endParaRPr lang="en-US" sz="1100" dirty="0"/>
          </a:p>
        </p:txBody>
      </p:sp>
      <p:sp>
        <p:nvSpPr>
          <p:cNvPr id="18" name="rbh_223"/>
          <p:cNvSpPr/>
          <p:nvPr/>
        </p:nvSpPr>
        <p:spPr>
          <a:xfrm>
            <a:off x="6263640" y="1417320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Phrases A–H</a:t>
            </a:r>
            <a:endParaRPr lang="en-US" sz="1300" dirty="0"/>
          </a:p>
        </p:txBody>
      </p:sp>
      <p:sp>
        <p:nvSpPr>
          <p:cNvPr id="19" name="bd_224"/>
          <p:cNvSpPr/>
          <p:nvPr/>
        </p:nvSpPr>
        <p:spPr>
          <a:xfrm>
            <a:off x="6263640" y="1830515"/>
            <a:ext cx="310896" cy="310896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</a:t>
            </a:r>
            <a:endParaRPr lang="en-US" sz="1000" dirty="0"/>
          </a:p>
        </p:txBody>
      </p:sp>
      <p:sp>
        <p:nvSpPr>
          <p:cNvPr id="20" name="rb_225"/>
          <p:cNvSpPr/>
          <p:nvPr/>
        </p:nvSpPr>
        <p:spPr>
          <a:xfrm>
            <a:off x="6647688" y="1828800"/>
            <a:ext cx="2240280" cy="314325"/>
          </a:xfrm>
          <a:prstGeom prst="roundRect">
            <a:avLst>
              <a:gd name="adj" fmla="val 29091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don't just go to sleep at the airport</a:t>
            </a:r>
            <a:endParaRPr lang="en-US" sz="900" dirty="0"/>
          </a:p>
        </p:txBody>
      </p:sp>
      <p:sp>
        <p:nvSpPr>
          <p:cNvPr id="21" name="bd_226"/>
          <p:cNvSpPr/>
          <p:nvPr/>
        </p:nvSpPr>
        <p:spPr>
          <a:xfrm>
            <a:off x="6263640" y="2199704"/>
            <a:ext cx="310896" cy="310896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</a:t>
            </a:r>
            <a:endParaRPr lang="en-US" sz="1000" dirty="0"/>
          </a:p>
        </p:txBody>
      </p:sp>
      <p:sp>
        <p:nvSpPr>
          <p:cNvPr id="22" name="rb_227"/>
          <p:cNvSpPr/>
          <p:nvPr/>
        </p:nvSpPr>
        <p:spPr>
          <a:xfrm>
            <a:off x="6647688" y="2197989"/>
            <a:ext cx="2240280" cy="314325"/>
          </a:xfrm>
          <a:prstGeom prst="roundRect">
            <a:avLst>
              <a:gd name="adj" fmla="val 29091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It was an immediate success</a:t>
            </a:r>
            <a:endParaRPr lang="en-US" sz="900" dirty="0"/>
          </a:p>
        </p:txBody>
      </p:sp>
      <p:sp>
        <p:nvSpPr>
          <p:cNvPr id="23" name="bd_228"/>
          <p:cNvSpPr/>
          <p:nvPr/>
        </p:nvSpPr>
        <p:spPr>
          <a:xfrm>
            <a:off x="6263640" y="2568893"/>
            <a:ext cx="310896" cy="310896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</a:t>
            </a:r>
            <a:endParaRPr lang="en-US" sz="1000" dirty="0"/>
          </a:p>
        </p:txBody>
      </p:sp>
      <p:sp>
        <p:nvSpPr>
          <p:cNvPr id="24" name="rb_229"/>
          <p:cNvSpPr/>
          <p:nvPr/>
        </p:nvSpPr>
        <p:spPr>
          <a:xfrm>
            <a:off x="6647688" y="2567178"/>
            <a:ext cx="2240280" cy="314325"/>
          </a:xfrm>
          <a:prstGeom prst="roundRect">
            <a:avLst>
              <a:gd name="adj" fmla="val 29091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experience gave Emmanuel the idea for a new business</a:t>
            </a:r>
            <a:endParaRPr lang="en-US" sz="900" dirty="0"/>
          </a:p>
        </p:txBody>
      </p:sp>
      <p:sp>
        <p:nvSpPr>
          <p:cNvPr id="25" name="bd_230"/>
          <p:cNvSpPr/>
          <p:nvPr/>
        </p:nvSpPr>
        <p:spPr>
          <a:xfrm>
            <a:off x="6263640" y="2938082"/>
            <a:ext cx="310896" cy="310896"/>
          </a:xfrm>
          <a:prstGeom prst="ellipse">
            <a:avLst/>
          </a:prstGeom>
          <a:solidFill>
            <a:srgbClr val="F2B705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D</a:t>
            </a:r>
            <a:endParaRPr lang="en-US" sz="1000" dirty="0"/>
          </a:p>
        </p:txBody>
      </p:sp>
      <p:sp>
        <p:nvSpPr>
          <p:cNvPr id="26" name="rb_231"/>
          <p:cNvSpPr/>
          <p:nvPr/>
        </p:nvSpPr>
        <p:spPr>
          <a:xfrm>
            <a:off x="6647688" y="2936367"/>
            <a:ext cx="2240280" cy="314325"/>
          </a:xfrm>
          <a:prstGeom prst="roundRect">
            <a:avLst>
              <a:gd name="adj" fmla="val 29091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looking around the duty-free shop for the eighth time</a:t>
            </a:r>
            <a:endParaRPr lang="en-US" sz="900" dirty="0"/>
          </a:p>
        </p:txBody>
      </p:sp>
      <p:sp>
        <p:nvSpPr>
          <p:cNvPr id="27" name="bd_232"/>
          <p:cNvSpPr/>
          <p:nvPr/>
        </p:nvSpPr>
        <p:spPr>
          <a:xfrm>
            <a:off x="6263640" y="3307271"/>
            <a:ext cx="310896" cy="310896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E</a:t>
            </a:r>
            <a:endParaRPr lang="en-US" sz="1000" dirty="0"/>
          </a:p>
        </p:txBody>
      </p:sp>
      <p:sp>
        <p:nvSpPr>
          <p:cNvPr id="28" name="rb_233"/>
          <p:cNvSpPr/>
          <p:nvPr/>
        </p:nvSpPr>
        <p:spPr>
          <a:xfrm>
            <a:off x="6647688" y="3305556"/>
            <a:ext cx="2240280" cy="314325"/>
          </a:xfrm>
          <a:prstGeom prst="roundRect">
            <a:avLst>
              <a:gd name="adj" fmla="val 29091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they really didn't want to spend eight hours waiting for their connecting flight</a:t>
            </a:r>
            <a:endParaRPr lang="en-US" sz="700" dirty="0"/>
          </a:p>
        </p:txBody>
      </p:sp>
      <p:sp>
        <p:nvSpPr>
          <p:cNvPr id="29" name="bd_234"/>
          <p:cNvSpPr/>
          <p:nvPr/>
        </p:nvSpPr>
        <p:spPr>
          <a:xfrm>
            <a:off x="6263640" y="3676460"/>
            <a:ext cx="310896" cy="310896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F</a:t>
            </a:r>
            <a:endParaRPr lang="en-US" sz="1000" dirty="0"/>
          </a:p>
        </p:txBody>
      </p:sp>
      <p:sp>
        <p:nvSpPr>
          <p:cNvPr id="30" name="rb_235"/>
          <p:cNvSpPr/>
          <p:nvPr/>
        </p:nvSpPr>
        <p:spPr>
          <a:xfrm>
            <a:off x="6647688" y="3674745"/>
            <a:ext cx="2240280" cy="314325"/>
          </a:xfrm>
          <a:prstGeom prst="roundRect">
            <a:avLst>
              <a:gd name="adj" fmla="val 29091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we were really stressed about getting back in time</a:t>
            </a:r>
            <a:endParaRPr lang="en-US" sz="900" dirty="0"/>
          </a:p>
        </p:txBody>
      </p:sp>
      <p:sp>
        <p:nvSpPr>
          <p:cNvPr id="31" name="bd_236"/>
          <p:cNvSpPr/>
          <p:nvPr/>
        </p:nvSpPr>
        <p:spPr>
          <a:xfrm>
            <a:off x="6263640" y="4045648"/>
            <a:ext cx="310896" cy="310896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G</a:t>
            </a:r>
            <a:endParaRPr lang="en-US" sz="1000" dirty="0"/>
          </a:p>
        </p:txBody>
      </p:sp>
      <p:sp>
        <p:nvSpPr>
          <p:cNvPr id="32" name="rb_237"/>
          <p:cNvSpPr/>
          <p:nvPr/>
        </p:nvSpPr>
        <p:spPr>
          <a:xfrm>
            <a:off x="6647688" y="4043934"/>
            <a:ext cx="2240280" cy="314325"/>
          </a:xfrm>
          <a:prstGeom prst="roundRect">
            <a:avLst>
              <a:gd name="adj" fmla="val 29091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guarantees to get them back to the airport in time for their connecting flight</a:t>
            </a:r>
            <a:endParaRPr lang="en-US" sz="700" dirty="0"/>
          </a:p>
        </p:txBody>
      </p:sp>
      <p:sp>
        <p:nvSpPr>
          <p:cNvPr id="33" name="bd_238"/>
          <p:cNvSpPr/>
          <p:nvPr/>
        </p:nvSpPr>
        <p:spPr>
          <a:xfrm>
            <a:off x="6263640" y="4414838"/>
            <a:ext cx="310896" cy="310896"/>
          </a:xfrm>
          <a:prstGeom prst="ellipse">
            <a:avLst/>
          </a:prstGeom>
          <a:solidFill>
            <a:srgbClr val="F2B705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</a:t>
            </a:r>
            <a:endParaRPr lang="en-US" sz="1000" dirty="0"/>
          </a:p>
        </p:txBody>
      </p:sp>
      <p:sp>
        <p:nvSpPr>
          <p:cNvPr id="34" name="rb_239"/>
          <p:cNvSpPr/>
          <p:nvPr/>
        </p:nvSpPr>
        <p:spPr>
          <a:xfrm>
            <a:off x="6647688" y="4413123"/>
            <a:ext cx="2240280" cy="314325"/>
          </a:xfrm>
          <a:prstGeom prst="roundRect">
            <a:avLst>
              <a:gd name="adj" fmla="val 29091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you're terrified that you won't get back in time</a:t>
            </a:r>
            <a:endParaRPr lang="en-US" sz="9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240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9</a:t>
            </a:r>
            <a:endParaRPr lang="en-US" sz="2800" dirty="0"/>
          </a:p>
        </p:txBody>
      </p:sp>
      <p:pic>
        <p:nvPicPr>
          <p:cNvPr id="4" name="brY_241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3247949" cy="621792"/>
          </a:xfrm>
          <a:prstGeom prst="rect">
            <a:avLst/>
          </a:prstGeom>
        </p:spPr>
      </p:pic>
      <p:sp>
        <p:nvSpPr>
          <p:cNvPr id="5" name="title_242"/>
          <p:cNvSpPr/>
          <p:nvPr/>
        </p:nvSpPr>
        <p:spPr>
          <a:xfrm>
            <a:off x="1261872" y="164592"/>
            <a:ext cx="297362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Air travel words</a:t>
            </a:r>
            <a:endParaRPr lang="en-US" sz="2500" dirty="0"/>
          </a:p>
        </p:txBody>
      </p:sp>
      <p:pic>
        <p:nvPicPr>
          <p:cNvPr id="6" name="brP_243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5257800" cy="402336"/>
          </a:xfrm>
          <a:prstGeom prst="rect">
            <a:avLst/>
          </a:prstGeom>
        </p:spPr>
      </p:pic>
      <p:sp>
        <p:nvSpPr>
          <p:cNvPr id="7" name="ins_244"/>
          <p:cNvSpPr/>
          <p:nvPr/>
        </p:nvSpPr>
        <p:spPr>
          <a:xfrm>
            <a:off x="1353312" y="731520"/>
            <a:ext cx="5001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Explain it in English (harder) – or say it in Italian (easier). Click.</a:t>
            </a:r>
            <a:endParaRPr lang="en-US" sz="1100" dirty="0"/>
          </a:p>
        </p:txBody>
      </p:sp>
      <p:sp>
        <p:nvSpPr>
          <p:cNvPr id="8" name="insIT_245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Spiegalo in inglese (più difficile) – o dillo in italiano (più facile). Clicca.</a:t>
            </a:r>
            <a:endParaRPr lang="en-US" sz="950" dirty="0"/>
          </a:p>
        </p:txBody>
      </p:sp>
      <p:sp>
        <p:nvSpPr>
          <p:cNvPr id="9" name="note_246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✅ CHECK</a:t>
            </a:r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· CONTROLLA</a:t>
            </a:r>
            <a:endParaRPr lang="en-US" sz="12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3 min   🙋 whole class</a:t>
            </a:r>
            <a:endParaRPr lang="en-US" sz="12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Vocabulary · TPRS · meaning</a:t>
            </a:r>
            <a:endParaRPr lang="en-US" sz="1250" dirty="0"/>
          </a:p>
        </p:txBody>
      </p:sp>
      <p:pic>
        <p:nvPicPr>
          <p:cNvPr id="10" name="logo_247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248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3A · Vocabulary · air travel   ·   📖 SB p.22 · 3c (TG meanings)</a:t>
            </a:r>
            <a:endParaRPr lang="en-US" sz="800" dirty="0"/>
          </a:p>
        </p:txBody>
      </p:sp>
      <p:sp>
        <p:nvSpPr>
          <p:cNvPr id="12" name="cd_249"/>
          <p:cNvSpPr/>
          <p:nvPr/>
        </p:nvSpPr>
        <p:spPr>
          <a:xfrm>
            <a:off x="320040" y="1417320"/>
            <a:ext cx="2075688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8575">
            <a:solidFill>
              <a:srgbClr val="F7A6C4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3" name="e_250"/>
          <p:cNvSpPr/>
          <p:nvPr/>
        </p:nvSpPr>
        <p:spPr>
          <a:xfrm>
            <a:off x="393192" y="1527048"/>
            <a:ext cx="512064" cy="512064"/>
          </a:xfrm>
          <a:prstGeom prst="ellipse">
            <a:avLst/>
          </a:prstGeom>
          <a:solidFill>
            <a:srgbClr val="FFE3E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⏸️</a:t>
            </a:r>
            <a:endParaRPr lang="en-US" sz="2000" dirty="0"/>
          </a:p>
        </p:txBody>
      </p:sp>
      <p:sp>
        <p:nvSpPr>
          <p:cNvPr id="14" name="en_251"/>
          <p:cNvSpPr/>
          <p:nvPr/>
        </p:nvSpPr>
        <p:spPr>
          <a:xfrm>
            <a:off x="978408" y="1472184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stopover</a:t>
            </a:r>
            <a:endParaRPr lang="en-US" sz="1200" dirty="0"/>
          </a:p>
        </p:txBody>
      </p:sp>
      <p:sp>
        <p:nvSpPr>
          <p:cNvPr id="15" name="R1_def252"/>
          <p:cNvSpPr/>
          <p:nvPr/>
        </p:nvSpPr>
        <p:spPr>
          <a:xfrm>
            <a:off x="978408" y="1783080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short stay between two parts of a journey</a:t>
            </a:r>
            <a:endParaRPr lang="en-US" sz="850" dirty="0"/>
          </a:p>
        </p:txBody>
      </p:sp>
      <p:sp>
        <p:nvSpPr>
          <p:cNvPr id="16" name="R2_it253"/>
          <p:cNvSpPr/>
          <p:nvPr/>
        </p:nvSpPr>
        <p:spPr>
          <a:xfrm>
            <a:off x="978408" y="2121408"/>
            <a:ext cx="1362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i="1" dirty="0">
                <a:solidFill>
                  <a:srgbClr val="2EB8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scalo</a:t>
            </a:r>
            <a:endParaRPr lang="en-US" sz="900" dirty="0"/>
          </a:p>
        </p:txBody>
      </p:sp>
      <p:sp>
        <p:nvSpPr>
          <p:cNvPr id="17" name="cd_254"/>
          <p:cNvSpPr/>
          <p:nvPr/>
        </p:nvSpPr>
        <p:spPr>
          <a:xfrm>
            <a:off x="2487168" y="1417320"/>
            <a:ext cx="2075688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8575">
            <a:solidFill>
              <a:srgbClr val="A9D3F5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8" name="e_255"/>
          <p:cNvSpPr/>
          <p:nvPr/>
        </p:nvSpPr>
        <p:spPr>
          <a:xfrm>
            <a:off x="2560320" y="1527048"/>
            <a:ext cx="512064" cy="512064"/>
          </a:xfrm>
          <a:prstGeom prst="ellipse">
            <a:avLst/>
          </a:prstGeom>
          <a:solidFill>
            <a:srgbClr val="E3F1F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🔁</a:t>
            </a:r>
            <a:endParaRPr lang="en-US" sz="2000" dirty="0"/>
          </a:p>
        </p:txBody>
      </p:sp>
      <p:sp>
        <p:nvSpPr>
          <p:cNvPr id="19" name="en_256"/>
          <p:cNvSpPr/>
          <p:nvPr/>
        </p:nvSpPr>
        <p:spPr>
          <a:xfrm>
            <a:off x="3145536" y="1472184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connecting flight</a:t>
            </a:r>
            <a:endParaRPr lang="en-US" sz="1200" dirty="0"/>
          </a:p>
        </p:txBody>
      </p:sp>
      <p:sp>
        <p:nvSpPr>
          <p:cNvPr id="20" name="R3_def257"/>
          <p:cNvSpPr/>
          <p:nvPr/>
        </p:nvSpPr>
        <p:spPr>
          <a:xfrm>
            <a:off x="3145536" y="1783080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second flight after you change planes</a:t>
            </a:r>
            <a:endParaRPr lang="en-US" sz="850" dirty="0"/>
          </a:p>
        </p:txBody>
      </p:sp>
      <p:sp>
        <p:nvSpPr>
          <p:cNvPr id="21" name="R4_it258"/>
          <p:cNvSpPr/>
          <p:nvPr/>
        </p:nvSpPr>
        <p:spPr>
          <a:xfrm>
            <a:off x="3145536" y="2121408"/>
            <a:ext cx="1362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i="1" dirty="0">
                <a:solidFill>
                  <a:srgbClr val="2EB8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volo in coincidenza</a:t>
            </a:r>
            <a:endParaRPr lang="en-US" sz="900" dirty="0"/>
          </a:p>
        </p:txBody>
      </p:sp>
      <p:sp>
        <p:nvSpPr>
          <p:cNvPr id="22" name="cd_259"/>
          <p:cNvSpPr/>
          <p:nvPr/>
        </p:nvSpPr>
        <p:spPr>
          <a:xfrm>
            <a:off x="4654296" y="1417320"/>
            <a:ext cx="2075688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8575">
            <a:solidFill>
              <a:srgbClr val="A8E5BE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3" name="e_260"/>
          <p:cNvSpPr/>
          <p:nvPr/>
        </p:nvSpPr>
        <p:spPr>
          <a:xfrm>
            <a:off x="4727448" y="1527048"/>
            <a:ext cx="512064" cy="512064"/>
          </a:xfrm>
          <a:prstGeom prst="ellipse">
            <a:avLst/>
          </a:prstGeom>
          <a:solidFill>
            <a:srgbClr val="E3F7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🪑</a:t>
            </a:r>
            <a:endParaRPr lang="en-US" sz="2000" dirty="0"/>
          </a:p>
        </p:txBody>
      </p:sp>
      <p:sp>
        <p:nvSpPr>
          <p:cNvPr id="24" name="en_261"/>
          <p:cNvSpPr/>
          <p:nvPr/>
        </p:nvSpPr>
        <p:spPr>
          <a:xfrm>
            <a:off x="5312664" y="1472184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departure lounge</a:t>
            </a:r>
            <a:endParaRPr lang="en-US" sz="1200" dirty="0"/>
          </a:p>
        </p:txBody>
      </p:sp>
      <p:sp>
        <p:nvSpPr>
          <p:cNvPr id="25" name="R5_def262"/>
          <p:cNvSpPr/>
          <p:nvPr/>
        </p:nvSpPr>
        <p:spPr>
          <a:xfrm>
            <a:off x="5312664" y="1783080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where you wait for your flight</a:t>
            </a:r>
            <a:endParaRPr lang="en-US" sz="850" dirty="0"/>
          </a:p>
        </p:txBody>
      </p:sp>
      <p:sp>
        <p:nvSpPr>
          <p:cNvPr id="26" name="R6_it263"/>
          <p:cNvSpPr/>
          <p:nvPr/>
        </p:nvSpPr>
        <p:spPr>
          <a:xfrm>
            <a:off x="5312664" y="2121408"/>
            <a:ext cx="1362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i="1" dirty="0">
                <a:solidFill>
                  <a:srgbClr val="2EB8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sala d'attesa / partenze</a:t>
            </a:r>
            <a:endParaRPr lang="en-US" sz="850" dirty="0"/>
          </a:p>
        </p:txBody>
      </p:sp>
      <p:sp>
        <p:nvSpPr>
          <p:cNvPr id="27" name="cd_264"/>
          <p:cNvSpPr/>
          <p:nvPr/>
        </p:nvSpPr>
        <p:spPr>
          <a:xfrm>
            <a:off x="6821424" y="1417320"/>
            <a:ext cx="2075688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8575">
            <a:solidFill>
              <a:srgbClr val="FFE07A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8" name="e_265"/>
          <p:cNvSpPr/>
          <p:nvPr/>
        </p:nvSpPr>
        <p:spPr>
          <a:xfrm>
            <a:off x="6894576" y="1527048"/>
            <a:ext cx="512064" cy="512064"/>
          </a:xfrm>
          <a:prstGeom prst="ellipse">
            <a:avLst/>
          </a:prstGeom>
          <a:solidFill>
            <a:srgbClr val="FFF6C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🛍️</a:t>
            </a:r>
            <a:endParaRPr lang="en-US" sz="2000" dirty="0"/>
          </a:p>
        </p:txBody>
      </p:sp>
      <p:sp>
        <p:nvSpPr>
          <p:cNvPr id="29" name="en_266"/>
          <p:cNvSpPr/>
          <p:nvPr/>
        </p:nvSpPr>
        <p:spPr>
          <a:xfrm>
            <a:off x="7479792" y="1472184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duty-free shop</a:t>
            </a:r>
            <a:endParaRPr lang="en-US" sz="1200" dirty="0"/>
          </a:p>
        </p:txBody>
      </p:sp>
      <p:sp>
        <p:nvSpPr>
          <p:cNvPr id="30" name="R7_def267"/>
          <p:cNvSpPr/>
          <p:nvPr/>
        </p:nvSpPr>
        <p:spPr>
          <a:xfrm>
            <a:off x="7479792" y="1783080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shop with no tax on perfume, alcohol…</a:t>
            </a:r>
            <a:endParaRPr lang="en-US" sz="850" dirty="0"/>
          </a:p>
        </p:txBody>
      </p:sp>
      <p:sp>
        <p:nvSpPr>
          <p:cNvPr id="31" name="R8_it268"/>
          <p:cNvSpPr/>
          <p:nvPr/>
        </p:nvSpPr>
        <p:spPr>
          <a:xfrm>
            <a:off x="7479792" y="2121408"/>
            <a:ext cx="1362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i="1" dirty="0">
                <a:solidFill>
                  <a:srgbClr val="2EB8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negozio duty-free</a:t>
            </a:r>
            <a:endParaRPr lang="en-US" sz="900" dirty="0"/>
          </a:p>
        </p:txBody>
      </p:sp>
      <p:sp>
        <p:nvSpPr>
          <p:cNvPr id="32" name="cd_269"/>
          <p:cNvSpPr/>
          <p:nvPr/>
        </p:nvSpPr>
        <p:spPr>
          <a:xfrm>
            <a:off x="320040" y="2423160"/>
            <a:ext cx="2075688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8575">
            <a:solidFill>
              <a:srgbClr val="F7A6C4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33" name="e_270"/>
          <p:cNvSpPr/>
          <p:nvPr/>
        </p:nvSpPr>
        <p:spPr>
          <a:xfrm>
            <a:off x="393192" y="2532888"/>
            <a:ext cx="512064" cy="512064"/>
          </a:xfrm>
          <a:prstGeom prst="ellipse">
            <a:avLst/>
          </a:prstGeom>
          <a:solidFill>
            <a:srgbClr val="FFE3E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🧳</a:t>
            </a:r>
            <a:endParaRPr lang="en-US" sz="2000" dirty="0"/>
          </a:p>
        </p:txBody>
      </p:sp>
      <p:sp>
        <p:nvSpPr>
          <p:cNvPr id="34" name="en_271"/>
          <p:cNvSpPr/>
          <p:nvPr/>
        </p:nvSpPr>
        <p:spPr>
          <a:xfrm>
            <a:off x="978408" y="2478024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air traveller</a:t>
            </a:r>
            <a:endParaRPr lang="en-US" sz="1200" dirty="0"/>
          </a:p>
        </p:txBody>
      </p:sp>
      <p:sp>
        <p:nvSpPr>
          <p:cNvPr id="35" name="R9_def272"/>
          <p:cNvSpPr/>
          <p:nvPr/>
        </p:nvSpPr>
        <p:spPr>
          <a:xfrm>
            <a:off x="978408" y="2788920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passenger on a plane</a:t>
            </a:r>
            <a:endParaRPr lang="en-US" sz="850" dirty="0"/>
          </a:p>
        </p:txBody>
      </p:sp>
      <p:sp>
        <p:nvSpPr>
          <p:cNvPr id="36" name="R10_it273"/>
          <p:cNvSpPr/>
          <p:nvPr/>
        </p:nvSpPr>
        <p:spPr>
          <a:xfrm>
            <a:off x="978408" y="3127248"/>
            <a:ext cx="1362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i="1" dirty="0">
                <a:solidFill>
                  <a:srgbClr val="2EB8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passeggero (aereo)</a:t>
            </a:r>
            <a:endParaRPr lang="en-US" sz="900" dirty="0"/>
          </a:p>
        </p:txBody>
      </p:sp>
      <p:sp>
        <p:nvSpPr>
          <p:cNvPr id="37" name="cd_274"/>
          <p:cNvSpPr/>
          <p:nvPr/>
        </p:nvSpPr>
        <p:spPr>
          <a:xfrm>
            <a:off x="2487168" y="2423160"/>
            <a:ext cx="2075688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8575">
            <a:solidFill>
              <a:srgbClr val="A9D3F5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38" name="e_275"/>
          <p:cNvSpPr/>
          <p:nvPr/>
        </p:nvSpPr>
        <p:spPr>
          <a:xfrm>
            <a:off x="2560320" y="2532888"/>
            <a:ext cx="512064" cy="512064"/>
          </a:xfrm>
          <a:prstGeom prst="ellipse">
            <a:avLst/>
          </a:prstGeom>
          <a:solidFill>
            <a:srgbClr val="E3F1F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🚗</a:t>
            </a:r>
            <a:endParaRPr lang="en-US" sz="2000" dirty="0"/>
          </a:p>
        </p:txBody>
      </p:sp>
      <p:sp>
        <p:nvSpPr>
          <p:cNvPr id="39" name="en_276"/>
          <p:cNvSpPr/>
          <p:nvPr/>
        </p:nvSpPr>
        <p:spPr>
          <a:xfrm>
            <a:off x="3145536" y="2478024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pick somebody up</a:t>
            </a:r>
            <a:endParaRPr lang="en-US" sz="1100" dirty="0"/>
          </a:p>
        </p:txBody>
      </p:sp>
      <p:sp>
        <p:nvSpPr>
          <p:cNvPr id="40" name="R11_def277"/>
          <p:cNvSpPr/>
          <p:nvPr/>
        </p:nvSpPr>
        <p:spPr>
          <a:xfrm>
            <a:off x="3145536" y="2788920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go and get someone in your car</a:t>
            </a:r>
            <a:endParaRPr lang="en-US" sz="850" dirty="0"/>
          </a:p>
        </p:txBody>
      </p:sp>
      <p:sp>
        <p:nvSpPr>
          <p:cNvPr id="41" name="R12_it278"/>
          <p:cNvSpPr/>
          <p:nvPr/>
        </p:nvSpPr>
        <p:spPr>
          <a:xfrm>
            <a:off x="3145536" y="3127248"/>
            <a:ext cx="1362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i="1" dirty="0">
                <a:solidFill>
                  <a:srgbClr val="2EB8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andare a prendere</a:t>
            </a:r>
            <a:endParaRPr lang="en-US" sz="900" dirty="0"/>
          </a:p>
        </p:txBody>
      </p:sp>
      <p:sp>
        <p:nvSpPr>
          <p:cNvPr id="42" name="cd_279"/>
          <p:cNvSpPr/>
          <p:nvPr/>
        </p:nvSpPr>
        <p:spPr>
          <a:xfrm>
            <a:off x="4654296" y="2423160"/>
            <a:ext cx="2075688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8575">
            <a:solidFill>
              <a:srgbClr val="A8E5BE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43" name="e_280"/>
          <p:cNvSpPr/>
          <p:nvPr/>
        </p:nvSpPr>
        <p:spPr>
          <a:xfrm>
            <a:off x="4727448" y="2532888"/>
            <a:ext cx="512064" cy="512064"/>
          </a:xfrm>
          <a:prstGeom prst="ellipse">
            <a:avLst/>
          </a:prstGeom>
          <a:solidFill>
            <a:srgbClr val="E3F7E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👋</a:t>
            </a:r>
            <a:endParaRPr lang="en-US" sz="2000" dirty="0"/>
          </a:p>
        </p:txBody>
      </p:sp>
      <p:sp>
        <p:nvSpPr>
          <p:cNvPr id="44" name="en_281"/>
          <p:cNvSpPr/>
          <p:nvPr/>
        </p:nvSpPr>
        <p:spPr>
          <a:xfrm>
            <a:off x="5312664" y="2478024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drop somebody off</a:t>
            </a:r>
            <a:endParaRPr lang="en-US" sz="1050" dirty="0"/>
          </a:p>
        </p:txBody>
      </p:sp>
      <p:sp>
        <p:nvSpPr>
          <p:cNvPr id="45" name="R13_def282"/>
          <p:cNvSpPr/>
          <p:nvPr/>
        </p:nvSpPr>
        <p:spPr>
          <a:xfrm>
            <a:off x="5312664" y="2788920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take someone somewhere in your car and leave them</a:t>
            </a:r>
            <a:endParaRPr lang="en-US" sz="700" dirty="0"/>
          </a:p>
        </p:txBody>
      </p:sp>
      <p:sp>
        <p:nvSpPr>
          <p:cNvPr id="46" name="R14_it283"/>
          <p:cNvSpPr/>
          <p:nvPr/>
        </p:nvSpPr>
        <p:spPr>
          <a:xfrm>
            <a:off x="5312664" y="3127248"/>
            <a:ext cx="1362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i="1" dirty="0">
                <a:solidFill>
                  <a:srgbClr val="2EB8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accompagnare / lasciare</a:t>
            </a:r>
            <a:endParaRPr lang="en-US" sz="800" dirty="0"/>
          </a:p>
        </p:txBody>
      </p:sp>
      <p:sp>
        <p:nvSpPr>
          <p:cNvPr id="47" name="cd_284"/>
          <p:cNvSpPr/>
          <p:nvPr/>
        </p:nvSpPr>
        <p:spPr>
          <a:xfrm>
            <a:off x="6821424" y="2423160"/>
            <a:ext cx="2075688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28575">
            <a:solidFill>
              <a:srgbClr val="FFE07A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48" name="e_285"/>
          <p:cNvSpPr/>
          <p:nvPr/>
        </p:nvSpPr>
        <p:spPr>
          <a:xfrm>
            <a:off x="6894576" y="2532888"/>
            <a:ext cx="512064" cy="512064"/>
          </a:xfrm>
          <a:prstGeom prst="ellipse">
            <a:avLst/>
          </a:prstGeom>
          <a:solidFill>
            <a:srgbClr val="FFF6C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😱</a:t>
            </a:r>
            <a:endParaRPr lang="en-US" sz="2000" dirty="0"/>
          </a:p>
        </p:txBody>
      </p:sp>
      <p:sp>
        <p:nvSpPr>
          <p:cNvPr id="49" name="en_286"/>
          <p:cNvSpPr/>
          <p:nvPr/>
        </p:nvSpPr>
        <p:spPr>
          <a:xfrm>
            <a:off x="7479792" y="2478024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be terrified</a:t>
            </a:r>
            <a:endParaRPr lang="en-US" sz="1200" dirty="0"/>
          </a:p>
        </p:txBody>
      </p:sp>
      <p:sp>
        <p:nvSpPr>
          <p:cNvPr id="50" name="R15_def287"/>
          <p:cNvSpPr/>
          <p:nvPr/>
        </p:nvSpPr>
        <p:spPr>
          <a:xfrm>
            <a:off x="7479792" y="2788920"/>
            <a:ext cx="13624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be very, very afraid</a:t>
            </a:r>
            <a:endParaRPr lang="en-US" sz="850" dirty="0"/>
          </a:p>
        </p:txBody>
      </p:sp>
      <p:sp>
        <p:nvSpPr>
          <p:cNvPr id="51" name="R16_it288"/>
          <p:cNvSpPr/>
          <p:nvPr/>
        </p:nvSpPr>
        <p:spPr>
          <a:xfrm>
            <a:off x="7479792" y="3127248"/>
            <a:ext cx="1362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i="1" dirty="0">
                <a:solidFill>
                  <a:srgbClr val="2EB872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essere terrorizzato</a:t>
            </a:r>
            <a:endParaRPr lang="en-US" sz="900" dirty="0"/>
          </a:p>
        </p:txBody>
      </p:sp>
      <p:sp>
        <p:nvSpPr>
          <p:cNvPr id="52" name="R17_wc289"/>
          <p:cNvSpPr/>
          <p:nvPr/>
        </p:nvSpPr>
        <p:spPr>
          <a:xfrm>
            <a:off x="320040" y="3474720"/>
            <a:ext cx="8549640" cy="457200"/>
          </a:xfrm>
          <a:prstGeom prst="roundRect">
            <a:avLst>
              <a:gd name="adj" fmla="val 28000"/>
            </a:avLst>
          </a:prstGeom>
          <a:solidFill>
            <a:srgbClr val="FFE3EE"/>
          </a:solidFill>
          <a:ln w="28575">
            <a:solidFill>
              <a:srgbClr val="F7A6C4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53" name="R17_w290"/>
          <p:cNvSpPr/>
          <p:nvPr/>
        </p:nvSpPr>
        <p:spPr>
          <a:xfrm>
            <a:off x="457200" y="347472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⚠ Watch out!  stopover /ˈstɒpəʊvə/ (AmE layover)  ·  departure lounge /dɪˈpɑːtʃə laʊndʒ/  ·  duty-free /ˌdjuːti ˈfriː/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291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10</a:t>
            </a:r>
            <a:endParaRPr lang="en-US" sz="2200" dirty="0"/>
          </a:p>
        </p:txBody>
      </p:sp>
      <p:pic>
        <p:nvPicPr>
          <p:cNvPr id="4" name="brY_292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2776118" cy="621792"/>
          </a:xfrm>
          <a:prstGeom prst="rect">
            <a:avLst/>
          </a:prstGeom>
        </p:spPr>
      </p:pic>
      <p:sp>
        <p:nvSpPr>
          <p:cNvPr id="5" name="title_293"/>
          <p:cNvSpPr/>
          <p:nvPr/>
        </p:nvSpPr>
        <p:spPr>
          <a:xfrm>
            <a:off x="1261872" y="164592"/>
            <a:ext cx="250179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Jake and Anna</a:t>
            </a:r>
            <a:endParaRPr lang="en-US" sz="2500" dirty="0"/>
          </a:p>
        </p:txBody>
      </p:sp>
      <p:pic>
        <p:nvPicPr>
          <p:cNvPr id="6" name="brP_294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5074920" cy="402336"/>
          </a:xfrm>
          <a:prstGeom prst="rect">
            <a:avLst/>
          </a:prstGeom>
        </p:spPr>
      </p:pic>
      <p:sp>
        <p:nvSpPr>
          <p:cNvPr id="7" name="ins_295"/>
          <p:cNvSpPr/>
          <p:nvPr/>
        </p:nvSpPr>
        <p:spPr>
          <a:xfrm>
            <a:off x="1353312" y="731520"/>
            <a:ext cx="48188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Listen: which city is Jake in? Then true or false?</a:t>
            </a:r>
            <a:endParaRPr lang="en-US" sz="1250" dirty="0"/>
          </a:p>
        </p:txBody>
      </p:sp>
      <p:sp>
        <p:nvSpPr>
          <p:cNvPr id="8" name="insIT_296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Ascolta: in quale città è Jake? Poi vero o falso?</a:t>
            </a:r>
            <a:endParaRPr lang="en-US" sz="950" dirty="0"/>
          </a:p>
        </p:txBody>
      </p:sp>
      <p:sp>
        <p:nvSpPr>
          <p:cNvPr id="9" name="note_297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🎧 LISTEN</a:t>
            </a:r>
            <a:pPr algn="ctr" indent="0" marL="0">
              <a:buNone/>
            </a:pPr>
            <a:r>
              <a:rPr lang="en-US" sz="1200" dirty="0">
                <a:solidFill>
                  <a:srgbClr val="5B6785"/>
                </a:solidFill>
              </a:rPr>
              <a:t> → </a:t>
            </a:r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✅ CHECK</a:t>
            </a:r>
            <a:endParaRPr lang="en-US" sz="11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7 min   👥 pairs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Listening · Controlled practice</a:t>
            </a:r>
            <a:endParaRPr lang="en-US" sz="1150" dirty="0"/>
          </a:p>
        </p:txBody>
      </p:sp>
      <p:pic>
        <p:nvPicPr>
          <p:cNvPr id="10" name="logo_298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299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3A · Listening · Jake meets his guide   ·   📖 SB p.23 · 3d, 3e · audio 3.4 (script SB p.121 / TG p.42)</a:t>
            </a:r>
            <a:endParaRPr lang="en-US" sz="800" dirty="0"/>
          </a:p>
        </p:txBody>
      </p:sp>
      <p:sp>
        <p:nvSpPr>
          <p:cNvPr id="12" name="bd_300"/>
          <p:cNvSpPr/>
          <p:nvPr/>
        </p:nvSpPr>
        <p:spPr>
          <a:xfrm>
            <a:off x="320040" y="1339779"/>
            <a:ext cx="310896" cy="310896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000" dirty="0"/>
          </a:p>
        </p:txBody>
      </p:sp>
      <p:sp>
        <p:nvSpPr>
          <p:cNvPr id="13" name="q_301"/>
          <p:cNvSpPr/>
          <p:nvPr/>
        </p:nvSpPr>
        <p:spPr>
          <a:xfrm>
            <a:off x="704088" y="1417320"/>
            <a:ext cx="3776472" cy="155814"/>
          </a:xfrm>
          <a:prstGeom prst="roundRect">
            <a:avLst>
              <a:gd name="adj" fmla="val 58685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e.g. Which city is he in?</a:t>
            </a:r>
            <a:endParaRPr lang="en-US" sz="850" dirty="0"/>
          </a:p>
        </p:txBody>
      </p:sp>
      <p:sp>
        <p:nvSpPr>
          <p:cNvPr id="14" name="R1_chip302"/>
          <p:cNvSpPr/>
          <p:nvPr/>
        </p:nvSpPr>
        <p:spPr>
          <a:xfrm>
            <a:off x="704088" y="1618854"/>
            <a:ext cx="3776472" cy="231282"/>
          </a:xfrm>
          <a:prstGeom prst="roundRect">
            <a:avLst>
              <a:gd name="adj" fmla="val 39536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Rome (the Colosseum, the Forum, carbonara!)</a:t>
            </a:r>
            <a:endParaRPr lang="en-US" sz="1100" dirty="0"/>
          </a:p>
        </p:txBody>
      </p:sp>
      <p:sp>
        <p:nvSpPr>
          <p:cNvPr id="15" name="bd_303"/>
          <p:cNvSpPr/>
          <p:nvPr/>
        </p:nvSpPr>
        <p:spPr>
          <a:xfrm>
            <a:off x="320040" y="1900611"/>
            <a:ext cx="310896" cy="310896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q_304"/>
          <p:cNvSpPr/>
          <p:nvPr/>
        </p:nvSpPr>
        <p:spPr>
          <a:xfrm>
            <a:off x="704088" y="1978152"/>
            <a:ext cx="3776472" cy="155814"/>
          </a:xfrm>
          <a:prstGeom prst="roundRect">
            <a:avLst>
              <a:gd name="adj" fmla="val 58685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Jake isn't very tired.</a:t>
            </a:r>
            <a:endParaRPr lang="en-US" sz="850" dirty="0"/>
          </a:p>
        </p:txBody>
      </p:sp>
      <p:sp>
        <p:nvSpPr>
          <p:cNvPr id="17" name="R2_chip305"/>
          <p:cNvSpPr/>
          <p:nvPr/>
        </p:nvSpPr>
        <p:spPr>
          <a:xfrm>
            <a:off x="704088" y="2179686"/>
            <a:ext cx="3776472" cy="231282"/>
          </a:xfrm>
          <a:prstGeom prst="roundRect">
            <a:avLst>
              <a:gd name="adj" fmla="val 39536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</a:t>
            </a:r>
            <a:endParaRPr lang="en-US" sz="1150" dirty="0"/>
          </a:p>
        </p:txBody>
      </p:sp>
      <p:sp>
        <p:nvSpPr>
          <p:cNvPr id="18" name="bd_306"/>
          <p:cNvSpPr/>
          <p:nvPr/>
        </p:nvSpPr>
        <p:spPr>
          <a:xfrm>
            <a:off x="320040" y="2461443"/>
            <a:ext cx="310896" cy="310896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q_307"/>
          <p:cNvSpPr/>
          <p:nvPr/>
        </p:nvSpPr>
        <p:spPr>
          <a:xfrm>
            <a:off x="704088" y="2538984"/>
            <a:ext cx="3776472" cy="155814"/>
          </a:xfrm>
          <a:prstGeom prst="roundRect">
            <a:avLst>
              <a:gd name="adj" fmla="val 58685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He hasn't been to Europe before.</a:t>
            </a:r>
            <a:endParaRPr lang="en-US" sz="850" dirty="0"/>
          </a:p>
        </p:txBody>
      </p:sp>
      <p:sp>
        <p:nvSpPr>
          <p:cNvPr id="20" name="R3_chip308"/>
          <p:cNvSpPr/>
          <p:nvPr/>
        </p:nvSpPr>
        <p:spPr>
          <a:xfrm>
            <a:off x="704088" y="2740518"/>
            <a:ext cx="3776472" cy="231282"/>
          </a:xfrm>
          <a:prstGeom prst="roundRect">
            <a:avLst>
              <a:gd name="adj" fmla="val 39536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 – he was in Europe as a student</a:t>
            </a:r>
            <a:endParaRPr lang="en-US" sz="1150" dirty="0"/>
          </a:p>
        </p:txBody>
      </p:sp>
      <p:sp>
        <p:nvSpPr>
          <p:cNvPr id="21" name="bd_309"/>
          <p:cNvSpPr/>
          <p:nvPr/>
        </p:nvSpPr>
        <p:spPr>
          <a:xfrm>
            <a:off x="320040" y="3022275"/>
            <a:ext cx="310896" cy="310896"/>
          </a:xfrm>
          <a:prstGeom prst="ellipse">
            <a:avLst/>
          </a:prstGeom>
          <a:solidFill>
            <a:srgbClr val="F2B705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000" dirty="0"/>
          </a:p>
        </p:txBody>
      </p:sp>
      <p:sp>
        <p:nvSpPr>
          <p:cNvPr id="22" name="q_310"/>
          <p:cNvSpPr/>
          <p:nvPr/>
        </p:nvSpPr>
        <p:spPr>
          <a:xfrm>
            <a:off x="704088" y="3099816"/>
            <a:ext cx="3776472" cy="155814"/>
          </a:xfrm>
          <a:prstGeom prst="roundRect">
            <a:avLst>
              <a:gd name="adj" fmla="val 58685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His next flight is to Lisbon.</a:t>
            </a:r>
            <a:endParaRPr lang="en-US" sz="850" dirty="0"/>
          </a:p>
        </p:txBody>
      </p:sp>
      <p:sp>
        <p:nvSpPr>
          <p:cNvPr id="23" name="R4_chip311"/>
          <p:cNvSpPr/>
          <p:nvPr/>
        </p:nvSpPr>
        <p:spPr>
          <a:xfrm>
            <a:off x="704088" y="3301350"/>
            <a:ext cx="3776472" cy="231282"/>
          </a:xfrm>
          <a:prstGeom prst="roundRect">
            <a:avLst>
              <a:gd name="adj" fmla="val 39536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 – to London</a:t>
            </a:r>
            <a:endParaRPr lang="en-US" sz="1150" dirty="0"/>
          </a:p>
        </p:txBody>
      </p:sp>
      <p:sp>
        <p:nvSpPr>
          <p:cNvPr id="24" name="bd_312"/>
          <p:cNvSpPr/>
          <p:nvPr/>
        </p:nvSpPr>
        <p:spPr>
          <a:xfrm>
            <a:off x="320040" y="3583107"/>
            <a:ext cx="310896" cy="310896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</a:t>
            </a:r>
            <a:endParaRPr lang="en-US" sz="1000" dirty="0"/>
          </a:p>
        </p:txBody>
      </p:sp>
      <p:sp>
        <p:nvSpPr>
          <p:cNvPr id="25" name="q_313"/>
          <p:cNvSpPr/>
          <p:nvPr/>
        </p:nvSpPr>
        <p:spPr>
          <a:xfrm>
            <a:off x="704088" y="3660648"/>
            <a:ext cx="3776472" cy="155814"/>
          </a:xfrm>
          <a:prstGeom prst="roundRect">
            <a:avLst>
              <a:gd name="adj" fmla="val 58685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He's travelling to a conference.</a:t>
            </a:r>
            <a:endParaRPr lang="en-US" sz="850" dirty="0"/>
          </a:p>
        </p:txBody>
      </p:sp>
      <p:sp>
        <p:nvSpPr>
          <p:cNvPr id="26" name="R5_chip314"/>
          <p:cNvSpPr/>
          <p:nvPr/>
        </p:nvSpPr>
        <p:spPr>
          <a:xfrm>
            <a:off x="704088" y="3862182"/>
            <a:ext cx="3776472" cy="231282"/>
          </a:xfrm>
          <a:prstGeom prst="roundRect">
            <a:avLst>
              <a:gd name="adj" fmla="val 39536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</a:t>
            </a:r>
            <a:endParaRPr lang="en-US" sz="1150" dirty="0"/>
          </a:p>
        </p:txBody>
      </p:sp>
      <p:sp>
        <p:nvSpPr>
          <p:cNvPr id="27" name="bd_315"/>
          <p:cNvSpPr/>
          <p:nvPr/>
        </p:nvSpPr>
        <p:spPr>
          <a:xfrm>
            <a:off x="320040" y="4143939"/>
            <a:ext cx="310896" cy="310896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6</a:t>
            </a:r>
            <a:endParaRPr lang="en-US" sz="1000" dirty="0"/>
          </a:p>
        </p:txBody>
      </p:sp>
      <p:sp>
        <p:nvSpPr>
          <p:cNvPr id="28" name="q_316"/>
          <p:cNvSpPr/>
          <p:nvPr/>
        </p:nvSpPr>
        <p:spPr>
          <a:xfrm>
            <a:off x="704088" y="4221480"/>
            <a:ext cx="3776472" cy="155814"/>
          </a:xfrm>
          <a:prstGeom prst="roundRect">
            <a:avLst>
              <a:gd name="adj" fmla="val 58685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He doesn't know anybody there.</a:t>
            </a:r>
            <a:endParaRPr lang="en-US" sz="850" dirty="0"/>
          </a:p>
        </p:txBody>
      </p:sp>
      <p:sp>
        <p:nvSpPr>
          <p:cNvPr id="29" name="R6_chip317"/>
          <p:cNvSpPr/>
          <p:nvPr/>
        </p:nvSpPr>
        <p:spPr>
          <a:xfrm>
            <a:off x="704088" y="4423014"/>
            <a:ext cx="3776472" cy="231282"/>
          </a:xfrm>
          <a:prstGeom prst="roundRect">
            <a:avLst>
              <a:gd name="adj" fmla="val 39536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 – an ex-girlfriend in Oxford</a:t>
            </a:r>
            <a:endParaRPr lang="en-US" sz="1150" dirty="0"/>
          </a:p>
        </p:txBody>
      </p:sp>
      <p:sp>
        <p:nvSpPr>
          <p:cNvPr id="30" name="bd_318"/>
          <p:cNvSpPr/>
          <p:nvPr/>
        </p:nvSpPr>
        <p:spPr>
          <a:xfrm>
            <a:off x="4709160" y="1339779"/>
            <a:ext cx="310896" cy="310896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7</a:t>
            </a:r>
            <a:endParaRPr lang="en-US" sz="1000" dirty="0"/>
          </a:p>
        </p:txBody>
      </p:sp>
      <p:sp>
        <p:nvSpPr>
          <p:cNvPr id="31" name="q_319"/>
          <p:cNvSpPr/>
          <p:nvPr/>
        </p:nvSpPr>
        <p:spPr>
          <a:xfrm>
            <a:off x="5093208" y="1417320"/>
            <a:ext cx="3776472" cy="155814"/>
          </a:xfrm>
          <a:prstGeom prst="roundRect">
            <a:avLst>
              <a:gd name="adj" fmla="val 58685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tour includes visits to historic sites.</a:t>
            </a:r>
            <a:endParaRPr lang="en-US" sz="850" dirty="0"/>
          </a:p>
        </p:txBody>
      </p:sp>
      <p:sp>
        <p:nvSpPr>
          <p:cNvPr id="32" name="R7_chip320"/>
          <p:cNvSpPr/>
          <p:nvPr/>
        </p:nvSpPr>
        <p:spPr>
          <a:xfrm>
            <a:off x="5093208" y="1618854"/>
            <a:ext cx="3776472" cy="231282"/>
          </a:xfrm>
          <a:prstGeom prst="roundRect">
            <a:avLst>
              <a:gd name="adj" fmla="val 39536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</a:t>
            </a:r>
            <a:endParaRPr lang="en-US" sz="1150" dirty="0"/>
          </a:p>
        </p:txBody>
      </p:sp>
      <p:sp>
        <p:nvSpPr>
          <p:cNvPr id="33" name="bd_321"/>
          <p:cNvSpPr/>
          <p:nvPr/>
        </p:nvSpPr>
        <p:spPr>
          <a:xfrm>
            <a:off x="4709160" y="1900611"/>
            <a:ext cx="310896" cy="310896"/>
          </a:xfrm>
          <a:prstGeom prst="ellipse">
            <a:avLst/>
          </a:prstGeom>
          <a:solidFill>
            <a:srgbClr val="F2B705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8</a:t>
            </a:r>
            <a:endParaRPr lang="en-US" sz="1000" dirty="0"/>
          </a:p>
        </p:txBody>
      </p:sp>
      <p:sp>
        <p:nvSpPr>
          <p:cNvPr id="34" name="q_322"/>
          <p:cNvSpPr/>
          <p:nvPr/>
        </p:nvSpPr>
        <p:spPr>
          <a:xfrm>
            <a:off x="5093208" y="1978152"/>
            <a:ext cx="3776472" cy="155814"/>
          </a:xfrm>
          <a:prstGeom prst="roundRect">
            <a:avLst>
              <a:gd name="adj" fmla="val 58685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He isn't planning to buy anything for himself.</a:t>
            </a:r>
            <a:endParaRPr lang="en-US" sz="850" dirty="0"/>
          </a:p>
        </p:txBody>
      </p:sp>
      <p:sp>
        <p:nvSpPr>
          <p:cNvPr id="35" name="R8_chip323"/>
          <p:cNvSpPr/>
          <p:nvPr/>
        </p:nvSpPr>
        <p:spPr>
          <a:xfrm>
            <a:off x="5093208" y="2179686"/>
            <a:ext cx="3776472" cy="231282"/>
          </a:xfrm>
          <a:prstGeom prst="roundRect">
            <a:avLst>
              <a:gd name="adj" fmla="val 39536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</a:t>
            </a:r>
            <a:endParaRPr lang="en-US" sz="1150" dirty="0"/>
          </a:p>
        </p:txBody>
      </p:sp>
      <p:sp>
        <p:nvSpPr>
          <p:cNvPr id="36" name="bd_324"/>
          <p:cNvSpPr/>
          <p:nvPr/>
        </p:nvSpPr>
        <p:spPr>
          <a:xfrm>
            <a:off x="4709160" y="2461443"/>
            <a:ext cx="310896" cy="310896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9</a:t>
            </a:r>
            <a:endParaRPr lang="en-US" sz="1000" dirty="0"/>
          </a:p>
        </p:txBody>
      </p:sp>
      <p:sp>
        <p:nvSpPr>
          <p:cNvPr id="37" name="q_325"/>
          <p:cNvSpPr/>
          <p:nvPr/>
        </p:nvSpPr>
        <p:spPr>
          <a:xfrm>
            <a:off x="5093208" y="2538984"/>
            <a:ext cx="3776472" cy="155814"/>
          </a:xfrm>
          <a:prstGeom prst="roundRect">
            <a:avLst>
              <a:gd name="adj" fmla="val 58685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They don't have time to stop for lunch.</a:t>
            </a:r>
            <a:endParaRPr lang="en-US" sz="850" dirty="0"/>
          </a:p>
        </p:txBody>
      </p:sp>
      <p:sp>
        <p:nvSpPr>
          <p:cNvPr id="38" name="R9_chip326"/>
          <p:cNvSpPr/>
          <p:nvPr/>
        </p:nvSpPr>
        <p:spPr>
          <a:xfrm>
            <a:off x="5093208" y="2740518"/>
            <a:ext cx="3776472" cy="231282"/>
          </a:xfrm>
          <a:prstGeom prst="roundRect">
            <a:avLst>
              <a:gd name="adj" fmla="val 39536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 – lunch at a nice restaurant</a:t>
            </a:r>
            <a:endParaRPr lang="en-US" sz="1150" dirty="0"/>
          </a:p>
        </p:txBody>
      </p:sp>
      <p:sp>
        <p:nvSpPr>
          <p:cNvPr id="39" name="bd_327"/>
          <p:cNvSpPr/>
          <p:nvPr/>
        </p:nvSpPr>
        <p:spPr>
          <a:xfrm>
            <a:off x="4709160" y="3022275"/>
            <a:ext cx="310896" cy="310896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10</a:t>
            </a:r>
            <a:endParaRPr lang="en-US" sz="800" dirty="0"/>
          </a:p>
        </p:txBody>
      </p:sp>
      <p:sp>
        <p:nvSpPr>
          <p:cNvPr id="40" name="q_328"/>
          <p:cNvSpPr/>
          <p:nvPr/>
        </p:nvSpPr>
        <p:spPr>
          <a:xfrm>
            <a:off x="5093208" y="3099816"/>
            <a:ext cx="3776472" cy="155814"/>
          </a:xfrm>
          <a:prstGeom prst="roundRect">
            <a:avLst>
              <a:gd name="adj" fmla="val 58685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weather forecast isn't very good.</a:t>
            </a:r>
            <a:endParaRPr lang="en-US" sz="850" dirty="0"/>
          </a:p>
        </p:txBody>
      </p:sp>
      <p:sp>
        <p:nvSpPr>
          <p:cNvPr id="41" name="R10_chip329"/>
          <p:cNvSpPr/>
          <p:nvPr/>
        </p:nvSpPr>
        <p:spPr>
          <a:xfrm>
            <a:off x="5093208" y="3301350"/>
            <a:ext cx="3776472" cy="231282"/>
          </a:xfrm>
          <a:prstGeom prst="roundRect">
            <a:avLst>
              <a:gd name="adj" fmla="val 39536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 – nice, about 22 degrees</a:t>
            </a:r>
            <a:endParaRPr lang="en-US" sz="1150" dirty="0"/>
          </a:p>
        </p:txBody>
      </p:sp>
      <p:sp>
        <p:nvSpPr>
          <p:cNvPr id="42" name="bd_330"/>
          <p:cNvSpPr/>
          <p:nvPr/>
        </p:nvSpPr>
        <p:spPr>
          <a:xfrm>
            <a:off x="4709160" y="3583107"/>
            <a:ext cx="310896" cy="310896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11</a:t>
            </a:r>
            <a:endParaRPr lang="en-US" sz="800" dirty="0"/>
          </a:p>
        </p:txBody>
      </p:sp>
      <p:sp>
        <p:nvSpPr>
          <p:cNvPr id="43" name="q_331"/>
          <p:cNvSpPr/>
          <p:nvPr/>
        </p:nvSpPr>
        <p:spPr>
          <a:xfrm>
            <a:off x="5093208" y="3660648"/>
            <a:ext cx="3776472" cy="155814"/>
          </a:xfrm>
          <a:prstGeom prst="roundRect">
            <a:avLst>
              <a:gd name="adj" fmla="val 58685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He's looking forward to the tour.</a:t>
            </a:r>
            <a:endParaRPr lang="en-US" sz="850" dirty="0"/>
          </a:p>
        </p:txBody>
      </p:sp>
      <p:sp>
        <p:nvSpPr>
          <p:cNvPr id="44" name="R11_chip332"/>
          <p:cNvSpPr/>
          <p:nvPr/>
        </p:nvSpPr>
        <p:spPr>
          <a:xfrm>
            <a:off x="5093208" y="3862182"/>
            <a:ext cx="3776472" cy="231282"/>
          </a:xfrm>
          <a:prstGeom prst="roundRect">
            <a:avLst>
              <a:gd name="adj" fmla="val 39536"/>
            </a:avLst>
          </a:prstGeom>
          <a:solidFill>
            <a:srgbClr val="E3F7EA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</a:t>
            </a:r>
            <a:endParaRPr lang="en-US" sz="11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333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11</a:t>
            </a:r>
            <a:endParaRPr lang="en-US" sz="2200" dirty="0"/>
          </a:p>
        </p:txBody>
      </p:sp>
      <p:pic>
        <p:nvPicPr>
          <p:cNvPr id="4" name="brY_334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4034333" cy="621792"/>
          </a:xfrm>
          <a:prstGeom prst="rect">
            <a:avLst/>
          </a:prstGeom>
        </p:spPr>
      </p:pic>
      <p:sp>
        <p:nvSpPr>
          <p:cNvPr id="5" name="title_335"/>
          <p:cNvSpPr/>
          <p:nvPr/>
        </p:nvSpPr>
        <p:spPr>
          <a:xfrm>
            <a:off x="1261872" y="164592"/>
            <a:ext cx="376001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Jake and Anna's plans</a:t>
            </a:r>
            <a:endParaRPr lang="en-US" sz="2500" dirty="0"/>
          </a:p>
        </p:txBody>
      </p:sp>
      <p:pic>
        <p:nvPicPr>
          <p:cNvPr id="6" name="brP_336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5257800" cy="402336"/>
          </a:xfrm>
          <a:prstGeom prst="rect">
            <a:avLst/>
          </a:prstGeom>
        </p:spPr>
      </p:pic>
      <p:sp>
        <p:nvSpPr>
          <p:cNvPr id="7" name="ins_337"/>
          <p:cNvSpPr/>
          <p:nvPr/>
        </p:nvSpPr>
        <p:spPr>
          <a:xfrm>
            <a:off x="1353312" y="731520"/>
            <a:ext cx="5001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Complete with be going to + verb. Plan (Pl) or prediction (Pr)?</a:t>
            </a:r>
            <a:endParaRPr lang="en-US" sz="1100" dirty="0"/>
          </a:p>
        </p:txBody>
      </p:sp>
      <p:sp>
        <p:nvSpPr>
          <p:cNvPr id="8" name="insIT_338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Completa con be going to + verbo. Piano (Pl) o previsione (Pr)?</a:t>
            </a:r>
            <a:endParaRPr lang="en-US" sz="950" dirty="0"/>
          </a:p>
        </p:txBody>
      </p:sp>
      <p:sp>
        <p:nvSpPr>
          <p:cNvPr id="9" name="note_339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✏️ FILL THE GAPS</a:t>
            </a:r>
            <a:pPr algn="ctr" indent="0" marL="0">
              <a:buNone/>
            </a:pPr>
            <a:r>
              <a:rPr lang="en-US" sz="1200" dirty="0">
                <a:solidFill>
                  <a:srgbClr val="5B6785"/>
                </a:solidFill>
              </a:rPr>
              <a:t> → </a:t>
            </a:r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💡 THINK</a:t>
            </a:r>
            <a:endParaRPr lang="en-US" sz="11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5 min   👥 pairs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Grammar · Guided discovery</a:t>
            </a:r>
            <a:endParaRPr lang="en-US" sz="1150" dirty="0"/>
          </a:p>
        </p:txBody>
      </p:sp>
      <p:pic>
        <p:nvPicPr>
          <p:cNvPr id="10" name="logo_340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341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3A · Grammar · be going to   ·   📖 SB p.23 · 4a, 4b · audio 3.5 (TG key)</a:t>
            </a:r>
            <a:endParaRPr lang="en-US" sz="800" dirty="0"/>
          </a:p>
        </p:txBody>
      </p:sp>
      <p:sp>
        <p:nvSpPr>
          <p:cNvPr id="12" name="cd_342"/>
          <p:cNvSpPr/>
          <p:nvPr/>
        </p:nvSpPr>
        <p:spPr>
          <a:xfrm>
            <a:off x="320040" y="1417320"/>
            <a:ext cx="5760720" cy="3364992"/>
          </a:xfrm>
          <a:prstGeom prst="roundRect">
            <a:avLst>
              <a:gd name="adj" fmla="val 3804"/>
            </a:avLst>
          </a:prstGeom>
          <a:solidFill>
            <a:srgbClr val="FFFFFF"/>
          </a:solidFill>
          <a:ln w="28575">
            <a:solidFill>
              <a:srgbClr val="A8E5BE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3" name="rd_343"/>
          <p:cNvSpPr/>
          <p:nvPr/>
        </p:nvSpPr>
        <p:spPr>
          <a:xfrm>
            <a:off x="457200" y="1527048"/>
            <a:ext cx="5486400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Jake and Anna's conversation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I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7B5CD6"/>
                </a:solidFill>
                <a:highlight>
                  <a:srgbClr val="EEE8FB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(1) 'm going to give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talk at a conference.  (Pl)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We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(2)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the centre.  (Pl)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And then we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(3)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Forum.  (Pl)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I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(4)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probably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(5)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anything.  (Pr)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(6)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(7)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very hot?  (Pr)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It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(8)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fantastic day.  (Pr)</a:t>
            </a:r>
            <a:endParaRPr lang="en-US" sz="1200" dirty="0"/>
          </a:p>
        </p:txBody>
      </p:sp>
      <p:sp>
        <p:nvSpPr>
          <p:cNvPr id="14" name="R1_rdA344"/>
          <p:cNvSpPr/>
          <p:nvPr/>
        </p:nvSpPr>
        <p:spPr>
          <a:xfrm>
            <a:off x="457200" y="1527048"/>
            <a:ext cx="5486400" cy="30906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Jake and Anna's conversation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I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7B5CD6"/>
                </a:solidFill>
                <a:highlight>
                  <a:srgbClr val="EEE8FB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(1) 'm going to give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talk at a conference.  (Pl)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We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(2) 're going to drive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the centre.  (Pl)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And then we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(3)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Forum.  (Pl)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I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(4)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probably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(5)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anything.  (Pr)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(6)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(7)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very hot?  (Pr)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It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(8)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fantastic day.  (Pr)</a:t>
            </a:r>
            <a:endParaRPr lang="en-US" sz="1200" dirty="0"/>
          </a:p>
        </p:txBody>
      </p:sp>
      <p:sp>
        <p:nvSpPr>
          <p:cNvPr id="15" name="R2_rdA345"/>
          <p:cNvSpPr/>
          <p:nvPr/>
        </p:nvSpPr>
        <p:spPr>
          <a:xfrm>
            <a:off x="457200" y="1527048"/>
            <a:ext cx="5486400" cy="30906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Jake and Anna's conversation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I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7B5CD6"/>
                </a:solidFill>
                <a:highlight>
                  <a:srgbClr val="EEE8FB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(1) 'm going to give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talk at a conference.  (Pl)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We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(2) 're going to drive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the centre.  (Pl)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And then we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(3) 're going to visit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Forum.  (Pl)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I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(4)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probably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(5)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anything.  (Pr)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(6)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(7)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very hot?  (Pr)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It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(8)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fantastic day.  (Pr)</a:t>
            </a:r>
            <a:endParaRPr lang="en-US" sz="1200" dirty="0"/>
          </a:p>
        </p:txBody>
      </p:sp>
      <p:sp>
        <p:nvSpPr>
          <p:cNvPr id="16" name="R3_rdA346"/>
          <p:cNvSpPr/>
          <p:nvPr/>
        </p:nvSpPr>
        <p:spPr>
          <a:xfrm>
            <a:off x="457200" y="1527048"/>
            <a:ext cx="5486400" cy="30906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Jake and Anna's conversation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I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7B5CD6"/>
                </a:solidFill>
                <a:highlight>
                  <a:srgbClr val="EEE8FB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(1) 'm going to give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talk at a conference.  (Pl)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We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(2) 're going to drive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the centre.  (Pl)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And then we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(3) 're going to visit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Forum.  (Pl)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I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(4) 'm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probably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(5)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anything.  (Pr)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(6)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(7)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very hot?  (Pr)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It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(8)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fantastic day.  (Pr)</a:t>
            </a:r>
            <a:endParaRPr lang="en-US" sz="1200" dirty="0"/>
          </a:p>
        </p:txBody>
      </p:sp>
      <p:sp>
        <p:nvSpPr>
          <p:cNvPr id="17" name="R4_rdA347"/>
          <p:cNvSpPr/>
          <p:nvPr/>
        </p:nvSpPr>
        <p:spPr>
          <a:xfrm>
            <a:off x="457200" y="1527048"/>
            <a:ext cx="5486400" cy="30906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Jake and Anna's conversation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I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7B5CD6"/>
                </a:solidFill>
                <a:highlight>
                  <a:srgbClr val="EEE8FB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(1) 'm going to give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talk at a conference.  (Pl)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We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(2) 're going to drive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the centre.  (Pl)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And then we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(3) 're going to visit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Forum.  (Pl)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I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(4) 'm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probably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(5) not going to buy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anything.  (Pr)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(6)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(7)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very hot?  (Pr)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It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(8)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fantastic day.  (Pr)</a:t>
            </a:r>
            <a:endParaRPr lang="en-US" sz="1200" dirty="0"/>
          </a:p>
        </p:txBody>
      </p:sp>
      <p:sp>
        <p:nvSpPr>
          <p:cNvPr id="18" name="R5_rdA348"/>
          <p:cNvSpPr/>
          <p:nvPr/>
        </p:nvSpPr>
        <p:spPr>
          <a:xfrm>
            <a:off x="457200" y="1527048"/>
            <a:ext cx="5486400" cy="30906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Jake and Anna's conversation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I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7B5CD6"/>
                </a:solidFill>
                <a:highlight>
                  <a:srgbClr val="EEE8FB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(1) 'm going to give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talk at a conference.  (Pl)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We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(2) 're going to drive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the centre.  (Pl)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And then we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(3) 're going to visit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Forum.  (Pl)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I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(4) 'm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probably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(5) not going to buy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anything.  (Pr)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(6) Is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(7)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very hot?  (Pr)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It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(8)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fantastic day.  (Pr)</a:t>
            </a:r>
            <a:endParaRPr lang="en-US" sz="1200" dirty="0"/>
          </a:p>
        </p:txBody>
      </p:sp>
      <p:sp>
        <p:nvSpPr>
          <p:cNvPr id="19" name="R6_rdA349"/>
          <p:cNvSpPr/>
          <p:nvPr/>
        </p:nvSpPr>
        <p:spPr>
          <a:xfrm>
            <a:off x="457200" y="1527048"/>
            <a:ext cx="5486400" cy="30906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Jake and Anna's conversation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I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7B5CD6"/>
                </a:solidFill>
                <a:highlight>
                  <a:srgbClr val="EEE8FB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(1) 'm going to give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talk at a conference.  (Pl)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We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(2) 're going to drive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the centre.  (Pl)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And then we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(3) 're going to visit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Forum.  (Pl)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I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(4) 'm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probably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(5) not going to buy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anything.  (Pr)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(6) Is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(7) going to be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very hot?  (Pr)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It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2EB8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(8) ________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fantastic day.  (Pr)</a:t>
            </a:r>
            <a:endParaRPr lang="en-US" sz="1200" dirty="0"/>
          </a:p>
        </p:txBody>
      </p:sp>
      <p:sp>
        <p:nvSpPr>
          <p:cNvPr id="20" name="R7_rdA350"/>
          <p:cNvSpPr/>
          <p:nvPr/>
        </p:nvSpPr>
        <p:spPr>
          <a:xfrm>
            <a:off x="457200" y="1527048"/>
            <a:ext cx="5486400" cy="309067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1F6F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Jake and Anna's conversation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I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7B5CD6"/>
                </a:solidFill>
                <a:highlight>
                  <a:srgbClr val="EEE8FB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(1) 'm going to give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talk at a conference.  (Pl)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We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(2) 're going to drive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the centre.  (Pl)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And then we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(3) 're going to visit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Forum.  (Pl)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I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(4) 'm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probably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(5) not going to buy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anything.  (Pr)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(6) Is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(7) going to be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very hot?  (Pr)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It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b="1" dirty="0">
                <a:solidFill>
                  <a:srgbClr val="1B2559"/>
                </a:solidFill>
                <a:highlight>
                  <a:srgbClr val="FFE066"/>
                </a:highlight>
                <a:latin typeface="Georgia" pitchFamily="34" charset="0"/>
                <a:ea typeface="Georgia" pitchFamily="34" charset="-122"/>
                <a:cs typeface="Georgia" pitchFamily="34" charset="-120"/>
              </a:rPr>
              <a:t> (8) 's going to be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B25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fantastic day.  (Pr)</a:t>
            </a:r>
            <a:endParaRPr lang="en-US" sz="1200" dirty="0"/>
          </a:p>
        </p:txBody>
      </p:sp>
      <p:sp>
        <p:nvSpPr>
          <p:cNvPr id="21" name="cd_351"/>
          <p:cNvSpPr/>
          <p:nvPr/>
        </p:nvSpPr>
        <p:spPr>
          <a:xfrm>
            <a:off x="6263640" y="1417320"/>
            <a:ext cx="2606040" cy="2063496"/>
          </a:xfrm>
          <a:prstGeom prst="roundRect">
            <a:avLst>
              <a:gd name="adj" fmla="val 6204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2" name="ii_352"/>
          <p:cNvSpPr/>
          <p:nvPr/>
        </p:nvSpPr>
        <p:spPr>
          <a:xfrm>
            <a:off x="63550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🔮</a:t>
            </a:r>
            <a:endParaRPr lang="en-US" sz="2200" dirty="0"/>
          </a:p>
        </p:txBody>
      </p:sp>
      <p:sp>
        <p:nvSpPr>
          <p:cNvPr id="23" name="ih_353"/>
          <p:cNvSpPr/>
          <p:nvPr/>
        </p:nvSpPr>
        <p:spPr>
          <a:xfrm>
            <a:off x="6830568" y="15087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Plan or prediction?</a:t>
            </a:r>
            <a:endParaRPr lang="en-US" sz="1300" dirty="0"/>
          </a:p>
        </p:txBody>
      </p:sp>
      <p:sp>
        <p:nvSpPr>
          <p:cNvPr id="24" name="il_354"/>
          <p:cNvSpPr/>
          <p:nvPr/>
        </p:nvSpPr>
        <p:spPr>
          <a:xfrm>
            <a:off x="6830568" y="1911096"/>
            <a:ext cx="1947672" cy="14965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Plan = something you decided to do</a:t>
            </a:r>
            <a:endParaRPr lang="en-US" sz="115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Prediction = what you think will happen</a:t>
            </a:r>
            <a:endParaRPr lang="en-US" sz="115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be (am / is / are) + going to + verb</a:t>
            </a:r>
            <a:endParaRPr lang="en-US" sz="11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355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12</a:t>
            </a:r>
            <a:endParaRPr lang="en-US" sz="2200" dirty="0"/>
          </a:p>
        </p:txBody>
      </p:sp>
      <p:pic>
        <p:nvPicPr>
          <p:cNvPr id="4" name="brY_356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2461565" cy="621792"/>
          </a:xfrm>
          <a:prstGeom prst="rect">
            <a:avLst/>
          </a:prstGeom>
        </p:spPr>
      </p:pic>
      <p:sp>
        <p:nvSpPr>
          <p:cNvPr id="5" name="title_357"/>
          <p:cNvSpPr/>
          <p:nvPr/>
        </p:nvSpPr>
        <p:spPr>
          <a:xfrm>
            <a:off x="1261872" y="164592"/>
            <a:ext cx="218724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be going to</a:t>
            </a:r>
            <a:endParaRPr lang="en-US" sz="2500" dirty="0"/>
          </a:p>
        </p:txBody>
      </p:sp>
      <p:pic>
        <p:nvPicPr>
          <p:cNvPr id="6" name="brP_358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3337560" cy="402336"/>
          </a:xfrm>
          <a:prstGeom prst="rect">
            <a:avLst/>
          </a:prstGeom>
        </p:spPr>
      </p:pic>
      <p:sp>
        <p:nvSpPr>
          <p:cNvPr id="7" name="ins_359"/>
          <p:cNvSpPr/>
          <p:nvPr/>
        </p:nvSpPr>
        <p:spPr>
          <a:xfrm>
            <a:off x="1353312" y="731520"/>
            <a:ext cx="30815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Read the examples. Then click!</a:t>
            </a:r>
            <a:endParaRPr lang="en-US" sz="1250" dirty="0"/>
          </a:p>
        </p:txBody>
      </p:sp>
      <p:sp>
        <p:nvSpPr>
          <p:cNvPr id="8" name="insIT_360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Leggi gli esempi. Poi clicca!</a:t>
            </a:r>
            <a:endParaRPr lang="en-US" sz="950" dirty="0"/>
          </a:p>
        </p:txBody>
      </p:sp>
      <p:sp>
        <p:nvSpPr>
          <p:cNvPr id="9" name="note_361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👀 LOOK</a:t>
            </a:r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· GUARDA</a:t>
            </a:r>
            <a:endParaRPr lang="en-US" sz="12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3 min   🙋 whole class</a:t>
            </a:r>
            <a:endParaRPr lang="en-US" sz="12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Grammar · Guided discovery</a:t>
            </a:r>
            <a:endParaRPr lang="en-US" sz="1250" dirty="0"/>
          </a:p>
        </p:txBody>
      </p:sp>
      <p:pic>
        <p:nvPicPr>
          <p:cNvPr id="10" name="logo_362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363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3A · Grammar Bank 3A · the rule   ·   📖 Grammar Bank 3A p.130</a:t>
            </a:r>
            <a:endParaRPr lang="en-US" sz="800" dirty="0"/>
          </a:p>
        </p:txBody>
      </p:sp>
      <p:sp>
        <p:nvSpPr>
          <p:cNvPr id="12" name="cd_364"/>
          <p:cNvSpPr/>
          <p:nvPr/>
        </p:nvSpPr>
        <p:spPr>
          <a:xfrm>
            <a:off x="320040" y="1417320"/>
            <a:ext cx="4206240" cy="301752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28575">
            <a:solidFill>
              <a:srgbClr val="F7A6C4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3" name="rh_365"/>
          <p:cNvSpPr/>
          <p:nvPr/>
        </p:nvSpPr>
        <p:spPr>
          <a:xfrm>
            <a:off x="429768" y="1508760"/>
            <a:ext cx="3986784" cy="365760"/>
          </a:xfrm>
          <a:prstGeom prst="roundRect">
            <a:avLst>
              <a:gd name="adj" fmla="val 50000"/>
            </a:avLst>
          </a:prstGeom>
          <a:solidFill>
            <a:srgbClr val="E8508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plans</a:t>
            </a:r>
            <a:endParaRPr lang="en-US" sz="1250" dirty="0"/>
          </a:p>
        </p:txBody>
      </p:sp>
      <p:sp>
        <p:nvSpPr>
          <p:cNvPr id="14" name="R1_rx366"/>
          <p:cNvSpPr/>
          <p:nvPr/>
        </p:nvSpPr>
        <p:spPr>
          <a:xfrm>
            <a:off x="457200" y="2011680"/>
            <a:ext cx="39319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I'm going to stay for six months.</a:t>
            </a:r>
            <a:endParaRPr lang="en-US" sz="14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Are you going to learn Spanish?</a:t>
            </a:r>
            <a:endParaRPr lang="en-US" sz="14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We aren't going to go out tonight.</a:t>
            </a:r>
            <a:endParaRPr lang="en-US" sz="1400" dirty="0"/>
          </a:p>
        </p:txBody>
      </p:sp>
      <p:sp>
        <p:nvSpPr>
          <p:cNvPr id="15" name="R1_ri367"/>
          <p:cNvSpPr/>
          <p:nvPr/>
        </p:nvSpPr>
        <p:spPr>
          <a:xfrm>
            <a:off x="411480" y="40233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piani, decisioni già prese</a:t>
            </a:r>
            <a:endParaRPr lang="en-US" sz="1100" dirty="0"/>
          </a:p>
        </p:txBody>
      </p:sp>
      <p:sp>
        <p:nvSpPr>
          <p:cNvPr id="16" name="cd_368"/>
          <p:cNvSpPr/>
          <p:nvPr/>
        </p:nvSpPr>
        <p:spPr>
          <a:xfrm>
            <a:off x="4663440" y="1417320"/>
            <a:ext cx="4206240" cy="301752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28575">
            <a:solidFill>
              <a:srgbClr val="A9D3F5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7" name="rh_369"/>
          <p:cNvSpPr/>
          <p:nvPr/>
        </p:nvSpPr>
        <p:spPr>
          <a:xfrm>
            <a:off x="4773168" y="1508760"/>
            <a:ext cx="3986784" cy="365760"/>
          </a:xfrm>
          <a:prstGeom prst="roundRect">
            <a:avLst>
              <a:gd name="adj" fmla="val 50000"/>
            </a:avLst>
          </a:prstGeom>
          <a:solidFill>
            <a:srgbClr val="2F8DE4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predictions</a:t>
            </a:r>
            <a:endParaRPr lang="en-US" sz="1250" dirty="0"/>
          </a:p>
        </p:txBody>
      </p:sp>
      <p:sp>
        <p:nvSpPr>
          <p:cNvPr id="18" name="R2_rx370"/>
          <p:cNvSpPr/>
          <p:nvPr/>
        </p:nvSpPr>
        <p:spPr>
          <a:xfrm>
            <a:off x="4800600" y="2011680"/>
            <a:ext cx="39319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It's going to be a big surprise for him.</a:t>
            </a:r>
            <a:endParaRPr lang="en-US" sz="14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Look at the sky! It's going to rain.</a:t>
            </a:r>
            <a:endParaRPr lang="en-US" sz="14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You're going to break that glass!</a:t>
            </a:r>
            <a:endParaRPr lang="en-US" sz="1400" dirty="0"/>
          </a:p>
        </p:txBody>
      </p:sp>
      <p:sp>
        <p:nvSpPr>
          <p:cNvPr id="19" name="R2_ri371"/>
          <p:cNvSpPr/>
          <p:nvPr/>
        </p:nvSpPr>
        <p:spPr>
          <a:xfrm>
            <a:off x="4754880" y="40233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previsioni: lo vedo / lo penso</a:t>
            </a:r>
            <a:endParaRPr lang="en-US" sz="1100" dirty="0"/>
          </a:p>
        </p:txBody>
      </p:sp>
      <p:sp>
        <p:nvSpPr>
          <p:cNvPr id="20" name="R3_wc372"/>
          <p:cNvSpPr/>
          <p:nvPr/>
        </p:nvSpPr>
        <p:spPr>
          <a:xfrm>
            <a:off x="320040" y="4544568"/>
            <a:ext cx="8549640" cy="329184"/>
          </a:xfrm>
          <a:prstGeom prst="roundRect">
            <a:avLst>
              <a:gd name="adj" fmla="val 38889"/>
            </a:avLst>
          </a:prstGeom>
          <a:solidFill>
            <a:srgbClr val="FFE3EE"/>
          </a:solidFill>
          <a:ln w="28575">
            <a:solidFill>
              <a:srgbClr val="F7A6C4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1" name="R3_w373"/>
          <p:cNvSpPr/>
          <p:nvPr/>
        </p:nvSpPr>
        <p:spPr>
          <a:xfrm>
            <a:off x="457200" y="4544568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⚠ ✗ I going to stay → ✓ I'm going to stay   ·   ✗ It's going to rains → ✓ It's going to rain   ·   'gonna' = fast speech, don't write it!</a:t>
            </a:r>
            <a:endParaRPr lang="en-US" sz="9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374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13</a:t>
            </a:r>
            <a:endParaRPr lang="en-US" sz="2200" dirty="0"/>
          </a:p>
        </p:txBody>
      </p:sp>
      <p:pic>
        <p:nvPicPr>
          <p:cNvPr id="4" name="brY_375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4348886" cy="621792"/>
          </a:xfrm>
          <a:prstGeom prst="rect">
            <a:avLst/>
          </a:prstGeom>
        </p:spPr>
      </p:pic>
      <p:sp>
        <p:nvSpPr>
          <p:cNvPr id="5" name="title_376"/>
          <p:cNvSpPr/>
          <p:nvPr/>
        </p:nvSpPr>
        <p:spPr>
          <a:xfrm>
            <a:off x="1261872" y="164592"/>
            <a:ext cx="407456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What's going to happen?</a:t>
            </a:r>
            <a:endParaRPr lang="en-US" sz="2400" dirty="0"/>
          </a:p>
        </p:txBody>
      </p:sp>
      <p:pic>
        <p:nvPicPr>
          <p:cNvPr id="6" name="brP_377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5257800" cy="402336"/>
          </a:xfrm>
          <a:prstGeom prst="rect">
            <a:avLst/>
          </a:prstGeom>
        </p:spPr>
      </p:pic>
      <p:sp>
        <p:nvSpPr>
          <p:cNvPr id="7" name="ins_378"/>
          <p:cNvSpPr/>
          <p:nvPr/>
        </p:nvSpPr>
        <p:spPr>
          <a:xfrm>
            <a:off x="1353312" y="731520"/>
            <a:ext cx="5001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Fortune teller! Look at the situation. Make a prediction.</a:t>
            </a:r>
            <a:endParaRPr lang="en-US" sz="1250" dirty="0"/>
          </a:p>
        </p:txBody>
      </p:sp>
      <p:sp>
        <p:nvSpPr>
          <p:cNvPr id="8" name="insIT_379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Indovino! Guarda la situazione. Fai una previsione.</a:t>
            </a:r>
            <a:endParaRPr lang="en-US" sz="950" dirty="0"/>
          </a:p>
        </p:txBody>
      </p:sp>
      <p:sp>
        <p:nvSpPr>
          <p:cNvPr id="9" name="note_380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🔊 SAY IT</a:t>
            </a:r>
            <a:pPr algn="ctr" indent="0" marL="0">
              <a:buNone/>
            </a:pPr>
            <a:r>
              <a:rPr lang="en-US" sz="1200" dirty="0">
                <a:solidFill>
                  <a:srgbClr val="5B6785"/>
                </a:solidFill>
              </a:rPr>
              <a:t> → </a:t>
            </a:r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🎲 PLAY</a:t>
            </a:r>
            <a:endParaRPr lang="en-US" sz="11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4 min   🏆 teams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Speaking · Communicative game</a:t>
            </a:r>
            <a:endParaRPr lang="en-US" sz="1150" dirty="0"/>
          </a:p>
        </p:txBody>
      </p:sp>
      <p:pic>
        <p:nvPicPr>
          <p:cNvPr id="10" name="logo_381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382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3A · Game · predictions   ·   📖 Grammar Bank 3A b (predictions) – practice</a:t>
            </a:r>
            <a:endParaRPr lang="en-US" sz="800" dirty="0"/>
          </a:p>
        </p:txBody>
      </p:sp>
      <p:sp>
        <p:nvSpPr>
          <p:cNvPr id="12" name="cd_383"/>
          <p:cNvSpPr/>
          <p:nvPr/>
        </p:nvSpPr>
        <p:spPr>
          <a:xfrm>
            <a:off x="320040" y="1417320"/>
            <a:ext cx="2697480" cy="2112264"/>
          </a:xfrm>
          <a:prstGeom prst="roundRect">
            <a:avLst>
              <a:gd name="adj" fmla="val 6061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3" name="ii_384"/>
          <p:cNvSpPr/>
          <p:nvPr/>
        </p:nvSpPr>
        <p:spPr>
          <a:xfrm>
            <a:off x="4114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🎲</a:t>
            </a:r>
            <a:endParaRPr lang="en-US" sz="2200" dirty="0"/>
          </a:p>
        </p:txBody>
      </p:sp>
      <p:sp>
        <p:nvSpPr>
          <p:cNvPr id="14" name="ih_385"/>
          <p:cNvSpPr/>
          <p:nvPr/>
        </p:nvSpPr>
        <p:spPr>
          <a:xfrm>
            <a:off x="886968" y="15087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How to play</a:t>
            </a:r>
            <a:endParaRPr lang="en-US" sz="1400" dirty="0"/>
          </a:p>
        </p:txBody>
      </p:sp>
      <p:sp>
        <p:nvSpPr>
          <p:cNvPr id="15" name="il_386"/>
          <p:cNvSpPr/>
          <p:nvPr/>
        </p:nvSpPr>
        <p:spPr>
          <a:xfrm>
            <a:off x="886968" y="1911096"/>
            <a:ext cx="2039112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Teacher reads the situation.</a:t>
            </a:r>
            <a:endParaRPr lang="en-US" sz="120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Your team makes a prediction with going to.</a:t>
            </a:r>
            <a:endParaRPr lang="en-US" sz="120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Correct grammar + good idea = 1 point!</a:t>
            </a:r>
            <a:endParaRPr lang="en-US" sz="1200" dirty="0"/>
          </a:p>
        </p:txBody>
      </p:sp>
      <p:sp>
        <p:nvSpPr>
          <p:cNvPr id="16" name="st_387"/>
          <p:cNvSpPr/>
          <p:nvPr/>
        </p:nvSpPr>
        <p:spPr>
          <a:xfrm rot="-180000">
            <a:off x="502920" y="3712464"/>
            <a:ext cx="2286000" cy="777240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TEAM A  ☆☆☆☆☆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TEAM B  ☆☆☆☆☆</a:t>
            </a:r>
            <a:endParaRPr lang="en-US" sz="1250" dirty="0"/>
          </a:p>
        </p:txBody>
      </p:sp>
      <p:sp>
        <p:nvSpPr>
          <p:cNvPr id="17" name="bd_388"/>
          <p:cNvSpPr/>
          <p:nvPr/>
        </p:nvSpPr>
        <p:spPr>
          <a:xfrm>
            <a:off x="3246120" y="1491234"/>
            <a:ext cx="329184" cy="329184"/>
          </a:xfrm>
          <a:prstGeom prst="ellipse">
            <a:avLst/>
          </a:prstGeom>
          <a:solidFill>
            <a:srgbClr val="7B5CD6"/>
          </a:solidFill>
          <a:ln w="28575">
            <a:solidFill>
              <a:srgbClr val="CDBFF3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e.g.</a:t>
            </a:r>
            <a:endParaRPr lang="en-US" sz="500" dirty="0"/>
          </a:p>
        </p:txBody>
      </p:sp>
      <p:sp>
        <p:nvSpPr>
          <p:cNvPr id="18" name="gq_389"/>
          <p:cNvSpPr/>
          <p:nvPr/>
        </p:nvSpPr>
        <p:spPr>
          <a:xfrm>
            <a:off x="3657600" y="1417320"/>
            <a:ext cx="2514600" cy="477012"/>
          </a:xfrm>
          <a:prstGeom prst="roundRect">
            <a:avLst>
              <a:gd name="adj" fmla="val 19169"/>
            </a:avLst>
          </a:prstGeom>
          <a:solidFill>
            <a:srgbClr val="EEE8FB"/>
          </a:solidFill>
          <a:ln w="28575">
            <a:solidFill>
              <a:srgbClr val="CDBFF3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There are big black clouds in the sky.</a:t>
            </a:r>
            <a:endParaRPr lang="en-US" sz="1050" dirty="0"/>
          </a:p>
        </p:txBody>
      </p:sp>
      <p:sp>
        <p:nvSpPr>
          <p:cNvPr id="19" name="chip_390"/>
          <p:cNvSpPr/>
          <p:nvPr/>
        </p:nvSpPr>
        <p:spPr>
          <a:xfrm>
            <a:off x="6263640" y="1417320"/>
            <a:ext cx="2560320" cy="477012"/>
          </a:xfrm>
          <a:prstGeom prst="roundRect">
            <a:avLst>
              <a:gd name="adj" fmla="val 19169"/>
            </a:avLst>
          </a:prstGeom>
          <a:solidFill>
            <a:srgbClr val="EEE8FB"/>
          </a:solidFill>
          <a:ln w="28575">
            <a:solidFill>
              <a:srgbClr val="CDBFF3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It's going to rain.</a:t>
            </a:r>
            <a:endParaRPr lang="en-US" sz="1200" dirty="0"/>
          </a:p>
        </p:txBody>
      </p:sp>
      <p:sp>
        <p:nvSpPr>
          <p:cNvPr id="20" name="bd_391"/>
          <p:cNvSpPr/>
          <p:nvPr/>
        </p:nvSpPr>
        <p:spPr>
          <a:xfrm>
            <a:off x="3246120" y="2032254"/>
            <a:ext cx="329184" cy="329184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gq_392"/>
          <p:cNvSpPr/>
          <p:nvPr/>
        </p:nvSpPr>
        <p:spPr>
          <a:xfrm>
            <a:off x="3657600" y="1958340"/>
            <a:ext cx="2514600" cy="477012"/>
          </a:xfrm>
          <a:prstGeom prst="roundRect">
            <a:avLst>
              <a:gd name="adj" fmla="val 19169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He's driving very fast and talking on his phone.</a:t>
            </a:r>
            <a:endParaRPr lang="en-US" sz="1050" dirty="0"/>
          </a:p>
        </p:txBody>
      </p:sp>
      <p:sp>
        <p:nvSpPr>
          <p:cNvPr id="22" name="R1_chip393"/>
          <p:cNvSpPr/>
          <p:nvPr/>
        </p:nvSpPr>
        <p:spPr>
          <a:xfrm>
            <a:off x="6263640" y="1958340"/>
            <a:ext cx="2560320" cy="477012"/>
          </a:xfrm>
          <a:prstGeom prst="roundRect">
            <a:avLst>
              <a:gd name="adj" fmla="val 19169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He's going to have an accident.</a:t>
            </a:r>
            <a:endParaRPr lang="en-US" sz="1200" dirty="0"/>
          </a:p>
        </p:txBody>
      </p:sp>
      <p:sp>
        <p:nvSpPr>
          <p:cNvPr id="23" name="bd_394"/>
          <p:cNvSpPr/>
          <p:nvPr/>
        </p:nvSpPr>
        <p:spPr>
          <a:xfrm>
            <a:off x="3246120" y="2573274"/>
            <a:ext cx="329184" cy="329184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gq_395"/>
          <p:cNvSpPr/>
          <p:nvPr/>
        </p:nvSpPr>
        <p:spPr>
          <a:xfrm>
            <a:off x="3657600" y="2499360"/>
            <a:ext cx="2514600" cy="477012"/>
          </a:xfrm>
          <a:prstGeom prst="roundRect">
            <a:avLst>
              <a:gd name="adj" fmla="val 19169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It's 8.55. Her flight leaves at 9.00. She's still at security.</a:t>
            </a:r>
            <a:endParaRPr lang="en-US" sz="1050" dirty="0"/>
          </a:p>
        </p:txBody>
      </p:sp>
      <p:sp>
        <p:nvSpPr>
          <p:cNvPr id="25" name="R2_chip396"/>
          <p:cNvSpPr/>
          <p:nvPr/>
        </p:nvSpPr>
        <p:spPr>
          <a:xfrm>
            <a:off x="6263640" y="2499360"/>
            <a:ext cx="2560320" cy="477012"/>
          </a:xfrm>
          <a:prstGeom prst="roundRect">
            <a:avLst>
              <a:gd name="adj" fmla="val 19169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She's going to miss her flight.</a:t>
            </a:r>
            <a:endParaRPr lang="en-US" sz="1200" dirty="0"/>
          </a:p>
        </p:txBody>
      </p:sp>
      <p:sp>
        <p:nvSpPr>
          <p:cNvPr id="26" name="bd_397"/>
          <p:cNvSpPr/>
          <p:nvPr/>
        </p:nvSpPr>
        <p:spPr>
          <a:xfrm>
            <a:off x="3246120" y="3114294"/>
            <a:ext cx="329184" cy="329184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gq_398"/>
          <p:cNvSpPr/>
          <p:nvPr/>
        </p:nvSpPr>
        <p:spPr>
          <a:xfrm>
            <a:off x="3657600" y="3040380"/>
            <a:ext cx="2514600" cy="477012"/>
          </a:xfrm>
          <a:prstGeom prst="roundRect">
            <a:avLst>
              <a:gd name="adj" fmla="val 19169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Your team is winning 3–0. There are two minutes left.</a:t>
            </a:r>
            <a:endParaRPr lang="en-US" sz="1050" dirty="0"/>
          </a:p>
        </p:txBody>
      </p:sp>
      <p:sp>
        <p:nvSpPr>
          <p:cNvPr id="28" name="R3_chip399"/>
          <p:cNvSpPr/>
          <p:nvPr/>
        </p:nvSpPr>
        <p:spPr>
          <a:xfrm>
            <a:off x="6263640" y="3040380"/>
            <a:ext cx="2560320" cy="477012"/>
          </a:xfrm>
          <a:prstGeom prst="roundRect">
            <a:avLst>
              <a:gd name="adj" fmla="val 19169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We're going to win!</a:t>
            </a:r>
            <a:endParaRPr lang="en-US" sz="1200" dirty="0"/>
          </a:p>
        </p:txBody>
      </p:sp>
      <p:sp>
        <p:nvSpPr>
          <p:cNvPr id="29" name="bd_400"/>
          <p:cNvSpPr/>
          <p:nvPr/>
        </p:nvSpPr>
        <p:spPr>
          <a:xfrm>
            <a:off x="3246120" y="3655314"/>
            <a:ext cx="329184" cy="329184"/>
          </a:xfrm>
          <a:prstGeom prst="ellipse">
            <a:avLst/>
          </a:prstGeom>
          <a:solidFill>
            <a:srgbClr val="F2B705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gq_401"/>
          <p:cNvSpPr/>
          <p:nvPr/>
        </p:nvSpPr>
        <p:spPr>
          <a:xfrm>
            <a:off x="3657600" y="3581400"/>
            <a:ext cx="2514600" cy="477012"/>
          </a:xfrm>
          <a:prstGeom prst="roundRect">
            <a:avLst>
              <a:gd name="adj" fmla="val 19169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He's carrying ten plates and the floor is wet.</a:t>
            </a:r>
            <a:endParaRPr lang="en-US" sz="1050" dirty="0"/>
          </a:p>
        </p:txBody>
      </p:sp>
      <p:sp>
        <p:nvSpPr>
          <p:cNvPr id="31" name="R4_chip402"/>
          <p:cNvSpPr/>
          <p:nvPr/>
        </p:nvSpPr>
        <p:spPr>
          <a:xfrm>
            <a:off x="6263640" y="3581400"/>
            <a:ext cx="2560320" cy="477012"/>
          </a:xfrm>
          <a:prstGeom prst="roundRect">
            <a:avLst>
              <a:gd name="adj" fmla="val 19169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He's going to drop them.</a:t>
            </a:r>
            <a:endParaRPr lang="en-US" sz="1200" dirty="0"/>
          </a:p>
        </p:txBody>
      </p:sp>
      <p:sp>
        <p:nvSpPr>
          <p:cNvPr id="32" name="bd_403"/>
          <p:cNvSpPr/>
          <p:nvPr/>
        </p:nvSpPr>
        <p:spPr>
          <a:xfrm>
            <a:off x="3246120" y="4196334"/>
            <a:ext cx="329184" cy="329184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gq_404"/>
          <p:cNvSpPr/>
          <p:nvPr/>
        </p:nvSpPr>
        <p:spPr>
          <a:xfrm>
            <a:off x="3657600" y="4122420"/>
            <a:ext cx="2514600" cy="477012"/>
          </a:xfrm>
          <a:prstGeom prst="roundRect">
            <a:avLst>
              <a:gd name="adj" fmla="val 19169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She's studying every day for her exam.</a:t>
            </a:r>
            <a:endParaRPr lang="en-US" sz="1050" dirty="0"/>
          </a:p>
        </p:txBody>
      </p:sp>
      <p:sp>
        <p:nvSpPr>
          <p:cNvPr id="34" name="R5_chip405"/>
          <p:cNvSpPr/>
          <p:nvPr/>
        </p:nvSpPr>
        <p:spPr>
          <a:xfrm>
            <a:off x="6263640" y="4122420"/>
            <a:ext cx="2560320" cy="477012"/>
          </a:xfrm>
          <a:prstGeom prst="roundRect">
            <a:avLst>
              <a:gd name="adj" fmla="val 19169"/>
            </a:avLst>
          </a:prstGeom>
          <a:solidFill>
            <a:srgbClr val="FFE3EE"/>
          </a:solidFill>
          <a:ln w="28575">
            <a:solidFill>
              <a:srgbClr val="F7A6C4"/>
            </a:solidFill>
          </a:ln>
        </p:spPr>
        <p:txBody>
          <a:bodyPr wrap="square" lIns="101600" tIns="0" rIns="10160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→ She's going to pass.</a:t>
            </a:r>
            <a:endParaRPr lang="en-US" sz="12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406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14</a:t>
            </a:r>
            <a:endParaRPr lang="en-US" sz="2200" dirty="0"/>
          </a:p>
        </p:txBody>
      </p:sp>
      <p:pic>
        <p:nvPicPr>
          <p:cNvPr id="4" name="brY_407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3877056" cy="621792"/>
          </a:xfrm>
          <a:prstGeom prst="rect">
            <a:avLst/>
          </a:prstGeom>
        </p:spPr>
      </p:pic>
      <p:sp>
        <p:nvSpPr>
          <p:cNvPr id="5" name="title_408"/>
          <p:cNvSpPr/>
          <p:nvPr/>
        </p:nvSpPr>
        <p:spPr>
          <a:xfrm>
            <a:off x="1261872" y="164592"/>
            <a:ext cx="36027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What are your plans?</a:t>
            </a:r>
            <a:endParaRPr lang="en-US" sz="2500" dirty="0"/>
          </a:p>
        </p:txBody>
      </p:sp>
      <p:pic>
        <p:nvPicPr>
          <p:cNvPr id="6" name="brP_409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5257800" cy="402336"/>
          </a:xfrm>
          <a:prstGeom prst="rect">
            <a:avLst/>
          </a:prstGeom>
        </p:spPr>
      </p:pic>
      <p:sp>
        <p:nvSpPr>
          <p:cNvPr id="7" name="ins_410"/>
          <p:cNvSpPr/>
          <p:nvPr/>
        </p:nvSpPr>
        <p:spPr>
          <a:xfrm>
            <a:off x="1353312" y="731520"/>
            <a:ext cx="5001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Ask your partner about their plans. Ask one more question each time!</a:t>
            </a:r>
            <a:endParaRPr lang="en-US" sz="1100" dirty="0"/>
          </a:p>
        </p:txBody>
      </p:sp>
      <p:sp>
        <p:nvSpPr>
          <p:cNvPr id="8" name="insIT_411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Chiedi al compagno i suoi piani. Fai una domanda in più ogni volta!</a:t>
            </a:r>
            <a:endParaRPr lang="en-US" sz="950" dirty="0"/>
          </a:p>
        </p:txBody>
      </p:sp>
      <p:sp>
        <p:nvSpPr>
          <p:cNvPr id="9" name="note_412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💬 TALK</a:t>
            </a:r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· PARLA</a:t>
            </a:r>
            <a:endParaRPr lang="en-US" sz="12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4 min   👥 pairs</a:t>
            </a:r>
            <a:endParaRPr lang="en-US" sz="12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Speaking · Communicative</a:t>
            </a:r>
            <a:endParaRPr lang="en-US" sz="1250" dirty="0"/>
          </a:p>
        </p:txBody>
      </p:sp>
      <p:pic>
        <p:nvPicPr>
          <p:cNvPr id="10" name="logo_413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414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3A · Speaking · What are your plans?   ·   📖 SB p.23 · 4d · Communication What are your plans? (A p.103, B p.109)</a:t>
            </a:r>
            <a:endParaRPr lang="en-US" sz="800" dirty="0"/>
          </a:p>
        </p:txBody>
      </p:sp>
      <p:sp>
        <p:nvSpPr>
          <p:cNvPr id="12" name="cd_415"/>
          <p:cNvSpPr/>
          <p:nvPr/>
        </p:nvSpPr>
        <p:spPr>
          <a:xfrm>
            <a:off x="320040" y="1417320"/>
            <a:ext cx="2788920" cy="1952752"/>
          </a:xfrm>
          <a:prstGeom prst="roundRect">
            <a:avLst>
              <a:gd name="adj" fmla="val 6556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3" name="ii_416"/>
          <p:cNvSpPr/>
          <p:nvPr/>
        </p:nvSpPr>
        <p:spPr>
          <a:xfrm>
            <a:off x="4114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14" name="ih_417"/>
          <p:cNvSpPr/>
          <p:nvPr/>
        </p:nvSpPr>
        <p:spPr>
          <a:xfrm>
            <a:off x="886968" y="15087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Useful phrases</a:t>
            </a:r>
            <a:endParaRPr lang="en-US" sz="1300" dirty="0"/>
          </a:p>
        </p:txBody>
      </p:sp>
      <p:sp>
        <p:nvSpPr>
          <p:cNvPr id="15" name="il_418"/>
          <p:cNvSpPr/>
          <p:nvPr/>
        </p:nvSpPr>
        <p:spPr>
          <a:xfrm>
            <a:off x="886968" y="1911096"/>
            <a:ext cx="2130552" cy="13858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I'm going to…</a:t>
            </a:r>
            <a:endParaRPr lang="en-US" sz="115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I'm not going to…</a:t>
            </a:r>
            <a:endParaRPr lang="en-US" sz="115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I'm probably going to…</a:t>
            </a:r>
            <a:endParaRPr lang="en-US" sz="115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Really? Where are you going to…?</a:t>
            </a:r>
            <a:endParaRPr lang="en-US" sz="1150" dirty="0"/>
          </a:p>
        </p:txBody>
      </p:sp>
      <p:sp>
        <p:nvSpPr>
          <p:cNvPr id="16" name="R1_qb419"/>
          <p:cNvSpPr/>
          <p:nvPr/>
        </p:nvSpPr>
        <p:spPr>
          <a:xfrm>
            <a:off x="3273552" y="1453896"/>
            <a:ext cx="329184" cy="329184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100" dirty="0"/>
          </a:p>
        </p:txBody>
      </p:sp>
      <p:sp>
        <p:nvSpPr>
          <p:cNvPr id="17" name="R1_sq420"/>
          <p:cNvSpPr/>
          <p:nvPr/>
        </p:nvSpPr>
        <p:spPr>
          <a:xfrm>
            <a:off x="3675888" y="1417320"/>
            <a:ext cx="51937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are you going to do after the lesson tonight?</a:t>
            </a:r>
            <a:endParaRPr lang="en-US" sz="1200" dirty="0"/>
          </a:p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e.g. I'm going to have dinner and watch a series.</a:t>
            </a:r>
            <a:endParaRPr lang="en-US" sz="1200" dirty="0"/>
          </a:p>
        </p:txBody>
      </p:sp>
      <p:sp>
        <p:nvSpPr>
          <p:cNvPr id="18" name="R2_qb421"/>
          <p:cNvSpPr/>
          <p:nvPr/>
        </p:nvSpPr>
        <p:spPr>
          <a:xfrm>
            <a:off x="3273552" y="2057400"/>
            <a:ext cx="329184" cy="329184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100" dirty="0"/>
          </a:p>
        </p:txBody>
      </p:sp>
      <p:sp>
        <p:nvSpPr>
          <p:cNvPr id="19" name="R2_sq422"/>
          <p:cNvSpPr/>
          <p:nvPr/>
        </p:nvSpPr>
        <p:spPr>
          <a:xfrm>
            <a:off x="3675888" y="2020824"/>
            <a:ext cx="51937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Are you going to go out this weekend?</a:t>
            </a:r>
            <a:endParaRPr lang="en-US" sz="1200" dirty="0"/>
          </a:p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e.g. Yes – I'm going to meet friends in Palermo.</a:t>
            </a:r>
            <a:endParaRPr lang="en-US" sz="1200" dirty="0"/>
          </a:p>
        </p:txBody>
      </p:sp>
      <p:sp>
        <p:nvSpPr>
          <p:cNvPr id="20" name="R3_qb423"/>
          <p:cNvSpPr/>
          <p:nvPr/>
        </p:nvSpPr>
        <p:spPr>
          <a:xfrm>
            <a:off x="3273552" y="2660904"/>
            <a:ext cx="329184" cy="329184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R3_sq424"/>
          <p:cNvSpPr/>
          <p:nvPr/>
        </p:nvSpPr>
        <p:spPr>
          <a:xfrm>
            <a:off x="3675888" y="2624328"/>
            <a:ext cx="51937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Where are you going to go on your next holiday?</a:t>
            </a:r>
            <a:endParaRPr lang="en-US" sz="1200" dirty="0"/>
          </a:p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e.g. I'm going to visit my sister in Milan.</a:t>
            </a:r>
            <a:endParaRPr lang="en-US" sz="1200" dirty="0"/>
          </a:p>
        </p:txBody>
      </p:sp>
      <p:sp>
        <p:nvSpPr>
          <p:cNvPr id="22" name="R4_qb425"/>
          <p:cNvSpPr/>
          <p:nvPr/>
        </p:nvSpPr>
        <p:spPr>
          <a:xfrm>
            <a:off x="3273552" y="3264408"/>
            <a:ext cx="329184" cy="329184"/>
          </a:xfrm>
          <a:prstGeom prst="ellipse">
            <a:avLst/>
          </a:prstGeom>
          <a:solidFill>
            <a:srgbClr val="F2B705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R4_sq426"/>
          <p:cNvSpPr/>
          <p:nvPr/>
        </p:nvSpPr>
        <p:spPr>
          <a:xfrm>
            <a:off x="3675888" y="3227832"/>
            <a:ext cx="51937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Are you going to learn something new this year?</a:t>
            </a:r>
            <a:endParaRPr lang="en-US" sz="1200" dirty="0"/>
          </a:p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e.g. I'm going to learn to cook sushi!</a:t>
            </a:r>
            <a:endParaRPr lang="en-US" sz="12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427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15</a:t>
            </a:r>
            <a:endParaRPr lang="en-US" sz="2200" dirty="0"/>
          </a:p>
        </p:txBody>
      </p:sp>
      <p:pic>
        <p:nvPicPr>
          <p:cNvPr id="4" name="brY_428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3719779" cy="621792"/>
          </a:xfrm>
          <a:prstGeom prst="rect">
            <a:avLst/>
          </a:prstGeom>
        </p:spPr>
      </p:pic>
      <p:sp>
        <p:nvSpPr>
          <p:cNvPr id="5" name="title_429"/>
          <p:cNvSpPr/>
          <p:nvPr/>
        </p:nvSpPr>
        <p:spPr>
          <a:xfrm>
            <a:off x="1261872" y="164592"/>
            <a:ext cx="34454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TripAside: Palermo!</a:t>
            </a:r>
            <a:endParaRPr lang="en-US" sz="2500" dirty="0"/>
          </a:p>
        </p:txBody>
      </p:sp>
      <p:pic>
        <p:nvPicPr>
          <p:cNvPr id="6" name="brP_430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5257800" cy="402336"/>
          </a:xfrm>
          <a:prstGeom prst="rect">
            <a:avLst/>
          </a:prstGeom>
        </p:spPr>
      </p:pic>
      <p:sp>
        <p:nvSpPr>
          <p:cNvPr id="7" name="ins_431"/>
          <p:cNvSpPr/>
          <p:nvPr/>
        </p:nvSpPr>
        <p:spPr>
          <a:xfrm>
            <a:off x="1353312" y="731520"/>
            <a:ext cx="5001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You work for TripAside! Plan a tour from Palermo airport. 9 a.m. – 3.30 p.m.</a:t>
            </a:r>
            <a:endParaRPr lang="en-US" sz="1100" dirty="0"/>
          </a:p>
        </p:txBody>
      </p:sp>
      <p:sp>
        <p:nvSpPr>
          <p:cNvPr id="8" name="insIT_432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Lavorate per TripAside! Pianificate un tour dall'aeroporto di Palermo. 9:00–15:30.</a:t>
            </a:r>
            <a:endParaRPr lang="en-US" sz="900" dirty="0"/>
          </a:p>
        </p:txBody>
      </p:sp>
      <p:sp>
        <p:nvSpPr>
          <p:cNvPr id="9" name="note_433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💬 TALK</a:t>
            </a:r>
            <a:pPr algn="ctr" indent="0" marL="0">
              <a:buNone/>
            </a:pPr>
            <a:r>
              <a:rPr lang="en-US" sz="1200" dirty="0">
                <a:solidFill>
                  <a:srgbClr val="5B6785"/>
                </a:solidFill>
              </a:rPr>
              <a:t> → </a:t>
            </a:r>
            <a:pPr algn="ctr" indent="0" marL="0">
              <a:buNone/>
            </a:pPr>
            <a:r>
              <a:rPr lang="en-US" sz="11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🎲 PLAY</a:t>
            </a:r>
            <a:endParaRPr lang="en-US" sz="11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8 min   👥 pairs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Speaking · Communicative</a:t>
            </a:r>
            <a:endParaRPr lang="en-US" sz="1150" dirty="0"/>
          </a:p>
        </p:txBody>
      </p:sp>
      <p:pic>
        <p:nvPicPr>
          <p:cNvPr id="10" name="logo_434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435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3A · Speaking · plan a stopover tour   ·   📖 SB p.23 · 5a, 5b</a:t>
            </a:r>
            <a:endParaRPr lang="en-US" sz="800" dirty="0"/>
          </a:p>
        </p:txBody>
      </p:sp>
      <p:sp>
        <p:nvSpPr>
          <p:cNvPr id="12" name="pf_436"/>
          <p:cNvSpPr/>
          <p:nvPr/>
        </p:nvSpPr>
        <p:spPr>
          <a:xfrm rot="-120000">
            <a:off x="320040" y="1371600"/>
            <a:ext cx="2788920" cy="1325880"/>
          </a:xfrm>
          <a:prstGeom prst="roundRect">
            <a:avLst>
              <a:gd name="adj" fmla="val 1172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20000"/>
              </a:srgbClr>
            </a:outerShdw>
          </a:effectLst>
        </p:spPr>
      </p:sp>
      <p:pic>
        <p:nvPicPr>
          <p:cNvPr id="13" name="ph_437" descr="/home/claude/lls-course/v2/cache/a2_3a_founders_jpg_649x297_3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120000">
            <a:off x="365760" y="1417320"/>
            <a:ext cx="2697480" cy="1234440"/>
          </a:xfrm>
          <a:prstGeom prst="rect">
            <a:avLst/>
          </a:prstGeom>
        </p:spPr>
      </p:pic>
      <p:sp>
        <p:nvSpPr>
          <p:cNvPr id="14" name="cd_438"/>
          <p:cNvSpPr/>
          <p:nvPr/>
        </p:nvSpPr>
        <p:spPr>
          <a:xfrm>
            <a:off x="320040" y="2880360"/>
            <a:ext cx="2788920" cy="1874520"/>
          </a:xfrm>
          <a:prstGeom prst="roundRect">
            <a:avLst>
              <a:gd name="adj" fmla="val 6829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5" name="ii_439"/>
          <p:cNvSpPr/>
          <p:nvPr/>
        </p:nvSpPr>
        <p:spPr>
          <a:xfrm>
            <a:off x="411480" y="2953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16" name="ih_440"/>
          <p:cNvSpPr/>
          <p:nvPr/>
        </p:nvSpPr>
        <p:spPr>
          <a:xfrm>
            <a:off x="886968" y="29718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Useful phrases</a:t>
            </a:r>
            <a:endParaRPr lang="en-US" sz="1300" dirty="0"/>
          </a:p>
        </p:txBody>
      </p:sp>
      <p:sp>
        <p:nvSpPr>
          <p:cNvPr id="17" name="il_441"/>
          <p:cNvSpPr/>
          <p:nvPr/>
        </p:nvSpPr>
        <p:spPr>
          <a:xfrm>
            <a:off x="886968" y="3374136"/>
            <a:ext cx="2130552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First, we're going to…</a:t>
            </a:r>
            <a:endParaRPr lang="en-US" sz="105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Then we're going to visit…</a:t>
            </a:r>
            <a:endParaRPr lang="en-US" sz="105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We're going to have lunch at…</a:t>
            </a:r>
            <a:endParaRPr lang="en-US" sz="105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We're going to leave at… to get back in time.</a:t>
            </a:r>
            <a:endParaRPr lang="en-US" sz="1050" dirty="0"/>
          </a:p>
        </p:txBody>
      </p:sp>
      <p:sp>
        <p:nvSpPr>
          <p:cNvPr id="18" name="R1_qb442"/>
          <p:cNvSpPr/>
          <p:nvPr/>
        </p:nvSpPr>
        <p:spPr>
          <a:xfrm>
            <a:off x="3273552" y="1453896"/>
            <a:ext cx="329184" cy="329184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100" dirty="0"/>
          </a:p>
        </p:txBody>
      </p:sp>
      <p:sp>
        <p:nvSpPr>
          <p:cNvPr id="19" name="R1_sq443"/>
          <p:cNvSpPr/>
          <p:nvPr/>
        </p:nvSpPr>
        <p:spPr>
          <a:xfrm>
            <a:off x="3675888" y="1417320"/>
            <a:ext cx="51937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How are you going to get to the town or city centre?</a:t>
            </a:r>
            <a:endParaRPr lang="en-US" sz="1100" dirty="0"/>
          </a:p>
          <a:p>
            <a:pPr indent="0" marL="0">
              <a:buNone/>
            </a:pPr>
            <a:r>
              <a:rPr lang="en-US" sz="8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e.g. We're going to take the train to Palermo Centrale.</a:t>
            </a:r>
            <a:endParaRPr lang="en-US" sz="1100" dirty="0"/>
          </a:p>
        </p:txBody>
      </p:sp>
      <p:sp>
        <p:nvSpPr>
          <p:cNvPr id="20" name="R2_qb444"/>
          <p:cNvSpPr/>
          <p:nvPr/>
        </p:nvSpPr>
        <p:spPr>
          <a:xfrm>
            <a:off x="3273552" y="2057400"/>
            <a:ext cx="329184" cy="329184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100" dirty="0"/>
          </a:p>
        </p:txBody>
      </p:sp>
      <p:sp>
        <p:nvSpPr>
          <p:cNvPr id="21" name="R2_sq445"/>
          <p:cNvSpPr/>
          <p:nvPr/>
        </p:nvSpPr>
        <p:spPr>
          <a:xfrm>
            <a:off x="3675888" y="2020824"/>
            <a:ext cx="51937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are you going to see, and in what order?</a:t>
            </a:r>
            <a:endParaRPr lang="en-US" sz="1100" dirty="0"/>
          </a:p>
          <a:p>
            <a:pPr indent="0" marL="0">
              <a:buNone/>
            </a:pPr>
            <a:r>
              <a:rPr lang="en-US" sz="8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e.g. First the cathedral, then the Quattro Canti…</a:t>
            </a:r>
            <a:endParaRPr lang="en-US" sz="1100" dirty="0"/>
          </a:p>
        </p:txBody>
      </p:sp>
      <p:sp>
        <p:nvSpPr>
          <p:cNvPr id="22" name="R3_qb446"/>
          <p:cNvSpPr/>
          <p:nvPr/>
        </p:nvSpPr>
        <p:spPr>
          <a:xfrm>
            <a:off x="3273552" y="2660904"/>
            <a:ext cx="329184" cy="329184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R3_sq447"/>
          <p:cNvSpPr/>
          <p:nvPr/>
        </p:nvSpPr>
        <p:spPr>
          <a:xfrm>
            <a:off x="3675888" y="2624328"/>
            <a:ext cx="51937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Where and when are you going to have lunch?</a:t>
            </a:r>
            <a:endParaRPr lang="en-US" sz="1100" dirty="0"/>
          </a:p>
          <a:p>
            <a:pPr indent="0" marL="0">
              <a:buNone/>
            </a:pPr>
            <a:r>
              <a:rPr lang="en-US" sz="8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e.g. At 1 o'clock – street food at Ballarò market!</a:t>
            </a:r>
            <a:endParaRPr lang="en-US" sz="1100" dirty="0"/>
          </a:p>
        </p:txBody>
      </p:sp>
      <p:sp>
        <p:nvSpPr>
          <p:cNvPr id="24" name="R4_qb448"/>
          <p:cNvSpPr/>
          <p:nvPr/>
        </p:nvSpPr>
        <p:spPr>
          <a:xfrm>
            <a:off x="3273552" y="3264408"/>
            <a:ext cx="329184" cy="329184"/>
          </a:xfrm>
          <a:prstGeom prst="ellipse">
            <a:avLst/>
          </a:prstGeom>
          <a:solidFill>
            <a:srgbClr val="F2B705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R4_sq449"/>
          <p:cNvSpPr/>
          <p:nvPr/>
        </p:nvSpPr>
        <p:spPr>
          <a:xfrm>
            <a:off x="3675888" y="3227832"/>
            <a:ext cx="51937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8575"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time are you going to leave to get back to the airport?</a:t>
            </a:r>
            <a:endParaRPr lang="en-US" sz="1100" dirty="0"/>
          </a:p>
          <a:p>
            <a:pPr indent="0" marL="0">
              <a:buNone/>
            </a:pPr>
            <a:r>
              <a:rPr lang="en-US" sz="8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e.g. At 2.15 – the train takes about an hour.</a:t>
            </a:r>
            <a:endParaRPr lang="en-US" sz="1100" dirty="0"/>
          </a:p>
        </p:txBody>
      </p:sp>
      <p:sp>
        <p:nvSpPr>
          <p:cNvPr id="26" name="R5_qb450"/>
          <p:cNvSpPr/>
          <p:nvPr/>
        </p:nvSpPr>
        <p:spPr>
          <a:xfrm>
            <a:off x="3273552" y="3867912"/>
            <a:ext cx="329184" cy="329184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5</a:t>
            </a:r>
            <a:endParaRPr lang="en-US" sz="1100" dirty="0"/>
          </a:p>
        </p:txBody>
      </p:sp>
      <p:sp>
        <p:nvSpPr>
          <p:cNvPr id="27" name="R5_sq451"/>
          <p:cNvSpPr/>
          <p:nvPr/>
        </p:nvSpPr>
        <p:spPr>
          <a:xfrm>
            <a:off x="3675888" y="3831336"/>
            <a:ext cx="51937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Present your tour. Class vote: which is the best?</a:t>
            </a:r>
            <a:endParaRPr lang="en-US" sz="1100" dirty="0"/>
          </a:p>
          <a:p>
            <a:pPr indent="0" marL="0">
              <a:buNone/>
            </a:pPr>
            <a:r>
              <a:rPr lang="en-US" sz="8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e.g. Vote: hands up!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452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16</a:t>
            </a:r>
            <a:endParaRPr lang="en-US" sz="2200" dirty="0"/>
          </a:p>
        </p:txBody>
      </p:sp>
      <p:pic>
        <p:nvPicPr>
          <p:cNvPr id="4" name="brY_453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2147011" cy="621792"/>
          </a:xfrm>
          <a:prstGeom prst="rect">
            <a:avLst/>
          </a:prstGeom>
        </p:spPr>
      </p:pic>
      <p:sp>
        <p:nvSpPr>
          <p:cNvPr id="5" name="title_454"/>
          <p:cNvSpPr/>
          <p:nvPr/>
        </p:nvSpPr>
        <p:spPr>
          <a:xfrm>
            <a:off x="1261872" y="164592"/>
            <a:ext cx="187269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 · 2 · 1</a:t>
            </a:r>
            <a:endParaRPr lang="en-US" sz="2500" dirty="0"/>
          </a:p>
        </p:txBody>
      </p:sp>
      <p:pic>
        <p:nvPicPr>
          <p:cNvPr id="6" name="brP_455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3511296" cy="402336"/>
          </a:xfrm>
          <a:prstGeom prst="rect">
            <a:avLst/>
          </a:prstGeom>
        </p:spPr>
      </p:pic>
      <p:sp>
        <p:nvSpPr>
          <p:cNvPr id="7" name="ins_456"/>
          <p:cNvSpPr/>
          <p:nvPr/>
        </p:nvSpPr>
        <p:spPr>
          <a:xfrm>
            <a:off x="1353312" y="731520"/>
            <a:ext cx="3255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Books closed! Tell your partner…</a:t>
            </a:r>
            <a:endParaRPr lang="en-US" sz="1250" dirty="0"/>
          </a:p>
        </p:txBody>
      </p:sp>
      <p:sp>
        <p:nvSpPr>
          <p:cNvPr id="8" name="insIT_457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Libri chiusi! Di' al compagno…</a:t>
            </a:r>
            <a:endParaRPr lang="en-US" sz="950" dirty="0"/>
          </a:p>
        </p:txBody>
      </p:sp>
      <p:sp>
        <p:nvSpPr>
          <p:cNvPr id="9" name="note_458"/>
          <p:cNvSpPr/>
          <p:nvPr/>
        </p:nvSpPr>
        <p:spPr>
          <a:xfrm rot="180000">
            <a:off x="6382512" y="128016"/>
            <a:ext cx="2029968" cy="74980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2 min   👥 pairs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Revision · Retrieval</a:t>
            </a:r>
            <a:endParaRPr lang="en-US" sz="1100" dirty="0"/>
          </a:p>
        </p:txBody>
      </p:sp>
      <p:pic>
        <p:nvPicPr>
          <p:cNvPr id="10" name="logo_459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460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3A · Exit · what can you remember?</a:t>
            </a:r>
            <a:endParaRPr lang="en-US" sz="800" dirty="0"/>
          </a:p>
        </p:txBody>
      </p:sp>
      <p:sp>
        <p:nvSpPr>
          <p:cNvPr id="12" name="bd_461"/>
          <p:cNvSpPr/>
          <p:nvPr/>
        </p:nvSpPr>
        <p:spPr>
          <a:xfrm>
            <a:off x="457200" y="1508760"/>
            <a:ext cx="777240" cy="777240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2600" dirty="0"/>
          </a:p>
        </p:txBody>
      </p:sp>
      <p:sp>
        <p:nvSpPr>
          <p:cNvPr id="13" name="rt_462"/>
          <p:cNvSpPr/>
          <p:nvPr/>
        </p:nvSpPr>
        <p:spPr>
          <a:xfrm>
            <a:off x="1417320" y="1581912"/>
            <a:ext cx="3931920" cy="6400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52400" tIns="0" rIns="15240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Tell me 3 places in an airport.</a:t>
            </a:r>
            <a:endParaRPr lang="en-US" sz="1400" dirty="0"/>
          </a:p>
        </p:txBody>
      </p:sp>
      <p:sp>
        <p:nvSpPr>
          <p:cNvPr id="14" name="bd_463"/>
          <p:cNvSpPr/>
          <p:nvPr/>
        </p:nvSpPr>
        <p:spPr>
          <a:xfrm>
            <a:off x="457200" y="2468880"/>
            <a:ext cx="777240" cy="777240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2600" dirty="0"/>
          </a:p>
        </p:txBody>
      </p:sp>
      <p:sp>
        <p:nvSpPr>
          <p:cNvPr id="15" name="rt_464"/>
          <p:cNvSpPr/>
          <p:nvPr/>
        </p:nvSpPr>
        <p:spPr>
          <a:xfrm>
            <a:off x="1417320" y="2542032"/>
            <a:ext cx="3931920" cy="6400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52400" tIns="0" rIns="15240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Tell me 2 words with g = /dʒ/.</a:t>
            </a:r>
            <a:endParaRPr lang="en-US" sz="1400" dirty="0"/>
          </a:p>
        </p:txBody>
      </p:sp>
      <p:sp>
        <p:nvSpPr>
          <p:cNvPr id="16" name="bd_465"/>
          <p:cNvSpPr/>
          <p:nvPr/>
        </p:nvSpPr>
        <p:spPr>
          <a:xfrm>
            <a:off x="457200" y="3429000"/>
            <a:ext cx="777240" cy="777240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2600" dirty="0"/>
          </a:p>
        </p:txBody>
      </p:sp>
      <p:sp>
        <p:nvSpPr>
          <p:cNvPr id="17" name="rt_466"/>
          <p:cNvSpPr/>
          <p:nvPr/>
        </p:nvSpPr>
        <p:spPr>
          <a:xfrm>
            <a:off x="1417320" y="3502152"/>
            <a:ext cx="3931920" cy="6400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52400" tIns="0" rIns="15240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Tell me 1 plan for this weekend and 1 prediction about tomorrow's weather.</a:t>
            </a:r>
            <a:endParaRPr lang="en-US" sz="1400" dirty="0"/>
          </a:p>
        </p:txBody>
      </p:sp>
      <p:sp>
        <p:nvSpPr>
          <p:cNvPr id="18" name="cd_467"/>
          <p:cNvSpPr/>
          <p:nvPr/>
        </p:nvSpPr>
        <p:spPr>
          <a:xfrm>
            <a:off x="5669280" y="1417320"/>
            <a:ext cx="3200400" cy="1069848"/>
          </a:xfrm>
          <a:prstGeom prst="roundRect">
            <a:avLst>
              <a:gd name="adj" fmla="val 11966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9" name="ii_468"/>
          <p:cNvSpPr/>
          <p:nvPr/>
        </p:nvSpPr>
        <p:spPr>
          <a:xfrm>
            <a:off x="576072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📝</a:t>
            </a:r>
            <a:endParaRPr lang="en-US" sz="2200" dirty="0"/>
          </a:p>
        </p:txBody>
      </p:sp>
      <p:sp>
        <p:nvSpPr>
          <p:cNvPr id="20" name="ih_469"/>
          <p:cNvSpPr/>
          <p:nvPr/>
        </p:nvSpPr>
        <p:spPr>
          <a:xfrm>
            <a:off x="6236208" y="15087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Homework · Compiti</a:t>
            </a:r>
            <a:endParaRPr lang="en-US" sz="1400" dirty="0"/>
          </a:p>
        </p:txBody>
      </p:sp>
      <p:sp>
        <p:nvSpPr>
          <p:cNvPr id="21" name="il_470"/>
          <p:cNvSpPr/>
          <p:nvPr/>
        </p:nvSpPr>
        <p:spPr>
          <a:xfrm>
            <a:off x="6236208" y="1911096"/>
            <a:ext cx="2542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Workbook 3A pp.18–19: exercises 1–3</a:t>
            </a:r>
            <a:endParaRPr lang="en-US" sz="1150" dirty="0"/>
          </a:p>
        </p:txBody>
      </p:sp>
      <p:sp>
        <p:nvSpPr>
          <p:cNvPr id="22" name="st_471"/>
          <p:cNvSpPr/>
          <p:nvPr/>
        </p:nvSpPr>
        <p:spPr>
          <a:xfrm rot="-180000">
            <a:off x="5806440" y="2715768"/>
            <a:ext cx="2926080" cy="685800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Next lesson: 3B Put it in your calendar! (SB p.24)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472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17</a:t>
            </a:r>
            <a:endParaRPr lang="en-US" sz="2200" dirty="0"/>
          </a:p>
        </p:txBody>
      </p:sp>
      <p:pic>
        <p:nvPicPr>
          <p:cNvPr id="4" name="brY_473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2304288" cy="621792"/>
          </a:xfrm>
          <a:prstGeom prst="rect">
            <a:avLst/>
          </a:prstGeom>
        </p:spPr>
      </p:pic>
      <p:sp>
        <p:nvSpPr>
          <p:cNvPr id="5" name="title_474"/>
          <p:cNvSpPr/>
          <p:nvPr/>
        </p:nvSpPr>
        <p:spPr>
          <a:xfrm>
            <a:off x="1261872" y="164592"/>
            <a:ext cx="2029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Today you…</a:t>
            </a:r>
            <a:endParaRPr lang="en-US" sz="2400" dirty="0"/>
          </a:p>
        </p:txBody>
      </p:sp>
      <p:pic>
        <p:nvPicPr>
          <p:cNvPr id="6" name="brP_475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4553712" cy="402336"/>
          </a:xfrm>
          <a:prstGeom prst="rect">
            <a:avLst/>
          </a:prstGeom>
        </p:spPr>
      </p:pic>
      <p:sp>
        <p:nvSpPr>
          <p:cNvPr id="7" name="ins_476"/>
          <p:cNvSpPr/>
          <p:nvPr/>
        </p:nvSpPr>
        <p:spPr>
          <a:xfrm>
            <a:off x="1353312" y="731520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Can you do it now? Thumbs up or thumbs down!</a:t>
            </a:r>
            <a:endParaRPr lang="en-US" sz="1250" dirty="0"/>
          </a:p>
        </p:txBody>
      </p:sp>
      <p:sp>
        <p:nvSpPr>
          <p:cNvPr id="8" name="insIT_477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Ora sai farlo? Pollice su o pollice giù!</a:t>
            </a:r>
            <a:endParaRPr lang="en-US" sz="950" dirty="0"/>
          </a:p>
        </p:txBody>
      </p:sp>
      <p:sp>
        <p:nvSpPr>
          <p:cNvPr id="9" name="note_478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💡 THINK</a:t>
            </a:r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· PENSA</a:t>
            </a:r>
            <a:endParaRPr lang="en-US" sz="12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1 min   🙋 whole class</a:t>
            </a:r>
            <a:endParaRPr lang="en-US" sz="12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Revision · Reflection</a:t>
            </a:r>
            <a:endParaRPr lang="en-US" sz="1250" dirty="0"/>
          </a:p>
        </p:txBody>
      </p:sp>
      <p:pic>
        <p:nvPicPr>
          <p:cNvPr id="10" name="logo_479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480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3A · Review · what did you do today?</a:t>
            </a:r>
            <a:endParaRPr lang="en-US" sz="800" dirty="0"/>
          </a:p>
        </p:txBody>
      </p:sp>
      <p:sp>
        <p:nvSpPr>
          <p:cNvPr id="12" name="cd_481"/>
          <p:cNvSpPr/>
          <p:nvPr/>
        </p:nvSpPr>
        <p:spPr>
          <a:xfrm>
            <a:off x="548640" y="1417320"/>
            <a:ext cx="6035040" cy="530352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28575">
            <a:solidFill>
              <a:srgbClr val="F7A6C4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3" name="te_482"/>
          <p:cNvSpPr/>
          <p:nvPr/>
        </p:nvSpPr>
        <p:spPr>
          <a:xfrm>
            <a:off x="640080" y="14538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✈️</a:t>
            </a:r>
            <a:endParaRPr lang="en-US" sz="1800" dirty="0"/>
          </a:p>
        </p:txBody>
      </p:sp>
      <p:sp>
        <p:nvSpPr>
          <p:cNvPr id="14" name="tt_483"/>
          <p:cNvSpPr/>
          <p:nvPr/>
        </p:nvSpPr>
        <p:spPr>
          <a:xfrm>
            <a:off x="1188720" y="1417320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Learnt 12 airport words and signs</a:t>
            </a:r>
            <a:endParaRPr lang="en-US" sz="1350" dirty="0"/>
          </a:p>
        </p:txBody>
      </p:sp>
      <p:sp>
        <p:nvSpPr>
          <p:cNvPr id="15" name="R1_tk484"/>
          <p:cNvSpPr/>
          <p:nvPr/>
        </p:nvSpPr>
        <p:spPr>
          <a:xfrm>
            <a:off x="5989320" y="145389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16" name="cd_485"/>
          <p:cNvSpPr/>
          <p:nvPr/>
        </p:nvSpPr>
        <p:spPr>
          <a:xfrm>
            <a:off x="548640" y="2020824"/>
            <a:ext cx="6035040" cy="530352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28575">
            <a:solidFill>
              <a:srgbClr val="A9D3F5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7" name="te_486"/>
          <p:cNvSpPr/>
          <p:nvPr/>
        </p:nvSpPr>
        <p:spPr>
          <a:xfrm>
            <a:off x="64008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🔤</a:t>
            </a:r>
            <a:endParaRPr lang="en-US" sz="1800" dirty="0"/>
          </a:p>
        </p:txBody>
      </p:sp>
      <p:sp>
        <p:nvSpPr>
          <p:cNvPr id="18" name="tt_487"/>
          <p:cNvSpPr/>
          <p:nvPr/>
        </p:nvSpPr>
        <p:spPr>
          <a:xfrm>
            <a:off x="1188720" y="2020824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Said the letter g: girl or jazz?</a:t>
            </a:r>
            <a:endParaRPr lang="en-US" sz="1350" dirty="0"/>
          </a:p>
        </p:txBody>
      </p:sp>
      <p:sp>
        <p:nvSpPr>
          <p:cNvPr id="19" name="R2_tk488"/>
          <p:cNvSpPr/>
          <p:nvPr/>
        </p:nvSpPr>
        <p:spPr>
          <a:xfrm>
            <a:off x="5989320" y="205740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20" name="cd_489"/>
          <p:cNvSpPr/>
          <p:nvPr/>
        </p:nvSpPr>
        <p:spPr>
          <a:xfrm>
            <a:off x="548640" y="2624328"/>
            <a:ext cx="6035040" cy="530352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28575">
            <a:solidFill>
              <a:srgbClr val="A8E5BE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1" name="te_490"/>
          <p:cNvSpPr/>
          <p:nvPr/>
        </p:nvSpPr>
        <p:spPr>
          <a:xfrm>
            <a:off x="640080" y="26609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📖</a:t>
            </a:r>
            <a:endParaRPr lang="en-US" sz="1800" dirty="0"/>
          </a:p>
        </p:txBody>
      </p:sp>
      <p:sp>
        <p:nvSpPr>
          <p:cNvPr id="22" name="tt_491"/>
          <p:cNvSpPr/>
          <p:nvPr/>
        </p:nvSpPr>
        <p:spPr>
          <a:xfrm>
            <a:off x="1188720" y="2624328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Read about stopover tours</a:t>
            </a:r>
            <a:endParaRPr lang="en-US" sz="1350" dirty="0"/>
          </a:p>
        </p:txBody>
      </p:sp>
      <p:sp>
        <p:nvSpPr>
          <p:cNvPr id="23" name="R3_tk492"/>
          <p:cNvSpPr/>
          <p:nvPr/>
        </p:nvSpPr>
        <p:spPr>
          <a:xfrm>
            <a:off x="5989320" y="266090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24" name="cd_493"/>
          <p:cNvSpPr/>
          <p:nvPr/>
        </p:nvSpPr>
        <p:spPr>
          <a:xfrm>
            <a:off x="548640" y="3227832"/>
            <a:ext cx="6035040" cy="530352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28575">
            <a:solidFill>
              <a:srgbClr val="FFE07A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5" name="te_494"/>
          <p:cNvSpPr/>
          <p:nvPr/>
        </p:nvSpPr>
        <p:spPr>
          <a:xfrm>
            <a:off x="640080" y="3264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🔮</a:t>
            </a:r>
            <a:endParaRPr lang="en-US" sz="1800" dirty="0"/>
          </a:p>
        </p:txBody>
      </p:sp>
      <p:sp>
        <p:nvSpPr>
          <p:cNvPr id="26" name="tt_495"/>
          <p:cNvSpPr/>
          <p:nvPr/>
        </p:nvSpPr>
        <p:spPr>
          <a:xfrm>
            <a:off x="1188720" y="3227832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Practised be going to: plans and predictions</a:t>
            </a:r>
            <a:endParaRPr lang="en-US" sz="1350" dirty="0"/>
          </a:p>
        </p:txBody>
      </p:sp>
      <p:sp>
        <p:nvSpPr>
          <p:cNvPr id="27" name="R4_tk496"/>
          <p:cNvSpPr/>
          <p:nvPr/>
        </p:nvSpPr>
        <p:spPr>
          <a:xfrm>
            <a:off x="5989320" y="326440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28" name="cd_497"/>
          <p:cNvSpPr/>
          <p:nvPr/>
        </p:nvSpPr>
        <p:spPr>
          <a:xfrm>
            <a:off x="548640" y="3831336"/>
            <a:ext cx="6035040" cy="530352"/>
          </a:xfrm>
          <a:prstGeom prst="roundRect">
            <a:avLst>
              <a:gd name="adj" fmla="val 24138"/>
            </a:avLst>
          </a:prstGeom>
          <a:solidFill>
            <a:srgbClr val="FFFFFF"/>
          </a:solidFill>
          <a:ln w="28575">
            <a:solidFill>
              <a:srgbClr val="F7A6C4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29" name="te_498"/>
          <p:cNvSpPr/>
          <p:nvPr/>
        </p:nvSpPr>
        <p:spPr>
          <a:xfrm>
            <a:off x="640080" y="3867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🗺️</a:t>
            </a:r>
            <a:endParaRPr lang="en-US" sz="1800" dirty="0"/>
          </a:p>
        </p:txBody>
      </p:sp>
      <p:sp>
        <p:nvSpPr>
          <p:cNvPr id="30" name="tt_499"/>
          <p:cNvSpPr/>
          <p:nvPr/>
        </p:nvSpPr>
        <p:spPr>
          <a:xfrm>
            <a:off x="1188720" y="3831336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Planned a tour from Palermo airport</a:t>
            </a:r>
            <a:endParaRPr lang="en-US" sz="1350" dirty="0"/>
          </a:p>
        </p:txBody>
      </p:sp>
      <p:sp>
        <p:nvSpPr>
          <p:cNvPr id="31" name="R5_tk500"/>
          <p:cNvSpPr/>
          <p:nvPr/>
        </p:nvSpPr>
        <p:spPr>
          <a:xfrm>
            <a:off x="5989320" y="386791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32" name="st_501"/>
          <p:cNvSpPr/>
          <p:nvPr/>
        </p:nvSpPr>
        <p:spPr>
          <a:xfrm rot="180000">
            <a:off x="6949440" y="1691640"/>
            <a:ext cx="1828800" cy="1188720"/>
          </a:xfrm>
          <a:prstGeom prst="rect">
            <a:avLst/>
          </a:prstGeom>
          <a:solidFill>
            <a:srgbClr val="FFE07A"/>
          </a:solidFill>
          <a:ln>
            <a:solidFill>
              <a:srgbClr val="FFE07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👍  👌  👎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Can you do it now?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Ora sai farlo?</a:t>
            </a:r>
            <a:endParaRPr lang="en-US" sz="13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v_502"/>
          <p:cNvSpPr/>
          <p:nvPr/>
        </p:nvSpPr>
        <p:spPr>
          <a:xfrm>
            <a:off x="4023360" y="91440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dirty="0">
                <a:solidFill>
                  <a:srgbClr val="000000"/>
                </a:solidFill>
              </a:rPr>
              <a:t>⭐</a:t>
            </a:r>
            <a:endParaRPr lang="en-US" sz="5400" dirty="0"/>
          </a:p>
        </p:txBody>
      </p:sp>
      <p:sp>
        <p:nvSpPr>
          <p:cNvPr id="4" name="dvt_503"/>
          <p:cNvSpPr/>
          <p:nvPr/>
        </p:nvSpPr>
        <p:spPr>
          <a:xfrm>
            <a:off x="914400" y="18288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Optional extensions</a:t>
            </a:r>
            <a:endParaRPr lang="en-US" sz="3400" dirty="0"/>
          </a:p>
        </p:txBody>
      </p:sp>
      <p:sp>
        <p:nvSpPr>
          <p:cNvPr id="5" name="dvs_504"/>
          <p:cNvSpPr/>
          <p:nvPr/>
        </p:nvSpPr>
        <p:spPr>
          <a:xfrm>
            <a:off x="914400" y="2606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Only if there's time – the lesson is finished. · Solo se c'è tempo – la lezione è finita.</a:t>
            </a:r>
            <a:endParaRPr lang="en-US" sz="1250" dirty="0"/>
          </a:p>
        </p:txBody>
      </p:sp>
      <p:pic>
        <p:nvPicPr>
          <p:cNvPr id="6" name="logo_505" descr="/home/claude/lls-course/v2/img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5632" y="4526280"/>
            <a:ext cx="502920" cy="502920"/>
          </a:xfrm>
          <a:prstGeom prst="rect">
            <a:avLst/>
          </a:prstGeom>
        </p:spPr>
      </p:pic>
    </p:spTree>
  </p:cSld>
  <p:clrMapOvr>
    <a:masterClrMapping/>
  </p:clrMapOvr>
  <p:transition spd="med">
    <p:push dir="l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d_506"/>
          <p:cNvSpPr/>
          <p:nvPr/>
        </p:nvSpPr>
        <p:spPr>
          <a:xfrm>
            <a:off x="201168" y="164592"/>
            <a:ext cx="841248" cy="841248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19</a:t>
            </a:r>
            <a:endParaRPr lang="en-US" sz="2200" dirty="0"/>
          </a:p>
        </p:txBody>
      </p:sp>
      <p:pic>
        <p:nvPicPr>
          <p:cNvPr id="4" name="brY_507" descr="/home/claude/lls-course/v2/assets/brush-yel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6304"/>
            <a:ext cx="2933395" cy="621792"/>
          </a:xfrm>
          <a:prstGeom prst="rect">
            <a:avLst/>
          </a:prstGeom>
        </p:spPr>
      </p:pic>
      <p:sp>
        <p:nvSpPr>
          <p:cNvPr id="5" name="title_508"/>
          <p:cNvSpPr/>
          <p:nvPr/>
        </p:nvSpPr>
        <p:spPr>
          <a:xfrm>
            <a:off x="1261872" y="164592"/>
            <a:ext cx="26590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Long stopovers</a:t>
            </a:r>
            <a:endParaRPr lang="en-US" sz="2500" dirty="0"/>
          </a:p>
        </p:txBody>
      </p:sp>
      <p:pic>
        <p:nvPicPr>
          <p:cNvPr id="6" name="brP_509" descr="/home/claude/lls-course/v2/assets/brush-p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731520"/>
            <a:ext cx="5257800" cy="402336"/>
          </a:xfrm>
          <a:prstGeom prst="rect">
            <a:avLst/>
          </a:prstGeom>
        </p:spPr>
      </p:pic>
      <p:sp>
        <p:nvSpPr>
          <p:cNvPr id="7" name="ins_510"/>
          <p:cNvSpPr/>
          <p:nvPr/>
        </p:nvSpPr>
        <p:spPr>
          <a:xfrm>
            <a:off x="1353312" y="731520"/>
            <a:ext cx="5001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i="1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Have you ever had a long stopover? Tell your partner.</a:t>
            </a:r>
            <a:endParaRPr lang="en-US" sz="1250" dirty="0"/>
          </a:p>
        </p:txBody>
      </p:sp>
      <p:sp>
        <p:nvSpPr>
          <p:cNvPr id="8" name="insIT_511"/>
          <p:cNvSpPr/>
          <p:nvPr/>
        </p:nvSpPr>
        <p:spPr>
          <a:xfrm>
            <a:off x="1371600" y="111556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Hai mai fatto un lungo scalo? Raccontalo al compagno.</a:t>
            </a:r>
            <a:endParaRPr lang="en-US" sz="950" dirty="0"/>
          </a:p>
        </p:txBody>
      </p:sp>
      <p:sp>
        <p:nvSpPr>
          <p:cNvPr id="9" name="note_512"/>
          <p:cNvSpPr/>
          <p:nvPr/>
        </p:nvSpPr>
        <p:spPr>
          <a:xfrm rot="180000">
            <a:off x="6382512" y="128016"/>
            <a:ext cx="2029968" cy="1024128"/>
          </a:xfrm>
          <a:prstGeom prst="rect">
            <a:avLst/>
          </a:prstGeom>
          <a:solidFill>
            <a:srgbClr val="FFC2DA"/>
          </a:solidFill>
          <a:ln>
            <a:solidFill>
              <a:srgbClr val="FFC2DA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50800" tIns="50800" rIns="50800" bIns="5080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💬 TALK</a:t>
            </a:r>
            <a:pPr algn="ctr" indent="0" marL="0">
              <a:buNone/>
            </a:pPr>
            <a:r>
              <a:rPr lang="en-US" sz="125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· PARLA</a:t>
            </a:r>
            <a:endParaRPr lang="en-US" sz="12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⏱ 3 min   👥 pairs</a:t>
            </a:r>
            <a:endParaRPr lang="en-US" sz="12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🎯 Speaking · Communicative</a:t>
            </a:r>
            <a:endParaRPr lang="en-US" sz="1250" dirty="0"/>
          </a:p>
        </p:txBody>
      </p:sp>
      <p:pic>
        <p:nvPicPr>
          <p:cNvPr id="10" name="logo_513" descr="/home/claude/lls-course/v2/img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28016"/>
            <a:ext cx="502920" cy="502920"/>
          </a:xfrm>
          <a:prstGeom prst="rect">
            <a:avLst/>
          </a:prstGeom>
        </p:spPr>
      </p:pic>
      <p:sp>
        <p:nvSpPr>
          <p:cNvPr id="11" name="foot_514"/>
          <p:cNvSpPr/>
          <p:nvPr/>
        </p:nvSpPr>
        <p:spPr>
          <a:xfrm>
            <a:off x="274320" y="4873752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3A · Speaking · stopovers   ·   📖 SB p.23 · 3f</a:t>
            </a:r>
            <a:endParaRPr lang="en-US" sz="800" dirty="0"/>
          </a:p>
        </p:txBody>
      </p:sp>
      <p:sp>
        <p:nvSpPr>
          <p:cNvPr id="12" name="ext_515"/>
          <p:cNvSpPr/>
          <p:nvPr/>
        </p:nvSpPr>
        <p:spPr>
          <a:xfrm>
            <a:off x="5120640" y="4727448"/>
            <a:ext cx="3291840" cy="310896"/>
          </a:xfrm>
          <a:prstGeom prst="roundRect">
            <a:avLst>
              <a:gd name="adj" fmla="val 50000"/>
            </a:avLst>
          </a:prstGeom>
          <a:solidFill>
            <a:srgbClr val="EEE8FB"/>
          </a:solidFill>
          <a:ln w="28575">
            <a:solidFill>
              <a:srgbClr val="CDBFF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B5CD6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⭐ OPTIONAL EXTENSION · only if there's time</a:t>
            </a:r>
            <a:endParaRPr lang="en-US" sz="1050" dirty="0"/>
          </a:p>
        </p:txBody>
      </p:sp>
      <p:sp>
        <p:nvSpPr>
          <p:cNvPr id="13" name="cd_516"/>
          <p:cNvSpPr/>
          <p:nvPr/>
        </p:nvSpPr>
        <p:spPr>
          <a:xfrm>
            <a:off x="320040" y="1417320"/>
            <a:ext cx="2788920" cy="1952752"/>
          </a:xfrm>
          <a:prstGeom prst="roundRect">
            <a:avLst>
              <a:gd name="adj" fmla="val 6556"/>
            </a:avLst>
          </a:prstGeom>
          <a:solidFill>
            <a:srgbClr val="EEE8FB"/>
          </a:solidFill>
          <a:ln w="28575">
            <a:solidFill>
              <a:srgbClr val="CDBFF3"/>
            </a:solidFill>
            <a:prstDash val="solid"/>
          </a:ln>
          <a:effectLst>
            <a:outerShdw sx="100000" sy="100000" kx="0" ky="0" algn="bl" rotWithShape="0" blurRad="88900" dist="31750" dir="5400000">
              <a:srgbClr val="1B2559">
                <a:alpha val="12000"/>
              </a:srgbClr>
            </a:outerShdw>
          </a:effectLst>
        </p:spPr>
      </p:sp>
      <p:sp>
        <p:nvSpPr>
          <p:cNvPr id="14" name="ii_517"/>
          <p:cNvSpPr/>
          <p:nvPr/>
        </p:nvSpPr>
        <p:spPr>
          <a:xfrm>
            <a:off x="411480" y="1490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15" name="ih_518"/>
          <p:cNvSpPr/>
          <p:nvPr/>
        </p:nvSpPr>
        <p:spPr>
          <a:xfrm>
            <a:off x="886968" y="15087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59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Useful phrases</a:t>
            </a:r>
            <a:endParaRPr lang="en-US" sz="1300" dirty="0"/>
          </a:p>
        </p:txBody>
      </p:sp>
      <p:sp>
        <p:nvSpPr>
          <p:cNvPr id="16" name="il_519"/>
          <p:cNvSpPr/>
          <p:nvPr/>
        </p:nvSpPr>
        <p:spPr>
          <a:xfrm>
            <a:off x="886968" y="1911096"/>
            <a:ext cx="2130552" cy="13858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Yes, I had a 6-hour stopover in…</a:t>
            </a:r>
            <a:endParaRPr lang="en-US" sz="115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 was so bored!</a:t>
            </a:r>
            <a:endParaRPr lang="en-US" sz="115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 went to… / I slept on…</a:t>
            </a:r>
            <a:endParaRPr lang="en-US" sz="1150" dirty="0"/>
          </a:p>
          <a:p>
            <a:pPr marL="152400" indent="-152400">
              <a:spcBef>
                <a:spcPts val="600"/>
              </a:spcBef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No, never – but…</a:t>
            </a:r>
            <a:endParaRPr lang="en-US" sz="1150" dirty="0"/>
          </a:p>
        </p:txBody>
      </p:sp>
      <p:sp>
        <p:nvSpPr>
          <p:cNvPr id="17" name="R1_qb520"/>
          <p:cNvSpPr/>
          <p:nvPr/>
        </p:nvSpPr>
        <p:spPr>
          <a:xfrm>
            <a:off x="3273552" y="1453896"/>
            <a:ext cx="329184" cy="329184"/>
          </a:xfrm>
          <a:prstGeom prst="ellipse">
            <a:avLst/>
          </a:prstGeom>
          <a:solidFill>
            <a:srgbClr val="E8508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1</a:t>
            </a:r>
            <a:endParaRPr lang="en-US" sz="1100" dirty="0"/>
          </a:p>
        </p:txBody>
      </p:sp>
      <p:sp>
        <p:nvSpPr>
          <p:cNvPr id="18" name="R1_sq521"/>
          <p:cNvSpPr/>
          <p:nvPr/>
        </p:nvSpPr>
        <p:spPr>
          <a:xfrm>
            <a:off x="3675888" y="1417320"/>
            <a:ext cx="51937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8575">
            <a:solidFill>
              <a:srgbClr val="F7A6C4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Have you ever had a long stopover at an airport?</a:t>
            </a:r>
            <a:endParaRPr lang="en-US" sz="1200" dirty="0"/>
          </a:p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e.g. Yes – eight hours in Frankfurt!</a:t>
            </a:r>
            <a:endParaRPr lang="en-US" sz="1200" dirty="0"/>
          </a:p>
        </p:txBody>
      </p:sp>
      <p:sp>
        <p:nvSpPr>
          <p:cNvPr id="19" name="R2_qb522"/>
          <p:cNvSpPr/>
          <p:nvPr/>
        </p:nvSpPr>
        <p:spPr>
          <a:xfrm>
            <a:off x="3273552" y="2057400"/>
            <a:ext cx="329184" cy="329184"/>
          </a:xfrm>
          <a:prstGeom prst="ellipse">
            <a:avLst/>
          </a:prstGeom>
          <a:solidFill>
            <a:srgbClr val="2F8DE4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2</a:t>
            </a:r>
            <a:endParaRPr lang="en-US" sz="1100" dirty="0"/>
          </a:p>
        </p:txBody>
      </p:sp>
      <p:sp>
        <p:nvSpPr>
          <p:cNvPr id="20" name="R2_sq523"/>
          <p:cNvSpPr/>
          <p:nvPr/>
        </p:nvSpPr>
        <p:spPr>
          <a:xfrm>
            <a:off x="3675888" y="2020824"/>
            <a:ext cx="51937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8575">
            <a:solidFill>
              <a:srgbClr val="A9D3F5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Where were you? What did you do?</a:t>
            </a:r>
            <a:endParaRPr lang="en-US" sz="1200" dirty="0"/>
          </a:p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e.g. I walked around the duty-free shops and slept on a bench.</a:t>
            </a:r>
            <a:endParaRPr lang="en-US" sz="1200" dirty="0"/>
          </a:p>
        </p:txBody>
      </p:sp>
      <p:sp>
        <p:nvSpPr>
          <p:cNvPr id="21" name="R3_qb524"/>
          <p:cNvSpPr/>
          <p:nvPr/>
        </p:nvSpPr>
        <p:spPr>
          <a:xfrm>
            <a:off x="3273552" y="2660904"/>
            <a:ext cx="329184" cy="329184"/>
          </a:xfrm>
          <a:prstGeom prst="ellipse">
            <a:avLst/>
          </a:prstGeom>
          <a:solidFill>
            <a:srgbClr val="2EB872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1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R3_sq525"/>
          <p:cNvSpPr/>
          <p:nvPr/>
        </p:nvSpPr>
        <p:spPr>
          <a:xfrm>
            <a:off x="3675888" y="2624328"/>
            <a:ext cx="5193792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28575">
            <a:solidFill>
              <a:srgbClr val="A8E5BE"/>
            </a:solidFill>
          </a:ln>
          <a:effectLst>
            <a:outerShdw sx="100000" sy="100000" kx="0" ky="0" algn="bl" rotWithShape="0" blurRad="88900" dist="31750" dir="5400000">
              <a:srgbClr val="1B2559">
                <a:alpha val="8000"/>
              </a:srgbClr>
            </a:outerShdw>
          </a:effectLst>
        </p:spPr>
        <p:txBody>
          <a:bodyPr wrap="square" lIns="127000" tIns="25400" rIns="127000" bIns="2540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B255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Would you book a TripAside tour? Why? / Why not?</a:t>
            </a:r>
            <a:endParaRPr lang="en-US" sz="1200" dirty="0"/>
          </a:p>
          <a:p>
            <a:pPr indent="0" marL="0">
              <a:buNone/>
            </a:pPr>
            <a:r>
              <a:rPr lang="en-US" sz="950" i="1" dirty="0">
                <a:solidFill>
                  <a:srgbClr val="5B678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e.g. Yes – but I'd be terrified of missing my flight!</a:t>
            </a:r>
            <a:endParaRPr lang="en-US" sz="12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3A TripAside</dc:title>
  <dc:subject>PptxGenJS Presentation</dc:subject>
  <dc:creator>PptxGenJS</dc:creator>
  <cp:lastModifiedBy>PptxGenJS</cp:lastModifiedBy>
  <cp:revision>1</cp:revision>
  <dcterms:created xsi:type="dcterms:W3CDTF">2026-10-22T09:39:41Z</dcterms:created>
  <dcterms:modified xsi:type="dcterms:W3CDTF">2026-10-22T09:39:41Z</dcterms:modified>
</cp:coreProperties>
</file>