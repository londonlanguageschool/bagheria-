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SB 1a. TG lead-in: bands with colours (Green Day, Black Sabbath, Red Hot Chili Peppers, Black Eyed Peas, The White Stripes, Deep Purple, Pink) → 'today's story has a song by Pink'.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Grammar · time sequencers (the story) (4 min)
STORY (6 min). Gap 1 is the example. No audio 2.16: after they finish, YOU read the story aloud as the 'listen and check' (voices for Hannah, Jamie, the DJ!). One click per gap. Key (TG): 2 When 3 The next day (4–6 next slide). Stop at 'the brake…' – don't say what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Grammar · time sequencers (the story) (3 min)
STORY PART 2 (3 min). Key (TG): 4 After that 5 One afternoon in October 6 Suddenly. (STORY (6 min) – Gap 1 is the example. No audio 2.16: after they finish, YOU read the story aloud as the 'listen and check' (voices for Hannah, Jamie, the DJ!). One click per gap. Key (TG): 2 When 3 The next day 4 After that 5 One afternoon in October 6 Suddenly. Stop at 'the brake…' – don't say what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Reading · detail (5 min)
DETAIL (5 min). Pairs answer (TG extra challenge: from memory!). Go back to the story slide if they need it. One click per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Grammar · connectors (3 min)
CONNECTORS (3 min). Key (TG): 1 because 2 Although 3 so. Drill: so /səʊ/, because /bɪˈkɒz/, although /ɔːlˈðəʊ/. TG: comma before so, although, 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Grammar Bank 2C · the rule (3 min)
RULE (3 min). Click once per column. TG: 'though' = informal, not at the start – learn although. 'so' also = very (so tired) – different meaning. GB exercises p.129: a 2G 3B 4E 5A 6F 7H 8D · b see TG (1 Although it was very cold, she wasn't wearing a coat… 9 Although the team played well, they didn't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Game · connectors (4 min)
CONNECT IT (4 min). Item 1 is the example. Sentences = GB 2C exercise b (TG key). Accept other correct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Grammar · personalise (4 min)
YOUR ENDINGS (4 min). SB 1f. Students write, then compare. Board 3–4 of the funniest.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Pronunciation · word stress (3 min)
WORD STRESS (3 min). Box: ~80% of two-syllable words are stressed on the 1st syllable (nouns, adjectives, adverbs); many verbs, prepositions and connectors on the 2nd (arrive, behind, before). Click: the answer. 2c: pairs write a sentence with 2+ of the words ('After dinner, we walked home across the 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Vocabulary · verb phrases (4 min)
VERB PHRASES (4 min). Read only the phrase (in a coffee bar…) and let students say the verb, THEN click. 3b: cover the verbs and remember them (TG extra idea: say 'in a coffee bar' → 'meet in a coffee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Speaking · retell (5 min)
RETELL (5 min). SB 3d – in the first person, with connectors and verb phrases. A covers the text and tells photos A–C as Jamie; B checks with the story slide. Then swap (D–F as Hannah). Click: the book's model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Video listening · two endings (8 min)
VIDEO (8 min). Show of hands, then play the book video (Online Practice / Class DVD) – or READ the script. Then the Communication questions (next slides).
HAPPY (2.21): She stopped just in time. She got out and shouted: 'Don't you usually look before you cross the road?' – 'Sorry! Hey, Hannah, it's me. It's Jamie.' – 'What are you doing here? I nearly killed you!' – 'I was buying something. I was in a hurry and I crossed the road without looking.' They drove to the coffee bar and ordered two cappuccinos. 'What were you doing in the high street?' – 'I went to the theatre to buy these tickets for the Pink concert. It's on the fifteenth of October – next Saturday. Our anniversary. Three months since we first met. We met on Saturday the fifteenth of July.' – 'I can't believe you remember the exact day! What a romantic!'
SAD (2.22): Although Hannah tried to stop, she couldn't. She hit the man. Hannah panicked. She drove away as fast as she could. At the coffee bar, Jamie wasn't there. She called him, but his phone was turned off. She waited ten minutes and went home. Two hours later a policewoman knocked at the door. 'Are you a friend of Jamie Dixon? I'm afraid I have some bad news. Jamie had an accident this evening. He was crossing the road in the high street, by the theatre, and a car hit him. He's in hospital: a bad injury to his head and two broken legs. He's in intensive care. The driver didn't stop. It was a woman in a black car. Somebody saw the number. You have a black car outside, don't you, Madam? Is your number plate GY56 RZR? … Can you tell me where you were at twenty-five past five this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Communication · Happy ending (p.103) (4 min)
HAPPY ENDING (4 min) – only if the class chose it. Key (TG). Skip this slide if you watched the sad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Communication · Sad ending (p.109) (4 min)
SAD ENDING (4 min) – only if the class chose it. Key (TG; Q7 in the TG key says 'white' – the script says a black car: go with the script). Skip if you watched the happy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Exit · what can you remember? (2 min)
EXIT (2 min). Pairs, books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Pre-intermediate · SB pp.18–19</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2C</a:t>
            </a:r>
            <a:endParaRPr lang="en-US" sz="28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One dark October evening</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Time sequencers and connectors · verb phrases</a:t>
            </a:r>
            <a:endParaRPr lang="en-US" sz="10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a love story with a twist</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use after that, suddenly, so, because, although</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find the stress in two-syllable words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watch a happy or a sad ending</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retell the story as Hannah or Jamie</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 think it's a love story – but something bad happens in the car…</a:t>
            </a:r>
            <a:endParaRPr lang="en-US" sz="1000" dirty="0"/>
          </a:p>
        </p:txBody>
      </p:sp>
      <p:sp>
        <p:nvSpPr>
          <p:cNvPr id="14" name="pf_12"/>
          <p:cNvSpPr/>
          <p:nvPr/>
        </p:nvSpPr>
        <p:spPr>
          <a:xfrm rot="90000">
            <a:off x="4846320" y="1399032"/>
            <a:ext cx="3977640" cy="1956816"/>
          </a:xfrm>
          <a:prstGeom prst="roundRect">
            <a:avLst>
              <a:gd name="adj" fmla="val 794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a2_2c_p6_car_jpg_935x449_31.png">    </p:cNvPr>
          <p:cNvPicPr>
            <a:picLocks noChangeAspect="1"/>
          </p:cNvPicPr>
          <p:nvPr/>
        </p:nvPicPr>
        <p:blipFill>
          <a:blip r:embed="rId4"/>
          <a:stretch>
            <a:fillRect/>
          </a:stretch>
        </p:blipFill>
        <p:spPr>
          <a:xfrm rot="90000">
            <a:off x="4892040" y="1444752"/>
            <a:ext cx="3886200" cy="1865376"/>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Look at the title and the photos. What do you think the story is about?</a:t>
            </a:r>
            <a:endParaRPr lang="en-US" sz="15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5135270" cy="621792"/>
          </a:xfrm>
          <a:prstGeom prst="rect">
            <a:avLst/>
          </a:prstGeom>
        </p:spPr>
      </p:pic>
      <p:sp>
        <p:nvSpPr>
          <p:cNvPr id="5" name="title_19"/>
          <p:cNvSpPr/>
          <p:nvPr/>
        </p:nvSpPr>
        <p:spPr>
          <a:xfrm>
            <a:off x="1261872" y="164592"/>
            <a:ext cx="486095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One dark October evening (1)</a:t>
            </a:r>
            <a:endParaRPr lang="en-US" sz="25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Read the story. Complete it with a word or phrase from the box.</a:t>
            </a:r>
            <a:endParaRPr lang="en-US" sz="110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storia. Completala con una parola o frase del riquadro.</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Reading · text order</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Grammar · time sequencers (the story)   ·   📖 SB p.18 · 1b (the story is on the slide · TG key 2.16)</a:t>
            </a:r>
            <a:endParaRPr lang="en-US" sz="800" dirty="0"/>
          </a:p>
        </p:txBody>
      </p:sp>
      <p:sp>
        <p:nvSpPr>
          <p:cNvPr id="12" name="cd_26"/>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27"/>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One dark October evening</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Hannah met Jamie last summer. It was Hannah's birthday and she and her friends went to a club. They wanted to dance, but they didn't like the music, so Hannah went to speak to the DJ. 'This music is awful,' she said. 'Could you play something else?' The DJ looked at her and said, 'Don't worry, I have the perfect song for you.'</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t>
            </a:r>
            <a:pPr indent="0" marL="0">
              <a:lnSpc>
                <a:spcPct val="105000"/>
              </a:lnSpc>
              <a:spcAft>
                <a:spcPts val="700"/>
              </a:spcAft>
              <a:buNone/>
            </a:pPr>
            <a:r>
              <a:rPr lang="en-US" sz="1000" b="1" dirty="0">
                <a:solidFill>
                  <a:srgbClr val="7B5CD6"/>
                </a:solidFill>
                <a:highlight>
                  <a:srgbClr val="EEE8FB"/>
                </a:highlight>
                <a:latin typeface="Georgia" pitchFamily="34" charset="0"/>
                <a:ea typeface="Georgia" pitchFamily="34" charset="-122"/>
                <a:cs typeface="Georgia" pitchFamily="34" charset="-120"/>
              </a:rPr>
              <a:t> (1) Two minutes later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he said, 'The next song is by Pink. It's called Get the Party Started and it's for a beautiful girl over there who's wearing a pink dress.' Hannah knew that the song was for her.</a:t>
            </a:r>
            <a:endParaRPr lang="en-US" sz="1000" dirty="0"/>
          </a:p>
          <a:p>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Hannah and her friends left the club, the DJ was waiting for her at the door. 'Hi, I'm Jamie,' he said to Hannah. 'Can I see you again?' So Hannah gave him her phone number.</a:t>
            </a:r>
            <a:endParaRPr lang="en-US" sz="1000" dirty="0"/>
          </a:p>
          <a:p>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Jamie phoned Hannah and invited her to dinner. He took her to a very romantic French restaurant and they talked all evening. Although the food wasn't very good, they had a wonderful time.</a:t>
            </a:r>
            <a:endParaRPr lang="en-US" sz="1000" dirty="0"/>
          </a:p>
        </p:txBody>
      </p:sp>
      <p:sp>
        <p:nvSpPr>
          <p:cNvPr id="14" name="R1_rdA28"/>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One dark October evening</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Hannah met Jamie last summer. It was Hannah's birthday and she and her friends went to a club. They wanted to dance, but they didn't like the music, so Hannah went to speak to the DJ. 'This music is awful,' she said. 'Could you play something else?' The DJ looked at her and said, 'Don't worry, I have the perfect song for you.'</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t>
            </a:r>
            <a:pPr indent="0" marL="0">
              <a:lnSpc>
                <a:spcPct val="105000"/>
              </a:lnSpc>
              <a:spcAft>
                <a:spcPts val="700"/>
              </a:spcAft>
              <a:buNone/>
            </a:pPr>
            <a:r>
              <a:rPr lang="en-US" sz="1000" b="1" dirty="0">
                <a:solidFill>
                  <a:srgbClr val="7B5CD6"/>
                </a:solidFill>
                <a:highlight>
                  <a:srgbClr val="EEE8FB"/>
                </a:highlight>
                <a:latin typeface="Georgia" pitchFamily="34" charset="0"/>
                <a:ea typeface="Georgia" pitchFamily="34" charset="-122"/>
                <a:cs typeface="Georgia" pitchFamily="34" charset="-120"/>
              </a:rPr>
              <a:t> (1) Two minutes later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he said, 'The next song is by Pink. It's called Get the Party Started and it's for a beautiful girl over there who's wearing a pink dress.' Hannah knew that the song was for her.</a:t>
            </a:r>
            <a:endParaRPr lang="en-US" sz="1000" dirty="0"/>
          </a:p>
          <a:p>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(2) When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Hannah and her friends left the club, the DJ was waiting for her at the door. 'Hi, I'm Jamie,' he said to Hannah. 'Can I see you again?' So Hannah gave him her phone number.</a:t>
            </a:r>
            <a:endParaRPr lang="en-US" sz="1000" dirty="0"/>
          </a:p>
          <a:p>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Jamie phoned Hannah and invited her to dinner. He took her to a very romantic French restaurant and they talked all evening. Although the food wasn't very good, they had a wonderful time.</a:t>
            </a:r>
            <a:endParaRPr lang="en-US" sz="1000" dirty="0"/>
          </a:p>
        </p:txBody>
      </p:sp>
      <p:sp>
        <p:nvSpPr>
          <p:cNvPr id="15" name="R2_rdA29"/>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One dark October evening</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Hannah met Jamie last summer. It was Hannah's birthday and she and her friends went to a club. They wanted to dance, but they didn't like the music, so Hannah went to speak to the DJ. 'This music is awful,' she said. 'Could you play something else?' The DJ looked at her and said, 'Don't worry, I have the perfect song for you.'</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t>
            </a:r>
            <a:pPr indent="0" marL="0">
              <a:lnSpc>
                <a:spcPct val="105000"/>
              </a:lnSpc>
              <a:spcAft>
                <a:spcPts val="700"/>
              </a:spcAft>
              <a:buNone/>
            </a:pPr>
            <a:r>
              <a:rPr lang="en-US" sz="1000" b="1" dirty="0">
                <a:solidFill>
                  <a:srgbClr val="7B5CD6"/>
                </a:solidFill>
                <a:highlight>
                  <a:srgbClr val="EEE8FB"/>
                </a:highlight>
                <a:latin typeface="Georgia" pitchFamily="34" charset="0"/>
                <a:ea typeface="Georgia" pitchFamily="34" charset="-122"/>
                <a:cs typeface="Georgia" pitchFamily="34" charset="-120"/>
              </a:rPr>
              <a:t> (1) Two minutes later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he said, 'The next song is by Pink. It's called Get the Party Started and it's for a beautiful girl over there who's wearing a pink dress.' Hannah knew that the song was for her.</a:t>
            </a:r>
            <a:endParaRPr lang="en-US" sz="1000" dirty="0"/>
          </a:p>
          <a:p>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(2) When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Hannah and her friends left the club, the DJ was waiting for her at the door. 'Hi, I'm Jamie,' he said to Hannah. 'Can I see you again?' So Hannah gave him her phone number.</a:t>
            </a:r>
            <a:endParaRPr lang="en-US" sz="1000" dirty="0"/>
          </a:p>
          <a:p>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(3) The next day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Jamie phoned Hannah and invited her to dinner. He took her to a very romantic French restaurant and they talked all evening. Although the food wasn't very good, they had a wonderful time.</a:t>
            </a:r>
            <a:endParaRPr lang="en-US" sz="1000" dirty="0"/>
          </a:p>
        </p:txBody>
      </p:sp>
      <p:sp>
        <p:nvSpPr>
          <p:cNvPr id="16" name="cd_30"/>
          <p:cNvSpPr/>
          <p:nvPr/>
        </p:nvSpPr>
        <p:spPr>
          <a:xfrm>
            <a:off x="6263640" y="1417320"/>
            <a:ext cx="2606040" cy="2377440"/>
          </a:xfrm>
          <a:prstGeom prst="roundRect">
            <a:avLst>
              <a:gd name="adj" fmla="val 538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box</a:t>
            </a:r>
            <a:endParaRPr lang="en-US" sz="1300" dirty="0"/>
          </a:p>
        </p:txBody>
      </p:sp>
      <p:sp>
        <p:nvSpPr>
          <p:cNvPr id="19" name="il_33"/>
          <p:cNvSpPr/>
          <p:nvPr/>
        </p:nvSpPr>
        <p:spPr>
          <a:xfrm>
            <a:off x="6830568" y="1911096"/>
            <a:ext cx="1947672" cy="181051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After that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One afternoon in October</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Suddenly</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The next day</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Two minutes later ✓</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When</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35" descr="/home/claude/lls-course/v2/assets/brush-yellow.png">    </p:cNvPr>
          <p:cNvPicPr>
            <a:picLocks noChangeAspect="1"/>
          </p:cNvPicPr>
          <p:nvPr/>
        </p:nvPicPr>
        <p:blipFill>
          <a:blip r:embed="rId2"/>
          <a:stretch>
            <a:fillRect/>
          </a:stretch>
        </p:blipFill>
        <p:spPr>
          <a:xfrm>
            <a:off x="1097280" y="146304"/>
            <a:ext cx="5135270" cy="621792"/>
          </a:xfrm>
          <a:prstGeom prst="rect">
            <a:avLst/>
          </a:prstGeom>
        </p:spPr>
      </p:pic>
      <p:sp>
        <p:nvSpPr>
          <p:cNvPr id="5" name="title_36"/>
          <p:cNvSpPr/>
          <p:nvPr/>
        </p:nvSpPr>
        <p:spPr>
          <a:xfrm>
            <a:off x="1261872" y="164592"/>
            <a:ext cx="486095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One dark October evening (2)</a:t>
            </a:r>
            <a:endParaRPr lang="en-US" sz="2500" dirty="0"/>
          </a:p>
        </p:txBody>
      </p:sp>
      <p:pic>
        <p:nvPicPr>
          <p:cNvPr id="6" name="brP_37"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8"/>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Read part 2. Complete it with a word or phrase from the box.</a:t>
            </a:r>
            <a:endParaRPr lang="en-US" sz="1200" dirty="0"/>
          </a:p>
        </p:txBody>
      </p:sp>
      <p:sp>
        <p:nvSpPr>
          <p:cNvPr id="8" name="insIT_3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parte 2. Completala con una parola o frase del riquadro.</a:t>
            </a:r>
            <a:endParaRPr lang="en-US" sz="950" dirty="0"/>
          </a:p>
        </p:txBody>
      </p:sp>
      <p:sp>
        <p:nvSpPr>
          <p:cNvPr id="9" name="note_4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Reading · text order</a:t>
            </a:r>
            <a:endParaRPr lang="en-US" sz="1150" dirty="0"/>
          </a:p>
        </p:txBody>
      </p:sp>
      <p:pic>
        <p:nvPicPr>
          <p:cNvPr id="10" name="logo_4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Grammar · time sequencers (the story)   ·   📖 SB p.18 · 1b (the story is on the slide · TG key 2.16)</a:t>
            </a:r>
            <a:endParaRPr lang="en-US" sz="800" dirty="0"/>
          </a:p>
        </p:txBody>
      </p:sp>
      <p:sp>
        <p:nvSpPr>
          <p:cNvPr id="12" name="cd_43"/>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44"/>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700" b="1" dirty="0">
                <a:solidFill>
                  <a:srgbClr val="1F6F43"/>
                </a:solidFill>
                <a:latin typeface="Georgia" pitchFamily="34" charset="0"/>
                <a:ea typeface="Georgia" pitchFamily="34" charset="-122"/>
                <a:cs typeface="Georgia" pitchFamily="34" charset="-120"/>
              </a:rPr>
              <a:t>One dark October evening (2)</a:t>
            </a:r>
            <a:endParaRPr lang="en-US" sz="1200" dirty="0"/>
          </a:p>
          <a:p>
            <a:pPr indent="0" marL="0">
              <a:lnSpc>
                <a:spcPct val="105000"/>
              </a:lnSpc>
              <a:spcAft>
                <a:spcPts val="700"/>
              </a:spcAft>
              <a:buNone/>
            </a:pPr>
            <a:r>
              <a:rPr lang="en-US" sz="12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Jamie and Hannah saw each other every day. Every evening when Hannah finished work they met at 5.30 in a coffee bar in the high street. They were madly in love.</a:t>
            </a:r>
            <a:endParaRPr lang="en-US" sz="1200" dirty="0"/>
          </a:p>
          <a:p>
            <a:pPr indent="0" marL="0">
              <a:lnSpc>
                <a:spcPct val="105000"/>
              </a:lnSpc>
              <a:spcAft>
                <a:spcPts val="700"/>
              </a:spcAft>
              <a:buNone/>
            </a:pPr>
            <a:r>
              <a:rPr lang="en-US" sz="12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Hannah was at work. As usual she was going to meet Jamie at 5.30. It was dark and it was raining. She looked at her watch. It was 5.20! She was going to be late! She ran to her car and got in.</a:t>
            </a:r>
            <a:endParaRPr lang="en-US" sz="1200" dirty="0"/>
          </a:p>
          <a:p>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At 5.25 she was driving along the high street. She was going very fast because she was in a hurry. </a:t>
            </a:r>
            <a:pPr indent="0" marL="0">
              <a:lnSpc>
                <a:spcPct val="105000"/>
              </a:lnSpc>
              <a:spcAft>
                <a:spcPts val="700"/>
              </a:spcAft>
              <a:buNone/>
            </a:pPr>
            <a:r>
              <a:rPr lang="en-US" sz="12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a man ran across the road. He was wearing a dark coat, so Hannah didn't see him at first. Quickly, she put her foot on the brake…</a:t>
            </a:r>
            <a:endParaRPr lang="en-US" sz="1200" dirty="0"/>
          </a:p>
        </p:txBody>
      </p:sp>
      <p:sp>
        <p:nvSpPr>
          <p:cNvPr id="14" name="R1_rdA45"/>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700" b="1" dirty="0">
                <a:solidFill>
                  <a:srgbClr val="1F6F43"/>
                </a:solidFill>
                <a:latin typeface="Georgia" pitchFamily="34" charset="0"/>
                <a:ea typeface="Georgia" pitchFamily="34" charset="-122"/>
                <a:cs typeface="Georgia" pitchFamily="34" charset="-120"/>
              </a:rPr>
              <a:t>One dark October evening (2)</a:t>
            </a:r>
            <a:endParaRPr lang="en-US" sz="1200" dirty="0"/>
          </a:p>
          <a:p>
            <a:pPr indent="0" marL="0">
              <a:lnSpc>
                <a:spcPct val="105000"/>
              </a:lnSpc>
              <a:spcAft>
                <a:spcPts val="700"/>
              </a:spcAft>
              <a:buNone/>
            </a:pPr>
            <a:r>
              <a:rPr lang="en-US" sz="1200" b="1" dirty="0">
                <a:solidFill>
                  <a:srgbClr val="1B2559"/>
                </a:solidFill>
                <a:highlight>
                  <a:srgbClr val="FFE066"/>
                </a:highlight>
                <a:latin typeface="Georgia" pitchFamily="34" charset="0"/>
                <a:ea typeface="Georgia" pitchFamily="34" charset="-122"/>
                <a:cs typeface="Georgia" pitchFamily="34" charset="-120"/>
              </a:rPr>
              <a:t> (4) After that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Jamie and Hannah saw each other every day. Every evening when Hannah finished work they met at 5.30 in a coffee bar in the high street. They were madly in love.</a:t>
            </a:r>
            <a:endParaRPr lang="en-US" sz="1200" dirty="0"/>
          </a:p>
          <a:p>
            <a:pPr indent="0" marL="0">
              <a:lnSpc>
                <a:spcPct val="105000"/>
              </a:lnSpc>
              <a:spcAft>
                <a:spcPts val="700"/>
              </a:spcAft>
              <a:buNone/>
            </a:pPr>
            <a:r>
              <a:rPr lang="en-US" sz="12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Hannah was at work. As usual she was going to meet Jamie at 5.30. It was dark and it was raining. She looked at her watch. It was 5.20! She was going to be late! She ran to her car and got in.</a:t>
            </a:r>
            <a:endParaRPr lang="en-US" sz="1200" dirty="0"/>
          </a:p>
          <a:p>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At 5.25 she was driving along the high street. She was going very fast because she was in a hurry. </a:t>
            </a:r>
            <a:pPr indent="0" marL="0">
              <a:lnSpc>
                <a:spcPct val="105000"/>
              </a:lnSpc>
              <a:spcAft>
                <a:spcPts val="700"/>
              </a:spcAft>
              <a:buNone/>
            </a:pPr>
            <a:r>
              <a:rPr lang="en-US" sz="12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a man ran across the road. He was wearing a dark coat, so Hannah didn't see him at first. Quickly, she put her foot on the brake…</a:t>
            </a:r>
            <a:endParaRPr lang="en-US" sz="1200" dirty="0"/>
          </a:p>
        </p:txBody>
      </p:sp>
      <p:sp>
        <p:nvSpPr>
          <p:cNvPr id="15" name="R2_rdA46"/>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700" b="1" dirty="0">
                <a:solidFill>
                  <a:srgbClr val="1F6F43"/>
                </a:solidFill>
                <a:latin typeface="Georgia" pitchFamily="34" charset="0"/>
                <a:ea typeface="Georgia" pitchFamily="34" charset="-122"/>
                <a:cs typeface="Georgia" pitchFamily="34" charset="-120"/>
              </a:rPr>
              <a:t>One dark October evening (2)</a:t>
            </a:r>
            <a:endParaRPr lang="en-US" sz="1200" dirty="0"/>
          </a:p>
          <a:p>
            <a:pPr indent="0" marL="0">
              <a:lnSpc>
                <a:spcPct val="105000"/>
              </a:lnSpc>
              <a:spcAft>
                <a:spcPts val="700"/>
              </a:spcAft>
              <a:buNone/>
            </a:pPr>
            <a:r>
              <a:rPr lang="en-US" sz="1200" b="1" dirty="0">
                <a:solidFill>
                  <a:srgbClr val="1B2559"/>
                </a:solidFill>
                <a:highlight>
                  <a:srgbClr val="FFE066"/>
                </a:highlight>
                <a:latin typeface="Georgia" pitchFamily="34" charset="0"/>
                <a:ea typeface="Georgia" pitchFamily="34" charset="-122"/>
                <a:cs typeface="Georgia" pitchFamily="34" charset="-120"/>
              </a:rPr>
              <a:t> (4) After that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Jamie and Hannah saw each other every day. Every evening when Hannah finished work they met at 5.30 in a coffee bar in the high street. They were madly in love.</a:t>
            </a:r>
            <a:endParaRPr lang="en-US" sz="1200" dirty="0"/>
          </a:p>
          <a:p>
            <a:pPr indent="0" marL="0">
              <a:lnSpc>
                <a:spcPct val="105000"/>
              </a:lnSpc>
              <a:spcAft>
                <a:spcPts val="700"/>
              </a:spcAft>
              <a:buNone/>
            </a:pPr>
            <a:r>
              <a:rPr lang="en-US" sz="1200" b="1" dirty="0">
                <a:solidFill>
                  <a:srgbClr val="1B2559"/>
                </a:solidFill>
                <a:highlight>
                  <a:srgbClr val="FFE066"/>
                </a:highlight>
                <a:latin typeface="Georgia" pitchFamily="34" charset="0"/>
                <a:ea typeface="Georgia" pitchFamily="34" charset="-122"/>
                <a:cs typeface="Georgia" pitchFamily="34" charset="-120"/>
              </a:rPr>
              <a:t> (5) One afternoon in October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Hannah was at work. As usual she was going to meet Jamie at 5.30. It was dark and it was raining. She looked at her watch. It was 5.20! She was going to be late! She ran to her car and got in.</a:t>
            </a:r>
            <a:endParaRPr lang="en-US" sz="1200" dirty="0"/>
          </a:p>
          <a:p>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At 5.25 she was driving along the high street. She was going very fast because she was in a hurry. </a:t>
            </a:r>
            <a:pPr indent="0" marL="0">
              <a:lnSpc>
                <a:spcPct val="105000"/>
              </a:lnSpc>
              <a:spcAft>
                <a:spcPts val="700"/>
              </a:spcAft>
              <a:buNone/>
            </a:pPr>
            <a:r>
              <a:rPr lang="en-US" sz="12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a man ran across the road. He was wearing a dark coat, so Hannah didn't see him at first. Quickly, she put her foot on the brake…</a:t>
            </a:r>
            <a:endParaRPr lang="en-US" sz="1200" dirty="0"/>
          </a:p>
        </p:txBody>
      </p:sp>
      <p:sp>
        <p:nvSpPr>
          <p:cNvPr id="16" name="R3_rdA47"/>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700" b="1" dirty="0">
                <a:solidFill>
                  <a:srgbClr val="1F6F43"/>
                </a:solidFill>
                <a:latin typeface="Georgia" pitchFamily="34" charset="0"/>
                <a:ea typeface="Georgia" pitchFamily="34" charset="-122"/>
                <a:cs typeface="Georgia" pitchFamily="34" charset="-120"/>
              </a:rPr>
              <a:t>One dark October evening (2)</a:t>
            </a:r>
            <a:endParaRPr lang="en-US" sz="1200" dirty="0"/>
          </a:p>
          <a:p>
            <a:pPr indent="0" marL="0">
              <a:lnSpc>
                <a:spcPct val="105000"/>
              </a:lnSpc>
              <a:spcAft>
                <a:spcPts val="700"/>
              </a:spcAft>
              <a:buNone/>
            </a:pPr>
            <a:r>
              <a:rPr lang="en-US" sz="1200" b="1" dirty="0">
                <a:solidFill>
                  <a:srgbClr val="1B2559"/>
                </a:solidFill>
                <a:highlight>
                  <a:srgbClr val="FFE066"/>
                </a:highlight>
                <a:latin typeface="Georgia" pitchFamily="34" charset="0"/>
                <a:ea typeface="Georgia" pitchFamily="34" charset="-122"/>
                <a:cs typeface="Georgia" pitchFamily="34" charset="-120"/>
              </a:rPr>
              <a:t> (4) After that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Jamie and Hannah saw each other every day. Every evening when Hannah finished work they met at 5.30 in a coffee bar in the high street. They were madly in love.</a:t>
            </a:r>
            <a:endParaRPr lang="en-US" sz="1200" dirty="0"/>
          </a:p>
          <a:p>
            <a:pPr indent="0" marL="0">
              <a:lnSpc>
                <a:spcPct val="105000"/>
              </a:lnSpc>
              <a:spcAft>
                <a:spcPts val="700"/>
              </a:spcAft>
              <a:buNone/>
            </a:pPr>
            <a:r>
              <a:rPr lang="en-US" sz="1200" b="1" dirty="0">
                <a:solidFill>
                  <a:srgbClr val="1B2559"/>
                </a:solidFill>
                <a:highlight>
                  <a:srgbClr val="FFE066"/>
                </a:highlight>
                <a:latin typeface="Georgia" pitchFamily="34" charset="0"/>
                <a:ea typeface="Georgia" pitchFamily="34" charset="-122"/>
                <a:cs typeface="Georgia" pitchFamily="34" charset="-120"/>
              </a:rPr>
              <a:t> (5) One afternoon in October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Hannah was at work. As usual she was going to meet Jamie at 5.30. It was dark and it was raining. She looked at her watch. It was 5.20! She was going to be late! She ran to her car and got in.</a:t>
            </a:r>
            <a:endParaRPr lang="en-US" sz="1200" dirty="0"/>
          </a:p>
          <a:p>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At 5.25 she was driving along the high street. She was going very fast because she was in a hurry. </a:t>
            </a:r>
            <a:pPr indent="0" marL="0">
              <a:lnSpc>
                <a:spcPct val="105000"/>
              </a:lnSpc>
              <a:spcAft>
                <a:spcPts val="700"/>
              </a:spcAft>
              <a:buNone/>
            </a:pPr>
            <a:r>
              <a:rPr lang="en-US" sz="1200" b="1" dirty="0">
                <a:solidFill>
                  <a:srgbClr val="1B2559"/>
                </a:solidFill>
                <a:highlight>
                  <a:srgbClr val="FFE066"/>
                </a:highlight>
                <a:latin typeface="Georgia" pitchFamily="34" charset="0"/>
                <a:ea typeface="Georgia" pitchFamily="34" charset="-122"/>
                <a:cs typeface="Georgia" pitchFamily="34" charset="-120"/>
              </a:rPr>
              <a:t> (6) Suddenly </a:t>
            </a:r>
            <a:pPr indent="0" marL="0">
              <a:lnSpc>
                <a:spcPct val="105000"/>
              </a:lnSpc>
              <a:spcAft>
                <a:spcPts val="700"/>
              </a:spcAft>
              <a:buNone/>
            </a:pPr>
            <a:r>
              <a:rPr lang="en-US" sz="1200" dirty="0">
                <a:solidFill>
                  <a:srgbClr val="1B2559"/>
                </a:solidFill>
                <a:latin typeface="Georgia" pitchFamily="34" charset="0"/>
                <a:ea typeface="Georgia" pitchFamily="34" charset="-122"/>
                <a:cs typeface="Georgia" pitchFamily="34" charset="-120"/>
              </a:rPr>
              <a:t>, a man ran across the road. He was wearing a dark coat, so Hannah didn't see him at first. Quickly, she put her foot on the brake…</a:t>
            </a:r>
            <a:endParaRPr lang="en-US" sz="1200" dirty="0"/>
          </a:p>
        </p:txBody>
      </p:sp>
      <p:sp>
        <p:nvSpPr>
          <p:cNvPr id="17" name="cd_48"/>
          <p:cNvSpPr/>
          <p:nvPr/>
        </p:nvSpPr>
        <p:spPr>
          <a:xfrm>
            <a:off x="6263640" y="1417320"/>
            <a:ext cx="2606040" cy="2377440"/>
          </a:xfrm>
          <a:prstGeom prst="roundRect">
            <a:avLst>
              <a:gd name="adj" fmla="val 538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8" name="ii_49"/>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50"/>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box</a:t>
            </a:r>
            <a:endParaRPr lang="en-US" sz="1300" dirty="0"/>
          </a:p>
        </p:txBody>
      </p:sp>
      <p:sp>
        <p:nvSpPr>
          <p:cNvPr id="20" name="il_51"/>
          <p:cNvSpPr/>
          <p:nvPr/>
        </p:nvSpPr>
        <p:spPr>
          <a:xfrm>
            <a:off x="6830568" y="1911096"/>
            <a:ext cx="1947672" cy="181051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After that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One afternoon in October</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Suddenly</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The next day</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Two minutes later ✓</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When</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2"/>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53" descr="/home/claude/lls-course/v2/assets/brush-yellow.png">    </p:cNvPr>
          <p:cNvPicPr>
            <a:picLocks noChangeAspect="1"/>
          </p:cNvPicPr>
          <p:nvPr/>
        </p:nvPicPr>
        <p:blipFill>
          <a:blip r:embed="rId2"/>
          <a:stretch>
            <a:fillRect/>
          </a:stretch>
        </p:blipFill>
        <p:spPr>
          <a:xfrm>
            <a:off x="1097280" y="146304"/>
            <a:ext cx="1517904" cy="621792"/>
          </a:xfrm>
          <a:prstGeom prst="rect">
            <a:avLst/>
          </a:prstGeom>
        </p:spPr>
      </p:pic>
      <p:sp>
        <p:nvSpPr>
          <p:cNvPr id="5" name="title_54"/>
          <p:cNvSpPr/>
          <p:nvPr/>
        </p:nvSpPr>
        <p:spPr>
          <a:xfrm>
            <a:off x="1261872" y="164592"/>
            <a:ext cx="124358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Why…?</a:t>
            </a:r>
            <a:endParaRPr lang="en-US" sz="2500" dirty="0"/>
          </a:p>
        </p:txBody>
      </p:sp>
      <p:pic>
        <p:nvPicPr>
          <p:cNvPr id="6" name="brP_55" descr="/home/claude/lls-course/v2/assets/brush-pink.png">    </p:cNvPr>
          <p:cNvPicPr>
            <a:picLocks noChangeAspect="1"/>
          </p:cNvPicPr>
          <p:nvPr/>
        </p:nvPicPr>
        <p:blipFill>
          <a:blip r:embed="rId3"/>
          <a:stretch>
            <a:fillRect/>
          </a:stretch>
        </p:blipFill>
        <p:spPr>
          <a:xfrm>
            <a:off x="1207008" y="731520"/>
            <a:ext cx="4466844" cy="402336"/>
          </a:xfrm>
          <a:prstGeom prst="rect">
            <a:avLst/>
          </a:prstGeom>
        </p:spPr>
      </p:pic>
      <p:sp>
        <p:nvSpPr>
          <p:cNvPr id="7" name="ins_56"/>
          <p:cNvSpPr/>
          <p:nvPr/>
        </p:nvSpPr>
        <p:spPr>
          <a:xfrm>
            <a:off x="1353312" y="731520"/>
            <a:ext cx="42108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story again. Answer the questions.</a:t>
            </a:r>
            <a:endParaRPr lang="en-US" sz="1250" dirty="0"/>
          </a:p>
        </p:txBody>
      </p:sp>
      <p:sp>
        <p:nvSpPr>
          <p:cNvPr id="8" name="insIT_5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Rileggi la storia. Rispondi alle domande.</a:t>
            </a:r>
            <a:endParaRPr lang="en-US" sz="950" dirty="0"/>
          </a:p>
        </p:txBody>
      </p:sp>
      <p:sp>
        <p:nvSpPr>
          <p:cNvPr id="9" name="note_5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for detail</a:t>
            </a:r>
            <a:endParaRPr lang="en-US" sz="1150" dirty="0"/>
          </a:p>
        </p:txBody>
      </p:sp>
      <p:pic>
        <p:nvPicPr>
          <p:cNvPr id="10" name="logo_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Reading · detail   ·   📖 SB p.19 · 1c (TG key)</a:t>
            </a:r>
            <a:endParaRPr lang="en-US" sz="800" dirty="0"/>
          </a:p>
        </p:txBody>
      </p:sp>
      <p:sp>
        <p:nvSpPr>
          <p:cNvPr id="12" name="bd_61"/>
          <p:cNvSpPr/>
          <p:nvPr/>
        </p:nvSpPr>
        <p:spPr>
          <a:xfrm>
            <a:off x="32004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3" name="q_62"/>
          <p:cNvSpPr/>
          <p:nvPr/>
        </p:nvSpPr>
        <p:spPr>
          <a:xfrm>
            <a:off x="70408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Why did Hannah go and speak to Jamie?</a:t>
            </a:r>
            <a:endParaRPr lang="en-US" sz="950" dirty="0"/>
          </a:p>
        </p:txBody>
      </p:sp>
      <p:sp>
        <p:nvSpPr>
          <p:cNvPr id="14" name="R1_chip63"/>
          <p:cNvSpPr/>
          <p:nvPr/>
        </p:nvSpPr>
        <p:spPr>
          <a:xfrm>
            <a:off x="70408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Because she didn't like the music.</a:t>
            </a:r>
            <a:endParaRPr lang="en-US" sz="1100" dirty="0"/>
          </a:p>
        </p:txBody>
      </p:sp>
      <p:sp>
        <p:nvSpPr>
          <p:cNvPr id="15" name="bd_64"/>
          <p:cNvSpPr/>
          <p:nvPr/>
        </p:nvSpPr>
        <p:spPr>
          <a:xfrm>
            <a:off x="32004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6" name="q_65"/>
          <p:cNvSpPr/>
          <p:nvPr/>
        </p:nvSpPr>
        <p:spPr>
          <a:xfrm>
            <a:off x="70408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Why did Jamie play Get the Party Started?</a:t>
            </a:r>
            <a:endParaRPr lang="en-US" sz="950" dirty="0"/>
          </a:p>
        </p:txBody>
      </p:sp>
      <p:sp>
        <p:nvSpPr>
          <p:cNvPr id="17" name="R2_chip66"/>
          <p:cNvSpPr/>
          <p:nvPr/>
        </p:nvSpPr>
        <p:spPr>
          <a:xfrm>
            <a:off x="70408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Because it's by Pink, and Hannah was wearing a pink dress.</a:t>
            </a:r>
            <a:endParaRPr lang="en-US" sz="1100" dirty="0"/>
          </a:p>
        </p:txBody>
      </p:sp>
      <p:sp>
        <p:nvSpPr>
          <p:cNvPr id="18" name="bd_67"/>
          <p:cNvSpPr/>
          <p:nvPr/>
        </p:nvSpPr>
        <p:spPr>
          <a:xfrm>
            <a:off x="32004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19" name="q_68"/>
          <p:cNvSpPr/>
          <p:nvPr/>
        </p:nvSpPr>
        <p:spPr>
          <a:xfrm>
            <a:off x="70408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What happened when Hannah left the club?</a:t>
            </a:r>
            <a:endParaRPr lang="en-US" sz="950" dirty="0"/>
          </a:p>
        </p:txBody>
      </p:sp>
      <p:sp>
        <p:nvSpPr>
          <p:cNvPr id="20" name="R3_chip69"/>
          <p:cNvSpPr/>
          <p:nvPr/>
        </p:nvSpPr>
        <p:spPr>
          <a:xfrm>
            <a:off x="70408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Jamie was waiting at the door and asked to see her again.</a:t>
            </a:r>
            <a:endParaRPr lang="en-US" sz="1100" dirty="0"/>
          </a:p>
        </p:txBody>
      </p:sp>
      <p:sp>
        <p:nvSpPr>
          <p:cNvPr id="21" name="bd_70"/>
          <p:cNvSpPr/>
          <p:nvPr/>
        </p:nvSpPr>
        <p:spPr>
          <a:xfrm>
            <a:off x="32004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2" name="q_71"/>
          <p:cNvSpPr/>
          <p:nvPr/>
        </p:nvSpPr>
        <p:spPr>
          <a:xfrm>
            <a:off x="70408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What was the restaurant like?</a:t>
            </a:r>
            <a:endParaRPr lang="en-US" sz="950" dirty="0"/>
          </a:p>
        </p:txBody>
      </p:sp>
      <p:sp>
        <p:nvSpPr>
          <p:cNvPr id="23" name="R4_chip72"/>
          <p:cNvSpPr/>
          <p:nvPr/>
        </p:nvSpPr>
        <p:spPr>
          <a:xfrm>
            <a:off x="70408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Very romantic, but the food wasn't very good.</a:t>
            </a:r>
            <a:endParaRPr lang="en-US" sz="1100" dirty="0"/>
          </a:p>
        </p:txBody>
      </p:sp>
      <p:sp>
        <p:nvSpPr>
          <p:cNvPr id="24" name="bd_73"/>
          <p:cNvSpPr/>
          <p:nvPr/>
        </p:nvSpPr>
        <p:spPr>
          <a:xfrm>
            <a:off x="470916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5" name="q_74"/>
          <p:cNvSpPr/>
          <p:nvPr/>
        </p:nvSpPr>
        <p:spPr>
          <a:xfrm>
            <a:off x="509320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Where did they go every evening after that?</a:t>
            </a:r>
            <a:endParaRPr lang="en-US" sz="950" dirty="0"/>
          </a:p>
        </p:txBody>
      </p:sp>
      <p:sp>
        <p:nvSpPr>
          <p:cNvPr id="26" name="R5_chip75"/>
          <p:cNvSpPr/>
          <p:nvPr/>
        </p:nvSpPr>
        <p:spPr>
          <a:xfrm>
            <a:off x="509320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To a coffee bar in the high street.</a:t>
            </a:r>
            <a:endParaRPr lang="en-US" sz="1100" dirty="0"/>
          </a:p>
        </p:txBody>
      </p:sp>
      <p:sp>
        <p:nvSpPr>
          <p:cNvPr id="27" name="bd_76"/>
          <p:cNvSpPr/>
          <p:nvPr/>
        </p:nvSpPr>
        <p:spPr>
          <a:xfrm>
            <a:off x="470916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8" name="q_77"/>
          <p:cNvSpPr/>
          <p:nvPr/>
        </p:nvSpPr>
        <p:spPr>
          <a:xfrm>
            <a:off x="509320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What was the weather like that evening in October?</a:t>
            </a:r>
            <a:endParaRPr lang="en-US" sz="950" dirty="0"/>
          </a:p>
        </p:txBody>
      </p:sp>
      <p:sp>
        <p:nvSpPr>
          <p:cNvPr id="29" name="R6_chip78"/>
          <p:cNvSpPr/>
          <p:nvPr/>
        </p:nvSpPr>
        <p:spPr>
          <a:xfrm>
            <a:off x="509320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It was dark and raining.</a:t>
            </a:r>
            <a:endParaRPr lang="en-US" sz="1100" dirty="0"/>
          </a:p>
        </p:txBody>
      </p:sp>
      <p:sp>
        <p:nvSpPr>
          <p:cNvPr id="30" name="bd_79"/>
          <p:cNvSpPr/>
          <p:nvPr/>
        </p:nvSpPr>
        <p:spPr>
          <a:xfrm>
            <a:off x="470916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1" name="q_80"/>
          <p:cNvSpPr/>
          <p:nvPr/>
        </p:nvSpPr>
        <p:spPr>
          <a:xfrm>
            <a:off x="509320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Why was Hannah driving fast?</a:t>
            </a:r>
            <a:endParaRPr lang="en-US" sz="950" dirty="0"/>
          </a:p>
        </p:txBody>
      </p:sp>
      <p:sp>
        <p:nvSpPr>
          <p:cNvPr id="32" name="R7_chip81"/>
          <p:cNvSpPr/>
          <p:nvPr/>
        </p:nvSpPr>
        <p:spPr>
          <a:xfrm>
            <a:off x="509320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Because she was in a hurry.</a:t>
            </a:r>
            <a:endParaRPr lang="en-US" sz="1100" dirty="0"/>
          </a:p>
        </p:txBody>
      </p:sp>
      <p:sp>
        <p:nvSpPr>
          <p:cNvPr id="33" name="bd_82"/>
          <p:cNvSpPr/>
          <p:nvPr/>
        </p:nvSpPr>
        <p:spPr>
          <a:xfrm>
            <a:off x="470916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34" name="q_83"/>
          <p:cNvSpPr/>
          <p:nvPr/>
        </p:nvSpPr>
        <p:spPr>
          <a:xfrm>
            <a:off x="509320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Why didn't she see the man?</a:t>
            </a:r>
            <a:endParaRPr lang="en-US" sz="950" dirty="0"/>
          </a:p>
        </p:txBody>
      </p:sp>
      <p:sp>
        <p:nvSpPr>
          <p:cNvPr id="35" name="R8_chip84"/>
          <p:cNvSpPr/>
          <p:nvPr/>
        </p:nvSpPr>
        <p:spPr>
          <a:xfrm>
            <a:off x="509320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Because he was wearing a dark coat.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5"/>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86"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87"/>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So, because, although</a:t>
            </a:r>
            <a:endParaRPr lang="en-US" sz="2500" dirty="0"/>
          </a:p>
        </p:txBody>
      </p:sp>
      <p:pic>
        <p:nvPicPr>
          <p:cNvPr id="6" name="brP_88"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89"/>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From memory: so, because or although? Then check in the story.</a:t>
            </a:r>
            <a:endParaRPr lang="en-US" sz="1100" dirty="0"/>
          </a:p>
        </p:txBody>
      </p:sp>
      <p:sp>
        <p:nvSpPr>
          <p:cNvPr id="8" name="insIT_9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 memoria: so, because o although? Poi controlla nella storia.</a:t>
            </a:r>
            <a:endParaRPr lang="en-US" sz="950" dirty="0"/>
          </a:p>
        </p:txBody>
      </p:sp>
      <p:sp>
        <p:nvSpPr>
          <p:cNvPr id="9" name="note_91"/>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Noticing</a:t>
            </a:r>
            <a:endParaRPr lang="en-US" sz="1150" dirty="0"/>
          </a:p>
        </p:txBody>
      </p:sp>
      <p:pic>
        <p:nvPicPr>
          <p:cNvPr id="10" name="logo_9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9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Grammar · connectors   ·   📖 SB p.19 · 1d (TG key)</a:t>
            </a:r>
            <a:endParaRPr lang="en-US" sz="800" dirty="0"/>
          </a:p>
        </p:txBody>
      </p:sp>
      <p:sp>
        <p:nvSpPr>
          <p:cNvPr id="12" name="cd_94"/>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95"/>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2000" b="1" dirty="0">
                <a:solidFill>
                  <a:srgbClr val="1F6F43"/>
                </a:solidFill>
                <a:latin typeface="Georgia" pitchFamily="34" charset="0"/>
                <a:ea typeface="Georgia" pitchFamily="34" charset="-122"/>
                <a:cs typeface="Georgia" pitchFamily="34" charset="-120"/>
              </a:rPr>
              <a:t>From the story</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1 She was going very fast</a:t>
            </a:r>
            <a:pPr indent="0" marL="0">
              <a:lnSpc>
                <a:spcPct val="105000"/>
              </a:lnSpc>
              <a:spcAft>
                <a:spcPts val="700"/>
              </a:spcAft>
              <a:buNone/>
            </a:pPr>
            <a:r>
              <a:rPr lang="en-US" sz="1500" b="1" dirty="0">
                <a:solidFill>
                  <a:srgbClr val="2EB872"/>
                </a:solidFill>
                <a:latin typeface="Georgia" pitchFamily="34" charset="0"/>
                <a:ea typeface="Georgia" pitchFamily="34" charset="-122"/>
                <a:cs typeface="Georgia" pitchFamily="34" charset="-120"/>
              </a:rPr>
              <a:t> (1) ________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she was in a hurry.</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50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the food wasn't very good, they had a wonderful time.</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3 He was wearing a dark coat,</a:t>
            </a:r>
            <a:pPr indent="0" marL="0">
              <a:lnSpc>
                <a:spcPct val="105000"/>
              </a:lnSpc>
              <a:spcAft>
                <a:spcPts val="700"/>
              </a:spcAft>
              <a:buNone/>
            </a:pPr>
            <a:r>
              <a:rPr lang="en-US" sz="15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Hannah didn't see him at first.</a:t>
            </a:r>
            <a:endParaRPr lang="en-US" sz="1500" dirty="0"/>
          </a:p>
        </p:txBody>
      </p:sp>
      <p:sp>
        <p:nvSpPr>
          <p:cNvPr id="14" name="R1_rdA96"/>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2000" b="1" dirty="0">
                <a:solidFill>
                  <a:srgbClr val="1F6F43"/>
                </a:solidFill>
                <a:latin typeface="Georgia" pitchFamily="34" charset="0"/>
                <a:ea typeface="Georgia" pitchFamily="34" charset="-122"/>
                <a:cs typeface="Georgia" pitchFamily="34" charset="-120"/>
              </a:rPr>
              <a:t>From the story</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1 She was going very fast</a:t>
            </a:r>
            <a:pPr indent="0" marL="0">
              <a:lnSpc>
                <a:spcPct val="105000"/>
              </a:lnSpc>
              <a:spcAft>
                <a:spcPts val="700"/>
              </a:spcAft>
              <a:buNone/>
            </a:pPr>
            <a:r>
              <a:rPr lang="en-US" sz="1500" b="1" dirty="0">
                <a:solidFill>
                  <a:srgbClr val="1B2559"/>
                </a:solidFill>
                <a:highlight>
                  <a:srgbClr val="FFE066"/>
                </a:highlight>
                <a:latin typeface="Georgia" pitchFamily="34" charset="0"/>
                <a:ea typeface="Georgia" pitchFamily="34" charset="-122"/>
                <a:cs typeface="Georgia" pitchFamily="34" charset="-120"/>
              </a:rPr>
              <a:t> (1) because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she was in a hurry.</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50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the food wasn't very good, they had a wonderful time.</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3 He was wearing a dark coat,</a:t>
            </a:r>
            <a:pPr indent="0" marL="0">
              <a:lnSpc>
                <a:spcPct val="105000"/>
              </a:lnSpc>
              <a:spcAft>
                <a:spcPts val="700"/>
              </a:spcAft>
              <a:buNone/>
            </a:pPr>
            <a:r>
              <a:rPr lang="en-US" sz="15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Hannah didn't see him at first.</a:t>
            </a:r>
            <a:endParaRPr lang="en-US" sz="1500" dirty="0"/>
          </a:p>
        </p:txBody>
      </p:sp>
      <p:sp>
        <p:nvSpPr>
          <p:cNvPr id="15" name="R2_rdA97"/>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2000" b="1" dirty="0">
                <a:solidFill>
                  <a:srgbClr val="1F6F43"/>
                </a:solidFill>
                <a:latin typeface="Georgia" pitchFamily="34" charset="0"/>
                <a:ea typeface="Georgia" pitchFamily="34" charset="-122"/>
                <a:cs typeface="Georgia" pitchFamily="34" charset="-120"/>
              </a:rPr>
              <a:t>From the story</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1 She was going very fast</a:t>
            </a:r>
            <a:pPr indent="0" marL="0">
              <a:lnSpc>
                <a:spcPct val="105000"/>
              </a:lnSpc>
              <a:spcAft>
                <a:spcPts val="700"/>
              </a:spcAft>
              <a:buNone/>
            </a:pPr>
            <a:r>
              <a:rPr lang="en-US" sz="1500" b="1" dirty="0">
                <a:solidFill>
                  <a:srgbClr val="1B2559"/>
                </a:solidFill>
                <a:highlight>
                  <a:srgbClr val="FFE066"/>
                </a:highlight>
                <a:latin typeface="Georgia" pitchFamily="34" charset="0"/>
                <a:ea typeface="Georgia" pitchFamily="34" charset="-122"/>
                <a:cs typeface="Georgia" pitchFamily="34" charset="-120"/>
              </a:rPr>
              <a:t> (1) because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she was in a hurry.</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500" b="1" dirty="0">
                <a:solidFill>
                  <a:srgbClr val="1B2559"/>
                </a:solidFill>
                <a:highlight>
                  <a:srgbClr val="FFE066"/>
                </a:highlight>
                <a:latin typeface="Georgia" pitchFamily="34" charset="0"/>
                <a:ea typeface="Georgia" pitchFamily="34" charset="-122"/>
                <a:cs typeface="Georgia" pitchFamily="34" charset="-120"/>
              </a:rPr>
              <a:t> (2) Although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the food wasn't very good, they had a wonderful time.</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3 He was wearing a dark coat,</a:t>
            </a:r>
            <a:pPr indent="0" marL="0">
              <a:lnSpc>
                <a:spcPct val="105000"/>
              </a:lnSpc>
              <a:spcAft>
                <a:spcPts val="700"/>
              </a:spcAft>
              <a:buNone/>
            </a:pPr>
            <a:r>
              <a:rPr lang="en-US" sz="15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Hannah didn't see him at first.</a:t>
            </a:r>
            <a:endParaRPr lang="en-US" sz="1500" dirty="0"/>
          </a:p>
        </p:txBody>
      </p:sp>
      <p:sp>
        <p:nvSpPr>
          <p:cNvPr id="16" name="R3_rdA98"/>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2000" b="1" dirty="0">
                <a:solidFill>
                  <a:srgbClr val="1F6F43"/>
                </a:solidFill>
                <a:latin typeface="Georgia" pitchFamily="34" charset="0"/>
                <a:ea typeface="Georgia" pitchFamily="34" charset="-122"/>
                <a:cs typeface="Georgia" pitchFamily="34" charset="-120"/>
              </a:rPr>
              <a:t>From the story</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1 She was going very fast</a:t>
            </a:r>
            <a:pPr indent="0" marL="0">
              <a:lnSpc>
                <a:spcPct val="105000"/>
              </a:lnSpc>
              <a:spcAft>
                <a:spcPts val="700"/>
              </a:spcAft>
              <a:buNone/>
            </a:pPr>
            <a:r>
              <a:rPr lang="en-US" sz="1500" b="1" dirty="0">
                <a:solidFill>
                  <a:srgbClr val="1B2559"/>
                </a:solidFill>
                <a:highlight>
                  <a:srgbClr val="FFE066"/>
                </a:highlight>
                <a:latin typeface="Georgia" pitchFamily="34" charset="0"/>
                <a:ea typeface="Georgia" pitchFamily="34" charset="-122"/>
                <a:cs typeface="Georgia" pitchFamily="34" charset="-120"/>
              </a:rPr>
              <a:t> (1) because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she was in a hurry.</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500" b="1" dirty="0">
                <a:solidFill>
                  <a:srgbClr val="1B2559"/>
                </a:solidFill>
                <a:highlight>
                  <a:srgbClr val="FFE066"/>
                </a:highlight>
                <a:latin typeface="Georgia" pitchFamily="34" charset="0"/>
                <a:ea typeface="Georgia" pitchFamily="34" charset="-122"/>
                <a:cs typeface="Georgia" pitchFamily="34" charset="-120"/>
              </a:rPr>
              <a:t> (2) Although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the food wasn't very good, they had a wonderful time.</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3 He was wearing a dark coat,</a:t>
            </a:r>
            <a:pPr indent="0" marL="0">
              <a:lnSpc>
                <a:spcPct val="105000"/>
              </a:lnSpc>
              <a:spcAft>
                <a:spcPts val="700"/>
              </a:spcAft>
              <a:buNone/>
            </a:pPr>
            <a:r>
              <a:rPr lang="en-US" sz="1500" b="1" dirty="0">
                <a:solidFill>
                  <a:srgbClr val="1B2559"/>
                </a:solidFill>
                <a:highlight>
                  <a:srgbClr val="FFE066"/>
                </a:highlight>
                <a:latin typeface="Georgia" pitchFamily="34" charset="0"/>
                <a:ea typeface="Georgia" pitchFamily="34" charset="-122"/>
                <a:cs typeface="Georgia" pitchFamily="34" charset="-120"/>
              </a:rPr>
              <a:t> (3) so </a:t>
            </a:r>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Hannah didn't see him at first.</a:t>
            </a:r>
            <a:endParaRPr lang="en-US" sz="1500" dirty="0"/>
          </a:p>
        </p:txBody>
      </p:sp>
      <p:sp>
        <p:nvSpPr>
          <p:cNvPr id="17" name="cd_99"/>
          <p:cNvSpPr/>
          <p:nvPr/>
        </p:nvSpPr>
        <p:spPr>
          <a:xfrm>
            <a:off x="6263640" y="1417320"/>
            <a:ext cx="2606040" cy="1952752"/>
          </a:xfrm>
          <a:prstGeom prst="roundRect">
            <a:avLst>
              <a:gd name="adj" fmla="val 6556"/>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8" name="ii_100"/>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101"/>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What do they show?</a:t>
            </a:r>
            <a:endParaRPr lang="en-US" sz="1300" dirty="0"/>
          </a:p>
        </p:txBody>
      </p:sp>
      <p:sp>
        <p:nvSpPr>
          <p:cNvPr id="20" name="il_102"/>
          <p:cNvSpPr/>
          <p:nvPr/>
        </p:nvSpPr>
        <p:spPr>
          <a:xfrm>
            <a:off x="6830568" y="1911096"/>
            <a:ext cx="1947672" cy="1385824"/>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because → reason</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so → result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although → contrast (= but)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but → contrast</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0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04"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105"/>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300" dirty="0">
                <a:solidFill>
                  <a:srgbClr val="1B2559"/>
                </a:solidFill>
                <a:latin typeface="Arial Rounded MT Bold" pitchFamily="34" charset="0"/>
                <a:ea typeface="Arial Rounded MT Bold" pitchFamily="34" charset="-122"/>
                <a:cs typeface="Arial Rounded MT Bold" pitchFamily="34" charset="-120"/>
              </a:rPr>
              <a:t>Sequencers and connectors</a:t>
            </a:r>
            <a:endParaRPr lang="en-US" sz="2300" dirty="0"/>
          </a:p>
        </p:txBody>
      </p:sp>
      <p:pic>
        <p:nvPicPr>
          <p:cNvPr id="6" name="brP_106"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107"/>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examples. Then click!</a:t>
            </a:r>
            <a:endParaRPr lang="en-US" sz="1250" dirty="0"/>
          </a:p>
        </p:txBody>
      </p:sp>
      <p:sp>
        <p:nvSpPr>
          <p:cNvPr id="8" name="insIT_10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gli esempi. Poi clicca!</a:t>
            </a:r>
            <a:endParaRPr lang="en-US" sz="950" dirty="0"/>
          </a:p>
        </p:txBody>
      </p:sp>
      <p:sp>
        <p:nvSpPr>
          <p:cNvPr id="9" name="note_10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GUARDA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Guided discovery</a:t>
            </a:r>
            <a:endParaRPr lang="en-US" sz="1250" dirty="0"/>
          </a:p>
        </p:txBody>
      </p:sp>
      <p:pic>
        <p:nvPicPr>
          <p:cNvPr id="10" name="logo_11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1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Grammar Bank 2C · the rule   ·   📖 Grammar Bank 2C p.128 (TG notes)</a:t>
            </a:r>
            <a:endParaRPr lang="en-US" sz="800" dirty="0"/>
          </a:p>
        </p:txBody>
      </p:sp>
      <p:sp>
        <p:nvSpPr>
          <p:cNvPr id="12" name="cd_112"/>
          <p:cNvSpPr/>
          <p:nvPr/>
        </p:nvSpPr>
        <p:spPr>
          <a:xfrm>
            <a:off x="320040" y="1417320"/>
            <a:ext cx="2758440" cy="3017520"/>
          </a:xfrm>
          <a:prstGeom prst="roundRect">
            <a:avLst>
              <a:gd name="adj" fmla="val 4641"/>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rh_113"/>
          <p:cNvSpPr/>
          <p:nvPr/>
        </p:nvSpPr>
        <p:spPr>
          <a:xfrm>
            <a:off x="429768" y="1508760"/>
            <a:ext cx="25389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time sequencers</a:t>
            </a:r>
            <a:endParaRPr lang="en-US" sz="1250" dirty="0"/>
          </a:p>
        </p:txBody>
      </p:sp>
      <p:sp>
        <p:nvSpPr>
          <p:cNvPr id="14" name="R1_rx114"/>
          <p:cNvSpPr/>
          <p:nvPr/>
        </p:nvSpPr>
        <p:spPr>
          <a:xfrm>
            <a:off x="457200" y="2011680"/>
            <a:ext cx="2484120" cy="1965960"/>
          </a:xfrm>
          <a:prstGeom prst="rect">
            <a:avLst/>
          </a:prstGeom>
          <a:noFill/>
          <a:ln/>
        </p:spPr>
        <p:txBody>
          <a:bodyPr wrap="square" lIns="0" tIns="0" rIns="0" bIns="0" rtlCol="0" anchor="ctr">
            <a:normAutofit/>
          </a:bodyPr>
          <a:lstStyle/>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One afternoon in October…</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The next day… / After that…</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Two minutes later… / Suddenly…</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When Hannah left the club…</a:t>
            </a:r>
            <a:endParaRPr lang="en-US" sz="1400" dirty="0"/>
          </a:p>
        </p:txBody>
      </p:sp>
      <p:sp>
        <p:nvSpPr>
          <p:cNvPr id="15" name="R1_ri115"/>
          <p:cNvSpPr/>
          <p:nvPr/>
        </p:nvSpPr>
        <p:spPr>
          <a:xfrm>
            <a:off x="411480" y="4023360"/>
            <a:ext cx="2575560" cy="320040"/>
          </a:xfrm>
          <a:prstGeom prst="rect">
            <a:avLst/>
          </a:prstGeom>
          <a:noFill/>
          <a:ln/>
        </p:spPr>
        <p:txBody>
          <a:bodyPr wrap="square" lIns="0" tIns="0" rIns="0" bIns="0" rtlCol="0" anchor="ctr">
            <a:normAutofit/>
          </a:bodyPr>
          <a:lstStyle/>
          <a:p>
            <a:pPr algn="ctr" indent="0" marL="0">
              <a:buNone/>
            </a:pPr>
            <a:r>
              <a:rPr lang="en-US" sz="1100" i="1" dirty="0">
                <a:solidFill>
                  <a:srgbClr val="5B6785"/>
                </a:solidFill>
                <a:latin typeface="Segoe UI Semibold" pitchFamily="34" charset="0"/>
                <a:ea typeface="Segoe UI Semibold" pitchFamily="34" charset="-122"/>
                <a:cs typeface="Segoe UI Semibold" pitchFamily="34" charset="-120"/>
              </a:rPr>
              <a:t>ordine degli eventi</a:t>
            </a:r>
            <a:endParaRPr lang="en-US" sz="1100" dirty="0"/>
          </a:p>
        </p:txBody>
      </p:sp>
      <p:sp>
        <p:nvSpPr>
          <p:cNvPr id="16" name="cd_116"/>
          <p:cNvSpPr/>
          <p:nvPr/>
        </p:nvSpPr>
        <p:spPr>
          <a:xfrm>
            <a:off x="3215640" y="1417320"/>
            <a:ext cx="2758440" cy="3017520"/>
          </a:xfrm>
          <a:prstGeom prst="roundRect">
            <a:avLst>
              <a:gd name="adj" fmla="val 4641"/>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rh_117"/>
          <p:cNvSpPr/>
          <p:nvPr/>
        </p:nvSpPr>
        <p:spPr>
          <a:xfrm>
            <a:off x="3325368" y="1508760"/>
            <a:ext cx="25389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so · because</a:t>
            </a:r>
            <a:endParaRPr lang="en-US" sz="1250" dirty="0"/>
          </a:p>
        </p:txBody>
      </p:sp>
      <p:sp>
        <p:nvSpPr>
          <p:cNvPr id="18" name="R2_rx118"/>
          <p:cNvSpPr/>
          <p:nvPr/>
        </p:nvSpPr>
        <p:spPr>
          <a:xfrm>
            <a:off x="3352800" y="2011680"/>
            <a:ext cx="2484120" cy="1965960"/>
          </a:xfrm>
          <a:prstGeom prst="rect">
            <a:avLst/>
          </a:prstGeom>
          <a:noFill/>
          <a:ln/>
        </p:spPr>
        <p:txBody>
          <a:bodyPr wrap="square" lIns="0" tIns="0" rIns="0" bIns="0" rtlCol="0" anchor="ctr">
            <a:normAutofit/>
          </a:bodyPr>
          <a:lstStyle/>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It was late, so I took a taxi.</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I took a taxi because it was late.</a:t>
            </a:r>
            <a:endParaRPr lang="en-US" sz="1400" dirty="0"/>
          </a:p>
        </p:txBody>
      </p:sp>
      <p:sp>
        <p:nvSpPr>
          <p:cNvPr id="19" name="R2_ri119"/>
          <p:cNvSpPr/>
          <p:nvPr/>
        </p:nvSpPr>
        <p:spPr>
          <a:xfrm>
            <a:off x="3307080" y="4023360"/>
            <a:ext cx="2575560" cy="320040"/>
          </a:xfrm>
          <a:prstGeom prst="rect">
            <a:avLst/>
          </a:prstGeom>
          <a:noFill/>
          <a:ln/>
        </p:spPr>
        <p:txBody>
          <a:bodyPr wrap="square" lIns="0" tIns="0" rIns="0" bIns="0" rtlCol="0" anchor="ctr">
            <a:normAutofit/>
          </a:bodyPr>
          <a:lstStyle/>
          <a:p>
            <a:pPr algn="ctr" indent="0" marL="0">
              <a:buNone/>
            </a:pPr>
            <a:r>
              <a:rPr lang="en-US" sz="1100" i="1" dirty="0">
                <a:solidFill>
                  <a:srgbClr val="5B6785"/>
                </a:solidFill>
                <a:latin typeface="Segoe UI Semibold" pitchFamily="34" charset="0"/>
                <a:ea typeface="Segoe UI Semibold" pitchFamily="34" charset="-122"/>
                <a:cs typeface="Segoe UI Semibold" pitchFamily="34" charset="-120"/>
              </a:rPr>
              <a:t>so = quindi · because = perché</a:t>
            </a:r>
            <a:endParaRPr lang="en-US" sz="1100" dirty="0"/>
          </a:p>
        </p:txBody>
      </p:sp>
      <p:sp>
        <p:nvSpPr>
          <p:cNvPr id="20" name="cd_120"/>
          <p:cNvSpPr/>
          <p:nvPr/>
        </p:nvSpPr>
        <p:spPr>
          <a:xfrm>
            <a:off x="6111240" y="1417320"/>
            <a:ext cx="2758440" cy="3017520"/>
          </a:xfrm>
          <a:prstGeom prst="roundRect">
            <a:avLst>
              <a:gd name="adj" fmla="val 4641"/>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rh_121"/>
          <p:cNvSpPr/>
          <p:nvPr/>
        </p:nvSpPr>
        <p:spPr>
          <a:xfrm>
            <a:off x="6220968" y="1508760"/>
            <a:ext cx="25389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but · although</a:t>
            </a:r>
            <a:endParaRPr lang="en-US" sz="1250" dirty="0"/>
          </a:p>
        </p:txBody>
      </p:sp>
      <p:sp>
        <p:nvSpPr>
          <p:cNvPr id="22" name="R3_rx122"/>
          <p:cNvSpPr/>
          <p:nvPr/>
        </p:nvSpPr>
        <p:spPr>
          <a:xfrm>
            <a:off x="6248400" y="2011680"/>
            <a:ext cx="2484120" cy="1965960"/>
          </a:xfrm>
          <a:prstGeom prst="rect">
            <a:avLst/>
          </a:prstGeom>
          <a:noFill/>
          <a:ln/>
        </p:spPr>
        <p:txBody>
          <a:bodyPr wrap="square" lIns="0" tIns="0" rIns="0" bIns="0" rtlCol="0" anchor="ctr">
            <a:normAutofit/>
          </a:bodyPr>
          <a:lstStyle/>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It was raining, but we went out.</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Although it was raining, we went out.</a:t>
            </a:r>
            <a:endParaRPr lang="en-US" sz="1400" dirty="0"/>
          </a:p>
        </p:txBody>
      </p:sp>
      <p:sp>
        <p:nvSpPr>
          <p:cNvPr id="23" name="R3_ri123"/>
          <p:cNvSpPr/>
          <p:nvPr/>
        </p:nvSpPr>
        <p:spPr>
          <a:xfrm>
            <a:off x="6202680" y="4023360"/>
            <a:ext cx="2575560" cy="320040"/>
          </a:xfrm>
          <a:prstGeom prst="rect">
            <a:avLst/>
          </a:prstGeom>
          <a:noFill/>
          <a:ln/>
        </p:spPr>
        <p:txBody>
          <a:bodyPr wrap="square" lIns="0" tIns="0" rIns="0" bIns="0" rtlCol="0" anchor="ctr">
            <a:normAutofit/>
          </a:bodyPr>
          <a:lstStyle/>
          <a:p>
            <a:pPr algn="ctr" indent="0" marL="0">
              <a:buNone/>
            </a:pPr>
            <a:r>
              <a:rPr lang="en-US" sz="1100" i="1" dirty="0">
                <a:solidFill>
                  <a:srgbClr val="5B6785"/>
                </a:solidFill>
                <a:latin typeface="Segoe UI Semibold" pitchFamily="34" charset="0"/>
                <a:ea typeface="Segoe UI Semibold" pitchFamily="34" charset="-122"/>
                <a:cs typeface="Segoe UI Semibold" pitchFamily="34" charset="-120"/>
              </a:rPr>
              <a:t>ma · anche se</a:t>
            </a:r>
            <a:endParaRPr lang="en-US" sz="1100" dirty="0"/>
          </a:p>
        </p:txBody>
      </p:sp>
      <p:sp>
        <p:nvSpPr>
          <p:cNvPr id="24" name="R4_wc124"/>
          <p:cNvSpPr/>
          <p:nvPr/>
        </p:nvSpPr>
        <p:spPr>
          <a:xfrm>
            <a:off x="320040" y="4544568"/>
            <a:ext cx="8549640" cy="329184"/>
          </a:xfrm>
          <a:prstGeom prst="roundRect">
            <a:avLst>
              <a:gd name="adj" fmla="val 38889"/>
            </a:avLst>
          </a:prstGeom>
          <a:solidFill>
            <a:srgbClr val="FFE3EE"/>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5" name="R4_w125"/>
          <p:cNvSpPr/>
          <p:nvPr/>
        </p:nvSpPr>
        <p:spPr>
          <a:xfrm>
            <a:off x="457200" y="4544568"/>
            <a:ext cx="8321040"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 ✗ Although it was cold, but we went out. → ✓ Although it was cold, we went out. (only ONE connector!)</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6"/>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27"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128"/>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Connect it!</a:t>
            </a:r>
            <a:endParaRPr lang="en-US" sz="2500" dirty="0"/>
          </a:p>
        </p:txBody>
      </p:sp>
      <p:pic>
        <p:nvPicPr>
          <p:cNvPr id="6" name="brP_129"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30"/>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Teams: so, because, but or although? Then finish the sentence!</a:t>
            </a:r>
            <a:endParaRPr lang="en-US" sz="1100" dirty="0"/>
          </a:p>
        </p:txBody>
      </p:sp>
      <p:sp>
        <p:nvSpPr>
          <p:cNvPr id="8" name="insIT_13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Squadre: so, because, but o although? Poi finite la frase!</a:t>
            </a:r>
            <a:endParaRPr lang="en-US" sz="950" dirty="0"/>
          </a:p>
        </p:txBody>
      </p:sp>
      <p:sp>
        <p:nvSpPr>
          <p:cNvPr id="9" name="note_13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 game</a:t>
            </a:r>
            <a:endParaRPr lang="en-US" sz="1250" dirty="0"/>
          </a:p>
        </p:txBody>
      </p:sp>
      <p:pic>
        <p:nvPicPr>
          <p:cNvPr id="10" name="logo_13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3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Game · connectors   ·   📖 Grammar Bank 2C p.129 b (TG key)</a:t>
            </a:r>
            <a:endParaRPr lang="en-US" sz="800" dirty="0"/>
          </a:p>
        </p:txBody>
      </p:sp>
      <p:sp>
        <p:nvSpPr>
          <p:cNvPr id="12" name="cd_135"/>
          <p:cNvSpPr/>
          <p:nvPr/>
        </p:nvSpPr>
        <p:spPr>
          <a:xfrm>
            <a:off x="320040" y="1417320"/>
            <a:ext cx="2697480" cy="1917192"/>
          </a:xfrm>
          <a:prstGeom prst="roundRect">
            <a:avLst>
              <a:gd name="adj" fmla="val 66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3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37"/>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138"/>
          <p:cNvSpPr/>
          <p:nvPr/>
        </p:nvSpPr>
        <p:spPr>
          <a:xfrm>
            <a:off x="886968" y="1911096"/>
            <a:ext cx="2039112" cy="1350264"/>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Read the two halves.</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Choose the connector = 1 point.</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Make it into one sentence = 1 more point!</a:t>
            </a:r>
            <a:endParaRPr lang="en-US" sz="1200" dirty="0"/>
          </a:p>
        </p:txBody>
      </p:sp>
      <p:sp>
        <p:nvSpPr>
          <p:cNvPr id="16" name="st_139"/>
          <p:cNvSpPr/>
          <p:nvPr/>
        </p:nvSpPr>
        <p:spPr>
          <a:xfrm rot="-180000">
            <a:off x="502920" y="3517392"/>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140"/>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141"/>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It was very cold. She wasn't wearing a coat.</a:t>
            </a:r>
            <a:endParaRPr lang="en-US" sz="1250" dirty="0"/>
          </a:p>
        </p:txBody>
      </p:sp>
      <p:sp>
        <p:nvSpPr>
          <p:cNvPr id="19" name="chip_142"/>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Although it was very cold, she wasn't wearing a coat.</a:t>
            </a:r>
            <a:endParaRPr lang="en-US" sz="1150" dirty="0"/>
          </a:p>
        </p:txBody>
      </p:sp>
      <p:sp>
        <p:nvSpPr>
          <p:cNvPr id="20" name="bd_143"/>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144"/>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 woke him up in the night. There was a noise.</a:t>
            </a:r>
            <a:endParaRPr lang="en-US" sz="1250" dirty="0"/>
          </a:p>
        </p:txBody>
      </p:sp>
      <p:sp>
        <p:nvSpPr>
          <p:cNvPr id="22" name="R1_chip145"/>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I woke him up because there was a noise.</a:t>
            </a:r>
            <a:endParaRPr lang="en-US" sz="1150" dirty="0"/>
          </a:p>
        </p:txBody>
      </p:sp>
      <p:sp>
        <p:nvSpPr>
          <p:cNvPr id="23" name="bd_146"/>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147"/>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 called him. His mobile was turned off.</a:t>
            </a:r>
            <a:endParaRPr lang="en-US" sz="1250" dirty="0"/>
          </a:p>
        </p:txBody>
      </p:sp>
      <p:sp>
        <p:nvSpPr>
          <p:cNvPr id="25" name="R2_chip148"/>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I called him, but his mobile was turned off.</a:t>
            </a:r>
            <a:endParaRPr lang="en-US" sz="1150" dirty="0"/>
          </a:p>
        </p:txBody>
      </p:sp>
      <p:sp>
        <p:nvSpPr>
          <p:cNvPr id="26" name="bd_149"/>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150"/>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There was nothing on TV. I went to bed.</a:t>
            </a:r>
            <a:endParaRPr lang="en-US" sz="1250" dirty="0"/>
          </a:p>
        </p:txBody>
      </p:sp>
      <p:sp>
        <p:nvSpPr>
          <p:cNvPr id="28" name="R3_chip151"/>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There was nothing on TV, so I went to bed.</a:t>
            </a:r>
            <a:endParaRPr lang="en-US" sz="1150" dirty="0"/>
          </a:p>
        </p:txBody>
      </p:sp>
      <p:sp>
        <p:nvSpPr>
          <p:cNvPr id="29" name="bd_152"/>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153"/>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She wanted to be a doctor. She failed her exams.</a:t>
            </a:r>
            <a:endParaRPr lang="en-US" sz="1250" dirty="0"/>
          </a:p>
        </p:txBody>
      </p:sp>
      <p:sp>
        <p:nvSpPr>
          <p:cNvPr id="31" name="R4_chip154"/>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She wanted to be a doctor, but she failed her exams.</a:t>
            </a:r>
            <a:endParaRPr lang="en-US" sz="1150" dirty="0"/>
          </a:p>
        </p:txBody>
      </p:sp>
      <p:sp>
        <p:nvSpPr>
          <p:cNvPr id="32" name="bd_155"/>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156"/>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 team played well. They didn't win.</a:t>
            </a:r>
            <a:endParaRPr lang="en-US" sz="1250" dirty="0"/>
          </a:p>
        </p:txBody>
      </p:sp>
      <p:sp>
        <p:nvSpPr>
          <p:cNvPr id="34" name="R5_chip157"/>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Although the team played well, they didn't win.</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58"/>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159"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160"/>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Your endings</a:t>
            </a:r>
            <a:endParaRPr lang="en-US" sz="2500" dirty="0"/>
          </a:p>
        </p:txBody>
      </p:sp>
      <p:pic>
        <p:nvPicPr>
          <p:cNvPr id="6" name="brP_161"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62"/>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Finish the sentences in your own words. Compare with a partner.</a:t>
            </a:r>
            <a:endParaRPr lang="en-US" sz="1100" dirty="0"/>
          </a:p>
        </p:txBody>
      </p:sp>
      <p:sp>
        <p:nvSpPr>
          <p:cNvPr id="8" name="insIT_16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Completa le frasi con parole tue. Confronta con un compagno.</a:t>
            </a:r>
            <a:endParaRPr lang="en-US" sz="950" dirty="0"/>
          </a:p>
        </p:txBody>
      </p:sp>
      <p:sp>
        <p:nvSpPr>
          <p:cNvPr id="9" name="note_16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a:t>
            </a:r>
            <a:endParaRPr lang="en-US" sz="1150" dirty="0"/>
          </a:p>
        </p:txBody>
      </p:sp>
      <p:pic>
        <p:nvPicPr>
          <p:cNvPr id="10" name="logo_16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6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Grammar · personalise   ·   📖 SB p.19 · 1f</a:t>
            </a:r>
            <a:endParaRPr lang="en-US" sz="800" dirty="0"/>
          </a:p>
        </p:txBody>
      </p:sp>
      <p:sp>
        <p:nvSpPr>
          <p:cNvPr id="12" name="cd_167"/>
          <p:cNvSpPr/>
          <p:nvPr/>
        </p:nvSpPr>
        <p:spPr>
          <a:xfrm>
            <a:off x="320040" y="1417320"/>
            <a:ext cx="2788920" cy="1765808"/>
          </a:xfrm>
          <a:prstGeom prst="roundRect">
            <a:avLst>
              <a:gd name="adj" fmla="val 725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6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69"/>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5" name="il_170"/>
          <p:cNvSpPr/>
          <p:nvPr/>
        </p:nvSpPr>
        <p:spPr>
          <a:xfrm>
            <a:off x="886968" y="1911096"/>
            <a:ext cx="2130552" cy="11988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…so I…</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…because…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…but / although…</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Suddenly, …</a:t>
            </a:r>
            <a:endParaRPr lang="en-US" sz="1150" dirty="0"/>
          </a:p>
        </p:txBody>
      </p:sp>
      <p:sp>
        <p:nvSpPr>
          <p:cNvPr id="16" name="R1_qb171"/>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7" name="R1_sq172"/>
          <p:cNvSpPr/>
          <p:nvPr/>
        </p:nvSpPr>
        <p:spPr>
          <a:xfrm>
            <a:off x="3675888" y="1417320"/>
            <a:ext cx="5193792" cy="483108"/>
          </a:xfrm>
          <a:prstGeom prst="roundRect">
            <a:avLst>
              <a:gd name="adj" fmla="val 22713"/>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We fell in love on our first date. Two months later…</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…we got married in Las Vegas!</a:t>
            </a:r>
            <a:endParaRPr lang="en-US" sz="1200" dirty="0"/>
          </a:p>
        </p:txBody>
      </p:sp>
      <p:sp>
        <p:nvSpPr>
          <p:cNvPr id="18" name="R2_qb173"/>
          <p:cNvSpPr/>
          <p:nvPr/>
        </p:nvSpPr>
        <p:spPr>
          <a:xfrm>
            <a:off x="3273552" y="201015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19" name="R2_sq174"/>
          <p:cNvSpPr/>
          <p:nvPr/>
        </p:nvSpPr>
        <p:spPr>
          <a:xfrm>
            <a:off x="3675888" y="1973580"/>
            <a:ext cx="5193792" cy="483108"/>
          </a:xfrm>
          <a:prstGeom prst="roundRect">
            <a:avLst>
              <a:gd name="adj" fmla="val 22713"/>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I went to bed early last night because…</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…I was really tired.</a:t>
            </a:r>
            <a:endParaRPr lang="en-US" sz="1200" dirty="0"/>
          </a:p>
        </p:txBody>
      </p:sp>
      <p:sp>
        <p:nvSpPr>
          <p:cNvPr id="20" name="R3_qb175"/>
          <p:cNvSpPr/>
          <p:nvPr/>
        </p:nvSpPr>
        <p:spPr>
          <a:xfrm>
            <a:off x="3273552" y="2566416"/>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1" name="R3_sq176"/>
          <p:cNvSpPr/>
          <p:nvPr/>
        </p:nvSpPr>
        <p:spPr>
          <a:xfrm>
            <a:off x="3675888" y="2529840"/>
            <a:ext cx="5193792" cy="483108"/>
          </a:xfrm>
          <a:prstGeom prst="roundRect">
            <a:avLst>
              <a:gd name="adj" fmla="val 22713"/>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weather was beautiful, so we decided…</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…to go to the beach.</a:t>
            </a:r>
            <a:endParaRPr lang="en-US" sz="1200" dirty="0"/>
          </a:p>
        </p:txBody>
      </p:sp>
      <p:sp>
        <p:nvSpPr>
          <p:cNvPr id="22" name="R4_qb177"/>
          <p:cNvSpPr/>
          <p:nvPr/>
        </p:nvSpPr>
        <p:spPr>
          <a:xfrm>
            <a:off x="3273552" y="3122676"/>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3" name="R4_sq178"/>
          <p:cNvSpPr/>
          <p:nvPr/>
        </p:nvSpPr>
        <p:spPr>
          <a:xfrm>
            <a:off x="3675888" y="3086100"/>
            <a:ext cx="5193792" cy="483108"/>
          </a:xfrm>
          <a:prstGeom prst="roundRect">
            <a:avLst>
              <a:gd name="adj" fmla="val 22713"/>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It was really cold last night, and when I woke up this morning…</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e.g. …there was snow on the car!</a:t>
            </a:r>
            <a:endParaRPr lang="en-US" sz="1150" dirty="0"/>
          </a:p>
        </p:txBody>
      </p:sp>
      <p:sp>
        <p:nvSpPr>
          <p:cNvPr id="24" name="R5_qb179"/>
          <p:cNvSpPr/>
          <p:nvPr/>
        </p:nvSpPr>
        <p:spPr>
          <a:xfrm>
            <a:off x="3273552" y="367893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5" name="R5_sq180"/>
          <p:cNvSpPr/>
          <p:nvPr/>
        </p:nvSpPr>
        <p:spPr>
          <a:xfrm>
            <a:off x="3675888" y="3642360"/>
            <a:ext cx="5193792" cy="483108"/>
          </a:xfrm>
          <a:prstGeom prst="roundRect">
            <a:avLst>
              <a:gd name="adj" fmla="val 22713"/>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Although we didn't play well in the final…</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…we won 1–0.</a:t>
            </a:r>
            <a:endParaRPr lang="en-US" sz="1200" dirty="0"/>
          </a:p>
        </p:txBody>
      </p:sp>
      <p:sp>
        <p:nvSpPr>
          <p:cNvPr id="26" name="R6_qb181"/>
          <p:cNvSpPr/>
          <p:nvPr/>
        </p:nvSpPr>
        <p:spPr>
          <a:xfrm>
            <a:off x="3273552" y="423519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27" name="R6_sq182"/>
          <p:cNvSpPr/>
          <p:nvPr/>
        </p:nvSpPr>
        <p:spPr>
          <a:xfrm>
            <a:off x="3675888" y="4198620"/>
            <a:ext cx="5193792" cy="483108"/>
          </a:xfrm>
          <a:prstGeom prst="roundRect">
            <a:avLst>
              <a:gd name="adj" fmla="val 22713"/>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I was driving along the high street listening to the radio. Suddenly…</a:t>
            </a:r>
            <a:endParaRPr lang="en-US" sz="100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e.g. …a dog ran across the road.</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400"/>
                                        <p:tgtEl>
                                          <p:spTgt spid="24"/>
                                        </p:tgtEl>
                                      </p:cBhvr>
                                    </p:animEffect>
                                  </p:childTnLst>
                                </p:cTn>
                              </p:par>
                              <p:par>
                                <p:cTn id="40" presetID="10" presetClass="entr" presetSubtype="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4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00"/>
                                        <p:tgtEl>
                                          <p:spTgt spid="26"/>
                                        </p:tgtEl>
                                      </p:cBhvr>
                                    </p:animEffect>
                                  </p:childTnLst>
                                </p:cTn>
                              </p:par>
                              <p:par>
                                <p:cTn id="48" presetID="10" presetClass="entr" presetSubtype="0" fill="hold"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8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184" descr="/home/claude/lls-course/v2/assets/brush-yellow.png">    </p:cNvPr>
          <p:cNvPicPr>
            <a:picLocks noChangeAspect="1"/>
          </p:cNvPicPr>
          <p:nvPr/>
        </p:nvPicPr>
        <p:blipFill>
          <a:blip r:embed="rId2"/>
          <a:stretch>
            <a:fillRect/>
          </a:stretch>
        </p:blipFill>
        <p:spPr>
          <a:xfrm>
            <a:off x="1097280" y="146304"/>
            <a:ext cx="5135270" cy="621792"/>
          </a:xfrm>
          <a:prstGeom prst="rect">
            <a:avLst/>
          </a:prstGeom>
        </p:spPr>
      </p:pic>
      <p:sp>
        <p:nvSpPr>
          <p:cNvPr id="5" name="title_185"/>
          <p:cNvSpPr/>
          <p:nvPr/>
        </p:nvSpPr>
        <p:spPr>
          <a:xfrm>
            <a:off x="1261872" y="164592"/>
            <a:ext cx="486095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Stress in two-syllable words</a:t>
            </a:r>
            <a:endParaRPr lang="en-US" sz="2500" dirty="0"/>
          </a:p>
        </p:txBody>
      </p:sp>
      <p:pic>
        <p:nvPicPr>
          <p:cNvPr id="6" name="brP_186"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87"/>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Where's the stress? 1st or 2nd syllable? Say the words!</a:t>
            </a:r>
            <a:endParaRPr lang="en-US" sz="1250" dirty="0"/>
          </a:p>
        </p:txBody>
      </p:sp>
      <p:sp>
        <p:nvSpPr>
          <p:cNvPr id="8" name="insIT_18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Dov'è l'accento? 1ª o 2ª sillaba? Di' le parole!</a:t>
            </a:r>
            <a:endParaRPr lang="en-US" sz="950" dirty="0"/>
          </a:p>
        </p:txBody>
      </p:sp>
      <p:sp>
        <p:nvSpPr>
          <p:cNvPr id="9" name="note_18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MATCH</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Guided discovery</a:t>
            </a:r>
            <a:endParaRPr lang="en-US" sz="1150" dirty="0"/>
          </a:p>
        </p:txBody>
      </p:sp>
      <p:pic>
        <p:nvPicPr>
          <p:cNvPr id="10" name="logo_19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9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Pronunciation · word stress   ·   📖 SB p.19 · 2a, 2b (TG key 2.20)</a:t>
            </a:r>
            <a:endParaRPr lang="en-US" sz="800" dirty="0"/>
          </a:p>
        </p:txBody>
      </p:sp>
      <p:sp>
        <p:nvSpPr>
          <p:cNvPr id="12" name="cd_192"/>
          <p:cNvSpPr/>
          <p:nvPr/>
        </p:nvSpPr>
        <p:spPr>
          <a:xfrm>
            <a:off x="320040" y="1417320"/>
            <a:ext cx="2697480" cy="1527048"/>
          </a:xfrm>
          <a:prstGeom prst="roundRect">
            <a:avLst>
              <a:gd name="adj" fmla="val 838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9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9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stress</a:t>
            </a:r>
            <a:endParaRPr lang="en-US" sz="1300" dirty="0"/>
          </a:p>
        </p:txBody>
      </p:sp>
      <p:sp>
        <p:nvSpPr>
          <p:cNvPr id="15" name="lg_195"/>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  1st syllable</a:t>
            </a:r>
            <a:endParaRPr lang="en-US" sz="1050" dirty="0"/>
          </a:p>
        </p:txBody>
      </p:sp>
      <p:sp>
        <p:nvSpPr>
          <p:cNvPr id="16" name="lg_196"/>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  2nd syllable</a:t>
            </a:r>
            <a:endParaRPr lang="en-US" sz="1050" dirty="0"/>
          </a:p>
        </p:txBody>
      </p:sp>
      <p:sp>
        <p:nvSpPr>
          <p:cNvPr id="17" name="sq_197"/>
          <p:cNvSpPr/>
          <p:nvPr/>
        </p:nvSpPr>
        <p:spPr>
          <a:xfrm>
            <a:off x="3246120" y="1417320"/>
            <a:ext cx="3840480" cy="210312"/>
          </a:xfrm>
          <a:prstGeom prst="roundRect">
            <a:avLst>
              <a:gd name="adj" fmla="val 43478"/>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e.g. a</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cross</a:t>
            </a:r>
            <a:endParaRPr lang="en-US" sz="1200" dirty="0"/>
          </a:p>
        </p:txBody>
      </p:sp>
      <p:sp>
        <p:nvSpPr>
          <p:cNvPr id="18" name="R1_tag198"/>
          <p:cNvSpPr/>
          <p:nvPr/>
        </p:nvSpPr>
        <p:spPr>
          <a:xfrm>
            <a:off x="7178040" y="1417320"/>
            <a:ext cx="1691640" cy="210312"/>
          </a:xfrm>
          <a:prstGeom prst="roundRect">
            <a:avLst>
              <a:gd name="adj" fmla="val 108696"/>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2nd syllable</a:t>
            </a:r>
            <a:endParaRPr lang="en-US" sz="1150" dirty="0"/>
          </a:p>
        </p:txBody>
      </p:sp>
      <p:sp>
        <p:nvSpPr>
          <p:cNvPr id="19" name="sq_199"/>
          <p:cNvSpPr/>
          <p:nvPr/>
        </p:nvSpPr>
        <p:spPr>
          <a:xfrm>
            <a:off x="3246120" y="1691640"/>
            <a:ext cx="3840480" cy="210312"/>
          </a:xfrm>
          <a:prstGeom prst="roundRect">
            <a:avLst>
              <a:gd name="adj" fmla="val 43478"/>
            </a:avLst>
          </a:prstGeom>
          <a:solidFill>
            <a:srgbClr val="FFFFFF"/>
          </a:solidFill>
          <a:ln w="28575">
            <a:solidFill>
              <a:srgbClr val="A9D3F5"/>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af</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ter</a:t>
            </a:r>
            <a:endParaRPr lang="en-US" sz="1200" dirty="0"/>
          </a:p>
        </p:txBody>
      </p:sp>
      <p:sp>
        <p:nvSpPr>
          <p:cNvPr id="20" name="R2_tag200"/>
          <p:cNvSpPr/>
          <p:nvPr/>
        </p:nvSpPr>
        <p:spPr>
          <a:xfrm>
            <a:off x="7178040" y="1691640"/>
            <a:ext cx="1691640" cy="210312"/>
          </a:xfrm>
          <a:prstGeom prst="roundRect">
            <a:avLst>
              <a:gd name="adj" fmla="val 108696"/>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1st syllable</a:t>
            </a:r>
            <a:endParaRPr lang="en-US" sz="1150" dirty="0"/>
          </a:p>
        </p:txBody>
      </p:sp>
      <p:sp>
        <p:nvSpPr>
          <p:cNvPr id="21" name="sq_201"/>
          <p:cNvSpPr/>
          <p:nvPr/>
        </p:nvSpPr>
        <p:spPr>
          <a:xfrm>
            <a:off x="3246120" y="1965960"/>
            <a:ext cx="3840480" cy="210312"/>
          </a:xfrm>
          <a:prstGeom prst="roundRect">
            <a:avLst>
              <a:gd name="adj" fmla="val 43478"/>
            </a:avLst>
          </a:prstGeom>
          <a:solidFill>
            <a:srgbClr val="FFFFFF"/>
          </a:solidFill>
          <a:ln w="28575">
            <a:solidFill>
              <a:srgbClr val="A8E5BE"/>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gain</a:t>
            </a:r>
            <a:endParaRPr lang="en-US" sz="1200" dirty="0"/>
          </a:p>
        </p:txBody>
      </p:sp>
      <p:sp>
        <p:nvSpPr>
          <p:cNvPr id="22" name="R3_tag202"/>
          <p:cNvSpPr/>
          <p:nvPr/>
        </p:nvSpPr>
        <p:spPr>
          <a:xfrm>
            <a:off x="7178040" y="1965960"/>
            <a:ext cx="1691640" cy="210312"/>
          </a:xfrm>
          <a:prstGeom prst="roundRect">
            <a:avLst>
              <a:gd name="adj" fmla="val 108696"/>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2nd syllable</a:t>
            </a:r>
            <a:endParaRPr lang="en-US" sz="1150" dirty="0"/>
          </a:p>
        </p:txBody>
      </p:sp>
      <p:sp>
        <p:nvSpPr>
          <p:cNvPr id="23" name="sq_203"/>
          <p:cNvSpPr/>
          <p:nvPr/>
        </p:nvSpPr>
        <p:spPr>
          <a:xfrm>
            <a:off x="3246120" y="2240280"/>
            <a:ext cx="3840480" cy="210312"/>
          </a:xfrm>
          <a:prstGeom prst="roundRect">
            <a:avLst>
              <a:gd name="adj" fmla="val 43478"/>
            </a:avLst>
          </a:prstGeom>
          <a:solidFill>
            <a:srgbClr val="FFFFFF"/>
          </a:solidFill>
          <a:ln w="28575">
            <a:solidFill>
              <a:srgbClr val="FFE07A"/>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long</a:t>
            </a:r>
            <a:endParaRPr lang="en-US" sz="1200" dirty="0"/>
          </a:p>
        </p:txBody>
      </p:sp>
      <p:sp>
        <p:nvSpPr>
          <p:cNvPr id="24" name="R4_tag204"/>
          <p:cNvSpPr/>
          <p:nvPr/>
        </p:nvSpPr>
        <p:spPr>
          <a:xfrm>
            <a:off x="7178040" y="2240280"/>
            <a:ext cx="1691640" cy="210312"/>
          </a:xfrm>
          <a:prstGeom prst="roundRect">
            <a:avLst>
              <a:gd name="adj" fmla="val 108696"/>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2nd syllable</a:t>
            </a:r>
            <a:endParaRPr lang="en-US" sz="1150" dirty="0"/>
          </a:p>
        </p:txBody>
      </p:sp>
      <p:sp>
        <p:nvSpPr>
          <p:cNvPr id="25" name="sq_205"/>
          <p:cNvSpPr/>
          <p:nvPr/>
        </p:nvSpPr>
        <p:spPr>
          <a:xfrm>
            <a:off x="3246120" y="2514600"/>
            <a:ext cx="3840480" cy="210312"/>
          </a:xfrm>
          <a:prstGeom prst="roundRect">
            <a:avLst>
              <a:gd name="adj" fmla="val 43478"/>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al</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though</a:t>
            </a:r>
            <a:endParaRPr lang="en-US" sz="1200" dirty="0"/>
          </a:p>
        </p:txBody>
      </p:sp>
      <p:sp>
        <p:nvSpPr>
          <p:cNvPr id="26" name="R5_tag206"/>
          <p:cNvSpPr/>
          <p:nvPr/>
        </p:nvSpPr>
        <p:spPr>
          <a:xfrm>
            <a:off x="7178040" y="2514600"/>
            <a:ext cx="1691640" cy="210312"/>
          </a:xfrm>
          <a:prstGeom prst="roundRect">
            <a:avLst>
              <a:gd name="adj" fmla="val 108696"/>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2nd syllable</a:t>
            </a:r>
            <a:endParaRPr lang="en-US" sz="1150" dirty="0"/>
          </a:p>
        </p:txBody>
      </p:sp>
      <p:sp>
        <p:nvSpPr>
          <p:cNvPr id="27" name="sq_207"/>
          <p:cNvSpPr/>
          <p:nvPr/>
        </p:nvSpPr>
        <p:spPr>
          <a:xfrm>
            <a:off x="3246120" y="2788920"/>
            <a:ext cx="3840480" cy="210312"/>
          </a:xfrm>
          <a:prstGeom prst="roundRect">
            <a:avLst>
              <a:gd name="adj" fmla="val 43478"/>
            </a:avLst>
          </a:prstGeom>
          <a:solidFill>
            <a:srgbClr val="FFFFFF"/>
          </a:solidFill>
          <a:ln w="28575">
            <a:solidFill>
              <a:srgbClr val="A9D3F5"/>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aw</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ful</a:t>
            </a:r>
            <a:endParaRPr lang="en-US" sz="1200" dirty="0"/>
          </a:p>
        </p:txBody>
      </p:sp>
      <p:sp>
        <p:nvSpPr>
          <p:cNvPr id="28" name="R6_tag208"/>
          <p:cNvSpPr/>
          <p:nvPr/>
        </p:nvSpPr>
        <p:spPr>
          <a:xfrm>
            <a:off x="7178040" y="2788920"/>
            <a:ext cx="1691640" cy="210312"/>
          </a:xfrm>
          <a:prstGeom prst="roundRect">
            <a:avLst>
              <a:gd name="adj" fmla="val 108696"/>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1st syllable</a:t>
            </a:r>
            <a:endParaRPr lang="en-US" sz="1150" dirty="0"/>
          </a:p>
        </p:txBody>
      </p:sp>
      <p:sp>
        <p:nvSpPr>
          <p:cNvPr id="29" name="sq_209"/>
          <p:cNvSpPr/>
          <p:nvPr/>
        </p:nvSpPr>
        <p:spPr>
          <a:xfrm>
            <a:off x="3246120" y="3063240"/>
            <a:ext cx="3840480" cy="210312"/>
          </a:xfrm>
          <a:prstGeom prst="roundRect">
            <a:avLst>
              <a:gd name="adj" fmla="val 43478"/>
            </a:avLst>
          </a:prstGeom>
          <a:solidFill>
            <a:srgbClr val="FFFFFF"/>
          </a:solidFill>
          <a:ln w="28575">
            <a:solidFill>
              <a:srgbClr val="A8E5BE"/>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be</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cause</a:t>
            </a:r>
            <a:endParaRPr lang="en-US" sz="1200" dirty="0"/>
          </a:p>
        </p:txBody>
      </p:sp>
      <p:sp>
        <p:nvSpPr>
          <p:cNvPr id="30" name="R7_tag210"/>
          <p:cNvSpPr/>
          <p:nvPr/>
        </p:nvSpPr>
        <p:spPr>
          <a:xfrm>
            <a:off x="7178040" y="3063240"/>
            <a:ext cx="1691640" cy="210312"/>
          </a:xfrm>
          <a:prstGeom prst="roundRect">
            <a:avLst>
              <a:gd name="adj" fmla="val 108696"/>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2nd syllable</a:t>
            </a:r>
            <a:endParaRPr lang="en-US" sz="1150" dirty="0"/>
          </a:p>
        </p:txBody>
      </p:sp>
      <p:sp>
        <p:nvSpPr>
          <p:cNvPr id="31" name="sq_211"/>
          <p:cNvSpPr/>
          <p:nvPr/>
        </p:nvSpPr>
        <p:spPr>
          <a:xfrm>
            <a:off x="3246120" y="3337560"/>
            <a:ext cx="3840480" cy="210312"/>
          </a:xfrm>
          <a:prstGeom prst="roundRect">
            <a:avLst>
              <a:gd name="adj" fmla="val 43478"/>
            </a:avLst>
          </a:prstGeom>
          <a:solidFill>
            <a:srgbClr val="FFFFFF"/>
          </a:solidFill>
          <a:ln w="28575">
            <a:solidFill>
              <a:srgbClr val="FFE07A"/>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birth</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day</a:t>
            </a:r>
            <a:endParaRPr lang="en-US" sz="1200" dirty="0"/>
          </a:p>
        </p:txBody>
      </p:sp>
      <p:sp>
        <p:nvSpPr>
          <p:cNvPr id="32" name="R8_tag212"/>
          <p:cNvSpPr/>
          <p:nvPr/>
        </p:nvSpPr>
        <p:spPr>
          <a:xfrm>
            <a:off x="7178040" y="3337560"/>
            <a:ext cx="1691640" cy="210312"/>
          </a:xfrm>
          <a:prstGeom prst="roundRect">
            <a:avLst>
              <a:gd name="adj" fmla="val 108696"/>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1st syllable</a:t>
            </a:r>
            <a:endParaRPr lang="en-US" sz="1150" dirty="0"/>
          </a:p>
        </p:txBody>
      </p:sp>
      <p:sp>
        <p:nvSpPr>
          <p:cNvPr id="33" name="sq_213"/>
          <p:cNvSpPr/>
          <p:nvPr/>
        </p:nvSpPr>
        <p:spPr>
          <a:xfrm>
            <a:off x="3246120" y="3611880"/>
            <a:ext cx="3840480" cy="210312"/>
          </a:xfrm>
          <a:prstGeom prst="roundRect">
            <a:avLst>
              <a:gd name="adj" fmla="val 43478"/>
            </a:avLst>
          </a:prstGeom>
          <a:solidFill>
            <a:srgbClr val="FFFFFF"/>
          </a:solidFill>
          <a:ln w="28575">
            <a:solidFill>
              <a:srgbClr val="F7A6C4"/>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eve</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ning</a:t>
            </a:r>
            <a:endParaRPr lang="en-US" sz="1200" dirty="0"/>
          </a:p>
        </p:txBody>
      </p:sp>
      <p:sp>
        <p:nvSpPr>
          <p:cNvPr id="34" name="R9_tag214"/>
          <p:cNvSpPr/>
          <p:nvPr/>
        </p:nvSpPr>
        <p:spPr>
          <a:xfrm>
            <a:off x="7178040" y="3611880"/>
            <a:ext cx="1691640" cy="210312"/>
          </a:xfrm>
          <a:prstGeom prst="roundRect">
            <a:avLst>
              <a:gd name="adj" fmla="val 108696"/>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1st syllable</a:t>
            </a:r>
            <a:endParaRPr lang="en-US" sz="1150" dirty="0"/>
          </a:p>
        </p:txBody>
      </p:sp>
      <p:sp>
        <p:nvSpPr>
          <p:cNvPr id="35" name="sq_215"/>
          <p:cNvSpPr/>
          <p:nvPr/>
        </p:nvSpPr>
        <p:spPr>
          <a:xfrm>
            <a:off x="3246120" y="3886200"/>
            <a:ext cx="3840480" cy="210312"/>
          </a:xfrm>
          <a:prstGeom prst="roundRect">
            <a:avLst>
              <a:gd name="adj" fmla="val 43478"/>
            </a:avLst>
          </a:prstGeom>
          <a:solidFill>
            <a:srgbClr val="FFFFFF"/>
          </a:solidFill>
          <a:ln w="28575">
            <a:solidFill>
              <a:srgbClr val="A9D3F5"/>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in</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vite</a:t>
            </a:r>
            <a:endParaRPr lang="en-US" sz="1200" dirty="0"/>
          </a:p>
        </p:txBody>
      </p:sp>
      <p:sp>
        <p:nvSpPr>
          <p:cNvPr id="36" name="R10_tag216"/>
          <p:cNvSpPr/>
          <p:nvPr/>
        </p:nvSpPr>
        <p:spPr>
          <a:xfrm>
            <a:off x="7178040" y="3886200"/>
            <a:ext cx="1691640" cy="210312"/>
          </a:xfrm>
          <a:prstGeom prst="roundRect">
            <a:avLst>
              <a:gd name="adj" fmla="val 108696"/>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2nd syllable</a:t>
            </a:r>
            <a:endParaRPr lang="en-US" sz="1150" dirty="0"/>
          </a:p>
        </p:txBody>
      </p:sp>
      <p:sp>
        <p:nvSpPr>
          <p:cNvPr id="37" name="sq_217"/>
          <p:cNvSpPr/>
          <p:nvPr/>
        </p:nvSpPr>
        <p:spPr>
          <a:xfrm>
            <a:off x="3246120" y="4160520"/>
            <a:ext cx="3840480" cy="210312"/>
          </a:xfrm>
          <a:prstGeom prst="roundRect">
            <a:avLst>
              <a:gd name="adj" fmla="val 43478"/>
            </a:avLst>
          </a:prstGeom>
          <a:solidFill>
            <a:srgbClr val="FFFFFF"/>
          </a:solidFill>
          <a:ln w="28575">
            <a:solidFill>
              <a:srgbClr val="A8E5BE"/>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per</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fect</a:t>
            </a:r>
            <a:endParaRPr lang="en-US" sz="1200" dirty="0"/>
          </a:p>
        </p:txBody>
      </p:sp>
      <p:sp>
        <p:nvSpPr>
          <p:cNvPr id="38" name="R11_tag218"/>
          <p:cNvSpPr/>
          <p:nvPr/>
        </p:nvSpPr>
        <p:spPr>
          <a:xfrm>
            <a:off x="7178040" y="4160520"/>
            <a:ext cx="1691640" cy="210312"/>
          </a:xfrm>
          <a:prstGeom prst="roundRect">
            <a:avLst>
              <a:gd name="adj" fmla="val 108696"/>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1st syllable</a:t>
            </a:r>
            <a:endParaRPr lang="en-US" sz="1150" dirty="0"/>
          </a:p>
        </p:txBody>
      </p:sp>
      <p:sp>
        <p:nvSpPr>
          <p:cNvPr id="39" name="sq_219"/>
          <p:cNvSpPr/>
          <p:nvPr/>
        </p:nvSpPr>
        <p:spPr>
          <a:xfrm>
            <a:off x="3246120" y="4434840"/>
            <a:ext cx="3840480" cy="210312"/>
          </a:xfrm>
          <a:prstGeom prst="roundRect">
            <a:avLst>
              <a:gd name="adj" fmla="val 43478"/>
            </a:avLst>
          </a:prstGeom>
          <a:solidFill>
            <a:srgbClr val="FFFFFF"/>
          </a:solidFill>
          <a:ln w="28575">
            <a:solidFill>
              <a:srgbClr val="FFE07A"/>
            </a:solidFill>
          </a:ln>
        </p:spPr>
        <p:txBody>
          <a:bodyPr wrap="square" lIns="101600" tIns="0" rIns="101600" bIns="0" rtlCol="0" anchor="ctr"/>
          <a:lstStyle/>
          <a:p>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quick</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ly</a:t>
            </a:r>
            <a:endParaRPr lang="en-US" sz="1200" dirty="0"/>
          </a:p>
        </p:txBody>
      </p:sp>
      <p:sp>
        <p:nvSpPr>
          <p:cNvPr id="40" name="R12_tag220"/>
          <p:cNvSpPr/>
          <p:nvPr/>
        </p:nvSpPr>
        <p:spPr>
          <a:xfrm>
            <a:off x="7178040" y="4434840"/>
            <a:ext cx="1691640" cy="210312"/>
          </a:xfrm>
          <a:prstGeom prst="roundRect">
            <a:avLst>
              <a:gd name="adj" fmla="val 108696"/>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  1st syllable</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4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1"/>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22"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223"/>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Verb phrases</a:t>
            </a:r>
            <a:endParaRPr lang="en-US" sz="2500" dirty="0"/>
          </a:p>
        </p:txBody>
      </p:sp>
      <p:pic>
        <p:nvPicPr>
          <p:cNvPr id="6" name="brP_224"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25"/>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Make verb phrases from the story. Match a verb and a phrase.</a:t>
            </a:r>
            <a:endParaRPr lang="en-US" sz="1100" dirty="0"/>
          </a:p>
        </p:txBody>
      </p:sp>
      <p:sp>
        <p:nvSpPr>
          <p:cNvPr id="8" name="insIT_22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Forma espressioni dalla storia. Abbina un verbo e una frase.</a:t>
            </a:r>
            <a:endParaRPr lang="en-US" sz="950" dirty="0"/>
          </a:p>
        </p:txBody>
      </p:sp>
      <p:sp>
        <p:nvSpPr>
          <p:cNvPr id="9" name="note_22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MATCH</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22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2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Vocabulary · verb phrases   ·   📖 SB p.19 · 3a (TG key)</a:t>
            </a:r>
            <a:endParaRPr lang="en-US" sz="800" dirty="0"/>
          </a:p>
        </p:txBody>
      </p:sp>
      <p:sp>
        <p:nvSpPr>
          <p:cNvPr id="12" name="bd_230"/>
          <p:cNvSpPr/>
          <p:nvPr/>
        </p:nvSpPr>
        <p:spPr>
          <a:xfrm>
            <a:off x="320040" y="1339779"/>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3" name="q_231"/>
          <p:cNvSpPr/>
          <p:nvPr/>
        </p:nvSpPr>
        <p:spPr>
          <a:xfrm>
            <a:off x="704088" y="1417320"/>
            <a:ext cx="3776472" cy="155814"/>
          </a:xfrm>
          <a:prstGeom prst="roundRect">
            <a:avLst>
              <a:gd name="adj" fmla="val 58685"/>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e.g. invite + somebody to dinner</a:t>
            </a:r>
            <a:endParaRPr lang="en-US" sz="850" dirty="0"/>
          </a:p>
        </p:txBody>
      </p:sp>
      <p:sp>
        <p:nvSpPr>
          <p:cNvPr id="14" name="R1_chip232"/>
          <p:cNvSpPr/>
          <p:nvPr/>
        </p:nvSpPr>
        <p:spPr>
          <a:xfrm>
            <a:off x="704088" y="1618854"/>
            <a:ext cx="3776472" cy="231282"/>
          </a:xfrm>
          <a:prstGeom prst="roundRect">
            <a:avLst>
              <a:gd name="adj" fmla="val 3953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invite somebody to dinner</a:t>
            </a:r>
            <a:endParaRPr lang="en-US" sz="1150" dirty="0"/>
          </a:p>
        </p:txBody>
      </p:sp>
      <p:sp>
        <p:nvSpPr>
          <p:cNvPr id="15" name="bd_233"/>
          <p:cNvSpPr/>
          <p:nvPr/>
        </p:nvSpPr>
        <p:spPr>
          <a:xfrm>
            <a:off x="320040" y="1900611"/>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6" name="q_234"/>
          <p:cNvSpPr/>
          <p:nvPr/>
        </p:nvSpPr>
        <p:spPr>
          <a:xfrm>
            <a:off x="704088" y="1978152"/>
            <a:ext cx="3776472" cy="155814"/>
          </a:xfrm>
          <a:prstGeom prst="roundRect">
            <a:avLst>
              <a:gd name="adj" fmla="val 58685"/>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have + a great time</a:t>
            </a:r>
            <a:endParaRPr lang="en-US" sz="850" dirty="0"/>
          </a:p>
        </p:txBody>
      </p:sp>
      <p:sp>
        <p:nvSpPr>
          <p:cNvPr id="17" name="R2_chip235"/>
          <p:cNvSpPr/>
          <p:nvPr/>
        </p:nvSpPr>
        <p:spPr>
          <a:xfrm>
            <a:off x="704088" y="2179686"/>
            <a:ext cx="3776472" cy="231282"/>
          </a:xfrm>
          <a:prstGeom prst="roundRect">
            <a:avLst>
              <a:gd name="adj" fmla="val 3953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have a great time</a:t>
            </a:r>
            <a:endParaRPr lang="en-US" sz="1150" dirty="0"/>
          </a:p>
        </p:txBody>
      </p:sp>
      <p:sp>
        <p:nvSpPr>
          <p:cNvPr id="18" name="bd_236"/>
          <p:cNvSpPr/>
          <p:nvPr/>
        </p:nvSpPr>
        <p:spPr>
          <a:xfrm>
            <a:off x="320040" y="2461443"/>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19" name="q_237"/>
          <p:cNvSpPr/>
          <p:nvPr/>
        </p:nvSpPr>
        <p:spPr>
          <a:xfrm>
            <a:off x="704088" y="2538984"/>
            <a:ext cx="3776472" cy="155814"/>
          </a:xfrm>
          <a:prstGeom prst="roundRect">
            <a:avLst>
              <a:gd name="adj" fmla="val 58685"/>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drive + along the high street</a:t>
            </a:r>
            <a:endParaRPr lang="en-US" sz="850" dirty="0"/>
          </a:p>
        </p:txBody>
      </p:sp>
      <p:sp>
        <p:nvSpPr>
          <p:cNvPr id="20" name="R3_chip238"/>
          <p:cNvSpPr/>
          <p:nvPr/>
        </p:nvSpPr>
        <p:spPr>
          <a:xfrm>
            <a:off x="704088" y="2740518"/>
            <a:ext cx="3776472" cy="231282"/>
          </a:xfrm>
          <a:prstGeom prst="roundRect">
            <a:avLst>
              <a:gd name="adj" fmla="val 3953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drive along the high street</a:t>
            </a:r>
            <a:endParaRPr lang="en-US" sz="1150" dirty="0"/>
          </a:p>
        </p:txBody>
      </p:sp>
      <p:sp>
        <p:nvSpPr>
          <p:cNvPr id="21" name="bd_239"/>
          <p:cNvSpPr/>
          <p:nvPr/>
        </p:nvSpPr>
        <p:spPr>
          <a:xfrm>
            <a:off x="320040" y="3022275"/>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2" name="q_240"/>
          <p:cNvSpPr/>
          <p:nvPr/>
        </p:nvSpPr>
        <p:spPr>
          <a:xfrm>
            <a:off x="704088" y="3099816"/>
            <a:ext cx="3776472" cy="155814"/>
          </a:xfrm>
          <a:prstGeom prst="roundRect">
            <a:avLst>
              <a:gd name="adj" fmla="val 58685"/>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meet + in a coffee bar</a:t>
            </a:r>
            <a:endParaRPr lang="en-US" sz="850" dirty="0"/>
          </a:p>
        </p:txBody>
      </p:sp>
      <p:sp>
        <p:nvSpPr>
          <p:cNvPr id="23" name="R4_chip241"/>
          <p:cNvSpPr/>
          <p:nvPr/>
        </p:nvSpPr>
        <p:spPr>
          <a:xfrm>
            <a:off x="704088" y="3301350"/>
            <a:ext cx="3776472" cy="231282"/>
          </a:xfrm>
          <a:prstGeom prst="roundRect">
            <a:avLst>
              <a:gd name="adj" fmla="val 3953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meet in a coffee bar</a:t>
            </a:r>
            <a:endParaRPr lang="en-US" sz="1150" dirty="0"/>
          </a:p>
        </p:txBody>
      </p:sp>
      <p:sp>
        <p:nvSpPr>
          <p:cNvPr id="24" name="bd_242"/>
          <p:cNvSpPr/>
          <p:nvPr/>
        </p:nvSpPr>
        <p:spPr>
          <a:xfrm>
            <a:off x="320040" y="3583107"/>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5" name="q_243"/>
          <p:cNvSpPr/>
          <p:nvPr/>
        </p:nvSpPr>
        <p:spPr>
          <a:xfrm>
            <a:off x="704088" y="3660648"/>
            <a:ext cx="3776472" cy="155814"/>
          </a:xfrm>
          <a:prstGeom prst="roundRect">
            <a:avLst>
              <a:gd name="adj" fmla="val 58685"/>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give + somebody your phone number</a:t>
            </a:r>
            <a:endParaRPr lang="en-US" sz="850" dirty="0"/>
          </a:p>
        </p:txBody>
      </p:sp>
      <p:sp>
        <p:nvSpPr>
          <p:cNvPr id="26" name="R5_chip244"/>
          <p:cNvSpPr/>
          <p:nvPr/>
        </p:nvSpPr>
        <p:spPr>
          <a:xfrm>
            <a:off x="704088" y="3862182"/>
            <a:ext cx="3776472" cy="231282"/>
          </a:xfrm>
          <a:prstGeom prst="roundRect">
            <a:avLst>
              <a:gd name="adj" fmla="val 3953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give somebody your phone number</a:t>
            </a:r>
            <a:endParaRPr lang="en-US" sz="1150" dirty="0"/>
          </a:p>
        </p:txBody>
      </p:sp>
      <p:sp>
        <p:nvSpPr>
          <p:cNvPr id="27" name="bd_245"/>
          <p:cNvSpPr/>
          <p:nvPr/>
        </p:nvSpPr>
        <p:spPr>
          <a:xfrm>
            <a:off x="320040" y="4143939"/>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8" name="q_246"/>
          <p:cNvSpPr/>
          <p:nvPr/>
        </p:nvSpPr>
        <p:spPr>
          <a:xfrm>
            <a:off x="704088" y="4221480"/>
            <a:ext cx="3776472" cy="155814"/>
          </a:xfrm>
          <a:prstGeom prst="roundRect">
            <a:avLst>
              <a:gd name="adj" fmla="val 58685"/>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take + somebody to a restaurant</a:t>
            </a:r>
            <a:endParaRPr lang="en-US" sz="850" dirty="0"/>
          </a:p>
        </p:txBody>
      </p:sp>
      <p:sp>
        <p:nvSpPr>
          <p:cNvPr id="29" name="R6_chip247"/>
          <p:cNvSpPr/>
          <p:nvPr/>
        </p:nvSpPr>
        <p:spPr>
          <a:xfrm>
            <a:off x="704088" y="4423014"/>
            <a:ext cx="3776472" cy="231282"/>
          </a:xfrm>
          <a:prstGeom prst="roundRect">
            <a:avLst>
              <a:gd name="adj" fmla="val 3953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take somebody to a restaurant</a:t>
            </a:r>
            <a:endParaRPr lang="en-US" sz="1150" dirty="0"/>
          </a:p>
        </p:txBody>
      </p:sp>
      <p:sp>
        <p:nvSpPr>
          <p:cNvPr id="30" name="bd_248"/>
          <p:cNvSpPr/>
          <p:nvPr/>
        </p:nvSpPr>
        <p:spPr>
          <a:xfrm>
            <a:off x="4709160" y="1339779"/>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1" name="q_249"/>
          <p:cNvSpPr/>
          <p:nvPr/>
        </p:nvSpPr>
        <p:spPr>
          <a:xfrm>
            <a:off x="5093208" y="1417320"/>
            <a:ext cx="3776472" cy="155814"/>
          </a:xfrm>
          <a:prstGeom prst="roundRect">
            <a:avLst>
              <a:gd name="adj" fmla="val 58685"/>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wait + for somebody</a:t>
            </a:r>
            <a:endParaRPr lang="en-US" sz="850" dirty="0"/>
          </a:p>
        </p:txBody>
      </p:sp>
      <p:sp>
        <p:nvSpPr>
          <p:cNvPr id="32" name="R7_chip250"/>
          <p:cNvSpPr/>
          <p:nvPr/>
        </p:nvSpPr>
        <p:spPr>
          <a:xfrm>
            <a:off x="5093208" y="1618854"/>
            <a:ext cx="3776472" cy="231282"/>
          </a:xfrm>
          <a:prstGeom prst="roundRect">
            <a:avLst>
              <a:gd name="adj" fmla="val 3953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wait for somebody</a:t>
            </a:r>
            <a:endParaRPr lang="en-US" sz="1150" dirty="0"/>
          </a:p>
        </p:txBody>
      </p:sp>
      <p:sp>
        <p:nvSpPr>
          <p:cNvPr id="33" name="bd_251"/>
          <p:cNvSpPr/>
          <p:nvPr/>
        </p:nvSpPr>
        <p:spPr>
          <a:xfrm>
            <a:off x="4709160" y="1900611"/>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34" name="q_252"/>
          <p:cNvSpPr/>
          <p:nvPr/>
        </p:nvSpPr>
        <p:spPr>
          <a:xfrm>
            <a:off x="5093208" y="1978152"/>
            <a:ext cx="3776472" cy="155814"/>
          </a:xfrm>
          <a:prstGeom prst="roundRect">
            <a:avLst>
              <a:gd name="adj" fmla="val 58685"/>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be + in a hurry</a:t>
            </a:r>
            <a:endParaRPr lang="en-US" sz="850" dirty="0"/>
          </a:p>
        </p:txBody>
      </p:sp>
      <p:sp>
        <p:nvSpPr>
          <p:cNvPr id="35" name="R8_chip253"/>
          <p:cNvSpPr/>
          <p:nvPr/>
        </p:nvSpPr>
        <p:spPr>
          <a:xfrm>
            <a:off x="5093208" y="2179686"/>
            <a:ext cx="3776472" cy="231282"/>
          </a:xfrm>
          <a:prstGeom prst="roundRect">
            <a:avLst>
              <a:gd name="adj" fmla="val 3953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be in a hurry</a:t>
            </a:r>
            <a:endParaRPr lang="en-US" sz="1150" dirty="0"/>
          </a:p>
        </p:txBody>
      </p:sp>
      <p:sp>
        <p:nvSpPr>
          <p:cNvPr id="36" name="bd_254"/>
          <p:cNvSpPr/>
          <p:nvPr/>
        </p:nvSpPr>
        <p:spPr>
          <a:xfrm>
            <a:off x="4709160" y="2461443"/>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9</a:t>
            </a:r>
            <a:endParaRPr lang="en-US" sz="1000" dirty="0"/>
          </a:p>
        </p:txBody>
      </p:sp>
      <p:sp>
        <p:nvSpPr>
          <p:cNvPr id="37" name="q_255"/>
          <p:cNvSpPr/>
          <p:nvPr/>
        </p:nvSpPr>
        <p:spPr>
          <a:xfrm>
            <a:off x="5093208" y="2538984"/>
            <a:ext cx="3776472" cy="155814"/>
          </a:xfrm>
          <a:prstGeom prst="roundRect">
            <a:avLst>
              <a:gd name="adj" fmla="val 58685"/>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play + a song</a:t>
            </a:r>
            <a:endParaRPr lang="en-US" sz="850" dirty="0"/>
          </a:p>
        </p:txBody>
      </p:sp>
      <p:sp>
        <p:nvSpPr>
          <p:cNvPr id="38" name="R9_chip256"/>
          <p:cNvSpPr/>
          <p:nvPr/>
        </p:nvSpPr>
        <p:spPr>
          <a:xfrm>
            <a:off x="5093208" y="2740518"/>
            <a:ext cx="3776472" cy="231282"/>
          </a:xfrm>
          <a:prstGeom prst="roundRect">
            <a:avLst>
              <a:gd name="adj" fmla="val 3953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play a song</a:t>
            </a:r>
            <a:endParaRPr lang="en-US" sz="1150" dirty="0"/>
          </a:p>
        </p:txBody>
      </p:sp>
      <p:sp>
        <p:nvSpPr>
          <p:cNvPr id="39" name="bd_257"/>
          <p:cNvSpPr/>
          <p:nvPr/>
        </p:nvSpPr>
        <p:spPr>
          <a:xfrm>
            <a:off x="4709160" y="3022275"/>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10</a:t>
            </a:r>
            <a:endParaRPr lang="en-US" sz="800" dirty="0"/>
          </a:p>
        </p:txBody>
      </p:sp>
      <p:sp>
        <p:nvSpPr>
          <p:cNvPr id="40" name="q_258"/>
          <p:cNvSpPr/>
          <p:nvPr/>
        </p:nvSpPr>
        <p:spPr>
          <a:xfrm>
            <a:off x="5093208" y="3099816"/>
            <a:ext cx="3776472" cy="155814"/>
          </a:xfrm>
          <a:prstGeom prst="roundRect">
            <a:avLst>
              <a:gd name="adj" fmla="val 58685"/>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leave + the club (very late)</a:t>
            </a:r>
            <a:endParaRPr lang="en-US" sz="850" dirty="0"/>
          </a:p>
        </p:txBody>
      </p:sp>
      <p:sp>
        <p:nvSpPr>
          <p:cNvPr id="41" name="R10_chip259"/>
          <p:cNvSpPr/>
          <p:nvPr/>
        </p:nvSpPr>
        <p:spPr>
          <a:xfrm>
            <a:off x="5093208" y="3301350"/>
            <a:ext cx="3776472" cy="231282"/>
          </a:xfrm>
          <a:prstGeom prst="roundRect">
            <a:avLst>
              <a:gd name="adj" fmla="val 3953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leave the club (very late)</a:t>
            </a:r>
            <a:endParaRPr lang="en-US" sz="1150" dirty="0"/>
          </a:p>
        </p:txBody>
      </p:sp>
      <p:sp>
        <p:nvSpPr>
          <p:cNvPr id="42" name="bd_260"/>
          <p:cNvSpPr/>
          <p:nvPr/>
        </p:nvSpPr>
        <p:spPr>
          <a:xfrm>
            <a:off x="4709160" y="3583107"/>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800" dirty="0">
                <a:solidFill>
                  <a:srgbClr val="FFFFFF"/>
                </a:solidFill>
                <a:latin typeface="Arial Rounded MT Bold" pitchFamily="34" charset="0"/>
                <a:ea typeface="Arial Rounded MT Bold" pitchFamily="34" charset="-122"/>
                <a:cs typeface="Arial Rounded MT Bold" pitchFamily="34" charset="-120"/>
              </a:rPr>
              <a:t>11</a:t>
            </a:r>
            <a:endParaRPr lang="en-US" sz="800" dirty="0"/>
          </a:p>
        </p:txBody>
      </p:sp>
      <p:sp>
        <p:nvSpPr>
          <p:cNvPr id="43" name="q_261"/>
          <p:cNvSpPr/>
          <p:nvPr/>
        </p:nvSpPr>
        <p:spPr>
          <a:xfrm>
            <a:off x="5093208" y="3660648"/>
            <a:ext cx="3776472" cy="155814"/>
          </a:xfrm>
          <a:prstGeom prst="roundRect">
            <a:avLst>
              <a:gd name="adj" fmla="val 58685"/>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run + across the road</a:t>
            </a:r>
            <a:endParaRPr lang="en-US" sz="850" dirty="0"/>
          </a:p>
        </p:txBody>
      </p:sp>
      <p:sp>
        <p:nvSpPr>
          <p:cNvPr id="44" name="R11_chip262"/>
          <p:cNvSpPr/>
          <p:nvPr/>
        </p:nvSpPr>
        <p:spPr>
          <a:xfrm>
            <a:off x="5093208" y="3862182"/>
            <a:ext cx="3776472" cy="231282"/>
          </a:xfrm>
          <a:prstGeom prst="roundRect">
            <a:avLst>
              <a:gd name="adj" fmla="val 39536"/>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run across the road</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4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400"/>
                                        <p:tgtEl>
                                          <p:spTgt spid="3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400"/>
                                        <p:tgtEl>
                                          <p:spTgt spid="4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63"/>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64"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265"/>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Tell the story!</a:t>
            </a:r>
            <a:endParaRPr lang="en-US" sz="2500" dirty="0"/>
          </a:p>
        </p:txBody>
      </p:sp>
      <p:pic>
        <p:nvPicPr>
          <p:cNvPr id="6" name="brP_266"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67"/>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Retell the story! A = Jamie (photos 1–3), B = Hannah (photos 4–6).</a:t>
            </a:r>
            <a:endParaRPr lang="en-US" sz="1100" dirty="0"/>
          </a:p>
        </p:txBody>
      </p:sp>
      <p:sp>
        <p:nvSpPr>
          <p:cNvPr id="8" name="insIT_26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Racconta la storia! A = Jamie (foto 1–3), B = Hannah (foto 4–6).</a:t>
            </a:r>
            <a:endParaRPr lang="en-US" sz="950" dirty="0"/>
          </a:p>
        </p:txBody>
      </p:sp>
      <p:sp>
        <p:nvSpPr>
          <p:cNvPr id="9" name="note_26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Controlled practice</a:t>
            </a:r>
            <a:endParaRPr lang="en-US" sz="1250" dirty="0"/>
          </a:p>
        </p:txBody>
      </p:sp>
      <p:pic>
        <p:nvPicPr>
          <p:cNvPr id="10" name="logo_27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7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Speaking · retell   ·   📖 SB p.19 · 3c, 3d</a:t>
            </a:r>
            <a:endParaRPr lang="en-US" sz="800" dirty="0"/>
          </a:p>
        </p:txBody>
      </p:sp>
      <p:sp>
        <p:nvSpPr>
          <p:cNvPr id="12" name="pf_272"/>
          <p:cNvSpPr/>
          <p:nvPr/>
        </p:nvSpPr>
        <p:spPr>
          <a:xfrm>
            <a:off x="365760" y="1417320"/>
            <a:ext cx="1508760" cy="1559052"/>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73" descr="/home/claude/lls-course/v2/cache/a2_2c_p1_dj_jpg_341x353_31.png">    </p:cNvPr>
          <p:cNvPicPr>
            <a:picLocks noChangeAspect="1"/>
          </p:cNvPicPr>
          <p:nvPr/>
        </p:nvPicPr>
        <p:blipFill>
          <a:blip r:embed="rId5"/>
          <a:stretch>
            <a:fillRect/>
          </a:stretch>
        </p:blipFill>
        <p:spPr>
          <a:xfrm>
            <a:off x="411480" y="1463040"/>
            <a:ext cx="1417320" cy="1467612"/>
          </a:xfrm>
          <a:prstGeom prst="rect">
            <a:avLst/>
          </a:prstGeom>
        </p:spPr>
      </p:pic>
      <p:sp>
        <p:nvSpPr>
          <p:cNvPr id="14" name="bd_274"/>
          <p:cNvSpPr/>
          <p:nvPr/>
        </p:nvSpPr>
        <p:spPr>
          <a:xfrm>
            <a:off x="265176" y="131673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a:t>
            </a:r>
            <a:endParaRPr lang="en-US" sz="1100" dirty="0"/>
          </a:p>
        </p:txBody>
      </p:sp>
      <p:sp>
        <p:nvSpPr>
          <p:cNvPr id="15" name="pf_275"/>
          <p:cNvSpPr/>
          <p:nvPr/>
        </p:nvSpPr>
        <p:spPr>
          <a:xfrm>
            <a:off x="1892808" y="1417320"/>
            <a:ext cx="1508760" cy="1559052"/>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276" descr="/home/claude/lls-course/v2/cache/a2_2c_p2_door_jpg_341x353_31.png">    </p:cNvPr>
          <p:cNvPicPr>
            <a:picLocks noChangeAspect="1"/>
          </p:cNvPicPr>
          <p:nvPr/>
        </p:nvPicPr>
        <p:blipFill>
          <a:blip r:embed="rId6"/>
          <a:stretch>
            <a:fillRect/>
          </a:stretch>
        </p:blipFill>
        <p:spPr>
          <a:xfrm>
            <a:off x="1938528" y="1463040"/>
            <a:ext cx="1417320" cy="1467612"/>
          </a:xfrm>
          <a:prstGeom prst="rect">
            <a:avLst/>
          </a:prstGeom>
        </p:spPr>
      </p:pic>
      <p:sp>
        <p:nvSpPr>
          <p:cNvPr id="17" name="bd_277"/>
          <p:cNvSpPr/>
          <p:nvPr/>
        </p:nvSpPr>
        <p:spPr>
          <a:xfrm>
            <a:off x="1792224" y="131673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a:t>
            </a:r>
            <a:endParaRPr lang="en-US" sz="1100" dirty="0"/>
          </a:p>
        </p:txBody>
      </p:sp>
      <p:sp>
        <p:nvSpPr>
          <p:cNvPr id="18" name="pf_278"/>
          <p:cNvSpPr/>
          <p:nvPr/>
        </p:nvSpPr>
        <p:spPr>
          <a:xfrm>
            <a:off x="3419856" y="1417320"/>
            <a:ext cx="1508760" cy="1559052"/>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279" descr="/home/claude/lls-course/v2/cache/a2_2c_p3_dinner_jpg_341x353_31.png">    </p:cNvPr>
          <p:cNvPicPr>
            <a:picLocks noChangeAspect="1"/>
          </p:cNvPicPr>
          <p:nvPr/>
        </p:nvPicPr>
        <p:blipFill>
          <a:blip r:embed="rId7"/>
          <a:stretch>
            <a:fillRect/>
          </a:stretch>
        </p:blipFill>
        <p:spPr>
          <a:xfrm>
            <a:off x="3465576" y="1463040"/>
            <a:ext cx="1417320" cy="1467612"/>
          </a:xfrm>
          <a:prstGeom prst="rect">
            <a:avLst/>
          </a:prstGeom>
        </p:spPr>
      </p:pic>
      <p:sp>
        <p:nvSpPr>
          <p:cNvPr id="20" name="bd_280"/>
          <p:cNvSpPr/>
          <p:nvPr/>
        </p:nvSpPr>
        <p:spPr>
          <a:xfrm>
            <a:off x="3319272" y="1316736"/>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C</a:t>
            </a:r>
            <a:endParaRPr lang="en-US" sz="1100" dirty="0"/>
          </a:p>
        </p:txBody>
      </p:sp>
      <p:sp>
        <p:nvSpPr>
          <p:cNvPr id="21" name="pf_281"/>
          <p:cNvSpPr/>
          <p:nvPr/>
        </p:nvSpPr>
        <p:spPr>
          <a:xfrm>
            <a:off x="365760" y="2994660"/>
            <a:ext cx="1508760" cy="1559052"/>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282" descr="/home/claude/lls-course/v2/cache/a2_2c_p4_cafe_jpg_341x353_31.png">    </p:cNvPr>
          <p:cNvPicPr>
            <a:picLocks noChangeAspect="1"/>
          </p:cNvPicPr>
          <p:nvPr/>
        </p:nvPicPr>
        <p:blipFill>
          <a:blip r:embed="rId8"/>
          <a:stretch>
            <a:fillRect/>
          </a:stretch>
        </p:blipFill>
        <p:spPr>
          <a:xfrm>
            <a:off x="411480" y="3040380"/>
            <a:ext cx="1417320" cy="1467612"/>
          </a:xfrm>
          <a:prstGeom prst="rect">
            <a:avLst/>
          </a:prstGeom>
        </p:spPr>
      </p:pic>
      <p:sp>
        <p:nvSpPr>
          <p:cNvPr id="23" name="bd_283"/>
          <p:cNvSpPr/>
          <p:nvPr/>
        </p:nvSpPr>
        <p:spPr>
          <a:xfrm>
            <a:off x="265176" y="2894076"/>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D</a:t>
            </a:r>
            <a:endParaRPr lang="en-US" sz="1100" dirty="0"/>
          </a:p>
        </p:txBody>
      </p:sp>
      <p:sp>
        <p:nvSpPr>
          <p:cNvPr id="24" name="pf_284"/>
          <p:cNvSpPr/>
          <p:nvPr/>
        </p:nvSpPr>
        <p:spPr>
          <a:xfrm>
            <a:off x="1892808" y="2994660"/>
            <a:ext cx="1508760" cy="1559052"/>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5" name="ph_285" descr="/home/claude/lls-course/v2/cache/a2_2c_p5_watch_jpg_341x353_31.png">    </p:cNvPr>
          <p:cNvPicPr>
            <a:picLocks noChangeAspect="1"/>
          </p:cNvPicPr>
          <p:nvPr/>
        </p:nvPicPr>
        <p:blipFill>
          <a:blip r:embed="rId9"/>
          <a:stretch>
            <a:fillRect/>
          </a:stretch>
        </p:blipFill>
        <p:spPr>
          <a:xfrm>
            <a:off x="1938528" y="3040380"/>
            <a:ext cx="1417320" cy="1467612"/>
          </a:xfrm>
          <a:prstGeom prst="rect">
            <a:avLst/>
          </a:prstGeom>
        </p:spPr>
      </p:pic>
      <p:sp>
        <p:nvSpPr>
          <p:cNvPr id="26" name="bd_286"/>
          <p:cNvSpPr/>
          <p:nvPr/>
        </p:nvSpPr>
        <p:spPr>
          <a:xfrm>
            <a:off x="1792224" y="289407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E</a:t>
            </a:r>
            <a:endParaRPr lang="en-US" sz="1100" dirty="0"/>
          </a:p>
        </p:txBody>
      </p:sp>
      <p:sp>
        <p:nvSpPr>
          <p:cNvPr id="27" name="pf_287"/>
          <p:cNvSpPr/>
          <p:nvPr/>
        </p:nvSpPr>
        <p:spPr>
          <a:xfrm>
            <a:off x="3419856" y="2994660"/>
            <a:ext cx="1508760" cy="1559052"/>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8" name="ph_288" descr="/home/claude/lls-course/v2/cache/a2_2c_p6_car_jpg_341x353_31.png">    </p:cNvPr>
          <p:cNvPicPr>
            <a:picLocks noChangeAspect="1"/>
          </p:cNvPicPr>
          <p:nvPr/>
        </p:nvPicPr>
        <p:blipFill>
          <a:blip r:embed="rId10"/>
          <a:stretch>
            <a:fillRect/>
          </a:stretch>
        </p:blipFill>
        <p:spPr>
          <a:xfrm>
            <a:off x="3465576" y="3040380"/>
            <a:ext cx="1417320" cy="1467612"/>
          </a:xfrm>
          <a:prstGeom prst="rect">
            <a:avLst/>
          </a:prstGeom>
        </p:spPr>
      </p:pic>
      <p:sp>
        <p:nvSpPr>
          <p:cNvPr id="29" name="bd_289"/>
          <p:cNvSpPr/>
          <p:nvPr/>
        </p:nvSpPr>
        <p:spPr>
          <a:xfrm>
            <a:off x="3319272" y="289407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F</a:t>
            </a:r>
            <a:endParaRPr lang="en-US" sz="1100" dirty="0"/>
          </a:p>
        </p:txBody>
      </p:sp>
      <p:sp>
        <p:nvSpPr>
          <p:cNvPr id="30" name="q_290"/>
          <p:cNvSpPr/>
          <p:nvPr/>
        </p:nvSpPr>
        <p:spPr>
          <a:xfrm>
            <a:off x="5166360" y="1417320"/>
            <a:ext cx="1325880" cy="493776"/>
          </a:xfrm>
          <a:prstGeom prst="roundRect">
            <a:avLst>
              <a:gd name="adj" fmla="val 1851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e.g. A (Jamie)</a:t>
            </a:r>
            <a:endParaRPr lang="en-US" sz="1150" dirty="0"/>
          </a:p>
        </p:txBody>
      </p:sp>
      <p:sp>
        <p:nvSpPr>
          <p:cNvPr id="31" name="chip_291"/>
          <p:cNvSpPr/>
          <p:nvPr/>
        </p:nvSpPr>
        <p:spPr>
          <a:xfrm>
            <a:off x="6565392" y="1417320"/>
            <a:ext cx="2286000" cy="493776"/>
          </a:xfrm>
          <a:prstGeom prst="roundRect">
            <a:avLst>
              <a:gd name="adj" fmla="val 1851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I met Hannah last summer. It was her birthday, and she came to the club with some friends…</a:t>
            </a:r>
            <a:endParaRPr lang="en-US" sz="900" dirty="0"/>
          </a:p>
        </p:txBody>
      </p:sp>
      <p:sp>
        <p:nvSpPr>
          <p:cNvPr id="32" name="q_292"/>
          <p:cNvSpPr/>
          <p:nvPr/>
        </p:nvSpPr>
        <p:spPr>
          <a:xfrm>
            <a:off x="5166360" y="1965960"/>
            <a:ext cx="1325880" cy="493776"/>
          </a:xfrm>
          <a:prstGeom prst="roundRect">
            <a:avLst>
              <a:gd name="adj" fmla="val 1851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 (Jamie)</a:t>
            </a:r>
            <a:endParaRPr lang="en-US" sz="1150" dirty="0"/>
          </a:p>
        </p:txBody>
      </p:sp>
      <p:sp>
        <p:nvSpPr>
          <p:cNvPr id="33" name="R1_chip293"/>
          <p:cNvSpPr/>
          <p:nvPr/>
        </p:nvSpPr>
        <p:spPr>
          <a:xfrm>
            <a:off x="6565392" y="1965960"/>
            <a:ext cx="2286000" cy="493776"/>
          </a:xfrm>
          <a:prstGeom prst="roundRect">
            <a:avLst>
              <a:gd name="adj" fmla="val 18519"/>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When she left the club, I was waiting at the door…</a:t>
            </a:r>
            <a:endParaRPr lang="en-US" sz="900" dirty="0"/>
          </a:p>
        </p:txBody>
      </p:sp>
      <p:sp>
        <p:nvSpPr>
          <p:cNvPr id="34" name="q_294"/>
          <p:cNvSpPr/>
          <p:nvPr/>
        </p:nvSpPr>
        <p:spPr>
          <a:xfrm>
            <a:off x="5166360" y="2514600"/>
            <a:ext cx="1325880" cy="493776"/>
          </a:xfrm>
          <a:prstGeom prst="roundRect">
            <a:avLst>
              <a:gd name="adj" fmla="val 1851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 (Jamie)</a:t>
            </a:r>
            <a:endParaRPr lang="en-US" sz="1150" dirty="0"/>
          </a:p>
        </p:txBody>
      </p:sp>
      <p:sp>
        <p:nvSpPr>
          <p:cNvPr id="35" name="R2_chip295"/>
          <p:cNvSpPr/>
          <p:nvPr/>
        </p:nvSpPr>
        <p:spPr>
          <a:xfrm>
            <a:off x="6565392" y="2514600"/>
            <a:ext cx="2286000" cy="493776"/>
          </a:xfrm>
          <a:prstGeom prst="roundRect">
            <a:avLst>
              <a:gd name="adj" fmla="val 18519"/>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The next day, I phoned her and invited her to dinner…</a:t>
            </a:r>
            <a:endParaRPr lang="en-US" sz="900" dirty="0"/>
          </a:p>
        </p:txBody>
      </p:sp>
      <p:sp>
        <p:nvSpPr>
          <p:cNvPr id="36" name="q_296"/>
          <p:cNvSpPr/>
          <p:nvPr/>
        </p:nvSpPr>
        <p:spPr>
          <a:xfrm>
            <a:off x="5166360" y="3063240"/>
            <a:ext cx="1325880" cy="493776"/>
          </a:xfrm>
          <a:prstGeom prst="roundRect">
            <a:avLst>
              <a:gd name="adj" fmla="val 1851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D (Hannah)</a:t>
            </a:r>
            <a:endParaRPr lang="en-US" sz="1150" dirty="0"/>
          </a:p>
        </p:txBody>
      </p:sp>
      <p:sp>
        <p:nvSpPr>
          <p:cNvPr id="37" name="R3_chip297"/>
          <p:cNvSpPr/>
          <p:nvPr/>
        </p:nvSpPr>
        <p:spPr>
          <a:xfrm>
            <a:off x="6565392" y="3063240"/>
            <a:ext cx="2286000" cy="493776"/>
          </a:xfrm>
          <a:prstGeom prst="roundRect">
            <a:avLst>
              <a:gd name="adj" fmla="val 18519"/>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After that, we saw each other every day…</a:t>
            </a:r>
            <a:endParaRPr lang="en-US" sz="900" dirty="0"/>
          </a:p>
        </p:txBody>
      </p:sp>
      <p:sp>
        <p:nvSpPr>
          <p:cNvPr id="38" name="q_298"/>
          <p:cNvSpPr/>
          <p:nvPr/>
        </p:nvSpPr>
        <p:spPr>
          <a:xfrm>
            <a:off x="5166360" y="3611880"/>
            <a:ext cx="1325880" cy="493776"/>
          </a:xfrm>
          <a:prstGeom prst="roundRect">
            <a:avLst>
              <a:gd name="adj" fmla="val 1851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E (Hannah)</a:t>
            </a:r>
            <a:endParaRPr lang="en-US" sz="1150" dirty="0"/>
          </a:p>
        </p:txBody>
      </p:sp>
      <p:sp>
        <p:nvSpPr>
          <p:cNvPr id="39" name="R4_chip299"/>
          <p:cNvSpPr/>
          <p:nvPr/>
        </p:nvSpPr>
        <p:spPr>
          <a:xfrm>
            <a:off x="6565392" y="3611880"/>
            <a:ext cx="2286000" cy="493776"/>
          </a:xfrm>
          <a:prstGeom prst="roundRect">
            <a:avLst>
              <a:gd name="adj" fmla="val 18519"/>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One afternoon in October, I was at work…</a:t>
            </a:r>
            <a:endParaRPr lang="en-US" sz="900" dirty="0"/>
          </a:p>
        </p:txBody>
      </p:sp>
      <p:sp>
        <p:nvSpPr>
          <p:cNvPr id="40" name="q_300"/>
          <p:cNvSpPr/>
          <p:nvPr/>
        </p:nvSpPr>
        <p:spPr>
          <a:xfrm>
            <a:off x="5166360" y="4160520"/>
            <a:ext cx="1325880" cy="493776"/>
          </a:xfrm>
          <a:prstGeom prst="roundRect">
            <a:avLst>
              <a:gd name="adj" fmla="val 1851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F (Hannah)</a:t>
            </a:r>
            <a:endParaRPr lang="en-US" sz="1150" dirty="0"/>
          </a:p>
        </p:txBody>
      </p:sp>
      <p:sp>
        <p:nvSpPr>
          <p:cNvPr id="41" name="R5_chip301"/>
          <p:cNvSpPr/>
          <p:nvPr/>
        </p:nvSpPr>
        <p:spPr>
          <a:xfrm>
            <a:off x="6565392" y="4160520"/>
            <a:ext cx="2286000" cy="493776"/>
          </a:xfrm>
          <a:prstGeom prst="roundRect">
            <a:avLst>
              <a:gd name="adj" fmla="val 18519"/>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I was driving along the high street. Suddenly…</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4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4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0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03"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304"/>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Happy or sad?</a:t>
            </a:r>
            <a:endParaRPr lang="en-US" sz="2500" dirty="0"/>
          </a:p>
        </p:txBody>
      </p:sp>
      <p:pic>
        <p:nvPicPr>
          <p:cNvPr id="6" name="brP_305"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06"/>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Class vote! Happy ending or sad ending? What do you think happens?</a:t>
            </a:r>
            <a:endParaRPr lang="en-US" sz="1100" dirty="0"/>
          </a:p>
        </p:txBody>
      </p:sp>
      <p:sp>
        <p:nvSpPr>
          <p:cNvPr id="8" name="insIT_30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Votate! Finale felice o triste? Cosa pensate che succeda?</a:t>
            </a:r>
            <a:endParaRPr lang="en-US" sz="950" dirty="0"/>
          </a:p>
        </p:txBody>
      </p:sp>
      <p:sp>
        <p:nvSpPr>
          <p:cNvPr id="9" name="note_30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8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Communicative</a:t>
            </a:r>
            <a:endParaRPr lang="en-US" sz="1150" dirty="0"/>
          </a:p>
        </p:txBody>
      </p:sp>
      <p:pic>
        <p:nvPicPr>
          <p:cNvPr id="10" name="logo_30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1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Video listening · two endings   ·   📖 SB p.19 · 4a, 4b · video 2.21 / 2.22 (scripts TG p.38)</a:t>
            </a:r>
            <a:endParaRPr lang="en-US" sz="800" dirty="0"/>
          </a:p>
        </p:txBody>
      </p:sp>
      <p:sp>
        <p:nvSpPr>
          <p:cNvPr id="12" name="pf_311"/>
          <p:cNvSpPr/>
          <p:nvPr/>
        </p:nvSpPr>
        <p:spPr>
          <a:xfrm rot="-120000">
            <a:off x="320040" y="1371600"/>
            <a:ext cx="278892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312" descr="/home/claude/lls-course/v2/cache/a2_2c_p6_car_jpg_649x297_31.png">    </p:cNvPr>
          <p:cNvPicPr>
            <a:picLocks noChangeAspect="1"/>
          </p:cNvPicPr>
          <p:nvPr/>
        </p:nvPicPr>
        <p:blipFill>
          <a:blip r:embed="rId5"/>
          <a:stretch>
            <a:fillRect/>
          </a:stretch>
        </p:blipFill>
        <p:spPr>
          <a:xfrm rot="-120000">
            <a:off x="365760" y="1417320"/>
            <a:ext cx="2697480" cy="1234440"/>
          </a:xfrm>
          <a:prstGeom prst="rect">
            <a:avLst/>
          </a:prstGeom>
        </p:spPr>
      </p:pic>
      <p:sp>
        <p:nvSpPr>
          <p:cNvPr id="14" name="cd_313"/>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314"/>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15"/>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316"/>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 think she stops just in time.</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 think she hits the man.</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Maybe the man is… Jamie!</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I want the happy / sad ending because…</a:t>
            </a:r>
            <a:endParaRPr lang="en-US" sz="1050" dirty="0"/>
          </a:p>
        </p:txBody>
      </p:sp>
      <p:sp>
        <p:nvSpPr>
          <p:cNvPr id="18" name="R1_qb317"/>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318"/>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Class vote: hands up! Happy ending? Sad ending?</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Happy: 5 · Sad: 7 → we watch the sad ending!</a:t>
            </a:r>
            <a:endParaRPr lang="en-US" sz="1000" dirty="0"/>
          </a:p>
        </p:txBody>
      </p:sp>
      <p:sp>
        <p:nvSpPr>
          <p:cNvPr id="20" name="R2_qb319"/>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320"/>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Before you watch: what do you think happens?</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think the man is Jamie!</a:t>
            </a:r>
            <a:endParaRPr lang="en-US" sz="1000" dirty="0"/>
          </a:p>
        </p:txBody>
      </p:sp>
      <p:sp>
        <p:nvSpPr>
          <p:cNvPr id="22" name="R3_qb321"/>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322"/>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Watch the ending you chose (book video 2.21 happy / 2.22 sad). What happens?</a:t>
            </a:r>
            <a:endParaRPr lang="en-US" sz="95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e.g. She stopped just in time. It was Jamie!</a:t>
            </a:r>
            <a:endParaRPr lang="en-US" sz="950" dirty="0"/>
          </a:p>
        </p:txBody>
      </p:sp>
      <p:sp>
        <p:nvSpPr>
          <p:cNvPr id="24" name="R4_qb323"/>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324"/>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Want to watch the other ending too?</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Yes!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25"/>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26"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327"/>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happy ending</a:t>
            </a:r>
            <a:endParaRPr lang="en-US" sz="2500" dirty="0"/>
          </a:p>
        </p:txBody>
      </p:sp>
      <p:pic>
        <p:nvPicPr>
          <p:cNvPr id="6" name="brP_328"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329"/>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Happy ending: answer the questions.</a:t>
            </a:r>
            <a:endParaRPr lang="en-US" sz="1250" dirty="0"/>
          </a:p>
        </p:txBody>
      </p:sp>
      <p:sp>
        <p:nvSpPr>
          <p:cNvPr id="8" name="insIT_33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Finale felice: rispondi alle domande.</a:t>
            </a:r>
            <a:endParaRPr lang="en-US" sz="950" dirty="0"/>
          </a:p>
        </p:txBody>
      </p:sp>
      <p:sp>
        <p:nvSpPr>
          <p:cNvPr id="9" name="note_331"/>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p:txBody>
      </p:sp>
      <p:pic>
        <p:nvPicPr>
          <p:cNvPr id="10" name="logo_33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3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Communication · Happy ending (p.103)   ·   📖 SB p.103 Communication Happy ending (TG key)</a:t>
            </a:r>
            <a:endParaRPr lang="en-US" sz="800" dirty="0"/>
          </a:p>
        </p:txBody>
      </p:sp>
      <p:sp>
        <p:nvSpPr>
          <p:cNvPr id="12" name="bd_334"/>
          <p:cNvSpPr/>
          <p:nvPr/>
        </p:nvSpPr>
        <p:spPr>
          <a:xfrm>
            <a:off x="32004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3" name="q_335"/>
          <p:cNvSpPr/>
          <p:nvPr/>
        </p:nvSpPr>
        <p:spPr>
          <a:xfrm>
            <a:off x="70408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Why didn't Hannah see the man at first?</a:t>
            </a:r>
            <a:endParaRPr lang="en-US" sz="1100" dirty="0"/>
          </a:p>
        </p:txBody>
      </p:sp>
      <p:sp>
        <p:nvSpPr>
          <p:cNvPr id="14" name="R1_chip336"/>
          <p:cNvSpPr/>
          <p:nvPr/>
        </p:nvSpPr>
        <p:spPr>
          <a:xfrm>
            <a:off x="70408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Because he was wearing a dark coat.</a:t>
            </a:r>
            <a:endParaRPr lang="en-US" sz="1150" dirty="0"/>
          </a:p>
        </p:txBody>
      </p:sp>
      <p:sp>
        <p:nvSpPr>
          <p:cNvPr id="15" name="bd_337"/>
          <p:cNvSpPr/>
          <p:nvPr/>
        </p:nvSpPr>
        <p:spPr>
          <a:xfrm>
            <a:off x="32004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6" name="q_338"/>
          <p:cNvSpPr/>
          <p:nvPr/>
        </p:nvSpPr>
        <p:spPr>
          <a:xfrm>
            <a:off x="70408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Who was the man?</a:t>
            </a:r>
            <a:endParaRPr lang="en-US" sz="1100" dirty="0"/>
          </a:p>
        </p:txBody>
      </p:sp>
      <p:sp>
        <p:nvSpPr>
          <p:cNvPr id="17" name="R2_chip339"/>
          <p:cNvSpPr/>
          <p:nvPr/>
        </p:nvSpPr>
        <p:spPr>
          <a:xfrm>
            <a:off x="70408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Jamie.</a:t>
            </a:r>
            <a:endParaRPr lang="en-US" sz="1150" dirty="0"/>
          </a:p>
        </p:txBody>
      </p:sp>
      <p:sp>
        <p:nvSpPr>
          <p:cNvPr id="18" name="bd_340"/>
          <p:cNvSpPr/>
          <p:nvPr/>
        </p:nvSpPr>
        <p:spPr>
          <a:xfrm>
            <a:off x="32004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19" name="q_341"/>
          <p:cNvSpPr/>
          <p:nvPr/>
        </p:nvSpPr>
        <p:spPr>
          <a:xfrm>
            <a:off x="70408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Why did he cross the road without looking?</a:t>
            </a:r>
            <a:endParaRPr lang="en-US" sz="1100" dirty="0"/>
          </a:p>
        </p:txBody>
      </p:sp>
      <p:sp>
        <p:nvSpPr>
          <p:cNvPr id="20" name="R3_chip342"/>
          <p:cNvSpPr/>
          <p:nvPr/>
        </p:nvSpPr>
        <p:spPr>
          <a:xfrm>
            <a:off x="70408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He was in a hurry.</a:t>
            </a:r>
            <a:endParaRPr lang="en-US" sz="1150" dirty="0"/>
          </a:p>
        </p:txBody>
      </p:sp>
      <p:sp>
        <p:nvSpPr>
          <p:cNvPr id="21" name="bd_343"/>
          <p:cNvSpPr/>
          <p:nvPr/>
        </p:nvSpPr>
        <p:spPr>
          <a:xfrm>
            <a:off x="32004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2" name="q_344"/>
          <p:cNvSpPr/>
          <p:nvPr/>
        </p:nvSpPr>
        <p:spPr>
          <a:xfrm>
            <a:off x="70408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Where did they go?</a:t>
            </a:r>
            <a:endParaRPr lang="en-US" sz="1100" dirty="0"/>
          </a:p>
        </p:txBody>
      </p:sp>
      <p:sp>
        <p:nvSpPr>
          <p:cNvPr id="23" name="R4_chip345"/>
          <p:cNvSpPr/>
          <p:nvPr/>
        </p:nvSpPr>
        <p:spPr>
          <a:xfrm>
            <a:off x="70408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To a coffee bar.</a:t>
            </a:r>
            <a:endParaRPr lang="en-US" sz="1150" dirty="0"/>
          </a:p>
        </p:txBody>
      </p:sp>
      <p:sp>
        <p:nvSpPr>
          <p:cNvPr id="24" name="bd_346"/>
          <p:cNvSpPr/>
          <p:nvPr/>
        </p:nvSpPr>
        <p:spPr>
          <a:xfrm>
            <a:off x="470916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5" name="q_347"/>
          <p:cNvSpPr/>
          <p:nvPr/>
        </p:nvSpPr>
        <p:spPr>
          <a:xfrm>
            <a:off x="509320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What did they order?</a:t>
            </a:r>
            <a:endParaRPr lang="en-US" sz="1100" dirty="0"/>
          </a:p>
        </p:txBody>
      </p:sp>
      <p:sp>
        <p:nvSpPr>
          <p:cNvPr id="26" name="R5_chip348"/>
          <p:cNvSpPr/>
          <p:nvPr/>
        </p:nvSpPr>
        <p:spPr>
          <a:xfrm>
            <a:off x="509320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Two cappuccinos.</a:t>
            </a:r>
            <a:endParaRPr lang="en-US" sz="1150" dirty="0"/>
          </a:p>
        </p:txBody>
      </p:sp>
      <p:sp>
        <p:nvSpPr>
          <p:cNvPr id="27" name="bd_349"/>
          <p:cNvSpPr/>
          <p:nvPr/>
        </p:nvSpPr>
        <p:spPr>
          <a:xfrm>
            <a:off x="470916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8" name="q_350"/>
          <p:cNvSpPr/>
          <p:nvPr/>
        </p:nvSpPr>
        <p:spPr>
          <a:xfrm>
            <a:off x="509320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What was Jamie doing in the high street?</a:t>
            </a:r>
            <a:endParaRPr lang="en-US" sz="1100" dirty="0"/>
          </a:p>
        </p:txBody>
      </p:sp>
      <p:sp>
        <p:nvSpPr>
          <p:cNvPr id="29" name="R6_chip351"/>
          <p:cNvSpPr/>
          <p:nvPr/>
        </p:nvSpPr>
        <p:spPr>
          <a:xfrm>
            <a:off x="509320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He was buying tickets for a concert.</a:t>
            </a:r>
            <a:endParaRPr lang="en-US" sz="1150" dirty="0"/>
          </a:p>
        </p:txBody>
      </p:sp>
      <p:sp>
        <p:nvSpPr>
          <p:cNvPr id="30" name="bd_352"/>
          <p:cNvSpPr/>
          <p:nvPr/>
        </p:nvSpPr>
        <p:spPr>
          <a:xfrm>
            <a:off x="470916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1" name="q_353"/>
          <p:cNvSpPr/>
          <p:nvPr/>
        </p:nvSpPr>
        <p:spPr>
          <a:xfrm>
            <a:off x="509320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What were the tickets for?</a:t>
            </a:r>
            <a:endParaRPr lang="en-US" sz="1100" dirty="0"/>
          </a:p>
        </p:txBody>
      </p:sp>
      <p:sp>
        <p:nvSpPr>
          <p:cNvPr id="32" name="R7_chip354"/>
          <p:cNvSpPr/>
          <p:nvPr/>
        </p:nvSpPr>
        <p:spPr>
          <a:xfrm>
            <a:off x="509320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Pink concert on 15th October.</a:t>
            </a:r>
            <a:endParaRPr lang="en-US" sz="1150" dirty="0"/>
          </a:p>
        </p:txBody>
      </p:sp>
      <p:sp>
        <p:nvSpPr>
          <p:cNvPr id="33" name="bd_355"/>
          <p:cNvSpPr/>
          <p:nvPr/>
        </p:nvSpPr>
        <p:spPr>
          <a:xfrm>
            <a:off x="470916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34" name="q_356"/>
          <p:cNvSpPr/>
          <p:nvPr/>
        </p:nvSpPr>
        <p:spPr>
          <a:xfrm>
            <a:off x="509320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Why is 15th October important?</a:t>
            </a:r>
            <a:endParaRPr lang="en-US" sz="1100" dirty="0"/>
          </a:p>
        </p:txBody>
      </p:sp>
      <p:sp>
        <p:nvSpPr>
          <p:cNvPr id="35" name="R8_chip357"/>
          <p:cNvSpPr/>
          <p:nvPr/>
        </p:nvSpPr>
        <p:spPr>
          <a:xfrm>
            <a:off x="509320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It's their three-month anniversary.</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8"/>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59"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360"/>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sad ending</a:t>
            </a:r>
            <a:endParaRPr lang="en-US" sz="2500" dirty="0"/>
          </a:p>
        </p:txBody>
      </p:sp>
      <p:pic>
        <p:nvPicPr>
          <p:cNvPr id="6" name="brP_361"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362"/>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Sad ending: answer the questions.</a:t>
            </a:r>
            <a:endParaRPr lang="en-US" sz="1250" dirty="0"/>
          </a:p>
        </p:txBody>
      </p:sp>
      <p:sp>
        <p:nvSpPr>
          <p:cNvPr id="8" name="insIT_36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Finale triste: rispondi alle domande.</a:t>
            </a:r>
            <a:endParaRPr lang="en-US" sz="950" dirty="0"/>
          </a:p>
        </p:txBody>
      </p:sp>
      <p:sp>
        <p:nvSpPr>
          <p:cNvPr id="9" name="note_364"/>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p:txBody>
      </p:sp>
      <p:pic>
        <p:nvPicPr>
          <p:cNvPr id="10" name="logo_36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6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Communication · Sad ending (p.109)   ·   📖 SB p.109 Communication Sad ending (TG key)</a:t>
            </a:r>
            <a:endParaRPr lang="en-US" sz="800" dirty="0"/>
          </a:p>
        </p:txBody>
      </p:sp>
      <p:sp>
        <p:nvSpPr>
          <p:cNvPr id="12" name="bd_367"/>
          <p:cNvSpPr/>
          <p:nvPr/>
        </p:nvSpPr>
        <p:spPr>
          <a:xfrm>
            <a:off x="32004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3" name="q_368"/>
          <p:cNvSpPr/>
          <p:nvPr/>
        </p:nvSpPr>
        <p:spPr>
          <a:xfrm>
            <a:off x="70408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000" b="1" dirty="0">
                <a:solidFill>
                  <a:srgbClr val="1B2559"/>
                </a:solidFill>
                <a:latin typeface="Segoe UI Semibold" pitchFamily="34" charset="0"/>
                <a:ea typeface="Segoe UI Semibold" pitchFamily="34" charset="-122"/>
                <a:cs typeface="Segoe UI Semibold" pitchFamily="34" charset="-120"/>
              </a:rPr>
              <a:t>Why didn't Hannah see the man at first?</a:t>
            </a:r>
            <a:endParaRPr lang="en-US" sz="1000" dirty="0"/>
          </a:p>
        </p:txBody>
      </p:sp>
      <p:sp>
        <p:nvSpPr>
          <p:cNvPr id="14" name="R1_chip369"/>
          <p:cNvSpPr/>
          <p:nvPr/>
        </p:nvSpPr>
        <p:spPr>
          <a:xfrm>
            <a:off x="70408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Because he was wearing a dark coat.</a:t>
            </a:r>
            <a:endParaRPr lang="en-US" sz="1100" dirty="0"/>
          </a:p>
        </p:txBody>
      </p:sp>
      <p:sp>
        <p:nvSpPr>
          <p:cNvPr id="15" name="bd_370"/>
          <p:cNvSpPr/>
          <p:nvPr/>
        </p:nvSpPr>
        <p:spPr>
          <a:xfrm>
            <a:off x="32004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6" name="q_371"/>
          <p:cNvSpPr/>
          <p:nvPr/>
        </p:nvSpPr>
        <p:spPr>
          <a:xfrm>
            <a:off x="70408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000" b="1" dirty="0">
                <a:solidFill>
                  <a:srgbClr val="1B2559"/>
                </a:solidFill>
                <a:latin typeface="Segoe UI Semibold" pitchFamily="34" charset="0"/>
                <a:ea typeface="Segoe UI Semibold" pitchFamily="34" charset="-122"/>
                <a:cs typeface="Segoe UI Semibold" pitchFamily="34" charset="-120"/>
              </a:rPr>
              <a:t>What happened?</a:t>
            </a:r>
            <a:endParaRPr lang="en-US" sz="1000" dirty="0"/>
          </a:p>
        </p:txBody>
      </p:sp>
      <p:sp>
        <p:nvSpPr>
          <p:cNvPr id="17" name="R2_chip372"/>
          <p:cNvSpPr/>
          <p:nvPr/>
        </p:nvSpPr>
        <p:spPr>
          <a:xfrm>
            <a:off x="70408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She hit him.</a:t>
            </a:r>
            <a:endParaRPr lang="en-US" sz="1100" dirty="0"/>
          </a:p>
        </p:txBody>
      </p:sp>
      <p:sp>
        <p:nvSpPr>
          <p:cNvPr id="18" name="bd_373"/>
          <p:cNvSpPr/>
          <p:nvPr/>
        </p:nvSpPr>
        <p:spPr>
          <a:xfrm>
            <a:off x="32004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19" name="q_374"/>
          <p:cNvSpPr/>
          <p:nvPr/>
        </p:nvSpPr>
        <p:spPr>
          <a:xfrm>
            <a:off x="70408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000" b="1" dirty="0">
                <a:solidFill>
                  <a:srgbClr val="1B2559"/>
                </a:solidFill>
                <a:latin typeface="Segoe UI Semibold" pitchFamily="34" charset="0"/>
                <a:ea typeface="Segoe UI Semibold" pitchFamily="34" charset="-122"/>
                <a:cs typeface="Segoe UI Semibold" pitchFamily="34" charset="-120"/>
              </a:rPr>
              <a:t>What did Hannah do then?</a:t>
            </a:r>
            <a:endParaRPr lang="en-US" sz="1000" dirty="0"/>
          </a:p>
        </p:txBody>
      </p:sp>
      <p:sp>
        <p:nvSpPr>
          <p:cNvPr id="20" name="R3_chip375"/>
          <p:cNvSpPr/>
          <p:nvPr/>
        </p:nvSpPr>
        <p:spPr>
          <a:xfrm>
            <a:off x="70408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She went to the coffee bar and called Jamie.</a:t>
            </a:r>
            <a:endParaRPr lang="en-US" sz="1100" dirty="0"/>
          </a:p>
        </p:txBody>
      </p:sp>
      <p:sp>
        <p:nvSpPr>
          <p:cNvPr id="21" name="bd_376"/>
          <p:cNvSpPr/>
          <p:nvPr/>
        </p:nvSpPr>
        <p:spPr>
          <a:xfrm>
            <a:off x="32004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2" name="q_377"/>
          <p:cNvSpPr/>
          <p:nvPr/>
        </p:nvSpPr>
        <p:spPr>
          <a:xfrm>
            <a:off x="70408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000" b="1" dirty="0">
                <a:solidFill>
                  <a:srgbClr val="1B2559"/>
                </a:solidFill>
                <a:latin typeface="Segoe UI Semibold" pitchFamily="34" charset="0"/>
                <a:ea typeface="Segoe UI Semibold" pitchFamily="34" charset="-122"/>
                <a:cs typeface="Segoe UI Semibold" pitchFamily="34" charset="-120"/>
              </a:rPr>
              <a:t>Who came to Hannah's house?</a:t>
            </a:r>
            <a:endParaRPr lang="en-US" sz="1000" dirty="0"/>
          </a:p>
        </p:txBody>
      </p:sp>
      <p:sp>
        <p:nvSpPr>
          <p:cNvPr id="23" name="R4_chip378"/>
          <p:cNvSpPr/>
          <p:nvPr/>
        </p:nvSpPr>
        <p:spPr>
          <a:xfrm>
            <a:off x="70408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A policewoman.</a:t>
            </a:r>
            <a:endParaRPr lang="en-US" sz="1100" dirty="0"/>
          </a:p>
        </p:txBody>
      </p:sp>
      <p:sp>
        <p:nvSpPr>
          <p:cNvPr id="24" name="bd_379"/>
          <p:cNvSpPr/>
          <p:nvPr/>
        </p:nvSpPr>
        <p:spPr>
          <a:xfrm>
            <a:off x="470916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5" name="q_380"/>
          <p:cNvSpPr/>
          <p:nvPr/>
        </p:nvSpPr>
        <p:spPr>
          <a:xfrm>
            <a:off x="509320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000" b="1" dirty="0">
                <a:solidFill>
                  <a:srgbClr val="1B2559"/>
                </a:solidFill>
                <a:latin typeface="Segoe UI Semibold" pitchFamily="34" charset="0"/>
                <a:ea typeface="Segoe UI Semibold" pitchFamily="34" charset="-122"/>
                <a:cs typeface="Segoe UI Semibold" pitchFamily="34" charset="-120"/>
              </a:rPr>
              <a:t>What did she tell Hannah?</a:t>
            </a:r>
            <a:endParaRPr lang="en-US" sz="1000" dirty="0"/>
          </a:p>
        </p:txBody>
      </p:sp>
      <p:sp>
        <p:nvSpPr>
          <p:cNvPr id="26" name="R5_chip381"/>
          <p:cNvSpPr/>
          <p:nvPr/>
        </p:nvSpPr>
        <p:spPr>
          <a:xfrm>
            <a:off x="509320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That Jamie was in a car accident.</a:t>
            </a:r>
            <a:endParaRPr lang="en-US" sz="1100" dirty="0"/>
          </a:p>
        </p:txBody>
      </p:sp>
      <p:sp>
        <p:nvSpPr>
          <p:cNvPr id="27" name="bd_382"/>
          <p:cNvSpPr/>
          <p:nvPr/>
        </p:nvSpPr>
        <p:spPr>
          <a:xfrm>
            <a:off x="470916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8" name="q_383"/>
          <p:cNvSpPr/>
          <p:nvPr/>
        </p:nvSpPr>
        <p:spPr>
          <a:xfrm>
            <a:off x="509320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000" b="1" dirty="0">
                <a:solidFill>
                  <a:srgbClr val="1B2559"/>
                </a:solidFill>
                <a:latin typeface="Segoe UI Semibold" pitchFamily="34" charset="0"/>
                <a:ea typeface="Segoe UI Semibold" pitchFamily="34" charset="-122"/>
                <a:cs typeface="Segoe UI Semibold" pitchFamily="34" charset="-120"/>
              </a:rPr>
              <a:t>How is Jamie?</a:t>
            </a:r>
            <a:endParaRPr lang="en-US" sz="1000" dirty="0"/>
          </a:p>
        </p:txBody>
      </p:sp>
      <p:sp>
        <p:nvSpPr>
          <p:cNvPr id="29" name="R6_chip384"/>
          <p:cNvSpPr/>
          <p:nvPr/>
        </p:nvSpPr>
        <p:spPr>
          <a:xfrm>
            <a:off x="509320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A bad injury to his head and two broken legs. He's in intensive care.</a:t>
            </a:r>
            <a:endParaRPr lang="en-US" sz="1100" dirty="0"/>
          </a:p>
        </p:txBody>
      </p:sp>
      <p:sp>
        <p:nvSpPr>
          <p:cNvPr id="30" name="bd_385"/>
          <p:cNvSpPr/>
          <p:nvPr/>
        </p:nvSpPr>
        <p:spPr>
          <a:xfrm>
            <a:off x="470916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1" name="q_386"/>
          <p:cNvSpPr/>
          <p:nvPr/>
        </p:nvSpPr>
        <p:spPr>
          <a:xfrm>
            <a:off x="509320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000" b="1" dirty="0">
                <a:solidFill>
                  <a:srgbClr val="1B2559"/>
                </a:solidFill>
                <a:latin typeface="Segoe UI Semibold" pitchFamily="34" charset="0"/>
                <a:ea typeface="Segoe UI Semibold" pitchFamily="34" charset="-122"/>
                <a:cs typeface="Segoe UI Semibold" pitchFamily="34" charset="-120"/>
              </a:rPr>
              <a:t>What did someone see?</a:t>
            </a:r>
            <a:endParaRPr lang="en-US" sz="1000" dirty="0"/>
          </a:p>
        </p:txBody>
      </p:sp>
      <p:sp>
        <p:nvSpPr>
          <p:cNvPr id="32" name="R7_chip387"/>
          <p:cNvSpPr/>
          <p:nvPr/>
        </p:nvSpPr>
        <p:spPr>
          <a:xfrm>
            <a:off x="509320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The driver was a woman in a black car – and the number.</a:t>
            </a:r>
            <a:endParaRPr lang="en-US" sz="1100" dirty="0"/>
          </a:p>
        </p:txBody>
      </p:sp>
      <p:sp>
        <p:nvSpPr>
          <p:cNvPr id="33" name="bd_388"/>
          <p:cNvSpPr/>
          <p:nvPr/>
        </p:nvSpPr>
        <p:spPr>
          <a:xfrm>
            <a:off x="470916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34" name="q_389"/>
          <p:cNvSpPr/>
          <p:nvPr/>
        </p:nvSpPr>
        <p:spPr>
          <a:xfrm>
            <a:off x="509320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000" b="1" dirty="0">
                <a:solidFill>
                  <a:srgbClr val="1B2559"/>
                </a:solidFill>
                <a:latin typeface="Segoe UI Semibold" pitchFamily="34" charset="0"/>
                <a:ea typeface="Segoe UI Semibold" pitchFamily="34" charset="-122"/>
                <a:cs typeface="Segoe UI Semibold" pitchFamily="34" charset="-120"/>
              </a:rPr>
              <a:t>What did the policewoman ask Hannah at the end?</a:t>
            </a:r>
            <a:endParaRPr lang="en-US" sz="1000" dirty="0"/>
          </a:p>
        </p:txBody>
      </p:sp>
      <p:sp>
        <p:nvSpPr>
          <p:cNvPr id="35" name="R8_chip390"/>
          <p:cNvSpPr/>
          <p:nvPr/>
        </p:nvSpPr>
        <p:spPr>
          <a:xfrm>
            <a:off x="509320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About her number plate and where she was at 5.25 p.m.</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91"/>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392"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393"/>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394"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395"/>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Tell your partner…</a:t>
            </a:r>
            <a:endParaRPr lang="en-US" sz="1250" dirty="0"/>
          </a:p>
        </p:txBody>
      </p:sp>
      <p:sp>
        <p:nvSpPr>
          <p:cNvPr id="8" name="insIT_39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Di' al compagno…</a:t>
            </a:r>
            <a:endParaRPr lang="en-US" sz="950" dirty="0"/>
          </a:p>
        </p:txBody>
      </p:sp>
      <p:sp>
        <p:nvSpPr>
          <p:cNvPr id="9" name="note_397"/>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39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9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Exit · what can you remember?</a:t>
            </a:r>
            <a:endParaRPr lang="en-US" sz="800" dirty="0"/>
          </a:p>
        </p:txBody>
      </p:sp>
      <p:sp>
        <p:nvSpPr>
          <p:cNvPr id="12" name="bd_400"/>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401"/>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time sequencers from the story.</a:t>
            </a:r>
            <a:endParaRPr lang="en-US" sz="1400" dirty="0"/>
          </a:p>
        </p:txBody>
      </p:sp>
      <p:sp>
        <p:nvSpPr>
          <p:cNvPr id="14" name="bd_402"/>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403"/>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sentences: one with so, one with although.</a:t>
            </a:r>
            <a:endParaRPr lang="en-US" sz="1400" dirty="0"/>
          </a:p>
        </p:txBody>
      </p:sp>
      <p:sp>
        <p:nvSpPr>
          <p:cNvPr id="16" name="bd_404"/>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405"/>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verb phrase from the story – in a sentence about you.</a:t>
            </a:r>
            <a:endParaRPr lang="en-US" sz="1400" dirty="0"/>
          </a:p>
        </p:txBody>
      </p:sp>
      <p:sp>
        <p:nvSpPr>
          <p:cNvPr id="18" name="cd_406"/>
          <p:cNvSpPr/>
          <p:nvPr/>
        </p:nvSpPr>
        <p:spPr>
          <a:xfrm>
            <a:off x="5669280" y="1417320"/>
            <a:ext cx="3200400" cy="1069848"/>
          </a:xfrm>
          <a:prstGeom prst="roundRect">
            <a:avLst>
              <a:gd name="adj" fmla="val 11966"/>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407"/>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408"/>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409"/>
          <p:cNvSpPr/>
          <p:nvPr/>
        </p:nvSpPr>
        <p:spPr>
          <a:xfrm>
            <a:off x="6236208" y="1911096"/>
            <a:ext cx="2542032" cy="50292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2C pp.16–17: exercises 1–3</a:t>
            </a:r>
            <a:endParaRPr lang="en-US" sz="1150" dirty="0"/>
          </a:p>
        </p:txBody>
      </p:sp>
      <p:sp>
        <p:nvSpPr>
          <p:cNvPr id="22" name="st_410"/>
          <p:cNvSpPr/>
          <p:nvPr/>
        </p:nvSpPr>
        <p:spPr>
          <a:xfrm rot="-180000">
            <a:off x="5806440" y="2715768"/>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Revise and Check 1&amp;2 (SB p.20)</a:t>
            </a:r>
            <a:endParaRPr lang="en-US" sz="1100" dirty="0"/>
          </a:p>
        </p:txBody>
      </p:sp>
    </p:spTree>
  </p:cSld>
  <p:clrMapOvr>
    <a:masterClrMapping/>
  </p:clrMapOvr>
  <p:transition spd="med">
    <p:push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11"/>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12"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13"/>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414"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415"/>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41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41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41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1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2C · Review · what did you do today?</a:t>
            </a:r>
            <a:endParaRPr lang="en-US" sz="800" dirty="0"/>
          </a:p>
        </p:txBody>
      </p:sp>
      <p:sp>
        <p:nvSpPr>
          <p:cNvPr id="12" name="cd_420"/>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421"/>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422"/>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a love story with a twist</a:t>
            </a:r>
            <a:endParaRPr lang="en-US" sz="1350" dirty="0"/>
          </a:p>
        </p:txBody>
      </p:sp>
      <p:sp>
        <p:nvSpPr>
          <p:cNvPr id="15" name="R1_tk423"/>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424"/>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425"/>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426"/>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Used after that, suddenly, so, because, although</a:t>
            </a:r>
            <a:endParaRPr lang="en-US" sz="1350" dirty="0"/>
          </a:p>
        </p:txBody>
      </p:sp>
      <p:sp>
        <p:nvSpPr>
          <p:cNvPr id="19" name="R2_tk427"/>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428"/>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429"/>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430"/>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Found the stress in two-syllable words</a:t>
            </a:r>
            <a:endParaRPr lang="en-US" sz="1350" dirty="0"/>
          </a:p>
        </p:txBody>
      </p:sp>
      <p:sp>
        <p:nvSpPr>
          <p:cNvPr id="23" name="R3_tk431"/>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432"/>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433"/>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434"/>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Watched a happy or a sad ending</a:t>
            </a:r>
            <a:endParaRPr lang="en-US" sz="1350" dirty="0"/>
          </a:p>
        </p:txBody>
      </p:sp>
      <p:sp>
        <p:nvSpPr>
          <p:cNvPr id="27" name="R4_tk435"/>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436"/>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437"/>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438"/>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Practised retell the story as Hannah or Jamie</a:t>
            </a:r>
            <a:endParaRPr lang="en-US" sz="1350" dirty="0"/>
          </a:p>
        </p:txBody>
      </p:sp>
      <p:sp>
        <p:nvSpPr>
          <p:cNvPr id="31" name="R5_tk439"/>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440"/>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2C One dark October evening</dc:title>
  <dc:subject>PptxGenJS Presentation</dc:subject>
  <dc:creator>PptxGenJS</dc:creator>
  <cp:lastModifiedBy>PptxGenJS</cp:lastModifiedBy>
  <cp:revision>1</cp:revision>
  <dcterms:created xsi:type="dcterms:W3CDTF">2026-10-22T09:45:18Z</dcterms:created>
  <dcterms:modified xsi:type="dcterms:W3CDTF">2026-10-22T09:45:18Z</dcterms:modified>
</cp:coreProperties>
</file>