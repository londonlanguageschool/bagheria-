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Model: 'Tomorrow I'm teaching… On Saturday I'm meeting…'. TG lead-in idea: months in each season (drill February, July).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⭐ meaning ⭐⭐ sentence ⭐⭐⭐ question ('Where's passport control?'). Grammar: students make their own plan + prediction first, then click. Remember Jake? Today he's in the UK…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Reading &amp; speaking · How organized are you? (6 min)
QUIZ (6 min). 1a: students choose alone. 1b: compare. 1c: the scoring is on Communication p.103 (books open) – or just ask: lots of b's = very organized, lots of c's = disorganized. 1d: Do you agree? Do you know anybody very organized or very disorganized? Check Post-it note, list, pack, wardrobe.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verbs + prepositions (1) (2 min)
2a (2 min). Key (TG): 1 at 2 for. Italian: aspettare (no preposition!) → wait FOR. Arrive in Paris / arrive at the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Bank p.153 · verbs + prepositions (2) (5 min)
VOCABULARY BANK 1–8 (5 min). One click per sentence. Drill each sentence (no audio 3.7 – model it yourself). Next slide: 9–15.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Vocabulary Bank p.153 · verbs + prepositions (3) (4 min)
VOCABULARY BANK 9–15 (4 min). TG: think about = action ('What are you thinking about?' 'My holiday'); think of = opinion ('What do you think of Coldplay?').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Game · preposition ping-pong (4 min)
PING-PONG (4 min). The first is the example. Then pairs ask each other the questions (VB Activation – TG: 'love at first sight').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Pronunciation · linking (connected speech) (4 min)
LINKING (4 min). Read the Connected speech box. No audio 3.8 – YOU say each sentence at natural speed, twice (linking the words!). Students write; click to check. Then they practise saying them (2d).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Listening · Jake's calendar (6 min)
LISTENING (6 min). Audio 3.9 isn't in our files – READ it in two voices. First: what's the only time they can meet? (Tuesday at 11.00). Then complete the calendar from the list (2 not needed). Key (TG). Drill times: quarter past eight / eight fifteen; half past seven / seven thirty.
SCRIPT: S Hello? J Sarah? S Hi, Jake. J Hi. Great to hear your voice! How are things? S Oh fine, fine. How was the journey? When did you arrive in the UK? J Last night. The journey was fine. I got a cheap flight with Alitalia, but it meant a long stopover in Rome, but I went on a guided tour and I had a great time. S That sounds like fun. What did you think of Rome? J Fantastic. I loved it. So when can we meet? S I'm afraid I'm really busy this week. The only possible day for me is Tuesday. I'm going to London from Wednesday to Friday… J Tuesday. Let me look at my calendar. S Wow, Jake, you put things in your calendar! You're much more organized than when we were going out. J Well, I'm better than I was. But I nearly lost my passport when I was in Rome. OK, Tuesday. I'm not free in the evening. I'm having dinner with Mark Taylor, my old professor. Do you remember him? It's at seven thirty. I can't change that. How about lunch? S It depends on the time. A late lunch would be OK, around one forty-five? J The problem is I'm giving my talk at two. And I'm having a breakfast meeting at eight fifteen with some colleagues. S Well, morning coffee, or tea in the afternoon, then. What are you doing then? J Let's see… I'm going to a talk about climate change at four, so I think maybe morning coffee is best. And then we can try to arrange another time. S OK. There's a nice coffee bar in the high street called The Grand Café. Meet there at eleven? J Perfect. I'm really looking forward to it! S Me too. 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Listening · the meeting (4 min)
THE MEETING (4 min). No audio 3.10: READ the story line by line (click), or act it with a student. Ask the grey questions. Class vote: are they going to meet again? Why (not)?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retell (TPRS) (3 min)
RETELL (3 min, automatic after every class story). A tells lines 1–3, B the rest, then swap. Only the prompts – no reading! Last line: change two things (place, person, ending). Listen for today's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Grammar · present continuous for the future (4 min)
GRAMMAR (4 min). 1 is the example. Key (TG): 1 going 2 having 3 giving 4 doing 5 getting married. Click 1 = 'all future'. Italian speakers say 'What do you do this evening?' ✗ → What are you doing this evening?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Grammar Bank 3B · the rule (3 min)
RULE (3 min). TG: often both are possible for plans (What are you going to do tonight? / What are you doing tonight?). Present continuous is very common with leave, arrive, go, come. Never for predictions. GB exercises p.131 (homework or now): a 1N 2F 3F 4N 5N 6F 7F 8N 9N 10F · b 1 I'm packing 2 I'm flying 3 are you going 4 I'm meeting 5 are you seeing 6 He's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Grammar · practice (3 min)
JAKE'S CALENDAR (3 min). SB 4c – the first question is the book's example. Pairs ask and answer, then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making arrangements (3 min)
INTONATION (3 min). No audio 3.13: YOU model the conversation – B sounds enthusiastic (I'd love to! Great!) and apologetic (Sorry). Class repeats line by line, then pairs practise and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Speaking · mingle (7 min)
MINGLE (7 min). TG: students write activities without 'I'm going…' (e.g. 'cinema with friends'), as in a real diary. Then mingle and fill every free evening with a different person. Feedback: who is doing what when?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Pre-intermediate · SB pp.24–25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it in your calendar!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arrangements · verbs + prepositions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📝  do a quiz: how organized are you?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🔗  learn verbs + prepositions: wait for, depend on…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👂  hear words linked together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📱  complete Jake's calendar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📅  make arrangements for next week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1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Tomorrow evening I'm having dinner with my sister. Yes – everything is in my phone!</a:t>
            </a:r>
            <a:endParaRPr lang="en-US" sz="900" dirty="0"/>
          </a:p>
        </p:txBody>
      </p:sp>
      <p:sp>
        <p:nvSpPr>
          <p:cNvPr id="14" name="pf_12"/>
          <p:cNvSpPr/>
          <p:nvPr/>
        </p:nvSpPr>
        <p:spPr>
          <a:xfrm rot="90000">
            <a:off x="6012180" y="777240"/>
            <a:ext cx="1645920" cy="320040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a2_3b_jake_jpg_374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6057900" y="822960"/>
            <a:ext cx="155448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doing tomorrow evening? Do you put things in your phone calendar?</a:t>
            </a:r>
            <a:endParaRPr lang="en-US" sz="15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a2_3a_jake_anna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223264"/>
          </a:xfrm>
          <a:prstGeom prst="roundRect">
            <a:avLst>
              <a:gd name="adj" fmla="val 104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3A: TripAside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 · be going to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check-in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443984" y="1783080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 reclaim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249924" y="178308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check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3246120" y="2185416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passport control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5138928" y="2185416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 lounge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7031736" y="2185416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stopover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3246120" y="2587752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connecting flight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5225796" y="2587752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trolley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575304"/>
            <a:ext cx="2756916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648456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going to: plans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995928"/>
            <a:ext cx="2482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a plan · an a decision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4325112"/>
            <a:ext cx="2482596" cy="356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 going to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give a talk at a conference.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 going to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visit the Forum.</a:t>
            </a:r>
            <a:endParaRPr lang="en-US" sz="900" dirty="0"/>
          </a:p>
        </p:txBody>
      </p:sp>
      <p:sp>
        <p:nvSpPr>
          <p:cNvPr id="34" name="cd_48"/>
          <p:cNvSpPr/>
          <p:nvPr/>
        </p:nvSpPr>
        <p:spPr>
          <a:xfrm>
            <a:off x="6112764" y="3575304"/>
            <a:ext cx="2756916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rh_49"/>
          <p:cNvSpPr/>
          <p:nvPr/>
        </p:nvSpPr>
        <p:spPr>
          <a:xfrm>
            <a:off x="6204204" y="3648456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going to: predictions</a:t>
            </a:r>
            <a:endParaRPr lang="en-US" sz="1100" dirty="0"/>
          </a:p>
        </p:txBody>
      </p:sp>
      <p:sp>
        <p:nvSpPr>
          <p:cNvPr id="36" name="rf_50"/>
          <p:cNvSpPr/>
          <p:nvPr/>
        </p:nvSpPr>
        <p:spPr>
          <a:xfrm>
            <a:off x="6249924" y="3995928"/>
            <a:ext cx="2482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I think / I can see it</a:t>
            </a:r>
            <a:endParaRPr lang="en-US" sz="1050" dirty="0"/>
          </a:p>
        </p:txBody>
      </p:sp>
      <p:sp>
        <p:nvSpPr>
          <p:cNvPr id="37" name="R2_rl51"/>
          <p:cNvSpPr/>
          <p:nvPr/>
        </p:nvSpPr>
        <p:spPr>
          <a:xfrm>
            <a:off x="6249924" y="4325112"/>
            <a:ext cx="2482596" cy="356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 going to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 a fantastic day.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clouds! It'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 going to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rain.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54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organized are you?</a:t>
            </a:r>
            <a:endParaRPr lang="en-US" sz="2400" dirty="0"/>
          </a:p>
        </p:txBody>
      </p:sp>
      <p:pic>
        <p:nvPicPr>
          <p:cNvPr id="6" name="brP_5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the quiz. Choose a, b or c. Then compare with a partner.</a:t>
            </a:r>
            <a:endParaRPr lang="en-US" sz="1200" dirty="0"/>
          </a:p>
        </p:txBody>
      </p:sp>
      <p:sp>
        <p:nvSpPr>
          <p:cNvPr id="8" name="insIT_5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il quiz. Scegli a, b o c. Poi confronta con un compagno.</a:t>
            </a:r>
            <a:endParaRPr lang="en-US" sz="950" dirty="0"/>
          </a:p>
        </p:txBody>
      </p:sp>
      <p:sp>
        <p:nvSpPr>
          <p:cNvPr id="9" name="note_5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Communicative</a:t>
            </a:r>
            <a:endParaRPr lang="en-US" sz="1150" dirty="0"/>
          </a:p>
        </p:txBody>
      </p:sp>
      <p:pic>
        <p:nvPicPr>
          <p:cNvPr id="10" name="logo_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Reading &amp; speaking · How organized are you?   ·   📖 SB p.24 · 1a, 1b, 1d (quiz exactly as in the book)</a:t>
            </a:r>
            <a:endParaRPr lang="en-US" sz="800" dirty="0"/>
          </a:p>
        </p:txBody>
      </p:sp>
      <p:sp>
        <p:nvSpPr>
          <p:cNvPr id="12" name="pf_61"/>
          <p:cNvSpPr/>
          <p:nvPr/>
        </p:nvSpPr>
        <p:spPr>
          <a:xfrm rot="-120000">
            <a:off x="320040" y="1741551"/>
            <a:ext cx="2788920" cy="585978"/>
          </a:xfrm>
          <a:prstGeom prst="roundRect">
            <a:avLst>
              <a:gd name="adj" fmla="val 26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62" descr="/home/claude/lls-course/v2/cache/a2_3b_quiz_jpg_649x1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787271"/>
            <a:ext cx="2697480" cy="494538"/>
          </a:xfrm>
          <a:prstGeom prst="rect">
            <a:avLst/>
          </a:prstGeom>
        </p:spPr>
      </p:pic>
      <p:sp>
        <p:nvSpPr>
          <p:cNvPr id="14" name="cd_63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4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65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66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chose a / b / c.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 too! / Really? I…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(not) very organized.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sister is really disorganized!</a:t>
            </a:r>
            <a:endParaRPr lang="en-US" sz="1150" dirty="0"/>
          </a:p>
        </p:txBody>
      </p:sp>
      <p:sp>
        <p:nvSpPr>
          <p:cNvPr id="18" name="R1_qb67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68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you have lots of things to do,… a you write them on a piece of paper or a Post-it note. b you keep them in your head. c you put them in your phone, diary, or calendar.</a:t>
            </a:r>
            <a:endParaRPr lang="en-US" sz="900" dirty="0"/>
          </a:p>
        </p:txBody>
      </p:sp>
      <p:sp>
        <p:nvSpPr>
          <p:cNvPr id="20" name="R2_qb69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70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you go shopping,… a you sometimes have a list. b you always have a list. c you decide what to buy when you get there.</a:t>
            </a:r>
            <a:endParaRPr lang="en-US" sz="900" dirty="0"/>
          </a:p>
        </p:txBody>
      </p:sp>
      <p:sp>
        <p:nvSpPr>
          <p:cNvPr id="22" name="R3_qb71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72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you meet friends,… a your friends sometimes arrive before you. b you are usually the first to arrive at the restaurant. c your friends always need to wait for you.</a:t>
            </a:r>
            <a:endParaRPr lang="en-US" sz="900" dirty="0"/>
          </a:p>
        </p:txBody>
      </p:sp>
      <p:sp>
        <p:nvSpPr>
          <p:cNvPr id="24" name="R4_qb73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74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you go on holiday,… a you pack a few hours before leaving. If you've forgotten something, you can buy it when you get there. b you have a list of what to take and start packing a few days before. c you look through your wardrobe and pack the night before you go.</a:t>
            </a:r>
            <a:endParaRPr lang="en-US" sz="700" dirty="0"/>
          </a:p>
        </p:txBody>
      </p:sp>
      <p:sp>
        <p:nvSpPr>
          <p:cNvPr id="26" name="R5_qb75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76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you travel by plane or train,… a you arrive at the airport or station a long time before you really need to be there. b you usually arrive at the recommended time. c you leave home at the last possible minute.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7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Arrive ___? Wait ___?</a:t>
            </a:r>
            <a:endParaRPr lang="en-US" sz="2500" dirty="0"/>
          </a:p>
        </p:txBody>
      </p:sp>
      <p:pic>
        <p:nvPicPr>
          <p:cNvPr id="6" name="brP_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8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extracts from the quiz with a preposition.</a:t>
            </a:r>
            <a:endParaRPr lang="en-US" sz="1250" dirty="0"/>
          </a:p>
        </p:txBody>
      </p:sp>
      <p:sp>
        <p:nvSpPr>
          <p:cNvPr id="8" name="insIT_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gli estratti del quiz con una preposizione.</a:t>
            </a:r>
            <a:endParaRPr lang="en-US" sz="950" dirty="0"/>
          </a:p>
        </p:txBody>
      </p:sp>
      <p:sp>
        <p:nvSpPr>
          <p:cNvPr id="9" name="note_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Noticing</a:t>
            </a:r>
            <a:endParaRPr lang="en-US" sz="1150" dirty="0"/>
          </a:p>
        </p:txBody>
      </p:sp>
      <p:pic>
        <p:nvPicPr>
          <p:cNvPr id="10" name="logo_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Vocabulary · verbs + prepositions (1)   ·   📖 SB p.24 · 2a (TG key) · VB p.153 arrive in or arrive at?</a:t>
            </a:r>
            <a:endParaRPr lang="en-US" sz="800" dirty="0"/>
          </a:p>
        </p:txBody>
      </p:sp>
      <p:sp>
        <p:nvSpPr>
          <p:cNvPr id="12" name="cd_86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8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quiz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…you are usually the first to arrive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restaurant.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…your friends always need to wait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500" dirty="0"/>
          </a:p>
        </p:txBody>
      </p:sp>
      <p:sp>
        <p:nvSpPr>
          <p:cNvPr id="14" name="R1_rdA8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quiz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…you are usually the first to arrive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restaurant.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…your friends always need to wait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500" dirty="0"/>
          </a:p>
        </p:txBody>
      </p:sp>
      <p:sp>
        <p:nvSpPr>
          <p:cNvPr id="15" name="R2_rdA8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quiz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…you are usually the first to arrive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restaurant.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…your friends always need to wait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500" dirty="0"/>
          </a:p>
        </p:txBody>
      </p:sp>
      <p:sp>
        <p:nvSpPr>
          <p:cNvPr id="16" name="cd_90"/>
          <p:cNvSpPr/>
          <p:nvPr/>
        </p:nvSpPr>
        <p:spPr>
          <a:xfrm>
            <a:off x="6263640" y="141732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91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ih_92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300" dirty="0"/>
          </a:p>
        </p:txBody>
      </p:sp>
      <p:sp>
        <p:nvSpPr>
          <p:cNvPr id="19" name="il_93"/>
          <p:cNvSpPr/>
          <p:nvPr/>
        </p:nvSpPr>
        <p:spPr>
          <a:xfrm>
            <a:off x="6830568" y="1911096"/>
            <a:ext cx="19476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Many verbs have their own preposition.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 them together: wait for, depend on…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arrive IN a city / country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arrive AT a building (airport, hotel)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96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Verbs + prepositions</a:t>
            </a:r>
            <a:endParaRPr lang="en-US" sz="2500" dirty="0"/>
          </a:p>
        </p:txBody>
      </p:sp>
      <p:pic>
        <p:nvPicPr>
          <p:cNvPr id="6" name="brP_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98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preposition? Say the full sentence.</a:t>
            </a:r>
            <a:endParaRPr lang="en-US" sz="1250" dirty="0"/>
          </a:p>
        </p:txBody>
      </p:sp>
      <p:sp>
        <p:nvSpPr>
          <p:cNvPr id="8" name="insIT_9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Quale preposizione? Di' la frase intera.</a:t>
            </a:r>
            <a:endParaRPr lang="en-US" sz="950" dirty="0"/>
          </a:p>
        </p:txBody>
      </p:sp>
      <p:sp>
        <p:nvSpPr>
          <p:cNvPr id="9" name="note_10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0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Vocabulary Bank p.153 · verbs + prepositions (2)   ·   📖 VB p.153 Prepositions part 2 · audio 3.7 (TG script)</a:t>
            </a:r>
            <a:endParaRPr lang="en-US" sz="800" dirty="0"/>
          </a:p>
        </p:txBody>
      </p:sp>
      <p:sp>
        <p:nvSpPr>
          <p:cNvPr id="12" name="bd_103"/>
          <p:cNvSpPr/>
          <p:nvPr/>
        </p:nvSpPr>
        <p:spPr>
          <a:xfrm>
            <a:off x="32004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104"/>
          <p:cNvSpPr/>
          <p:nvPr/>
        </p:nvSpPr>
        <p:spPr>
          <a:xfrm>
            <a:off x="70408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arrived ___ Paris on Friday night.</a:t>
            </a:r>
            <a:endParaRPr lang="en-US" sz="1000" dirty="0"/>
          </a:p>
        </p:txBody>
      </p:sp>
      <p:sp>
        <p:nvSpPr>
          <p:cNvPr id="14" name="R1_chip105"/>
          <p:cNvSpPr/>
          <p:nvPr/>
        </p:nvSpPr>
        <p:spPr>
          <a:xfrm>
            <a:off x="70408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arrived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Paris on Friday night.</a:t>
            </a:r>
            <a:endParaRPr lang="en-US" sz="1150" dirty="0"/>
          </a:p>
        </p:txBody>
      </p:sp>
      <p:sp>
        <p:nvSpPr>
          <p:cNvPr id="15" name="bd_106"/>
          <p:cNvSpPr/>
          <p:nvPr/>
        </p:nvSpPr>
        <p:spPr>
          <a:xfrm>
            <a:off x="32004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107"/>
          <p:cNvSpPr/>
          <p:nvPr/>
        </p:nvSpPr>
        <p:spPr>
          <a:xfrm>
            <a:off x="70408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was very tired when I arrived ___ the hotel.</a:t>
            </a:r>
            <a:endParaRPr lang="en-US" sz="1000" dirty="0"/>
          </a:p>
        </p:txBody>
      </p:sp>
      <p:sp>
        <p:nvSpPr>
          <p:cNvPr id="17" name="R2_chip108"/>
          <p:cNvSpPr/>
          <p:nvPr/>
        </p:nvSpPr>
        <p:spPr>
          <a:xfrm>
            <a:off x="70408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arrived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hotel</a:t>
            </a:r>
            <a:endParaRPr lang="en-US" sz="1150" dirty="0"/>
          </a:p>
        </p:txBody>
      </p:sp>
      <p:sp>
        <p:nvSpPr>
          <p:cNvPr id="18" name="bd_109"/>
          <p:cNvSpPr/>
          <p:nvPr/>
        </p:nvSpPr>
        <p:spPr>
          <a:xfrm>
            <a:off x="32004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110"/>
          <p:cNvSpPr/>
          <p:nvPr/>
        </p:nvSpPr>
        <p:spPr>
          <a:xfrm>
            <a:off x="70408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hate waiting ___ people who are late.</a:t>
            </a:r>
            <a:endParaRPr lang="en-US" sz="1000" dirty="0"/>
          </a:p>
        </p:txBody>
      </p:sp>
      <p:sp>
        <p:nvSpPr>
          <p:cNvPr id="20" name="R3_chip111"/>
          <p:cNvSpPr/>
          <p:nvPr/>
        </p:nvSpPr>
        <p:spPr>
          <a:xfrm>
            <a:off x="70408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waiting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people</a:t>
            </a:r>
            <a:endParaRPr lang="en-US" sz="1150" dirty="0"/>
          </a:p>
        </p:txBody>
      </p:sp>
      <p:sp>
        <p:nvSpPr>
          <p:cNvPr id="21" name="bd_112"/>
          <p:cNvSpPr/>
          <p:nvPr/>
        </p:nvSpPr>
        <p:spPr>
          <a:xfrm>
            <a:off x="32004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113"/>
          <p:cNvSpPr/>
          <p:nvPr/>
        </p:nvSpPr>
        <p:spPr>
          <a:xfrm>
            <a:off x="70408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know. It depends ___ the weather.</a:t>
            </a:r>
            <a:endParaRPr lang="en-US" sz="1000" dirty="0"/>
          </a:p>
        </p:txBody>
      </p:sp>
      <p:sp>
        <p:nvSpPr>
          <p:cNvPr id="23" name="R4_chip114"/>
          <p:cNvSpPr/>
          <p:nvPr/>
        </p:nvSpPr>
        <p:spPr>
          <a:xfrm>
            <a:off x="70408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depends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weather</a:t>
            </a:r>
            <a:endParaRPr lang="en-US" sz="1150" dirty="0"/>
          </a:p>
        </p:txBody>
      </p:sp>
      <p:sp>
        <p:nvSpPr>
          <p:cNvPr id="24" name="bd_115"/>
          <p:cNvSpPr/>
          <p:nvPr/>
        </p:nvSpPr>
        <p:spPr>
          <a:xfrm>
            <a:off x="470916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116"/>
          <p:cNvSpPr/>
          <p:nvPr/>
        </p:nvSpPr>
        <p:spPr>
          <a:xfrm>
            <a:off x="509320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sorry, but I really don't agree ___ you.</a:t>
            </a:r>
            <a:endParaRPr lang="en-US" sz="1000" dirty="0"/>
          </a:p>
        </p:txBody>
      </p:sp>
      <p:sp>
        <p:nvSpPr>
          <p:cNvPr id="26" name="R5_chip117"/>
          <p:cNvSpPr/>
          <p:nvPr/>
        </p:nvSpPr>
        <p:spPr>
          <a:xfrm>
            <a:off x="509320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</a:t>
            </a:r>
            <a:endParaRPr lang="en-US" sz="1150" dirty="0"/>
          </a:p>
        </p:txBody>
      </p:sp>
      <p:sp>
        <p:nvSpPr>
          <p:cNvPr id="27" name="bd_118"/>
          <p:cNvSpPr/>
          <p:nvPr/>
        </p:nvSpPr>
        <p:spPr>
          <a:xfrm>
            <a:off x="470916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119"/>
          <p:cNvSpPr/>
          <p:nvPr/>
        </p:nvSpPr>
        <p:spPr>
          <a:xfrm>
            <a:off x="509320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asked ___ a chicken sandwich, but this is tuna!</a:t>
            </a:r>
            <a:endParaRPr lang="en-US" sz="1000" dirty="0"/>
          </a:p>
        </p:txBody>
      </p:sp>
      <p:sp>
        <p:nvSpPr>
          <p:cNvPr id="29" name="R6_chip120"/>
          <p:cNvSpPr/>
          <p:nvPr/>
        </p:nvSpPr>
        <p:spPr>
          <a:xfrm>
            <a:off x="509320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chicken sandwich</a:t>
            </a:r>
            <a:endParaRPr lang="en-US" sz="1150" dirty="0"/>
          </a:p>
        </p:txBody>
      </p:sp>
      <p:sp>
        <p:nvSpPr>
          <p:cNvPr id="30" name="bd_121"/>
          <p:cNvSpPr/>
          <p:nvPr/>
        </p:nvSpPr>
        <p:spPr>
          <a:xfrm>
            <a:off x="470916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122"/>
          <p:cNvSpPr/>
          <p:nvPr/>
        </p:nvSpPr>
        <p:spPr>
          <a:xfrm>
            <a:off x="509320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Please listen ___ what I'm saying.</a:t>
            </a:r>
            <a:endParaRPr lang="en-US" sz="1000" dirty="0"/>
          </a:p>
        </p:txBody>
      </p:sp>
      <p:sp>
        <p:nvSpPr>
          <p:cNvPr id="32" name="R7_chip123"/>
          <p:cNvSpPr/>
          <p:nvPr/>
        </p:nvSpPr>
        <p:spPr>
          <a:xfrm>
            <a:off x="509320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what I'm saying</a:t>
            </a:r>
            <a:endParaRPr lang="en-US" sz="1150" dirty="0"/>
          </a:p>
        </p:txBody>
      </p:sp>
      <p:sp>
        <p:nvSpPr>
          <p:cNvPr id="33" name="bd_124"/>
          <p:cNvSpPr/>
          <p:nvPr/>
        </p:nvSpPr>
        <p:spPr>
          <a:xfrm>
            <a:off x="470916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q_125"/>
          <p:cNvSpPr/>
          <p:nvPr/>
        </p:nvSpPr>
        <p:spPr>
          <a:xfrm>
            <a:off x="509320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going to pay ___ the meal?</a:t>
            </a:r>
            <a:endParaRPr lang="en-US" sz="1000" dirty="0"/>
          </a:p>
        </p:txBody>
      </p:sp>
      <p:sp>
        <p:nvSpPr>
          <p:cNvPr id="35" name="R8_chip126"/>
          <p:cNvSpPr/>
          <p:nvPr/>
        </p:nvSpPr>
        <p:spPr>
          <a:xfrm>
            <a:off x="509320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meal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129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More verbs + prepositions</a:t>
            </a:r>
            <a:endParaRPr lang="en-US" sz="2500" dirty="0"/>
          </a:p>
        </p:txBody>
      </p:sp>
      <p:pic>
        <p:nvPicPr>
          <p:cNvPr id="6" name="brP_1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131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preposition? Say the full sentence.</a:t>
            </a:r>
            <a:endParaRPr lang="en-US" sz="1250" dirty="0"/>
          </a:p>
        </p:txBody>
      </p:sp>
      <p:sp>
        <p:nvSpPr>
          <p:cNvPr id="8" name="insIT_13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Quale preposizione? Di' la frase intera.</a:t>
            </a:r>
            <a:endParaRPr lang="en-US" sz="950" dirty="0"/>
          </a:p>
        </p:txBody>
      </p:sp>
      <p:sp>
        <p:nvSpPr>
          <p:cNvPr id="9" name="note_13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3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3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Vocabulary Bank p.153 · verbs + prepositions (3)   ·   📖 VB p.153 Prepositions part 2 · audio 3.7 (TG script)</a:t>
            </a:r>
            <a:endParaRPr lang="en-US" sz="800" dirty="0"/>
          </a:p>
        </p:txBody>
      </p:sp>
      <p:sp>
        <p:nvSpPr>
          <p:cNvPr id="12" name="bd_136"/>
          <p:cNvSpPr/>
          <p:nvPr/>
        </p:nvSpPr>
        <p:spPr>
          <a:xfrm>
            <a:off x="32004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137"/>
          <p:cNvSpPr/>
          <p:nvPr/>
        </p:nvSpPr>
        <p:spPr>
          <a:xfrm>
            <a:off x="70408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need to speak ___ Martin about the meeting.</a:t>
            </a:r>
            <a:endParaRPr lang="en-US" sz="900" dirty="0"/>
          </a:p>
        </p:txBody>
      </p:sp>
      <p:sp>
        <p:nvSpPr>
          <p:cNvPr id="14" name="R1_chip138"/>
          <p:cNvSpPr/>
          <p:nvPr/>
        </p:nvSpPr>
        <p:spPr>
          <a:xfrm>
            <a:off x="70408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Martin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meeting</a:t>
            </a:r>
            <a:endParaRPr lang="en-US" sz="1150" dirty="0"/>
          </a:p>
        </p:txBody>
      </p:sp>
      <p:sp>
        <p:nvSpPr>
          <p:cNvPr id="15" name="bd_139"/>
          <p:cNvSpPr/>
          <p:nvPr/>
        </p:nvSpPr>
        <p:spPr>
          <a:xfrm>
            <a:off x="32004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140"/>
          <p:cNvSpPr/>
          <p:nvPr/>
        </p:nvSpPr>
        <p:spPr>
          <a:xfrm>
            <a:off x="70408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spend much money ___ food.</a:t>
            </a:r>
            <a:endParaRPr lang="en-US" sz="900" dirty="0"/>
          </a:p>
        </p:txBody>
      </p:sp>
      <p:sp>
        <p:nvSpPr>
          <p:cNvPr id="17" name="R2_chip141"/>
          <p:cNvSpPr/>
          <p:nvPr/>
        </p:nvSpPr>
        <p:spPr>
          <a:xfrm>
            <a:off x="70408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spend money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food</a:t>
            </a:r>
            <a:endParaRPr lang="en-US" sz="1150" dirty="0"/>
          </a:p>
        </p:txBody>
      </p:sp>
      <p:sp>
        <p:nvSpPr>
          <p:cNvPr id="18" name="bd_142"/>
          <p:cNvSpPr/>
          <p:nvPr/>
        </p:nvSpPr>
        <p:spPr>
          <a:xfrm>
            <a:off x="32004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143"/>
          <p:cNvSpPr/>
          <p:nvPr/>
        </p:nvSpPr>
        <p:spPr>
          <a:xfrm>
            <a:off x="70408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worry ___ the exam. It isn't very hard.</a:t>
            </a:r>
            <a:endParaRPr lang="en-US" sz="900" dirty="0"/>
          </a:p>
        </p:txBody>
      </p:sp>
      <p:sp>
        <p:nvSpPr>
          <p:cNvPr id="20" name="R3_chip144"/>
          <p:cNvSpPr/>
          <p:nvPr/>
        </p:nvSpPr>
        <p:spPr>
          <a:xfrm>
            <a:off x="70408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worry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exam</a:t>
            </a:r>
            <a:endParaRPr lang="en-US" sz="1150" dirty="0"/>
          </a:p>
        </p:txBody>
      </p:sp>
      <p:sp>
        <p:nvSpPr>
          <p:cNvPr id="21" name="bd_145"/>
          <p:cNvSpPr/>
          <p:nvPr/>
        </p:nvSpPr>
        <p:spPr>
          <a:xfrm>
            <a:off x="32004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146"/>
          <p:cNvSpPr/>
          <p:nvPr/>
        </p:nvSpPr>
        <p:spPr>
          <a:xfrm>
            <a:off x="70408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believe ___ ghosts?</a:t>
            </a:r>
            <a:endParaRPr lang="en-US" sz="900" dirty="0"/>
          </a:p>
        </p:txBody>
      </p:sp>
      <p:sp>
        <p:nvSpPr>
          <p:cNvPr id="23" name="R4_chip147"/>
          <p:cNvSpPr/>
          <p:nvPr/>
        </p:nvSpPr>
        <p:spPr>
          <a:xfrm>
            <a:off x="70408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believe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ghosts</a:t>
            </a:r>
            <a:endParaRPr lang="en-US" sz="1150" dirty="0"/>
          </a:p>
        </p:txBody>
      </p:sp>
      <p:sp>
        <p:nvSpPr>
          <p:cNvPr id="24" name="bd_148"/>
          <p:cNvSpPr/>
          <p:nvPr/>
        </p:nvSpPr>
        <p:spPr>
          <a:xfrm>
            <a:off x="470916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149"/>
          <p:cNvSpPr/>
          <p:nvPr/>
        </p:nvSpPr>
        <p:spPr>
          <a:xfrm>
            <a:off x="509320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not listening! What are you thinking ___?</a:t>
            </a:r>
            <a:endParaRPr lang="en-US" sz="900" dirty="0"/>
          </a:p>
        </p:txBody>
      </p:sp>
      <p:sp>
        <p:nvSpPr>
          <p:cNvPr id="26" name="R5_chip150"/>
          <p:cNvSpPr/>
          <p:nvPr/>
        </p:nvSpPr>
        <p:spPr>
          <a:xfrm>
            <a:off x="509320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thinking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(action – using your brain)</a:t>
            </a:r>
            <a:endParaRPr lang="en-US" sz="1150" dirty="0"/>
          </a:p>
        </p:txBody>
      </p:sp>
      <p:sp>
        <p:nvSpPr>
          <p:cNvPr id="27" name="bd_151"/>
          <p:cNvSpPr/>
          <p:nvPr/>
        </p:nvSpPr>
        <p:spPr>
          <a:xfrm>
            <a:off x="470916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152"/>
          <p:cNvSpPr/>
          <p:nvPr/>
        </p:nvSpPr>
        <p:spPr>
          <a:xfrm>
            <a:off x="509320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think ___ this painting? – I really like it.</a:t>
            </a:r>
            <a:endParaRPr lang="en-US" sz="900" dirty="0"/>
          </a:p>
        </p:txBody>
      </p:sp>
      <p:sp>
        <p:nvSpPr>
          <p:cNvPr id="29" name="R6_chip153"/>
          <p:cNvSpPr/>
          <p:nvPr/>
        </p:nvSpPr>
        <p:spPr>
          <a:xfrm>
            <a:off x="509320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think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(opinion)</a:t>
            </a:r>
            <a:endParaRPr lang="en-US" sz="1150" dirty="0"/>
          </a:p>
        </p:txBody>
      </p:sp>
      <p:sp>
        <p:nvSpPr>
          <p:cNvPr id="30" name="bd_154"/>
          <p:cNvSpPr/>
          <p:nvPr/>
        </p:nvSpPr>
        <p:spPr>
          <a:xfrm>
            <a:off x="470916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155"/>
          <p:cNvSpPr/>
          <p:nvPr/>
        </p:nvSpPr>
        <p:spPr>
          <a:xfrm>
            <a:off x="509320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does this bag belong ___?</a:t>
            </a:r>
            <a:endParaRPr lang="en-US" sz="900" dirty="0"/>
          </a:p>
        </p:txBody>
      </p:sp>
      <p:sp>
        <p:nvSpPr>
          <p:cNvPr id="32" name="R7_chip156"/>
          <p:cNvSpPr/>
          <p:nvPr/>
        </p:nvSpPr>
        <p:spPr>
          <a:xfrm>
            <a:off x="509320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belong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5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5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Preposition ping-pong</a:t>
            </a:r>
            <a:endParaRPr lang="en-US" sz="2500" dirty="0"/>
          </a:p>
        </p:txBody>
      </p:sp>
      <p:pic>
        <p:nvPicPr>
          <p:cNvPr id="6" name="brP_16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6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say the preposition – then answer the question!</a:t>
            </a:r>
            <a:endParaRPr lang="en-US" sz="1250" dirty="0"/>
          </a:p>
        </p:txBody>
      </p:sp>
      <p:sp>
        <p:nvSpPr>
          <p:cNvPr id="8" name="insIT_16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dite la preposizione – poi rispondete alla domanda!</a:t>
            </a:r>
            <a:endParaRPr lang="en-US" sz="950" dirty="0"/>
          </a:p>
        </p:txBody>
      </p:sp>
      <p:sp>
        <p:nvSpPr>
          <p:cNvPr id="9" name="note_16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250" dirty="0"/>
          </a:p>
        </p:txBody>
      </p:sp>
      <p:pic>
        <p:nvPicPr>
          <p:cNvPr id="10" name="logo_16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6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Game · preposition ping-pong   ·   📖 VB p.153 Activation b – personal questions</a:t>
            </a:r>
            <a:endParaRPr lang="en-US" sz="800" dirty="0"/>
          </a:p>
        </p:txBody>
      </p:sp>
      <p:sp>
        <p:nvSpPr>
          <p:cNvPr id="12" name="cd_166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6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6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69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reads the question with a gap.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preposition = 1 point.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 about YOU = 1 more point!</a:t>
            </a:r>
            <a:endParaRPr lang="en-US" sz="1100" dirty="0"/>
          </a:p>
        </p:txBody>
      </p:sp>
      <p:sp>
        <p:nvSpPr>
          <p:cNvPr id="16" name="st_170"/>
          <p:cNvSpPr/>
          <p:nvPr/>
        </p:nvSpPr>
        <p:spPr>
          <a:xfrm rot="-180000">
            <a:off x="502920" y="3712464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171"/>
          <p:cNvSpPr/>
          <p:nvPr/>
        </p:nvSpPr>
        <p:spPr>
          <a:xfrm>
            <a:off x="3246120" y="1452590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172"/>
          <p:cNvSpPr/>
          <p:nvPr/>
        </p:nvSpPr>
        <p:spPr>
          <a:xfrm>
            <a:off x="3657600" y="1417320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usually spend your money ___?</a:t>
            </a:r>
            <a:endParaRPr lang="en-US" sz="1050" dirty="0"/>
          </a:p>
        </p:txBody>
      </p:sp>
      <p:sp>
        <p:nvSpPr>
          <p:cNvPr id="19" name="chip_173"/>
          <p:cNvSpPr/>
          <p:nvPr/>
        </p:nvSpPr>
        <p:spPr>
          <a:xfrm>
            <a:off x="6263640" y="1417320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– 'I spend my money on clothes.'</a:t>
            </a:r>
            <a:endParaRPr lang="en-US" sz="1050" dirty="0"/>
          </a:p>
        </p:txBody>
      </p:sp>
      <p:sp>
        <p:nvSpPr>
          <p:cNvPr id="20" name="bd_174"/>
          <p:cNvSpPr/>
          <p:nvPr/>
        </p:nvSpPr>
        <p:spPr>
          <a:xfrm>
            <a:off x="3246120" y="1916321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175"/>
          <p:cNvSpPr/>
          <p:nvPr/>
        </p:nvSpPr>
        <p:spPr>
          <a:xfrm>
            <a:off x="3657600" y="1881051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believe ___ love at first sight?</a:t>
            </a:r>
            <a:endParaRPr lang="en-US" sz="1050" dirty="0"/>
          </a:p>
        </p:txBody>
      </p:sp>
      <p:sp>
        <p:nvSpPr>
          <p:cNvPr id="22" name="R1_chip176"/>
          <p:cNvSpPr/>
          <p:nvPr/>
        </p:nvSpPr>
        <p:spPr>
          <a:xfrm>
            <a:off x="6263640" y="1881051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</a:t>
            </a:r>
            <a:endParaRPr lang="en-US" sz="1050" dirty="0"/>
          </a:p>
        </p:txBody>
      </p:sp>
      <p:sp>
        <p:nvSpPr>
          <p:cNvPr id="23" name="bd_177"/>
          <p:cNvSpPr/>
          <p:nvPr/>
        </p:nvSpPr>
        <p:spPr>
          <a:xfrm>
            <a:off x="3246120" y="2380053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178"/>
          <p:cNvSpPr/>
          <p:nvPr/>
        </p:nvSpPr>
        <p:spPr>
          <a:xfrm>
            <a:off x="3657600" y="2344783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worry ___?</a:t>
            </a:r>
            <a:endParaRPr lang="en-US" sz="1050" dirty="0"/>
          </a:p>
        </p:txBody>
      </p:sp>
      <p:sp>
        <p:nvSpPr>
          <p:cNvPr id="25" name="R2_chip179"/>
          <p:cNvSpPr/>
          <p:nvPr/>
        </p:nvSpPr>
        <p:spPr>
          <a:xfrm>
            <a:off x="6263640" y="2344783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about</a:t>
            </a:r>
            <a:endParaRPr lang="en-US" sz="1050" dirty="0"/>
          </a:p>
        </p:txBody>
      </p:sp>
      <p:sp>
        <p:nvSpPr>
          <p:cNvPr id="26" name="bd_180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181"/>
          <p:cNvSpPr/>
          <p:nvPr/>
        </p:nvSpPr>
        <p:spPr>
          <a:xfrm>
            <a:off x="3657600" y="2808514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do you usually agree ___ in your family?</a:t>
            </a:r>
            <a:endParaRPr lang="en-US" sz="1050" dirty="0"/>
          </a:p>
        </p:txBody>
      </p:sp>
      <p:sp>
        <p:nvSpPr>
          <p:cNvPr id="28" name="R3_chip182"/>
          <p:cNvSpPr/>
          <p:nvPr/>
        </p:nvSpPr>
        <p:spPr>
          <a:xfrm>
            <a:off x="6263640" y="2808514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with</a:t>
            </a:r>
            <a:endParaRPr lang="en-US" sz="1050" dirty="0"/>
          </a:p>
        </p:txBody>
      </p:sp>
      <p:sp>
        <p:nvSpPr>
          <p:cNvPr id="29" name="bd_183"/>
          <p:cNvSpPr/>
          <p:nvPr/>
        </p:nvSpPr>
        <p:spPr>
          <a:xfrm>
            <a:off x="3246120" y="3307515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184"/>
          <p:cNvSpPr/>
          <p:nvPr/>
        </p:nvSpPr>
        <p:spPr>
          <a:xfrm>
            <a:off x="3657600" y="3272246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think ___ reality TV?</a:t>
            </a:r>
            <a:endParaRPr lang="en-US" sz="1050" dirty="0"/>
          </a:p>
        </p:txBody>
      </p:sp>
      <p:sp>
        <p:nvSpPr>
          <p:cNvPr id="31" name="R4_chip185"/>
          <p:cNvSpPr/>
          <p:nvPr/>
        </p:nvSpPr>
        <p:spPr>
          <a:xfrm>
            <a:off x="6263640" y="3272246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of</a:t>
            </a:r>
            <a:endParaRPr lang="en-US" sz="1050" dirty="0"/>
          </a:p>
        </p:txBody>
      </p:sp>
      <p:sp>
        <p:nvSpPr>
          <p:cNvPr id="32" name="bd_186"/>
          <p:cNvSpPr/>
          <p:nvPr/>
        </p:nvSpPr>
        <p:spPr>
          <a:xfrm>
            <a:off x="3246120" y="377124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187"/>
          <p:cNvSpPr/>
          <p:nvPr/>
        </p:nvSpPr>
        <p:spPr>
          <a:xfrm>
            <a:off x="3657600" y="3735977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do you talk ___ when you have a problem?</a:t>
            </a:r>
            <a:endParaRPr lang="en-US" sz="1050" dirty="0"/>
          </a:p>
        </p:txBody>
      </p:sp>
      <p:sp>
        <p:nvSpPr>
          <p:cNvPr id="34" name="R5_chip188"/>
          <p:cNvSpPr/>
          <p:nvPr/>
        </p:nvSpPr>
        <p:spPr>
          <a:xfrm>
            <a:off x="6263640" y="3735977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</a:t>
            </a:r>
            <a:endParaRPr lang="en-US" sz="1050" dirty="0"/>
          </a:p>
        </p:txBody>
      </p:sp>
      <p:sp>
        <p:nvSpPr>
          <p:cNvPr id="35" name="bd_189"/>
          <p:cNvSpPr/>
          <p:nvPr/>
        </p:nvSpPr>
        <p:spPr>
          <a:xfrm>
            <a:off x="3246120" y="4234978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190"/>
          <p:cNvSpPr/>
          <p:nvPr/>
        </p:nvSpPr>
        <p:spPr>
          <a:xfrm>
            <a:off x="3657600" y="4199709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listen ___?</a:t>
            </a:r>
            <a:endParaRPr lang="en-US" sz="1050" dirty="0"/>
          </a:p>
        </p:txBody>
      </p:sp>
      <p:sp>
        <p:nvSpPr>
          <p:cNvPr id="37" name="R6_chip191"/>
          <p:cNvSpPr/>
          <p:nvPr/>
        </p:nvSpPr>
        <p:spPr>
          <a:xfrm>
            <a:off x="6263640" y="4199709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9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194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Linked words</a:t>
            </a:r>
            <a:endParaRPr lang="en-US" sz="2500" dirty="0"/>
          </a:p>
        </p:txBody>
      </p:sp>
      <p:pic>
        <p:nvPicPr>
          <p:cNvPr id="6" name="brP_19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9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teacher. Write the sentences. How many words?</a:t>
            </a:r>
            <a:endParaRPr lang="en-US" sz="1200" dirty="0"/>
          </a:p>
        </p:txBody>
      </p:sp>
      <p:sp>
        <p:nvSpPr>
          <p:cNvPr id="8" name="insIT_19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l'insegnante. Scrivi le frasi. Quante parole?</a:t>
            </a:r>
            <a:endParaRPr lang="en-US" sz="950" dirty="0"/>
          </a:p>
        </p:txBody>
      </p:sp>
      <p:sp>
        <p:nvSpPr>
          <p:cNvPr id="9" name="note_19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19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0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Pronunciation · linking (connected speech)   ·   📖 SB p.24 · 2c, 2d · audio 3.8 (TG script)</a:t>
            </a:r>
            <a:endParaRPr lang="en-US" sz="800" dirty="0"/>
          </a:p>
        </p:txBody>
      </p:sp>
      <p:sp>
        <p:nvSpPr>
          <p:cNvPr id="12" name="cd_201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0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0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04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Consonant sound + vowel sound = one word: Let's talk_about your problem.</a:t>
            </a:r>
            <a:endParaRPr lang="en-US" sz="1050" dirty="0"/>
          </a:p>
        </p:txBody>
      </p:sp>
      <p:sp>
        <p:nvSpPr>
          <p:cNvPr id="16" name="bd_20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20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(5 words)</a:t>
            </a:r>
            <a:endParaRPr lang="en-US" sz="1150" dirty="0"/>
          </a:p>
        </p:txBody>
      </p:sp>
      <p:sp>
        <p:nvSpPr>
          <p:cNvPr id="18" name="R1_chip20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arrived_at the_airport.</a:t>
            </a:r>
            <a:endParaRPr lang="en-US" sz="1050" dirty="0"/>
          </a:p>
        </p:txBody>
      </p:sp>
      <p:sp>
        <p:nvSpPr>
          <p:cNvPr id="19" name="bd_20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20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(5 words)</a:t>
            </a:r>
            <a:endParaRPr lang="en-US" sz="1150" dirty="0"/>
          </a:p>
        </p:txBody>
      </p:sp>
      <p:sp>
        <p:nvSpPr>
          <p:cNvPr id="21" name="R2_chip21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depends_on the time.</a:t>
            </a:r>
            <a:endParaRPr lang="en-US" sz="1050" dirty="0"/>
          </a:p>
        </p:txBody>
      </p:sp>
      <p:sp>
        <p:nvSpPr>
          <p:cNvPr id="22" name="bd_21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21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(4 words)</a:t>
            </a:r>
            <a:endParaRPr lang="en-US" sz="1150" dirty="0"/>
          </a:p>
        </p:txBody>
      </p:sp>
      <p:sp>
        <p:nvSpPr>
          <p:cNvPr id="24" name="R3_chip21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 talk_about_it.</a:t>
            </a:r>
            <a:endParaRPr lang="en-US" sz="1050" dirty="0"/>
          </a:p>
        </p:txBody>
      </p:sp>
      <p:sp>
        <p:nvSpPr>
          <p:cNvPr id="25" name="bd_21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21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(6 words)</a:t>
            </a:r>
            <a:endParaRPr lang="en-US" sz="1150" dirty="0"/>
          </a:p>
        </p:txBody>
      </p:sp>
      <p:sp>
        <p:nvSpPr>
          <p:cNvPr id="27" name="R4_chip21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she think_of him?</a:t>
            </a:r>
            <a:endParaRPr lang="en-US" sz="1050" dirty="0"/>
          </a:p>
        </p:txBody>
      </p:sp>
      <p:sp>
        <p:nvSpPr>
          <p:cNvPr id="28" name="bd_21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q_21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(5 words)</a:t>
            </a:r>
            <a:endParaRPr lang="en-US" sz="1150" dirty="0"/>
          </a:p>
        </p:txBody>
      </p:sp>
      <p:sp>
        <p:nvSpPr>
          <p:cNvPr id="30" name="R5_chip21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think_about the past.</a:t>
            </a:r>
            <a:endParaRPr lang="en-US" sz="1050" dirty="0"/>
          </a:p>
        </p:txBody>
      </p:sp>
      <p:sp>
        <p:nvSpPr>
          <p:cNvPr id="31" name="bd_22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q_22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(7 words)</a:t>
            </a:r>
            <a:endParaRPr lang="en-US" sz="1150" dirty="0"/>
          </a:p>
        </p:txBody>
      </p:sp>
      <p:sp>
        <p:nvSpPr>
          <p:cNvPr id="33" name="R6_chip22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did you spend_on food?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25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Jake's Tuesday</a:t>
            </a:r>
            <a:endParaRPr lang="en-US" sz="2500" dirty="0"/>
          </a:p>
        </p:txBody>
      </p:sp>
      <p:pic>
        <p:nvPicPr>
          <p:cNvPr id="6" name="brP_2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2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 phones Sarah. What's the only time they can meet? Complete his calendar.</a:t>
            </a:r>
            <a:endParaRPr lang="en-US" sz="1100" dirty="0"/>
          </a:p>
        </p:txBody>
      </p:sp>
      <p:sp>
        <p:nvSpPr>
          <p:cNvPr id="8" name="insIT_22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 telefona a Sarah. Quando possono vedersi? Completa il suo calendario.</a:t>
            </a:r>
            <a:endParaRPr lang="en-US" sz="950" dirty="0"/>
          </a:p>
        </p:txBody>
      </p:sp>
      <p:sp>
        <p:nvSpPr>
          <p:cNvPr id="9" name="note_22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2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Listening · Jake's calendar   ·   📖 SB p.24 · 3a, 3b · audio 3.9 (script SB p.121 / TG p.45)</a:t>
            </a:r>
            <a:endParaRPr lang="en-US" sz="800" dirty="0"/>
          </a:p>
        </p:txBody>
      </p:sp>
      <p:sp>
        <p:nvSpPr>
          <p:cNvPr id="12" name="pf_232"/>
          <p:cNvSpPr/>
          <p:nvPr/>
        </p:nvSpPr>
        <p:spPr>
          <a:xfrm rot="-90000">
            <a:off x="831155" y="1371600"/>
            <a:ext cx="1675250" cy="3200400"/>
          </a:xfrm>
          <a:prstGeom prst="roundRect">
            <a:avLst>
              <a:gd name="adj" fmla="val 9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33" descr="/home/claude/lls-course/v2/cache/a2_3b_sarah_jpg_381x74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876875" y="1417320"/>
            <a:ext cx="1583810" cy="3108960"/>
          </a:xfrm>
          <a:prstGeom prst="rect">
            <a:avLst/>
          </a:prstGeom>
        </p:spPr>
      </p:pic>
      <p:sp>
        <p:nvSpPr>
          <p:cNvPr id="14" name="bd_234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235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8.15</a:t>
            </a:r>
            <a:endParaRPr lang="en-US" sz="1150" dirty="0"/>
          </a:p>
        </p:txBody>
      </p:sp>
      <p:sp>
        <p:nvSpPr>
          <p:cNvPr id="16" name="R1_chip236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breakfast meeting</a:t>
            </a:r>
            <a:endParaRPr lang="en-US" sz="1050" dirty="0"/>
          </a:p>
        </p:txBody>
      </p:sp>
      <p:sp>
        <p:nvSpPr>
          <p:cNvPr id="17" name="bd_237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238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11.00</a:t>
            </a:r>
            <a:endParaRPr lang="en-US" sz="1150" dirty="0"/>
          </a:p>
        </p:txBody>
      </p:sp>
      <p:sp>
        <p:nvSpPr>
          <p:cNvPr id="19" name="R2_chip239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 Sarah ☕ (the only time!)</a:t>
            </a:r>
            <a:endParaRPr lang="en-US" sz="1050" dirty="0"/>
          </a:p>
        </p:txBody>
      </p:sp>
      <p:sp>
        <p:nvSpPr>
          <p:cNvPr id="20" name="bd_240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241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2.00</a:t>
            </a:r>
            <a:endParaRPr lang="en-US" sz="1150" dirty="0"/>
          </a:p>
        </p:txBody>
      </p:sp>
      <p:sp>
        <p:nvSpPr>
          <p:cNvPr id="22" name="R3_chip242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 my talk</a:t>
            </a:r>
            <a:endParaRPr lang="en-US" sz="1050" dirty="0"/>
          </a:p>
        </p:txBody>
      </p:sp>
      <p:sp>
        <p:nvSpPr>
          <p:cNvPr id="23" name="bd_243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244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4.00</a:t>
            </a:r>
            <a:endParaRPr lang="en-US" sz="1150" dirty="0"/>
          </a:p>
        </p:txBody>
      </p:sp>
      <p:sp>
        <p:nvSpPr>
          <p:cNvPr id="25" name="R4_chip245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to talk on climate change</a:t>
            </a:r>
            <a:endParaRPr lang="en-US" sz="1050" dirty="0"/>
          </a:p>
        </p:txBody>
      </p:sp>
      <p:sp>
        <p:nvSpPr>
          <p:cNvPr id="26" name="bd_24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247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7.30</a:t>
            </a:r>
            <a:endParaRPr lang="en-US" sz="1150" dirty="0"/>
          </a:p>
        </p:txBody>
      </p:sp>
      <p:sp>
        <p:nvSpPr>
          <p:cNvPr id="28" name="R5_chip248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dinner with Mark</a:t>
            </a:r>
            <a:endParaRPr lang="en-US" sz="1050" dirty="0"/>
          </a:p>
        </p:txBody>
      </p:sp>
      <p:sp>
        <p:nvSpPr>
          <p:cNvPr id="29" name="bd_249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q_250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needed</a:t>
            </a:r>
            <a:endParaRPr lang="en-US" sz="1150" dirty="0"/>
          </a:p>
        </p:txBody>
      </p:sp>
      <p:sp>
        <p:nvSpPr>
          <p:cNvPr id="31" name="R6_chip251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to conference party · have lunch with David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254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Coffee at The Grand Café</a:t>
            </a:r>
            <a:endParaRPr lang="en-US" sz="2500" dirty="0"/>
          </a:p>
        </p:txBody>
      </p:sp>
      <p:pic>
        <p:nvPicPr>
          <p:cNvPr id="6" name="brP_25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5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Do you think they're going to meet again? Why (not)?</a:t>
            </a:r>
            <a:endParaRPr lang="en-US" sz="1200" dirty="0"/>
          </a:p>
        </p:txBody>
      </p:sp>
      <p:sp>
        <p:nvSpPr>
          <p:cNvPr id="8" name="insIT_25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Leggi. Pensi che si rivedranno? Perché (no)?</a:t>
            </a:r>
            <a:endParaRPr lang="en-US" sz="950" dirty="0"/>
          </a:p>
        </p:txBody>
      </p:sp>
      <p:sp>
        <p:nvSpPr>
          <p:cNvPr id="9" name="note_25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TPRS · story</a:t>
            </a:r>
            <a:endParaRPr lang="en-US" sz="1150" dirty="0"/>
          </a:p>
        </p:txBody>
      </p:sp>
      <p:pic>
        <p:nvPicPr>
          <p:cNvPr id="10" name="logo_2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Listening · the meeting   ·   📖 SB p.24 · 3c · audio 3.10 (TG script)</a:t>
            </a:r>
            <a:endParaRPr lang="en-US" sz="800" dirty="0"/>
          </a:p>
        </p:txBody>
      </p:sp>
      <p:sp>
        <p:nvSpPr>
          <p:cNvPr id="12" name="pf_261"/>
          <p:cNvSpPr/>
          <p:nvPr/>
        </p:nvSpPr>
        <p:spPr>
          <a:xfrm rot="-90000">
            <a:off x="1348740" y="1417320"/>
            <a:ext cx="685800" cy="1280160"/>
          </a:xfrm>
          <a:prstGeom prst="roundRect">
            <a:avLst>
              <a:gd name="adj" fmla="val 2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62" descr="/home/claude/lls-course/v2/cache/a2_3b_jake_jpg_143x286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1394460" y="1463040"/>
            <a:ext cx="594360" cy="1188720"/>
          </a:xfrm>
          <a:prstGeom prst="rect">
            <a:avLst/>
          </a:prstGeom>
        </p:spPr>
      </p:pic>
      <p:sp>
        <p:nvSpPr>
          <p:cNvPr id="14" name="cd_263"/>
          <p:cNvSpPr/>
          <p:nvPr/>
        </p:nvSpPr>
        <p:spPr>
          <a:xfrm>
            <a:off x="320040" y="2834640"/>
            <a:ext cx="2697480" cy="1920240"/>
          </a:xfrm>
          <a:prstGeom prst="roundRect">
            <a:avLst>
              <a:gd name="adj" fmla="val 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64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ih_265"/>
          <p:cNvSpPr/>
          <p:nvPr/>
        </p:nvSpPr>
        <p:spPr>
          <a:xfrm>
            <a:off x="886968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7" name="il_266"/>
          <p:cNvSpPr/>
          <p:nvPr/>
        </p:nvSpPr>
        <p:spPr>
          <a:xfrm>
            <a:off x="886968" y="3328416"/>
            <a:ext cx="20391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old Jake!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Il solito Jake!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 like old times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come ai vecchi tempi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single now.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Non sono più single.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getting married.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Ci sposiamo.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wish you all the best!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Ti auguro il meglio!</a:t>
            </a:r>
            <a:endParaRPr lang="en-US" sz="700" dirty="0"/>
          </a:p>
        </p:txBody>
      </p:sp>
      <p:sp>
        <p:nvSpPr>
          <p:cNvPr id="18" name="R1_sb267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R1_sl268"/>
          <p:cNvSpPr/>
          <p:nvPr/>
        </p:nvSpPr>
        <p:spPr>
          <a:xfrm>
            <a:off x="3584448" y="1417320"/>
            <a:ext cx="53035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arrives late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'Sarah! Sorry I'm late!' – '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old Jake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You were always late.'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Jake usually on time? · Are YOU usually late?</a:t>
            </a:r>
            <a:endParaRPr lang="en-US" sz="1050" dirty="0"/>
          </a:p>
        </p:txBody>
      </p:sp>
      <p:sp>
        <p:nvSpPr>
          <p:cNvPr id="20" name="R2_sb269"/>
          <p:cNvSpPr/>
          <p:nvPr/>
        </p:nvSpPr>
        <p:spPr>
          <a:xfrm>
            <a:off x="3200400" y="20939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R2_sl270"/>
          <p:cNvSpPr/>
          <p:nvPr/>
        </p:nvSpPr>
        <p:spPr>
          <a:xfrm>
            <a:off x="3584448" y="2057400"/>
            <a:ext cx="53035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two cappuccinos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and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croissant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do they order?</a:t>
            </a:r>
            <a:endParaRPr lang="en-US" sz="1150" dirty="0"/>
          </a:p>
        </p:txBody>
      </p:sp>
      <p:sp>
        <p:nvSpPr>
          <p:cNvPr id="22" name="R3_sb271"/>
          <p:cNvSpPr/>
          <p:nvPr/>
        </p:nvSpPr>
        <p:spPr>
          <a:xfrm>
            <a:off x="3200400" y="27340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3_sl272"/>
          <p:cNvSpPr/>
          <p:nvPr/>
        </p:nvSpPr>
        <p:spPr>
          <a:xfrm>
            <a:off x="3584448" y="2697480"/>
            <a:ext cx="53035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Jake: 'It's great to see you again –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 like old times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doing anything on Saturday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?'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does Jake want? · Lunch? Dinner? Breakfast?</a:t>
            </a:r>
            <a:endParaRPr lang="en-US" sz="1050" dirty="0"/>
          </a:p>
        </p:txBody>
      </p:sp>
      <p:sp>
        <p:nvSpPr>
          <p:cNvPr id="24" name="R4_sb273"/>
          <p:cNvSpPr/>
          <p:nvPr/>
        </p:nvSpPr>
        <p:spPr>
          <a:xfrm>
            <a:off x="3200400" y="33741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R4_sl274"/>
          <p:cNvSpPr/>
          <p:nvPr/>
        </p:nvSpPr>
        <p:spPr>
          <a:xfrm>
            <a:off x="3584448" y="3337560"/>
            <a:ext cx="53035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Sarah: '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single now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I'm with someone. He's called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Mike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and…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getting married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Saturday.'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Why is Sarah so busy this week?</a:t>
            </a:r>
            <a:endParaRPr lang="en-US" sz="1050" dirty="0"/>
          </a:p>
        </p:txBody>
      </p:sp>
      <p:sp>
        <p:nvSpPr>
          <p:cNvPr id="26" name="R5_sb275"/>
          <p:cNvSpPr/>
          <p:nvPr/>
        </p:nvSpPr>
        <p:spPr>
          <a:xfrm>
            <a:off x="3200400" y="40142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R5_sl276"/>
          <p:cNvSpPr/>
          <p:nvPr/>
        </p:nvSpPr>
        <p:spPr>
          <a:xfrm>
            <a:off x="3584448" y="3977640"/>
            <a:ext cx="53035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Jake: 'Wow! That's… that's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 news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!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wish you all the best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!'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How does Jake feel, really? · Are they going to meet again?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79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Retell it!</a:t>
            </a:r>
            <a:endParaRPr lang="en-US" sz="2500" dirty="0"/>
          </a:p>
        </p:txBody>
      </p:sp>
      <p:pic>
        <p:nvPicPr>
          <p:cNvPr id="6" name="brP_2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281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Retell the story to your partner. Use the prompts!</a:t>
            </a:r>
            <a:endParaRPr lang="en-US" sz="1250" dirty="0"/>
          </a:p>
        </p:txBody>
      </p:sp>
      <p:sp>
        <p:nvSpPr>
          <p:cNvPr id="8" name="insIT_2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Racconta di nuovo la storia al compagno. Usa gli spunti!</a:t>
            </a:r>
            <a:endParaRPr lang="en-US" sz="950" dirty="0"/>
          </a:p>
        </p:txBody>
      </p:sp>
      <p:sp>
        <p:nvSpPr>
          <p:cNvPr id="9" name="note_2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TPRS · retell</a:t>
            </a:r>
            <a:endParaRPr lang="en-US" sz="1250" dirty="0"/>
          </a:p>
        </p:txBody>
      </p:sp>
      <p:pic>
        <p:nvPicPr>
          <p:cNvPr id="10" name="logo_2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Speaking · retell (TPRS)</a:t>
            </a:r>
            <a:endParaRPr lang="en-US" sz="800" dirty="0"/>
          </a:p>
        </p:txBody>
      </p:sp>
      <p:sp>
        <p:nvSpPr>
          <p:cNvPr id="12" name="R1_sb286"/>
          <p:cNvSpPr/>
          <p:nvPr/>
        </p:nvSpPr>
        <p:spPr>
          <a:xfrm>
            <a:off x="4572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R1_sl287"/>
          <p:cNvSpPr/>
          <p:nvPr/>
        </p:nvSpPr>
        <p:spPr>
          <a:xfrm>
            <a:off x="841248" y="141732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arrives late · Same old Jake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Jake arrives late.…</a:t>
            </a:r>
            <a:endParaRPr lang="en-US" sz="1250" dirty="0"/>
          </a:p>
        </p:txBody>
      </p:sp>
      <p:sp>
        <p:nvSpPr>
          <p:cNvPr id="14" name="R2_sb288"/>
          <p:cNvSpPr/>
          <p:nvPr/>
        </p:nvSpPr>
        <p:spPr>
          <a:xfrm>
            <a:off x="457200" y="20177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R2_sl289"/>
          <p:cNvSpPr/>
          <p:nvPr/>
        </p:nvSpPr>
        <p:spPr>
          <a:xfrm>
            <a:off x="841248" y="198120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two cappuccinos · a croissant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They order two…</a:t>
            </a:r>
            <a:endParaRPr lang="en-US" sz="1250" dirty="0"/>
          </a:p>
        </p:txBody>
      </p:sp>
      <p:sp>
        <p:nvSpPr>
          <p:cNvPr id="16" name="R3_sb290"/>
          <p:cNvSpPr/>
          <p:nvPr/>
        </p:nvSpPr>
        <p:spPr>
          <a:xfrm>
            <a:off x="457200" y="25816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R3_sl291"/>
          <p:cNvSpPr/>
          <p:nvPr/>
        </p:nvSpPr>
        <p:spPr>
          <a:xfrm>
            <a:off x="841248" y="254508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 like old times · Are you doing anything on Saturday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Jake: 'It's great…</a:t>
            </a:r>
            <a:endParaRPr lang="en-US" sz="1250" dirty="0"/>
          </a:p>
        </p:txBody>
      </p:sp>
      <p:sp>
        <p:nvSpPr>
          <p:cNvPr id="18" name="R4_sb292"/>
          <p:cNvSpPr/>
          <p:nvPr/>
        </p:nvSpPr>
        <p:spPr>
          <a:xfrm>
            <a:off x="457200" y="31455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R4_sl293"/>
          <p:cNvSpPr/>
          <p:nvPr/>
        </p:nvSpPr>
        <p:spPr>
          <a:xfrm>
            <a:off x="841248" y="310896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single now · Mike · we're getting married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Sarah: 'I'm not…</a:t>
            </a:r>
            <a:endParaRPr lang="en-US" sz="1250" dirty="0"/>
          </a:p>
        </p:txBody>
      </p:sp>
      <p:sp>
        <p:nvSpPr>
          <p:cNvPr id="20" name="R5_sb294"/>
          <p:cNvSpPr/>
          <p:nvPr/>
        </p:nvSpPr>
        <p:spPr>
          <a:xfrm>
            <a:off x="457200" y="37094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R5_sl295"/>
          <p:cNvSpPr/>
          <p:nvPr/>
        </p:nvSpPr>
        <p:spPr>
          <a:xfrm>
            <a:off x="841248" y="367284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 news · I wish you all the best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Jake: 'Wow! That's……</a:t>
            </a:r>
            <a:endParaRPr lang="en-US" sz="1250" dirty="0"/>
          </a:p>
        </p:txBody>
      </p:sp>
      <p:sp>
        <p:nvSpPr>
          <p:cNvPr id="22" name="R6_sb296"/>
          <p:cNvSpPr/>
          <p:nvPr/>
        </p:nvSpPr>
        <p:spPr>
          <a:xfrm>
            <a:off x="457200" y="427329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R6_sl297"/>
          <p:cNvSpPr/>
          <p:nvPr/>
        </p:nvSpPr>
        <p:spPr>
          <a:xfrm>
            <a:off x="841248" y="4236720"/>
            <a:ext cx="80467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2 things in the story!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In my story…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300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or future?</a:t>
            </a:r>
            <a:endParaRPr lang="en-US" sz="2500" dirty="0"/>
          </a:p>
        </p:txBody>
      </p:sp>
      <p:pic>
        <p:nvPicPr>
          <p:cNvPr id="6" name="brP_3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0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the present continuous. Present or future?</a:t>
            </a:r>
            <a:endParaRPr lang="en-US" sz="1250" dirty="0"/>
          </a:p>
        </p:txBody>
      </p:sp>
      <p:sp>
        <p:nvSpPr>
          <p:cNvPr id="8" name="insIT_30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il present continuous. Presente o futuro?</a:t>
            </a:r>
            <a:endParaRPr lang="en-US" sz="950" dirty="0"/>
          </a:p>
        </p:txBody>
      </p:sp>
      <p:sp>
        <p:nvSpPr>
          <p:cNvPr id="9" name="note_30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30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· present continuous for the future   ·   📖 SB p.25 · 4a · audio 3.11 (TG key)</a:t>
            </a:r>
            <a:endParaRPr lang="en-US" sz="800" dirty="0"/>
          </a:p>
        </p:txBody>
      </p:sp>
      <p:sp>
        <p:nvSpPr>
          <p:cNvPr id="12" name="cd_30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0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4" name="R2_rdA30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5" name="R3_rdA31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giving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6" name="R4_rdA31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giving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7" name="R5_rdA3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giving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getting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8" name="R6_rdA31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Sarah's conversations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London from Wednesday to Friday.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with Mark Taylor.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giving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at 2.00.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Are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on Saturday?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We're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getting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married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Saturday.</a:t>
            </a:r>
            <a:endParaRPr lang="en-US" sz="1350" dirty="0"/>
          </a:p>
        </p:txBody>
      </p:sp>
      <p:sp>
        <p:nvSpPr>
          <p:cNvPr id="19" name="cd_314"/>
          <p:cNvSpPr/>
          <p:nvPr/>
        </p:nvSpPr>
        <p:spPr>
          <a:xfrm>
            <a:off x="6263640" y="1417320"/>
            <a:ext cx="2606040" cy="2063496"/>
          </a:xfrm>
          <a:prstGeom prst="roundRect">
            <a:avLst>
              <a:gd name="adj" fmla="val 62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315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ih_316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a) present or b) future?</a:t>
            </a:r>
            <a:endParaRPr lang="en-US" sz="1300" dirty="0"/>
          </a:p>
        </p:txBody>
      </p:sp>
      <p:sp>
        <p:nvSpPr>
          <p:cNvPr id="22" name="il_317"/>
          <p:cNvSpPr/>
          <p:nvPr/>
        </p:nvSpPr>
        <p:spPr>
          <a:xfrm>
            <a:off x="6830568" y="1911096"/>
            <a:ext cx="1947672" cy="1496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 5 are about the FUTURE!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continuous = fixed arrangements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day, a time, other people know)</a:t>
            </a:r>
            <a:endParaRPr lang="en-US" sz="1150" dirty="0"/>
          </a:p>
        </p:txBody>
      </p:sp>
      <p:sp>
        <p:nvSpPr>
          <p:cNvPr id="23" name="R1_chip318"/>
          <p:cNvSpPr/>
          <p:nvPr/>
        </p:nvSpPr>
        <p:spPr>
          <a:xfrm>
            <a:off x="6263640" y="3590544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b) future – all of them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21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Arrangements or plans?</a:t>
            </a:r>
            <a:endParaRPr lang="en-US" sz="2400" dirty="0"/>
          </a:p>
        </p:txBody>
      </p:sp>
      <p:pic>
        <p:nvPicPr>
          <p:cNvPr id="6" name="brP_3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323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Then click!</a:t>
            </a:r>
            <a:endParaRPr lang="en-US" sz="1250" dirty="0"/>
          </a:p>
        </p:txBody>
      </p:sp>
      <p:sp>
        <p:nvSpPr>
          <p:cNvPr id="8" name="insIT_3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Poi clicca!</a:t>
            </a:r>
            <a:endParaRPr lang="en-US" sz="950" dirty="0"/>
          </a:p>
        </p:txBody>
      </p:sp>
      <p:sp>
        <p:nvSpPr>
          <p:cNvPr id="9" name="note_3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Bank 3B · the rule   ·   📖 Grammar Bank 3B p.130 (TG grammar notes)</a:t>
            </a:r>
            <a:endParaRPr lang="en-US" sz="800" dirty="0"/>
          </a:p>
        </p:txBody>
      </p:sp>
      <p:sp>
        <p:nvSpPr>
          <p:cNvPr id="12" name="cd_328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329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continuous</a:t>
            </a:r>
            <a:endParaRPr lang="en-US" sz="1250" dirty="0"/>
          </a:p>
        </p:txBody>
      </p:sp>
      <p:sp>
        <p:nvSpPr>
          <p:cNvPr id="14" name="R1_rx330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flying to Vienna at 8 tonight.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meeting the boss tomorrow.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this evening?</a:t>
            </a:r>
            <a:endParaRPr lang="en-US" sz="1400" dirty="0"/>
          </a:p>
        </p:txBody>
      </p:sp>
      <p:sp>
        <p:nvSpPr>
          <p:cNvPr id="15" name="R1_ri331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appuntamenti fissati: giorno, ora, altre persone</a:t>
            </a:r>
            <a:endParaRPr lang="en-US" sz="1100" dirty="0"/>
          </a:p>
        </p:txBody>
      </p:sp>
      <p:sp>
        <p:nvSpPr>
          <p:cNvPr id="16" name="cd_332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333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going to</a:t>
            </a:r>
            <a:endParaRPr lang="en-US" sz="1250" dirty="0"/>
          </a:p>
        </p:txBody>
      </p:sp>
      <p:sp>
        <p:nvSpPr>
          <p:cNvPr id="18" name="R2_rx334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wash my hair tonight.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buy a new phone.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sure you're going to find a job. (prediction)</a:t>
            </a:r>
            <a:endParaRPr lang="en-US" sz="1400" dirty="0"/>
          </a:p>
        </p:txBody>
      </p:sp>
      <p:sp>
        <p:nvSpPr>
          <p:cNvPr id="19" name="R2_ri335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piani e previsioni</a:t>
            </a:r>
            <a:endParaRPr lang="en-US" sz="1100" dirty="0"/>
          </a:p>
        </p:txBody>
      </p:sp>
      <p:sp>
        <p:nvSpPr>
          <p:cNvPr id="20" name="R3_wc336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3_w337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What do you do this evening? → ✓ What are you doing?   ·   ✗ I'm sure you're finding a job → ✓ you're going to find (prediction)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3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340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Jake doing…?</a:t>
            </a:r>
            <a:endParaRPr lang="en-US" sz="2400" dirty="0"/>
          </a:p>
        </p:txBody>
      </p:sp>
      <p:pic>
        <p:nvPicPr>
          <p:cNvPr id="6" name="brP_34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342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Jake's calendar. Ask and answer!</a:t>
            </a:r>
            <a:endParaRPr lang="en-US" sz="1250" dirty="0"/>
          </a:p>
        </p:txBody>
      </p:sp>
      <p:sp>
        <p:nvSpPr>
          <p:cNvPr id="8" name="insIT_34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il calendario di Jake. Fai e rispondi!</a:t>
            </a:r>
            <a:endParaRPr lang="en-US" sz="950" dirty="0"/>
          </a:p>
        </p:txBody>
      </p:sp>
      <p:sp>
        <p:nvSpPr>
          <p:cNvPr id="9" name="note_34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250" dirty="0"/>
          </a:p>
        </p:txBody>
      </p:sp>
      <p:pic>
        <p:nvPicPr>
          <p:cNvPr id="10" name="logo_34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· practice   ·   📖 SB p.25 · 4c</a:t>
            </a:r>
            <a:endParaRPr lang="en-US" sz="800" dirty="0"/>
          </a:p>
        </p:txBody>
      </p:sp>
      <p:sp>
        <p:nvSpPr>
          <p:cNvPr id="12" name="pf_347"/>
          <p:cNvSpPr/>
          <p:nvPr/>
        </p:nvSpPr>
        <p:spPr>
          <a:xfrm rot="-120000">
            <a:off x="1360170" y="1371600"/>
            <a:ext cx="708660" cy="1325880"/>
          </a:xfrm>
          <a:prstGeom prst="roundRect">
            <a:avLst>
              <a:gd name="adj" fmla="val 2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48" descr="/home/claude/lls-course/v2/cache/a2_3b_jake_jpg_1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405890" y="1417320"/>
            <a:ext cx="617220" cy="1234440"/>
          </a:xfrm>
          <a:prstGeom prst="rect">
            <a:avLst/>
          </a:prstGeom>
        </p:spPr>
      </p:pic>
      <p:sp>
        <p:nvSpPr>
          <p:cNvPr id="14" name="cd_349"/>
          <p:cNvSpPr/>
          <p:nvPr/>
        </p:nvSpPr>
        <p:spPr>
          <a:xfrm>
            <a:off x="320040" y="288036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50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51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52"/>
          <p:cNvSpPr/>
          <p:nvPr/>
        </p:nvSpPr>
        <p:spPr>
          <a:xfrm>
            <a:off x="886968" y="337413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Jake doing at…?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having…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meeting…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giving…</a:t>
            </a:r>
            <a:endParaRPr lang="en-US" sz="1150" dirty="0"/>
          </a:p>
        </p:txBody>
      </p:sp>
      <p:sp>
        <p:nvSpPr>
          <p:cNvPr id="18" name="R1_qb35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5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Jake doing at 8.15 in the morning?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He's having a breakfast meeting.</a:t>
            </a:r>
            <a:endParaRPr lang="en-US" sz="1050" dirty="0"/>
          </a:p>
        </p:txBody>
      </p:sp>
      <p:sp>
        <p:nvSpPr>
          <p:cNvPr id="20" name="R2_qb35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5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he doing at 11 o'clock?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He's meeting Sarah at The Grand Café.</a:t>
            </a:r>
            <a:endParaRPr lang="en-US" sz="1050" dirty="0"/>
          </a:p>
        </p:txBody>
      </p:sp>
      <p:sp>
        <p:nvSpPr>
          <p:cNvPr id="22" name="R3_qb35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5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he doing at 2 o'clock?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He's giving his talk.</a:t>
            </a:r>
            <a:endParaRPr lang="en-US" sz="1050" dirty="0"/>
          </a:p>
        </p:txBody>
      </p:sp>
      <p:sp>
        <p:nvSpPr>
          <p:cNvPr id="24" name="R4_qb35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6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he doing at 4 o'clock? And at 7.30?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He's going to a talk on climate change. He's having dinner with Mark.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6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363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 you free on Thursday?</a:t>
            </a:r>
            <a:endParaRPr lang="en-US" sz="2500" dirty="0"/>
          </a:p>
        </p:txBody>
      </p:sp>
      <p:pic>
        <p:nvPicPr>
          <p:cNvPr id="6" name="brP_36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6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conversation. Copy the intonation of the highlighted phrases!</a:t>
            </a:r>
            <a:endParaRPr lang="en-US" sz="1100" dirty="0"/>
          </a:p>
        </p:txBody>
      </p:sp>
      <p:sp>
        <p:nvSpPr>
          <p:cNvPr id="8" name="insIT_36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conversazione. Copia l'intonazione delle frasi evidenziate!</a:t>
            </a:r>
            <a:endParaRPr lang="en-US" sz="950" dirty="0"/>
          </a:p>
        </p:txBody>
      </p:sp>
      <p:sp>
        <p:nvSpPr>
          <p:cNvPr id="9" name="note_36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Guided discovery</a:t>
            </a:r>
            <a:endParaRPr lang="en-US" sz="1150" dirty="0"/>
          </a:p>
        </p:txBody>
      </p:sp>
      <p:pic>
        <p:nvPicPr>
          <p:cNvPr id="10" name="logo_3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Speaking · making arrangements   ·   📖 SB p.25 · 5a, 5b · audio 3.13</a:t>
            </a:r>
            <a:endParaRPr lang="en-US" sz="800" dirty="0"/>
          </a:p>
        </p:txBody>
      </p:sp>
      <p:sp>
        <p:nvSpPr>
          <p:cNvPr id="12" name="cd_370"/>
          <p:cNvSpPr/>
          <p:nvPr/>
        </p:nvSpPr>
        <p:spPr>
          <a:xfrm>
            <a:off x="320040" y="1417320"/>
            <a:ext cx="2606040" cy="2188464"/>
          </a:xfrm>
          <a:prstGeom prst="roundRect">
            <a:avLst>
              <a:gd name="adj" fmla="val 58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7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372"/>
          <p:cNvSpPr/>
          <p:nvPr/>
        </p:nvSpPr>
        <p:spPr>
          <a:xfrm>
            <a:off x="8869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373"/>
          <p:cNvSpPr/>
          <p:nvPr/>
        </p:nvSpPr>
        <p:spPr>
          <a:xfrm>
            <a:off x="886968" y="1911096"/>
            <a:ext cx="1947672" cy="1621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love to! 😃 (enthusiastic)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Sorry… 😔 (apologetic)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Great! 😃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then?</a:t>
            </a:r>
            <a:endParaRPr lang="en-US" sz="1200" dirty="0"/>
          </a:p>
        </p:txBody>
      </p:sp>
      <p:sp>
        <p:nvSpPr>
          <p:cNvPr id="16" name="who_374"/>
          <p:cNvSpPr/>
          <p:nvPr/>
        </p:nvSpPr>
        <p:spPr>
          <a:xfrm>
            <a:off x="3108960" y="1463040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17" name="sl_375"/>
          <p:cNvSpPr/>
          <p:nvPr/>
        </p:nvSpPr>
        <p:spPr>
          <a:xfrm>
            <a:off x="4114800" y="1444752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like to go out for dinner?</a:t>
            </a:r>
            <a:endParaRPr lang="en-US" sz="1150" dirty="0"/>
          </a:p>
        </p:txBody>
      </p:sp>
      <p:sp>
        <p:nvSpPr>
          <p:cNvPr id="18" name="who_376"/>
          <p:cNvSpPr/>
          <p:nvPr/>
        </p:nvSpPr>
        <p:spPr>
          <a:xfrm>
            <a:off x="3108960" y="1880235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19" name="sl_377"/>
          <p:cNvSpPr/>
          <p:nvPr/>
        </p:nvSpPr>
        <p:spPr>
          <a:xfrm>
            <a:off x="4114800" y="186194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love to.</a:t>
            </a:r>
            <a:endParaRPr lang="en-US" sz="1150" dirty="0"/>
          </a:p>
        </p:txBody>
      </p:sp>
      <p:sp>
        <p:nvSpPr>
          <p:cNvPr id="20" name="R1_slA378"/>
          <p:cNvSpPr/>
          <p:nvPr/>
        </p:nvSpPr>
        <p:spPr>
          <a:xfrm>
            <a:off x="4114800" y="186194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love to.</a:t>
            </a:r>
            <a:endParaRPr lang="en-US" sz="1150" dirty="0"/>
          </a:p>
        </p:txBody>
      </p:sp>
      <p:sp>
        <p:nvSpPr>
          <p:cNvPr id="21" name="who_379"/>
          <p:cNvSpPr/>
          <p:nvPr/>
        </p:nvSpPr>
        <p:spPr>
          <a:xfrm>
            <a:off x="3108960" y="2297430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22" name="sl_380"/>
          <p:cNvSpPr/>
          <p:nvPr/>
        </p:nvSpPr>
        <p:spPr>
          <a:xfrm>
            <a:off x="4114800" y="2279142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free on Thursday?</a:t>
            </a:r>
            <a:endParaRPr lang="en-US" sz="1150" dirty="0"/>
          </a:p>
        </p:txBody>
      </p:sp>
      <p:sp>
        <p:nvSpPr>
          <p:cNvPr id="23" name="who_381"/>
          <p:cNvSpPr/>
          <p:nvPr/>
        </p:nvSpPr>
        <p:spPr>
          <a:xfrm>
            <a:off x="3108960" y="2714625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4" name="sl_382"/>
          <p:cNvSpPr/>
          <p:nvPr/>
        </p:nvSpPr>
        <p:spPr>
          <a:xfrm>
            <a:off x="4114800" y="269633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I'm going to the cinema.</a:t>
            </a:r>
            <a:endParaRPr lang="en-US" sz="1150" dirty="0"/>
          </a:p>
        </p:txBody>
      </p:sp>
      <p:sp>
        <p:nvSpPr>
          <p:cNvPr id="25" name="R2_slA383"/>
          <p:cNvSpPr/>
          <p:nvPr/>
        </p:nvSpPr>
        <p:spPr>
          <a:xfrm>
            <a:off x="4114800" y="269633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I'm going to the cinema.</a:t>
            </a:r>
            <a:endParaRPr lang="en-US" sz="1150" dirty="0"/>
          </a:p>
        </p:txBody>
      </p:sp>
      <p:sp>
        <p:nvSpPr>
          <p:cNvPr id="26" name="who_384"/>
          <p:cNvSpPr/>
          <p:nvPr/>
        </p:nvSpPr>
        <p:spPr>
          <a:xfrm>
            <a:off x="3108960" y="3131820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27" name="sl_385"/>
          <p:cNvSpPr/>
          <p:nvPr/>
        </p:nvSpPr>
        <p:spPr>
          <a:xfrm>
            <a:off x="4114800" y="3113532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 Friday? What are you doing then?</a:t>
            </a:r>
            <a:endParaRPr lang="en-US" sz="1150" dirty="0"/>
          </a:p>
        </p:txBody>
      </p:sp>
      <p:sp>
        <p:nvSpPr>
          <p:cNvPr id="28" name="who_386"/>
          <p:cNvSpPr/>
          <p:nvPr/>
        </p:nvSpPr>
        <p:spPr>
          <a:xfrm>
            <a:off x="3108960" y="3549015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9" name="sl_387"/>
          <p:cNvSpPr/>
          <p:nvPr/>
        </p:nvSpPr>
        <p:spPr>
          <a:xfrm>
            <a:off x="4114800" y="353072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Nothing. Friday's fine.</a:t>
            </a:r>
            <a:endParaRPr lang="en-US" sz="1150" dirty="0"/>
          </a:p>
        </p:txBody>
      </p:sp>
      <p:sp>
        <p:nvSpPr>
          <p:cNvPr id="30" name="who_388"/>
          <p:cNvSpPr/>
          <p:nvPr/>
        </p:nvSpPr>
        <p:spPr>
          <a:xfrm>
            <a:off x="3108960" y="3966210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50" dirty="0"/>
          </a:p>
        </p:txBody>
      </p:sp>
      <p:sp>
        <p:nvSpPr>
          <p:cNvPr id="31" name="sl_389"/>
          <p:cNvSpPr/>
          <p:nvPr/>
        </p:nvSpPr>
        <p:spPr>
          <a:xfrm>
            <a:off x="4114800" y="3947922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OK. Let's go to the new Italian place.</a:t>
            </a:r>
            <a:endParaRPr lang="en-US" sz="1150" dirty="0"/>
          </a:p>
        </p:txBody>
      </p:sp>
      <p:sp>
        <p:nvSpPr>
          <p:cNvPr id="32" name="who_390"/>
          <p:cNvSpPr/>
          <p:nvPr/>
        </p:nvSpPr>
        <p:spPr>
          <a:xfrm>
            <a:off x="3108960" y="4383405"/>
            <a:ext cx="914400" cy="325755"/>
          </a:xfrm>
          <a:prstGeom prst="roundRect">
            <a:avLst>
              <a:gd name="adj" fmla="val 33684"/>
            </a:avLst>
          </a:prstGeom>
          <a:solidFill>
            <a:srgbClr val="FFE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33" name="sl_391"/>
          <p:cNvSpPr/>
          <p:nvPr/>
        </p:nvSpPr>
        <p:spPr>
          <a:xfrm>
            <a:off x="4114800" y="436511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Great!</a:t>
            </a:r>
            <a:endParaRPr lang="en-US" sz="1150" dirty="0"/>
          </a:p>
        </p:txBody>
      </p:sp>
      <p:sp>
        <p:nvSpPr>
          <p:cNvPr id="34" name="R3_slA392"/>
          <p:cNvSpPr/>
          <p:nvPr/>
        </p:nvSpPr>
        <p:spPr>
          <a:xfrm>
            <a:off x="4114800" y="4365117"/>
            <a:ext cx="4754880" cy="362331"/>
          </a:xfrm>
          <a:prstGeom prst="roundRect">
            <a:avLst>
              <a:gd name="adj" fmla="val 3028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39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95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a free evening!</a:t>
            </a:r>
            <a:endParaRPr lang="en-US" sz="2500" dirty="0"/>
          </a:p>
        </p:txBody>
      </p:sp>
      <p:pic>
        <p:nvPicPr>
          <p:cNvPr id="6" name="brP_39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9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3 activities in your calendar. Then find a free evening with other students!</a:t>
            </a:r>
            <a:endParaRPr lang="en-US" sz="1100" dirty="0"/>
          </a:p>
        </p:txBody>
      </p:sp>
      <p:sp>
        <p:nvSpPr>
          <p:cNvPr id="8" name="insIT_39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3 attività nel tuo calendario. Poi trova una sera libera con altri studenti!</a:t>
            </a:r>
            <a:endParaRPr lang="en-US" sz="950" dirty="0"/>
          </a:p>
        </p:txBody>
      </p:sp>
      <p:sp>
        <p:nvSpPr>
          <p:cNvPr id="9" name="note_39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40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Speaking · mingle   ·   📖 SB p.25 · 5c, 5d</a:t>
            </a:r>
            <a:endParaRPr lang="en-US" sz="800" dirty="0"/>
          </a:p>
        </p:txBody>
      </p:sp>
      <p:sp>
        <p:nvSpPr>
          <p:cNvPr id="12" name="cd_402"/>
          <p:cNvSpPr/>
          <p:nvPr/>
        </p:nvSpPr>
        <p:spPr>
          <a:xfrm>
            <a:off x="320040" y="1417320"/>
            <a:ext cx="2788920" cy="2589784"/>
          </a:xfrm>
          <a:prstGeom prst="roundRect">
            <a:avLst>
              <a:gd name="adj" fmla="val 494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0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404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405"/>
          <p:cNvSpPr/>
          <p:nvPr/>
        </p:nvSpPr>
        <p:spPr>
          <a:xfrm>
            <a:off x="886968" y="1911096"/>
            <a:ext cx="2130552" cy="2022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free on Tuesday evening?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Sorry, I'm studying for an exam.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 Wednesday? What are you doing then?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like to…?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love to!</a:t>
            </a:r>
            <a:endParaRPr lang="en-US" sz="1150" dirty="0"/>
          </a:p>
        </p:txBody>
      </p:sp>
      <p:sp>
        <p:nvSpPr>
          <p:cNvPr id="16" name="R1_qb40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40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calendar: Monday–Saturday, 7 / 8 / 9 p.m. Write activities for THREE evenings next week.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Tuesday 8 p.m.: gym · Thursday 7 p.m.: dinner with Mum</a:t>
            </a:r>
            <a:endParaRPr lang="en-US" sz="950" dirty="0"/>
          </a:p>
        </p:txBody>
      </p:sp>
      <p:sp>
        <p:nvSpPr>
          <p:cNvPr id="18" name="R2_qb40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40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up! Find a free evening with a different person each time.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Are you free on Wednesday evening? – Yes, I am!</a:t>
            </a:r>
            <a:endParaRPr lang="en-US" sz="950" dirty="0"/>
          </a:p>
        </p:txBody>
      </p:sp>
      <p:sp>
        <p:nvSpPr>
          <p:cNvPr id="20" name="R3_qb41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41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arrangement: what, where, what time?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Let's go to the cinema at 8.</a:t>
            </a:r>
            <a:endParaRPr lang="en-US" sz="950" dirty="0"/>
          </a:p>
        </p:txBody>
      </p:sp>
      <p:sp>
        <p:nvSpPr>
          <p:cNvPr id="22" name="R4_qb41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41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the class: who are you meeting, and when?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On Friday I'm going to the cinema with Marco.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1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1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2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Exit · what can you remember?</a:t>
            </a:r>
            <a:endParaRPr lang="en-US" sz="800" dirty="0"/>
          </a:p>
        </p:txBody>
      </p:sp>
      <p:sp>
        <p:nvSpPr>
          <p:cNvPr id="12" name="bd_42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2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verbs with their prepositions.</a:t>
            </a:r>
            <a:endParaRPr lang="en-US" sz="1400" dirty="0"/>
          </a:p>
        </p:txBody>
      </p:sp>
      <p:sp>
        <p:nvSpPr>
          <p:cNvPr id="14" name="bd_42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2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things in Jake's calendar for Tuesday.</a:t>
            </a:r>
            <a:endParaRPr lang="en-US" sz="1400" dirty="0"/>
          </a:p>
        </p:txBody>
      </p:sp>
      <p:sp>
        <p:nvSpPr>
          <p:cNvPr id="16" name="bd_42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2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arrangement you have for this weekend.</a:t>
            </a:r>
            <a:endParaRPr lang="en-US" sz="1400" dirty="0"/>
          </a:p>
        </p:txBody>
      </p:sp>
      <p:sp>
        <p:nvSpPr>
          <p:cNvPr id="18" name="cd_429"/>
          <p:cNvSpPr/>
          <p:nvPr/>
        </p:nvSpPr>
        <p:spPr>
          <a:xfrm>
            <a:off x="5669280" y="1417320"/>
            <a:ext cx="3200400" cy="1453896"/>
          </a:xfrm>
          <a:prstGeom prst="roundRect">
            <a:avLst>
              <a:gd name="adj" fmla="val 880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3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3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32"/>
          <p:cNvSpPr/>
          <p:nvPr/>
        </p:nvSpPr>
        <p:spPr>
          <a:xfrm>
            <a:off x="6236208" y="1911096"/>
            <a:ext cx="2542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3B pp.20–21: exercises 1–3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SB p.115: write an informal email about travel arrangements</a:t>
            </a:r>
            <a:endParaRPr lang="en-US" sz="1150" dirty="0"/>
          </a:p>
        </p:txBody>
      </p:sp>
      <p:sp>
        <p:nvSpPr>
          <p:cNvPr id="22" name="st_433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3C Word games – relative clauses (SB p.26)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4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3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3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4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Review · what did you do today?</a:t>
            </a:r>
            <a:endParaRPr lang="en-US" sz="800" dirty="0"/>
          </a:p>
        </p:txBody>
      </p:sp>
      <p:sp>
        <p:nvSpPr>
          <p:cNvPr id="12" name="cd_44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4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t_44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a quiz: how organized are you?</a:t>
            </a:r>
            <a:endParaRPr lang="en-US" sz="1350" dirty="0"/>
          </a:p>
        </p:txBody>
      </p:sp>
      <p:sp>
        <p:nvSpPr>
          <p:cNvPr id="15" name="R1_tk44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4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4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8" name="tt_44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verbs + prepositions: wait for, depend on…</a:t>
            </a:r>
            <a:endParaRPr lang="en-US" sz="1350" dirty="0"/>
          </a:p>
        </p:txBody>
      </p:sp>
      <p:sp>
        <p:nvSpPr>
          <p:cNvPr id="19" name="R2_tk45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5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5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👂</a:t>
            </a:r>
            <a:endParaRPr lang="en-US" sz="1800" dirty="0"/>
          </a:p>
        </p:txBody>
      </p:sp>
      <p:sp>
        <p:nvSpPr>
          <p:cNvPr id="22" name="tt_45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Heard words linked together</a:t>
            </a:r>
            <a:endParaRPr lang="en-US" sz="1350" dirty="0"/>
          </a:p>
        </p:txBody>
      </p:sp>
      <p:sp>
        <p:nvSpPr>
          <p:cNvPr id="23" name="R3_tk45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5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5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t_45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complete Jake's calendar</a:t>
            </a:r>
            <a:endParaRPr lang="en-US" sz="1350" dirty="0"/>
          </a:p>
        </p:txBody>
      </p:sp>
      <p:sp>
        <p:nvSpPr>
          <p:cNvPr id="27" name="R4_tk45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5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6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0" name="tt_46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 arrangements for next week</a:t>
            </a:r>
            <a:endParaRPr lang="en-US" sz="1350" dirty="0"/>
          </a:p>
        </p:txBody>
      </p:sp>
      <p:sp>
        <p:nvSpPr>
          <p:cNvPr id="31" name="R5_tk46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6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3B Put it in your calendar!</dc:title>
  <dc:subject>PptxGenJS Presentation</dc:subject>
  <dc:creator>PptxGenJS</dc:creator>
  <cp:lastModifiedBy>PptxGenJS</cp:lastModifiedBy>
  <cp:revision>1</cp:revision>
  <dcterms:created xsi:type="dcterms:W3CDTF">2026-10-22T09:55:43Z</dcterms:created>
  <dcterms:modified xsi:type="dcterms:W3CDTF">2026-10-22T09:55:43Z</dcterms:modified>
</cp:coreProperties>
</file>