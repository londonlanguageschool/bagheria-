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lead-in: write PHOTO on the board – short for photograph; we TAKE a photo. Teach photographer / photography and the stress: PHOtograph, phoTOgrapher, phoTOgraphy. Show the photo (Henri Cartier-Bresson, famous French photographer, 1908–2004). Ask the THINK question; take 3–4 guesses. Click: the example. Don't say the answer – it's in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(3 min). Pairs ask about their last holiday (3 questions each, past simple). 2 students tell the class. Today: the past simple's partner – the past continuous (what WAS happening).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Reading · prediction (3 min)
PREDICTION (3 min). Check: a decade = 10 years (the 1970s); time of year = season. Pairs guess and say why. DON'T click yet: students read the article on the next 2 slides, then come back – or click at the end of the reading. Answers (TG 1b): 1 the 1970s · 2 autumn · 3 an owl in a tree · 4 bread, to give the animals in the zoo.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Jane's story 1/2 (4 min)
READING 1/2 (4 min). The article is ON THE SLIDE (the book's text IN FULL, word for word). Students read and check their guesses, then complete the gaps with at / in / on (SB 2a sentences are inside the text). Click once per sentence. Answers (TG 2a): 1 In 1972, in London · 2 at university · 3 On Sundays. Pre-teach only: advertising agency (agenzia pubblicitaria), fall in love.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Jane's story 2/2 (4 min)
READING 2/2 (4 min). Students finish reading and check their guesses on slide 3 (go back and click the answers). Gap 4 (TG 2a): We were walking in the gardens one Sunday in autumn. Then ask: Were your guesses right? Who guessed the owl?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Reading · detail (4 min)
DETAIL (4 min). SB 1c. Pairs answer from the text; click once per question. Answers (TG): 1 She was living in London, in her early twenties, working for an advertising agency. 2 At a nightclub on a beach in the south of France; she found a job in Paris to be with him. 3 They went for a walk. 4 They heard a lot of noise from a tree – some little birds were attacking an owl. 5 She called Cartier-Bresson and he sent her a copy. 6 Because it was a happy time for her. 1d (whole class): Is there a photo with YOU in it that you really love?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prepositions (4 min)
VOCABULARY (4 min). Elicit each column before clicking. 2.10 is long (the whole Vocabulary Bank) – play only part of it, or drill yourself. TG notes: at / in + shops and buildings are both OK at this level (at / in the supermarket); airport and station → at. Years from 2011 → twenty eleven. in the morning BUT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game (3 min)
GAME (3 min). TG Activation as a team race. Click once per line. Then 1 minute in pairs: A says a word (home, Friday, August…), B says the preposition (book closed).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past continuous (3 min)
GUIDED DISCOVERY (3 min). SB 3a: look at the highlighted verbs – which describe 1) an action in progress at a specific moment in the past, 2) the situation at the beginning of the story? Click once per sentence. Answers (TG): 1 were looking (when Cartier-Bresson took the photo) · 2 was living, was working. Elicit the form: was / were + -ing – like the present continuous, but was / were.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past continuous (4 min)
POP-UP GRAMMAR (4 min). Elicit each column before clicking. TG grammar notes: we use the past continuous at the beginning of a story to set the scene; very often the 'action in progress' is interrupted by a short, completed action (past simple). when + past simple, while / when + past continuous. Grammar Bank audio 2.11 and 2.12 (listen and repeat) are not in our audio folder – play them from the book, or model the examples yourself and get students to copy the rhythm.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(5 min)
TPRS CLASS STORY (5 min) – the past continuous + past simple, many times, before the practice. Click once per line. For each line: 1) say it, 2) ask the questions round the class (yes/no → either/or → what/where), 3) let the CLASS change details (accept their idea and use it in later lines): 'Was Luca wearing pyjamas? No? What was he wearing?' Students answer with one word or a short phrase – that's fine; repeat the full sentence yourself. Highlight the pattern: long action (was / were -ing) + short action (past simple). Finish: 'What happened next?'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retell (TPRS) (4 min)
STORY PROMPTS (4 min) – the story slide is gone; only key words remain. A retells lines 1–3, B lines 4–6, then swap. The grey line is a sentence starter for weaker students (cover it for strong pairs). Line 6: pairs change two details (person, day, place) and tell their new version to another pair. Listen for was / were + -ing + when + past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· practice (4 min)
CONTROLLED PRACTICE (4 min). Grammar Bank 2B a (the book's sentences, answers from the TG). Pairs say the full sentence; click once per line. Remember: the short action = past simple (went, gave, started).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Grammar game · mime (3 min)
GAME (3 min). SB 3c uses sound effects (audio 2.13, not in our folder). Without the audio: a volunteer mimes BOTH actions (long, then short), teams say the sentence. With the book audio: play each sound effect, pairs write the sentence. Click once per line to show the book's answer (TG 2.13).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Pronunciation · weak forms (3 min)
WEAK FORMS (3 min). Audio 2.14 is not in our folder: play it from the book, or read the sentences yourself at natural speed (was = /wəz/, were = /wə/ – unstressed). Answers (TG): 1 It was · 2 was staying · 3 were doing · 4 We were · 5 were visiting · 6 were…drinking, was doing. 4c: was and were are UNSTRESSED in positive sentences (strong /wɒz/ /wɜː/ only in short answers: Yes, I was). Drill: I was staying /aɪ wəz ˈsteɪɪŋ/.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Anya's photos (5 min)
LISTENING (5 min). Audio 2.15 is not in our folder: play it from the book, or read the script yourself (2 voices: Anya + friend). Script (TG): 1 This is me and my mum in York. It was my first term at university, and she came to visit me, and I took her on a tour round the city. – Is that the cathedral? – Yes, it's called York Minster. 2 This one's on the beach in Cornwall with my boyfriend, Ollie. I was staying with him in the Easter holidays, and we went for a walk. – It looks windy! – Yes, it was really windy and cold. 3 That's me and my friend Maisie. We were doing a music course, and this was at the party at the end of the course – the teachers made a corner with a big frame, hats and moustaches. 4 Me and two of my best friends – we were at school together. Libby has a house by the river, and we went there in September. 5 In Rome – I was there with my mum the summer before I went to university. She took this when we were visiting the Colosseum. 6 That's my mum, her partner and my sister Roz, on the river in Oxford. Every year we go punting. We were all drinking champagne, and Roz was doing the hard work! Answers: E 1 · C 2 · A 3 · F 4 · B 5 · D 6. Glossary: punt = a long flat boat (Oxford, Cambridge). 4e: what else do you remember about each photo?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Speaking · your photos (5 min)
SPEAKING (5 min). Questions one per click; model each with your own photo. Students SHOW real photos on their phones (great for the past continuous: What were you doing? Who were you with?). Note errors with was / were + -ing for 1 minute of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Exit · what can you remember? (2 min)
RETRIEVAL EXIT (2 min). Books closed. Set homework: Workbook 2B + Grammar Bank 2B exercise b (answers TG: 1 I broke my arm when I was playing football. 2 Were you driving fast when the police stopped you? 3 It was snowing when we left the pub. 4 I didn't see the match because I was working. 5 When you called me I was talking to my boss. 6 We were studying in Cambridge when we met. 7 Were they living in Rome when they had their first baby?) + Writing p.114 'Describing a photo' (use the questions from the speaking: Who took it? When? What was happening? Why do you like it?).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Vocabulary game · at / in / on (5 min)
OPTIONAL EXTENSION – PREPOSITIONS RACE (5 min). Item 1 is the example. Say the word; the first team with the correct phrase scores 1; a true sentence about themselves scores 1 more. Click: the answer. Finish by playing 2.10 (the Vocabulary Bank list) – students tick the ones they got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Pre-intermediate · SB pp.16–17 · VB p.153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2B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Photos, stories and the past continuous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 read the true story behind a famous photo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📍  use at, in, on for time and place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⏸  past continuous: I was walking when…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your favourite photo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Maybe they're looking at a bird in a tree!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5755856" y="777240"/>
            <a:ext cx="2158568" cy="3200400"/>
          </a:xfrm>
          <a:prstGeom prst="roundRect">
            <a:avLst>
              <a:gd name="adj" fmla="val 720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a2_2b_couple_jpg_497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5801576" y="822960"/>
            <a:ext cx="2067128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Paris, a park, a couple… What are they looking at?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Revision · last lesson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734673" y="1371600"/>
            <a:ext cx="1913934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a2_2b_anya_b_jpg_438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80393" y="1417320"/>
            <a:ext cx="1822494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223264"/>
          </a:xfrm>
          <a:prstGeom prst="roundRect">
            <a:avLst>
              <a:gd name="adj" fmla="val 1046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656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2A: holidays, past simple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-ed endings /t/ /d/ /ɪd/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096512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stayed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120640" y="1783080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took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5971032" y="1783080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lost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6821424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7845552" y="1783080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3246120" y="2185416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endParaRPr lang="en-US" sz="1200" dirty="0"/>
          </a:p>
        </p:txBody>
      </p:sp>
      <p:sp>
        <p:nvSpPr>
          <p:cNvPr id="26" name="lv_40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7" name="lv_41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8" name="lv_42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9" name="cd_43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rh_44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100" dirty="0"/>
          </a:p>
        </p:txBody>
      </p:sp>
      <p:sp>
        <p:nvSpPr>
          <p:cNvPr id="31" name="R1_rl45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Rome. We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stayed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hotel.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take my passport!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good time? – Yes, I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</p:txBody>
      </p:sp>
      <p:sp>
        <p:nvSpPr>
          <p:cNvPr id="32" name="cd_46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47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Holidays</a:t>
            </a:r>
            <a:endParaRPr lang="en-US" sz="1100" dirty="0"/>
          </a:p>
        </p:txBody>
      </p:sp>
      <p:sp>
        <p:nvSpPr>
          <p:cNvPr id="34" name="R2_rl48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abroad · go sightseeing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 in a hotel · hire a car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/ were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The weather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amazing.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1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story?</a:t>
            </a:r>
            <a:endParaRPr lang="en-US" sz="2500" dirty="0"/>
          </a:p>
        </p:txBody>
      </p:sp>
      <p:pic>
        <p:nvPicPr>
          <p:cNvPr id="6" name="brP_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53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photo. Guess! Then read and check.</a:t>
            </a:r>
            <a:endParaRPr lang="en-US" sz="1250" dirty="0"/>
          </a:p>
        </p:txBody>
      </p:sp>
      <p:sp>
        <p:nvSpPr>
          <p:cNvPr id="8" name="insIT_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foto. Indovina! Poi leggi e controlla.</a:t>
            </a:r>
            <a:endParaRPr lang="en-US" sz="950" dirty="0"/>
          </a:p>
        </p:txBody>
      </p:sp>
      <p:sp>
        <p:nvSpPr>
          <p:cNvPr id="9" name="note_5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🤔 GUESS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150" dirty="0"/>
          </a:p>
        </p:txBody>
      </p:sp>
      <p:pic>
        <p:nvPicPr>
          <p:cNvPr id="10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prediction   ·   📖 SB p.16 · 1a, 1b (answers: TG)</a:t>
            </a:r>
            <a:endParaRPr lang="en-US" sz="800" dirty="0"/>
          </a:p>
        </p:txBody>
      </p:sp>
      <p:sp>
        <p:nvSpPr>
          <p:cNvPr id="12" name="cd_58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61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why: I think it's the 1970s because of her coat.</a:t>
            </a:r>
            <a:endParaRPr lang="en-US" sz="1050" dirty="0"/>
          </a:p>
        </p:txBody>
      </p:sp>
      <p:sp>
        <p:nvSpPr>
          <p:cNvPr id="16" name="pf_62"/>
          <p:cNvSpPr/>
          <p:nvPr/>
        </p:nvSpPr>
        <p:spPr>
          <a:xfrm rot="-90000">
            <a:off x="957323" y="2569464"/>
            <a:ext cx="1422913" cy="2093976"/>
          </a:xfrm>
          <a:prstGeom prst="roundRect">
            <a:avLst>
              <a:gd name="adj" fmla="val 109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63" descr="/home/claude/lls-course/v2/cache/a2_2b_couple_jpg_320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1003043" y="2615184"/>
            <a:ext cx="1331473" cy="2002536"/>
          </a:xfrm>
          <a:prstGeom prst="rect">
            <a:avLst/>
          </a:prstGeom>
        </p:spPr>
      </p:pic>
      <p:sp>
        <p:nvSpPr>
          <p:cNvPr id="18" name="bd_64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65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decade is it from?</a:t>
            </a:r>
            <a:endParaRPr lang="en-US" sz="1150" dirty="0"/>
          </a:p>
        </p:txBody>
      </p:sp>
      <p:sp>
        <p:nvSpPr>
          <p:cNvPr id="20" name="R1_chip66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1970s (1972)</a:t>
            </a:r>
            <a:endParaRPr lang="en-US" sz="1050" dirty="0"/>
          </a:p>
        </p:txBody>
      </p:sp>
      <p:sp>
        <p:nvSpPr>
          <p:cNvPr id="21" name="bd_67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68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of year is it?</a:t>
            </a:r>
            <a:endParaRPr lang="en-US" sz="1150" dirty="0"/>
          </a:p>
        </p:txBody>
      </p:sp>
      <p:sp>
        <p:nvSpPr>
          <p:cNvPr id="23" name="R2_chip69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autumn</a:t>
            </a:r>
            <a:endParaRPr lang="en-US" sz="1050" dirty="0"/>
          </a:p>
        </p:txBody>
      </p:sp>
      <p:sp>
        <p:nvSpPr>
          <p:cNvPr id="24" name="bd_70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71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they looking at?</a:t>
            </a:r>
            <a:endParaRPr lang="en-US" sz="1150" dirty="0"/>
          </a:p>
        </p:txBody>
      </p:sp>
      <p:sp>
        <p:nvSpPr>
          <p:cNvPr id="26" name="R3_chip72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owl in a tree</a:t>
            </a:r>
            <a:endParaRPr lang="en-US" sz="1050" dirty="0"/>
          </a:p>
        </p:txBody>
      </p:sp>
      <p:sp>
        <p:nvSpPr>
          <p:cNvPr id="27" name="bd_73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74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in the woman's pocket?</a:t>
            </a:r>
            <a:endParaRPr lang="en-US" sz="1150" dirty="0"/>
          </a:p>
        </p:txBody>
      </p:sp>
      <p:sp>
        <p:nvSpPr>
          <p:cNvPr id="29" name="R4_chip75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bread for the animals in the zoo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78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2500" dirty="0"/>
          </a:p>
        </p:txBody>
      </p:sp>
      <p:pic>
        <p:nvPicPr>
          <p:cNvPr id="6" name="brP_7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80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Jane's story. Complete 1–3 with at, in or on.</a:t>
            </a:r>
            <a:endParaRPr lang="en-US" sz="1250" dirty="0"/>
          </a:p>
        </p:txBody>
      </p:sp>
      <p:sp>
        <p:nvSpPr>
          <p:cNvPr id="8" name="insIT_8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storia di Jane. Completa 1–3 con at, in o on.</a:t>
            </a:r>
            <a:endParaRPr lang="en-US" sz="950" dirty="0"/>
          </a:p>
        </p:txBody>
      </p:sp>
      <p:sp>
        <p:nvSpPr>
          <p:cNvPr id="9" name="note_8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150" dirty="0"/>
          </a:p>
        </p:txBody>
      </p:sp>
      <p:pic>
        <p:nvPicPr>
          <p:cNvPr id="10" name="logo_8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8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Jane's story 1/2   ·   📖 SB p.16 · 1b, 2a · the full article</a:t>
            </a:r>
            <a:endParaRPr lang="en-US" sz="800" dirty="0"/>
          </a:p>
        </p:txBody>
      </p:sp>
      <p:sp>
        <p:nvSpPr>
          <p:cNvPr id="12" name="cd_8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8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Jane's story (part 1)</a:t>
            </a:r>
            <a:endParaRPr lang="en-US" sz="1700" dirty="0"/>
          </a:p>
        </p:txBody>
      </p:sp>
      <p:sp>
        <p:nvSpPr>
          <p:cNvPr id="14" name="ln_87"/>
          <p:cNvSpPr/>
          <p:nvPr/>
        </p:nvSpPr>
        <p:spPr>
          <a:xfrm>
            <a:off x="548640" y="1920240"/>
            <a:ext cx="5349240" cy="52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Guardian newspaper has a weekly feature called That's me in the picture, where people describe famous photos they were in. This photo was sent in by Jane Rangeley.</a:t>
            </a:r>
            <a:endParaRPr lang="en-US" sz="1050" dirty="0"/>
          </a:p>
        </p:txBody>
      </p:sp>
      <p:sp>
        <p:nvSpPr>
          <p:cNvPr id="15" name="ln_88"/>
          <p:cNvSpPr/>
          <p:nvPr/>
        </p:nvSpPr>
        <p:spPr>
          <a:xfrm>
            <a:off x="548640" y="2448900"/>
            <a:ext cx="5349240" cy="930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1972, I was living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London. I was in my early twenties, and I was working for an advertising agency. That summer, I went on a camping holiday with my parents in the south of France. One night, I went to a nightclub on the beach and I met a young Frenchman, and we fell in love.</a:t>
            </a:r>
            <a:endParaRPr lang="en-US" sz="1050" dirty="0"/>
          </a:p>
        </p:txBody>
      </p:sp>
      <p:sp>
        <p:nvSpPr>
          <p:cNvPr id="16" name="R1_lnA89"/>
          <p:cNvSpPr/>
          <p:nvPr/>
        </p:nvSpPr>
        <p:spPr>
          <a:xfrm>
            <a:off x="548640" y="2448900"/>
            <a:ext cx="5349240" cy="9306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1972, I was living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London. I was in my early twenties, and I was working for an advertising agency. That summer, I went on a camping holiday with my parents in the south of France. One night, I went to a nightclub on the beach and I met a young Frenchman, and we fell in love.</a:t>
            </a:r>
            <a:endParaRPr lang="en-US" sz="1050" dirty="0"/>
          </a:p>
        </p:txBody>
      </p:sp>
      <p:sp>
        <p:nvSpPr>
          <p:cNvPr id="17" name="ln_90"/>
          <p:cNvSpPr/>
          <p:nvPr/>
        </p:nvSpPr>
        <p:spPr>
          <a:xfrm>
            <a:off x="548640" y="3379595"/>
            <a:ext cx="5349240" cy="655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 got home, I immediately started looking for a job in Paris. He was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university there – he was studying medicine. In the end, I found a job as a secretary with UNESCO, and I went to live there.</a:t>
            </a:r>
            <a:endParaRPr lang="en-US" sz="1050" dirty="0"/>
          </a:p>
        </p:txBody>
      </p:sp>
      <p:sp>
        <p:nvSpPr>
          <p:cNvPr id="18" name="R2_lnA91"/>
          <p:cNvSpPr/>
          <p:nvPr/>
        </p:nvSpPr>
        <p:spPr>
          <a:xfrm>
            <a:off x="548640" y="3379595"/>
            <a:ext cx="5349240" cy="65528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 got home, I immediately started looking for a job in Paris. He was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university there – he was studying medicine. In the end, I found a job as a secretary with UNESCO, and I went to live there.</a:t>
            </a:r>
            <a:endParaRPr lang="en-US" sz="1050" dirty="0"/>
          </a:p>
        </p:txBody>
      </p:sp>
      <p:sp>
        <p:nvSpPr>
          <p:cNvPr id="19" name="ln_92"/>
          <p:cNvSpPr/>
          <p:nvPr/>
        </p:nvSpPr>
        <p:spPr>
          <a:xfrm>
            <a:off x="548640" y="4034881"/>
            <a:ext cx="5349240" cy="674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lived together for six years.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Sundays, we often went for a walk, and one of our favourite places was the botanical gardens. It had a zoo, and I often put some bread in my pocket to give to the animals.</a:t>
            </a:r>
            <a:endParaRPr lang="en-US" sz="1050" dirty="0"/>
          </a:p>
        </p:txBody>
      </p:sp>
      <p:sp>
        <p:nvSpPr>
          <p:cNvPr id="20" name="R3_lnA93"/>
          <p:cNvSpPr/>
          <p:nvPr/>
        </p:nvSpPr>
        <p:spPr>
          <a:xfrm>
            <a:off x="548640" y="4034881"/>
            <a:ext cx="5349240" cy="67427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lived together for six years.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On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Sundays, we often went for a walk, and one of our favourite places was the botanical gardens. It had a zoo, and I often put some bread in my pocket to give to the animals.</a:t>
            </a:r>
            <a:endParaRPr lang="en-US" sz="1050" dirty="0"/>
          </a:p>
        </p:txBody>
      </p:sp>
      <p:sp>
        <p:nvSpPr>
          <p:cNvPr id="21" name="cd_94"/>
          <p:cNvSpPr/>
          <p:nvPr/>
        </p:nvSpPr>
        <p:spPr>
          <a:xfrm>
            <a:off x="6263640" y="1417320"/>
            <a:ext cx="2651760" cy="786384"/>
          </a:xfrm>
          <a:prstGeom prst="roundRect">
            <a:avLst>
              <a:gd name="adj" fmla="val 16279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bkh_95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📍 at · in · on (use them more than once!)</a:t>
            </a:r>
            <a:endParaRPr lang="en-US" sz="950" dirty="0"/>
          </a:p>
        </p:txBody>
      </p:sp>
      <p:sp>
        <p:nvSpPr>
          <p:cNvPr id="23" name="bk_96"/>
          <p:cNvSpPr/>
          <p:nvPr/>
        </p:nvSpPr>
        <p:spPr>
          <a:xfrm>
            <a:off x="6373368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endParaRPr lang="en-US" sz="1050" dirty="0"/>
          </a:p>
        </p:txBody>
      </p:sp>
      <p:sp>
        <p:nvSpPr>
          <p:cNvPr id="24" name="bk_97"/>
          <p:cNvSpPr/>
          <p:nvPr/>
        </p:nvSpPr>
        <p:spPr>
          <a:xfrm>
            <a:off x="7208520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50" dirty="0"/>
          </a:p>
        </p:txBody>
      </p:sp>
      <p:sp>
        <p:nvSpPr>
          <p:cNvPr id="25" name="bk_98"/>
          <p:cNvSpPr/>
          <p:nvPr/>
        </p:nvSpPr>
        <p:spPr>
          <a:xfrm>
            <a:off x="8043672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50" dirty="0"/>
          </a:p>
        </p:txBody>
      </p:sp>
      <p:sp>
        <p:nvSpPr>
          <p:cNvPr id="26" name="pf_99"/>
          <p:cNvSpPr/>
          <p:nvPr/>
        </p:nvSpPr>
        <p:spPr>
          <a:xfrm rot="120000">
            <a:off x="7103015" y="2313432"/>
            <a:ext cx="973009" cy="1417320"/>
          </a:xfrm>
          <a:prstGeom prst="roundRect">
            <a:avLst>
              <a:gd name="adj" fmla="val 159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100" descr="/home/claude/lls-course/v2/cache/a2_2b_couple_jpg_212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7148735" y="2359152"/>
            <a:ext cx="881569" cy="1325880"/>
          </a:xfrm>
          <a:prstGeom prst="rect">
            <a:avLst/>
          </a:prstGeom>
        </p:spPr>
      </p:pic>
      <p:sp>
        <p:nvSpPr>
          <p:cNvPr id="28" name="cd_10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10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0" name="ih_10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1" name="il_104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my early twenties = 20–23 years old</a:t>
            </a:r>
            <a:endParaRPr lang="en-US" sz="7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in love = innamorarsi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07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2500" dirty="0"/>
          </a:p>
        </p:txBody>
      </p:sp>
      <p:pic>
        <p:nvPicPr>
          <p:cNvPr id="6" name="brP_10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0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rest of the story. Complete gap 4 (two words).</a:t>
            </a:r>
            <a:endParaRPr lang="en-US" sz="1250" dirty="0"/>
          </a:p>
        </p:txBody>
      </p:sp>
      <p:sp>
        <p:nvSpPr>
          <p:cNvPr id="8" name="insIT_11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resto della storia. Completa il 4 con at, in o on.</a:t>
            </a:r>
            <a:endParaRPr lang="en-US" sz="950" dirty="0"/>
          </a:p>
        </p:txBody>
      </p:sp>
      <p:sp>
        <p:nvSpPr>
          <p:cNvPr id="9" name="note_11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150" dirty="0"/>
          </a:p>
        </p:txBody>
      </p:sp>
      <p:pic>
        <p:nvPicPr>
          <p:cNvPr id="10" name="logo_1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Jane's story 2/2   ·   📖 SB p.16 · 1b, 2a · the full article</a:t>
            </a:r>
            <a:endParaRPr lang="en-US" sz="800" dirty="0"/>
          </a:p>
        </p:txBody>
      </p:sp>
      <p:sp>
        <p:nvSpPr>
          <p:cNvPr id="12" name="cd_114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115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Jane's story (part 2)</a:t>
            </a:r>
            <a:endParaRPr lang="en-US" sz="1700" dirty="0"/>
          </a:p>
        </p:txBody>
      </p:sp>
      <p:sp>
        <p:nvSpPr>
          <p:cNvPr id="14" name="ln_116"/>
          <p:cNvSpPr/>
          <p:nvPr/>
        </p:nvSpPr>
        <p:spPr>
          <a:xfrm>
            <a:off x="548640" y="1920240"/>
            <a:ext cx="5349240" cy="110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walking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gardens one Sunday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autumn when we stopped because a lot of noise was coming from one of the trees. There was an owl there, maybe escaped from the zoo, and some little birds were attacking it. I also noticed a man with a camera. When we started walking again, I said 'Why was that man taking photographs of us?'.</a:t>
            </a:r>
            <a:endParaRPr lang="en-US" sz="1150" dirty="0"/>
          </a:p>
        </p:txBody>
      </p:sp>
      <p:sp>
        <p:nvSpPr>
          <p:cNvPr id="15" name="R1_lnA117"/>
          <p:cNvSpPr/>
          <p:nvPr/>
        </p:nvSpPr>
        <p:spPr>
          <a:xfrm>
            <a:off x="548640" y="1920240"/>
            <a:ext cx="5349240" cy="110480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walking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gardens one Sunday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autumn when we stopped because a lot of noise was coming from one of the trees. There was an owl there, maybe escaped from the zoo, and some little birds were attacking it. I also noticed a man with a camera. When we started walking again, I said 'Why was that man taking photographs of us?'.</a:t>
            </a:r>
            <a:endParaRPr lang="en-US" sz="1150" dirty="0"/>
          </a:p>
        </p:txBody>
      </p:sp>
      <p:sp>
        <p:nvSpPr>
          <p:cNvPr id="16" name="ln_118"/>
          <p:cNvSpPr/>
          <p:nvPr/>
        </p:nvSpPr>
        <p:spPr>
          <a:xfrm>
            <a:off x="548640" y="3025045"/>
            <a:ext cx="5349240" cy="1272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now know that Cartier-Bresson often waited in parks in Paris for the perfect photo opportunity. The following year, one of my boyfriend's friends saw the photo in a magazine. Before I returned to London, I phoned the magazine and I got Cartier-Bresson's phone number. I was very shy, but I called him. He was very friendly, and he sent me a copy. Years later I met him and he signed the photo for me.</a:t>
            </a:r>
            <a:endParaRPr lang="en-US" sz="1150" dirty="0"/>
          </a:p>
        </p:txBody>
      </p:sp>
      <p:sp>
        <p:nvSpPr>
          <p:cNvPr id="17" name="ln_119"/>
          <p:cNvSpPr/>
          <p:nvPr/>
        </p:nvSpPr>
        <p:spPr>
          <a:xfrm>
            <a:off x="548640" y="4297628"/>
            <a:ext cx="5349240" cy="411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 this picture. It was a happy time for me. And although my French boyfriend and I broke up in the end, we're still in touch.</a:t>
            </a:r>
            <a:endParaRPr lang="en-US" sz="1150" dirty="0"/>
          </a:p>
        </p:txBody>
      </p:sp>
      <p:sp>
        <p:nvSpPr>
          <p:cNvPr id="18" name="cd_120"/>
          <p:cNvSpPr/>
          <p:nvPr/>
        </p:nvSpPr>
        <p:spPr>
          <a:xfrm>
            <a:off x="6263640" y="1417320"/>
            <a:ext cx="2651760" cy="786384"/>
          </a:xfrm>
          <a:prstGeom prst="roundRect">
            <a:avLst>
              <a:gd name="adj" fmla="val 16279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bkh_121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📍 at · in · on</a:t>
            </a:r>
            <a:endParaRPr lang="en-US" sz="1100" dirty="0"/>
          </a:p>
        </p:txBody>
      </p:sp>
      <p:sp>
        <p:nvSpPr>
          <p:cNvPr id="20" name="bk_122"/>
          <p:cNvSpPr/>
          <p:nvPr/>
        </p:nvSpPr>
        <p:spPr>
          <a:xfrm>
            <a:off x="6373368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endParaRPr lang="en-US" sz="1050" dirty="0"/>
          </a:p>
        </p:txBody>
      </p:sp>
      <p:sp>
        <p:nvSpPr>
          <p:cNvPr id="21" name="bk_123"/>
          <p:cNvSpPr/>
          <p:nvPr/>
        </p:nvSpPr>
        <p:spPr>
          <a:xfrm>
            <a:off x="7208520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50" dirty="0"/>
          </a:p>
        </p:txBody>
      </p:sp>
      <p:sp>
        <p:nvSpPr>
          <p:cNvPr id="22" name="bk_124"/>
          <p:cNvSpPr/>
          <p:nvPr/>
        </p:nvSpPr>
        <p:spPr>
          <a:xfrm>
            <a:off x="8043672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50" dirty="0"/>
          </a:p>
        </p:txBody>
      </p:sp>
      <p:sp>
        <p:nvSpPr>
          <p:cNvPr id="23" name="pf_125"/>
          <p:cNvSpPr/>
          <p:nvPr/>
        </p:nvSpPr>
        <p:spPr>
          <a:xfrm rot="120000">
            <a:off x="7103015" y="2313432"/>
            <a:ext cx="973009" cy="1417320"/>
          </a:xfrm>
          <a:prstGeom prst="roundRect">
            <a:avLst>
              <a:gd name="adj" fmla="val 159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126" descr="/home/claude/lls-course/v2/cache/a2_2b_couple_jpg_212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7148735" y="2359152"/>
            <a:ext cx="881569" cy="1325880"/>
          </a:xfrm>
          <a:prstGeom prst="rect">
            <a:avLst/>
          </a:prstGeom>
        </p:spPr>
      </p:pic>
      <p:sp>
        <p:nvSpPr>
          <p:cNvPr id="25" name="cd_12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12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12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130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owl = un gufo</a:t>
            </a:r>
            <a:endParaRPr lang="en-US" sz="7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break up = lasciarsi · be in touch = sentirsi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3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33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is the photo special?</a:t>
            </a:r>
            <a:endParaRPr lang="en-US" sz="2500" dirty="0"/>
          </a:p>
        </p:txBody>
      </p:sp>
      <p:pic>
        <p:nvPicPr>
          <p:cNvPr id="6" name="brP_13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135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Jane's story again. Answer the questions.</a:t>
            </a:r>
            <a:endParaRPr lang="en-US" sz="1250" dirty="0"/>
          </a:p>
        </p:txBody>
      </p:sp>
      <p:sp>
        <p:nvSpPr>
          <p:cNvPr id="8" name="insIT_13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Rileggi la storia di Jane. Rispondi alle domande.</a:t>
            </a:r>
            <a:endParaRPr lang="en-US" sz="950" dirty="0"/>
          </a:p>
        </p:txBody>
      </p:sp>
      <p:sp>
        <p:nvSpPr>
          <p:cNvPr id="9" name="note_13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🔍 FIND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TROVA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Guided discovery</a:t>
            </a:r>
            <a:endParaRPr lang="en-US" sz="1250" dirty="0"/>
          </a:p>
        </p:txBody>
      </p:sp>
      <p:pic>
        <p:nvPicPr>
          <p:cNvPr id="10" name="logo_1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detail   ·   📖 SB p.16 · 1c (answers: TG)</a:t>
            </a:r>
            <a:endParaRPr lang="en-US" sz="800" dirty="0"/>
          </a:p>
        </p:txBody>
      </p:sp>
      <p:sp>
        <p:nvSpPr>
          <p:cNvPr id="12" name="cd_140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4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14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143"/>
          <p:cNvSpPr/>
          <p:nvPr/>
        </p:nvSpPr>
        <p:spPr>
          <a:xfrm>
            <a:off x="886968" y="1911096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was Jane living in 1972? → In London.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(The story is on slides 4 and 5.)</a:t>
            </a:r>
            <a:endParaRPr lang="en-US" sz="950" dirty="0"/>
          </a:p>
        </p:txBody>
      </p:sp>
      <p:sp>
        <p:nvSpPr>
          <p:cNvPr id="16" name="bd_144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q_145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Jane's life at the beginning?</a:t>
            </a:r>
            <a:endParaRPr lang="en-US" sz="1150" dirty="0"/>
          </a:p>
        </p:txBody>
      </p:sp>
      <p:sp>
        <p:nvSpPr>
          <p:cNvPr id="18" name="R1_chip146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London, early twenties, advertising agency</a:t>
            </a:r>
            <a:endParaRPr lang="en-US" sz="1050" dirty="0"/>
          </a:p>
        </p:txBody>
      </p:sp>
      <p:sp>
        <p:nvSpPr>
          <p:cNvPr id="19" name="bd_147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q_148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she meet the Frenchman?</a:t>
            </a:r>
            <a:endParaRPr lang="en-US" sz="1150" dirty="0"/>
          </a:p>
        </p:txBody>
      </p:sp>
      <p:sp>
        <p:nvSpPr>
          <p:cNvPr id="21" name="R2_chip149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a nightclub on a beach in France</a:t>
            </a:r>
            <a:endParaRPr lang="en-US" sz="1050" dirty="0"/>
          </a:p>
        </p:txBody>
      </p:sp>
      <p:sp>
        <p:nvSpPr>
          <p:cNvPr id="22" name="bd_150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q_151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they often do on Sundays?</a:t>
            </a:r>
            <a:endParaRPr lang="en-US" sz="1150" dirty="0"/>
          </a:p>
        </p:txBody>
      </p:sp>
      <p:sp>
        <p:nvSpPr>
          <p:cNvPr id="24" name="R3_chip152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went for a walk.</a:t>
            </a:r>
            <a:endParaRPr lang="en-US" sz="1050" dirty="0"/>
          </a:p>
        </p:txBody>
      </p:sp>
      <p:sp>
        <p:nvSpPr>
          <p:cNvPr id="25" name="bd_153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q_154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they stop in the gardens?</a:t>
            </a:r>
            <a:endParaRPr lang="en-US" sz="1150" dirty="0"/>
          </a:p>
        </p:txBody>
      </p:sp>
      <p:sp>
        <p:nvSpPr>
          <p:cNvPr id="27" name="R4_chip155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noise from a tree: birds attacking an owl</a:t>
            </a:r>
            <a:endParaRPr lang="en-US" sz="1050" dirty="0"/>
          </a:p>
        </p:txBody>
      </p:sp>
      <p:sp>
        <p:nvSpPr>
          <p:cNvPr id="28" name="bd_156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q_157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did she get a copy?</a:t>
            </a:r>
            <a:endParaRPr lang="en-US" sz="1150" dirty="0"/>
          </a:p>
        </p:txBody>
      </p:sp>
      <p:sp>
        <p:nvSpPr>
          <p:cNvPr id="30" name="R5_chip158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called Cartier-Bresson. He sent it.</a:t>
            </a:r>
            <a:endParaRPr lang="en-US" sz="1050" dirty="0"/>
          </a:p>
        </p:txBody>
      </p:sp>
      <p:sp>
        <p:nvSpPr>
          <p:cNvPr id="31" name="bd_159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q_160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the photo important to her?</a:t>
            </a:r>
            <a:endParaRPr lang="en-US" sz="1150" dirty="0"/>
          </a:p>
        </p:txBody>
      </p:sp>
      <p:sp>
        <p:nvSpPr>
          <p:cNvPr id="33" name="R6_chip161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 happy time for her.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16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at, in, on</a:t>
            </a:r>
            <a:endParaRPr lang="en-US" sz="2500" dirty="0"/>
          </a:p>
        </p:txBody>
      </p:sp>
      <p:pic>
        <p:nvPicPr>
          <p:cNvPr id="6" name="brP_1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166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at, in or on? Look at the examples. What's the rule?</a:t>
            </a:r>
            <a:endParaRPr lang="en-US" sz="1250" dirty="0"/>
          </a:p>
        </p:txBody>
      </p:sp>
      <p:sp>
        <p:nvSpPr>
          <p:cNvPr id="8" name="insIT_1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at, in o on? Guarda gli esempi. Qual è la regola?</a:t>
            </a:r>
            <a:endParaRPr lang="en-US" sz="950" dirty="0"/>
          </a:p>
        </p:txBody>
      </p:sp>
      <p:sp>
        <p:nvSpPr>
          <p:cNvPr id="9" name="note_16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Guided discovery</a:t>
            </a:r>
            <a:endParaRPr lang="en-US" sz="1250" dirty="0"/>
          </a:p>
        </p:txBody>
      </p:sp>
      <p:pic>
        <p:nvPicPr>
          <p:cNvPr id="10" name="logo_1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· prepositions   ·   📖 Vocabulary Bank Prepositions p.153 · audio 2.10</a:t>
            </a:r>
            <a:endParaRPr lang="en-US" sz="800" dirty="0"/>
          </a:p>
        </p:txBody>
      </p:sp>
      <p:sp>
        <p:nvSpPr>
          <p:cNvPr id="12" name="ah_171"/>
          <p:cNvSpPr/>
          <p:nvPr/>
        </p:nvSpPr>
        <p:spPr>
          <a:xfrm>
            <a:off x="367588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2.10   ▶ normal</a:t>
            </a:r>
            <a:endParaRPr lang="en-US" sz="10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4" name="ah_17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5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6" name="cd_173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174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</a:t>
            </a:r>
            <a:endParaRPr lang="en-US" sz="1250" dirty="0"/>
          </a:p>
        </p:txBody>
      </p:sp>
      <p:sp>
        <p:nvSpPr>
          <p:cNvPr id="18" name="pf_175"/>
          <p:cNvSpPr/>
          <p:nvPr/>
        </p:nvSpPr>
        <p:spPr>
          <a:xfrm>
            <a:off x="1144314" y="1938528"/>
            <a:ext cx="1109892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76" descr="/home/claude/lls-course/v2/cache/a2_2b_anya_b_jpg_245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90034" y="1984248"/>
            <a:ext cx="1018452" cy="868680"/>
          </a:xfrm>
          <a:prstGeom prst="rect">
            <a:avLst/>
          </a:prstGeom>
        </p:spPr>
      </p:pic>
      <p:sp>
        <p:nvSpPr>
          <p:cNvPr id="20" name="ru_177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places · long time</a:t>
            </a:r>
            <a:endParaRPr lang="en-US" sz="1050" dirty="0"/>
          </a:p>
        </p:txBody>
      </p:sp>
      <p:sp>
        <p:nvSpPr>
          <p:cNvPr id="21" name="R1_rx178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Rome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kitchen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July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autumn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1972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morning</a:t>
            </a:r>
            <a:endParaRPr lang="en-US" sz="1050" dirty="0"/>
          </a:p>
        </p:txBody>
      </p:sp>
      <p:sp>
        <p:nvSpPr>
          <p:cNvPr id="22" name="R1_ri179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città, stanze, mesi, stagioni, anni</a:t>
            </a:r>
            <a:endParaRPr lang="en-US" sz="900" dirty="0"/>
          </a:p>
        </p:txBody>
      </p:sp>
      <p:sp>
        <p:nvSpPr>
          <p:cNvPr id="23" name="cd_180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181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</a:t>
            </a:r>
            <a:endParaRPr lang="en-US" sz="1250" dirty="0"/>
          </a:p>
        </p:txBody>
      </p:sp>
      <p:sp>
        <p:nvSpPr>
          <p:cNvPr id="25" name="pf_182"/>
          <p:cNvSpPr/>
          <p:nvPr/>
        </p:nvSpPr>
        <p:spPr>
          <a:xfrm>
            <a:off x="4036169" y="1938528"/>
            <a:ext cx="1117381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183" descr="/home/claude/lls-course/v2/cache/a2_2b_anya_c_jpg_247x209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81889" y="1984248"/>
            <a:ext cx="1025941" cy="868680"/>
          </a:xfrm>
          <a:prstGeom prst="rect">
            <a:avLst/>
          </a:prstGeom>
        </p:spPr>
      </p:pic>
      <p:sp>
        <p:nvSpPr>
          <p:cNvPr id="27" name="ru_184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days · surfaces · transport</a:t>
            </a:r>
            <a:endParaRPr lang="en-US" sz="1050" dirty="0"/>
          </a:p>
        </p:txBody>
      </p:sp>
      <p:sp>
        <p:nvSpPr>
          <p:cNvPr id="28" name="R2_rx185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Sunday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1st March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beach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wall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bus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train</a:t>
            </a:r>
            <a:endParaRPr lang="en-US" sz="1050" dirty="0"/>
          </a:p>
        </p:txBody>
      </p:sp>
      <p:sp>
        <p:nvSpPr>
          <p:cNvPr id="29" name="R2_ri186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giorni, date, superfici, mezzi</a:t>
            </a:r>
            <a:endParaRPr lang="en-US" sz="900" dirty="0"/>
          </a:p>
        </p:txBody>
      </p:sp>
      <p:sp>
        <p:nvSpPr>
          <p:cNvPr id="30" name="cd_187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188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</a:t>
            </a:r>
            <a:endParaRPr lang="en-US" sz="1250" dirty="0"/>
          </a:p>
        </p:txBody>
      </p:sp>
      <p:sp>
        <p:nvSpPr>
          <p:cNvPr id="32" name="pf_189"/>
          <p:cNvSpPr/>
          <p:nvPr/>
        </p:nvSpPr>
        <p:spPr>
          <a:xfrm>
            <a:off x="6946747" y="1938528"/>
            <a:ext cx="1087427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190" descr="/home/claude/lls-course/v2/cache/a2_2b_anya_a_jpg_240x209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92467" y="1984248"/>
            <a:ext cx="995987" cy="868680"/>
          </a:xfrm>
          <a:prstGeom prst="rect">
            <a:avLst/>
          </a:prstGeom>
        </p:spPr>
      </p:pic>
      <p:sp>
        <p:nvSpPr>
          <p:cNvPr id="34" name="ru_191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points: places and times</a:t>
            </a:r>
            <a:endParaRPr lang="en-US" sz="1050" dirty="0"/>
          </a:p>
        </p:txBody>
      </p:sp>
      <p:sp>
        <p:nvSpPr>
          <p:cNvPr id="35" name="R3_rx192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home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work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party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6 o'clock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night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weekend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Christmas</a:t>
            </a:r>
            <a:endParaRPr lang="en-US" sz="1050" dirty="0"/>
          </a:p>
        </p:txBody>
      </p:sp>
      <p:sp>
        <p:nvSpPr>
          <p:cNvPr id="36" name="R3_ri193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luoghi precisi, orari, feste</a:t>
            </a:r>
            <a:endParaRPr lang="en-US" sz="900" dirty="0"/>
          </a:p>
        </p:txBody>
      </p:sp>
      <p:sp>
        <p:nvSpPr>
          <p:cNvPr id="37" name="R4_wc194"/>
          <p:cNvSpPr/>
          <p:nvPr/>
        </p:nvSpPr>
        <p:spPr>
          <a:xfrm>
            <a:off x="320040" y="4544568"/>
            <a:ext cx="3172968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R4_w195"/>
          <p:cNvSpPr/>
          <p:nvPr/>
        </p:nvSpPr>
        <p:spPr>
          <a:xfrm>
            <a:off x="457200" y="454456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in the morning / afternoon / evening  BUT  at night   ·   at university (= studying there)   ·   2019 = twenty nineteen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audio>
              <p:cMediaNode vol="80000">
                <p:cTn id="4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  <p:audio>
              <p:cMediaNode vol="80000">
                <p:cTn id="4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98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at, in or on?</a:t>
            </a:r>
            <a:endParaRPr lang="en-US" sz="2500" dirty="0"/>
          </a:p>
        </p:txBody>
      </p:sp>
      <p:pic>
        <p:nvPicPr>
          <p:cNvPr id="6" name="brP_19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200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at, in or on? Be quick!</a:t>
            </a:r>
            <a:endParaRPr lang="en-US" sz="1250" dirty="0"/>
          </a:p>
        </p:txBody>
      </p:sp>
      <p:sp>
        <p:nvSpPr>
          <p:cNvPr id="8" name="insIT_20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at, in o on? Veloci!</a:t>
            </a:r>
            <a:endParaRPr lang="en-US" sz="950" dirty="0"/>
          </a:p>
        </p:txBody>
      </p:sp>
      <p:sp>
        <p:nvSpPr>
          <p:cNvPr id="9" name="note_20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Communicative game</a:t>
            </a:r>
            <a:endParaRPr lang="en-US" sz="1250" dirty="0"/>
          </a:p>
        </p:txBody>
      </p:sp>
      <p:pic>
        <p:nvPicPr>
          <p:cNvPr id="10" name="logo_2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game   ·   📖 VB p.153 · Activation</a:t>
            </a:r>
            <a:endParaRPr lang="en-US" sz="800" dirty="0"/>
          </a:p>
        </p:txBody>
      </p:sp>
      <p:sp>
        <p:nvSpPr>
          <p:cNvPr id="12" name="cd_205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0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20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208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word.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parola.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preposition + the word.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preposizione + la parola.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right answer = 1 point.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Prima risposta giusta = 1 punto.</a:t>
            </a:r>
            <a:endParaRPr lang="en-US" sz="1050" dirty="0"/>
          </a:p>
        </p:txBody>
      </p:sp>
      <p:sp>
        <p:nvSpPr>
          <p:cNvPr id="16" name="st_209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210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211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Christmas</a:t>
            </a:r>
            <a:endParaRPr lang="en-US" sz="1250" dirty="0"/>
          </a:p>
        </p:txBody>
      </p:sp>
      <p:sp>
        <p:nvSpPr>
          <p:cNvPr id="19" name="chip_212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Christmas</a:t>
            </a:r>
            <a:endParaRPr lang="en-US" sz="1200" dirty="0"/>
          </a:p>
        </p:txBody>
      </p:sp>
      <p:sp>
        <p:nvSpPr>
          <p:cNvPr id="20" name="bd_213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14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July</a:t>
            </a:r>
            <a:endParaRPr lang="en-US" sz="1250" dirty="0"/>
          </a:p>
        </p:txBody>
      </p:sp>
      <p:sp>
        <p:nvSpPr>
          <p:cNvPr id="22" name="R1_chip215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July</a:t>
            </a:r>
            <a:endParaRPr lang="en-US" sz="1200" dirty="0"/>
          </a:p>
        </p:txBody>
      </p:sp>
      <p:sp>
        <p:nvSpPr>
          <p:cNvPr id="23" name="bd_216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17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Monday morning</a:t>
            </a:r>
            <a:endParaRPr lang="en-US" sz="1250" dirty="0"/>
          </a:p>
        </p:txBody>
      </p:sp>
      <p:sp>
        <p:nvSpPr>
          <p:cNvPr id="25" name="R2_chip218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Monday morning</a:t>
            </a:r>
            <a:endParaRPr lang="en-US" sz="1200" dirty="0"/>
          </a:p>
        </p:txBody>
      </p:sp>
      <p:sp>
        <p:nvSpPr>
          <p:cNvPr id="26" name="bd_219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20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airport</a:t>
            </a:r>
            <a:endParaRPr lang="en-US" sz="1250" dirty="0"/>
          </a:p>
        </p:txBody>
      </p:sp>
      <p:sp>
        <p:nvSpPr>
          <p:cNvPr id="28" name="R3_chip221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airport</a:t>
            </a:r>
            <a:endParaRPr lang="en-US" sz="1200" dirty="0"/>
          </a:p>
        </p:txBody>
      </p:sp>
      <p:sp>
        <p:nvSpPr>
          <p:cNvPr id="29" name="bd_222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23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 bus</a:t>
            </a:r>
            <a:endParaRPr lang="en-US" sz="1250" dirty="0"/>
          </a:p>
        </p:txBody>
      </p:sp>
      <p:sp>
        <p:nvSpPr>
          <p:cNvPr id="31" name="R4_chip224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a bus</a:t>
            </a:r>
            <a:endParaRPr lang="en-US" sz="1200" dirty="0"/>
          </a:p>
        </p:txBody>
      </p:sp>
      <p:sp>
        <p:nvSpPr>
          <p:cNvPr id="32" name="bd_225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26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2019</a:t>
            </a:r>
            <a:endParaRPr lang="en-US" sz="1250" dirty="0"/>
          </a:p>
        </p:txBody>
      </p:sp>
      <p:sp>
        <p:nvSpPr>
          <p:cNvPr id="34" name="R5_chip227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2019</a:t>
            </a:r>
            <a:endParaRPr lang="en-US" sz="1200" dirty="0"/>
          </a:p>
        </p:txBody>
      </p:sp>
      <p:sp>
        <p:nvSpPr>
          <p:cNvPr id="35" name="bd_228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29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weekend</a:t>
            </a:r>
            <a:endParaRPr lang="en-US" sz="1250" dirty="0"/>
          </a:p>
        </p:txBody>
      </p:sp>
      <p:sp>
        <p:nvSpPr>
          <p:cNvPr id="37" name="R6_chip230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weekend</a:t>
            </a:r>
            <a:endParaRPr lang="en-US" sz="1200" dirty="0"/>
          </a:p>
        </p:txBody>
      </p:sp>
      <p:sp>
        <p:nvSpPr>
          <p:cNvPr id="38" name="bd_231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32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kitchen</a:t>
            </a:r>
            <a:endParaRPr lang="en-US" sz="1250" dirty="0"/>
          </a:p>
        </p:txBody>
      </p:sp>
      <p:sp>
        <p:nvSpPr>
          <p:cNvPr id="40" name="R7_chip233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the kitchen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3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was happening?</a:t>
            </a:r>
            <a:endParaRPr lang="en-US" sz="2300" dirty="0"/>
          </a:p>
        </p:txBody>
      </p:sp>
      <p:pic>
        <p:nvPicPr>
          <p:cNvPr id="6" name="brP_2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238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sentences from the story. Which use?</a:t>
            </a:r>
            <a:endParaRPr lang="en-US" sz="1250" dirty="0"/>
          </a:p>
        </p:txBody>
      </p:sp>
      <p:sp>
        <p:nvSpPr>
          <p:cNvPr id="8" name="insIT_2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frasi della storia. Quale uso?</a:t>
            </a:r>
            <a:endParaRPr lang="en-US" sz="950" dirty="0"/>
          </a:p>
        </p:txBody>
      </p:sp>
      <p:sp>
        <p:nvSpPr>
          <p:cNvPr id="9" name="note_24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50" dirty="0"/>
          </a:p>
        </p:txBody>
      </p:sp>
      <p:pic>
        <p:nvPicPr>
          <p:cNvPr id="10" name="logo_2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past continuous   ·   📖 SB p.17 · 3a (answers: TG)</a:t>
            </a:r>
            <a:endParaRPr lang="en-US" sz="800" dirty="0"/>
          </a:p>
        </p:txBody>
      </p:sp>
      <p:sp>
        <p:nvSpPr>
          <p:cNvPr id="12" name="cd_243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4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24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uses</a:t>
            </a:r>
            <a:endParaRPr lang="en-US" sz="1300" dirty="0"/>
          </a:p>
        </p:txBody>
      </p:sp>
      <p:sp>
        <p:nvSpPr>
          <p:cNvPr id="15" name="lg_246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050" dirty="0"/>
          </a:p>
        </p:txBody>
      </p:sp>
      <p:sp>
        <p:nvSpPr>
          <p:cNvPr id="16" name="lg_247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050" dirty="0"/>
          </a:p>
        </p:txBody>
      </p:sp>
      <p:sp>
        <p:nvSpPr>
          <p:cNvPr id="17" name="sq_248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1972, I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living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London.</a:t>
            </a:r>
            <a:endParaRPr lang="en-US" sz="1200" dirty="0"/>
          </a:p>
        </p:txBody>
      </p:sp>
      <p:sp>
        <p:nvSpPr>
          <p:cNvPr id="18" name="R1_tag249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150" dirty="0"/>
          </a:p>
        </p:txBody>
      </p:sp>
      <p:sp>
        <p:nvSpPr>
          <p:cNvPr id="19" name="sq_250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working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an advertising agency.</a:t>
            </a:r>
            <a:endParaRPr lang="en-US" sz="1200" dirty="0"/>
          </a:p>
        </p:txBody>
      </p:sp>
      <p:sp>
        <p:nvSpPr>
          <p:cNvPr id="20" name="R2_tag251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150" dirty="0"/>
          </a:p>
        </p:txBody>
      </p:sp>
      <p:sp>
        <p:nvSpPr>
          <p:cNvPr id="21" name="sq_252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gardens when we stopped.</a:t>
            </a:r>
            <a:endParaRPr lang="en-US" sz="1200" dirty="0"/>
          </a:p>
        </p:txBody>
      </p:sp>
      <p:sp>
        <p:nvSpPr>
          <p:cNvPr id="22" name="R3_tag253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3" name="sq_254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 little birds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attacking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owl.</a:t>
            </a:r>
            <a:endParaRPr lang="en-US" sz="1200" dirty="0"/>
          </a:p>
        </p:txBody>
      </p:sp>
      <p:sp>
        <p:nvSpPr>
          <p:cNvPr id="24" name="R4_tag255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5" name="sq_256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'Why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that man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photos of us?'</a:t>
            </a:r>
            <a:endParaRPr lang="en-US" sz="1200" dirty="0"/>
          </a:p>
        </p:txBody>
      </p:sp>
      <p:sp>
        <p:nvSpPr>
          <p:cNvPr id="26" name="R5_tag257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7" name="pf_258"/>
          <p:cNvSpPr/>
          <p:nvPr/>
        </p:nvSpPr>
        <p:spPr>
          <a:xfrm rot="-120000">
            <a:off x="1319071" y="3703320"/>
            <a:ext cx="699419" cy="1005840"/>
          </a:xfrm>
          <a:prstGeom prst="roundRect">
            <a:avLst>
              <a:gd name="adj" fmla="val 222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259" descr="/home/claude/lls-course/v2/cache/a2_2b_couple_jpg_146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364791" y="3749040"/>
            <a:ext cx="607979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6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6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was walking when…</a:t>
            </a:r>
            <a:endParaRPr lang="en-US" sz="2400" dirty="0"/>
          </a:p>
        </p:txBody>
      </p:sp>
      <p:pic>
        <p:nvPicPr>
          <p:cNvPr id="6" name="brP_26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64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we make it?</a:t>
            </a:r>
            <a:endParaRPr lang="en-US" sz="1250" dirty="0"/>
          </a:p>
        </p:txBody>
      </p:sp>
      <p:sp>
        <p:nvSpPr>
          <p:cNvPr id="8" name="insIT_26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si forma?</a:t>
            </a:r>
            <a:endParaRPr lang="en-US" sz="950" dirty="0"/>
          </a:p>
        </p:txBody>
      </p:sp>
      <p:sp>
        <p:nvSpPr>
          <p:cNvPr id="9" name="note_26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26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past continuous   ·   📖 Grammar Bank 2B p.128 · audio 2.11, 2.12 (play from the book)</a:t>
            </a:r>
            <a:endParaRPr lang="en-US" sz="800" dirty="0"/>
          </a:p>
        </p:txBody>
      </p:sp>
      <p:sp>
        <p:nvSpPr>
          <p:cNvPr id="12" name="cd_269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270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</a:t>
            </a:r>
            <a:endParaRPr lang="en-US" sz="1250" dirty="0"/>
          </a:p>
        </p:txBody>
      </p:sp>
      <p:sp>
        <p:nvSpPr>
          <p:cNvPr id="14" name="pf_271"/>
          <p:cNvSpPr/>
          <p:nvPr/>
        </p:nvSpPr>
        <p:spPr>
          <a:xfrm>
            <a:off x="1002800" y="1938528"/>
            <a:ext cx="669020" cy="960120"/>
          </a:xfrm>
          <a:prstGeom prst="roundRect">
            <a:avLst>
              <a:gd name="adj" fmla="val 23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72" descr="/home/claude/lls-course/v2/cache/a2_2b_couple_jpg_13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520" y="1984248"/>
            <a:ext cx="577580" cy="868680"/>
          </a:xfrm>
          <a:prstGeom prst="rect">
            <a:avLst/>
          </a:prstGeom>
        </p:spPr>
      </p:pic>
      <p:sp>
        <p:nvSpPr>
          <p:cNvPr id="16" name="ru_273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+ -ing</a:t>
            </a:r>
            <a:endParaRPr lang="en-US" sz="1050" dirty="0"/>
          </a:p>
        </p:txBody>
      </p:sp>
      <p:sp>
        <p:nvSpPr>
          <p:cNvPr id="17" name="R1_rx274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living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London.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R1_ri275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ero / stavo + -ando</a:t>
            </a:r>
            <a:endParaRPr lang="en-US" sz="900" dirty="0"/>
          </a:p>
        </p:txBody>
      </p:sp>
      <p:sp>
        <p:nvSpPr>
          <p:cNvPr id="19" name="cd_276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277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−</a:t>
            </a:r>
            <a:endParaRPr lang="en-US" sz="1250" dirty="0"/>
          </a:p>
        </p:txBody>
      </p:sp>
      <p:sp>
        <p:nvSpPr>
          <p:cNvPr id="21" name="pf_278"/>
          <p:cNvSpPr/>
          <p:nvPr/>
        </p:nvSpPr>
        <p:spPr>
          <a:xfrm>
            <a:off x="2956560" y="1938528"/>
            <a:ext cx="1104900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279" descr="/home/claude/lls-course/v2/cache/a2_2b_anya_d_jpg_244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2280" y="1984248"/>
            <a:ext cx="1013460" cy="868680"/>
          </a:xfrm>
          <a:prstGeom prst="rect">
            <a:avLst/>
          </a:prstGeom>
        </p:spPr>
      </p:pic>
      <p:sp>
        <p:nvSpPr>
          <p:cNvPr id="23" name="ru_280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wasn't / weren't + -ing</a:t>
            </a:r>
            <a:endParaRPr lang="en-US" sz="1050" dirty="0"/>
          </a:p>
        </p:txBody>
      </p:sp>
      <p:sp>
        <p:nvSpPr>
          <p:cNvPr id="24" name="R2_rx281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wasn't working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weren't listening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R2_ri282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stavo…</a:t>
            </a:r>
            <a:endParaRPr lang="en-US" sz="900" dirty="0"/>
          </a:p>
        </p:txBody>
      </p:sp>
      <p:sp>
        <p:nvSpPr>
          <p:cNvPr id="26" name="cd_283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rh_284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50" dirty="0"/>
          </a:p>
        </p:txBody>
      </p:sp>
      <p:sp>
        <p:nvSpPr>
          <p:cNvPr id="28" name="pf_285"/>
          <p:cNvSpPr/>
          <p:nvPr/>
        </p:nvSpPr>
        <p:spPr>
          <a:xfrm>
            <a:off x="5113020" y="1938528"/>
            <a:ext cx="1135380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286" descr="/home/claude/lls-course/v2/cache/a2_2b_anya_f_jpg_251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8740" y="1984248"/>
            <a:ext cx="1043940" cy="868680"/>
          </a:xfrm>
          <a:prstGeom prst="rect">
            <a:avLst/>
          </a:prstGeom>
        </p:spPr>
      </p:pic>
      <p:sp>
        <p:nvSpPr>
          <p:cNvPr id="30" name="ru_287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+ person + -ing?</a:t>
            </a:r>
            <a:endParaRPr lang="en-US" sz="1050" dirty="0"/>
          </a:p>
        </p:txBody>
      </p:sp>
      <p:sp>
        <p:nvSpPr>
          <p:cNvPr id="31" name="R3_rx288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– Yes,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32" name="R3_ri289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stavi facendo?</a:t>
            </a:r>
            <a:endParaRPr lang="en-US" sz="900" dirty="0"/>
          </a:p>
        </p:txBody>
      </p:sp>
      <p:sp>
        <p:nvSpPr>
          <p:cNvPr id="33" name="cd_290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h_291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 / while</a:t>
            </a:r>
            <a:endParaRPr lang="en-US" sz="1250" dirty="0"/>
          </a:p>
        </p:txBody>
      </p:sp>
      <p:sp>
        <p:nvSpPr>
          <p:cNvPr id="35" name="pf_292"/>
          <p:cNvSpPr/>
          <p:nvPr/>
        </p:nvSpPr>
        <p:spPr>
          <a:xfrm>
            <a:off x="7293719" y="1938528"/>
            <a:ext cx="1117381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6" name="ph_293" descr="/home/claude/lls-course/v2/cache/a2_2b_anya_c_jpg_247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9439" y="1984248"/>
            <a:ext cx="1025941" cy="868680"/>
          </a:xfrm>
          <a:prstGeom prst="rect">
            <a:avLst/>
          </a:prstGeom>
        </p:spPr>
      </p:pic>
      <p:sp>
        <p:nvSpPr>
          <p:cNvPr id="37" name="ru_294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long action + short action</a:t>
            </a:r>
            <a:endParaRPr lang="en-US" sz="1050" dirty="0"/>
          </a:p>
        </p:txBody>
      </p:sp>
      <p:sp>
        <p:nvSpPr>
          <p:cNvPr id="38" name="R4_rx295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 when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owl.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the phone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39" name="R4_ri296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azione lunga (continuous) + breve (simple)</a:t>
            </a:r>
            <a:endParaRPr lang="en-US" sz="750" dirty="0"/>
          </a:p>
        </p:txBody>
      </p:sp>
      <p:sp>
        <p:nvSpPr>
          <p:cNvPr id="40" name="R5_wc297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R5_w298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When I was arriving, they were eating → ✓ When I arrived, they were eating (the short action = past simple)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01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Luca's terrible Sunday</a:t>
            </a:r>
            <a:endParaRPr lang="en-US" sz="2500" dirty="0"/>
          </a:p>
        </p:txBody>
      </p:sp>
      <p:pic>
        <p:nvPicPr>
          <p:cNvPr id="6" name="brP_3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0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0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30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3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class story (TPRS)</a:t>
            </a:r>
            <a:endParaRPr lang="en-US" sz="800" dirty="0"/>
          </a:p>
        </p:txBody>
      </p:sp>
      <p:sp>
        <p:nvSpPr>
          <p:cNvPr id="12" name="cd_308"/>
          <p:cNvSpPr/>
          <p:nvPr/>
        </p:nvSpPr>
        <p:spPr>
          <a:xfrm>
            <a:off x="320040" y="1417320"/>
            <a:ext cx="2697480" cy="3226816"/>
          </a:xfrm>
          <a:prstGeom prst="roundRect">
            <a:avLst>
              <a:gd name="adj" fmla="val 474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0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4" name="ih_31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5" name="il_311"/>
          <p:cNvSpPr/>
          <p:nvPr/>
        </p:nvSpPr>
        <p:spPr>
          <a:xfrm>
            <a:off x="886968" y="1911096"/>
            <a:ext cx="2039112" cy="265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stava dormendo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running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stava correndo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looking at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stavano guardando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wearing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indossava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+ past simple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quando + passato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 + was / were -ing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mentre…</a:t>
            </a:r>
            <a:endParaRPr lang="en-US" sz="1150" dirty="0"/>
          </a:p>
        </p:txBody>
      </p:sp>
      <p:sp>
        <p:nvSpPr>
          <p:cNvPr id="16" name="R1_sb312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R1_sl313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Sunday at 8 o'clock, Luca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bed.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Luca sleeping or working? · Where was he sleeping?</a:t>
            </a:r>
            <a:endParaRPr lang="en-US" sz="1250" dirty="0"/>
          </a:p>
        </p:txBody>
      </p:sp>
      <p:sp>
        <p:nvSpPr>
          <p:cNvPr id="18" name="R2_sb314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R2_sl315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his phone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It was his boss!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he sleeping when the phone rang? · Who was it?</a:t>
            </a:r>
            <a:endParaRPr lang="en-US" sz="1250" dirty="0"/>
          </a:p>
        </p:txBody>
      </p:sp>
      <p:sp>
        <p:nvSpPr>
          <p:cNvPr id="20" name="R3_sb316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R3_sl317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Luca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running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the station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started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rain.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he walking or running? · What happened?</a:t>
            </a:r>
            <a:endParaRPr lang="en-US" sz="1250" dirty="0"/>
          </a:p>
        </p:txBody>
      </p:sp>
      <p:sp>
        <p:nvSpPr>
          <p:cNvPr id="22" name="R4_sb318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R4_sl319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train, everybody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looking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him. 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wearing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pyjamas!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were people doing? · What was he wearing?</a:t>
            </a:r>
            <a:endParaRPr lang="en-US" sz="1000" dirty="0"/>
          </a:p>
        </p:txBody>
      </p:sp>
      <p:sp>
        <p:nvSpPr>
          <p:cNvPr id="24" name="R5_sb320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R5_sl321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work his boss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laughing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'Luca… today is Sunday!'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the boss angry or laughing? · What day was it?</a:t>
            </a:r>
            <a:endParaRPr lang="en-US" sz="1250" dirty="0"/>
          </a:p>
        </p:txBody>
      </p:sp>
      <p:sp>
        <p:nvSpPr>
          <p:cNvPr id="26" name="R6_sb322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R6_sl323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you? What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last Sunday at 8 o'clock?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Were you sleeping? · Were you working?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32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Retell Luca's story!</a:t>
            </a:r>
            <a:endParaRPr lang="en-US" sz="2500" dirty="0"/>
          </a:p>
        </p:txBody>
      </p:sp>
      <p:pic>
        <p:nvPicPr>
          <p:cNvPr id="6" name="brP_3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2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Retell Luca's story to your partner. Use the prompts!</a:t>
            </a:r>
            <a:endParaRPr lang="en-US" sz="1250" dirty="0"/>
          </a:p>
        </p:txBody>
      </p:sp>
      <p:sp>
        <p:nvSpPr>
          <p:cNvPr id="8" name="insIT_32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Racconta la storia di Luca al compagno. Usa gli spunti!</a:t>
            </a:r>
            <a:endParaRPr lang="en-US" sz="950" dirty="0"/>
          </a:p>
        </p:txBody>
      </p:sp>
      <p:sp>
        <p:nvSpPr>
          <p:cNvPr id="9" name="note_33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retell</a:t>
            </a:r>
            <a:endParaRPr lang="en-US" sz="1250" dirty="0"/>
          </a:p>
        </p:txBody>
      </p:sp>
      <p:pic>
        <p:nvPicPr>
          <p:cNvPr id="10" name="logo_3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retell (TPRS)</a:t>
            </a:r>
            <a:endParaRPr lang="en-US" sz="800" dirty="0"/>
          </a:p>
        </p:txBody>
      </p:sp>
      <p:sp>
        <p:nvSpPr>
          <p:cNvPr id="12" name="cd_333"/>
          <p:cNvSpPr/>
          <p:nvPr/>
        </p:nvSpPr>
        <p:spPr>
          <a:xfrm>
            <a:off x="320040" y="1417320"/>
            <a:ext cx="2697480" cy="2063496"/>
          </a:xfrm>
          <a:prstGeom prst="roundRect">
            <a:avLst>
              <a:gd name="adj" fmla="val 6204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3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4" name="ih_33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5" name="il_336"/>
          <p:cNvSpPr/>
          <p:nvPr/>
        </p:nvSpPr>
        <p:spPr>
          <a:xfrm>
            <a:off x="886968" y="1911096"/>
            <a:ext cx="2039112" cy="1496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/ were + -ing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the long action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+ past simple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the short action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 + was / were -ing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mentre…</a:t>
            </a:r>
            <a:endParaRPr lang="en-US" sz="1150" dirty="0"/>
          </a:p>
        </p:txBody>
      </p:sp>
      <p:sp>
        <p:nvSpPr>
          <p:cNvPr id="16" name="R1_sb337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R1_sl338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Sunday · 8 o'clock · sleep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Last Sunday at 8 o'clock, Luca was sleeping…</a:t>
            </a:r>
            <a:endParaRPr lang="en-US" sz="1250" dirty="0"/>
          </a:p>
        </p:txBody>
      </p:sp>
      <p:sp>
        <p:nvSpPr>
          <p:cNvPr id="18" name="R2_sb339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R2_sl340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phone · ring · boss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While he was sleeping…</a:t>
            </a:r>
            <a:endParaRPr lang="en-US" sz="1250" dirty="0"/>
          </a:p>
        </p:txBody>
      </p:sp>
      <p:sp>
        <p:nvSpPr>
          <p:cNvPr id="20" name="R3_sb341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R3_sl342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 · station · rain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He was running to the station when…</a:t>
            </a:r>
            <a:endParaRPr lang="en-US" sz="1250" dirty="0"/>
          </a:p>
        </p:txBody>
      </p:sp>
      <p:sp>
        <p:nvSpPr>
          <p:cNvPr id="22" name="R4_sb343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R4_sl344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train · people · look · pyjamas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On the train…</a:t>
            </a:r>
            <a:endParaRPr lang="en-US" sz="1250" dirty="0"/>
          </a:p>
        </p:txBody>
      </p:sp>
      <p:sp>
        <p:nvSpPr>
          <p:cNvPr id="24" name="R5_sb345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R5_sl346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boss · laugh · Sunday!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At work…</a:t>
            </a:r>
            <a:endParaRPr lang="en-US" sz="1250" dirty="0"/>
          </a:p>
        </p:txBody>
      </p:sp>
      <p:sp>
        <p:nvSpPr>
          <p:cNvPr id="26" name="R6_sb347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R6_sl348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YOU: change 2 things!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Last Saturday at 10 o'clock, Maria was…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51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it happening?</a:t>
            </a:r>
            <a:endParaRPr lang="en-US" sz="2500" dirty="0"/>
          </a:p>
        </p:txBody>
      </p:sp>
      <p:pic>
        <p:nvPicPr>
          <p:cNvPr id="6" name="brP_3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353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or past continuous? Say the sentence.</a:t>
            </a:r>
            <a:endParaRPr lang="en-US" sz="1250" dirty="0"/>
          </a:p>
        </p:txBody>
      </p:sp>
      <p:sp>
        <p:nvSpPr>
          <p:cNvPr id="8" name="insIT_3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o past continuous? Di' la frase.</a:t>
            </a:r>
            <a:endParaRPr lang="en-US" sz="950" dirty="0"/>
          </a:p>
        </p:txBody>
      </p:sp>
      <p:sp>
        <p:nvSpPr>
          <p:cNvPr id="9" name="note_35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3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practice   ·   📖 Grammar Bank 2B p.129 · a (answers: TG)</a:t>
            </a:r>
            <a:endParaRPr lang="en-US" sz="800" dirty="0"/>
          </a:p>
        </p:txBody>
      </p:sp>
      <p:sp>
        <p:nvSpPr>
          <p:cNvPr id="12" name="cd_358"/>
          <p:cNvSpPr/>
          <p:nvPr/>
        </p:nvSpPr>
        <p:spPr>
          <a:xfrm>
            <a:off x="320040" y="1417320"/>
            <a:ext cx="2697480" cy="1371600"/>
          </a:xfrm>
          <a:prstGeom prst="roundRect">
            <a:avLst>
              <a:gd name="adj" fmla="val 9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3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361"/>
          <p:cNvSpPr/>
          <p:nvPr/>
        </p:nvSpPr>
        <p:spPr>
          <a:xfrm>
            <a:off x="886968" y="1911096"/>
            <a:ext cx="20391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this photo when we ___ in Greece. (take · travel) → I took this photo when we were travelling in Greece.</a:t>
            </a:r>
            <a:endParaRPr lang="en-US" sz="1050" dirty="0"/>
          </a:p>
        </p:txBody>
      </p:sp>
      <p:sp>
        <p:nvSpPr>
          <p:cNvPr id="16" name="pf_362"/>
          <p:cNvSpPr/>
          <p:nvPr/>
        </p:nvSpPr>
        <p:spPr>
          <a:xfrm rot="-90000">
            <a:off x="685012" y="2971800"/>
            <a:ext cx="1967537" cy="1691640"/>
          </a:xfrm>
          <a:prstGeom prst="roundRect">
            <a:avLst>
              <a:gd name="adj" fmla="val 91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63" descr="/home/claude/lls-course/v2/cache/a2_2b_anya_b_jpg_451x385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730732" y="3017520"/>
            <a:ext cx="1876097" cy="1600200"/>
          </a:xfrm>
          <a:prstGeom prst="rect">
            <a:avLst/>
          </a:prstGeom>
        </p:spPr>
      </p:pic>
      <p:sp>
        <p:nvSpPr>
          <p:cNvPr id="18" name="bd_364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365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___ his wife when he ___ in Japan. (meet · live)</a:t>
            </a:r>
            <a:endParaRPr lang="en-US" sz="1000" dirty="0"/>
          </a:p>
        </p:txBody>
      </p:sp>
      <p:sp>
        <p:nvSpPr>
          <p:cNvPr id="20" name="R1_chip366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 · was living</a:t>
            </a:r>
            <a:endParaRPr lang="en-US" sz="1050" dirty="0"/>
          </a:p>
        </p:txBody>
      </p:sp>
      <p:sp>
        <p:nvSpPr>
          <p:cNvPr id="21" name="bd_367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368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she ___ a coat when she went out? (wear)</a:t>
            </a:r>
            <a:endParaRPr lang="en-US" sz="1000" dirty="0"/>
          </a:p>
        </p:txBody>
      </p:sp>
      <p:sp>
        <p:nvSpPr>
          <p:cNvPr id="23" name="R2_chip369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she wearing</a:t>
            </a:r>
            <a:endParaRPr lang="en-US" sz="1050" dirty="0"/>
          </a:p>
        </p:txBody>
      </p:sp>
      <p:sp>
        <p:nvSpPr>
          <p:cNvPr id="24" name="bd_370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371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sun ___ when I went to work. (shine)</a:t>
            </a:r>
            <a:endParaRPr lang="en-US" sz="1000" dirty="0"/>
          </a:p>
        </p:txBody>
      </p:sp>
      <p:sp>
        <p:nvSpPr>
          <p:cNvPr id="26" name="R3_chip372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shining</a:t>
            </a:r>
            <a:endParaRPr lang="en-US" sz="1050" dirty="0"/>
          </a:p>
        </p:txBody>
      </p:sp>
      <p:sp>
        <p:nvSpPr>
          <p:cNvPr id="27" name="bd_373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374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___ you ___ at 7.30 last night? (do)</a:t>
            </a:r>
            <a:endParaRPr lang="en-US" sz="1000" dirty="0"/>
          </a:p>
        </p:txBody>
      </p:sp>
      <p:sp>
        <p:nvSpPr>
          <p:cNvPr id="29" name="R4_chip375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you doing</a:t>
            </a:r>
            <a:endParaRPr lang="en-US" sz="1050" dirty="0"/>
          </a:p>
        </p:txBody>
      </p:sp>
      <p:sp>
        <p:nvSpPr>
          <p:cNvPr id="30" name="bd_376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377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when you gave the instructions. (not listen)</a:t>
            </a:r>
            <a:endParaRPr lang="en-US" sz="1000" dirty="0"/>
          </a:p>
        </p:txBody>
      </p:sp>
      <p:sp>
        <p:nvSpPr>
          <p:cNvPr id="32" name="R5_chip378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wasn't listening</a:t>
            </a:r>
            <a:endParaRPr lang="en-US" sz="1050" dirty="0"/>
          </a:p>
        </p:txBody>
      </p:sp>
      <p:sp>
        <p:nvSpPr>
          <p:cNvPr id="33" name="bd_379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380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started to rain when we ___ in the park. (run)</a:t>
            </a:r>
            <a:endParaRPr lang="en-US" sz="1000" dirty="0"/>
          </a:p>
        </p:txBody>
      </p:sp>
      <p:sp>
        <p:nvSpPr>
          <p:cNvPr id="35" name="R6_chip381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running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84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was happening?</a:t>
            </a:r>
            <a:endParaRPr lang="en-US" sz="2300" dirty="0"/>
          </a:p>
        </p:txBody>
      </p:sp>
      <p:pic>
        <p:nvPicPr>
          <p:cNvPr id="6" name="brP_3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86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the mime. Say what was happening!</a:t>
            </a:r>
            <a:endParaRPr lang="en-US" sz="1250" dirty="0"/>
          </a:p>
        </p:txBody>
      </p:sp>
      <p:sp>
        <p:nvSpPr>
          <p:cNvPr id="8" name="insIT_38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il mimo. Di' cosa stava succedendo!</a:t>
            </a:r>
            <a:endParaRPr lang="en-US" sz="950" dirty="0"/>
          </a:p>
        </p:txBody>
      </p:sp>
      <p:sp>
        <p:nvSpPr>
          <p:cNvPr id="9" name="note_38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 game</a:t>
            </a:r>
            <a:endParaRPr lang="en-US" sz="1150" dirty="0"/>
          </a:p>
        </p:txBody>
      </p:sp>
      <p:pic>
        <p:nvPicPr>
          <p:cNvPr id="10" name="logo_38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9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game · mime   ·   📖 SB p.17 · 3c (audio 2.13 = sound effects, play from the book)</a:t>
            </a:r>
            <a:endParaRPr lang="en-US" sz="800" dirty="0"/>
          </a:p>
        </p:txBody>
      </p:sp>
      <p:sp>
        <p:nvSpPr>
          <p:cNvPr id="12" name="cd_39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9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39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39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student mimes both actions.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Uno studente mima le due azioni.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say the sentence: …was / were -ing when…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dicono la frase: …was / were -ing when…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sentence = 1 point.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giusta = 1 punto.</a:t>
            </a:r>
            <a:endParaRPr lang="en-US" sz="1000" dirty="0"/>
          </a:p>
        </p:txBody>
      </p:sp>
      <p:sp>
        <p:nvSpPr>
          <p:cNvPr id="16" name="st_395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396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397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 tennis · start to rain</a:t>
            </a:r>
            <a:endParaRPr lang="en-US" sz="1250" dirty="0"/>
          </a:p>
        </p:txBody>
      </p:sp>
      <p:sp>
        <p:nvSpPr>
          <p:cNvPr id="19" name="chip_398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playing tennis when it started to rain.</a:t>
            </a:r>
            <a:endParaRPr lang="en-US" sz="1100" dirty="0"/>
          </a:p>
        </p:txBody>
      </p:sp>
      <p:sp>
        <p:nvSpPr>
          <p:cNvPr id="20" name="bd_399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400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 · somebody phone</a:t>
            </a:r>
            <a:endParaRPr lang="en-US" sz="1250" dirty="0"/>
          </a:p>
        </p:txBody>
      </p:sp>
      <p:sp>
        <p:nvSpPr>
          <p:cNvPr id="22" name="R1_chip401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driving when somebody phoned her.</a:t>
            </a:r>
            <a:endParaRPr lang="en-US" sz="1100" dirty="0"/>
          </a:p>
        </p:txBody>
      </p:sp>
      <p:sp>
        <p:nvSpPr>
          <p:cNvPr id="23" name="bd_402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403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party · the police come</a:t>
            </a:r>
            <a:endParaRPr lang="en-US" sz="1250" dirty="0"/>
          </a:p>
        </p:txBody>
      </p:sp>
      <p:sp>
        <p:nvSpPr>
          <p:cNvPr id="25" name="R2_chip404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having a party when the police came.</a:t>
            </a:r>
            <a:endParaRPr lang="en-US" sz="1100" dirty="0"/>
          </a:p>
        </p:txBody>
      </p:sp>
      <p:sp>
        <p:nvSpPr>
          <p:cNvPr id="26" name="bd_405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406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shower · somebody knock</a:t>
            </a:r>
            <a:endParaRPr lang="en-US" sz="1250" dirty="0"/>
          </a:p>
        </p:txBody>
      </p:sp>
      <p:sp>
        <p:nvSpPr>
          <p:cNvPr id="28" name="R3_chip407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was having a shower when somebody knocked at the door.</a:t>
            </a:r>
            <a:endParaRPr lang="en-US" sz="1050" dirty="0"/>
          </a:p>
        </p:txBody>
      </p:sp>
      <p:sp>
        <p:nvSpPr>
          <p:cNvPr id="29" name="bd_40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409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· the baby start to cry</a:t>
            </a:r>
            <a:endParaRPr lang="en-US" sz="1250" dirty="0"/>
          </a:p>
        </p:txBody>
      </p:sp>
      <p:sp>
        <p:nvSpPr>
          <p:cNvPr id="31" name="R4_chip410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sleeping when the baby started to cry.</a:t>
            </a:r>
            <a:endParaRPr lang="en-US" sz="1100" dirty="0"/>
          </a:p>
        </p:txBody>
      </p:sp>
      <p:sp>
        <p:nvSpPr>
          <p:cNvPr id="32" name="bd_411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412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walk the dog · meet a friend</a:t>
            </a:r>
            <a:endParaRPr lang="en-US" sz="1250" dirty="0"/>
          </a:p>
        </p:txBody>
      </p:sp>
      <p:sp>
        <p:nvSpPr>
          <p:cNvPr id="34" name="R5_chip413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walking her dog when she met a friend.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1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1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/wəz/, were /wə/</a:t>
            </a:r>
            <a:endParaRPr lang="en-US" sz="2500" dirty="0"/>
          </a:p>
        </p:txBody>
      </p:sp>
      <p:pic>
        <p:nvPicPr>
          <p:cNvPr id="6" name="brP_41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418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complete. Is was / were strong or weak?</a:t>
            </a:r>
            <a:endParaRPr lang="en-US" sz="1250" dirty="0"/>
          </a:p>
        </p:txBody>
      </p:sp>
      <p:sp>
        <p:nvSpPr>
          <p:cNvPr id="8" name="insIT_41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completa. Was / were sono forti o deboli?</a:t>
            </a:r>
            <a:endParaRPr lang="en-US" sz="950" dirty="0"/>
          </a:p>
        </p:txBody>
      </p:sp>
      <p:sp>
        <p:nvSpPr>
          <p:cNvPr id="9" name="note_42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Listening for detail</a:t>
            </a:r>
            <a:endParaRPr lang="en-US" sz="1150" dirty="0"/>
          </a:p>
        </p:txBody>
      </p:sp>
      <p:pic>
        <p:nvPicPr>
          <p:cNvPr id="10" name="logo_4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Pronunciation · weak forms   ·   📖 SB p.17 · 4b, 4c · audio 2.14 (play from the book)</a:t>
            </a:r>
            <a:endParaRPr lang="en-US" sz="800" dirty="0"/>
          </a:p>
        </p:txBody>
      </p:sp>
      <p:sp>
        <p:nvSpPr>
          <p:cNvPr id="12" name="ap_423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2.14</a:t>
            </a:r>
            <a:endParaRPr lang="en-US" sz="1100" dirty="0"/>
          </a:p>
        </p:txBody>
      </p:sp>
      <p:sp>
        <p:nvSpPr>
          <p:cNvPr id="13" name="pf_424"/>
          <p:cNvSpPr/>
          <p:nvPr/>
        </p:nvSpPr>
        <p:spPr>
          <a:xfrm rot="-90000">
            <a:off x="744724" y="2057400"/>
            <a:ext cx="2030993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425" descr="/home/claude/lls-course/v2/cache/a2_2b_anya_a_jpg_46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790444" y="2103120"/>
            <a:ext cx="1939553" cy="1691640"/>
          </a:xfrm>
          <a:prstGeom prst="rect">
            <a:avLst/>
          </a:prstGeom>
        </p:spPr>
      </p:pic>
      <p:sp>
        <p:nvSpPr>
          <p:cNvPr id="15" name="cd_42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2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7" name="ih_42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18" name="gq_429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___ ___ my first term at university.</a:t>
            </a:r>
            <a:endParaRPr lang="en-US" sz="1200" dirty="0"/>
          </a:p>
        </p:txBody>
      </p:sp>
      <p:sp>
        <p:nvSpPr>
          <p:cNvPr id="19" name="R1_chip430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</a:t>
            </a:r>
            <a:endParaRPr lang="en-US" sz="1200" dirty="0"/>
          </a:p>
        </p:txBody>
      </p:sp>
      <p:sp>
        <p:nvSpPr>
          <p:cNvPr id="20" name="gq_431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I ___ ___ with him in the Easter holidays.</a:t>
            </a:r>
            <a:endParaRPr lang="en-US" sz="1200" dirty="0"/>
          </a:p>
        </p:txBody>
      </p:sp>
      <p:sp>
        <p:nvSpPr>
          <p:cNvPr id="21" name="R2_chip432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staying</a:t>
            </a:r>
            <a:endParaRPr lang="en-US" sz="1200" dirty="0"/>
          </a:p>
        </p:txBody>
      </p:sp>
      <p:sp>
        <p:nvSpPr>
          <p:cNvPr id="22" name="gq_433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We ___ ___ a music course.</a:t>
            </a:r>
            <a:endParaRPr lang="en-US" sz="1200" dirty="0"/>
          </a:p>
        </p:txBody>
      </p:sp>
      <p:sp>
        <p:nvSpPr>
          <p:cNvPr id="23" name="R3_chip434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doing</a:t>
            </a:r>
            <a:endParaRPr lang="en-US" sz="1200" dirty="0"/>
          </a:p>
        </p:txBody>
      </p:sp>
      <p:sp>
        <p:nvSpPr>
          <p:cNvPr id="24" name="gq_435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___ ___ at school together.</a:t>
            </a:r>
            <a:endParaRPr lang="en-US" sz="1200" dirty="0"/>
          </a:p>
        </p:txBody>
      </p:sp>
      <p:sp>
        <p:nvSpPr>
          <p:cNvPr id="25" name="R4_chip436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were</a:t>
            </a:r>
            <a:endParaRPr lang="en-US" sz="1200" dirty="0"/>
          </a:p>
        </p:txBody>
      </p:sp>
      <p:sp>
        <p:nvSpPr>
          <p:cNvPr id="26" name="gq_437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She took this when we ___ ___ the Colosseum.</a:t>
            </a:r>
            <a:endParaRPr lang="en-US" sz="1200" dirty="0"/>
          </a:p>
        </p:txBody>
      </p:sp>
      <p:sp>
        <p:nvSpPr>
          <p:cNvPr id="27" name="R5_chip438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visiting</a:t>
            </a:r>
            <a:endParaRPr lang="en-US" sz="1200" dirty="0"/>
          </a:p>
        </p:txBody>
      </p:sp>
      <p:sp>
        <p:nvSpPr>
          <p:cNvPr id="28" name="gq_439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We ___ all ___ champagne, and Roz ___ ___ the hard work!</a:t>
            </a:r>
            <a:endParaRPr lang="en-US" sz="1200" dirty="0"/>
          </a:p>
        </p:txBody>
      </p:sp>
      <p:sp>
        <p:nvSpPr>
          <p:cNvPr id="29" name="R6_chip440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drinking · was doing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4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443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Anya's Instagram</a:t>
            </a:r>
            <a:endParaRPr lang="en-US" sz="2500" dirty="0"/>
          </a:p>
        </p:txBody>
      </p:sp>
      <p:pic>
        <p:nvPicPr>
          <p:cNvPr id="6" name="brP_44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45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Anya talks about her photos. Order them 1–6.</a:t>
            </a:r>
            <a:endParaRPr lang="en-US" sz="1250" dirty="0"/>
          </a:p>
        </p:txBody>
      </p:sp>
      <p:sp>
        <p:nvSpPr>
          <p:cNvPr id="8" name="insIT_44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Anya parla delle sue foto. Mettile in ordine 1–6.</a:t>
            </a:r>
            <a:endParaRPr lang="en-US" sz="950" dirty="0"/>
          </a:p>
        </p:txBody>
      </p:sp>
      <p:sp>
        <p:nvSpPr>
          <p:cNvPr id="9" name="note_44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ASCOLTA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Controlled practice</a:t>
            </a:r>
            <a:endParaRPr lang="en-US" sz="1250" dirty="0"/>
          </a:p>
        </p:txBody>
      </p:sp>
      <p:pic>
        <p:nvPicPr>
          <p:cNvPr id="10" name="logo_4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Listening · Anya's photos   ·   📖 SB p.17 · 4d, 4e · audio 2.15 (play from the book · script SB p.120)</a:t>
            </a:r>
            <a:endParaRPr lang="en-US" sz="800" dirty="0"/>
          </a:p>
        </p:txBody>
      </p:sp>
      <p:sp>
        <p:nvSpPr>
          <p:cNvPr id="12" name="ap_450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2.15</a:t>
            </a:r>
            <a:endParaRPr lang="en-US" sz="1100" dirty="0"/>
          </a:p>
        </p:txBody>
      </p:sp>
      <p:sp>
        <p:nvSpPr>
          <p:cNvPr id="13" name="pf_451"/>
          <p:cNvSpPr/>
          <p:nvPr/>
        </p:nvSpPr>
        <p:spPr>
          <a:xfrm>
            <a:off x="365760" y="141732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452" descr="/home/claude/lls-course/v2/cache/a2_2b_anya_a_jpg_341x28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463040"/>
            <a:ext cx="1417320" cy="1193292"/>
          </a:xfrm>
          <a:prstGeom prst="rect">
            <a:avLst/>
          </a:prstGeom>
        </p:spPr>
      </p:pic>
      <p:sp>
        <p:nvSpPr>
          <p:cNvPr id="15" name="bd_453"/>
          <p:cNvSpPr/>
          <p:nvPr/>
        </p:nvSpPr>
        <p:spPr>
          <a:xfrm>
            <a:off x="265176" y="13167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pf_454"/>
          <p:cNvSpPr/>
          <p:nvPr/>
        </p:nvSpPr>
        <p:spPr>
          <a:xfrm>
            <a:off x="1892808" y="141732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55" descr="/home/claude/lls-course/v2/cache/a2_2b_anya_b_jpg_341x287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8528" y="1463040"/>
            <a:ext cx="1417320" cy="1193292"/>
          </a:xfrm>
          <a:prstGeom prst="rect">
            <a:avLst/>
          </a:prstGeom>
        </p:spPr>
      </p:pic>
      <p:sp>
        <p:nvSpPr>
          <p:cNvPr id="18" name="bd_456"/>
          <p:cNvSpPr/>
          <p:nvPr/>
        </p:nvSpPr>
        <p:spPr>
          <a:xfrm>
            <a:off x="1792224" y="131673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00" dirty="0"/>
          </a:p>
        </p:txBody>
      </p:sp>
      <p:sp>
        <p:nvSpPr>
          <p:cNvPr id="19" name="pf_457"/>
          <p:cNvSpPr/>
          <p:nvPr/>
        </p:nvSpPr>
        <p:spPr>
          <a:xfrm>
            <a:off x="3419856" y="141732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58" descr="/home/claude/lls-course/v2/cache/a2_2b_anya_c_jpg_341x287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5576" y="1463040"/>
            <a:ext cx="1417320" cy="1193292"/>
          </a:xfrm>
          <a:prstGeom prst="rect">
            <a:avLst/>
          </a:prstGeom>
        </p:spPr>
      </p:pic>
      <p:sp>
        <p:nvSpPr>
          <p:cNvPr id="21" name="bd_459"/>
          <p:cNvSpPr/>
          <p:nvPr/>
        </p:nvSpPr>
        <p:spPr>
          <a:xfrm>
            <a:off x="3319272" y="131673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100" dirty="0"/>
          </a:p>
        </p:txBody>
      </p:sp>
      <p:sp>
        <p:nvSpPr>
          <p:cNvPr id="22" name="pf_460"/>
          <p:cNvSpPr/>
          <p:nvPr/>
        </p:nvSpPr>
        <p:spPr>
          <a:xfrm>
            <a:off x="365760" y="272034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461" descr="/home/claude/lls-course/v2/cache/a2_2b_anya_d_jpg_341x287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2766060"/>
            <a:ext cx="1417320" cy="1193292"/>
          </a:xfrm>
          <a:prstGeom prst="rect">
            <a:avLst/>
          </a:prstGeom>
        </p:spPr>
      </p:pic>
      <p:sp>
        <p:nvSpPr>
          <p:cNvPr id="24" name="bd_462"/>
          <p:cNvSpPr/>
          <p:nvPr/>
        </p:nvSpPr>
        <p:spPr>
          <a:xfrm>
            <a:off x="265176" y="2619756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pf_463"/>
          <p:cNvSpPr/>
          <p:nvPr/>
        </p:nvSpPr>
        <p:spPr>
          <a:xfrm>
            <a:off x="1892808" y="272034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464" descr="/home/claude/lls-course/v2/cache/a2_2b_anya_e_jpg_341x287_3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766060"/>
            <a:ext cx="1417320" cy="1193292"/>
          </a:xfrm>
          <a:prstGeom prst="rect">
            <a:avLst/>
          </a:prstGeom>
        </p:spPr>
      </p:pic>
      <p:sp>
        <p:nvSpPr>
          <p:cNvPr id="27" name="bd_465"/>
          <p:cNvSpPr/>
          <p:nvPr/>
        </p:nvSpPr>
        <p:spPr>
          <a:xfrm>
            <a:off x="1792224" y="261975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</a:t>
            </a:r>
            <a:endParaRPr lang="en-US" sz="1100" dirty="0"/>
          </a:p>
        </p:txBody>
      </p:sp>
      <p:sp>
        <p:nvSpPr>
          <p:cNvPr id="28" name="pf_466"/>
          <p:cNvSpPr/>
          <p:nvPr/>
        </p:nvSpPr>
        <p:spPr>
          <a:xfrm>
            <a:off x="3419856" y="272034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467" descr="/home/claude/lls-course/v2/cache/a2_2b_anya_f_jpg_341x287_3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65576" y="2766060"/>
            <a:ext cx="1417320" cy="1193292"/>
          </a:xfrm>
          <a:prstGeom prst="rect">
            <a:avLst/>
          </a:prstGeom>
        </p:spPr>
      </p:pic>
      <p:sp>
        <p:nvSpPr>
          <p:cNvPr id="30" name="bd_468"/>
          <p:cNvSpPr/>
          <p:nvPr/>
        </p:nvSpPr>
        <p:spPr>
          <a:xfrm>
            <a:off x="3319272" y="26197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</a:t>
            </a:r>
            <a:endParaRPr lang="en-US" sz="1100" dirty="0"/>
          </a:p>
        </p:txBody>
      </p:sp>
      <p:sp>
        <p:nvSpPr>
          <p:cNvPr id="31" name="ap_469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2.15</a:t>
            </a:r>
            <a:endParaRPr lang="en-US" sz="1100" dirty="0"/>
          </a:p>
        </p:txBody>
      </p:sp>
      <p:sp>
        <p:nvSpPr>
          <p:cNvPr id="32" name="q_470"/>
          <p:cNvSpPr/>
          <p:nvPr/>
        </p:nvSpPr>
        <p:spPr>
          <a:xfrm>
            <a:off x="5166360" y="141732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Photo E</a:t>
            </a:r>
            <a:endParaRPr lang="en-US" sz="1150" dirty="0"/>
          </a:p>
        </p:txBody>
      </p:sp>
      <p:sp>
        <p:nvSpPr>
          <p:cNvPr id="33" name="chip_471"/>
          <p:cNvSpPr/>
          <p:nvPr/>
        </p:nvSpPr>
        <p:spPr>
          <a:xfrm>
            <a:off x="6565392" y="141732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– York, with her mum</a:t>
            </a:r>
            <a:endParaRPr lang="en-US" sz="1150" dirty="0"/>
          </a:p>
        </p:txBody>
      </p:sp>
      <p:sp>
        <p:nvSpPr>
          <p:cNvPr id="34" name="q_472"/>
          <p:cNvSpPr/>
          <p:nvPr/>
        </p:nvSpPr>
        <p:spPr>
          <a:xfrm>
            <a:off x="5166360" y="196596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A</a:t>
            </a:r>
            <a:endParaRPr lang="en-US" sz="1150" dirty="0"/>
          </a:p>
        </p:txBody>
      </p:sp>
      <p:sp>
        <p:nvSpPr>
          <p:cNvPr id="35" name="R1_chip473"/>
          <p:cNvSpPr/>
          <p:nvPr/>
        </p:nvSpPr>
        <p:spPr>
          <a:xfrm>
            <a:off x="6565392" y="196596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– a party after a music course</a:t>
            </a:r>
            <a:endParaRPr lang="en-US" sz="1150" dirty="0"/>
          </a:p>
        </p:txBody>
      </p:sp>
      <p:sp>
        <p:nvSpPr>
          <p:cNvPr id="36" name="q_474"/>
          <p:cNvSpPr/>
          <p:nvPr/>
        </p:nvSpPr>
        <p:spPr>
          <a:xfrm>
            <a:off x="5166360" y="251460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B</a:t>
            </a:r>
            <a:endParaRPr lang="en-US" sz="1150" dirty="0"/>
          </a:p>
        </p:txBody>
      </p:sp>
      <p:sp>
        <p:nvSpPr>
          <p:cNvPr id="37" name="R2_chip475"/>
          <p:cNvSpPr/>
          <p:nvPr/>
        </p:nvSpPr>
        <p:spPr>
          <a:xfrm>
            <a:off x="6565392" y="251460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– Rome, the Colosseum</a:t>
            </a:r>
            <a:endParaRPr lang="en-US" sz="1150" dirty="0"/>
          </a:p>
        </p:txBody>
      </p:sp>
      <p:sp>
        <p:nvSpPr>
          <p:cNvPr id="38" name="q_476"/>
          <p:cNvSpPr/>
          <p:nvPr/>
        </p:nvSpPr>
        <p:spPr>
          <a:xfrm>
            <a:off x="5166360" y="306324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C</a:t>
            </a:r>
            <a:endParaRPr lang="en-US" sz="1150" dirty="0"/>
          </a:p>
        </p:txBody>
      </p:sp>
      <p:sp>
        <p:nvSpPr>
          <p:cNvPr id="39" name="R3_chip477"/>
          <p:cNvSpPr/>
          <p:nvPr/>
        </p:nvSpPr>
        <p:spPr>
          <a:xfrm>
            <a:off x="6565392" y="306324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a windy beach in Cornwall</a:t>
            </a:r>
            <a:endParaRPr lang="en-US" sz="1150" dirty="0"/>
          </a:p>
        </p:txBody>
      </p:sp>
      <p:sp>
        <p:nvSpPr>
          <p:cNvPr id="40" name="q_478"/>
          <p:cNvSpPr/>
          <p:nvPr/>
        </p:nvSpPr>
        <p:spPr>
          <a:xfrm>
            <a:off x="5166360" y="361188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D</a:t>
            </a:r>
            <a:endParaRPr lang="en-US" sz="1150" dirty="0"/>
          </a:p>
        </p:txBody>
      </p:sp>
      <p:sp>
        <p:nvSpPr>
          <p:cNvPr id="41" name="R4_chip479"/>
          <p:cNvSpPr/>
          <p:nvPr/>
        </p:nvSpPr>
        <p:spPr>
          <a:xfrm>
            <a:off x="6565392" y="361188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– Oxford: punting on the river</a:t>
            </a:r>
            <a:endParaRPr lang="en-US" sz="1150" dirty="0"/>
          </a:p>
        </p:txBody>
      </p:sp>
      <p:sp>
        <p:nvSpPr>
          <p:cNvPr id="42" name="q_480"/>
          <p:cNvSpPr/>
          <p:nvPr/>
        </p:nvSpPr>
        <p:spPr>
          <a:xfrm>
            <a:off x="5166360" y="416052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F</a:t>
            </a:r>
            <a:endParaRPr lang="en-US" sz="1150" dirty="0"/>
          </a:p>
        </p:txBody>
      </p:sp>
      <p:sp>
        <p:nvSpPr>
          <p:cNvPr id="43" name="R5_chip481"/>
          <p:cNvSpPr/>
          <p:nvPr/>
        </p:nvSpPr>
        <p:spPr>
          <a:xfrm>
            <a:off x="6565392" y="416052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– a friend's house by the river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84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My favourite photo</a:t>
            </a:r>
            <a:endParaRPr lang="en-US" sz="2500" dirty="0"/>
          </a:p>
        </p:txBody>
      </p:sp>
      <p:pic>
        <p:nvPicPr>
          <p:cNvPr id="6" name="brP_4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486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a partner. Give more information!</a:t>
            </a:r>
            <a:endParaRPr lang="en-US" sz="1250" dirty="0"/>
          </a:p>
        </p:txBody>
      </p:sp>
      <p:sp>
        <p:nvSpPr>
          <p:cNvPr id="8" name="insIT_48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Parla con un compagno. Dai più informazioni!</a:t>
            </a:r>
            <a:endParaRPr lang="en-US" sz="950" dirty="0"/>
          </a:p>
        </p:txBody>
      </p:sp>
      <p:sp>
        <p:nvSpPr>
          <p:cNvPr id="9" name="note_48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48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9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your photos   ·   📖 SB p.17 · 5a</a:t>
            </a:r>
            <a:endParaRPr lang="en-US" sz="800" dirty="0"/>
          </a:p>
        </p:txBody>
      </p:sp>
      <p:sp>
        <p:nvSpPr>
          <p:cNvPr id="12" name="pf_491"/>
          <p:cNvSpPr/>
          <p:nvPr/>
        </p:nvSpPr>
        <p:spPr>
          <a:xfrm rot="-120000">
            <a:off x="927033" y="1371600"/>
            <a:ext cx="1574934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492" descr="/home/claude/lls-course/v2/cache/a2_2b_anya_f_jpg_357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972753" y="1417320"/>
            <a:ext cx="1483494" cy="1234440"/>
          </a:xfrm>
          <a:prstGeom prst="rect">
            <a:avLst/>
          </a:prstGeom>
        </p:spPr>
      </p:pic>
      <p:sp>
        <p:nvSpPr>
          <p:cNvPr id="14" name="cd_493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94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495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496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took it when I was… · We were…ing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 happy time for me.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Show me! Who took it?</a:t>
            </a:r>
            <a:endParaRPr lang="en-US" sz="1150" dirty="0"/>
          </a:p>
        </p:txBody>
      </p:sp>
      <p:sp>
        <p:nvSpPr>
          <p:cNvPr id="18" name="R1_qb49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498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post photos on Instagram or Facebook? What kind?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mostly food and my dog!</a:t>
            </a:r>
            <a:endParaRPr lang="en-US" sz="1000" dirty="0"/>
          </a:p>
        </p:txBody>
      </p:sp>
      <p:sp>
        <p:nvSpPr>
          <p:cNvPr id="20" name="R2_qb499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500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a photo as a background on your phone? What's the story?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kids at the beach – we were having a picnic.</a:t>
            </a:r>
            <a:endParaRPr lang="en-US" sz="1000" dirty="0"/>
          </a:p>
        </p:txBody>
      </p:sp>
      <p:sp>
        <p:nvSpPr>
          <p:cNvPr id="22" name="R3_qb501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502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a photo you really like on your phone? Show your partner!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This is me in Rome – I was visiting my sister.</a:t>
            </a:r>
            <a:endParaRPr lang="en-US" sz="1000" dirty="0"/>
          </a:p>
        </p:txBody>
      </p:sp>
      <p:sp>
        <p:nvSpPr>
          <p:cNvPr id="24" name="R4_qb503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504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favourite photo of you as a child? What were you wearing?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was wearing a cowboy hat – I was 5!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0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07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0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09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1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511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5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Exit · what can you remember?</a:t>
            </a:r>
            <a:endParaRPr lang="en-US" sz="800" dirty="0"/>
          </a:p>
        </p:txBody>
      </p:sp>
      <p:sp>
        <p:nvSpPr>
          <p:cNvPr id="12" name="bd_514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515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phrases with at, in, on (at night…)</a:t>
            </a:r>
            <a:endParaRPr lang="en-US" sz="1400" dirty="0"/>
          </a:p>
        </p:txBody>
      </p:sp>
      <p:sp>
        <p:nvSpPr>
          <p:cNvPr id="14" name="bd_516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517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facts about Jane's photo</a:t>
            </a:r>
            <a:endParaRPr lang="en-US" sz="1400" dirty="0"/>
          </a:p>
        </p:txBody>
      </p:sp>
      <p:sp>
        <p:nvSpPr>
          <p:cNvPr id="16" name="bd_518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519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sentence: I was…ing when…</a:t>
            </a:r>
            <a:endParaRPr lang="en-US" sz="1400" dirty="0"/>
          </a:p>
        </p:txBody>
      </p:sp>
      <p:sp>
        <p:nvSpPr>
          <p:cNvPr id="18" name="cd_520"/>
          <p:cNvSpPr/>
          <p:nvPr/>
        </p:nvSpPr>
        <p:spPr>
          <a:xfrm>
            <a:off x="5669280" y="1417320"/>
            <a:ext cx="3200400" cy="1837944"/>
          </a:xfrm>
          <a:prstGeom prst="roundRect">
            <a:avLst>
              <a:gd name="adj" fmla="val 696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521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522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523"/>
          <p:cNvSpPr/>
          <p:nvPr/>
        </p:nvSpPr>
        <p:spPr>
          <a:xfrm>
            <a:off x="6236208" y="1911096"/>
            <a:ext cx="25420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 (past continuous, at / in / on)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2B p.129: exercise b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Write: your favourite photo (SB p.114) – 80–100 words</a:t>
            </a:r>
            <a:endParaRPr lang="en-US" sz="1050" dirty="0"/>
          </a:p>
        </p:txBody>
      </p:sp>
      <p:sp>
        <p:nvSpPr>
          <p:cNvPr id="22" name="st_524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2C · One dark October evening · time sequencers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2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29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3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53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5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Review · what did you do today?</a:t>
            </a:r>
            <a:endParaRPr lang="en-US" sz="800" dirty="0"/>
          </a:p>
        </p:txBody>
      </p:sp>
      <p:sp>
        <p:nvSpPr>
          <p:cNvPr id="12" name="cd_534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535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📷</a:t>
            </a:r>
            <a:endParaRPr lang="en-US" sz="1800" dirty="0"/>
          </a:p>
        </p:txBody>
      </p:sp>
      <p:sp>
        <p:nvSpPr>
          <p:cNvPr id="14" name="tt_536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true story behind a famous photo</a:t>
            </a:r>
            <a:endParaRPr lang="en-US" sz="1350" dirty="0"/>
          </a:p>
        </p:txBody>
      </p:sp>
      <p:sp>
        <p:nvSpPr>
          <p:cNvPr id="15" name="R1_tk537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538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539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18" name="tt_540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at, in, on for time and place</a:t>
            </a:r>
            <a:endParaRPr lang="en-US" sz="1350" dirty="0"/>
          </a:p>
        </p:txBody>
      </p:sp>
      <p:sp>
        <p:nvSpPr>
          <p:cNvPr id="19" name="R2_tk541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542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543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⏸</a:t>
            </a:r>
            <a:endParaRPr lang="en-US" sz="1800" dirty="0"/>
          </a:p>
        </p:txBody>
      </p:sp>
      <p:sp>
        <p:nvSpPr>
          <p:cNvPr id="22" name="tt_544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past continuous: I was walking when…</a:t>
            </a:r>
            <a:endParaRPr lang="en-US" sz="1350" dirty="0"/>
          </a:p>
        </p:txBody>
      </p:sp>
      <p:sp>
        <p:nvSpPr>
          <p:cNvPr id="23" name="R3_tk545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546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547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6" name="tt_548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7" name="R4_tk549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550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551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0" name="tt_552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favourite photo</a:t>
            </a:r>
            <a:endParaRPr lang="en-US" sz="1350" dirty="0"/>
          </a:p>
        </p:txBody>
      </p:sp>
      <p:sp>
        <p:nvSpPr>
          <p:cNvPr id="31" name="R5_tk553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554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555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556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557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558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5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61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Prepositions race</a:t>
            </a:r>
            <a:endParaRPr lang="en-US" sz="2500" dirty="0"/>
          </a:p>
        </p:txBody>
      </p:sp>
      <p:pic>
        <p:nvPicPr>
          <p:cNvPr id="6" name="brP_5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6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at, in or on? Say the whole phrase!</a:t>
            </a:r>
            <a:endParaRPr lang="en-US" sz="1250" dirty="0"/>
          </a:p>
        </p:txBody>
      </p:sp>
      <p:sp>
        <p:nvSpPr>
          <p:cNvPr id="8" name="insIT_5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at, in o on? Di' la frase intera!</a:t>
            </a:r>
            <a:endParaRPr lang="en-US" sz="950" dirty="0"/>
          </a:p>
        </p:txBody>
      </p:sp>
      <p:sp>
        <p:nvSpPr>
          <p:cNvPr id="9" name="note_56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Communicative game</a:t>
            </a:r>
            <a:endParaRPr lang="en-US" sz="1250" dirty="0"/>
          </a:p>
        </p:txBody>
      </p:sp>
      <p:pic>
        <p:nvPicPr>
          <p:cNvPr id="10" name="logo_56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game · at / in / on   ·   📖 VB p.153 · audio 2.10</a:t>
            </a:r>
            <a:endParaRPr lang="en-US" sz="800" dirty="0"/>
          </a:p>
        </p:txBody>
      </p:sp>
      <p:sp>
        <p:nvSpPr>
          <p:cNvPr id="12" name="ext_568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69"/>
          <p:cNvSpPr/>
          <p:nvPr/>
        </p:nvSpPr>
        <p:spPr>
          <a:xfrm>
            <a:off x="320040" y="1417320"/>
            <a:ext cx="2697480" cy="1840992"/>
          </a:xfrm>
          <a:prstGeom prst="roundRect">
            <a:avLst>
              <a:gd name="adj" fmla="val 6954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7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7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6" name="il_572"/>
          <p:cNvSpPr/>
          <p:nvPr/>
        </p:nvSpPr>
        <p:spPr>
          <a:xfrm>
            <a:off x="886968" y="1911096"/>
            <a:ext cx="2039112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 a word. Your team says at, in or on + the word.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A sentence about YOU = 1 more!</a:t>
            </a:r>
            <a:endParaRPr lang="en-US" sz="1150" dirty="0"/>
          </a:p>
        </p:txBody>
      </p:sp>
      <p:sp>
        <p:nvSpPr>
          <p:cNvPr id="17" name="st_573"/>
          <p:cNvSpPr/>
          <p:nvPr/>
        </p:nvSpPr>
        <p:spPr>
          <a:xfrm rot="-180000">
            <a:off x="502920" y="3441192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8" name="bd_574"/>
          <p:cNvSpPr/>
          <p:nvPr/>
        </p:nvSpPr>
        <p:spPr>
          <a:xfrm>
            <a:off x="3246120" y="140106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575"/>
          <p:cNvSpPr/>
          <p:nvPr/>
        </p:nvSpPr>
        <p:spPr>
          <a:xfrm>
            <a:off x="3657600" y="14173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weekend</a:t>
            </a:r>
            <a:endParaRPr lang="en-US" sz="1250" dirty="0"/>
          </a:p>
        </p:txBody>
      </p:sp>
      <p:sp>
        <p:nvSpPr>
          <p:cNvPr id="20" name="chip_576"/>
          <p:cNvSpPr/>
          <p:nvPr/>
        </p:nvSpPr>
        <p:spPr>
          <a:xfrm>
            <a:off x="6263640" y="14173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weekend – I sleep a lot at the weekend.</a:t>
            </a:r>
            <a:endParaRPr lang="en-US" sz="800" dirty="0"/>
          </a:p>
        </p:txBody>
      </p:sp>
      <p:sp>
        <p:nvSpPr>
          <p:cNvPr id="21" name="bd_577"/>
          <p:cNvSpPr/>
          <p:nvPr/>
        </p:nvSpPr>
        <p:spPr>
          <a:xfrm>
            <a:off x="3246120" y="176174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578"/>
          <p:cNvSpPr/>
          <p:nvPr/>
        </p:nvSpPr>
        <p:spPr>
          <a:xfrm>
            <a:off x="3657600" y="17780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July</a:t>
            </a:r>
            <a:endParaRPr lang="en-US" sz="1250" dirty="0"/>
          </a:p>
        </p:txBody>
      </p:sp>
      <p:sp>
        <p:nvSpPr>
          <p:cNvPr id="23" name="R1_chip579"/>
          <p:cNvSpPr/>
          <p:nvPr/>
        </p:nvSpPr>
        <p:spPr>
          <a:xfrm>
            <a:off x="6263640" y="17780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July</a:t>
            </a:r>
            <a:endParaRPr lang="en-US" sz="900" dirty="0"/>
          </a:p>
        </p:txBody>
      </p:sp>
      <p:sp>
        <p:nvSpPr>
          <p:cNvPr id="24" name="bd_580"/>
          <p:cNvSpPr/>
          <p:nvPr/>
        </p:nvSpPr>
        <p:spPr>
          <a:xfrm>
            <a:off x="3246120" y="212242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581"/>
          <p:cNvSpPr/>
          <p:nvPr/>
        </p:nvSpPr>
        <p:spPr>
          <a:xfrm>
            <a:off x="3657600" y="21386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Monday morning</a:t>
            </a:r>
            <a:endParaRPr lang="en-US" sz="1250" dirty="0"/>
          </a:p>
        </p:txBody>
      </p:sp>
      <p:sp>
        <p:nvSpPr>
          <p:cNvPr id="26" name="R2_chip582"/>
          <p:cNvSpPr/>
          <p:nvPr/>
        </p:nvSpPr>
        <p:spPr>
          <a:xfrm>
            <a:off x="6263640" y="21386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Monday morning</a:t>
            </a:r>
            <a:endParaRPr lang="en-US" sz="900" dirty="0"/>
          </a:p>
        </p:txBody>
      </p:sp>
      <p:sp>
        <p:nvSpPr>
          <p:cNvPr id="27" name="bd_583"/>
          <p:cNvSpPr/>
          <p:nvPr/>
        </p:nvSpPr>
        <p:spPr>
          <a:xfrm>
            <a:off x="3246120" y="24831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584"/>
          <p:cNvSpPr/>
          <p:nvPr/>
        </p:nvSpPr>
        <p:spPr>
          <a:xfrm>
            <a:off x="3657600" y="24993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night</a:t>
            </a:r>
            <a:endParaRPr lang="en-US" sz="1250" dirty="0"/>
          </a:p>
        </p:txBody>
      </p:sp>
      <p:sp>
        <p:nvSpPr>
          <p:cNvPr id="29" name="R3_chip585"/>
          <p:cNvSpPr/>
          <p:nvPr/>
        </p:nvSpPr>
        <p:spPr>
          <a:xfrm>
            <a:off x="6263640" y="24993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night</a:t>
            </a:r>
            <a:endParaRPr lang="en-US" sz="900" dirty="0"/>
          </a:p>
        </p:txBody>
      </p:sp>
      <p:sp>
        <p:nvSpPr>
          <p:cNvPr id="30" name="bd_586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587"/>
          <p:cNvSpPr/>
          <p:nvPr/>
        </p:nvSpPr>
        <p:spPr>
          <a:xfrm>
            <a:off x="3657600" y="286004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1990s</a:t>
            </a:r>
            <a:endParaRPr lang="en-US" sz="1250" dirty="0"/>
          </a:p>
        </p:txBody>
      </p:sp>
      <p:sp>
        <p:nvSpPr>
          <p:cNvPr id="32" name="R4_chip588"/>
          <p:cNvSpPr/>
          <p:nvPr/>
        </p:nvSpPr>
        <p:spPr>
          <a:xfrm>
            <a:off x="6263640" y="286004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the 1990s</a:t>
            </a:r>
            <a:endParaRPr lang="en-US" sz="900" dirty="0"/>
          </a:p>
        </p:txBody>
      </p:sp>
      <p:sp>
        <p:nvSpPr>
          <p:cNvPr id="33" name="bd_589"/>
          <p:cNvSpPr/>
          <p:nvPr/>
        </p:nvSpPr>
        <p:spPr>
          <a:xfrm>
            <a:off x="3246120" y="320446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590"/>
          <p:cNvSpPr/>
          <p:nvPr/>
        </p:nvSpPr>
        <p:spPr>
          <a:xfrm>
            <a:off x="3657600" y="32207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birthday</a:t>
            </a:r>
            <a:endParaRPr lang="en-US" sz="1250" dirty="0"/>
          </a:p>
        </p:txBody>
      </p:sp>
      <p:sp>
        <p:nvSpPr>
          <p:cNvPr id="35" name="R5_chip591"/>
          <p:cNvSpPr/>
          <p:nvPr/>
        </p:nvSpPr>
        <p:spPr>
          <a:xfrm>
            <a:off x="6263640" y="32207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my birthday</a:t>
            </a:r>
            <a:endParaRPr lang="en-US" sz="900" dirty="0"/>
          </a:p>
        </p:txBody>
      </p:sp>
      <p:sp>
        <p:nvSpPr>
          <p:cNvPr id="36" name="bd_592"/>
          <p:cNvSpPr/>
          <p:nvPr/>
        </p:nvSpPr>
        <p:spPr>
          <a:xfrm>
            <a:off x="3246120" y="356514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593"/>
          <p:cNvSpPr/>
          <p:nvPr/>
        </p:nvSpPr>
        <p:spPr>
          <a:xfrm>
            <a:off x="3657600" y="35814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station</a:t>
            </a:r>
            <a:endParaRPr lang="en-US" sz="1250" dirty="0"/>
          </a:p>
        </p:txBody>
      </p:sp>
      <p:sp>
        <p:nvSpPr>
          <p:cNvPr id="38" name="R6_chip594"/>
          <p:cNvSpPr/>
          <p:nvPr/>
        </p:nvSpPr>
        <p:spPr>
          <a:xfrm>
            <a:off x="6263640" y="35814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station</a:t>
            </a:r>
            <a:endParaRPr lang="en-US" sz="900" dirty="0"/>
          </a:p>
        </p:txBody>
      </p:sp>
      <p:sp>
        <p:nvSpPr>
          <p:cNvPr id="39" name="bd_595"/>
          <p:cNvSpPr/>
          <p:nvPr/>
        </p:nvSpPr>
        <p:spPr>
          <a:xfrm>
            <a:off x="3246120" y="392582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40" name="gq_596"/>
          <p:cNvSpPr/>
          <p:nvPr/>
        </p:nvSpPr>
        <p:spPr>
          <a:xfrm>
            <a:off x="3657600" y="39420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car</a:t>
            </a:r>
            <a:endParaRPr lang="en-US" sz="1250" dirty="0"/>
          </a:p>
        </p:txBody>
      </p:sp>
      <p:sp>
        <p:nvSpPr>
          <p:cNvPr id="41" name="R7_chip597"/>
          <p:cNvSpPr/>
          <p:nvPr/>
        </p:nvSpPr>
        <p:spPr>
          <a:xfrm>
            <a:off x="6263640" y="39420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a car</a:t>
            </a:r>
            <a:endParaRPr lang="en-US" sz="900" dirty="0"/>
          </a:p>
        </p:txBody>
      </p:sp>
      <p:sp>
        <p:nvSpPr>
          <p:cNvPr id="42" name="bd_598"/>
          <p:cNvSpPr/>
          <p:nvPr/>
        </p:nvSpPr>
        <p:spPr>
          <a:xfrm>
            <a:off x="3246120" y="428650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gq_599"/>
          <p:cNvSpPr/>
          <p:nvPr/>
        </p:nvSpPr>
        <p:spPr>
          <a:xfrm>
            <a:off x="3657600" y="43027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bus</a:t>
            </a:r>
            <a:endParaRPr lang="en-US" sz="1250" dirty="0"/>
          </a:p>
        </p:txBody>
      </p:sp>
      <p:sp>
        <p:nvSpPr>
          <p:cNvPr id="44" name="R8_chip600"/>
          <p:cNvSpPr/>
          <p:nvPr/>
        </p:nvSpPr>
        <p:spPr>
          <a:xfrm>
            <a:off x="6263640" y="43027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the bus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That's me in the picture!</dc:title>
  <dc:subject>PptxGenJS Presentation</dc:subject>
  <dc:creator>PptxGenJS</dc:creator>
  <cp:lastModifiedBy>PptxGenJS</cp:lastModifiedBy>
  <cp:revision>1</cp:revision>
  <dcterms:created xsi:type="dcterms:W3CDTF">2026-10-21T09:55:56Z</dcterms:created>
  <dcterms:modified xsi:type="dcterms:W3CDTF">2026-10-21T09:55:56Z</dcterms:modified>
</cp:coreProperties>
</file>