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lead-in: write PHOTO on the board – short for photograph; we TAKE a photo. Teach photographer / photography and the stress: PHOtograph, phoTOgrapher, phoTOgraphy. Show the photo (Henri Cartier-Bresson, famous French photographer, 1908–2004). Ask the THINK question; take 3–4 guesses. Click: the example. Don't say the answer – it's in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REVISION (3 min). Pairs ask about their last holiday (3 questions each, past simple). 2 students tell the class. Today: the past simple's partner – the past continuous (what WAS happening).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Reading · prediction (3 min)
PREDICTION (3 min). Check: a decade = 10 years (the 1970s); time of year = season. Pairs guess and say why. DON'T click yet: students read the article on the next 2 slides, then come back – or click at the end of the reading. Answers (TG 1b): 1 the 1970s · 2 autumn · 3 an owl in a tree · 4 bread, to give the animals in the zoo.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Reading · Jane's story 1/2 (4 min)
READING 1/2 (4 min). The article is ON THE SLIDE (the book's text IN FULL, word for word). Students read and check their guesses, then complete the gaps with at / in / on (SB 2a sentences are inside the text). Click once per sentence. Answers (TG 2a): 1 In 1972, in London · 2 at university · 3 On Sundays. Pre-teach only: advertising agency (agenzia pubblicitaria), fall in love.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Reading · Jane's story 2/2 (4 min)
READING 2/2 (4 min). Students finish reading and check their guesses on slide 3 (go back and click the answers). Gap 4 (TG 2a): We were walking in the gardens one Sunday in autumn. Then ask: Were your guesses right? Who guessed the owl?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Reading · detail (4 min)
DETAIL (4 min). SB 1c. Pairs answer from the text; click once per question. Answers (TG): 1 She was living in London, in her early twenties, working for an advertising agency. 2 At a nightclub on a beach in the south of France; she found a job in Paris to be with him. 3 They went for a walk. 4 They heard a lot of noise from a tree – some little birds were attacking an owl. 5 She called Cartier-Bresson and he sent her a copy. 6 Because it was a happy time for her. 1d (whole class): Is there a photo with YOU in it that you really love?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· prepositions (4 min)
VOCABULARY (4 min). Elicit each column before clicking. 2.10 is long (the whole Vocabulary Bank) – play only part of it, or drill yourself. TG notes: at / in + shops and buildings are both OK at this level (at / in the supermarket); airport and station → at. Years from 2011 → twenty eleven. in the morning BUT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game (3 min)
GAME (3 min). TG Activation as a team race. Click once per line. Then 1 minute in pairs: A says a word (home, Friday, August…), B says the preposition (book closed).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past continuous (3 min)
GUIDED DISCOVERY (3 min). SB 3a: look at the highlighted verbs – which describe 1) an action in progress at a specific moment in the past, 2) the situation at the beginning of the story? Click once per sentence. Answers (TG): 1 were looking (when Cartier-Bresson took the photo) · 2 was living, was working. Elicit the form: was / were + -ing – like the present continuous, but was /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· past continuous (4 min)
POP-UP GRAMMAR (4 min). Elicit each column before clicking. TG grammar notes: we use the past continuous at the beginning of a story to set the scene; very often the 'action in progress' is interrupted by a short, completed action (past simple). when + past simple, while / when + past continuous. Grammar Bank audio 2.11 and 2.12 (listen and repeat) are not in our audio folder – play them from the book, or model the examples yourself and get students to copy the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class story (TPRS) (5 min)
TPRS CLASS STORY (5 min) – the past continuous + past simple, many times, before the practice. Click once per line. For each line: 1) say it, 2) ask the questions round the class (yes/no → either/or → what/where), 3) let the CLASS change details (accept their idea and use it in later lines): 'Was Luca wearing pyjamas? No? What was he wearing?' Students answer with one word or a short phrase – that's fine; repeat the full sentence yourself. Highlight the pattern: long action (was / were -ing) + short action (past simple). Finish: 'What happened next?'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retell (TPRS) (4 min)
STORY PROMPTS (4 min) – the story slide is gone; only key words remain. A retells lines 1–3, B lines 4–6, then swap. The grey line is a sentence starter for weaker students (cover it for strong pairs). Line 6: pairs change two details (person, day, place) and tell their new version to another pair. Listen for was / were + -ing + when + past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Grammar · practice (4 min)
CONTROLLED PRACTICE (4 min). Grammar Bank 2B a (the book's sentences, answers from the TG). Pairs say the full sentence; click once per line. Remember: the short action = past simple (went, gave, started).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Grammar game · mime (3 min)
GAME (3 min). SB 3c uses sound effects (audio 2.13, not in our folder). Without the audio: a volunteer mimes BOTH actions (long, then short), teams say the sentence. With the book audio: play each sound effect, pairs write the sentence. Click once per line to show the book's answer (TG 2.13).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Pronunciation · weak forms (3 min)
WEAK FORMS (3 min). Audio 2.14 is not in our folder: play it from the book, or read the sentences yourself at natural speed (was = /wəz/, were = /wə/ – unstressed). Answers (TG): 1 It was · 2 was staying · 3 were doing · 4 We were · 5 were visiting · 6 were…drinking, was doing. 4c: was and were are UNSTRESSED in positive sentences (strong /wɒz/ /wɜː/ only in short answers: Yes, I was). Drill: I was staying /aɪ wəz ˈsteɪɪŋ/.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Listening · Anya's photos (5 min)
LISTENING (5 min). Audio 2.15 is not in our folder: play it from the book, or read the script yourself (2 voices: Anya + friend). Script (TG): 1 This is me and my mum in York. It was my first term at university, and she came to visit me, and I took her on a tour round the city. – Is that the cathedral? – Yes, it's called York Minster. 2 This one's on the beach in Cornwall with my boyfriend, Ollie. I was staying with him in the Easter holidays, and we went for a walk. – It looks windy! – Yes, it was really windy and cold. 3 That's me and my friend Maisie. We were doing a music course, and this was at the party at the end of the course – the teachers made a corner with a big frame, hats and moustaches. 4 Me and two of my best friends – we were at school together. Libby has a house by the river, and we went there in September. 5 In Rome – I was there with my mum the summer before I went to university. She took this when we were visiting the Colosseum. 6 That's my mum, her partner and my sister Roz, on the river in Oxford. Every year we go punting. We were all drinking champagne, and Roz was doing the hard work! Answers: E 1 · C 2 · A 3 · F 4 · B 5 · D 6. Glossary: punt = a long flat boat (Oxford, Cambridge). 4e: what else do you remember about each photo?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Speaking · your photos (5 min)
SPEAKING (5 min). Questions one per click; model each with your own photo. Students SHOW real photos on their phones (great for the past continuous: What were you doing? Who were you with?). Note errors with was / were + -ing for 1 minute of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Exit · what can you remember? (2 min)
RETRIEVAL EXIT (2 min). Books closed. Set homework: Workbook 2B + Grammar Bank 2B exercise b (answers TG: 1 I broke my arm when I was playing football. 2 Were you driving fast when the police stopped you? 3 It was snowing when we left the pub. 4 I didn't see the match because I was working. 5 When you called me I was talking to my boss. 6 We were studying in Cambridge when we met. 7 Were they living in Rome when they had their first baby?) + Writing p.114 'Describing a photo' (use the questions from the speaking: Who took it? When? What was happening? Why do you like it?).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Vocabulary game · at / in / on (5 min)
OPTIONAL EXTENSION – PREPOSITIONS RACE (5 min). Item 1 is the example. Say the word; the first team with the correct phrase scores 1; a true sentence about themselves scores 1 more. Click: the answer. Finish by playing 2.10 (the Vocabulary Bank list) – students tick the ones they got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Pre-intermediate · SB pp.16–17 · VB p.153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That's me in the picture!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Photos, stories and the past continuous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📷  read the true story behind a famous photo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📍  use at, in, on for time and place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⏸  past continuous: I was walking when…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listen to a class story and answer questions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talk about your favourite photo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Maybe they're looking at a bird in a tree!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5755856" y="777240"/>
            <a:ext cx="2158568" cy="3200400"/>
          </a:xfrm>
          <a:prstGeom prst="roundRect">
            <a:avLst>
              <a:gd name="adj" fmla="val 72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a2_2b_couple_jpg_497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5801576" y="822960"/>
            <a:ext cx="2067128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Paris, a park, a couple… What are they looking at?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endParaRPr lang="en-US" sz="950" dirty="0"/>
          </a:p>
        </p:txBody>
      </p:sp>
      <p:sp>
        <p:nvSpPr>
          <p:cNvPr id="10" name="meta_2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9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Revision · last lesson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734673" y="1371600"/>
            <a:ext cx="1913934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a2_2b_anya_b_jpg_438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80393" y="1417320"/>
            <a:ext cx="1822494" cy="155448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200400"/>
            <a:ext cx="2743200" cy="1223264"/>
          </a:xfrm>
          <a:prstGeom prst="roundRect">
            <a:avLst>
              <a:gd name="adj" fmla="val 104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694176"/>
            <a:ext cx="2084832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2A: holidays, past simple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-ed endings /t/ /d/ /ɪd/</a:t>
            </a:r>
            <a:endParaRPr lang="en-US" sz="1100" dirty="0"/>
          </a:p>
        </p:txBody>
      </p:sp>
      <p:sp>
        <p:nvSpPr>
          <p:cNvPr id="20" name="kw_34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3246120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went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4096512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stayed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5120640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took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5971032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lost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6821424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7845552" y="1783080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</a:t>
            </a:r>
            <a:endParaRPr lang="en-US" sz="1200" dirty="0"/>
          </a:p>
        </p:txBody>
      </p:sp>
      <p:sp>
        <p:nvSpPr>
          <p:cNvPr id="27" name="w_41"/>
          <p:cNvSpPr/>
          <p:nvPr/>
        </p:nvSpPr>
        <p:spPr>
          <a:xfrm>
            <a:off x="3246120" y="2185416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</a:t>
            </a:r>
            <a:endParaRPr lang="en-US" sz="1200" dirty="0"/>
          </a:p>
        </p:txBody>
      </p:sp>
      <p:sp>
        <p:nvSpPr>
          <p:cNvPr id="28" name="lv_42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30" name="lv_44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1" name="cd_45"/>
          <p:cNvSpPr/>
          <p:nvPr/>
        </p:nvSpPr>
        <p:spPr>
          <a:xfrm>
            <a:off x="3246120" y="3172968"/>
            <a:ext cx="2756916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2" name="rh_46"/>
          <p:cNvSpPr/>
          <p:nvPr/>
        </p:nvSpPr>
        <p:spPr>
          <a:xfrm>
            <a:off x="3337560" y="3246120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Past simple</a:t>
            </a:r>
            <a:endParaRPr lang="en-US" sz="1100" dirty="0"/>
          </a:p>
        </p:txBody>
      </p:sp>
      <p:sp>
        <p:nvSpPr>
          <p:cNvPr id="33" name="R1_rl47"/>
          <p:cNvSpPr/>
          <p:nvPr/>
        </p:nvSpPr>
        <p:spPr>
          <a:xfrm>
            <a:off x="3383280" y="3630168"/>
            <a:ext cx="2482596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went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Rome. We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stayed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hotel.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take my passport!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good time? – Yes, 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cd_48"/>
          <p:cNvSpPr/>
          <p:nvPr/>
        </p:nvSpPr>
        <p:spPr>
          <a:xfrm>
            <a:off x="6112764" y="3172968"/>
            <a:ext cx="2756916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rh_49"/>
          <p:cNvSpPr/>
          <p:nvPr/>
        </p:nvSpPr>
        <p:spPr>
          <a:xfrm>
            <a:off x="6204204" y="3246120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Holidays</a:t>
            </a:r>
            <a:endParaRPr lang="en-US" sz="1100" dirty="0"/>
          </a:p>
        </p:txBody>
      </p:sp>
      <p:sp>
        <p:nvSpPr>
          <p:cNvPr id="36" name="R2_rl50"/>
          <p:cNvSpPr/>
          <p:nvPr/>
        </p:nvSpPr>
        <p:spPr>
          <a:xfrm>
            <a:off x="6249924" y="3630168"/>
            <a:ext cx="2482596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abroad · go sightseeing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stay in a hotel · hire a car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/ were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: The weather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amazing.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story?</a:t>
            </a:r>
            <a:endParaRPr lang="en-US" sz="2500" dirty="0"/>
          </a:p>
        </p:txBody>
      </p:sp>
      <p:pic>
        <p:nvPicPr>
          <p:cNvPr id="6" name="brP_5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55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photo. Guess! Then read and check.</a:t>
            </a:r>
            <a:endParaRPr lang="en-US" sz="1250" dirty="0"/>
          </a:p>
        </p:txBody>
      </p:sp>
      <p:sp>
        <p:nvSpPr>
          <p:cNvPr id="8" name="insIT_5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la foto. Indovina! Poi leggi e controlla.</a:t>
            </a:r>
            <a:endParaRPr lang="en-US" sz="950" dirty="0"/>
          </a:p>
        </p:txBody>
      </p:sp>
      <p:sp>
        <p:nvSpPr>
          <p:cNvPr id="9" name="cmd_57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🤔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endParaRPr lang="en-US" sz="950" dirty="0"/>
          </a:p>
        </p:txBody>
      </p:sp>
      <p:sp>
        <p:nvSpPr>
          <p:cNvPr id="10" name="meta_58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59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6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Reading · prediction   ·   📖 SB p.16 · 1a, 1b (answers: TG)</a:t>
            </a:r>
            <a:endParaRPr lang="en-US" sz="800" dirty="0"/>
          </a:p>
        </p:txBody>
      </p:sp>
      <p:sp>
        <p:nvSpPr>
          <p:cNvPr id="14" name="cd_62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6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65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why: I think it's the 1970s because of her coat.</a:t>
            </a:r>
            <a:endParaRPr lang="en-US" sz="1050" dirty="0"/>
          </a:p>
        </p:txBody>
      </p:sp>
      <p:sp>
        <p:nvSpPr>
          <p:cNvPr id="18" name="pf_66"/>
          <p:cNvSpPr/>
          <p:nvPr/>
        </p:nvSpPr>
        <p:spPr>
          <a:xfrm rot="-90000">
            <a:off x="957323" y="2569464"/>
            <a:ext cx="1422913" cy="2093976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67" descr="/home/claude/lls-course/v2/cache/a2_2b_couple_jpg_320x48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1003043" y="2615184"/>
            <a:ext cx="1331473" cy="2002536"/>
          </a:xfrm>
          <a:prstGeom prst="rect">
            <a:avLst/>
          </a:prstGeom>
        </p:spPr>
      </p:pic>
      <p:sp>
        <p:nvSpPr>
          <p:cNvPr id="20" name="bd_6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6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decade is it from?</a:t>
            </a:r>
            <a:endParaRPr lang="en-US" sz="1150" dirty="0"/>
          </a:p>
        </p:txBody>
      </p:sp>
      <p:sp>
        <p:nvSpPr>
          <p:cNvPr id="22" name="R1_chip7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1970s (1972)</a:t>
            </a:r>
            <a:endParaRPr lang="en-US" sz="1050" dirty="0"/>
          </a:p>
        </p:txBody>
      </p:sp>
      <p:sp>
        <p:nvSpPr>
          <p:cNvPr id="23" name="bd_7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7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of year is it?</a:t>
            </a:r>
            <a:endParaRPr lang="en-US" sz="1150" dirty="0"/>
          </a:p>
        </p:txBody>
      </p:sp>
      <p:sp>
        <p:nvSpPr>
          <p:cNvPr id="25" name="R2_chip7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autumn</a:t>
            </a:r>
            <a:endParaRPr lang="en-US" sz="1050" dirty="0"/>
          </a:p>
        </p:txBody>
      </p:sp>
      <p:sp>
        <p:nvSpPr>
          <p:cNvPr id="26" name="bd_7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7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they looking at?</a:t>
            </a:r>
            <a:endParaRPr lang="en-US" sz="1150" dirty="0"/>
          </a:p>
        </p:txBody>
      </p:sp>
      <p:sp>
        <p:nvSpPr>
          <p:cNvPr id="28" name="R3_chip7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owl in a tree</a:t>
            </a:r>
            <a:endParaRPr lang="en-US" sz="1050" dirty="0"/>
          </a:p>
        </p:txBody>
      </p:sp>
      <p:sp>
        <p:nvSpPr>
          <p:cNvPr id="29" name="bd_7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7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in the woman's pocket?</a:t>
            </a:r>
            <a:endParaRPr lang="en-US" sz="1150" dirty="0"/>
          </a:p>
        </p:txBody>
      </p:sp>
      <p:sp>
        <p:nvSpPr>
          <p:cNvPr id="31" name="R4_chip7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bread for the animals in the zoo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82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That's me in the picture!</a:t>
            </a:r>
            <a:endParaRPr lang="en-US" sz="2500" dirty="0"/>
          </a:p>
        </p:txBody>
      </p:sp>
      <p:pic>
        <p:nvPicPr>
          <p:cNvPr id="6" name="brP_8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84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Jane's story. Complete 1–3 with at, in or on.</a:t>
            </a:r>
            <a:endParaRPr lang="en-US" sz="1250" dirty="0"/>
          </a:p>
        </p:txBody>
      </p:sp>
      <p:sp>
        <p:nvSpPr>
          <p:cNvPr id="8" name="insIT_8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storia di Jane. Completa 1–3 con at, in o on.</a:t>
            </a:r>
            <a:endParaRPr lang="en-US" sz="950" dirty="0"/>
          </a:p>
        </p:txBody>
      </p:sp>
      <p:sp>
        <p:nvSpPr>
          <p:cNvPr id="9" name="cmd_86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7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✏️ </a:t>
            </a:r>
            <a:pPr algn="ctr" indent="0" marL="0">
              <a:buNone/>
            </a:pPr>
            <a:r>
              <a:rPr lang="en-US" sz="7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endParaRPr lang="en-US" sz="750" dirty="0"/>
          </a:p>
        </p:txBody>
      </p:sp>
      <p:sp>
        <p:nvSpPr>
          <p:cNvPr id="10" name="meta_87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88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50" dirty="0"/>
          </a:p>
        </p:txBody>
      </p:sp>
      <p:pic>
        <p:nvPicPr>
          <p:cNvPr id="12" name="logo_8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9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Reading · Jane's story 1/2   ·   📖 SB p.16 · 1b, 2a · the full article</a:t>
            </a:r>
            <a:endParaRPr lang="en-US" sz="800" dirty="0"/>
          </a:p>
        </p:txBody>
      </p:sp>
      <p:sp>
        <p:nvSpPr>
          <p:cNvPr id="14" name="cd_91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92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📰 Jane's story (part 1)</a:t>
            </a:r>
            <a:endParaRPr lang="en-US" sz="1700" dirty="0"/>
          </a:p>
        </p:txBody>
      </p:sp>
      <p:sp>
        <p:nvSpPr>
          <p:cNvPr id="16" name="ln_93"/>
          <p:cNvSpPr/>
          <p:nvPr/>
        </p:nvSpPr>
        <p:spPr>
          <a:xfrm>
            <a:off x="548640" y="1920240"/>
            <a:ext cx="5349240" cy="52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Guardian newspaper has a weekly feature called That's me in the picture, where people describe famous photos they were in. This photo was sent in by Jane Rangeley.</a:t>
            </a:r>
            <a:endParaRPr lang="en-US" sz="1050" dirty="0"/>
          </a:p>
        </p:txBody>
      </p:sp>
      <p:sp>
        <p:nvSpPr>
          <p:cNvPr id="17" name="ln_94"/>
          <p:cNvSpPr/>
          <p:nvPr/>
        </p:nvSpPr>
        <p:spPr>
          <a:xfrm>
            <a:off x="548640" y="2448900"/>
            <a:ext cx="5349240" cy="930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1972, I was living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London. I was in my early twenties, and I was working for an advertising agency. That summer, I went on a camping holiday with my parents in the south of France. One night, I went to a nightclub on the beach and I met a young Frenchman, and we fell in love.</a:t>
            </a:r>
            <a:endParaRPr lang="en-US" sz="1050" dirty="0"/>
          </a:p>
        </p:txBody>
      </p:sp>
      <p:sp>
        <p:nvSpPr>
          <p:cNvPr id="18" name="R1_lnA95"/>
          <p:cNvSpPr/>
          <p:nvPr/>
        </p:nvSpPr>
        <p:spPr>
          <a:xfrm>
            <a:off x="548640" y="2448900"/>
            <a:ext cx="5349240" cy="9306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1972, I was living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London. I was in my early twenties, and I was working for an advertising agency. That summer, I went on a camping holiday with my parents in the south of France. One night, I went to a nightclub on the beach and I met a young Frenchman, and we fell in love.</a:t>
            </a:r>
            <a:endParaRPr lang="en-US" sz="1050" dirty="0"/>
          </a:p>
        </p:txBody>
      </p:sp>
      <p:sp>
        <p:nvSpPr>
          <p:cNvPr id="19" name="ln_96"/>
          <p:cNvSpPr/>
          <p:nvPr/>
        </p:nvSpPr>
        <p:spPr>
          <a:xfrm>
            <a:off x="548640" y="3379595"/>
            <a:ext cx="5349240" cy="655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 got home, I immediately started looking for a job in Paris. He was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university there – he was studying medicine. In the end, I found a job as a secretary with UNESCO, and I went to live there.</a:t>
            </a:r>
            <a:endParaRPr lang="en-US" sz="1050" dirty="0"/>
          </a:p>
        </p:txBody>
      </p:sp>
      <p:sp>
        <p:nvSpPr>
          <p:cNvPr id="20" name="R2_lnA97"/>
          <p:cNvSpPr/>
          <p:nvPr/>
        </p:nvSpPr>
        <p:spPr>
          <a:xfrm>
            <a:off x="548640" y="3379595"/>
            <a:ext cx="5349240" cy="65528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 got home, I immediately started looking for a job in Paris. He was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university there – he was studying medicine. In the end, I found a job as a secretary with UNESCO, and I went to live there.</a:t>
            </a:r>
            <a:endParaRPr lang="en-US" sz="1050" dirty="0"/>
          </a:p>
        </p:txBody>
      </p:sp>
      <p:sp>
        <p:nvSpPr>
          <p:cNvPr id="21" name="ln_98"/>
          <p:cNvSpPr/>
          <p:nvPr/>
        </p:nvSpPr>
        <p:spPr>
          <a:xfrm>
            <a:off x="548640" y="4034881"/>
            <a:ext cx="5349240" cy="674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lived together for six years.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Sundays, we often went for a walk, and one of our favourite places was the botanical gardens. It had a zoo, and I often put some bread in my pocket to give to the animals.</a:t>
            </a:r>
            <a:endParaRPr lang="en-US" sz="1050" dirty="0"/>
          </a:p>
        </p:txBody>
      </p:sp>
      <p:sp>
        <p:nvSpPr>
          <p:cNvPr id="22" name="R3_lnA99"/>
          <p:cNvSpPr/>
          <p:nvPr/>
        </p:nvSpPr>
        <p:spPr>
          <a:xfrm>
            <a:off x="548640" y="4034881"/>
            <a:ext cx="5349240" cy="6742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lived together for six years.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On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Sundays, we often went for a walk, and one of our favourite places was the botanical gardens. It had a zoo, and I often put some bread in my pocket to give to the animals.</a:t>
            </a:r>
            <a:endParaRPr lang="en-US" sz="1050" dirty="0"/>
          </a:p>
        </p:txBody>
      </p:sp>
      <p:sp>
        <p:nvSpPr>
          <p:cNvPr id="23" name="cd_100"/>
          <p:cNvSpPr/>
          <p:nvPr/>
        </p:nvSpPr>
        <p:spPr>
          <a:xfrm>
            <a:off x="6263640" y="1417320"/>
            <a:ext cx="2651760" cy="786384"/>
          </a:xfrm>
          <a:prstGeom prst="roundRect">
            <a:avLst>
              <a:gd name="adj" fmla="val 16279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bkh_101"/>
          <p:cNvSpPr/>
          <p:nvPr/>
        </p:nvSpPr>
        <p:spPr>
          <a:xfrm>
            <a:off x="6373368" y="14721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📍 at · in · on (use them more than once!)</a:t>
            </a:r>
            <a:endParaRPr lang="en-US" sz="950" dirty="0"/>
          </a:p>
        </p:txBody>
      </p:sp>
      <p:sp>
        <p:nvSpPr>
          <p:cNvPr id="25" name="bk_102"/>
          <p:cNvSpPr/>
          <p:nvPr/>
        </p:nvSpPr>
        <p:spPr>
          <a:xfrm>
            <a:off x="6373368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endParaRPr lang="en-US" sz="1050" dirty="0"/>
          </a:p>
        </p:txBody>
      </p:sp>
      <p:sp>
        <p:nvSpPr>
          <p:cNvPr id="26" name="bk_103"/>
          <p:cNvSpPr/>
          <p:nvPr/>
        </p:nvSpPr>
        <p:spPr>
          <a:xfrm>
            <a:off x="7208520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endParaRPr lang="en-US" sz="1050" dirty="0"/>
          </a:p>
        </p:txBody>
      </p:sp>
      <p:sp>
        <p:nvSpPr>
          <p:cNvPr id="27" name="bk_104"/>
          <p:cNvSpPr/>
          <p:nvPr/>
        </p:nvSpPr>
        <p:spPr>
          <a:xfrm>
            <a:off x="8043672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endParaRPr lang="en-US" sz="1050" dirty="0"/>
          </a:p>
        </p:txBody>
      </p:sp>
      <p:sp>
        <p:nvSpPr>
          <p:cNvPr id="28" name="pf_105"/>
          <p:cNvSpPr/>
          <p:nvPr/>
        </p:nvSpPr>
        <p:spPr>
          <a:xfrm rot="120000">
            <a:off x="7103015" y="2313432"/>
            <a:ext cx="973009" cy="1417320"/>
          </a:xfrm>
          <a:prstGeom prst="roundRect">
            <a:avLst>
              <a:gd name="adj" fmla="val 159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9" name="ph_106" descr="/home/claude/lls-course/v2/cache/a2_2b_couple_jpg_212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7148735" y="2359152"/>
            <a:ext cx="881569" cy="1325880"/>
          </a:xfrm>
          <a:prstGeom prst="rect">
            <a:avLst/>
          </a:prstGeom>
        </p:spPr>
      </p:pic>
      <p:sp>
        <p:nvSpPr>
          <p:cNvPr id="30" name="cd_107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ii_108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2" name="ih_109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3" name="il_110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my early twenties = 20–23 years old</a:t>
            </a:r>
            <a:endParaRPr lang="en-US" sz="7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 in love = innamorarsi</a:t>
            </a:r>
            <a:endParaRPr lang="en-US" sz="7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113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That's me in the picture!</a:t>
            </a:r>
            <a:endParaRPr lang="en-US" sz="2500" dirty="0"/>
          </a:p>
        </p:txBody>
      </p:sp>
      <p:pic>
        <p:nvPicPr>
          <p:cNvPr id="6" name="brP_1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1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rest of the story. Complete gap 4 (two words).</a:t>
            </a:r>
            <a:endParaRPr lang="en-US" sz="1250" dirty="0"/>
          </a:p>
        </p:txBody>
      </p:sp>
      <p:sp>
        <p:nvSpPr>
          <p:cNvPr id="8" name="insIT_1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il resto della storia. Completa il 4 con at, in o on.</a:t>
            </a:r>
            <a:endParaRPr lang="en-US" sz="950" dirty="0"/>
          </a:p>
        </p:txBody>
      </p:sp>
      <p:sp>
        <p:nvSpPr>
          <p:cNvPr id="9" name="cmd_117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7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✏️ </a:t>
            </a:r>
            <a:pPr algn="ctr" indent="0" marL="0">
              <a:buNone/>
            </a:pPr>
            <a:r>
              <a:rPr lang="en-US" sz="7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endParaRPr lang="en-US" sz="750" dirty="0"/>
          </a:p>
        </p:txBody>
      </p:sp>
      <p:sp>
        <p:nvSpPr>
          <p:cNvPr id="10" name="meta_118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119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50" dirty="0"/>
          </a:p>
        </p:txBody>
      </p:sp>
      <p:pic>
        <p:nvPicPr>
          <p:cNvPr id="12" name="logo_12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2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Reading · Jane's story 2/2   ·   📖 SB p.16 · 1b, 2a · the full article</a:t>
            </a:r>
            <a:endParaRPr lang="en-US" sz="800" dirty="0"/>
          </a:p>
        </p:txBody>
      </p:sp>
      <p:sp>
        <p:nvSpPr>
          <p:cNvPr id="14" name="cd_122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123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📰 Jane's story (part 2)</a:t>
            </a:r>
            <a:endParaRPr lang="en-US" sz="1700" dirty="0"/>
          </a:p>
        </p:txBody>
      </p:sp>
      <p:sp>
        <p:nvSpPr>
          <p:cNvPr id="16" name="ln_124"/>
          <p:cNvSpPr/>
          <p:nvPr/>
        </p:nvSpPr>
        <p:spPr>
          <a:xfrm>
            <a:off x="548640" y="1920240"/>
            <a:ext cx="5349240" cy="110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walking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gardens one Sunday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autumn when we stopped because a lot of noise was coming from one of the trees. There was an owl there, maybe escaped from the zoo, and some little birds were attacking it. I also noticed a man with a camera. When we started walking again, I said 'Why was that man taking photographs of us?'.</a:t>
            </a:r>
            <a:endParaRPr lang="en-US" sz="1150" dirty="0"/>
          </a:p>
        </p:txBody>
      </p:sp>
      <p:sp>
        <p:nvSpPr>
          <p:cNvPr id="17" name="R1_lnA125"/>
          <p:cNvSpPr/>
          <p:nvPr/>
        </p:nvSpPr>
        <p:spPr>
          <a:xfrm>
            <a:off x="548640" y="1920240"/>
            <a:ext cx="5349240" cy="11048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walking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gardens one Sunday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autumn when we stopped because a lot of noise was coming from one of the trees. There was an owl there, maybe escaped from the zoo, and some little birds were attacking it. I also noticed a man with a camera. When we started walking again, I said 'Why was that man taking photographs of us?'.</a:t>
            </a:r>
            <a:endParaRPr lang="en-US" sz="1150" dirty="0"/>
          </a:p>
        </p:txBody>
      </p:sp>
      <p:sp>
        <p:nvSpPr>
          <p:cNvPr id="18" name="ln_126"/>
          <p:cNvSpPr/>
          <p:nvPr/>
        </p:nvSpPr>
        <p:spPr>
          <a:xfrm>
            <a:off x="548640" y="3025045"/>
            <a:ext cx="5349240" cy="127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now know that Cartier-Bresson often waited in parks in Paris for the perfect photo opportunity. The following year, one of my boyfriend's friends saw the photo in a magazine. Before I returned to London, I phoned the magazine and I got Cartier-Bresson's phone number. I was very shy, but I called him. He was very friendly, and he sent me a copy. Years later I met him and he signed the photo for me.</a:t>
            </a:r>
            <a:endParaRPr lang="en-US" sz="1150" dirty="0"/>
          </a:p>
        </p:txBody>
      </p:sp>
      <p:sp>
        <p:nvSpPr>
          <p:cNvPr id="19" name="ln_127"/>
          <p:cNvSpPr/>
          <p:nvPr/>
        </p:nvSpPr>
        <p:spPr>
          <a:xfrm>
            <a:off x="548640" y="4297628"/>
            <a:ext cx="5349240" cy="41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 this picture. It was a happy time for me. And although my French boyfriend and I broke up in the end, we're still in touch.</a:t>
            </a:r>
            <a:endParaRPr lang="en-US" sz="1150" dirty="0"/>
          </a:p>
        </p:txBody>
      </p:sp>
      <p:sp>
        <p:nvSpPr>
          <p:cNvPr id="20" name="cd_128"/>
          <p:cNvSpPr/>
          <p:nvPr/>
        </p:nvSpPr>
        <p:spPr>
          <a:xfrm>
            <a:off x="6263640" y="1417320"/>
            <a:ext cx="2651760" cy="786384"/>
          </a:xfrm>
          <a:prstGeom prst="roundRect">
            <a:avLst>
              <a:gd name="adj" fmla="val 16279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bkh_129"/>
          <p:cNvSpPr/>
          <p:nvPr/>
        </p:nvSpPr>
        <p:spPr>
          <a:xfrm>
            <a:off x="6373368" y="14721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📍 at · in · on</a:t>
            </a:r>
            <a:endParaRPr lang="en-US" sz="1100" dirty="0"/>
          </a:p>
        </p:txBody>
      </p:sp>
      <p:sp>
        <p:nvSpPr>
          <p:cNvPr id="22" name="bk_130"/>
          <p:cNvSpPr/>
          <p:nvPr/>
        </p:nvSpPr>
        <p:spPr>
          <a:xfrm>
            <a:off x="6373368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endParaRPr lang="en-US" sz="1050" dirty="0"/>
          </a:p>
        </p:txBody>
      </p:sp>
      <p:sp>
        <p:nvSpPr>
          <p:cNvPr id="23" name="bk_131"/>
          <p:cNvSpPr/>
          <p:nvPr/>
        </p:nvSpPr>
        <p:spPr>
          <a:xfrm>
            <a:off x="7208520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endParaRPr lang="en-US" sz="1050" dirty="0"/>
          </a:p>
        </p:txBody>
      </p:sp>
      <p:sp>
        <p:nvSpPr>
          <p:cNvPr id="24" name="bk_132"/>
          <p:cNvSpPr/>
          <p:nvPr/>
        </p:nvSpPr>
        <p:spPr>
          <a:xfrm>
            <a:off x="8043672" y="1819656"/>
            <a:ext cx="762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endParaRPr lang="en-US" sz="1050" dirty="0"/>
          </a:p>
        </p:txBody>
      </p:sp>
      <p:sp>
        <p:nvSpPr>
          <p:cNvPr id="25" name="pf_133"/>
          <p:cNvSpPr/>
          <p:nvPr/>
        </p:nvSpPr>
        <p:spPr>
          <a:xfrm rot="120000">
            <a:off x="7103015" y="2313432"/>
            <a:ext cx="973009" cy="1417320"/>
          </a:xfrm>
          <a:prstGeom prst="roundRect">
            <a:avLst>
              <a:gd name="adj" fmla="val 159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6" name="ph_134" descr="/home/claude/lls-course/v2/cache/a2_2b_couple_jpg_212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7148735" y="2359152"/>
            <a:ext cx="881569" cy="1325880"/>
          </a:xfrm>
          <a:prstGeom prst="rect">
            <a:avLst/>
          </a:prstGeom>
        </p:spPr>
      </p:pic>
      <p:sp>
        <p:nvSpPr>
          <p:cNvPr id="27" name="cd_135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ii_136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9" name="ih_137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0" name="il_138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owl = un gufo</a:t>
            </a:r>
            <a:endParaRPr lang="en-US" sz="7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break up = lasciarsi · be in touch = sentirsi</a:t>
            </a:r>
            <a:endParaRPr lang="en-US" sz="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141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is the photo special?</a:t>
            </a:r>
            <a:endParaRPr lang="en-US" sz="2500" dirty="0"/>
          </a:p>
        </p:txBody>
      </p:sp>
      <p:pic>
        <p:nvPicPr>
          <p:cNvPr id="6" name="brP_14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143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Jane's story again. Answer the questions.</a:t>
            </a:r>
            <a:endParaRPr lang="en-US" sz="1250" dirty="0"/>
          </a:p>
        </p:txBody>
      </p:sp>
      <p:sp>
        <p:nvSpPr>
          <p:cNvPr id="8" name="insIT_14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Rileggi la storia di Jane. Rispondi alle domande.</a:t>
            </a:r>
            <a:endParaRPr lang="en-US" sz="950" dirty="0"/>
          </a:p>
        </p:txBody>
      </p:sp>
      <p:sp>
        <p:nvSpPr>
          <p:cNvPr id="9" name="cmd_145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🔍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TROVA</a:t>
            </a:r>
            <a:endParaRPr lang="en-US" sz="950" dirty="0"/>
          </a:p>
        </p:txBody>
      </p:sp>
      <p:sp>
        <p:nvSpPr>
          <p:cNvPr id="10" name="meta_146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147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12" name="logo_14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4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Reading · detail   ·   📖 SB p.16 · 1c (answers: TG)</a:t>
            </a:r>
            <a:endParaRPr lang="en-US" sz="800" dirty="0"/>
          </a:p>
        </p:txBody>
      </p:sp>
      <p:sp>
        <p:nvSpPr>
          <p:cNvPr id="14" name="cd_150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5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15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153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was Jane living in 1972? → In London.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(The story is on slides 4 and 5.)</a:t>
            </a:r>
            <a:endParaRPr lang="en-US" sz="950" dirty="0"/>
          </a:p>
        </p:txBody>
      </p:sp>
      <p:sp>
        <p:nvSpPr>
          <p:cNvPr id="18" name="bd_154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155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Jane's life at the beginning?</a:t>
            </a:r>
            <a:endParaRPr lang="en-US" sz="1150" dirty="0"/>
          </a:p>
        </p:txBody>
      </p:sp>
      <p:sp>
        <p:nvSpPr>
          <p:cNvPr id="20" name="R1_chip156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London, early twenties, advertising agency</a:t>
            </a:r>
            <a:endParaRPr lang="en-US" sz="1050" dirty="0"/>
          </a:p>
        </p:txBody>
      </p:sp>
      <p:sp>
        <p:nvSpPr>
          <p:cNvPr id="21" name="bd_157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158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did she meet the Frenchman?</a:t>
            </a:r>
            <a:endParaRPr lang="en-US" sz="1150" dirty="0"/>
          </a:p>
        </p:txBody>
      </p:sp>
      <p:sp>
        <p:nvSpPr>
          <p:cNvPr id="23" name="R2_chip159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a nightclub on a beach in France</a:t>
            </a:r>
            <a:endParaRPr lang="en-US" sz="1050" dirty="0"/>
          </a:p>
        </p:txBody>
      </p:sp>
      <p:sp>
        <p:nvSpPr>
          <p:cNvPr id="24" name="bd_160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161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they often do on Sundays?</a:t>
            </a:r>
            <a:endParaRPr lang="en-US" sz="1150" dirty="0"/>
          </a:p>
        </p:txBody>
      </p:sp>
      <p:sp>
        <p:nvSpPr>
          <p:cNvPr id="26" name="R3_chip162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went for a walk.</a:t>
            </a:r>
            <a:endParaRPr lang="en-US" sz="1050" dirty="0"/>
          </a:p>
        </p:txBody>
      </p:sp>
      <p:sp>
        <p:nvSpPr>
          <p:cNvPr id="27" name="bd_163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164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did they stop in the gardens?</a:t>
            </a:r>
            <a:endParaRPr lang="en-US" sz="1150" dirty="0"/>
          </a:p>
        </p:txBody>
      </p:sp>
      <p:sp>
        <p:nvSpPr>
          <p:cNvPr id="29" name="R4_chip165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noise from a tree: birds attacking an owl</a:t>
            </a:r>
            <a:endParaRPr lang="en-US" sz="1050" dirty="0"/>
          </a:p>
        </p:txBody>
      </p:sp>
      <p:sp>
        <p:nvSpPr>
          <p:cNvPr id="30" name="bd_16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q_167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did she get a copy?</a:t>
            </a:r>
            <a:endParaRPr lang="en-US" sz="1150" dirty="0"/>
          </a:p>
        </p:txBody>
      </p:sp>
      <p:sp>
        <p:nvSpPr>
          <p:cNvPr id="32" name="R5_chip168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called Cartier-Bresson. He sent it.</a:t>
            </a:r>
            <a:endParaRPr lang="en-US" sz="1050" dirty="0"/>
          </a:p>
        </p:txBody>
      </p:sp>
      <p:sp>
        <p:nvSpPr>
          <p:cNvPr id="33" name="bd_169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q_170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the photo important to her?</a:t>
            </a:r>
            <a:endParaRPr lang="en-US" sz="1150" dirty="0"/>
          </a:p>
        </p:txBody>
      </p:sp>
      <p:sp>
        <p:nvSpPr>
          <p:cNvPr id="35" name="R6_chip171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was a happy time for her.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7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17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at, in, on</a:t>
            </a:r>
            <a:endParaRPr lang="en-US" sz="2500" dirty="0"/>
          </a:p>
        </p:txBody>
      </p:sp>
      <p:pic>
        <p:nvPicPr>
          <p:cNvPr id="6" name="brP_17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176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at, in or on? Look at the examples. What's the rule?</a:t>
            </a:r>
            <a:endParaRPr lang="en-US" sz="1250" dirty="0"/>
          </a:p>
        </p:txBody>
      </p:sp>
      <p:sp>
        <p:nvSpPr>
          <p:cNvPr id="8" name="insIT_17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at, in o on? Guarda gli esempi. Qual è la regola?</a:t>
            </a:r>
            <a:endParaRPr lang="en-US" sz="950" dirty="0"/>
          </a:p>
        </p:txBody>
      </p:sp>
      <p:sp>
        <p:nvSpPr>
          <p:cNvPr id="9" name="cmd_178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950" dirty="0"/>
          </a:p>
        </p:txBody>
      </p:sp>
      <p:sp>
        <p:nvSpPr>
          <p:cNvPr id="10" name="meta_179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180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12" name="logo_1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Vocabulary · prepositions   ·   📖 Vocabulary Bank Prepositions p.153 · audio 2.10</a:t>
            </a:r>
            <a:endParaRPr lang="en-US" sz="800" dirty="0"/>
          </a:p>
        </p:txBody>
      </p:sp>
      <p:sp>
        <p:nvSpPr>
          <p:cNvPr id="14" name="ah_183"/>
          <p:cNvSpPr/>
          <p:nvPr/>
        </p:nvSpPr>
        <p:spPr>
          <a:xfrm>
            <a:off x="3675888" y="45720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2.10   ▶ normal</a:t>
            </a:r>
            <a:endParaRPr lang="en-US" sz="1000" dirty="0"/>
          </a:p>
        </p:txBody>
      </p:sp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6" name="ah_184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7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8" name="cd_185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rh_186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</a:t>
            </a:r>
            <a:endParaRPr lang="en-US" sz="1250" dirty="0"/>
          </a:p>
        </p:txBody>
      </p:sp>
      <p:sp>
        <p:nvSpPr>
          <p:cNvPr id="20" name="pf_187"/>
          <p:cNvSpPr/>
          <p:nvPr/>
        </p:nvSpPr>
        <p:spPr>
          <a:xfrm>
            <a:off x="1144314" y="1938528"/>
            <a:ext cx="1109892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1" name="ph_188" descr="/home/claude/lls-course/v2/cache/a2_2b_anya_b_jpg_245x209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034" y="1984248"/>
            <a:ext cx="1018452" cy="868680"/>
          </a:xfrm>
          <a:prstGeom prst="rect">
            <a:avLst/>
          </a:prstGeom>
        </p:spPr>
      </p:pic>
      <p:sp>
        <p:nvSpPr>
          <p:cNvPr id="22" name="ru_189"/>
          <p:cNvSpPr/>
          <p:nvPr/>
        </p:nvSpPr>
        <p:spPr>
          <a:xfrm>
            <a:off x="4114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big places · long time</a:t>
            </a:r>
            <a:endParaRPr lang="en-US" sz="1050" dirty="0"/>
          </a:p>
        </p:txBody>
      </p:sp>
      <p:sp>
        <p:nvSpPr>
          <p:cNvPr id="23" name="R1_rx190"/>
          <p:cNvSpPr/>
          <p:nvPr/>
        </p:nvSpPr>
        <p:spPr>
          <a:xfrm>
            <a:off x="4114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Rome ·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kitchen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July ·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autumn ·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1972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morning</a:t>
            </a:r>
            <a:endParaRPr lang="en-US" sz="1050" dirty="0"/>
          </a:p>
        </p:txBody>
      </p:sp>
      <p:sp>
        <p:nvSpPr>
          <p:cNvPr id="24" name="R1_ri191"/>
          <p:cNvSpPr/>
          <p:nvPr/>
        </p:nvSpPr>
        <p:spPr>
          <a:xfrm>
            <a:off x="4114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città, stanze, mesi, stagioni, anni</a:t>
            </a:r>
            <a:endParaRPr lang="en-US" sz="900" dirty="0"/>
          </a:p>
        </p:txBody>
      </p:sp>
      <p:sp>
        <p:nvSpPr>
          <p:cNvPr id="25" name="cd_192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6" name="rh_193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</a:t>
            </a:r>
            <a:endParaRPr lang="en-US" sz="1250" dirty="0"/>
          </a:p>
        </p:txBody>
      </p:sp>
      <p:sp>
        <p:nvSpPr>
          <p:cNvPr id="27" name="pf_194"/>
          <p:cNvSpPr/>
          <p:nvPr/>
        </p:nvSpPr>
        <p:spPr>
          <a:xfrm>
            <a:off x="4036169" y="1938528"/>
            <a:ext cx="1117381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195" descr="/home/claude/lls-course/v2/cache/a2_2b_anya_c_jpg_247x209_3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1889" y="1984248"/>
            <a:ext cx="1025941" cy="868680"/>
          </a:xfrm>
          <a:prstGeom prst="rect">
            <a:avLst/>
          </a:prstGeom>
        </p:spPr>
      </p:pic>
      <p:sp>
        <p:nvSpPr>
          <p:cNvPr id="29" name="ru_196"/>
          <p:cNvSpPr/>
          <p:nvPr/>
        </p:nvSpPr>
        <p:spPr>
          <a:xfrm>
            <a:off x="33070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days · surfaces · transport</a:t>
            </a:r>
            <a:endParaRPr lang="en-US" sz="1050" dirty="0"/>
          </a:p>
        </p:txBody>
      </p:sp>
      <p:sp>
        <p:nvSpPr>
          <p:cNvPr id="30" name="R2_rx197"/>
          <p:cNvSpPr/>
          <p:nvPr/>
        </p:nvSpPr>
        <p:spPr>
          <a:xfrm>
            <a:off x="33070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Sunday ·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1st March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beach ·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wall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bus ·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train</a:t>
            </a:r>
            <a:endParaRPr lang="en-US" sz="1050" dirty="0"/>
          </a:p>
        </p:txBody>
      </p:sp>
      <p:sp>
        <p:nvSpPr>
          <p:cNvPr id="31" name="R2_ri198"/>
          <p:cNvSpPr/>
          <p:nvPr/>
        </p:nvSpPr>
        <p:spPr>
          <a:xfrm>
            <a:off x="33070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giorni, date, superfici, mezzi</a:t>
            </a:r>
            <a:endParaRPr lang="en-US" sz="900" dirty="0"/>
          </a:p>
        </p:txBody>
      </p:sp>
      <p:sp>
        <p:nvSpPr>
          <p:cNvPr id="32" name="cd_199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rh_200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</a:t>
            </a:r>
            <a:endParaRPr lang="en-US" sz="1250" dirty="0"/>
          </a:p>
        </p:txBody>
      </p:sp>
      <p:sp>
        <p:nvSpPr>
          <p:cNvPr id="34" name="pf_201"/>
          <p:cNvSpPr/>
          <p:nvPr/>
        </p:nvSpPr>
        <p:spPr>
          <a:xfrm>
            <a:off x="6946747" y="1938528"/>
            <a:ext cx="1087427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5" name="ph_202" descr="/home/claude/lls-course/v2/cache/a2_2b_anya_a_jpg_240x209_3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2467" y="1984248"/>
            <a:ext cx="995987" cy="868680"/>
          </a:xfrm>
          <a:prstGeom prst="rect">
            <a:avLst/>
          </a:prstGeom>
        </p:spPr>
      </p:pic>
      <p:sp>
        <p:nvSpPr>
          <p:cNvPr id="36" name="ru_203"/>
          <p:cNvSpPr/>
          <p:nvPr/>
        </p:nvSpPr>
        <p:spPr>
          <a:xfrm>
            <a:off x="62026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points: places and times</a:t>
            </a:r>
            <a:endParaRPr lang="en-US" sz="1050" dirty="0"/>
          </a:p>
        </p:txBody>
      </p:sp>
      <p:sp>
        <p:nvSpPr>
          <p:cNvPr id="37" name="R3_rx204"/>
          <p:cNvSpPr/>
          <p:nvPr/>
        </p:nvSpPr>
        <p:spPr>
          <a:xfrm>
            <a:off x="62026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home ·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work ·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party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6 o'clock ·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night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weekend ·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Christmas</a:t>
            </a:r>
            <a:endParaRPr lang="en-US" sz="1050" dirty="0"/>
          </a:p>
        </p:txBody>
      </p:sp>
      <p:sp>
        <p:nvSpPr>
          <p:cNvPr id="38" name="R3_ri205"/>
          <p:cNvSpPr/>
          <p:nvPr/>
        </p:nvSpPr>
        <p:spPr>
          <a:xfrm>
            <a:off x="62026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luoghi precisi, orari, feste</a:t>
            </a:r>
            <a:endParaRPr lang="en-US" sz="900" dirty="0"/>
          </a:p>
        </p:txBody>
      </p:sp>
      <p:sp>
        <p:nvSpPr>
          <p:cNvPr id="39" name="R4_wc206"/>
          <p:cNvSpPr/>
          <p:nvPr/>
        </p:nvSpPr>
        <p:spPr>
          <a:xfrm>
            <a:off x="320040" y="4544568"/>
            <a:ext cx="3172968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0" name="R4_w207"/>
          <p:cNvSpPr/>
          <p:nvPr/>
        </p:nvSpPr>
        <p:spPr>
          <a:xfrm>
            <a:off x="457200" y="45445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in the morning / afternoon / evening  BUT  at night   ·   at university (= studying there)   ·   2019 = twenty nineteen</a:t>
            </a:r>
            <a:endParaRPr lang="en-US" sz="7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10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at, in or on?</a:t>
            </a:r>
            <a:endParaRPr lang="en-US" sz="2500" dirty="0"/>
          </a:p>
        </p:txBody>
      </p:sp>
      <p:pic>
        <p:nvPicPr>
          <p:cNvPr id="6" name="brP_21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212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at, in or on? Be quick!</a:t>
            </a:r>
            <a:endParaRPr lang="en-US" sz="1250" dirty="0"/>
          </a:p>
        </p:txBody>
      </p:sp>
      <p:sp>
        <p:nvSpPr>
          <p:cNvPr id="8" name="insIT_21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at, in o on? Veloci!</a:t>
            </a:r>
            <a:endParaRPr lang="en-US" sz="950" dirty="0"/>
          </a:p>
        </p:txBody>
      </p:sp>
      <p:sp>
        <p:nvSpPr>
          <p:cNvPr id="9" name="cmd_21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950" dirty="0"/>
          </a:p>
        </p:txBody>
      </p:sp>
      <p:sp>
        <p:nvSpPr>
          <p:cNvPr id="10" name="meta_21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21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50" dirty="0"/>
          </a:p>
        </p:txBody>
      </p:sp>
      <p:pic>
        <p:nvPicPr>
          <p:cNvPr id="12" name="logo_21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1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Vocabulary game   ·   📖 VB p.153 · Activation</a:t>
            </a:r>
            <a:endParaRPr lang="en-US" sz="800" dirty="0"/>
          </a:p>
        </p:txBody>
      </p:sp>
      <p:sp>
        <p:nvSpPr>
          <p:cNvPr id="14" name="cd_219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2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22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222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word.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parola.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preposition + the word.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la preposizione + la parola.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right answer = 1 point.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Prima risposta giusta = 1 punto.</a:t>
            </a:r>
            <a:endParaRPr lang="en-US" sz="1050" dirty="0"/>
          </a:p>
        </p:txBody>
      </p:sp>
      <p:sp>
        <p:nvSpPr>
          <p:cNvPr id="18" name="st_223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224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0" name="gq_225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Christmas</a:t>
            </a:r>
            <a:endParaRPr lang="en-US" sz="1250" dirty="0"/>
          </a:p>
        </p:txBody>
      </p:sp>
      <p:sp>
        <p:nvSpPr>
          <p:cNvPr id="21" name="chip_226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Christmas</a:t>
            </a:r>
            <a:endParaRPr lang="en-US" sz="1200" dirty="0"/>
          </a:p>
        </p:txBody>
      </p:sp>
      <p:sp>
        <p:nvSpPr>
          <p:cNvPr id="22" name="bd_227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gq_228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July</a:t>
            </a:r>
            <a:endParaRPr lang="en-US" sz="1250" dirty="0"/>
          </a:p>
        </p:txBody>
      </p:sp>
      <p:sp>
        <p:nvSpPr>
          <p:cNvPr id="24" name="R1_chip229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July</a:t>
            </a:r>
            <a:endParaRPr lang="en-US" sz="1200" dirty="0"/>
          </a:p>
        </p:txBody>
      </p:sp>
      <p:sp>
        <p:nvSpPr>
          <p:cNvPr id="25" name="bd_230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gq_231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Monday morning</a:t>
            </a:r>
            <a:endParaRPr lang="en-US" sz="1250" dirty="0"/>
          </a:p>
        </p:txBody>
      </p:sp>
      <p:sp>
        <p:nvSpPr>
          <p:cNvPr id="27" name="R2_chip232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Monday morning</a:t>
            </a:r>
            <a:endParaRPr lang="en-US" sz="1200" dirty="0"/>
          </a:p>
        </p:txBody>
      </p:sp>
      <p:sp>
        <p:nvSpPr>
          <p:cNvPr id="28" name="bd_233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gq_234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the airport</a:t>
            </a:r>
            <a:endParaRPr lang="en-US" sz="1250" dirty="0"/>
          </a:p>
        </p:txBody>
      </p:sp>
      <p:sp>
        <p:nvSpPr>
          <p:cNvPr id="30" name="R3_chip235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the airport</a:t>
            </a:r>
            <a:endParaRPr lang="en-US" sz="1200" dirty="0"/>
          </a:p>
        </p:txBody>
      </p:sp>
      <p:sp>
        <p:nvSpPr>
          <p:cNvPr id="31" name="bd_236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gq_237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a bus</a:t>
            </a:r>
            <a:endParaRPr lang="en-US" sz="1250" dirty="0"/>
          </a:p>
        </p:txBody>
      </p:sp>
      <p:sp>
        <p:nvSpPr>
          <p:cNvPr id="33" name="R4_chip238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a bus</a:t>
            </a:r>
            <a:endParaRPr lang="en-US" sz="1200" dirty="0"/>
          </a:p>
        </p:txBody>
      </p:sp>
      <p:sp>
        <p:nvSpPr>
          <p:cNvPr id="34" name="bd_239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gq_240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2019</a:t>
            </a:r>
            <a:endParaRPr lang="en-US" sz="1250" dirty="0"/>
          </a:p>
        </p:txBody>
      </p:sp>
      <p:sp>
        <p:nvSpPr>
          <p:cNvPr id="36" name="R5_chip241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2019</a:t>
            </a:r>
            <a:endParaRPr lang="en-US" sz="1200" dirty="0"/>
          </a:p>
        </p:txBody>
      </p:sp>
      <p:sp>
        <p:nvSpPr>
          <p:cNvPr id="37" name="bd_242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gq_243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the weekend</a:t>
            </a:r>
            <a:endParaRPr lang="en-US" sz="1250" dirty="0"/>
          </a:p>
        </p:txBody>
      </p:sp>
      <p:sp>
        <p:nvSpPr>
          <p:cNvPr id="39" name="R6_chip244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the weekend</a:t>
            </a:r>
            <a:endParaRPr lang="en-US" sz="1200" dirty="0"/>
          </a:p>
        </p:txBody>
      </p:sp>
      <p:sp>
        <p:nvSpPr>
          <p:cNvPr id="40" name="bd_245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gq_246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the kitchen</a:t>
            </a:r>
            <a:endParaRPr lang="en-US" sz="1250" dirty="0"/>
          </a:p>
        </p:txBody>
      </p:sp>
      <p:sp>
        <p:nvSpPr>
          <p:cNvPr id="42" name="R7_chip247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the kitchen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50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was happening?</a:t>
            </a:r>
            <a:endParaRPr lang="en-US" sz="2300" dirty="0"/>
          </a:p>
        </p:txBody>
      </p:sp>
      <p:pic>
        <p:nvPicPr>
          <p:cNvPr id="6" name="brP_2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252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sentences from the story. Which use?</a:t>
            </a:r>
            <a:endParaRPr lang="en-US" sz="1250" dirty="0"/>
          </a:p>
        </p:txBody>
      </p:sp>
      <p:sp>
        <p:nvSpPr>
          <p:cNvPr id="8" name="insIT_2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le frasi della storia. Quale uso?</a:t>
            </a:r>
            <a:endParaRPr lang="en-US" sz="950" dirty="0"/>
          </a:p>
        </p:txBody>
      </p:sp>
      <p:sp>
        <p:nvSpPr>
          <p:cNvPr id="9" name="cmd_25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algn="ctr" indent="0" marL="0">
              <a:buNone/>
            </a:pPr>
            <a:r>
              <a:rPr lang="en-US" sz="9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endParaRPr lang="en-US" sz="950" dirty="0"/>
          </a:p>
        </p:txBody>
      </p:sp>
      <p:sp>
        <p:nvSpPr>
          <p:cNvPr id="10" name="meta_25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25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12" name="logo_2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past continuous   ·   📖 SB p.17 · 3a (answers: TG)</a:t>
            </a:r>
            <a:endParaRPr lang="en-US" sz="800" dirty="0"/>
          </a:p>
        </p:txBody>
      </p:sp>
      <p:sp>
        <p:nvSpPr>
          <p:cNvPr id="14" name="cd_259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2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uses</a:t>
            </a:r>
            <a:endParaRPr lang="en-US" sz="1300" dirty="0"/>
          </a:p>
        </p:txBody>
      </p:sp>
      <p:sp>
        <p:nvSpPr>
          <p:cNvPr id="17" name="lg_262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🎬 the scene</a:t>
            </a:r>
            <a:endParaRPr lang="en-US" sz="1050" dirty="0"/>
          </a:p>
        </p:txBody>
      </p:sp>
      <p:sp>
        <p:nvSpPr>
          <p:cNvPr id="18" name="lg_263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⏸ in progress</a:t>
            </a:r>
            <a:endParaRPr lang="en-US" sz="1050" dirty="0"/>
          </a:p>
        </p:txBody>
      </p:sp>
      <p:sp>
        <p:nvSpPr>
          <p:cNvPr id="19" name="sq_264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1972, I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living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London.</a:t>
            </a:r>
            <a:endParaRPr lang="en-US" sz="1200" dirty="0"/>
          </a:p>
        </p:txBody>
      </p:sp>
      <p:sp>
        <p:nvSpPr>
          <p:cNvPr id="20" name="R1_tag265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🎬 the scene</a:t>
            </a:r>
            <a:endParaRPr lang="en-US" sz="1150" dirty="0"/>
          </a:p>
        </p:txBody>
      </p:sp>
      <p:sp>
        <p:nvSpPr>
          <p:cNvPr id="21" name="sq_266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working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for an advertising agency.</a:t>
            </a:r>
            <a:endParaRPr lang="en-US" sz="1200" dirty="0"/>
          </a:p>
        </p:txBody>
      </p:sp>
      <p:sp>
        <p:nvSpPr>
          <p:cNvPr id="22" name="R2_tag267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🎬 the scene</a:t>
            </a:r>
            <a:endParaRPr lang="en-US" sz="1150" dirty="0"/>
          </a:p>
        </p:txBody>
      </p:sp>
      <p:sp>
        <p:nvSpPr>
          <p:cNvPr id="23" name="sq_268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walking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the gardens when we stopped.</a:t>
            </a:r>
            <a:endParaRPr lang="en-US" sz="1200" dirty="0"/>
          </a:p>
        </p:txBody>
      </p:sp>
      <p:sp>
        <p:nvSpPr>
          <p:cNvPr id="24" name="R3_tag269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⏸ in progress</a:t>
            </a:r>
            <a:endParaRPr lang="en-US" sz="1150" dirty="0"/>
          </a:p>
        </p:txBody>
      </p:sp>
      <p:sp>
        <p:nvSpPr>
          <p:cNvPr id="25" name="sq_270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 little birds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attacking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 owl.</a:t>
            </a:r>
            <a:endParaRPr lang="en-US" sz="1200" dirty="0"/>
          </a:p>
        </p:txBody>
      </p:sp>
      <p:sp>
        <p:nvSpPr>
          <p:cNvPr id="26" name="R4_tag271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⏸ in progress</a:t>
            </a:r>
            <a:endParaRPr lang="en-US" sz="1150" dirty="0"/>
          </a:p>
        </p:txBody>
      </p:sp>
      <p:sp>
        <p:nvSpPr>
          <p:cNvPr id="27" name="sq_272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'Why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that man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photos of us?'</a:t>
            </a:r>
            <a:endParaRPr lang="en-US" sz="1200" dirty="0"/>
          </a:p>
        </p:txBody>
      </p:sp>
      <p:sp>
        <p:nvSpPr>
          <p:cNvPr id="28" name="R5_tag273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⏸ in progress</a:t>
            </a:r>
            <a:endParaRPr lang="en-US" sz="1150" dirty="0"/>
          </a:p>
        </p:txBody>
      </p:sp>
      <p:sp>
        <p:nvSpPr>
          <p:cNvPr id="29" name="pf_274"/>
          <p:cNvSpPr/>
          <p:nvPr/>
        </p:nvSpPr>
        <p:spPr>
          <a:xfrm rot="-120000">
            <a:off x="1319071" y="3703320"/>
            <a:ext cx="699419" cy="1005840"/>
          </a:xfrm>
          <a:prstGeom prst="roundRect">
            <a:avLst>
              <a:gd name="adj" fmla="val 22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0" name="ph_275" descr="/home/claude/lls-course/v2/cache/a2_2b_couple_jpg_146x220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364791" y="3749040"/>
            <a:ext cx="607979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7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78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was walking when…</a:t>
            </a:r>
            <a:endParaRPr lang="en-US" sz="2400" dirty="0"/>
          </a:p>
        </p:txBody>
      </p:sp>
      <p:pic>
        <p:nvPicPr>
          <p:cNvPr id="6" name="brP_27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295144" cy="402336"/>
          </a:xfrm>
          <a:prstGeom prst="rect">
            <a:avLst/>
          </a:prstGeom>
        </p:spPr>
      </p:pic>
      <p:sp>
        <p:nvSpPr>
          <p:cNvPr id="7" name="ins_280"/>
          <p:cNvSpPr/>
          <p:nvPr/>
        </p:nvSpPr>
        <p:spPr>
          <a:xfrm>
            <a:off x="1353312" y="73152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we make it?</a:t>
            </a:r>
            <a:endParaRPr lang="en-US" sz="1250" dirty="0"/>
          </a:p>
        </p:txBody>
      </p:sp>
      <p:sp>
        <p:nvSpPr>
          <p:cNvPr id="8" name="insIT_28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 si forma?</a:t>
            </a:r>
            <a:endParaRPr lang="en-US" sz="950" dirty="0"/>
          </a:p>
        </p:txBody>
      </p:sp>
      <p:sp>
        <p:nvSpPr>
          <p:cNvPr id="9" name="cmd_282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950" dirty="0"/>
          </a:p>
        </p:txBody>
      </p:sp>
      <p:sp>
        <p:nvSpPr>
          <p:cNvPr id="10" name="meta_283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284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12" name="logo_28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8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past continuous   ·   📖 Grammar Bank 2B p.128 · audio 2.11, 2.12 (play from the book)</a:t>
            </a:r>
            <a:endParaRPr lang="en-US" sz="800" dirty="0"/>
          </a:p>
        </p:txBody>
      </p:sp>
      <p:sp>
        <p:nvSpPr>
          <p:cNvPr id="14" name="cd_287"/>
          <p:cNvSpPr/>
          <p:nvPr/>
        </p:nvSpPr>
        <p:spPr>
          <a:xfrm>
            <a:off x="3200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h_288"/>
          <p:cNvSpPr/>
          <p:nvPr/>
        </p:nvSpPr>
        <p:spPr>
          <a:xfrm>
            <a:off x="4297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</a:t>
            </a:r>
            <a:endParaRPr lang="en-US" sz="1250" dirty="0"/>
          </a:p>
        </p:txBody>
      </p:sp>
      <p:sp>
        <p:nvSpPr>
          <p:cNvPr id="16" name="pf_289"/>
          <p:cNvSpPr/>
          <p:nvPr/>
        </p:nvSpPr>
        <p:spPr>
          <a:xfrm>
            <a:off x="1002800" y="1938528"/>
            <a:ext cx="669020" cy="960120"/>
          </a:xfrm>
          <a:prstGeom prst="roundRect">
            <a:avLst>
              <a:gd name="adj" fmla="val 2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290" descr="/home/claude/lls-course/v2/cache/a2_2b_couple_jpg_139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20" y="1984248"/>
            <a:ext cx="577580" cy="868680"/>
          </a:xfrm>
          <a:prstGeom prst="rect">
            <a:avLst/>
          </a:prstGeom>
        </p:spPr>
      </p:pic>
      <p:sp>
        <p:nvSpPr>
          <p:cNvPr id="18" name="ru_291"/>
          <p:cNvSpPr/>
          <p:nvPr/>
        </p:nvSpPr>
        <p:spPr>
          <a:xfrm>
            <a:off x="4114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 / were + -ing</a:t>
            </a:r>
            <a:endParaRPr lang="en-US" sz="1050" dirty="0"/>
          </a:p>
        </p:txBody>
      </p:sp>
      <p:sp>
        <p:nvSpPr>
          <p:cNvPr id="19" name="R1_rx292"/>
          <p:cNvSpPr/>
          <p:nvPr/>
        </p:nvSpPr>
        <p:spPr>
          <a:xfrm>
            <a:off x="4114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living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London.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walking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R1_ri293"/>
          <p:cNvSpPr/>
          <p:nvPr/>
        </p:nvSpPr>
        <p:spPr>
          <a:xfrm>
            <a:off x="4114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ero / stavo + -ando</a:t>
            </a:r>
            <a:endParaRPr lang="en-US" sz="900" dirty="0"/>
          </a:p>
        </p:txBody>
      </p:sp>
      <p:sp>
        <p:nvSpPr>
          <p:cNvPr id="21" name="cd_294"/>
          <p:cNvSpPr/>
          <p:nvPr/>
        </p:nvSpPr>
        <p:spPr>
          <a:xfrm>
            <a:off x="24917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rh_295"/>
          <p:cNvSpPr/>
          <p:nvPr/>
        </p:nvSpPr>
        <p:spPr>
          <a:xfrm>
            <a:off x="26014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−</a:t>
            </a:r>
            <a:endParaRPr lang="en-US" sz="1250" dirty="0"/>
          </a:p>
        </p:txBody>
      </p:sp>
      <p:sp>
        <p:nvSpPr>
          <p:cNvPr id="23" name="pf_296"/>
          <p:cNvSpPr/>
          <p:nvPr/>
        </p:nvSpPr>
        <p:spPr>
          <a:xfrm>
            <a:off x="2956560" y="1938528"/>
            <a:ext cx="1104900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4" name="ph_297" descr="/home/claude/lls-course/v2/cache/a2_2b_anya_d_jpg_244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2280" y="1984248"/>
            <a:ext cx="1013460" cy="868680"/>
          </a:xfrm>
          <a:prstGeom prst="rect">
            <a:avLst/>
          </a:prstGeom>
        </p:spPr>
      </p:pic>
      <p:sp>
        <p:nvSpPr>
          <p:cNvPr id="25" name="ru_298"/>
          <p:cNvSpPr/>
          <p:nvPr/>
        </p:nvSpPr>
        <p:spPr>
          <a:xfrm>
            <a:off x="25831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wasn't / weren't + -ing</a:t>
            </a:r>
            <a:endParaRPr lang="en-US" sz="1050" dirty="0"/>
          </a:p>
        </p:txBody>
      </p:sp>
      <p:sp>
        <p:nvSpPr>
          <p:cNvPr id="26" name="R2_rx299"/>
          <p:cNvSpPr/>
          <p:nvPr/>
        </p:nvSpPr>
        <p:spPr>
          <a:xfrm>
            <a:off x="25831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wasn't working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weren't listening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R2_ri300"/>
          <p:cNvSpPr/>
          <p:nvPr/>
        </p:nvSpPr>
        <p:spPr>
          <a:xfrm>
            <a:off x="25831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 stavo…</a:t>
            </a:r>
            <a:endParaRPr lang="en-US" sz="900" dirty="0"/>
          </a:p>
        </p:txBody>
      </p:sp>
      <p:sp>
        <p:nvSpPr>
          <p:cNvPr id="28" name="cd_301"/>
          <p:cNvSpPr/>
          <p:nvPr/>
        </p:nvSpPr>
        <p:spPr>
          <a:xfrm>
            <a:off x="46634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302"/>
          <p:cNvSpPr/>
          <p:nvPr/>
        </p:nvSpPr>
        <p:spPr>
          <a:xfrm>
            <a:off x="47731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250" dirty="0"/>
          </a:p>
        </p:txBody>
      </p:sp>
      <p:sp>
        <p:nvSpPr>
          <p:cNvPr id="30" name="pf_303"/>
          <p:cNvSpPr/>
          <p:nvPr/>
        </p:nvSpPr>
        <p:spPr>
          <a:xfrm>
            <a:off x="5113020" y="1938528"/>
            <a:ext cx="1135380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304" descr="/home/claude/lls-course/v2/cache/a2_2b_anya_f_jpg_251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8740" y="1984248"/>
            <a:ext cx="1043940" cy="868680"/>
          </a:xfrm>
          <a:prstGeom prst="rect">
            <a:avLst/>
          </a:prstGeom>
        </p:spPr>
      </p:pic>
      <p:sp>
        <p:nvSpPr>
          <p:cNvPr id="32" name="ru_305"/>
          <p:cNvSpPr/>
          <p:nvPr/>
        </p:nvSpPr>
        <p:spPr>
          <a:xfrm>
            <a:off x="47548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 / Were + person + -ing?</a:t>
            </a:r>
            <a:endParaRPr lang="en-US" sz="1050" dirty="0"/>
          </a:p>
        </p:txBody>
      </p:sp>
      <p:sp>
        <p:nvSpPr>
          <p:cNvPr id="33" name="R3_rx306"/>
          <p:cNvSpPr/>
          <p:nvPr/>
        </p:nvSpPr>
        <p:spPr>
          <a:xfrm>
            <a:off x="47548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raining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 – Yes, it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34" name="R3_ri307"/>
          <p:cNvSpPr/>
          <p:nvPr/>
        </p:nvSpPr>
        <p:spPr>
          <a:xfrm>
            <a:off x="47548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Cosa stavi facendo?</a:t>
            </a:r>
            <a:endParaRPr lang="en-US" sz="900" dirty="0"/>
          </a:p>
        </p:txBody>
      </p:sp>
      <p:sp>
        <p:nvSpPr>
          <p:cNvPr id="35" name="cd_308"/>
          <p:cNvSpPr/>
          <p:nvPr/>
        </p:nvSpPr>
        <p:spPr>
          <a:xfrm>
            <a:off x="68351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rh_309"/>
          <p:cNvSpPr/>
          <p:nvPr/>
        </p:nvSpPr>
        <p:spPr>
          <a:xfrm>
            <a:off x="69448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 / while</a:t>
            </a:r>
            <a:endParaRPr lang="en-US" sz="1250" dirty="0"/>
          </a:p>
        </p:txBody>
      </p:sp>
      <p:sp>
        <p:nvSpPr>
          <p:cNvPr id="37" name="pf_310"/>
          <p:cNvSpPr/>
          <p:nvPr/>
        </p:nvSpPr>
        <p:spPr>
          <a:xfrm>
            <a:off x="7293719" y="1938528"/>
            <a:ext cx="1117381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8" name="ph_311" descr="/home/claude/lls-course/v2/cache/a2_2b_anya_c_jpg_247x209_3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9439" y="1984248"/>
            <a:ext cx="1025941" cy="868680"/>
          </a:xfrm>
          <a:prstGeom prst="rect">
            <a:avLst/>
          </a:prstGeom>
        </p:spPr>
      </p:pic>
      <p:sp>
        <p:nvSpPr>
          <p:cNvPr id="39" name="ru_312"/>
          <p:cNvSpPr/>
          <p:nvPr/>
        </p:nvSpPr>
        <p:spPr>
          <a:xfrm>
            <a:off x="69265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long action + short action</a:t>
            </a:r>
            <a:endParaRPr lang="en-US" sz="1050" dirty="0"/>
          </a:p>
        </p:txBody>
      </p:sp>
      <p:sp>
        <p:nvSpPr>
          <p:cNvPr id="40" name="R4_rx313"/>
          <p:cNvSpPr/>
          <p:nvPr/>
        </p:nvSpPr>
        <p:spPr>
          <a:xfrm>
            <a:off x="69265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walking when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we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saw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 owl.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While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sleeping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the phone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41" name="R4_ri314"/>
          <p:cNvSpPr/>
          <p:nvPr/>
        </p:nvSpPr>
        <p:spPr>
          <a:xfrm>
            <a:off x="69265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azione lunga (continuous) + breve (simple)</a:t>
            </a:r>
            <a:endParaRPr lang="en-US" sz="750" dirty="0"/>
          </a:p>
        </p:txBody>
      </p:sp>
      <p:sp>
        <p:nvSpPr>
          <p:cNvPr id="42" name="R5_wc315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R5_w316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When I was arriving, they were eating → ✓ When I arrived, they were eating (the short action = past simple)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19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Luca's terrible Sunday</a:t>
            </a:r>
            <a:endParaRPr lang="en-US" sz="2500" dirty="0"/>
          </a:p>
        </p:txBody>
      </p:sp>
      <p:pic>
        <p:nvPicPr>
          <p:cNvPr id="6" name="brP_3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21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32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endParaRPr lang="en-US" sz="950" dirty="0"/>
          </a:p>
        </p:txBody>
      </p:sp>
      <p:sp>
        <p:nvSpPr>
          <p:cNvPr id="10" name="meta_32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1" name="tag_32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story</a:t>
            </a:r>
            <a:endParaRPr lang="en-US" sz="850" dirty="0"/>
          </a:p>
        </p:txBody>
      </p:sp>
      <p:pic>
        <p:nvPicPr>
          <p:cNvPr id="12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class story (TPRS)</a:t>
            </a:r>
            <a:endParaRPr lang="en-US" sz="800" dirty="0"/>
          </a:p>
        </p:txBody>
      </p:sp>
      <p:sp>
        <p:nvSpPr>
          <p:cNvPr id="14" name="cd_328"/>
          <p:cNvSpPr/>
          <p:nvPr/>
        </p:nvSpPr>
        <p:spPr>
          <a:xfrm>
            <a:off x="320040" y="1417320"/>
            <a:ext cx="2697480" cy="3226816"/>
          </a:xfrm>
          <a:prstGeom prst="roundRect">
            <a:avLst>
              <a:gd name="adj" fmla="val 474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2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ih_33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7" name="il_331"/>
          <p:cNvSpPr/>
          <p:nvPr/>
        </p:nvSpPr>
        <p:spPr>
          <a:xfrm>
            <a:off x="886968" y="1911096"/>
            <a:ext cx="2039112" cy="265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sleeping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stava dormendo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running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stava correndo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looking at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stavano guardando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wearing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indossava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+ past simple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quando + passato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while + was / were -ing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mentre…</a:t>
            </a:r>
            <a:endParaRPr lang="en-US" sz="1150" dirty="0"/>
          </a:p>
        </p:txBody>
      </p:sp>
      <p:sp>
        <p:nvSpPr>
          <p:cNvPr id="18" name="R1_sb332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R1_sl333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Last Sunday at 8 o'clock, Luca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sleeping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bed.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Was Luca sleeping or working? · Where was he sleeping?</a:t>
            </a:r>
            <a:endParaRPr lang="en-US" sz="1250" dirty="0"/>
          </a:p>
        </p:txBody>
      </p:sp>
      <p:sp>
        <p:nvSpPr>
          <p:cNvPr id="20" name="R2_sb334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R2_sl335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While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sleeping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his phone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It was his boss!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Was he sleeping when the phone rang? · Who was it?</a:t>
            </a:r>
            <a:endParaRPr lang="en-US" sz="1250" dirty="0"/>
          </a:p>
        </p:txBody>
      </p:sp>
      <p:sp>
        <p:nvSpPr>
          <p:cNvPr id="22" name="R3_sb336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3_sl337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running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the station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started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rain.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Was he walking or running? · What happened?</a:t>
            </a:r>
            <a:endParaRPr lang="en-US" sz="1250" dirty="0"/>
          </a:p>
        </p:txBody>
      </p:sp>
      <p:sp>
        <p:nvSpPr>
          <p:cNvPr id="24" name="R4_sb338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R4_sl339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train, everybody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looking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him. He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wearing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his pyjamas!</a:t>
            </a:r>
            <a:endParaRPr lang="en-US" sz="10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were people doing? · What was he wearing?</a:t>
            </a:r>
            <a:endParaRPr lang="en-US" sz="1000" dirty="0"/>
          </a:p>
        </p:txBody>
      </p:sp>
      <p:sp>
        <p:nvSpPr>
          <p:cNvPr id="26" name="R5_sb340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R5_sl341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work his boss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laughing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: 'Luca… today is Sunday!'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Was the boss angry or laughing? · What day was it?</a:t>
            </a:r>
            <a:endParaRPr lang="en-US" sz="1250" dirty="0"/>
          </a:p>
        </p:txBody>
      </p:sp>
      <p:sp>
        <p:nvSpPr>
          <p:cNvPr id="28" name="R6_sb342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R6_sl343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you? What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last Sunday at 8 o'clock?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Were you sleeping? · Were you working?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46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Retell Luca's story!</a:t>
            </a:r>
            <a:endParaRPr lang="en-US" sz="2500" dirty="0"/>
          </a:p>
        </p:txBody>
      </p:sp>
      <p:pic>
        <p:nvPicPr>
          <p:cNvPr id="6" name="brP_3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Retell Luca's story to your partner. Use the prompts!</a:t>
            </a:r>
            <a:endParaRPr lang="en-US" sz="1250" dirty="0"/>
          </a:p>
        </p:txBody>
      </p:sp>
      <p:sp>
        <p:nvSpPr>
          <p:cNvPr id="8" name="insIT_3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Racconta la storia di Luca al compagno. Usa gli spunti!</a:t>
            </a:r>
            <a:endParaRPr lang="en-US" sz="950" dirty="0"/>
          </a:p>
        </p:txBody>
      </p:sp>
      <p:sp>
        <p:nvSpPr>
          <p:cNvPr id="9" name="cmd_350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950" dirty="0"/>
          </a:p>
        </p:txBody>
      </p:sp>
      <p:sp>
        <p:nvSpPr>
          <p:cNvPr id="10" name="meta_351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352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retell</a:t>
            </a:r>
            <a:endParaRPr lang="en-US" sz="850" dirty="0"/>
          </a:p>
        </p:txBody>
      </p:sp>
      <p:pic>
        <p:nvPicPr>
          <p:cNvPr id="12" name="logo_3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retell (TPRS)</a:t>
            </a:r>
            <a:endParaRPr lang="en-US" sz="800" dirty="0"/>
          </a:p>
        </p:txBody>
      </p:sp>
      <p:sp>
        <p:nvSpPr>
          <p:cNvPr id="14" name="cd_355"/>
          <p:cNvSpPr/>
          <p:nvPr/>
        </p:nvSpPr>
        <p:spPr>
          <a:xfrm>
            <a:off x="320040" y="1417320"/>
            <a:ext cx="2697480" cy="2063496"/>
          </a:xfrm>
          <a:prstGeom prst="roundRect">
            <a:avLst>
              <a:gd name="adj" fmla="val 62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5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ih_35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7" name="il_358"/>
          <p:cNvSpPr/>
          <p:nvPr/>
        </p:nvSpPr>
        <p:spPr>
          <a:xfrm>
            <a:off x="886968" y="1911096"/>
            <a:ext cx="2039112" cy="1496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/ were + -ing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the long action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+ past simple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the short action</a:t>
            </a:r>
            <a:endParaRPr lang="en-US" sz="11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while + was / were -ing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mentre…</a:t>
            </a:r>
            <a:endParaRPr lang="en-US" sz="1150" dirty="0"/>
          </a:p>
        </p:txBody>
      </p:sp>
      <p:sp>
        <p:nvSpPr>
          <p:cNvPr id="18" name="R1_sb359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R1_sl360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Sunday · 8 o'clock · sleep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Last Sunday at 8 o'clock, Luca was sleeping…</a:t>
            </a:r>
            <a:endParaRPr lang="en-US" sz="1250" dirty="0"/>
          </a:p>
        </p:txBody>
      </p:sp>
      <p:sp>
        <p:nvSpPr>
          <p:cNvPr id="20" name="R2_sb361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R2_sl362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phone · ring · boss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While he was sleeping…</a:t>
            </a:r>
            <a:endParaRPr lang="en-US" sz="1250" dirty="0"/>
          </a:p>
        </p:txBody>
      </p:sp>
      <p:sp>
        <p:nvSpPr>
          <p:cNvPr id="22" name="R3_sb363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3_sl364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· station · rain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He was running to the station when…</a:t>
            </a:r>
            <a:endParaRPr lang="en-US" sz="1250" dirty="0"/>
          </a:p>
        </p:txBody>
      </p:sp>
      <p:sp>
        <p:nvSpPr>
          <p:cNvPr id="24" name="R4_sb365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R4_sl366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train · people · look · pyjamas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On the train…</a:t>
            </a:r>
            <a:endParaRPr lang="en-US" sz="1250" dirty="0"/>
          </a:p>
        </p:txBody>
      </p:sp>
      <p:sp>
        <p:nvSpPr>
          <p:cNvPr id="26" name="R5_sb367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R5_sl368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boss · laugh · Sunday!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At work…</a:t>
            </a:r>
            <a:endParaRPr lang="en-US" sz="1250" dirty="0"/>
          </a:p>
        </p:txBody>
      </p:sp>
      <p:sp>
        <p:nvSpPr>
          <p:cNvPr id="28" name="R6_sb369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R6_sl370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YOU: change 2 things!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Last Saturday at 10 o'clock, Maria was…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7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37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 it happening?</a:t>
            </a:r>
            <a:endParaRPr lang="en-US" sz="2500" dirty="0"/>
          </a:p>
        </p:txBody>
      </p:sp>
      <p:pic>
        <p:nvPicPr>
          <p:cNvPr id="6" name="brP_37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88052" cy="402336"/>
          </a:xfrm>
          <a:prstGeom prst="rect">
            <a:avLst/>
          </a:prstGeom>
        </p:spPr>
      </p:pic>
      <p:sp>
        <p:nvSpPr>
          <p:cNvPr id="7" name="ins_375"/>
          <p:cNvSpPr/>
          <p:nvPr/>
        </p:nvSpPr>
        <p:spPr>
          <a:xfrm>
            <a:off x="1353312" y="731520"/>
            <a:ext cx="4732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 simple or past continuous? Say the sentence.</a:t>
            </a:r>
            <a:endParaRPr lang="en-US" sz="1250" dirty="0"/>
          </a:p>
        </p:txBody>
      </p:sp>
      <p:sp>
        <p:nvSpPr>
          <p:cNvPr id="8" name="insIT_37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 simple o past continuous? Di' la frase.</a:t>
            </a:r>
            <a:endParaRPr lang="en-US" sz="950" dirty="0"/>
          </a:p>
        </p:txBody>
      </p:sp>
      <p:sp>
        <p:nvSpPr>
          <p:cNvPr id="9" name="cmd_377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✏️ </a:t>
            </a:r>
            <a:pPr algn="ctr" indent="0" marL="0">
              <a:buNone/>
            </a:pPr>
            <a:r>
              <a:rPr lang="en-US" sz="7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algn="ctr"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7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endParaRPr lang="en-US" sz="750" dirty="0"/>
          </a:p>
        </p:txBody>
      </p:sp>
      <p:sp>
        <p:nvSpPr>
          <p:cNvPr id="10" name="meta_378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379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3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practice   ·   📖 Grammar Bank 2B p.129 · a (answers: TG)</a:t>
            </a:r>
            <a:endParaRPr lang="en-US" sz="800" dirty="0"/>
          </a:p>
        </p:txBody>
      </p:sp>
      <p:sp>
        <p:nvSpPr>
          <p:cNvPr id="14" name="cd_382"/>
          <p:cNvSpPr/>
          <p:nvPr/>
        </p:nvSpPr>
        <p:spPr>
          <a:xfrm>
            <a:off x="320040" y="141732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8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38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385"/>
          <p:cNvSpPr/>
          <p:nvPr/>
        </p:nvSpPr>
        <p:spPr>
          <a:xfrm>
            <a:off x="886968" y="1911096"/>
            <a:ext cx="2039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this photo when we ___ in Greece. (take · travel) → I took this photo when we were travelling in Greece.</a:t>
            </a:r>
            <a:endParaRPr lang="en-US" sz="1050" dirty="0"/>
          </a:p>
        </p:txBody>
      </p:sp>
      <p:sp>
        <p:nvSpPr>
          <p:cNvPr id="18" name="pf_386"/>
          <p:cNvSpPr/>
          <p:nvPr/>
        </p:nvSpPr>
        <p:spPr>
          <a:xfrm rot="-90000">
            <a:off x="685012" y="2971800"/>
            <a:ext cx="1967537" cy="1691640"/>
          </a:xfrm>
          <a:prstGeom prst="roundRect">
            <a:avLst>
              <a:gd name="adj" fmla="val 91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387" descr="/home/claude/lls-course/v2/cache/a2_2b_anya_b_jpg_451x385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730732" y="3017520"/>
            <a:ext cx="1876097" cy="1600200"/>
          </a:xfrm>
          <a:prstGeom prst="rect">
            <a:avLst/>
          </a:prstGeom>
        </p:spPr>
      </p:pic>
      <p:sp>
        <p:nvSpPr>
          <p:cNvPr id="20" name="bd_38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38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___ his wife when he ___ in Japan. (meet · live)</a:t>
            </a:r>
            <a:endParaRPr lang="en-US" sz="1000" dirty="0"/>
          </a:p>
        </p:txBody>
      </p:sp>
      <p:sp>
        <p:nvSpPr>
          <p:cNvPr id="22" name="R1_chip39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 · was living</a:t>
            </a:r>
            <a:endParaRPr lang="en-US" sz="1050" dirty="0"/>
          </a:p>
        </p:txBody>
      </p:sp>
      <p:sp>
        <p:nvSpPr>
          <p:cNvPr id="23" name="bd_39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39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she ___ a coat when she went out? (wear)</a:t>
            </a:r>
            <a:endParaRPr lang="en-US" sz="1000" dirty="0"/>
          </a:p>
        </p:txBody>
      </p:sp>
      <p:sp>
        <p:nvSpPr>
          <p:cNvPr id="25" name="R2_chip39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she wearing</a:t>
            </a:r>
            <a:endParaRPr lang="en-US" sz="1050" dirty="0"/>
          </a:p>
        </p:txBody>
      </p:sp>
      <p:sp>
        <p:nvSpPr>
          <p:cNvPr id="26" name="bd_39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39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sun ___ when I went to work. (shine)</a:t>
            </a:r>
            <a:endParaRPr lang="en-US" sz="1000" dirty="0"/>
          </a:p>
        </p:txBody>
      </p:sp>
      <p:sp>
        <p:nvSpPr>
          <p:cNvPr id="28" name="R3_chip39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shining</a:t>
            </a:r>
            <a:endParaRPr lang="en-US" sz="1050" dirty="0"/>
          </a:p>
        </p:txBody>
      </p:sp>
      <p:sp>
        <p:nvSpPr>
          <p:cNvPr id="29" name="bd_39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39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___ you ___ at 7.30 last night? (do)</a:t>
            </a:r>
            <a:endParaRPr lang="en-US" sz="1000" dirty="0"/>
          </a:p>
        </p:txBody>
      </p:sp>
      <p:sp>
        <p:nvSpPr>
          <p:cNvPr id="31" name="R4_chip39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you doing</a:t>
            </a:r>
            <a:endParaRPr lang="en-US" sz="1050" dirty="0"/>
          </a:p>
        </p:txBody>
      </p:sp>
      <p:sp>
        <p:nvSpPr>
          <p:cNvPr id="32" name="bd_400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401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when you gave the instructions. (not listen)</a:t>
            </a:r>
            <a:endParaRPr lang="en-US" sz="1000" dirty="0"/>
          </a:p>
        </p:txBody>
      </p:sp>
      <p:sp>
        <p:nvSpPr>
          <p:cNvPr id="34" name="R5_chip402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wasn't listening</a:t>
            </a:r>
            <a:endParaRPr lang="en-US" sz="1050" dirty="0"/>
          </a:p>
        </p:txBody>
      </p:sp>
      <p:sp>
        <p:nvSpPr>
          <p:cNvPr id="35" name="bd_403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404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started to rain when we ___ in the park. (run)</a:t>
            </a:r>
            <a:endParaRPr lang="en-US" sz="1000" dirty="0"/>
          </a:p>
        </p:txBody>
      </p:sp>
      <p:sp>
        <p:nvSpPr>
          <p:cNvPr id="37" name="R6_chip405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running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0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408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was happening?</a:t>
            </a:r>
            <a:endParaRPr lang="en-US" sz="2300" dirty="0"/>
          </a:p>
        </p:txBody>
      </p:sp>
      <p:pic>
        <p:nvPicPr>
          <p:cNvPr id="6" name="brP_40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410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the mime. Say what was happening!</a:t>
            </a:r>
            <a:endParaRPr lang="en-US" sz="1250" dirty="0"/>
          </a:p>
        </p:txBody>
      </p:sp>
      <p:sp>
        <p:nvSpPr>
          <p:cNvPr id="8" name="insIT_41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il mimo. Di' cosa stava succedendo!</a:t>
            </a:r>
            <a:endParaRPr lang="en-US" sz="950" dirty="0"/>
          </a:p>
        </p:txBody>
      </p:sp>
      <p:sp>
        <p:nvSpPr>
          <p:cNvPr id="9" name="cmd_412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endParaRPr lang="en-US" sz="950" dirty="0"/>
          </a:p>
        </p:txBody>
      </p:sp>
      <p:sp>
        <p:nvSpPr>
          <p:cNvPr id="10" name="meta_413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414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50" dirty="0"/>
          </a:p>
        </p:txBody>
      </p:sp>
      <p:pic>
        <p:nvPicPr>
          <p:cNvPr id="12" name="logo_41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1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game · mime   ·   📖 SB p.17 · 3c (audio 2.13 = sound effects, play from the book)</a:t>
            </a:r>
            <a:endParaRPr lang="en-US" sz="800" dirty="0"/>
          </a:p>
        </p:txBody>
      </p:sp>
      <p:sp>
        <p:nvSpPr>
          <p:cNvPr id="14" name="cd_417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1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41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420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student mimes both actions.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Uno studente mima le due azioni.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 say the sentence: …was / were -ing when…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squadre dicono la frase: …was / were -ing when…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sentence = 1 point.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Frase giusta = 1 punto.</a:t>
            </a:r>
            <a:endParaRPr lang="en-US" sz="1000" dirty="0"/>
          </a:p>
        </p:txBody>
      </p:sp>
      <p:sp>
        <p:nvSpPr>
          <p:cNvPr id="18" name="st_421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422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0" name="gq_423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tennis · start to rain</a:t>
            </a:r>
            <a:endParaRPr lang="en-US" sz="1250" dirty="0"/>
          </a:p>
        </p:txBody>
      </p:sp>
      <p:sp>
        <p:nvSpPr>
          <p:cNvPr id="21" name="chip_424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 were playing tennis when it started to rain.</a:t>
            </a:r>
            <a:endParaRPr lang="en-US" sz="1100" dirty="0"/>
          </a:p>
        </p:txBody>
      </p:sp>
      <p:sp>
        <p:nvSpPr>
          <p:cNvPr id="22" name="bd_425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gq_426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drive · somebody phone</a:t>
            </a:r>
            <a:endParaRPr lang="en-US" sz="1250" dirty="0"/>
          </a:p>
        </p:txBody>
      </p:sp>
      <p:sp>
        <p:nvSpPr>
          <p:cNvPr id="24" name="R1_chip427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was driving when somebody phoned her.</a:t>
            </a:r>
            <a:endParaRPr lang="en-US" sz="1100" dirty="0"/>
          </a:p>
        </p:txBody>
      </p:sp>
      <p:sp>
        <p:nvSpPr>
          <p:cNvPr id="25" name="bd_428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gq_429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party · the police come</a:t>
            </a:r>
            <a:endParaRPr lang="en-US" sz="1250" dirty="0"/>
          </a:p>
        </p:txBody>
      </p:sp>
      <p:sp>
        <p:nvSpPr>
          <p:cNvPr id="27" name="R2_chip430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 were having a party when the police came.</a:t>
            </a:r>
            <a:endParaRPr lang="en-US" sz="1100" dirty="0"/>
          </a:p>
        </p:txBody>
      </p:sp>
      <p:sp>
        <p:nvSpPr>
          <p:cNvPr id="28" name="bd_431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gq_432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shower · somebody knock</a:t>
            </a:r>
            <a:endParaRPr lang="en-US" sz="1250" dirty="0"/>
          </a:p>
        </p:txBody>
      </p:sp>
      <p:sp>
        <p:nvSpPr>
          <p:cNvPr id="30" name="R3_chip433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was having a shower when somebody knocked at the door.</a:t>
            </a:r>
            <a:endParaRPr lang="en-US" sz="1050" dirty="0"/>
          </a:p>
        </p:txBody>
      </p:sp>
      <p:sp>
        <p:nvSpPr>
          <p:cNvPr id="31" name="bd_434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gq_435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· the baby start to cry</a:t>
            </a:r>
            <a:endParaRPr lang="en-US" sz="1250" dirty="0"/>
          </a:p>
        </p:txBody>
      </p:sp>
      <p:sp>
        <p:nvSpPr>
          <p:cNvPr id="33" name="R4_chip436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 were sleeping when the baby started to cry.</a:t>
            </a:r>
            <a:endParaRPr lang="en-US" sz="1100" dirty="0"/>
          </a:p>
        </p:txBody>
      </p:sp>
      <p:sp>
        <p:nvSpPr>
          <p:cNvPr id="34" name="bd_437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gq_438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walk the dog · meet a friend</a:t>
            </a:r>
            <a:endParaRPr lang="en-US" sz="1250" dirty="0"/>
          </a:p>
        </p:txBody>
      </p:sp>
      <p:sp>
        <p:nvSpPr>
          <p:cNvPr id="36" name="R5_chip439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was walking her dog when she met a friend.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4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442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 /wəz/, were /wə/</a:t>
            </a:r>
            <a:endParaRPr lang="en-US" sz="2500" dirty="0"/>
          </a:p>
        </p:txBody>
      </p:sp>
      <p:pic>
        <p:nvPicPr>
          <p:cNvPr id="6" name="brP_44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444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complete. Is was / were strong or weak?</a:t>
            </a:r>
            <a:endParaRPr lang="en-US" sz="1250" dirty="0"/>
          </a:p>
        </p:txBody>
      </p:sp>
      <p:sp>
        <p:nvSpPr>
          <p:cNvPr id="8" name="insIT_44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completa. Was / were sono forti o deboli?</a:t>
            </a:r>
            <a:endParaRPr lang="en-US" sz="950" dirty="0"/>
          </a:p>
        </p:txBody>
      </p:sp>
      <p:sp>
        <p:nvSpPr>
          <p:cNvPr id="9" name="cmd_446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🎧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→  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🔊 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endParaRPr lang="en-US" sz="950" dirty="0"/>
          </a:p>
        </p:txBody>
      </p:sp>
      <p:sp>
        <p:nvSpPr>
          <p:cNvPr id="10" name="meta_447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950" dirty="0"/>
          </a:p>
        </p:txBody>
      </p:sp>
      <p:sp>
        <p:nvSpPr>
          <p:cNvPr id="11" name="tag_448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Listening for detail</a:t>
            </a:r>
            <a:endParaRPr lang="en-US" sz="750" dirty="0"/>
          </a:p>
        </p:txBody>
      </p:sp>
      <p:pic>
        <p:nvPicPr>
          <p:cNvPr id="12" name="logo_44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5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Pronunciation · weak forms   ·   📖 SB p.17 · 4b, 4c · audio 2.14 (play from the book)</a:t>
            </a:r>
            <a:endParaRPr lang="en-US" sz="800" dirty="0"/>
          </a:p>
        </p:txBody>
      </p:sp>
      <p:sp>
        <p:nvSpPr>
          <p:cNvPr id="14" name="ap_451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2.14</a:t>
            </a:r>
            <a:endParaRPr lang="en-US" sz="1100" dirty="0"/>
          </a:p>
        </p:txBody>
      </p:sp>
      <p:sp>
        <p:nvSpPr>
          <p:cNvPr id="15" name="pf_452"/>
          <p:cNvSpPr/>
          <p:nvPr/>
        </p:nvSpPr>
        <p:spPr>
          <a:xfrm rot="-90000">
            <a:off x="744724" y="2057400"/>
            <a:ext cx="2030993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453" descr="/home/claude/lls-course/v2/cache/a2_2b_anya_a_jpg_467x40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790444" y="2103120"/>
            <a:ext cx="1939553" cy="1691640"/>
          </a:xfrm>
          <a:prstGeom prst="rect">
            <a:avLst/>
          </a:prstGeom>
        </p:spPr>
      </p:pic>
      <p:sp>
        <p:nvSpPr>
          <p:cNvPr id="17" name="cd_454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455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9" name="ih_456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0" name="gq_457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___ ___ my first term at university.</a:t>
            </a:r>
            <a:endParaRPr lang="en-US" sz="1200" dirty="0"/>
          </a:p>
        </p:txBody>
      </p:sp>
      <p:sp>
        <p:nvSpPr>
          <p:cNvPr id="21" name="R1_chip458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was</a:t>
            </a:r>
            <a:endParaRPr lang="en-US" sz="1200" dirty="0"/>
          </a:p>
        </p:txBody>
      </p:sp>
      <p:sp>
        <p:nvSpPr>
          <p:cNvPr id="22" name="gq_459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I ___ ___ with him in the Easter holidays.</a:t>
            </a:r>
            <a:endParaRPr lang="en-US" sz="1200" dirty="0"/>
          </a:p>
        </p:txBody>
      </p:sp>
      <p:sp>
        <p:nvSpPr>
          <p:cNvPr id="23" name="R2_chip460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staying</a:t>
            </a:r>
            <a:endParaRPr lang="en-US" sz="1200" dirty="0"/>
          </a:p>
        </p:txBody>
      </p:sp>
      <p:sp>
        <p:nvSpPr>
          <p:cNvPr id="24" name="gq_461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We ___ ___ a music course.</a:t>
            </a:r>
            <a:endParaRPr lang="en-US" sz="1200" dirty="0"/>
          </a:p>
        </p:txBody>
      </p:sp>
      <p:sp>
        <p:nvSpPr>
          <p:cNvPr id="25" name="R3_chip462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doing</a:t>
            </a:r>
            <a:endParaRPr lang="en-US" sz="1200" dirty="0"/>
          </a:p>
        </p:txBody>
      </p:sp>
      <p:sp>
        <p:nvSpPr>
          <p:cNvPr id="26" name="gq_463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___ ___ at school together.</a:t>
            </a:r>
            <a:endParaRPr lang="en-US" sz="1200" dirty="0"/>
          </a:p>
        </p:txBody>
      </p:sp>
      <p:sp>
        <p:nvSpPr>
          <p:cNvPr id="27" name="R4_chip464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were</a:t>
            </a:r>
            <a:endParaRPr lang="en-US" sz="1200" dirty="0"/>
          </a:p>
        </p:txBody>
      </p:sp>
      <p:sp>
        <p:nvSpPr>
          <p:cNvPr id="28" name="gq_465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She took this when we ___ ___ the Colosseum.</a:t>
            </a:r>
            <a:endParaRPr lang="en-US" sz="1200" dirty="0"/>
          </a:p>
        </p:txBody>
      </p:sp>
      <p:sp>
        <p:nvSpPr>
          <p:cNvPr id="29" name="R5_chip466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visiting</a:t>
            </a:r>
            <a:endParaRPr lang="en-US" sz="1200" dirty="0"/>
          </a:p>
        </p:txBody>
      </p:sp>
      <p:sp>
        <p:nvSpPr>
          <p:cNvPr id="30" name="gq_467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We ___ all ___ champagne, and Roz ___ ___ the hard work!</a:t>
            </a:r>
            <a:endParaRPr lang="en-US" sz="1200" dirty="0"/>
          </a:p>
        </p:txBody>
      </p:sp>
      <p:sp>
        <p:nvSpPr>
          <p:cNvPr id="31" name="R6_chip468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were drinking · was doing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7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47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Anya's Instagram</a:t>
            </a:r>
            <a:endParaRPr lang="en-US" sz="2500" dirty="0"/>
          </a:p>
        </p:txBody>
      </p:sp>
      <p:pic>
        <p:nvPicPr>
          <p:cNvPr id="6" name="brP_47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73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Anya talks about her photos. Order them 1–6.</a:t>
            </a:r>
            <a:endParaRPr lang="en-US" sz="1250" dirty="0"/>
          </a:p>
        </p:txBody>
      </p:sp>
      <p:sp>
        <p:nvSpPr>
          <p:cNvPr id="8" name="insIT_47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Anya parla delle sue foto. Mettile in ordine 1–6.</a:t>
            </a:r>
            <a:endParaRPr lang="en-US" sz="950" dirty="0"/>
          </a:p>
        </p:txBody>
      </p:sp>
      <p:sp>
        <p:nvSpPr>
          <p:cNvPr id="9" name="cmd_475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🎧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950" dirty="0"/>
          </a:p>
        </p:txBody>
      </p:sp>
      <p:sp>
        <p:nvSpPr>
          <p:cNvPr id="10" name="meta_476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1" name="tag_477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47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7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Listening · Anya's photos   ·   📖 SB p.17 · 4d, 4e · audio 2.15 (play from the book · script SB p.120)</a:t>
            </a:r>
            <a:endParaRPr lang="en-US" sz="800" dirty="0"/>
          </a:p>
        </p:txBody>
      </p:sp>
      <p:sp>
        <p:nvSpPr>
          <p:cNvPr id="14" name="ap_48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2.15</a:t>
            </a:r>
            <a:endParaRPr lang="en-US" sz="1100" dirty="0"/>
          </a:p>
        </p:txBody>
      </p:sp>
      <p:sp>
        <p:nvSpPr>
          <p:cNvPr id="15" name="pf_481"/>
          <p:cNvSpPr/>
          <p:nvPr/>
        </p:nvSpPr>
        <p:spPr>
          <a:xfrm>
            <a:off x="365760" y="141732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482" descr="/home/claude/lls-course/v2/cache/a2_2b_anya_a_jpg_341x28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463040"/>
            <a:ext cx="1417320" cy="1193292"/>
          </a:xfrm>
          <a:prstGeom prst="rect">
            <a:avLst/>
          </a:prstGeom>
        </p:spPr>
      </p:pic>
      <p:sp>
        <p:nvSpPr>
          <p:cNvPr id="17" name="bd_483"/>
          <p:cNvSpPr/>
          <p:nvPr/>
        </p:nvSpPr>
        <p:spPr>
          <a:xfrm>
            <a:off x="265176" y="131673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pf_484"/>
          <p:cNvSpPr/>
          <p:nvPr/>
        </p:nvSpPr>
        <p:spPr>
          <a:xfrm>
            <a:off x="1892808" y="141732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485" descr="/home/claude/lls-course/v2/cache/a2_2b_anya_b_jpg_341x287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" y="1463040"/>
            <a:ext cx="1417320" cy="1193292"/>
          </a:xfrm>
          <a:prstGeom prst="rect">
            <a:avLst/>
          </a:prstGeom>
        </p:spPr>
      </p:pic>
      <p:sp>
        <p:nvSpPr>
          <p:cNvPr id="20" name="bd_486"/>
          <p:cNvSpPr/>
          <p:nvPr/>
        </p:nvSpPr>
        <p:spPr>
          <a:xfrm>
            <a:off x="1792224" y="131673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pf_487"/>
          <p:cNvSpPr/>
          <p:nvPr/>
        </p:nvSpPr>
        <p:spPr>
          <a:xfrm>
            <a:off x="3419856" y="141732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2" name="ph_488" descr="/home/claude/lls-course/v2/cache/a2_2b_anya_c_jpg_341x287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576" y="1463040"/>
            <a:ext cx="1417320" cy="1193292"/>
          </a:xfrm>
          <a:prstGeom prst="rect">
            <a:avLst/>
          </a:prstGeom>
        </p:spPr>
      </p:pic>
      <p:sp>
        <p:nvSpPr>
          <p:cNvPr id="23" name="bd_489"/>
          <p:cNvSpPr/>
          <p:nvPr/>
        </p:nvSpPr>
        <p:spPr>
          <a:xfrm>
            <a:off x="3319272" y="131673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100" dirty="0"/>
          </a:p>
        </p:txBody>
      </p:sp>
      <p:sp>
        <p:nvSpPr>
          <p:cNvPr id="24" name="pf_490"/>
          <p:cNvSpPr/>
          <p:nvPr/>
        </p:nvSpPr>
        <p:spPr>
          <a:xfrm>
            <a:off x="365760" y="272034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491" descr="/home/claude/lls-course/v2/cache/a2_2b_anya_d_jpg_341x287_3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2766060"/>
            <a:ext cx="1417320" cy="1193292"/>
          </a:xfrm>
          <a:prstGeom prst="rect">
            <a:avLst/>
          </a:prstGeom>
        </p:spPr>
      </p:pic>
      <p:sp>
        <p:nvSpPr>
          <p:cNvPr id="26" name="bd_492"/>
          <p:cNvSpPr/>
          <p:nvPr/>
        </p:nvSpPr>
        <p:spPr>
          <a:xfrm>
            <a:off x="265176" y="2619756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pf_493"/>
          <p:cNvSpPr/>
          <p:nvPr/>
        </p:nvSpPr>
        <p:spPr>
          <a:xfrm>
            <a:off x="1892808" y="272034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494" descr="/home/claude/lls-course/v2/cache/a2_2b_anya_e_jpg_341x287_3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528" y="2766060"/>
            <a:ext cx="1417320" cy="1193292"/>
          </a:xfrm>
          <a:prstGeom prst="rect">
            <a:avLst/>
          </a:prstGeom>
        </p:spPr>
      </p:pic>
      <p:sp>
        <p:nvSpPr>
          <p:cNvPr id="29" name="bd_495"/>
          <p:cNvSpPr/>
          <p:nvPr/>
        </p:nvSpPr>
        <p:spPr>
          <a:xfrm>
            <a:off x="1792224" y="26197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1100" dirty="0"/>
          </a:p>
        </p:txBody>
      </p:sp>
      <p:sp>
        <p:nvSpPr>
          <p:cNvPr id="30" name="pf_496"/>
          <p:cNvSpPr/>
          <p:nvPr/>
        </p:nvSpPr>
        <p:spPr>
          <a:xfrm>
            <a:off x="3419856" y="2720340"/>
            <a:ext cx="1508760" cy="1284732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497" descr="/home/claude/lls-course/v2/cache/a2_2b_anya_f_jpg_341x287_3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5576" y="2766060"/>
            <a:ext cx="1417320" cy="1193292"/>
          </a:xfrm>
          <a:prstGeom prst="rect">
            <a:avLst/>
          </a:prstGeom>
        </p:spPr>
      </p:pic>
      <p:sp>
        <p:nvSpPr>
          <p:cNvPr id="32" name="bd_498"/>
          <p:cNvSpPr/>
          <p:nvPr/>
        </p:nvSpPr>
        <p:spPr>
          <a:xfrm>
            <a:off x="3319272" y="26197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</a:t>
            </a:r>
            <a:endParaRPr lang="en-US" sz="1100" dirty="0"/>
          </a:p>
        </p:txBody>
      </p:sp>
      <p:sp>
        <p:nvSpPr>
          <p:cNvPr id="33" name="ap_499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2.15</a:t>
            </a:r>
            <a:endParaRPr lang="en-US" sz="1100" dirty="0"/>
          </a:p>
        </p:txBody>
      </p:sp>
      <p:sp>
        <p:nvSpPr>
          <p:cNvPr id="34" name="q_500"/>
          <p:cNvSpPr/>
          <p:nvPr/>
        </p:nvSpPr>
        <p:spPr>
          <a:xfrm>
            <a:off x="5166360" y="141732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Photo E</a:t>
            </a:r>
            <a:endParaRPr lang="en-US" sz="1150" dirty="0"/>
          </a:p>
        </p:txBody>
      </p:sp>
      <p:sp>
        <p:nvSpPr>
          <p:cNvPr id="35" name="chip_501"/>
          <p:cNvSpPr/>
          <p:nvPr/>
        </p:nvSpPr>
        <p:spPr>
          <a:xfrm>
            <a:off x="6565392" y="141732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– York, with her mum</a:t>
            </a:r>
            <a:endParaRPr lang="en-US" sz="1150" dirty="0"/>
          </a:p>
        </p:txBody>
      </p:sp>
      <p:sp>
        <p:nvSpPr>
          <p:cNvPr id="36" name="q_502"/>
          <p:cNvSpPr/>
          <p:nvPr/>
        </p:nvSpPr>
        <p:spPr>
          <a:xfrm>
            <a:off x="5166360" y="196596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 A</a:t>
            </a:r>
            <a:endParaRPr lang="en-US" sz="1150" dirty="0"/>
          </a:p>
        </p:txBody>
      </p:sp>
      <p:sp>
        <p:nvSpPr>
          <p:cNvPr id="37" name="R1_chip503"/>
          <p:cNvSpPr/>
          <p:nvPr/>
        </p:nvSpPr>
        <p:spPr>
          <a:xfrm>
            <a:off x="6565392" y="196596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– a party after a music course</a:t>
            </a:r>
            <a:endParaRPr lang="en-US" sz="1150" dirty="0"/>
          </a:p>
        </p:txBody>
      </p:sp>
      <p:sp>
        <p:nvSpPr>
          <p:cNvPr id="38" name="q_504"/>
          <p:cNvSpPr/>
          <p:nvPr/>
        </p:nvSpPr>
        <p:spPr>
          <a:xfrm>
            <a:off x="5166360" y="251460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 B</a:t>
            </a:r>
            <a:endParaRPr lang="en-US" sz="1150" dirty="0"/>
          </a:p>
        </p:txBody>
      </p:sp>
      <p:sp>
        <p:nvSpPr>
          <p:cNvPr id="39" name="R2_chip505"/>
          <p:cNvSpPr/>
          <p:nvPr/>
        </p:nvSpPr>
        <p:spPr>
          <a:xfrm>
            <a:off x="6565392" y="251460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– Rome, the Colosseum</a:t>
            </a:r>
            <a:endParaRPr lang="en-US" sz="1150" dirty="0"/>
          </a:p>
        </p:txBody>
      </p:sp>
      <p:sp>
        <p:nvSpPr>
          <p:cNvPr id="40" name="q_506"/>
          <p:cNvSpPr/>
          <p:nvPr/>
        </p:nvSpPr>
        <p:spPr>
          <a:xfrm>
            <a:off x="5166360" y="306324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 C</a:t>
            </a:r>
            <a:endParaRPr lang="en-US" sz="1150" dirty="0"/>
          </a:p>
        </p:txBody>
      </p:sp>
      <p:sp>
        <p:nvSpPr>
          <p:cNvPr id="41" name="R3_chip507"/>
          <p:cNvSpPr/>
          <p:nvPr/>
        </p:nvSpPr>
        <p:spPr>
          <a:xfrm>
            <a:off x="6565392" y="306324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– a windy beach in Cornwall</a:t>
            </a:r>
            <a:endParaRPr lang="en-US" sz="1150" dirty="0"/>
          </a:p>
        </p:txBody>
      </p:sp>
      <p:sp>
        <p:nvSpPr>
          <p:cNvPr id="42" name="q_508"/>
          <p:cNvSpPr/>
          <p:nvPr/>
        </p:nvSpPr>
        <p:spPr>
          <a:xfrm>
            <a:off x="5166360" y="361188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 D</a:t>
            </a:r>
            <a:endParaRPr lang="en-US" sz="1150" dirty="0"/>
          </a:p>
        </p:txBody>
      </p:sp>
      <p:sp>
        <p:nvSpPr>
          <p:cNvPr id="43" name="R4_chip509"/>
          <p:cNvSpPr/>
          <p:nvPr/>
        </p:nvSpPr>
        <p:spPr>
          <a:xfrm>
            <a:off x="6565392" y="361188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– Oxford: punting on the river</a:t>
            </a:r>
            <a:endParaRPr lang="en-US" sz="1150" dirty="0"/>
          </a:p>
        </p:txBody>
      </p:sp>
      <p:sp>
        <p:nvSpPr>
          <p:cNvPr id="44" name="q_510"/>
          <p:cNvSpPr/>
          <p:nvPr/>
        </p:nvSpPr>
        <p:spPr>
          <a:xfrm>
            <a:off x="5166360" y="416052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Photo F</a:t>
            </a:r>
            <a:endParaRPr lang="en-US" sz="1150" dirty="0"/>
          </a:p>
        </p:txBody>
      </p:sp>
      <p:sp>
        <p:nvSpPr>
          <p:cNvPr id="45" name="R5_chip511"/>
          <p:cNvSpPr/>
          <p:nvPr/>
        </p:nvSpPr>
        <p:spPr>
          <a:xfrm>
            <a:off x="6565392" y="4160520"/>
            <a:ext cx="2286000" cy="493776"/>
          </a:xfrm>
          <a:prstGeom prst="roundRect">
            <a:avLst>
              <a:gd name="adj" fmla="val 1851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– a friend's house by the river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1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514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favourite photo</a:t>
            </a:r>
            <a:endParaRPr lang="en-US" sz="2500" dirty="0"/>
          </a:p>
        </p:txBody>
      </p:sp>
      <p:pic>
        <p:nvPicPr>
          <p:cNvPr id="6" name="brP_51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516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to a partner. Give more information!</a:t>
            </a:r>
            <a:endParaRPr lang="en-US" sz="1250" dirty="0"/>
          </a:p>
        </p:txBody>
      </p:sp>
      <p:sp>
        <p:nvSpPr>
          <p:cNvPr id="8" name="insIT_51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Parla con un compagno. Dai più informazioni!</a:t>
            </a:r>
            <a:endParaRPr lang="en-US" sz="950" dirty="0"/>
          </a:p>
        </p:txBody>
      </p:sp>
      <p:sp>
        <p:nvSpPr>
          <p:cNvPr id="9" name="cmd_518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950" dirty="0"/>
          </a:p>
        </p:txBody>
      </p:sp>
      <p:sp>
        <p:nvSpPr>
          <p:cNvPr id="10" name="meta_519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520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5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your photos   ·   📖 SB p.17 · 5a</a:t>
            </a:r>
            <a:endParaRPr lang="en-US" sz="800" dirty="0"/>
          </a:p>
        </p:txBody>
      </p:sp>
      <p:sp>
        <p:nvSpPr>
          <p:cNvPr id="14" name="pf_523"/>
          <p:cNvSpPr/>
          <p:nvPr/>
        </p:nvSpPr>
        <p:spPr>
          <a:xfrm rot="-120000">
            <a:off x="927033" y="1371600"/>
            <a:ext cx="1574934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524" descr="/home/claude/lls-course/v2/cache/a2_2b_anya_f_jpg_357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72753" y="1417320"/>
            <a:ext cx="1483494" cy="1234440"/>
          </a:xfrm>
          <a:prstGeom prst="rect">
            <a:avLst/>
          </a:prstGeom>
        </p:spPr>
      </p:pic>
      <p:sp>
        <p:nvSpPr>
          <p:cNvPr id="16" name="cd_525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526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527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528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took it when I was… · We were…ing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was a happy time for me.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me! Who took it?</a:t>
            </a:r>
            <a:endParaRPr lang="en-US" sz="1150" dirty="0"/>
          </a:p>
        </p:txBody>
      </p:sp>
      <p:sp>
        <p:nvSpPr>
          <p:cNvPr id="20" name="R1_qb52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53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post photos on Instagram or Facebook? What kind?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mostly food and my dog!</a:t>
            </a:r>
            <a:endParaRPr lang="en-US" sz="1000" dirty="0"/>
          </a:p>
        </p:txBody>
      </p:sp>
      <p:sp>
        <p:nvSpPr>
          <p:cNvPr id="22" name="R2_qb53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53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a photo as a background on your phone? What's the story?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kids at the beach – we were having a picnic.</a:t>
            </a:r>
            <a:endParaRPr lang="en-US" sz="1000" dirty="0"/>
          </a:p>
        </p:txBody>
      </p:sp>
      <p:sp>
        <p:nvSpPr>
          <p:cNvPr id="24" name="R3_qb53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53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a photo you really like on your phone? Show your partner!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This is me in Rome – I was visiting my sister.</a:t>
            </a:r>
            <a:endParaRPr lang="en-US" sz="1000" dirty="0"/>
          </a:p>
        </p:txBody>
      </p:sp>
      <p:sp>
        <p:nvSpPr>
          <p:cNvPr id="26" name="R4_qb53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53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favourite photo of you as a child? What were you wearing?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was wearing a cowboy hat – I was 5!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3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53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53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54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4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54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54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54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950" dirty="0"/>
          </a:p>
        </p:txBody>
      </p:sp>
      <p:pic>
        <p:nvPicPr>
          <p:cNvPr id="11" name="logo_54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54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Exit · what can you remember?</a:t>
            </a:r>
            <a:endParaRPr lang="en-US" sz="800" dirty="0"/>
          </a:p>
        </p:txBody>
      </p:sp>
      <p:sp>
        <p:nvSpPr>
          <p:cNvPr id="13" name="bd_54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54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phrases with at, in, on (at night…)</a:t>
            </a:r>
            <a:endParaRPr lang="en-US" sz="1400" dirty="0"/>
          </a:p>
        </p:txBody>
      </p:sp>
      <p:sp>
        <p:nvSpPr>
          <p:cNvPr id="15" name="bd_54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55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facts about Jane's photo</a:t>
            </a:r>
            <a:endParaRPr lang="en-US" sz="1400" dirty="0"/>
          </a:p>
        </p:txBody>
      </p:sp>
      <p:sp>
        <p:nvSpPr>
          <p:cNvPr id="17" name="bd_55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55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sentence: I was…ing when…</a:t>
            </a:r>
            <a:endParaRPr lang="en-US" sz="1400" dirty="0"/>
          </a:p>
        </p:txBody>
      </p:sp>
      <p:sp>
        <p:nvSpPr>
          <p:cNvPr id="19" name="cd_553"/>
          <p:cNvSpPr/>
          <p:nvPr/>
        </p:nvSpPr>
        <p:spPr>
          <a:xfrm>
            <a:off x="5669280" y="1417320"/>
            <a:ext cx="3200400" cy="1837944"/>
          </a:xfrm>
          <a:prstGeom prst="roundRect">
            <a:avLst>
              <a:gd name="adj" fmla="val 69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55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55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556"/>
          <p:cNvSpPr/>
          <p:nvPr/>
        </p:nvSpPr>
        <p:spPr>
          <a:xfrm>
            <a:off x="6236208" y="1911096"/>
            <a:ext cx="25420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2B (past continuous, at / in / on)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2B p.129: exercise b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Write: your favourite photo (SB p.114) – 80–100 words</a:t>
            </a:r>
            <a:endParaRPr lang="en-US" sz="1050" dirty="0"/>
          </a:p>
        </p:txBody>
      </p:sp>
      <p:sp>
        <p:nvSpPr>
          <p:cNvPr id="23" name="st_557"/>
          <p:cNvSpPr/>
          <p:nvPr/>
        </p:nvSpPr>
        <p:spPr>
          <a:xfrm rot="-180000">
            <a:off x="5806440" y="3483864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2C · One dark October evening · time sequencers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5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5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60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56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562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56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56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56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56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950" dirty="0"/>
          </a:p>
        </p:txBody>
      </p:sp>
      <p:pic>
        <p:nvPicPr>
          <p:cNvPr id="12" name="logo_56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6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Review · what did you do today?</a:t>
            </a:r>
            <a:endParaRPr lang="en-US" sz="800" dirty="0"/>
          </a:p>
        </p:txBody>
      </p:sp>
      <p:sp>
        <p:nvSpPr>
          <p:cNvPr id="14" name="cd_569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570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16" name="tt_571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true story behind a famous photo</a:t>
            </a:r>
            <a:endParaRPr lang="en-US" sz="1350" dirty="0"/>
          </a:p>
        </p:txBody>
      </p:sp>
      <p:sp>
        <p:nvSpPr>
          <p:cNvPr id="17" name="R1_tk572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573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57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0" name="tt_575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at, in, on for time and place</a:t>
            </a:r>
            <a:endParaRPr lang="en-US" sz="1350" dirty="0"/>
          </a:p>
        </p:txBody>
      </p:sp>
      <p:sp>
        <p:nvSpPr>
          <p:cNvPr id="21" name="R2_tk576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577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578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⏸</a:t>
            </a:r>
            <a:endParaRPr lang="en-US" sz="1800" dirty="0"/>
          </a:p>
        </p:txBody>
      </p:sp>
      <p:sp>
        <p:nvSpPr>
          <p:cNvPr id="24" name="tt_579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past continuous: I was walking when…</a:t>
            </a:r>
            <a:endParaRPr lang="en-US" sz="1350" dirty="0"/>
          </a:p>
        </p:txBody>
      </p:sp>
      <p:sp>
        <p:nvSpPr>
          <p:cNvPr id="25" name="R3_tk580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581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582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t_583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9" name="R4_tk584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585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586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2" name="tt_587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your favourite photo</a:t>
            </a:r>
            <a:endParaRPr lang="en-US" sz="1350" dirty="0"/>
          </a:p>
        </p:txBody>
      </p:sp>
      <p:sp>
        <p:nvSpPr>
          <p:cNvPr id="33" name="R5_tk588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589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590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59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592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593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21</a:t>
            </a:r>
            <a:endParaRPr lang="en-US" sz="2200" dirty="0"/>
          </a:p>
        </p:txBody>
      </p:sp>
      <p:pic>
        <p:nvPicPr>
          <p:cNvPr id="4" name="brY_5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96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Prepositions race</a:t>
            </a:r>
            <a:endParaRPr lang="en-US" sz="2500" dirty="0"/>
          </a:p>
        </p:txBody>
      </p:sp>
      <p:pic>
        <p:nvPicPr>
          <p:cNvPr id="6" name="brP_5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598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at, in or on? Say the whole phrase!</a:t>
            </a:r>
            <a:endParaRPr lang="en-US" sz="1250" dirty="0"/>
          </a:p>
        </p:txBody>
      </p:sp>
      <p:sp>
        <p:nvSpPr>
          <p:cNvPr id="8" name="insIT_59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at, in o on? Di' la frase intera!</a:t>
            </a:r>
            <a:endParaRPr lang="en-US" sz="950" dirty="0"/>
          </a:p>
        </p:txBody>
      </p:sp>
      <p:sp>
        <p:nvSpPr>
          <p:cNvPr id="9" name="cmd_600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950" dirty="0"/>
          </a:p>
        </p:txBody>
      </p:sp>
      <p:sp>
        <p:nvSpPr>
          <p:cNvPr id="10" name="meta_601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🏆 teams</a:t>
            </a:r>
            <a:endParaRPr lang="en-US" sz="950" dirty="0"/>
          </a:p>
        </p:txBody>
      </p:sp>
      <p:sp>
        <p:nvSpPr>
          <p:cNvPr id="11" name="tag_602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50" dirty="0"/>
          </a:p>
        </p:txBody>
      </p:sp>
      <p:pic>
        <p:nvPicPr>
          <p:cNvPr id="12" name="logo_6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Vocabulary game · at / in / on   ·   📖 VB p.153 · audio 2.10</a:t>
            </a:r>
            <a:endParaRPr lang="en-US" sz="800" dirty="0"/>
          </a:p>
        </p:txBody>
      </p:sp>
      <p:sp>
        <p:nvSpPr>
          <p:cNvPr id="14" name="ext_605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5" name="cd_606"/>
          <p:cNvSpPr/>
          <p:nvPr/>
        </p:nvSpPr>
        <p:spPr>
          <a:xfrm>
            <a:off x="320040" y="1417320"/>
            <a:ext cx="2697480" cy="1840992"/>
          </a:xfrm>
          <a:prstGeom prst="roundRect">
            <a:avLst>
              <a:gd name="adj" fmla="val 695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60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60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609"/>
          <p:cNvSpPr/>
          <p:nvPr/>
        </p:nvSpPr>
        <p:spPr>
          <a:xfrm>
            <a:off x="886968" y="1911096"/>
            <a:ext cx="2039112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 a word. Your team says at, in or on + the word.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= 1 point. A sentence about YOU = 1 more!</a:t>
            </a:r>
            <a:endParaRPr lang="en-US" sz="1150" dirty="0"/>
          </a:p>
        </p:txBody>
      </p:sp>
      <p:sp>
        <p:nvSpPr>
          <p:cNvPr id="19" name="st_610"/>
          <p:cNvSpPr/>
          <p:nvPr/>
        </p:nvSpPr>
        <p:spPr>
          <a:xfrm rot="-180000">
            <a:off x="502920" y="34411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20" name="bd_611"/>
          <p:cNvSpPr/>
          <p:nvPr/>
        </p:nvSpPr>
        <p:spPr>
          <a:xfrm>
            <a:off x="3246120" y="140106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1" name="gq_612"/>
          <p:cNvSpPr/>
          <p:nvPr/>
        </p:nvSpPr>
        <p:spPr>
          <a:xfrm>
            <a:off x="3657600" y="14173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weekend</a:t>
            </a:r>
            <a:endParaRPr lang="en-US" sz="1250" dirty="0"/>
          </a:p>
        </p:txBody>
      </p:sp>
      <p:sp>
        <p:nvSpPr>
          <p:cNvPr id="22" name="chip_613"/>
          <p:cNvSpPr/>
          <p:nvPr/>
        </p:nvSpPr>
        <p:spPr>
          <a:xfrm>
            <a:off x="6263640" y="14173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the weekend – I sleep a lot at the weekend.</a:t>
            </a:r>
            <a:endParaRPr lang="en-US" sz="800" dirty="0"/>
          </a:p>
        </p:txBody>
      </p:sp>
      <p:sp>
        <p:nvSpPr>
          <p:cNvPr id="23" name="bd_614"/>
          <p:cNvSpPr/>
          <p:nvPr/>
        </p:nvSpPr>
        <p:spPr>
          <a:xfrm>
            <a:off x="3246120" y="176174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gq_615"/>
          <p:cNvSpPr/>
          <p:nvPr/>
        </p:nvSpPr>
        <p:spPr>
          <a:xfrm>
            <a:off x="3657600" y="17780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July</a:t>
            </a:r>
            <a:endParaRPr lang="en-US" sz="1250" dirty="0"/>
          </a:p>
        </p:txBody>
      </p:sp>
      <p:sp>
        <p:nvSpPr>
          <p:cNvPr id="25" name="R1_chip616"/>
          <p:cNvSpPr/>
          <p:nvPr/>
        </p:nvSpPr>
        <p:spPr>
          <a:xfrm>
            <a:off x="6263640" y="17780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July</a:t>
            </a:r>
            <a:endParaRPr lang="en-US" sz="900" dirty="0"/>
          </a:p>
        </p:txBody>
      </p:sp>
      <p:sp>
        <p:nvSpPr>
          <p:cNvPr id="26" name="bd_617"/>
          <p:cNvSpPr/>
          <p:nvPr/>
        </p:nvSpPr>
        <p:spPr>
          <a:xfrm>
            <a:off x="3246120" y="212242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gq_618"/>
          <p:cNvSpPr/>
          <p:nvPr/>
        </p:nvSpPr>
        <p:spPr>
          <a:xfrm>
            <a:off x="3657600" y="21386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Monday morning</a:t>
            </a:r>
            <a:endParaRPr lang="en-US" sz="1250" dirty="0"/>
          </a:p>
        </p:txBody>
      </p:sp>
      <p:sp>
        <p:nvSpPr>
          <p:cNvPr id="28" name="R2_chip619"/>
          <p:cNvSpPr/>
          <p:nvPr/>
        </p:nvSpPr>
        <p:spPr>
          <a:xfrm>
            <a:off x="6263640" y="21386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Monday morning</a:t>
            </a:r>
            <a:endParaRPr lang="en-US" sz="900" dirty="0"/>
          </a:p>
        </p:txBody>
      </p:sp>
      <p:sp>
        <p:nvSpPr>
          <p:cNvPr id="29" name="bd_620"/>
          <p:cNvSpPr/>
          <p:nvPr/>
        </p:nvSpPr>
        <p:spPr>
          <a:xfrm>
            <a:off x="3246120" y="24831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gq_621"/>
          <p:cNvSpPr/>
          <p:nvPr/>
        </p:nvSpPr>
        <p:spPr>
          <a:xfrm>
            <a:off x="3657600" y="24993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night</a:t>
            </a:r>
            <a:endParaRPr lang="en-US" sz="1250" dirty="0"/>
          </a:p>
        </p:txBody>
      </p:sp>
      <p:sp>
        <p:nvSpPr>
          <p:cNvPr id="31" name="R3_chip622"/>
          <p:cNvSpPr/>
          <p:nvPr/>
        </p:nvSpPr>
        <p:spPr>
          <a:xfrm>
            <a:off x="6263640" y="24993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night</a:t>
            </a:r>
            <a:endParaRPr lang="en-US" sz="900" dirty="0"/>
          </a:p>
        </p:txBody>
      </p:sp>
      <p:sp>
        <p:nvSpPr>
          <p:cNvPr id="32" name="bd_623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gq_624"/>
          <p:cNvSpPr/>
          <p:nvPr/>
        </p:nvSpPr>
        <p:spPr>
          <a:xfrm>
            <a:off x="3657600" y="286004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1990s</a:t>
            </a:r>
            <a:endParaRPr lang="en-US" sz="1250" dirty="0"/>
          </a:p>
        </p:txBody>
      </p:sp>
      <p:sp>
        <p:nvSpPr>
          <p:cNvPr id="34" name="R4_chip625"/>
          <p:cNvSpPr/>
          <p:nvPr/>
        </p:nvSpPr>
        <p:spPr>
          <a:xfrm>
            <a:off x="6263640" y="286004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the 1990s</a:t>
            </a:r>
            <a:endParaRPr lang="en-US" sz="900" dirty="0"/>
          </a:p>
        </p:txBody>
      </p:sp>
      <p:sp>
        <p:nvSpPr>
          <p:cNvPr id="35" name="bd_626"/>
          <p:cNvSpPr/>
          <p:nvPr/>
        </p:nvSpPr>
        <p:spPr>
          <a:xfrm>
            <a:off x="3246120" y="320446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gq_627"/>
          <p:cNvSpPr/>
          <p:nvPr/>
        </p:nvSpPr>
        <p:spPr>
          <a:xfrm>
            <a:off x="3657600" y="32207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birthday</a:t>
            </a:r>
            <a:endParaRPr lang="en-US" sz="1250" dirty="0"/>
          </a:p>
        </p:txBody>
      </p:sp>
      <p:sp>
        <p:nvSpPr>
          <p:cNvPr id="37" name="R5_chip628"/>
          <p:cNvSpPr/>
          <p:nvPr/>
        </p:nvSpPr>
        <p:spPr>
          <a:xfrm>
            <a:off x="6263640" y="32207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my birthday</a:t>
            </a:r>
            <a:endParaRPr lang="en-US" sz="900" dirty="0"/>
          </a:p>
        </p:txBody>
      </p:sp>
      <p:sp>
        <p:nvSpPr>
          <p:cNvPr id="38" name="bd_629"/>
          <p:cNvSpPr/>
          <p:nvPr/>
        </p:nvSpPr>
        <p:spPr>
          <a:xfrm>
            <a:off x="3246120" y="35651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gq_630"/>
          <p:cNvSpPr/>
          <p:nvPr/>
        </p:nvSpPr>
        <p:spPr>
          <a:xfrm>
            <a:off x="3657600" y="35814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station</a:t>
            </a:r>
            <a:endParaRPr lang="en-US" sz="1250" dirty="0"/>
          </a:p>
        </p:txBody>
      </p:sp>
      <p:sp>
        <p:nvSpPr>
          <p:cNvPr id="40" name="R6_chip631"/>
          <p:cNvSpPr/>
          <p:nvPr/>
        </p:nvSpPr>
        <p:spPr>
          <a:xfrm>
            <a:off x="6263640" y="35814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the station</a:t>
            </a:r>
            <a:endParaRPr lang="en-US" sz="900" dirty="0"/>
          </a:p>
        </p:txBody>
      </p:sp>
      <p:sp>
        <p:nvSpPr>
          <p:cNvPr id="41" name="bd_632"/>
          <p:cNvSpPr/>
          <p:nvPr/>
        </p:nvSpPr>
        <p:spPr>
          <a:xfrm>
            <a:off x="3246120" y="392582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gq_633"/>
          <p:cNvSpPr/>
          <p:nvPr/>
        </p:nvSpPr>
        <p:spPr>
          <a:xfrm>
            <a:off x="3657600" y="39420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car</a:t>
            </a:r>
            <a:endParaRPr lang="en-US" sz="1250" dirty="0"/>
          </a:p>
        </p:txBody>
      </p:sp>
      <p:sp>
        <p:nvSpPr>
          <p:cNvPr id="43" name="R7_chip634"/>
          <p:cNvSpPr/>
          <p:nvPr/>
        </p:nvSpPr>
        <p:spPr>
          <a:xfrm>
            <a:off x="6263640" y="39420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a car</a:t>
            </a:r>
            <a:endParaRPr lang="en-US" sz="900" dirty="0"/>
          </a:p>
        </p:txBody>
      </p:sp>
      <p:sp>
        <p:nvSpPr>
          <p:cNvPr id="44" name="bd_635"/>
          <p:cNvSpPr/>
          <p:nvPr/>
        </p:nvSpPr>
        <p:spPr>
          <a:xfrm>
            <a:off x="3246120" y="428650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gq_636"/>
          <p:cNvSpPr/>
          <p:nvPr/>
        </p:nvSpPr>
        <p:spPr>
          <a:xfrm>
            <a:off x="3657600" y="43027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bus</a:t>
            </a:r>
            <a:endParaRPr lang="en-US" sz="1250" dirty="0"/>
          </a:p>
        </p:txBody>
      </p:sp>
      <p:sp>
        <p:nvSpPr>
          <p:cNvPr id="46" name="R8_chip637"/>
          <p:cNvSpPr/>
          <p:nvPr/>
        </p:nvSpPr>
        <p:spPr>
          <a:xfrm>
            <a:off x="6263640" y="43027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the bus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That's me in the picture!</dc:title>
  <dc:subject>PptxGenJS Presentation</dc:subject>
  <dc:creator>PptxGenJS</dc:creator>
  <cp:lastModifiedBy>PptxGenJS</cp:lastModifiedBy>
  <cp:revision>1</cp:revision>
  <dcterms:created xsi:type="dcterms:W3CDTF">2026-10-19T11:59:34Z</dcterms:created>
  <dcterms:modified xsi:type="dcterms:W3CDTF">2026-10-19T11:59:34Z</dcterms:modified>
</cp:coreProperties>
</file>