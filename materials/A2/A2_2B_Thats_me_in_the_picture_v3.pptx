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lead-in: write PHOTO on the board – short for photograph; we TAKE a photo. Teach photographer / photography and the stress: PHOtograph, phoTOgrapher, phoTOgraphy. Show the photo (Henri Cartier-Bresson, famous French photographer, 1908–2004). Ask the THINK question; take 3–4 guesses. Click: the example. Don't say the answer – it's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Pairs ask about their last holiday (3 questions each, past simple). 2 students tell the class. Today: the past simple's partner – the past continuous (what WAS happening).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prediction (3 min)
PREDICTION (3 min). Check: a decade = 10 years (the 1970s); time of year = season. Pairs guess and say why. DON'T click yet: students read the article on the next 2 slides, then come back – or click at the end of the reading. Answers (TG 1b): 1 the 1970s · 2 autumn · 3 an owl in a tree · 4 bread, to give the animals in the zoo.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Jane's story 1/2 (4 min)
READING 1/2 (4 min). The article is ON THE SLIDE (the book's text, very slightly shortened). Students read and check their guesses, then complete the gaps with at / in / on (SB 2a sentences are inside the text). Click once per sentence. Answers (TG 2a): 1 In 1972, in London · 2 at university · 3 On Sundays. Pre-teach only: advertising agency (agenzia pubblicitaria), fall in love.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Jane's story 2/2 (4 min)
READING 2/2 (4 min). Students finish reading and check their guesses on slide 3 (go back and click the answers). Gap 4 (TG 2a): We were walking in the gardens one Sunday in autumn. Then ask: Were your guesses right? Who guessed the owl?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detail (4 min)
DETAIL (4 min). SB 1c. Pairs answer from the text; click once per question. Answers (TG): 1 She was living in London, in her early twenties, working for an advertising agency. 2 At a nightclub on a beach in the south of France; she found a job in Paris to be with him. 3 They went for a walk. 4 They heard a lot of noise from a tree – some little birds were attacking an owl. 5 She called Cartier-Bresson and he sent her a copy. 6 Because it was a happy time for her. 1d (whole class): Is there a photo with YOU in it that you really love?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prepositions (4 min)
VOCABULARY (4 min). Elicit each column before clicking. 2.10 is long (the whole Vocabulary Bank) – play only part of it, or drill yourself. TG notes: at / in + shops and buildings are both OK at this level (at / in the supermarket); airport and station → at. Years from 2011 → twenty eleven. in the morning BUT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game (3 min)
GAME (3 min). TG Activation as a team race. Click once per line. Then 1 minute in pairs: A says a word (home, Friday, August…), B says the preposition (book closed).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past continuous (3 min)
GUIDED DISCOVERY (3 min). SB 3a: look at the highlighted verbs – which describe 1) an action in progress at a specific moment in the past, 2) the situation at the beginning of the story? Click once per sentence. Answers (TG): 1 were looking (when Cartier-Bresson took the photo) · 2 was living, was working. Elicit the form: was / were + -ing – like the present continuous, but was /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past continuous (4 min)
POP-UP GRAMMAR (4 min). Elicit each column before clicking. TG grammar notes: we use the past continuous at the beginning of a story to set the scene; very often the 'action in progress' is interrupted by a short, completed action (past simple). when + past simple, while / when + past continuous. Grammar Bank audio 2.11 and 2.12 (listen and repeat) are not in our audio folder – play them from the book, or model the examples yourself and get students to copy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(5 min)
TPRS CLASS STORY (5 min) – the past continuous + past simple, many times, before the practice. Click once per line. For each line: 1) say it, 2) ask the questions round the class (yes/no → either/or → what/where), 3) let the CLASS change details (accept their idea and use it in later lines): 'Was Luca wearing pyjamas? No? What was he wearing?' Students answer with one word or a short phrase – that's fine; repeat the full sentence yourself. Highlight the pattern: long action (was / were -ing) + short action (past simple). Finish: 'What happened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practice (4 min)
CONTROLLED PRACTICE (4 min). Grammar Bank 2B a (the book's sentences, answers from the TG). Pairs say the full sentence; click once per line. Remember: the short action = past simple (went, gave, started).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game · mime (3 min)
GAME (3 min). SB 3c uses sound effects (audio 2.13, not in our folder). Without the audio: a volunteer mimes BOTH actions (long, then short), teams say the sentence. With the book audio: play each sound effect, pairs write the sentence. Click once per line to show the book's answer (TG 2.13).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Pronunciation · weak forms (3 min)
WEAK FORMS (3 min). Audio 2.14 is not in our folder: play it from the book, or read the sentences yourself at natural speed (was = /wəz/, were = /wə/ – unstressed). Answers (TG): 1 It was · 2 was staying · 3 were doing · 4 We were · 5 were visiting · 6 were…drinking, was doing. 4c: was and were are UNSTRESSED in positive sentences (strong /wɒz/ /wɜː/ only in short answers: Yes, I was). Drill: I was staying /aɪ wəz ˈsteɪɪŋ/.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Anya's photos (5 min)
LISTENING (5 min). Audio 2.15 is not in our folder: play it from the book, or read the script yourself (2 voices: Anya + friend). Script (TG): 1 This is me and my mum in York. It was my first term at university, and she came to visit me, and I took her on a tour round the city. – Is that the cathedral? – Yes, it's called York Minster. 2 This one's on the beach in Cornwall with my boyfriend, Ollie. I was staying with him in the Easter holidays, and we went for a walk. – It looks windy! – Yes, it was really windy and cold. 3 That's me and my friend Maisie. We were doing a music course, and this was at the party at the end of the course – the teachers made a corner with a big frame, hats and moustaches. 4 Me and two of my best friends – we were at school together. Libby has a house by the river, and we went there in September. 5 In Rome – I was there with my mum the summer before I went to university. She took this when we were visiting the Colosseum. 6 That's my mum, her partner and my sister Roz, on the river in Oxford. Every year we go punting. We were all drinking champagne, and Roz was doing the hard work! Answers: E 1 · C 2 · A 3 · F 4 · B 5 · D 6. Glossary: punt = a long flat boat (Oxford, Cambridge). 4e: what else do you remember about each photo?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Speaking · your photos (5 min)
SPEAKING (5 min). Questions one per click; model each with your own photo. Students SHOW real photos on their phones (great for the past continuous: What were you doing? Who were you with?). Note errors with was / were + -ing for 1 minute of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Set homework: Workbook 2B + Grammar Bank 2B exercise b (answers TG: 1 I broke my arm when I was playing football. 2 Were you driving fast when the police stopped you? 3 It was snowing when we left the pub. 4 I didn't see the match because I was working. 5 When you called me I was talking to my boss. 6 We were studying in Cambridge when we met. 7 Were they living in Rome when they had their first baby?) + Writing p.114 'Describing a photo' (use the questions from the speaking: Who took it? When? What was happening? Why do you like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Book audio · 2B (0 min)
EXTRA. 2.10 is the whole Vocabulary Bank list – good for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audio" Target="../media/media-19-6.mp3"/><Relationship Id="rId7" Type="http://schemas.microsoft.com/office/2007/relationships/media" Target="../media/media-19-6.mp3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pp.16–17 · VB p.153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Photos, stories and the past continuous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read the true story behind a famous photo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use at, in, on for time and place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⏸  past continuous: I was walking when…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favourite photo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they're looking at a bird in a tree!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2b_coupl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Paris, a park, a couple… What are they looking at?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partner: Where did you go on your last holiday?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compagno: Dove sei andato nella tua ultima vacanza?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a2_2b_anya_b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2A: holidays, past simple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-ed endings /t/ /d/ /ɪd/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Rome. We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hotel.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take my passport!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good time? – Yes, 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abroad · go sightseeing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in a hotel · hire a car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The weather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amazing.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took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2179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07745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7038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story?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photo. Guess! Then read and check.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foto. Indovina! Poi leggi e controlla.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5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Reading · prediction   ·   📖 SB p.16 · 1a, 1b (answers: TG)</a:t>
            </a:r>
            <a:endParaRPr lang="en-US" sz="800" dirty="0"/>
          </a:p>
        </p:txBody>
      </p:sp>
      <p:sp>
        <p:nvSpPr>
          <p:cNvPr id="15" name="cd_6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why: I think it's the 1970s because of her coat.</a:t>
            </a:r>
            <a:endParaRPr lang="en-US" sz="1050" dirty="0"/>
          </a:p>
        </p:txBody>
      </p:sp>
      <p:sp>
        <p:nvSpPr>
          <p:cNvPr id="19" name="pf_6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5" descr="/home/claude/lls-course/v2/cache/a2_2b_coupl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What decade is it from?</a:t>
            </a:r>
            <a:endParaRPr lang="en-US" sz="1150" dirty="0"/>
          </a:p>
        </p:txBody>
      </p:sp>
      <p:sp>
        <p:nvSpPr>
          <p:cNvPr id="23" name="R1_chip6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1970s (1972)</a:t>
            </a:r>
            <a:endParaRPr lang="en-US" sz="1000" dirty="0"/>
          </a:p>
        </p:txBody>
      </p:sp>
      <p:sp>
        <p:nvSpPr>
          <p:cNvPr id="24" name="bd_6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What time of year is it?</a:t>
            </a:r>
            <a:endParaRPr lang="en-US" sz="1150" dirty="0"/>
          </a:p>
        </p:txBody>
      </p:sp>
      <p:sp>
        <p:nvSpPr>
          <p:cNvPr id="26" name="R2_chip7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autumn</a:t>
            </a:r>
            <a:endParaRPr lang="en-US" sz="1000" dirty="0"/>
          </a:p>
        </p:txBody>
      </p:sp>
      <p:sp>
        <p:nvSpPr>
          <p:cNvPr id="27" name="bd_7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What are they looking at?</a:t>
            </a:r>
            <a:endParaRPr lang="en-US" sz="1150" dirty="0"/>
          </a:p>
        </p:txBody>
      </p:sp>
      <p:sp>
        <p:nvSpPr>
          <p:cNvPr id="29" name="R3_chip7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in a tree</a:t>
            </a:r>
            <a:endParaRPr lang="en-US" sz="1000" dirty="0"/>
          </a:p>
        </p:txBody>
      </p:sp>
      <p:sp>
        <p:nvSpPr>
          <p:cNvPr id="30" name="bd_7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What's in the woman's pocket?</a:t>
            </a:r>
            <a:endParaRPr lang="en-US" sz="1150" dirty="0"/>
          </a:p>
        </p:txBody>
      </p:sp>
      <p:sp>
        <p:nvSpPr>
          <p:cNvPr id="32" name="R4_chip7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bread for the animals in the zoo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80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82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story. Complete 1–3 with at, in or on.</a:t>
            </a:r>
            <a:endParaRPr lang="en-US" sz="1250" dirty="0"/>
          </a:p>
        </p:txBody>
      </p:sp>
      <p:sp>
        <p:nvSpPr>
          <p:cNvPr id="8" name="insIT_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storia di Jane. Completa 1–3 con at, in o on.</a:t>
            </a:r>
            <a:endParaRPr lang="en-US" sz="950" dirty="0"/>
          </a:p>
        </p:txBody>
      </p:sp>
      <p:sp>
        <p:nvSpPr>
          <p:cNvPr id="9" name="cmd_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8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8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8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Reading · Jane's story 1/2   ·   📖 SB p.16 · 1b, 2a · article (adapted)</a:t>
            </a:r>
            <a:endParaRPr lang="en-US" sz="800" dirty="0"/>
          </a:p>
        </p:txBody>
      </p:sp>
      <p:sp>
        <p:nvSpPr>
          <p:cNvPr id="15" name="cd_9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9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1)</a:t>
            </a:r>
            <a:endParaRPr lang="en-US" sz="1700" dirty="0"/>
          </a:p>
        </p:txBody>
      </p:sp>
      <p:sp>
        <p:nvSpPr>
          <p:cNvPr id="17" name="ln_9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8" name="R1_lnA9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9" name="ln_9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summer, I went on a camping holiday with my parents in the south of France. One night, I went to a nightclub on the beach and I met a young Frenchman, and we fell in love.</a:t>
            </a:r>
            <a:endParaRPr lang="en-US" sz="1050" dirty="0"/>
          </a:p>
        </p:txBody>
      </p:sp>
      <p:sp>
        <p:nvSpPr>
          <p:cNvPr id="20" name="ln_9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1" name="R2_lnA9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2" name="ln_9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3" name="R3_lnA9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4" name="cd_9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bkh_10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 (use them more than once!)</a:t>
            </a:r>
            <a:endParaRPr lang="en-US" sz="950" dirty="0"/>
          </a:p>
        </p:txBody>
      </p:sp>
      <p:sp>
        <p:nvSpPr>
          <p:cNvPr id="26" name="bk_10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7" name="bk_10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8" name="bk_10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9" name="pf_104"/>
          <p:cNvSpPr/>
          <p:nvPr/>
        </p:nvSpPr>
        <p:spPr>
          <a:xfrm rot="120000">
            <a:off x="6309360" y="2313432"/>
            <a:ext cx="256032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105" descr="/home/claude/lls-course/v2/cache/a2_2b_couple_jpg_594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359152"/>
            <a:ext cx="2468880" cy="1325880"/>
          </a:xfrm>
          <a:prstGeom prst="rect">
            <a:avLst/>
          </a:prstGeom>
        </p:spPr>
      </p:pic>
      <p:sp>
        <p:nvSpPr>
          <p:cNvPr id="31" name="cd_10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ii_10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3" name="ih_10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4" name="il_10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my early twenties = 20–23 years old</a:t>
            </a:r>
            <a:endParaRPr lang="en-US" sz="8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 in love = innamorarsi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1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1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1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rest of the story. Complete 4 with at, in or on.</a:t>
            </a:r>
            <a:endParaRPr lang="en-US" sz="1250" dirty="0"/>
          </a:p>
        </p:txBody>
      </p:sp>
      <p:sp>
        <p:nvSpPr>
          <p:cNvPr id="8" name="insIT_11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il resto della storia. Completa il 4 con at, in o on.</a:t>
            </a:r>
            <a:endParaRPr lang="en-US" sz="950" dirty="0"/>
          </a:p>
        </p:txBody>
      </p:sp>
      <p:sp>
        <p:nvSpPr>
          <p:cNvPr id="9" name="cmd_11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1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1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1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1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Reading · Jane's story 2/2   ·   📖 SB p.16 · 1b, 2a · article (adapted)</a:t>
            </a:r>
            <a:endParaRPr lang="en-US" sz="800" dirty="0"/>
          </a:p>
        </p:txBody>
      </p:sp>
      <p:sp>
        <p:nvSpPr>
          <p:cNvPr id="15" name="cd_12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2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2)</a:t>
            </a:r>
            <a:endParaRPr lang="en-US" sz="1700" dirty="0"/>
          </a:p>
        </p:txBody>
      </p:sp>
      <p:sp>
        <p:nvSpPr>
          <p:cNvPr id="17" name="ln_124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8" name="R1_lnA125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9" name="ln_126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also noticed a man with a camera. I said: 'Why was that man taking photographs of us?'</a:t>
            </a:r>
            <a:endParaRPr lang="en-US" sz="1050" dirty="0"/>
          </a:p>
        </p:txBody>
      </p:sp>
      <p:sp>
        <p:nvSpPr>
          <p:cNvPr id="20" name="ln_12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year, a friend saw the photo in a magazine. I phoned the magazine and got Cartier-Bresson's number. I was very shy, but I called him. He was very friendly, and he sent me a copy.</a:t>
            </a:r>
            <a:endParaRPr lang="en-US" sz="1050" dirty="0"/>
          </a:p>
        </p:txBody>
      </p:sp>
      <p:sp>
        <p:nvSpPr>
          <p:cNvPr id="21" name="ln_12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 this picture. It was a happy time for me. My French boyfriend and I broke up in the end, but we're still in touch.</a:t>
            </a:r>
            <a:endParaRPr lang="en-US" sz="1050" dirty="0"/>
          </a:p>
        </p:txBody>
      </p:sp>
      <p:sp>
        <p:nvSpPr>
          <p:cNvPr id="22" name="cd_12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bkh_13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</a:t>
            </a:r>
            <a:endParaRPr lang="en-US" sz="1100" dirty="0"/>
          </a:p>
        </p:txBody>
      </p:sp>
      <p:sp>
        <p:nvSpPr>
          <p:cNvPr id="24" name="bk_13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5" name="bk_13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6" name="bk_13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7" name="pf_134"/>
          <p:cNvSpPr/>
          <p:nvPr/>
        </p:nvSpPr>
        <p:spPr>
          <a:xfrm rot="120000">
            <a:off x="6309360" y="2313432"/>
            <a:ext cx="256032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35" descr="/home/claude/lls-course/v2/cache/a2_2b_couple_jpg_594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359152"/>
            <a:ext cx="2468880" cy="1325880"/>
          </a:xfrm>
          <a:prstGeom prst="rect">
            <a:avLst/>
          </a:prstGeom>
        </p:spPr>
      </p:pic>
      <p:sp>
        <p:nvSpPr>
          <p:cNvPr id="29" name="cd_13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13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13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13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owl = un gufo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up = lasciarsi · be in touch = sentirsi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is the photo special?</a:t>
            </a:r>
            <a:endParaRPr lang="en-US" sz="25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 again. Answer the questions.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Rileggi la storia di Jane. Rispondi alle domande.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14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Reading · detail   ·   📖 SB p.16 · 1c (answers: TG)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📰 Jane's story is on the last 2 slides. Go back if you need to!</a:t>
            </a:r>
            <a:endParaRPr lang="en-US" sz="1050" dirty="0"/>
          </a:p>
        </p:txBody>
      </p:sp>
      <p:sp>
        <p:nvSpPr>
          <p:cNvPr id="18" name="pf_15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6" descr="/home/claude/lls-course/v2/cache/a2_2b_anya_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5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5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Jane's life at the beginning?</a:t>
            </a:r>
            <a:endParaRPr lang="en-US" sz="1150" dirty="0"/>
          </a:p>
        </p:txBody>
      </p:sp>
      <p:sp>
        <p:nvSpPr>
          <p:cNvPr id="22" name="R1_chip15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London, early twenties, advertising agency</a:t>
            </a:r>
            <a:endParaRPr lang="en-US" sz="1000" dirty="0"/>
          </a:p>
        </p:txBody>
      </p:sp>
      <p:sp>
        <p:nvSpPr>
          <p:cNvPr id="23" name="bd_16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6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Where did she meet the Frenchman?</a:t>
            </a:r>
            <a:endParaRPr lang="en-US" sz="1150" dirty="0"/>
          </a:p>
        </p:txBody>
      </p:sp>
      <p:sp>
        <p:nvSpPr>
          <p:cNvPr id="25" name="R2_chip16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a nightclub on a beach in France</a:t>
            </a:r>
            <a:endParaRPr lang="en-US" sz="1000" dirty="0"/>
          </a:p>
        </p:txBody>
      </p:sp>
      <p:sp>
        <p:nvSpPr>
          <p:cNvPr id="26" name="bd_16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6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What did they often do on Sundays?</a:t>
            </a:r>
            <a:endParaRPr lang="en-US" sz="1150" dirty="0"/>
          </a:p>
        </p:txBody>
      </p:sp>
      <p:sp>
        <p:nvSpPr>
          <p:cNvPr id="28" name="R3_chip16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went for a walk.</a:t>
            </a:r>
            <a:endParaRPr lang="en-US" sz="1000" dirty="0"/>
          </a:p>
        </p:txBody>
      </p:sp>
      <p:sp>
        <p:nvSpPr>
          <p:cNvPr id="29" name="bd_16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6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Why did they stop in the gardens?</a:t>
            </a:r>
            <a:endParaRPr lang="en-US" sz="1150" dirty="0"/>
          </a:p>
        </p:txBody>
      </p:sp>
      <p:sp>
        <p:nvSpPr>
          <p:cNvPr id="31" name="R4_chip16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noise from a tree: birds attacking an owl</a:t>
            </a:r>
            <a:endParaRPr lang="en-US" sz="1000" dirty="0"/>
          </a:p>
        </p:txBody>
      </p:sp>
      <p:sp>
        <p:nvSpPr>
          <p:cNvPr id="32" name="bd_16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7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How did she get a copy?</a:t>
            </a:r>
            <a:endParaRPr lang="en-US" sz="1150" dirty="0"/>
          </a:p>
        </p:txBody>
      </p:sp>
      <p:sp>
        <p:nvSpPr>
          <p:cNvPr id="34" name="R5_chip17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called Cartier-Bresson. He sent it.</a:t>
            </a:r>
            <a:endParaRPr lang="en-US" sz="1000" dirty="0"/>
          </a:p>
        </p:txBody>
      </p:sp>
      <p:sp>
        <p:nvSpPr>
          <p:cNvPr id="35" name="bd_17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7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Why is the photo important to her?</a:t>
            </a:r>
            <a:endParaRPr lang="en-US" sz="1150" dirty="0"/>
          </a:p>
        </p:txBody>
      </p:sp>
      <p:sp>
        <p:nvSpPr>
          <p:cNvPr id="37" name="R6_chip17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her.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17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in, on</a:t>
            </a:r>
            <a:endParaRPr lang="en-US" sz="2500" dirty="0"/>
          </a:p>
        </p:txBody>
      </p:sp>
      <p:pic>
        <p:nvPicPr>
          <p:cNvPr id="6" name="brP_1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79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or on? Look at the examples. What's the rule?</a:t>
            </a:r>
            <a:endParaRPr lang="en-US" sz="1250" dirty="0"/>
          </a:p>
        </p:txBody>
      </p:sp>
      <p:sp>
        <p:nvSpPr>
          <p:cNvPr id="8" name="insIT_1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at, in o on? Guarda gli esempi. Qual è la regola?</a:t>
            </a:r>
            <a:endParaRPr lang="en-US" sz="950" dirty="0"/>
          </a:p>
        </p:txBody>
      </p:sp>
      <p:sp>
        <p:nvSpPr>
          <p:cNvPr id="9" name="cmd_1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8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18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1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Vocabulary · prepositions   ·   📖 Vocabulary Bank Prepositions p.153 · audio 2.10</a:t>
            </a:r>
            <a:endParaRPr lang="en-US" sz="800" dirty="0"/>
          </a:p>
        </p:txBody>
      </p:sp>
      <p:sp>
        <p:nvSpPr>
          <p:cNvPr id="14" name="ah_186"/>
          <p:cNvSpPr/>
          <p:nvPr/>
        </p:nvSpPr>
        <p:spPr>
          <a:xfrm>
            <a:off x="5376672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2.10  ▶ normal · 🐢 slower</a:t>
            </a:r>
            <a:endParaRPr lang="en-US" sz="9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7" name="cd_187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rh_188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</a:t>
            </a:r>
            <a:endParaRPr lang="en-US" sz="1250" dirty="0"/>
          </a:p>
        </p:txBody>
      </p:sp>
      <p:sp>
        <p:nvSpPr>
          <p:cNvPr id="19" name="pf_189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90" descr="/home/claude/lls-course/v2/cache/a2_2b_anya_b_jpg_589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21" name="ru_191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places · long time</a:t>
            </a:r>
            <a:endParaRPr lang="en-US" sz="1050" dirty="0"/>
          </a:p>
        </p:txBody>
      </p:sp>
      <p:sp>
        <p:nvSpPr>
          <p:cNvPr id="22" name="R1_rx192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Rome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kitchen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July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autumn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1972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morning</a:t>
            </a:r>
            <a:endParaRPr lang="en-US" sz="1050" dirty="0"/>
          </a:p>
        </p:txBody>
      </p:sp>
      <p:sp>
        <p:nvSpPr>
          <p:cNvPr id="23" name="R1_ri193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città, stanze, mesi, stagioni, anni</a:t>
            </a:r>
            <a:endParaRPr lang="en-US" sz="900" dirty="0"/>
          </a:p>
        </p:txBody>
      </p:sp>
      <p:sp>
        <p:nvSpPr>
          <p:cNvPr id="24" name="cd_194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rh_195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</a:t>
            </a:r>
            <a:endParaRPr lang="en-US" sz="1250" dirty="0"/>
          </a:p>
        </p:txBody>
      </p:sp>
      <p:sp>
        <p:nvSpPr>
          <p:cNvPr id="26" name="pf_196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97" descr="/home/claude/lls-course/v2/cache/a2_2b_anya_c_jpg_589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8" name="ru_198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days · surfaces · transport</a:t>
            </a:r>
            <a:endParaRPr lang="en-US" sz="1050" dirty="0"/>
          </a:p>
        </p:txBody>
      </p:sp>
      <p:sp>
        <p:nvSpPr>
          <p:cNvPr id="29" name="R2_rx199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Sunday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1st March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beach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wall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train</a:t>
            </a:r>
            <a:endParaRPr lang="en-US" sz="1050" dirty="0"/>
          </a:p>
        </p:txBody>
      </p:sp>
      <p:sp>
        <p:nvSpPr>
          <p:cNvPr id="30" name="R2_ri200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giorni, date, superfici, mezzi</a:t>
            </a:r>
            <a:endParaRPr lang="en-US" sz="900" dirty="0"/>
          </a:p>
        </p:txBody>
      </p:sp>
      <p:sp>
        <p:nvSpPr>
          <p:cNvPr id="31" name="cd_201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202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</a:t>
            </a:r>
            <a:endParaRPr lang="en-US" sz="1250" dirty="0"/>
          </a:p>
        </p:txBody>
      </p:sp>
      <p:sp>
        <p:nvSpPr>
          <p:cNvPr id="33" name="pf_203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204" descr="/home/claude/lls-course/v2/cache/a2_2b_anya_a_jpg_589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5" name="ru_205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points: places and times</a:t>
            </a:r>
            <a:endParaRPr lang="en-US" sz="1050" dirty="0"/>
          </a:p>
        </p:txBody>
      </p:sp>
      <p:sp>
        <p:nvSpPr>
          <p:cNvPr id="36" name="R3_rx206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home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work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party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6 o'clock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night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weekend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Christmas</a:t>
            </a:r>
            <a:endParaRPr lang="en-US" sz="1050" dirty="0"/>
          </a:p>
        </p:txBody>
      </p:sp>
      <p:sp>
        <p:nvSpPr>
          <p:cNvPr id="37" name="R3_ri207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luoghi precisi, orari, feste</a:t>
            </a:r>
            <a:endParaRPr lang="en-US" sz="900" dirty="0"/>
          </a:p>
        </p:txBody>
      </p:sp>
      <p:sp>
        <p:nvSpPr>
          <p:cNvPr id="38" name="R4_wc208"/>
          <p:cNvSpPr/>
          <p:nvPr/>
        </p:nvSpPr>
        <p:spPr>
          <a:xfrm>
            <a:off x="320040" y="4544568"/>
            <a:ext cx="4828032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R4_w209"/>
          <p:cNvSpPr/>
          <p:nvPr/>
        </p:nvSpPr>
        <p:spPr>
          <a:xfrm>
            <a:off x="457200" y="4544568"/>
            <a:ext cx="4599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in the morning / afternoon / evening  BUT  at night   ·   at university (= studying there)   ·   2019 = twenty nineteen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4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12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 or on?</a:t>
            </a:r>
            <a:endParaRPr lang="en-US" sz="2500" dirty="0"/>
          </a:p>
        </p:txBody>
      </p:sp>
      <p:pic>
        <p:nvPicPr>
          <p:cNvPr id="6" name="brP_2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214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Be quick!</a:t>
            </a:r>
            <a:endParaRPr lang="en-US" sz="1250" dirty="0"/>
          </a:p>
        </p:txBody>
      </p:sp>
      <p:sp>
        <p:nvSpPr>
          <p:cNvPr id="8" name="insIT_21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Squadre: at, in o on? Veloci!</a:t>
            </a:r>
            <a:endParaRPr lang="en-US" sz="950" dirty="0"/>
          </a:p>
        </p:txBody>
      </p:sp>
      <p:sp>
        <p:nvSpPr>
          <p:cNvPr id="9" name="cmd_21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1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1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Vocabulary game   ·   📖 VB p.153 · Activation</a:t>
            </a:r>
            <a:endParaRPr lang="en-US" sz="800" dirty="0"/>
          </a:p>
        </p:txBody>
      </p:sp>
      <p:sp>
        <p:nvSpPr>
          <p:cNvPr id="14" name="cd_22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2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2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2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word.</a:t>
            </a:r>
            <a:endParaRPr lang="en-US" sz="12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parola.</a:t>
            </a:r>
            <a:endParaRPr lang="en-US" sz="12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the preposition + the word.</a:t>
            </a:r>
            <a:endParaRPr lang="en-US" sz="12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preposizione + la parola.</a:t>
            </a:r>
            <a:endParaRPr lang="en-US" sz="12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right answer = 1 point.</a:t>
            </a:r>
            <a:endParaRPr lang="en-US" sz="12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10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 risposta giusta = 1 punto.</a:t>
            </a:r>
            <a:endParaRPr lang="en-US" sz="1200" dirty="0"/>
          </a:p>
        </p:txBody>
      </p:sp>
      <p:sp>
        <p:nvSpPr>
          <p:cNvPr id="18" name="st_225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226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27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Christmas</a:t>
            </a:r>
            <a:endParaRPr lang="en-US" sz="1100" dirty="0"/>
          </a:p>
        </p:txBody>
      </p:sp>
      <p:sp>
        <p:nvSpPr>
          <p:cNvPr id="21" name="R1_chip228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Christmas</a:t>
            </a:r>
            <a:endParaRPr lang="en-US" sz="1100" dirty="0"/>
          </a:p>
        </p:txBody>
      </p:sp>
      <p:sp>
        <p:nvSpPr>
          <p:cNvPr id="22" name="bd_229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30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July</a:t>
            </a:r>
            <a:endParaRPr lang="en-US" sz="1100" dirty="0"/>
          </a:p>
        </p:txBody>
      </p:sp>
      <p:sp>
        <p:nvSpPr>
          <p:cNvPr id="24" name="R2_chip231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1100" dirty="0"/>
          </a:p>
        </p:txBody>
      </p:sp>
      <p:sp>
        <p:nvSpPr>
          <p:cNvPr id="25" name="bd_232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33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Monday morning</a:t>
            </a:r>
            <a:endParaRPr lang="en-US" sz="1100" dirty="0"/>
          </a:p>
        </p:txBody>
      </p:sp>
      <p:sp>
        <p:nvSpPr>
          <p:cNvPr id="27" name="R3_chip234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1100" dirty="0"/>
          </a:p>
        </p:txBody>
      </p:sp>
      <p:sp>
        <p:nvSpPr>
          <p:cNvPr id="28" name="bd_235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36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airport</a:t>
            </a:r>
            <a:endParaRPr lang="en-US" sz="1100" dirty="0"/>
          </a:p>
        </p:txBody>
      </p:sp>
      <p:sp>
        <p:nvSpPr>
          <p:cNvPr id="30" name="R4_chip237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airport</a:t>
            </a:r>
            <a:endParaRPr lang="en-US" sz="1100" dirty="0"/>
          </a:p>
        </p:txBody>
      </p:sp>
      <p:sp>
        <p:nvSpPr>
          <p:cNvPr id="31" name="bd_238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39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bus</a:t>
            </a:r>
            <a:endParaRPr lang="en-US" sz="1100" dirty="0"/>
          </a:p>
        </p:txBody>
      </p:sp>
      <p:sp>
        <p:nvSpPr>
          <p:cNvPr id="33" name="R5_chip240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a bus</a:t>
            </a:r>
            <a:endParaRPr lang="en-US" sz="1100" dirty="0"/>
          </a:p>
        </p:txBody>
      </p:sp>
      <p:sp>
        <p:nvSpPr>
          <p:cNvPr id="34" name="bd_241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42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2019</a:t>
            </a:r>
            <a:endParaRPr lang="en-US" sz="1100" dirty="0"/>
          </a:p>
        </p:txBody>
      </p:sp>
      <p:sp>
        <p:nvSpPr>
          <p:cNvPr id="36" name="R6_chip243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2019</a:t>
            </a:r>
            <a:endParaRPr lang="en-US" sz="1100" dirty="0"/>
          </a:p>
        </p:txBody>
      </p:sp>
      <p:sp>
        <p:nvSpPr>
          <p:cNvPr id="37" name="bd_244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245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weekend</a:t>
            </a:r>
            <a:endParaRPr lang="en-US" sz="1100" dirty="0"/>
          </a:p>
        </p:txBody>
      </p:sp>
      <p:sp>
        <p:nvSpPr>
          <p:cNvPr id="39" name="R7_chip246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</a:t>
            </a:r>
            <a:endParaRPr lang="en-US" sz="1100" dirty="0"/>
          </a:p>
        </p:txBody>
      </p:sp>
      <p:sp>
        <p:nvSpPr>
          <p:cNvPr id="40" name="bd_247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248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kitchen</a:t>
            </a:r>
            <a:endParaRPr lang="en-US" sz="1100" dirty="0"/>
          </a:p>
        </p:txBody>
      </p:sp>
      <p:sp>
        <p:nvSpPr>
          <p:cNvPr id="42" name="R8_chip249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kitchen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2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54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sentences from the story. Which use?</a:t>
            </a:r>
            <a:endParaRPr lang="en-US" sz="1250" dirty="0"/>
          </a:p>
        </p:txBody>
      </p:sp>
      <p:sp>
        <p:nvSpPr>
          <p:cNvPr id="8" name="insIT_2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le frasi della storia. Quale uso?</a:t>
            </a:r>
            <a:endParaRPr lang="en-US" sz="950" dirty="0"/>
          </a:p>
        </p:txBody>
      </p:sp>
      <p:sp>
        <p:nvSpPr>
          <p:cNvPr id="9" name="cmd_25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25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1" name="meta_25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5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Grammar · past continuous   ·   📖 SB p.17 · 3a (answers: TG)</a:t>
            </a:r>
            <a:endParaRPr lang="en-US" sz="800" dirty="0"/>
          </a:p>
        </p:txBody>
      </p:sp>
      <p:sp>
        <p:nvSpPr>
          <p:cNvPr id="15" name="cd_262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uses</a:t>
            </a:r>
            <a:endParaRPr lang="en-US" sz="1300" dirty="0"/>
          </a:p>
        </p:txBody>
      </p:sp>
      <p:sp>
        <p:nvSpPr>
          <p:cNvPr id="18" name="il_265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lg_26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050" dirty="0"/>
          </a:p>
        </p:txBody>
      </p:sp>
      <p:sp>
        <p:nvSpPr>
          <p:cNvPr id="20" name="lg_26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050" dirty="0"/>
          </a:p>
        </p:txBody>
      </p:sp>
      <p:sp>
        <p:nvSpPr>
          <p:cNvPr id="21" name="sq_268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1972, 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200" dirty="0"/>
          </a:p>
        </p:txBody>
      </p:sp>
      <p:sp>
        <p:nvSpPr>
          <p:cNvPr id="22" name="R1_tag269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3" name="sq_270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working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an advertising agency.</a:t>
            </a:r>
            <a:endParaRPr lang="en-US" sz="1200" dirty="0"/>
          </a:p>
        </p:txBody>
      </p:sp>
      <p:sp>
        <p:nvSpPr>
          <p:cNvPr id="24" name="R2_tag271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5" name="sq_272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gardens when we stopped.</a:t>
            </a:r>
            <a:endParaRPr lang="en-US" sz="1200" dirty="0"/>
          </a:p>
        </p:txBody>
      </p:sp>
      <p:sp>
        <p:nvSpPr>
          <p:cNvPr id="26" name="R3_tag273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7" name="sq_274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 little birds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attacking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200" dirty="0"/>
          </a:p>
        </p:txBody>
      </p:sp>
      <p:sp>
        <p:nvSpPr>
          <p:cNvPr id="28" name="R4_tag275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9" name="sq_276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'Why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that man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photos of us?'</a:t>
            </a:r>
            <a:endParaRPr lang="en-US" sz="1200" dirty="0"/>
          </a:p>
        </p:txBody>
      </p:sp>
      <p:sp>
        <p:nvSpPr>
          <p:cNvPr id="30" name="R5_tag277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31" name="pf_278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79" descr="/home/claude/lls-course/v2/cache/a2_2b_couple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8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was walking when…</a:t>
            </a:r>
            <a:endParaRPr lang="en-US" sz="2400" dirty="0"/>
          </a:p>
        </p:txBody>
      </p:sp>
      <p:pic>
        <p:nvPicPr>
          <p:cNvPr id="6" name="brP_2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84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we make it?</a:t>
            </a:r>
            <a:endParaRPr lang="en-US" sz="1250" dirty="0"/>
          </a:p>
        </p:txBody>
      </p:sp>
      <p:sp>
        <p:nvSpPr>
          <p:cNvPr id="8" name="insIT_28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si forma?</a:t>
            </a:r>
            <a:endParaRPr lang="en-US" sz="950" dirty="0"/>
          </a:p>
        </p:txBody>
      </p:sp>
      <p:sp>
        <p:nvSpPr>
          <p:cNvPr id="9" name="cmd_28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8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8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Grammar · past continuous   ·   📖 Grammar Bank 2B p.128 · audio 2.11, 2.12 (play from the book)</a:t>
            </a:r>
            <a:endParaRPr lang="en-US" sz="800" dirty="0"/>
          </a:p>
        </p:txBody>
      </p:sp>
      <p:sp>
        <p:nvSpPr>
          <p:cNvPr id="14" name="cd_291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92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6" name="pf_293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94" descr="/home/claude/lls-course/v2/cache/a2_2b_couple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295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-ing</a:t>
            </a:r>
            <a:endParaRPr lang="en-US" sz="1050" dirty="0"/>
          </a:p>
        </p:txBody>
      </p:sp>
      <p:sp>
        <p:nvSpPr>
          <p:cNvPr id="19" name="R1_rx296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R1_ri297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 / stavo + -ando</a:t>
            </a:r>
            <a:endParaRPr lang="en-US" sz="900" dirty="0"/>
          </a:p>
        </p:txBody>
      </p:sp>
      <p:sp>
        <p:nvSpPr>
          <p:cNvPr id="21" name="cd_298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99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</a:t>
            </a:r>
            <a:endParaRPr lang="en-US" sz="1250" dirty="0"/>
          </a:p>
        </p:txBody>
      </p:sp>
      <p:sp>
        <p:nvSpPr>
          <p:cNvPr id="23" name="pf_300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01" descr="/home/claude/lls-course/v2/cache/a2_2b_anya_d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02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wasn't / weren't + -ing</a:t>
            </a:r>
            <a:endParaRPr lang="en-US" sz="1050" dirty="0"/>
          </a:p>
        </p:txBody>
      </p:sp>
      <p:sp>
        <p:nvSpPr>
          <p:cNvPr id="26" name="R2_rx303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weren't listening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2_ri304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stavo…</a:t>
            </a:r>
            <a:endParaRPr lang="en-US" sz="900" dirty="0"/>
          </a:p>
        </p:txBody>
      </p:sp>
      <p:sp>
        <p:nvSpPr>
          <p:cNvPr id="28" name="cd_305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06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30" name="pf_307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08" descr="/home/claude/lls-course/v2/cache/a2_2b_anya_f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09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person + -ing?</a:t>
            </a:r>
            <a:endParaRPr lang="en-US" sz="1050" dirty="0"/>
          </a:p>
        </p:txBody>
      </p:sp>
      <p:sp>
        <p:nvSpPr>
          <p:cNvPr id="33" name="R3_rx310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– Yes,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4" name="R3_ri311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stavi facendo?</a:t>
            </a:r>
            <a:endParaRPr lang="en-US" sz="900" dirty="0"/>
          </a:p>
        </p:txBody>
      </p:sp>
      <p:sp>
        <p:nvSpPr>
          <p:cNvPr id="35" name="cd_312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13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 / while</a:t>
            </a:r>
            <a:endParaRPr lang="en-US" sz="1250" dirty="0"/>
          </a:p>
        </p:txBody>
      </p:sp>
      <p:sp>
        <p:nvSpPr>
          <p:cNvPr id="37" name="pf_314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15" descr="/home/claude/lls-course/v2/cache/a2_2b_anya_c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16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long action + short action</a:t>
            </a:r>
            <a:endParaRPr lang="en-US" sz="1050" dirty="0"/>
          </a:p>
        </p:txBody>
      </p:sp>
      <p:sp>
        <p:nvSpPr>
          <p:cNvPr id="40" name="R4_rx317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 when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 phone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18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azione lunga (continuous) + breve (simple)</a:t>
            </a:r>
            <a:endParaRPr lang="en-US" sz="750" dirty="0"/>
          </a:p>
        </p:txBody>
      </p:sp>
      <p:sp>
        <p:nvSpPr>
          <p:cNvPr id="42" name="R5_wc31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2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When I was arriving, they were eating → ✓ When I arrived, they were eating (the short action = past simple)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2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terrible Sunday</a:t>
            </a:r>
            <a:endParaRPr lang="en-US" sz="2500" dirty="0"/>
          </a:p>
        </p:txBody>
      </p:sp>
      <p:pic>
        <p:nvPicPr>
          <p:cNvPr id="6" name="brP_3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3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5" name="cd_333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6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sleeping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stava dormendo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running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stava correndo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were looking at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stavano guardando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wearing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indossava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+ past simple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quando + passato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 + was / were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mentre…</a:t>
            </a:r>
            <a:endParaRPr lang="en-US" sz="1000" dirty="0"/>
          </a:p>
        </p:txBody>
      </p:sp>
      <p:sp>
        <p:nvSpPr>
          <p:cNvPr id="19" name="R1_sb337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8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Sunday at 8 o'clock, 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bed.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Was Luca sleeping or working? · Where was he sleeping?</a:t>
            </a:r>
            <a:endParaRPr lang="en-US" sz="1250" dirty="0"/>
          </a:p>
        </p:txBody>
      </p:sp>
      <p:sp>
        <p:nvSpPr>
          <p:cNvPr id="21" name="R2_sb339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40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his phone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It was his boss!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Was he sleeping when the phone rang? · Who was it?</a:t>
            </a:r>
            <a:endParaRPr lang="en-US" sz="1250" dirty="0"/>
          </a:p>
        </p:txBody>
      </p:sp>
      <p:sp>
        <p:nvSpPr>
          <p:cNvPr id="23" name="R3_sb341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42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the station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rain.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Was he walking or running? · What happened?</a:t>
            </a:r>
            <a:endParaRPr lang="en-US" sz="1250" dirty="0"/>
          </a:p>
        </p:txBody>
      </p:sp>
      <p:sp>
        <p:nvSpPr>
          <p:cNvPr id="25" name="R4_sb343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44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train, everybody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looking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him.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pyjamas!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were people doing? · What was he wearing?</a:t>
            </a:r>
            <a:endParaRPr lang="en-US" sz="1000" dirty="0"/>
          </a:p>
        </p:txBody>
      </p:sp>
      <p:sp>
        <p:nvSpPr>
          <p:cNvPr id="27" name="R5_sb345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6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 his boss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laughing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'Luca… today is Sunday!'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Was the boss angry or laughing? · What day was it?</a:t>
            </a:r>
            <a:endParaRPr lang="en-US" sz="1250" dirty="0"/>
          </a:p>
        </p:txBody>
      </p:sp>
      <p:sp>
        <p:nvSpPr>
          <p:cNvPr id="29" name="R6_sb347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8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What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last Sunday at 8 o'clock?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Were you sleeping? · Were you working?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5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it happening?</a:t>
            </a:r>
            <a:endParaRPr lang="en-US" sz="2500" dirty="0"/>
          </a:p>
        </p:txBody>
      </p:sp>
      <p:pic>
        <p:nvPicPr>
          <p:cNvPr id="6" name="brP_3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53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or past continuous? Say the sentence.</a:t>
            </a:r>
            <a:endParaRPr lang="en-US" sz="1250" dirty="0"/>
          </a:p>
        </p:txBody>
      </p:sp>
      <p:sp>
        <p:nvSpPr>
          <p:cNvPr id="8" name="insIT_3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 simple o past continuous? Di' la frase.</a:t>
            </a:r>
            <a:endParaRPr lang="en-US" sz="950" dirty="0"/>
          </a:p>
        </p:txBody>
      </p:sp>
      <p:sp>
        <p:nvSpPr>
          <p:cNvPr id="9" name="cmd_3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3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5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3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Grammar · practice   ·   📖 Grammar Bank 2B p.129 · a (answers: TG)</a:t>
            </a:r>
            <a:endParaRPr lang="en-US" sz="800" dirty="0"/>
          </a:p>
        </p:txBody>
      </p:sp>
      <p:sp>
        <p:nvSpPr>
          <p:cNvPr id="15" name="cd_36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6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___ this photo when we ___ in Greece. (take · travel) → I took this photo when we were travelling in Greece.</a:t>
            </a:r>
            <a:endParaRPr lang="en-US" sz="800" dirty="0"/>
          </a:p>
        </p:txBody>
      </p:sp>
      <p:sp>
        <p:nvSpPr>
          <p:cNvPr id="19" name="pf_36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66" descr="/home/claude/lls-course/v2/cache/a2_2b_anya_b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6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6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___ his wife when he ___ in Japan. (meet · live)</a:t>
            </a:r>
            <a:endParaRPr lang="en-US" sz="1100" dirty="0"/>
          </a:p>
        </p:txBody>
      </p:sp>
      <p:sp>
        <p:nvSpPr>
          <p:cNvPr id="23" name="R1_chip36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 · was living</a:t>
            </a:r>
            <a:endParaRPr lang="en-US" sz="1000" dirty="0"/>
          </a:p>
        </p:txBody>
      </p:sp>
      <p:sp>
        <p:nvSpPr>
          <p:cNvPr id="24" name="bd_37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7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she ___ a coat when she went out? (wear)</a:t>
            </a:r>
            <a:endParaRPr lang="en-US" sz="1100" dirty="0"/>
          </a:p>
        </p:txBody>
      </p:sp>
      <p:sp>
        <p:nvSpPr>
          <p:cNvPr id="26" name="R2_chip37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she wearing</a:t>
            </a:r>
            <a:endParaRPr lang="en-US" sz="1000" dirty="0"/>
          </a:p>
        </p:txBody>
      </p:sp>
      <p:sp>
        <p:nvSpPr>
          <p:cNvPr id="27" name="bd_37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7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sun ___ when I went to work. (shine)</a:t>
            </a:r>
            <a:endParaRPr lang="en-US" sz="1150" dirty="0"/>
          </a:p>
        </p:txBody>
      </p:sp>
      <p:sp>
        <p:nvSpPr>
          <p:cNvPr id="29" name="R3_chip37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shining</a:t>
            </a:r>
            <a:endParaRPr lang="en-US" sz="1000" dirty="0"/>
          </a:p>
        </p:txBody>
      </p:sp>
      <p:sp>
        <p:nvSpPr>
          <p:cNvPr id="30" name="bd_37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7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___ you ___ at 7.30 last night? (do)</a:t>
            </a:r>
            <a:endParaRPr lang="en-US" sz="1150" dirty="0"/>
          </a:p>
        </p:txBody>
      </p:sp>
      <p:sp>
        <p:nvSpPr>
          <p:cNvPr id="32" name="R4_chip37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you doing</a:t>
            </a:r>
            <a:endParaRPr lang="en-US" sz="1000" dirty="0"/>
          </a:p>
        </p:txBody>
      </p:sp>
      <p:sp>
        <p:nvSpPr>
          <p:cNvPr id="33" name="bd_37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38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when you gave the instructions. (not listen)</a:t>
            </a:r>
            <a:endParaRPr lang="en-US" sz="1150" dirty="0"/>
          </a:p>
        </p:txBody>
      </p:sp>
      <p:sp>
        <p:nvSpPr>
          <p:cNvPr id="35" name="R5_chip38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listening</a:t>
            </a:r>
            <a:endParaRPr lang="en-US" sz="1000" dirty="0"/>
          </a:p>
        </p:txBody>
      </p:sp>
      <p:sp>
        <p:nvSpPr>
          <p:cNvPr id="36" name="bd_38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38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started to rain when we ___ in the park. (run)</a:t>
            </a:r>
            <a:endParaRPr lang="en-US" sz="1150" dirty="0"/>
          </a:p>
        </p:txBody>
      </p:sp>
      <p:sp>
        <p:nvSpPr>
          <p:cNvPr id="38" name="R6_chip38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running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8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3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8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the mime. Say what was happening!</a:t>
            </a:r>
            <a:endParaRPr lang="en-US" sz="1250" dirty="0"/>
          </a:p>
        </p:txBody>
      </p:sp>
      <p:sp>
        <p:nvSpPr>
          <p:cNvPr id="8" name="insIT_3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il mimo. Di' cosa stava succedendo!</a:t>
            </a:r>
            <a:endParaRPr lang="en-US" sz="950" dirty="0"/>
          </a:p>
        </p:txBody>
      </p:sp>
      <p:sp>
        <p:nvSpPr>
          <p:cNvPr id="9" name="cmd_3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9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9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3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Grammar game · mime   ·   📖 SB p.17 · 3c (audio 2.13 = sound effects, play from the book)</a:t>
            </a:r>
            <a:endParaRPr lang="en-US" sz="800" dirty="0"/>
          </a:p>
        </p:txBody>
      </p:sp>
      <p:sp>
        <p:nvSpPr>
          <p:cNvPr id="15" name="cd_397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3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400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student mimes both actions.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Uno studente mima le due azioni.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say the sentence: …was / were -ing when…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squadre dicono la frase: …was / were -ing when…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sentence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Frase giusta = 1 punto.</a:t>
            </a:r>
            <a:endParaRPr lang="en-US" sz="1100" dirty="0"/>
          </a:p>
        </p:txBody>
      </p:sp>
      <p:sp>
        <p:nvSpPr>
          <p:cNvPr id="19" name="st_401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40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40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tennis · start to rain</a:t>
            </a:r>
            <a:endParaRPr lang="en-US" sz="1100" dirty="0"/>
          </a:p>
        </p:txBody>
      </p:sp>
      <p:sp>
        <p:nvSpPr>
          <p:cNvPr id="22" name="R1_chip40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playing tennis when it started to rain.</a:t>
            </a:r>
            <a:endParaRPr lang="en-US" sz="1100" dirty="0"/>
          </a:p>
        </p:txBody>
      </p:sp>
      <p:sp>
        <p:nvSpPr>
          <p:cNvPr id="23" name="bd_40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40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· somebody phone</a:t>
            </a:r>
            <a:endParaRPr lang="en-US" sz="1100" dirty="0"/>
          </a:p>
        </p:txBody>
      </p:sp>
      <p:sp>
        <p:nvSpPr>
          <p:cNvPr id="25" name="R2_chip40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driving when somebody phoned her.</a:t>
            </a:r>
            <a:endParaRPr lang="en-US" sz="1100" dirty="0"/>
          </a:p>
        </p:txBody>
      </p:sp>
      <p:sp>
        <p:nvSpPr>
          <p:cNvPr id="26" name="bd_40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40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party · the police come</a:t>
            </a:r>
            <a:endParaRPr lang="en-US" sz="1100" dirty="0"/>
          </a:p>
        </p:txBody>
      </p:sp>
      <p:sp>
        <p:nvSpPr>
          <p:cNvPr id="28" name="R3_chip41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having a party when the police came.</a:t>
            </a:r>
            <a:endParaRPr lang="en-US" sz="1100" dirty="0"/>
          </a:p>
        </p:txBody>
      </p:sp>
      <p:sp>
        <p:nvSpPr>
          <p:cNvPr id="29" name="bd_41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1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shower · somebody knock</a:t>
            </a:r>
            <a:endParaRPr lang="en-US" sz="1100" dirty="0"/>
          </a:p>
        </p:txBody>
      </p:sp>
      <p:sp>
        <p:nvSpPr>
          <p:cNvPr id="31" name="R4_chip41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was having a shower when somebody knocked at the door.</a:t>
            </a:r>
            <a:endParaRPr lang="en-US" sz="1050" dirty="0"/>
          </a:p>
        </p:txBody>
      </p:sp>
      <p:sp>
        <p:nvSpPr>
          <p:cNvPr id="32" name="bd_41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41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· the baby start to cry</a:t>
            </a:r>
            <a:endParaRPr lang="en-US" sz="1100" dirty="0"/>
          </a:p>
        </p:txBody>
      </p:sp>
      <p:sp>
        <p:nvSpPr>
          <p:cNvPr id="34" name="R5_chip41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sleeping when the baby started to cry.</a:t>
            </a:r>
            <a:endParaRPr lang="en-US" sz="1100" dirty="0"/>
          </a:p>
        </p:txBody>
      </p:sp>
      <p:sp>
        <p:nvSpPr>
          <p:cNvPr id="35" name="bd_41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41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the dog · meet a friend</a:t>
            </a:r>
            <a:endParaRPr lang="en-US" sz="1100" dirty="0"/>
          </a:p>
        </p:txBody>
      </p:sp>
      <p:sp>
        <p:nvSpPr>
          <p:cNvPr id="37" name="R6_chip41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walking her dog when she met a friend.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22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/wəz/, were /wə/</a:t>
            </a:r>
            <a:endParaRPr lang="en-US" sz="2500" dirty="0"/>
          </a:p>
        </p:txBody>
      </p:sp>
      <p:pic>
        <p:nvPicPr>
          <p:cNvPr id="6" name="brP_4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24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complete. Is was / were strong or weak?</a:t>
            </a:r>
            <a:endParaRPr lang="en-US" sz="1250" dirty="0"/>
          </a:p>
        </p:txBody>
      </p:sp>
      <p:sp>
        <p:nvSpPr>
          <p:cNvPr id="8" name="insIT_4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e completa. Was / were sono forti o deboli?</a:t>
            </a:r>
            <a:endParaRPr lang="en-US" sz="950" dirty="0"/>
          </a:p>
        </p:txBody>
      </p:sp>
      <p:sp>
        <p:nvSpPr>
          <p:cNvPr id="9" name="cmd_4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2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42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2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4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Pronunciation · weak forms   ·   📖 SB p.17 · 4b, 4c · audio 2.14 (play from the book)</a:t>
            </a:r>
            <a:endParaRPr lang="en-US" sz="800" dirty="0"/>
          </a:p>
        </p:txBody>
      </p:sp>
      <p:sp>
        <p:nvSpPr>
          <p:cNvPr id="15" name="ap_43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2.14</a:t>
            </a:r>
            <a:endParaRPr lang="en-US" sz="1100" dirty="0"/>
          </a:p>
        </p:txBody>
      </p:sp>
      <p:sp>
        <p:nvSpPr>
          <p:cNvPr id="16" name="aw_433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43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435" descr="/home/claude/lls-course/v2/cache/a2_2b_anya_a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43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3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43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43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44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___ ___ my first term at university.</a:t>
            </a:r>
            <a:endParaRPr lang="en-US" sz="1200" dirty="0"/>
          </a:p>
        </p:txBody>
      </p:sp>
      <p:sp>
        <p:nvSpPr>
          <p:cNvPr id="24" name="R1_chip44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</a:t>
            </a:r>
            <a:endParaRPr lang="en-US" sz="1200" dirty="0"/>
          </a:p>
        </p:txBody>
      </p:sp>
      <p:sp>
        <p:nvSpPr>
          <p:cNvPr id="25" name="gq_44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I ___ ___ with him in the Easter holidays.</a:t>
            </a:r>
            <a:endParaRPr lang="en-US" sz="1200" dirty="0"/>
          </a:p>
        </p:txBody>
      </p:sp>
      <p:sp>
        <p:nvSpPr>
          <p:cNvPr id="26" name="R2_chip44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staying</a:t>
            </a:r>
            <a:endParaRPr lang="en-US" sz="1200" dirty="0"/>
          </a:p>
        </p:txBody>
      </p:sp>
      <p:sp>
        <p:nvSpPr>
          <p:cNvPr id="27" name="gq_44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We ___ ___ a music course.</a:t>
            </a:r>
            <a:endParaRPr lang="en-US" sz="1200" dirty="0"/>
          </a:p>
        </p:txBody>
      </p:sp>
      <p:sp>
        <p:nvSpPr>
          <p:cNvPr id="28" name="R3_chip44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doing</a:t>
            </a:r>
            <a:endParaRPr lang="en-US" sz="1200" dirty="0"/>
          </a:p>
        </p:txBody>
      </p:sp>
      <p:sp>
        <p:nvSpPr>
          <p:cNvPr id="29" name="gq_44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___ ___ at school together.</a:t>
            </a:r>
            <a:endParaRPr lang="en-US" sz="1200" dirty="0"/>
          </a:p>
        </p:txBody>
      </p:sp>
      <p:sp>
        <p:nvSpPr>
          <p:cNvPr id="30" name="R4_chip44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</a:t>
            </a:r>
            <a:endParaRPr lang="en-US" sz="1200" dirty="0"/>
          </a:p>
        </p:txBody>
      </p:sp>
      <p:sp>
        <p:nvSpPr>
          <p:cNvPr id="31" name="gq_44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She took this when we ___ ___ the Colosseum.</a:t>
            </a:r>
            <a:endParaRPr lang="en-US" sz="1200" dirty="0"/>
          </a:p>
        </p:txBody>
      </p:sp>
      <p:sp>
        <p:nvSpPr>
          <p:cNvPr id="32" name="R5_chip44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visiting</a:t>
            </a:r>
            <a:endParaRPr lang="en-US" sz="1200" dirty="0"/>
          </a:p>
        </p:txBody>
      </p:sp>
      <p:sp>
        <p:nvSpPr>
          <p:cNvPr id="33" name="gq_450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We ___ all ___ champagne, and Roz ___ ___ the hard work!</a:t>
            </a:r>
            <a:endParaRPr lang="en-US" sz="1200" dirty="0"/>
          </a:p>
        </p:txBody>
      </p:sp>
      <p:sp>
        <p:nvSpPr>
          <p:cNvPr id="34" name="R6_chip451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drinking · was doing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5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Anya's Instagram</a:t>
            </a:r>
            <a:endParaRPr lang="en-US" sz="2500" dirty="0"/>
          </a:p>
        </p:txBody>
      </p:sp>
      <p:pic>
        <p:nvPicPr>
          <p:cNvPr id="6" name="brP_4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5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talks about her photos. Order them 1–6.</a:t>
            </a:r>
            <a:endParaRPr lang="en-US" sz="1250" dirty="0"/>
          </a:p>
        </p:txBody>
      </p:sp>
      <p:sp>
        <p:nvSpPr>
          <p:cNvPr id="8" name="insIT_4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Anya parla delle sue foto. Mettile in ordine 1–6.</a:t>
            </a:r>
            <a:endParaRPr lang="en-US" sz="950" dirty="0"/>
          </a:p>
        </p:txBody>
      </p:sp>
      <p:sp>
        <p:nvSpPr>
          <p:cNvPr id="9" name="cmd_45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5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1" name="tag_46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4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Listening · Anya's photos   ·   📖 SB p.17 · 4d, 4e · audio 2.15 (play from the book · script SB p.120)</a:t>
            </a:r>
            <a:endParaRPr lang="en-US" sz="800" dirty="0"/>
          </a:p>
        </p:txBody>
      </p:sp>
      <p:sp>
        <p:nvSpPr>
          <p:cNvPr id="14" name="cd_46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6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6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6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 E = 1 (York, with her mum)</a:t>
            </a:r>
            <a:endParaRPr lang="en-US" sz="1050" dirty="0"/>
          </a:p>
        </p:txBody>
      </p:sp>
      <p:sp>
        <p:nvSpPr>
          <p:cNvPr id="18" name="pf_467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68" descr="/home/claude/lls-course/v2/cache/a2_2b_anya_grid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469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21" name="aw_470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2" name="bd_47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47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A</a:t>
            </a:r>
            <a:endParaRPr lang="en-US" sz="1150" dirty="0"/>
          </a:p>
        </p:txBody>
      </p:sp>
      <p:sp>
        <p:nvSpPr>
          <p:cNvPr id="24" name="R1_chip47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– a party after a music course</a:t>
            </a:r>
            <a:endParaRPr lang="en-US" sz="1000" dirty="0"/>
          </a:p>
        </p:txBody>
      </p:sp>
      <p:sp>
        <p:nvSpPr>
          <p:cNvPr id="25" name="bd_47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47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B</a:t>
            </a:r>
            <a:endParaRPr lang="en-US" sz="1150" dirty="0"/>
          </a:p>
        </p:txBody>
      </p:sp>
      <p:sp>
        <p:nvSpPr>
          <p:cNvPr id="27" name="R2_chip47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– Rome, the Colosseum</a:t>
            </a:r>
            <a:endParaRPr lang="en-US" sz="1000" dirty="0"/>
          </a:p>
        </p:txBody>
      </p:sp>
      <p:sp>
        <p:nvSpPr>
          <p:cNvPr id="28" name="bd_47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47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C</a:t>
            </a:r>
            <a:endParaRPr lang="en-US" sz="1150" dirty="0"/>
          </a:p>
        </p:txBody>
      </p:sp>
      <p:sp>
        <p:nvSpPr>
          <p:cNvPr id="30" name="R3_chip47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a windy beach in Cornwall</a:t>
            </a:r>
            <a:endParaRPr lang="en-US" sz="1000" dirty="0"/>
          </a:p>
        </p:txBody>
      </p:sp>
      <p:sp>
        <p:nvSpPr>
          <p:cNvPr id="31" name="bd_48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48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D</a:t>
            </a:r>
            <a:endParaRPr lang="en-US" sz="1150" dirty="0"/>
          </a:p>
        </p:txBody>
      </p:sp>
      <p:sp>
        <p:nvSpPr>
          <p:cNvPr id="33" name="R4_chip48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– Oxford: punting on the river</a:t>
            </a:r>
            <a:endParaRPr lang="en-US" sz="1000" dirty="0"/>
          </a:p>
        </p:txBody>
      </p:sp>
      <p:sp>
        <p:nvSpPr>
          <p:cNvPr id="34" name="bd_48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48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F</a:t>
            </a:r>
            <a:endParaRPr lang="en-US" sz="1150" dirty="0"/>
          </a:p>
        </p:txBody>
      </p:sp>
      <p:sp>
        <p:nvSpPr>
          <p:cNvPr id="36" name="R5_chip48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– a friend's house by the river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8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favourite photo</a:t>
            </a:r>
            <a:endParaRPr lang="en-US" sz="2500" dirty="0"/>
          </a:p>
        </p:txBody>
      </p:sp>
      <p:pic>
        <p:nvPicPr>
          <p:cNvPr id="6" name="brP_4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90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a partner. Give more information!</a:t>
            </a:r>
            <a:endParaRPr lang="en-US" sz="1250" dirty="0"/>
          </a:p>
        </p:txBody>
      </p:sp>
      <p:sp>
        <p:nvSpPr>
          <p:cNvPr id="8" name="insIT_4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Parla con un compagno. Dai più informazioni!</a:t>
            </a:r>
            <a:endParaRPr lang="en-US" sz="950" dirty="0"/>
          </a:p>
        </p:txBody>
      </p:sp>
      <p:sp>
        <p:nvSpPr>
          <p:cNvPr id="9" name="cmd_4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9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9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Speaking · your photos   ·   📖 SB p.17 · 5a</a:t>
            </a:r>
            <a:endParaRPr lang="en-US" sz="800" dirty="0"/>
          </a:p>
        </p:txBody>
      </p:sp>
      <p:sp>
        <p:nvSpPr>
          <p:cNvPr id="14" name="pf_49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98" descr="/home/claude/lls-course/v2/cache/a2_2b_anya_f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9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0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0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0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took it when I was… · We were…ing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was a happy time for me.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me! Who took it?</a:t>
            </a:r>
            <a:endParaRPr lang="en-US" sz="900" dirty="0"/>
          </a:p>
        </p:txBody>
      </p:sp>
      <p:sp>
        <p:nvSpPr>
          <p:cNvPr id="20" name="R1_qb50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0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post photos on Instagram or Facebook? What kind?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mostly food and my dog!</a:t>
            </a:r>
            <a:endParaRPr lang="en-US" sz="1200" dirty="0"/>
          </a:p>
        </p:txBody>
      </p:sp>
      <p:sp>
        <p:nvSpPr>
          <p:cNvPr id="22" name="R2_qb50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0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as a background on your phone? What's the story?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kids at the beach – we were having a picnic.</a:t>
            </a:r>
            <a:endParaRPr lang="en-US" sz="1000" dirty="0"/>
          </a:p>
        </p:txBody>
      </p:sp>
      <p:sp>
        <p:nvSpPr>
          <p:cNvPr id="24" name="R3_qb50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0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you really like on your phone? Show your partner!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This is me in Rome – I was visiting my sister.</a:t>
            </a:r>
            <a:endParaRPr lang="en-US" sz="1000" dirty="0"/>
          </a:p>
        </p:txBody>
      </p:sp>
      <p:sp>
        <p:nvSpPr>
          <p:cNvPr id="26" name="R4_qb50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1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favourite photo of you as a child? What were you wearing?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was wearing a cowboy hat – I was 5!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13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15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1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1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1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4" name="cd_52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2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📷</a:t>
            </a:r>
            <a:endParaRPr lang="en-US" sz="1800" dirty="0"/>
          </a:p>
        </p:txBody>
      </p:sp>
      <p:sp>
        <p:nvSpPr>
          <p:cNvPr id="16" name="tt_52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true story behind a famous photo</a:t>
            </a:r>
            <a:endParaRPr lang="en-US" sz="1350" dirty="0"/>
          </a:p>
        </p:txBody>
      </p:sp>
      <p:sp>
        <p:nvSpPr>
          <p:cNvPr id="17" name="R1_tk52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2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2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t_52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at, in, on for time and place</a:t>
            </a:r>
            <a:endParaRPr lang="en-US" sz="1350" dirty="0"/>
          </a:p>
        </p:txBody>
      </p:sp>
      <p:sp>
        <p:nvSpPr>
          <p:cNvPr id="21" name="R2_tk52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3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3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⏸</a:t>
            </a:r>
            <a:endParaRPr lang="en-US" sz="1800" dirty="0"/>
          </a:p>
        </p:txBody>
      </p:sp>
      <p:sp>
        <p:nvSpPr>
          <p:cNvPr id="24" name="tt_53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continuous: I was walking when…</a:t>
            </a:r>
            <a:endParaRPr lang="en-US" sz="1350" dirty="0"/>
          </a:p>
        </p:txBody>
      </p:sp>
      <p:sp>
        <p:nvSpPr>
          <p:cNvPr id="25" name="R3_tk53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3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3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3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3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3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3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54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favourite photo</a:t>
            </a:r>
            <a:endParaRPr lang="en-US" sz="1350" dirty="0"/>
          </a:p>
        </p:txBody>
      </p:sp>
      <p:sp>
        <p:nvSpPr>
          <p:cNvPr id="33" name="R5_tk54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4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4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4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49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50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3" name="bd_553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54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phrases with at, in, on (at night…)</a:t>
            </a:r>
            <a:endParaRPr lang="en-US" sz="1400" dirty="0"/>
          </a:p>
        </p:txBody>
      </p:sp>
      <p:sp>
        <p:nvSpPr>
          <p:cNvPr id="15" name="bd_555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56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facts about Jane's photo</a:t>
            </a:r>
            <a:endParaRPr lang="en-US" sz="1400" dirty="0"/>
          </a:p>
        </p:txBody>
      </p:sp>
      <p:sp>
        <p:nvSpPr>
          <p:cNvPr id="17" name="bd_557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58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I was…ing when…</a:t>
            </a:r>
            <a:endParaRPr lang="en-US" sz="1400" dirty="0"/>
          </a:p>
        </p:txBody>
      </p:sp>
      <p:sp>
        <p:nvSpPr>
          <p:cNvPr id="19" name="cd_559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60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61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62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2B (past continuous, at / in / on)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2B p.129: exercise 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Write: your favourite photo (SB p.114) – 80–100 words</a:t>
            </a:r>
            <a:endParaRPr lang="en-US" sz="1150" dirty="0"/>
          </a:p>
        </p:txBody>
      </p:sp>
      <p:sp>
        <p:nvSpPr>
          <p:cNvPr id="23" name="st_563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One dark October evening · time sequencers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66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Extra: all the prepositions</a:t>
            </a:r>
            <a:endParaRPr lang="en-US" sz="2500" dirty="0"/>
          </a:p>
        </p:txBody>
      </p:sp>
      <p:pic>
        <p:nvPicPr>
          <p:cNvPr id="6" name="brP_5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6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a speaker to play the book audio.</a:t>
            </a:r>
            <a:endParaRPr lang="en-US" sz="1250" dirty="0"/>
          </a:p>
        </p:txBody>
      </p:sp>
      <p:sp>
        <p:nvSpPr>
          <p:cNvPr id="8" name="insIT_56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Clicca un altoparlante per l'audio del libro.</a:t>
            </a:r>
            <a:endParaRPr lang="en-US" sz="950" dirty="0"/>
          </a:p>
        </p:txBody>
      </p:sp>
      <p:sp>
        <p:nvSpPr>
          <p:cNvPr id="9" name="cmd_57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57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🙋 whole class</a:t>
            </a:r>
            <a:endParaRPr lang="en-US" sz="950" dirty="0"/>
          </a:p>
        </p:txBody>
      </p:sp>
      <p:pic>
        <p:nvPicPr>
          <p:cNvPr id="11" name="logo_5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 · Book audio · 2B</a:t>
            </a:r>
            <a:endParaRPr lang="en-US" sz="800" dirty="0"/>
          </a:p>
        </p:txBody>
      </p:sp>
      <p:sp>
        <p:nvSpPr>
          <p:cNvPr id="13" name="st_574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575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76" descr="/home/claude/lls-course/v2/cache/a2_2b_anya_c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577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78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579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9" name="il_580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2.10 = Vocabulary Bank Prepositions at / in / on (long!)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2.11–2.15: play from the book</a:t>
            </a:r>
            <a:endParaRPr lang="en-US" sz="1050" dirty="0"/>
          </a:p>
        </p:txBody>
      </p:sp>
      <p:sp>
        <p:nvSpPr>
          <p:cNvPr id="20" name="ab_581"/>
          <p:cNvSpPr/>
          <p:nvPr/>
        </p:nvSpPr>
        <p:spPr>
          <a:xfrm>
            <a:off x="3246120" y="1417320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2.10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Prepositions 1 – at / in / on</a:t>
            </a:r>
            <a:endParaRPr lang="en-US" sz="13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21040" y="1453896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That's me in the picture!</dc:title>
  <dc:subject>PptxGenJS Presentation</dc:subject>
  <dc:creator>PptxGenJS</dc:creator>
  <cp:lastModifiedBy>PptxGenJS</cp:lastModifiedBy>
  <cp:revision>1</cp:revision>
  <dcterms:created xsi:type="dcterms:W3CDTF">2026-10-12T16:47:06Z</dcterms:created>
  <dcterms:modified xsi:type="dcterms:W3CDTF">2026-10-12T16:47:06Z</dcterms:modified>
</cp:coreProperties>
</file>