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mp3" ContentType="audio/mpeg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OPENING (2 min)
OPENING (2 min). TG lead-in: write PHOTO on the board – short for photograph; we TAKE a photo. Teach photographer / photography and the stress: PHOtograph, phoTOgrapher, phoTOgraphy. Show the photo (Henri Cartier-Bresson, famous French photographer, 1908–2004). Ask the THINK question; take 3–4 guesses. Click: the example. Don't say the answer – it's in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Revision · last lesson (3 min)
REVISION (3 min). Pairs ask about their last holiday (3 questions each, past simple). 2 students tell the class. Today: the past simple's partner – the past continuous (what WAS happening).
HOW TO RUN IT (active recap): pairs. Words: A points at a word, B says what it means (⭐); then a sentence with it (⭐⭐); strong students make it negative or a question (⭐⭐⭐). Grammar: pairs make their own example for each use (offer, plan…) BEFORE you click – then click to show the model answers.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Reading · prediction (3 min)
PREDICTION (3 min). Check: a decade = 10 years (the 1970s); time of year = season. Pairs guess and say why. DON'T click yet: students read the article on the next 2 slides, then come back – or click at the end of the reading. Answers (TG 1b): 1 the 1970s · 2 autumn · 3 an owl in a tree · 4 bread, to give the animals in the zoo.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Reading · Jane's story 1/2 (4 min)
READING 1/2 (4 min). The article is ON THE SLIDE (the book's text, very slightly shortened). Students read and check their guesses, then complete the gaps with at / in / on (SB 2a sentences are inside the text). Click once per sentence. Answers (TG 2a): 1 In 1972, in London · 2 at university · 3 On Sundays. Pre-teach only: advertising agency (agenzia pubblicitaria), fall in love.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Reading · Jane's story 2/2 (4 min)
READING 2/2 (4 min). Students finish reading and check their guesses on slide 3 (go back and click the answers). Gap 4 (TG 2a): We were walking in the gardens one Sunday in autumn. Then ask: Were your guesses right? Who guessed the owl?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Reading · detail (4 min)
DETAIL (4 min). SB 1c. Pairs answer from the text; click once per question. Answers (TG): 1 She was living in London, in her early twenties, working for an advertising agency. 2 At a nightclub on a beach in the south of France; she found a job in Paris to be with him. 3 They went for a walk. 4 They heard a lot of noise from a tree – some little birds were attacking an owl. 5 She called Cartier-Bresson and he sent her a copy. 6 Because it was a happy time for her. 1d (whole class): Is there a photo with YOU in it that you really love?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Vocabulary · prepositions (4 min)
VOCABULARY (4 min). Elicit each column before clicking. 2.10 is long (the whole Vocabulary Bank) – play only part of it, or drill yourself. TG notes: at / in + shops and buildings are both OK at this level (at / in the supermarket); airport and station → at. Years from 2011 → twenty eleven. in the morning BUT at night.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Vocabulary game (3 min)
GAME (3 min). TG Activation as a team race. Click once per line. Then 1 minute in pairs: A says a word (home, Friday, August…), B says the preposition (book closed).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Grammar · past continuous (3 min)
GUIDED DISCOVERY (3 min). SB 3a: look at the highlighted verbs – which describe 1) an action in progress at a specific moment in the past, 2) the situation at the beginning of the story? Click once per sentence. Answers (TG): 1 were looking (when Cartier-Bresson took the photo) · 2 was living, was working. Elicit the form: was / were + -ing – like the present continuous, but was / were.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Grammar · past continuous (4 min)
POP-UP GRAMMAR (4 min). Elicit each column before clicking. TG grammar notes: we use the past continuous at the beginning of a story to set the scene; very often the 'action in progress' is interrupted by a short, completed action (past simple). when + past simple, while / when + past continuous. Grammar Bank audio 2.11 and 2.12 (listen and repeat) are not in our audio folder – play them from the book, or model the examples yourself and get students to copy the rhythm.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Speaking · class story (TPRS) (5 min)
TPRS CLASS STORY (5 min) – the past continuous + past simple, many times, before the practice. Click once per line. For each line: 1) say it, 2) ask the questions round the class (yes/no → either/or → what/where), 3) let the CLASS change details (accept their idea and use it in later lines): 'Was Luca wearing pyjamas? No? What was he wearing?' Students answer with one word or a short phrase – that's fine; repeat the full sentence yourself. Highlight the pattern: long action (was / were -ing) + short action (past simple). Finish: 'What happened next?'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Speaking · retell (TPRS) (4 min)
STORY PROMPTS (4 min) – the story slide is gone; only key words remain. A retells lines 1–3, B lines 4–6, then swap. The grey line is a sentence starter for weaker students (cover it for strong pairs). Line 6: pairs change two details (person, day, place) and tell their new version to another pair. Listen for was / were + -ing + when + past simple.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Grammar · practice (4 min)
CONTROLLED PRACTICE (4 min). Grammar Bank 2B a (the book's sentences, answers from the TG). Pairs say the full sentence; click once per line. Remember: the short action = past simple (went, gave, started).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Grammar game · mime (3 min)
GAME (3 min). SB 3c uses sound effects (audio 2.13, not in our folder). Without the audio: a volunteer mimes BOTH actions (long, then short), teams say the sentence. With the book audio: play each sound effect, pairs write the sentence. Click once per line to show the book's answer (TG 2.13).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Pronunciation · weak forms (3 min)
WEAK FORMS (3 min). Audio 2.14 is not in our folder: play it from the book, or read the sentences yourself at natural speed (was = /wəz/, were = /wə/ – unstressed). Answers (TG): 1 It was · 2 was staying · 3 were doing · 4 We were · 5 were visiting · 6 were…drinking, was doing. 4c: was and were are UNSTRESSED in positive sentences (strong /wɒz/ /wɜː/ only in short answers: Yes, I was). Drill: I was staying /aɪ wəz ˈsteɪɪŋ/.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Listening · Anya's photos (5 min)
LISTENING (5 min). Audio 2.15 is not in our folder: play it from the book, or read the script yourself (2 voices: Anya + friend). Script (TG): 1 This is me and my mum in York. It was my first term at university, and she came to visit me, and I took her on a tour round the city. – Is that the cathedral? – Yes, it's called York Minster. 2 This one's on the beach in Cornwall with my boyfriend, Ollie. I was staying with him in the Easter holidays, and we went for a walk. – It looks windy! – Yes, it was really windy and cold. 3 That's me and my friend Maisie. We were doing a music course, and this was at the party at the end of the course – the teachers made a corner with a big frame, hats and moustaches. 4 Me and two of my best friends – we were at school together. Libby has a house by the river, and we went there in September. 5 In Rome – I was there with my mum the summer before I went to university. She took this when we were visiting the Colosseum. 6 That's my mum, her partner and my sister Roz, on the river in Oxford. Every year we go punting. We were all drinking champagne, and Roz was doing the hard work! Answers: E 1 · C 2 · A 3 · F 4 · B 5 · D 6. Glossary: punt = a long flat boat (Oxford, Cambridge). 4e: what else do you remember about each photo?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 Speaking · your photos (5 min)
SPEAKING (5 min). Questions one per click; model each with your own photo. Students SHOW real photos on their phones (great for the past continuous: What were you doing? Who were you with?). Note errors with was / were + -ing for 1 minute of correction.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 Exit · what can you remember? (2 min)
RETRIEVAL EXIT (2 min). Books closed. Set homework: Workbook 2B + Grammar Bank 2B exercise b (answers TG: 1 I broke my arm when I was playing football. 2 Were you driving fast when the police stopped you? 3 It was snowing when we left the pub. 4 I didn't see the match because I was working. 5 When you called me I was talking to my boss. 6 We were studying in Cambridge when we met. 7 Were they living in Rome when they had their first baby?) + Writing p.114 'Describing a photo' (use the questions from the speaking: Who took it? When? What was happening? Why do you like it?).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19. Review · what did you do today? (1 min)
TODAY YOU… (1 min). Read each line (one per click: the tick appears). Students show thumbs up / middle / down: can they do it now? Note any thumbs down for the next lesson's recap.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20. OPTIONAL EXTENSIONS
The lesson ended on the previous slide ("Today you…"). Use the next slides only if there is time left, or keep them for a quick start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21. Vocabulary game · at / in / on (5 min)
OPTIONAL EXTENSION – PREPOSITIONS RACE (5 min). Item 1 is the example. Say the word; the first team with the correct phrase scores 1; a true sentence about themselves scores 1 more. Click: the answer. Finish by playing 2.10 (the Vocabulary Bank list) – students tick the ones they got right.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audio" Target="../media/media-7-5.mp3"/><Relationship Id="rId6" Type="http://schemas.microsoft.com/office/2007/relationships/media" Target="../media/media-7-5.mp3"/><Relationship Id="rId7" Type="http://schemas.openxmlformats.org/officeDocument/2006/relationships/image" Target="../media/image-7-7.png"/><Relationship Id="rId8" Type="http://schemas.openxmlformats.org/officeDocument/2006/relationships/audio" Target="../media/media-7-8.mp3"/><Relationship Id="rId9" Type="http://schemas.microsoft.com/office/2007/relationships/media" Target="../media/media-7-8.mp3"/><Relationship Id="rId10" Type="http://schemas.openxmlformats.org/officeDocument/2006/relationships/image" Target="../media/image-7-10.png"/><Relationship Id="rId11" Type="http://schemas.openxmlformats.org/officeDocument/2006/relationships/image" Target="../media/image-7-11.png"/><Relationship Id="rId12" Type="http://schemas.openxmlformats.org/officeDocument/2006/relationships/image" Target="../media/image-7-12.png"/><Relationship Id="rId13" Type="http://schemas.openxmlformats.org/officeDocument/2006/relationships/image" Target="../media/image-7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image" Target="../media/image-16-9.png"/><Relationship Id="rId10" Type="http://schemas.openxmlformats.org/officeDocument/2006/relationships/image" Target="../media/image-16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jpe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rs_1"/>
          <p:cNvSpPr/>
          <p:nvPr/>
        </p:nvSpPr>
        <p:spPr>
          <a:xfrm>
            <a:off x="411480" y="292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English File Pre-intermediate · SB pp.16–17 · VB p.153</a:t>
            </a:r>
            <a:endParaRPr lang="en-US" sz="1000" dirty="0"/>
          </a:p>
        </p:txBody>
      </p:sp>
      <p:sp>
        <p:nvSpPr>
          <p:cNvPr id="4" name="bd_2"/>
          <p:cNvSpPr/>
          <p:nvPr/>
        </p:nvSpPr>
        <p:spPr>
          <a:xfrm>
            <a:off x="365760" y="640080"/>
            <a:ext cx="1051560" cy="105156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2B</a:t>
            </a:r>
            <a:endParaRPr lang="en-US" sz="2800" dirty="0"/>
          </a:p>
        </p:txBody>
      </p:sp>
      <p:pic>
        <p:nvPicPr>
          <p:cNvPr id="5" name="bry_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13232"/>
            <a:ext cx="3566160" cy="868680"/>
          </a:xfrm>
          <a:prstGeom prst="rect">
            <a:avLst/>
          </a:prstGeom>
        </p:spPr>
      </p:pic>
      <p:sp>
        <p:nvSpPr>
          <p:cNvPr id="6" name="t_4"/>
          <p:cNvSpPr/>
          <p:nvPr/>
        </p:nvSpPr>
        <p:spPr>
          <a:xfrm>
            <a:off x="1645920" y="731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That's me in the picture!</a:t>
            </a:r>
            <a:endParaRPr lang="en-US" sz="1900" dirty="0"/>
          </a:p>
        </p:txBody>
      </p:sp>
      <p:pic>
        <p:nvPicPr>
          <p:cNvPr id="7" name="brp_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517904"/>
            <a:ext cx="3017520" cy="384048"/>
          </a:xfrm>
          <a:prstGeom prst="rect">
            <a:avLst/>
          </a:prstGeom>
        </p:spPr>
      </p:pic>
      <p:sp>
        <p:nvSpPr>
          <p:cNvPr id="8" name="st_6"/>
          <p:cNvSpPr/>
          <p:nvPr/>
        </p:nvSpPr>
        <p:spPr>
          <a:xfrm>
            <a:off x="1691640" y="15179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Photos, stories and the past continuous</a:t>
            </a:r>
            <a:endParaRPr lang="en-US" sz="1050" dirty="0"/>
          </a:p>
        </p:txBody>
      </p:sp>
      <p:sp>
        <p:nvSpPr>
          <p:cNvPr id="9" name="cd_7"/>
          <p:cNvSpPr/>
          <p:nvPr/>
        </p:nvSpPr>
        <p:spPr>
          <a:xfrm>
            <a:off x="365760" y="2148840"/>
            <a:ext cx="4206240" cy="1691640"/>
          </a:xfrm>
          <a:prstGeom prst="roundRect">
            <a:avLst>
              <a:gd name="adj" fmla="val 7568"/>
            </a:avLst>
          </a:prstGeom>
          <a:solidFill>
            <a:srgbClr val="E3F1FD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ii_8"/>
          <p:cNvSpPr/>
          <p:nvPr/>
        </p:nvSpPr>
        <p:spPr>
          <a:xfrm>
            <a:off x="45720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1" name="ih_9"/>
          <p:cNvSpPr/>
          <p:nvPr/>
        </p:nvSpPr>
        <p:spPr>
          <a:xfrm>
            <a:off x="932688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you're going to…</a:t>
            </a:r>
            <a:endParaRPr lang="en-US" sz="1600" dirty="0"/>
          </a:p>
        </p:txBody>
      </p:sp>
      <p:sp>
        <p:nvSpPr>
          <p:cNvPr id="12" name="il_10"/>
          <p:cNvSpPr/>
          <p:nvPr/>
        </p:nvSpPr>
        <p:spPr>
          <a:xfrm>
            <a:off x="932688" y="2642616"/>
            <a:ext cx="3547872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📷  read the true story behind a famous photo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📍  use at, in, on for time and place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⏸  past continuous: I was walking when…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📖  listen to a class story and answer questions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💬  talk about your favourite photo</a:t>
            </a:r>
            <a:endParaRPr lang="en-US" sz="850" dirty="0"/>
          </a:p>
        </p:txBody>
      </p:sp>
      <p:sp>
        <p:nvSpPr>
          <p:cNvPr id="13" name="R1_ex11"/>
          <p:cNvSpPr/>
          <p:nvPr/>
        </p:nvSpPr>
        <p:spPr>
          <a:xfrm>
            <a:off x="365760" y="3950208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52400" tIns="25400" rIns="152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E8508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EXAMPLE  </a:t>
            </a:r>
            <a:pPr indent="0" marL="0">
              <a:buNone/>
            </a:pPr>
            <a:r>
              <a:rPr lang="en-US" sz="13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Maybe they're looking at a bird in a tree!</a:t>
            </a:r>
            <a:endParaRPr lang="en-US" sz="1000" dirty="0"/>
          </a:p>
        </p:txBody>
      </p:sp>
      <p:sp>
        <p:nvSpPr>
          <p:cNvPr id="14" name="pf_12"/>
          <p:cNvSpPr/>
          <p:nvPr/>
        </p:nvSpPr>
        <p:spPr>
          <a:xfrm rot="90000">
            <a:off x="5755856" y="777240"/>
            <a:ext cx="2158568" cy="3200400"/>
          </a:xfrm>
          <a:prstGeom prst="roundRect">
            <a:avLst>
              <a:gd name="adj" fmla="val 720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13" descr="/home/claude/lls-course/v2/cache/a2_2b_couple_jpg_497x748_3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0000">
            <a:off x="5801576" y="822960"/>
            <a:ext cx="2067128" cy="3108960"/>
          </a:xfrm>
          <a:prstGeom prst="rect">
            <a:avLst/>
          </a:prstGeom>
        </p:spPr>
      </p:pic>
      <p:sp>
        <p:nvSpPr>
          <p:cNvPr id="16" name="bb_14"/>
          <p:cNvSpPr/>
          <p:nvPr/>
        </p:nvSpPr>
        <p:spPr>
          <a:xfrm>
            <a:off x="5120640" y="3611880"/>
            <a:ext cx="3566160" cy="822960"/>
          </a:xfrm>
          <a:prstGeom prst="wedgeRoundRectCallout">
            <a:avLst/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lIns="127000" tIns="50800" rIns="1270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Paris, a park, a couple… What are they looking at?</a:t>
            </a:r>
            <a:endParaRPr lang="en-US" sz="1600" dirty="0"/>
          </a:p>
        </p:txBody>
      </p:sp>
      <p:sp>
        <p:nvSpPr>
          <p:cNvPr id="17" name="st_15"/>
          <p:cNvSpPr/>
          <p:nvPr/>
        </p:nvSpPr>
        <p:spPr>
          <a:xfrm rot="360000">
            <a:off x="7543800" y="502920"/>
            <a:ext cx="1325880" cy="38404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 · PENSA</a:t>
            </a:r>
            <a:endParaRPr lang="en-US" sz="950" dirty="0"/>
          </a:p>
        </p:txBody>
      </p:sp>
      <p:pic>
        <p:nvPicPr>
          <p:cNvPr id="18" name="logo_16" descr="/home/claude/lls-course/v2/img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800" dirty="0"/>
          </a:p>
        </p:txBody>
      </p:sp>
      <p:pic>
        <p:nvPicPr>
          <p:cNvPr id="4" name="brY_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19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 last lesson?</a:t>
            </a:r>
            <a:endParaRPr lang="en-US" sz="2400" dirty="0"/>
          </a:p>
        </p:txBody>
      </p:sp>
      <p:pic>
        <p:nvPicPr>
          <p:cNvPr id="6" name="brP_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21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remember? Say it – then use it in a sentence!</a:t>
            </a:r>
            <a:endParaRPr lang="en-US" sz="1250" dirty="0"/>
          </a:p>
        </p:txBody>
      </p:sp>
      <p:sp>
        <p:nvSpPr>
          <p:cNvPr id="8" name="insIT_2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 ricordi? Dillo – poi usalo in una frase!</a:t>
            </a:r>
            <a:endParaRPr lang="en-US" sz="950" dirty="0"/>
          </a:p>
        </p:txBody>
      </p:sp>
      <p:sp>
        <p:nvSpPr>
          <p:cNvPr id="9" name="cmd_23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💡 </a:t>
            </a:r>
            <a:pPr algn="ctr"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→  </a:t>
            </a:r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💬 </a:t>
            </a:r>
            <a:pPr algn="ctr" indent="0" marL="0">
              <a:buNone/>
            </a:pPr>
            <a:r>
              <a:rPr lang="en-US" sz="9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endParaRPr lang="en-US" sz="950" dirty="0"/>
          </a:p>
        </p:txBody>
      </p:sp>
      <p:sp>
        <p:nvSpPr>
          <p:cNvPr id="10" name="meta_24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1" name="tag_25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9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Retrieval</a:t>
            </a:r>
            <a:endParaRPr lang="en-US" sz="950" dirty="0"/>
          </a:p>
        </p:txBody>
      </p:sp>
      <p:pic>
        <p:nvPicPr>
          <p:cNvPr id="12" name="logo_2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Revision · last lesson</a:t>
            </a:r>
            <a:endParaRPr lang="en-US" sz="800" dirty="0"/>
          </a:p>
        </p:txBody>
      </p:sp>
      <p:sp>
        <p:nvSpPr>
          <p:cNvPr id="14" name="pf_28"/>
          <p:cNvSpPr/>
          <p:nvPr/>
        </p:nvSpPr>
        <p:spPr>
          <a:xfrm rot="-120000">
            <a:off x="734673" y="1371600"/>
            <a:ext cx="1913934" cy="1645920"/>
          </a:xfrm>
          <a:prstGeom prst="roundRect">
            <a:avLst>
              <a:gd name="adj" fmla="val 9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29" descr="/home/claude/lls-course/v2/cache/a2_2b_anya_b_jpg_438x374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780393" y="1417320"/>
            <a:ext cx="1822494" cy="1554480"/>
          </a:xfrm>
          <a:prstGeom prst="rect">
            <a:avLst/>
          </a:prstGeom>
        </p:spPr>
      </p:pic>
      <p:sp>
        <p:nvSpPr>
          <p:cNvPr id="16" name="cd_30"/>
          <p:cNvSpPr/>
          <p:nvPr/>
        </p:nvSpPr>
        <p:spPr>
          <a:xfrm>
            <a:off x="320040" y="3200400"/>
            <a:ext cx="2743200" cy="1223264"/>
          </a:xfrm>
          <a:prstGeom prst="roundRect">
            <a:avLst>
              <a:gd name="adj" fmla="val 10465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31"/>
          <p:cNvSpPr/>
          <p:nvPr/>
        </p:nvSpPr>
        <p:spPr>
          <a:xfrm>
            <a:off x="411480" y="3273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📅</a:t>
            </a:r>
            <a:endParaRPr lang="en-US" sz="2200" dirty="0"/>
          </a:p>
        </p:txBody>
      </p:sp>
      <p:sp>
        <p:nvSpPr>
          <p:cNvPr id="18" name="ih_32"/>
          <p:cNvSpPr/>
          <p:nvPr/>
        </p:nvSpPr>
        <p:spPr>
          <a:xfrm>
            <a:off x="886968" y="32918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Last lesson…</a:t>
            </a:r>
            <a:endParaRPr lang="en-US" sz="1300" dirty="0"/>
          </a:p>
        </p:txBody>
      </p:sp>
      <p:sp>
        <p:nvSpPr>
          <p:cNvPr id="19" name="il_33"/>
          <p:cNvSpPr/>
          <p:nvPr/>
        </p:nvSpPr>
        <p:spPr>
          <a:xfrm>
            <a:off x="886968" y="3694176"/>
            <a:ext cx="2084832" cy="656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2A: holidays, past simple</a:t>
            </a:r>
            <a:endParaRPr lang="en-US" sz="11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-ed endings /t/ /d/ /ɪd/</a:t>
            </a:r>
            <a:endParaRPr lang="en-US" sz="1100" dirty="0"/>
          </a:p>
        </p:txBody>
      </p:sp>
      <p:sp>
        <p:nvSpPr>
          <p:cNvPr id="20" name="kw_34"/>
          <p:cNvSpPr/>
          <p:nvPr/>
        </p:nvSpPr>
        <p:spPr>
          <a:xfrm>
            <a:off x="3246120" y="1417320"/>
            <a:ext cx="5623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🔤 Can you remember these words? What do they mean?</a:t>
            </a:r>
            <a:endParaRPr lang="en-US" sz="1200" dirty="0"/>
          </a:p>
        </p:txBody>
      </p:sp>
      <p:sp>
        <p:nvSpPr>
          <p:cNvPr id="21" name="w_35"/>
          <p:cNvSpPr/>
          <p:nvPr/>
        </p:nvSpPr>
        <p:spPr>
          <a:xfrm>
            <a:off x="3246120" y="1783080"/>
            <a:ext cx="758952" cy="347472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went</a:t>
            </a:r>
            <a:endParaRPr lang="en-US" sz="1200" dirty="0"/>
          </a:p>
        </p:txBody>
      </p:sp>
      <p:sp>
        <p:nvSpPr>
          <p:cNvPr id="22" name="w_36"/>
          <p:cNvSpPr/>
          <p:nvPr/>
        </p:nvSpPr>
        <p:spPr>
          <a:xfrm>
            <a:off x="4096512" y="1783080"/>
            <a:ext cx="932688" cy="347472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stayed</a:t>
            </a:r>
            <a:endParaRPr lang="en-US" sz="1200" dirty="0"/>
          </a:p>
        </p:txBody>
      </p:sp>
      <p:sp>
        <p:nvSpPr>
          <p:cNvPr id="23" name="w_37"/>
          <p:cNvSpPr/>
          <p:nvPr/>
        </p:nvSpPr>
        <p:spPr>
          <a:xfrm>
            <a:off x="5120640" y="1783080"/>
            <a:ext cx="758952" cy="347472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took</a:t>
            </a:r>
            <a:endParaRPr lang="en-US" sz="1200" dirty="0"/>
          </a:p>
        </p:txBody>
      </p:sp>
      <p:sp>
        <p:nvSpPr>
          <p:cNvPr id="24" name="w_38"/>
          <p:cNvSpPr/>
          <p:nvPr/>
        </p:nvSpPr>
        <p:spPr>
          <a:xfrm>
            <a:off x="5971032" y="1783080"/>
            <a:ext cx="758952" cy="347472"/>
          </a:xfrm>
          <a:prstGeom prst="roundRect">
            <a:avLst>
              <a:gd name="adj" fmla="val 5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lost</a:t>
            </a:r>
            <a:endParaRPr lang="en-US" sz="1200" dirty="0"/>
          </a:p>
        </p:txBody>
      </p:sp>
      <p:sp>
        <p:nvSpPr>
          <p:cNvPr id="25" name="w_39"/>
          <p:cNvSpPr/>
          <p:nvPr/>
        </p:nvSpPr>
        <p:spPr>
          <a:xfrm>
            <a:off x="6821424" y="1783080"/>
            <a:ext cx="932688" cy="347472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didn't</a:t>
            </a:r>
            <a:endParaRPr lang="en-US" sz="1200" dirty="0"/>
          </a:p>
        </p:txBody>
      </p:sp>
      <p:sp>
        <p:nvSpPr>
          <p:cNvPr id="26" name="w_40"/>
          <p:cNvSpPr/>
          <p:nvPr/>
        </p:nvSpPr>
        <p:spPr>
          <a:xfrm>
            <a:off x="7845552" y="1783080"/>
            <a:ext cx="672084" cy="347472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</a:t>
            </a:r>
            <a:endParaRPr lang="en-US" sz="1200" dirty="0"/>
          </a:p>
        </p:txBody>
      </p:sp>
      <p:sp>
        <p:nvSpPr>
          <p:cNvPr id="27" name="w_41"/>
          <p:cNvSpPr/>
          <p:nvPr/>
        </p:nvSpPr>
        <p:spPr>
          <a:xfrm>
            <a:off x="3246120" y="2185416"/>
            <a:ext cx="758952" cy="347472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were</a:t>
            </a:r>
            <a:endParaRPr lang="en-US" sz="1200" dirty="0"/>
          </a:p>
        </p:txBody>
      </p:sp>
      <p:sp>
        <p:nvSpPr>
          <p:cNvPr id="28" name="lv_42"/>
          <p:cNvSpPr/>
          <p:nvPr/>
        </p:nvSpPr>
        <p:spPr>
          <a:xfrm>
            <a:off x="3246120" y="2642616"/>
            <a:ext cx="1813560" cy="384048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</p:spPr>
        <p:txBody>
          <a:bodyPr wrap="square" lIns="50800" tIns="0" rIns="508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⭐ </a:t>
            </a:r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does it mean?</a:t>
            </a:r>
            <a:endParaRPr lang="en-US" sz="1000" dirty="0"/>
          </a:p>
        </p:txBody>
      </p:sp>
      <p:sp>
        <p:nvSpPr>
          <p:cNvPr id="29" name="lv_43"/>
          <p:cNvSpPr/>
          <p:nvPr/>
        </p:nvSpPr>
        <p:spPr>
          <a:xfrm>
            <a:off x="5151120" y="2642616"/>
            <a:ext cx="1813560" cy="384048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</p:spPr>
        <p:txBody>
          <a:bodyPr wrap="square" lIns="50800" tIns="0" rIns="508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⭐⭐ </a:t>
            </a:r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 it in a sentence.</a:t>
            </a:r>
            <a:endParaRPr lang="en-US" sz="1000" dirty="0"/>
          </a:p>
        </p:txBody>
      </p:sp>
      <p:sp>
        <p:nvSpPr>
          <p:cNvPr id="30" name="lv_44"/>
          <p:cNvSpPr/>
          <p:nvPr/>
        </p:nvSpPr>
        <p:spPr>
          <a:xfrm>
            <a:off x="7056120" y="2642616"/>
            <a:ext cx="1813560" cy="384048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</p:spPr>
        <p:txBody>
          <a:bodyPr wrap="square" lIns="50800" tIns="0" rIns="508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⭐⭐⭐ 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Make it negative or a question!</a:t>
            </a:r>
            <a:endParaRPr lang="en-US" sz="950" dirty="0"/>
          </a:p>
        </p:txBody>
      </p:sp>
      <p:sp>
        <p:nvSpPr>
          <p:cNvPr id="31" name="cd_45"/>
          <p:cNvSpPr/>
          <p:nvPr/>
        </p:nvSpPr>
        <p:spPr>
          <a:xfrm>
            <a:off x="3246120" y="3172968"/>
            <a:ext cx="2756916" cy="1581912"/>
          </a:xfrm>
          <a:prstGeom prst="roundRect">
            <a:avLst>
              <a:gd name="adj" fmla="val 8092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2" name="rh_46"/>
          <p:cNvSpPr/>
          <p:nvPr/>
        </p:nvSpPr>
        <p:spPr>
          <a:xfrm>
            <a:off x="3337560" y="3246120"/>
            <a:ext cx="2574036" cy="310896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Your turn: 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Past simple</a:t>
            </a:r>
            <a:endParaRPr lang="en-US" sz="1100" dirty="0"/>
          </a:p>
        </p:txBody>
      </p:sp>
      <p:sp>
        <p:nvSpPr>
          <p:cNvPr id="33" name="R1_rl47"/>
          <p:cNvSpPr/>
          <p:nvPr/>
        </p:nvSpPr>
        <p:spPr>
          <a:xfrm>
            <a:off x="3383280" y="3630168"/>
            <a:ext cx="2482596" cy="10515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</a:t>
            </a:r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went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to Rome. We </a:t>
            </a:r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stayed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in a hotel.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</a:t>
            </a:r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didn't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take my passport!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Did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you </a:t>
            </a:r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 good time? – Yes, I </a:t>
            </a:r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did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1100" dirty="0"/>
          </a:p>
        </p:txBody>
      </p:sp>
      <p:sp>
        <p:nvSpPr>
          <p:cNvPr id="34" name="cd_48"/>
          <p:cNvSpPr/>
          <p:nvPr/>
        </p:nvSpPr>
        <p:spPr>
          <a:xfrm>
            <a:off x="6112764" y="3172968"/>
            <a:ext cx="2756916" cy="1581912"/>
          </a:xfrm>
          <a:prstGeom prst="roundRect">
            <a:avLst>
              <a:gd name="adj" fmla="val 8092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5" name="rh_49"/>
          <p:cNvSpPr/>
          <p:nvPr/>
        </p:nvSpPr>
        <p:spPr>
          <a:xfrm>
            <a:off x="6204204" y="3246120"/>
            <a:ext cx="2574036" cy="310896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Your turn: 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Holidays</a:t>
            </a:r>
            <a:endParaRPr lang="en-US" sz="1100" dirty="0"/>
          </a:p>
        </p:txBody>
      </p:sp>
      <p:sp>
        <p:nvSpPr>
          <p:cNvPr id="36" name="R2_rl50"/>
          <p:cNvSpPr/>
          <p:nvPr/>
        </p:nvSpPr>
        <p:spPr>
          <a:xfrm>
            <a:off x="6249924" y="3630168"/>
            <a:ext cx="2482596" cy="10515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go abroad · go sightseeing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stay in a hotel · hire a car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 / were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: The weather </a:t>
            </a:r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amazing.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800" dirty="0"/>
          </a:p>
        </p:txBody>
      </p:sp>
      <p:pic>
        <p:nvPicPr>
          <p:cNvPr id="4" name="brY_5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405226" cy="621792"/>
          </a:xfrm>
          <a:prstGeom prst="rect">
            <a:avLst/>
          </a:prstGeom>
        </p:spPr>
      </p:pic>
      <p:sp>
        <p:nvSpPr>
          <p:cNvPr id="5" name="title_53"/>
          <p:cNvSpPr/>
          <p:nvPr/>
        </p:nvSpPr>
        <p:spPr>
          <a:xfrm>
            <a:off x="1261872" y="164592"/>
            <a:ext cx="31309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What's the story?</a:t>
            </a:r>
            <a:endParaRPr lang="en-US" sz="2500" dirty="0"/>
          </a:p>
        </p:txBody>
      </p:sp>
      <p:pic>
        <p:nvPicPr>
          <p:cNvPr id="6" name="brP_5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727448" cy="402336"/>
          </a:xfrm>
          <a:prstGeom prst="rect">
            <a:avLst/>
          </a:prstGeom>
        </p:spPr>
      </p:pic>
      <p:sp>
        <p:nvSpPr>
          <p:cNvPr id="7" name="ins_55"/>
          <p:cNvSpPr/>
          <p:nvPr/>
        </p:nvSpPr>
        <p:spPr>
          <a:xfrm>
            <a:off x="1353312" y="731520"/>
            <a:ext cx="44714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Look at the photo. Guess! Then read and check.</a:t>
            </a:r>
            <a:endParaRPr lang="en-US" sz="1250" dirty="0"/>
          </a:p>
        </p:txBody>
      </p:sp>
      <p:sp>
        <p:nvSpPr>
          <p:cNvPr id="8" name="insIT_5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Guarda la foto. Indovina! Poi leggi e controlla.</a:t>
            </a:r>
            <a:endParaRPr lang="en-US" sz="950" dirty="0"/>
          </a:p>
        </p:txBody>
      </p:sp>
      <p:sp>
        <p:nvSpPr>
          <p:cNvPr id="9" name="cmd_57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👀 </a:t>
            </a:r>
            <a:pPr algn="ctr"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LOOK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→  </a:t>
            </a:r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🤔 </a:t>
            </a:r>
            <a:pPr algn="ctr" indent="0" marL="0">
              <a:buNone/>
            </a:pPr>
            <a:r>
              <a:rPr lang="en-US" sz="95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</a:t>
            </a:r>
            <a:endParaRPr lang="en-US" sz="950" dirty="0"/>
          </a:p>
        </p:txBody>
      </p:sp>
      <p:sp>
        <p:nvSpPr>
          <p:cNvPr id="10" name="meta_58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1" name="tag_59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50" dirty="0"/>
          </a:p>
        </p:txBody>
      </p:sp>
      <p:pic>
        <p:nvPicPr>
          <p:cNvPr id="12" name="logo_6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6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Reading · prediction   ·   📖 SB p.16 · 1a, 1b (answers: TG)</a:t>
            </a:r>
            <a:endParaRPr lang="en-US" sz="800" dirty="0"/>
          </a:p>
        </p:txBody>
      </p:sp>
      <p:sp>
        <p:nvSpPr>
          <p:cNvPr id="14" name="cd_62"/>
          <p:cNvSpPr/>
          <p:nvPr/>
        </p:nvSpPr>
        <p:spPr>
          <a:xfrm>
            <a:off x="320040" y="1417320"/>
            <a:ext cx="2697480" cy="969264"/>
          </a:xfrm>
          <a:prstGeom prst="roundRect">
            <a:avLst>
              <a:gd name="adj" fmla="val 13208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63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6" name="ih_64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7" name="il_65"/>
          <p:cNvSpPr/>
          <p:nvPr/>
        </p:nvSpPr>
        <p:spPr>
          <a:xfrm>
            <a:off x="886968" y="1911096"/>
            <a:ext cx="2039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why: I think it's the 1970s because of her coat.</a:t>
            </a:r>
            <a:endParaRPr lang="en-US" sz="1050" dirty="0"/>
          </a:p>
        </p:txBody>
      </p:sp>
      <p:sp>
        <p:nvSpPr>
          <p:cNvPr id="18" name="pf_66"/>
          <p:cNvSpPr/>
          <p:nvPr/>
        </p:nvSpPr>
        <p:spPr>
          <a:xfrm rot="-90000">
            <a:off x="957323" y="2569464"/>
            <a:ext cx="1422913" cy="2093976"/>
          </a:xfrm>
          <a:prstGeom prst="roundRect">
            <a:avLst>
              <a:gd name="adj" fmla="val 1092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67" descr="/home/claude/lls-course/v2/cache/a2_2b_couple_jpg_320x482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1003043" y="2615184"/>
            <a:ext cx="1331473" cy="2002536"/>
          </a:xfrm>
          <a:prstGeom prst="rect">
            <a:avLst/>
          </a:prstGeom>
        </p:spPr>
      </p:pic>
      <p:sp>
        <p:nvSpPr>
          <p:cNvPr id="20" name="bd_68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q_69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decade is it from?</a:t>
            </a:r>
            <a:endParaRPr lang="en-US" sz="1150" dirty="0"/>
          </a:p>
        </p:txBody>
      </p:sp>
      <p:sp>
        <p:nvSpPr>
          <p:cNvPr id="22" name="R1_chip70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1970s (1972)</a:t>
            </a:r>
            <a:endParaRPr lang="en-US" sz="1050" dirty="0"/>
          </a:p>
        </p:txBody>
      </p:sp>
      <p:sp>
        <p:nvSpPr>
          <p:cNvPr id="23" name="bd_71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q_72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time of year is it?</a:t>
            </a:r>
            <a:endParaRPr lang="en-US" sz="1150" dirty="0"/>
          </a:p>
        </p:txBody>
      </p:sp>
      <p:sp>
        <p:nvSpPr>
          <p:cNvPr id="25" name="R2_chip73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autumn</a:t>
            </a:r>
            <a:endParaRPr lang="en-US" sz="1050" dirty="0"/>
          </a:p>
        </p:txBody>
      </p:sp>
      <p:sp>
        <p:nvSpPr>
          <p:cNvPr id="26" name="bd_74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q_75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are they looking at?</a:t>
            </a:r>
            <a:endParaRPr lang="en-US" sz="1150" dirty="0"/>
          </a:p>
        </p:txBody>
      </p:sp>
      <p:sp>
        <p:nvSpPr>
          <p:cNvPr id="28" name="R3_chip76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 owl in a tree</a:t>
            </a:r>
            <a:endParaRPr lang="en-US" sz="1050" dirty="0"/>
          </a:p>
        </p:txBody>
      </p:sp>
      <p:sp>
        <p:nvSpPr>
          <p:cNvPr id="29" name="bd_77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q_78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What's in the woman's pocket?</a:t>
            </a:r>
            <a:endParaRPr lang="en-US" sz="1150" dirty="0"/>
          </a:p>
        </p:txBody>
      </p:sp>
      <p:sp>
        <p:nvSpPr>
          <p:cNvPr id="31" name="R4_chip79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bread for the animals in the zoo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8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2800" dirty="0"/>
          </a:p>
        </p:txBody>
      </p:sp>
      <p:pic>
        <p:nvPicPr>
          <p:cNvPr id="4" name="brY_8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663440" cy="621792"/>
          </a:xfrm>
          <a:prstGeom prst="rect">
            <a:avLst/>
          </a:prstGeom>
        </p:spPr>
      </p:pic>
      <p:sp>
        <p:nvSpPr>
          <p:cNvPr id="5" name="title_82"/>
          <p:cNvSpPr/>
          <p:nvPr/>
        </p:nvSpPr>
        <p:spPr>
          <a:xfrm>
            <a:off x="1261872" y="164592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That's me in the picture!</a:t>
            </a:r>
            <a:endParaRPr lang="en-US" sz="2500" dirty="0"/>
          </a:p>
        </p:txBody>
      </p:sp>
      <p:pic>
        <p:nvPicPr>
          <p:cNvPr id="6" name="brP_8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074920" cy="402336"/>
          </a:xfrm>
          <a:prstGeom prst="rect">
            <a:avLst/>
          </a:prstGeom>
        </p:spPr>
      </p:pic>
      <p:sp>
        <p:nvSpPr>
          <p:cNvPr id="7" name="ins_84"/>
          <p:cNvSpPr/>
          <p:nvPr/>
        </p:nvSpPr>
        <p:spPr>
          <a:xfrm>
            <a:off x="1353312" y="731520"/>
            <a:ext cx="4818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Jane's story. Complete 1–3 with at, in or on.</a:t>
            </a:r>
            <a:endParaRPr lang="en-US" sz="1250" dirty="0"/>
          </a:p>
        </p:txBody>
      </p:sp>
      <p:sp>
        <p:nvSpPr>
          <p:cNvPr id="8" name="insIT_85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la storia di Jane. Completa 1–3 con at, in o on.</a:t>
            </a:r>
            <a:endParaRPr lang="en-US" sz="950" dirty="0"/>
          </a:p>
        </p:txBody>
      </p:sp>
      <p:sp>
        <p:nvSpPr>
          <p:cNvPr id="9" name="cmd_86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000000"/>
                </a:solidFill>
              </a:rPr>
              <a:t>👀 </a:t>
            </a:r>
            <a:pPr algn="ctr" indent="0" marL="0">
              <a:buNone/>
            </a:pPr>
            <a:r>
              <a:rPr lang="en-US" sz="7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algn="ctr" indent="0" marL="0">
              <a:buNone/>
            </a:pPr>
            <a:r>
              <a:rPr lang="en-US" sz="7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→  </a:t>
            </a:r>
            <a:pPr algn="ctr" indent="0" marL="0">
              <a:buNone/>
            </a:pPr>
            <a:r>
              <a:rPr lang="en-US" sz="750" dirty="0">
                <a:solidFill>
                  <a:srgbClr val="000000"/>
                </a:solidFill>
              </a:rPr>
              <a:t>✏️ </a:t>
            </a:r>
            <a:pPr algn="ctr" indent="0" marL="0">
              <a:buNone/>
            </a:pPr>
            <a:r>
              <a:rPr lang="en-US" sz="75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FILL THE GAPS</a:t>
            </a:r>
            <a:endParaRPr lang="en-US" sz="750" dirty="0"/>
          </a:p>
        </p:txBody>
      </p:sp>
      <p:sp>
        <p:nvSpPr>
          <p:cNvPr id="10" name="meta_87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1" name="tag_88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reading</a:t>
            </a:r>
            <a:endParaRPr lang="en-US" sz="850" dirty="0"/>
          </a:p>
        </p:txBody>
      </p:sp>
      <p:pic>
        <p:nvPicPr>
          <p:cNvPr id="12" name="logo_8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9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Reading · Jane's story 1/2   ·   📖 SB p.16 · 1b, 2a · article (adapted)</a:t>
            </a:r>
            <a:endParaRPr lang="en-US" sz="800" dirty="0"/>
          </a:p>
        </p:txBody>
      </p:sp>
      <p:sp>
        <p:nvSpPr>
          <p:cNvPr id="14" name="cd_91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sh_92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📰 Jane's story (part 1)</a:t>
            </a:r>
            <a:endParaRPr lang="en-US" sz="1700" dirty="0"/>
          </a:p>
        </p:txBody>
      </p:sp>
      <p:sp>
        <p:nvSpPr>
          <p:cNvPr id="16" name="ln_93"/>
          <p:cNvSpPr/>
          <p:nvPr/>
        </p:nvSpPr>
        <p:spPr>
          <a:xfrm>
            <a:off x="548640" y="192024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(1) ________ 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1972, I was living </a:t>
            </a:r>
            <a:pPr indent="0" marL="0">
              <a:buNone/>
            </a:pPr>
            <a:r>
              <a:rPr lang="en-US" sz="10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(1) ________ 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London. I was in my early twenties, and I was working for an advertising agency.</a:t>
            </a:r>
            <a:endParaRPr lang="en-US" sz="1050" dirty="0"/>
          </a:p>
        </p:txBody>
      </p:sp>
      <p:sp>
        <p:nvSpPr>
          <p:cNvPr id="17" name="R1_lnA94"/>
          <p:cNvSpPr/>
          <p:nvPr/>
        </p:nvSpPr>
        <p:spPr>
          <a:xfrm>
            <a:off x="548640" y="1920240"/>
            <a:ext cx="53492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In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1972, I was living </a:t>
            </a:r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in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London. I was in my early twenties, and I was working for an advertising agency.</a:t>
            </a:r>
            <a:endParaRPr lang="en-US" sz="1050" dirty="0"/>
          </a:p>
        </p:txBody>
      </p:sp>
      <p:sp>
        <p:nvSpPr>
          <p:cNvPr id="18" name="ln_95"/>
          <p:cNvSpPr/>
          <p:nvPr/>
        </p:nvSpPr>
        <p:spPr>
          <a:xfrm>
            <a:off x="548640" y="246888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That summer, I went on a camping holiday with my parents in the south of France. One night, I went to a nightclub on the beach and I met a young Frenchman, and we fell in love.</a:t>
            </a:r>
            <a:endParaRPr lang="en-US" sz="1050" dirty="0"/>
          </a:p>
        </p:txBody>
      </p:sp>
      <p:sp>
        <p:nvSpPr>
          <p:cNvPr id="19" name="ln_96"/>
          <p:cNvSpPr/>
          <p:nvPr/>
        </p:nvSpPr>
        <p:spPr>
          <a:xfrm>
            <a:off x="548640" y="301752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I got home, I started looking for a job in Paris. He was </a:t>
            </a:r>
            <a:pPr indent="0" marL="0">
              <a:buNone/>
            </a:pPr>
            <a:r>
              <a:rPr lang="en-US" sz="10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(2) ________ 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university there – he was studying medicine. In the end, I found a job as a secretary with UNESCO, and I went to live there.</a:t>
            </a:r>
            <a:endParaRPr lang="en-US" sz="1050" dirty="0"/>
          </a:p>
        </p:txBody>
      </p:sp>
      <p:sp>
        <p:nvSpPr>
          <p:cNvPr id="20" name="R2_lnA97"/>
          <p:cNvSpPr/>
          <p:nvPr/>
        </p:nvSpPr>
        <p:spPr>
          <a:xfrm>
            <a:off x="548640" y="3017520"/>
            <a:ext cx="53492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I got home, I started looking for a job in Paris. He was </a:t>
            </a:r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at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university there – he was studying medicine. In the end, I found a job as a secretary with UNESCO, and I went to live there.</a:t>
            </a:r>
            <a:endParaRPr lang="en-US" sz="1050" dirty="0"/>
          </a:p>
        </p:txBody>
      </p:sp>
      <p:sp>
        <p:nvSpPr>
          <p:cNvPr id="21" name="ln_98"/>
          <p:cNvSpPr/>
          <p:nvPr/>
        </p:nvSpPr>
        <p:spPr>
          <a:xfrm>
            <a:off x="548640" y="356616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(3) ________ 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Sundays, we often went for a walk. One of our favourite places was the botanical gardens. It had a zoo, and I often put some bread in my pocket for the animals.</a:t>
            </a:r>
            <a:endParaRPr lang="en-US" sz="1050" dirty="0"/>
          </a:p>
        </p:txBody>
      </p:sp>
      <p:sp>
        <p:nvSpPr>
          <p:cNvPr id="22" name="R3_lnA99"/>
          <p:cNvSpPr/>
          <p:nvPr/>
        </p:nvSpPr>
        <p:spPr>
          <a:xfrm>
            <a:off x="548640" y="3566160"/>
            <a:ext cx="53492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On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Sundays, we often went for a walk. One of our favourite places was the botanical gardens. It had a zoo, and I often put some bread in my pocket for the animals.</a:t>
            </a:r>
            <a:endParaRPr lang="en-US" sz="1050" dirty="0"/>
          </a:p>
        </p:txBody>
      </p:sp>
      <p:sp>
        <p:nvSpPr>
          <p:cNvPr id="23" name="cd_100"/>
          <p:cNvSpPr/>
          <p:nvPr/>
        </p:nvSpPr>
        <p:spPr>
          <a:xfrm>
            <a:off x="6263640" y="1417320"/>
            <a:ext cx="2651760" cy="786384"/>
          </a:xfrm>
          <a:prstGeom prst="roundRect">
            <a:avLst>
              <a:gd name="adj" fmla="val 16279"/>
            </a:avLst>
          </a:prstGeom>
          <a:solidFill>
            <a:srgbClr val="E3F1FD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4" name="bkh_101"/>
          <p:cNvSpPr/>
          <p:nvPr/>
        </p:nvSpPr>
        <p:spPr>
          <a:xfrm>
            <a:off x="6373368" y="1472184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📍 at · in · on (use them more than once!)</a:t>
            </a:r>
            <a:endParaRPr lang="en-US" sz="950" dirty="0"/>
          </a:p>
        </p:txBody>
      </p:sp>
      <p:sp>
        <p:nvSpPr>
          <p:cNvPr id="25" name="bk_102"/>
          <p:cNvSpPr/>
          <p:nvPr/>
        </p:nvSpPr>
        <p:spPr>
          <a:xfrm>
            <a:off x="6373368" y="1819656"/>
            <a:ext cx="76200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</a:t>
            </a:r>
            <a:endParaRPr lang="en-US" sz="1050" dirty="0"/>
          </a:p>
        </p:txBody>
      </p:sp>
      <p:sp>
        <p:nvSpPr>
          <p:cNvPr id="26" name="bk_103"/>
          <p:cNvSpPr/>
          <p:nvPr/>
        </p:nvSpPr>
        <p:spPr>
          <a:xfrm>
            <a:off x="7208520" y="1819656"/>
            <a:ext cx="76200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</a:t>
            </a:r>
            <a:endParaRPr lang="en-US" sz="1050" dirty="0"/>
          </a:p>
        </p:txBody>
      </p:sp>
      <p:sp>
        <p:nvSpPr>
          <p:cNvPr id="27" name="bk_104"/>
          <p:cNvSpPr/>
          <p:nvPr/>
        </p:nvSpPr>
        <p:spPr>
          <a:xfrm>
            <a:off x="8043672" y="1819656"/>
            <a:ext cx="76200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</a:t>
            </a:r>
            <a:endParaRPr lang="en-US" sz="1050" dirty="0"/>
          </a:p>
        </p:txBody>
      </p:sp>
      <p:sp>
        <p:nvSpPr>
          <p:cNvPr id="28" name="pf_105"/>
          <p:cNvSpPr/>
          <p:nvPr/>
        </p:nvSpPr>
        <p:spPr>
          <a:xfrm rot="120000">
            <a:off x="7103015" y="2313432"/>
            <a:ext cx="973009" cy="1417320"/>
          </a:xfrm>
          <a:prstGeom prst="roundRect">
            <a:avLst>
              <a:gd name="adj" fmla="val 1597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9" name="ph_106" descr="/home/claude/lls-course/v2/cache/a2_2b_couple_jpg_212x31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7148735" y="2359152"/>
            <a:ext cx="881569" cy="1325880"/>
          </a:xfrm>
          <a:prstGeom prst="rect">
            <a:avLst/>
          </a:prstGeom>
        </p:spPr>
      </p:pic>
      <p:sp>
        <p:nvSpPr>
          <p:cNvPr id="30" name="cd_107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1" name="ii_108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32" name="ih_109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33" name="il_110"/>
          <p:cNvSpPr/>
          <p:nvPr/>
        </p:nvSpPr>
        <p:spPr>
          <a:xfrm>
            <a:off x="6830568" y="4288536"/>
            <a:ext cx="19933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 my early twenties = 20–23 years old</a:t>
            </a:r>
            <a:endParaRPr lang="en-US" sz="7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fall in love = innamorarsi</a:t>
            </a:r>
            <a:endParaRPr lang="en-US" sz="7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1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2800" dirty="0"/>
          </a:p>
        </p:txBody>
      </p:sp>
      <p:pic>
        <p:nvPicPr>
          <p:cNvPr id="4" name="brY_11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663440" cy="621792"/>
          </a:xfrm>
          <a:prstGeom prst="rect">
            <a:avLst/>
          </a:prstGeom>
        </p:spPr>
      </p:pic>
      <p:sp>
        <p:nvSpPr>
          <p:cNvPr id="5" name="title_113"/>
          <p:cNvSpPr/>
          <p:nvPr/>
        </p:nvSpPr>
        <p:spPr>
          <a:xfrm>
            <a:off x="1261872" y="164592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That's me in the picture!</a:t>
            </a:r>
            <a:endParaRPr lang="en-US" sz="2500" dirty="0"/>
          </a:p>
        </p:txBody>
      </p:sp>
      <p:pic>
        <p:nvPicPr>
          <p:cNvPr id="6" name="brP_11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115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rest of the story. Complete 4 with at, in or on.</a:t>
            </a:r>
            <a:endParaRPr lang="en-US" sz="1250" dirty="0"/>
          </a:p>
        </p:txBody>
      </p:sp>
      <p:sp>
        <p:nvSpPr>
          <p:cNvPr id="8" name="insIT_11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il resto della storia. Completa il 4 con at, in o on.</a:t>
            </a:r>
            <a:endParaRPr lang="en-US" sz="950" dirty="0"/>
          </a:p>
        </p:txBody>
      </p:sp>
      <p:sp>
        <p:nvSpPr>
          <p:cNvPr id="9" name="cmd_117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000000"/>
                </a:solidFill>
              </a:rPr>
              <a:t>👀 </a:t>
            </a:r>
            <a:pPr algn="ctr" indent="0" marL="0">
              <a:buNone/>
            </a:pPr>
            <a:r>
              <a:rPr lang="en-US" sz="7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algn="ctr" indent="0" marL="0">
              <a:buNone/>
            </a:pPr>
            <a:r>
              <a:rPr lang="en-US" sz="7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→  </a:t>
            </a:r>
            <a:pPr algn="ctr" indent="0" marL="0">
              <a:buNone/>
            </a:pPr>
            <a:r>
              <a:rPr lang="en-US" sz="750" dirty="0">
                <a:solidFill>
                  <a:srgbClr val="000000"/>
                </a:solidFill>
              </a:rPr>
              <a:t>✏️ </a:t>
            </a:r>
            <a:pPr algn="ctr" indent="0" marL="0">
              <a:buNone/>
            </a:pPr>
            <a:r>
              <a:rPr lang="en-US" sz="75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FILL THE GAPS</a:t>
            </a:r>
            <a:endParaRPr lang="en-US" sz="750" dirty="0"/>
          </a:p>
        </p:txBody>
      </p:sp>
      <p:sp>
        <p:nvSpPr>
          <p:cNvPr id="10" name="meta_118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1" name="tag_119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reading</a:t>
            </a:r>
            <a:endParaRPr lang="en-US" sz="850" dirty="0"/>
          </a:p>
        </p:txBody>
      </p:sp>
      <p:pic>
        <p:nvPicPr>
          <p:cNvPr id="12" name="logo_12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12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Reading · Jane's story 2/2   ·   📖 SB p.16 · 1b, 2a · article (adapted)</a:t>
            </a:r>
            <a:endParaRPr lang="en-US" sz="800" dirty="0"/>
          </a:p>
        </p:txBody>
      </p:sp>
      <p:sp>
        <p:nvSpPr>
          <p:cNvPr id="14" name="cd_122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sh_123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📰 Jane's story (part 2)</a:t>
            </a:r>
            <a:endParaRPr lang="en-US" sz="1700" dirty="0"/>
          </a:p>
        </p:txBody>
      </p:sp>
      <p:sp>
        <p:nvSpPr>
          <p:cNvPr id="16" name="ln_124"/>
          <p:cNvSpPr/>
          <p:nvPr/>
        </p:nvSpPr>
        <p:spPr>
          <a:xfrm>
            <a:off x="548640" y="192024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were walking </a:t>
            </a:r>
            <a:pPr indent="0" marL="0">
              <a:buNone/>
            </a:pPr>
            <a:r>
              <a:rPr lang="en-US" sz="10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(4) ________ 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gardens one Sunday </a:t>
            </a:r>
            <a:pPr indent="0" marL="0">
              <a:buNone/>
            </a:pPr>
            <a:r>
              <a:rPr lang="en-US" sz="10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(5) ________ 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autumn when we stopped because a lot of noise was coming from a tree. There was an owl, and some little birds were attacking it.</a:t>
            </a:r>
            <a:endParaRPr lang="en-US" sz="1050" dirty="0"/>
          </a:p>
        </p:txBody>
      </p:sp>
      <p:sp>
        <p:nvSpPr>
          <p:cNvPr id="17" name="R1_lnA125"/>
          <p:cNvSpPr/>
          <p:nvPr/>
        </p:nvSpPr>
        <p:spPr>
          <a:xfrm>
            <a:off x="548640" y="1920240"/>
            <a:ext cx="53492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were walking </a:t>
            </a:r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in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gardens one Sunday </a:t>
            </a:r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in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autumn when we stopped because a lot of noise was coming from a tree. There was an owl, and some little birds were attacking it.</a:t>
            </a:r>
            <a:endParaRPr lang="en-US" sz="1050" dirty="0"/>
          </a:p>
        </p:txBody>
      </p:sp>
      <p:sp>
        <p:nvSpPr>
          <p:cNvPr id="18" name="ln_126"/>
          <p:cNvSpPr/>
          <p:nvPr/>
        </p:nvSpPr>
        <p:spPr>
          <a:xfrm>
            <a:off x="548640" y="246888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also noticed a man with a camera. I said: 'Why was that man taking photographs of us?'</a:t>
            </a:r>
            <a:endParaRPr lang="en-US" sz="1050" dirty="0"/>
          </a:p>
        </p:txBody>
      </p:sp>
      <p:sp>
        <p:nvSpPr>
          <p:cNvPr id="19" name="ln_127"/>
          <p:cNvSpPr/>
          <p:nvPr/>
        </p:nvSpPr>
        <p:spPr>
          <a:xfrm>
            <a:off x="548640" y="301752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following year, a friend saw the photo in a magazine. I phoned the magazine and got Cartier-Bresson's number. I was very shy, but I called him. He was very friendly, and he sent me a copy.</a:t>
            </a:r>
            <a:endParaRPr lang="en-US" sz="1050" dirty="0"/>
          </a:p>
        </p:txBody>
      </p:sp>
      <p:sp>
        <p:nvSpPr>
          <p:cNvPr id="20" name="ln_128"/>
          <p:cNvSpPr/>
          <p:nvPr/>
        </p:nvSpPr>
        <p:spPr>
          <a:xfrm>
            <a:off x="548640" y="356616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love this picture. It was a happy time for me. My French boyfriend and I broke up in the end, but we're still in touch.</a:t>
            </a:r>
            <a:endParaRPr lang="en-US" sz="1050" dirty="0"/>
          </a:p>
        </p:txBody>
      </p:sp>
      <p:sp>
        <p:nvSpPr>
          <p:cNvPr id="21" name="cd_129"/>
          <p:cNvSpPr/>
          <p:nvPr/>
        </p:nvSpPr>
        <p:spPr>
          <a:xfrm>
            <a:off x="6263640" y="1417320"/>
            <a:ext cx="2651760" cy="786384"/>
          </a:xfrm>
          <a:prstGeom prst="roundRect">
            <a:avLst>
              <a:gd name="adj" fmla="val 16279"/>
            </a:avLst>
          </a:prstGeom>
          <a:solidFill>
            <a:srgbClr val="E3F1FD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2" name="bkh_130"/>
          <p:cNvSpPr/>
          <p:nvPr/>
        </p:nvSpPr>
        <p:spPr>
          <a:xfrm>
            <a:off x="6373368" y="1472184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📍 at · in · on</a:t>
            </a:r>
            <a:endParaRPr lang="en-US" sz="1100" dirty="0"/>
          </a:p>
        </p:txBody>
      </p:sp>
      <p:sp>
        <p:nvSpPr>
          <p:cNvPr id="23" name="bk_131"/>
          <p:cNvSpPr/>
          <p:nvPr/>
        </p:nvSpPr>
        <p:spPr>
          <a:xfrm>
            <a:off x="6373368" y="1819656"/>
            <a:ext cx="76200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</a:t>
            </a:r>
            <a:endParaRPr lang="en-US" sz="1050" dirty="0"/>
          </a:p>
        </p:txBody>
      </p:sp>
      <p:sp>
        <p:nvSpPr>
          <p:cNvPr id="24" name="bk_132"/>
          <p:cNvSpPr/>
          <p:nvPr/>
        </p:nvSpPr>
        <p:spPr>
          <a:xfrm>
            <a:off x="7208520" y="1819656"/>
            <a:ext cx="76200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</a:t>
            </a:r>
            <a:endParaRPr lang="en-US" sz="1050" dirty="0"/>
          </a:p>
        </p:txBody>
      </p:sp>
      <p:sp>
        <p:nvSpPr>
          <p:cNvPr id="25" name="bk_133"/>
          <p:cNvSpPr/>
          <p:nvPr/>
        </p:nvSpPr>
        <p:spPr>
          <a:xfrm>
            <a:off x="8043672" y="1819656"/>
            <a:ext cx="76200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</a:t>
            </a:r>
            <a:endParaRPr lang="en-US" sz="1050" dirty="0"/>
          </a:p>
        </p:txBody>
      </p:sp>
      <p:sp>
        <p:nvSpPr>
          <p:cNvPr id="26" name="pf_134"/>
          <p:cNvSpPr/>
          <p:nvPr/>
        </p:nvSpPr>
        <p:spPr>
          <a:xfrm rot="120000">
            <a:off x="7103015" y="2313432"/>
            <a:ext cx="973009" cy="1417320"/>
          </a:xfrm>
          <a:prstGeom prst="roundRect">
            <a:avLst>
              <a:gd name="adj" fmla="val 1597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7" name="ph_135" descr="/home/claude/lls-course/v2/cache/a2_2b_couple_jpg_212x31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7148735" y="2359152"/>
            <a:ext cx="881569" cy="1325880"/>
          </a:xfrm>
          <a:prstGeom prst="rect">
            <a:avLst/>
          </a:prstGeom>
        </p:spPr>
      </p:pic>
      <p:sp>
        <p:nvSpPr>
          <p:cNvPr id="28" name="cd_136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9" name="ii_137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30" name="ih_138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31" name="il_139"/>
          <p:cNvSpPr/>
          <p:nvPr/>
        </p:nvSpPr>
        <p:spPr>
          <a:xfrm>
            <a:off x="6830568" y="4288536"/>
            <a:ext cx="19933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 owl = un gufo</a:t>
            </a:r>
            <a:endParaRPr lang="en-US" sz="7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break up = lasciarsi · be in touch = sentirsi</a:t>
            </a:r>
            <a:endParaRPr lang="en-US" sz="7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4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2800" dirty="0"/>
          </a:p>
        </p:txBody>
      </p:sp>
      <p:pic>
        <p:nvPicPr>
          <p:cNvPr id="4" name="brY_14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663440" cy="621792"/>
          </a:xfrm>
          <a:prstGeom prst="rect">
            <a:avLst/>
          </a:prstGeom>
        </p:spPr>
      </p:pic>
      <p:sp>
        <p:nvSpPr>
          <p:cNvPr id="5" name="title_142"/>
          <p:cNvSpPr/>
          <p:nvPr/>
        </p:nvSpPr>
        <p:spPr>
          <a:xfrm>
            <a:off x="1261872" y="164592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Why is the photo special?</a:t>
            </a:r>
            <a:endParaRPr lang="en-US" sz="2500" dirty="0"/>
          </a:p>
        </p:txBody>
      </p:sp>
      <p:pic>
        <p:nvPicPr>
          <p:cNvPr id="6" name="brP_14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727448" cy="402336"/>
          </a:xfrm>
          <a:prstGeom prst="rect">
            <a:avLst/>
          </a:prstGeom>
        </p:spPr>
      </p:pic>
      <p:sp>
        <p:nvSpPr>
          <p:cNvPr id="7" name="ins_144"/>
          <p:cNvSpPr/>
          <p:nvPr/>
        </p:nvSpPr>
        <p:spPr>
          <a:xfrm>
            <a:off x="1353312" y="731520"/>
            <a:ext cx="44714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Jane's story again. Answer the questions.</a:t>
            </a:r>
            <a:endParaRPr lang="en-US" sz="1250" dirty="0"/>
          </a:p>
        </p:txBody>
      </p:sp>
      <p:sp>
        <p:nvSpPr>
          <p:cNvPr id="8" name="insIT_145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Rileggi la storia di Jane. Rispondi alle domande.</a:t>
            </a:r>
            <a:endParaRPr lang="en-US" sz="950" dirty="0"/>
          </a:p>
        </p:txBody>
      </p:sp>
      <p:sp>
        <p:nvSpPr>
          <p:cNvPr id="9" name="cmd_146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🔍 </a:t>
            </a:r>
            <a:pPr algn="ctr" indent="0" marL="0">
              <a:buNone/>
            </a:pPr>
            <a:r>
              <a:rPr lang="en-US" sz="95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FIND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TROVA</a:t>
            </a:r>
            <a:endParaRPr lang="en-US" sz="950" dirty="0"/>
          </a:p>
        </p:txBody>
      </p:sp>
      <p:sp>
        <p:nvSpPr>
          <p:cNvPr id="10" name="meta_147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1" name="tag_148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Guided discovery</a:t>
            </a:r>
            <a:endParaRPr lang="en-US" sz="750" dirty="0"/>
          </a:p>
        </p:txBody>
      </p:sp>
      <p:pic>
        <p:nvPicPr>
          <p:cNvPr id="12" name="logo_14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15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Reading · detail   ·   📖 SB p.16 · 1c (answers: TG)</a:t>
            </a:r>
            <a:endParaRPr lang="en-US" sz="800" dirty="0"/>
          </a:p>
        </p:txBody>
      </p:sp>
      <p:sp>
        <p:nvSpPr>
          <p:cNvPr id="14" name="cd_151"/>
          <p:cNvSpPr/>
          <p:nvPr/>
        </p:nvSpPr>
        <p:spPr>
          <a:xfrm>
            <a:off x="320040" y="1417320"/>
            <a:ext cx="2697480" cy="1170432"/>
          </a:xfrm>
          <a:prstGeom prst="roundRect">
            <a:avLst>
              <a:gd name="adj" fmla="val 10938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152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6" name="ih_153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7" name="il_154"/>
          <p:cNvSpPr/>
          <p:nvPr/>
        </p:nvSpPr>
        <p:spPr>
          <a:xfrm>
            <a:off x="886968" y="1911096"/>
            <a:ext cx="2039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was Jane living in 1972? → In London.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(The story is on slides 4 and 5.)</a:t>
            </a:r>
            <a:endParaRPr lang="en-US" sz="950" dirty="0"/>
          </a:p>
        </p:txBody>
      </p:sp>
      <p:sp>
        <p:nvSpPr>
          <p:cNvPr id="18" name="bd_155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q_156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Jane's life at the beginning?</a:t>
            </a:r>
            <a:endParaRPr lang="en-US" sz="1150" dirty="0"/>
          </a:p>
        </p:txBody>
      </p:sp>
      <p:sp>
        <p:nvSpPr>
          <p:cNvPr id="20" name="R1_chip157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 London, early twenties, advertising agency</a:t>
            </a:r>
            <a:endParaRPr lang="en-US" sz="1050" dirty="0"/>
          </a:p>
        </p:txBody>
      </p:sp>
      <p:sp>
        <p:nvSpPr>
          <p:cNvPr id="21" name="bd_158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q_159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did she meet the Frenchman?</a:t>
            </a:r>
            <a:endParaRPr lang="en-US" sz="1150" dirty="0"/>
          </a:p>
        </p:txBody>
      </p:sp>
      <p:sp>
        <p:nvSpPr>
          <p:cNvPr id="23" name="R2_chip160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 a nightclub on a beach in France</a:t>
            </a:r>
            <a:endParaRPr lang="en-US" sz="1050" dirty="0"/>
          </a:p>
        </p:txBody>
      </p:sp>
      <p:sp>
        <p:nvSpPr>
          <p:cNvPr id="24" name="bd_161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q_162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did they often do on Sundays?</a:t>
            </a:r>
            <a:endParaRPr lang="en-US" sz="1150" dirty="0"/>
          </a:p>
        </p:txBody>
      </p:sp>
      <p:sp>
        <p:nvSpPr>
          <p:cNvPr id="26" name="R3_chip163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They went for a walk.</a:t>
            </a:r>
            <a:endParaRPr lang="en-US" sz="1050" dirty="0"/>
          </a:p>
        </p:txBody>
      </p:sp>
      <p:sp>
        <p:nvSpPr>
          <p:cNvPr id="27" name="bd_164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q_165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Why did they stop in the gardens?</a:t>
            </a:r>
            <a:endParaRPr lang="en-US" sz="1150" dirty="0"/>
          </a:p>
        </p:txBody>
      </p:sp>
      <p:sp>
        <p:nvSpPr>
          <p:cNvPr id="29" name="R4_chip166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noise from a tree: birds attacking an owl</a:t>
            </a:r>
            <a:endParaRPr lang="en-US" sz="1050" dirty="0"/>
          </a:p>
        </p:txBody>
      </p:sp>
      <p:sp>
        <p:nvSpPr>
          <p:cNvPr id="30" name="bd_167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1" name="q_168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did she get a copy?</a:t>
            </a:r>
            <a:endParaRPr lang="en-US" sz="1150" dirty="0"/>
          </a:p>
        </p:txBody>
      </p:sp>
      <p:sp>
        <p:nvSpPr>
          <p:cNvPr id="32" name="R5_chip169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called Cartier-Bresson. He sent it.</a:t>
            </a:r>
            <a:endParaRPr lang="en-US" sz="1050" dirty="0"/>
          </a:p>
        </p:txBody>
      </p:sp>
      <p:sp>
        <p:nvSpPr>
          <p:cNvPr id="33" name="bd_170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4" name="q_171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Why is the photo important to her?</a:t>
            </a:r>
            <a:endParaRPr lang="en-US" sz="1150" dirty="0"/>
          </a:p>
        </p:txBody>
      </p:sp>
      <p:sp>
        <p:nvSpPr>
          <p:cNvPr id="35" name="R6_chip172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was a happy time for her.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2800" dirty="0"/>
          </a:p>
        </p:txBody>
      </p:sp>
      <p:pic>
        <p:nvPicPr>
          <p:cNvPr id="4" name="brY_17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175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at, in, on</a:t>
            </a:r>
            <a:endParaRPr lang="en-US" sz="2500" dirty="0"/>
          </a:p>
        </p:txBody>
      </p:sp>
      <p:pic>
        <p:nvPicPr>
          <p:cNvPr id="6" name="brP_17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48656" cy="402336"/>
          </a:xfrm>
          <a:prstGeom prst="rect">
            <a:avLst/>
          </a:prstGeom>
        </p:spPr>
      </p:pic>
      <p:sp>
        <p:nvSpPr>
          <p:cNvPr id="7" name="ins_177"/>
          <p:cNvSpPr/>
          <p:nvPr/>
        </p:nvSpPr>
        <p:spPr>
          <a:xfrm>
            <a:off x="1353312" y="731520"/>
            <a:ext cx="4992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at, in or on? Look at the examples. What's the rule?</a:t>
            </a:r>
            <a:endParaRPr lang="en-US" sz="1250" dirty="0"/>
          </a:p>
        </p:txBody>
      </p:sp>
      <p:sp>
        <p:nvSpPr>
          <p:cNvPr id="8" name="insIT_17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at, in o on? Guarda gli esempi. Qual è la regola?</a:t>
            </a:r>
            <a:endParaRPr lang="en-US" sz="950" dirty="0"/>
          </a:p>
        </p:txBody>
      </p:sp>
      <p:sp>
        <p:nvSpPr>
          <p:cNvPr id="9" name="cmd_179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👀 </a:t>
            </a:r>
            <a:pPr algn="ctr"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LOOK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GUARDA</a:t>
            </a:r>
            <a:endParaRPr lang="en-US" sz="950" dirty="0"/>
          </a:p>
        </p:txBody>
      </p:sp>
      <p:sp>
        <p:nvSpPr>
          <p:cNvPr id="10" name="meta_180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950" dirty="0"/>
          </a:p>
        </p:txBody>
      </p:sp>
      <p:sp>
        <p:nvSpPr>
          <p:cNvPr id="11" name="tag_181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Guided discovery</a:t>
            </a:r>
            <a:endParaRPr lang="en-US" sz="750" dirty="0"/>
          </a:p>
        </p:txBody>
      </p:sp>
      <p:pic>
        <p:nvPicPr>
          <p:cNvPr id="12" name="logo_18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18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Vocabulary · prepositions   ·   📖 Vocabulary Bank Prepositions p.153 · audio 2.10</a:t>
            </a:r>
            <a:endParaRPr lang="en-US" sz="800" dirty="0"/>
          </a:p>
        </p:txBody>
      </p:sp>
      <p:sp>
        <p:nvSpPr>
          <p:cNvPr id="14" name="ah_184"/>
          <p:cNvSpPr/>
          <p:nvPr/>
        </p:nvSpPr>
        <p:spPr>
          <a:xfrm>
            <a:off x="3675888" y="4572000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2.10   ▶ normal</a:t>
            </a:r>
            <a:endParaRPr lang="en-US" sz="1000" dirty="0"/>
          </a:p>
        </p:txBody>
      </p:sp>
      <p:pic>
        <p:nvPicPr>
          <p:cNvPr id="15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16" name="ah_185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17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18" name="cd_186"/>
          <p:cNvSpPr/>
          <p:nvPr/>
        </p:nvSpPr>
        <p:spPr>
          <a:xfrm>
            <a:off x="3200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rh_187"/>
          <p:cNvSpPr/>
          <p:nvPr/>
        </p:nvSpPr>
        <p:spPr>
          <a:xfrm>
            <a:off x="4297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in</a:t>
            </a:r>
            <a:endParaRPr lang="en-US" sz="1250" dirty="0"/>
          </a:p>
        </p:txBody>
      </p:sp>
      <p:sp>
        <p:nvSpPr>
          <p:cNvPr id="20" name="pf_188"/>
          <p:cNvSpPr/>
          <p:nvPr/>
        </p:nvSpPr>
        <p:spPr>
          <a:xfrm>
            <a:off x="1144314" y="1938528"/>
            <a:ext cx="1109892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1" name="ph_189" descr="/home/claude/lls-course/v2/cache/a2_2b_anya_b_jpg_245x209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90034" y="1984248"/>
            <a:ext cx="1018452" cy="868680"/>
          </a:xfrm>
          <a:prstGeom prst="rect">
            <a:avLst/>
          </a:prstGeom>
        </p:spPr>
      </p:pic>
      <p:sp>
        <p:nvSpPr>
          <p:cNvPr id="22" name="ru_190"/>
          <p:cNvSpPr/>
          <p:nvPr/>
        </p:nvSpPr>
        <p:spPr>
          <a:xfrm>
            <a:off x="411480" y="2926080"/>
            <a:ext cx="257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big places · long time</a:t>
            </a:r>
            <a:endParaRPr lang="en-US" sz="1050" dirty="0"/>
          </a:p>
        </p:txBody>
      </p:sp>
      <p:sp>
        <p:nvSpPr>
          <p:cNvPr id="23" name="R1_rx191"/>
          <p:cNvSpPr/>
          <p:nvPr/>
        </p:nvSpPr>
        <p:spPr>
          <a:xfrm>
            <a:off x="411480" y="3319272"/>
            <a:ext cx="257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Rome · </a:t>
            </a:r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the kitchen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July · </a:t>
            </a:r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autumn · </a:t>
            </a:r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1972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the morning</a:t>
            </a:r>
            <a:endParaRPr lang="en-US" sz="1050" dirty="0"/>
          </a:p>
        </p:txBody>
      </p:sp>
      <p:sp>
        <p:nvSpPr>
          <p:cNvPr id="24" name="R1_ri192"/>
          <p:cNvSpPr/>
          <p:nvPr/>
        </p:nvSpPr>
        <p:spPr>
          <a:xfrm>
            <a:off x="411480" y="4087368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città, stanze, mesi, stagioni, anni</a:t>
            </a:r>
            <a:endParaRPr lang="en-US" sz="900" dirty="0"/>
          </a:p>
        </p:txBody>
      </p:sp>
      <p:sp>
        <p:nvSpPr>
          <p:cNvPr id="25" name="cd_193"/>
          <p:cNvSpPr/>
          <p:nvPr/>
        </p:nvSpPr>
        <p:spPr>
          <a:xfrm>
            <a:off x="32156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6" name="rh_194"/>
          <p:cNvSpPr/>
          <p:nvPr/>
        </p:nvSpPr>
        <p:spPr>
          <a:xfrm>
            <a:off x="33253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on</a:t>
            </a:r>
            <a:endParaRPr lang="en-US" sz="1250" dirty="0"/>
          </a:p>
        </p:txBody>
      </p:sp>
      <p:sp>
        <p:nvSpPr>
          <p:cNvPr id="27" name="pf_195"/>
          <p:cNvSpPr/>
          <p:nvPr/>
        </p:nvSpPr>
        <p:spPr>
          <a:xfrm>
            <a:off x="4036169" y="1938528"/>
            <a:ext cx="1117381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8" name="ph_196" descr="/home/claude/lls-course/v2/cache/a2_2b_anya_c_jpg_247x209_31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081889" y="1984248"/>
            <a:ext cx="1025941" cy="868680"/>
          </a:xfrm>
          <a:prstGeom prst="rect">
            <a:avLst/>
          </a:prstGeom>
        </p:spPr>
      </p:pic>
      <p:sp>
        <p:nvSpPr>
          <p:cNvPr id="29" name="ru_197"/>
          <p:cNvSpPr/>
          <p:nvPr/>
        </p:nvSpPr>
        <p:spPr>
          <a:xfrm>
            <a:off x="3307080" y="2926080"/>
            <a:ext cx="257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days · surfaces · transport</a:t>
            </a:r>
            <a:endParaRPr lang="en-US" sz="1050" dirty="0"/>
          </a:p>
        </p:txBody>
      </p:sp>
      <p:sp>
        <p:nvSpPr>
          <p:cNvPr id="30" name="R2_rx198"/>
          <p:cNvSpPr/>
          <p:nvPr/>
        </p:nvSpPr>
        <p:spPr>
          <a:xfrm>
            <a:off x="3307080" y="3319272"/>
            <a:ext cx="257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Sunday · </a:t>
            </a:r>
            <a:pPr algn="ctr" indent="0" marL="0">
              <a:buNone/>
            </a:pPr>
            <a:r>
              <a:rPr lang="en-US" sz="10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1st March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the beach · </a:t>
            </a:r>
            <a:pPr algn="ctr" indent="0" marL="0">
              <a:buNone/>
            </a:pPr>
            <a:r>
              <a:rPr lang="en-US" sz="10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the wall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 bus · </a:t>
            </a:r>
            <a:pPr algn="ctr" indent="0" marL="0">
              <a:buNone/>
            </a:pPr>
            <a:r>
              <a:rPr lang="en-US" sz="10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 train</a:t>
            </a:r>
            <a:endParaRPr lang="en-US" sz="1050" dirty="0"/>
          </a:p>
        </p:txBody>
      </p:sp>
      <p:sp>
        <p:nvSpPr>
          <p:cNvPr id="31" name="R2_ri199"/>
          <p:cNvSpPr/>
          <p:nvPr/>
        </p:nvSpPr>
        <p:spPr>
          <a:xfrm>
            <a:off x="3307080" y="4087368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giorni, date, superfici, mezzi</a:t>
            </a:r>
            <a:endParaRPr lang="en-US" sz="900" dirty="0"/>
          </a:p>
        </p:txBody>
      </p:sp>
      <p:sp>
        <p:nvSpPr>
          <p:cNvPr id="32" name="cd_200"/>
          <p:cNvSpPr/>
          <p:nvPr/>
        </p:nvSpPr>
        <p:spPr>
          <a:xfrm>
            <a:off x="61112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3" name="rh_201"/>
          <p:cNvSpPr/>
          <p:nvPr/>
        </p:nvSpPr>
        <p:spPr>
          <a:xfrm>
            <a:off x="62209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2EB872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at</a:t>
            </a:r>
            <a:endParaRPr lang="en-US" sz="1250" dirty="0"/>
          </a:p>
        </p:txBody>
      </p:sp>
      <p:sp>
        <p:nvSpPr>
          <p:cNvPr id="34" name="pf_202"/>
          <p:cNvSpPr/>
          <p:nvPr/>
        </p:nvSpPr>
        <p:spPr>
          <a:xfrm>
            <a:off x="6946747" y="1938528"/>
            <a:ext cx="1087427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5" name="ph_203" descr="/home/claude/lls-course/v2/cache/a2_2b_anya_a_jpg_240x209_31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992467" y="1984248"/>
            <a:ext cx="995987" cy="868680"/>
          </a:xfrm>
          <a:prstGeom prst="rect">
            <a:avLst/>
          </a:prstGeom>
        </p:spPr>
      </p:pic>
      <p:sp>
        <p:nvSpPr>
          <p:cNvPr id="36" name="ru_204"/>
          <p:cNvSpPr/>
          <p:nvPr/>
        </p:nvSpPr>
        <p:spPr>
          <a:xfrm>
            <a:off x="6202680" y="2926080"/>
            <a:ext cx="257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points: places and times</a:t>
            </a:r>
            <a:endParaRPr lang="en-US" sz="1050" dirty="0"/>
          </a:p>
        </p:txBody>
      </p:sp>
      <p:sp>
        <p:nvSpPr>
          <p:cNvPr id="37" name="R3_rx205"/>
          <p:cNvSpPr/>
          <p:nvPr/>
        </p:nvSpPr>
        <p:spPr>
          <a:xfrm>
            <a:off x="6202680" y="3319272"/>
            <a:ext cx="257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home · </a:t>
            </a:r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work · </a:t>
            </a:r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 party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6 o'clock · </a:t>
            </a:r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night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the weekend · </a:t>
            </a:r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Christmas</a:t>
            </a:r>
            <a:endParaRPr lang="en-US" sz="1050" dirty="0"/>
          </a:p>
        </p:txBody>
      </p:sp>
      <p:sp>
        <p:nvSpPr>
          <p:cNvPr id="38" name="R3_ri206"/>
          <p:cNvSpPr/>
          <p:nvPr/>
        </p:nvSpPr>
        <p:spPr>
          <a:xfrm>
            <a:off x="6202680" y="4087368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luoghi precisi, orari, feste</a:t>
            </a:r>
            <a:endParaRPr lang="en-US" sz="900" dirty="0"/>
          </a:p>
        </p:txBody>
      </p:sp>
      <p:sp>
        <p:nvSpPr>
          <p:cNvPr id="39" name="R4_wc207"/>
          <p:cNvSpPr/>
          <p:nvPr/>
        </p:nvSpPr>
        <p:spPr>
          <a:xfrm>
            <a:off x="320040" y="4544568"/>
            <a:ext cx="3172968" cy="329184"/>
          </a:xfrm>
          <a:prstGeom prst="roundRect">
            <a:avLst>
              <a:gd name="adj" fmla="val 38889"/>
            </a:avLst>
          </a:prstGeom>
          <a:solidFill>
            <a:srgbClr val="FFE3EE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0" name="R4_w208"/>
          <p:cNvSpPr/>
          <p:nvPr/>
        </p:nvSpPr>
        <p:spPr>
          <a:xfrm>
            <a:off x="457200" y="4544568"/>
            <a:ext cx="2944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in the morning / afternoon / evening  BUT  at night   ·   at university (= studying there)   ·   2019 = twenty nineteen</a:t>
            </a:r>
            <a:endParaRPr lang="en-US" sz="7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5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" fill="hold">
                      <p:stCondLst>
                        <p:cond delay="0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9" dur="1" fill="hold"/>
                                        <p:tgtEl>
                                          <p:spTgt spid="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seq concurrent="1" nextAc="seek">
              <p:cTn id="40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1" fill="hold">
                      <p:stCondLst>
                        <p:cond delay="0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4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  <p:audio>
              <p:cMediaNode vol="80000">
                <p:cTn id="45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5"/>
                </p:tgtEl>
              </p:cMediaNode>
            </p:audio>
            <p:audio>
              <p:cMediaNode vol="80000">
                <p:cTn id="46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7"/>
                </p:tgtEl>
              </p:cMediaNode>
            </p:audi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0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2800" dirty="0"/>
          </a:p>
        </p:txBody>
      </p:sp>
      <p:pic>
        <p:nvPicPr>
          <p:cNvPr id="4" name="brY_21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776118" cy="621792"/>
          </a:xfrm>
          <a:prstGeom prst="rect">
            <a:avLst/>
          </a:prstGeom>
        </p:spPr>
      </p:pic>
      <p:sp>
        <p:nvSpPr>
          <p:cNvPr id="5" name="title_211"/>
          <p:cNvSpPr/>
          <p:nvPr/>
        </p:nvSpPr>
        <p:spPr>
          <a:xfrm>
            <a:off x="1261872" y="164592"/>
            <a:ext cx="25017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at, in or on?</a:t>
            </a:r>
            <a:endParaRPr lang="en-US" sz="2500" dirty="0"/>
          </a:p>
        </p:txBody>
      </p:sp>
      <p:pic>
        <p:nvPicPr>
          <p:cNvPr id="6" name="brP_21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337560" cy="402336"/>
          </a:xfrm>
          <a:prstGeom prst="rect">
            <a:avLst/>
          </a:prstGeom>
        </p:spPr>
      </p:pic>
      <p:sp>
        <p:nvSpPr>
          <p:cNvPr id="7" name="ins_213"/>
          <p:cNvSpPr/>
          <p:nvPr/>
        </p:nvSpPr>
        <p:spPr>
          <a:xfrm>
            <a:off x="1353312" y="731520"/>
            <a:ext cx="3081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Teams: at, in or on? Be quick!</a:t>
            </a:r>
            <a:endParaRPr lang="en-US" sz="1250" dirty="0"/>
          </a:p>
        </p:txBody>
      </p:sp>
      <p:sp>
        <p:nvSpPr>
          <p:cNvPr id="8" name="insIT_21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Squadre: at, in o on? Veloci!</a:t>
            </a:r>
            <a:endParaRPr lang="en-US" sz="950" dirty="0"/>
          </a:p>
        </p:txBody>
      </p:sp>
      <p:sp>
        <p:nvSpPr>
          <p:cNvPr id="9" name="cmd_215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🎲 </a:t>
            </a:r>
            <a:pPr algn="ctr" indent="0" marL="0">
              <a:buNone/>
            </a:pPr>
            <a:r>
              <a:rPr lang="en-US" sz="95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950" dirty="0"/>
          </a:p>
        </p:txBody>
      </p:sp>
      <p:sp>
        <p:nvSpPr>
          <p:cNvPr id="10" name="meta_216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🏆 teams</a:t>
            </a:r>
            <a:endParaRPr lang="en-US" sz="950" dirty="0"/>
          </a:p>
        </p:txBody>
      </p:sp>
      <p:sp>
        <p:nvSpPr>
          <p:cNvPr id="11" name="tag_217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 game</a:t>
            </a:r>
            <a:endParaRPr lang="en-US" sz="750" dirty="0"/>
          </a:p>
        </p:txBody>
      </p:sp>
      <p:pic>
        <p:nvPicPr>
          <p:cNvPr id="12" name="logo_21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1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Vocabulary game   ·   📖 VB p.153 · Activation</a:t>
            </a:r>
            <a:endParaRPr lang="en-US" sz="800" dirty="0"/>
          </a:p>
        </p:txBody>
      </p:sp>
      <p:sp>
        <p:nvSpPr>
          <p:cNvPr id="14" name="cd_220"/>
          <p:cNvSpPr/>
          <p:nvPr/>
        </p:nvSpPr>
        <p:spPr>
          <a:xfrm>
            <a:off x="320040" y="1417320"/>
            <a:ext cx="2697480" cy="2514600"/>
          </a:xfrm>
          <a:prstGeom prst="roundRect">
            <a:avLst>
              <a:gd name="adj" fmla="val 5091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221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222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7" name="il_223"/>
          <p:cNvSpPr/>
          <p:nvPr/>
        </p:nvSpPr>
        <p:spPr>
          <a:xfrm>
            <a:off x="886968" y="1911096"/>
            <a:ext cx="2039112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word.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10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la parola.</a:t>
            </a:r>
            <a:endParaRPr lang="en-US" sz="10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the preposition + the word.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10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Di' la preposizione + la parola.</a:t>
            </a:r>
            <a:endParaRPr lang="en-US" sz="10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First right answer = 1 point.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10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Prima risposta giusta = 1 punto.</a:t>
            </a:r>
            <a:endParaRPr lang="en-US" sz="1050" dirty="0"/>
          </a:p>
        </p:txBody>
      </p:sp>
      <p:sp>
        <p:nvSpPr>
          <p:cNvPr id="18" name="st_224"/>
          <p:cNvSpPr/>
          <p:nvPr/>
        </p:nvSpPr>
        <p:spPr>
          <a:xfrm rot="-180000">
            <a:off x="502920" y="4114800"/>
            <a:ext cx="2286000" cy="59436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19" name="bd_225"/>
          <p:cNvSpPr/>
          <p:nvPr/>
        </p:nvSpPr>
        <p:spPr>
          <a:xfrm>
            <a:off x="3246120" y="1423607"/>
            <a:ext cx="329184" cy="329184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e.g.</a:t>
            </a:r>
            <a:endParaRPr lang="en-US" sz="500" dirty="0"/>
          </a:p>
        </p:txBody>
      </p:sp>
      <p:sp>
        <p:nvSpPr>
          <p:cNvPr id="20" name="gq_226"/>
          <p:cNvSpPr/>
          <p:nvPr/>
        </p:nvSpPr>
        <p:spPr>
          <a:xfrm>
            <a:off x="3657600" y="141732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___ Christmas</a:t>
            </a:r>
            <a:endParaRPr lang="en-US" sz="1250" dirty="0"/>
          </a:p>
        </p:txBody>
      </p:sp>
      <p:sp>
        <p:nvSpPr>
          <p:cNvPr id="21" name="chip_227"/>
          <p:cNvSpPr/>
          <p:nvPr/>
        </p:nvSpPr>
        <p:spPr>
          <a:xfrm>
            <a:off x="6263640" y="141732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at Christmas</a:t>
            </a:r>
            <a:endParaRPr lang="en-US" sz="1200" dirty="0"/>
          </a:p>
        </p:txBody>
      </p:sp>
      <p:sp>
        <p:nvSpPr>
          <p:cNvPr id="22" name="bd_228"/>
          <p:cNvSpPr/>
          <p:nvPr/>
        </p:nvSpPr>
        <p:spPr>
          <a:xfrm>
            <a:off x="3246120" y="1829372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3" name="gq_229"/>
          <p:cNvSpPr/>
          <p:nvPr/>
        </p:nvSpPr>
        <p:spPr>
          <a:xfrm>
            <a:off x="3657600" y="182308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___ July</a:t>
            </a:r>
            <a:endParaRPr lang="en-US" sz="1250" dirty="0"/>
          </a:p>
        </p:txBody>
      </p:sp>
      <p:sp>
        <p:nvSpPr>
          <p:cNvPr id="24" name="R1_chip230"/>
          <p:cNvSpPr/>
          <p:nvPr/>
        </p:nvSpPr>
        <p:spPr>
          <a:xfrm>
            <a:off x="6263640" y="182308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in July</a:t>
            </a:r>
            <a:endParaRPr lang="en-US" sz="1200" dirty="0"/>
          </a:p>
        </p:txBody>
      </p:sp>
      <p:sp>
        <p:nvSpPr>
          <p:cNvPr id="25" name="bd_231"/>
          <p:cNvSpPr/>
          <p:nvPr/>
        </p:nvSpPr>
        <p:spPr>
          <a:xfrm>
            <a:off x="3246120" y="2235137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6" name="gq_232"/>
          <p:cNvSpPr/>
          <p:nvPr/>
        </p:nvSpPr>
        <p:spPr>
          <a:xfrm>
            <a:off x="3657600" y="222885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___ Monday morning</a:t>
            </a:r>
            <a:endParaRPr lang="en-US" sz="1250" dirty="0"/>
          </a:p>
        </p:txBody>
      </p:sp>
      <p:sp>
        <p:nvSpPr>
          <p:cNvPr id="27" name="R2_chip233"/>
          <p:cNvSpPr/>
          <p:nvPr/>
        </p:nvSpPr>
        <p:spPr>
          <a:xfrm>
            <a:off x="6263640" y="222885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on Monday morning</a:t>
            </a:r>
            <a:endParaRPr lang="en-US" sz="1200" dirty="0"/>
          </a:p>
        </p:txBody>
      </p:sp>
      <p:sp>
        <p:nvSpPr>
          <p:cNvPr id="28" name="bd_234"/>
          <p:cNvSpPr/>
          <p:nvPr/>
        </p:nvSpPr>
        <p:spPr>
          <a:xfrm>
            <a:off x="3246120" y="2640901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9" name="gq_235"/>
          <p:cNvSpPr/>
          <p:nvPr/>
        </p:nvSpPr>
        <p:spPr>
          <a:xfrm>
            <a:off x="3657600" y="263461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___ the airport</a:t>
            </a:r>
            <a:endParaRPr lang="en-US" sz="1250" dirty="0"/>
          </a:p>
        </p:txBody>
      </p:sp>
      <p:sp>
        <p:nvSpPr>
          <p:cNvPr id="30" name="R3_chip236"/>
          <p:cNvSpPr/>
          <p:nvPr/>
        </p:nvSpPr>
        <p:spPr>
          <a:xfrm>
            <a:off x="6263640" y="263461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at the airport</a:t>
            </a:r>
            <a:endParaRPr lang="en-US" sz="1200" dirty="0"/>
          </a:p>
        </p:txBody>
      </p:sp>
      <p:sp>
        <p:nvSpPr>
          <p:cNvPr id="31" name="bd_237"/>
          <p:cNvSpPr/>
          <p:nvPr/>
        </p:nvSpPr>
        <p:spPr>
          <a:xfrm>
            <a:off x="3246120" y="3046667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2" name="gq_238"/>
          <p:cNvSpPr/>
          <p:nvPr/>
        </p:nvSpPr>
        <p:spPr>
          <a:xfrm>
            <a:off x="3657600" y="304038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___ a bus</a:t>
            </a:r>
            <a:endParaRPr lang="en-US" sz="1250" dirty="0"/>
          </a:p>
        </p:txBody>
      </p:sp>
      <p:sp>
        <p:nvSpPr>
          <p:cNvPr id="33" name="R4_chip239"/>
          <p:cNvSpPr/>
          <p:nvPr/>
        </p:nvSpPr>
        <p:spPr>
          <a:xfrm>
            <a:off x="6263640" y="304038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on a bus</a:t>
            </a:r>
            <a:endParaRPr lang="en-US" sz="1200" dirty="0"/>
          </a:p>
        </p:txBody>
      </p:sp>
      <p:sp>
        <p:nvSpPr>
          <p:cNvPr id="34" name="bd_240"/>
          <p:cNvSpPr/>
          <p:nvPr/>
        </p:nvSpPr>
        <p:spPr>
          <a:xfrm>
            <a:off x="3246120" y="3452432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5" name="gq_241"/>
          <p:cNvSpPr/>
          <p:nvPr/>
        </p:nvSpPr>
        <p:spPr>
          <a:xfrm>
            <a:off x="3657600" y="344614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___ 2019</a:t>
            </a:r>
            <a:endParaRPr lang="en-US" sz="1250" dirty="0"/>
          </a:p>
        </p:txBody>
      </p:sp>
      <p:sp>
        <p:nvSpPr>
          <p:cNvPr id="36" name="R5_chip242"/>
          <p:cNvSpPr/>
          <p:nvPr/>
        </p:nvSpPr>
        <p:spPr>
          <a:xfrm>
            <a:off x="6263640" y="344614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in 2019</a:t>
            </a:r>
            <a:endParaRPr lang="en-US" sz="1200" dirty="0"/>
          </a:p>
        </p:txBody>
      </p:sp>
      <p:sp>
        <p:nvSpPr>
          <p:cNvPr id="37" name="bd_243"/>
          <p:cNvSpPr/>
          <p:nvPr/>
        </p:nvSpPr>
        <p:spPr>
          <a:xfrm>
            <a:off x="3246120" y="3858196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8" name="gq_244"/>
          <p:cNvSpPr/>
          <p:nvPr/>
        </p:nvSpPr>
        <p:spPr>
          <a:xfrm>
            <a:off x="3657600" y="385191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___ the weekend</a:t>
            </a:r>
            <a:endParaRPr lang="en-US" sz="1250" dirty="0"/>
          </a:p>
        </p:txBody>
      </p:sp>
      <p:sp>
        <p:nvSpPr>
          <p:cNvPr id="39" name="R6_chip245"/>
          <p:cNvSpPr/>
          <p:nvPr/>
        </p:nvSpPr>
        <p:spPr>
          <a:xfrm>
            <a:off x="6263640" y="385191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at the weekend</a:t>
            </a:r>
            <a:endParaRPr lang="en-US" sz="1200" dirty="0"/>
          </a:p>
        </p:txBody>
      </p:sp>
      <p:sp>
        <p:nvSpPr>
          <p:cNvPr id="40" name="bd_246"/>
          <p:cNvSpPr/>
          <p:nvPr/>
        </p:nvSpPr>
        <p:spPr>
          <a:xfrm>
            <a:off x="3246120" y="4263962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100" dirty="0"/>
          </a:p>
        </p:txBody>
      </p:sp>
      <p:sp>
        <p:nvSpPr>
          <p:cNvPr id="41" name="gq_247"/>
          <p:cNvSpPr/>
          <p:nvPr/>
        </p:nvSpPr>
        <p:spPr>
          <a:xfrm>
            <a:off x="3657600" y="425767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___ the kitchen</a:t>
            </a:r>
            <a:endParaRPr lang="en-US" sz="1250" dirty="0"/>
          </a:p>
        </p:txBody>
      </p:sp>
      <p:sp>
        <p:nvSpPr>
          <p:cNvPr id="42" name="R7_chip248"/>
          <p:cNvSpPr/>
          <p:nvPr/>
        </p:nvSpPr>
        <p:spPr>
          <a:xfrm>
            <a:off x="6263640" y="425767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in the kitchen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4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2800" dirty="0"/>
          </a:p>
        </p:txBody>
      </p:sp>
      <p:pic>
        <p:nvPicPr>
          <p:cNvPr id="4" name="brY_25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251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 was happening?</a:t>
            </a:r>
            <a:endParaRPr lang="en-US" sz="2300" dirty="0"/>
          </a:p>
        </p:txBody>
      </p:sp>
      <p:pic>
        <p:nvPicPr>
          <p:cNvPr id="6" name="brP_25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640580" cy="402336"/>
          </a:xfrm>
          <a:prstGeom prst="rect">
            <a:avLst/>
          </a:prstGeom>
        </p:spPr>
      </p:pic>
      <p:sp>
        <p:nvSpPr>
          <p:cNvPr id="7" name="ins_253"/>
          <p:cNvSpPr/>
          <p:nvPr/>
        </p:nvSpPr>
        <p:spPr>
          <a:xfrm>
            <a:off x="1353312" y="731520"/>
            <a:ext cx="43845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sentences from the story. Which use?</a:t>
            </a:r>
            <a:endParaRPr lang="en-US" sz="1250" dirty="0"/>
          </a:p>
        </p:txBody>
      </p:sp>
      <p:sp>
        <p:nvSpPr>
          <p:cNvPr id="8" name="insIT_25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le frasi della storia. Quale uso?</a:t>
            </a:r>
            <a:endParaRPr lang="en-US" sz="950" dirty="0"/>
          </a:p>
        </p:txBody>
      </p:sp>
      <p:sp>
        <p:nvSpPr>
          <p:cNvPr id="9" name="cmd_255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👀 </a:t>
            </a:r>
            <a:pPr algn="ctr" indent="0" marL="0">
              <a:buNone/>
            </a:pPr>
            <a:r>
              <a:rPr lang="en-US" sz="9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→  </a:t>
            </a:r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🔗 </a:t>
            </a:r>
            <a:pPr algn="ctr" indent="0" marL="0">
              <a:buNone/>
            </a:pPr>
            <a:r>
              <a:rPr lang="en-US" sz="9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MATCH</a:t>
            </a:r>
            <a:endParaRPr lang="en-US" sz="950" dirty="0"/>
          </a:p>
        </p:txBody>
      </p:sp>
      <p:sp>
        <p:nvSpPr>
          <p:cNvPr id="10" name="meta_256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1" name="tag_257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Guided discovery</a:t>
            </a:r>
            <a:endParaRPr lang="en-US" sz="750" dirty="0"/>
          </a:p>
        </p:txBody>
      </p:sp>
      <p:pic>
        <p:nvPicPr>
          <p:cNvPr id="12" name="logo_25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5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Grammar · past continuous   ·   📖 SB p.17 · 3a (answers: TG)</a:t>
            </a:r>
            <a:endParaRPr lang="en-US" sz="800" dirty="0"/>
          </a:p>
        </p:txBody>
      </p:sp>
      <p:sp>
        <p:nvSpPr>
          <p:cNvPr id="14" name="cd_260"/>
          <p:cNvSpPr/>
          <p:nvPr/>
        </p:nvSpPr>
        <p:spPr>
          <a:xfrm>
            <a:off x="320040" y="1417320"/>
            <a:ext cx="2697480" cy="1527048"/>
          </a:xfrm>
          <a:prstGeom prst="roundRect">
            <a:avLst>
              <a:gd name="adj" fmla="val 8383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261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6" name="ih_262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Two uses</a:t>
            </a:r>
            <a:endParaRPr lang="en-US" sz="1300" dirty="0"/>
          </a:p>
        </p:txBody>
      </p:sp>
      <p:sp>
        <p:nvSpPr>
          <p:cNvPr id="17" name="lg_263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D96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🎬 the scene</a:t>
            </a:r>
            <a:endParaRPr lang="en-US" sz="1050" dirty="0"/>
          </a:p>
        </p:txBody>
      </p:sp>
      <p:sp>
        <p:nvSpPr>
          <p:cNvPr id="18" name="lg_264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⏸ in progress</a:t>
            </a:r>
            <a:endParaRPr lang="en-US" sz="1050" dirty="0"/>
          </a:p>
        </p:txBody>
      </p:sp>
      <p:sp>
        <p:nvSpPr>
          <p:cNvPr id="19" name="sq_265"/>
          <p:cNvSpPr/>
          <p:nvPr/>
        </p:nvSpPr>
        <p:spPr>
          <a:xfrm>
            <a:off x="3246120" y="141732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 1972, I </a:t>
            </a:r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 living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in London.</a:t>
            </a:r>
            <a:endParaRPr lang="en-US" sz="1200" dirty="0"/>
          </a:p>
        </p:txBody>
      </p:sp>
      <p:sp>
        <p:nvSpPr>
          <p:cNvPr id="20" name="R1_tag266"/>
          <p:cNvSpPr/>
          <p:nvPr/>
        </p:nvSpPr>
        <p:spPr>
          <a:xfrm>
            <a:off x="7178040" y="141732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FD96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🎬 the scene</a:t>
            </a:r>
            <a:endParaRPr lang="en-US" sz="1150" dirty="0"/>
          </a:p>
        </p:txBody>
      </p:sp>
      <p:sp>
        <p:nvSpPr>
          <p:cNvPr id="21" name="sq_267"/>
          <p:cNvSpPr/>
          <p:nvPr/>
        </p:nvSpPr>
        <p:spPr>
          <a:xfrm>
            <a:off x="3246120" y="1956816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</a:t>
            </a:r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 working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for an advertising agency.</a:t>
            </a:r>
            <a:endParaRPr lang="en-US" sz="1200" dirty="0"/>
          </a:p>
        </p:txBody>
      </p:sp>
      <p:sp>
        <p:nvSpPr>
          <p:cNvPr id="22" name="R2_tag268"/>
          <p:cNvSpPr/>
          <p:nvPr/>
        </p:nvSpPr>
        <p:spPr>
          <a:xfrm>
            <a:off x="7178040" y="1956816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FD96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🎬 the scene</a:t>
            </a:r>
            <a:endParaRPr lang="en-US" sz="1150" dirty="0"/>
          </a:p>
        </p:txBody>
      </p:sp>
      <p:sp>
        <p:nvSpPr>
          <p:cNvPr id="23" name="sq_269"/>
          <p:cNvSpPr/>
          <p:nvPr/>
        </p:nvSpPr>
        <p:spPr>
          <a:xfrm>
            <a:off x="3246120" y="2496312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 </a:t>
            </a:r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were walking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in the gardens when we stopped.</a:t>
            </a:r>
            <a:endParaRPr lang="en-US" sz="1200" dirty="0"/>
          </a:p>
        </p:txBody>
      </p:sp>
      <p:sp>
        <p:nvSpPr>
          <p:cNvPr id="24" name="R3_tag270"/>
          <p:cNvSpPr/>
          <p:nvPr/>
        </p:nvSpPr>
        <p:spPr>
          <a:xfrm>
            <a:off x="7178040" y="2496312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⏸ in progress</a:t>
            </a:r>
            <a:endParaRPr lang="en-US" sz="1150" dirty="0"/>
          </a:p>
        </p:txBody>
      </p:sp>
      <p:sp>
        <p:nvSpPr>
          <p:cNvPr id="25" name="sq_271"/>
          <p:cNvSpPr/>
          <p:nvPr/>
        </p:nvSpPr>
        <p:spPr>
          <a:xfrm>
            <a:off x="3246120" y="3035808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Some little birds </a:t>
            </a:r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were attacking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an owl.</a:t>
            </a:r>
            <a:endParaRPr lang="en-US" sz="1200" dirty="0"/>
          </a:p>
        </p:txBody>
      </p:sp>
      <p:sp>
        <p:nvSpPr>
          <p:cNvPr id="26" name="R4_tag272"/>
          <p:cNvSpPr/>
          <p:nvPr/>
        </p:nvSpPr>
        <p:spPr>
          <a:xfrm>
            <a:off x="7178040" y="3035808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⏸ in progress</a:t>
            </a:r>
            <a:endParaRPr lang="en-US" sz="1150" dirty="0"/>
          </a:p>
        </p:txBody>
      </p:sp>
      <p:sp>
        <p:nvSpPr>
          <p:cNvPr id="27" name="sq_273"/>
          <p:cNvSpPr/>
          <p:nvPr/>
        </p:nvSpPr>
        <p:spPr>
          <a:xfrm>
            <a:off x="3246120" y="3575304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'Why </a:t>
            </a:r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that man </a:t>
            </a:r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taking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photos of us?'</a:t>
            </a:r>
            <a:endParaRPr lang="en-US" sz="1200" dirty="0"/>
          </a:p>
        </p:txBody>
      </p:sp>
      <p:sp>
        <p:nvSpPr>
          <p:cNvPr id="28" name="R5_tag274"/>
          <p:cNvSpPr/>
          <p:nvPr/>
        </p:nvSpPr>
        <p:spPr>
          <a:xfrm>
            <a:off x="7178040" y="3575304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⏸ in progress</a:t>
            </a:r>
            <a:endParaRPr lang="en-US" sz="1150" dirty="0"/>
          </a:p>
        </p:txBody>
      </p:sp>
      <p:sp>
        <p:nvSpPr>
          <p:cNvPr id="29" name="pf_275"/>
          <p:cNvSpPr/>
          <p:nvPr/>
        </p:nvSpPr>
        <p:spPr>
          <a:xfrm rot="-120000">
            <a:off x="1319071" y="3703320"/>
            <a:ext cx="699419" cy="1005840"/>
          </a:xfrm>
          <a:prstGeom prst="roundRect">
            <a:avLst>
              <a:gd name="adj" fmla="val 2222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0" name="ph_276" descr="/home/claude/lls-course/v2/cache/a2_2b_couple_jpg_146x220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1364791" y="3749040"/>
            <a:ext cx="607979" cy="9144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7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</a:t>
            </a:r>
            <a:endParaRPr lang="en-US" sz="2200" dirty="0"/>
          </a:p>
        </p:txBody>
      </p:sp>
      <p:pic>
        <p:nvPicPr>
          <p:cNvPr id="4" name="brY_27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279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 was walking when…</a:t>
            </a:r>
            <a:endParaRPr lang="en-US" sz="2400" dirty="0"/>
          </a:p>
        </p:txBody>
      </p:sp>
      <p:pic>
        <p:nvPicPr>
          <p:cNvPr id="6" name="brP_28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2295144" cy="402336"/>
          </a:xfrm>
          <a:prstGeom prst="rect">
            <a:avLst/>
          </a:prstGeom>
        </p:spPr>
      </p:pic>
      <p:sp>
        <p:nvSpPr>
          <p:cNvPr id="7" name="ins_281"/>
          <p:cNvSpPr/>
          <p:nvPr/>
        </p:nvSpPr>
        <p:spPr>
          <a:xfrm>
            <a:off x="1353312" y="731520"/>
            <a:ext cx="2039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do we make it?</a:t>
            </a:r>
            <a:endParaRPr lang="en-US" sz="1250" dirty="0"/>
          </a:p>
        </p:txBody>
      </p:sp>
      <p:sp>
        <p:nvSpPr>
          <p:cNvPr id="8" name="insIT_28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Come si forma?</a:t>
            </a:r>
            <a:endParaRPr lang="en-US" sz="950" dirty="0"/>
          </a:p>
        </p:txBody>
      </p:sp>
      <p:sp>
        <p:nvSpPr>
          <p:cNvPr id="9" name="cmd_283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👀 </a:t>
            </a:r>
            <a:pPr algn="ctr"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LOOK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GUARDA</a:t>
            </a:r>
            <a:endParaRPr lang="en-US" sz="950" dirty="0"/>
          </a:p>
        </p:txBody>
      </p:sp>
      <p:sp>
        <p:nvSpPr>
          <p:cNvPr id="10" name="meta_284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950" dirty="0"/>
          </a:p>
        </p:txBody>
      </p:sp>
      <p:sp>
        <p:nvSpPr>
          <p:cNvPr id="11" name="tag_285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Guided discovery</a:t>
            </a:r>
            <a:endParaRPr lang="en-US" sz="750" dirty="0"/>
          </a:p>
        </p:txBody>
      </p:sp>
      <p:pic>
        <p:nvPicPr>
          <p:cNvPr id="12" name="logo_28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8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Grammar · past continuous   ·   📖 Grammar Bank 2B p.128 · audio 2.11, 2.12 (play from the book)</a:t>
            </a:r>
            <a:endParaRPr lang="en-US" sz="800" dirty="0"/>
          </a:p>
        </p:txBody>
      </p:sp>
      <p:sp>
        <p:nvSpPr>
          <p:cNvPr id="14" name="cd_288"/>
          <p:cNvSpPr/>
          <p:nvPr/>
        </p:nvSpPr>
        <p:spPr>
          <a:xfrm>
            <a:off x="3200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rh_289"/>
          <p:cNvSpPr/>
          <p:nvPr/>
        </p:nvSpPr>
        <p:spPr>
          <a:xfrm>
            <a:off x="4297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</a:t>
            </a:r>
            <a:endParaRPr lang="en-US" sz="1250" dirty="0"/>
          </a:p>
        </p:txBody>
      </p:sp>
      <p:sp>
        <p:nvSpPr>
          <p:cNvPr id="16" name="pf_290"/>
          <p:cNvSpPr/>
          <p:nvPr/>
        </p:nvSpPr>
        <p:spPr>
          <a:xfrm>
            <a:off x="1002800" y="1938528"/>
            <a:ext cx="669020" cy="960120"/>
          </a:xfrm>
          <a:prstGeom prst="roundRect">
            <a:avLst>
              <a:gd name="adj" fmla="val 232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7" name="ph_291" descr="/home/claude/lls-course/v2/cache/a2_2b_couple_jpg_139x20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8520" y="1984248"/>
            <a:ext cx="577580" cy="868680"/>
          </a:xfrm>
          <a:prstGeom prst="rect">
            <a:avLst/>
          </a:prstGeom>
        </p:spPr>
      </p:pic>
      <p:sp>
        <p:nvSpPr>
          <p:cNvPr id="18" name="ru_292"/>
          <p:cNvSpPr/>
          <p:nvPr/>
        </p:nvSpPr>
        <p:spPr>
          <a:xfrm>
            <a:off x="4114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was / were + -ing</a:t>
            </a:r>
            <a:endParaRPr lang="en-US" sz="1050" dirty="0"/>
          </a:p>
        </p:txBody>
      </p:sp>
      <p:sp>
        <p:nvSpPr>
          <p:cNvPr id="19" name="R1_rx293"/>
          <p:cNvSpPr/>
          <p:nvPr/>
        </p:nvSpPr>
        <p:spPr>
          <a:xfrm>
            <a:off x="4114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</a:t>
            </a:r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 living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in London.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They </a:t>
            </a:r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were walking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1050" dirty="0"/>
          </a:p>
        </p:txBody>
      </p:sp>
      <p:sp>
        <p:nvSpPr>
          <p:cNvPr id="20" name="R1_ri294"/>
          <p:cNvSpPr/>
          <p:nvPr/>
        </p:nvSpPr>
        <p:spPr>
          <a:xfrm>
            <a:off x="4114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ero / stavo + -ando</a:t>
            </a:r>
            <a:endParaRPr lang="en-US" sz="900" dirty="0"/>
          </a:p>
        </p:txBody>
      </p:sp>
      <p:sp>
        <p:nvSpPr>
          <p:cNvPr id="21" name="cd_295"/>
          <p:cNvSpPr/>
          <p:nvPr/>
        </p:nvSpPr>
        <p:spPr>
          <a:xfrm>
            <a:off x="24917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2" name="rh_296"/>
          <p:cNvSpPr/>
          <p:nvPr/>
        </p:nvSpPr>
        <p:spPr>
          <a:xfrm>
            <a:off x="26014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−</a:t>
            </a:r>
            <a:endParaRPr lang="en-US" sz="1250" dirty="0"/>
          </a:p>
        </p:txBody>
      </p:sp>
      <p:sp>
        <p:nvSpPr>
          <p:cNvPr id="23" name="pf_297"/>
          <p:cNvSpPr/>
          <p:nvPr/>
        </p:nvSpPr>
        <p:spPr>
          <a:xfrm>
            <a:off x="2956560" y="1938528"/>
            <a:ext cx="1104900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4" name="ph_298" descr="/home/claude/lls-course/v2/cache/a2_2b_anya_d_jpg_244x209_3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02280" y="1984248"/>
            <a:ext cx="1013460" cy="868680"/>
          </a:xfrm>
          <a:prstGeom prst="rect">
            <a:avLst/>
          </a:prstGeom>
        </p:spPr>
      </p:pic>
      <p:sp>
        <p:nvSpPr>
          <p:cNvPr id="25" name="ru_299"/>
          <p:cNvSpPr/>
          <p:nvPr/>
        </p:nvSpPr>
        <p:spPr>
          <a:xfrm>
            <a:off x="25831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wasn't / weren't + -ing</a:t>
            </a:r>
            <a:endParaRPr lang="en-US" sz="1050" dirty="0"/>
          </a:p>
        </p:txBody>
      </p:sp>
      <p:sp>
        <p:nvSpPr>
          <p:cNvPr id="26" name="R2_rx300"/>
          <p:cNvSpPr/>
          <p:nvPr/>
        </p:nvSpPr>
        <p:spPr>
          <a:xfrm>
            <a:off x="25831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</a:t>
            </a:r>
            <a:pPr algn="ctr" indent="0" marL="0">
              <a:buNone/>
            </a:pPr>
            <a:r>
              <a:rPr lang="en-US" sz="10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wasn't working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 </a:t>
            </a:r>
            <a:pPr algn="ctr" indent="0" marL="0">
              <a:buNone/>
            </a:pPr>
            <a:r>
              <a:rPr lang="en-US" sz="10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weren't listening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1050" dirty="0"/>
          </a:p>
        </p:txBody>
      </p:sp>
      <p:sp>
        <p:nvSpPr>
          <p:cNvPr id="27" name="R2_ri301"/>
          <p:cNvSpPr/>
          <p:nvPr/>
        </p:nvSpPr>
        <p:spPr>
          <a:xfrm>
            <a:off x="25831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non stavo…</a:t>
            </a:r>
            <a:endParaRPr lang="en-US" sz="900" dirty="0"/>
          </a:p>
        </p:txBody>
      </p:sp>
      <p:sp>
        <p:nvSpPr>
          <p:cNvPr id="28" name="cd_302"/>
          <p:cNvSpPr/>
          <p:nvPr/>
        </p:nvSpPr>
        <p:spPr>
          <a:xfrm>
            <a:off x="46634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9" name="rh_303"/>
          <p:cNvSpPr/>
          <p:nvPr/>
        </p:nvSpPr>
        <p:spPr>
          <a:xfrm>
            <a:off x="47731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2EB872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?</a:t>
            </a:r>
            <a:endParaRPr lang="en-US" sz="1250" dirty="0"/>
          </a:p>
        </p:txBody>
      </p:sp>
      <p:sp>
        <p:nvSpPr>
          <p:cNvPr id="30" name="pf_304"/>
          <p:cNvSpPr/>
          <p:nvPr/>
        </p:nvSpPr>
        <p:spPr>
          <a:xfrm>
            <a:off x="5113020" y="1938528"/>
            <a:ext cx="1135380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1" name="ph_305" descr="/home/claude/lls-course/v2/cache/a2_2b_anya_f_jpg_251x209_31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58740" y="1984248"/>
            <a:ext cx="1043940" cy="868680"/>
          </a:xfrm>
          <a:prstGeom prst="rect">
            <a:avLst/>
          </a:prstGeom>
        </p:spPr>
      </p:pic>
      <p:sp>
        <p:nvSpPr>
          <p:cNvPr id="32" name="ru_306"/>
          <p:cNvSpPr/>
          <p:nvPr/>
        </p:nvSpPr>
        <p:spPr>
          <a:xfrm>
            <a:off x="47548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Was / Were + person + -ing?</a:t>
            </a:r>
            <a:endParaRPr lang="en-US" sz="1050" dirty="0"/>
          </a:p>
        </p:txBody>
      </p:sp>
      <p:sp>
        <p:nvSpPr>
          <p:cNvPr id="33" name="R3_rx307"/>
          <p:cNvSpPr/>
          <p:nvPr/>
        </p:nvSpPr>
        <p:spPr>
          <a:xfrm>
            <a:off x="47548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</a:t>
            </a:r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were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you </a:t>
            </a:r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doing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?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it </a:t>
            </a:r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raining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? – Yes, it </a:t>
            </a:r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1050" dirty="0"/>
          </a:p>
        </p:txBody>
      </p:sp>
      <p:sp>
        <p:nvSpPr>
          <p:cNvPr id="34" name="R3_ri308"/>
          <p:cNvSpPr/>
          <p:nvPr/>
        </p:nvSpPr>
        <p:spPr>
          <a:xfrm>
            <a:off x="47548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Cosa stavi facendo?</a:t>
            </a:r>
            <a:endParaRPr lang="en-US" sz="900" dirty="0"/>
          </a:p>
        </p:txBody>
      </p:sp>
      <p:sp>
        <p:nvSpPr>
          <p:cNvPr id="35" name="cd_309"/>
          <p:cNvSpPr/>
          <p:nvPr/>
        </p:nvSpPr>
        <p:spPr>
          <a:xfrm>
            <a:off x="68351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6" name="rh_310"/>
          <p:cNvSpPr/>
          <p:nvPr/>
        </p:nvSpPr>
        <p:spPr>
          <a:xfrm>
            <a:off x="69448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when / while</a:t>
            </a:r>
            <a:endParaRPr lang="en-US" sz="1250" dirty="0"/>
          </a:p>
        </p:txBody>
      </p:sp>
      <p:sp>
        <p:nvSpPr>
          <p:cNvPr id="37" name="pf_311"/>
          <p:cNvSpPr/>
          <p:nvPr/>
        </p:nvSpPr>
        <p:spPr>
          <a:xfrm>
            <a:off x="7293719" y="1938528"/>
            <a:ext cx="1117381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8" name="ph_312" descr="/home/claude/lls-course/v2/cache/a2_2b_anya_c_jpg_247x209_31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39439" y="1984248"/>
            <a:ext cx="1025941" cy="868680"/>
          </a:xfrm>
          <a:prstGeom prst="rect">
            <a:avLst/>
          </a:prstGeom>
        </p:spPr>
      </p:pic>
      <p:sp>
        <p:nvSpPr>
          <p:cNvPr id="39" name="ru_313"/>
          <p:cNvSpPr/>
          <p:nvPr/>
        </p:nvSpPr>
        <p:spPr>
          <a:xfrm>
            <a:off x="69265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long action + short action</a:t>
            </a:r>
            <a:endParaRPr lang="en-US" sz="1050" dirty="0"/>
          </a:p>
        </p:txBody>
      </p:sp>
      <p:sp>
        <p:nvSpPr>
          <p:cNvPr id="40" name="R4_rx314"/>
          <p:cNvSpPr/>
          <p:nvPr/>
        </p:nvSpPr>
        <p:spPr>
          <a:xfrm>
            <a:off x="69265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 </a:t>
            </a:r>
            <a:pPr algn="ctr" indent="0" marL="0">
              <a:buNone/>
            </a:pPr>
            <a:r>
              <a:rPr lang="en-US" sz="1050" b="1" dirty="0">
                <a:solidFill>
                  <a:srgbClr val="F2B705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were walking when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we </a:t>
            </a:r>
            <a:pPr algn="ctr" indent="0" marL="0">
              <a:buNone/>
            </a:pPr>
            <a:r>
              <a:rPr lang="en-US" sz="1050" b="1" dirty="0">
                <a:solidFill>
                  <a:srgbClr val="F2B705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saw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an owl.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2B705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While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 </a:t>
            </a:r>
            <a:pPr algn="ctr" indent="0" marL="0">
              <a:buNone/>
            </a:pPr>
            <a:r>
              <a:rPr lang="en-US" sz="1050" b="1" dirty="0">
                <a:solidFill>
                  <a:srgbClr val="F2B705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 sleeping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, the phone </a:t>
            </a:r>
            <a:pPr algn="ctr" indent="0" marL="0">
              <a:buNone/>
            </a:pPr>
            <a:r>
              <a:rPr lang="en-US" sz="1050" b="1" dirty="0">
                <a:solidFill>
                  <a:srgbClr val="F2B705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rang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1050" dirty="0"/>
          </a:p>
        </p:txBody>
      </p:sp>
      <p:sp>
        <p:nvSpPr>
          <p:cNvPr id="41" name="R4_ri315"/>
          <p:cNvSpPr/>
          <p:nvPr/>
        </p:nvSpPr>
        <p:spPr>
          <a:xfrm>
            <a:off x="69265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azione lunga (continuous) + breve (simple)</a:t>
            </a:r>
            <a:endParaRPr lang="en-US" sz="750" dirty="0"/>
          </a:p>
        </p:txBody>
      </p:sp>
      <p:sp>
        <p:nvSpPr>
          <p:cNvPr id="42" name="R5_wc316"/>
          <p:cNvSpPr/>
          <p:nvPr/>
        </p:nvSpPr>
        <p:spPr>
          <a:xfrm>
            <a:off x="320040" y="4544568"/>
            <a:ext cx="8549640" cy="329184"/>
          </a:xfrm>
          <a:prstGeom prst="roundRect">
            <a:avLst>
              <a:gd name="adj" fmla="val 38889"/>
            </a:avLst>
          </a:prstGeom>
          <a:solidFill>
            <a:srgbClr val="FFE3EE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3" name="R5_w317"/>
          <p:cNvSpPr/>
          <p:nvPr/>
        </p:nvSpPr>
        <p:spPr>
          <a:xfrm>
            <a:off x="457200" y="4544568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✗ When I was arriving, they were eating → ✓ When I arrived, they were eating (the short action = past simple)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1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11</a:t>
            </a:r>
            <a:endParaRPr lang="en-US" sz="2200" dirty="0"/>
          </a:p>
        </p:txBody>
      </p:sp>
      <p:pic>
        <p:nvPicPr>
          <p:cNvPr id="4" name="brY_31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191610" cy="621792"/>
          </a:xfrm>
          <a:prstGeom prst="rect">
            <a:avLst/>
          </a:prstGeom>
        </p:spPr>
      </p:pic>
      <p:sp>
        <p:nvSpPr>
          <p:cNvPr id="5" name="title_320"/>
          <p:cNvSpPr/>
          <p:nvPr/>
        </p:nvSpPr>
        <p:spPr>
          <a:xfrm>
            <a:off x="1261872" y="164592"/>
            <a:ext cx="39172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Luca's terrible Sunday</a:t>
            </a:r>
            <a:endParaRPr lang="en-US" sz="2500" dirty="0"/>
          </a:p>
        </p:txBody>
      </p:sp>
      <p:pic>
        <p:nvPicPr>
          <p:cNvPr id="6" name="brP_32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322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to the story. Answer the questions!</a:t>
            </a:r>
            <a:endParaRPr lang="en-US" sz="1250" dirty="0"/>
          </a:p>
        </p:txBody>
      </p:sp>
      <p:sp>
        <p:nvSpPr>
          <p:cNvPr id="8" name="insIT_32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 la storia. Rispondi alle domande!</a:t>
            </a:r>
            <a:endParaRPr lang="en-US" sz="950" dirty="0"/>
          </a:p>
        </p:txBody>
      </p:sp>
      <p:sp>
        <p:nvSpPr>
          <p:cNvPr id="9" name="cmd_324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👀 </a:t>
            </a:r>
            <a:pPr algn="ctr" indent="0" marL="0">
              <a:buNone/>
            </a:pPr>
            <a:r>
              <a:rPr lang="en-US" sz="9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→  </a:t>
            </a:r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💬 </a:t>
            </a:r>
            <a:pPr algn="ctr" indent="0" marL="0">
              <a:buNone/>
            </a:pPr>
            <a:r>
              <a:rPr lang="en-US" sz="9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endParaRPr lang="en-US" sz="950" dirty="0"/>
          </a:p>
        </p:txBody>
      </p:sp>
      <p:sp>
        <p:nvSpPr>
          <p:cNvPr id="10" name="meta_325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🙋 whole class</a:t>
            </a:r>
            <a:endParaRPr lang="en-US" sz="950" dirty="0"/>
          </a:p>
        </p:txBody>
      </p:sp>
      <p:sp>
        <p:nvSpPr>
          <p:cNvPr id="11" name="tag_326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story</a:t>
            </a:r>
            <a:endParaRPr lang="en-US" sz="850" dirty="0"/>
          </a:p>
        </p:txBody>
      </p:sp>
      <p:pic>
        <p:nvPicPr>
          <p:cNvPr id="12" name="logo_32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2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Speaking · class story (TPRS)</a:t>
            </a:r>
            <a:endParaRPr lang="en-US" sz="800" dirty="0"/>
          </a:p>
        </p:txBody>
      </p:sp>
      <p:sp>
        <p:nvSpPr>
          <p:cNvPr id="14" name="cd_329"/>
          <p:cNvSpPr/>
          <p:nvPr/>
        </p:nvSpPr>
        <p:spPr>
          <a:xfrm>
            <a:off x="320040" y="1417320"/>
            <a:ext cx="2697480" cy="3226816"/>
          </a:xfrm>
          <a:prstGeom prst="roundRect">
            <a:avLst>
              <a:gd name="adj" fmla="val 4746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330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🔑</a:t>
            </a:r>
            <a:endParaRPr lang="en-US" sz="2200" dirty="0"/>
          </a:p>
        </p:txBody>
      </p:sp>
      <p:sp>
        <p:nvSpPr>
          <p:cNvPr id="16" name="ih_331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Story phrases</a:t>
            </a:r>
            <a:endParaRPr lang="en-US" sz="1300" dirty="0"/>
          </a:p>
        </p:txBody>
      </p:sp>
      <p:sp>
        <p:nvSpPr>
          <p:cNvPr id="17" name="il_332"/>
          <p:cNvSpPr/>
          <p:nvPr/>
        </p:nvSpPr>
        <p:spPr>
          <a:xfrm>
            <a:off x="886968" y="1911096"/>
            <a:ext cx="2039112" cy="2659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 sleeping</a:t>
            </a:r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stava dormendo</a:t>
            </a:r>
            <a:endParaRPr lang="en-US" sz="11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 running</a:t>
            </a:r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stava correndo</a:t>
            </a:r>
            <a:endParaRPr lang="en-US" sz="11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were looking at</a:t>
            </a:r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stavano guardando</a:t>
            </a:r>
            <a:endParaRPr lang="en-US" sz="11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 wearing</a:t>
            </a:r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indossava</a:t>
            </a:r>
            <a:endParaRPr lang="en-US" sz="11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when + past simple</a:t>
            </a:r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quando + passato</a:t>
            </a:r>
            <a:endParaRPr lang="en-US" sz="11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while + was / were -ing</a:t>
            </a:r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mentre…</a:t>
            </a:r>
            <a:endParaRPr lang="en-US" sz="1150" dirty="0"/>
          </a:p>
        </p:txBody>
      </p:sp>
      <p:sp>
        <p:nvSpPr>
          <p:cNvPr id="18" name="R1_sb333"/>
          <p:cNvSpPr/>
          <p:nvPr/>
        </p:nvSpPr>
        <p:spPr>
          <a:xfrm>
            <a:off x="3200400" y="1453896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R1_sl334"/>
          <p:cNvSpPr/>
          <p:nvPr/>
        </p:nvSpPr>
        <p:spPr>
          <a:xfrm>
            <a:off x="3584448" y="14173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Last Sunday at 8 o'clock, Luca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 sleeping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in bed.</a:t>
            </a:r>
            <a:endParaRPr lang="en-US" sz="12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Was Luca sleeping or working? · Where was he sleeping?</a:t>
            </a:r>
            <a:endParaRPr lang="en-US" sz="1250" dirty="0"/>
          </a:p>
        </p:txBody>
      </p:sp>
      <p:sp>
        <p:nvSpPr>
          <p:cNvPr id="20" name="R2_sb335"/>
          <p:cNvSpPr/>
          <p:nvPr/>
        </p:nvSpPr>
        <p:spPr>
          <a:xfrm>
            <a:off x="3200400" y="2017776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R2_sl336"/>
          <p:cNvSpPr/>
          <p:nvPr/>
        </p:nvSpPr>
        <p:spPr>
          <a:xfrm>
            <a:off x="3584448" y="198120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While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he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 sleeping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, his phone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rang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 It was his boss!</a:t>
            </a:r>
            <a:endParaRPr lang="en-US" sz="12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Was he sleeping when the phone rang? · Who was it?</a:t>
            </a:r>
            <a:endParaRPr lang="en-US" sz="1250" dirty="0"/>
          </a:p>
        </p:txBody>
      </p:sp>
      <p:sp>
        <p:nvSpPr>
          <p:cNvPr id="22" name="R3_sb337"/>
          <p:cNvSpPr/>
          <p:nvPr/>
        </p:nvSpPr>
        <p:spPr>
          <a:xfrm>
            <a:off x="3200400" y="2581656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R3_sl338"/>
          <p:cNvSpPr/>
          <p:nvPr/>
        </p:nvSpPr>
        <p:spPr>
          <a:xfrm>
            <a:off x="3584448" y="254508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Luca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 running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to the station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when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it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started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to rain.</a:t>
            </a:r>
            <a:endParaRPr lang="en-US" sz="12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Was he walking or running? · What happened?</a:t>
            </a:r>
            <a:endParaRPr lang="en-US" sz="1250" dirty="0"/>
          </a:p>
        </p:txBody>
      </p:sp>
      <p:sp>
        <p:nvSpPr>
          <p:cNvPr id="24" name="R4_sb339"/>
          <p:cNvSpPr/>
          <p:nvPr/>
        </p:nvSpPr>
        <p:spPr>
          <a:xfrm>
            <a:off x="3200400" y="3145536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R4_sl340"/>
          <p:cNvSpPr/>
          <p:nvPr/>
        </p:nvSpPr>
        <p:spPr>
          <a:xfrm>
            <a:off x="3584448" y="310896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 the train, everybody </a:t>
            </a:r>
            <a:pPr indent="0" marL="0">
              <a:buNone/>
            </a:pPr>
            <a:r>
              <a:rPr lang="en-US" sz="10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 looking</a:t>
            </a:r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at him. He </a:t>
            </a:r>
            <a:pPr indent="0" marL="0">
              <a:buNone/>
            </a:pPr>
            <a:r>
              <a:rPr lang="en-US" sz="10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 wearing</a:t>
            </a:r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his pyjamas!</a:t>
            </a:r>
            <a:endParaRPr lang="en-US" sz="1000" dirty="0"/>
          </a:p>
          <a:p>
            <a:pPr indent="0" marL="0">
              <a:buNone/>
            </a:pPr>
            <a:r>
              <a:rPr lang="en-US" sz="7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What were people doing? · What was he wearing?</a:t>
            </a:r>
            <a:endParaRPr lang="en-US" sz="1000" dirty="0"/>
          </a:p>
        </p:txBody>
      </p:sp>
      <p:sp>
        <p:nvSpPr>
          <p:cNvPr id="26" name="R5_sb341"/>
          <p:cNvSpPr/>
          <p:nvPr/>
        </p:nvSpPr>
        <p:spPr>
          <a:xfrm>
            <a:off x="3200400" y="3709416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R5_sl342"/>
          <p:cNvSpPr/>
          <p:nvPr/>
        </p:nvSpPr>
        <p:spPr>
          <a:xfrm>
            <a:off x="3584448" y="367284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 work his boss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 laughing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: 'Luca… today is Sunday!'</a:t>
            </a:r>
            <a:endParaRPr lang="en-US" sz="12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Was the boss angry or laughing? · What day was it?</a:t>
            </a:r>
            <a:endParaRPr lang="en-US" sz="1250" dirty="0"/>
          </a:p>
        </p:txBody>
      </p:sp>
      <p:sp>
        <p:nvSpPr>
          <p:cNvPr id="28" name="R6_sb343"/>
          <p:cNvSpPr/>
          <p:nvPr/>
        </p:nvSpPr>
        <p:spPr>
          <a:xfrm>
            <a:off x="3200400" y="4273296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29" name="R6_sl344"/>
          <p:cNvSpPr/>
          <p:nvPr/>
        </p:nvSpPr>
        <p:spPr>
          <a:xfrm>
            <a:off x="3584448" y="42367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And you? What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were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you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doing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last Sunday at 8 o'clock?</a:t>
            </a:r>
            <a:endParaRPr lang="en-US" sz="12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Were you sleeping? · Were you working?</a:t>
            </a:r>
            <a:endParaRPr lang="en-US" sz="12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4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12</a:t>
            </a:r>
            <a:endParaRPr lang="en-US" sz="2200" dirty="0"/>
          </a:p>
        </p:txBody>
      </p:sp>
      <p:pic>
        <p:nvPicPr>
          <p:cNvPr id="4" name="brY_34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877056" cy="621792"/>
          </a:xfrm>
          <a:prstGeom prst="rect">
            <a:avLst/>
          </a:prstGeom>
        </p:spPr>
      </p:pic>
      <p:sp>
        <p:nvSpPr>
          <p:cNvPr id="5" name="title_347"/>
          <p:cNvSpPr/>
          <p:nvPr/>
        </p:nvSpPr>
        <p:spPr>
          <a:xfrm>
            <a:off x="1261872" y="164592"/>
            <a:ext cx="3602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Retell Luca's story!</a:t>
            </a:r>
            <a:endParaRPr lang="en-US" sz="2500" dirty="0"/>
          </a:p>
        </p:txBody>
      </p:sp>
      <p:pic>
        <p:nvPicPr>
          <p:cNvPr id="6" name="brP_34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349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Retell Luca's story to your partner. Use the prompts!</a:t>
            </a:r>
            <a:endParaRPr lang="en-US" sz="1250" dirty="0"/>
          </a:p>
        </p:txBody>
      </p:sp>
      <p:sp>
        <p:nvSpPr>
          <p:cNvPr id="8" name="insIT_35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Racconta la storia di Luca al compagno. Usa gli spunti!</a:t>
            </a:r>
            <a:endParaRPr lang="en-US" sz="950" dirty="0"/>
          </a:p>
        </p:txBody>
      </p:sp>
      <p:sp>
        <p:nvSpPr>
          <p:cNvPr id="9" name="cmd_351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💬 </a:t>
            </a:r>
            <a:pPr algn="ctr" indent="0" marL="0">
              <a:buNone/>
            </a:pPr>
            <a:r>
              <a:rPr lang="en-US" sz="9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950" dirty="0"/>
          </a:p>
        </p:txBody>
      </p:sp>
      <p:sp>
        <p:nvSpPr>
          <p:cNvPr id="10" name="meta_352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1" name="tag_353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retell</a:t>
            </a:r>
            <a:endParaRPr lang="en-US" sz="850" dirty="0"/>
          </a:p>
        </p:txBody>
      </p:sp>
      <p:pic>
        <p:nvPicPr>
          <p:cNvPr id="12" name="logo_35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5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Speaking · retell (TPRS)</a:t>
            </a:r>
            <a:endParaRPr lang="en-US" sz="800" dirty="0"/>
          </a:p>
        </p:txBody>
      </p:sp>
      <p:sp>
        <p:nvSpPr>
          <p:cNvPr id="14" name="cd_356"/>
          <p:cNvSpPr/>
          <p:nvPr/>
        </p:nvSpPr>
        <p:spPr>
          <a:xfrm>
            <a:off x="320040" y="1417320"/>
            <a:ext cx="2697480" cy="2063496"/>
          </a:xfrm>
          <a:prstGeom prst="roundRect">
            <a:avLst>
              <a:gd name="adj" fmla="val 6204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357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🔑</a:t>
            </a:r>
            <a:endParaRPr lang="en-US" sz="2200" dirty="0"/>
          </a:p>
        </p:txBody>
      </p:sp>
      <p:sp>
        <p:nvSpPr>
          <p:cNvPr id="16" name="ih_358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Story phrases</a:t>
            </a:r>
            <a:endParaRPr lang="en-US" sz="1300" dirty="0"/>
          </a:p>
        </p:txBody>
      </p:sp>
      <p:sp>
        <p:nvSpPr>
          <p:cNvPr id="17" name="il_359"/>
          <p:cNvSpPr/>
          <p:nvPr/>
        </p:nvSpPr>
        <p:spPr>
          <a:xfrm>
            <a:off x="886968" y="1911096"/>
            <a:ext cx="2039112" cy="14965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 / were + -ing</a:t>
            </a:r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the long action</a:t>
            </a:r>
            <a:endParaRPr lang="en-US" sz="11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when + past simple</a:t>
            </a:r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the short action</a:t>
            </a:r>
            <a:endParaRPr lang="en-US" sz="11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while + was / were -ing</a:t>
            </a:r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mentre…</a:t>
            </a:r>
            <a:endParaRPr lang="en-US" sz="1150" dirty="0"/>
          </a:p>
        </p:txBody>
      </p:sp>
      <p:sp>
        <p:nvSpPr>
          <p:cNvPr id="18" name="R1_sb360"/>
          <p:cNvSpPr/>
          <p:nvPr/>
        </p:nvSpPr>
        <p:spPr>
          <a:xfrm>
            <a:off x="3200400" y="1453896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R1_sl361"/>
          <p:cNvSpPr/>
          <p:nvPr/>
        </p:nvSpPr>
        <p:spPr>
          <a:xfrm>
            <a:off x="3584448" y="14173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Sunday · 8 o'clock · sleep</a:t>
            </a:r>
            <a:endParaRPr lang="en-US" sz="12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💬 Last Sunday at 8 o'clock, Luca was sleeping…</a:t>
            </a:r>
            <a:endParaRPr lang="en-US" sz="1250" dirty="0"/>
          </a:p>
        </p:txBody>
      </p:sp>
      <p:sp>
        <p:nvSpPr>
          <p:cNvPr id="20" name="R2_sb362"/>
          <p:cNvSpPr/>
          <p:nvPr/>
        </p:nvSpPr>
        <p:spPr>
          <a:xfrm>
            <a:off x="3200400" y="2017776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R2_sl363"/>
          <p:cNvSpPr/>
          <p:nvPr/>
        </p:nvSpPr>
        <p:spPr>
          <a:xfrm>
            <a:off x="3584448" y="198120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phone · ring · boss</a:t>
            </a:r>
            <a:endParaRPr lang="en-US" sz="12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💬 While he was sleeping…</a:t>
            </a:r>
            <a:endParaRPr lang="en-US" sz="1250" dirty="0"/>
          </a:p>
        </p:txBody>
      </p:sp>
      <p:sp>
        <p:nvSpPr>
          <p:cNvPr id="22" name="R3_sb364"/>
          <p:cNvSpPr/>
          <p:nvPr/>
        </p:nvSpPr>
        <p:spPr>
          <a:xfrm>
            <a:off x="3200400" y="2581656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R3_sl365"/>
          <p:cNvSpPr/>
          <p:nvPr/>
        </p:nvSpPr>
        <p:spPr>
          <a:xfrm>
            <a:off x="3584448" y="254508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run · station · rain</a:t>
            </a:r>
            <a:endParaRPr lang="en-US" sz="12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💬 He was running to the station when…</a:t>
            </a:r>
            <a:endParaRPr lang="en-US" sz="1250" dirty="0"/>
          </a:p>
        </p:txBody>
      </p:sp>
      <p:sp>
        <p:nvSpPr>
          <p:cNvPr id="24" name="R4_sb366"/>
          <p:cNvSpPr/>
          <p:nvPr/>
        </p:nvSpPr>
        <p:spPr>
          <a:xfrm>
            <a:off x="3200400" y="3145536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R4_sl367"/>
          <p:cNvSpPr/>
          <p:nvPr/>
        </p:nvSpPr>
        <p:spPr>
          <a:xfrm>
            <a:off x="3584448" y="310896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train · people · look · pyjamas</a:t>
            </a:r>
            <a:endParaRPr lang="en-US" sz="12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💬 On the train…</a:t>
            </a:r>
            <a:endParaRPr lang="en-US" sz="1250" dirty="0"/>
          </a:p>
        </p:txBody>
      </p:sp>
      <p:sp>
        <p:nvSpPr>
          <p:cNvPr id="26" name="R5_sb368"/>
          <p:cNvSpPr/>
          <p:nvPr/>
        </p:nvSpPr>
        <p:spPr>
          <a:xfrm>
            <a:off x="3200400" y="3709416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R5_sl369"/>
          <p:cNvSpPr/>
          <p:nvPr/>
        </p:nvSpPr>
        <p:spPr>
          <a:xfrm>
            <a:off x="3584448" y="367284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boss · laugh · Sunday!</a:t>
            </a:r>
            <a:endParaRPr lang="en-US" sz="12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💬 At work…</a:t>
            </a:r>
            <a:endParaRPr lang="en-US" sz="1250" dirty="0"/>
          </a:p>
        </p:txBody>
      </p:sp>
      <p:sp>
        <p:nvSpPr>
          <p:cNvPr id="28" name="R6_sb370"/>
          <p:cNvSpPr/>
          <p:nvPr/>
        </p:nvSpPr>
        <p:spPr>
          <a:xfrm>
            <a:off x="3200400" y="4273296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29" name="R6_sl371"/>
          <p:cNvSpPr/>
          <p:nvPr/>
        </p:nvSpPr>
        <p:spPr>
          <a:xfrm>
            <a:off x="3584448" y="42367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Now YOU: change 2 things!</a:t>
            </a:r>
            <a:endParaRPr lang="en-US" sz="12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💬 Last Saturday at 10 o'clock, Maria was…</a:t>
            </a:r>
            <a:endParaRPr lang="en-US" sz="12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7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13</a:t>
            </a:r>
            <a:endParaRPr lang="en-US" sz="2200" dirty="0"/>
          </a:p>
        </p:txBody>
      </p:sp>
      <p:pic>
        <p:nvPicPr>
          <p:cNvPr id="4" name="brY_37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405226" cy="621792"/>
          </a:xfrm>
          <a:prstGeom prst="rect">
            <a:avLst/>
          </a:prstGeom>
        </p:spPr>
      </p:pic>
      <p:sp>
        <p:nvSpPr>
          <p:cNvPr id="5" name="title_374"/>
          <p:cNvSpPr/>
          <p:nvPr/>
        </p:nvSpPr>
        <p:spPr>
          <a:xfrm>
            <a:off x="1261872" y="164592"/>
            <a:ext cx="31309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Was it happening?</a:t>
            </a:r>
            <a:endParaRPr lang="en-US" sz="2500" dirty="0"/>
          </a:p>
        </p:txBody>
      </p:sp>
      <p:pic>
        <p:nvPicPr>
          <p:cNvPr id="6" name="brP_37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988052" cy="402336"/>
          </a:xfrm>
          <a:prstGeom prst="rect">
            <a:avLst/>
          </a:prstGeom>
        </p:spPr>
      </p:pic>
      <p:sp>
        <p:nvSpPr>
          <p:cNvPr id="7" name="ins_376"/>
          <p:cNvSpPr/>
          <p:nvPr/>
        </p:nvSpPr>
        <p:spPr>
          <a:xfrm>
            <a:off x="1353312" y="731520"/>
            <a:ext cx="47320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Past simple or past continuous? Say the sentence.</a:t>
            </a:r>
            <a:endParaRPr lang="en-US" sz="1250" dirty="0"/>
          </a:p>
        </p:txBody>
      </p:sp>
      <p:sp>
        <p:nvSpPr>
          <p:cNvPr id="8" name="insIT_37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Past simple o past continuous? Di' la frase.</a:t>
            </a:r>
            <a:endParaRPr lang="en-US" sz="950" dirty="0"/>
          </a:p>
        </p:txBody>
      </p:sp>
      <p:sp>
        <p:nvSpPr>
          <p:cNvPr id="9" name="cmd_378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000000"/>
                </a:solidFill>
              </a:rPr>
              <a:t>✏️ </a:t>
            </a:r>
            <a:pPr algn="ctr" indent="0" marL="0">
              <a:buNone/>
            </a:pPr>
            <a:r>
              <a:rPr lang="en-US" sz="75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FILL THE GAPS</a:t>
            </a:r>
            <a:pPr algn="ctr" indent="0" marL="0">
              <a:buNone/>
            </a:pPr>
            <a:r>
              <a:rPr lang="en-US" sz="7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→  </a:t>
            </a:r>
            <a:pPr algn="ctr" indent="0" marL="0">
              <a:buNone/>
            </a:pPr>
            <a:r>
              <a:rPr lang="en-US" sz="750" dirty="0">
                <a:solidFill>
                  <a:srgbClr val="000000"/>
                </a:solidFill>
              </a:rPr>
              <a:t>💬 </a:t>
            </a:r>
            <a:pPr algn="ctr" indent="0" marL="0">
              <a:buNone/>
            </a:pPr>
            <a:r>
              <a:rPr lang="en-US" sz="7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endParaRPr lang="en-US" sz="750" dirty="0"/>
          </a:p>
        </p:txBody>
      </p:sp>
      <p:sp>
        <p:nvSpPr>
          <p:cNvPr id="10" name="meta_379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1" name="tag_380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50" dirty="0"/>
          </a:p>
        </p:txBody>
      </p:sp>
      <p:pic>
        <p:nvPicPr>
          <p:cNvPr id="12" name="logo_38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8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Grammar · practice   ·   📖 Grammar Bank 2B p.129 · a (answers: TG)</a:t>
            </a:r>
            <a:endParaRPr lang="en-US" sz="800" dirty="0"/>
          </a:p>
        </p:txBody>
      </p:sp>
      <p:sp>
        <p:nvSpPr>
          <p:cNvPr id="14" name="cd_383"/>
          <p:cNvSpPr/>
          <p:nvPr/>
        </p:nvSpPr>
        <p:spPr>
          <a:xfrm>
            <a:off x="320040" y="1417320"/>
            <a:ext cx="2697480" cy="1371600"/>
          </a:xfrm>
          <a:prstGeom prst="roundRect">
            <a:avLst>
              <a:gd name="adj" fmla="val 9333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384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6" name="ih_385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7" name="il_386"/>
          <p:cNvSpPr/>
          <p:nvPr/>
        </p:nvSpPr>
        <p:spPr>
          <a:xfrm>
            <a:off x="886968" y="1911096"/>
            <a:ext cx="203911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___ this photo when we ___ in Greece. (take · travel) → I took this photo when we were travelling in Greece.</a:t>
            </a:r>
            <a:endParaRPr lang="en-US" sz="1050" dirty="0"/>
          </a:p>
        </p:txBody>
      </p:sp>
      <p:sp>
        <p:nvSpPr>
          <p:cNvPr id="18" name="pf_387"/>
          <p:cNvSpPr/>
          <p:nvPr/>
        </p:nvSpPr>
        <p:spPr>
          <a:xfrm rot="-90000">
            <a:off x="685012" y="2971800"/>
            <a:ext cx="1967537" cy="1691640"/>
          </a:xfrm>
          <a:prstGeom prst="roundRect">
            <a:avLst>
              <a:gd name="adj" fmla="val 91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388" descr="/home/claude/lls-course/v2/cache/a2_2b_anya_b_jpg_451x385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730732" y="3017520"/>
            <a:ext cx="1876097" cy="1600200"/>
          </a:xfrm>
          <a:prstGeom prst="rect">
            <a:avLst/>
          </a:prstGeom>
        </p:spPr>
      </p:pic>
      <p:sp>
        <p:nvSpPr>
          <p:cNvPr id="20" name="bd_389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q_390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___ his wife when he ___ in Japan. (meet · live)</a:t>
            </a:r>
            <a:endParaRPr lang="en-US" sz="1000" dirty="0"/>
          </a:p>
        </p:txBody>
      </p:sp>
      <p:sp>
        <p:nvSpPr>
          <p:cNvPr id="22" name="R1_chip391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met · was living</a:t>
            </a:r>
            <a:endParaRPr lang="en-US" sz="1050" dirty="0"/>
          </a:p>
        </p:txBody>
      </p:sp>
      <p:sp>
        <p:nvSpPr>
          <p:cNvPr id="23" name="bd_392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q_393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___ she ___ a coat when she went out? (wear)</a:t>
            </a:r>
            <a:endParaRPr lang="en-US" sz="1000" dirty="0"/>
          </a:p>
        </p:txBody>
      </p:sp>
      <p:sp>
        <p:nvSpPr>
          <p:cNvPr id="25" name="R2_chip394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 she wearing</a:t>
            </a:r>
            <a:endParaRPr lang="en-US" sz="1050" dirty="0"/>
          </a:p>
        </p:txBody>
      </p:sp>
      <p:sp>
        <p:nvSpPr>
          <p:cNvPr id="26" name="bd_395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q_396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sun ___ when I went to work. (shine)</a:t>
            </a:r>
            <a:endParaRPr lang="en-US" sz="1000" dirty="0"/>
          </a:p>
        </p:txBody>
      </p:sp>
      <p:sp>
        <p:nvSpPr>
          <p:cNvPr id="28" name="R3_chip397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 shining</a:t>
            </a:r>
            <a:endParaRPr lang="en-US" sz="1050" dirty="0"/>
          </a:p>
        </p:txBody>
      </p:sp>
      <p:sp>
        <p:nvSpPr>
          <p:cNvPr id="29" name="bd_398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q_399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___ you ___ at 7.30 last night? (do)</a:t>
            </a:r>
            <a:endParaRPr lang="en-US" sz="1000" dirty="0"/>
          </a:p>
        </p:txBody>
      </p:sp>
      <p:sp>
        <p:nvSpPr>
          <p:cNvPr id="31" name="R4_chip400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were you doing</a:t>
            </a:r>
            <a:endParaRPr lang="en-US" sz="1050" dirty="0"/>
          </a:p>
        </p:txBody>
      </p:sp>
      <p:sp>
        <p:nvSpPr>
          <p:cNvPr id="32" name="bd_401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q_402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___ when you gave the instructions. (not listen)</a:t>
            </a:r>
            <a:endParaRPr lang="en-US" sz="1000" dirty="0"/>
          </a:p>
        </p:txBody>
      </p:sp>
      <p:sp>
        <p:nvSpPr>
          <p:cNvPr id="34" name="R5_chip403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wasn't listening</a:t>
            </a:r>
            <a:endParaRPr lang="en-US" sz="1050" dirty="0"/>
          </a:p>
        </p:txBody>
      </p:sp>
      <p:sp>
        <p:nvSpPr>
          <p:cNvPr id="35" name="bd_404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6" name="q_405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started to rain when we ___ in the park. (run)</a:t>
            </a:r>
            <a:endParaRPr lang="en-US" sz="1000" dirty="0"/>
          </a:p>
        </p:txBody>
      </p:sp>
      <p:sp>
        <p:nvSpPr>
          <p:cNvPr id="37" name="R6_chip406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were running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0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14</a:t>
            </a:r>
            <a:endParaRPr lang="en-US" sz="2200" dirty="0"/>
          </a:p>
        </p:txBody>
      </p:sp>
      <p:pic>
        <p:nvPicPr>
          <p:cNvPr id="4" name="brY_40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409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 was happening?</a:t>
            </a:r>
            <a:endParaRPr lang="en-US" sz="2300" dirty="0"/>
          </a:p>
        </p:txBody>
      </p:sp>
      <p:pic>
        <p:nvPicPr>
          <p:cNvPr id="6" name="brP_41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411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Watch the mime. Say what was happening!</a:t>
            </a:r>
            <a:endParaRPr lang="en-US" sz="1250" dirty="0"/>
          </a:p>
        </p:txBody>
      </p:sp>
      <p:sp>
        <p:nvSpPr>
          <p:cNvPr id="8" name="insIT_41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Guarda il mimo. Di' cosa stava succedendo!</a:t>
            </a:r>
            <a:endParaRPr lang="en-US" sz="950" dirty="0"/>
          </a:p>
        </p:txBody>
      </p:sp>
      <p:sp>
        <p:nvSpPr>
          <p:cNvPr id="9" name="cmd_413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🎲 </a:t>
            </a:r>
            <a:pPr algn="ctr" indent="0" marL="0">
              <a:buNone/>
            </a:pPr>
            <a:r>
              <a:rPr lang="en-US" sz="95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→  </a:t>
            </a:r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💬 </a:t>
            </a:r>
            <a:pPr algn="ctr" indent="0" marL="0">
              <a:buNone/>
            </a:pPr>
            <a:r>
              <a:rPr lang="en-US" sz="9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endParaRPr lang="en-US" sz="950" dirty="0"/>
          </a:p>
        </p:txBody>
      </p:sp>
      <p:sp>
        <p:nvSpPr>
          <p:cNvPr id="10" name="meta_414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🏆 teams</a:t>
            </a:r>
            <a:endParaRPr lang="en-US" sz="950" dirty="0"/>
          </a:p>
        </p:txBody>
      </p:sp>
      <p:sp>
        <p:nvSpPr>
          <p:cNvPr id="11" name="tag_415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 game</a:t>
            </a:r>
            <a:endParaRPr lang="en-US" sz="750" dirty="0"/>
          </a:p>
        </p:txBody>
      </p:sp>
      <p:pic>
        <p:nvPicPr>
          <p:cNvPr id="12" name="logo_41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41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Grammar game · mime   ·   📖 SB p.17 · 3c (audio 2.13 = sound effects, play from the book)</a:t>
            </a:r>
            <a:endParaRPr lang="en-US" sz="800" dirty="0"/>
          </a:p>
        </p:txBody>
      </p:sp>
      <p:sp>
        <p:nvSpPr>
          <p:cNvPr id="14" name="cd_418"/>
          <p:cNvSpPr/>
          <p:nvPr/>
        </p:nvSpPr>
        <p:spPr>
          <a:xfrm>
            <a:off x="320040" y="1417320"/>
            <a:ext cx="2697480" cy="2514600"/>
          </a:xfrm>
          <a:prstGeom prst="roundRect">
            <a:avLst>
              <a:gd name="adj" fmla="val 5091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419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420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7" name="il_421"/>
          <p:cNvSpPr/>
          <p:nvPr/>
        </p:nvSpPr>
        <p:spPr>
          <a:xfrm>
            <a:off x="886968" y="1911096"/>
            <a:ext cx="2039112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student mimes both actions.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10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Uno studente mima le due azioni.</a:t>
            </a:r>
            <a:endParaRPr lang="en-US" sz="10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Teams say the sentence: …was / were -ing when…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10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 squadre dicono la frase: …was / were -ing when…</a:t>
            </a:r>
            <a:endParaRPr lang="en-US" sz="10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Right sentence = 1 point.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10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Frase giusta = 1 punto.</a:t>
            </a:r>
            <a:endParaRPr lang="en-US" sz="1000" dirty="0"/>
          </a:p>
        </p:txBody>
      </p:sp>
      <p:sp>
        <p:nvSpPr>
          <p:cNvPr id="18" name="st_422"/>
          <p:cNvSpPr/>
          <p:nvPr/>
        </p:nvSpPr>
        <p:spPr>
          <a:xfrm rot="-180000">
            <a:off x="502920" y="4114800"/>
            <a:ext cx="2286000" cy="59436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19" name="bd_423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e.g.</a:t>
            </a:r>
            <a:endParaRPr lang="en-US" sz="500" dirty="0"/>
          </a:p>
        </p:txBody>
      </p:sp>
      <p:sp>
        <p:nvSpPr>
          <p:cNvPr id="20" name="gq_424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play tennis · start to rain</a:t>
            </a:r>
            <a:endParaRPr lang="en-US" sz="1250" dirty="0"/>
          </a:p>
        </p:txBody>
      </p:sp>
      <p:sp>
        <p:nvSpPr>
          <p:cNvPr id="21" name="chip_425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They were playing tennis when it started to rain.</a:t>
            </a:r>
            <a:endParaRPr lang="en-US" sz="1100" dirty="0"/>
          </a:p>
        </p:txBody>
      </p:sp>
      <p:sp>
        <p:nvSpPr>
          <p:cNvPr id="22" name="bd_426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3" name="gq_427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drive · somebody phone</a:t>
            </a:r>
            <a:endParaRPr lang="en-US" sz="1250" dirty="0"/>
          </a:p>
        </p:txBody>
      </p:sp>
      <p:sp>
        <p:nvSpPr>
          <p:cNvPr id="24" name="R1_chip428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She was driving when somebody phoned her.</a:t>
            </a:r>
            <a:endParaRPr lang="en-US" sz="1100" dirty="0"/>
          </a:p>
        </p:txBody>
      </p:sp>
      <p:sp>
        <p:nvSpPr>
          <p:cNvPr id="25" name="bd_429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6" name="gq_430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a party · the police come</a:t>
            </a:r>
            <a:endParaRPr lang="en-US" sz="1250" dirty="0"/>
          </a:p>
        </p:txBody>
      </p:sp>
      <p:sp>
        <p:nvSpPr>
          <p:cNvPr id="27" name="R2_chip431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They were having a party when the police came.</a:t>
            </a:r>
            <a:endParaRPr lang="en-US" sz="1100" dirty="0"/>
          </a:p>
        </p:txBody>
      </p:sp>
      <p:sp>
        <p:nvSpPr>
          <p:cNvPr id="28" name="bd_432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9" name="gq_433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a shower · somebody knock</a:t>
            </a:r>
            <a:endParaRPr lang="en-US" sz="1250" dirty="0"/>
          </a:p>
        </p:txBody>
      </p:sp>
      <p:sp>
        <p:nvSpPr>
          <p:cNvPr id="30" name="R3_chip434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He was having a shower when somebody knocked at the door.</a:t>
            </a:r>
            <a:endParaRPr lang="en-US" sz="1050" dirty="0"/>
          </a:p>
        </p:txBody>
      </p:sp>
      <p:sp>
        <p:nvSpPr>
          <p:cNvPr id="31" name="bd_435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2" name="gq_436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sleep · the baby start to cry</a:t>
            </a:r>
            <a:endParaRPr lang="en-US" sz="1250" dirty="0"/>
          </a:p>
        </p:txBody>
      </p:sp>
      <p:sp>
        <p:nvSpPr>
          <p:cNvPr id="33" name="R4_chip437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They were sleeping when the baby started to cry.</a:t>
            </a:r>
            <a:endParaRPr lang="en-US" sz="1100" dirty="0"/>
          </a:p>
        </p:txBody>
      </p:sp>
      <p:sp>
        <p:nvSpPr>
          <p:cNvPr id="34" name="bd_438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5" name="gq_439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walk the dog · meet a friend</a:t>
            </a:r>
            <a:endParaRPr lang="en-US" sz="1250" dirty="0"/>
          </a:p>
        </p:txBody>
      </p:sp>
      <p:sp>
        <p:nvSpPr>
          <p:cNvPr id="36" name="R5_chip440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She was walking her dog when she met a friend.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4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15</a:t>
            </a:r>
            <a:endParaRPr lang="en-US" sz="2200" dirty="0"/>
          </a:p>
        </p:txBody>
      </p:sp>
      <p:pic>
        <p:nvPicPr>
          <p:cNvPr id="4" name="brY_44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877056" cy="621792"/>
          </a:xfrm>
          <a:prstGeom prst="rect">
            <a:avLst/>
          </a:prstGeom>
        </p:spPr>
      </p:pic>
      <p:sp>
        <p:nvSpPr>
          <p:cNvPr id="5" name="title_443"/>
          <p:cNvSpPr/>
          <p:nvPr/>
        </p:nvSpPr>
        <p:spPr>
          <a:xfrm>
            <a:off x="1261872" y="164592"/>
            <a:ext cx="3602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was /wəz/, were /wə/</a:t>
            </a:r>
            <a:endParaRPr lang="en-US" sz="2500" dirty="0"/>
          </a:p>
        </p:txBody>
      </p:sp>
      <p:pic>
        <p:nvPicPr>
          <p:cNvPr id="6" name="brP_44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074920" cy="402336"/>
          </a:xfrm>
          <a:prstGeom prst="rect">
            <a:avLst/>
          </a:prstGeom>
        </p:spPr>
      </p:pic>
      <p:sp>
        <p:nvSpPr>
          <p:cNvPr id="7" name="ins_445"/>
          <p:cNvSpPr/>
          <p:nvPr/>
        </p:nvSpPr>
        <p:spPr>
          <a:xfrm>
            <a:off x="1353312" y="731520"/>
            <a:ext cx="4818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and complete. Is was / were strong or weak?</a:t>
            </a:r>
            <a:endParaRPr lang="en-US" sz="1250" dirty="0"/>
          </a:p>
        </p:txBody>
      </p:sp>
      <p:sp>
        <p:nvSpPr>
          <p:cNvPr id="8" name="insIT_44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 e completa. Was / were sono forti o deboli?</a:t>
            </a:r>
            <a:endParaRPr lang="en-US" sz="950" dirty="0"/>
          </a:p>
        </p:txBody>
      </p:sp>
      <p:sp>
        <p:nvSpPr>
          <p:cNvPr id="9" name="cmd_447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🎧 </a:t>
            </a:r>
            <a:pPr algn="ctr"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→  </a:t>
            </a:r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🔊 </a:t>
            </a:r>
            <a:pPr algn="ctr" indent="0" marL="0">
              <a:buNone/>
            </a:pPr>
            <a:r>
              <a:rPr lang="en-US" sz="95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 IT</a:t>
            </a:r>
            <a:endParaRPr lang="en-US" sz="950" dirty="0"/>
          </a:p>
        </p:txBody>
      </p:sp>
      <p:sp>
        <p:nvSpPr>
          <p:cNvPr id="10" name="meta_448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👤 alone</a:t>
            </a:r>
            <a:endParaRPr lang="en-US" sz="950" dirty="0"/>
          </a:p>
        </p:txBody>
      </p:sp>
      <p:sp>
        <p:nvSpPr>
          <p:cNvPr id="11" name="tag_449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Pronunciation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Listening for detail</a:t>
            </a:r>
            <a:endParaRPr lang="en-US" sz="750" dirty="0"/>
          </a:p>
        </p:txBody>
      </p:sp>
      <p:pic>
        <p:nvPicPr>
          <p:cNvPr id="12" name="logo_45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45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Pronunciation · weak forms   ·   📖 SB p.17 · 4b, 4c · audio 2.14 (play from the book)</a:t>
            </a:r>
            <a:endParaRPr lang="en-US" sz="800" dirty="0"/>
          </a:p>
        </p:txBody>
      </p:sp>
      <p:sp>
        <p:nvSpPr>
          <p:cNvPr id="14" name="ap_452"/>
          <p:cNvSpPr/>
          <p:nvPr/>
        </p:nvSpPr>
        <p:spPr>
          <a:xfrm>
            <a:off x="365760" y="141732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2.14</a:t>
            </a:r>
            <a:endParaRPr lang="en-US" sz="1100" dirty="0"/>
          </a:p>
        </p:txBody>
      </p:sp>
      <p:sp>
        <p:nvSpPr>
          <p:cNvPr id="15" name="pf_453"/>
          <p:cNvSpPr/>
          <p:nvPr/>
        </p:nvSpPr>
        <p:spPr>
          <a:xfrm rot="-90000">
            <a:off x="744724" y="2057400"/>
            <a:ext cx="2030993" cy="1783080"/>
          </a:xfrm>
          <a:prstGeom prst="roundRect">
            <a:avLst>
              <a:gd name="adj" fmla="val 87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6" name="ph_454" descr="/home/claude/lls-course/v2/cache/a2_2b_anya_a_jpg_467x407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790444" y="2103120"/>
            <a:ext cx="1939553" cy="1691640"/>
          </a:xfrm>
          <a:prstGeom prst="rect">
            <a:avLst/>
          </a:prstGeom>
        </p:spPr>
      </p:pic>
      <p:sp>
        <p:nvSpPr>
          <p:cNvPr id="17" name="cd_455"/>
          <p:cNvSpPr/>
          <p:nvPr/>
        </p:nvSpPr>
        <p:spPr>
          <a:xfrm>
            <a:off x="320040" y="4023360"/>
            <a:ext cx="2788920" cy="731520"/>
          </a:xfrm>
          <a:prstGeom prst="roundRect">
            <a:avLst>
              <a:gd name="adj" fmla="val 17500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8" name="ii_456"/>
          <p:cNvSpPr/>
          <p:nvPr/>
        </p:nvSpPr>
        <p:spPr>
          <a:xfrm>
            <a:off x="4114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19" name="ih_457"/>
          <p:cNvSpPr/>
          <p:nvPr/>
        </p:nvSpPr>
        <p:spPr>
          <a:xfrm>
            <a:off x="886968" y="4114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first, then listen!</a:t>
            </a:r>
            <a:endParaRPr lang="en-US" sz="1200" dirty="0"/>
          </a:p>
        </p:txBody>
      </p:sp>
      <p:sp>
        <p:nvSpPr>
          <p:cNvPr id="20" name="gq_458"/>
          <p:cNvSpPr/>
          <p:nvPr/>
        </p:nvSpPr>
        <p:spPr>
          <a:xfrm>
            <a:off x="3383280" y="141732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___ ___ my first term at university.</a:t>
            </a:r>
            <a:endParaRPr lang="en-US" sz="1200" dirty="0"/>
          </a:p>
        </p:txBody>
      </p:sp>
      <p:sp>
        <p:nvSpPr>
          <p:cNvPr id="21" name="R1_chip459"/>
          <p:cNvSpPr/>
          <p:nvPr/>
        </p:nvSpPr>
        <p:spPr>
          <a:xfrm>
            <a:off x="6812280" y="141732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was</a:t>
            </a:r>
            <a:endParaRPr lang="en-US" sz="1200" dirty="0"/>
          </a:p>
        </p:txBody>
      </p:sp>
      <p:sp>
        <p:nvSpPr>
          <p:cNvPr id="22" name="gq_460"/>
          <p:cNvSpPr/>
          <p:nvPr/>
        </p:nvSpPr>
        <p:spPr>
          <a:xfrm>
            <a:off x="3383280" y="1938528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I ___ ___ with him in the Easter holidays.</a:t>
            </a:r>
            <a:endParaRPr lang="en-US" sz="1200" dirty="0"/>
          </a:p>
        </p:txBody>
      </p:sp>
      <p:sp>
        <p:nvSpPr>
          <p:cNvPr id="23" name="R2_chip461"/>
          <p:cNvSpPr/>
          <p:nvPr/>
        </p:nvSpPr>
        <p:spPr>
          <a:xfrm>
            <a:off x="6812280" y="1938528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 staying</a:t>
            </a:r>
            <a:endParaRPr lang="en-US" sz="1200" dirty="0"/>
          </a:p>
        </p:txBody>
      </p:sp>
      <p:sp>
        <p:nvSpPr>
          <p:cNvPr id="24" name="gq_462"/>
          <p:cNvSpPr/>
          <p:nvPr/>
        </p:nvSpPr>
        <p:spPr>
          <a:xfrm>
            <a:off x="3383280" y="2459736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We ___ ___ a music course.</a:t>
            </a:r>
            <a:endParaRPr lang="en-US" sz="1200" dirty="0"/>
          </a:p>
        </p:txBody>
      </p:sp>
      <p:sp>
        <p:nvSpPr>
          <p:cNvPr id="25" name="R3_chip463"/>
          <p:cNvSpPr/>
          <p:nvPr/>
        </p:nvSpPr>
        <p:spPr>
          <a:xfrm>
            <a:off x="6812280" y="2459736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were doing</a:t>
            </a:r>
            <a:endParaRPr lang="en-US" sz="1200" dirty="0"/>
          </a:p>
        </p:txBody>
      </p:sp>
      <p:sp>
        <p:nvSpPr>
          <p:cNvPr id="26" name="gq_464"/>
          <p:cNvSpPr/>
          <p:nvPr/>
        </p:nvSpPr>
        <p:spPr>
          <a:xfrm>
            <a:off x="3383280" y="2980944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___ ___ at school together.</a:t>
            </a:r>
            <a:endParaRPr lang="en-US" sz="1200" dirty="0"/>
          </a:p>
        </p:txBody>
      </p:sp>
      <p:sp>
        <p:nvSpPr>
          <p:cNvPr id="27" name="R4_chip465"/>
          <p:cNvSpPr/>
          <p:nvPr/>
        </p:nvSpPr>
        <p:spPr>
          <a:xfrm>
            <a:off x="6812280" y="2980944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 were</a:t>
            </a:r>
            <a:endParaRPr lang="en-US" sz="1200" dirty="0"/>
          </a:p>
        </p:txBody>
      </p:sp>
      <p:sp>
        <p:nvSpPr>
          <p:cNvPr id="28" name="gq_466"/>
          <p:cNvSpPr/>
          <p:nvPr/>
        </p:nvSpPr>
        <p:spPr>
          <a:xfrm>
            <a:off x="3383280" y="3502152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 She took this when we ___ ___ the Colosseum.</a:t>
            </a:r>
            <a:endParaRPr lang="en-US" sz="1200" dirty="0"/>
          </a:p>
        </p:txBody>
      </p:sp>
      <p:sp>
        <p:nvSpPr>
          <p:cNvPr id="29" name="R5_chip467"/>
          <p:cNvSpPr/>
          <p:nvPr/>
        </p:nvSpPr>
        <p:spPr>
          <a:xfrm>
            <a:off x="6812280" y="3502152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were visiting</a:t>
            </a:r>
            <a:endParaRPr lang="en-US" sz="1200" dirty="0"/>
          </a:p>
        </p:txBody>
      </p:sp>
      <p:sp>
        <p:nvSpPr>
          <p:cNvPr id="30" name="gq_468"/>
          <p:cNvSpPr/>
          <p:nvPr/>
        </p:nvSpPr>
        <p:spPr>
          <a:xfrm>
            <a:off x="3383280" y="402336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 We ___ all ___ champagne, and Roz ___ ___ the hard work!</a:t>
            </a:r>
            <a:endParaRPr lang="en-US" sz="1200" dirty="0"/>
          </a:p>
        </p:txBody>
      </p:sp>
      <p:sp>
        <p:nvSpPr>
          <p:cNvPr id="31" name="R6_chip469"/>
          <p:cNvSpPr/>
          <p:nvPr/>
        </p:nvSpPr>
        <p:spPr>
          <a:xfrm>
            <a:off x="6812280" y="402336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were drinking · was doing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7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16</a:t>
            </a:r>
            <a:endParaRPr lang="en-US" sz="2200" dirty="0"/>
          </a:p>
        </p:txBody>
      </p:sp>
      <p:pic>
        <p:nvPicPr>
          <p:cNvPr id="4" name="brY_47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247949" cy="621792"/>
          </a:xfrm>
          <a:prstGeom prst="rect">
            <a:avLst/>
          </a:prstGeom>
        </p:spPr>
      </p:pic>
      <p:sp>
        <p:nvSpPr>
          <p:cNvPr id="5" name="title_472"/>
          <p:cNvSpPr/>
          <p:nvPr/>
        </p:nvSpPr>
        <p:spPr>
          <a:xfrm>
            <a:off x="1261872" y="164592"/>
            <a:ext cx="2973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Anya's Instagram</a:t>
            </a:r>
            <a:endParaRPr lang="en-US" sz="2500" dirty="0"/>
          </a:p>
        </p:txBody>
      </p:sp>
      <p:pic>
        <p:nvPicPr>
          <p:cNvPr id="6" name="brP_47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553712" cy="402336"/>
          </a:xfrm>
          <a:prstGeom prst="rect">
            <a:avLst/>
          </a:prstGeom>
        </p:spPr>
      </p:pic>
      <p:sp>
        <p:nvSpPr>
          <p:cNvPr id="7" name="ins_474"/>
          <p:cNvSpPr/>
          <p:nvPr/>
        </p:nvSpPr>
        <p:spPr>
          <a:xfrm>
            <a:off x="1353312" y="73152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Anya talks about her photos. Order them 1–6.</a:t>
            </a:r>
            <a:endParaRPr lang="en-US" sz="1250" dirty="0"/>
          </a:p>
        </p:txBody>
      </p:sp>
      <p:sp>
        <p:nvSpPr>
          <p:cNvPr id="8" name="insIT_475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Anya parla delle sue foto. Mettile in ordine 1–6.</a:t>
            </a:r>
            <a:endParaRPr lang="en-US" sz="950" dirty="0"/>
          </a:p>
        </p:txBody>
      </p:sp>
      <p:sp>
        <p:nvSpPr>
          <p:cNvPr id="9" name="cmd_476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🎧 </a:t>
            </a:r>
            <a:pPr algn="ctr"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950" dirty="0"/>
          </a:p>
        </p:txBody>
      </p:sp>
      <p:sp>
        <p:nvSpPr>
          <p:cNvPr id="10" name="meta_477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👤 alone</a:t>
            </a:r>
            <a:endParaRPr lang="en-US" sz="950" dirty="0"/>
          </a:p>
        </p:txBody>
      </p:sp>
      <p:sp>
        <p:nvSpPr>
          <p:cNvPr id="11" name="tag_478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50" dirty="0"/>
          </a:p>
        </p:txBody>
      </p:sp>
      <p:pic>
        <p:nvPicPr>
          <p:cNvPr id="12" name="logo_47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48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Listening · Anya's photos   ·   📖 SB p.17 · 4d, 4e · audio 2.15 (play from the book · script SB p.120)</a:t>
            </a:r>
            <a:endParaRPr lang="en-US" sz="800" dirty="0"/>
          </a:p>
        </p:txBody>
      </p:sp>
      <p:sp>
        <p:nvSpPr>
          <p:cNvPr id="14" name="ap_481"/>
          <p:cNvSpPr/>
          <p:nvPr/>
        </p:nvSpPr>
        <p:spPr>
          <a:xfrm>
            <a:off x="365760" y="4297680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2.15</a:t>
            </a:r>
            <a:endParaRPr lang="en-US" sz="1100" dirty="0"/>
          </a:p>
        </p:txBody>
      </p:sp>
      <p:sp>
        <p:nvSpPr>
          <p:cNvPr id="15" name="pf_482"/>
          <p:cNvSpPr/>
          <p:nvPr/>
        </p:nvSpPr>
        <p:spPr>
          <a:xfrm>
            <a:off x="365760" y="1417320"/>
            <a:ext cx="1508760" cy="1284732"/>
          </a:xfrm>
          <a:prstGeom prst="roundRect">
            <a:avLst>
              <a:gd name="adj" fmla="val 121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6" name="ph_483" descr="/home/claude/lls-course/v2/cache/a2_2b_anya_a_jpg_341x287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1463040"/>
            <a:ext cx="1417320" cy="1193292"/>
          </a:xfrm>
          <a:prstGeom prst="rect">
            <a:avLst/>
          </a:prstGeom>
        </p:spPr>
      </p:pic>
      <p:sp>
        <p:nvSpPr>
          <p:cNvPr id="17" name="bd_484"/>
          <p:cNvSpPr/>
          <p:nvPr/>
        </p:nvSpPr>
        <p:spPr>
          <a:xfrm>
            <a:off x="265176" y="131673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</a:t>
            </a:r>
            <a:endParaRPr lang="en-US" sz="1100" dirty="0"/>
          </a:p>
        </p:txBody>
      </p:sp>
      <p:sp>
        <p:nvSpPr>
          <p:cNvPr id="18" name="pf_485"/>
          <p:cNvSpPr/>
          <p:nvPr/>
        </p:nvSpPr>
        <p:spPr>
          <a:xfrm>
            <a:off x="1892808" y="1417320"/>
            <a:ext cx="1508760" cy="1284732"/>
          </a:xfrm>
          <a:prstGeom prst="roundRect">
            <a:avLst>
              <a:gd name="adj" fmla="val 121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486" descr="/home/claude/lls-course/v2/cache/a2_2b_anya_b_jpg_341x287_3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38528" y="1463040"/>
            <a:ext cx="1417320" cy="1193292"/>
          </a:xfrm>
          <a:prstGeom prst="rect">
            <a:avLst/>
          </a:prstGeom>
        </p:spPr>
      </p:pic>
      <p:sp>
        <p:nvSpPr>
          <p:cNvPr id="20" name="bd_487"/>
          <p:cNvSpPr/>
          <p:nvPr/>
        </p:nvSpPr>
        <p:spPr>
          <a:xfrm>
            <a:off x="1792224" y="1316736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</a:t>
            </a:r>
            <a:endParaRPr lang="en-US" sz="1100" dirty="0"/>
          </a:p>
        </p:txBody>
      </p:sp>
      <p:sp>
        <p:nvSpPr>
          <p:cNvPr id="21" name="pf_488"/>
          <p:cNvSpPr/>
          <p:nvPr/>
        </p:nvSpPr>
        <p:spPr>
          <a:xfrm>
            <a:off x="3419856" y="1417320"/>
            <a:ext cx="1508760" cy="1284732"/>
          </a:xfrm>
          <a:prstGeom prst="roundRect">
            <a:avLst>
              <a:gd name="adj" fmla="val 121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2" name="ph_489" descr="/home/claude/lls-course/v2/cache/a2_2b_anya_c_jpg_341x287_31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65576" y="1463040"/>
            <a:ext cx="1417320" cy="1193292"/>
          </a:xfrm>
          <a:prstGeom prst="rect">
            <a:avLst/>
          </a:prstGeom>
        </p:spPr>
      </p:pic>
      <p:sp>
        <p:nvSpPr>
          <p:cNvPr id="23" name="bd_490"/>
          <p:cNvSpPr/>
          <p:nvPr/>
        </p:nvSpPr>
        <p:spPr>
          <a:xfrm>
            <a:off x="3319272" y="1316736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</a:t>
            </a:r>
            <a:endParaRPr lang="en-US" sz="1100" dirty="0"/>
          </a:p>
        </p:txBody>
      </p:sp>
      <p:sp>
        <p:nvSpPr>
          <p:cNvPr id="24" name="pf_491"/>
          <p:cNvSpPr/>
          <p:nvPr/>
        </p:nvSpPr>
        <p:spPr>
          <a:xfrm>
            <a:off x="365760" y="2720340"/>
            <a:ext cx="1508760" cy="1284732"/>
          </a:xfrm>
          <a:prstGeom prst="roundRect">
            <a:avLst>
              <a:gd name="adj" fmla="val 121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5" name="ph_492" descr="/home/claude/lls-course/v2/cache/a2_2b_anya_d_jpg_341x287_31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1480" y="2766060"/>
            <a:ext cx="1417320" cy="1193292"/>
          </a:xfrm>
          <a:prstGeom prst="rect">
            <a:avLst/>
          </a:prstGeom>
        </p:spPr>
      </p:pic>
      <p:sp>
        <p:nvSpPr>
          <p:cNvPr id="26" name="bd_493"/>
          <p:cNvSpPr/>
          <p:nvPr/>
        </p:nvSpPr>
        <p:spPr>
          <a:xfrm>
            <a:off x="265176" y="2619756"/>
            <a:ext cx="329184" cy="329184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</a:t>
            </a:r>
            <a:endParaRPr lang="en-US" sz="1100" dirty="0"/>
          </a:p>
        </p:txBody>
      </p:sp>
      <p:sp>
        <p:nvSpPr>
          <p:cNvPr id="27" name="pf_494"/>
          <p:cNvSpPr/>
          <p:nvPr/>
        </p:nvSpPr>
        <p:spPr>
          <a:xfrm>
            <a:off x="1892808" y="2720340"/>
            <a:ext cx="1508760" cy="1284732"/>
          </a:xfrm>
          <a:prstGeom prst="roundRect">
            <a:avLst>
              <a:gd name="adj" fmla="val 121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8" name="ph_495" descr="/home/claude/lls-course/v2/cache/a2_2b_anya_e_jpg_341x287_31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38528" y="2766060"/>
            <a:ext cx="1417320" cy="1193292"/>
          </a:xfrm>
          <a:prstGeom prst="rect">
            <a:avLst/>
          </a:prstGeom>
        </p:spPr>
      </p:pic>
      <p:sp>
        <p:nvSpPr>
          <p:cNvPr id="29" name="bd_496"/>
          <p:cNvSpPr/>
          <p:nvPr/>
        </p:nvSpPr>
        <p:spPr>
          <a:xfrm>
            <a:off x="1792224" y="261975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</a:t>
            </a:r>
            <a:endParaRPr lang="en-US" sz="1100" dirty="0"/>
          </a:p>
        </p:txBody>
      </p:sp>
      <p:sp>
        <p:nvSpPr>
          <p:cNvPr id="30" name="pf_497"/>
          <p:cNvSpPr/>
          <p:nvPr/>
        </p:nvSpPr>
        <p:spPr>
          <a:xfrm>
            <a:off x="3419856" y="2720340"/>
            <a:ext cx="1508760" cy="1284732"/>
          </a:xfrm>
          <a:prstGeom prst="roundRect">
            <a:avLst>
              <a:gd name="adj" fmla="val 121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1" name="ph_498" descr="/home/claude/lls-course/v2/cache/a2_2b_anya_f_jpg_341x287_31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465576" y="2766060"/>
            <a:ext cx="1417320" cy="1193292"/>
          </a:xfrm>
          <a:prstGeom prst="rect">
            <a:avLst/>
          </a:prstGeom>
        </p:spPr>
      </p:pic>
      <p:sp>
        <p:nvSpPr>
          <p:cNvPr id="32" name="bd_499"/>
          <p:cNvSpPr/>
          <p:nvPr/>
        </p:nvSpPr>
        <p:spPr>
          <a:xfrm>
            <a:off x="3319272" y="2619756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</a:t>
            </a:r>
            <a:endParaRPr lang="en-US" sz="1100" dirty="0"/>
          </a:p>
        </p:txBody>
      </p:sp>
      <p:sp>
        <p:nvSpPr>
          <p:cNvPr id="33" name="ap_500"/>
          <p:cNvSpPr/>
          <p:nvPr/>
        </p:nvSpPr>
        <p:spPr>
          <a:xfrm>
            <a:off x="365760" y="4297680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2.15</a:t>
            </a:r>
            <a:endParaRPr lang="en-US" sz="1100" dirty="0"/>
          </a:p>
        </p:txBody>
      </p:sp>
      <p:sp>
        <p:nvSpPr>
          <p:cNvPr id="34" name="q_501"/>
          <p:cNvSpPr/>
          <p:nvPr/>
        </p:nvSpPr>
        <p:spPr>
          <a:xfrm>
            <a:off x="5166360" y="1417320"/>
            <a:ext cx="1325880" cy="493776"/>
          </a:xfrm>
          <a:prstGeom prst="roundRect">
            <a:avLst>
              <a:gd name="adj" fmla="val 18519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Photo E</a:t>
            </a:r>
            <a:endParaRPr lang="en-US" sz="1150" dirty="0"/>
          </a:p>
        </p:txBody>
      </p:sp>
      <p:sp>
        <p:nvSpPr>
          <p:cNvPr id="35" name="chip_502"/>
          <p:cNvSpPr/>
          <p:nvPr/>
        </p:nvSpPr>
        <p:spPr>
          <a:xfrm>
            <a:off x="6565392" y="1417320"/>
            <a:ext cx="2286000" cy="493776"/>
          </a:xfrm>
          <a:prstGeom prst="roundRect">
            <a:avLst>
              <a:gd name="adj" fmla="val 18519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– York, with her mum</a:t>
            </a:r>
            <a:endParaRPr lang="en-US" sz="1150" dirty="0"/>
          </a:p>
        </p:txBody>
      </p:sp>
      <p:sp>
        <p:nvSpPr>
          <p:cNvPr id="36" name="q_503"/>
          <p:cNvSpPr/>
          <p:nvPr/>
        </p:nvSpPr>
        <p:spPr>
          <a:xfrm>
            <a:off x="5166360" y="1965960"/>
            <a:ext cx="132588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Photo A</a:t>
            </a:r>
            <a:endParaRPr lang="en-US" sz="1150" dirty="0"/>
          </a:p>
        </p:txBody>
      </p:sp>
      <p:sp>
        <p:nvSpPr>
          <p:cNvPr id="37" name="R1_chip504"/>
          <p:cNvSpPr/>
          <p:nvPr/>
        </p:nvSpPr>
        <p:spPr>
          <a:xfrm>
            <a:off x="6565392" y="1965960"/>
            <a:ext cx="2286000" cy="493776"/>
          </a:xfrm>
          <a:prstGeom prst="roundRect">
            <a:avLst>
              <a:gd name="adj" fmla="val 18519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– a party after a music course</a:t>
            </a:r>
            <a:endParaRPr lang="en-US" sz="1150" dirty="0"/>
          </a:p>
        </p:txBody>
      </p:sp>
      <p:sp>
        <p:nvSpPr>
          <p:cNvPr id="38" name="q_505"/>
          <p:cNvSpPr/>
          <p:nvPr/>
        </p:nvSpPr>
        <p:spPr>
          <a:xfrm>
            <a:off x="5166360" y="2514600"/>
            <a:ext cx="132588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Photo B</a:t>
            </a:r>
            <a:endParaRPr lang="en-US" sz="1150" dirty="0"/>
          </a:p>
        </p:txBody>
      </p:sp>
      <p:sp>
        <p:nvSpPr>
          <p:cNvPr id="39" name="R2_chip506"/>
          <p:cNvSpPr/>
          <p:nvPr/>
        </p:nvSpPr>
        <p:spPr>
          <a:xfrm>
            <a:off x="6565392" y="2514600"/>
            <a:ext cx="2286000" cy="493776"/>
          </a:xfrm>
          <a:prstGeom prst="roundRect">
            <a:avLst>
              <a:gd name="adj" fmla="val 18519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 – Rome, the Colosseum</a:t>
            </a:r>
            <a:endParaRPr lang="en-US" sz="1150" dirty="0"/>
          </a:p>
        </p:txBody>
      </p:sp>
      <p:sp>
        <p:nvSpPr>
          <p:cNvPr id="40" name="q_507"/>
          <p:cNvSpPr/>
          <p:nvPr/>
        </p:nvSpPr>
        <p:spPr>
          <a:xfrm>
            <a:off x="5166360" y="3063240"/>
            <a:ext cx="132588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Photo C</a:t>
            </a:r>
            <a:endParaRPr lang="en-US" sz="1150" dirty="0"/>
          </a:p>
        </p:txBody>
      </p:sp>
      <p:sp>
        <p:nvSpPr>
          <p:cNvPr id="41" name="R3_chip508"/>
          <p:cNvSpPr/>
          <p:nvPr/>
        </p:nvSpPr>
        <p:spPr>
          <a:xfrm>
            <a:off x="6565392" y="3063240"/>
            <a:ext cx="2286000" cy="493776"/>
          </a:xfrm>
          <a:prstGeom prst="roundRect">
            <a:avLst>
              <a:gd name="adj" fmla="val 18519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– a windy beach in Cornwall</a:t>
            </a:r>
            <a:endParaRPr lang="en-US" sz="1150" dirty="0"/>
          </a:p>
        </p:txBody>
      </p:sp>
      <p:sp>
        <p:nvSpPr>
          <p:cNvPr id="42" name="q_509"/>
          <p:cNvSpPr/>
          <p:nvPr/>
        </p:nvSpPr>
        <p:spPr>
          <a:xfrm>
            <a:off x="5166360" y="3611880"/>
            <a:ext cx="132588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Photo D</a:t>
            </a:r>
            <a:endParaRPr lang="en-US" sz="1150" dirty="0"/>
          </a:p>
        </p:txBody>
      </p:sp>
      <p:sp>
        <p:nvSpPr>
          <p:cNvPr id="43" name="R4_chip510"/>
          <p:cNvSpPr/>
          <p:nvPr/>
        </p:nvSpPr>
        <p:spPr>
          <a:xfrm>
            <a:off x="6565392" y="3611880"/>
            <a:ext cx="2286000" cy="493776"/>
          </a:xfrm>
          <a:prstGeom prst="roundRect">
            <a:avLst>
              <a:gd name="adj" fmla="val 18519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 – Oxford: punting on the river</a:t>
            </a:r>
            <a:endParaRPr lang="en-US" sz="1150" dirty="0"/>
          </a:p>
        </p:txBody>
      </p:sp>
      <p:sp>
        <p:nvSpPr>
          <p:cNvPr id="44" name="q_511"/>
          <p:cNvSpPr/>
          <p:nvPr/>
        </p:nvSpPr>
        <p:spPr>
          <a:xfrm>
            <a:off x="5166360" y="4160520"/>
            <a:ext cx="132588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Photo F</a:t>
            </a:r>
            <a:endParaRPr lang="en-US" sz="1150" dirty="0"/>
          </a:p>
        </p:txBody>
      </p:sp>
      <p:sp>
        <p:nvSpPr>
          <p:cNvPr id="45" name="R5_chip512"/>
          <p:cNvSpPr/>
          <p:nvPr/>
        </p:nvSpPr>
        <p:spPr>
          <a:xfrm>
            <a:off x="6565392" y="4160520"/>
            <a:ext cx="2286000" cy="493776"/>
          </a:xfrm>
          <a:prstGeom prst="roundRect">
            <a:avLst>
              <a:gd name="adj" fmla="val 18519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– a friend's house by the river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1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17</a:t>
            </a:r>
            <a:endParaRPr lang="en-US" sz="2200" dirty="0"/>
          </a:p>
        </p:txBody>
      </p:sp>
      <p:pic>
        <p:nvPicPr>
          <p:cNvPr id="4" name="brY_51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5" name="title_515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My favourite photo</a:t>
            </a:r>
            <a:endParaRPr lang="en-US" sz="2500" dirty="0"/>
          </a:p>
        </p:txBody>
      </p:sp>
      <p:pic>
        <p:nvPicPr>
          <p:cNvPr id="6" name="brP_51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93108" cy="402336"/>
          </a:xfrm>
          <a:prstGeom prst="rect">
            <a:avLst/>
          </a:prstGeom>
        </p:spPr>
      </p:pic>
      <p:sp>
        <p:nvSpPr>
          <p:cNvPr id="7" name="ins_517"/>
          <p:cNvSpPr/>
          <p:nvPr/>
        </p:nvSpPr>
        <p:spPr>
          <a:xfrm>
            <a:off x="1353312" y="731520"/>
            <a:ext cx="40370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Talk to a partner. Give more information!</a:t>
            </a:r>
            <a:endParaRPr lang="en-US" sz="1250" dirty="0"/>
          </a:p>
        </p:txBody>
      </p:sp>
      <p:sp>
        <p:nvSpPr>
          <p:cNvPr id="8" name="insIT_51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Parla con un compagno. Dai più informazioni!</a:t>
            </a:r>
            <a:endParaRPr lang="en-US" sz="950" dirty="0"/>
          </a:p>
        </p:txBody>
      </p:sp>
      <p:sp>
        <p:nvSpPr>
          <p:cNvPr id="9" name="cmd_519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💬 </a:t>
            </a:r>
            <a:pPr algn="ctr" indent="0" marL="0">
              <a:buNone/>
            </a:pPr>
            <a:r>
              <a:rPr lang="en-US" sz="9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950" dirty="0"/>
          </a:p>
        </p:txBody>
      </p:sp>
      <p:sp>
        <p:nvSpPr>
          <p:cNvPr id="10" name="meta_520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950" dirty="0"/>
          </a:p>
        </p:txBody>
      </p:sp>
      <p:sp>
        <p:nvSpPr>
          <p:cNvPr id="11" name="tag_521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</a:t>
            </a:r>
            <a:endParaRPr lang="en-US" sz="800" dirty="0"/>
          </a:p>
        </p:txBody>
      </p:sp>
      <p:pic>
        <p:nvPicPr>
          <p:cNvPr id="12" name="logo_52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2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Speaking · your photos   ·   📖 SB p.17 · 5a</a:t>
            </a:r>
            <a:endParaRPr lang="en-US" sz="800" dirty="0"/>
          </a:p>
        </p:txBody>
      </p:sp>
      <p:sp>
        <p:nvSpPr>
          <p:cNvPr id="14" name="pf_524"/>
          <p:cNvSpPr/>
          <p:nvPr/>
        </p:nvSpPr>
        <p:spPr>
          <a:xfrm rot="-120000">
            <a:off x="927033" y="1371600"/>
            <a:ext cx="1574934" cy="1325880"/>
          </a:xfrm>
          <a:prstGeom prst="roundRect">
            <a:avLst>
              <a:gd name="adj" fmla="val 117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525" descr="/home/claude/lls-course/v2/cache/a2_2b_anya_f_jpg_357x297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972753" y="1417320"/>
            <a:ext cx="1483494" cy="1234440"/>
          </a:xfrm>
          <a:prstGeom prst="rect">
            <a:avLst/>
          </a:prstGeom>
        </p:spPr>
      </p:pic>
      <p:sp>
        <p:nvSpPr>
          <p:cNvPr id="16" name="cd_526"/>
          <p:cNvSpPr/>
          <p:nvPr/>
        </p:nvSpPr>
        <p:spPr>
          <a:xfrm>
            <a:off x="320040" y="2880360"/>
            <a:ext cx="2788920" cy="1874520"/>
          </a:xfrm>
          <a:prstGeom prst="roundRect">
            <a:avLst>
              <a:gd name="adj" fmla="val 6829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527"/>
          <p:cNvSpPr/>
          <p:nvPr/>
        </p:nvSpPr>
        <p:spPr>
          <a:xfrm>
            <a:off x="411480" y="2953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8" name="ih_528"/>
          <p:cNvSpPr/>
          <p:nvPr/>
        </p:nvSpPr>
        <p:spPr>
          <a:xfrm>
            <a:off x="886968" y="2971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9" name="il_529"/>
          <p:cNvSpPr/>
          <p:nvPr/>
        </p:nvSpPr>
        <p:spPr>
          <a:xfrm>
            <a:off x="886968" y="3374136"/>
            <a:ext cx="2130552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took it when I was… · We were…ing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was a happy time for me.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Show me! Who took it?</a:t>
            </a:r>
            <a:endParaRPr lang="en-US" sz="1150" dirty="0"/>
          </a:p>
        </p:txBody>
      </p:sp>
      <p:sp>
        <p:nvSpPr>
          <p:cNvPr id="20" name="R1_qb530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R1_sq531"/>
          <p:cNvSpPr/>
          <p:nvPr/>
        </p:nvSpPr>
        <p:spPr>
          <a:xfrm>
            <a:off x="3675888" y="1417320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post photos on Instagram or Facebook? What kind?</a:t>
            </a:r>
            <a:endParaRPr lang="en-US" sz="100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Yes, mostly food and my dog!</a:t>
            </a:r>
            <a:endParaRPr lang="en-US" sz="1000" dirty="0"/>
          </a:p>
        </p:txBody>
      </p:sp>
      <p:sp>
        <p:nvSpPr>
          <p:cNvPr id="22" name="R2_qb532"/>
          <p:cNvSpPr/>
          <p:nvPr/>
        </p:nvSpPr>
        <p:spPr>
          <a:xfrm>
            <a:off x="3273552" y="2057400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R2_sq533"/>
          <p:cNvSpPr/>
          <p:nvPr/>
        </p:nvSpPr>
        <p:spPr>
          <a:xfrm>
            <a:off x="3675888" y="2020824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have a photo as a background on your phone? What's the story?</a:t>
            </a:r>
            <a:endParaRPr lang="en-US" sz="100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My kids at the beach – we were having a picnic.</a:t>
            </a:r>
            <a:endParaRPr lang="en-US" sz="1000" dirty="0"/>
          </a:p>
        </p:txBody>
      </p:sp>
      <p:sp>
        <p:nvSpPr>
          <p:cNvPr id="24" name="R3_qb534"/>
          <p:cNvSpPr/>
          <p:nvPr/>
        </p:nvSpPr>
        <p:spPr>
          <a:xfrm>
            <a:off x="3273552" y="266090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R3_sq535"/>
          <p:cNvSpPr/>
          <p:nvPr/>
        </p:nvSpPr>
        <p:spPr>
          <a:xfrm>
            <a:off x="3675888" y="2624328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have a photo you really like on your phone? Show your partner!</a:t>
            </a:r>
            <a:endParaRPr lang="en-US" sz="100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This is me in Rome – I was visiting my sister.</a:t>
            </a:r>
            <a:endParaRPr lang="en-US" sz="1000" dirty="0"/>
          </a:p>
        </p:txBody>
      </p:sp>
      <p:sp>
        <p:nvSpPr>
          <p:cNvPr id="26" name="R4_qb536"/>
          <p:cNvSpPr/>
          <p:nvPr/>
        </p:nvSpPr>
        <p:spPr>
          <a:xfrm>
            <a:off x="3273552" y="3264408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R4_sq537"/>
          <p:cNvSpPr/>
          <p:nvPr/>
        </p:nvSpPr>
        <p:spPr>
          <a:xfrm>
            <a:off x="3675888" y="3227832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favourite photo of you as a child? What were you wearing?</a:t>
            </a:r>
            <a:endParaRPr lang="en-US" sz="100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 was wearing a cowboy hat – I was 5!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3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18</a:t>
            </a:r>
            <a:endParaRPr lang="en-US" sz="2200" dirty="0"/>
          </a:p>
        </p:txBody>
      </p:sp>
      <p:pic>
        <p:nvPicPr>
          <p:cNvPr id="4" name="brY_53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540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· 2 · 1</a:t>
            </a:r>
            <a:endParaRPr lang="en-US" sz="2500" dirty="0"/>
          </a:p>
        </p:txBody>
      </p:sp>
      <p:pic>
        <p:nvPicPr>
          <p:cNvPr id="6" name="brP_54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542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Books closed! What can you remember?</a:t>
            </a:r>
            <a:endParaRPr lang="en-US" sz="1250" dirty="0"/>
          </a:p>
        </p:txBody>
      </p:sp>
      <p:sp>
        <p:nvSpPr>
          <p:cNvPr id="8" name="insIT_54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Libri chiusi! Cosa ricordi?</a:t>
            </a:r>
            <a:endParaRPr lang="en-US" sz="950" dirty="0"/>
          </a:p>
        </p:txBody>
      </p:sp>
      <p:sp>
        <p:nvSpPr>
          <p:cNvPr id="9" name="meta_544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0" name="tag_545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9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Retrieval</a:t>
            </a:r>
            <a:endParaRPr lang="en-US" sz="950" dirty="0"/>
          </a:p>
        </p:txBody>
      </p:sp>
      <p:pic>
        <p:nvPicPr>
          <p:cNvPr id="11" name="logo_54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54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Exit · what can you remember?</a:t>
            </a:r>
            <a:endParaRPr lang="en-US" sz="800" dirty="0"/>
          </a:p>
        </p:txBody>
      </p:sp>
      <p:sp>
        <p:nvSpPr>
          <p:cNvPr id="13" name="bd_548"/>
          <p:cNvSpPr/>
          <p:nvPr/>
        </p:nvSpPr>
        <p:spPr>
          <a:xfrm>
            <a:off x="457200" y="1508760"/>
            <a:ext cx="777240" cy="77724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rt_549"/>
          <p:cNvSpPr/>
          <p:nvPr/>
        </p:nvSpPr>
        <p:spPr>
          <a:xfrm>
            <a:off x="1417320" y="158191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3 phrases with at, in, on (at night…)</a:t>
            </a:r>
            <a:endParaRPr lang="en-US" sz="1400" dirty="0"/>
          </a:p>
        </p:txBody>
      </p:sp>
      <p:sp>
        <p:nvSpPr>
          <p:cNvPr id="15" name="bd_550"/>
          <p:cNvSpPr/>
          <p:nvPr/>
        </p:nvSpPr>
        <p:spPr>
          <a:xfrm>
            <a:off x="457200" y="2468880"/>
            <a:ext cx="777240" cy="777240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600" dirty="0"/>
          </a:p>
        </p:txBody>
      </p:sp>
      <p:sp>
        <p:nvSpPr>
          <p:cNvPr id="16" name="rt_551"/>
          <p:cNvSpPr/>
          <p:nvPr/>
        </p:nvSpPr>
        <p:spPr>
          <a:xfrm>
            <a:off x="1417320" y="254203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2 facts about Jane's photo</a:t>
            </a:r>
            <a:endParaRPr lang="en-US" sz="1400" dirty="0"/>
          </a:p>
        </p:txBody>
      </p:sp>
      <p:sp>
        <p:nvSpPr>
          <p:cNvPr id="17" name="bd_552"/>
          <p:cNvSpPr/>
          <p:nvPr/>
        </p:nvSpPr>
        <p:spPr>
          <a:xfrm>
            <a:off x="457200" y="3429000"/>
            <a:ext cx="777240" cy="777240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2600" dirty="0"/>
          </a:p>
        </p:txBody>
      </p:sp>
      <p:sp>
        <p:nvSpPr>
          <p:cNvPr id="18" name="rt_553"/>
          <p:cNvSpPr/>
          <p:nvPr/>
        </p:nvSpPr>
        <p:spPr>
          <a:xfrm>
            <a:off x="1417320" y="350215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1 sentence: I was…ing when…</a:t>
            </a:r>
            <a:endParaRPr lang="en-US" sz="1400" dirty="0"/>
          </a:p>
        </p:txBody>
      </p:sp>
      <p:sp>
        <p:nvSpPr>
          <p:cNvPr id="19" name="cd_554"/>
          <p:cNvSpPr/>
          <p:nvPr/>
        </p:nvSpPr>
        <p:spPr>
          <a:xfrm>
            <a:off x="5669280" y="1417320"/>
            <a:ext cx="3200400" cy="1837944"/>
          </a:xfrm>
          <a:prstGeom prst="roundRect">
            <a:avLst>
              <a:gd name="adj" fmla="val 6965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ii_555"/>
          <p:cNvSpPr/>
          <p:nvPr/>
        </p:nvSpPr>
        <p:spPr>
          <a:xfrm>
            <a:off x="576072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1" name="ih_556"/>
          <p:cNvSpPr/>
          <p:nvPr/>
        </p:nvSpPr>
        <p:spPr>
          <a:xfrm>
            <a:off x="6236208" y="1508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Homework · Compiti</a:t>
            </a:r>
            <a:endParaRPr lang="en-US" sz="1400" dirty="0"/>
          </a:p>
        </p:txBody>
      </p:sp>
      <p:sp>
        <p:nvSpPr>
          <p:cNvPr id="22" name="il_557"/>
          <p:cNvSpPr/>
          <p:nvPr/>
        </p:nvSpPr>
        <p:spPr>
          <a:xfrm>
            <a:off x="6236208" y="1911096"/>
            <a:ext cx="2542032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Workbook 2B (past continuous, at / in / on)</a:t>
            </a:r>
            <a:endParaRPr lang="en-US" sz="10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Grammar Bank 2B p.129: exercise b</a:t>
            </a:r>
            <a:endParaRPr lang="en-US" sz="10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Write: your favourite photo (SB p.114) – 80–100 words</a:t>
            </a:r>
            <a:endParaRPr lang="en-US" sz="1050" dirty="0"/>
          </a:p>
        </p:txBody>
      </p:sp>
      <p:sp>
        <p:nvSpPr>
          <p:cNvPr id="23" name="st_558"/>
          <p:cNvSpPr/>
          <p:nvPr/>
        </p:nvSpPr>
        <p:spPr>
          <a:xfrm rot="-180000">
            <a:off x="5806440" y="3483864"/>
            <a:ext cx="2926080" cy="68580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Next lesson: 2C · One dark October evening · time sequencers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5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19</a:t>
            </a:r>
            <a:endParaRPr lang="en-US" sz="2200" dirty="0"/>
          </a:p>
        </p:txBody>
      </p:sp>
      <p:pic>
        <p:nvPicPr>
          <p:cNvPr id="4" name="brY_56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561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you…</a:t>
            </a:r>
            <a:endParaRPr lang="en-US" sz="2400" dirty="0"/>
          </a:p>
        </p:txBody>
      </p:sp>
      <p:pic>
        <p:nvPicPr>
          <p:cNvPr id="6" name="brP_56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553712" cy="402336"/>
          </a:xfrm>
          <a:prstGeom prst="rect">
            <a:avLst/>
          </a:prstGeom>
        </p:spPr>
      </p:pic>
      <p:sp>
        <p:nvSpPr>
          <p:cNvPr id="7" name="ins_563"/>
          <p:cNvSpPr/>
          <p:nvPr/>
        </p:nvSpPr>
        <p:spPr>
          <a:xfrm>
            <a:off x="1353312" y="73152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do it now? Thumbs up or thumbs down!</a:t>
            </a:r>
            <a:endParaRPr lang="en-US" sz="1250" dirty="0"/>
          </a:p>
        </p:txBody>
      </p:sp>
      <p:sp>
        <p:nvSpPr>
          <p:cNvPr id="8" name="insIT_56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Ora sai farlo? Pollice su o pollice giù!</a:t>
            </a:r>
            <a:endParaRPr lang="en-US" sz="950" dirty="0"/>
          </a:p>
        </p:txBody>
      </p:sp>
      <p:sp>
        <p:nvSpPr>
          <p:cNvPr id="9" name="cmd_565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💡 </a:t>
            </a:r>
            <a:pPr algn="ctr"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950" dirty="0"/>
          </a:p>
        </p:txBody>
      </p:sp>
      <p:sp>
        <p:nvSpPr>
          <p:cNvPr id="10" name="meta_566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1 min   🙋 whole class</a:t>
            </a:r>
            <a:endParaRPr lang="en-US" sz="950" dirty="0"/>
          </a:p>
        </p:txBody>
      </p:sp>
      <p:sp>
        <p:nvSpPr>
          <p:cNvPr id="11" name="tag_567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9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Reflection</a:t>
            </a:r>
            <a:endParaRPr lang="en-US" sz="950" dirty="0"/>
          </a:p>
        </p:txBody>
      </p:sp>
      <p:pic>
        <p:nvPicPr>
          <p:cNvPr id="12" name="logo_56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6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Review · what did you do today?</a:t>
            </a:r>
            <a:endParaRPr lang="en-US" sz="800" dirty="0"/>
          </a:p>
        </p:txBody>
      </p:sp>
      <p:sp>
        <p:nvSpPr>
          <p:cNvPr id="14" name="cd_570"/>
          <p:cNvSpPr/>
          <p:nvPr/>
        </p:nvSpPr>
        <p:spPr>
          <a:xfrm>
            <a:off x="548640" y="1417320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te_571"/>
          <p:cNvSpPr/>
          <p:nvPr/>
        </p:nvSpPr>
        <p:spPr>
          <a:xfrm>
            <a:off x="640080" y="1453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📷</a:t>
            </a:r>
            <a:endParaRPr lang="en-US" sz="1800" dirty="0"/>
          </a:p>
        </p:txBody>
      </p:sp>
      <p:sp>
        <p:nvSpPr>
          <p:cNvPr id="16" name="tt_572"/>
          <p:cNvSpPr/>
          <p:nvPr/>
        </p:nvSpPr>
        <p:spPr>
          <a:xfrm>
            <a:off x="1188720" y="1417320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true story behind a famous photo</a:t>
            </a:r>
            <a:endParaRPr lang="en-US" sz="1350" dirty="0"/>
          </a:p>
        </p:txBody>
      </p:sp>
      <p:sp>
        <p:nvSpPr>
          <p:cNvPr id="17" name="R1_tk573"/>
          <p:cNvSpPr/>
          <p:nvPr/>
        </p:nvSpPr>
        <p:spPr>
          <a:xfrm>
            <a:off x="5989320" y="1453896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18" name="cd_574"/>
          <p:cNvSpPr/>
          <p:nvPr/>
        </p:nvSpPr>
        <p:spPr>
          <a:xfrm>
            <a:off x="548640" y="2020824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te_575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20" name="tt_576"/>
          <p:cNvSpPr/>
          <p:nvPr/>
        </p:nvSpPr>
        <p:spPr>
          <a:xfrm>
            <a:off x="1188720" y="2020824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Used at, in, on for time and place</a:t>
            </a:r>
            <a:endParaRPr lang="en-US" sz="1350" dirty="0"/>
          </a:p>
        </p:txBody>
      </p:sp>
      <p:sp>
        <p:nvSpPr>
          <p:cNvPr id="21" name="R2_tk577"/>
          <p:cNvSpPr/>
          <p:nvPr/>
        </p:nvSpPr>
        <p:spPr>
          <a:xfrm>
            <a:off x="5989320" y="20574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2" name="cd_578"/>
          <p:cNvSpPr/>
          <p:nvPr/>
        </p:nvSpPr>
        <p:spPr>
          <a:xfrm>
            <a:off x="548640" y="2624328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te_579"/>
          <p:cNvSpPr/>
          <p:nvPr/>
        </p:nvSpPr>
        <p:spPr>
          <a:xfrm>
            <a:off x="640080" y="2660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⏸</a:t>
            </a:r>
            <a:endParaRPr lang="en-US" sz="1800" dirty="0"/>
          </a:p>
        </p:txBody>
      </p:sp>
      <p:sp>
        <p:nvSpPr>
          <p:cNvPr id="24" name="tt_580"/>
          <p:cNvSpPr/>
          <p:nvPr/>
        </p:nvSpPr>
        <p:spPr>
          <a:xfrm>
            <a:off x="1188720" y="262432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Practised past continuous: I was walking when…</a:t>
            </a:r>
            <a:endParaRPr lang="en-US" sz="1350" dirty="0"/>
          </a:p>
        </p:txBody>
      </p:sp>
      <p:sp>
        <p:nvSpPr>
          <p:cNvPr id="25" name="R3_tk581"/>
          <p:cNvSpPr/>
          <p:nvPr/>
        </p:nvSpPr>
        <p:spPr>
          <a:xfrm>
            <a:off x="5989320" y="2660904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6" name="cd_582"/>
          <p:cNvSpPr/>
          <p:nvPr/>
        </p:nvSpPr>
        <p:spPr>
          <a:xfrm>
            <a:off x="548640" y="3227832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7" name="te_583"/>
          <p:cNvSpPr/>
          <p:nvPr/>
        </p:nvSpPr>
        <p:spPr>
          <a:xfrm>
            <a:off x="640080" y="3264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📖</a:t>
            </a:r>
            <a:endParaRPr lang="en-US" sz="1800" dirty="0"/>
          </a:p>
        </p:txBody>
      </p:sp>
      <p:sp>
        <p:nvSpPr>
          <p:cNvPr id="28" name="tt_584"/>
          <p:cNvSpPr/>
          <p:nvPr/>
        </p:nvSpPr>
        <p:spPr>
          <a:xfrm>
            <a:off x="1188720" y="3227832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Listened to a class story and answered questions</a:t>
            </a:r>
            <a:endParaRPr lang="en-US" sz="1350" dirty="0"/>
          </a:p>
        </p:txBody>
      </p:sp>
      <p:sp>
        <p:nvSpPr>
          <p:cNvPr id="29" name="R4_tk585"/>
          <p:cNvSpPr/>
          <p:nvPr/>
        </p:nvSpPr>
        <p:spPr>
          <a:xfrm>
            <a:off x="5989320" y="326440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0" name="cd_586"/>
          <p:cNvSpPr/>
          <p:nvPr/>
        </p:nvSpPr>
        <p:spPr>
          <a:xfrm>
            <a:off x="548640" y="3831336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1" name="te_587"/>
          <p:cNvSpPr/>
          <p:nvPr/>
        </p:nvSpPr>
        <p:spPr>
          <a:xfrm>
            <a:off x="640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💬</a:t>
            </a:r>
            <a:endParaRPr lang="en-US" sz="1800" dirty="0"/>
          </a:p>
        </p:txBody>
      </p:sp>
      <p:sp>
        <p:nvSpPr>
          <p:cNvPr id="32" name="tt_588"/>
          <p:cNvSpPr/>
          <p:nvPr/>
        </p:nvSpPr>
        <p:spPr>
          <a:xfrm>
            <a:off x="1188720" y="3831336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Talked about your favourite photo</a:t>
            </a:r>
            <a:endParaRPr lang="en-US" sz="1350" dirty="0"/>
          </a:p>
        </p:txBody>
      </p:sp>
      <p:sp>
        <p:nvSpPr>
          <p:cNvPr id="33" name="R5_tk589"/>
          <p:cNvSpPr/>
          <p:nvPr/>
        </p:nvSpPr>
        <p:spPr>
          <a:xfrm>
            <a:off x="5989320" y="386791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4" name="st_590"/>
          <p:cNvSpPr/>
          <p:nvPr/>
        </p:nvSpPr>
        <p:spPr>
          <a:xfrm rot="180000">
            <a:off x="6949440" y="1691640"/>
            <a:ext cx="1828800" cy="1188720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👍  👌  👎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do it now?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Ora sai farlo?</a:t>
            </a:r>
            <a:endParaRPr lang="en-US" sz="13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v_591"/>
          <p:cNvSpPr/>
          <p:nvPr/>
        </p:nvSpPr>
        <p:spPr>
          <a:xfrm>
            <a:off x="4023360" y="91440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⭐</a:t>
            </a:r>
            <a:endParaRPr lang="en-US" sz="5400" dirty="0"/>
          </a:p>
        </p:txBody>
      </p:sp>
      <p:sp>
        <p:nvSpPr>
          <p:cNvPr id="4" name="dvt_592"/>
          <p:cNvSpPr/>
          <p:nvPr/>
        </p:nvSpPr>
        <p:spPr>
          <a:xfrm>
            <a:off x="914400" y="18288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Optional extensions</a:t>
            </a:r>
            <a:endParaRPr lang="en-US" sz="3400" dirty="0"/>
          </a:p>
        </p:txBody>
      </p:sp>
      <p:sp>
        <p:nvSpPr>
          <p:cNvPr id="5" name="dvs_593"/>
          <p:cNvSpPr/>
          <p:nvPr/>
        </p:nvSpPr>
        <p:spPr>
          <a:xfrm>
            <a:off x="914400" y="2606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Only if there's time – the lesson is finished. · Solo se c'è tempo – la lezione è finita.</a:t>
            </a:r>
            <a:endParaRPr lang="en-US" sz="1250" dirty="0"/>
          </a:p>
        </p:txBody>
      </p:sp>
      <p:pic>
        <p:nvPicPr>
          <p:cNvPr id="6" name="logo_594" descr="/home/claude/lls-course/v2/img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9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21</a:t>
            </a:r>
            <a:endParaRPr lang="en-US" sz="2200" dirty="0"/>
          </a:p>
        </p:txBody>
      </p:sp>
      <p:pic>
        <p:nvPicPr>
          <p:cNvPr id="4" name="brY_59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405226" cy="621792"/>
          </a:xfrm>
          <a:prstGeom prst="rect">
            <a:avLst/>
          </a:prstGeom>
        </p:spPr>
      </p:pic>
      <p:sp>
        <p:nvSpPr>
          <p:cNvPr id="5" name="title_597"/>
          <p:cNvSpPr/>
          <p:nvPr/>
        </p:nvSpPr>
        <p:spPr>
          <a:xfrm>
            <a:off x="1261872" y="164592"/>
            <a:ext cx="31309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Prepositions race</a:t>
            </a:r>
            <a:endParaRPr lang="en-US" sz="2500" dirty="0"/>
          </a:p>
        </p:txBody>
      </p:sp>
      <p:pic>
        <p:nvPicPr>
          <p:cNvPr id="6" name="brP_59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599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Teams: at, in or on? Say the whole phrase!</a:t>
            </a:r>
            <a:endParaRPr lang="en-US" sz="1250" dirty="0"/>
          </a:p>
        </p:txBody>
      </p:sp>
      <p:sp>
        <p:nvSpPr>
          <p:cNvPr id="8" name="insIT_60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Squadre: at, in o on? Di' la frase intera!</a:t>
            </a:r>
            <a:endParaRPr lang="en-US" sz="950" dirty="0"/>
          </a:p>
        </p:txBody>
      </p:sp>
      <p:sp>
        <p:nvSpPr>
          <p:cNvPr id="9" name="cmd_601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🎲 </a:t>
            </a:r>
            <a:pPr algn="ctr" indent="0" marL="0">
              <a:buNone/>
            </a:pPr>
            <a:r>
              <a:rPr lang="en-US" sz="95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950" dirty="0"/>
          </a:p>
        </p:txBody>
      </p:sp>
      <p:sp>
        <p:nvSpPr>
          <p:cNvPr id="10" name="meta_602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🏆 teams</a:t>
            </a:r>
            <a:endParaRPr lang="en-US" sz="950" dirty="0"/>
          </a:p>
        </p:txBody>
      </p:sp>
      <p:sp>
        <p:nvSpPr>
          <p:cNvPr id="11" name="tag_603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 game</a:t>
            </a:r>
            <a:endParaRPr lang="en-US" sz="750" dirty="0"/>
          </a:p>
        </p:txBody>
      </p:sp>
      <p:pic>
        <p:nvPicPr>
          <p:cNvPr id="12" name="logo_60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60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Vocabulary game · at / in / on   ·   📖 VB p.153 · audio 2.10</a:t>
            </a:r>
            <a:endParaRPr lang="en-US" sz="800" dirty="0"/>
          </a:p>
        </p:txBody>
      </p:sp>
      <p:sp>
        <p:nvSpPr>
          <p:cNvPr id="14" name="ext_606"/>
          <p:cNvSpPr/>
          <p:nvPr/>
        </p:nvSpPr>
        <p:spPr>
          <a:xfrm>
            <a:off x="5120640" y="4727448"/>
            <a:ext cx="3291840" cy="310896"/>
          </a:xfrm>
          <a:prstGeom prst="roundRect">
            <a:avLst>
              <a:gd name="adj" fmla="val 50000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⭐ OPTIONAL EXTENSION · only if there's time</a:t>
            </a:r>
            <a:endParaRPr lang="en-US" sz="1050" dirty="0"/>
          </a:p>
        </p:txBody>
      </p:sp>
      <p:sp>
        <p:nvSpPr>
          <p:cNvPr id="15" name="cd_607"/>
          <p:cNvSpPr/>
          <p:nvPr/>
        </p:nvSpPr>
        <p:spPr>
          <a:xfrm>
            <a:off x="320040" y="1417320"/>
            <a:ext cx="2697480" cy="1840992"/>
          </a:xfrm>
          <a:prstGeom prst="roundRect">
            <a:avLst>
              <a:gd name="adj" fmla="val 6954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608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7" name="ih_609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8" name="il_610"/>
          <p:cNvSpPr/>
          <p:nvPr/>
        </p:nvSpPr>
        <p:spPr>
          <a:xfrm>
            <a:off x="886968" y="1911096"/>
            <a:ext cx="2039112" cy="1274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Teacher says a word. Your team says at, in or on + the word.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Right = 1 point. A sentence about YOU = 1 more!</a:t>
            </a:r>
            <a:endParaRPr lang="en-US" sz="1150" dirty="0"/>
          </a:p>
        </p:txBody>
      </p:sp>
      <p:sp>
        <p:nvSpPr>
          <p:cNvPr id="19" name="st_611"/>
          <p:cNvSpPr/>
          <p:nvPr/>
        </p:nvSpPr>
        <p:spPr>
          <a:xfrm rot="-180000">
            <a:off x="502920" y="3441192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20" name="bd_612"/>
          <p:cNvSpPr/>
          <p:nvPr/>
        </p:nvSpPr>
        <p:spPr>
          <a:xfrm>
            <a:off x="3246120" y="1401064"/>
            <a:ext cx="329184" cy="329184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e.g.</a:t>
            </a:r>
            <a:endParaRPr lang="en-US" sz="500" dirty="0"/>
          </a:p>
        </p:txBody>
      </p:sp>
      <p:sp>
        <p:nvSpPr>
          <p:cNvPr id="21" name="gq_613"/>
          <p:cNvSpPr/>
          <p:nvPr/>
        </p:nvSpPr>
        <p:spPr>
          <a:xfrm>
            <a:off x="3657600" y="141732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weekend</a:t>
            </a:r>
            <a:endParaRPr lang="en-US" sz="1250" dirty="0"/>
          </a:p>
        </p:txBody>
      </p:sp>
      <p:sp>
        <p:nvSpPr>
          <p:cNvPr id="22" name="chip_614"/>
          <p:cNvSpPr/>
          <p:nvPr/>
        </p:nvSpPr>
        <p:spPr>
          <a:xfrm>
            <a:off x="6263640" y="141732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at the weekend – I sleep a lot at the weekend.</a:t>
            </a:r>
            <a:endParaRPr lang="en-US" sz="800" dirty="0"/>
          </a:p>
        </p:txBody>
      </p:sp>
      <p:sp>
        <p:nvSpPr>
          <p:cNvPr id="23" name="bd_615"/>
          <p:cNvSpPr/>
          <p:nvPr/>
        </p:nvSpPr>
        <p:spPr>
          <a:xfrm>
            <a:off x="3246120" y="176174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gq_616"/>
          <p:cNvSpPr/>
          <p:nvPr/>
        </p:nvSpPr>
        <p:spPr>
          <a:xfrm>
            <a:off x="3657600" y="177800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July</a:t>
            </a:r>
            <a:endParaRPr lang="en-US" sz="1250" dirty="0"/>
          </a:p>
        </p:txBody>
      </p:sp>
      <p:sp>
        <p:nvSpPr>
          <p:cNvPr id="25" name="R1_chip617"/>
          <p:cNvSpPr/>
          <p:nvPr/>
        </p:nvSpPr>
        <p:spPr>
          <a:xfrm>
            <a:off x="6263640" y="177800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in July</a:t>
            </a:r>
            <a:endParaRPr lang="en-US" sz="900" dirty="0"/>
          </a:p>
        </p:txBody>
      </p:sp>
      <p:sp>
        <p:nvSpPr>
          <p:cNvPr id="26" name="bd_618"/>
          <p:cNvSpPr/>
          <p:nvPr/>
        </p:nvSpPr>
        <p:spPr>
          <a:xfrm>
            <a:off x="3246120" y="2122424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7" name="gq_619"/>
          <p:cNvSpPr/>
          <p:nvPr/>
        </p:nvSpPr>
        <p:spPr>
          <a:xfrm>
            <a:off x="3657600" y="213868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Monday morning</a:t>
            </a:r>
            <a:endParaRPr lang="en-US" sz="1250" dirty="0"/>
          </a:p>
        </p:txBody>
      </p:sp>
      <p:sp>
        <p:nvSpPr>
          <p:cNvPr id="28" name="R2_chip620"/>
          <p:cNvSpPr/>
          <p:nvPr/>
        </p:nvSpPr>
        <p:spPr>
          <a:xfrm>
            <a:off x="6263640" y="213868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on Monday morning</a:t>
            </a:r>
            <a:endParaRPr lang="en-US" sz="900" dirty="0"/>
          </a:p>
        </p:txBody>
      </p:sp>
      <p:sp>
        <p:nvSpPr>
          <p:cNvPr id="29" name="bd_621"/>
          <p:cNvSpPr/>
          <p:nvPr/>
        </p:nvSpPr>
        <p:spPr>
          <a:xfrm>
            <a:off x="3246120" y="248310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30" name="gq_622"/>
          <p:cNvSpPr/>
          <p:nvPr/>
        </p:nvSpPr>
        <p:spPr>
          <a:xfrm>
            <a:off x="3657600" y="249936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night</a:t>
            </a:r>
            <a:endParaRPr lang="en-US" sz="1250" dirty="0"/>
          </a:p>
        </p:txBody>
      </p:sp>
      <p:sp>
        <p:nvSpPr>
          <p:cNvPr id="31" name="R3_chip623"/>
          <p:cNvSpPr/>
          <p:nvPr/>
        </p:nvSpPr>
        <p:spPr>
          <a:xfrm>
            <a:off x="6263640" y="249936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at night</a:t>
            </a:r>
            <a:endParaRPr lang="en-US" sz="900" dirty="0"/>
          </a:p>
        </p:txBody>
      </p:sp>
      <p:sp>
        <p:nvSpPr>
          <p:cNvPr id="32" name="bd_624"/>
          <p:cNvSpPr/>
          <p:nvPr/>
        </p:nvSpPr>
        <p:spPr>
          <a:xfrm>
            <a:off x="3246120" y="2843784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3" name="gq_625"/>
          <p:cNvSpPr/>
          <p:nvPr/>
        </p:nvSpPr>
        <p:spPr>
          <a:xfrm>
            <a:off x="3657600" y="286004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1990s</a:t>
            </a:r>
            <a:endParaRPr lang="en-US" sz="1250" dirty="0"/>
          </a:p>
        </p:txBody>
      </p:sp>
      <p:sp>
        <p:nvSpPr>
          <p:cNvPr id="34" name="R4_chip626"/>
          <p:cNvSpPr/>
          <p:nvPr/>
        </p:nvSpPr>
        <p:spPr>
          <a:xfrm>
            <a:off x="6263640" y="286004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in the 1990s</a:t>
            </a:r>
            <a:endParaRPr lang="en-US" sz="900" dirty="0"/>
          </a:p>
        </p:txBody>
      </p:sp>
      <p:sp>
        <p:nvSpPr>
          <p:cNvPr id="35" name="bd_627"/>
          <p:cNvSpPr/>
          <p:nvPr/>
        </p:nvSpPr>
        <p:spPr>
          <a:xfrm>
            <a:off x="3246120" y="320446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6" name="gq_628"/>
          <p:cNvSpPr/>
          <p:nvPr/>
        </p:nvSpPr>
        <p:spPr>
          <a:xfrm>
            <a:off x="3657600" y="322072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 birthday</a:t>
            </a:r>
            <a:endParaRPr lang="en-US" sz="1250" dirty="0"/>
          </a:p>
        </p:txBody>
      </p:sp>
      <p:sp>
        <p:nvSpPr>
          <p:cNvPr id="37" name="R5_chip629"/>
          <p:cNvSpPr/>
          <p:nvPr/>
        </p:nvSpPr>
        <p:spPr>
          <a:xfrm>
            <a:off x="6263640" y="322072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on my birthday</a:t>
            </a:r>
            <a:endParaRPr lang="en-US" sz="900" dirty="0"/>
          </a:p>
        </p:txBody>
      </p:sp>
      <p:sp>
        <p:nvSpPr>
          <p:cNvPr id="38" name="bd_630"/>
          <p:cNvSpPr/>
          <p:nvPr/>
        </p:nvSpPr>
        <p:spPr>
          <a:xfrm>
            <a:off x="3246120" y="3565144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9" name="gq_631"/>
          <p:cNvSpPr/>
          <p:nvPr/>
        </p:nvSpPr>
        <p:spPr>
          <a:xfrm>
            <a:off x="3657600" y="358140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station</a:t>
            </a:r>
            <a:endParaRPr lang="en-US" sz="1250" dirty="0"/>
          </a:p>
        </p:txBody>
      </p:sp>
      <p:sp>
        <p:nvSpPr>
          <p:cNvPr id="40" name="R6_chip632"/>
          <p:cNvSpPr/>
          <p:nvPr/>
        </p:nvSpPr>
        <p:spPr>
          <a:xfrm>
            <a:off x="6263640" y="358140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at the station</a:t>
            </a:r>
            <a:endParaRPr lang="en-US" sz="900" dirty="0"/>
          </a:p>
        </p:txBody>
      </p:sp>
      <p:sp>
        <p:nvSpPr>
          <p:cNvPr id="41" name="bd_633"/>
          <p:cNvSpPr/>
          <p:nvPr/>
        </p:nvSpPr>
        <p:spPr>
          <a:xfrm>
            <a:off x="3246120" y="392582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100" dirty="0"/>
          </a:p>
        </p:txBody>
      </p:sp>
      <p:sp>
        <p:nvSpPr>
          <p:cNvPr id="42" name="gq_634"/>
          <p:cNvSpPr/>
          <p:nvPr/>
        </p:nvSpPr>
        <p:spPr>
          <a:xfrm>
            <a:off x="3657600" y="394208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car</a:t>
            </a:r>
            <a:endParaRPr lang="en-US" sz="1250" dirty="0"/>
          </a:p>
        </p:txBody>
      </p:sp>
      <p:sp>
        <p:nvSpPr>
          <p:cNvPr id="43" name="R7_chip635"/>
          <p:cNvSpPr/>
          <p:nvPr/>
        </p:nvSpPr>
        <p:spPr>
          <a:xfrm>
            <a:off x="6263640" y="394208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in a car</a:t>
            </a:r>
            <a:endParaRPr lang="en-US" sz="900" dirty="0"/>
          </a:p>
        </p:txBody>
      </p:sp>
      <p:sp>
        <p:nvSpPr>
          <p:cNvPr id="44" name="bd_636"/>
          <p:cNvSpPr/>
          <p:nvPr/>
        </p:nvSpPr>
        <p:spPr>
          <a:xfrm>
            <a:off x="3246120" y="4286504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1100" dirty="0"/>
          </a:p>
        </p:txBody>
      </p:sp>
      <p:sp>
        <p:nvSpPr>
          <p:cNvPr id="45" name="gq_637"/>
          <p:cNvSpPr/>
          <p:nvPr/>
        </p:nvSpPr>
        <p:spPr>
          <a:xfrm>
            <a:off x="3657600" y="430276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bus</a:t>
            </a:r>
            <a:endParaRPr lang="en-US" sz="1250" dirty="0"/>
          </a:p>
        </p:txBody>
      </p:sp>
      <p:sp>
        <p:nvSpPr>
          <p:cNvPr id="46" name="R8_chip638"/>
          <p:cNvSpPr/>
          <p:nvPr/>
        </p:nvSpPr>
        <p:spPr>
          <a:xfrm>
            <a:off x="6263640" y="430276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on the bus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2B That's me in the picture!</dc:title>
  <dc:subject>PptxGenJS Presentation</dc:subject>
  <dc:creator>PptxGenJS</dc:creator>
  <cp:lastModifiedBy>PptxGenJS</cp:lastModifiedBy>
  <cp:revision>1</cp:revision>
  <dcterms:created xsi:type="dcterms:W3CDTF">2026-10-19T08:05:53Z</dcterms:created>
  <dcterms:modified xsi:type="dcterms:W3CDTF">2026-10-19T08:05:53Z</dcterms:modified>
</cp:coreProperties>
</file>