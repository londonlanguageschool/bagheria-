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mp3" ContentType="audio/mpeg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OPENING (2 min). TG lead-in: write PHOTO on the board – short for photograph; we TAKE a photo. Teach photographer / photography and the stress: PHOtograph, phoTOgrapher, phoTOgraphy. Show the photo (Henri Cartier-Bresson, famous French photographer, 1908–2004). Ask the THINK question; take 3–4 guesses. Click: the example. Don't say the answer – it's in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last lesson (3 min)
REVISION (3 min). Pairs ask about their last holiday (3 questions each, past simple). 2 students tell the class. Today: the past simple's partner – the past continuous (what WAS happening).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Reading · prediction (3 min)
PREDICTION (3 min). Check: a decade = 10 years (the 1970s); time of year = season. Pairs guess and say why. DON'T click yet: students read the article on the next 2 slides, then come back – or click at the end of the reading. Answers (TG 1b): 1 the 1970s · 2 autumn · 3 an owl in a tree · 4 bread, to give the animals in the zoo.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Reading · Jane's story 1/2 (4 min)
READING 1/2 (4 min). The article is ON THE SLIDE (the book's text, very slightly shortened). Students read and check their guesses, then complete the gaps with at / in / on (SB 2a sentences are inside the text). Click once per sentence. Answers (TG 2a): 1 In 1972, in London · 2 at university · 3 On Sundays. Pre-teach only: advertising agency (agenzia pubblicitaria), fall in love.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Reading · Jane's story 2/2 (4 min)
READING 2/2 (4 min). Students finish reading and check their guesses on slide 3 (go back and click the answers). Gap 4 (TG 2a): We were walking in the gardens one Sunday in autumn. Then ask: Were your guesses right? Who guessed the owl?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Reading · detail (4 min)
DETAIL (4 min). SB 1c. Pairs answer from the text; click once per question. Answers (TG): 1 She was living in London, in her early twenties, working for an advertising agency. 2 At a nightclub on a beach in the south of France; she found a job in Paris to be with him. 3 They went for a walk. 4 They heard a lot of noise from a tree – some little birds were attacking an owl. 5 She called Cartier-Bresson and he sent her a copy. 6 Because it was a happy time for her. 1d (whole class): Is there a photo with YOU in it that you really love?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Vocabulary · prepositions (4 min)
VOCABULARY (4 min). Elicit each column before clicking. 2.10 is long (the whole Vocabulary Bank) – play only part of it, or drill yourself. TG notes: at / in + shops and buildings are both OK at this level (at / in the supermarket); airport and station → at. Years from 2011 → twenty eleven. in the morning BUT at night.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Vocabulary game (3 min)
GAME (3 min). TG Activation as a team race. Click once per line. Then 1 minute in pairs: A says a word (home, Friday, August…), B says the preposition (book closed).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Grammar · past continuous (3 min)
GUIDED DISCOVERY (3 min). SB 3a: look at the highlighted verbs – which describe 1) an action in progress at a specific moment in the past, 2) the situation at the beginning of the story? Click once per sentence. Answers (TG): 1 were looking (when Cartier-Bresson took the photo) · 2 was living, was working. Elicit the form: was / were + -ing – like the present continuous, but was / were.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Grammar · past continuous (4 min)
POP-UP GRAMMAR (4 min). Elicit each column before clicking. TG grammar notes: we use the past continuous at the beginning of a story to set the scene; very often the 'action in progress' is interrupted by a short, completed action (past simple). when + past simple, while / when + past continuous. Grammar Bank audio 2.11 and 2.12 (listen and repeat) are not in our audio folder – play them from the book, or model the examples yourself and get students to copy the rhythm.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Speaking · class story (TPRS) (5 min)
TPRS CLASS STORY (5 min) – the past continuous + past simple, many times, before the practice. Click once per line. For each line: 1) say it, 2) ask the questions round the class (yes/no → either/or → what/where), 3) let the CLASS change details (accept their idea and use it in later lines): 'Was Luca wearing pyjamas? No? What was he wearing?' Students answer with one word or a short phrase – that's fine; repeat the full sentence yourself. Highlight the pattern: long action (was / were -ing) + short action (past simple). Finish: 'What happened next?'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Grammar · practice (4 min)
CONTROLLED PRACTICE (4 min). Grammar Bank 2B a (the book's sentences, answers from the TG). Pairs say the full sentence; click once per line. Remember: the short action = past simple (went, gave, started).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Grammar game · mime (3 min)
GAME (3 min). SB 3c uses sound effects (audio 2.13, not in our folder). Without the audio: a volunteer mimes BOTH actions (long, then short), teams say the sentence. With the book audio: play each sound effect, pairs write the sentence. Click once per line to show the book's answer (TG 2.13).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Pronunciation · weak forms (3 min)
WEAK FORMS (3 min). Audio 2.14 is not in our folder: play it from the book, or read the sentences yourself at natural speed (was = /wəz/, were = /wə/ – unstressed). Answers (TG): 1 It was · 2 was staying · 3 were doing · 4 We were · 5 were visiting · 6 were…drinking, was doing. 4c: was and were are UNSTRESSED in positive sentences (strong /wɒz/ /wɜː/ only in short answers: Yes, I was). Drill: I was staying /aɪ wəz ˈsteɪɪŋ/.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Listening · Anya's photos (5 min)
LISTENING (5 min). Audio 2.15 is not in our folder: play it from the book, or read the script yourself (2 voices: Anya + friend). Script (TG): 1 This is me and my mum in York. It was my first term at university, and she came to visit me, and I took her on a tour round the city. – Is that the cathedral? – Yes, it's called York Minster. 2 This one's on the beach in Cornwall with my boyfriend, Ollie. I was staying with him in the Easter holidays, and we went for a walk. – It looks windy! – Yes, it was really windy and cold. 3 That's me and my friend Maisie. We were doing a music course, and this was at the party at the end of the course – the teachers made a corner with a big frame, hats and moustaches. 4 Me and two of my best friends – we were at school together. Libby has a house by the river, and we went there in September. 5 In Rome – I was there with my mum the summer before I went to university. She took this when we were visiting the Colosseum. 6 That's my mum, her partner and my sister Roz, on the river in Oxford. Every year we go punting. We were all drinking champagne, and Roz was doing the hard work! Answers: E 1 · C 2 · A 3 · F 4 · B 5 · D 6. Glossary: punt = a long flat boat (Oxford, Cambridge). 4e: what else do you remember about each photo?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Speaking · your photos (5 min)
SPEAKING (5 min). Questions one per click; model each with your own photo. Students SHOW real photos on their phones (great for the past continuous: What were you doing? Who were you with?). Note errors with was / were + -ing for 1 minute of correction.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Exit · what can you remember? (2 min)
RETRIEVAL EXIT (2 min). Books closed. Set homework: Workbook 2B + Grammar Bank 2B exercise b (answers TG: 1 I broke my arm when I was playing football. 2 Were you driving fast when the police stopped you? 3 It was snowing when we left the pub. 4 I didn't see the match because I was working. 5 When you called me I was talking to my boss. 6 We were studying in Cambridge when we met. 7 Were they living in Rome when they had their first baby?) + Writing p.114 'Describing a photo' (use the questions from the speaking: Who took it? When? What was happening? Why do you like it?).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Review · what did you do today? (1 min)
TODAY YOU… (1 min). Read each line (one per click: the tick appears). Students show thumbs up / middle / down: can they do it now? Note any thumbs down for the next lesson's recap.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Book audio · 2B (0 min)
EXTRA. 2.10 is the whole Vocabulary Bank list – good for revision.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audio" Target="../media/media-7-5.mp3"/><Relationship Id="rId6" Type="http://schemas.microsoft.com/office/2007/relationships/media" Target="../media/media-7-5.mp3"/><Relationship Id="rId7" Type="http://schemas.openxmlformats.org/officeDocument/2006/relationships/image" Target="../media/image-7-7.png"/><Relationship Id="rId8" Type="http://schemas.openxmlformats.org/officeDocument/2006/relationships/audio" Target="../media/media-7-8.mp3"/><Relationship Id="rId9" Type="http://schemas.microsoft.com/office/2007/relationships/media" Target="../media/media-7-8.mp3"/><Relationship Id="rId10" Type="http://schemas.openxmlformats.org/officeDocument/2006/relationships/image" Target="../media/image-7-10.png"/><Relationship Id="rId11" Type="http://schemas.openxmlformats.org/officeDocument/2006/relationships/image" Target="../media/image-7-11.png"/><Relationship Id="rId12" Type="http://schemas.openxmlformats.org/officeDocument/2006/relationships/image" Target="../media/image-7-12.png"/><Relationship Id="rId13" Type="http://schemas.openxmlformats.org/officeDocument/2006/relationships/image" Target="../media/image-7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audio" Target="../media/media-19-6.mp3"/><Relationship Id="rId7" Type="http://schemas.microsoft.com/office/2007/relationships/media" Target="../media/media-19-6.mp3"/><Relationship Id="rId8" Type="http://schemas.openxmlformats.org/officeDocument/2006/relationships/image" Target="../media/image-1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English File Pre-intermediate · SB pp.16–17 · VB p.153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2B</a:t>
            </a:r>
            <a:endParaRPr lang="en-US" sz="28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That's me in the picture!</a:t>
            </a:r>
            <a:endParaRPr lang="en-US" sz="19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Photos, stories and the past continuous</a:t>
            </a:r>
            <a:endParaRPr lang="en-US" sz="105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24328"/>
            <a:ext cx="35478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📷  read the true story behind a famous photo</a:t>
            </a:r>
            <a:endParaRPr lang="en-US" sz="10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📍  use at, in, on for time and place</a:t>
            </a:r>
            <a:endParaRPr lang="en-US" sz="10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⏸  past continuous: I was walking when…</a:t>
            </a:r>
            <a:endParaRPr lang="en-US" sz="10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📖  listen to a class story and answer questions</a:t>
            </a:r>
            <a:endParaRPr lang="en-US" sz="10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💬  talk about your favourite photo</a:t>
            </a:r>
            <a:endParaRPr lang="en-US" sz="100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19050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Maybe they're looking at a bird in a tree!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a2_2b_couple_jpg_935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4892040" y="822960"/>
            <a:ext cx="3886200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Paris, a park, a couple… What are they looking at?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last lesson?</a:t>
            </a:r>
            <a:endParaRPr lang="en-US" sz="24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your partner: Where did you go on your last holiday?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Chiedi al compagno: Dove sei andato nella tua ultima vacanza?</a:t>
            </a:r>
            <a:endParaRPr lang="en-US" sz="950" dirty="0"/>
          </a:p>
        </p:txBody>
      </p:sp>
      <p:sp>
        <p:nvSpPr>
          <p:cNvPr id="9" name="cmd_2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24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🙋 whole class</a:t>
            </a:r>
            <a:endParaRPr lang="en-US" sz="950" dirty="0"/>
          </a:p>
        </p:txBody>
      </p:sp>
      <p:sp>
        <p:nvSpPr>
          <p:cNvPr id="11" name="tag_25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Retrieval</a:t>
            </a:r>
            <a:endParaRPr lang="en-US" sz="850" dirty="0"/>
          </a:p>
        </p:txBody>
      </p:sp>
      <p:pic>
        <p:nvPicPr>
          <p:cNvPr id="12" name="logo_2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Revision · last lesson</a:t>
            </a:r>
            <a:endParaRPr lang="en-US" sz="800" dirty="0"/>
          </a:p>
        </p:txBody>
      </p:sp>
      <p:sp>
        <p:nvSpPr>
          <p:cNvPr id="14" name="pf_28"/>
          <p:cNvSpPr/>
          <p:nvPr/>
        </p:nvSpPr>
        <p:spPr>
          <a:xfrm rot="-120000">
            <a:off x="365760" y="1371600"/>
            <a:ext cx="2651760" cy="182880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29" descr="/home/claude/lls-course/v2/cache/a2_2b_anya_b_jpg_616x418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11480" y="1417320"/>
            <a:ext cx="2560320" cy="1737360"/>
          </a:xfrm>
          <a:prstGeom prst="rect">
            <a:avLst/>
          </a:prstGeom>
        </p:spPr>
      </p:pic>
      <p:sp>
        <p:nvSpPr>
          <p:cNvPr id="16" name="cd_30"/>
          <p:cNvSpPr/>
          <p:nvPr/>
        </p:nvSpPr>
        <p:spPr>
          <a:xfrm>
            <a:off x="320040" y="3383280"/>
            <a:ext cx="2743200" cy="1325880"/>
          </a:xfrm>
          <a:prstGeom prst="roundRect">
            <a:avLst>
              <a:gd name="adj" fmla="val 9655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31"/>
          <p:cNvSpPr/>
          <p:nvPr/>
        </p:nvSpPr>
        <p:spPr>
          <a:xfrm>
            <a:off x="411480" y="3456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8" name="ih_32"/>
          <p:cNvSpPr/>
          <p:nvPr/>
        </p:nvSpPr>
        <p:spPr>
          <a:xfrm>
            <a:off x="886968" y="3474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 lesson…</a:t>
            </a:r>
            <a:endParaRPr lang="en-US" sz="1300" dirty="0"/>
          </a:p>
        </p:txBody>
      </p:sp>
      <p:sp>
        <p:nvSpPr>
          <p:cNvPr id="19" name="il_33"/>
          <p:cNvSpPr/>
          <p:nvPr/>
        </p:nvSpPr>
        <p:spPr>
          <a:xfrm>
            <a:off x="886968" y="3858768"/>
            <a:ext cx="2084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2A: holidays, past simple</a:t>
            </a:r>
            <a:endParaRPr lang="en-US" sz="11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-ed endings /t/ /d/ /ɪd/</a:t>
            </a:r>
            <a:endParaRPr lang="en-US" sz="1100" dirty="0"/>
          </a:p>
        </p:txBody>
      </p:sp>
      <p:sp>
        <p:nvSpPr>
          <p:cNvPr id="20" name="cd_34"/>
          <p:cNvSpPr/>
          <p:nvPr/>
        </p:nvSpPr>
        <p:spPr>
          <a:xfrm>
            <a:off x="324612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rh_35"/>
          <p:cNvSpPr/>
          <p:nvPr/>
        </p:nvSpPr>
        <p:spPr>
          <a:xfrm>
            <a:off x="335584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Past simple</a:t>
            </a:r>
            <a:endParaRPr lang="en-US" sz="1200" dirty="0"/>
          </a:p>
        </p:txBody>
      </p:sp>
      <p:sp>
        <p:nvSpPr>
          <p:cNvPr id="22" name="rl_36"/>
          <p:cNvSpPr/>
          <p:nvPr/>
        </p:nvSpPr>
        <p:spPr>
          <a:xfrm>
            <a:off x="338328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went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to Rome. We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stayed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in a hotel.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didn't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take my passport!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Did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you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 good time? – Yes, I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did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150" dirty="0"/>
          </a:p>
        </p:txBody>
      </p:sp>
      <p:sp>
        <p:nvSpPr>
          <p:cNvPr id="23" name="cd_37"/>
          <p:cNvSpPr/>
          <p:nvPr/>
        </p:nvSpPr>
        <p:spPr>
          <a:xfrm>
            <a:off x="612648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4" name="rh_38"/>
          <p:cNvSpPr/>
          <p:nvPr/>
        </p:nvSpPr>
        <p:spPr>
          <a:xfrm>
            <a:off x="623620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Holidays</a:t>
            </a:r>
            <a:endParaRPr lang="en-US" sz="1200" dirty="0"/>
          </a:p>
        </p:txBody>
      </p:sp>
      <p:sp>
        <p:nvSpPr>
          <p:cNvPr id="25" name="rl_39"/>
          <p:cNvSpPr/>
          <p:nvPr/>
        </p:nvSpPr>
        <p:spPr>
          <a:xfrm>
            <a:off x="626364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go abroad · go sightseeing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stay in a hotel · hire a car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/ were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: The weather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amazing.</a:t>
            </a:r>
            <a:endParaRPr lang="en-US" sz="1150" dirty="0"/>
          </a:p>
        </p:txBody>
      </p:sp>
      <p:sp>
        <p:nvSpPr>
          <p:cNvPr id="26" name="kw_40"/>
          <p:cNvSpPr/>
          <p:nvPr/>
        </p:nvSpPr>
        <p:spPr>
          <a:xfrm>
            <a:off x="3246120" y="3867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KEY WORDS</a:t>
            </a:r>
            <a:endParaRPr lang="en-US" sz="1100" dirty="0"/>
          </a:p>
        </p:txBody>
      </p:sp>
      <p:sp>
        <p:nvSpPr>
          <p:cNvPr id="27" name="w_41"/>
          <p:cNvSpPr/>
          <p:nvPr/>
        </p:nvSpPr>
        <p:spPr>
          <a:xfrm>
            <a:off x="3246120" y="4178808"/>
            <a:ext cx="630936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went</a:t>
            </a:r>
            <a:endParaRPr lang="en-US" sz="1050" dirty="0"/>
          </a:p>
        </p:txBody>
      </p:sp>
      <p:sp>
        <p:nvSpPr>
          <p:cNvPr id="28" name="w_42"/>
          <p:cNvSpPr/>
          <p:nvPr/>
        </p:nvSpPr>
        <p:spPr>
          <a:xfrm>
            <a:off x="3950208" y="4178808"/>
            <a:ext cx="786384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stayed</a:t>
            </a:r>
            <a:endParaRPr lang="en-US" sz="1050" dirty="0"/>
          </a:p>
        </p:txBody>
      </p:sp>
      <p:sp>
        <p:nvSpPr>
          <p:cNvPr id="29" name="w_43"/>
          <p:cNvSpPr/>
          <p:nvPr/>
        </p:nvSpPr>
        <p:spPr>
          <a:xfrm>
            <a:off x="4809744" y="4178808"/>
            <a:ext cx="630936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took</a:t>
            </a:r>
            <a:endParaRPr lang="en-US" sz="1050" dirty="0"/>
          </a:p>
        </p:txBody>
      </p:sp>
      <p:sp>
        <p:nvSpPr>
          <p:cNvPr id="30" name="w_44"/>
          <p:cNvSpPr/>
          <p:nvPr/>
        </p:nvSpPr>
        <p:spPr>
          <a:xfrm>
            <a:off x="5513832" y="4178808"/>
            <a:ext cx="630936" cy="310896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lost</a:t>
            </a:r>
            <a:endParaRPr lang="en-US" sz="1050" dirty="0"/>
          </a:p>
        </p:txBody>
      </p:sp>
      <p:sp>
        <p:nvSpPr>
          <p:cNvPr id="31" name="w_45"/>
          <p:cNvSpPr/>
          <p:nvPr/>
        </p:nvSpPr>
        <p:spPr>
          <a:xfrm>
            <a:off x="6217920" y="4178808"/>
            <a:ext cx="786384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didn't</a:t>
            </a:r>
            <a:endParaRPr lang="en-US" sz="1050" dirty="0"/>
          </a:p>
        </p:txBody>
      </p:sp>
      <p:sp>
        <p:nvSpPr>
          <p:cNvPr id="32" name="w_46"/>
          <p:cNvSpPr/>
          <p:nvPr/>
        </p:nvSpPr>
        <p:spPr>
          <a:xfrm>
            <a:off x="7077456" y="4178808"/>
            <a:ext cx="553212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</a:t>
            </a:r>
            <a:endParaRPr lang="en-US" sz="1050" dirty="0"/>
          </a:p>
        </p:txBody>
      </p:sp>
      <p:sp>
        <p:nvSpPr>
          <p:cNvPr id="33" name="w_47"/>
          <p:cNvSpPr/>
          <p:nvPr/>
        </p:nvSpPr>
        <p:spPr>
          <a:xfrm>
            <a:off x="7703820" y="4178808"/>
            <a:ext cx="630936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were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4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50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What's the story?</a:t>
            </a:r>
            <a:endParaRPr lang="en-US" sz="2500" dirty="0"/>
          </a:p>
        </p:txBody>
      </p:sp>
      <p:pic>
        <p:nvPicPr>
          <p:cNvPr id="6" name="brP_5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727448" cy="402336"/>
          </a:xfrm>
          <a:prstGeom prst="rect">
            <a:avLst/>
          </a:prstGeom>
        </p:spPr>
      </p:pic>
      <p:sp>
        <p:nvSpPr>
          <p:cNvPr id="7" name="ins_52"/>
          <p:cNvSpPr/>
          <p:nvPr/>
        </p:nvSpPr>
        <p:spPr>
          <a:xfrm>
            <a:off x="1353312" y="731520"/>
            <a:ext cx="4471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Look at the photo. Guess! Then read and check.</a:t>
            </a:r>
            <a:endParaRPr lang="en-US" sz="1250" dirty="0"/>
          </a:p>
        </p:txBody>
      </p:sp>
      <p:sp>
        <p:nvSpPr>
          <p:cNvPr id="8" name="insIT_5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Guarda la foto. Indovina! Poi leggi e controlla.</a:t>
            </a:r>
            <a:endParaRPr lang="en-US" sz="950" dirty="0"/>
          </a:p>
        </p:txBody>
      </p:sp>
      <p:sp>
        <p:nvSpPr>
          <p:cNvPr id="9" name="cmd_5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LOOK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</a:t>
            </a:r>
            <a:endParaRPr lang="en-US" sz="1100" dirty="0"/>
          </a:p>
        </p:txBody>
      </p:sp>
      <p:sp>
        <p:nvSpPr>
          <p:cNvPr id="10" name="cmd_55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🤔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INDOVINA</a:t>
            </a:r>
            <a:endParaRPr lang="en-US" sz="1100" dirty="0"/>
          </a:p>
        </p:txBody>
      </p:sp>
      <p:sp>
        <p:nvSpPr>
          <p:cNvPr id="11" name="meta_56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2" name="tag_57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00" dirty="0"/>
          </a:p>
        </p:txBody>
      </p:sp>
      <p:pic>
        <p:nvPicPr>
          <p:cNvPr id="13" name="logo_5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5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Reading · prediction   ·   📖 SB p.16 · 1a, 1b (answers: TG)</a:t>
            </a:r>
            <a:endParaRPr lang="en-US" sz="800" dirty="0"/>
          </a:p>
        </p:txBody>
      </p:sp>
      <p:sp>
        <p:nvSpPr>
          <p:cNvPr id="15" name="cd_60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61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7" name="ih_62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8" name="il_63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why: I think it's the 1970s because of her coat.</a:t>
            </a:r>
            <a:endParaRPr lang="en-US" sz="1050" dirty="0"/>
          </a:p>
        </p:txBody>
      </p:sp>
      <p:sp>
        <p:nvSpPr>
          <p:cNvPr id="19" name="pf_64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65" descr="/home/claude/lls-course/v2/cache/a2_2b_couple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1" name="bd_66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q_67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decade is it from?</a:t>
            </a:r>
            <a:endParaRPr lang="en-US" sz="1150" dirty="0"/>
          </a:p>
        </p:txBody>
      </p:sp>
      <p:sp>
        <p:nvSpPr>
          <p:cNvPr id="23" name="R1_chip68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1970s (1972)</a:t>
            </a:r>
            <a:endParaRPr lang="en-US" sz="1000" dirty="0"/>
          </a:p>
        </p:txBody>
      </p:sp>
      <p:sp>
        <p:nvSpPr>
          <p:cNvPr id="24" name="bd_69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q_70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time of year is it?</a:t>
            </a:r>
            <a:endParaRPr lang="en-US" sz="1150" dirty="0"/>
          </a:p>
        </p:txBody>
      </p:sp>
      <p:sp>
        <p:nvSpPr>
          <p:cNvPr id="26" name="R2_chip71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autumn</a:t>
            </a:r>
            <a:endParaRPr lang="en-US" sz="1000" dirty="0"/>
          </a:p>
        </p:txBody>
      </p:sp>
      <p:sp>
        <p:nvSpPr>
          <p:cNvPr id="27" name="bd_72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q_73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are they looking at?</a:t>
            </a:r>
            <a:endParaRPr lang="en-US" sz="1150" dirty="0"/>
          </a:p>
        </p:txBody>
      </p:sp>
      <p:sp>
        <p:nvSpPr>
          <p:cNvPr id="29" name="R3_chip74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 owl in a tree</a:t>
            </a:r>
            <a:endParaRPr lang="en-US" sz="1000" dirty="0"/>
          </a:p>
        </p:txBody>
      </p:sp>
      <p:sp>
        <p:nvSpPr>
          <p:cNvPr id="30" name="bd_75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q_76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What's in the woman's pocket?</a:t>
            </a:r>
            <a:endParaRPr lang="en-US" sz="1150" dirty="0"/>
          </a:p>
        </p:txBody>
      </p:sp>
      <p:sp>
        <p:nvSpPr>
          <p:cNvPr id="32" name="R4_chip77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bread for the animals in the zoo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7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7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663440" cy="621792"/>
          </a:xfrm>
          <a:prstGeom prst="rect">
            <a:avLst/>
          </a:prstGeom>
        </p:spPr>
      </p:pic>
      <p:sp>
        <p:nvSpPr>
          <p:cNvPr id="5" name="title_80"/>
          <p:cNvSpPr/>
          <p:nvPr/>
        </p:nvSpPr>
        <p:spPr>
          <a:xfrm>
            <a:off x="1261872" y="164592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That's me in the picture!</a:t>
            </a:r>
            <a:endParaRPr lang="en-US" sz="2500" dirty="0"/>
          </a:p>
        </p:txBody>
      </p:sp>
      <p:pic>
        <p:nvPicPr>
          <p:cNvPr id="6" name="brP_8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074920" cy="402336"/>
          </a:xfrm>
          <a:prstGeom prst="rect">
            <a:avLst/>
          </a:prstGeom>
        </p:spPr>
      </p:pic>
      <p:sp>
        <p:nvSpPr>
          <p:cNvPr id="7" name="ins_82"/>
          <p:cNvSpPr/>
          <p:nvPr/>
        </p:nvSpPr>
        <p:spPr>
          <a:xfrm>
            <a:off x="1353312" y="731520"/>
            <a:ext cx="4818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Jane's story. Complete 1–3 with at, in or on.</a:t>
            </a:r>
            <a:endParaRPr lang="en-US" sz="1250" dirty="0"/>
          </a:p>
        </p:txBody>
      </p:sp>
      <p:sp>
        <p:nvSpPr>
          <p:cNvPr id="8" name="insIT_8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la storia di Jane. Completa 1–3 con at, in o on.</a:t>
            </a:r>
            <a:endParaRPr lang="en-US" sz="950" dirty="0"/>
          </a:p>
        </p:txBody>
      </p:sp>
      <p:sp>
        <p:nvSpPr>
          <p:cNvPr id="9" name="cmd_8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cmd_85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✏️ </a:t>
            </a:r>
            <a:pPr indent="0" marL="0">
              <a:buNone/>
            </a:pPr>
            <a:r>
              <a:rPr lang="en-US" sz="9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FILL THE GAPS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COMPLETA</a:t>
            </a:r>
            <a:endParaRPr lang="en-US" sz="800" dirty="0"/>
          </a:p>
        </p:txBody>
      </p:sp>
      <p:sp>
        <p:nvSpPr>
          <p:cNvPr id="11" name="meta_86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2" name="tag_87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reading</a:t>
            </a:r>
            <a:endParaRPr lang="en-US" sz="850" dirty="0"/>
          </a:p>
        </p:txBody>
      </p:sp>
      <p:pic>
        <p:nvPicPr>
          <p:cNvPr id="13" name="logo_8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8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Reading · Jane's story 1/2   ·   📖 SB p.16 · 1b, 2a · article (adapted)</a:t>
            </a:r>
            <a:endParaRPr lang="en-US" sz="800" dirty="0"/>
          </a:p>
        </p:txBody>
      </p:sp>
      <p:sp>
        <p:nvSpPr>
          <p:cNvPr id="15" name="cd_90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sh_91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📰 Jane's story (part 1)</a:t>
            </a:r>
            <a:endParaRPr lang="en-US" sz="1700" dirty="0"/>
          </a:p>
        </p:txBody>
      </p:sp>
      <p:sp>
        <p:nvSpPr>
          <p:cNvPr id="17" name="ln_92"/>
          <p:cNvSpPr/>
          <p:nvPr/>
        </p:nvSpPr>
        <p:spPr>
          <a:xfrm>
            <a:off x="548640" y="192024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(1) ________ 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1972, I was living </a:t>
            </a:r>
            <a:pPr indent="0" marL="0">
              <a:buNone/>
            </a:pPr>
            <a:r>
              <a:rPr lang="en-US" sz="10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(1) ________ 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London. I was in my early twenties, and I was working for an advertising agency.</a:t>
            </a:r>
            <a:endParaRPr lang="en-US" sz="1050" dirty="0"/>
          </a:p>
        </p:txBody>
      </p:sp>
      <p:sp>
        <p:nvSpPr>
          <p:cNvPr id="18" name="R1_lnA93"/>
          <p:cNvSpPr/>
          <p:nvPr/>
        </p:nvSpPr>
        <p:spPr>
          <a:xfrm>
            <a:off x="548640" y="192024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In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1972, I was living </a:t>
            </a:r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in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London. I was in my early twenties, and I was working for an advertising agency.</a:t>
            </a:r>
            <a:endParaRPr lang="en-US" sz="1050" dirty="0"/>
          </a:p>
        </p:txBody>
      </p:sp>
      <p:sp>
        <p:nvSpPr>
          <p:cNvPr id="19" name="ln_94"/>
          <p:cNvSpPr/>
          <p:nvPr/>
        </p:nvSpPr>
        <p:spPr>
          <a:xfrm>
            <a:off x="548640" y="246888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That summer, I went on a camping holiday with my parents in the south of France. One night, I went to a nightclub on the beach and I met a young Frenchman, and we fell in love.</a:t>
            </a:r>
            <a:endParaRPr lang="en-US" sz="1050" dirty="0"/>
          </a:p>
        </p:txBody>
      </p:sp>
      <p:sp>
        <p:nvSpPr>
          <p:cNvPr id="20" name="ln_95"/>
          <p:cNvSpPr/>
          <p:nvPr/>
        </p:nvSpPr>
        <p:spPr>
          <a:xfrm>
            <a:off x="548640" y="301752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I got home, I started looking for a job in Paris. He was </a:t>
            </a:r>
            <a:pPr indent="0" marL="0">
              <a:buNone/>
            </a:pPr>
            <a:r>
              <a:rPr lang="en-US" sz="10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(2) ________ 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university there – he was studying medicine. In the end, I found a job as a secretary with UNESCO, and I went to live there.</a:t>
            </a:r>
            <a:endParaRPr lang="en-US" sz="1050" dirty="0"/>
          </a:p>
        </p:txBody>
      </p:sp>
      <p:sp>
        <p:nvSpPr>
          <p:cNvPr id="21" name="R2_lnA96"/>
          <p:cNvSpPr/>
          <p:nvPr/>
        </p:nvSpPr>
        <p:spPr>
          <a:xfrm>
            <a:off x="548640" y="301752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I got home, I started looking for a job in Paris. He was </a:t>
            </a:r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at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university there – he was studying medicine. In the end, I found a job as a secretary with UNESCO, and I went to live there.</a:t>
            </a:r>
            <a:endParaRPr lang="en-US" sz="1050" dirty="0"/>
          </a:p>
        </p:txBody>
      </p:sp>
      <p:sp>
        <p:nvSpPr>
          <p:cNvPr id="22" name="ln_97"/>
          <p:cNvSpPr/>
          <p:nvPr/>
        </p:nvSpPr>
        <p:spPr>
          <a:xfrm>
            <a:off x="548640" y="356616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(3) ________ 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Sundays, we often went for a walk. One of our favourite places was the botanical gardens. It had a zoo, and I often put some bread in my pocket for the animals.</a:t>
            </a:r>
            <a:endParaRPr lang="en-US" sz="1050" dirty="0"/>
          </a:p>
        </p:txBody>
      </p:sp>
      <p:sp>
        <p:nvSpPr>
          <p:cNvPr id="23" name="R3_lnA98"/>
          <p:cNvSpPr/>
          <p:nvPr/>
        </p:nvSpPr>
        <p:spPr>
          <a:xfrm>
            <a:off x="548640" y="356616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On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Sundays, we often went for a walk. One of our favourite places was the botanical gardens. It had a zoo, and I often put some bread in my pocket for the animals.</a:t>
            </a:r>
            <a:endParaRPr lang="en-US" sz="1050" dirty="0"/>
          </a:p>
        </p:txBody>
      </p:sp>
      <p:sp>
        <p:nvSpPr>
          <p:cNvPr id="24" name="cd_99"/>
          <p:cNvSpPr/>
          <p:nvPr/>
        </p:nvSpPr>
        <p:spPr>
          <a:xfrm>
            <a:off x="6263640" y="1417320"/>
            <a:ext cx="2651760" cy="786384"/>
          </a:xfrm>
          <a:prstGeom prst="roundRect">
            <a:avLst>
              <a:gd name="adj" fmla="val 16279"/>
            </a:avLst>
          </a:prstGeom>
          <a:solidFill>
            <a:srgbClr val="E3F1FD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5" name="bkh_100"/>
          <p:cNvSpPr/>
          <p:nvPr/>
        </p:nvSpPr>
        <p:spPr>
          <a:xfrm>
            <a:off x="6373368" y="1472184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📍 at · in · on (use them more than once!)</a:t>
            </a:r>
            <a:endParaRPr lang="en-US" sz="950" dirty="0"/>
          </a:p>
        </p:txBody>
      </p:sp>
      <p:sp>
        <p:nvSpPr>
          <p:cNvPr id="26" name="bk_101"/>
          <p:cNvSpPr/>
          <p:nvPr/>
        </p:nvSpPr>
        <p:spPr>
          <a:xfrm>
            <a:off x="6373368" y="1819656"/>
            <a:ext cx="7620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</a:t>
            </a:r>
            <a:endParaRPr lang="en-US" sz="1050" dirty="0"/>
          </a:p>
        </p:txBody>
      </p:sp>
      <p:sp>
        <p:nvSpPr>
          <p:cNvPr id="27" name="bk_102"/>
          <p:cNvSpPr/>
          <p:nvPr/>
        </p:nvSpPr>
        <p:spPr>
          <a:xfrm>
            <a:off x="7208520" y="1819656"/>
            <a:ext cx="7620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</a:t>
            </a:r>
            <a:endParaRPr lang="en-US" sz="1050" dirty="0"/>
          </a:p>
        </p:txBody>
      </p:sp>
      <p:sp>
        <p:nvSpPr>
          <p:cNvPr id="28" name="bk_103"/>
          <p:cNvSpPr/>
          <p:nvPr/>
        </p:nvSpPr>
        <p:spPr>
          <a:xfrm>
            <a:off x="8043672" y="1819656"/>
            <a:ext cx="7620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</a:t>
            </a:r>
            <a:endParaRPr lang="en-US" sz="1050" dirty="0"/>
          </a:p>
        </p:txBody>
      </p:sp>
      <p:sp>
        <p:nvSpPr>
          <p:cNvPr id="29" name="pf_104"/>
          <p:cNvSpPr/>
          <p:nvPr/>
        </p:nvSpPr>
        <p:spPr>
          <a:xfrm rot="120000">
            <a:off x="6309360" y="2313432"/>
            <a:ext cx="2560320" cy="1417320"/>
          </a:xfrm>
          <a:prstGeom prst="roundRect">
            <a:avLst>
              <a:gd name="adj" fmla="val 109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0" name="ph_105" descr="/home/claude/lls-course/v2/cache/a2_2b_couple_jpg_594x31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2359152"/>
            <a:ext cx="2468880" cy="1325880"/>
          </a:xfrm>
          <a:prstGeom prst="rect">
            <a:avLst/>
          </a:prstGeom>
        </p:spPr>
      </p:pic>
      <p:sp>
        <p:nvSpPr>
          <p:cNvPr id="31" name="cd_106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2" name="ii_107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33" name="ih_108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34" name="il_109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 my early twenties = 20–23 years old</a:t>
            </a:r>
            <a:endParaRPr lang="en-US" sz="7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fall in love = innamorarsi</a:t>
            </a:r>
            <a:endParaRPr lang="en-US" sz="7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1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1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663440" cy="621792"/>
          </a:xfrm>
          <a:prstGeom prst="rect">
            <a:avLst/>
          </a:prstGeom>
        </p:spPr>
      </p:pic>
      <p:sp>
        <p:nvSpPr>
          <p:cNvPr id="5" name="title_112"/>
          <p:cNvSpPr/>
          <p:nvPr/>
        </p:nvSpPr>
        <p:spPr>
          <a:xfrm>
            <a:off x="1261872" y="164592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That's me in the picture!</a:t>
            </a:r>
            <a:endParaRPr lang="en-US" sz="2500" dirty="0"/>
          </a:p>
        </p:txBody>
      </p:sp>
      <p:pic>
        <p:nvPicPr>
          <p:cNvPr id="6" name="brP_11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114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rest of the story. Complete 4 with at, in or on.</a:t>
            </a:r>
            <a:endParaRPr lang="en-US" sz="1250" dirty="0"/>
          </a:p>
        </p:txBody>
      </p:sp>
      <p:sp>
        <p:nvSpPr>
          <p:cNvPr id="8" name="insIT_11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il resto della storia. Completa il 4 con at, in o on.</a:t>
            </a:r>
            <a:endParaRPr lang="en-US" sz="950" dirty="0"/>
          </a:p>
        </p:txBody>
      </p:sp>
      <p:sp>
        <p:nvSpPr>
          <p:cNvPr id="9" name="cmd_116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cmd_117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✏️ </a:t>
            </a:r>
            <a:pPr indent="0" marL="0">
              <a:buNone/>
            </a:pPr>
            <a:r>
              <a:rPr lang="en-US" sz="9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FILL THE GAPS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COMPLETA</a:t>
            </a:r>
            <a:endParaRPr lang="en-US" sz="800" dirty="0"/>
          </a:p>
        </p:txBody>
      </p:sp>
      <p:sp>
        <p:nvSpPr>
          <p:cNvPr id="11" name="meta_118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2" name="tag_119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reading</a:t>
            </a:r>
            <a:endParaRPr lang="en-US" sz="850" dirty="0"/>
          </a:p>
        </p:txBody>
      </p:sp>
      <p:pic>
        <p:nvPicPr>
          <p:cNvPr id="13" name="logo_12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12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Reading · Jane's story 2/2   ·   📖 SB p.16 · 1b, 2a · article (adapted)</a:t>
            </a:r>
            <a:endParaRPr lang="en-US" sz="800" dirty="0"/>
          </a:p>
        </p:txBody>
      </p:sp>
      <p:sp>
        <p:nvSpPr>
          <p:cNvPr id="15" name="cd_122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sh_123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📰 Jane's story (part 2)</a:t>
            </a:r>
            <a:endParaRPr lang="en-US" sz="1700" dirty="0"/>
          </a:p>
        </p:txBody>
      </p:sp>
      <p:sp>
        <p:nvSpPr>
          <p:cNvPr id="17" name="ln_124"/>
          <p:cNvSpPr/>
          <p:nvPr/>
        </p:nvSpPr>
        <p:spPr>
          <a:xfrm>
            <a:off x="548640" y="192024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were walking </a:t>
            </a:r>
            <a:pPr indent="0" marL="0">
              <a:buNone/>
            </a:pPr>
            <a:r>
              <a:rPr lang="en-US" sz="10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(4) ________ 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gardens one Sunday </a:t>
            </a:r>
            <a:pPr indent="0" marL="0">
              <a:buNone/>
            </a:pPr>
            <a:r>
              <a:rPr lang="en-US" sz="10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(5) ________ 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autumn when we stopped because a lot of noise was coming from a tree. There was an owl, and some little birds were attacking it.</a:t>
            </a:r>
            <a:endParaRPr lang="en-US" sz="1050" dirty="0"/>
          </a:p>
        </p:txBody>
      </p:sp>
      <p:sp>
        <p:nvSpPr>
          <p:cNvPr id="18" name="R1_lnA125"/>
          <p:cNvSpPr/>
          <p:nvPr/>
        </p:nvSpPr>
        <p:spPr>
          <a:xfrm>
            <a:off x="548640" y="192024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were walking </a:t>
            </a:r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in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gardens one Sunday </a:t>
            </a:r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in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autumn when we stopped because a lot of noise was coming from a tree. There was an owl, and some little birds were attacking it.</a:t>
            </a:r>
            <a:endParaRPr lang="en-US" sz="1050" dirty="0"/>
          </a:p>
        </p:txBody>
      </p:sp>
      <p:sp>
        <p:nvSpPr>
          <p:cNvPr id="19" name="ln_126"/>
          <p:cNvSpPr/>
          <p:nvPr/>
        </p:nvSpPr>
        <p:spPr>
          <a:xfrm>
            <a:off x="548640" y="246888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also noticed a man with a camera. I said: 'Why was that man taking photographs of us?'</a:t>
            </a:r>
            <a:endParaRPr lang="en-US" sz="1050" dirty="0"/>
          </a:p>
        </p:txBody>
      </p:sp>
      <p:sp>
        <p:nvSpPr>
          <p:cNvPr id="20" name="ln_127"/>
          <p:cNvSpPr/>
          <p:nvPr/>
        </p:nvSpPr>
        <p:spPr>
          <a:xfrm>
            <a:off x="548640" y="301752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following year, a friend saw the photo in a magazine. I phoned the magazine and got Cartier-Bresson's number. I was very shy, but I called him. He was very friendly, and he sent me a copy.</a:t>
            </a:r>
            <a:endParaRPr lang="en-US" sz="1050" dirty="0"/>
          </a:p>
        </p:txBody>
      </p:sp>
      <p:sp>
        <p:nvSpPr>
          <p:cNvPr id="21" name="ln_128"/>
          <p:cNvSpPr/>
          <p:nvPr/>
        </p:nvSpPr>
        <p:spPr>
          <a:xfrm>
            <a:off x="548640" y="356616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love this picture. It was a happy time for me. My French boyfriend and I broke up in the end, but we're still in touch.</a:t>
            </a:r>
            <a:endParaRPr lang="en-US" sz="1050" dirty="0"/>
          </a:p>
        </p:txBody>
      </p:sp>
      <p:sp>
        <p:nvSpPr>
          <p:cNvPr id="22" name="cd_129"/>
          <p:cNvSpPr/>
          <p:nvPr/>
        </p:nvSpPr>
        <p:spPr>
          <a:xfrm>
            <a:off x="6263640" y="1417320"/>
            <a:ext cx="2651760" cy="786384"/>
          </a:xfrm>
          <a:prstGeom prst="roundRect">
            <a:avLst>
              <a:gd name="adj" fmla="val 16279"/>
            </a:avLst>
          </a:prstGeom>
          <a:solidFill>
            <a:srgbClr val="E3F1FD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bkh_130"/>
          <p:cNvSpPr/>
          <p:nvPr/>
        </p:nvSpPr>
        <p:spPr>
          <a:xfrm>
            <a:off x="6373368" y="1472184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📍 at · in · on</a:t>
            </a:r>
            <a:endParaRPr lang="en-US" sz="1100" dirty="0"/>
          </a:p>
        </p:txBody>
      </p:sp>
      <p:sp>
        <p:nvSpPr>
          <p:cNvPr id="24" name="bk_131"/>
          <p:cNvSpPr/>
          <p:nvPr/>
        </p:nvSpPr>
        <p:spPr>
          <a:xfrm>
            <a:off x="6373368" y="1819656"/>
            <a:ext cx="7620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</a:t>
            </a:r>
            <a:endParaRPr lang="en-US" sz="1050" dirty="0"/>
          </a:p>
        </p:txBody>
      </p:sp>
      <p:sp>
        <p:nvSpPr>
          <p:cNvPr id="25" name="bk_132"/>
          <p:cNvSpPr/>
          <p:nvPr/>
        </p:nvSpPr>
        <p:spPr>
          <a:xfrm>
            <a:off x="7208520" y="1819656"/>
            <a:ext cx="7620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</a:t>
            </a:r>
            <a:endParaRPr lang="en-US" sz="1050" dirty="0"/>
          </a:p>
        </p:txBody>
      </p:sp>
      <p:sp>
        <p:nvSpPr>
          <p:cNvPr id="26" name="bk_133"/>
          <p:cNvSpPr/>
          <p:nvPr/>
        </p:nvSpPr>
        <p:spPr>
          <a:xfrm>
            <a:off x="8043672" y="1819656"/>
            <a:ext cx="7620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</a:t>
            </a:r>
            <a:endParaRPr lang="en-US" sz="1050" dirty="0"/>
          </a:p>
        </p:txBody>
      </p:sp>
      <p:sp>
        <p:nvSpPr>
          <p:cNvPr id="27" name="pf_134"/>
          <p:cNvSpPr/>
          <p:nvPr/>
        </p:nvSpPr>
        <p:spPr>
          <a:xfrm rot="120000">
            <a:off x="6309360" y="2313432"/>
            <a:ext cx="2560320" cy="1417320"/>
          </a:xfrm>
          <a:prstGeom prst="roundRect">
            <a:avLst>
              <a:gd name="adj" fmla="val 109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8" name="ph_135" descr="/home/claude/lls-course/v2/cache/a2_2b_couple_jpg_594x31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2359152"/>
            <a:ext cx="2468880" cy="1325880"/>
          </a:xfrm>
          <a:prstGeom prst="rect">
            <a:avLst/>
          </a:prstGeom>
        </p:spPr>
      </p:pic>
      <p:sp>
        <p:nvSpPr>
          <p:cNvPr id="29" name="cd_136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0" name="ii_137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31" name="ih_138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32" name="il_139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 owl = un gufo</a:t>
            </a:r>
            <a:endParaRPr lang="en-US" sz="7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break up = lasciarsi · be in touch = sentirsi</a:t>
            </a:r>
            <a:endParaRPr lang="en-US" sz="7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4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4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663440" cy="621792"/>
          </a:xfrm>
          <a:prstGeom prst="rect">
            <a:avLst/>
          </a:prstGeom>
        </p:spPr>
      </p:pic>
      <p:sp>
        <p:nvSpPr>
          <p:cNvPr id="5" name="title_142"/>
          <p:cNvSpPr/>
          <p:nvPr/>
        </p:nvSpPr>
        <p:spPr>
          <a:xfrm>
            <a:off x="1261872" y="164592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Why is the photo special?</a:t>
            </a:r>
            <a:endParaRPr lang="en-US" sz="2500" dirty="0"/>
          </a:p>
        </p:txBody>
      </p:sp>
      <p:pic>
        <p:nvPicPr>
          <p:cNvPr id="6" name="brP_14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727448" cy="402336"/>
          </a:xfrm>
          <a:prstGeom prst="rect">
            <a:avLst/>
          </a:prstGeom>
        </p:spPr>
      </p:pic>
      <p:sp>
        <p:nvSpPr>
          <p:cNvPr id="7" name="ins_144"/>
          <p:cNvSpPr/>
          <p:nvPr/>
        </p:nvSpPr>
        <p:spPr>
          <a:xfrm>
            <a:off x="1353312" y="731520"/>
            <a:ext cx="4471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Jane's story again. Answer the questions.</a:t>
            </a:r>
            <a:endParaRPr lang="en-US" sz="1250" dirty="0"/>
          </a:p>
        </p:txBody>
      </p:sp>
      <p:sp>
        <p:nvSpPr>
          <p:cNvPr id="8" name="insIT_14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Rileggi la storia di Jane. Rispondi alle domande.</a:t>
            </a:r>
            <a:endParaRPr lang="en-US" sz="950" dirty="0"/>
          </a:p>
        </p:txBody>
      </p:sp>
      <p:sp>
        <p:nvSpPr>
          <p:cNvPr id="9" name="cmd_146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🔍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FIND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TROVA</a:t>
            </a:r>
            <a:endParaRPr lang="en-US" sz="1100" dirty="0"/>
          </a:p>
        </p:txBody>
      </p:sp>
      <p:sp>
        <p:nvSpPr>
          <p:cNvPr id="10" name="meta_147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1" name="tag_148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50" dirty="0"/>
          </a:p>
        </p:txBody>
      </p:sp>
      <p:pic>
        <p:nvPicPr>
          <p:cNvPr id="12" name="logo_14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5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Reading · detail   ·   📖 SB p.16 · 1c (answers: TG)</a:t>
            </a:r>
            <a:endParaRPr lang="en-US" sz="800" dirty="0"/>
          </a:p>
        </p:txBody>
      </p:sp>
      <p:sp>
        <p:nvSpPr>
          <p:cNvPr id="14" name="cd_151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152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153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154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was Jane living in 1972? → In London.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(The story is on slides 4 and 5.)</a:t>
            </a:r>
            <a:endParaRPr lang="en-US" sz="950" dirty="0"/>
          </a:p>
        </p:txBody>
      </p:sp>
      <p:sp>
        <p:nvSpPr>
          <p:cNvPr id="18" name="pf_155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156" descr="/home/claude/lls-course/v2/cache/a2_2b_anya_e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0" name="bd_157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q_158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Jane's life at the beginning?</a:t>
            </a:r>
            <a:endParaRPr lang="en-US" sz="1150" dirty="0"/>
          </a:p>
        </p:txBody>
      </p:sp>
      <p:sp>
        <p:nvSpPr>
          <p:cNvPr id="22" name="R1_chip159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 London, early twenties, advertising agency</a:t>
            </a:r>
            <a:endParaRPr lang="en-US" sz="1000" dirty="0"/>
          </a:p>
        </p:txBody>
      </p:sp>
      <p:sp>
        <p:nvSpPr>
          <p:cNvPr id="23" name="bd_160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q_161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did she meet the Frenchman?</a:t>
            </a:r>
            <a:endParaRPr lang="en-US" sz="1150" dirty="0"/>
          </a:p>
        </p:txBody>
      </p:sp>
      <p:sp>
        <p:nvSpPr>
          <p:cNvPr id="25" name="R2_chip162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 a nightclub on a beach in France</a:t>
            </a:r>
            <a:endParaRPr lang="en-US" sz="1000" dirty="0"/>
          </a:p>
        </p:txBody>
      </p:sp>
      <p:sp>
        <p:nvSpPr>
          <p:cNvPr id="26" name="bd_163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q_164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did they often do on Sundays?</a:t>
            </a:r>
            <a:endParaRPr lang="en-US" sz="1150" dirty="0"/>
          </a:p>
        </p:txBody>
      </p:sp>
      <p:sp>
        <p:nvSpPr>
          <p:cNvPr id="28" name="R3_chip165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They went for a walk.</a:t>
            </a:r>
            <a:endParaRPr lang="en-US" sz="1000" dirty="0"/>
          </a:p>
        </p:txBody>
      </p:sp>
      <p:sp>
        <p:nvSpPr>
          <p:cNvPr id="29" name="bd_166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q_167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did they stop in the gardens?</a:t>
            </a:r>
            <a:endParaRPr lang="en-US" sz="1150" dirty="0"/>
          </a:p>
        </p:txBody>
      </p:sp>
      <p:sp>
        <p:nvSpPr>
          <p:cNvPr id="31" name="R4_chip168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noise from a tree: birds attacking an owl</a:t>
            </a:r>
            <a:endParaRPr lang="en-US" sz="1000" dirty="0"/>
          </a:p>
        </p:txBody>
      </p:sp>
      <p:sp>
        <p:nvSpPr>
          <p:cNvPr id="32" name="bd_169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q_170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did she get a copy?</a:t>
            </a:r>
            <a:endParaRPr lang="en-US" sz="1150" dirty="0"/>
          </a:p>
        </p:txBody>
      </p:sp>
      <p:sp>
        <p:nvSpPr>
          <p:cNvPr id="34" name="R5_chip171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called Cartier-Bresson. He sent it.</a:t>
            </a:r>
            <a:endParaRPr lang="en-US" sz="1000" dirty="0"/>
          </a:p>
        </p:txBody>
      </p:sp>
      <p:sp>
        <p:nvSpPr>
          <p:cNvPr id="35" name="bd_172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6" name="q_173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is the photo important to her?</a:t>
            </a:r>
            <a:endParaRPr lang="en-US" sz="1150" dirty="0"/>
          </a:p>
        </p:txBody>
      </p:sp>
      <p:sp>
        <p:nvSpPr>
          <p:cNvPr id="37" name="R6_chip174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was a happy time for her.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17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177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at, in, on</a:t>
            </a:r>
            <a:endParaRPr lang="en-US" sz="2500" dirty="0"/>
          </a:p>
        </p:txBody>
      </p:sp>
      <p:pic>
        <p:nvPicPr>
          <p:cNvPr id="6" name="brP_17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48656" cy="402336"/>
          </a:xfrm>
          <a:prstGeom prst="rect">
            <a:avLst/>
          </a:prstGeom>
        </p:spPr>
      </p:pic>
      <p:sp>
        <p:nvSpPr>
          <p:cNvPr id="7" name="ins_179"/>
          <p:cNvSpPr/>
          <p:nvPr/>
        </p:nvSpPr>
        <p:spPr>
          <a:xfrm>
            <a:off x="1353312" y="731520"/>
            <a:ext cx="4992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at, in or on? Look at the examples. What's the rule?</a:t>
            </a:r>
            <a:endParaRPr lang="en-US" sz="1250" dirty="0"/>
          </a:p>
        </p:txBody>
      </p:sp>
      <p:sp>
        <p:nvSpPr>
          <p:cNvPr id="8" name="insIT_18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at, in o on? Guarda gli esempi. Qual è la regola?</a:t>
            </a:r>
            <a:endParaRPr lang="en-US" sz="950" dirty="0"/>
          </a:p>
        </p:txBody>
      </p:sp>
      <p:sp>
        <p:nvSpPr>
          <p:cNvPr id="9" name="cmd_181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LOOK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</a:t>
            </a:r>
            <a:endParaRPr lang="en-US" sz="1100" dirty="0"/>
          </a:p>
        </p:txBody>
      </p:sp>
      <p:sp>
        <p:nvSpPr>
          <p:cNvPr id="10" name="meta_182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950" dirty="0"/>
          </a:p>
        </p:txBody>
      </p:sp>
      <p:sp>
        <p:nvSpPr>
          <p:cNvPr id="11" name="tag_183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00" dirty="0"/>
          </a:p>
        </p:txBody>
      </p:sp>
      <p:pic>
        <p:nvPicPr>
          <p:cNvPr id="12" name="logo_18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8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Vocabulary · prepositions   ·   📖 Vocabulary Bank Prepositions p.153 · audio 2.10</a:t>
            </a:r>
            <a:endParaRPr lang="en-US" sz="800" dirty="0"/>
          </a:p>
        </p:txBody>
      </p:sp>
      <p:sp>
        <p:nvSpPr>
          <p:cNvPr id="14" name="ah_186"/>
          <p:cNvSpPr/>
          <p:nvPr/>
        </p:nvSpPr>
        <p:spPr>
          <a:xfrm>
            <a:off x="3675888" y="4572000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2.10   ▶ normal</a:t>
            </a:r>
            <a:endParaRPr lang="en-US" sz="1000" dirty="0"/>
          </a:p>
        </p:txBody>
      </p:sp>
      <p:pic>
        <p:nvPicPr>
          <p:cNvPr id="15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16" name="ah_187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17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18" name="cd_188"/>
          <p:cNvSpPr/>
          <p:nvPr/>
        </p:nvSpPr>
        <p:spPr>
          <a:xfrm>
            <a:off x="3200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rh_189"/>
          <p:cNvSpPr/>
          <p:nvPr/>
        </p:nvSpPr>
        <p:spPr>
          <a:xfrm>
            <a:off x="4297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in</a:t>
            </a:r>
            <a:endParaRPr lang="en-US" sz="1250" dirty="0"/>
          </a:p>
        </p:txBody>
      </p:sp>
      <p:sp>
        <p:nvSpPr>
          <p:cNvPr id="20" name="pf_190"/>
          <p:cNvSpPr/>
          <p:nvPr/>
        </p:nvSpPr>
        <p:spPr>
          <a:xfrm>
            <a:off x="429768" y="1938528"/>
            <a:ext cx="25389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1" name="ph_191" descr="/home/claude/lls-course/v2/cache/a2_2b_anya_b_jpg_589x209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5488" y="1984248"/>
            <a:ext cx="2447544" cy="868680"/>
          </a:xfrm>
          <a:prstGeom prst="rect">
            <a:avLst/>
          </a:prstGeom>
        </p:spPr>
      </p:pic>
      <p:sp>
        <p:nvSpPr>
          <p:cNvPr id="22" name="ru_192"/>
          <p:cNvSpPr/>
          <p:nvPr/>
        </p:nvSpPr>
        <p:spPr>
          <a:xfrm>
            <a:off x="4114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big places · long time</a:t>
            </a:r>
            <a:endParaRPr lang="en-US" sz="1050" dirty="0"/>
          </a:p>
        </p:txBody>
      </p:sp>
      <p:sp>
        <p:nvSpPr>
          <p:cNvPr id="23" name="R1_rx193"/>
          <p:cNvSpPr/>
          <p:nvPr/>
        </p:nvSpPr>
        <p:spPr>
          <a:xfrm>
            <a:off x="4114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Rome · </a:t>
            </a:r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 kitchen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July · </a:t>
            </a:r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autumn · </a:t>
            </a:r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1972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 morning</a:t>
            </a:r>
            <a:endParaRPr lang="en-US" sz="1050" dirty="0"/>
          </a:p>
        </p:txBody>
      </p:sp>
      <p:sp>
        <p:nvSpPr>
          <p:cNvPr id="24" name="R1_ri194"/>
          <p:cNvSpPr/>
          <p:nvPr/>
        </p:nvSpPr>
        <p:spPr>
          <a:xfrm>
            <a:off x="4114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città, stanze, mesi, stagioni, anni</a:t>
            </a:r>
            <a:endParaRPr lang="en-US" sz="900" dirty="0"/>
          </a:p>
        </p:txBody>
      </p:sp>
      <p:sp>
        <p:nvSpPr>
          <p:cNvPr id="25" name="cd_195"/>
          <p:cNvSpPr/>
          <p:nvPr/>
        </p:nvSpPr>
        <p:spPr>
          <a:xfrm>
            <a:off x="32156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6" name="rh_196"/>
          <p:cNvSpPr/>
          <p:nvPr/>
        </p:nvSpPr>
        <p:spPr>
          <a:xfrm>
            <a:off x="33253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on</a:t>
            </a:r>
            <a:endParaRPr lang="en-US" sz="1250" dirty="0"/>
          </a:p>
        </p:txBody>
      </p:sp>
      <p:sp>
        <p:nvSpPr>
          <p:cNvPr id="27" name="pf_197"/>
          <p:cNvSpPr/>
          <p:nvPr/>
        </p:nvSpPr>
        <p:spPr>
          <a:xfrm>
            <a:off x="3325368" y="1938528"/>
            <a:ext cx="25389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8" name="ph_198" descr="/home/claude/lls-course/v2/cache/a2_2b_anya_c_jpg_589x209_31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71088" y="1984248"/>
            <a:ext cx="2447544" cy="868680"/>
          </a:xfrm>
          <a:prstGeom prst="rect">
            <a:avLst/>
          </a:prstGeom>
        </p:spPr>
      </p:pic>
      <p:sp>
        <p:nvSpPr>
          <p:cNvPr id="29" name="ru_199"/>
          <p:cNvSpPr/>
          <p:nvPr/>
        </p:nvSpPr>
        <p:spPr>
          <a:xfrm>
            <a:off x="33070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days · surfaces · transport</a:t>
            </a:r>
            <a:endParaRPr lang="en-US" sz="1050" dirty="0"/>
          </a:p>
        </p:txBody>
      </p:sp>
      <p:sp>
        <p:nvSpPr>
          <p:cNvPr id="30" name="R2_rx200"/>
          <p:cNvSpPr/>
          <p:nvPr/>
        </p:nvSpPr>
        <p:spPr>
          <a:xfrm>
            <a:off x="33070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Sunday · </a:t>
            </a:r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1st March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 beach · </a:t>
            </a:r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 wall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 bus · </a:t>
            </a:r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 train</a:t>
            </a:r>
            <a:endParaRPr lang="en-US" sz="1050" dirty="0"/>
          </a:p>
        </p:txBody>
      </p:sp>
      <p:sp>
        <p:nvSpPr>
          <p:cNvPr id="31" name="R2_ri201"/>
          <p:cNvSpPr/>
          <p:nvPr/>
        </p:nvSpPr>
        <p:spPr>
          <a:xfrm>
            <a:off x="33070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giorni, date, superfici, mezzi</a:t>
            </a:r>
            <a:endParaRPr lang="en-US" sz="900" dirty="0"/>
          </a:p>
        </p:txBody>
      </p:sp>
      <p:sp>
        <p:nvSpPr>
          <p:cNvPr id="32" name="cd_202"/>
          <p:cNvSpPr/>
          <p:nvPr/>
        </p:nvSpPr>
        <p:spPr>
          <a:xfrm>
            <a:off x="61112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540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3" name="rh_203"/>
          <p:cNvSpPr/>
          <p:nvPr/>
        </p:nvSpPr>
        <p:spPr>
          <a:xfrm>
            <a:off x="62209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at</a:t>
            </a:r>
            <a:endParaRPr lang="en-US" sz="1250" dirty="0"/>
          </a:p>
        </p:txBody>
      </p:sp>
      <p:sp>
        <p:nvSpPr>
          <p:cNvPr id="34" name="pf_204"/>
          <p:cNvSpPr/>
          <p:nvPr/>
        </p:nvSpPr>
        <p:spPr>
          <a:xfrm>
            <a:off x="6220968" y="1938528"/>
            <a:ext cx="25389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5" name="ph_205" descr="/home/claude/lls-course/v2/cache/a2_2b_anya_a_jpg_589x209_31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66688" y="1984248"/>
            <a:ext cx="2447544" cy="868680"/>
          </a:xfrm>
          <a:prstGeom prst="rect">
            <a:avLst/>
          </a:prstGeom>
        </p:spPr>
      </p:pic>
      <p:sp>
        <p:nvSpPr>
          <p:cNvPr id="36" name="ru_206"/>
          <p:cNvSpPr/>
          <p:nvPr/>
        </p:nvSpPr>
        <p:spPr>
          <a:xfrm>
            <a:off x="62026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points: places and times</a:t>
            </a:r>
            <a:endParaRPr lang="en-US" sz="1050" dirty="0"/>
          </a:p>
        </p:txBody>
      </p:sp>
      <p:sp>
        <p:nvSpPr>
          <p:cNvPr id="37" name="R3_rx207"/>
          <p:cNvSpPr/>
          <p:nvPr/>
        </p:nvSpPr>
        <p:spPr>
          <a:xfrm>
            <a:off x="62026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home · 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work · 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 party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6 o'clock · 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night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 weekend · 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Christmas</a:t>
            </a:r>
            <a:endParaRPr lang="en-US" sz="1050" dirty="0"/>
          </a:p>
        </p:txBody>
      </p:sp>
      <p:sp>
        <p:nvSpPr>
          <p:cNvPr id="38" name="R3_ri208"/>
          <p:cNvSpPr/>
          <p:nvPr/>
        </p:nvSpPr>
        <p:spPr>
          <a:xfrm>
            <a:off x="62026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luoghi precisi, orari, feste</a:t>
            </a:r>
            <a:endParaRPr lang="en-US" sz="900" dirty="0"/>
          </a:p>
        </p:txBody>
      </p:sp>
      <p:sp>
        <p:nvSpPr>
          <p:cNvPr id="39" name="R4_wc209"/>
          <p:cNvSpPr/>
          <p:nvPr/>
        </p:nvSpPr>
        <p:spPr>
          <a:xfrm>
            <a:off x="320040" y="4544568"/>
            <a:ext cx="3172968" cy="329184"/>
          </a:xfrm>
          <a:prstGeom prst="roundRect">
            <a:avLst>
              <a:gd name="adj" fmla="val 38889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0" name="R4_w210"/>
          <p:cNvSpPr/>
          <p:nvPr/>
        </p:nvSpPr>
        <p:spPr>
          <a:xfrm>
            <a:off x="457200" y="4544568"/>
            <a:ext cx="2944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in the morning / afternoon / evening  BUT  at night   ·   at university (= studying there)   ·   2019 = twenty nineteen</a:t>
            </a:r>
            <a:endParaRPr lang="en-US" sz="7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5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" fill="hold">
                      <p:stCondLst>
                        <p:cond delay="0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9" dur="1" fill="hold"/>
                                        <p:tgtEl>
                                          <p:spTgt spid="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40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1" fill="hold">
                      <p:stCondLst>
                        <p:cond delay="0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4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audio>
              <p:cMediaNode vol="80000">
                <p:cTn id="45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5"/>
                </p:tgtEl>
              </p:cMediaNode>
            </p:audio>
            <p:audio>
              <p:cMediaNode vol="80000">
                <p:cTn id="4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7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1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21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776118" cy="621792"/>
          </a:xfrm>
          <a:prstGeom prst="rect">
            <a:avLst/>
          </a:prstGeom>
        </p:spPr>
      </p:pic>
      <p:sp>
        <p:nvSpPr>
          <p:cNvPr id="5" name="title_213"/>
          <p:cNvSpPr/>
          <p:nvPr/>
        </p:nvSpPr>
        <p:spPr>
          <a:xfrm>
            <a:off x="1261872" y="164592"/>
            <a:ext cx="25017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at, in or on?</a:t>
            </a:r>
            <a:endParaRPr lang="en-US" sz="2500" dirty="0"/>
          </a:p>
        </p:txBody>
      </p:sp>
      <p:pic>
        <p:nvPicPr>
          <p:cNvPr id="6" name="brP_21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337560" cy="402336"/>
          </a:xfrm>
          <a:prstGeom prst="rect">
            <a:avLst/>
          </a:prstGeom>
        </p:spPr>
      </p:pic>
      <p:sp>
        <p:nvSpPr>
          <p:cNvPr id="7" name="ins_215"/>
          <p:cNvSpPr/>
          <p:nvPr/>
        </p:nvSpPr>
        <p:spPr>
          <a:xfrm>
            <a:off x="1353312" y="731520"/>
            <a:ext cx="3081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Teams: at, in or on? Be quick!</a:t>
            </a:r>
            <a:endParaRPr lang="en-US" sz="1250" dirty="0"/>
          </a:p>
        </p:txBody>
      </p:sp>
      <p:sp>
        <p:nvSpPr>
          <p:cNvPr id="8" name="insIT_21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Squadre: at, in o on? Veloci!</a:t>
            </a:r>
            <a:endParaRPr lang="en-US" sz="950" dirty="0"/>
          </a:p>
        </p:txBody>
      </p:sp>
      <p:sp>
        <p:nvSpPr>
          <p:cNvPr id="9" name="cmd_217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218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🏆 teams</a:t>
            </a:r>
            <a:endParaRPr lang="en-US" sz="950" dirty="0"/>
          </a:p>
        </p:txBody>
      </p:sp>
      <p:sp>
        <p:nvSpPr>
          <p:cNvPr id="11" name="tag_219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00" dirty="0"/>
          </a:p>
        </p:txBody>
      </p:sp>
      <p:pic>
        <p:nvPicPr>
          <p:cNvPr id="12" name="logo_22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2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Vocabulary game   ·   📖 VB p.153 · Activation</a:t>
            </a:r>
            <a:endParaRPr lang="en-US" sz="800" dirty="0"/>
          </a:p>
        </p:txBody>
      </p:sp>
      <p:sp>
        <p:nvSpPr>
          <p:cNvPr id="14" name="cd_222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223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224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il_225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word.</a:t>
            </a:r>
            <a:endParaRPr lang="en-US" sz="105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la parola.</a:t>
            </a:r>
            <a:endParaRPr lang="en-US" sz="105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the preposition + the word.</a:t>
            </a:r>
            <a:endParaRPr lang="en-US" sz="105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Di' la preposizione + la parola.</a:t>
            </a:r>
            <a:endParaRPr lang="en-US" sz="105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First right answer = 1 point.</a:t>
            </a:r>
            <a:endParaRPr lang="en-US" sz="105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Prima risposta giusta = 1 punto.</a:t>
            </a:r>
            <a:endParaRPr lang="en-US" sz="1050" dirty="0"/>
          </a:p>
        </p:txBody>
      </p:sp>
      <p:sp>
        <p:nvSpPr>
          <p:cNvPr id="18" name="st_226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9" name="bd_227"/>
          <p:cNvSpPr/>
          <p:nvPr/>
        </p:nvSpPr>
        <p:spPr>
          <a:xfrm>
            <a:off x="3246120" y="1423607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gq_228"/>
          <p:cNvSpPr/>
          <p:nvPr/>
        </p:nvSpPr>
        <p:spPr>
          <a:xfrm>
            <a:off x="3657600" y="141732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Christmas</a:t>
            </a:r>
            <a:endParaRPr lang="en-US" sz="1100" dirty="0"/>
          </a:p>
        </p:txBody>
      </p:sp>
      <p:sp>
        <p:nvSpPr>
          <p:cNvPr id="21" name="R1_chip229"/>
          <p:cNvSpPr/>
          <p:nvPr/>
        </p:nvSpPr>
        <p:spPr>
          <a:xfrm>
            <a:off x="6263640" y="141732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at Christmas</a:t>
            </a:r>
            <a:endParaRPr lang="en-US" sz="1100" dirty="0"/>
          </a:p>
        </p:txBody>
      </p:sp>
      <p:sp>
        <p:nvSpPr>
          <p:cNvPr id="22" name="bd_230"/>
          <p:cNvSpPr/>
          <p:nvPr/>
        </p:nvSpPr>
        <p:spPr>
          <a:xfrm>
            <a:off x="3246120" y="1829372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gq_231"/>
          <p:cNvSpPr/>
          <p:nvPr/>
        </p:nvSpPr>
        <p:spPr>
          <a:xfrm>
            <a:off x="3657600" y="182308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July</a:t>
            </a:r>
            <a:endParaRPr lang="en-US" sz="1100" dirty="0"/>
          </a:p>
        </p:txBody>
      </p:sp>
      <p:sp>
        <p:nvSpPr>
          <p:cNvPr id="24" name="R2_chip232"/>
          <p:cNvSpPr/>
          <p:nvPr/>
        </p:nvSpPr>
        <p:spPr>
          <a:xfrm>
            <a:off x="6263640" y="182308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in July</a:t>
            </a:r>
            <a:endParaRPr lang="en-US" sz="1100" dirty="0"/>
          </a:p>
        </p:txBody>
      </p:sp>
      <p:sp>
        <p:nvSpPr>
          <p:cNvPr id="25" name="bd_233"/>
          <p:cNvSpPr/>
          <p:nvPr/>
        </p:nvSpPr>
        <p:spPr>
          <a:xfrm>
            <a:off x="3246120" y="2235137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gq_234"/>
          <p:cNvSpPr/>
          <p:nvPr/>
        </p:nvSpPr>
        <p:spPr>
          <a:xfrm>
            <a:off x="3657600" y="222885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Monday morning</a:t>
            </a:r>
            <a:endParaRPr lang="en-US" sz="1100" dirty="0"/>
          </a:p>
        </p:txBody>
      </p:sp>
      <p:sp>
        <p:nvSpPr>
          <p:cNvPr id="27" name="R3_chip235"/>
          <p:cNvSpPr/>
          <p:nvPr/>
        </p:nvSpPr>
        <p:spPr>
          <a:xfrm>
            <a:off x="6263640" y="222885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on Monday morning</a:t>
            </a:r>
            <a:endParaRPr lang="en-US" sz="1100" dirty="0"/>
          </a:p>
        </p:txBody>
      </p:sp>
      <p:sp>
        <p:nvSpPr>
          <p:cNvPr id="28" name="bd_236"/>
          <p:cNvSpPr/>
          <p:nvPr/>
        </p:nvSpPr>
        <p:spPr>
          <a:xfrm>
            <a:off x="3246120" y="2640901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gq_237"/>
          <p:cNvSpPr/>
          <p:nvPr/>
        </p:nvSpPr>
        <p:spPr>
          <a:xfrm>
            <a:off x="3657600" y="263461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the airport</a:t>
            </a:r>
            <a:endParaRPr lang="en-US" sz="1100" dirty="0"/>
          </a:p>
        </p:txBody>
      </p:sp>
      <p:sp>
        <p:nvSpPr>
          <p:cNvPr id="30" name="R4_chip238"/>
          <p:cNvSpPr/>
          <p:nvPr/>
        </p:nvSpPr>
        <p:spPr>
          <a:xfrm>
            <a:off x="6263640" y="263461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at the airport</a:t>
            </a:r>
            <a:endParaRPr lang="en-US" sz="1100" dirty="0"/>
          </a:p>
        </p:txBody>
      </p:sp>
      <p:sp>
        <p:nvSpPr>
          <p:cNvPr id="31" name="bd_239"/>
          <p:cNvSpPr/>
          <p:nvPr/>
        </p:nvSpPr>
        <p:spPr>
          <a:xfrm>
            <a:off x="3246120" y="3046667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gq_240"/>
          <p:cNvSpPr/>
          <p:nvPr/>
        </p:nvSpPr>
        <p:spPr>
          <a:xfrm>
            <a:off x="3657600" y="304038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a bus</a:t>
            </a:r>
            <a:endParaRPr lang="en-US" sz="1100" dirty="0"/>
          </a:p>
        </p:txBody>
      </p:sp>
      <p:sp>
        <p:nvSpPr>
          <p:cNvPr id="33" name="R5_chip241"/>
          <p:cNvSpPr/>
          <p:nvPr/>
        </p:nvSpPr>
        <p:spPr>
          <a:xfrm>
            <a:off x="6263640" y="304038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on a bus</a:t>
            </a:r>
            <a:endParaRPr lang="en-US" sz="1100" dirty="0"/>
          </a:p>
        </p:txBody>
      </p:sp>
      <p:sp>
        <p:nvSpPr>
          <p:cNvPr id="34" name="bd_242"/>
          <p:cNvSpPr/>
          <p:nvPr/>
        </p:nvSpPr>
        <p:spPr>
          <a:xfrm>
            <a:off x="3246120" y="3452432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5" name="gq_243"/>
          <p:cNvSpPr/>
          <p:nvPr/>
        </p:nvSpPr>
        <p:spPr>
          <a:xfrm>
            <a:off x="3657600" y="344614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2019</a:t>
            </a:r>
            <a:endParaRPr lang="en-US" sz="1100" dirty="0"/>
          </a:p>
        </p:txBody>
      </p:sp>
      <p:sp>
        <p:nvSpPr>
          <p:cNvPr id="36" name="R6_chip244"/>
          <p:cNvSpPr/>
          <p:nvPr/>
        </p:nvSpPr>
        <p:spPr>
          <a:xfrm>
            <a:off x="6263640" y="344614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in 2019</a:t>
            </a:r>
            <a:endParaRPr lang="en-US" sz="1100" dirty="0"/>
          </a:p>
        </p:txBody>
      </p:sp>
      <p:sp>
        <p:nvSpPr>
          <p:cNvPr id="37" name="bd_245"/>
          <p:cNvSpPr/>
          <p:nvPr/>
        </p:nvSpPr>
        <p:spPr>
          <a:xfrm>
            <a:off x="3246120" y="3858196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100" dirty="0"/>
          </a:p>
        </p:txBody>
      </p:sp>
      <p:sp>
        <p:nvSpPr>
          <p:cNvPr id="38" name="gq_246"/>
          <p:cNvSpPr/>
          <p:nvPr/>
        </p:nvSpPr>
        <p:spPr>
          <a:xfrm>
            <a:off x="3657600" y="385191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the weekend</a:t>
            </a:r>
            <a:endParaRPr lang="en-US" sz="1100" dirty="0"/>
          </a:p>
        </p:txBody>
      </p:sp>
      <p:sp>
        <p:nvSpPr>
          <p:cNvPr id="39" name="R7_chip247"/>
          <p:cNvSpPr/>
          <p:nvPr/>
        </p:nvSpPr>
        <p:spPr>
          <a:xfrm>
            <a:off x="6263640" y="385191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at the weekend</a:t>
            </a:r>
            <a:endParaRPr lang="en-US" sz="1100" dirty="0"/>
          </a:p>
        </p:txBody>
      </p:sp>
      <p:sp>
        <p:nvSpPr>
          <p:cNvPr id="40" name="bd_248"/>
          <p:cNvSpPr/>
          <p:nvPr/>
        </p:nvSpPr>
        <p:spPr>
          <a:xfrm>
            <a:off x="3246120" y="4263962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100" dirty="0"/>
          </a:p>
        </p:txBody>
      </p:sp>
      <p:sp>
        <p:nvSpPr>
          <p:cNvPr id="41" name="gq_249"/>
          <p:cNvSpPr/>
          <p:nvPr/>
        </p:nvSpPr>
        <p:spPr>
          <a:xfrm>
            <a:off x="3657600" y="425767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the kitchen</a:t>
            </a:r>
            <a:endParaRPr lang="en-US" sz="1100" dirty="0"/>
          </a:p>
        </p:txBody>
      </p:sp>
      <p:sp>
        <p:nvSpPr>
          <p:cNvPr id="42" name="R8_chip250"/>
          <p:cNvSpPr/>
          <p:nvPr/>
        </p:nvSpPr>
        <p:spPr>
          <a:xfrm>
            <a:off x="6263640" y="425767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in the kitchen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5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25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253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was happening?</a:t>
            </a:r>
            <a:endParaRPr lang="en-US" sz="2300" dirty="0"/>
          </a:p>
        </p:txBody>
      </p:sp>
      <p:pic>
        <p:nvPicPr>
          <p:cNvPr id="6" name="brP_25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640580" cy="402336"/>
          </a:xfrm>
          <a:prstGeom prst="rect">
            <a:avLst/>
          </a:prstGeom>
        </p:spPr>
      </p:pic>
      <p:sp>
        <p:nvSpPr>
          <p:cNvPr id="7" name="ins_255"/>
          <p:cNvSpPr/>
          <p:nvPr/>
        </p:nvSpPr>
        <p:spPr>
          <a:xfrm>
            <a:off x="1353312" y="731520"/>
            <a:ext cx="43845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sentences from the story. Which use?</a:t>
            </a:r>
            <a:endParaRPr lang="en-US" sz="1250" dirty="0"/>
          </a:p>
        </p:txBody>
      </p:sp>
      <p:sp>
        <p:nvSpPr>
          <p:cNvPr id="8" name="insIT_25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le frasi della storia. Quale uso?</a:t>
            </a:r>
            <a:endParaRPr lang="en-US" sz="950" dirty="0"/>
          </a:p>
        </p:txBody>
      </p:sp>
      <p:sp>
        <p:nvSpPr>
          <p:cNvPr id="9" name="cmd_257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cmd_258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🔗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MATCH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ABBINA</a:t>
            </a:r>
            <a:endParaRPr lang="en-US" sz="1100" dirty="0"/>
          </a:p>
        </p:txBody>
      </p:sp>
      <p:sp>
        <p:nvSpPr>
          <p:cNvPr id="11" name="meta_259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2" name="tag_260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00" dirty="0"/>
          </a:p>
        </p:txBody>
      </p:sp>
      <p:pic>
        <p:nvPicPr>
          <p:cNvPr id="13" name="logo_26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26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Grammar · past continuous   ·   📖 SB p.17 · 3a (answers: TG)</a:t>
            </a:r>
            <a:endParaRPr lang="en-US" sz="800" dirty="0"/>
          </a:p>
        </p:txBody>
      </p:sp>
      <p:sp>
        <p:nvSpPr>
          <p:cNvPr id="15" name="cd_263"/>
          <p:cNvSpPr/>
          <p:nvPr/>
        </p:nvSpPr>
        <p:spPr>
          <a:xfrm>
            <a:off x="320040" y="1417320"/>
            <a:ext cx="2697480" cy="1527048"/>
          </a:xfrm>
          <a:prstGeom prst="roundRect">
            <a:avLst>
              <a:gd name="adj" fmla="val 838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264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7" name="ih_265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Two uses</a:t>
            </a:r>
            <a:endParaRPr lang="en-US" sz="1300" dirty="0"/>
          </a:p>
        </p:txBody>
      </p:sp>
      <p:sp>
        <p:nvSpPr>
          <p:cNvPr id="18" name="il_266"/>
          <p:cNvSpPr/>
          <p:nvPr/>
        </p:nvSpPr>
        <p:spPr>
          <a:xfrm>
            <a:off x="886968" y="1892808"/>
            <a:ext cx="203911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19" name="lg_267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D96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🎬 the scene</a:t>
            </a:r>
            <a:endParaRPr lang="en-US" sz="1050" dirty="0"/>
          </a:p>
        </p:txBody>
      </p:sp>
      <p:sp>
        <p:nvSpPr>
          <p:cNvPr id="20" name="lg_268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⏸ in progress</a:t>
            </a:r>
            <a:endParaRPr lang="en-US" sz="1050" dirty="0"/>
          </a:p>
        </p:txBody>
      </p:sp>
      <p:sp>
        <p:nvSpPr>
          <p:cNvPr id="21" name="sq_269"/>
          <p:cNvSpPr/>
          <p:nvPr/>
        </p:nvSpPr>
        <p:spPr>
          <a:xfrm>
            <a:off x="3246120" y="141732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 1972, I 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living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in London.</a:t>
            </a:r>
            <a:endParaRPr lang="en-US" sz="1200" dirty="0"/>
          </a:p>
        </p:txBody>
      </p:sp>
      <p:sp>
        <p:nvSpPr>
          <p:cNvPr id="22" name="R1_tag270"/>
          <p:cNvSpPr/>
          <p:nvPr/>
        </p:nvSpPr>
        <p:spPr>
          <a:xfrm>
            <a:off x="7178040" y="141732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FD96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🎬 the scene</a:t>
            </a:r>
            <a:endParaRPr lang="en-US" sz="1150" dirty="0"/>
          </a:p>
        </p:txBody>
      </p:sp>
      <p:sp>
        <p:nvSpPr>
          <p:cNvPr id="23" name="sq_271"/>
          <p:cNvSpPr/>
          <p:nvPr/>
        </p:nvSpPr>
        <p:spPr>
          <a:xfrm>
            <a:off x="3246120" y="1956816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working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for an advertising agency.</a:t>
            </a:r>
            <a:endParaRPr lang="en-US" sz="1200" dirty="0"/>
          </a:p>
        </p:txBody>
      </p:sp>
      <p:sp>
        <p:nvSpPr>
          <p:cNvPr id="24" name="R2_tag272"/>
          <p:cNvSpPr/>
          <p:nvPr/>
        </p:nvSpPr>
        <p:spPr>
          <a:xfrm>
            <a:off x="7178040" y="1956816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FD96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🎬 the scene</a:t>
            </a:r>
            <a:endParaRPr lang="en-US" sz="1150" dirty="0"/>
          </a:p>
        </p:txBody>
      </p:sp>
      <p:sp>
        <p:nvSpPr>
          <p:cNvPr id="25" name="sq_273"/>
          <p:cNvSpPr/>
          <p:nvPr/>
        </p:nvSpPr>
        <p:spPr>
          <a:xfrm>
            <a:off x="3246120" y="2496312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 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were walking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in the gardens when we stopped.</a:t>
            </a:r>
            <a:endParaRPr lang="en-US" sz="1200" dirty="0"/>
          </a:p>
        </p:txBody>
      </p:sp>
      <p:sp>
        <p:nvSpPr>
          <p:cNvPr id="26" name="R3_tag274"/>
          <p:cNvSpPr/>
          <p:nvPr/>
        </p:nvSpPr>
        <p:spPr>
          <a:xfrm>
            <a:off x="7178040" y="2496312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⏸ in progress</a:t>
            </a:r>
            <a:endParaRPr lang="en-US" sz="1150" dirty="0"/>
          </a:p>
        </p:txBody>
      </p:sp>
      <p:sp>
        <p:nvSpPr>
          <p:cNvPr id="27" name="sq_275"/>
          <p:cNvSpPr/>
          <p:nvPr/>
        </p:nvSpPr>
        <p:spPr>
          <a:xfrm>
            <a:off x="3246120" y="3035808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 little birds 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were attacking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an owl.</a:t>
            </a:r>
            <a:endParaRPr lang="en-US" sz="1200" dirty="0"/>
          </a:p>
        </p:txBody>
      </p:sp>
      <p:sp>
        <p:nvSpPr>
          <p:cNvPr id="28" name="R4_tag276"/>
          <p:cNvSpPr/>
          <p:nvPr/>
        </p:nvSpPr>
        <p:spPr>
          <a:xfrm>
            <a:off x="7178040" y="3035808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⏸ in progress</a:t>
            </a:r>
            <a:endParaRPr lang="en-US" sz="1150" dirty="0"/>
          </a:p>
        </p:txBody>
      </p:sp>
      <p:sp>
        <p:nvSpPr>
          <p:cNvPr id="29" name="sq_277"/>
          <p:cNvSpPr/>
          <p:nvPr/>
        </p:nvSpPr>
        <p:spPr>
          <a:xfrm>
            <a:off x="3246120" y="3575304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'Why 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that man 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taking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photos of us?'</a:t>
            </a:r>
            <a:endParaRPr lang="en-US" sz="1200" dirty="0"/>
          </a:p>
        </p:txBody>
      </p:sp>
      <p:sp>
        <p:nvSpPr>
          <p:cNvPr id="30" name="R5_tag278"/>
          <p:cNvSpPr/>
          <p:nvPr/>
        </p:nvSpPr>
        <p:spPr>
          <a:xfrm>
            <a:off x="7178040" y="3575304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⏸ in progress</a:t>
            </a:r>
            <a:endParaRPr lang="en-US" sz="1150" dirty="0"/>
          </a:p>
        </p:txBody>
      </p:sp>
      <p:sp>
        <p:nvSpPr>
          <p:cNvPr id="31" name="pf_279"/>
          <p:cNvSpPr/>
          <p:nvPr/>
        </p:nvSpPr>
        <p:spPr>
          <a:xfrm rot="-120000">
            <a:off x="411480" y="3703320"/>
            <a:ext cx="2514600" cy="1005840"/>
          </a:xfrm>
          <a:prstGeom prst="roundRect">
            <a:avLst>
              <a:gd name="adj" fmla="val 154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2" name="ph_280" descr="/home/claude/lls-course/v2/cache/a2_2b_couple_jpg_583x220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749040"/>
            <a:ext cx="2423160" cy="9144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8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28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283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 was walking when…</a:t>
            </a:r>
            <a:endParaRPr lang="en-US" sz="2400" dirty="0"/>
          </a:p>
        </p:txBody>
      </p:sp>
      <p:pic>
        <p:nvPicPr>
          <p:cNvPr id="6" name="brP_28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2295144" cy="402336"/>
          </a:xfrm>
          <a:prstGeom prst="rect">
            <a:avLst/>
          </a:prstGeom>
        </p:spPr>
      </p:pic>
      <p:sp>
        <p:nvSpPr>
          <p:cNvPr id="7" name="ins_285"/>
          <p:cNvSpPr/>
          <p:nvPr/>
        </p:nvSpPr>
        <p:spPr>
          <a:xfrm>
            <a:off x="1353312" y="731520"/>
            <a:ext cx="2039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do we make it?</a:t>
            </a:r>
            <a:endParaRPr lang="en-US" sz="1250" dirty="0"/>
          </a:p>
        </p:txBody>
      </p:sp>
      <p:sp>
        <p:nvSpPr>
          <p:cNvPr id="8" name="insIT_28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Come si forma?</a:t>
            </a:r>
            <a:endParaRPr lang="en-US" sz="950" dirty="0"/>
          </a:p>
        </p:txBody>
      </p:sp>
      <p:sp>
        <p:nvSpPr>
          <p:cNvPr id="9" name="cmd_287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LOOK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</a:t>
            </a:r>
            <a:endParaRPr lang="en-US" sz="1100" dirty="0"/>
          </a:p>
        </p:txBody>
      </p:sp>
      <p:sp>
        <p:nvSpPr>
          <p:cNvPr id="10" name="meta_288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950" dirty="0"/>
          </a:p>
        </p:txBody>
      </p:sp>
      <p:sp>
        <p:nvSpPr>
          <p:cNvPr id="11" name="tag_289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00" dirty="0"/>
          </a:p>
        </p:txBody>
      </p:sp>
      <p:pic>
        <p:nvPicPr>
          <p:cNvPr id="12" name="logo_29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9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Grammar · past continuous   ·   📖 Grammar Bank 2B p.128 · audio 2.11, 2.12 (play from the book)</a:t>
            </a:r>
            <a:endParaRPr lang="en-US" sz="800" dirty="0"/>
          </a:p>
        </p:txBody>
      </p:sp>
      <p:sp>
        <p:nvSpPr>
          <p:cNvPr id="14" name="cd_292"/>
          <p:cNvSpPr/>
          <p:nvPr/>
        </p:nvSpPr>
        <p:spPr>
          <a:xfrm>
            <a:off x="3200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rh_293"/>
          <p:cNvSpPr/>
          <p:nvPr/>
        </p:nvSpPr>
        <p:spPr>
          <a:xfrm>
            <a:off x="4297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</a:t>
            </a:r>
            <a:endParaRPr lang="en-US" sz="1250" dirty="0"/>
          </a:p>
        </p:txBody>
      </p:sp>
      <p:sp>
        <p:nvSpPr>
          <p:cNvPr id="16" name="pf_294"/>
          <p:cNvSpPr/>
          <p:nvPr/>
        </p:nvSpPr>
        <p:spPr>
          <a:xfrm>
            <a:off x="4297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295" descr="/home/claude/lls-course/v2/cache/a2_2b_couple_jpg_415x20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" y="1984248"/>
            <a:ext cx="1723644" cy="868680"/>
          </a:xfrm>
          <a:prstGeom prst="rect">
            <a:avLst/>
          </a:prstGeom>
        </p:spPr>
      </p:pic>
      <p:sp>
        <p:nvSpPr>
          <p:cNvPr id="18" name="ru_296"/>
          <p:cNvSpPr/>
          <p:nvPr/>
        </p:nvSpPr>
        <p:spPr>
          <a:xfrm>
            <a:off x="4114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was / were + -ing</a:t>
            </a:r>
            <a:endParaRPr lang="en-US" sz="1050" dirty="0"/>
          </a:p>
        </p:txBody>
      </p:sp>
      <p:sp>
        <p:nvSpPr>
          <p:cNvPr id="19" name="R1_rx297"/>
          <p:cNvSpPr/>
          <p:nvPr/>
        </p:nvSpPr>
        <p:spPr>
          <a:xfrm>
            <a:off x="4114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</a:t>
            </a:r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living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in London.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They </a:t>
            </a:r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were walking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050" dirty="0"/>
          </a:p>
        </p:txBody>
      </p:sp>
      <p:sp>
        <p:nvSpPr>
          <p:cNvPr id="20" name="R1_ri298"/>
          <p:cNvSpPr/>
          <p:nvPr/>
        </p:nvSpPr>
        <p:spPr>
          <a:xfrm>
            <a:off x="4114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ero / stavo + -ando</a:t>
            </a:r>
            <a:endParaRPr lang="en-US" sz="900" dirty="0"/>
          </a:p>
        </p:txBody>
      </p:sp>
      <p:sp>
        <p:nvSpPr>
          <p:cNvPr id="21" name="cd_299"/>
          <p:cNvSpPr/>
          <p:nvPr/>
        </p:nvSpPr>
        <p:spPr>
          <a:xfrm>
            <a:off x="24917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2" name="rh_300"/>
          <p:cNvSpPr/>
          <p:nvPr/>
        </p:nvSpPr>
        <p:spPr>
          <a:xfrm>
            <a:off x="26014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−</a:t>
            </a:r>
            <a:endParaRPr lang="en-US" sz="1250" dirty="0"/>
          </a:p>
        </p:txBody>
      </p:sp>
      <p:sp>
        <p:nvSpPr>
          <p:cNvPr id="23" name="pf_301"/>
          <p:cNvSpPr/>
          <p:nvPr/>
        </p:nvSpPr>
        <p:spPr>
          <a:xfrm>
            <a:off x="26014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4" name="ph_302" descr="/home/claude/lls-course/v2/cache/a2_2b_anya_d_jpg_415x209_3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47188" y="1984248"/>
            <a:ext cx="1723644" cy="868680"/>
          </a:xfrm>
          <a:prstGeom prst="rect">
            <a:avLst/>
          </a:prstGeom>
        </p:spPr>
      </p:pic>
      <p:sp>
        <p:nvSpPr>
          <p:cNvPr id="25" name="ru_303"/>
          <p:cNvSpPr/>
          <p:nvPr/>
        </p:nvSpPr>
        <p:spPr>
          <a:xfrm>
            <a:off x="25831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wasn't / weren't + -ing</a:t>
            </a:r>
            <a:endParaRPr lang="en-US" sz="1050" dirty="0"/>
          </a:p>
        </p:txBody>
      </p:sp>
      <p:sp>
        <p:nvSpPr>
          <p:cNvPr id="26" name="R2_rx304"/>
          <p:cNvSpPr/>
          <p:nvPr/>
        </p:nvSpPr>
        <p:spPr>
          <a:xfrm>
            <a:off x="25831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</a:t>
            </a:r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wasn't working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 </a:t>
            </a:r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weren't listening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050" dirty="0"/>
          </a:p>
        </p:txBody>
      </p:sp>
      <p:sp>
        <p:nvSpPr>
          <p:cNvPr id="27" name="R2_ri305"/>
          <p:cNvSpPr/>
          <p:nvPr/>
        </p:nvSpPr>
        <p:spPr>
          <a:xfrm>
            <a:off x="25831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non stavo…</a:t>
            </a:r>
            <a:endParaRPr lang="en-US" sz="900" dirty="0"/>
          </a:p>
        </p:txBody>
      </p:sp>
      <p:sp>
        <p:nvSpPr>
          <p:cNvPr id="28" name="cd_306"/>
          <p:cNvSpPr/>
          <p:nvPr/>
        </p:nvSpPr>
        <p:spPr>
          <a:xfrm>
            <a:off x="46634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9" name="rh_307"/>
          <p:cNvSpPr/>
          <p:nvPr/>
        </p:nvSpPr>
        <p:spPr>
          <a:xfrm>
            <a:off x="47731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?</a:t>
            </a:r>
            <a:endParaRPr lang="en-US" sz="1250" dirty="0"/>
          </a:p>
        </p:txBody>
      </p:sp>
      <p:sp>
        <p:nvSpPr>
          <p:cNvPr id="30" name="pf_308"/>
          <p:cNvSpPr/>
          <p:nvPr/>
        </p:nvSpPr>
        <p:spPr>
          <a:xfrm>
            <a:off x="47731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1" name="ph_309" descr="/home/claude/lls-course/v2/cache/a2_2b_anya_f_jpg_415x209_31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18888" y="1984248"/>
            <a:ext cx="1723644" cy="868680"/>
          </a:xfrm>
          <a:prstGeom prst="rect">
            <a:avLst/>
          </a:prstGeom>
        </p:spPr>
      </p:pic>
      <p:sp>
        <p:nvSpPr>
          <p:cNvPr id="32" name="ru_310"/>
          <p:cNvSpPr/>
          <p:nvPr/>
        </p:nvSpPr>
        <p:spPr>
          <a:xfrm>
            <a:off x="47548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Was / Were + person + -ing?</a:t>
            </a:r>
            <a:endParaRPr lang="en-US" sz="1050" dirty="0"/>
          </a:p>
        </p:txBody>
      </p:sp>
      <p:sp>
        <p:nvSpPr>
          <p:cNvPr id="33" name="R3_rx311"/>
          <p:cNvSpPr/>
          <p:nvPr/>
        </p:nvSpPr>
        <p:spPr>
          <a:xfrm>
            <a:off x="47548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were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you 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doing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?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it 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raining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? – Yes, it 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050" dirty="0"/>
          </a:p>
        </p:txBody>
      </p:sp>
      <p:sp>
        <p:nvSpPr>
          <p:cNvPr id="34" name="R3_ri312"/>
          <p:cNvSpPr/>
          <p:nvPr/>
        </p:nvSpPr>
        <p:spPr>
          <a:xfrm>
            <a:off x="47548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Cosa stavi facendo?</a:t>
            </a:r>
            <a:endParaRPr lang="en-US" sz="900" dirty="0"/>
          </a:p>
        </p:txBody>
      </p:sp>
      <p:sp>
        <p:nvSpPr>
          <p:cNvPr id="35" name="cd_313"/>
          <p:cNvSpPr/>
          <p:nvPr/>
        </p:nvSpPr>
        <p:spPr>
          <a:xfrm>
            <a:off x="68351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6" name="rh_314"/>
          <p:cNvSpPr/>
          <p:nvPr/>
        </p:nvSpPr>
        <p:spPr>
          <a:xfrm>
            <a:off x="69448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when / while</a:t>
            </a:r>
            <a:endParaRPr lang="en-US" sz="1250" dirty="0"/>
          </a:p>
        </p:txBody>
      </p:sp>
      <p:sp>
        <p:nvSpPr>
          <p:cNvPr id="37" name="pf_315"/>
          <p:cNvSpPr/>
          <p:nvPr/>
        </p:nvSpPr>
        <p:spPr>
          <a:xfrm>
            <a:off x="69448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8" name="ph_316" descr="/home/claude/lls-course/v2/cache/a2_2b_anya_c_jpg_415x209_3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90588" y="1984248"/>
            <a:ext cx="1723644" cy="868680"/>
          </a:xfrm>
          <a:prstGeom prst="rect">
            <a:avLst/>
          </a:prstGeom>
        </p:spPr>
      </p:pic>
      <p:sp>
        <p:nvSpPr>
          <p:cNvPr id="39" name="ru_317"/>
          <p:cNvSpPr/>
          <p:nvPr/>
        </p:nvSpPr>
        <p:spPr>
          <a:xfrm>
            <a:off x="69265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long action + short action</a:t>
            </a:r>
            <a:endParaRPr lang="en-US" sz="1050" dirty="0"/>
          </a:p>
        </p:txBody>
      </p:sp>
      <p:sp>
        <p:nvSpPr>
          <p:cNvPr id="40" name="R4_rx318"/>
          <p:cNvSpPr/>
          <p:nvPr/>
        </p:nvSpPr>
        <p:spPr>
          <a:xfrm>
            <a:off x="69265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 </a:t>
            </a:r>
            <a:pPr algn="ctr" indent="0" marL="0">
              <a:buNone/>
            </a:pPr>
            <a:r>
              <a:rPr lang="en-US" sz="1050" b="1" dirty="0">
                <a:solidFill>
                  <a:srgbClr val="F2B705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were walking when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we </a:t>
            </a:r>
            <a:pPr algn="ctr" indent="0" marL="0">
              <a:buNone/>
            </a:pPr>
            <a:r>
              <a:rPr lang="en-US" sz="1050" b="1" dirty="0">
                <a:solidFill>
                  <a:srgbClr val="F2B705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saw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an owl.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2B705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While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 </a:t>
            </a:r>
            <a:pPr algn="ctr" indent="0" marL="0">
              <a:buNone/>
            </a:pPr>
            <a:r>
              <a:rPr lang="en-US" sz="1050" b="1" dirty="0">
                <a:solidFill>
                  <a:srgbClr val="F2B705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sleeping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, the phone </a:t>
            </a:r>
            <a:pPr algn="ctr" indent="0" marL="0">
              <a:buNone/>
            </a:pPr>
            <a:r>
              <a:rPr lang="en-US" sz="1050" b="1" dirty="0">
                <a:solidFill>
                  <a:srgbClr val="F2B705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rang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050" dirty="0"/>
          </a:p>
        </p:txBody>
      </p:sp>
      <p:sp>
        <p:nvSpPr>
          <p:cNvPr id="41" name="R4_ri319"/>
          <p:cNvSpPr/>
          <p:nvPr/>
        </p:nvSpPr>
        <p:spPr>
          <a:xfrm>
            <a:off x="69265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azione lunga (continuous) + breve (simple)</a:t>
            </a:r>
            <a:endParaRPr lang="en-US" sz="750" dirty="0"/>
          </a:p>
        </p:txBody>
      </p:sp>
      <p:sp>
        <p:nvSpPr>
          <p:cNvPr id="42" name="R5_wc320"/>
          <p:cNvSpPr/>
          <p:nvPr/>
        </p:nvSpPr>
        <p:spPr>
          <a:xfrm>
            <a:off x="320040" y="4544568"/>
            <a:ext cx="8549640" cy="329184"/>
          </a:xfrm>
          <a:prstGeom prst="roundRect">
            <a:avLst>
              <a:gd name="adj" fmla="val 38889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3" name="R5_w321"/>
          <p:cNvSpPr/>
          <p:nvPr/>
        </p:nvSpPr>
        <p:spPr>
          <a:xfrm>
            <a:off x="457200" y="4544568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✗ When I was arriving, they were eating → ✓ When I arrived, they were eating (the short action = past simple)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2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32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191610" cy="621792"/>
          </a:xfrm>
          <a:prstGeom prst="rect">
            <a:avLst/>
          </a:prstGeom>
        </p:spPr>
      </p:pic>
      <p:sp>
        <p:nvSpPr>
          <p:cNvPr id="5" name="title_324"/>
          <p:cNvSpPr/>
          <p:nvPr/>
        </p:nvSpPr>
        <p:spPr>
          <a:xfrm>
            <a:off x="1261872" y="164592"/>
            <a:ext cx="39172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Luca's terrible Sunday</a:t>
            </a:r>
            <a:endParaRPr lang="en-US" sz="2500" dirty="0"/>
          </a:p>
        </p:txBody>
      </p:sp>
      <p:pic>
        <p:nvPicPr>
          <p:cNvPr id="6" name="brP_32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326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to the story. Answer the questions!</a:t>
            </a:r>
            <a:endParaRPr lang="en-US" sz="1250" dirty="0"/>
          </a:p>
        </p:txBody>
      </p:sp>
      <p:sp>
        <p:nvSpPr>
          <p:cNvPr id="8" name="insIT_32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 la storia. Rispondi alle domande!</a:t>
            </a:r>
            <a:endParaRPr lang="en-US" sz="950" dirty="0"/>
          </a:p>
        </p:txBody>
      </p:sp>
      <p:sp>
        <p:nvSpPr>
          <p:cNvPr id="9" name="cmd_328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329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1" name="meta_330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🙋 whole class</a:t>
            </a:r>
            <a:endParaRPr lang="en-US" sz="950" dirty="0"/>
          </a:p>
        </p:txBody>
      </p:sp>
      <p:sp>
        <p:nvSpPr>
          <p:cNvPr id="12" name="tag_331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story</a:t>
            </a:r>
            <a:endParaRPr lang="en-US" sz="850" dirty="0"/>
          </a:p>
        </p:txBody>
      </p:sp>
      <p:pic>
        <p:nvPicPr>
          <p:cNvPr id="13" name="logo_33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33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Speaking · class story (TPRS)</a:t>
            </a:r>
            <a:endParaRPr lang="en-US" sz="800" dirty="0"/>
          </a:p>
        </p:txBody>
      </p:sp>
      <p:sp>
        <p:nvSpPr>
          <p:cNvPr id="15" name="cd_334"/>
          <p:cNvSpPr/>
          <p:nvPr/>
        </p:nvSpPr>
        <p:spPr>
          <a:xfrm>
            <a:off x="320040" y="1417320"/>
            <a:ext cx="2697480" cy="2852928"/>
          </a:xfrm>
          <a:prstGeom prst="roundRect">
            <a:avLst>
              <a:gd name="adj" fmla="val 4746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335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🔑</a:t>
            </a:r>
            <a:endParaRPr lang="en-US" sz="2200" dirty="0"/>
          </a:p>
        </p:txBody>
      </p:sp>
      <p:sp>
        <p:nvSpPr>
          <p:cNvPr id="17" name="ih_336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Story phrases</a:t>
            </a:r>
            <a:endParaRPr lang="en-US" sz="1300" dirty="0"/>
          </a:p>
        </p:txBody>
      </p:sp>
      <p:sp>
        <p:nvSpPr>
          <p:cNvPr id="18" name="il_337"/>
          <p:cNvSpPr/>
          <p:nvPr/>
        </p:nvSpPr>
        <p:spPr>
          <a:xfrm>
            <a:off x="886968" y="1892808"/>
            <a:ext cx="2039112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sleeping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stava dormendo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running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stava correndo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were looking at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stavano guardando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wearing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indossava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+ past simple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quando + passato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while + was / were -ing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mentre…</a:t>
            </a:r>
            <a:endParaRPr lang="en-US" sz="1000" dirty="0"/>
          </a:p>
        </p:txBody>
      </p:sp>
      <p:sp>
        <p:nvSpPr>
          <p:cNvPr id="19" name="R1_sb338"/>
          <p:cNvSpPr/>
          <p:nvPr/>
        </p:nvSpPr>
        <p:spPr>
          <a:xfrm>
            <a:off x="3200400" y="1453896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R1_sl339"/>
          <p:cNvSpPr/>
          <p:nvPr/>
        </p:nvSpPr>
        <p:spPr>
          <a:xfrm>
            <a:off x="3584448" y="14173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Last Sunday at 8 o'clock, Luca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sleeping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in bed.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Was Luca sleeping or working? · Where was he sleeping?</a:t>
            </a:r>
            <a:endParaRPr lang="en-US" sz="1250" dirty="0"/>
          </a:p>
        </p:txBody>
      </p:sp>
      <p:sp>
        <p:nvSpPr>
          <p:cNvPr id="21" name="R2_sb340"/>
          <p:cNvSpPr/>
          <p:nvPr/>
        </p:nvSpPr>
        <p:spPr>
          <a:xfrm>
            <a:off x="3200400" y="201777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R2_sl341"/>
          <p:cNvSpPr/>
          <p:nvPr/>
        </p:nvSpPr>
        <p:spPr>
          <a:xfrm>
            <a:off x="3584448" y="198120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While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he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sleeping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, his phone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rang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 It was his boss!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Was he sleeping when the phone rang? · Who was it?</a:t>
            </a:r>
            <a:endParaRPr lang="en-US" sz="1250" dirty="0"/>
          </a:p>
        </p:txBody>
      </p:sp>
      <p:sp>
        <p:nvSpPr>
          <p:cNvPr id="23" name="R3_sb342"/>
          <p:cNvSpPr/>
          <p:nvPr/>
        </p:nvSpPr>
        <p:spPr>
          <a:xfrm>
            <a:off x="3200400" y="2581656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R3_sl343"/>
          <p:cNvSpPr/>
          <p:nvPr/>
        </p:nvSpPr>
        <p:spPr>
          <a:xfrm>
            <a:off x="3584448" y="254508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Luca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running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to the station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it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started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to rain.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Was he walking or running? · What happened?</a:t>
            </a:r>
            <a:endParaRPr lang="en-US" sz="1250" dirty="0"/>
          </a:p>
        </p:txBody>
      </p:sp>
      <p:sp>
        <p:nvSpPr>
          <p:cNvPr id="25" name="R4_sb344"/>
          <p:cNvSpPr/>
          <p:nvPr/>
        </p:nvSpPr>
        <p:spPr>
          <a:xfrm>
            <a:off x="3200400" y="3145536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R4_sl345"/>
          <p:cNvSpPr/>
          <p:nvPr/>
        </p:nvSpPr>
        <p:spPr>
          <a:xfrm>
            <a:off x="3584448" y="310896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 the train, everybody </a:t>
            </a:r>
            <a:pPr indent="0" marL="0">
              <a:buNone/>
            </a:pPr>
            <a:r>
              <a:rPr lang="en-US" sz="10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looking</a:t>
            </a:r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at him. He </a:t>
            </a:r>
            <a:pPr indent="0" marL="0">
              <a:buNone/>
            </a:pPr>
            <a:r>
              <a:rPr lang="en-US" sz="10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wearing</a:t>
            </a:r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his pyjamas!</a:t>
            </a:r>
            <a:endParaRPr lang="en-US" sz="100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What were people doing? · What was he wearing?</a:t>
            </a:r>
            <a:endParaRPr lang="en-US" sz="1000" dirty="0"/>
          </a:p>
        </p:txBody>
      </p:sp>
      <p:sp>
        <p:nvSpPr>
          <p:cNvPr id="27" name="R5_sb346"/>
          <p:cNvSpPr/>
          <p:nvPr/>
        </p:nvSpPr>
        <p:spPr>
          <a:xfrm>
            <a:off x="3200400" y="3709416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8" name="R5_sl347"/>
          <p:cNvSpPr/>
          <p:nvPr/>
        </p:nvSpPr>
        <p:spPr>
          <a:xfrm>
            <a:off x="3584448" y="367284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 work his boss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laughing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: 'Luca… today is Sunday!'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Was the boss angry or laughing? · What day was it?</a:t>
            </a:r>
            <a:endParaRPr lang="en-US" sz="1250" dirty="0"/>
          </a:p>
        </p:txBody>
      </p:sp>
      <p:sp>
        <p:nvSpPr>
          <p:cNvPr id="29" name="R6_sb348"/>
          <p:cNvSpPr/>
          <p:nvPr/>
        </p:nvSpPr>
        <p:spPr>
          <a:xfrm>
            <a:off x="3200400" y="427329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R6_sl349"/>
          <p:cNvSpPr/>
          <p:nvPr/>
        </p:nvSpPr>
        <p:spPr>
          <a:xfrm>
            <a:off x="3584448" y="42367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And you? What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were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you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doing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last Sunday at 8 o'clock?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Were you sleeping? · Were you working?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5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35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352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Was it happening?</a:t>
            </a:r>
            <a:endParaRPr lang="en-US" sz="2500" dirty="0"/>
          </a:p>
        </p:txBody>
      </p:sp>
      <p:pic>
        <p:nvPicPr>
          <p:cNvPr id="6" name="brP_35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988052" cy="402336"/>
          </a:xfrm>
          <a:prstGeom prst="rect">
            <a:avLst/>
          </a:prstGeom>
        </p:spPr>
      </p:pic>
      <p:sp>
        <p:nvSpPr>
          <p:cNvPr id="7" name="ins_354"/>
          <p:cNvSpPr/>
          <p:nvPr/>
        </p:nvSpPr>
        <p:spPr>
          <a:xfrm>
            <a:off x="1353312" y="731520"/>
            <a:ext cx="47320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Past simple or past continuous? Say the sentence.</a:t>
            </a:r>
            <a:endParaRPr lang="en-US" sz="1250" dirty="0"/>
          </a:p>
        </p:txBody>
      </p:sp>
      <p:sp>
        <p:nvSpPr>
          <p:cNvPr id="8" name="insIT_35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Past simple o past continuous? Di' la frase.</a:t>
            </a:r>
            <a:endParaRPr lang="en-US" sz="950" dirty="0"/>
          </a:p>
        </p:txBody>
      </p:sp>
      <p:sp>
        <p:nvSpPr>
          <p:cNvPr id="9" name="cmd_356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✏️ </a:t>
            </a:r>
            <a:pPr indent="0" marL="0">
              <a:buNone/>
            </a:pPr>
            <a:r>
              <a:rPr lang="en-US" sz="9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FILL THE GAPS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COMPLETA</a:t>
            </a:r>
            <a:endParaRPr lang="en-US" sz="800" dirty="0"/>
          </a:p>
        </p:txBody>
      </p:sp>
      <p:sp>
        <p:nvSpPr>
          <p:cNvPr id="10" name="cmd_357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1" name="meta_358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2" name="tag_359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00" dirty="0"/>
          </a:p>
        </p:txBody>
      </p:sp>
      <p:pic>
        <p:nvPicPr>
          <p:cNvPr id="13" name="logo_36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36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Grammar · practice   ·   📖 Grammar Bank 2B p.129 · a (answers: TG)</a:t>
            </a:r>
            <a:endParaRPr lang="en-US" sz="800" dirty="0"/>
          </a:p>
        </p:txBody>
      </p:sp>
      <p:sp>
        <p:nvSpPr>
          <p:cNvPr id="15" name="cd_362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363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7" name="ih_364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8" name="il_365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___ this photo when we ___ in Greece. (take · travel) → I took this photo when we were travelling in Greece.</a:t>
            </a:r>
            <a:endParaRPr lang="en-US" sz="800" dirty="0"/>
          </a:p>
        </p:txBody>
      </p:sp>
      <p:sp>
        <p:nvSpPr>
          <p:cNvPr id="19" name="pf_366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367" descr="/home/claude/lls-course/v2/cache/a2_2b_anya_b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1" name="bd_368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q_369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___ his wife when he ___ in Japan. (meet · live)</a:t>
            </a:r>
            <a:endParaRPr lang="en-US" sz="1100" dirty="0"/>
          </a:p>
        </p:txBody>
      </p:sp>
      <p:sp>
        <p:nvSpPr>
          <p:cNvPr id="23" name="R1_chip370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met · was living</a:t>
            </a:r>
            <a:endParaRPr lang="en-US" sz="1000" dirty="0"/>
          </a:p>
        </p:txBody>
      </p:sp>
      <p:sp>
        <p:nvSpPr>
          <p:cNvPr id="24" name="bd_371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q_372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she ___ a coat when she went out? (wear)</a:t>
            </a:r>
            <a:endParaRPr lang="en-US" sz="1100" dirty="0"/>
          </a:p>
        </p:txBody>
      </p:sp>
      <p:sp>
        <p:nvSpPr>
          <p:cNvPr id="26" name="R2_chip373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she wearing</a:t>
            </a:r>
            <a:endParaRPr lang="en-US" sz="1000" dirty="0"/>
          </a:p>
        </p:txBody>
      </p:sp>
      <p:sp>
        <p:nvSpPr>
          <p:cNvPr id="27" name="bd_374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q_375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sun ___ when I went to work. (shine)</a:t>
            </a:r>
            <a:endParaRPr lang="en-US" sz="1150" dirty="0"/>
          </a:p>
        </p:txBody>
      </p:sp>
      <p:sp>
        <p:nvSpPr>
          <p:cNvPr id="29" name="R3_chip376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shining</a:t>
            </a:r>
            <a:endParaRPr lang="en-US" sz="1000" dirty="0"/>
          </a:p>
        </p:txBody>
      </p:sp>
      <p:sp>
        <p:nvSpPr>
          <p:cNvPr id="30" name="bd_377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q_378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___ you ___ at 7.30 last night? (do)</a:t>
            </a:r>
            <a:endParaRPr lang="en-US" sz="1150" dirty="0"/>
          </a:p>
        </p:txBody>
      </p:sp>
      <p:sp>
        <p:nvSpPr>
          <p:cNvPr id="32" name="R4_chip379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were you doing</a:t>
            </a:r>
            <a:endParaRPr lang="en-US" sz="1000" dirty="0"/>
          </a:p>
        </p:txBody>
      </p:sp>
      <p:sp>
        <p:nvSpPr>
          <p:cNvPr id="33" name="bd_380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4" name="q_381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___ when you gave the instructions. (not listen)</a:t>
            </a:r>
            <a:endParaRPr lang="en-US" sz="1150" dirty="0"/>
          </a:p>
        </p:txBody>
      </p:sp>
      <p:sp>
        <p:nvSpPr>
          <p:cNvPr id="35" name="R5_chip382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wasn't listening</a:t>
            </a:r>
            <a:endParaRPr lang="en-US" sz="1000" dirty="0"/>
          </a:p>
        </p:txBody>
      </p:sp>
      <p:sp>
        <p:nvSpPr>
          <p:cNvPr id="36" name="bd_383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q_384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started to rain when we ___ in the park. (run)</a:t>
            </a:r>
            <a:endParaRPr lang="en-US" sz="1150" dirty="0"/>
          </a:p>
        </p:txBody>
      </p:sp>
      <p:sp>
        <p:nvSpPr>
          <p:cNvPr id="38" name="R6_chip385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were running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8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38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388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was happening?</a:t>
            </a:r>
            <a:endParaRPr lang="en-US" sz="2300" dirty="0"/>
          </a:p>
        </p:txBody>
      </p:sp>
      <p:pic>
        <p:nvPicPr>
          <p:cNvPr id="6" name="brP_38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390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Watch the mime. Say what was happening!</a:t>
            </a:r>
            <a:endParaRPr lang="en-US" sz="1250" dirty="0"/>
          </a:p>
        </p:txBody>
      </p:sp>
      <p:sp>
        <p:nvSpPr>
          <p:cNvPr id="8" name="insIT_391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Guarda il mimo. Di' cosa stava succedendo!</a:t>
            </a:r>
            <a:endParaRPr lang="en-US" sz="950" dirty="0"/>
          </a:p>
        </p:txBody>
      </p:sp>
      <p:sp>
        <p:nvSpPr>
          <p:cNvPr id="9" name="cmd_392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cmd_393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1" name="meta_394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🏆 teams</a:t>
            </a:r>
            <a:endParaRPr lang="en-US" sz="950" dirty="0"/>
          </a:p>
        </p:txBody>
      </p:sp>
      <p:sp>
        <p:nvSpPr>
          <p:cNvPr id="12" name="tag_395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00" dirty="0"/>
          </a:p>
        </p:txBody>
      </p:sp>
      <p:pic>
        <p:nvPicPr>
          <p:cNvPr id="13" name="logo_39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39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Grammar game · mime   ·   📖 SB p.17 · 3c (audio 2.13 = sound effects, play from the book)</a:t>
            </a:r>
            <a:endParaRPr lang="en-US" sz="800" dirty="0"/>
          </a:p>
        </p:txBody>
      </p:sp>
      <p:sp>
        <p:nvSpPr>
          <p:cNvPr id="15" name="cd_398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399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7" name="ih_400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8" name="il_401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student mimes both actions.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Uno studente mima le due azioni.</a:t>
            </a:r>
            <a:endParaRPr lang="en-US" sz="10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Teams say the sentence: …was / were -ing when…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 squadre dicono la frase: …was / were -ing when…</a:t>
            </a:r>
            <a:endParaRPr lang="en-US" sz="10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Right sentence = 1 point.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Frase giusta = 1 punto.</a:t>
            </a:r>
            <a:endParaRPr lang="en-US" sz="1000" dirty="0"/>
          </a:p>
        </p:txBody>
      </p:sp>
      <p:sp>
        <p:nvSpPr>
          <p:cNvPr id="19" name="st_402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20" name="bd_403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gq_404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play tennis · start to rain</a:t>
            </a:r>
            <a:endParaRPr lang="en-US" sz="1100" dirty="0"/>
          </a:p>
        </p:txBody>
      </p:sp>
      <p:sp>
        <p:nvSpPr>
          <p:cNvPr id="22" name="R1_chip405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They were playing tennis when it started to rain.</a:t>
            </a:r>
            <a:endParaRPr lang="en-US" sz="1100" dirty="0"/>
          </a:p>
        </p:txBody>
      </p:sp>
      <p:sp>
        <p:nvSpPr>
          <p:cNvPr id="23" name="bd_406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gq_407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drive · somebody phone</a:t>
            </a:r>
            <a:endParaRPr lang="en-US" sz="1100" dirty="0"/>
          </a:p>
        </p:txBody>
      </p:sp>
      <p:sp>
        <p:nvSpPr>
          <p:cNvPr id="25" name="R2_chip408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was driving when somebody phoned her.</a:t>
            </a:r>
            <a:endParaRPr lang="en-US" sz="1100" dirty="0"/>
          </a:p>
        </p:txBody>
      </p:sp>
      <p:sp>
        <p:nvSpPr>
          <p:cNvPr id="26" name="bd_409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gq_410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a party · the police come</a:t>
            </a:r>
            <a:endParaRPr lang="en-US" sz="1100" dirty="0"/>
          </a:p>
        </p:txBody>
      </p:sp>
      <p:sp>
        <p:nvSpPr>
          <p:cNvPr id="28" name="R3_chip411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They were having a party when the police came.</a:t>
            </a:r>
            <a:endParaRPr lang="en-US" sz="1100" dirty="0"/>
          </a:p>
        </p:txBody>
      </p:sp>
      <p:sp>
        <p:nvSpPr>
          <p:cNvPr id="29" name="bd_412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gq_413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a shower · somebody knock</a:t>
            </a:r>
            <a:endParaRPr lang="en-US" sz="1100" dirty="0"/>
          </a:p>
        </p:txBody>
      </p:sp>
      <p:sp>
        <p:nvSpPr>
          <p:cNvPr id="31" name="R4_chip414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He was having a shower when somebody knocked at the door.</a:t>
            </a:r>
            <a:endParaRPr lang="en-US" sz="1050" dirty="0"/>
          </a:p>
        </p:txBody>
      </p:sp>
      <p:sp>
        <p:nvSpPr>
          <p:cNvPr id="32" name="bd_415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gq_416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sleep · the baby start to cry</a:t>
            </a:r>
            <a:endParaRPr lang="en-US" sz="1100" dirty="0"/>
          </a:p>
        </p:txBody>
      </p:sp>
      <p:sp>
        <p:nvSpPr>
          <p:cNvPr id="34" name="R5_chip417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They were sleeping when the baby started to cry.</a:t>
            </a:r>
            <a:endParaRPr lang="en-US" sz="1100" dirty="0"/>
          </a:p>
        </p:txBody>
      </p:sp>
      <p:sp>
        <p:nvSpPr>
          <p:cNvPr id="35" name="bd_418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gq_419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walk the dog · meet a friend</a:t>
            </a:r>
            <a:endParaRPr lang="en-US" sz="1100" dirty="0"/>
          </a:p>
        </p:txBody>
      </p:sp>
      <p:sp>
        <p:nvSpPr>
          <p:cNvPr id="37" name="R6_chip420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was walking her dog when she met a friend.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2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4" name="brY_42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877056" cy="621792"/>
          </a:xfrm>
          <a:prstGeom prst="rect">
            <a:avLst/>
          </a:prstGeom>
        </p:spPr>
      </p:pic>
      <p:sp>
        <p:nvSpPr>
          <p:cNvPr id="5" name="title_423"/>
          <p:cNvSpPr/>
          <p:nvPr/>
        </p:nvSpPr>
        <p:spPr>
          <a:xfrm>
            <a:off x="1261872" y="164592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was /wəz/, were /wə/</a:t>
            </a:r>
            <a:endParaRPr lang="en-US" sz="2500" dirty="0"/>
          </a:p>
        </p:txBody>
      </p:sp>
      <p:pic>
        <p:nvPicPr>
          <p:cNvPr id="6" name="brP_42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074920" cy="402336"/>
          </a:xfrm>
          <a:prstGeom prst="rect">
            <a:avLst/>
          </a:prstGeom>
        </p:spPr>
      </p:pic>
      <p:sp>
        <p:nvSpPr>
          <p:cNvPr id="7" name="ins_425"/>
          <p:cNvSpPr/>
          <p:nvPr/>
        </p:nvSpPr>
        <p:spPr>
          <a:xfrm>
            <a:off x="1353312" y="731520"/>
            <a:ext cx="4818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and complete. Is was / were strong or weak?</a:t>
            </a:r>
            <a:endParaRPr lang="en-US" sz="1250" dirty="0"/>
          </a:p>
        </p:txBody>
      </p:sp>
      <p:sp>
        <p:nvSpPr>
          <p:cNvPr id="8" name="insIT_42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 e completa. Was / were sono forti o deboli?</a:t>
            </a:r>
            <a:endParaRPr lang="en-US" sz="950" dirty="0"/>
          </a:p>
        </p:txBody>
      </p:sp>
      <p:sp>
        <p:nvSpPr>
          <p:cNvPr id="9" name="cmd_427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428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🔊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IT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PRONUNCIA</a:t>
            </a:r>
            <a:endParaRPr lang="en-US" sz="1100" dirty="0"/>
          </a:p>
        </p:txBody>
      </p:sp>
      <p:sp>
        <p:nvSpPr>
          <p:cNvPr id="11" name="meta_429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👤 alone</a:t>
            </a:r>
            <a:endParaRPr lang="en-US" sz="950" dirty="0"/>
          </a:p>
        </p:txBody>
      </p:sp>
      <p:sp>
        <p:nvSpPr>
          <p:cNvPr id="12" name="tag_430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Pronunciation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Listening for detail</a:t>
            </a:r>
            <a:endParaRPr lang="en-US" sz="700" dirty="0"/>
          </a:p>
        </p:txBody>
      </p:sp>
      <p:pic>
        <p:nvPicPr>
          <p:cNvPr id="13" name="logo_43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43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Pronunciation · weak forms   ·   📖 SB p.17 · 4b, 4c · audio 2.14 (play from the book)</a:t>
            </a:r>
            <a:endParaRPr lang="en-US" sz="800" dirty="0"/>
          </a:p>
        </p:txBody>
      </p:sp>
      <p:sp>
        <p:nvSpPr>
          <p:cNvPr id="15" name="ap_433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2.14</a:t>
            </a:r>
            <a:endParaRPr lang="en-US" sz="1100" dirty="0"/>
          </a:p>
        </p:txBody>
      </p:sp>
      <p:sp>
        <p:nvSpPr>
          <p:cNvPr id="16" name="aw_434"/>
          <p:cNvSpPr/>
          <p:nvPr/>
        </p:nvSpPr>
        <p:spPr>
          <a:xfrm>
            <a:off x="365760" y="1837944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2410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Play it from the book audio</a:t>
            </a:r>
            <a:endParaRPr lang="en-US" sz="900" dirty="0"/>
          </a:p>
        </p:txBody>
      </p:sp>
      <p:sp>
        <p:nvSpPr>
          <p:cNvPr id="17" name="pf_435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8" name="ph_436" descr="/home/claude/lls-course/v2/cache/a2_2b_anya_a_jpg_627x407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57200" y="2103120"/>
            <a:ext cx="2606040" cy="1691640"/>
          </a:xfrm>
          <a:prstGeom prst="rect">
            <a:avLst/>
          </a:prstGeom>
        </p:spPr>
      </p:pic>
      <p:sp>
        <p:nvSpPr>
          <p:cNvPr id="19" name="cd_437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438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1" name="ih_439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2" name="il_440"/>
          <p:cNvSpPr/>
          <p:nvPr/>
        </p:nvSpPr>
        <p:spPr>
          <a:xfrm>
            <a:off x="886968" y="4498848"/>
            <a:ext cx="2130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23" name="gq_441"/>
          <p:cNvSpPr/>
          <p:nvPr/>
        </p:nvSpPr>
        <p:spPr>
          <a:xfrm>
            <a:off x="3383280" y="141732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___ ___ my first term at university.</a:t>
            </a:r>
            <a:endParaRPr lang="en-US" sz="1200" dirty="0"/>
          </a:p>
        </p:txBody>
      </p:sp>
      <p:sp>
        <p:nvSpPr>
          <p:cNvPr id="24" name="R1_chip442"/>
          <p:cNvSpPr/>
          <p:nvPr/>
        </p:nvSpPr>
        <p:spPr>
          <a:xfrm>
            <a:off x="6812280" y="141732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was</a:t>
            </a:r>
            <a:endParaRPr lang="en-US" sz="1200" dirty="0"/>
          </a:p>
        </p:txBody>
      </p:sp>
      <p:sp>
        <p:nvSpPr>
          <p:cNvPr id="25" name="gq_443"/>
          <p:cNvSpPr/>
          <p:nvPr/>
        </p:nvSpPr>
        <p:spPr>
          <a:xfrm>
            <a:off x="3383280" y="1938528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I ___ ___ with him in the Easter holidays.</a:t>
            </a:r>
            <a:endParaRPr lang="en-US" sz="1200" dirty="0"/>
          </a:p>
        </p:txBody>
      </p:sp>
      <p:sp>
        <p:nvSpPr>
          <p:cNvPr id="26" name="R2_chip444"/>
          <p:cNvSpPr/>
          <p:nvPr/>
        </p:nvSpPr>
        <p:spPr>
          <a:xfrm>
            <a:off x="6812280" y="19385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staying</a:t>
            </a:r>
            <a:endParaRPr lang="en-US" sz="1200" dirty="0"/>
          </a:p>
        </p:txBody>
      </p:sp>
      <p:sp>
        <p:nvSpPr>
          <p:cNvPr id="27" name="gq_445"/>
          <p:cNvSpPr/>
          <p:nvPr/>
        </p:nvSpPr>
        <p:spPr>
          <a:xfrm>
            <a:off x="3383280" y="2459736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We ___ ___ a music course.</a:t>
            </a:r>
            <a:endParaRPr lang="en-US" sz="1200" dirty="0"/>
          </a:p>
        </p:txBody>
      </p:sp>
      <p:sp>
        <p:nvSpPr>
          <p:cNvPr id="28" name="R3_chip446"/>
          <p:cNvSpPr/>
          <p:nvPr/>
        </p:nvSpPr>
        <p:spPr>
          <a:xfrm>
            <a:off x="6812280" y="2459736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were doing</a:t>
            </a:r>
            <a:endParaRPr lang="en-US" sz="1200" dirty="0"/>
          </a:p>
        </p:txBody>
      </p:sp>
      <p:sp>
        <p:nvSpPr>
          <p:cNvPr id="29" name="gq_447"/>
          <p:cNvSpPr/>
          <p:nvPr/>
        </p:nvSpPr>
        <p:spPr>
          <a:xfrm>
            <a:off x="3383280" y="2980944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___ ___ at school together.</a:t>
            </a:r>
            <a:endParaRPr lang="en-US" sz="1200" dirty="0"/>
          </a:p>
        </p:txBody>
      </p:sp>
      <p:sp>
        <p:nvSpPr>
          <p:cNvPr id="30" name="R4_chip448"/>
          <p:cNvSpPr/>
          <p:nvPr/>
        </p:nvSpPr>
        <p:spPr>
          <a:xfrm>
            <a:off x="6812280" y="2980944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 were</a:t>
            </a:r>
            <a:endParaRPr lang="en-US" sz="1200" dirty="0"/>
          </a:p>
        </p:txBody>
      </p:sp>
      <p:sp>
        <p:nvSpPr>
          <p:cNvPr id="31" name="gq_449"/>
          <p:cNvSpPr/>
          <p:nvPr/>
        </p:nvSpPr>
        <p:spPr>
          <a:xfrm>
            <a:off x="3383280" y="3502152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She took this when we ___ ___ the Colosseum.</a:t>
            </a:r>
            <a:endParaRPr lang="en-US" sz="1200" dirty="0"/>
          </a:p>
        </p:txBody>
      </p:sp>
      <p:sp>
        <p:nvSpPr>
          <p:cNvPr id="32" name="R5_chip450"/>
          <p:cNvSpPr/>
          <p:nvPr/>
        </p:nvSpPr>
        <p:spPr>
          <a:xfrm>
            <a:off x="6812280" y="3502152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were visiting</a:t>
            </a:r>
            <a:endParaRPr lang="en-US" sz="1200" dirty="0"/>
          </a:p>
        </p:txBody>
      </p:sp>
      <p:sp>
        <p:nvSpPr>
          <p:cNvPr id="33" name="gq_451"/>
          <p:cNvSpPr/>
          <p:nvPr/>
        </p:nvSpPr>
        <p:spPr>
          <a:xfrm>
            <a:off x="3383280" y="402336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 We ___ all ___ champagne, and Roz ___ ___ the hard work!</a:t>
            </a:r>
            <a:endParaRPr lang="en-US" sz="1200" dirty="0"/>
          </a:p>
        </p:txBody>
      </p:sp>
      <p:sp>
        <p:nvSpPr>
          <p:cNvPr id="34" name="R6_chip452"/>
          <p:cNvSpPr/>
          <p:nvPr/>
        </p:nvSpPr>
        <p:spPr>
          <a:xfrm>
            <a:off x="6812280" y="402336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were drinking · was doing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5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15</a:t>
            </a:r>
            <a:endParaRPr lang="en-US" sz="2200" dirty="0"/>
          </a:p>
        </p:txBody>
      </p:sp>
      <p:pic>
        <p:nvPicPr>
          <p:cNvPr id="4" name="brY_45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455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Anya's Instagram</a:t>
            </a:r>
            <a:endParaRPr lang="en-US" sz="2500" dirty="0"/>
          </a:p>
        </p:txBody>
      </p:sp>
      <p:pic>
        <p:nvPicPr>
          <p:cNvPr id="6" name="brP_45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457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Anya talks about her photos. Order them 1–6.</a:t>
            </a:r>
            <a:endParaRPr lang="en-US" sz="1250" dirty="0"/>
          </a:p>
        </p:txBody>
      </p:sp>
      <p:sp>
        <p:nvSpPr>
          <p:cNvPr id="8" name="insIT_45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Anya parla delle sue foto. Mettile in ordine 1–6.</a:t>
            </a:r>
            <a:endParaRPr lang="en-US" sz="950" dirty="0"/>
          </a:p>
        </p:txBody>
      </p:sp>
      <p:sp>
        <p:nvSpPr>
          <p:cNvPr id="9" name="cmd_459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meta_460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👤 alone</a:t>
            </a:r>
            <a:endParaRPr lang="en-US" sz="950" dirty="0"/>
          </a:p>
        </p:txBody>
      </p:sp>
      <p:sp>
        <p:nvSpPr>
          <p:cNvPr id="11" name="tag_461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00" dirty="0"/>
          </a:p>
        </p:txBody>
      </p:sp>
      <p:pic>
        <p:nvPicPr>
          <p:cNvPr id="12" name="logo_46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6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Listening · Anya's photos   ·   📖 SB p.17 · 4d, 4e · audio 2.15 (play from the book · script SB p.120)</a:t>
            </a:r>
            <a:endParaRPr lang="en-US" sz="800" dirty="0"/>
          </a:p>
        </p:txBody>
      </p:sp>
      <p:sp>
        <p:nvSpPr>
          <p:cNvPr id="14" name="cd_464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465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466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467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Photo E = 1 (York, with her mum)</a:t>
            </a:r>
            <a:endParaRPr lang="en-US" sz="1050" dirty="0"/>
          </a:p>
        </p:txBody>
      </p:sp>
      <p:sp>
        <p:nvSpPr>
          <p:cNvPr id="18" name="pf_468"/>
          <p:cNvSpPr/>
          <p:nvPr/>
        </p:nvSpPr>
        <p:spPr>
          <a:xfrm rot="-90000">
            <a:off x="365760" y="2697480"/>
            <a:ext cx="2606040" cy="1417320"/>
          </a:xfrm>
          <a:prstGeom prst="roundRect">
            <a:avLst>
              <a:gd name="adj" fmla="val 109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469" descr="/home/claude/lls-course/v2/cache/a2_2b_anya_grid_jpg_605x31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325880"/>
          </a:xfrm>
          <a:prstGeom prst="rect">
            <a:avLst/>
          </a:prstGeom>
        </p:spPr>
      </p:pic>
      <p:sp>
        <p:nvSpPr>
          <p:cNvPr id="20" name="ap_470"/>
          <p:cNvSpPr/>
          <p:nvPr/>
        </p:nvSpPr>
        <p:spPr>
          <a:xfrm>
            <a:off x="365760" y="4297680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2.15</a:t>
            </a:r>
            <a:endParaRPr lang="en-US" sz="1100" dirty="0"/>
          </a:p>
        </p:txBody>
      </p:sp>
      <p:sp>
        <p:nvSpPr>
          <p:cNvPr id="21" name="aw_471"/>
          <p:cNvSpPr/>
          <p:nvPr/>
        </p:nvSpPr>
        <p:spPr>
          <a:xfrm>
            <a:off x="365760" y="4718304"/>
            <a:ext cx="2606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2410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Play it from the book audio</a:t>
            </a:r>
            <a:endParaRPr lang="en-US" sz="900" dirty="0"/>
          </a:p>
        </p:txBody>
      </p:sp>
      <p:sp>
        <p:nvSpPr>
          <p:cNvPr id="22" name="bd_472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3" name="q_473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Photo A</a:t>
            </a:r>
            <a:endParaRPr lang="en-US" sz="1150" dirty="0"/>
          </a:p>
        </p:txBody>
      </p:sp>
      <p:sp>
        <p:nvSpPr>
          <p:cNvPr id="24" name="R1_chip474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– a party after a music course</a:t>
            </a:r>
            <a:endParaRPr lang="en-US" sz="1000" dirty="0"/>
          </a:p>
        </p:txBody>
      </p:sp>
      <p:sp>
        <p:nvSpPr>
          <p:cNvPr id="25" name="bd_475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6" name="q_476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Photo B</a:t>
            </a:r>
            <a:endParaRPr lang="en-US" sz="1150" dirty="0"/>
          </a:p>
        </p:txBody>
      </p:sp>
      <p:sp>
        <p:nvSpPr>
          <p:cNvPr id="27" name="R2_chip477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– Rome, the Colosseum</a:t>
            </a:r>
            <a:endParaRPr lang="en-US" sz="1000" dirty="0"/>
          </a:p>
        </p:txBody>
      </p:sp>
      <p:sp>
        <p:nvSpPr>
          <p:cNvPr id="28" name="bd_478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9" name="q_479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Photo C</a:t>
            </a:r>
            <a:endParaRPr lang="en-US" sz="1150" dirty="0"/>
          </a:p>
        </p:txBody>
      </p:sp>
      <p:sp>
        <p:nvSpPr>
          <p:cNvPr id="30" name="R3_chip480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– a windy beach in Cornwall</a:t>
            </a:r>
            <a:endParaRPr lang="en-US" sz="1000" dirty="0"/>
          </a:p>
        </p:txBody>
      </p:sp>
      <p:sp>
        <p:nvSpPr>
          <p:cNvPr id="31" name="bd_481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2" name="q_482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Photo D</a:t>
            </a:r>
            <a:endParaRPr lang="en-US" sz="1150" dirty="0"/>
          </a:p>
        </p:txBody>
      </p:sp>
      <p:sp>
        <p:nvSpPr>
          <p:cNvPr id="33" name="R4_chip483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 – Oxford: punting on the river</a:t>
            </a:r>
            <a:endParaRPr lang="en-US" sz="1000" dirty="0"/>
          </a:p>
        </p:txBody>
      </p:sp>
      <p:sp>
        <p:nvSpPr>
          <p:cNvPr id="34" name="bd_484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5" name="q_485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Photo F</a:t>
            </a:r>
            <a:endParaRPr lang="en-US" sz="1150" dirty="0"/>
          </a:p>
        </p:txBody>
      </p:sp>
      <p:sp>
        <p:nvSpPr>
          <p:cNvPr id="36" name="R5_chip486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– a friend's house by the river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8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16</a:t>
            </a:r>
            <a:endParaRPr lang="en-US" sz="2200" dirty="0"/>
          </a:p>
        </p:txBody>
      </p:sp>
      <p:pic>
        <p:nvPicPr>
          <p:cNvPr id="4" name="brY_48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489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My favourite photo</a:t>
            </a:r>
            <a:endParaRPr lang="en-US" sz="2500" dirty="0"/>
          </a:p>
        </p:txBody>
      </p:sp>
      <p:pic>
        <p:nvPicPr>
          <p:cNvPr id="6" name="brP_49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93108" cy="402336"/>
          </a:xfrm>
          <a:prstGeom prst="rect">
            <a:avLst/>
          </a:prstGeom>
        </p:spPr>
      </p:pic>
      <p:sp>
        <p:nvSpPr>
          <p:cNvPr id="7" name="ins_491"/>
          <p:cNvSpPr/>
          <p:nvPr/>
        </p:nvSpPr>
        <p:spPr>
          <a:xfrm>
            <a:off x="1353312" y="731520"/>
            <a:ext cx="40370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Talk to a partner. Give more information!</a:t>
            </a:r>
            <a:endParaRPr lang="en-US" sz="1250" dirty="0"/>
          </a:p>
        </p:txBody>
      </p:sp>
      <p:sp>
        <p:nvSpPr>
          <p:cNvPr id="8" name="insIT_49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Parla con un compagno. Dai più informazioni!</a:t>
            </a:r>
            <a:endParaRPr lang="en-US" sz="950" dirty="0"/>
          </a:p>
        </p:txBody>
      </p:sp>
      <p:sp>
        <p:nvSpPr>
          <p:cNvPr id="9" name="cmd_49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494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sp>
        <p:nvSpPr>
          <p:cNvPr id="11" name="tag_495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2" name="logo_49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9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Speaking · your photos   ·   📖 SB p.17 · 5a</a:t>
            </a:r>
            <a:endParaRPr lang="en-US" sz="800" dirty="0"/>
          </a:p>
        </p:txBody>
      </p:sp>
      <p:sp>
        <p:nvSpPr>
          <p:cNvPr id="14" name="pf_498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499" descr="/home/claude/lls-course/v2/cache/a2_2b_anya_f_jpg_649x42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783080"/>
          </a:xfrm>
          <a:prstGeom prst="rect">
            <a:avLst/>
          </a:prstGeom>
        </p:spPr>
      </p:pic>
      <p:sp>
        <p:nvSpPr>
          <p:cNvPr id="16" name="cd_500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501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502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9" name="il_503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took it when I was… · We were…ing</a:t>
            </a:r>
            <a:endParaRPr lang="en-US" sz="9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was a happy time for me.</a:t>
            </a:r>
            <a:endParaRPr lang="en-US" sz="9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Show me! Who took it?</a:t>
            </a:r>
            <a:endParaRPr lang="en-US" sz="900" dirty="0"/>
          </a:p>
        </p:txBody>
      </p:sp>
      <p:sp>
        <p:nvSpPr>
          <p:cNvPr id="20" name="R1_qb504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R1_sq505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post photos on Instagram or Facebook? What kind?</a:t>
            </a:r>
            <a:endParaRPr lang="en-US" sz="1200" dirty="0"/>
          </a:p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Yes, mostly food and my dog!</a:t>
            </a:r>
            <a:endParaRPr lang="en-US" sz="1200" dirty="0"/>
          </a:p>
        </p:txBody>
      </p:sp>
      <p:sp>
        <p:nvSpPr>
          <p:cNvPr id="22" name="R2_qb506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R2_sq507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have a photo as a background on your phone? What's the story?</a:t>
            </a:r>
            <a:endParaRPr lang="en-US" sz="1000" dirty="0"/>
          </a:p>
          <a:p>
            <a:pPr indent="0" marL="0">
              <a:buNone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My kids at the beach – we were having a picnic.</a:t>
            </a:r>
            <a:endParaRPr lang="en-US" sz="1000" dirty="0"/>
          </a:p>
        </p:txBody>
      </p:sp>
      <p:sp>
        <p:nvSpPr>
          <p:cNvPr id="24" name="R3_qb508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R3_sq509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have a photo you really like on your phone? Show your partner!</a:t>
            </a:r>
            <a:endParaRPr lang="en-US" sz="1000" dirty="0"/>
          </a:p>
          <a:p>
            <a:pPr indent="0" marL="0">
              <a:buNone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This is me in Rome – I was visiting my sister.</a:t>
            </a:r>
            <a:endParaRPr lang="en-US" sz="1000" dirty="0"/>
          </a:p>
        </p:txBody>
      </p:sp>
      <p:sp>
        <p:nvSpPr>
          <p:cNvPr id="26" name="R4_qb510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R4_sq511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favourite photo of you as a child? What were you wearing?</a:t>
            </a:r>
            <a:endParaRPr lang="en-US" sz="110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 was wearing a cowboy hat – I was 5!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1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17</a:t>
            </a:r>
            <a:endParaRPr lang="en-US" sz="2200" dirty="0"/>
          </a:p>
        </p:txBody>
      </p:sp>
      <p:pic>
        <p:nvPicPr>
          <p:cNvPr id="4" name="brY_51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514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51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516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Books closed! What can you remember?</a:t>
            </a:r>
            <a:endParaRPr lang="en-US" sz="1250" dirty="0"/>
          </a:p>
        </p:txBody>
      </p:sp>
      <p:sp>
        <p:nvSpPr>
          <p:cNvPr id="8" name="insIT_51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Libri chiusi! Cosa ricordi?</a:t>
            </a:r>
            <a:endParaRPr lang="en-US" sz="950" dirty="0"/>
          </a:p>
        </p:txBody>
      </p:sp>
      <p:sp>
        <p:nvSpPr>
          <p:cNvPr id="9" name="meta_518"/>
          <p:cNvSpPr/>
          <p:nvPr/>
        </p:nvSpPr>
        <p:spPr>
          <a:xfrm>
            <a:off x="6510528" y="182880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0" name="tag_519"/>
          <p:cNvSpPr/>
          <p:nvPr/>
        </p:nvSpPr>
        <p:spPr>
          <a:xfrm>
            <a:off x="6510528" y="420624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Retrieval</a:t>
            </a:r>
            <a:endParaRPr lang="en-US" sz="850" dirty="0"/>
          </a:p>
        </p:txBody>
      </p:sp>
      <p:pic>
        <p:nvPicPr>
          <p:cNvPr id="11" name="logo_52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52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Exit · what can you remember?</a:t>
            </a:r>
            <a:endParaRPr lang="en-US" sz="800" dirty="0"/>
          </a:p>
        </p:txBody>
      </p:sp>
      <p:sp>
        <p:nvSpPr>
          <p:cNvPr id="13" name="bd_522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rt_523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phrases with at, in, on (at night…)</a:t>
            </a:r>
            <a:endParaRPr lang="en-US" sz="1400" dirty="0"/>
          </a:p>
        </p:txBody>
      </p:sp>
      <p:sp>
        <p:nvSpPr>
          <p:cNvPr id="15" name="bd_524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6" name="rt_525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facts about Jane's photo</a:t>
            </a:r>
            <a:endParaRPr lang="en-US" sz="1400" dirty="0"/>
          </a:p>
        </p:txBody>
      </p:sp>
      <p:sp>
        <p:nvSpPr>
          <p:cNvPr id="17" name="bd_526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8" name="rt_527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sentence: I was…ing when…</a:t>
            </a:r>
            <a:endParaRPr lang="en-US" sz="1400" dirty="0"/>
          </a:p>
        </p:txBody>
      </p:sp>
      <p:sp>
        <p:nvSpPr>
          <p:cNvPr id="19" name="cd_528"/>
          <p:cNvSpPr/>
          <p:nvPr/>
        </p:nvSpPr>
        <p:spPr>
          <a:xfrm>
            <a:off x="5669280" y="1417320"/>
            <a:ext cx="3200400" cy="2286000"/>
          </a:xfrm>
          <a:prstGeom prst="roundRect">
            <a:avLst>
              <a:gd name="adj" fmla="val 56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529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1" name="ih_530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2" name="il_531"/>
          <p:cNvSpPr/>
          <p:nvPr/>
        </p:nvSpPr>
        <p:spPr>
          <a:xfrm>
            <a:off x="6236208" y="1892808"/>
            <a:ext cx="25420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Workbook 2B (past continuous, at / in / on)</a:t>
            </a:r>
            <a:endParaRPr lang="en-US" sz="11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Grammar Bank 2B p.129: exercise b</a:t>
            </a:r>
            <a:endParaRPr lang="en-US" sz="11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Write: your favourite photo (SB p.114) – 80–100 words</a:t>
            </a:r>
            <a:endParaRPr lang="en-US" sz="1150" dirty="0"/>
          </a:p>
        </p:txBody>
      </p:sp>
      <p:sp>
        <p:nvSpPr>
          <p:cNvPr id="23" name="st_532"/>
          <p:cNvSpPr/>
          <p:nvPr/>
        </p:nvSpPr>
        <p:spPr>
          <a:xfrm rot="-180000">
            <a:off x="5806440" y="3931920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2C · One dark October evening · time sequencers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3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18</a:t>
            </a:r>
            <a:endParaRPr lang="en-US" sz="2200" dirty="0"/>
          </a:p>
        </p:txBody>
      </p:sp>
      <p:pic>
        <p:nvPicPr>
          <p:cNvPr id="4" name="brY_53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535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you…</a:t>
            </a:r>
            <a:endParaRPr lang="en-US" sz="2400" dirty="0"/>
          </a:p>
        </p:txBody>
      </p:sp>
      <p:pic>
        <p:nvPicPr>
          <p:cNvPr id="6" name="brP_53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537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do it now? Thumbs up or thumbs down!</a:t>
            </a:r>
            <a:endParaRPr lang="en-US" sz="1250" dirty="0"/>
          </a:p>
        </p:txBody>
      </p:sp>
      <p:sp>
        <p:nvSpPr>
          <p:cNvPr id="8" name="insIT_53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Ora sai farlo? Pollice su o pollice giù!</a:t>
            </a:r>
            <a:endParaRPr lang="en-US" sz="950" dirty="0"/>
          </a:p>
        </p:txBody>
      </p:sp>
      <p:sp>
        <p:nvSpPr>
          <p:cNvPr id="9" name="cmd_539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540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 min   🙋 whole class</a:t>
            </a:r>
            <a:endParaRPr lang="en-US" sz="950" dirty="0"/>
          </a:p>
        </p:txBody>
      </p:sp>
      <p:sp>
        <p:nvSpPr>
          <p:cNvPr id="11" name="tag_541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Reflection</a:t>
            </a:r>
            <a:endParaRPr lang="en-US" sz="850" dirty="0"/>
          </a:p>
        </p:txBody>
      </p:sp>
      <p:pic>
        <p:nvPicPr>
          <p:cNvPr id="12" name="logo_54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4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Review · what did you do today?</a:t>
            </a:r>
            <a:endParaRPr lang="en-US" sz="800" dirty="0"/>
          </a:p>
        </p:txBody>
      </p:sp>
      <p:sp>
        <p:nvSpPr>
          <p:cNvPr id="14" name="cd_544"/>
          <p:cNvSpPr/>
          <p:nvPr/>
        </p:nvSpPr>
        <p:spPr>
          <a:xfrm>
            <a:off x="548640" y="1417320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te_545"/>
          <p:cNvSpPr/>
          <p:nvPr/>
        </p:nvSpPr>
        <p:spPr>
          <a:xfrm>
            <a:off x="640080" y="1453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📷</a:t>
            </a:r>
            <a:endParaRPr lang="en-US" sz="1800" dirty="0"/>
          </a:p>
        </p:txBody>
      </p:sp>
      <p:sp>
        <p:nvSpPr>
          <p:cNvPr id="16" name="tt_546"/>
          <p:cNvSpPr/>
          <p:nvPr/>
        </p:nvSpPr>
        <p:spPr>
          <a:xfrm>
            <a:off x="1188720" y="141732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true story behind a famous photo</a:t>
            </a:r>
            <a:endParaRPr lang="en-US" sz="1350" dirty="0"/>
          </a:p>
        </p:txBody>
      </p:sp>
      <p:sp>
        <p:nvSpPr>
          <p:cNvPr id="17" name="R1_tk547"/>
          <p:cNvSpPr/>
          <p:nvPr/>
        </p:nvSpPr>
        <p:spPr>
          <a:xfrm>
            <a:off x="5989320" y="145389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8" name="cd_548"/>
          <p:cNvSpPr/>
          <p:nvPr/>
        </p:nvSpPr>
        <p:spPr>
          <a:xfrm>
            <a:off x="548640" y="2020824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te_549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20" name="tt_550"/>
          <p:cNvSpPr/>
          <p:nvPr/>
        </p:nvSpPr>
        <p:spPr>
          <a:xfrm>
            <a:off x="1188720" y="202082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Used at, in, on for time and place</a:t>
            </a:r>
            <a:endParaRPr lang="en-US" sz="1350" dirty="0"/>
          </a:p>
        </p:txBody>
      </p:sp>
      <p:sp>
        <p:nvSpPr>
          <p:cNvPr id="21" name="R2_tk551"/>
          <p:cNvSpPr/>
          <p:nvPr/>
        </p:nvSpPr>
        <p:spPr>
          <a:xfrm>
            <a:off x="5989320" y="20574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2" name="cd_552"/>
          <p:cNvSpPr/>
          <p:nvPr/>
        </p:nvSpPr>
        <p:spPr>
          <a:xfrm>
            <a:off x="548640" y="2624328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te_553"/>
          <p:cNvSpPr/>
          <p:nvPr/>
        </p:nvSpPr>
        <p:spPr>
          <a:xfrm>
            <a:off x="640080" y="2660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⏸</a:t>
            </a:r>
            <a:endParaRPr lang="en-US" sz="1800" dirty="0"/>
          </a:p>
        </p:txBody>
      </p:sp>
      <p:sp>
        <p:nvSpPr>
          <p:cNvPr id="24" name="tt_554"/>
          <p:cNvSpPr/>
          <p:nvPr/>
        </p:nvSpPr>
        <p:spPr>
          <a:xfrm>
            <a:off x="1188720" y="262432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Practised past continuous: I was walking when…</a:t>
            </a:r>
            <a:endParaRPr lang="en-US" sz="1350" dirty="0"/>
          </a:p>
        </p:txBody>
      </p:sp>
      <p:sp>
        <p:nvSpPr>
          <p:cNvPr id="25" name="R3_tk555"/>
          <p:cNvSpPr/>
          <p:nvPr/>
        </p:nvSpPr>
        <p:spPr>
          <a:xfrm>
            <a:off x="5989320" y="266090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6" name="cd_556"/>
          <p:cNvSpPr/>
          <p:nvPr/>
        </p:nvSpPr>
        <p:spPr>
          <a:xfrm>
            <a:off x="548640" y="3227832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7" name="te_557"/>
          <p:cNvSpPr/>
          <p:nvPr/>
        </p:nvSpPr>
        <p:spPr>
          <a:xfrm>
            <a:off x="640080" y="3264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📖</a:t>
            </a:r>
            <a:endParaRPr lang="en-US" sz="1800" dirty="0"/>
          </a:p>
        </p:txBody>
      </p:sp>
      <p:sp>
        <p:nvSpPr>
          <p:cNvPr id="28" name="tt_558"/>
          <p:cNvSpPr/>
          <p:nvPr/>
        </p:nvSpPr>
        <p:spPr>
          <a:xfrm>
            <a:off x="1188720" y="3227832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Listened to a class story and answered questions</a:t>
            </a:r>
            <a:endParaRPr lang="en-US" sz="1350" dirty="0"/>
          </a:p>
        </p:txBody>
      </p:sp>
      <p:sp>
        <p:nvSpPr>
          <p:cNvPr id="29" name="R4_tk559"/>
          <p:cNvSpPr/>
          <p:nvPr/>
        </p:nvSpPr>
        <p:spPr>
          <a:xfrm>
            <a:off x="5989320" y="326440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0" name="cd_560"/>
          <p:cNvSpPr/>
          <p:nvPr/>
        </p:nvSpPr>
        <p:spPr>
          <a:xfrm>
            <a:off x="548640" y="3831336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te_561"/>
          <p:cNvSpPr/>
          <p:nvPr/>
        </p:nvSpPr>
        <p:spPr>
          <a:xfrm>
            <a:off x="640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💬</a:t>
            </a:r>
            <a:endParaRPr lang="en-US" sz="1800" dirty="0"/>
          </a:p>
        </p:txBody>
      </p:sp>
      <p:sp>
        <p:nvSpPr>
          <p:cNvPr id="32" name="tt_562"/>
          <p:cNvSpPr/>
          <p:nvPr/>
        </p:nvSpPr>
        <p:spPr>
          <a:xfrm>
            <a:off x="1188720" y="3831336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Talked about your favourite photo</a:t>
            </a:r>
            <a:endParaRPr lang="en-US" sz="1350" dirty="0"/>
          </a:p>
        </p:txBody>
      </p:sp>
      <p:sp>
        <p:nvSpPr>
          <p:cNvPr id="33" name="R5_tk563"/>
          <p:cNvSpPr/>
          <p:nvPr/>
        </p:nvSpPr>
        <p:spPr>
          <a:xfrm>
            <a:off x="5989320" y="386791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st_564"/>
          <p:cNvSpPr/>
          <p:nvPr/>
        </p:nvSpPr>
        <p:spPr>
          <a:xfrm rot="180000">
            <a:off x="6949440" y="1691640"/>
            <a:ext cx="1828800" cy="1188720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👍  👌  👎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do it now?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Ora sai farlo?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6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19</a:t>
            </a:r>
            <a:endParaRPr lang="en-US" sz="2200" dirty="0"/>
          </a:p>
        </p:txBody>
      </p:sp>
      <p:pic>
        <p:nvPicPr>
          <p:cNvPr id="4" name="brY_56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977994" cy="621792"/>
          </a:xfrm>
          <a:prstGeom prst="rect">
            <a:avLst/>
          </a:prstGeom>
        </p:spPr>
      </p:pic>
      <p:sp>
        <p:nvSpPr>
          <p:cNvPr id="5" name="title_567"/>
          <p:cNvSpPr/>
          <p:nvPr/>
        </p:nvSpPr>
        <p:spPr>
          <a:xfrm>
            <a:off x="1261872" y="164592"/>
            <a:ext cx="470367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Extra: all the prepositions</a:t>
            </a:r>
            <a:endParaRPr lang="en-US" sz="2500" dirty="0"/>
          </a:p>
        </p:txBody>
      </p:sp>
      <p:pic>
        <p:nvPicPr>
          <p:cNvPr id="6" name="brP_56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569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Click a speaker to play the book audio.</a:t>
            </a:r>
            <a:endParaRPr lang="en-US" sz="1250" dirty="0"/>
          </a:p>
        </p:txBody>
      </p:sp>
      <p:sp>
        <p:nvSpPr>
          <p:cNvPr id="8" name="insIT_57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Clicca un altoparlante per l'audio del libro.</a:t>
            </a:r>
            <a:endParaRPr lang="en-US" sz="950" dirty="0"/>
          </a:p>
        </p:txBody>
      </p:sp>
      <p:sp>
        <p:nvSpPr>
          <p:cNvPr id="9" name="cmd_571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meta_572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🙋 whole class</a:t>
            </a:r>
            <a:endParaRPr lang="en-US" sz="950" dirty="0"/>
          </a:p>
        </p:txBody>
      </p:sp>
      <p:pic>
        <p:nvPicPr>
          <p:cNvPr id="11" name="logo_57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57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Book audio · 2B</a:t>
            </a:r>
            <a:endParaRPr lang="en-US" sz="800" dirty="0"/>
          </a:p>
        </p:txBody>
      </p:sp>
      <p:sp>
        <p:nvSpPr>
          <p:cNvPr id="13" name="st_575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sp>
        <p:nvSpPr>
          <p:cNvPr id="14" name="pf_576"/>
          <p:cNvSpPr/>
          <p:nvPr/>
        </p:nvSpPr>
        <p:spPr>
          <a:xfrm rot="-120000">
            <a:off x="365760" y="1371600"/>
            <a:ext cx="2651760" cy="182880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577" descr="/home/claude/lls-course/v2/cache/a2_2b_anya_c_jpg_616x418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11480" y="1417320"/>
            <a:ext cx="2560320" cy="1737360"/>
          </a:xfrm>
          <a:prstGeom prst="rect">
            <a:avLst/>
          </a:prstGeom>
        </p:spPr>
      </p:pic>
      <p:sp>
        <p:nvSpPr>
          <p:cNvPr id="16" name="cd_578"/>
          <p:cNvSpPr/>
          <p:nvPr/>
        </p:nvSpPr>
        <p:spPr>
          <a:xfrm>
            <a:off x="320040" y="3383280"/>
            <a:ext cx="2743200" cy="1325880"/>
          </a:xfrm>
          <a:prstGeom prst="roundRect">
            <a:avLst>
              <a:gd name="adj" fmla="val 9655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579"/>
          <p:cNvSpPr/>
          <p:nvPr/>
        </p:nvSpPr>
        <p:spPr>
          <a:xfrm>
            <a:off x="411480" y="3456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18" name="ih_580"/>
          <p:cNvSpPr/>
          <p:nvPr/>
        </p:nvSpPr>
        <p:spPr>
          <a:xfrm>
            <a:off x="886968" y="3474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300" dirty="0"/>
          </a:p>
        </p:txBody>
      </p:sp>
      <p:sp>
        <p:nvSpPr>
          <p:cNvPr id="19" name="il_581"/>
          <p:cNvSpPr/>
          <p:nvPr/>
        </p:nvSpPr>
        <p:spPr>
          <a:xfrm>
            <a:off x="886968" y="3858768"/>
            <a:ext cx="2084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2.10 = Vocabulary Bank Prepositions at / in / on (long!)</a:t>
            </a:r>
            <a:endParaRPr lang="en-US" sz="10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2.11–2.15: play from the book</a:t>
            </a:r>
            <a:endParaRPr lang="en-US" sz="1050" dirty="0"/>
          </a:p>
        </p:txBody>
      </p:sp>
      <p:sp>
        <p:nvSpPr>
          <p:cNvPr id="20" name="ab_582"/>
          <p:cNvSpPr/>
          <p:nvPr/>
        </p:nvSpPr>
        <p:spPr>
          <a:xfrm>
            <a:off x="3246120" y="1417320"/>
            <a:ext cx="498348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🎧 2.10  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Vocabulary Bank Prepositions 1 – at / in / on</a:t>
            </a:r>
            <a:endParaRPr lang="en-US" sz="1300" dirty="0"/>
          </a:p>
        </p:txBody>
      </p:sp>
      <p:pic>
        <p:nvPicPr>
          <p:cNvPr id="21" name="Media 0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8321040" y="1453896"/>
            <a:ext cx="384048" cy="384048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7" dur="1" fill="hold"/>
                                        <p:tgtEl>
                                          <p:spTgt spid="2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audio>
              <p:cMediaNode vol="80000">
                <p:cTn id="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1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2B That's me in the picture!</dc:title>
  <dc:subject>PptxGenJS Presentation</dc:subject>
  <dc:creator>PptxGenJS</dc:creator>
  <cp:lastModifiedBy>PptxGenJS</cp:lastModifiedBy>
  <cp:revision>1</cp:revision>
  <dcterms:created xsi:type="dcterms:W3CDTF">2026-10-15T08:41:00Z</dcterms:created>
  <dcterms:modified xsi:type="dcterms:W3CDTF">2026-10-15T08:41:00Z</dcterms:modified>
</cp:coreProperties>
</file>