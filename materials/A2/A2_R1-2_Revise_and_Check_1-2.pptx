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Revision lesson for Files 1–2. TG: the first page adds up to 50 (grammar 15, vocabulary 25, pronunciation 10) – a mini-test. Tell students they'll score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ACTIVE RECAP (3 min). Words: ⭐ meaning ⭐⭐ sentence ⭐⭐⭐ negative or question. Then: 'Happy ending or sad ending – which did you prefer?' Pairs retell the end of the story in 3 sentences with Suddenly / When / so.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word race (4 min)
WARMER (4 min). Round 1 is the example. Bonus point for a sentence ('My brother is very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 SB p.20 · 1–8 (5 min)
MINI-TEST 1 (5 min). Students write a / b / c on paper, alone. Then click once per item. Key (TG): 1 c 2 b 3 a 4 c 5 a 6 c 7 c 8 b. After each answer ask WHY (e.g. 4: parents = they →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SB p.20 · 9–15 (5 min)
MINI-TEST 2 (5 min). Key (TG): 9 b 10 c 11 a 12 c 13 a 14 b 15 c. Score /15. Board: the most common mistakes – go over them with the auction game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Game · grammar auction (6 min)
AUCTION (6 min). Teach 'auction' (asta) and 'bid' (offerta). Read each sentence; teams bid €50–€500. Click to reveal. A team that buys a WRONG sentence loses the money. Most correct sentences wins (money left decides a 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a · SB p.20 (4 min)
VERBS (4 min). 1 is the example. One click per gap. Key (TG): 1 do 2 look 3 wear 4 take 5 stay 6 book 7 invite 8 drive 9 play 10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b · SB p.20 (3 min)
AT / IN / ON (3 min). 1 is the example. Key (TG): 1 on 2 in 3 in 4 on 5 at 6 at 7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c · odd one out (4 min)
ODD ONE OUT (4 min). Item 1 is the example. Key (TG). Accept other answers if the reason is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Pronunciation c · sounds (3 min)
SOUNDS (3 min). Drill the 8 sound words first (Pronunciation a). Then pairs match. Key: quiet /aɪ/ bike · skiing /iː/ tree · booked /t/ tie · listened /d/ dog · noisy /z/ zebra. (The TG key has 'waited /ɪd/' for 4 – the SB now has 'listened' =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d · word stress (2 min)
WORD STRESS (2 min). Key (TG): 1 extrovert 2 overweight 3 bracelet 4 online 5 comfortable. Clap the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a · Can you understand this text? (5 min)
GIST (5 min). Students read once, fast, and match. Click: answers + the proof lights up. Key (TG): 1 B 2 C 3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b · detail (5 min)
DETAIL (5 min). The T/F statements are exactly as in the book. Pairs find the words that prove each answer. Key (TG): 1 F 2 F 3 T 4 F 5 T 6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Can you understand these people? (5 min)
LISTENING (5 min). Audio 2.23 isn't in our files: play the book video, or READ these aloud (2 voices if possible). Key (TG): 1c 2a 3b 4c 5c.
1 LEWIS – Who do you look like in your family? – Well, people say I often look like my dad a lot. We've got the same sort of nose and the same face shape, but I've got my mum's hair colour and my mum's eyes. – Do you have a similar personality? – There are quite a lot of similarities between me and my dad. We're both into German and speaking German, and also into architecture.
2 SUSIE – Do you have a favourite painting? – I'm not sure of the name of the painting, but I like Salvador Dali. I really like the painting with the dripping clocks. – Can you describe it? – There are dripping clocks. It's an interesting style. It's not something you see all the time, and it's very colourful.
3 SHOSANNA – Where did you go for your last holiday? – My last vacation I went to Guyana, which is my parents' country in South America. – Did you have a good time? – I did. It was one of the best vacations I had. It was really educational, and I was able to see how my parents grew up.
4 SUSAN – Do you take a lot of photos? – I take a lot of photos. My telephone is full of photos and I use Instagram. – What do you usually take photos of? – Mostly people, places, gardens, lots of flowers. I never post photos of people, but I take photos of family, but lots of gardens and flowers.
5 SAM – Do you prefer films with a happy or sad ending? – It just has to be a good film. I don't mind if it's a happy ending or a sad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Can you say this in English? (6 min)
CAN-DO (6 min). Pairs: A does 1–3, B does 4–6, then swap. They tick only what they can do WELL. Use a photo on their phone for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EXIT (2 min). Pairs, books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pp.20–21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R1-2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Revise and Check 1&amp;2</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Files 1 and 2: test, games, reading and speaking</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do a mini-test on Files 1 and 2</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revise verbs, at / in / on, and word groups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practise sounds and word stress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tips for better holiday photos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check what you can say in English</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remember 'extrovert', 'wear a blue skirt' and 'I was walking when…'!</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a2r12_bruge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Files 1 and 2: family, personality, clothes, holidays, photos… What can you remember?</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Revision · last lesson</a:t>
            </a:r>
            <a:endParaRPr lang="en-US" sz="800" dirty="0"/>
          </a:p>
        </p:txBody>
      </p:sp>
      <p:sp>
        <p:nvSpPr>
          <p:cNvPr id="12" name="pf_26"/>
          <p:cNvSpPr/>
          <p:nvPr/>
        </p:nvSpPr>
        <p:spPr>
          <a:xfrm rot="-120000">
            <a:off x="753308" y="1371600"/>
            <a:ext cx="1876663"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a2r12_louvre_jpg_430x374_31.png">    </p:cNvPr>
          <p:cNvPicPr>
            <a:picLocks noChangeAspect="1"/>
          </p:cNvPicPr>
          <p:nvPr/>
        </p:nvPicPr>
        <p:blipFill>
          <a:blip r:embed="rId5"/>
          <a:stretch>
            <a:fillRect/>
          </a:stretch>
        </p:blipFill>
        <p:spPr>
          <a:xfrm rot="-120000">
            <a:off x="799028" y="1417320"/>
            <a:ext cx="1785223"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2C: One dark October evening</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connectors · verb phrases · 2 endings</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258318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invite somebody to dinner</a:t>
            </a:r>
            <a:endParaRPr lang="en-US" sz="1200" dirty="0"/>
          </a:p>
        </p:txBody>
      </p:sp>
      <p:sp>
        <p:nvSpPr>
          <p:cNvPr id="20" name="w_34"/>
          <p:cNvSpPr/>
          <p:nvPr/>
        </p:nvSpPr>
        <p:spPr>
          <a:xfrm>
            <a:off x="3246120" y="2185416"/>
            <a:ext cx="31043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give somebody your phone number</a:t>
            </a:r>
            <a:endParaRPr lang="en-US" sz="1200" dirty="0"/>
          </a:p>
        </p:txBody>
      </p:sp>
      <p:sp>
        <p:nvSpPr>
          <p:cNvPr id="21" name="w_35"/>
          <p:cNvSpPr/>
          <p:nvPr/>
        </p:nvSpPr>
        <p:spPr>
          <a:xfrm>
            <a:off x="6441948" y="2185416"/>
            <a:ext cx="188823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wait for somebody</a:t>
            </a:r>
            <a:endParaRPr lang="en-US" sz="1200" dirty="0"/>
          </a:p>
        </p:txBody>
      </p:sp>
      <p:sp>
        <p:nvSpPr>
          <p:cNvPr id="22" name="w_36"/>
          <p:cNvSpPr/>
          <p:nvPr/>
        </p:nvSpPr>
        <p:spPr>
          <a:xfrm>
            <a:off x="3246120" y="2587752"/>
            <a:ext cx="1540764"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be in a hurry</a:t>
            </a:r>
            <a:endParaRPr lang="en-US" sz="1200" dirty="0"/>
          </a:p>
        </p:txBody>
      </p:sp>
      <p:sp>
        <p:nvSpPr>
          <p:cNvPr id="23" name="w_37"/>
          <p:cNvSpPr/>
          <p:nvPr/>
        </p:nvSpPr>
        <p:spPr>
          <a:xfrm>
            <a:off x="4878324" y="2587752"/>
            <a:ext cx="188823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have a great time</a:t>
            </a:r>
            <a:endParaRPr lang="en-US" sz="1200" dirty="0"/>
          </a:p>
        </p:txBody>
      </p:sp>
      <p:sp>
        <p:nvSpPr>
          <p:cNvPr id="24" name="w_38"/>
          <p:cNvSpPr/>
          <p:nvPr/>
        </p:nvSpPr>
        <p:spPr>
          <a:xfrm>
            <a:off x="3246120" y="2990088"/>
            <a:ext cx="2061972"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run across the road</a:t>
            </a:r>
            <a:endParaRPr lang="en-US" sz="1200" dirty="0"/>
          </a:p>
        </p:txBody>
      </p:sp>
      <p:sp>
        <p:nvSpPr>
          <p:cNvPr id="25" name="lv_39"/>
          <p:cNvSpPr/>
          <p:nvPr/>
        </p:nvSpPr>
        <p:spPr>
          <a:xfrm>
            <a:off x="3246120" y="3447288"/>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6" name="lv_40"/>
          <p:cNvSpPr/>
          <p:nvPr/>
        </p:nvSpPr>
        <p:spPr>
          <a:xfrm>
            <a:off x="5151120" y="3447288"/>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7" name="lv_41"/>
          <p:cNvSpPr/>
          <p:nvPr/>
        </p:nvSpPr>
        <p:spPr>
          <a:xfrm>
            <a:off x="7056120" y="3447288"/>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8" name="cd_42"/>
          <p:cNvSpPr/>
          <p:nvPr/>
        </p:nvSpPr>
        <p:spPr>
          <a:xfrm>
            <a:off x="3246120" y="3977640"/>
            <a:ext cx="2756916" cy="777240"/>
          </a:xfrm>
          <a:prstGeom prst="roundRect">
            <a:avLst>
              <a:gd name="adj" fmla="val 1647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rh_43"/>
          <p:cNvSpPr/>
          <p:nvPr/>
        </p:nvSpPr>
        <p:spPr>
          <a:xfrm>
            <a:off x="3337560" y="4050792"/>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time sequencers</a:t>
            </a:r>
            <a:endParaRPr lang="en-US" sz="1100" dirty="0"/>
          </a:p>
        </p:txBody>
      </p:sp>
      <p:sp>
        <p:nvSpPr>
          <p:cNvPr id="30" name="rf_44"/>
          <p:cNvSpPr/>
          <p:nvPr/>
        </p:nvSpPr>
        <p:spPr>
          <a:xfrm>
            <a:off x="3383280" y="4398264"/>
            <a:ext cx="2482596" cy="292608"/>
          </a:xfrm>
          <a:prstGeom prst="rect">
            <a:avLst/>
          </a:prstGeom>
          <a:noFill/>
          <a:ln/>
        </p:spPr>
        <p:txBody>
          <a:bodyPr wrap="square" lIns="0" tIns="0" rIns="0" bIns="0" rtlCol="0" anchor="ctr">
            <a:normAutofit/>
          </a:bodyPr>
          <a:lstStyle/>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Make an order of events in a story</a:t>
            </a:r>
            <a:endParaRPr lang="en-US" sz="1050" dirty="0"/>
          </a:p>
        </p:txBody>
      </p:sp>
      <p:sp>
        <p:nvSpPr>
          <p:cNvPr id="31" name="R1_rl45"/>
          <p:cNvSpPr/>
          <p:nvPr/>
        </p:nvSpPr>
        <p:spPr>
          <a:xfrm>
            <a:off x="3383280" y="4727448"/>
            <a:ext cx="2482596" cy="-45720"/>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Two minutes later</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he said…</a:t>
            </a:r>
            <a:endParaRPr lang="en-US" sz="1100" dirty="0"/>
          </a:p>
          <a:p>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When</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Hannah left the club…</a:t>
            </a:r>
            <a:endParaRPr lang="en-US" sz="1100" dirty="0"/>
          </a:p>
          <a:p>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Suddenly</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a man ran across the road.</a:t>
            </a:r>
            <a:endParaRPr lang="en-US" sz="1100" dirty="0"/>
          </a:p>
        </p:txBody>
      </p:sp>
      <p:sp>
        <p:nvSpPr>
          <p:cNvPr id="32" name="cd_46"/>
          <p:cNvSpPr/>
          <p:nvPr/>
        </p:nvSpPr>
        <p:spPr>
          <a:xfrm>
            <a:off x="6112764" y="3977640"/>
            <a:ext cx="2756916" cy="777240"/>
          </a:xfrm>
          <a:prstGeom prst="roundRect">
            <a:avLst>
              <a:gd name="adj" fmla="val 1647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rh_47"/>
          <p:cNvSpPr/>
          <p:nvPr/>
        </p:nvSpPr>
        <p:spPr>
          <a:xfrm>
            <a:off x="6204204" y="4050792"/>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so · because · although</a:t>
            </a:r>
            <a:endParaRPr lang="en-US" sz="1100" dirty="0"/>
          </a:p>
        </p:txBody>
      </p:sp>
      <p:sp>
        <p:nvSpPr>
          <p:cNvPr id="34" name="rf_48"/>
          <p:cNvSpPr/>
          <p:nvPr/>
        </p:nvSpPr>
        <p:spPr>
          <a:xfrm>
            <a:off x="6249924" y="4398264"/>
            <a:ext cx="2482596" cy="292608"/>
          </a:xfrm>
          <a:prstGeom prst="rect">
            <a:avLst/>
          </a:prstGeom>
          <a:noFill/>
          <a:ln/>
        </p:spPr>
        <p:txBody>
          <a:bodyPr wrap="square" lIns="0" tIns="0" rIns="0" bIns="0" rtlCol="0" anchor="ctr">
            <a:normAutofit/>
          </a:bodyPr>
          <a:lstStyle/>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Make a result · a reason · a contrast</a:t>
            </a:r>
            <a:endParaRPr lang="en-US" sz="1000" dirty="0"/>
          </a:p>
        </p:txBody>
      </p:sp>
      <p:sp>
        <p:nvSpPr>
          <p:cNvPr id="35" name="R2_rl49"/>
          <p:cNvSpPr/>
          <p:nvPr/>
        </p:nvSpPr>
        <p:spPr>
          <a:xfrm>
            <a:off x="6249924" y="4727448"/>
            <a:ext cx="2482596" cy="-45720"/>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She was driving fast </a:t>
            </a:r>
            <a:pPr indent="0" marL="0">
              <a:spcAft>
                <a:spcPts val="300"/>
              </a:spcAft>
              <a:buNone/>
            </a:pPr>
            <a:r>
              <a:rPr lang="en-US" sz="1100" b="1" dirty="0">
                <a:solidFill>
                  <a:srgbClr val="2F8DE4"/>
                </a:solidFill>
                <a:highlight>
                  <a:srgbClr val="FFF1A8"/>
                </a:highlight>
                <a:latin typeface="Segoe UI Semibold" pitchFamily="34" charset="0"/>
                <a:ea typeface="Segoe UI Semibold" pitchFamily="34" charset="-122"/>
                <a:cs typeface="Segoe UI Semibold" pitchFamily="34" charset="-120"/>
              </a:rPr>
              <a:t>because</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she was in a hurry.</a:t>
            </a:r>
            <a:endParaRPr lang="en-US" sz="1100" dirty="0"/>
          </a:p>
          <a:p>
            <a:pPr indent="0" marL="0">
              <a:spcAft>
                <a:spcPts val="300"/>
              </a:spcAft>
              <a:buNone/>
            </a:pPr>
            <a:r>
              <a:rPr lang="en-US" sz="1100" b="1" dirty="0">
                <a:solidFill>
                  <a:srgbClr val="2F8DE4"/>
                </a:solidFill>
                <a:highlight>
                  <a:srgbClr val="FFF1A8"/>
                </a:highlight>
                <a:latin typeface="Segoe UI Semibold" pitchFamily="34" charset="0"/>
                <a:ea typeface="Segoe UI Semibold" pitchFamily="34" charset="-122"/>
                <a:cs typeface="Segoe UI Semibold" pitchFamily="34" charset="-120"/>
              </a:rPr>
              <a:t>Although</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the food wasn't very good, they had a wonderful time.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Word race: Files 1 &amp; 2</a:t>
            </a:r>
            <a:endParaRPr lang="en-US" sz="2500" dirty="0"/>
          </a:p>
        </p:txBody>
      </p:sp>
      <p:pic>
        <p:nvPicPr>
          <p:cNvPr id="6" name="brP_53"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4"/>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30 seconds per round! Write the words.</a:t>
            </a:r>
            <a:endParaRPr lang="en-US" sz="1250" dirty="0"/>
          </a:p>
        </p:txBody>
      </p:sp>
      <p:sp>
        <p:nvSpPr>
          <p:cNvPr id="8" name="insIT_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30 secondi per round! Scrivete le parole.</a:t>
            </a:r>
            <a:endParaRPr lang="en-US" sz="950" dirty="0"/>
          </a:p>
        </p:txBody>
      </p:sp>
      <p:sp>
        <p:nvSpPr>
          <p:cNvPr id="9" name="note_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Warmer · word race   ·   📖 Recycles the Vocabulary Banks of Files 1–2</a:t>
            </a:r>
            <a:endParaRPr lang="en-US" sz="800" dirty="0"/>
          </a:p>
        </p:txBody>
      </p:sp>
      <p:sp>
        <p:nvSpPr>
          <p:cNvPr id="12" name="cd_59"/>
          <p:cNvSpPr/>
          <p:nvPr/>
        </p:nvSpPr>
        <p:spPr>
          <a:xfrm>
            <a:off x="320040" y="1417320"/>
            <a:ext cx="2697480" cy="2307336"/>
          </a:xfrm>
          <a:prstGeom prst="roundRect">
            <a:avLst>
              <a:gd name="adj" fmla="val 554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2"/>
          <p:cNvSpPr/>
          <p:nvPr/>
        </p:nvSpPr>
        <p:spPr>
          <a:xfrm>
            <a:off x="886968" y="1911096"/>
            <a:ext cx="2039112" cy="17404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30 seconds per round. Write as many words as you can.</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Correct spelling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Use one in a sentence = 1 more point!</a:t>
            </a:r>
            <a:endParaRPr lang="en-US" sz="1200" dirty="0"/>
          </a:p>
        </p:txBody>
      </p:sp>
      <p:sp>
        <p:nvSpPr>
          <p:cNvPr id="16" name="st_63"/>
          <p:cNvSpPr/>
          <p:nvPr/>
        </p:nvSpPr>
        <p:spPr>
          <a:xfrm rot="-180000">
            <a:off x="502920" y="3907536"/>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64"/>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65"/>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Personality adjectives</a:t>
            </a:r>
            <a:endParaRPr lang="en-US" sz="1250" dirty="0"/>
          </a:p>
        </p:txBody>
      </p:sp>
      <p:sp>
        <p:nvSpPr>
          <p:cNvPr id="19" name="chip_66"/>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extrovert, generous, lazy, mean, funny, kind, shy…</a:t>
            </a:r>
            <a:endParaRPr lang="en-US" sz="1200" dirty="0"/>
          </a:p>
        </p:txBody>
      </p:sp>
      <p:sp>
        <p:nvSpPr>
          <p:cNvPr id="20" name="bd_67"/>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8"/>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Hair and appearance</a:t>
            </a:r>
            <a:endParaRPr lang="en-US" sz="1250" dirty="0"/>
          </a:p>
        </p:txBody>
      </p:sp>
      <p:sp>
        <p:nvSpPr>
          <p:cNvPr id="22" name="R1_chip69"/>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curly, straight, long, beard, slim, overweight…</a:t>
            </a:r>
            <a:endParaRPr lang="en-US" sz="1200" dirty="0"/>
          </a:p>
        </p:txBody>
      </p:sp>
      <p:sp>
        <p:nvSpPr>
          <p:cNvPr id="23" name="bd_70"/>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1"/>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Clothes and jewellery</a:t>
            </a:r>
            <a:endParaRPr lang="en-US" sz="1250" dirty="0"/>
          </a:p>
        </p:txBody>
      </p:sp>
      <p:sp>
        <p:nvSpPr>
          <p:cNvPr id="25" name="R2_chip72"/>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skirt, trainers, sandals, scarf, necklace, bracelet…</a:t>
            </a:r>
            <a:endParaRPr lang="en-US" sz="1200" dirty="0"/>
          </a:p>
        </p:txBody>
      </p:sp>
      <p:sp>
        <p:nvSpPr>
          <p:cNvPr id="26" name="bd_73"/>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4"/>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Holiday words</a:t>
            </a:r>
            <a:endParaRPr lang="en-US" sz="1250" dirty="0"/>
          </a:p>
        </p:txBody>
      </p:sp>
      <p:sp>
        <p:nvSpPr>
          <p:cNvPr id="28" name="R3_chip75"/>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book a hotel, stay, sunbathe, sightseeing, crowded, windy…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7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Grammar test (1)</a:t>
            </a:r>
            <a:endParaRPr lang="en-US" sz="2500" dirty="0"/>
          </a:p>
        </p:txBody>
      </p:sp>
      <p:pic>
        <p:nvPicPr>
          <p:cNvPr id="6" name="brP_79"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80"/>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Mini-test! Choose a, b or c. Alone – 5 minutes.</a:t>
            </a:r>
            <a:endParaRPr lang="en-US" sz="1250" dirty="0"/>
          </a:p>
        </p:txBody>
      </p:sp>
      <p:sp>
        <p:nvSpPr>
          <p:cNvPr id="8" name="insIT_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Mini-test! Scegli a, b o c. Da soli – 5 minuti.</a:t>
            </a:r>
            <a:endParaRPr lang="en-US" sz="950" dirty="0"/>
          </a:p>
        </p:txBody>
      </p:sp>
      <p:sp>
        <p:nvSpPr>
          <p:cNvPr id="9" name="note_8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alone</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TPRS · reading</a:t>
            </a:r>
            <a:endParaRPr lang="en-US" sz="1150" dirty="0"/>
          </a:p>
        </p:txBody>
      </p:sp>
      <p:pic>
        <p:nvPicPr>
          <p:cNvPr id="10" name="logo_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Grammar · SB p.20 · 1–8   ·   📖 SB p.20 · Grammar 1–8 (TG key)</a:t>
            </a:r>
            <a:endParaRPr lang="en-US" sz="800" dirty="0"/>
          </a:p>
        </p:txBody>
      </p:sp>
      <p:sp>
        <p:nvSpPr>
          <p:cNvPr id="12" name="cd_8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8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Circle a, b or c</a:t>
            </a:r>
            <a:endParaRPr lang="en-US" sz="1700" dirty="0"/>
          </a:p>
        </p:txBody>
      </p:sp>
      <p:sp>
        <p:nvSpPr>
          <p:cNvPr id="14" name="ln_87"/>
          <p:cNvSpPr/>
          <p:nvPr/>
        </p:nvSpPr>
        <p:spPr>
          <a:xfrm>
            <a:off x="548640" y="1920240"/>
            <a:ext cx="5349240" cy="316196"/>
          </a:xfrm>
          <a:prstGeom prst="rect">
            <a:avLst/>
          </a:prstGeom>
          <a:no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1  </a:t>
            </a:r>
            <a:pPr indent="0" marL="0">
              <a:buNone/>
            </a:pPr>
            <a:r>
              <a:rPr lang="en-US" sz="950" b="1" dirty="0">
                <a:solidFill>
                  <a:srgbClr val="2EB872"/>
                </a:solidFill>
                <a:latin typeface="Georgia" pitchFamily="34" charset="0"/>
                <a:ea typeface="Georgia" pitchFamily="34" charset="-122"/>
                <a:cs typeface="Georgia" pitchFamily="34" charset="-120"/>
              </a:rPr>
              <a:t> (1) ________ </a:t>
            </a:r>
            <a:pPr indent="0" marL="0">
              <a:buNone/>
            </a:pPr>
            <a:r>
              <a:rPr lang="en-US" sz="950" dirty="0">
                <a:solidFill>
                  <a:srgbClr val="1B2559"/>
                </a:solidFill>
                <a:latin typeface="Georgia" pitchFamily="34" charset="0"/>
                <a:ea typeface="Georgia" pitchFamily="34" charset="-122"/>
                <a:cs typeface="Georgia" pitchFamily="34" charset="-120"/>
              </a:rPr>
              <a:t> any brothers or sisters?  (a Have you · b Do you · c Do you have)</a:t>
            </a:r>
            <a:endParaRPr lang="en-US" sz="950" dirty="0"/>
          </a:p>
        </p:txBody>
      </p:sp>
      <p:sp>
        <p:nvSpPr>
          <p:cNvPr id="15" name="R1_lnA88"/>
          <p:cNvSpPr/>
          <p:nvPr/>
        </p:nvSpPr>
        <p:spPr>
          <a:xfrm>
            <a:off x="548640" y="1920240"/>
            <a:ext cx="5349240" cy="316196"/>
          </a:xfrm>
          <a:prstGeom prst="rect">
            <a:avLst/>
          </a:prstGeom>
          <a:solidFill>
            <a:srgbClr val="FFFFFF"/>
          </a:solid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1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c  Do you have</a:t>
            </a:r>
            <a:pPr indent="0" marL="0">
              <a:buNone/>
            </a:pPr>
            <a:r>
              <a:rPr lang="en-US" sz="950" dirty="0">
                <a:solidFill>
                  <a:srgbClr val="1B2559"/>
                </a:solidFill>
                <a:latin typeface="Georgia" pitchFamily="34" charset="0"/>
                <a:ea typeface="Georgia" pitchFamily="34" charset="-122"/>
                <a:cs typeface="Georgia" pitchFamily="34" charset="-120"/>
              </a:rPr>
              <a:t> any brothers or sisters?  (a Have you · b Do you · c Do you have)</a:t>
            </a:r>
            <a:endParaRPr lang="en-US" sz="950" dirty="0"/>
          </a:p>
        </p:txBody>
      </p:sp>
      <p:sp>
        <p:nvSpPr>
          <p:cNvPr id="16" name="ln_89"/>
          <p:cNvSpPr/>
          <p:nvPr/>
        </p:nvSpPr>
        <p:spPr>
          <a:xfrm>
            <a:off x="548640" y="2236436"/>
            <a:ext cx="5349240" cy="362382"/>
          </a:xfrm>
          <a:prstGeom prst="rect">
            <a:avLst/>
          </a:prstGeom>
          <a:no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2  </a:t>
            </a:r>
            <a:pPr indent="0" marL="0">
              <a:buNone/>
            </a:pPr>
            <a:r>
              <a:rPr lang="en-US" sz="950" b="1" dirty="0">
                <a:solidFill>
                  <a:srgbClr val="2EB872"/>
                </a:solidFill>
                <a:latin typeface="Georgia" pitchFamily="34" charset="0"/>
                <a:ea typeface="Georgia" pitchFamily="34" charset="-122"/>
                <a:cs typeface="Georgia" pitchFamily="34" charset="-120"/>
              </a:rPr>
              <a:t> (2) ________ </a:t>
            </a:r>
            <a:pPr indent="0" marL="0">
              <a:buNone/>
            </a:pPr>
            <a:r>
              <a:rPr lang="en-US" sz="950" dirty="0">
                <a:solidFill>
                  <a:srgbClr val="1B2559"/>
                </a:solidFill>
                <a:latin typeface="Georgia" pitchFamily="34" charset="0"/>
                <a:ea typeface="Georgia" pitchFamily="34" charset="-122"/>
                <a:cs typeface="Georgia" pitchFamily="34" charset="-120"/>
              </a:rPr>
              <a:t> last night?  (a Where you went · b Where did you go · c Where you did go)</a:t>
            </a:r>
            <a:endParaRPr lang="en-US" sz="950" dirty="0"/>
          </a:p>
        </p:txBody>
      </p:sp>
      <p:sp>
        <p:nvSpPr>
          <p:cNvPr id="17" name="R2_lnA90"/>
          <p:cNvSpPr/>
          <p:nvPr/>
        </p:nvSpPr>
        <p:spPr>
          <a:xfrm>
            <a:off x="548640" y="2236436"/>
            <a:ext cx="5349240" cy="362382"/>
          </a:xfrm>
          <a:prstGeom prst="rect">
            <a:avLst/>
          </a:prstGeom>
          <a:solidFill>
            <a:srgbClr val="FFFFFF"/>
          </a:solid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2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b  Where did you go</a:t>
            </a:r>
            <a:pPr indent="0" marL="0">
              <a:buNone/>
            </a:pPr>
            <a:r>
              <a:rPr lang="en-US" sz="950" dirty="0">
                <a:solidFill>
                  <a:srgbClr val="1B2559"/>
                </a:solidFill>
                <a:latin typeface="Georgia" pitchFamily="34" charset="0"/>
                <a:ea typeface="Georgia" pitchFamily="34" charset="-122"/>
                <a:cs typeface="Georgia" pitchFamily="34" charset="-120"/>
              </a:rPr>
              <a:t> last night?  (a Where you went · b Where did you go · c Where you did go)</a:t>
            </a:r>
            <a:endParaRPr lang="en-US" sz="950" dirty="0"/>
          </a:p>
        </p:txBody>
      </p:sp>
      <p:sp>
        <p:nvSpPr>
          <p:cNvPr id="18" name="ln_91"/>
          <p:cNvSpPr/>
          <p:nvPr/>
        </p:nvSpPr>
        <p:spPr>
          <a:xfrm>
            <a:off x="548640" y="2598818"/>
            <a:ext cx="5349240" cy="341065"/>
          </a:xfrm>
          <a:prstGeom prst="rect">
            <a:avLst/>
          </a:prstGeom>
          <a:no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3  My brother </a:t>
            </a:r>
            <a:pPr indent="0" marL="0">
              <a:buNone/>
            </a:pPr>
            <a:r>
              <a:rPr lang="en-US" sz="950" b="1" dirty="0">
                <a:solidFill>
                  <a:srgbClr val="2EB872"/>
                </a:solidFill>
                <a:latin typeface="Georgia" pitchFamily="34" charset="0"/>
                <a:ea typeface="Georgia" pitchFamily="34" charset="-122"/>
                <a:cs typeface="Georgia" pitchFamily="34" charset="-120"/>
              </a:rPr>
              <a:t> (3) ________ </a:t>
            </a:r>
            <a:pPr indent="0" marL="0">
              <a:buNone/>
            </a:pPr>
            <a:r>
              <a:rPr lang="en-US" sz="950" dirty="0">
                <a:solidFill>
                  <a:srgbClr val="1B2559"/>
                </a:solidFill>
                <a:latin typeface="Georgia" pitchFamily="34" charset="0"/>
                <a:ea typeface="Georgia" pitchFamily="34" charset="-122"/>
                <a:cs typeface="Georgia" pitchFamily="34" charset="-120"/>
              </a:rPr>
              <a:t> football.  (a doesn't like · b don't like · c doesn't likes)</a:t>
            </a:r>
            <a:endParaRPr lang="en-US" sz="950" dirty="0"/>
          </a:p>
        </p:txBody>
      </p:sp>
      <p:sp>
        <p:nvSpPr>
          <p:cNvPr id="19" name="R3_lnA92"/>
          <p:cNvSpPr/>
          <p:nvPr/>
        </p:nvSpPr>
        <p:spPr>
          <a:xfrm>
            <a:off x="548640" y="2598818"/>
            <a:ext cx="5349240" cy="341065"/>
          </a:xfrm>
          <a:prstGeom prst="rect">
            <a:avLst/>
          </a:prstGeom>
          <a:solidFill>
            <a:srgbClr val="FFFFFF"/>
          </a:solid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3  My brother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a  doesn't like</a:t>
            </a:r>
            <a:pPr indent="0" marL="0">
              <a:buNone/>
            </a:pPr>
            <a:r>
              <a:rPr lang="en-US" sz="950" dirty="0">
                <a:solidFill>
                  <a:srgbClr val="1B2559"/>
                </a:solidFill>
                <a:latin typeface="Georgia" pitchFamily="34" charset="0"/>
                <a:ea typeface="Georgia" pitchFamily="34" charset="-122"/>
                <a:cs typeface="Georgia" pitchFamily="34" charset="-120"/>
              </a:rPr>
              <a:t> football.  (a doesn't like · b don't like · c doesn't likes)</a:t>
            </a:r>
            <a:endParaRPr lang="en-US" sz="950" dirty="0"/>
          </a:p>
        </p:txBody>
      </p:sp>
      <p:sp>
        <p:nvSpPr>
          <p:cNvPr id="20" name="ln_93"/>
          <p:cNvSpPr/>
          <p:nvPr/>
        </p:nvSpPr>
        <p:spPr>
          <a:xfrm>
            <a:off x="548640" y="2939883"/>
            <a:ext cx="5349240" cy="262905"/>
          </a:xfrm>
          <a:prstGeom prst="rect">
            <a:avLst/>
          </a:prstGeom>
          <a:no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4  Her parents </a:t>
            </a:r>
            <a:pPr indent="0" marL="0">
              <a:buNone/>
            </a:pPr>
            <a:r>
              <a:rPr lang="en-US" sz="950" b="1" dirty="0">
                <a:solidFill>
                  <a:srgbClr val="2EB872"/>
                </a:solidFill>
                <a:latin typeface="Georgia" pitchFamily="34" charset="0"/>
                <a:ea typeface="Georgia" pitchFamily="34" charset="-122"/>
                <a:cs typeface="Georgia" pitchFamily="34" charset="-120"/>
              </a:rPr>
              <a:t> (4) ________ </a:t>
            </a:r>
            <a:pPr indent="0" marL="0">
              <a:buNone/>
            </a:pPr>
            <a:r>
              <a:rPr lang="en-US" sz="950" dirty="0">
                <a:solidFill>
                  <a:srgbClr val="1B2559"/>
                </a:solidFill>
                <a:latin typeface="Georgia" pitchFamily="34" charset="0"/>
                <a:ea typeface="Georgia" pitchFamily="34" charset="-122"/>
                <a:cs typeface="Georgia" pitchFamily="34" charset="-120"/>
              </a:rPr>
              <a:t> a small business.  (a has · b haves · c have)</a:t>
            </a:r>
            <a:endParaRPr lang="en-US" sz="950" dirty="0"/>
          </a:p>
        </p:txBody>
      </p:sp>
      <p:sp>
        <p:nvSpPr>
          <p:cNvPr id="21" name="R4_lnA94"/>
          <p:cNvSpPr/>
          <p:nvPr/>
        </p:nvSpPr>
        <p:spPr>
          <a:xfrm>
            <a:off x="548640" y="2939883"/>
            <a:ext cx="5349240" cy="262905"/>
          </a:xfrm>
          <a:prstGeom prst="rect">
            <a:avLst/>
          </a:prstGeom>
          <a:solidFill>
            <a:srgbClr val="FFFFFF"/>
          </a:solid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4  Her parents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c  have</a:t>
            </a:r>
            <a:pPr indent="0" marL="0">
              <a:buNone/>
            </a:pPr>
            <a:r>
              <a:rPr lang="en-US" sz="950" dirty="0">
                <a:solidFill>
                  <a:srgbClr val="1B2559"/>
                </a:solidFill>
                <a:latin typeface="Georgia" pitchFamily="34" charset="0"/>
                <a:ea typeface="Georgia" pitchFamily="34" charset="-122"/>
                <a:cs typeface="Georgia" pitchFamily="34" charset="-120"/>
              </a:rPr>
              <a:t> a small business.  (a has · b haves · c have)</a:t>
            </a:r>
            <a:endParaRPr lang="en-US" sz="950" dirty="0"/>
          </a:p>
        </p:txBody>
      </p:sp>
      <p:sp>
        <p:nvSpPr>
          <p:cNvPr id="22" name="ln_95"/>
          <p:cNvSpPr/>
          <p:nvPr/>
        </p:nvSpPr>
        <p:spPr>
          <a:xfrm>
            <a:off x="548640" y="3202788"/>
            <a:ext cx="5349240" cy="394357"/>
          </a:xfrm>
          <a:prstGeom prst="rect">
            <a:avLst/>
          </a:prstGeom>
          <a:no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5  I </a:t>
            </a:r>
            <a:pPr indent="0" marL="0">
              <a:buNone/>
            </a:pPr>
            <a:r>
              <a:rPr lang="en-US" sz="950" b="1" dirty="0">
                <a:solidFill>
                  <a:srgbClr val="2EB872"/>
                </a:solidFill>
                <a:latin typeface="Georgia" pitchFamily="34" charset="0"/>
                <a:ea typeface="Georgia" pitchFamily="34" charset="-122"/>
                <a:cs typeface="Georgia" pitchFamily="34" charset="-120"/>
              </a:rPr>
              <a:t> (5) ________ </a:t>
            </a:r>
            <a:pPr indent="0" marL="0">
              <a:buNone/>
            </a:pPr>
            <a:r>
              <a:rPr lang="en-US" sz="950" dirty="0">
                <a:solidFill>
                  <a:srgbClr val="1B2559"/>
                </a:solidFill>
                <a:latin typeface="Georgia" pitchFamily="34" charset="0"/>
                <a:ea typeface="Georgia" pitchFamily="34" charset="-122"/>
                <a:cs typeface="Georgia" pitchFamily="34" charset="-120"/>
              </a:rPr>
              <a:t> to music when I'm working.  (a never listen · b don't never listen · c listen never)</a:t>
            </a:r>
            <a:endParaRPr lang="en-US" sz="950" dirty="0"/>
          </a:p>
        </p:txBody>
      </p:sp>
      <p:sp>
        <p:nvSpPr>
          <p:cNvPr id="23" name="R5_lnA96"/>
          <p:cNvSpPr/>
          <p:nvPr/>
        </p:nvSpPr>
        <p:spPr>
          <a:xfrm>
            <a:off x="548640" y="3202788"/>
            <a:ext cx="5349240" cy="394357"/>
          </a:xfrm>
          <a:prstGeom prst="rect">
            <a:avLst/>
          </a:prstGeom>
          <a:solidFill>
            <a:srgbClr val="FFFFFF"/>
          </a:solid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5  I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a  never listen</a:t>
            </a:r>
            <a:pPr indent="0" marL="0">
              <a:buNone/>
            </a:pPr>
            <a:r>
              <a:rPr lang="en-US" sz="950" dirty="0">
                <a:solidFill>
                  <a:srgbClr val="1B2559"/>
                </a:solidFill>
                <a:latin typeface="Georgia" pitchFamily="34" charset="0"/>
                <a:ea typeface="Georgia" pitchFamily="34" charset="-122"/>
                <a:cs typeface="Georgia" pitchFamily="34" charset="-120"/>
              </a:rPr>
              <a:t> to music when I'm working.  (a never listen · b don't never listen · c listen never)</a:t>
            </a:r>
            <a:endParaRPr lang="en-US" sz="950" dirty="0"/>
          </a:p>
        </p:txBody>
      </p:sp>
      <p:sp>
        <p:nvSpPr>
          <p:cNvPr id="24" name="ln_97"/>
          <p:cNvSpPr/>
          <p:nvPr/>
        </p:nvSpPr>
        <p:spPr>
          <a:xfrm>
            <a:off x="548640" y="3597145"/>
            <a:ext cx="5349240" cy="351724"/>
          </a:xfrm>
          <a:prstGeom prst="rect">
            <a:avLst/>
          </a:prstGeom>
          <a:no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6  In the picture the woman </a:t>
            </a:r>
            <a:pPr indent="0" marL="0">
              <a:buNone/>
            </a:pPr>
            <a:r>
              <a:rPr lang="en-US" sz="950" b="1" dirty="0">
                <a:solidFill>
                  <a:srgbClr val="2EB872"/>
                </a:solidFill>
                <a:latin typeface="Georgia" pitchFamily="34" charset="0"/>
                <a:ea typeface="Georgia" pitchFamily="34" charset="-122"/>
                <a:cs typeface="Georgia" pitchFamily="34" charset="-120"/>
              </a:rPr>
              <a:t> (6) ________ </a:t>
            </a:r>
            <a:pPr indent="0" marL="0">
              <a:buNone/>
            </a:pPr>
            <a:r>
              <a:rPr lang="en-US" sz="950" dirty="0">
                <a:solidFill>
                  <a:srgbClr val="1B2559"/>
                </a:solidFill>
                <a:latin typeface="Georgia" pitchFamily="34" charset="0"/>
                <a:ea typeface="Georgia" pitchFamily="34" charset="-122"/>
                <a:cs typeface="Georgia" pitchFamily="34" charset="-120"/>
              </a:rPr>
              <a:t> a blue skirt.  (a wears · b wearing · c is wearing)</a:t>
            </a:r>
            <a:endParaRPr lang="en-US" sz="950" dirty="0"/>
          </a:p>
        </p:txBody>
      </p:sp>
      <p:sp>
        <p:nvSpPr>
          <p:cNvPr id="25" name="R6_lnA98"/>
          <p:cNvSpPr/>
          <p:nvPr/>
        </p:nvSpPr>
        <p:spPr>
          <a:xfrm>
            <a:off x="548640" y="3597145"/>
            <a:ext cx="5349240" cy="351724"/>
          </a:xfrm>
          <a:prstGeom prst="rect">
            <a:avLst/>
          </a:prstGeom>
          <a:solidFill>
            <a:srgbClr val="FFFFFF"/>
          </a:solid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6  In the picture the woman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c  is wearing</a:t>
            </a:r>
            <a:pPr indent="0" marL="0">
              <a:buNone/>
            </a:pPr>
            <a:r>
              <a:rPr lang="en-US" sz="950" dirty="0">
                <a:solidFill>
                  <a:srgbClr val="1B2559"/>
                </a:solidFill>
                <a:latin typeface="Georgia" pitchFamily="34" charset="0"/>
                <a:ea typeface="Georgia" pitchFamily="34" charset="-122"/>
                <a:cs typeface="Georgia" pitchFamily="34" charset="-120"/>
              </a:rPr>
              <a:t> a blue skirt.  (a wears · b wearing · c is wearing)</a:t>
            </a:r>
            <a:endParaRPr lang="en-US" sz="950" dirty="0"/>
          </a:p>
        </p:txBody>
      </p:sp>
      <p:sp>
        <p:nvSpPr>
          <p:cNvPr id="26" name="ln_99"/>
          <p:cNvSpPr/>
          <p:nvPr/>
        </p:nvSpPr>
        <p:spPr>
          <a:xfrm>
            <a:off x="548640" y="3948868"/>
            <a:ext cx="5349240" cy="397910"/>
          </a:xfrm>
          <a:prstGeom prst="rect">
            <a:avLst/>
          </a:prstGeom>
          <a:no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7  A What </a:t>
            </a:r>
            <a:pPr indent="0" marL="0">
              <a:buNone/>
            </a:pPr>
            <a:r>
              <a:rPr lang="en-US" sz="950" b="1" dirty="0">
                <a:solidFill>
                  <a:srgbClr val="2EB872"/>
                </a:solidFill>
                <a:latin typeface="Georgia" pitchFamily="34" charset="0"/>
                <a:ea typeface="Georgia" pitchFamily="34" charset="-122"/>
                <a:cs typeface="Georgia" pitchFamily="34" charset="-120"/>
              </a:rPr>
              <a:t> (7) ________ </a:t>
            </a:r>
            <a:pPr indent="0" marL="0">
              <a:buNone/>
            </a:pPr>
            <a:r>
              <a:rPr lang="en-US" sz="950" dirty="0">
                <a:solidFill>
                  <a:srgbClr val="1B2559"/>
                </a:solidFill>
                <a:latin typeface="Georgia" pitchFamily="34" charset="0"/>
                <a:ea typeface="Georgia" pitchFamily="34" charset="-122"/>
                <a:cs typeface="Georgia" pitchFamily="34" charset="-120"/>
              </a:rPr>
              <a:t>?  B I'm looking for my keys.  (a you are doing · b do you do · c are you doing)</a:t>
            </a:r>
            <a:endParaRPr lang="en-US" sz="950" dirty="0"/>
          </a:p>
        </p:txBody>
      </p:sp>
      <p:sp>
        <p:nvSpPr>
          <p:cNvPr id="27" name="R7_lnA100"/>
          <p:cNvSpPr/>
          <p:nvPr/>
        </p:nvSpPr>
        <p:spPr>
          <a:xfrm>
            <a:off x="548640" y="3948868"/>
            <a:ext cx="5349240" cy="397910"/>
          </a:xfrm>
          <a:prstGeom prst="rect">
            <a:avLst/>
          </a:prstGeom>
          <a:solidFill>
            <a:srgbClr val="FFFFFF"/>
          </a:solid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7  A What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c  are you doing</a:t>
            </a:r>
            <a:pPr indent="0" marL="0">
              <a:buNone/>
            </a:pPr>
            <a:r>
              <a:rPr lang="en-US" sz="950" dirty="0">
                <a:solidFill>
                  <a:srgbClr val="1B2559"/>
                </a:solidFill>
                <a:latin typeface="Georgia" pitchFamily="34" charset="0"/>
                <a:ea typeface="Georgia" pitchFamily="34" charset="-122"/>
                <a:cs typeface="Georgia" pitchFamily="34" charset="-120"/>
              </a:rPr>
              <a:t>?  B I'm looking for my keys.  (a you are doing · b do you do · c are you doing)</a:t>
            </a:r>
            <a:endParaRPr lang="en-US" sz="950" dirty="0"/>
          </a:p>
        </p:txBody>
      </p:sp>
      <p:sp>
        <p:nvSpPr>
          <p:cNvPr id="28" name="ln_101"/>
          <p:cNvSpPr/>
          <p:nvPr/>
        </p:nvSpPr>
        <p:spPr>
          <a:xfrm>
            <a:off x="548640" y="4346778"/>
            <a:ext cx="5349240" cy="362382"/>
          </a:xfrm>
          <a:prstGeom prst="rect">
            <a:avLst/>
          </a:prstGeom>
          <a:no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8  She's at university. She </a:t>
            </a:r>
            <a:pPr indent="0" marL="0">
              <a:buNone/>
            </a:pPr>
            <a:r>
              <a:rPr lang="en-US" sz="950" b="1" dirty="0">
                <a:solidFill>
                  <a:srgbClr val="2EB872"/>
                </a:solidFill>
                <a:latin typeface="Georgia" pitchFamily="34" charset="0"/>
                <a:ea typeface="Georgia" pitchFamily="34" charset="-122"/>
                <a:cs typeface="Georgia" pitchFamily="34" charset="-120"/>
              </a:rPr>
              <a:t> (8) ________ </a:t>
            </a:r>
            <a:pPr indent="0" marL="0">
              <a:buNone/>
            </a:pPr>
            <a:r>
              <a:rPr lang="en-US" sz="950" dirty="0">
                <a:solidFill>
                  <a:srgbClr val="1B2559"/>
                </a:solidFill>
                <a:latin typeface="Georgia" pitchFamily="34" charset="0"/>
                <a:ea typeface="Georgia" pitchFamily="34" charset="-122"/>
                <a:cs typeface="Georgia" pitchFamily="34" charset="-120"/>
              </a:rPr>
              <a:t> history.  (a 's studing · b 's studying · c studying)</a:t>
            </a:r>
            <a:endParaRPr lang="en-US" sz="950" dirty="0"/>
          </a:p>
        </p:txBody>
      </p:sp>
      <p:sp>
        <p:nvSpPr>
          <p:cNvPr id="29" name="R8_lnA102"/>
          <p:cNvSpPr/>
          <p:nvPr/>
        </p:nvSpPr>
        <p:spPr>
          <a:xfrm>
            <a:off x="548640" y="4346778"/>
            <a:ext cx="5349240" cy="362382"/>
          </a:xfrm>
          <a:prstGeom prst="rect">
            <a:avLst/>
          </a:prstGeom>
          <a:solidFill>
            <a:srgbClr val="FFFFFF"/>
          </a:solidFill>
          <a:ln/>
        </p:spPr>
        <p:txBody>
          <a:bodyPr wrap="square" lIns="0" tIns="0" rIns="0" bIns="0" rtlCol="0" anchor="t"/>
          <a:lstStyle/>
          <a:p>
            <a:pPr indent="0" marL="0">
              <a:buNone/>
            </a:pPr>
            <a:r>
              <a:rPr lang="en-US" sz="950" dirty="0">
                <a:solidFill>
                  <a:srgbClr val="1B2559"/>
                </a:solidFill>
                <a:latin typeface="Georgia" pitchFamily="34" charset="0"/>
                <a:ea typeface="Georgia" pitchFamily="34" charset="-122"/>
                <a:cs typeface="Georgia" pitchFamily="34" charset="-120"/>
              </a:rPr>
              <a:t>8  She's at university. She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b  's studying</a:t>
            </a:r>
            <a:pPr indent="0" marL="0">
              <a:buNone/>
            </a:pPr>
            <a:r>
              <a:rPr lang="en-US" sz="950" dirty="0">
                <a:solidFill>
                  <a:srgbClr val="1B2559"/>
                </a:solidFill>
                <a:latin typeface="Georgia" pitchFamily="34" charset="0"/>
                <a:ea typeface="Georgia" pitchFamily="34" charset="-122"/>
                <a:cs typeface="Georgia" pitchFamily="34" charset="-120"/>
              </a:rPr>
              <a:t> history.  (a 's studing · b 's studying · c studying)</a:t>
            </a:r>
            <a:endParaRPr lang="en-US" sz="950" dirty="0"/>
          </a:p>
        </p:txBody>
      </p:sp>
      <p:sp>
        <p:nvSpPr>
          <p:cNvPr id="30" name="pf_103"/>
          <p:cNvSpPr/>
          <p:nvPr/>
        </p:nvSpPr>
        <p:spPr>
          <a:xfrm rot="120000">
            <a:off x="6309360" y="1778049"/>
            <a:ext cx="2560320" cy="787302"/>
          </a:xfrm>
          <a:prstGeom prst="roundRect">
            <a:avLst>
              <a:gd name="adj" fmla="val 197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104" descr="/home/claude/lls-course/v2/cache/a2r12_people_jpg_594x167_31.png">    </p:cNvPr>
          <p:cNvPicPr>
            <a:picLocks noChangeAspect="1"/>
          </p:cNvPicPr>
          <p:nvPr/>
        </p:nvPicPr>
        <p:blipFill>
          <a:blip r:embed="rId5"/>
          <a:stretch>
            <a:fillRect/>
          </a:stretch>
        </p:blipFill>
        <p:spPr>
          <a:xfrm rot="120000">
            <a:off x="6355080" y="1823769"/>
            <a:ext cx="2468880" cy="695862"/>
          </a:xfrm>
          <a:prstGeom prst="rect">
            <a:avLst/>
          </a:prstGeom>
        </p:spPr>
      </p:pic>
      <p:sp>
        <p:nvSpPr>
          <p:cNvPr id="32" name="cd_105"/>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33" name="ii_10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4" name="ih_10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5" name="il_108"/>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Alone · no talking</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1 point each · ___ / 15</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0"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11"/>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Grammar test (2)</a:t>
            </a:r>
            <a:endParaRPr lang="en-US" sz="2500" dirty="0"/>
          </a:p>
        </p:txBody>
      </p:sp>
      <p:pic>
        <p:nvPicPr>
          <p:cNvPr id="6" name="brP_112" descr="/home/claude/lls-course/v2/assets/brush-pink.png">    </p:cNvPr>
          <p:cNvPicPr>
            <a:picLocks noChangeAspect="1"/>
          </p:cNvPicPr>
          <p:nvPr/>
        </p:nvPicPr>
        <p:blipFill>
          <a:blip r:embed="rId3"/>
          <a:stretch>
            <a:fillRect/>
          </a:stretch>
        </p:blipFill>
        <p:spPr>
          <a:xfrm>
            <a:off x="1207008" y="731520"/>
            <a:ext cx="5161788" cy="402336"/>
          </a:xfrm>
          <a:prstGeom prst="rect">
            <a:avLst/>
          </a:prstGeom>
        </p:spPr>
      </p:pic>
      <p:sp>
        <p:nvSpPr>
          <p:cNvPr id="7" name="ins_113"/>
          <p:cNvSpPr/>
          <p:nvPr/>
        </p:nvSpPr>
        <p:spPr>
          <a:xfrm>
            <a:off x="1353312" y="731520"/>
            <a:ext cx="490575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Mini-test! Choose a, b or c. Then count your score.</a:t>
            </a:r>
            <a:endParaRPr lang="en-US" sz="1250" dirty="0"/>
          </a:p>
        </p:txBody>
      </p:sp>
      <p:sp>
        <p:nvSpPr>
          <p:cNvPr id="8" name="insIT_1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Mini-test! Scegli a, b o c. Poi conta i punti.</a:t>
            </a:r>
            <a:endParaRPr lang="en-US" sz="950" dirty="0"/>
          </a:p>
        </p:txBody>
      </p:sp>
      <p:sp>
        <p:nvSpPr>
          <p:cNvPr id="9" name="note_11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alone</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TPRS · reading</a:t>
            </a:r>
            <a:endParaRPr lang="en-US" sz="1150" dirty="0"/>
          </a:p>
        </p:txBody>
      </p:sp>
      <p:pic>
        <p:nvPicPr>
          <p:cNvPr id="10" name="logo_1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Grammar · SB p.20 · 9–15   ·   📖 SB p.20 · Grammar 9–15 (TG key)</a:t>
            </a:r>
            <a:endParaRPr lang="en-US" sz="800" dirty="0"/>
          </a:p>
        </p:txBody>
      </p:sp>
      <p:sp>
        <p:nvSpPr>
          <p:cNvPr id="12" name="cd_11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1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Circle a, b or c</a:t>
            </a:r>
            <a:endParaRPr lang="en-US" sz="1700" dirty="0"/>
          </a:p>
        </p:txBody>
      </p:sp>
      <p:sp>
        <p:nvSpPr>
          <p:cNvPr id="14" name="ln_120"/>
          <p:cNvSpPr/>
          <p:nvPr/>
        </p:nvSpPr>
        <p:spPr>
          <a:xfrm>
            <a:off x="548640" y="1920240"/>
            <a:ext cx="5349240" cy="260887"/>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9  We </a:t>
            </a:r>
            <a:pPr indent="0" marL="0">
              <a:buNone/>
            </a:pPr>
            <a:r>
              <a:rPr lang="en-US" sz="1100" b="1" dirty="0">
                <a:solidFill>
                  <a:srgbClr val="2EB872"/>
                </a:solidFill>
                <a:latin typeface="Georgia" pitchFamily="34" charset="0"/>
                <a:ea typeface="Georgia" pitchFamily="34" charset="-122"/>
                <a:cs typeface="Georgia" pitchFamily="34" charset="-120"/>
              </a:rPr>
              <a:t> (9) ________ </a:t>
            </a:r>
            <a:pPr indent="0" marL="0">
              <a:buNone/>
            </a:pPr>
            <a:r>
              <a:rPr lang="en-US" sz="1100" dirty="0">
                <a:solidFill>
                  <a:srgbClr val="1B2559"/>
                </a:solidFill>
                <a:latin typeface="Georgia" pitchFamily="34" charset="0"/>
                <a:ea typeface="Georgia" pitchFamily="34" charset="-122"/>
                <a:cs typeface="Georgia" pitchFamily="34" charset="-120"/>
              </a:rPr>
              <a:t> to Malta last August.  (a were · b went · c did go)</a:t>
            </a:r>
            <a:endParaRPr lang="en-US" sz="1100" dirty="0"/>
          </a:p>
        </p:txBody>
      </p:sp>
      <p:sp>
        <p:nvSpPr>
          <p:cNvPr id="15" name="R1_lnA121"/>
          <p:cNvSpPr/>
          <p:nvPr/>
        </p:nvSpPr>
        <p:spPr>
          <a:xfrm>
            <a:off x="548640" y="1920240"/>
            <a:ext cx="5349240" cy="260887"/>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9  We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b  went</a:t>
            </a:r>
            <a:pPr indent="0" marL="0">
              <a:buNone/>
            </a:pPr>
            <a:r>
              <a:rPr lang="en-US" sz="1100" dirty="0">
                <a:solidFill>
                  <a:srgbClr val="1B2559"/>
                </a:solidFill>
                <a:latin typeface="Georgia" pitchFamily="34" charset="0"/>
                <a:ea typeface="Georgia" pitchFamily="34" charset="-122"/>
                <a:cs typeface="Georgia" pitchFamily="34" charset="-120"/>
              </a:rPr>
              <a:t> to Malta last August.  (a were · b went · c did go)</a:t>
            </a:r>
            <a:endParaRPr lang="en-US" sz="1100" dirty="0"/>
          </a:p>
        </p:txBody>
      </p:sp>
      <p:sp>
        <p:nvSpPr>
          <p:cNvPr id="16" name="ln_122"/>
          <p:cNvSpPr/>
          <p:nvPr/>
        </p:nvSpPr>
        <p:spPr>
          <a:xfrm>
            <a:off x="548640" y="2181127"/>
            <a:ext cx="5349240" cy="371121"/>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10  I saw the film, but I </a:t>
            </a:r>
            <a:pPr indent="0" marL="0">
              <a:buNone/>
            </a:pPr>
            <a:r>
              <a:rPr lang="en-US" sz="1100" b="1" dirty="0">
                <a:solidFill>
                  <a:srgbClr val="2EB872"/>
                </a:solidFill>
                <a:latin typeface="Georgia" pitchFamily="34" charset="0"/>
                <a:ea typeface="Georgia" pitchFamily="34" charset="-122"/>
                <a:cs typeface="Georgia" pitchFamily="34" charset="-120"/>
              </a:rPr>
              <a:t> (10) ________ </a:t>
            </a:r>
            <a:pPr indent="0" marL="0">
              <a:buNone/>
            </a:pPr>
            <a:r>
              <a:rPr lang="en-US" sz="1100" dirty="0">
                <a:solidFill>
                  <a:srgbClr val="1B2559"/>
                </a:solidFill>
                <a:latin typeface="Georgia" pitchFamily="34" charset="0"/>
                <a:ea typeface="Georgia" pitchFamily="34" charset="-122"/>
                <a:cs typeface="Georgia" pitchFamily="34" charset="-120"/>
              </a:rPr>
              <a:t> it.  (a didn't liked · b don't liked · c didn't like)</a:t>
            </a:r>
            <a:endParaRPr lang="en-US" sz="1100" dirty="0"/>
          </a:p>
        </p:txBody>
      </p:sp>
      <p:sp>
        <p:nvSpPr>
          <p:cNvPr id="17" name="R2_lnA123"/>
          <p:cNvSpPr/>
          <p:nvPr/>
        </p:nvSpPr>
        <p:spPr>
          <a:xfrm>
            <a:off x="548640" y="2181127"/>
            <a:ext cx="5349240" cy="371121"/>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10  I saw the film, but I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c  didn't like</a:t>
            </a:r>
            <a:pPr indent="0" marL="0">
              <a:buNone/>
            </a:pPr>
            <a:r>
              <a:rPr lang="en-US" sz="1100" dirty="0">
                <a:solidFill>
                  <a:srgbClr val="1B2559"/>
                </a:solidFill>
                <a:latin typeface="Georgia" pitchFamily="34" charset="0"/>
                <a:ea typeface="Georgia" pitchFamily="34" charset="-122"/>
                <a:cs typeface="Georgia" pitchFamily="34" charset="-120"/>
              </a:rPr>
              <a:t> it.  (a didn't liked · b don't liked · c didn't like)</a:t>
            </a:r>
            <a:endParaRPr lang="en-US" sz="1100" dirty="0"/>
          </a:p>
        </p:txBody>
      </p:sp>
      <p:sp>
        <p:nvSpPr>
          <p:cNvPr id="18" name="ln_124"/>
          <p:cNvSpPr/>
          <p:nvPr/>
        </p:nvSpPr>
        <p:spPr>
          <a:xfrm>
            <a:off x="548640" y="2552248"/>
            <a:ext cx="5349240" cy="429913"/>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11  When I got home, my parents </a:t>
            </a:r>
            <a:pPr indent="0" marL="0">
              <a:buNone/>
            </a:pPr>
            <a:r>
              <a:rPr lang="en-US" sz="1100" b="1" dirty="0">
                <a:solidFill>
                  <a:srgbClr val="2EB872"/>
                </a:solidFill>
                <a:latin typeface="Georgia" pitchFamily="34" charset="0"/>
                <a:ea typeface="Georgia" pitchFamily="34" charset="-122"/>
                <a:cs typeface="Georgia" pitchFamily="34" charset="-120"/>
              </a:rPr>
              <a:t> (11) ________ </a:t>
            </a:r>
            <a:pPr indent="0" marL="0">
              <a:buNone/>
            </a:pPr>
            <a:r>
              <a:rPr lang="en-US" sz="1100" dirty="0">
                <a:solidFill>
                  <a:srgbClr val="1B2559"/>
                </a:solidFill>
                <a:latin typeface="Georgia" pitchFamily="34" charset="0"/>
                <a:ea typeface="Georgia" pitchFamily="34" charset="-122"/>
                <a:cs typeface="Georgia" pitchFamily="34" charset="-120"/>
              </a:rPr>
              <a:t> on the sofa.  (a were sitting · b was sitting · c were siting)</a:t>
            </a:r>
            <a:endParaRPr lang="en-US" sz="1100" dirty="0"/>
          </a:p>
        </p:txBody>
      </p:sp>
      <p:sp>
        <p:nvSpPr>
          <p:cNvPr id="19" name="R3_lnA125"/>
          <p:cNvSpPr/>
          <p:nvPr/>
        </p:nvSpPr>
        <p:spPr>
          <a:xfrm>
            <a:off x="548640" y="2552248"/>
            <a:ext cx="5349240" cy="429913"/>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11  When I got home, my parents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a  were sitting</a:t>
            </a:r>
            <a:pPr indent="0" marL="0">
              <a:buNone/>
            </a:pPr>
            <a:r>
              <a:rPr lang="en-US" sz="1100" dirty="0">
                <a:solidFill>
                  <a:srgbClr val="1B2559"/>
                </a:solidFill>
                <a:latin typeface="Georgia" pitchFamily="34" charset="0"/>
                <a:ea typeface="Georgia" pitchFamily="34" charset="-122"/>
                <a:cs typeface="Georgia" pitchFamily="34" charset="-120"/>
              </a:rPr>
              <a:t> on the sofa.  (a were sitting · b was sitting · c were siting)</a:t>
            </a:r>
            <a:endParaRPr lang="en-US" sz="1100" dirty="0"/>
          </a:p>
        </p:txBody>
      </p:sp>
      <p:sp>
        <p:nvSpPr>
          <p:cNvPr id="20" name="ln_126"/>
          <p:cNvSpPr/>
          <p:nvPr/>
        </p:nvSpPr>
        <p:spPr>
          <a:xfrm>
            <a:off x="548640" y="2982161"/>
            <a:ext cx="5349240" cy="474006"/>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12  What </a:t>
            </a:r>
            <a:pPr indent="0" marL="0">
              <a:buNone/>
            </a:pPr>
            <a:r>
              <a:rPr lang="en-US" sz="1100" b="1" dirty="0">
                <a:solidFill>
                  <a:srgbClr val="2EB872"/>
                </a:solidFill>
                <a:latin typeface="Georgia" pitchFamily="34" charset="0"/>
                <a:ea typeface="Georgia" pitchFamily="34" charset="-122"/>
                <a:cs typeface="Georgia" pitchFamily="34" charset="-120"/>
              </a:rPr>
              <a:t> (12) ________ </a:t>
            </a:r>
            <a:pPr indent="0" marL="0">
              <a:buNone/>
            </a:pPr>
            <a:r>
              <a:rPr lang="en-US" sz="1100" dirty="0">
                <a:solidFill>
                  <a:srgbClr val="1B2559"/>
                </a:solidFill>
                <a:latin typeface="Georgia" pitchFamily="34" charset="0"/>
                <a:ea typeface="Georgia" pitchFamily="34" charset="-122"/>
                <a:cs typeface="Georgia" pitchFamily="34" charset="-120"/>
              </a:rPr>
              <a:t> at 11 p.m.? You didn't answer my call.  (a you were doing · b you was doing · c were you doing)</a:t>
            </a:r>
            <a:endParaRPr lang="en-US" sz="1100" dirty="0"/>
          </a:p>
        </p:txBody>
      </p:sp>
      <p:sp>
        <p:nvSpPr>
          <p:cNvPr id="21" name="R4_lnA127"/>
          <p:cNvSpPr/>
          <p:nvPr/>
        </p:nvSpPr>
        <p:spPr>
          <a:xfrm>
            <a:off x="548640" y="2982161"/>
            <a:ext cx="5349240" cy="474006"/>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12  What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c  were you doing</a:t>
            </a:r>
            <a:pPr indent="0" marL="0">
              <a:buNone/>
            </a:pPr>
            <a:r>
              <a:rPr lang="en-US" sz="1100" dirty="0">
                <a:solidFill>
                  <a:srgbClr val="1B2559"/>
                </a:solidFill>
                <a:latin typeface="Georgia" pitchFamily="34" charset="0"/>
                <a:ea typeface="Georgia" pitchFamily="34" charset="-122"/>
                <a:cs typeface="Georgia" pitchFamily="34" charset="-120"/>
              </a:rPr>
              <a:t> at 11 p.m.? You didn't answer my call.  (a you were doing · b you was doing · c were you doing)</a:t>
            </a:r>
            <a:endParaRPr lang="en-US" sz="1100" dirty="0"/>
          </a:p>
        </p:txBody>
      </p:sp>
      <p:sp>
        <p:nvSpPr>
          <p:cNvPr id="22" name="ln_128"/>
          <p:cNvSpPr/>
          <p:nvPr/>
        </p:nvSpPr>
        <p:spPr>
          <a:xfrm>
            <a:off x="548640" y="3456167"/>
            <a:ext cx="5349240" cy="474006"/>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13  She couldn't see him because she </a:t>
            </a:r>
            <a:pPr indent="0" marL="0">
              <a:buNone/>
            </a:pPr>
            <a:r>
              <a:rPr lang="en-US" sz="1100" b="1" dirty="0">
                <a:solidFill>
                  <a:srgbClr val="2EB872"/>
                </a:solidFill>
                <a:latin typeface="Georgia" pitchFamily="34" charset="0"/>
                <a:ea typeface="Georgia" pitchFamily="34" charset="-122"/>
                <a:cs typeface="Georgia" pitchFamily="34" charset="-120"/>
              </a:rPr>
              <a:t> (13) ________ </a:t>
            </a:r>
            <a:pPr indent="0" marL="0">
              <a:buNone/>
            </a:pPr>
            <a:r>
              <a:rPr lang="en-US" sz="1100" dirty="0">
                <a:solidFill>
                  <a:srgbClr val="1B2559"/>
                </a:solidFill>
                <a:latin typeface="Georgia" pitchFamily="34" charset="0"/>
                <a:ea typeface="Georgia" pitchFamily="34" charset="-122"/>
                <a:cs typeface="Georgia" pitchFamily="34" charset="-120"/>
              </a:rPr>
              <a:t> her glasses.  (a wasn't wearing · b didn't wear · c didn't wearing)</a:t>
            </a:r>
            <a:endParaRPr lang="en-US" sz="1100" dirty="0"/>
          </a:p>
        </p:txBody>
      </p:sp>
      <p:sp>
        <p:nvSpPr>
          <p:cNvPr id="23" name="R5_lnA129"/>
          <p:cNvSpPr/>
          <p:nvPr/>
        </p:nvSpPr>
        <p:spPr>
          <a:xfrm>
            <a:off x="548640" y="3456167"/>
            <a:ext cx="5349240" cy="474006"/>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13  She couldn't see him because she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a  wasn't wearing</a:t>
            </a:r>
            <a:pPr indent="0" marL="0">
              <a:buNone/>
            </a:pPr>
            <a:r>
              <a:rPr lang="en-US" sz="1100" dirty="0">
                <a:solidFill>
                  <a:srgbClr val="1B2559"/>
                </a:solidFill>
                <a:latin typeface="Georgia" pitchFamily="34" charset="0"/>
                <a:ea typeface="Georgia" pitchFamily="34" charset="-122"/>
                <a:cs typeface="Georgia" pitchFamily="34" charset="-120"/>
              </a:rPr>
              <a:t> her glasses.  (a wasn't wearing · b didn't wear · c didn't wearing)</a:t>
            </a:r>
            <a:endParaRPr lang="en-US" sz="1100" dirty="0"/>
          </a:p>
        </p:txBody>
      </p:sp>
      <p:sp>
        <p:nvSpPr>
          <p:cNvPr id="24" name="ln_130"/>
          <p:cNvSpPr/>
          <p:nvPr/>
        </p:nvSpPr>
        <p:spPr>
          <a:xfrm>
            <a:off x="548640" y="3930173"/>
            <a:ext cx="5349240" cy="389493"/>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14  We had lunch in a restaurant. </a:t>
            </a:r>
            <a:pPr indent="0" marL="0">
              <a:buNone/>
            </a:pPr>
            <a:r>
              <a:rPr lang="en-US" sz="1100" b="1" dirty="0">
                <a:solidFill>
                  <a:srgbClr val="2EB872"/>
                </a:solidFill>
                <a:latin typeface="Georgia" pitchFamily="34" charset="0"/>
                <a:ea typeface="Georgia" pitchFamily="34" charset="-122"/>
                <a:cs typeface="Georgia" pitchFamily="34" charset="-120"/>
              </a:rPr>
              <a:t> (14) ________ </a:t>
            </a:r>
            <a:pPr indent="0" marL="0">
              <a:buNone/>
            </a:pPr>
            <a:r>
              <a:rPr lang="en-US" sz="1100" dirty="0">
                <a:solidFill>
                  <a:srgbClr val="1B2559"/>
                </a:solidFill>
                <a:latin typeface="Georgia" pitchFamily="34" charset="0"/>
                <a:ea typeface="Georgia" pitchFamily="34" charset="-122"/>
                <a:cs typeface="Georgia" pitchFamily="34" charset="-120"/>
              </a:rPr>
              <a:t> we decided to go for a walk.  (a After · b Then · c When)</a:t>
            </a:r>
            <a:endParaRPr lang="en-US" sz="1100" dirty="0"/>
          </a:p>
        </p:txBody>
      </p:sp>
      <p:sp>
        <p:nvSpPr>
          <p:cNvPr id="25" name="R6_lnA131"/>
          <p:cNvSpPr/>
          <p:nvPr/>
        </p:nvSpPr>
        <p:spPr>
          <a:xfrm>
            <a:off x="548640" y="3930173"/>
            <a:ext cx="5349240" cy="389493"/>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14  We had lunch in a restaurant.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b  Then</a:t>
            </a:r>
            <a:pPr indent="0" marL="0">
              <a:buNone/>
            </a:pPr>
            <a:r>
              <a:rPr lang="en-US" sz="1100" dirty="0">
                <a:solidFill>
                  <a:srgbClr val="1B2559"/>
                </a:solidFill>
                <a:latin typeface="Georgia" pitchFamily="34" charset="0"/>
                <a:ea typeface="Georgia" pitchFamily="34" charset="-122"/>
                <a:cs typeface="Georgia" pitchFamily="34" charset="-120"/>
              </a:rPr>
              <a:t> we decided to go for a walk.  (a After · b Then · c When)</a:t>
            </a:r>
            <a:endParaRPr lang="en-US" sz="1100" dirty="0"/>
          </a:p>
        </p:txBody>
      </p:sp>
      <p:sp>
        <p:nvSpPr>
          <p:cNvPr id="26" name="ln_132"/>
          <p:cNvSpPr/>
          <p:nvPr/>
        </p:nvSpPr>
        <p:spPr>
          <a:xfrm>
            <a:off x="548640" y="4319667"/>
            <a:ext cx="5349240" cy="389493"/>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15  We had a great time, </a:t>
            </a:r>
            <a:pPr indent="0" marL="0">
              <a:buNone/>
            </a:pPr>
            <a:r>
              <a:rPr lang="en-US" sz="1100" b="1" dirty="0">
                <a:solidFill>
                  <a:srgbClr val="2EB872"/>
                </a:solidFill>
                <a:latin typeface="Georgia" pitchFamily="34" charset="0"/>
                <a:ea typeface="Georgia" pitchFamily="34" charset="-122"/>
                <a:cs typeface="Georgia" pitchFamily="34" charset="-120"/>
              </a:rPr>
              <a:t> (15) ________ </a:t>
            </a:r>
            <a:pPr indent="0" marL="0">
              <a:buNone/>
            </a:pPr>
            <a:r>
              <a:rPr lang="en-US" sz="1100" dirty="0">
                <a:solidFill>
                  <a:srgbClr val="1B2559"/>
                </a:solidFill>
                <a:latin typeface="Georgia" pitchFamily="34" charset="0"/>
                <a:ea typeface="Georgia" pitchFamily="34" charset="-122"/>
                <a:cs typeface="Georgia" pitchFamily="34" charset="-120"/>
              </a:rPr>
              <a:t> the weather wasn't very good.  (a so · b because · c although)</a:t>
            </a:r>
            <a:endParaRPr lang="en-US" sz="1100" dirty="0"/>
          </a:p>
        </p:txBody>
      </p:sp>
      <p:sp>
        <p:nvSpPr>
          <p:cNvPr id="27" name="R7_lnA133"/>
          <p:cNvSpPr/>
          <p:nvPr/>
        </p:nvSpPr>
        <p:spPr>
          <a:xfrm>
            <a:off x="548640" y="4319667"/>
            <a:ext cx="5349240" cy="389493"/>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15  We had a great time,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c  although</a:t>
            </a:r>
            <a:pPr indent="0" marL="0">
              <a:buNone/>
            </a:pPr>
            <a:r>
              <a:rPr lang="en-US" sz="1100" dirty="0">
                <a:solidFill>
                  <a:srgbClr val="1B2559"/>
                </a:solidFill>
                <a:latin typeface="Georgia" pitchFamily="34" charset="0"/>
                <a:ea typeface="Georgia" pitchFamily="34" charset="-122"/>
                <a:cs typeface="Georgia" pitchFamily="34" charset="-120"/>
              </a:rPr>
              <a:t> the weather wasn't very good.  (a so · b because · c although)</a:t>
            </a:r>
            <a:endParaRPr lang="en-US" sz="1100" dirty="0"/>
          </a:p>
        </p:txBody>
      </p:sp>
      <p:sp>
        <p:nvSpPr>
          <p:cNvPr id="28" name="pf_134"/>
          <p:cNvSpPr/>
          <p:nvPr/>
        </p:nvSpPr>
        <p:spPr>
          <a:xfrm rot="120000">
            <a:off x="6309360" y="1740218"/>
            <a:ext cx="2560320" cy="862965"/>
          </a:xfrm>
          <a:prstGeom prst="roundRect">
            <a:avLst>
              <a:gd name="adj" fmla="val 180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135" descr="/home/claude/lls-course/v2/cache/a2r12_beijing_jpg_594x186_31.png">    </p:cNvPr>
          <p:cNvPicPr>
            <a:picLocks noChangeAspect="1"/>
          </p:cNvPicPr>
          <p:nvPr/>
        </p:nvPicPr>
        <p:blipFill>
          <a:blip r:embed="rId5"/>
          <a:stretch>
            <a:fillRect/>
          </a:stretch>
        </p:blipFill>
        <p:spPr>
          <a:xfrm rot="120000">
            <a:off x="6355080" y="1785938"/>
            <a:ext cx="2468880" cy="771525"/>
          </a:xfrm>
          <a:prstGeom prst="rect">
            <a:avLst/>
          </a:prstGeom>
        </p:spPr>
      </p:pic>
      <p:sp>
        <p:nvSpPr>
          <p:cNvPr id="30" name="cd_136"/>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31" name="ii_13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2" name="ih_13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3" name="il_139"/>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Count your points: ___ / 15</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13+ = excellent!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4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Grammar auction</a:t>
            </a:r>
            <a:endParaRPr lang="en-US" sz="2400" dirty="0"/>
          </a:p>
        </p:txBody>
      </p:sp>
      <p:pic>
        <p:nvPicPr>
          <p:cNvPr id="6" name="brP_143"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144"/>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 have €1,000. Buy the CORRECT sentences!</a:t>
            </a:r>
            <a:endParaRPr lang="en-US" sz="1250" dirty="0"/>
          </a:p>
        </p:txBody>
      </p:sp>
      <p:sp>
        <p:nvSpPr>
          <p:cNvPr id="8" name="insIT_1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Avete 1.000 €. Comprate le frasi GIUSTE!</a:t>
            </a:r>
            <a:endParaRPr lang="en-US" sz="950" dirty="0"/>
          </a:p>
        </p:txBody>
      </p:sp>
      <p:sp>
        <p:nvSpPr>
          <p:cNvPr id="9" name="note_14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250" dirty="0"/>
          </a:p>
        </p:txBody>
      </p:sp>
      <p:pic>
        <p:nvPicPr>
          <p:cNvPr id="10" name="logo_1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Game · grammar auction   ·   📖 Review of Grammar Banks 1A–2C</a:t>
            </a:r>
            <a:endParaRPr lang="en-US" sz="800" dirty="0"/>
          </a:p>
        </p:txBody>
      </p:sp>
      <p:sp>
        <p:nvSpPr>
          <p:cNvPr id="12" name="cd_149"/>
          <p:cNvSpPr/>
          <p:nvPr/>
        </p:nvSpPr>
        <p:spPr>
          <a:xfrm>
            <a:off x="320040" y="1417320"/>
            <a:ext cx="2697480" cy="1917192"/>
          </a:xfrm>
          <a:prstGeom prst="roundRect">
            <a:avLst>
              <a:gd name="adj" fmla="val 66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5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5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152"/>
          <p:cNvSpPr/>
          <p:nvPr/>
        </p:nvSpPr>
        <p:spPr>
          <a:xfrm>
            <a:off x="886968" y="1911096"/>
            <a:ext cx="2039112" cy="13502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Each team has €1,000.</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Bid for the sentences you think are CORRECT.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Most correct sentences wins!</a:t>
            </a:r>
            <a:endParaRPr lang="en-US" sz="1200" dirty="0"/>
          </a:p>
        </p:txBody>
      </p:sp>
      <p:sp>
        <p:nvSpPr>
          <p:cNvPr id="16" name="st_153"/>
          <p:cNvSpPr/>
          <p:nvPr/>
        </p:nvSpPr>
        <p:spPr>
          <a:xfrm rot="-180000">
            <a:off x="502920" y="3517392"/>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154"/>
          <p:cNvSpPr/>
          <p:nvPr/>
        </p:nvSpPr>
        <p:spPr>
          <a:xfrm>
            <a:off x="3246120" y="1423607"/>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8" name="gq_155"/>
          <p:cNvSpPr/>
          <p:nvPr/>
        </p:nvSpPr>
        <p:spPr>
          <a:xfrm>
            <a:off x="3657600" y="1417320"/>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don't like her job.</a:t>
            </a:r>
            <a:endParaRPr lang="en-US" sz="900" dirty="0"/>
          </a:p>
        </p:txBody>
      </p:sp>
      <p:sp>
        <p:nvSpPr>
          <p:cNvPr id="19" name="R1_chip156"/>
          <p:cNvSpPr/>
          <p:nvPr/>
        </p:nvSpPr>
        <p:spPr>
          <a:xfrm>
            <a:off x="6263640" y="141732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 She doesn't like her job.</a:t>
            </a:r>
            <a:endParaRPr lang="en-US" sz="900" dirty="0"/>
          </a:p>
        </p:txBody>
      </p:sp>
      <p:sp>
        <p:nvSpPr>
          <p:cNvPr id="20" name="bd_157"/>
          <p:cNvSpPr/>
          <p:nvPr/>
        </p:nvSpPr>
        <p:spPr>
          <a:xfrm>
            <a:off x="3246120" y="1829372"/>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gq_158"/>
          <p:cNvSpPr/>
          <p:nvPr/>
        </p:nvSpPr>
        <p:spPr>
          <a:xfrm>
            <a:off x="3657600" y="1823085"/>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are you wearing today?</a:t>
            </a:r>
            <a:endParaRPr lang="en-US" sz="900" dirty="0"/>
          </a:p>
        </p:txBody>
      </p:sp>
      <p:sp>
        <p:nvSpPr>
          <p:cNvPr id="22" name="R2_chip159"/>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 now → present continuous</a:t>
            </a:r>
            <a:endParaRPr lang="en-US" sz="900" dirty="0"/>
          </a:p>
        </p:txBody>
      </p:sp>
      <p:sp>
        <p:nvSpPr>
          <p:cNvPr id="23" name="bd_160"/>
          <p:cNvSpPr/>
          <p:nvPr/>
        </p:nvSpPr>
        <p:spPr>
          <a:xfrm>
            <a:off x="3246120" y="2235137"/>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gq_161"/>
          <p:cNvSpPr/>
          <p:nvPr/>
        </p:nvSpPr>
        <p:spPr>
          <a:xfrm>
            <a:off x="3657600" y="2228850"/>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I'm not knowing his name.</a:t>
            </a:r>
            <a:endParaRPr lang="en-US" sz="900" dirty="0"/>
          </a:p>
        </p:txBody>
      </p:sp>
      <p:sp>
        <p:nvSpPr>
          <p:cNvPr id="25" name="R3_chip162"/>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 I don't know his name. (no -ing)</a:t>
            </a:r>
            <a:endParaRPr lang="en-US" sz="900" dirty="0"/>
          </a:p>
        </p:txBody>
      </p:sp>
      <p:sp>
        <p:nvSpPr>
          <p:cNvPr id="26" name="bd_163"/>
          <p:cNvSpPr/>
          <p:nvPr/>
        </p:nvSpPr>
        <p:spPr>
          <a:xfrm>
            <a:off x="3246120" y="2640901"/>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gq_164"/>
          <p:cNvSpPr/>
          <p:nvPr/>
        </p:nvSpPr>
        <p:spPr>
          <a:xfrm>
            <a:off x="3657600" y="2634615"/>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Where did you stay last summer?</a:t>
            </a:r>
            <a:endParaRPr lang="en-US" sz="900" dirty="0"/>
          </a:p>
        </p:txBody>
      </p:sp>
      <p:sp>
        <p:nvSpPr>
          <p:cNvPr id="28" name="R4_chip165"/>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 past simple question</a:t>
            </a:r>
            <a:endParaRPr lang="en-US" sz="900" dirty="0"/>
          </a:p>
        </p:txBody>
      </p:sp>
      <p:sp>
        <p:nvSpPr>
          <p:cNvPr id="29" name="bd_166"/>
          <p:cNvSpPr/>
          <p:nvPr/>
        </p:nvSpPr>
        <p:spPr>
          <a:xfrm>
            <a:off x="3246120" y="3046667"/>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gq_167"/>
          <p:cNvSpPr/>
          <p:nvPr/>
        </p:nvSpPr>
        <p:spPr>
          <a:xfrm>
            <a:off x="3657600" y="3040380"/>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 was having a shower when the phone rang.</a:t>
            </a:r>
            <a:endParaRPr lang="en-US" sz="900" dirty="0"/>
          </a:p>
        </p:txBody>
      </p:sp>
      <p:sp>
        <p:nvSpPr>
          <p:cNvPr id="31" name="R5_chip168"/>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 past continuous + past simple</a:t>
            </a:r>
            <a:endParaRPr lang="en-US" sz="900" dirty="0"/>
          </a:p>
        </p:txBody>
      </p:sp>
      <p:sp>
        <p:nvSpPr>
          <p:cNvPr id="32" name="bd_169"/>
          <p:cNvSpPr/>
          <p:nvPr/>
        </p:nvSpPr>
        <p:spPr>
          <a:xfrm>
            <a:off x="3246120" y="3452432"/>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gq_170"/>
          <p:cNvSpPr/>
          <p:nvPr/>
        </p:nvSpPr>
        <p:spPr>
          <a:xfrm>
            <a:off x="3657600" y="3446145"/>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We didn't went out last night.</a:t>
            </a:r>
            <a:endParaRPr lang="en-US" sz="900" dirty="0"/>
          </a:p>
        </p:txBody>
      </p:sp>
      <p:sp>
        <p:nvSpPr>
          <p:cNvPr id="34" name="R6_chip171"/>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 We didn't go out.</a:t>
            </a:r>
            <a:endParaRPr lang="en-US" sz="900" dirty="0"/>
          </a:p>
        </p:txBody>
      </p:sp>
      <p:sp>
        <p:nvSpPr>
          <p:cNvPr id="35" name="bd_172"/>
          <p:cNvSpPr/>
          <p:nvPr/>
        </p:nvSpPr>
        <p:spPr>
          <a:xfrm>
            <a:off x="3246120" y="385819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6" name="gq_173"/>
          <p:cNvSpPr/>
          <p:nvPr/>
        </p:nvSpPr>
        <p:spPr>
          <a:xfrm>
            <a:off x="3657600" y="3851910"/>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Although it was cold, we went to the beach.</a:t>
            </a:r>
            <a:endParaRPr lang="en-US" sz="900" dirty="0"/>
          </a:p>
        </p:txBody>
      </p:sp>
      <p:sp>
        <p:nvSpPr>
          <p:cNvPr id="37" name="R7_chip174"/>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 contrast</a:t>
            </a:r>
            <a:endParaRPr lang="en-US" sz="900" dirty="0"/>
          </a:p>
        </p:txBody>
      </p:sp>
      <p:sp>
        <p:nvSpPr>
          <p:cNvPr id="38" name="bd_175"/>
          <p:cNvSpPr/>
          <p:nvPr/>
        </p:nvSpPr>
        <p:spPr>
          <a:xfrm>
            <a:off x="3246120" y="426396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39" name="gq_176"/>
          <p:cNvSpPr/>
          <p:nvPr/>
        </p:nvSpPr>
        <p:spPr>
          <a:xfrm>
            <a:off x="3657600" y="4257675"/>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He was walk to work when he saw her.</a:t>
            </a:r>
            <a:endParaRPr lang="en-US" sz="900" dirty="0"/>
          </a:p>
        </p:txBody>
      </p:sp>
      <p:sp>
        <p:nvSpPr>
          <p:cNvPr id="40" name="R8_chip177"/>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 He was walking…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9"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180"/>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verb?</a:t>
            </a:r>
            <a:endParaRPr lang="en-US" sz="2500" dirty="0"/>
          </a:p>
        </p:txBody>
      </p:sp>
      <p:pic>
        <p:nvPicPr>
          <p:cNvPr id="6" name="brP_181"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182"/>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phrases with a verb from the box.</a:t>
            </a:r>
            <a:endParaRPr lang="en-US" sz="1250" dirty="0"/>
          </a:p>
        </p:txBody>
      </p:sp>
      <p:sp>
        <p:nvSpPr>
          <p:cNvPr id="8" name="insIT_1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frasi con un verbo del riquadro.</a:t>
            </a:r>
            <a:endParaRPr lang="en-US" sz="950" dirty="0"/>
          </a:p>
        </p:txBody>
      </p:sp>
      <p:sp>
        <p:nvSpPr>
          <p:cNvPr id="9" name="note_18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150" dirty="0"/>
          </a:p>
        </p:txBody>
      </p:sp>
      <p:pic>
        <p:nvPicPr>
          <p:cNvPr id="10" name="logo_1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Vocabulary a · SB p.20   ·   📖 SB p.20 · Vocabulary a (TG key)</a:t>
            </a:r>
            <a:endParaRPr lang="en-US" sz="800" dirty="0"/>
          </a:p>
        </p:txBody>
      </p:sp>
      <p:sp>
        <p:nvSpPr>
          <p:cNvPr id="12" name="cd_187"/>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188"/>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(8)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(9)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14" name="R1_rdA18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(8)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(9)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15" name="R2_rdA190"/>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wear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(8)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(9)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16" name="R3_rdA191"/>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wear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take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(8)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(9)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17" name="R4_rdA192"/>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wear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take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stay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(8)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(9)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18" name="R5_rdA193"/>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wear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take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stay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book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(8)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(9)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19" name="R6_rdA194"/>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wear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take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stay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book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(7) invite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(8)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(9)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20" name="R7_rdA19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wear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take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stay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book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(7) invite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(8) drive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(9)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21" name="R8_rdA19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wear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take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stay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book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(7) invite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(8) drive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(9) play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(10)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22" name="R9_rdA19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Complete the phrases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A What do you</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do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I'm a doctor.</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A What does she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look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like?  B She's tall and slim.</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She doesn't usually</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wear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jewellery, only her wedding ring.</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4 A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take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any photos?  B No, I didn't.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5 A Where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stay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 In a small hotel.</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6 Did you</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book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flight online?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7 A Let's</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(7) invite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your parents to dinner.  B Good idea.</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8 A Are you going to</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(8) drive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there?  B No, we're going to get the train.</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9 A Go on! Ask the DJ to</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(9) play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our song!  B OK.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10 A What time do we need to</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(10) leave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home tomorrow?  B About 6.00. Our flight is at 9.00.</a:t>
            </a:r>
            <a:endParaRPr lang="en-US" sz="950" dirty="0"/>
          </a:p>
        </p:txBody>
      </p:sp>
      <p:sp>
        <p:nvSpPr>
          <p:cNvPr id="23" name="cd_198"/>
          <p:cNvSpPr/>
          <p:nvPr/>
        </p:nvSpPr>
        <p:spPr>
          <a:xfrm>
            <a:off x="6263640" y="1417320"/>
            <a:ext cx="2606040" cy="1613408"/>
          </a:xfrm>
          <a:prstGeom prst="roundRect">
            <a:avLst>
              <a:gd name="adj" fmla="val 793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199"/>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00"/>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verbs</a:t>
            </a:r>
            <a:endParaRPr lang="en-US" sz="1300" dirty="0"/>
          </a:p>
        </p:txBody>
      </p:sp>
      <p:sp>
        <p:nvSpPr>
          <p:cNvPr id="26" name="il_201"/>
          <p:cNvSpPr/>
          <p:nvPr/>
        </p:nvSpPr>
        <p:spPr>
          <a:xfrm>
            <a:off x="6830568" y="1911096"/>
            <a:ext cx="1947672" cy="1046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book · do · drive · invite · leave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look · play · stay · take · wear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00"/>
                                        <p:tgtEl>
                                          <p:spTgt spid="1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00"/>
                                        <p:tgtEl>
                                          <p:spTgt spid="2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4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20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in or on?</a:t>
            </a:r>
            <a:endParaRPr lang="en-US" sz="2500" dirty="0"/>
          </a:p>
        </p:txBody>
      </p:sp>
      <p:pic>
        <p:nvPicPr>
          <p:cNvPr id="6" name="brP_205"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06"/>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at, in or on.</a:t>
            </a:r>
            <a:endParaRPr lang="en-US" sz="1250" dirty="0"/>
          </a:p>
        </p:txBody>
      </p:sp>
      <p:sp>
        <p:nvSpPr>
          <p:cNvPr id="8" name="insIT_2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at, in o on.</a:t>
            </a:r>
            <a:endParaRPr lang="en-US" sz="950" dirty="0"/>
          </a:p>
        </p:txBody>
      </p:sp>
      <p:sp>
        <p:nvSpPr>
          <p:cNvPr id="9" name="note_2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150" dirty="0"/>
          </a:p>
        </p:txBody>
      </p:sp>
      <p:pic>
        <p:nvPicPr>
          <p:cNvPr id="10" name="logo_2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Vocabulary b · SB p.20   ·   📖 SB p.20 · Vocabulary b (TG key)</a:t>
            </a:r>
            <a:endParaRPr lang="en-US" sz="800" dirty="0"/>
          </a:p>
        </p:txBody>
      </p:sp>
      <p:sp>
        <p:nvSpPr>
          <p:cNvPr id="12" name="cd_211"/>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212"/>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650" b="1" dirty="0">
                <a:solidFill>
                  <a:srgbClr val="1F6F43"/>
                </a:solidFill>
                <a:latin typeface="Georgia" pitchFamily="34" charset="0"/>
                <a:ea typeface="Georgia" pitchFamily="34" charset="-122"/>
                <a:cs typeface="Georgia" pitchFamily="34" charset="-120"/>
              </a:rPr>
              <a:t>at · in · on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 The meeting is</a:t>
            </a:r>
            <a:pPr indent="0" marL="0">
              <a:lnSpc>
                <a:spcPct val="105000"/>
              </a:lnSpc>
              <a:spcAft>
                <a:spcPts val="700"/>
              </a:spcAft>
              <a:buNone/>
            </a:pPr>
            <a:r>
              <a:rPr lang="en-US" sz="1150" b="1" dirty="0">
                <a:solidFill>
                  <a:srgbClr val="7B5CD6"/>
                </a:solidFill>
                <a:highlight>
                  <a:srgbClr val="EEE8FB"/>
                </a:highlight>
                <a:latin typeface="Georgia" pitchFamily="34" charset="0"/>
                <a:ea typeface="Georgia" pitchFamily="34" charset="-122"/>
                <a:cs typeface="Georgia" pitchFamily="34" charset="-120"/>
              </a:rPr>
              <a:t> (1)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13th March.</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 A Where's Mum?  B She's</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kitchen.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3 He was born</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1989.</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4 A Where's the dictionary?  B It's</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shelf in my room.</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5 Mark's not back yet – he's still</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school.</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6 It's a very quiet town, especially</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night.</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7 We went on holiday to Iceland</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2017.</a:t>
            </a:r>
            <a:endParaRPr lang="en-US" sz="1150" dirty="0"/>
          </a:p>
        </p:txBody>
      </p:sp>
      <p:sp>
        <p:nvSpPr>
          <p:cNvPr id="14" name="R1_rdA213"/>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650" b="1" dirty="0">
                <a:solidFill>
                  <a:srgbClr val="1F6F43"/>
                </a:solidFill>
                <a:latin typeface="Georgia" pitchFamily="34" charset="0"/>
                <a:ea typeface="Georgia" pitchFamily="34" charset="-122"/>
                <a:cs typeface="Georgia" pitchFamily="34" charset="-120"/>
              </a:rPr>
              <a:t>at · in · on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 The meeting is</a:t>
            </a:r>
            <a:pPr indent="0" marL="0">
              <a:lnSpc>
                <a:spcPct val="105000"/>
              </a:lnSpc>
              <a:spcAft>
                <a:spcPts val="700"/>
              </a:spcAft>
              <a:buNone/>
            </a:pPr>
            <a:r>
              <a:rPr lang="en-US" sz="1150" b="1" dirty="0">
                <a:solidFill>
                  <a:srgbClr val="7B5CD6"/>
                </a:solidFill>
                <a:highlight>
                  <a:srgbClr val="EEE8FB"/>
                </a:highlight>
                <a:latin typeface="Georgia" pitchFamily="34" charset="0"/>
                <a:ea typeface="Georgia" pitchFamily="34" charset="-122"/>
                <a:cs typeface="Georgia" pitchFamily="34" charset="-120"/>
              </a:rPr>
              <a:t> (1)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13th March.</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 A Where's Mum?  B She's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(2)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kitchen.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3 He was born</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1989.</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4 A Where's the dictionary?  B It's</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shelf in my room.</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5 Mark's not back yet – he's still</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school.</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6 It's a very quiet town, especially</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night.</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7 We went on holiday to Iceland</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2017.</a:t>
            </a:r>
            <a:endParaRPr lang="en-US" sz="1150" dirty="0"/>
          </a:p>
        </p:txBody>
      </p:sp>
      <p:sp>
        <p:nvSpPr>
          <p:cNvPr id="15" name="R2_rdA214"/>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650" b="1" dirty="0">
                <a:solidFill>
                  <a:srgbClr val="1F6F43"/>
                </a:solidFill>
                <a:latin typeface="Georgia" pitchFamily="34" charset="0"/>
                <a:ea typeface="Georgia" pitchFamily="34" charset="-122"/>
                <a:cs typeface="Georgia" pitchFamily="34" charset="-120"/>
              </a:rPr>
              <a:t>at · in · on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 The meeting is</a:t>
            </a:r>
            <a:pPr indent="0" marL="0">
              <a:lnSpc>
                <a:spcPct val="105000"/>
              </a:lnSpc>
              <a:spcAft>
                <a:spcPts val="700"/>
              </a:spcAft>
              <a:buNone/>
            </a:pPr>
            <a:r>
              <a:rPr lang="en-US" sz="1150" b="1" dirty="0">
                <a:solidFill>
                  <a:srgbClr val="7B5CD6"/>
                </a:solidFill>
                <a:highlight>
                  <a:srgbClr val="EEE8FB"/>
                </a:highlight>
                <a:latin typeface="Georgia" pitchFamily="34" charset="0"/>
                <a:ea typeface="Georgia" pitchFamily="34" charset="-122"/>
                <a:cs typeface="Georgia" pitchFamily="34" charset="-120"/>
              </a:rPr>
              <a:t> (1)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13th March.</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 A Where's Mum?  B She's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(2)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kitchen.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3 He was born</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(3)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1989.</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4 A Where's the dictionary?  B It's</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shelf in my room.</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5 Mark's not back yet – he's still</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school.</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6 It's a very quiet town, especially</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night.</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7 We went on holiday to Iceland</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2017.</a:t>
            </a:r>
            <a:endParaRPr lang="en-US" sz="1150" dirty="0"/>
          </a:p>
        </p:txBody>
      </p:sp>
      <p:sp>
        <p:nvSpPr>
          <p:cNvPr id="16" name="R3_rdA21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650" b="1" dirty="0">
                <a:solidFill>
                  <a:srgbClr val="1F6F43"/>
                </a:solidFill>
                <a:latin typeface="Georgia" pitchFamily="34" charset="0"/>
                <a:ea typeface="Georgia" pitchFamily="34" charset="-122"/>
                <a:cs typeface="Georgia" pitchFamily="34" charset="-120"/>
              </a:rPr>
              <a:t>at · in · on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 The meeting is</a:t>
            </a:r>
            <a:pPr indent="0" marL="0">
              <a:lnSpc>
                <a:spcPct val="105000"/>
              </a:lnSpc>
              <a:spcAft>
                <a:spcPts val="700"/>
              </a:spcAft>
              <a:buNone/>
            </a:pPr>
            <a:r>
              <a:rPr lang="en-US" sz="1150" b="1" dirty="0">
                <a:solidFill>
                  <a:srgbClr val="7B5CD6"/>
                </a:solidFill>
                <a:highlight>
                  <a:srgbClr val="EEE8FB"/>
                </a:highlight>
                <a:latin typeface="Georgia" pitchFamily="34" charset="0"/>
                <a:ea typeface="Georgia" pitchFamily="34" charset="-122"/>
                <a:cs typeface="Georgia" pitchFamily="34" charset="-120"/>
              </a:rPr>
              <a:t> (1)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13th March.</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 A Where's Mum?  B She's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(2)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kitchen.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3 He was born</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(3)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1989.</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4 A Where's the dictionary?  B It's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(4)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shelf in my room.</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5 Mark's not back yet – he's still</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school.</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6 It's a very quiet town, especially</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night.</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7 We went on holiday to Iceland</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2017.</a:t>
            </a:r>
            <a:endParaRPr lang="en-US" sz="1150" dirty="0"/>
          </a:p>
        </p:txBody>
      </p:sp>
      <p:sp>
        <p:nvSpPr>
          <p:cNvPr id="17" name="R4_rdA21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650" b="1" dirty="0">
                <a:solidFill>
                  <a:srgbClr val="1F6F43"/>
                </a:solidFill>
                <a:latin typeface="Georgia" pitchFamily="34" charset="0"/>
                <a:ea typeface="Georgia" pitchFamily="34" charset="-122"/>
                <a:cs typeface="Georgia" pitchFamily="34" charset="-120"/>
              </a:rPr>
              <a:t>at · in · on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 The meeting is</a:t>
            </a:r>
            <a:pPr indent="0" marL="0">
              <a:lnSpc>
                <a:spcPct val="105000"/>
              </a:lnSpc>
              <a:spcAft>
                <a:spcPts val="700"/>
              </a:spcAft>
              <a:buNone/>
            </a:pPr>
            <a:r>
              <a:rPr lang="en-US" sz="1150" b="1" dirty="0">
                <a:solidFill>
                  <a:srgbClr val="7B5CD6"/>
                </a:solidFill>
                <a:highlight>
                  <a:srgbClr val="EEE8FB"/>
                </a:highlight>
                <a:latin typeface="Georgia" pitchFamily="34" charset="0"/>
                <a:ea typeface="Georgia" pitchFamily="34" charset="-122"/>
                <a:cs typeface="Georgia" pitchFamily="34" charset="-120"/>
              </a:rPr>
              <a:t> (1)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13th March.</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 A Where's Mum?  B She's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(2)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kitchen.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3 He was born</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(3)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1989.</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4 A Where's the dictionary?  B It's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(4)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shelf in my room.</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5 Mark's not back yet – he's still</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(5) at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school.</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6 It's a very quiet town, especially</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night.</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7 We went on holiday to Iceland</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2017.</a:t>
            </a:r>
            <a:endParaRPr lang="en-US" sz="1150" dirty="0"/>
          </a:p>
        </p:txBody>
      </p:sp>
      <p:sp>
        <p:nvSpPr>
          <p:cNvPr id="18" name="R5_rdA21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650" b="1" dirty="0">
                <a:solidFill>
                  <a:srgbClr val="1F6F43"/>
                </a:solidFill>
                <a:latin typeface="Georgia" pitchFamily="34" charset="0"/>
                <a:ea typeface="Georgia" pitchFamily="34" charset="-122"/>
                <a:cs typeface="Georgia" pitchFamily="34" charset="-120"/>
              </a:rPr>
              <a:t>at · in · on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 The meeting is</a:t>
            </a:r>
            <a:pPr indent="0" marL="0">
              <a:lnSpc>
                <a:spcPct val="105000"/>
              </a:lnSpc>
              <a:spcAft>
                <a:spcPts val="700"/>
              </a:spcAft>
              <a:buNone/>
            </a:pPr>
            <a:r>
              <a:rPr lang="en-US" sz="1150" b="1" dirty="0">
                <a:solidFill>
                  <a:srgbClr val="7B5CD6"/>
                </a:solidFill>
                <a:highlight>
                  <a:srgbClr val="EEE8FB"/>
                </a:highlight>
                <a:latin typeface="Georgia" pitchFamily="34" charset="0"/>
                <a:ea typeface="Georgia" pitchFamily="34" charset="-122"/>
                <a:cs typeface="Georgia" pitchFamily="34" charset="-120"/>
              </a:rPr>
              <a:t> (1)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13th March.</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 A Where's Mum?  B She's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(2)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kitchen.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3 He was born</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(3)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1989.</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4 A Where's the dictionary?  B It's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(4)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shelf in my room.</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5 Mark's not back yet – he's still</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(5) at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school.</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6 It's a very quiet town, especially</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(6) at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night.</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7 We went on holiday to Iceland</a:t>
            </a:r>
            <a:pPr indent="0" marL="0">
              <a:lnSpc>
                <a:spcPct val="105000"/>
              </a:lnSpc>
              <a:spcAft>
                <a:spcPts val="700"/>
              </a:spcAft>
              <a:buNone/>
            </a:pPr>
            <a:r>
              <a:rPr lang="en-US" sz="1150" b="1" dirty="0">
                <a:solidFill>
                  <a:srgbClr val="2EB872"/>
                </a:solidFill>
                <a:latin typeface="Georgia" pitchFamily="34" charset="0"/>
                <a:ea typeface="Georgia" pitchFamily="34" charset="-122"/>
                <a:cs typeface="Georgia" pitchFamily="34" charset="-120"/>
              </a:rPr>
              <a:t> (7) ________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2017.</a:t>
            </a:r>
            <a:endParaRPr lang="en-US" sz="1150" dirty="0"/>
          </a:p>
        </p:txBody>
      </p:sp>
      <p:sp>
        <p:nvSpPr>
          <p:cNvPr id="19" name="R6_rdA21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650" b="1" dirty="0">
                <a:solidFill>
                  <a:srgbClr val="1F6F43"/>
                </a:solidFill>
                <a:latin typeface="Georgia" pitchFamily="34" charset="0"/>
                <a:ea typeface="Georgia" pitchFamily="34" charset="-122"/>
                <a:cs typeface="Georgia" pitchFamily="34" charset="-120"/>
              </a:rPr>
              <a:t>at · in · on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 The meeting is</a:t>
            </a:r>
            <a:pPr indent="0" marL="0">
              <a:lnSpc>
                <a:spcPct val="105000"/>
              </a:lnSpc>
              <a:spcAft>
                <a:spcPts val="700"/>
              </a:spcAft>
              <a:buNone/>
            </a:pPr>
            <a:r>
              <a:rPr lang="en-US" sz="1150" b="1" dirty="0">
                <a:solidFill>
                  <a:srgbClr val="7B5CD6"/>
                </a:solidFill>
                <a:highlight>
                  <a:srgbClr val="EEE8FB"/>
                </a:highlight>
                <a:latin typeface="Georgia" pitchFamily="34" charset="0"/>
                <a:ea typeface="Georgia" pitchFamily="34" charset="-122"/>
                <a:cs typeface="Georgia" pitchFamily="34" charset="-120"/>
              </a:rPr>
              <a:t> (1)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13th March.</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 A Where's Mum?  B She's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(2)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kitchen.</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3 He was born</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(3)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1989.</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4 A Where's the dictionary?  B It's</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(4) on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the shelf in my room.</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5 Mark's not back yet – he's still</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(5) at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school.</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6 It's a very quiet town, especially</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(6) at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night.</a:t>
            </a:r>
            <a:endParaRPr lang="en-US" sz="1150" dirty="0"/>
          </a:p>
          <a:p>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7 We went on holiday to Iceland</a:t>
            </a:r>
            <a:pPr indent="0" marL="0">
              <a:lnSpc>
                <a:spcPct val="105000"/>
              </a:lnSpc>
              <a:spcAft>
                <a:spcPts val="700"/>
              </a:spcAft>
              <a:buNone/>
            </a:pPr>
            <a:r>
              <a:rPr lang="en-US" sz="1150" b="1" dirty="0">
                <a:solidFill>
                  <a:srgbClr val="1B2559"/>
                </a:solidFill>
                <a:highlight>
                  <a:srgbClr val="FFE066"/>
                </a:highlight>
                <a:latin typeface="Georgia" pitchFamily="34" charset="0"/>
                <a:ea typeface="Georgia" pitchFamily="34" charset="-122"/>
                <a:cs typeface="Georgia" pitchFamily="34" charset="-120"/>
              </a:rPr>
              <a:t> (7) in </a:t>
            </a:r>
            <a:pPr indent="0" marL="0">
              <a:lnSpc>
                <a:spcPct val="105000"/>
              </a:lnSpc>
              <a:spcAft>
                <a:spcPts val="700"/>
              </a:spcAft>
              <a:buNone/>
            </a:pPr>
            <a:r>
              <a:rPr lang="en-US" sz="1150" dirty="0">
                <a:solidFill>
                  <a:srgbClr val="1B2559"/>
                </a:solidFill>
                <a:latin typeface="Georgia" pitchFamily="34" charset="0"/>
                <a:ea typeface="Georgia" pitchFamily="34" charset="-122"/>
                <a:cs typeface="Georgia" pitchFamily="34" charset="-120"/>
              </a:rPr>
              <a:t>2017.</a:t>
            </a:r>
            <a:endParaRPr lang="en-US" sz="1150" dirty="0"/>
          </a:p>
        </p:txBody>
      </p:sp>
      <p:sp>
        <p:nvSpPr>
          <p:cNvPr id="20" name="cd_219"/>
          <p:cNvSpPr/>
          <p:nvPr/>
        </p:nvSpPr>
        <p:spPr>
          <a:xfrm>
            <a:off x="6263640" y="1417320"/>
            <a:ext cx="2606040" cy="1876552"/>
          </a:xfrm>
          <a:prstGeom prst="roundRect">
            <a:avLst>
              <a:gd name="adj" fmla="val 682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1" name="ii_220"/>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221"/>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23" name="il_222"/>
          <p:cNvSpPr/>
          <p:nvPr/>
        </p:nvSpPr>
        <p:spPr>
          <a:xfrm>
            <a:off x="6830568" y="1911096"/>
            <a:ext cx="1947672" cy="130962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 + day / date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 month / year / room</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at + night / school / home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4"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225"/>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22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2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which word is different? Say WHY!</a:t>
            </a:r>
            <a:endParaRPr lang="en-US" sz="1250" dirty="0"/>
          </a:p>
        </p:txBody>
      </p:sp>
      <p:sp>
        <p:nvSpPr>
          <p:cNvPr id="8" name="insIT_2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quale parola è diversa? Dite PERCHÉ!</a:t>
            </a:r>
            <a:endParaRPr lang="en-US" sz="950" dirty="0"/>
          </a:p>
        </p:txBody>
      </p:sp>
      <p:sp>
        <p:nvSpPr>
          <p:cNvPr id="9" name="note_22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Vocabulary c · odd one out   ·   📖 SB p.20 · Vocabulary c (TG key)</a:t>
            </a:r>
            <a:endParaRPr lang="en-US" sz="800" dirty="0"/>
          </a:p>
        </p:txBody>
      </p:sp>
      <p:sp>
        <p:nvSpPr>
          <p:cNvPr id="12" name="cd_232"/>
          <p:cNvSpPr/>
          <p:nvPr/>
        </p:nvSpPr>
        <p:spPr>
          <a:xfrm>
            <a:off x="320040" y="1417320"/>
            <a:ext cx="2697480" cy="1722120"/>
          </a:xfrm>
          <a:prstGeom prst="roundRect">
            <a:avLst>
              <a:gd name="adj" fmla="val 7434"/>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3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35"/>
          <p:cNvSpPr/>
          <p:nvPr/>
        </p:nvSpPr>
        <p:spPr>
          <a:xfrm>
            <a:off x="886968" y="1911096"/>
            <a:ext cx="2039112" cy="1155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4 words.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Find the different one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why = 1 more point!</a:t>
            </a:r>
            <a:endParaRPr lang="en-US" sz="1200" dirty="0"/>
          </a:p>
        </p:txBody>
      </p:sp>
      <p:sp>
        <p:nvSpPr>
          <p:cNvPr id="16" name="st_236"/>
          <p:cNvSpPr/>
          <p:nvPr/>
        </p:nvSpPr>
        <p:spPr>
          <a:xfrm rot="-180000">
            <a:off x="502920" y="3322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237"/>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238"/>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straight · long · curly · beard</a:t>
            </a:r>
            <a:endParaRPr lang="en-US" sz="900" dirty="0"/>
          </a:p>
        </p:txBody>
      </p:sp>
      <p:sp>
        <p:nvSpPr>
          <p:cNvPr id="19" name="chip_239"/>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beard (the others describe hair)</a:t>
            </a:r>
            <a:endParaRPr lang="en-US" sz="900" dirty="0"/>
          </a:p>
        </p:txBody>
      </p:sp>
      <p:sp>
        <p:nvSpPr>
          <p:cNvPr id="20" name="bd_240"/>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241"/>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kind · lazy · generous · funny</a:t>
            </a:r>
            <a:endParaRPr lang="en-US" sz="900" dirty="0"/>
          </a:p>
        </p:txBody>
      </p:sp>
      <p:sp>
        <p:nvSpPr>
          <p:cNvPr id="22" name="R1_chip242"/>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lazy (the others are positive)</a:t>
            </a:r>
            <a:endParaRPr lang="en-US" sz="900" dirty="0"/>
          </a:p>
        </p:txBody>
      </p:sp>
      <p:sp>
        <p:nvSpPr>
          <p:cNvPr id="23" name="bd_243"/>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244"/>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clever · mean · unfriendly · unkind</a:t>
            </a:r>
            <a:endParaRPr lang="en-US" sz="900" dirty="0"/>
          </a:p>
        </p:txBody>
      </p:sp>
      <p:sp>
        <p:nvSpPr>
          <p:cNvPr id="25" name="R2_chip245"/>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clever (the others are negative)</a:t>
            </a:r>
            <a:endParaRPr lang="en-US" sz="900" dirty="0"/>
          </a:p>
        </p:txBody>
      </p:sp>
      <p:sp>
        <p:nvSpPr>
          <p:cNvPr id="26" name="bd_246"/>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247"/>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dress · shirt · tie · jacket</a:t>
            </a:r>
            <a:endParaRPr lang="en-US" sz="900" dirty="0"/>
          </a:p>
        </p:txBody>
      </p:sp>
      <p:sp>
        <p:nvSpPr>
          <p:cNvPr id="28" name="R3_chip248"/>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dress (the others are worn by men)</a:t>
            </a:r>
            <a:endParaRPr lang="en-US" sz="900" dirty="0"/>
          </a:p>
        </p:txBody>
      </p:sp>
      <p:sp>
        <p:nvSpPr>
          <p:cNvPr id="29" name="bd_249"/>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250"/>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socks · gloves · trainers · sandals</a:t>
            </a:r>
            <a:endParaRPr lang="en-US" sz="900" dirty="0"/>
          </a:p>
        </p:txBody>
      </p:sp>
      <p:sp>
        <p:nvSpPr>
          <p:cNvPr id="31" name="R4_chip251"/>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gloves (the others are for your feet)</a:t>
            </a:r>
            <a:endParaRPr lang="en-US" sz="900" dirty="0"/>
          </a:p>
        </p:txBody>
      </p:sp>
      <p:sp>
        <p:nvSpPr>
          <p:cNvPr id="32" name="bd_252"/>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253"/>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necklace · bracelet · ring · scarf</a:t>
            </a:r>
            <a:endParaRPr lang="en-US" sz="900" dirty="0"/>
          </a:p>
        </p:txBody>
      </p:sp>
      <p:sp>
        <p:nvSpPr>
          <p:cNvPr id="34" name="R5_chip254"/>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scarf (the others are jewellery)</a:t>
            </a:r>
            <a:endParaRPr lang="en-US" sz="900" dirty="0"/>
          </a:p>
        </p:txBody>
      </p:sp>
      <p:sp>
        <p:nvSpPr>
          <p:cNvPr id="35" name="bd_255"/>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256"/>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windy · foggy · noisy · sunny</a:t>
            </a:r>
            <a:endParaRPr lang="en-US" sz="900" dirty="0"/>
          </a:p>
        </p:txBody>
      </p:sp>
      <p:sp>
        <p:nvSpPr>
          <p:cNvPr id="37" name="R6_chip257"/>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noisy (the others are weather)</a:t>
            </a:r>
            <a:endParaRPr lang="en-US" sz="900" dirty="0"/>
          </a:p>
        </p:txBody>
      </p:sp>
      <p:sp>
        <p:nvSpPr>
          <p:cNvPr id="38" name="bd_258"/>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259"/>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basic · dirty · luxurious · uncomfortable</a:t>
            </a:r>
            <a:endParaRPr lang="en-US" sz="900" dirty="0"/>
          </a:p>
        </p:txBody>
      </p:sp>
      <p:sp>
        <p:nvSpPr>
          <p:cNvPr id="40" name="R7_chip260"/>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luxurious (the others are negative)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6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Which sound?</a:t>
            </a:r>
            <a:endParaRPr lang="en-US" sz="2400" dirty="0"/>
          </a:p>
        </p:txBody>
      </p:sp>
      <p:pic>
        <p:nvPicPr>
          <p:cNvPr id="6" name="brP_264"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65"/>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sound are the pink letters?</a:t>
            </a:r>
            <a:endParaRPr lang="en-US" sz="1250" dirty="0"/>
          </a:p>
        </p:txBody>
      </p:sp>
      <p:sp>
        <p:nvSpPr>
          <p:cNvPr id="8" name="insIT_2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le parole. Che suono hanno le lettere rosa?</a:t>
            </a:r>
            <a:endParaRPr lang="en-US" sz="950" dirty="0"/>
          </a:p>
        </p:txBody>
      </p:sp>
      <p:sp>
        <p:nvSpPr>
          <p:cNvPr id="9" name="note_26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Guided discovery</a:t>
            </a:r>
            <a:endParaRPr lang="en-US" sz="1150" dirty="0"/>
          </a:p>
        </p:txBody>
      </p:sp>
      <p:pic>
        <p:nvPicPr>
          <p:cNvPr id="10" name="logo_2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Pronunciation c · sounds   ·   📖 SB p.20 · Pronunciation a, c (Sound Bank pp.166–167)</a:t>
            </a:r>
            <a:endParaRPr lang="en-US" sz="800" dirty="0"/>
          </a:p>
        </p:txBody>
      </p:sp>
      <p:sp>
        <p:nvSpPr>
          <p:cNvPr id="12" name="cd_270"/>
          <p:cNvSpPr/>
          <p:nvPr/>
        </p:nvSpPr>
        <p:spPr>
          <a:xfrm>
            <a:off x="320040" y="1417320"/>
            <a:ext cx="2697480" cy="2679192"/>
          </a:xfrm>
          <a:prstGeom prst="roundRect">
            <a:avLst>
              <a:gd name="adj" fmla="val 47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7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sounds</a:t>
            </a:r>
            <a:endParaRPr lang="en-US" sz="1300" dirty="0"/>
          </a:p>
        </p:txBody>
      </p:sp>
      <p:sp>
        <p:nvSpPr>
          <p:cNvPr id="15" name="lg_273"/>
          <p:cNvSpPr/>
          <p:nvPr/>
        </p:nvSpPr>
        <p:spPr>
          <a:xfrm>
            <a:off x="457200" y="1984248"/>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tree /iː/</a:t>
            </a:r>
            <a:endParaRPr lang="en-US" sz="1050" dirty="0"/>
          </a:p>
        </p:txBody>
      </p:sp>
      <p:sp>
        <p:nvSpPr>
          <p:cNvPr id="16" name="lg_274"/>
          <p:cNvSpPr/>
          <p:nvPr/>
        </p:nvSpPr>
        <p:spPr>
          <a:xfrm>
            <a:off x="1719072" y="1984248"/>
            <a:ext cx="1188720" cy="310896"/>
          </a:xfrm>
          <a:prstGeom prst="roundRect">
            <a:avLst>
              <a:gd name="adj" fmla="val 50000"/>
            </a:avLst>
          </a:prstGeom>
          <a:solidFill>
            <a:srgbClr val="FFF0B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car /ɑː/</a:t>
            </a:r>
            <a:endParaRPr lang="en-US" sz="1050" dirty="0"/>
          </a:p>
        </p:txBody>
      </p:sp>
      <p:sp>
        <p:nvSpPr>
          <p:cNvPr id="17" name="lg_275"/>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fish /ɪ/</a:t>
            </a:r>
            <a:endParaRPr lang="en-US" sz="1050" dirty="0"/>
          </a:p>
        </p:txBody>
      </p:sp>
      <p:sp>
        <p:nvSpPr>
          <p:cNvPr id="18" name="lg_276"/>
          <p:cNvSpPr/>
          <p:nvPr/>
        </p:nvSpPr>
        <p:spPr>
          <a:xfrm>
            <a:off x="1719072"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bike /aɪ/</a:t>
            </a:r>
            <a:endParaRPr lang="en-US" sz="1050" dirty="0"/>
          </a:p>
        </p:txBody>
      </p:sp>
      <p:sp>
        <p:nvSpPr>
          <p:cNvPr id="19" name="lg_277"/>
          <p:cNvSpPr/>
          <p:nvPr/>
        </p:nvSpPr>
        <p:spPr>
          <a:xfrm>
            <a:off x="457200" y="2752344"/>
            <a:ext cx="1188720" cy="310896"/>
          </a:xfrm>
          <a:prstGeom prst="roundRect">
            <a:avLst>
              <a:gd name="adj" fmla="val 50000"/>
            </a:avLst>
          </a:prstGeom>
          <a:solidFill>
            <a:srgbClr val="C9F0D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snake /s/</a:t>
            </a:r>
            <a:endParaRPr lang="en-US" sz="1050" dirty="0"/>
          </a:p>
        </p:txBody>
      </p:sp>
      <p:sp>
        <p:nvSpPr>
          <p:cNvPr id="20" name="lg_278"/>
          <p:cNvSpPr/>
          <p:nvPr/>
        </p:nvSpPr>
        <p:spPr>
          <a:xfrm>
            <a:off x="1719072" y="2752344"/>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zebra /z/</a:t>
            </a:r>
            <a:endParaRPr lang="en-US" sz="1050" dirty="0"/>
          </a:p>
        </p:txBody>
      </p:sp>
      <p:sp>
        <p:nvSpPr>
          <p:cNvPr id="21" name="lg_279"/>
          <p:cNvSpPr/>
          <p:nvPr/>
        </p:nvSpPr>
        <p:spPr>
          <a:xfrm>
            <a:off x="457200" y="3136392"/>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dog /d/</a:t>
            </a:r>
            <a:endParaRPr lang="en-US" sz="1050" dirty="0"/>
          </a:p>
        </p:txBody>
      </p:sp>
      <p:sp>
        <p:nvSpPr>
          <p:cNvPr id="22" name="lg_280"/>
          <p:cNvSpPr/>
          <p:nvPr/>
        </p:nvSpPr>
        <p:spPr>
          <a:xfrm>
            <a:off x="1719072" y="3136392"/>
            <a:ext cx="1188720" cy="310896"/>
          </a:xfrm>
          <a:prstGeom prst="roundRect">
            <a:avLst>
              <a:gd name="adj" fmla="val 50000"/>
            </a:avLst>
          </a:prstGeom>
          <a:solidFill>
            <a:srgbClr val="FFC2D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tie /t/</a:t>
            </a:r>
            <a:endParaRPr lang="en-US" sz="1050" dirty="0"/>
          </a:p>
        </p:txBody>
      </p:sp>
      <p:sp>
        <p:nvSpPr>
          <p:cNvPr id="23" name="sq_281"/>
          <p:cNvSpPr/>
          <p:nvPr/>
        </p:nvSpPr>
        <p:spPr>
          <a:xfrm>
            <a:off x="3246120" y="1417320"/>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e.g. qu</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4" name="R1_tag282"/>
          <p:cNvSpPr/>
          <p:nvPr/>
        </p:nvSpPr>
        <p:spPr>
          <a:xfrm>
            <a:off x="7178040" y="1417320"/>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bike /aɪ/</a:t>
            </a:r>
            <a:endParaRPr lang="en-US" sz="1150" dirty="0"/>
          </a:p>
        </p:txBody>
      </p:sp>
      <p:sp>
        <p:nvSpPr>
          <p:cNvPr id="25" name="sq_283"/>
          <p:cNvSpPr/>
          <p:nvPr/>
        </p:nvSpPr>
        <p:spPr>
          <a:xfrm>
            <a:off x="3246120" y="1956816"/>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sk</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ng</a:t>
            </a:r>
            <a:endParaRPr lang="en-US" sz="1200" dirty="0"/>
          </a:p>
        </p:txBody>
      </p:sp>
      <p:sp>
        <p:nvSpPr>
          <p:cNvPr id="26" name="R2_tag284"/>
          <p:cNvSpPr/>
          <p:nvPr/>
        </p:nvSpPr>
        <p:spPr>
          <a:xfrm>
            <a:off x="7178040" y="1956816"/>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tree /iː/</a:t>
            </a:r>
            <a:endParaRPr lang="en-US" sz="1150" dirty="0"/>
          </a:p>
        </p:txBody>
      </p:sp>
      <p:sp>
        <p:nvSpPr>
          <p:cNvPr id="27" name="sq_285"/>
          <p:cNvSpPr/>
          <p:nvPr/>
        </p:nvSpPr>
        <p:spPr>
          <a:xfrm>
            <a:off x="3246120" y="2496312"/>
            <a:ext cx="3840480" cy="475488"/>
          </a:xfrm>
          <a:prstGeom prst="roundRect">
            <a:avLst>
              <a:gd name="adj" fmla="val 19231"/>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book</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ed</a:t>
            </a:r>
            <a:endParaRPr lang="en-US" sz="1200" dirty="0"/>
          </a:p>
        </p:txBody>
      </p:sp>
      <p:sp>
        <p:nvSpPr>
          <p:cNvPr id="28" name="R3_tag286"/>
          <p:cNvSpPr/>
          <p:nvPr/>
        </p:nvSpPr>
        <p:spPr>
          <a:xfrm>
            <a:off x="7178040" y="2496312"/>
            <a:ext cx="1691640" cy="475488"/>
          </a:xfrm>
          <a:prstGeom prst="roundRect">
            <a:avLst>
              <a:gd name="adj" fmla="val 48077"/>
            </a:avLst>
          </a:prstGeom>
          <a:solidFill>
            <a:srgbClr val="FFC2D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tie /t/</a:t>
            </a:r>
            <a:endParaRPr lang="en-US" sz="1150" dirty="0"/>
          </a:p>
        </p:txBody>
      </p:sp>
      <p:sp>
        <p:nvSpPr>
          <p:cNvPr id="29" name="sq_287"/>
          <p:cNvSpPr/>
          <p:nvPr/>
        </p:nvSpPr>
        <p:spPr>
          <a:xfrm>
            <a:off x="3246120" y="3035808"/>
            <a:ext cx="3840480" cy="475488"/>
          </a:xfrm>
          <a:prstGeom prst="roundRect">
            <a:avLst>
              <a:gd name="adj" fmla="val 19231"/>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listen</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ed</a:t>
            </a:r>
            <a:endParaRPr lang="en-US" sz="1200" dirty="0"/>
          </a:p>
        </p:txBody>
      </p:sp>
      <p:sp>
        <p:nvSpPr>
          <p:cNvPr id="30" name="R4_tag288"/>
          <p:cNvSpPr/>
          <p:nvPr/>
        </p:nvSpPr>
        <p:spPr>
          <a:xfrm>
            <a:off x="7178040" y="3035808"/>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dog /d/</a:t>
            </a:r>
            <a:endParaRPr lang="en-US" sz="1150" dirty="0"/>
          </a:p>
        </p:txBody>
      </p:sp>
      <p:sp>
        <p:nvSpPr>
          <p:cNvPr id="31" name="sq_289"/>
          <p:cNvSpPr/>
          <p:nvPr/>
        </p:nvSpPr>
        <p:spPr>
          <a:xfrm>
            <a:off x="3246120" y="3575304"/>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noi</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s</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y</a:t>
            </a:r>
            <a:endParaRPr lang="en-US" sz="1200" dirty="0"/>
          </a:p>
        </p:txBody>
      </p:sp>
      <p:sp>
        <p:nvSpPr>
          <p:cNvPr id="32" name="R5_tag290"/>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zebra /z/</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29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Word stress</a:t>
            </a:r>
            <a:endParaRPr lang="en-US" sz="2500" dirty="0"/>
          </a:p>
        </p:txBody>
      </p:sp>
      <p:pic>
        <p:nvPicPr>
          <p:cNvPr id="6" name="brP_294"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95"/>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Underline the stressed syllable. Say the word!</a:t>
            </a:r>
            <a:endParaRPr lang="en-US" sz="1250" dirty="0"/>
          </a:p>
        </p:txBody>
      </p:sp>
      <p:sp>
        <p:nvSpPr>
          <p:cNvPr id="8" name="insIT_2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Sottolinea la sillaba accentata. Di' la parola!</a:t>
            </a:r>
            <a:endParaRPr lang="en-US" sz="950" dirty="0"/>
          </a:p>
        </p:txBody>
      </p:sp>
      <p:sp>
        <p:nvSpPr>
          <p:cNvPr id="9" name="note_29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Controlled practice</a:t>
            </a:r>
            <a:endParaRPr lang="en-US" sz="1150" dirty="0"/>
          </a:p>
        </p:txBody>
      </p:sp>
      <p:pic>
        <p:nvPicPr>
          <p:cNvPr id="10" name="logo_2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Pronunciation d · word stress   ·   📖 SB p.20 · Pronunciation d (TG key)</a:t>
            </a:r>
            <a:endParaRPr lang="en-US" sz="800" dirty="0"/>
          </a:p>
        </p:txBody>
      </p:sp>
      <p:sp>
        <p:nvSpPr>
          <p:cNvPr id="12" name="cd_300"/>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0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303"/>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ho|li|day → HOliday</a:t>
            </a:r>
            <a:endParaRPr lang="en-US" sz="1050" dirty="0"/>
          </a:p>
        </p:txBody>
      </p:sp>
      <p:sp>
        <p:nvSpPr>
          <p:cNvPr id="16" name="bd_304"/>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7" name="q_305"/>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a:t>
            </a:r>
            <a:endParaRPr lang="en-US" sz="1150" dirty="0"/>
          </a:p>
        </p:txBody>
      </p:sp>
      <p:sp>
        <p:nvSpPr>
          <p:cNvPr id="18" name="R1_chip306"/>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EXtrovert</a:t>
            </a:r>
            <a:endParaRPr lang="en-US" sz="1050" dirty="0"/>
          </a:p>
        </p:txBody>
      </p:sp>
      <p:sp>
        <p:nvSpPr>
          <p:cNvPr id="19" name="bd_307"/>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0" name="q_308"/>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o|ver|weight</a:t>
            </a:r>
            <a:endParaRPr lang="en-US" sz="1150" dirty="0"/>
          </a:p>
        </p:txBody>
      </p:sp>
      <p:sp>
        <p:nvSpPr>
          <p:cNvPr id="21" name="R2_chip309"/>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OVERweight</a:t>
            </a:r>
            <a:endParaRPr lang="en-US" sz="1050" dirty="0"/>
          </a:p>
        </p:txBody>
      </p:sp>
      <p:sp>
        <p:nvSpPr>
          <p:cNvPr id="22" name="bd_310"/>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q_311"/>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brace|let</a:t>
            </a:r>
            <a:endParaRPr lang="en-US" sz="1150" dirty="0"/>
          </a:p>
        </p:txBody>
      </p:sp>
      <p:sp>
        <p:nvSpPr>
          <p:cNvPr id="24" name="R3_chip312"/>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BRACElet</a:t>
            </a:r>
            <a:endParaRPr lang="en-US" sz="1050" dirty="0"/>
          </a:p>
        </p:txBody>
      </p:sp>
      <p:sp>
        <p:nvSpPr>
          <p:cNvPr id="25" name="bd_313"/>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q_314"/>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on|line</a:t>
            </a:r>
            <a:endParaRPr lang="en-US" sz="1150" dirty="0"/>
          </a:p>
        </p:txBody>
      </p:sp>
      <p:sp>
        <p:nvSpPr>
          <p:cNvPr id="27" name="R4_chip315"/>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ONline</a:t>
            </a:r>
            <a:endParaRPr lang="en-US" sz="1050" dirty="0"/>
          </a:p>
        </p:txBody>
      </p:sp>
      <p:sp>
        <p:nvSpPr>
          <p:cNvPr id="28" name="bd_316"/>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q_317"/>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com|for|ta|ble</a:t>
            </a:r>
            <a:endParaRPr lang="en-US" sz="1150" dirty="0"/>
          </a:p>
        </p:txBody>
      </p:sp>
      <p:sp>
        <p:nvSpPr>
          <p:cNvPr id="30" name="R5_chip318"/>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COMfortable (3 syllables: /ˈkʌmftəbl/)</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0"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21"/>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to take better holiday photos</a:t>
            </a:r>
            <a:endParaRPr lang="en-US" sz="2400" dirty="0"/>
          </a:p>
        </p:txBody>
      </p:sp>
      <p:pic>
        <p:nvPicPr>
          <p:cNvPr id="6" name="brP_32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2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Match the headings A–C to tips 1–3.</a:t>
            </a:r>
            <a:endParaRPr lang="en-US" sz="1250" dirty="0"/>
          </a:p>
        </p:txBody>
      </p:sp>
      <p:sp>
        <p:nvSpPr>
          <p:cNvPr id="8" name="insIT_3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Abbina i titoli A–C ai consigli 1–3.</a:t>
            </a:r>
            <a:endParaRPr lang="en-US" sz="950" dirty="0"/>
          </a:p>
        </p:txBody>
      </p:sp>
      <p:sp>
        <p:nvSpPr>
          <p:cNvPr id="9" name="note_32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gist</a:t>
            </a:r>
            <a:endParaRPr lang="en-US" sz="1250" dirty="0"/>
          </a:p>
        </p:txBody>
      </p:sp>
      <p:pic>
        <p:nvPicPr>
          <p:cNvPr id="10" name="logo_3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Reading a · Can you understand this text?   ·   📖 SB p.21 · Can you understand this text? a (TG key)</a:t>
            </a:r>
            <a:endParaRPr lang="en-US" sz="800" dirty="0"/>
          </a:p>
        </p:txBody>
      </p:sp>
      <p:sp>
        <p:nvSpPr>
          <p:cNvPr id="12" name="cd_328"/>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329"/>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How to take better holiday photos</a:t>
            </a:r>
            <a:endParaRPr lang="en-US" sz="900" dirty="0"/>
          </a:p>
          <a:p>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Holiday time is the one time we all take photos. We're in a strange new place, the sun is shining, and we want to record our surroundings and happy memories. So how do we take the perfect holiday photos? Here are three useful tips…</a:t>
            </a:r>
            <a:endParaRPr lang="en-US" sz="900" dirty="0"/>
          </a:p>
          <a:p>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1 ____  I took this photo in Bruges in Belgium. I got up and, when my friends were having breakfast, I went for a walk with my camera. This gave me three advantages: – The sun was low in the sky and the light was beautiful and warm. – There were no people around. – My friends didn't need to wait patiently when I was taking photos. The light in the evening is also good, but there are a lot more people around. There are times, in the local market, for example, when having lots of people in the photo can be a good thing, but most of the time I prefer my photos to be less crowded.</a:t>
            </a:r>
            <a:endParaRPr lang="en-US" sz="900" dirty="0"/>
          </a:p>
          <a:p>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2 ____  I took these two photos of the Forbidden City in Beijing, and I think the picture on the right is much better. Try not to take exactly the same picture as millions of other people – look for little details that other photographers haven't seen. Although I am a very enthusiastic photographer, I often buy a nice postcard of the places I visit – much better than going home with pictures that aren't very good.</a:t>
            </a:r>
            <a:endParaRPr lang="en-US" sz="900" dirty="0"/>
          </a:p>
          <a:p>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3 ____  These are the gardens outside the Louvre in Paris. We spent all day looking at the paintings, and we were walking back to the hotel when we saw someone feeding the birds. I only had my little camera with me, but it was all I needed. I quickly took maybe 30 photos from different angles, and this one is the best.</a:t>
            </a:r>
            <a:endParaRPr lang="en-US" sz="900" dirty="0"/>
          </a:p>
        </p:txBody>
      </p:sp>
      <p:sp>
        <p:nvSpPr>
          <p:cNvPr id="14" name="R1_rdE330"/>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How to take better holiday photos</a:t>
            </a:r>
            <a:endParaRPr lang="en-US" sz="900" dirty="0"/>
          </a:p>
          <a:p>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Holiday time is the one time we all take photos. We're in a strange new place, the sun is shining, and we want to record our surroundings and happy memories. So how do we take the perfect holiday photos? Here are three useful tips…</a:t>
            </a:r>
            <a:endParaRPr lang="en-US" sz="900" dirty="0"/>
          </a:p>
          <a:p>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1 ____  I took this photo in Bruges in Belgium. </a:t>
            </a:r>
            <a:pPr indent="0" marL="0">
              <a:lnSpc>
                <a:spcPct val="105000"/>
              </a:lnSpc>
              <a:spcAft>
                <a:spcPts val="700"/>
              </a:spcAft>
              <a:buNone/>
            </a:pPr>
            <a:r>
              <a:rPr lang="en-US" sz="900" b="1" dirty="0">
                <a:solidFill>
                  <a:srgbClr val="1B2559"/>
                </a:solidFill>
                <a:highlight>
                  <a:srgbClr val="FFE066"/>
                </a:highlight>
                <a:latin typeface="Georgia" pitchFamily="34" charset="0"/>
                <a:ea typeface="Georgia" pitchFamily="34" charset="-122"/>
                <a:cs typeface="Georgia" pitchFamily="34" charset="-120"/>
              </a:rPr>
              <a:t>I got up and, when my friends were having breakfast</a:t>
            </a:r>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 I went for a walk with my camera. This gave me three advantages: – The sun was low in the sky and the light was beautiful and warm. – There were no people around. – My friends didn't need to wait patiently when I was taking photos. The light in the evening is also good, but there are a lot more people around. There are times, in the local market, for example, when having lots of people in the photo can be a good thing, but most of the time I prefer my photos to be less crowded.</a:t>
            </a:r>
            <a:endParaRPr lang="en-US" sz="900" dirty="0"/>
          </a:p>
          <a:p>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2 ____  I took these two photos of the Forbidden City in Beijing, and I think the picture on the right is much better. Try not to take exactly the same picture as millions of other people – </a:t>
            </a:r>
            <a:pPr indent="0" marL="0">
              <a:lnSpc>
                <a:spcPct val="105000"/>
              </a:lnSpc>
              <a:spcAft>
                <a:spcPts val="700"/>
              </a:spcAft>
              <a:buNone/>
            </a:pPr>
            <a:r>
              <a:rPr lang="en-US" sz="900" b="1" dirty="0">
                <a:solidFill>
                  <a:srgbClr val="1B2559"/>
                </a:solidFill>
                <a:highlight>
                  <a:srgbClr val="FFE066"/>
                </a:highlight>
                <a:latin typeface="Georgia" pitchFamily="34" charset="0"/>
                <a:ea typeface="Georgia" pitchFamily="34" charset="-122"/>
                <a:cs typeface="Georgia" pitchFamily="34" charset="-120"/>
              </a:rPr>
              <a:t>look for little details</a:t>
            </a:r>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 that other photographers haven't seen. Although I am a very enthusiastic photographer, I often buy a nice postcard of the places I visit – much better than going home with pictures that aren't very good.</a:t>
            </a:r>
            <a:endParaRPr lang="en-US" sz="900" dirty="0"/>
          </a:p>
          <a:p>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3 ____  These are the gardens outside the Louvre in Paris. We spent all day looking at the paintings, and we were walking back to the hotel when we saw someone feeding the birds. I only had my little camera with me, but it was all I needed. </a:t>
            </a:r>
            <a:pPr indent="0" marL="0">
              <a:lnSpc>
                <a:spcPct val="105000"/>
              </a:lnSpc>
              <a:spcAft>
                <a:spcPts val="700"/>
              </a:spcAft>
              <a:buNone/>
            </a:pPr>
            <a:r>
              <a:rPr lang="en-US" sz="900" b="1" dirty="0">
                <a:solidFill>
                  <a:srgbClr val="1B2559"/>
                </a:solidFill>
                <a:highlight>
                  <a:srgbClr val="FFE066"/>
                </a:highlight>
                <a:latin typeface="Georgia" pitchFamily="34" charset="0"/>
                <a:ea typeface="Georgia" pitchFamily="34" charset="-122"/>
                <a:cs typeface="Georgia" pitchFamily="34" charset="-120"/>
              </a:rPr>
              <a:t>I quickly took maybe 30 photos</a:t>
            </a:r>
            <a:pPr indent="0" marL="0">
              <a:lnSpc>
                <a:spcPct val="105000"/>
              </a:lnSpc>
              <a:spcAft>
                <a:spcPts val="700"/>
              </a:spcAft>
              <a:buNone/>
            </a:pPr>
            <a:r>
              <a:rPr lang="en-US" sz="900" dirty="0">
                <a:solidFill>
                  <a:srgbClr val="1B2559"/>
                </a:solidFill>
                <a:latin typeface="Georgia" pitchFamily="34" charset="0"/>
                <a:ea typeface="Georgia" pitchFamily="34" charset="-122"/>
                <a:cs typeface="Georgia" pitchFamily="34" charset="-120"/>
              </a:rPr>
              <a:t> from different angles, and this one is the best.</a:t>
            </a:r>
            <a:endParaRPr lang="en-US" sz="900" dirty="0"/>
          </a:p>
        </p:txBody>
      </p:sp>
      <p:sp>
        <p:nvSpPr>
          <p:cNvPr id="15" name="cd_331"/>
          <p:cNvSpPr/>
          <p:nvPr/>
        </p:nvSpPr>
        <p:spPr>
          <a:xfrm>
            <a:off x="6263640" y="1417320"/>
            <a:ext cx="2606040" cy="1502664"/>
          </a:xfrm>
          <a:prstGeom prst="roundRect">
            <a:avLst>
              <a:gd name="adj" fmla="val 851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332"/>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33"/>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Headings</a:t>
            </a:r>
            <a:endParaRPr lang="en-US" sz="1300" dirty="0"/>
          </a:p>
        </p:txBody>
      </p:sp>
      <p:sp>
        <p:nvSpPr>
          <p:cNvPr id="18" name="il_334"/>
          <p:cNvSpPr/>
          <p:nvPr/>
        </p:nvSpPr>
        <p:spPr>
          <a:xfrm>
            <a:off x="6830568" y="1911096"/>
            <a:ext cx="1947672" cy="9357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  Take more than one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  Start early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  Zoom in</a:t>
            </a:r>
            <a:endParaRPr lang="en-US" sz="1150" dirty="0"/>
          </a:p>
        </p:txBody>
      </p:sp>
      <p:sp>
        <p:nvSpPr>
          <p:cNvPr id="19" name="R1_chip335"/>
          <p:cNvSpPr/>
          <p:nvPr/>
        </p:nvSpPr>
        <p:spPr>
          <a:xfrm>
            <a:off x="6263640" y="3029712"/>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1 B Start early · 2 C Zoom in · 3 A Take more than one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3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3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33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4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again. True or false? Find the words.</a:t>
            </a:r>
            <a:endParaRPr lang="en-US" sz="1250" dirty="0"/>
          </a:p>
        </p:txBody>
      </p:sp>
      <p:sp>
        <p:nvSpPr>
          <p:cNvPr id="8" name="insIT_3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Vero o falso? Trova le parole.</a:t>
            </a:r>
            <a:endParaRPr lang="en-US" sz="950" dirty="0"/>
          </a:p>
        </p:txBody>
      </p:sp>
      <p:sp>
        <p:nvSpPr>
          <p:cNvPr id="9" name="note_34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FIND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detail</a:t>
            </a:r>
            <a:endParaRPr lang="en-US" sz="1150" dirty="0"/>
          </a:p>
        </p:txBody>
      </p:sp>
      <p:pic>
        <p:nvPicPr>
          <p:cNvPr id="10"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Reading b · detail   ·   📖 SB p.21 · Can you understand this text? b (TG key)</a:t>
            </a:r>
            <a:endParaRPr lang="en-US" sz="800" dirty="0"/>
          </a:p>
        </p:txBody>
      </p:sp>
      <p:sp>
        <p:nvSpPr>
          <p:cNvPr id="12" name="cd_345"/>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346"/>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How to take better holiday photos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Start early  I took this photo in Bruges in Belgium. I got up and, when my friends were having breakfast, I went for a walk with my camera. This gave me three advantages: – The sun was low in the sky and the light was beautiful and warm. – There were no people around. – My friends didn't need to wait patiently when I was taking photos. The light in the evening is also good, but there are a lot more people around. There are times, in the local market, for example, when having lots of people in the photo can be a good thing, but most of the time I prefer my photos to be less crowded.</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Zoom in  I took these two photos of the Forbidden City in Beijing, and I think the picture on the right is much better. Try not to take exactly the same picture as millions of other people – look for little details that other photographers haven't seen. Although I am a very enthusiastic photographer, I often buy a nice postcard of the places I visit – much better than going home with pictures that aren't very good.</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Take more than one  These are the gardens outside the Louvre in Paris. We spent all day looking at the paintings, and we were walking back to the hotel when we saw someone feeding the birds. I only had my little camera with me, but it was all I needed. I quickly took maybe 30 photos from different angles, and this one is the best.</a:t>
            </a:r>
            <a:endParaRPr lang="en-US" sz="950" dirty="0"/>
          </a:p>
        </p:txBody>
      </p:sp>
      <p:sp>
        <p:nvSpPr>
          <p:cNvPr id="14" name="R1_rdE34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How to take better holiday photos</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1 Start early  I took this photo in Bruges in Belgium. I got up and, when my friends were having breakfast, I went for a walk with my camera. This gave me three advantages: – </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The sun was low in the sky and the light was beautiful</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and warm. – There were no people around. – My friends didn't need to wait patiently when I was taking photos. The light in the evening is also good, but there are a lot more people around. There are times, in the local market, for example, when having lots of people in the photo can be a good thing, but </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most of the time I prefer my photos to be less crowded</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2 Zoom in  I took these two photos of the Forbidden City in Beijing, and I think the picture on the right is much better. </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Try not to take exactly the same picture</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as millions of other people – look for little details that other photographers haven't seen. Although I am a very enthusiastic photographer, </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I often buy a nice postcard</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of the places I visit – much better than going home with pictures that aren't very good.</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3 Take more than one  These are the gardens outside the Louvre in Paris. </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We spent all day looking at the paintings</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and we were walking back to the hotel when we saw someone feeding the birds. I only had my little camera with me, but </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it was all I needed</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I quickly took maybe 30 photos from different angles, and this one is the best.</a:t>
            </a:r>
            <a:endParaRPr lang="en-US" sz="950" dirty="0"/>
          </a:p>
        </p:txBody>
      </p:sp>
      <p:sp>
        <p:nvSpPr>
          <p:cNvPr id="15" name="bd_348"/>
          <p:cNvSpPr/>
          <p:nvPr/>
        </p:nvSpPr>
        <p:spPr>
          <a:xfrm>
            <a:off x="6172200" y="1399413"/>
            <a:ext cx="274320" cy="27432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1</a:t>
            </a:r>
            <a:endParaRPr lang="en-US" sz="900" dirty="0"/>
          </a:p>
        </p:txBody>
      </p:sp>
      <p:sp>
        <p:nvSpPr>
          <p:cNvPr id="16" name="rq_349"/>
          <p:cNvSpPr/>
          <p:nvPr/>
        </p:nvSpPr>
        <p:spPr>
          <a:xfrm>
            <a:off x="6492240" y="1417320"/>
            <a:ext cx="2423160" cy="238506"/>
          </a:xfrm>
          <a:prstGeom prst="roundRect">
            <a:avLst>
              <a:gd name="adj" fmla="val 30671"/>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1 The best time to take photos is early evening.</a:t>
            </a:r>
            <a:endParaRPr lang="en-US" sz="700" dirty="0"/>
          </a:p>
        </p:txBody>
      </p:sp>
      <p:sp>
        <p:nvSpPr>
          <p:cNvPr id="17" name="R1_chip350"/>
          <p:cNvSpPr/>
          <p:nvPr/>
        </p:nvSpPr>
        <p:spPr>
          <a:xfrm>
            <a:off x="6492240" y="1683258"/>
            <a:ext cx="2423160" cy="211074"/>
          </a:xfrm>
          <a:prstGeom prst="roundRect">
            <a:avLst>
              <a:gd name="adj" fmla="val 4332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F – early morning: 'The sun was low…'</a:t>
            </a:r>
            <a:endParaRPr lang="en-US" sz="800" dirty="0"/>
          </a:p>
        </p:txBody>
      </p:sp>
      <p:sp>
        <p:nvSpPr>
          <p:cNvPr id="18" name="bd_351"/>
          <p:cNvSpPr/>
          <p:nvPr/>
        </p:nvSpPr>
        <p:spPr>
          <a:xfrm>
            <a:off x="6172200" y="1967865"/>
            <a:ext cx="274320" cy="27432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2</a:t>
            </a:r>
            <a:endParaRPr lang="en-US" sz="900" dirty="0"/>
          </a:p>
        </p:txBody>
      </p:sp>
      <p:sp>
        <p:nvSpPr>
          <p:cNvPr id="19" name="rq_352"/>
          <p:cNvSpPr/>
          <p:nvPr/>
        </p:nvSpPr>
        <p:spPr>
          <a:xfrm>
            <a:off x="6492240" y="1985772"/>
            <a:ext cx="2423160" cy="238506"/>
          </a:xfrm>
          <a:prstGeom prst="roundRect">
            <a:avLst>
              <a:gd name="adj" fmla="val 30671"/>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2 The writer prefers taking photos with people in them.</a:t>
            </a:r>
            <a:endParaRPr lang="en-US" sz="700" dirty="0"/>
          </a:p>
        </p:txBody>
      </p:sp>
      <p:sp>
        <p:nvSpPr>
          <p:cNvPr id="20" name="R2_chip353"/>
          <p:cNvSpPr/>
          <p:nvPr/>
        </p:nvSpPr>
        <p:spPr>
          <a:xfrm>
            <a:off x="6492240" y="2251710"/>
            <a:ext cx="2423160" cy="211074"/>
          </a:xfrm>
          <a:prstGeom prst="roundRect">
            <a:avLst>
              <a:gd name="adj" fmla="val 4332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700" b="1" dirty="0">
                <a:solidFill>
                  <a:srgbClr val="1B2559"/>
                </a:solidFill>
                <a:latin typeface="Segoe UI Semibold" pitchFamily="34" charset="0"/>
                <a:ea typeface="Segoe UI Semibold" pitchFamily="34" charset="-122"/>
                <a:cs typeface="Segoe UI Semibold" pitchFamily="34" charset="-120"/>
              </a:rPr>
              <a:t>F – 'I prefer my photos to be less crowded'</a:t>
            </a:r>
            <a:endParaRPr lang="en-US" sz="700" dirty="0"/>
          </a:p>
        </p:txBody>
      </p:sp>
      <p:sp>
        <p:nvSpPr>
          <p:cNvPr id="21" name="bd_354"/>
          <p:cNvSpPr/>
          <p:nvPr/>
        </p:nvSpPr>
        <p:spPr>
          <a:xfrm>
            <a:off x="6172200" y="2536317"/>
            <a:ext cx="274320" cy="27432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3</a:t>
            </a:r>
            <a:endParaRPr lang="en-US" sz="900" dirty="0"/>
          </a:p>
        </p:txBody>
      </p:sp>
      <p:sp>
        <p:nvSpPr>
          <p:cNvPr id="22" name="rq_355"/>
          <p:cNvSpPr/>
          <p:nvPr/>
        </p:nvSpPr>
        <p:spPr>
          <a:xfrm>
            <a:off x="6492240" y="2554224"/>
            <a:ext cx="2423160" cy="238506"/>
          </a:xfrm>
          <a:prstGeom prst="roundRect">
            <a:avLst>
              <a:gd name="adj" fmla="val 30671"/>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3 Try to make your photos different from other people's.</a:t>
            </a:r>
            <a:endParaRPr lang="en-US" sz="700" dirty="0"/>
          </a:p>
        </p:txBody>
      </p:sp>
      <p:sp>
        <p:nvSpPr>
          <p:cNvPr id="23" name="R3_chip356"/>
          <p:cNvSpPr/>
          <p:nvPr/>
        </p:nvSpPr>
        <p:spPr>
          <a:xfrm>
            <a:off x="6492240" y="2820162"/>
            <a:ext cx="2423160" cy="211074"/>
          </a:xfrm>
          <a:prstGeom prst="roundRect">
            <a:avLst>
              <a:gd name="adj" fmla="val 4332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700" b="1" dirty="0">
                <a:solidFill>
                  <a:srgbClr val="1B2559"/>
                </a:solidFill>
                <a:latin typeface="Segoe UI Semibold" pitchFamily="34" charset="0"/>
                <a:ea typeface="Segoe UI Semibold" pitchFamily="34" charset="-122"/>
                <a:cs typeface="Segoe UI Semibold" pitchFamily="34" charset="-120"/>
              </a:rPr>
              <a:t>T – 'Try not to take exactly the same picture'</a:t>
            </a:r>
            <a:endParaRPr lang="en-US" sz="700" dirty="0"/>
          </a:p>
        </p:txBody>
      </p:sp>
      <p:sp>
        <p:nvSpPr>
          <p:cNvPr id="24" name="bd_357"/>
          <p:cNvSpPr/>
          <p:nvPr/>
        </p:nvSpPr>
        <p:spPr>
          <a:xfrm>
            <a:off x="6172200" y="3104769"/>
            <a:ext cx="274320" cy="27432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4</a:t>
            </a:r>
            <a:endParaRPr lang="en-US" sz="900" dirty="0"/>
          </a:p>
        </p:txBody>
      </p:sp>
      <p:sp>
        <p:nvSpPr>
          <p:cNvPr id="25" name="rq_358"/>
          <p:cNvSpPr/>
          <p:nvPr/>
        </p:nvSpPr>
        <p:spPr>
          <a:xfrm>
            <a:off x="6492240" y="3122676"/>
            <a:ext cx="2423160" cy="238506"/>
          </a:xfrm>
          <a:prstGeom prst="roundRect">
            <a:avLst>
              <a:gd name="adj" fmla="val 30671"/>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4 Your own photos are always better than postcards.</a:t>
            </a:r>
            <a:endParaRPr lang="en-US" sz="700" dirty="0"/>
          </a:p>
        </p:txBody>
      </p:sp>
      <p:sp>
        <p:nvSpPr>
          <p:cNvPr id="26" name="R4_chip359"/>
          <p:cNvSpPr/>
          <p:nvPr/>
        </p:nvSpPr>
        <p:spPr>
          <a:xfrm>
            <a:off x="6492240" y="3388614"/>
            <a:ext cx="2423160" cy="211074"/>
          </a:xfrm>
          <a:prstGeom prst="roundRect">
            <a:avLst>
              <a:gd name="adj" fmla="val 4332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F – 'I often buy a nice postcard'</a:t>
            </a:r>
            <a:endParaRPr lang="en-US" sz="900" dirty="0"/>
          </a:p>
        </p:txBody>
      </p:sp>
      <p:sp>
        <p:nvSpPr>
          <p:cNvPr id="27" name="bd_360"/>
          <p:cNvSpPr/>
          <p:nvPr/>
        </p:nvSpPr>
        <p:spPr>
          <a:xfrm>
            <a:off x="6172200" y="3673221"/>
            <a:ext cx="274320" cy="27432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5</a:t>
            </a:r>
            <a:endParaRPr lang="en-US" sz="900" dirty="0"/>
          </a:p>
        </p:txBody>
      </p:sp>
      <p:sp>
        <p:nvSpPr>
          <p:cNvPr id="28" name="rq_361"/>
          <p:cNvSpPr/>
          <p:nvPr/>
        </p:nvSpPr>
        <p:spPr>
          <a:xfrm>
            <a:off x="6492240" y="3691128"/>
            <a:ext cx="2423160" cy="238506"/>
          </a:xfrm>
          <a:prstGeom prst="roundRect">
            <a:avLst>
              <a:gd name="adj" fmla="val 30671"/>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5 The writer went to the Louvre to see the paintings.</a:t>
            </a:r>
            <a:endParaRPr lang="en-US" sz="700" dirty="0"/>
          </a:p>
        </p:txBody>
      </p:sp>
      <p:sp>
        <p:nvSpPr>
          <p:cNvPr id="29" name="R5_chip362"/>
          <p:cNvSpPr/>
          <p:nvPr/>
        </p:nvSpPr>
        <p:spPr>
          <a:xfrm>
            <a:off x="6492240" y="3957066"/>
            <a:ext cx="2423160" cy="211074"/>
          </a:xfrm>
          <a:prstGeom prst="roundRect">
            <a:avLst>
              <a:gd name="adj" fmla="val 4332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700" b="1" dirty="0">
                <a:solidFill>
                  <a:srgbClr val="1B2559"/>
                </a:solidFill>
                <a:latin typeface="Segoe UI Semibold" pitchFamily="34" charset="0"/>
                <a:ea typeface="Segoe UI Semibold" pitchFamily="34" charset="-122"/>
                <a:cs typeface="Segoe UI Semibold" pitchFamily="34" charset="-120"/>
              </a:rPr>
              <a:t>T – 'We spent all day looking at the paintings'</a:t>
            </a:r>
            <a:endParaRPr lang="en-US" sz="700" dirty="0"/>
          </a:p>
        </p:txBody>
      </p:sp>
      <p:sp>
        <p:nvSpPr>
          <p:cNvPr id="30" name="bd_363"/>
          <p:cNvSpPr/>
          <p:nvPr/>
        </p:nvSpPr>
        <p:spPr>
          <a:xfrm>
            <a:off x="6172200" y="4241673"/>
            <a:ext cx="274320" cy="27432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6</a:t>
            </a:r>
            <a:endParaRPr lang="en-US" sz="900" dirty="0"/>
          </a:p>
        </p:txBody>
      </p:sp>
      <p:sp>
        <p:nvSpPr>
          <p:cNvPr id="31" name="rq_364"/>
          <p:cNvSpPr/>
          <p:nvPr/>
        </p:nvSpPr>
        <p:spPr>
          <a:xfrm>
            <a:off x="6492240" y="4259580"/>
            <a:ext cx="2423160" cy="238506"/>
          </a:xfrm>
          <a:prstGeom prst="roundRect">
            <a:avLst>
              <a:gd name="adj" fmla="val 30671"/>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6 He was sorry that he only had his small camera.</a:t>
            </a:r>
            <a:endParaRPr lang="en-US" sz="700" dirty="0"/>
          </a:p>
        </p:txBody>
      </p:sp>
      <p:sp>
        <p:nvSpPr>
          <p:cNvPr id="32" name="R6_chip365"/>
          <p:cNvSpPr/>
          <p:nvPr/>
        </p:nvSpPr>
        <p:spPr>
          <a:xfrm>
            <a:off x="6492240" y="4525518"/>
            <a:ext cx="2423160" cy="211074"/>
          </a:xfrm>
          <a:prstGeom prst="roundRect">
            <a:avLst>
              <a:gd name="adj" fmla="val 4332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F – 'it was all I needed'</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00"/>
                                        <p:tgtEl>
                                          <p:spTgt spid="26"/>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6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6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Street interviews</a:t>
            </a:r>
            <a:endParaRPr lang="en-US" sz="2500" dirty="0"/>
          </a:p>
        </p:txBody>
      </p:sp>
      <p:pic>
        <p:nvPicPr>
          <p:cNvPr id="6" name="brP_36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7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5 people. Choose a, b or c.</a:t>
            </a:r>
            <a:endParaRPr lang="en-US" sz="1250" dirty="0"/>
          </a:p>
        </p:txBody>
      </p:sp>
      <p:sp>
        <p:nvSpPr>
          <p:cNvPr id="8" name="insIT_3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5 persone. Scegli a, b o c.</a:t>
            </a:r>
            <a:endParaRPr lang="en-US" sz="950" dirty="0"/>
          </a:p>
        </p:txBody>
      </p:sp>
      <p:sp>
        <p:nvSpPr>
          <p:cNvPr id="9" name="note_37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alone</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Controlled practice</a:t>
            </a:r>
            <a:endParaRPr lang="en-US" sz="1150" dirty="0"/>
          </a:p>
        </p:txBody>
      </p:sp>
      <p:pic>
        <p:nvPicPr>
          <p:cNvPr id="10" name="logo_3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74"/>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R1-2 · Listening · Can you understand these people?   ·   📖 SB p.21 · Can you understand these people? · 2.23 (script TG p.40)</a:t>
            </a:r>
            <a:endParaRPr lang="en-US" sz="750" dirty="0"/>
          </a:p>
        </p:txBody>
      </p:sp>
      <p:sp>
        <p:nvSpPr>
          <p:cNvPr id="12" name="pf_375"/>
          <p:cNvSpPr/>
          <p:nvPr/>
        </p:nvSpPr>
        <p:spPr>
          <a:xfrm rot="-90000">
            <a:off x="411480" y="2215920"/>
            <a:ext cx="2697480" cy="825961"/>
          </a:xfrm>
          <a:prstGeom prst="roundRect">
            <a:avLst>
              <a:gd name="adj" fmla="val 1882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76" descr="/home/claude/lls-course/v2/cache/a2r12_people_jpg_627x177_31.png">    </p:cNvPr>
          <p:cNvPicPr>
            <a:picLocks noChangeAspect="1"/>
          </p:cNvPicPr>
          <p:nvPr/>
        </p:nvPicPr>
        <p:blipFill>
          <a:blip r:embed="rId5"/>
          <a:stretch>
            <a:fillRect/>
          </a:stretch>
        </p:blipFill>
        <p:spPr>
          <a:xfrm rot="-90000">
            <a:off x="457200" y="2261640"/>
            <a:ext cx="2606040" cy="734521"/>
          </a:xfrm>
          <a:prstGeom prst="rect">
            <a:avLst/>
          </a:prstGeom>
        </p:spPr>
      </p:pic>
      <p:sp>
        <p:nvSpPr>
          <p:cNvPr id="14" name="cd_37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7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9"/>
          <p:cNvSpPr/>
          <p:nvPr/>
        </p:nvSpPr>
        <p:spPr>
          <a:xfrm>
            <a:off x="886968" y="4114800"/>
            <a:ext cx="214884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Teacher reads the interviews – or play the book video 2.23</a:t>
            </a:r>
            <a:endParaRPr lang="en-US" sz="1100" dirty="0"/>
          </a:p>
        </p:txBody>
      </p:sp>
      <p:sp>
        <p:nvSpPr>
          <p:cNvPr id="17" name="gq_380"/>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Lewis looks like… a his father b his mother c his mother and his father</a:t>
            </a:r>
            <a:endParaRPr lang="en-US" sz="1200" dirty="0"/>
          </a:p>
        </p:txBody>
      </p:sp>
      <p:sp>
        <p:nvSpPr>
          <p:cNvPr id="18" name="R1_chip381"/>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 dad's face, mum's hair and eyes</a:t>
            </a:r>
            <a:endParaRPr lang="en-US" sz="1200" dirty="0"/>
          </a:p>
        </p:txBody>
      </p:sp>
      <p:sp>
        <p:nvSpPr>
          <p:cNvPr id="19" name="gq_382"/>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2 In the Dali painting that Susie likes there are some dripping… a clocks b rocks c socks</a:t>
            </a:r>
            <a:endParaRPr lang="en-US" sz="950" dirty="0"/>
          </a:p>
        </p:txBody>
      </p:sp>
      <p:sp>
        <p:nvSpPr>
          <p:cNvPr id="20" name="R2_chip383"/>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 clocks</a:t>
            </a:r>
            <a:endParaRPr lang="en-US" sz="1200" dirty="0"/>
          </a:p>
        </p:txBody>
      </p:sp>
      <p:sp>
        <p:nvSpPr>
          <p:cNvPr id="21" name="gq_384"/>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3 Shosanna went to Guyana because she wanted to learn… a about the animals and plants b about her family history c the language</a:t>
            </a:r>
            <a:endParaRPr lang="en-US" sz="850" dirty="0"/>
          </a:p>
        </p:txBody>
      </p:sp>
      <p:sp>
        <p:nvSpPr>
          <p:cNvPr id="22" name="R3_chip385"/>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 – how her parents grew up</a:t>
            </a:r>
            <a:endParaRPr lang="en-US" sz="1200" dirty="0"/>
          </a:p>
        </p:txBody>
      </p:sp>
      <p:sp>
        <p:nvSpPr>
          <p:cNvPr id="23" name="gq_386"/>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Susan doesn't put photos of ___ on Instagram. a gardens b flowers c her family</a:t>
            </a:r>
            <a:endParaRPr lang="en-US" sz="1000" dirty="0"/>
          </a:p>
        </p:txBody>
      </p:sp>
      <p:sp>
        <p:nvSpPr>
          <p:cNvPr id="24" name="R4_chip387"/>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 'I never post photos of people'</a:t>
            </a:r>
            <a:endParaRPr lang="en-US" sz="1200" dirty="0"/>
          </a:p>
        </p:txBody>
      </p:sp>
      <p:sp>
        <p:nvSpPr>
          <p:cNvPr id="25" name="gq_388"/>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5 Sam only likes watching… a films with a sad ending b films with a happy ending c good films</a:t>
            </a:r>
            <a:endParaRPr lang="en-US" sz="950" dirty="0"/>
          </a:p>
        </p:txBody>
      </p:sp>
      <p:sp>
        <p:nvSpPr>
          <p:cNvPr id="26" name="R5_chip389"/>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 'it just has to be a good film'</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9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39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Can you…?</a:t>
            </a:r>
            <a:endParaRPr lang="en-US" sz="2400" dirty="0"/>
          </a:p>
        </p:txBody>
      </p:sp>
      <p:pic>
        <p:nvPicPr>
          <p:cNvPr id="6" name="brP_39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9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Can you say this in English? Show your partner – then tick!</a:t>
            </a:r>
            <a:endParaRPr lang="en-US" sz="1200" dirty="0"/>
          </a:p>
        </p:txBody>
      </p:sp>
      <p:sp>
        <p:nvSpPr>
          <p:cNvPr id="8" name="insIT_3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Sai dirlo in inglese? Dimostralo al compagno – poi spunta!</a:t>
            </a:r>
            <a:endParaRPr lang="en-US" sz="950" dirty="0"/>
          </a:p>
        </p:txBody>
      </p:sp>
      <p:sp>
        <p:nvSpPr>
          <p:cNvPr id="9" name="note_39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3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Speaking · Can you say this in English?   ·   📖 SB p.21 · Can you say this in English? 1–6</a:t>
            </a:r>
            <a:endParaRPr lang="en-US" sz="800" dirty="0"/>
          </a:p>
        </p:txBody>
      </p:sp>
      <p:sp>
        <p:nvSpPr>
          <p:cNvPr id="12" name="cd_399"/>
          <p:cNvSpPr/>
          <p:nvPr/>
        </p:nvSpPr>
        <p:spPr>
          <a:xfrm>
            <a:off x="320040" y="1417320"/>
            <a:ext cx="2788920" cy="2743200"/>
          </a:xfrm>
          <a:prstGeom prst="roundRect">
            <a:avLst>
              <a:gd name="adj" fmla="val 4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01"/>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402"/>
          <p:cNvSpPr/>
          <p:nvPr/>
        </p:nvSpPr>
        <p:spPr>
          <a:xfrm>
            <a:off x="886968" y="1911096"/>
            <a:ext cx="2130552" cy="21762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usually… / I'm…ing at the moment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got… hair. He's quite…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the picture, a man is wearing…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Last summer I went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When I took this photo, we were…</a:t>
            </a:r>
            <a:endParaRPr lang="en-US" sz="1150" dirty="0"/>
          </a:p>
        </p:txBody>
      </p:sp>
      <p:sp>
        <p:nvSpPr>
          <p:cNvPr id="16" name="R1_qb40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404"/>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00" dirty="0">
                <a:solidFill>
                  <a:srgbClr val="1B2559"/>
                </a:solidFill>
                <a:latin typeface="Segoe UI Semibold" pitchFamily="34" charset="0"/>
                <a:ea typeface="Segoe UI Semibold" pitchFamily="34" charset="-122"/>
                <a:cs typeface="Segoe UI Semibold" pitchFamily="34" charset="-120"/>
              </a:rPr>
              <a:t>ask and answer six questions about your home and family, work / studies, and free time</a:t>
            </a:r>
            <a:endParaRPr lang="en-US" sz="8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Where do you live? Have you got any brothers or sisters?</a:t>
            </a:r>
            <a:endParaRPr lang="en-US" sz="800" dirty="0"/>
          </a:p>
        </p:txBody>
      </p:sp>
      <p:sp>
        <p:nvSpPr>
          <p:cNvPr id="18" name="R2_qb405"/>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406"/>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describe the appearance and personality of a person you know well</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sister has got long curly hair. She's very generous.</a:t>
            </a:r>
            <a:endParaRPr lang="en-US" sz="900" dirty="0"/>
          </a:p>
        </p:txBody>
      </p:sp>
      <p:sp>
        <p:nvSpPr>
          <p:cNvPr id="20" name="R3_qb407"/>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408"/>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00" dirty="0">
                <a:solidFill>
                  <a:srgbClr val="1B2559"/>
                </a:solidFill>
                <a:latin typeface="Segoe UI Semibold" pitchFamily="34" charset="0"/>
                <a:ea typeface="Segoe UI Semibold" pitchFamily="34" charset="-122"/>
                <a:cs typeface="Segoe UI Semibold" pitchFamily="34" charset="-120"/>
              </a:rPr>
              <a:t>describe a picture in this book and say what is happening, what the people are wearing</a:t>
            </a:r>
            <a:endParaRPr lang="en-US" sz="8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A woman is smiling. She's wearing a red jacket.</a:t>
            </a:r>
            <a:endParaRPr lang="en-US" sz="800" dirty="0"/>
          </a:p>
        </p:txBody>
      </p:sp>
      <p:sp>
        <p:nvSpPr>
          <p:cNvPr id="22" name="R4_qb409"/>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410"/>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ask and answer three questions about a holiday</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Where did you go? Where did you stay? What was the weather like?</a:t>
            </a:r>
            <a:endParaRPr lang="en-US" sz="900" dirty="0"/>
          </a:p>
        </p:txBody>
      </p:sp>
      <p:sp>
        <p:nvSpPr>
          <p:cNvPr id="24" name="R5_qb411"/>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5" name="R5_sq412"/>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describe a favourite photo and say what was happening when you took it</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We were having dinner on the beach…</a:t>
            </a:r>
            <a:endParaRPr lang="en-US" sz="900" dirty="0"/>
          </a:p>
        </p:txBody>
      </p:sp>
      <p:sp>
        <p:nvSpPr>
          <p:cNvPr id="26" name="R6_qb413"/>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27" name="R6_sq414"/>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say three true sentences using so, because and although</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Although it rained, we had a great time.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4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1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1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1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1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note_42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4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Exit · what can you remember?</a:t>
            </a:r>
            <a:endParaRPr lang="en-US" sz="800" dirty="0"/>
          </a:p>
        </p:txBody>
      </p:sp>
      <p:sp>
        <p:nvSpPr>
          <p:cNvPr id="12" name="bd_424"/>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25"/>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personality adjectives – 2 positive, 1 negative.</a:t>
            </a:r>
            <a:endParaRPr lang="en-US" sz="1400" dirty="0"/>
          </a:p>
        </p:txBody>
      </p:sp>
      <p:sp>
        <p:nvSpPr>
          <p:cNvPr id="14" name="bd_426"/>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27"/>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sentences: one with at, one with on.</a:t>
            </a:r>
            <a:endParaRPr lang="en-US" sz="1400" dirty="0"/>
          </a:p>
        </p:txBody>
      </p:sp>
      <p:sp>
        <p:nvSpPr>
          <p:cNvPr id="16" name="bd_428"/>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29"/>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 were doing at 8 o'clock last night.</a:t>
            </a:r>
            <a:endParaRPr lang="en-US" sz="1400" dirty="0"/>
          </a:p>
        </p:txBody>
      </p:sp>
      <p:sp>
        <p:nvSpPr>
          <p:cNvPr id="18" name="cd_430"/>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431"/>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32"/>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33"/>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Redo the test questions you got wrong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6 sentences: family · now · last holiday</a:t>
            </a:r>
            <a:endParaRPr lang="en-US" sz="1150" dirty="0"/>
          </a:p>
        </p:txBody>
      </p:sp>
      <p:sp>
        <p:nvSpPr>
          <p:cNvPr id="22" name="st_434"/>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3A TripAside – be going to (SB p.22)</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3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3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38"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39"/>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4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44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4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R1-2 · Review · what did you do today?</a:t>
            </a:r>
            <a:endParaRPr lang="en-US" sz="800" dirty="0"/>
          </a:p>
        </p:txBody>
      </p:sp>
      <p:sp>
        <p:nvSpPr>
          <p:cNvPr id="12" name="cd_444"/>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445"/>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446"/>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Did a mini-test on Files 1 and 2</a:t>
            </a:r>
            <a:endParaRPr lang="en-US" sz="1350" dirty="0"/>
          </a:p>
        </p:txBody>
      </p:sp>
      <p:sp>
        <p:nvSpPr>
          <p:cNvPr id="15" name="R1_tk447"/>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448"/>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449"/>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450"/>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Revised verbs, at / in / on, and word groups</a:t>
            </a:r>
            <a:endParaRPr lang="en-US" sz="1350" dirty="0"/>
          </a:p>
        </p:txBody>
      </p:sp>
      <p:sp>
        <p:nvSpPr>
          <p:cNvPr id="19" name="R2_tk451"/>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452"/>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453"/>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454"/>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sounds and word stress</a:t>
            </a:r>
            <a:endParaRPr lang="en-US" sz="1350" dirty="0"/>
          </a:p>
        </p:txBody>
      </p:sp>
      <p:sp>
        <p:nvSpPr>
          <p:cNvPr id="23" name="R3_tk455"/>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456"/>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457"/>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458"/>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tips for better holiday photos</a:t>
            </a:r>
            <a:endParaRPr lang="en-US" sz="1350" dirty="0"/>
          </a:p>
        </p:txBody>
      </p:sp>
      <p:sp>
        <p:nvSpPr>
          <p:cNvPr id="27" name="R4_tk459"/>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460"/>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461"/>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462"/>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Checked what you can say in English</a:t>
            </a:r>
            <a:endParaRPr lang="en-US" sz="1350" dirty="0"/>
          </a:p>
        </p:txBody>
      </p:sp>
      <p:sp>
        <p:nvSpPr>
          <p:cNvPr id="31" name="R5_tk463"/>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46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R1-2 Revise and Check 1&amp;2</dc:title>
  <dc:subject>PptxGenJS Presentation</dc:subject>
  <dc:creator>PptxGenJS</dc:creator>
  <cp:lastModifiedBy>PptxGenJS</cp:lastModifiedBy>
  <cp:revision>1</cp:revision>
  <dcterms:created xsi:type="dcterms:W3CDTF">2026-10-22T09:36:53Z</dcterms:created>
  <dcterms:modified xsi:type="dcterms:W3CDTF">2026-10-22T09:36:53Z</dcterms:modified>
</cp:coreProperties>
</file>