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Revision lesson for Files 1–2. TG: the first page adds up to 50 (grammar 15, vocabulary 25, pronunciation 10) – a mini-test. Tell students they'll score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Words: ⭐ meaning ⭐⭐ sentence ⭐⭐⭐ negative or question. Then: 'Happy ending or sad ending – which did you prefer?' Pairs retell the end of the story in 3 sentences with Suddenly / When / so.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word race (4 min)
WARMER (4 min). Round 1 is the example. Bonus point for a sentence ('My brother is very generous').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Grammar · SB p.20 · 1–8 (5 min)
MINI-TEST 1 (5 min). Students write a / b / c on paper, alone. Then click once per item. Key (TG): 1 c 2 b 3 a 4 c 5 a 6 c 7 c 8 b. After each answer ask WHY (e.g. 4: parents = they → have).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· SB p.20 · 9–15 (5 min)
MINI-TEST 2 (5 min). Key (TG): 9 b 10 c 11 a 12 c 13 a 14 b 15 c. Score /15. Board: the most common mistakes – go over them with the auction game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Game · grammar auction (6 min)
AUCTION (6 min). Teach 'auction' (asta) and 'bid' (offerta). Read each sentence; teams bid €50–€500. Click to reveal. A team that buys a WRONG sentence loses the money. Most correct sentences wins (money left decides a tie).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Vocabulary a · SB p.20 (4 min)
VERBS (4 min). 1 is the example. One click per gap. Key (TG): 1 do 2 look 3 wear 4 take 5 stay 6 book 7 invite 8 drive 9 play 10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Vocabulary b · SB p.20 (3 min)
AT / IN / ON (3 min). 1 is the example. Key (TG): 1 on 2 in 3 in 4 on 5 at 6 at 7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Vocabulary c · odd one out (4 min)
ODD ONE OUT (4 min). Item 1 is the example. Key (TG). Accept other answers if the reason is good!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c · sounds (3 min)
SOUNDS (3 min). Drill the 8 sound words first (Pronunciation a). Then pairs match. Key: quiet /aɪ/ bike · skiing /iː/ tree · booked /t/ tie · listened /d/ dog · noisy /z/ zebra. (The TG key has 'waited /ɪd/' for 4 – the SB now has 'listened' = /d/.)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Pronunciation d · word stress (2 min)
WORD STRESS (2 min). Key (TG): 1 extrovert 2 overweight 3 bracelet 4 online 5 comfortable. Clap the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Reading a · Can you understand this text? (5 min)
GIST (5 min). Students read once, fast, and match. Click: answers + the proof lights up. Key (TG): 1 B 2 C 3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Reading b · detail (5 min)
DETAIL (5 min). The T/F statements are exactly as in the book. Pairs find the words that prove each answer. Key (TG): 1 F 2 F 3 T 4 F 5 T 6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Listening · Can you understand these people? (5 min)
LISTENING (5 min). Audio 2.23 isn't in our files: play the book video, or READ these aloud (2 voices if possible). Key (TG): 1c 2a 3b 4c 5c.
1 LEWIS – Who do you look like in your family? – Well, people say I often look like my dad a lot. We've got the same sort of nose and the same face shape, but I've got my mum's hair colour and my mum's eyes. – Do you have a similar personality? – There are quite a lot of similarities between me and my dad. We're both into German and speaking German, and also into architecture.
2 SUSIE – Do you have a favourite painting? – I'm not sure of the name of the painting, but I like Salvador Dali. I really like the painting with the dripping clocks. – Can you describe it? – There are dripping clocks. It's an interesting style. It's not something you see all the time, and it's very colourful.
3 SHOSANNA – Where did you go for your last holiday? – My last vacation I went to Guyana, which is my parents' country in South America. – Did you have a good time? – I did. It was one of the best vacations I had. It was really educational, and I was able to see how my parents grew up.
4 SUSAN – Do you take a lot of photos? – I take a lot of photos. My telephone is full of photos and I use Instagram. – What do you usually take photos of? – Mostly people, places, gardens, lots of flowers. I never post photos of people, but I take photos of family, but lots of gardens and flowers.
5 SAM – Do you prefer films with a happy or sad ending? – It just has to be a good film. I don't mind if it's a happy ending or a sad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Can you say this in English? (6 min)
CAN-DO (6 min). Pairs: A does 1–3, B does 4–6, then swap. They tick only what they can do WELL. Use a photo on their phone for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Pre-intermediate · SB pp.20–21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R1-2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Revise and Check 1&amp;2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Files 1 and 2: test, games, reading and speaking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📝  do a mini-test on Files 1 and 2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revise verbs, at / in / on, and word groups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🔊  practise sounds and word stress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📷  read tips for better holiday photos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🗣️  check what you can say in English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remember 'extrovert', 'wear a blue skirt' and 'I was walking when…'!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a2r12_bruges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Files 1 and 2: family, personality, clothes, holidays, photos… What can you remember?</a:t>
            </a:r>
            <a:endParaRPr lang="en-US" sz="15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753308" y="1371600"/>
            <a:ext cx="1876663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a2r12_louvre_jpg_430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99028" y="1417320"/>
            <a:ext cx="1785223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508760"/>
          </a:xfrm>
          <a:prstGeom prst="roundRect">
            <a:avLst>
              <a:gd name="adj" fmla="val 84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2C: One dark October evening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connectors · verb phrases · 2 endings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2583180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invite somebody to dinner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3246120" y="2185416"/>
            <a:ext cx="3104388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give somebody your phone number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6441948" y="2185416"/>
            <a:ext cx="1888236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wait for somebody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3246120" y="2587752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in a hurry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4878324" y="2587752"/>
            <a:ext cx="188823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a great time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3246120" y="2990088"/>
            <a:ext cx="2061972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across the road</a:t>
            </a:r>
            <a:endParaRPr lang="en-US" sz="1200" dirty="0"/>
          </a:p>
        </p:txBody>
      </p:sp>
      <p:sp>
        <p:nvSpPr>
          <p:cNvPr id="25" name="lv_39"/>
          <p:cNvSpPr/>
          <p:nvPr/>
        </p:nvSpPr>
        <p:spPr>
          <a:xfrm>
            <a:off x="3246120" y="3447288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6" name="lv_40"/>
          <p:cNvSpPr/>
          <p:nvPr/>
        </p:nvSpPr>
        <p:spPr>
          <a:xfrm>
            <a:off x="5151120" y="3447288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7" name="lv_41"/>
          <p:cNvSpPr/>
          <p:nvPr/>
        </p:nvSpPr>
        <p:spPr>
          <a:xfrm>
            <a:off x="7056120" y="3447288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28" name="cd_42"/>
          <p:cNvSpPr/>
          <p:nvPr/>
        </p:nvSpPr>
        <p:spPr>
          <a:xfrm>
            <a:off x="3246120" y="3977640"/>
            <a:ext cx="2756916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rh_43"/>
          <p:cNvSpPr/>
          <p:nvPr/>
        </p:nvSpPr>
        <p:spPr>
          <a:xfrm>
            <a:off x="3337560" y="4050792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time sequencers</a:t>
            </a:r>
            <a:endParaRPr lang="en-US" sz="1100" dirty="0"/>
          </a:p>
        </p:txBody>
      </p:sp>
      <p:sp>
        <p:nvSpPr>
          <p:cNvPr id="30" name="rf_44"/>
          <p:cNvSpPr/>
          <p:nvPr/>
        </p:nvSpPr>
        <p:spPr>
          <a:xfrm>
            <a:off x="3383280" y="4398264"/>
            <a:ext cx="2482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an order of events in a story</a:t>
            </a:r>
            <a:endParaRPr lang="en-US" sz="1050" dirty="0"/>
          </a:p>
        </p:txBody>
      </p:sp>
      <p:sp>
        <p:nvSpPr>
          <p:cNvPr id="31" name="R1_rl45"/>
          <p:cNvSpPr/>
          <p:nvPr/>
        </p:nvSpPr>
        <p:spPr>
          <a:xfrm>
            <a:off x="3383280" y="4727448"/>
            <a:ext cx="2482596" cy="-457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minutes later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 said…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Hannah left the club…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Suddenly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a man ran across the road.</a:t>
            </a:r>
            <a:endParaRPr lang="en-US" sz="1100" dirty="0"/>
          </a:p>
        </p:txBody>
      </p:sp>
      <p:sp>
        <p:nvSpPr>
          <p:cNvPr id="32" name="cd_46"/>
          <p:cNvSpPr/>
          <p:nvPr/>
        </p:nvSpPr>
        <p:spPr>
          <a:xfrm>
            <a:off x="6112764" y="3977640"/>
            <a:ext cx="2756916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rh_47"/>
          <p:cNvSpPr/>
          <p:nvPr/>
        </p:nvSpPr>
        <p:spPr>
          <a:xfrm>
            <a:off x="6204204" y="4050792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· because · although</a:t>
            </a:r>
            <a:endParaRPr lang="en-US" sz="1100" dirty="0"/>
          </a:p>
        </p:txBody>
      </p:sp>
      <p:sp>
        <p:nvSpPr>
          <p:cNvPr id="34" name="rf_48"/>
          <p:cNvSpPr/>
          <p:nvPr/>
        </p:nvSpPr>
        <p:spPr>
          <a:xfrm>
            <a:off x="6249924" y="4398264"/>
            <a:ext cx="2482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 result · a reason · a contrast</a:t>
            </a:r>
            <a:endParaRPr lang="en-US" sz="1000" dirty="0"/>
          </a:p>
        </p:txBody>
      </p:sp>
      <p:sp>
        <p:nvSpPr>
          <p:cNvPr id="35" name="R2_rl49"/>
          <p:cNvSpPr/>
          <p:nvPr/>
        </p:nvSpPr>
        <p:spPr>
          <a:xfrm>
            <a:off x="6249924" y="4727448"/>
            <a:ext cx="2482596" cy="-457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was driving fast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she was in a hurry.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Although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food wasn't very good, they had a wonderful time.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5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52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 race: Files 1 &amp; 2</a:t>
            </a:r>
            <a:endParaRPr lang="en-US" sz="2500" dirty="0"/>
          </a:p>
        </p:txBody>
      </p:sp>
      <p:pic>
        <p:nvPicPr>
          <p:cNvPr id="6" name="brP_5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54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30 seconds per round! Write the words.</a:t>
            </a:r>
            <a:endParaRPr lang="en-US" sz="1250" dirty="0"/>
          </a:p>
        </p:txBody>
      </p:sp>
      <p:sp>
        <p:nvSpPr>
          <p:cNvPr id="8" name="insIT_5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30 secondi per round! Scrivete le parole.</a:t>
            </a:r>
            <a:endParaRPr lang="en-US" sz="950" dirty="0"/>
          </a:p>
        </p:txBody>
      </p:sp>
      <p:sp>
        <p:nvSpPr>
          <p:cNvPr id="9" name="note_5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Communicative game</a:t>
            </a:r>
            <a:endParaRPr lang="en-US" sz="1250" dirty="0"/>
          </a:p>
        </p:txBody>
      </p:sp>
      <p:pic>
        <p:nvPicPr>
          <p:cNvPr id="10" name="logo_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Warmer · word race   ·   📖 Recycles the Vocabulary Banks of Files 1–2</a:t>
            </a:r>
            <a:endParaRPr lang="en-US" sz="800" dirty="0"/>
          </a:p>
        </p:txBody>
      </p:sp>
      <p:sp>
        <p:nvSpPr>
          <p:cNvPr id="12" name="cd_59"/>
          <p:cNvSpPr/>
          <p:nvPr/>
        </p:nvSpPr>
        <p:spPr>
          <a:xfrm>
            <a:off x="320040" y="1417320"/>
            <a:ext cx="2697480" cy="2307336"/>
          </a:xfrm>
          <a:prstGeom prst="roundRect">
            <a:avLst>
              <a:gd name="adj" fmla="val 554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6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6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62"/>
          <p:cNvSpPr/>
          <p:nvPr/>
        </p:nvSpPr>
        <p:spPr>
          <a:xfrm>
            <a:off x="886968" y="1911096"/>
            <a:ext cx="2039112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seconds per round. Write as many words as you can.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spelling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one in a sentence = 1 more point!</a:t>
            </a:r>
            <a:endParaRPr lang="en-US" sz="1200" dirty="0"/>
          </a:p>
        </p:txBody>
      </p:sp>
      <p:sp>
        <p:nvSpPr>
          <p:cNvPr id="16" name="st_63"/>
          <p:cNvSpPr/>
          <p:nvPr/>
        </p:nvSpPr>
        <p:spPr>
          <a:xfrm rot="-180000">
            <a:off x="502920" y="3907536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64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65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Personality adjectives</a:t>
            </a:r>
            <a:endParaRPr lang="en-US" sz="1250" dirty="0"/>
          </a:p>
        </p:txBody>
      </p:sp>
      <p:sp>
        <p:nvSpPr>
          <p:cNvPr id="19" name="chip_66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extrovert, generous, lazy, mean, funny, kind, shy…</a:t>
            </a:r>
            <a:endParaRPr lang="en-US" sz="1200" dirty="0"/>
          </a:p>
        </p:txBody>
      </p:sp>
      <p:sp>
        <p:nvSpPr>
          <p:cNvPr id="20" name="bd_67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68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Hair and appearance</a:t>
            </a:r>
            <a:endParaRPr lang="en-US" sz="1250" dirty="0"/>
          </a:p>
        </p:txBody>
      </p:sp>
      <p:sp>
        <p:nvSpPr>
          <p:cNvPr id="22" name="R1_chip69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curly, straight, long, beard, slim, overweight…</a:t>
            </a:r>
            <a:endParaRPr lang="en-US" sz="1200" dirty="0"/>
          </a:p>
        </p:txBody>
      </p:sp>
      <p:sp>
        <p:nvSpPr>
          <p:cNvPr id="23" name="bd_70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71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Clothes and jewellery</a:t>
            </a:r>
            <a:endParaRPr lang="en-US" sz="1250" dirty="0"/>
          </a:p>
        </p:txBody>
      </p:sp>
      <p:sp>
        <p:nvSpPr>
          <p:cNvPr id="25" name="R2_chip72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skirt, trainers, sandals, scarf, necklace, bracelet…</a:t>
            </a:r>
            <a:endParaRPr lang="en-US" sz="1200" dirty="0"/>
          </a:p>
        </p:txBody>
      </p:sp>
      <p:sp>
        <p:nvSpPr>
          <p:cNvPr id="26" name="bd_73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74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Holiday words</a:t>
            </a:r>
            <a:endParaRPr lang="en-US" sz="1250" dirty="0"/>
          </a:p>
        </p:txBody>
      </p:sp>
      <p:sp>
        <p:nvSpPr>
          <p:cNvPr id="28" name="R3_chip75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book a hotel, stay, sunbathe, sightseeing, crowded, windy…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78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test (1)</a:t>
            </a:r>
            <a:endParaRPr lang="en-US" sz="2500" dirty="0"/>
          </a:p>
        </p:txBody>
      </p:sp>
      <p:pic>
        <p:nvPicPr>
          <p:cNvPr id="6" name="brP_7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80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Choose a, b or c. Alone – 5 minutes.</a:t>
            </a:r>
            <a:endParaRPr lang="en-US" sz="1250" dirty="0"/>
          </a:p>
        </p:txBody>
      </p:sp>
      <p:sp>
        <p:nvSpPr>
          <p:cNvPr id="8" name="insIT_8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Scegli a, b o c. Da soli – 5 minuti.</a:t>
            </a:r>
            <a:endParaRPr lang="en-US" sz="950" dirty="0"/>
          </a:p>
        </p:txBody>
      </p:sp>
      <p:sp>
        <p:nvSpPr>
          <p:cNvPr id="9" name="note_8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8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Grammar · SB p.20 · 1–8   ·   📖 SB p.20 · Grammar 1–8 (TG key)</a:t>
            </a:r>
            <a:endParaRPr lang="en-US" sz="800" dirty="0"/>
          </a:p>
        </p:txBody>
      </p:sp>
      <p:sp>
        <p:nvSpPr>
          <p:cNvPr id="12" name="cd_85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86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a, b or c</a:t>
            </a:r>
            <a:endParaRPr lang="en-US" sz="1700" dirty="0"/>
          </a:p>
        </p:txBody>
      </p:sp>
      <p:sp>
        <p:nvSpPr>
          <p:cNvPr id="14" name="ln_87"/>
          <p:cNvSpPr/>
          <p:nvPr/>
        </p:nvSpPr>
        <p:spPr>
          <a:xfrm>
            <a:off x="548640" y="1920240"/>
            <a:ext cx="5349240" cy="31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any brothers or sisters?  (a Have you · b Do you · c Do you have)</a:t>
            </a:r>
            <a:endParaRPr lang="en-US" sz="950" dirty="0"/>
          </a:p>
        </p:txBody>
      </p:sp>
      <p:sp>
        <p:nvSpPr>
          <p:cNvPr id="15" name="R1_lnA88"/>
          <p:cNvSpPr/>
          <p:nvPr/>
        </p:nvSpPr>
        <p:spPr>
          <a:xfrm>
            <a:off x="548640" y="1920240"/>
            <a:ext cx="5349240" cy="3161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Do you have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any brothers or sisters?  (a Have you · b Do you · c Do you have)</a:t>
            </a:r>
            <a:endParaRPr lang="en-US" sz="950" dirty="0"/>
          </a:p>
        </p:txBody>
      </p:sp>
      <p:sp>
        <p:nvSpPr>
          <p:cNvPr id="16" name="ln_89"/>
          <p:cNvSpPr/>
          <p:nvPr/>
        </p:nvSpPr>
        <p:spPr>
          <a:xfrm>
            <a:off x="548640" y="2236436"/>
            <a:ext cx="5349240" cy="362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last night?  (a Where you went · b Where did you go · c Where you did go)</a:t>
            </a:r>
            <a:endParaRPr lang="en-US" sz="950" dirty="0"/>
          </a:p>
        </p:txBody>
      </p:sp>
      <p:sp>
        <p:nvSpPr>
          <p:cNvPr id="17" name="R2_lnA90"/>
          <p:cNvSpPr/>
          <p:nvPr/>
        </p:nvSpPr>
        <p:spPr>
          <a:xfrm>
            <a:off x="548640" y="2236436"/>
            <a:ext cx="5349240" cy="3623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Where did you go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last night?  (a Where you went · b Where did you go · c Where you did go)</a:t>
            </a:r>
            <a:endParaRPr lang="en-US" sz="950" dirty="0"/>
          </a:p>
        </p:txBody>
      </p:sp>
      <p:sp>
        <p:nvSpPr>
          <p:cNvPr id="18" name="ln_91"/>
          <p:cNvSpPr/>
          <p:nvPr/>
        </p:nvSpPr>
        <p:spPr>
          <a:xfrm>
            <a:off x="548640" y="2598818"/>
            <a:ext cx="5349240" cy="34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My brother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football.  (a doesn't like · b don't like · c doesn't likes)</a:t>
            </a:r>
            <a:endParaRPr lang="en-US" sz="950" dirty="0"/>
          </a:p>
        </p:txBody>
      </p:sp>
      <p:sp>
        <p:nvSpPr>
          <p:cNvPr id="19" name="R3_lnA92"/>
          <p:cNvSpPr/>
          <p:nvPr/>
        </p:nvSpPr>
        <p:spPr>
          <a:xfrm>
            <a:off x="548640" y="2598818"/>
            <a:ext cx="5349240" cy="34106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My brother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doesn't like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football.  (a doesn't like · b don't like · c doesn't likes)</a:t>
            </a:r>
            <a:endParaRPr lang="en-US" sz="950" dirty="0"/>
          </a:p>
        </p:txBody>
      </p:sp>
      <p:sp>
        <p:nvSpPr>
          <p:cNvPr id="20" name="ln_93"/>
          <p:cNvSpPr/>
          <p:nvPr/>
        </p:nvSpPr>
        <p:spPr>
          <a:xfrm>
            <a:off x="548640" y="2939883"/>
            <a:ext cx="5349240" cy="26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Her parents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small business.  (a has · b haves · c have)</a:t>
            </a:r>
            <a:endParaRPr lang="en-US" sz="950" dirty="0"/>
          </a:p>
        </p:txBody>
      </p:sp>
      <p:sp>
        <p:nvSpPr>
          <p:cNvPr id="21" name="R4_lnA94"/>
          <p:cNvSpPr/>
          <p:nvPr/>
        </p:nvSpPr>
        <p:spPr>
          <a:xfrm>
            <a:off x="548640" y="2939883"/>
            <a:ext cx="5349240" cy="2629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Her parents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have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small business.  (a has · b haves · c have)</a:t>
            </a:r>
            <a:endParaRPr lang="en-US" sz="950" dirty="0"/>
          </a:p>
        </p:txBody>
      </p:sp>
      <p:sp>
        <p:nvSpPr>
          <p:cNvPr id="22" name="ln_95"/>
          <p:cNvSpPr/>
          <p:nvPr/>
        </p:nvSpPr>
        <p:spPr>
          <a:xfrm>
            <a:off x="548640" y="3202788"/>
            <a:ext cx="5349240" cy="394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I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when I'm working.  (a never listen · b don't never listen · c listen never)</a:t>
            </a:r>
            <a:endParaRPr lang="en-US" sz="950" dirty="0"/>
          </a:p>
        </p:txBody>
      </p:sp>
      <p:sp>
        <p:nvSpPr>
          <p:cNvPr id="23" name="R5_lnA96"/>
          <p:cNvSpPr/>
          <p:nvPr/>
        </p:nvSpPr>
        <p:spPr>
          <a:xfrm>
            <a:off x="548640" y="3202788"/>
            <a:ext cx="5349240" cy="3943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I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never listen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when I'm working.  (a never listen · b don't never listen · c listen never)</a:t>
            </a:r>
            <a:endParaRPr lang="en-US" sz="950" dirty="0"/>
          </a:p>
        </p:txBody>
      </p:sp>
      <p:sp>
        <p:nvSpPr>
          <p:cNvPr id="24" name="ln_97"/>
          <p:cNvSpPr/>
          <p:nvPr/>
        </p:nvSpPr>
        <p:spPr>
          <a:xfrm>
            <a:off x="548640" y="3597145"/>
            <a:ext cx="5349240" cy="35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In the picture the woman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blue skirt.  (a wears · b wearing · c is wearing)</a:t>
            </a:r>
            <a:endParaRPr lang="en-US" sz="950" dirty="0"/>
          </a:p>
        </p:txBody>
      </p:sp>
      <p:sp>
        <p:nvSpPr>
          <p:cNvPr id="25" name="R6_lnA98"/>
          <p:cNvSpPr/>
          <p:nvPr/>
        </p:nvSpPr>
        <p:spPr>
          <a:xfrm>
            <a:off x="548640" y="3597145"/>
            <a:ext cx="5349240" cy="3517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In the picture the woman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is wearing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blue skirt.  (a wears · b wearing · c is wearing)</a:t>
            </a:r>
            <a:endParaRPr lang="en-US" sz="950" dirty="0"/>
          </a:p>
        </p:txBody>
      </p:sp>
      <p:sp>
        <p:nvSpPr>
          <p:cNvPr id="26" name="ln_99"/>
          <p:cNvSpPr/>
          <p:nvPr/>
        </p:nvSpPr>
        <p:spPr>
          <a:xfrm>
            <a:off x="548640" y="3948868"/>
            <a:ext cx="5349240" cy="39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A What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looking for my keys.  (a you are doing · b do you do · c are you doing)</a:t>
            </a:r>
            <a:endParaRPr lang="en-US" sz="950" dirty="0"/>
          </a:p>
        </p:txBody>
      </p:sp>
      <p:sp>
        <p:nvSpPr>
          <p:cNvPr id="27" name="R7_lnA100"/>
          <p:cNvSpPr/>
          <p:nvPr/>
        </p:nvSpPr>
        <p:spPr>
          <a:xfrm>
            <a:off x="548640" y="3948868"/>
            <a:ext cx="5349240" cy="3979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A What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are you doing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looking for my keys.  (a you are doing · b do you do · c are you doing)</a:t>
            </a:r>
            <a:endParaRPr lang="en-US" sz="950" dirty="0"/>
          </a:p>
        </p:txBody>
      </p:sp>
      <p:sp>
        <p:nvSpPr>
          <p:cNvPr id="28" name="ln_101"/>
          <p:cNvSpPr/>
          <p:nvPr/>
        </p:nvSpPr>
        <p:spPr>
          <a:xfrm>
            <a:off x="548640" y="4346778"/>
            <a:ext cx="5349240" cy="362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She's at university. She </a:t>
            </a:r>
            <a:pPr indent="0" marL="0"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history.  (a 's studing · b 's studying · c studying)</a:t>
            </a:r>
            <a:endParaRPr lang="en-US" sz="950" dirty="0"/>
          </a:p>
        </p:txBody>
      </p:sp>
      <p:sp>
        <p:nvSpPr>
          <p:cNvPr id="29" name="R8_lnA102"/>
          <p:cNvSpPr/>
          <p:nvPr/>
        </p:nvSpPr>
        <p:spPr>
          <a:xfrm>
            <a:off x="548640" y="4346778"/>
            <a:ext cx="5349240" cy="3623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She's at university. She </a:t>
            </a:r>
            <a:pPr indent="0" marL="0"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's studying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history.  (a 's studing · b 's studying · c studying)</a:t>
            </a:r>
            <a:endParaRPr lang="en-US" sz="950" dirty="0"/>
          </a:p>
        </p:txBody>
      </p:sp>
      <p:sp>
        <p:nvSpPr>
          <p:cNvPr id="30" name="pf_103"/>
          <p:cNvSpPr/>
          <p:nvPr/>
        </p:nvSpPr>
        <p:spPr>
          <a:xfrm rot="120000">
            <a:off x="6309360" y="1778049"/>
            <a:ext cx="2560320" cy="787302"/>
          </a:xfrm>
          <a:prstGeom prst="roundRect">
            <a:avLst>
              <a:gd name="adj" fmla="val 197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104" descr="/home/claude/lls-course/v2/cache/a2r12_people_jpg_594x16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823769"/>
            <a:ext cx="2468880" cy="695862"/>
          </a:xfrm>
          <a:prstGeom prst="rect">
            <a:avLst/>
          </a:prstGeom>
        </p:spPr>
      </p:pic>
      <p:sp>
        <p:nvSpPr>
          <p:cNvPr id="32" name="cd_105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ii_106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4" name="ih_107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5" name="il_108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Alone · no talking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point each · ___ / 15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1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1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test (2)</a:t>
            </a:r>
            <a:endParaRPr lang="en-US" sz="2500" dirty="0"/>
          </a:p>
        </p:txBody>
      </p:sp>
      <p:pic>
        <p:nvPicPr>
          <p:cNvPr id="6" name="brP_11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113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Choose a, b or c. Then count your score.</a:t>
            </a:r>
            <a:endParaRPr lang="en-US" sz="1250" dirty="0"/>
          </a:p>
        </p:txBody>
      </p:sp>
      <p:sp>
        <p:nvSpPr>
          <p:cNvPr id="8" name="insIT_11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Mini-test! Scegli a, b o c. Poi conta i punti.</a:t>
            </a:r>
            <a:endParaRPr lang="en-US" sz="950" dirty="0"/>
          </a:p>
        </p:txBody>
      </p:sp>
      <p:sp>
        <p:nvSpPr>
          <p:cNvPr id="9" name="note_11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11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1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Grammar · SB p.20 · 9–15   ·   📖 SB p.20 · Grammar 9–15 (TG key)</a:t>
            </a:r>
            <a:endParaRPr lang="en-US" sz="800" dirty="0"/>
          </a:p>
        </p:txBody>
      </p:sp>
      <p:sp>
        <p:nvSpPr>
          <p:cNvPr id="12" name="cd_118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119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a, b or c</a:t>
            </a:r>
            <a:endParaRPr lang="en-US" sz="1700" dirty="0"/>
          </a:p>
        </p:txBody>
      </p:sp>
      <p:sp>
        <p:nvSpPr>
          <p:cNvPr id="14" name="ln_120"/>
          <p:cNvSpPr/>
          <p:nvPr/>
        </p:nvSpPr>
        <p:spPr>
          <a:xfrm>
            <a:off x="548640" y="1920240"/>
            <a:ext cx="534924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We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Malta last August.  (a were · b went · c did go)</a:t>
            </a:r>
            <a:endParaRPr lang="en-US" sz="1100" dirty="0"/>
          </a:p>
        </p:txBody>
      </p:sp>
      <p:sp>
        <p:nvSpPr>
          <p:cNvPr id="15" name="R1_lnA121"/>
          <p:cNvSpPr/>
          <p:nvPr/>
        </p:nvSpPr>
        <p:spPr>
          <a:xfrm>
            <a:off x="548640" y="1920240"/>
            <a:ext cx="5349240" cy="26088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We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went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Malta last August.  (a were · b went · c did go)</a:t>
            </a:r>
            <a:endParaRPr lang="en-US" sz="1100" dirty="0"/>
          </a:p>
        </p:txBody>
      </p:sp>
      <p:sp>
        <p:nvSpPr>
          <p:cNvPr id="16" name="ln_122"/>
          <p:cNvSpPr/>
          <p:nvPr/>
        </p:nvSpPr>
        <p:spPr>
          <a:xfrm>
            <a:off x="548640" y="2181127"/>
            <a:ext cx="5349240" cy="37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I saw the film, but I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it.  (a didn't liked · b don't liked · c didn't like)</a:t>
            </a:r>
            <a:endParaRPr lang="en-US" sz="1100" dirty="0"/>
          </a:p>
        </p:txBody>
      </p:sp>
      <p:sp>
        <p:nvSpPr>
          <p:cNvPr id="17" name="R2_lnA123"/>
          <p:cNvSpPr/>
          <p:nvPr/>
        </p:nvSpPr>
        <p:spPr>
          <a:xfrm>
            <a:off x="548640" y="2181127"/>
            <a:ext cx="5349240" cy="37112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I saw the film, but I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didn't like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it.  (a didn't liked · b don't liked · c didn't like)</a:t>
            </a:r>
            <a:endParaRPr lang="en-US" sz="1100" dirty="0"/>
          </a:p>
        </p:txBody>
      </p:sp>
      <p:sp>
        <p:nvSpPr>
          <p:cNvPr id="18" name="ln_124"/>
          <p:cNvSpPr/>
          <p:nvPr/>
        </p:nvSpPr>
        <p:spPr>
          <a:xfrm>
            <a:off x="548640" y="2552248"/>
            <a:ext cx="5349240" cy="429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When I got home, my parents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sofa.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sitting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sitting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siting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R3_lnA125"/>
          <p:cNvSpPr/>
          <p:nvPr/>
        </p:nvSpPr>
        <p:spPr>
          <a:xfrm>
            <a:off x="548640" y="2552248"/>
            <a:ext cx="5349240" cy="4299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When I got home, my parents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were sitting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sofa.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sitting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sitting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siting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ln_126"/>
          <p:cNvSpPr/>
          <p:nvPr/>
        </p:nvSpPr>
        <p:spPr>
          <a:xfrm>
            <a:off x="548640" y="2982161"/>
            <a:ext cx="5349240" cy="474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What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11 p.m.? You didn't answer my call.  (a you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doing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you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doing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were you doing)</a:t>
            </a:r>
            <a:endParaRPr lang="en-US" sz="1100" dirty="0"/>
          </a:p>
        </p:txBody>
      </p:sp>
      <p:sp>
        <p:nvSpPr>
          <p:cNvPr id="21" name="R4_lnA127"/>
          <p:cNvSpPr/>
          <p:nvPr/>
        </p:nvSpPr>
        <p:spPr>
          <a:xfrm>
            <a:off x="548640" y="2982161"/>
            <a:ext cx="5349240" cy="47400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What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were you doing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11 p.m.? You didn't answer my call.  (a you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doing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you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doing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were you doing)</a:t>
            </a:r>
            <a:endParaRPr lang="en-US" sz="1100" dirty="0"/>
          </a:p>
        </p:txBody>
      </p:sp>
      <p:sp>
        <p:nvSpPr>
          <p:cNvPr id="22" name="ln_128"/>
          <p:cNvSpPr/>
          <p:nvPr/>
        </p:nvSpPr>
        <p:spPr>
          <a:xfrm>
            <a:off x="548640" y="3456167"/>
            <a:ext cx="5349240" cy="474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She couldn't see him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 glasses.  (a wasn't wearing · b didn't wear · c didn't wearing)</a:t>
            </a:r>
            <a:endParaRPr lang="en-US" sz="1100" dirty="0"/>
          </a:p>
        </p:txBody>
      </p:sp>
      <p:sp>
        <p:nvSpPr>
          <p:cNvPr id="23" name="R5_lnA129"/>
          <p:cNvSpPr/>
          <p:nvPr/>
        </p:nvSpPr>
        <p:spPr>
          <a:xfrm>
            <a:off x="548640" y="3456167"/>
            <a:ext cx="5349240" cy="47400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She couldn't see him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wasn't wearing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 glasses.  (a wasn't wearing · b didn't wear · c didn't wearing)</a:t>
            </a:r>
            <a:endParaRPr lang="en-US" sz="1100" dirty="0"/>
          </a:p>
        </p:txBody>
      </p:sp>
      <p:sp>
        <p:nvSpPr>
          <p:cNvPr id="24" name="ln_130"/>
          <p:cNvSpPr/>
          <p:nvPr/>
        </p:nvSpPr>
        <p:spPr>
          <a:xfrm>
            <a:off x="548640" y="3930173"/>
            <a:ext cx="5349240" cy="38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We had lunch in a restaurant.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we decided to go for a walk.  (a After · b Then · c When)</a:t>
            </a:r>
            <a:endParaRPr lang="en-US" sz="1100" dirty="0"/>
          </a:p>
        </p:txBody>
      </p:sp>
      <p:sp>
        <p:nvSpPr>
          <p:cNvPr id="25" name="R6_lnA131"/>
          <p:cNvSpPr/>
          <p:nvPr/>
        </p:nvSpPr>
        <p:spPr>
          <a:xfrm>
            <a:off x="548640" y="3930173"/>
            <a:ext cx="5349240" cy="38949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We had lunch in a restaurant.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Then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we decided to go for a walk.  (a After · b Then · c When)</a:t>
            </a:r>
            <a:endParaRPr lang="en-US" sz="1100" dirty="0"/>
          </a:p>
        </p:txBody>
      </p:sp>
      <p:sp>
        <p:nvSpPr>
          <p:cNvPr id="26" name="ln_132"/>
          <p:cNvSpPr/>
          <p:nvPr/>
        </p:nvSpPr>
        <p:spPr>
          <a:xfrm>
            <a:off x="548640" y="4319667"/>
            <a:ext cx="5349240" cy="38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 We had a great time,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weather wasn't very good.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27" name="R7_lnA133"/>
          <p:cNvSpPr/>
          <p:nvPr/>
        </p:nvSpPr>
        <p:spPr>
          <a:xfrm>
            <a:off x="548640" y="4319667"/>
            <a:ext cx="5349240" cy="38949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 We had a great time,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although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weather wasn't very good.  (a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b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 </a:t>
            </a:r>
            <a:pPr indent="0" marL="0">
              <a:buNone/>
            </a:pPr>
            <a:r>
              <a:rPr lang="en-US" sz="11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100" dirty="0"/>
          </a:p>
        </p:txBody>
      </p:sp>
      <p:sp>
        <p:nvSpPr>
          <p:cNvPr id="28" name="pf_134"/>
          <p:cNvSpPr/>
          <p:nvPr/>
        </p:nvSpPr>
        <p:spPr>
          <a:xfrm rot="120000">
            <a:off x="6309360" y="1740218"/>
            <a:ext cx="2560320" cy="862965"/>
          </a:xfrm>
          <a:prstGeom prst="roundRect">
            <a:avLst>
              <a:gd name="adj" fmla="val 180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9" name="ph_135" descr="/home/claude/lls-course/v2/cache/a2r12_beijing_jpg_594x186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785938"/>
            <a:ext cx="2468880" cy="771525"/>
          </a:xfrm>
          <a:prstGeom prst="rect">
            <a:avLst/>
          </a:prstGeom>
        </p:spPr>
      </p:pic>
      <p:sp>
        <p:nvSpPr>
          <p:cNvPr id="30" name="cd_136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ii_137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2" name="ih_138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3" name="il_139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Count your points: ___ / 15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13+ = excellent!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4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142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auction</a:t>
            </a:r>
            <a:endParaRPr lang="en-US" sz="2400" dirty="0"/>
          </a:p>
        </p:txBody>
      </p:sp>
      <p:pic>
        <p:nvPicPr>
          <p:cNvPr id="6" name="brP_14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144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have €1,000. Buy the CORRECT sentences!</a:t>
            </a:r>
            <a:endParaRPr lang="en-US" sz="1250" dirty="0"/>
          </a:p>
        </p:txBody>
      </p:sp>
      <p:sp>
        <p:nvSpPr>
          <p:cNvPr id="8" name="insIT_14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Avete 1.000 €. Comprate le frasi GIUSTE!</a:t>
            </a:r>
            <a:endParaRPr lang="en-US" sz="950" dirty="0"/>
          </a:p>
        </p:txBody>
      </p:sp>
      <p:sp>
        <p:nvSpPr>
          <p:cNvPr id="9" name="note_14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 game</a:t>
            </a:r>
            <a:endParaRPr lang="en-US" sz="1250" dirty="0"/>
          </a:p>
        </p:txBody>
      </p:sp>
      <p:pic>
        <p:nvPicPr>
          <p:cNvPr id="10" name="logo_14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4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Game · grammar auction   ·   📖 Review of Grammar Banks 1A–2C</a:t>
            </a:r>
            <a:endParaRPr lang="en-US" sz="800" dirty="0"/>
          </a:p>
        </p:txBody>
      </p:sp>
      <p:sp>
        <p:nvSpPr>
          <p:cNvPr id="12" name="cd_149"/>
          <p:cNvSpPr/>
          <p:nvPr/>
        </p:nvSpPr>
        <p:spPr>
          <a:xfrm>
            <a:off x="320040" y="1417320"/>
            <a:ext cx="2697480" cy="1917192"/>
          </a:xfrm>
          <a:prstGeom prst="roundRect">
            <a:avLst>
              <a:gd name="adj" fmla="val 66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5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5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52"/>
          <p:cNvSpPr/>
          <p:nvPr/>
        </p:nvSpPr>
        <p:spPr>
          <a:xfrm>
            <a:off x="886968" y="1911096"/>
            <a:ext cx="2039112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Each team has €1,000.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Bid for the sentences you think are CORRECT.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Most correct sentences wins!</a:t>
            </a:r>
            <a:endParaRPr lang="en-US" sz="1200" dirty="0"/>
          </a:p>
        </p:txBody>
      </p:sp>
      <p:sp>
        <p:nvSpPr>
          <p:cNvPr id="16" name="st_153"/>
          <p:cNvSpPr/>
          <p:nvPr/>
        </p:nvSpPr>
        <p:spPr>
          <a:xfrm rot="-180000">
            <a:off x="502920" y="3517392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154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gq_155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don't like her job.</a:t>
            </a:r>
            <a:endParaRPr lang="en-US" sz="900" dirty="0"/>
          </a:p>
        </p:txBody>
      </p:sp>
      <p:sp>
        <p:nvSpPr>
          <p:cNvPr id="19" name="R1_chip156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She doesn't like her job.</a:t>
            </a:r>
            <a:endParaRPr lang="en-US" sz="900" dirty="0"/>
          </a:p>
        </p:txBody>
      </p:sp>
      <p:sp>
        <p:nvSpPr>
          <p:cNvPr id="20" name="bd_157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gq_158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wearing today?</a:t>
            </a:r>
            <a:endParaRPr lang="en-US" sz="900" dirty="0"/>
          </a:p>
        </p:txBody>
      </p:sp>
      <p:sp>
        <p:nvSpPr>
          <p:cNvPr id="22" name="R2_chip159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now → present continuous</a:t>
            </a:r>
            <a:endParaRPr lang="en-US" sz="900" dirty="0"/>
          </a:p>
        </p:txBody>
      </p:sp>
      <p:sp>
        <p:nvSpPr>
          <p:cNvPr id="23" name="bd_160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gq_161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knowing his name.</a:t>
            </a:r>
            <a:endParaRPr lang="en-US" sz="900" dirty="0"/>
          </a:p>
        </p:txBody>
      </p:sp>
      <p:sp>
        <p:nvSpPr>
          <p:cNvPr id="25" name="R3_chip162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I don't know his name. (no -ing)</a:t>
            </a:r>
            <a:endParaRPr lang="en-US" sz="900" dirty="0"/>
          </a:p>
        </p:txBody>
      </p:sp>
      <p:sp>
        <p:nvSpPr>
          <p:cNvPr id="26" name="bd_163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gq_164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did you stay last summer?</a:t>
            </a:r>
            <a:endParaRPr lang="en-US" sz="900" dirty="0"/>
          </a:p>
        </p:txBody>
      </p:sp>
      <p:sp>
        <p:nvSpPr>
          <p:cNvPr id="28" name="R4_chip165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past simple question</a:t>
            </a:r>
            <a:endParaRPr lang="en-US" sz="900" dirty="0"/>
          </a:p>
        </p:txBody>
      </p:sp>
      <p:sp>
        <p:nvSpPr>
          <p:cNvPr id="29" name="bd_166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gq_167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was having a shower when the phone rang.</a:t>
            </a:r>
            <a:endParaRPr lang="en-US" sz="900" dirty="0"/>
          </a:p>
        </p:txBody>
      </p:sp>
      <p:sp>
        <p:nvSpPr>
          <p:cNvPr id="31" name="R5_chip168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past continuous + past simple</a:t>
            </a:r>
            <a:endParaRPr lang="en-US" sz="900" dirty="0"/>
          </a:p>
        </p:txBody>
      </p:sp>
      <p:sp>
        <p:nvSpPr>
          <p:cNvPr id="32" name="bd_169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gq_170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didn't went out last night.</a:t>
            </a:r>
            <a:endParaRPr lang="en-US" sz="900" dirty="0"/>
          </a:p>
        </p:txBody>
      </p:sp>
      <p:sp>
        <p:nvSpPr>
          <p:cNvPr id="34" name="R6_chip171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We didn't go out.</a:t>
            </a:r>
            <a:endParaRPr lang="en-US" sz="900" dirty="0"/>
          </a:p>
        </p:txBody>
      </p:sp>
      <p:sp>
        <p:nvSpPr>
          <p:cNvPr id="35" name="bd_172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gq_173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Although it was cold, we went to the beach.</a:t>
            </a:r>
            <a:endParaRPr lang="en-US" sz="900" dirty="0"/>
          </a:p>
        </p:txBody>
      </p:sp>
      <p:sp>
        <p:nvSpPr>
          <p:cNvPr id="37" name="R7_chip174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contrast</a:t>
            </a:r>
            <a:endParaRPr lang="en-US" sz="900" dirty="0"/>
          </a:p>
        </p:txBody>
      </p:sp>
      <p:sp>
        <p:nvSpPr>
          <p:cNvPr id="38" name="bd_175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39" name="gq_176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was walk to work when he saw her.</a:t>
            </a:r>
            <a:endParaRPr lang="en-US" sz="900" dirty="0"/>
          </a:p>
        </p:txBody>
      </p:sp>
      <p:sp>
        <p:nvSpPr>
          <p:cNvPr id="40" name="R8_chip177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He was walking…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7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180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verb?</a:t>
            </a:r>
            <a:endParaRPr lang="en-US" sz="2500" dirty="0"/>
          </a:p>
        </p:txBody>
      </p:sp>
      <p:pic>
        <p:nvPicPr>
          <p:cNvPr id="6" name="brP_18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182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phrases with a verb from the box.</a:t>
            </a:r>
            <a:endParaRPr lang="en-US" sz="1250" dirty="0"/>
          </a:p>
        </p:txBody>
      </p:sp>
      <p:sp>
        <p:nvSpPr>
          <p:cNvPr id="8" name="insIT_18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le frasi con un verbo del riquadro.</a:t>
            </a:r>
            <a:endParaRPr lang="en-US" sz="950" dirty="0"/>
          </a:p>
        </p:txBody>
      </p:sp>
      <p:sp>
        <p:nvSpPr>
          <p:cNvPr id="9" name="note_18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18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Vocabulary a · SB p.20   ·   📖 SB p.20 · Vocabulary a (TG key)</a:t>
            </a:r>
            <a:endParaRPr lang="en-US" sz="800" dirty="0"/>
          </a:p>
        </p:txBody>
      </p:sp>
      <p:sp>
        <p:nvSpPr>
          <p:cNvPr id="12" name="cd_187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8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14" name="R1_rdA18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15" name="R2_rdA19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16" name="R3_rdA19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17" name="R4_rdA19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stay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18" name="R5_rdA19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stay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book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19" name="R6_rdA19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stay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book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invite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20" name="R7_rdA19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stay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book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invite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21" name="R8_rdA19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stay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book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invite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play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22" name="R9_rdA19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phrases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 What 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I'm a doctor.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What does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look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like?  B She's tall and slim.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She doesn't usually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wear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jewellery, only her wedding ring.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take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photos?  B No, I didn't.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Where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stay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B In a small hotel.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Did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book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flight online?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 Let's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invite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parents to dinner.  B Good idea.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 Are you going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there?  B No, we're going to get the train.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 Go on! Ask the DJ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play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song!  B OK.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 What time do we need 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leave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tomorrow?  B About 6.00. Our flight is at 9.00.</a:t>
            </a:r>
            <a:endParaRPr lang="en-US" sz="950" dirty="0"/>
          </a:p>
        </p:txBody>
      </p:sp>
      <p:sp>
        <p:nvSpPr>
          <p:cNvPr id="23" name="cd_198"/>
          <p:cNvSpPr/>
          <p:nvPr/>
        </p:nvSpPr>
        <p:spPr>
          <a:xfrm>
            <a:off x="6263640" y="1417320"/>
            <a:ext cx="2606040" cy="1613408"/>
          </a:xfrm>
          <a:prstGeom prst="roundRect">
            <a:avLst>
              <a:gd name="adj" fmla="val 793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ii_199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ih_200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verbs</a:t>
            </a:r>
            <a:endParaRPr lang="en-US" sz="1300" dirty="0"/>
          </a:p>
        </p:txBody>
      </p:sp>
      <p:sp>
        <p:nvSpPr>
          <p:cNvPr id="26" name="il_201"/>
          <p:cNvSpPr/>
          <p:nvPr/>
        </p:nvSpPr>
        <p:spPr>
          <a:xfrm>
            <a:off x="6830568" y="1911096"/>
            <a:ext cx="194767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 · do · drive · invite · leave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· play · stay · take · wear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0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04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At, in or on?</a:t>
            </a:r>
            <a:endParaRPr lang="en-US" sz="2500" dirty="0"/>
          </a:p>
        </p:txBody>
      </p:sp>
      <p:pic>
        <p:nvPicPr>
          <p:cNvPr id="6" name="brP_20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076956" cy="402336"/>
          </a:xfrm>
          <a:prstGeom prst="rect">
            <a:avLst/>
          </a:prstGeom>
        </p:spPr>
      </p:pic>
      <p:sp>
        <p:nvSpPr>
          <p:cNvPr id="7" name="ins_206"/>
          <p:cNvSpPr/>
          <p:nvPr/>
        </p:nvSpPr>
        <p:spPr>
          <a:xfrm>
            <a:off x="1353312" y="731520"/>
            <a:ext cx="2820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at, in or on.</a:t>
            </a:r>
            <a:endParaRPr lang="en-US" sz="1250" dirty="0"/>
          </a:p>
        </p:txBody>
      </p:sp>
      <p:sp>
        <p:nvSpPr>
          <p:cNvPr id="8" name="insIT_20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at, in o on.</a:t>
            </a:r>
            <a:endParaRPr lang="en-US" sz="950" dirty="0"/>
          </a:p>
        </p:txBody>
      </p:sp>
      <p:sp>
        <p:nvSpPr>
          <p:cNvPr id="9" name="note_20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20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Vocabulary b · SB p.20   ·   📖 SB p.20 · Vocabulary b (TG key)</a:t>
            </a:r>
            <a:endParaRPr lang="en-US" sz="800" dirty="0"/>
          </a:p>
        </p:txBody>
      </p:sp>
      <p:sp>
        <p:nvSpPr>
          <p:cNvPr id="12" name="cd_211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21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· in · on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meeting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13th March.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Where's Mum?  B She's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He was born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Where's the dictionary?  B It's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shelf in my room.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Mark's not back yet – he's still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It's a very quiet town, especially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 went on holiday to Iceland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2017.</a:t>
            </a:r>
            <a:endParaRPr lang="en-US" sz="1150" dirty="0"/>
          </a:p>
        </p:txBody>
      </p:sp>
      <p:sp>
        <p:nvSpPr>
          <p:cNvPr id="14" name="R1_rdA21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· in · on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meeting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13th March.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Where's Mum?  B She's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He was born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Where's the dictionary?  B It's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shelf in my room.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Mark's not back yet – he's still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It's a very quiet town, especially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 went on holiday to Iceland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2017.</a:t>
            </a:r>
            <a:endParaRPr lang="en-US" sz="1150" dirty="0"/>
          </a:p>
        </p:txBody>
      </p:sp>
      <p:sp>
        <p:nvSpPr>
          <p:cNvPr id="15" name="R2_rdA21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· in · on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meeting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13th March.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Where's Mum?  B She's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He was born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Where's the dictionary?  B It's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shelf in my room.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Mark's not back yet – he's still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It's a very quiet town, especially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 went on holiday to Iceland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2017.</a:t>
            </a:r>
            <a:endParaRPr lang="en-US" sz="1150" dirty="0"/>
          </a:p>
        </p:txBody>
      </p:sp>
      <p:sp>
        <p:nvSpPr>
          <p:cNvPr id="16" name="R3_rdA21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· in · on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meeting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13th March.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Where's Mum?  B She's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He was born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Where's the dictionary?  B It's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shelf in my room.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Mark's not back yet – he's still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It's a very quiet town, especially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 went on holiday to Iceland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2017.</a:t>
            </a:r>
            <a:endParaRPr lang="en-US" sz="1150" dirty="0"/>
          </a:p>
        </p:txBody>
      </p:sp>
      <p:sp>
        <p:nvSpPr>
          <p:cNvPr id="17" name="R4_rdA21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· in · on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meeting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13th March.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Where's Mum?  B She's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He was born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Where's the dictionary?  B It's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shelf in my room.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Mark's not back yet – he's still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It's a very quiet town, especially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 went on holiday to Iceland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2017.</a:t>
            </a:r>
            <a:endParaRPr lang="en-US" sz="1150" dirty="0"/>
          </a:p>
        </p:txBody>
      </p:sp>
      <p:sp>
        <p:nvSpPr>
          <p:cNvPr id="18" name="R5_rdA21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· in · on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meeting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13th March.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Where's Mum?  B She's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He was born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Where's the dictionary?  B It's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shelf in my room.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Mark's not back yet – he's still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It's a very quiet town, especially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 went on holiday to Iceland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2017.</a:t>
            </a:r>
            <a:endParaRPr lang="en-US" sz="1150" dirty="0"/>
          </a:p>
        </p:txBody>
      </p:sp>
      <p:sp>
        <p:nvSpPr>
          <p:cNvPr id="19" name="R6_rdA21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· in · on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meeting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13th March.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 Where's Mum?  B She's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He was born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 Where's the dictionary?  B It's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on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shelf in my room.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Mark's not back yet – he's still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It's a very quiet town, especially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 went on holiday to Iceland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in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2017.</a:t>
            </a:r>
            <a:endParaRPr lang="en-US" sz="1150" dirty="0"/>
          </a:p>
        </p:txBody>
      </p:sp>
      <p:sp>
        <p:nvSpPr>
          <p:cNvPr id="20" name="cd_219"/>
          <p:cNvSpPr/>
          <p:nvPr/>
        </p:nvSpPr>
        <p:spPr>
          <a:xfrm>
            <a:off x="6263640" y="1417320"/>
            <a:ext cx="2606040" cy="1876552"/>
          </a:xfrm>
          <a:prstGeom prst="roundRect">
            <a:avLst>
              <a:gd name="adj" fmla="val 6822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ii_220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2" name="ih_221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300" dirty="0"/>
          </a:p>
        </p:txBody>
      </p:sp>
      <p:sp>
        <p:nvSpPr>
          <p:cNvPr id="23" name="il_222"/>
          <p:cNvSpPr/>
          <p:nvPr/>
        </p:nvSpPr>
        <p:spPr>
          <a:xfrm>
            <a:off x="6830568" y="1911096"/>
            <a:ext cx="1947672" cy="1309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+ day / date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+ month / year / room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+ night / school / home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2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225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Odd one out</a:t>
            </a:r>
            <a:endParaRPr lang="en-US" sz="2500" dirty="0"/>
          </a:p>
        </p:txBody>
      </p:sp>
      <p:pic>
        <p:nvPicPr>
          <p:cNvPr id="6" name="brP_22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227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which word is different? Say WHY!</a:t>
            </a:r>
            <a:endParaRPr lang="en-US" sz="1250" dirty="0"/>
          </a:p>
        </p:txBody>
      </p:sp>
      <p:sp>
        <p:nvSpPr>
          <p:cNvPr id="8" name="insIT_22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quale parola è diversa? Dite PERCHÉ!</a:t>
            </a:r>
            <a:endParaRPr lang="en-US" sz="950" dirty="0"/>
          </a:p>
        </p:txBody>
      </p:sp>
      <p:sp>
        <p:nvSpPr>
          <p:cNvPr id="9" name="note_22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Communicative game</a:t>
            </a:r>
            <a:endParaRPr lang="en-US" sz="1250" dirty="0"/>
          </a:p>
        </p:txBody>
      </p:sp>
      <p:pic>
        <p:nvPicPr>
          <p:cNvPr id="10" name="logo_23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Vocabulary c · odd one out   ·   📖 SB p.20 · Vocabulary c (TG key)</a:t>
            </a:r>
            <a:endParaRPr lang="en-US" sz="800" dirty="0"/>
          </a:p>
        </p:txBody>
      </p:sp>
      <p:sp>
        <p:nvSpPr>
          <p:cNvPr id="12" name="cd_232"/>
          <p:cNvSpPr/>
          <p:nvPr/>
        </p:nvSpPr>
        <p:spPr>
          <a:xfrm>
            <a:off x="320040" y="1417320"/>
            <a:ext cx="2697480" cy="1722120"/>
          </a:xfrm>
          <a:prstGeom prst="roundRect">
            <a:avLst>
              <a:gd name="adj" fmla="val 743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3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23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235"/>
          <p:cNvSpPr/>
          <p:nvPr/>
        </p:nvSpPr>
        <p:spPr>
          <a:xfrm>
            <a:off x="886968" y="1911096"/>
            <a:ext cx="2039112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4 words.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the different one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why = 1 more point!</a:t>
            </a:r>
            <a:endParaRPr lang="en-US" sz="1200" dirty="0"/>
          </a:p>
        </p:txBody>
      </p:sp>
      <p:sp>
        <p:nvSpPr>
          <p:cNvPr id="16" name="st_236"/>
          <p:cNvSpPr/>
          <p:nvPr/>
        </p:nvSpPr>
        <p:spPr>
          <a:xfrm rot="-180000">
            <a:off x="502920" y="3322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237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238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straight · long · curly · beard</a:t>
            </a:r>
            <a:endParaRPr lang="en-US" sz="900" dirty="0"/>
          </a:p>
        </p:txBody>
      </p:sp>
      <p:sp>
        <p:nvSpPr>
          <p:cNvPr id="19" name="chip_239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beard (the others describe hair)</a:t>
            </a:r>
            <a:endParaRPr lang="en-US" sz="900" dirty="0"/>
          </a:p>
        </p:txBody>
      </p:sp>
      <p:sp>
        <p:nvSpPr>
          <p:cNvPr id="20" name="bd_240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41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kind · lazy · generous · funny</a:t>
            </a:r>
            <a:endParaRPr lang="en-US" sz="900" dirty="0"/>
          </a:p>
        </p:txBody>
      </p:sp>
      <p:sp>
        <p:nvSpPr>
          <p:cNvPr id="22" name="R1_chip242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lazy (the others are positive)</a:t>
            </a:r>
            <a:endParaRPr lang="en-US" sz="900" dirty="0"/>
          </a:p>
        </p:txBody>
      </p:sp>
      <p:sp>
        <p:nvSpPr>
          <p:cNvPr id="23" name="bd_243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44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clever · mean · unfriendly · unkind</a:t>
            </a:r>
            <a:endParaRPr lang="en-US" sz="900" dirty="0"/>
          </a:p>
        </p:txBody>
      </p:sp>
      <p:sp>
        <p:nvSpPr>
          <p:cNvPr id="25" name="R2_chip245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clever (the others are negative)</a:t>
            </a:r>
            <a:endParaRPr lang="en-US" sz="900" dirty="0"/>
          </a:p>
        </p:txBody>
      </p:sp>
      <p:sp>
        <p:nvSpPr>
          <p:cNvPr id="26" name="bd_246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47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dress · shirt · tie · jacket</a:t>
            </a:r>
            <a:endParaRPr lang="en-US" sz="900" dirty="0"/>
          </a:p>
        </p:txBody>
      </p:sp>
      <p:sp>
        <p:nvSpPr>
          <p:cNvPr id="28" name="R3_chip248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dress (the others are worn by men)</a:t>
            </a:r>
            <a:endParaRPr lang="en-US" sz="900" dirty="0"/>
          </a:p>
        </p:txBody>
      </p:sp>
      <p:sp>
        <p:nvSpPr>
          <p:cNvPr id="29" name="bd_249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50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socks · gloves · trainers · sandals</a:t>
            </a:r>
            <a:endParaRPr lang="en-US" sz="900" dirty="0"/>
          </a:p>
        </p:txBody>
      </p:sp>
      <p:sp>
        <p:nvSpPr>
          <p:cNvPr id="31" name="R4_chip251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gloves (the others are for your feet)</a:t>
            </a:r>
            <a:endParaRPr lang="en-US" sz="900" dirty="0"/>
          </a:p>
        </p:txBody>
      </p:sp>
      <p:sp>
        <p:nvSpPr>
          <p:cNvPr id="32" name="bd_252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253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necklace · bracelet · ring · scarf</a:t>
            </a:r>
            <a:endParaRPr lang="en-US" sz="900" dirty="0"/>
          </a:p>
        </p:txBody>
      </p:sp>
      <p:sp>
        <p:nvSpPr>
          <p:cNvPr id="34" name="R5_chip254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scarf (the others are jewellery)</a:t>
            </a:r>
            <a:endParaRPr lang="en-US" sz="900" dirty="0"/>
          </a:p>
        </p:txBody>
      </p:sp>
      <p:sp>
        <p:nvSpPr>
          <p:cNvPr id="35" name="bd_255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256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windy · foggy · noisy · sunny</a:t>
            </a:r>
            <a:endParaRPr lang="en-US" sz="900" dirty="0"/>
          </a:p>
        </p:txBody>
      </p:sp>
      <p:sp>
        <p:nvSpPr>
          <p:cNvPr id="37" name="R6_chip257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noisy (the others are weather)</a:t>
            </a:r>
            <a:endParaRPr lang="en-US" sz="900" dirty="0"/>
          </a:p>
        </p:txBody>
      </p:sp>
      <p:sp>
        <p:nvSpPr>
          <p:cNvPr id="38" name="bd_258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259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basic · dirty · luxurious · uncomfortable</a:t>
            </a:r>
            <a:endParaRPr lang="en-US" sz="900" dirty="0"/>
          </a:p>
        </p:txBody>
      </p:sp>
      <p:sp>
        <p:nvSpPr>
          <p:cNvPr id="40" name="R7_chip260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luxurious (the others are negative)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6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263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sound?</a:t>
            </a:r>
            <a:endParaRPr lang="en-US" sz="2400" dirty="0"/>
          </a:p>
        </p:txBody>
      </p:sp>
      <p:pic>
        <p:nvPicPr>
          <p:cNvPr id="6" name="brP_26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265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words. Which sound are the pink letters?</a:t>
            </a:r>
            <a:endParaRPr lang="en-US" sz="1250" dirty="0"/>
          </a:p>
        </p:txBody>
      </p:sp>
      <p:sp>
        <p:nvSpPr>
          <p:cNvPr id="8" name="insIT_26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le parole. Che suono hanno le lettere rosa?</a:t>
            </a:r>
            <a:endParaRPr lang="en-US" sz="950" dirty="0"/>
          </a:p>
        </p:txBody>
      </p:sp>
      <p:sp>
        <p:nvSpPr>
          <p:cNvPr id="9" name="note_26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6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Pronunciation c · sounds   ·   📖 SB p.20 · Pronunciation a, c (Sound Bank pp.166–167)</a:t>
            </a:r>
            <a:endParaRPr lang="en-US" sz="800" dirty="0"/>
          </a:p>
        </p:txBody>
      </p:sp>
      <p:sp>
        <p:nvSpPr>
          <p:cNvPr id="12" name="cd_270"/>
          <p:cNvSpPr/>
          <p:nvPr/>
        </p:nvSpPr>
        <p:spPr>
          <a:xfrm>
            <a:off x="320040" y="1417320"/>
            <a:ext cx="2697480" cy="2679192"/>
          </a:xfrm>
          <a:prstGeom prst="roundRect">
            <a:avLst>
              <a:gd name="adj" fmla="val 477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7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7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sounds</a:t>
            </a:r>
            <a:endParaRPr lang="en-US" sz="1300" dirty="0"/>
          </a:p>
        </p:txBody>
      </p:sp>
      <p:sp>
        <p:nvSpPr>
          <p:cNvPr id="15" name="lg_273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8E6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🌳 tree /iː/</a:t>
            </a:r>
            <a:endParaRPr lang="en-US" sz="1050" dirty="0"/>
          </a:p>
        </p:txBody>
      </p:sp>
      <p:sp>
        <p:nvSpPr>
          <p:cNvPr id="16" name="lg_274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0B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🚗 car /ɑː/</a:t>
            </a:r>
            <a:endParaRPr lang="en-US" sz="1050" dirty="0"/>
          </a:p>
        </p:txBody>
      </p:sp>
      <p:sp>
        <p:nvSpPr>
          <p:cNvPr id="17" name="lg_275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🐟 fish /ɪ/</a:t>
            </a:r>
            <a:endParaRPr lang="en-US" sz="1050" dirty="0"/>
          </a:p>
        </p:txBody>
      </p:sp>
      <p:sp>
        <p:nvSpPr>
          <p:cNvPr id="18" name="lg_276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🚲 bike /aɪ/</a:t>
            </a:r>
            <a:endParaRPr lang="en-US" sz="1050" dirty="0"/>
          </a:p>
        </p:txBody>
      </p:sp>
      <p:sp>
        <p:nvSpPr>
          <p:cNvPr id="19" name="lg_277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9F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🐍 snake /s/</a:t>
            </a:r>
            <a:endParaRPr lang="en-US" sz="1050" dirty="0"/>
          </a:p>
        </p:txBody>
      </p:sp>
      <p:sp>
        <p:nvSpPr>
          <p:cNvPr id="20" name="lg_278"/>
          <p:cNvSpPr/>
          <p:nvPr/>
        </p:nvSpPr>
        <p:spPr>
          <a:xfrm>
            <a:off x="1719072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🦓 zebra /z/</a:t>
            </a:r>
            <a:endParaRPr lang="en-US" sz="1050" dirty="0"/>
          </a:p>
        </p:txBody>
      </p:sp>
      <p:sp>
        <p:nvSpPr>
          <p:cNvPr id="21" name="lg_279"/>
          <p:cNvSpPr/>
          <p:nvPr/>
        </p:nvSpPr>
        <p:spPr>
          <a:xfrm>
            <a:off x="457200" y="313639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🐶 dog /d/</a:t>
            </a:r>
            <a:endParaRPr lang="en-US" sz="1050" dirty="0"/>
          </a:p>
        </p:txBody>
      </p:sp>
      <p:sp>
        <p:nvSpPr>
          <p:cNvPr id="22" name="lg_280"/>
          <p:cNvSpPr/>
          <p:nvPr/>
        </p:nvSpPr>
        <p:spPr>
          <a:xfrm>
            <a:off x="1719072" y="313639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👔 tie /t/</a:t>
            </a:r>
            <a:endParaRPr lang="en-US" sz="1050" dirty="0"/>
          </a:p>
        </p:txBody>
      </p:sp>
      <p:sp>
        <p:nvSpPr>
          <p:cNvPr id="23" name="sq_281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qu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ie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200" dirty="0"/>
          </a:p>
        </p:txBody>
      </p:sp>
      <p:sp>
        <p:nvSpPr>
          <p:cNvPr id="24" name="R1_tag282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🚲 bike /aɪ/</a:t>
            </a:r>
            <a:endParaRPr lang="en-US" sz="1150" dirty="0"/>
          </a:p>
        </p:txBody>
      </p:sp>
      <p:sp>
        <p:nvSpPr>
          <p:cNvPr id="25" name="sq_283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ii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endParaRPr lang="en-US" sz="1200" dirty="0"/>
          </a:p>
        </p:txBody>
      </p:sp>
      <p:sp>
        <p:nvSpPr>
          <p:cNvPr id="26" name="R2_tag284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8E6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🌳 tree /iː/</a:t>
            </a:r>
            <a:endParaRPr lang="en-US" sz="1150" dirty="0"/>
          </a:p>
        </p:txBody>
      </p:sp>
      <p:sp>
        <p:nvSpPr>
          <p:cNvPr id="27" name="sq_285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</a:t>
            </a:r>
            <a:endParaRPr lang="en-US" sz="1200" dirty="0"/>
          </a:p>
        </p:txBody>
      </p:sp>
      <p:sp>
        <p:nvSpPr>
          <p:cNvPr id="28" name="R3_tag286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👔 tie /t/</a:t>
            </a:r>
            <a:endParaRPr lang="en-US" sz="1150" dirty="0"/>
          </a:p>
        </p:txBody>
      </p:sp>
      <p:sp>
        <p:nvSpPr>
          <p:cNvPr id="29" name="sq_287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</a:t>
            </a:r>
            <a:endParaRPr lang="en-US" sz="1200" dirty="0"/>
          </a:p>
        </p:txBody>
      </p:sp>
      <p:sp>
        <p:nvSpPr>
          <p:cNvPr id="30" name="R4_tag288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🐶 dog /d/</a:t>
            </a:r>
            <a:endParaRPr lang="en-US" sz="1150" dirty="0"/>
          </a:p>
        </p:txBody>
      </p:sp>
      <p:sp>
        <p:nvSpPr>
          <p:cNvPr id="31" name="sq_289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noi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</a:t>
            </a:r>
            <a:endParaRPr lang="en-US" sz="1200" dirty="0"/>
          </a:p>
        </p:txBody>
      </p:sp>
      <p:sp>
        <p:nvSpPr>
          <p:cNvPr id="32" name="R5_tag290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🦓 zebra /z/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9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293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 stress</a:t>
            </a:r>
            <a:endParaRPr lang="en-US" sz="2500" dirty="0"/>
          </a:p>
        </p:txBody>
      </p:sp>
      <p:pic>
        <p:nvPicPr>
          <p:cNvPr id="6" name="brP_29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295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Underline the stressed syllable. Say the word!</a:t>
            </a:r>
            <a:endParaRPr lang="en-US" sz="1250" dirty="0"/>
          </a:p>
        </p:txBody>
      </p:sp>
      <p:sp>
        <p:nvSpPr>
          <p:cNvPr id="8" name="insIT_29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Sottolinea la sillaba accentata. Di' la parola!</a:t>
            </a:r>
            <a:endParaRPr lang="en-US" sz="950" dirty="0"/>
          </a:p>
        </p:txBody>
      </p:sp>
      <p:sp>
        <p:nvSpPr>
          <p:cNvPr id="9" name="note_29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Controlled practice</a:t>
            </a:r>
            <a:endParaRPr lang="en-US" sz="1150" dirty="0"/>
          </a:p>
        </p:txBody>
      </p:sp>
      <p:pic>
        <p:nvPicPr>
          <p:cNvPr id="10" name="logo_29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9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Pronunciation d · word stress   ·   📖 SB p.20 · Pronunciation d (TG key)</a:t>
            </a:r>
            <a:endParaRPr lang="en-US" sz="800" dirty="0"/>
          </a:p>
        </p:txBody>
      </p:sp>
      <p:sp>
        <p:nvSpPr>
          <p:cNvPr id="12" name="cd_300"/>
          <p:cNvSpPr/>
          <p:nvPr/>
        </p:nvSpPr>
        <p:spPr>
          <a:xfrm>
            <a:off x="320040" y="1417320"/>
            <a:ext cx="2697480" cy="768096"/>
          </a:xfrm>
          <a:prstGeom prst="roundRect">
            <a:avLst>
              <a:gd name="adj" fmla="val 1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0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0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03"/>
          <p:cNvSpPr/>
          <p:nvPr/>
        </p:nvSpPr>
        <p:spPr>
          <a:xfrm>
            <a:off x="886968" y="191109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ho|li|day → HOliday</a:t>
            </a:r>
            <a:endParaRPr lang="en-US" sz="1050" dirty="0"/>
          </a:p>
        </p:txBody>
      </p:sp>
      <p:sp>
        <p:nvSpPr>
          <p:cNvPr id="16" name="bd_304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305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ex|tro|vert</a:t>
            </a:r>
            <a:endParaRPr lang="en-US" sz="1150" dirty="0"/>
          </a:p>
        </p:txBody>
      </p:sp>
      <p:sp>
        <p:nvSpPr>
          <p:cNvPr id="18" name="R1_chip306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EXtrovert</a:t>
            </a:r>
            <a:endParaRPr lang="en-US" sz="1050" dirty="0"/>
          </a:p>
        </p:txBody>
      </p:sp>
      <p:sp>
        <p:nvSpPr>
          <p:cNvPr id="19" name="bd_307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308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o|ver|weight</a:t>
            </a:r>
            <a:endParaRPr lang="en-US" sz="1150" dirty="0"/>
          </a:p>
        </p:txBody>
      </p:sp>
      <p:sp>
        <p:nvSpPr>
          <p:cNvPr id="21" name="R2_chip309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OVERweight</a:t>
            </a:r>
            <a:endParaRPr lang="en-US" sz="1050" dirty="0"/>
          </a:p>
        </p:txBody>
      </p:sp>
      <p:sp>
        <p:nvSpPr>
          <p:cNvPr id="22" name="bd_310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311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brace|let</a:t>
            </a:r>
            <a:endParaRPr lang="en-US" sz="1150" dirty="0"/>
          </a:p>
        </p:txBody>
      </p:sp>
      <p:sp>
        <p:nvSpPr>
          <p:cNvPr id="24" name="R3_chip312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BRACElet</a:t>
            </a:r>
            <a:endParaRPr lang="en-US" sz="1050" dirty="0"/>
          </a:p>
        </p:txBody>
      </p:sp>
      <p:sp>
        <p:nvSpPr>
          <p:cNvPr id="25" name="bd_313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314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on|line</a:t>
            </a:r>
            <a:endParaRPr lang="en-US" sz="1150" dirty="0"/>
          </a:p>
        </p:txBody>
      </p:sp>
      <p:sp>
        <p:nvSpPr>
          <p:cNvPr id="27" name="R4_chip315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ONline</a:t>
            </a:r>
            <a:endParaRPr lang="en-US" sz="1050" dirty="0"/>
          </a:p>
        </p:txBody>
      </p:sp>
      <p:sp>
        <p:nvSpPr>
          <p:cNvPr id="28" name="bd_316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q_317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com|for|ta|ble</a:t>
            </a:r>
            <a:endParaRPr lang="en-US" sz="1150" dirty="0"/>
          </a:p>
        </p:txBody>
      </p:sp>
      <p:sp>
        <p:nvSpPr>
          <p:cNvPr id="30" name="R5_chip318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COMfortable (3 syllables: /ˈkʌmftəbl/)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2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760720" cy="621792"/>
          </a:xfrm>
          <a:prstGeom prst="rect">
            <a:avLst/>
          </a:prstGeom>
        </p:spPr>
      </p:pic>
      <p:sp>
        <p:nvSpPr>
          <p:cNvPr id="5" name="title_321"/>
          <p:cNvSpPr/>
          <p:nvPr/>
        </p:nvSpPr>
        <p:spPr>
          <a:xfrm>
            <a:off x="1261872" y="1645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take better holiday photos</a:t>
            </a:r>
            <a:endParaRPr lang="en-US" sz="2400" dirty="0"/>
          </a:p>
        </p:txBody>
      </p:sp>
      <p:pic>
        <p:nvPicPr>
          <p:cNvPr id="6" name="brP_32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2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article. Match the headings A–C to tips 1–3.</a:t>
            </a:r>
            <a:endParaRPr lang="en-US" sz="1250" dirty="0"/>
          </a:p>
        </p:txBody>
      </p:sp>
      <p:sp>
        <p:nvSpPr>
          <p:cNvPr id="8" name="insIT_32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l'articolo. Abbina i titoli A–C ai consigli 1–3.</a:t>
            </a:r>
            <a:endParaRPr lang="en-US" sz="950" dirty="0"/>
          </a:p>
        </p:txBody>
      </p:sp>
      <p:sp>
        <p:nvSpPr>
          <p:cNvPr id="9" name="note_32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LEGGI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for gist</a:t>
            </a:r>
            <a:endParaRPr lang="en-US" sz="1250" dirty="0"/>
          </a:p>
        </p:txBody>
      </p:sp>
      <p:pic>
        <p:nvPicPr>
          <p:cNvPr id="10" name="logo_3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Reading a · Can you understand this text?   ·   📖 SB p.21 · Can you understand this text? a (TG key)</a:t>
            </a:r>
            <a:endParaRPr lang="en-US" sz="800" dirty="0"/>
          </a:p>
        </p:txBody>
      </p:sp>
      <p:sp>
        <p:nvSpPr>
          <p:cNvPr id="12" name="cd_328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2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take better holiday photos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Holiday time is the one time we all take photos. We're in a strange new place, the sun is shining, and we want to record our surroundings and happy memories.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how do we take the perfect holiday photos? Here are three useful tips…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____  I took this photo in Bruges in Belgium. I got up and, when my friends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having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breakfast, I went for a walk with my camera. This gave me three advantages: – The sun was low in the sky and the light was beautiful and warm. – There were no people around. – My friends didn't need to wait patiently when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taking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photos. The light in the evening is also good, but there are a lot more people around. There are times, in the local market, for example, when having lots of people in the photo can be a good thing, but most of the time I prefer my photos to be less crowded.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____  I took these two photos of the Forbidden City in Beijing, and I think the picture on the right is much better. Try not to take exactly the same picture as millions of other people – look for little details that other photographers haven't seen.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am a very enthusiastic photographer, I often buy a nice postcard of the places I visit – much better than going home with pictures that aren't very good.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____  These are the gardens outside the Louvre in Paris. We spent all day looking at the paintings, and we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back to the hotel when we saw someone feeding the birds. I only had my little camera with me, but it was all I needed. I quickly took maybe 30 photos from different angles, and this one is the best.</a:t>
            </a:r>
            <a:endParaRPr lang="en-US" sz="900" dirty="0"/>
          </a:p>
        </p:txBody>
      </p:sp>
      <p:sp>
        <p:nvSpPr>
          <p:cNvPr id="14" name="R1_rdE33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take better holiday photos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Holiday time is the one time we all take photos. We're in a strange new place, the sun is shining, and we want to record our surroundings and happy memories.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how do we take the perfect holiday photos? Here are three useful tips…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____  I took this photo in Bruges in Belgium.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got up and, when my friends were having breakfast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went for a walk with my camera. This gave me three advantages: – The sun was low in the sky and the light was beautiful and warm. – There were no people around. – My friends didn't need to wait patiently when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taking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photos. The light in the evening is also good, but there are a lot more people around. There are times, in the local market, for example, when having lots of people in the photo can be a good thing, but most of the time I prefer my photos to be less crowded.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____  I took these two photos of the Forbidden City in Beijing, and I think the picture on the right is much better. Try not to take exactly the same picture as millions of other people –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look for little details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other photographers haven't seen.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am a very enthusiastic photographer, I often buy a nice postcard of the places I visit – much better than going home with pictures that aren't very good.</a:t>
            </a:r>
            <a:endParaRPr lang="en-US" sz="9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____  These are the gardens outside the Louvre in Paris. We spent all day looking at the paintings, and we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back to the hotel when we saw someone feeding the birds. I only had my little camera with me, but it was all I needed.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quickly took maybe 30 photos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different angles, and this one is the best.</a:t>
            </a:r>
            <a:endParaRPr lang="en-US" sz="900" dirty="0"/>
          </a:p>
        </p:txBody>
      </p:sp>
      <p:sp>
        <p:nvSpPr>
          <p:cNvPr id="15" name="cd_331"/>
          <p:cNvSpPr/>
          <p:nvPr/>
        </p:nvSpPr>
        <p:spPr>
          <a:xfrm>
            <a:off x="6263640" y="1417320"/>
            <a:ext cx="2606040" cy="1502664"/>
          </a:xfrm>
          <a:prstGeom prst="roundRect">
            <a:avLst>
              <a:gd name="adj" fmla="val 851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32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7" name="ih_333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Headings</a:t>
            </a:r>
            <a:endParaRPr lang="en-US" sz="1300" dirty="0"/>
          </a:p>
        </p:txBody>
      </p:sp>
      <p:sp>
        <p:nvSpPr>
          <p:cNvPr id="18" name="il_334"/>
          <p:cNvSpPr/>
          <p:nvPr/>
        </p:nvSpPr>
        <p:spPr>
          <a:xfrm>
            <a:off x="6830568" y="1911096"/>
            <a:ext cx="1947672" cy="935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Take more than one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Start early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Zoom in</a:t>
            </a:r>
            <a:endParaRPr lang="en-US" sz="1150" dirty="0"/>
          </a:p>
        </p:txBody>
      </p:sp>
      <p:sp>
        <p:nvSpPr>
          <p:cNvPr id="19" name="R1_chip335"/>
          <p:cNvSpPr/>
          <p:nvPr/>
        </p:nvSpPr>
        <p:spPr>
          <a:xfrm>
            <a:off x="6263640" y="3029712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B Start early · 2 C Zoom in · 3 A Take more than one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3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338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or false?</a:t>
            </a:r>
            <a:endParaRPr lang="en-US" sz="2500" dirty="0"/>
          </a:p>
        </p:txBody>
      </p:sp>
      <p:pic>
        <p:nvPicPr>
          <p:cNvPr id="6" name="brP_33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40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again. True or false? Find the words.</a:t>
            </a:r>
            <a:endParaRPr lang="en-US" sz="1250" dirty="0"/>
          </a:p>
        </p:txBody>
      </p:sp>
      <p:sp>
        <p:nvSpPr>
          <p:cNvPr id="8" name="insIT_34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Rileggi. Vero o falso? Trova le parole.</a:t>
            </a:r>
            <a:endParaRPr lang="en-US" sz="950" dirty="0"/>
          </a:p>
        </p:txBody>
      </p:sp>
      <p:sp>
        <p:nvSpPr>
          <p:cNvPr id="9" name="note_34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🔍 FIND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for detail</a:t>
            </a:r>
            <a:endParaRPr lang="en-US" sz="1150" dirty="0"/>
          </a:p>
        </p:txBody>
      </p:sp>
      <p:pic>
        <p:nvPicPr>
          <p:cNvPr id="10" name="logo_34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Reading b · detail   ·   📖 SB p.21 · Can you understand this text? b (TG key)</a:t>
            </a:r>
            <a:endParaRPr lang="en-US" sz="800" dirty="0"/>
          </a:p>
        </p:txBody>
      </p:sp>
      <p:sp>
        <p:nvSpPr>
          <p:cNvPr id="12" name="cd_345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4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take better holiday photos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Start early  I took this photo in Bruges in Belgium. I got up and, when my friends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having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breakfast, I went for a walk with my camera. This gave me three advantages: – The sun was low in the sky and the light was beautiful and warm. – There were no people around. – My friends didn't need to wait patiently when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taking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photos. The light in the evening is also good, but there are a lot more people around. There are times, in the local market, for example, when having lots of people in the photo can be a good thing, but most of the time I prefer my photos to be less crowded.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Zoom in  I took these two photos of the Forbidden City in Beijing, and I think the picture on the right is much better. Try not to take exactly the same picture as millions of other people – look for little details that other photographers haven't seen.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am a very enthusiastic photographer, I often buy a nice postcard of the places I visit – much better than going home with pictures that aren't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Take more than one  These are the gardens outside the Louvre in Paris. We spent all day looking at the paintings, and we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back to the hotel when we saw someone feeding the birds. I only had my little camera with me, but it was all I needed. I quickly took maybe 30 photos from different angles, and this one is the best.</a:t>
            </a:r>
            <a:endParaRPr lang="en-US" sz="950" dirty="0"/>
          </a:p>
        </p:txBody>
      </p:sp>
      <p:sp>
        <p:nvSpPr>
          <p:cNvPr id="14" name="R1_rdE34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take better holiday photos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Start early  I took this photo in Bruges in Belgium. I got up and, when my friends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having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breakfast, I went for a walk with my camera. This gave me three advantages: –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 sun was low in the sky and the light was beautiful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warm. – There were no people around. – My friends didn't need to wait patiently when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taking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photos. The light in the evening is also good, but there are a lot more people around. There are times, in the local market, for example, when having lots of people in the photo can be a good thing,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most of the time I prefer my photos to be less crowded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Zoom in  I took these two photos of the Forbidden City in Beijing, and I think the picture on the right is much better.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Try not to take exactly the same picture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millions of other people – look for little details that other photographers haven't seen.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am a very enthusiastic photographer,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often buy a nice postcard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the places I visit – much better than going home with pictures that aren't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Take more than one  These are the gardens outside the Louvre in Paris.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We spent all day looking at the paintings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back to the hotel when we saw someone feeding the birds. I only had my little camera with me,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 was all I needed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quickly took maybe 30 photos from different angles, and this one is the best.</a:t>
            </a:r>
            <a:endParaRPr lang="en-US" sz="950" dirty="0"/>
          </a:p>
        </p:txBody>
      </p:sp>
      <p:sp>
        <p:nvSpPr>
          <p:cNvPr id="15" name="bd_348"/>
          <p:cNvSpPr/>
          <p:nvPr/>
        </p:nvSpPr>
        <p:spPr>
          <a:xfrm>
            <a:off x="6172200" y="1399413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rq_349"/>
          <p:cNvSpPr/>
          <p:nvPr/>
        </p:nvSpPr>
        <p:spPr>
          <a:xfrm>
            <a:off x="6492240" y="1417320"/>
            <a:ext cx="2423160" cy="238506"/>
          </a:xfrm>
          <a:prstGeom prst="roundRect">
            <a:avLst>
              <a:gd name="adj" fmla="val 3067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The best time to take photos is early evening.</a:t>
            </a:r>
            <a:endParaRPr lang="en-US" sz="700" dirty="0"/>
          </a:p>
        </p:txBody>
      </p:sp>
      <p:sp>
        <p:nvSpPr>
          <p:cNvPr id="17" name="R1_chip350"/>
          <p:cNvSpPr/>
          <p:nvPr/>
        </p:nvSpPr>
        <p:spPr>
          <a:xfrm>
            <a:off x="6492240" y="1683258"/>
            <a:ext cx="2423160" cy="211074"/>
          </a:xfrm>
          <a:prstGeom prst="roundRect">
            <a:avLst>
              <a:gd name="adj" fmla="val 4332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early morning: 'The sun was low…'</a:t>
            </a:r>
            <a:endParaRPr lang="en-US" sz="800" dirty="0"/>
          </a:p>
        </p:txBody>
      </p:sp>
      <p:sp>
        <p:nvSpPr>
          <p:cNvPr id="18" name="bd_351"/>
          <p:cNvSpPr/>
          <p:nvPr/>
        </p:nvSpPr>
        <p:spPr>
          <a:xfrm>
            <a:off x="6172200" y="1967865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rq_352"/>
          <p:cNvSpPr/>
          <p:nvPr/>
        </p:nvSpPr>
        <p:spPr>
          <a:xfrm>
            <a:off x="6492240" y="1985772"/>
            <a:ext cx="2423160" cy="238506"/>
          </a:xfrm>
          <a:prstGeom prst="roundRect">
            <a:avLst>
              <a:gd name="adj" fmla="val 3067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The writer prefers taking photos with people in them.</a:t>
            </a:r>
            <a:endParaRPr lang="en-US" sz="700" dirty="0"/>
          </a:p>
        </p:txBody>
      </p:sp>
      <p:sp>
        <p:nvSpPr>
          <p:cNvPr id="20" name="R2_chip353"/>
          <p:cNvSpPr/>
          <p:nvPr/>
        </p:nvSpPr>
        <p:spPr>
          <a:xfrm>
            <a:off x="6492240" y="2251710"/>
            <a:ext cx="2423160" cy="211074"/>
          </a:xfrm>
          <a:prstGeom prst="roundRect">
            <a:avLst>
              <a:gd name="adj" fmla="val 4332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'I prefer my photos to be less crowded'</a:t>
            </a:r>
            <a:endParaRPr lang="en-US" sz="700" dirty="0"/>
          </a:p>
        </p:txBody>
      </p:sp>
      <p:sp>
        <p:nvSpPr>
          <p:cNvPr id="21" name="bd_354"/>
          <p:cNvSpPr/>
          <p:nvPr/>
        </p:nvSpPr>
        <p:spPr>
          <a:xfrm>
            <a:off x="6172200" y="2536317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rq_355"/>
          <p:cNvSpPr/>
          <p:nvPr/>
        </p:nvSpPr>
        <p:spPr>
          <a:xfrm>
            <a:off x="6492240" y="2554224"/>
            <a:ext cx="2423160" cy="238506"/>
          </a:xfrm>
          <a:prstGeom prst="roundRect">
            <a:avLst>
              <a:gd name="adj" fmla="val 3067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Try to make your photos different from other people's.</a:t>
            </a:r>
            <a:endParaRPr lang="en-US" sz="700" dirty="0"/>
          </a:p>
        </p:txBody>
      </p:sp>
      <p:sp>
        <p:nvSpPr>
          <p:cNvPr id="23" name="R3_chip356"/>
          <p:cNvSpPr/>
          <p:nvPr/>
        </p:nvSpPr>
        <p:spPr>
          <a:xfrm>
            <a:off x="6492240" y="2820162"/>
            <a:ext cx="2423160" cy="211074"/>
          </a:xfrm>
          <a:prstGeom prst="roundRect">
            <a:avLst>
              <a:gd name="adj" fmla="val 4332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– 'Try not to take exactly the same picture'</a:t>
            </a:r>
            <a:endParaRPr lang="en-US" sz="700" dirty="0"/>
          </a:p>
        </p:txBody>
      </p:sp>
      <p:sp>
        <p:nvSpPr>
          <p:cNvPr id="24" name="bd_357"/>
          <p:cNvSpPr/>
          <p:nvPr/>
        </p:nvSpPr>
        <p:spPr>
          <a:xfrm>
            <a:off x="6172200" y="3104769"/>
            <a:ext cx="274320" cy="274320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rq_358"/>
          <p:cNvSpPr/>
          <p:nvPr/>
        </p:nvSpPr>
        <p:spPr>
          <a:xfrm>
            <a:off x="6492240" y="3122676"/>
            <a:ext cx="2423160" cy="238506"/>
          </a:xfrm>
          <a:prstGeom prst="roundRect">
            <a:avLst>
              <a:gd name="adj" fmla="val 3067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Your own photos are always better than postcards.</a:t>
            </a:r>
            <a:endParaRPr lang="en-US" sz="700" dirty="0"/>
          </a:p>
        </p:txBody>
      </p:sp>
      <p:sp>
        <p:nvSpPr>
          <p:cNvPr id="26" name="R4_chip359"/>
          <p:cNvSpPr/>
          <p:nvPr/>
        </p:nvSpPr>
        <p:spPr>
          <a:xfrm>
            <a:off x="6492240" y="3388614"/>
            <a:ext cx="2423160" cy="211074"/>
          </a:xfrm>
          <a:prstGeom prst="roundRect">
            <a:avLst>
              <a:gd name="adj" fmla="val 4332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'I often buy a nice postcard'</a:t>
            </a:r>
            <a:endParaRPr lang="en-US" sz="900" dirty="0"/>
          </a:p>
        </p:txBody>
      </p:sp>
      <p:sp>
        <p:nvSpPr>
          <p:cNvPr id="27" name="bd_360"/>
          <p:cNvSpPr/>
          <p:nvPr/>
        </p:nvSpPr>
        <p:spPr>
          <a:xfrm>
            <a:off x="6172200" y="3673221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rq_361"/>
          <p:cNvSpPr/>
          <p:nvPr/>
        </p:nvSpPr>
        <p:spPr>
          <a:xfrm>
            <a:off x="6492240" y="3691128"/>
            <a:ext cx="2423160" cy="238506"/>
          </a:xfrm>
          <a:prstGeom prst="roundRect">
            <a:avLst>
              <a:gd name="adj" fmla="val 3067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The writer went to the Louvre to see the paintings.</a:t>
            </a:r>
            <a:endParaRPr lang="en-US" sz="700" dirty="0"/>
          </a:p>
        </p:txBody>
      </p:sp>
      <p:sp>
        <p:nvSpPr>
          <p:cNvPr id="29" name="R5_chip362"/>
          <p:cNvSpPr/>
          <p:nvPr/>
        </p:nvSpPr>
        <p:spPr>
          <a:xfrm>
            <a:off x="6492240" y="3957066"/>
            <a:ext cx="2423160" cy="211074"/>
          </a:xfrm>
          <a:prstGeom prst="roundRect">
            <a:avLst>
              <a:gd name="adj" fmla="val 4332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– 'We spent all day looking at the paintings'</a:t>
            </a:r>
            <a:endParaRPr lang="en-US" sz="700" dirty="0"/>
          </a:p>
        </p:txBody>
      </p:sp>
      <p:sp>
        <p:nvSpPr>
          <p:cNvPr id="30" name="bd_363"/>
          <p:cNvSpPr/>
          <p:nvPr/>
        </p:nvSpPr>
        <p:spPr>
          <a:xfrm>
            <a:off x="6172200" y="4241673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rq_364"/>
          <p:cNvSpPr/>
          <p:nvPr/>
        </p:nvSpPr>
        <p:spPr>
          <a:xfrm>
            <a:off x="6492240" y="4259580"/>
            <a:ext cx="2423160" cy="238506"/>
          </a:xfrm>
          <a:prstGeom prst="roundRect">
            <a:avLst>
              <a:gd name="adj" fmla="val 3067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He was sorry that he only had his small camera.</a:t>
            </a:r>
            <a:endParaRPr lang="en-US" sz="700" dirty="0"/>
          </a:p>
        </p:txBody>
      </p:sp>
      <p:sp>
        <p:nvSpPr>
          <p:cNvPr id="32" name="R6_chip365"/>
          <p:cNvSpPr/>
          <p:nvPr/>
        </p:nvSpPr>
        <p:spPr>
          <a:xfrm>
            <a:off x="6492240" y="4525518"/>
            <a:ext cx="2423160" cy="211074"/>
          </a:xfrm>
          <a:prstGeom prst="roundRect">
            <a:avLst>
              <a:gd name="adj" fmla="val 4332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'it was all I needed'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6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368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Street interviews</a:t>
            </a:r>
            <a:endParaRPr lang="en-US" sz="2500" dirty="0"/>
          </a:p>
        </p:txBody>
      </p:sp>
      <p:pic>
        <p:nvPicPr>
          <p:cNvPr id="6" name="brP_36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370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5 people. Choose a, b or c.</a:t>
            </a:r>
            <a:endParaRPr lang="en-US" sz="1250" dirty="0"/>
          </a:p>
        </p:txBody>
      </p:sp>
      <p:sp>
        <p:nvSpPr>
          <p:cNvPr id="8" name="insIT_37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5 persone. Scegli a, b o c.</a:t>
            </a:r>
            <a:endParaRPr lang="en-US" sz="950" dirty="0"/>
          </a:p>
        </p:txBody>
      </p:sp>
      <p:sp>
        <p:nvSpPr>
          <p:cNvPr id="9" name="note_37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37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Listening · Can you understand these people?   ·   📖 SB p.21 · Can you understand these people? · 2.23 (script TG p.40)</a:t>
            </a:r>
            <a:endParaRPr lang="en-US" sz="750" dirty="0"/>
          </a:p>
        </p:txBody>
      </p:sp>
      <p:sp>
        <p:nvSpPr>
          <p:cNvPr id="12" name="pf_375"/>
          <p:cNvSpPr/>
          <p:nvPr/>
        </p:nvSpPr>
        <p:spPr>
          <a:xfrm rot="-90000">
            <a:off x="411480" y="2215920"/>
            <a:ext cx="2697480" cy="825961"/>
          </a:xfrm>
          <a:prstGeom prst="roundRect">
            <a:avLst>
              <a:gd name="adj" fmla="val 1882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76" descr="/home/claude/lls-course/v2/cache/a2r12_people_jpg_627x17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2261640"/>
            <a:ext cx="2606040" cy="734521"/>
          </a:xfrm>
          <a:prstGeom prst="rect">
            <a:avLst/>
          </a:prstGeom>
        </p:spPr>
      </p:pic>
      <p:sp>
        <p:nvSpPr>
          <p:cNvPr id="14" name="cd_377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78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6" name="ih_379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 reads the interviews – or play the book video 2.23</a:t>
            </a:r>
            <a:endParaRPr lang="en-US" sz="1100" dirty="0"/>
          </a:p>
        </p:txBody>
      </p:sp>
      <p:sp>
        <p:nvSpPr>
          <p:cNvPr id="17" name="gq_380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Lewis looks like… a his father b his mother c his mother and his father</a:t>
            </a:r>
            <a:endParaRPr lang="en-US" sz="1200" dirty="0"/>
          </a:p>
        </p:txBody>
      </p:sp>
      <p:sp>
        <p:nvSpPr>
          <p:cNvPr id="18" name="R1_chip381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– dad's face, mum's hair and eyes</a:t>
            </a:r>
            <a:endParaRPr lang="en-US" sz="1200" dirty="0"/>
          </a:p>
        </p:txBody>
      </p:sp>
      <p:sp>
        <p:nvSpPr>
          <p:cNvPr id="19" name="gq_382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In the Dali painting that Susie likes there are some dripping… a clocks b rocks c socks</a:t>
            </a:r>
            <a:endParaRPr lang="en-US" sz="950" dirty="0"/>
          </a:p>
        </p:txBody>
      </p:sp>
      <p:sp>
        <p:nvSpPr>
          <p:cNvPr id="20" name="R2_chip383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– clocks</a:t>
            </a:r>
            <a:endParaRPr lang="en-US" sz="1200" dirty="0"/>
          </a:p>
        </p:txBody>
      </p:sp>
      <p:sp>
        <p:nvSpPr>
          <p:cNvPr id="21" name="gq_384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Shosanna went to Guyana because she wanted to learn… a about the animals and plants b about her family history c the language</a:t>
            </a:r>
            <a:endParaRPr lang="en-US" sz="850" dirty="0"/>
          </a:p>
        </p:txBody>
      </p:sp>
      <p:sp>
        <p:nvSpPr>
          <p:cNvPr id="22" name="R3_chip385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– how her parents grew up</a:t>
            </a:r>
            <a:endParaRPr lang="en-US" sz="1200" dirty="0"/>
          </a:p>
        </p:txBody>
      </p:sp>
      <p:sp>
        <p:nvSpPr>
          <p:cNvPr id="23" name="gq_386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Susan doesn't put photos of ___ on Instagram. a gardens b flowers c her family</a:t>
            </a:r>
            <a:endParaRPr lang="en-US" sz="1000" dirty="0"/>
          </a:p>
        </p:txBody>
      </p:sp>
      <p:sp>
        <p:nvSpPr>
          <p:cNvPr id="24" name="R4_chip387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– 'I never post photos of people'</a:t>
            </a:r>
            <a:endParaRPr lang="en-US" sz="1200" dirty="0"/>
          </a:p>
        </p:txBody>
      </p:sp>
      <p:sp>
        <p:nvSpPr>
          <p:cNvPr id="25" name="gq_388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Sam only likes watching… a films with a sad ending b films with a happy ending c good films</a:t>
            </a:r>
            <a:endParaRPr lang="en-US" sz="950" dirty="0"/>
          </a:p>
        </p:txBody>
      </p:sp>
      <p:sp>
        <p:nvSpPr>
          <p:cNvPr id="26" name="R5_chip389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– 'it just has to be a good film'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9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92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you…?</a:t>
            </a:r>
            <a:endParaRPr lang="en-US" sz="2400" dirty="0"/>
          </a:p>
        </p:txBody>
      </p:sp>
      <p:pic>
        <p:nvPicPr>
          <p:cNvPr id="6" name="brP_39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9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say this in English? Show your partner – then tick!</a:t>
            </a:r>
            <a:endParaRPr lang="en-US" sz="1200" dirty="0"/>
          </a:p>
        </p:txBody>
      </p:sp>
      <p:sp>
        <p:nvSpPr>
          <p:cNvPr id="8" name="insIT_39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 dirlo in inglese? Dimostralo al compagno – poi spunta!</a:t>
            </a:r>
            <a:endParaRPr lang="en-US" sz="950" dirty="0"/>
          </a:p>
        </p:txBody>
      </p:sp>
      <p:sp>
        <p:nvSpPr>
          <p:cNvPr id="9" name="note_39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39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9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Speaking · Can you say this in English?   ·   📖 SB p.21 · Can you say this in English? 1–6</a:t>
            </a:r>
            <a:endParaRPr lang="en-US" sz="800" dirty="0"/>
          </a:p>
        </p:txBody>
      </p:sp>
      <p:sp>
        <p:nvSpPr>
          <p:cNvPr id="12" name="cd_399"/>
          <p:cNvSpPr/>
          <p:nvPr/>
        </p:nvSpPr>
        <p:spPr>
          <a:xfrm>
            <a:off x="320040" y="1417320"/>
            <a:ext cx="2788920" cy="2743200"/>
          </a:xfrm>
          <a:prstGeom prst="roundRect">
            <a:avLst>
              <a:gd name="adj" fmla="val 4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40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401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402"/>
          <p:cNvSpPr/>
          <p:nvPr/>
        </p:nvSpPr>
        <p:spPr>
          <a:xfrm>
            <a:off x="886968" y="1911096"/>
            <a:ext cx="213055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usually… / I'm…ing at the moment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got… hair. He's quite…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picture, a man is wearing…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Last summer I went to…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I took this photo, we were…</a:t>
            </a:r>
            <a:endParaRPr lang="en-US" sz="1150" dirty="0"/>
          </a:p>
        </p:txBody>
      </p:sp>
      <p:sp>
        <p:nvSpPr>
          <p:cNvPr id="16" name="R1_qb40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404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and answer six questions about your home and family, work / studies, and free time</a:t>
            </a:r>
            <a:endParaRPr lang="en-US" sz="80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Where do you live? Have you got any brothers or sisters?</a:t>
            </a:r>
            <a:endParaRPr lang="en-US" sz="800" dirty="0"/>
          </a:p>
        </p:txBody>
      </p:sp>
      <p:sp>
        <p:nvSpPr>
          <p:cNvPr id="18" name="R2_qb405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406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the appearance and personality of a person you know well</a:t>
            </a:r>
            <a:endParaRPr lang="en-US" sz="9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sister has got long curly hair. She's very generous.</a:t>
            </a:r>
            <a:endParaRPr lang="en-US" sz="900" dirty="0"/>
          </a:p>
        </p:txBody>
      </p:sp>
      <p:sp>
        <p:nvSpPr>
          <p:cNvPr id="20" name="R3_qb407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408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a picture in this book and say what is happening, what the people are wearing</a:t>
            </a:r>
            <a:endParaRPr lang="en-US" sz="80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 woman is smiling. She's wearing a red jacket.</a:t>
            </a:r>
            <a:endParaRPr lang="en-US" sz="800" dirty="0"/>
          </a:p>
        </p:txBody>
      </p:sp>
      <p:sp>
        <p:nvSpPr>
          <p:cNvPr id="22" name="R4_qb409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410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and answer three questions about a holiday</a:t>
            </a:r>
            <a:endParaRPr lang="en-US" sz="9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Where did you go? Where did you stay? What was the weather like?</a:t>
            </a:r>
            <a:endParaRPr lang="en-US" sz="900" dirty="0"/>
          </a:p>
        </p:txBody>
      </p:sp>
      <p:sp>
        <p:nvSpPr>
          <p:cNvPr id="24" name="R5_qb411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R5_sq412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a favourite photo and say what was happening when you took it</a:t>
            </a:r>
            <a:endParaRPr lang="en-US" sz="9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We were having dinner on the beach…</a:t>
            </a:r>
            <a:endParaRPr lang="en-US" sz="900" dirty="0"/>
          </a:p>
        </p:txBody>
      </p:sp>
      <p:sp>
        <p:nvSpPr>
          <p:cNvPr id="26" name="R6_qb413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R6_sq414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three true sentences using so, because and although</a:t>
            </a:r>
            <a:endParaRPr lang="en-US" sz="9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Although it rained, we had a great time.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1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17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1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19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2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21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2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2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Exit · what can you remember?</a:t>
            </a:r>
            <a:endParaRPr lang="en-US" sz="800" dirty="0"/>
          </a:p>
        </p:txBody>
      </p:sp>
      <p:sp>
        <p:nvSpPr>
          <p:cNvPr id="12" name="bd_424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25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personality adjectives – 2 positive, 1 negative.</a:t>
            </a:r>
            <a:endParaRPr lang="en-US" sz="1400" dirty="0"/>
          </a:p>
        </p:txBody>
      </p:sp>
      <p:sp>
        <p:nvSpPr>
          <p:cNvPr id="14" name="bd_426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27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sentences: one with at, one with on.</a:t>
            </a:r>
            <a:endParaRPr lang="en-US" sz="1400" dirty="0"/>
          </a:p>
        </p:txBody>
      </p:sp>
      <p:sp>
        <p:nvSpPr>
          <p:cNvPr id="16" name="bd_428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29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 were doing at 8 o'clock last night.</a:t>
            </a:r>
            <a:endParaRPr lang="en-US" sz="1400" dirty="0"/>
          </a:p>
        </p:txBody>
      </p:sp>
      <p:sp>
        <p:nvSpPr>
          <p:cNvPr id="18" name="cd_430"/>
          <p:cNvSpPr/>
          <p:nvPr/>
        </p:nvSpPr>
        <p:spPr>
          <a:xfrm>
            <a:off x="5669280" y="1417320"/>
            <a:ext cx="3200400" cy="1453896"/>
          </a:xfrm>
          <a:prstGeom prst="roundRect">
            <a:avLst>
              <a:gd name="adj" fmla="val 880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31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32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33"/>
          <p:cNvSpPr/>
          <p:nvPr/>
        </p:nvSpPr>
        <p:spPr>
          <a:xfrm>
            <a:off x="6236208" y="1911096"/>
            <a:ext cx="2542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Redo the test questions you got wrong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6 sentences: family · now · last holiday</a:t>
            </a:r>
            <a:endParaRPr lang="en-US" sz="1150" dirty="0"/>
          </a:p>
        </p:txBody>
      </p:sp>
      <p:sp>
        <p:nvSpPr>
          <p:cNvPr id="22" name="st_434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3A TripAside – be going to (SB p.22)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3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37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3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39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4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4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4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4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R1-2 · Review · what did you do today?</a:t>
            </a:r>
            <a:endParaRPr lang="en-US" sz="800" dirty="0"/>
          </a:p>
        </p:txBody>
      </p:sp>
      <p:sp>
        <p:nvSpPr>
          <p:cNvPr id="12" name="cd_444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45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t_446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a mini-test on Files 1 and 2</a:t>
            </a:r>
            <a:endParaRPr lang="en-US" sz="1350" dirty="0"/>
          </a:p>
        </p:txBody>
      </p:sp>
      <p:sp>
        <p:nvSpPr>
          <p:cNvPr id="15" name="R1_tk447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48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49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8" name="tt_450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Revised verbs, at / in / on, and word groups</a:t>
            </a:r>
            <a:endParaRPr lang="en-US" sz="1350" dirty="0"/>
          </a:p>
        </p:txBody>
      </p:sp>
      <p:sp>
        <p:nvSpPr>
          <p:cNvPr id="19" name="R2_tk451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52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53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2" name="tt_454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sounds and word stress</a:t>
            </a:r>
            <a:endParaRPr lang="en-US" sz="1350" dirty="0"/>
          </a:p>
        </p:txBody>
      </p:sp>
      <p:sp>
        <p:nvSpPr>
          <p:cNvPr id="23" name="R3_tk455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56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57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26" name="tt_458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tips for better holiday photos</a:t>
            </a:r>
            <a:endParaRPr lang="en-US" sz="1350" dirty="0"/>
          </a:p>
        </p:txBody>
      </p:sp>
      <p:sp>
        <p:nvSpPr>
          <p:cNvPr id="27" name="R4_tk459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60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61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30" name="tt_462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Checked what you can say in English</a:t>
            </a:r>
            <a:endParaRPr lang="en-US" sz="1350" dirty="0"/>
          </a:p>
        </p:txBody>
      </p:sp>
      <p:sp>
        <p:nvSpPr>
          <p:cNvPr id="31" name="R5_tk463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64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R1-2 Revise and Check 1&amp;2</dc:title>
  <dc:subject>PptxGenJS Presentation</dc:subject>
  <dc:creator>PptxGenJS</dc:creator>
  <cp:lastModifiedBy>PptxGenJS</cp:lastModifiedBy>
  <cp:revision>1</cp:revision>
  <dcterms:created xsi:type="dcterms:W3CDTF">2026-10-22T09:54:41Z</dcterms:created>
  <dcterms:modified xsi:type="dcterms:W3CDTF">2026-10-22T09:54:41Z</dcterms:modified>
</cp:coreProperties>
</file>