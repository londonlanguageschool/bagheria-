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(passport, camera, map). Ask the THINK question; take 3–4 answers – don't correct the past simple yet, just note mistakes. Click: the example. Read 'Today you're going to…' together. The title 'OMG!' = Oh my God! – what we say when something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Ask 2 students: 'What are you wearing today?' 'Who is sitting next to you?' Then play Photo memory: the questions are about the two photos from last lesson.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(4 min). Two teams, books closed. Read each question; teams have 15 seconds; click to show the answer. Point only for a full sentence with be + -ing or the right preposition. The photo in the corner is a clue only if they're stuck.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holidays (4 min)
ELICIT FIRST (4 min). Pairs complete the phrases (go, stay, rent, hire, take, buy, book). Click once per phrase, then play 2.6 (phrases with go) and 2.7 (other holiday phrases) to drill. Point out: go + -ing for activities (go swimming, go skiing) and go abroad (NOT go to abroad); go out (at night) = leave your house vs go away (for the weekend) = leave your town (TG). Rent an apartment vs hire a bicycle (short time). The next slide gives the Italian.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(2 min). Class says the Italian for each tile, then click once per word to show its Italian. Drill the stress: COMfortable (3 syllables: /ˈkʌmftəbl/), CROWDed, HELPful.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your holidays (3 min)
SPEAKING (4 min). Present simple for habits (they know it) + the new phrases. Questions appear ONE per click (about 45 seconds each). Monitor for the new phrases; praise 'go abroad', 'stay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prediction (2 min)
PREDICTION (2 min). Read the introduction aloud ('mantra' = something you repeat). Pairs use the 6 words to guess Stuart's story in 1 minute: 'I think he lost his phone in the Alps…'. Take 2 guesses – don't confirm. ICQ: 'Are you reading the story yet?' (no,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Stuart's story (4 min)
READ + COMPLETE (4 min). The verb in brackets is the infinitive. Students write alone, then compare. Click once per sentence: the answers appear IN the text. Answers (text): 1 went · 2 climbed · 3 took · 4 had · 5 wanted · 6 decided. Ask after 5: 'Where do you think the phone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Stuart's story (4 min)
READ + COMPLETE (4 min). Same procedure. Answers: 7 spent · 8 started · 9 took · 10 felt · 11 let. Reaction question: 'What do you think of Stuart? What would you do?' (They walked up the mountain twice – about two hours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Listening · Marta's story (3 min)
GIST (3 min). Write the 2 questions on the board, books closed. Play 2.1 once. Pairs compare. Answers (TG): Marta lost her ID card. No. Background: Spanish, working in Dublin, flying Dublin → Brussels → Lyon to visit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detail (4 min)
DETAIL (4 min). Give time to read 1–7. Play 2.1 again, pausing if needed. Pairs compare, then click once per answer. Answers (TG): 1 Two years ago · 2 Lyon. Her friends invited her to come and stay. · 3 There were no cheap direct flights. · 4 She couldn't find her ID card. · 5 She felt stressed and unhappy. · 6 She couldn't go to France because she didn't have any ID. · 7 Madrid. She got a new ID card. EXTRA (TG 1f): 'Have you or your family ever lost something on holiday?' – Where were you? What happened? What did you do next? How did it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noticing (3 min)
NOTICING (3 min). Pairs sort the verbs from the story. Click once per verb. Then ask: 'How do we make the past of regular verbs?' (+ -ed; decide → decided: just + d). 'And irregular?' (no rule – learn them: Irregular verbs list, Student's Book p.164).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past simple (4 min)
CLARIFY (4 min). Elicit each column before you click. Play 2.2 (Grammar Bank 2A p.128, listen and repeat – copy the rhythm). TG reminder: irregular forms (went, had…) are only for POSITIVE sentences; most verbs are regular; Irregular verbs list SB p.164. Key Italian-speaker errors: past form after did/didn't; missing 'did' in questions; 'Did you was…?' (use Were you…?). CCQ: 'Did you went?' – right or wrong? (wrong: Did you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class story (TPRS) (4 min)
TPRS CLASS STORY (4 min) – right after the past simple rule (meaning and form are clear) and before the -ed pronunciation, the question game and the final speaking, so students hear the past simple (regular + irregular, didn't + infinitive) and the holiday phrases 15–20 times in one funny context. Click once per line. For each line: 1) say it, 2) ask the questions in grey round the class (yes/no → either/or → who/what), 3) let the CLASS change details: 'Did she go to Paris? No? Where did she go?' – accept their idea and use it in later lines (the pizzeria is in THAT city). Students answer with one word or a short phrase – that's fine; model the full answer yourself ('No, she DIDN'T find it'). Recycles: went abroad, stayed in, hired, went sightseeing, had a good time; was; didn't find / didn't eat (✗ didn't found).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Pronunciation · -ed endings (4 min)
PRONUNCIATION (4 min). Play 2.3 (looked · happened · waited from Marta's story) and 2.4 (the three sounds) – they're on the extra audio slide – or model them. Then pairs decide, play 2.5 to check. Rule: /ɪd/ (an extra syllable) ONLY after t or d: wanted, decided, started, rented. All the others: NO extra syllable – 'climbed' = 1 syllable /klaɪmd/, NOT 'climb-ed'. Italians often pronounce every -ed as /ɪd/ – that's the main thing to fix. Pairs say each verb, decide, click to check. Then drill: 'We walked, we climbed, we started, we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showing interest (3 min)
SHOWING INTEREST (3 min). Pairs guess, play 2.9, click once per line. Answers (TG): 1 Wow · 2 no, pity · 3 Fantastic · 4 Really, awful. Play again pausing after B; students copy B's intonation – big and interested, not flat! They use these in the final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Grammar game (3 min)
GAME (4 min). Teams write each question (20 seconds), click to show the model. Point for a correct question; +1 bonus if the team then ASKS you and you answer (tell a short true story about your last holiday – students love it). These are the book's 'Your last holiday' questions (SB p.15 · 5c; answers TG) – exactly the questions for the final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your last holiday (6 min)
FREER PRACTICE (7 min). Model first: a student asks YOU the questions. Questions appear one per click (about a minute each). The listener must react (useful phrases) and ask one extra question. Monitor: past simple form + -ed pronunciation. Delayed correction (2 min): write 4–5 errors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holiday phrases, 2 irregular verbs, 1 'Did you…?' question for the teacher – answer a couple.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Book audio · 2A (0 min)
BOOK AUDIO. The other 2A tracks are on their slides: 2.1 Marta (slides 10–11), 2.2 Grammar Bank (rule), 2.5 -ed check, 2.6/2.7 holiday phrases, 2.9 showing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audio" Target="../media/media-4-6.mp3"/><Relationship Id="rId7" Type="http://schemas.microsoft.com/office/2007/relationships/media" Target="../media/media-4-6.mp3"/><Relationship Id="rId8" Type="http://schemas.openxmlformats.org/officeDocument/2006/relationships/image" Target="../media/image-4-8.png"/><Relationship Id="rId9" Type="http://schemas.openxmlformats.org/officeDocument/2006/relationships/audio" Target="../media/media-4-9.mp3"/><Relationship Id="rId10" Type="http://schemas.microsoft.com/office/2007/relationships/media" Target="../media/media-4-9.mp3"/><Relationship Id="rId11" Type="http://schemas.openxmlformats.org/officeDocument/2006/relationships/image" Target="../media/image-4-11.png"/><Relationship Id="rId12" Type="http://schemas.openxmlformats.org/officeDocument/2006/relationships/audio" Target="../media/media-4-12.mp3"/><Relationship Id="rId13" Type="http://schemas.microsoft.com/office/2007/relationships/media" Target="../media/media-4-12.mp3"/><Relationship Id="rId14" Type="http://schemas.openxmlformats.org/officeDocument/2006/relationships/image" Target="../media/image-4-14.png"/><Relationship Id="rId15" Type="http://schemas.openxmlformats.org/officeDocument/2006/relationships/audio" Target="../media/media-4-15.mp3"/><Relationship Id="rId16" Type="http://schemas.microsoft.com/office/2007/relationships/media" Target="../media/media-4-15.mp3"/><Relationship Id="rId17" Type="http://schemas.openxmlformats.org/officeDocument/2006/relationships/image" Target="../media/image-4-17.png"/><Relationship Id="rId18" Type="http://schemas.openxmlformats.org/officeDocument/2006/relationships/slideLayout" Target="../slideLayouts/slideLayout1.xml"/><Relationship Id="rId1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slideLayout" Target="../slideLayouts/slideLayout1.xml"/><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slideLayout" Target="../slideLayouts/slideLayout1.xml"/><Relationship Id="rId1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slideLayout" Target="../slideLayouts/slideLayout1.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audio" Target="../media/media-22-6.mp3"/><Relationship Id="rId7" Type="http://schemas.microsoft.com/office/2007/relationships/media" Target="../media/media-22-6.mp3"/><Relationship Id="rId8" Type="http://schemas.openxmlformats.org/officeDocument/2006/relationships/image" Target="../media/image-22-8.png"/><Relationship Id="rId9" Type="http://schemas.openxmlformats.org/officeDocument/2006/relationships/audio" Target="../media/media-22-9.mp3"/><Relationship Id="rId10" Type="http://schemas.microsoft.com/office/2007/relationships/media" Target="../media/media-22-9.mp3"/><Relationship Id="rId11" Type="http://schemas.openxmlformats.org/officeDocument/2006/relationships/image" Target="../media/image-22-11.png"/><Relationship Id="rId12" Type="http://schemas.openxmlformats.org/officeDocument/2006/relationships/audio" Target="../media/media-22-12.mp3"/><Relationship Id="rId13" Type="http://schemas.microsoft.com/office/2007/relationships/media" Target="../media/media-22-12.mp3"/><Relationship Id="rId14" Type="http://schemas.openxmlformats.org/officeDocument/2006/relationships/image" Target="../media/image-22-14.png"/><Relationship Id="rId15" Type="http://schemas.openxmlformats.org/officeDocument/2006/relationships/slideLayout" Target="../slideLayouts/slideLayout1.xml"/><Relationship Id="rId16"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pp.14–15 · VB p.152</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OMG! Where's my passport?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Holidays, stories and the past simple</a:t>
            </a:r>
            <a:endParaRPr lang="en-US" sz="110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talk about holidays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read and listen to two holiday disasters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past simple: regular and irregular verbs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say -ed endings: /t/ /d/ /ɪd/</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tell a partner about your last holiday</a:t>
            </a:r>
            <a:endParaRPr lang="en-US" sz="70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 left my sunglasses on a train in Rome. I never found them!</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a2_passport_map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ever lost something on holiday?</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Revision · last lesson</a:t>
            </a:r>
            <a:endParaRPr lang="en-US" sz="800" dirty="0"/>
          </a:p>
        </p:txBody>
      </p:sp>
      <p:sp>
        <p:nvSpPr>
          <p:cNvPr id="12" name="pf_26"/>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1b1_wedding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4" name="cd_28"/>
          <p:cNvSpPr/>
          <p:nvPr/>
        </p:nvSpPr>
        <p:spPr>
          <a:xfrm>
            <a:off x="320040" y="3200400"/>
            <a:ext cx="2743200" cy="1402080"/>
          </a:xfrm>
          <a:prstGeom prst="roundRect">
            <a:avLst>
              <a:gd name="adj" fmla="val 913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8351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1C: clothes and photos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present continuous · prepositions</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75895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wear</a:t>
            </a:r>
            <a:endParaRPr lang="en-US" sz="1200" dirty="0"/>
          </a:p>
        </p:txBody>
      </p:sp>
      <p:sp>
        <p:nvSpPr>
          <p:cNvPr id="20" name="w_34"/>
          <p:cNvSpPr/>
          <p:nvPr/>
        </p:nvSpPr>
        <p:spPr>
          <a:xfrm>
            <a:off x="4096512" y="1783080"/>
            <a:ext cx="84582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carry</a:t>
            </a:r>
            <a:endParaRPr lang="en-US" sz="1200" dirty="0"/>
          </a:p>
        </p:txBody>
      </p:sp>
      <p:sp>
        <p:nvSpPr>
          <p:cNvPr id="21" name="w_35"/>
          <p:cNvSpPr/>
          <p:nvPr/>
        </p:nvSpPr>
        <p:spPr>
          <a:xfrm>
            <a:off x="5033772" y="1783080"/>
            <a:ext cx="1367028"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get dressed</a:t>
            </a:r>
            <a:endParaRPr lang="en-US" sz="1200" dirty="0"/>
          </a:p>
        </p:txBody>
      </p:sp>
      <p:sp>
        <p:nvSpPr>
          <p:cNvPr id="22" name="w_36"/>
          <p:cNvSpPr/>
          <p:nvPr/>
        </p:nvSpPr>
        <p:spPr>
          <a:xfrm>
            <a:off x="6492240" y="1783080"/>
            <a:ext cx="758952"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suit</a:t>
            </a:r>
            <a:endParaRPr lang="en-US" sz="1200" dirty="0"/>
          </a:p>
        </p:txBody>
      </p:sp>
      <p:sp>
        <p:nvSpPr>
          <p:cNvPr id="23" name="w_37"/>
          <p:cNvSpPr/>
          <p:nvPr/>
        </p:nvSpPr>
        <p:spPr>
          <a:xfrm>
            <a:off x="7342632" y="1783080"/>
            <a:ext cx="845820"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scarf</a:t>
            </a:r>
            <a:endParaRPr lang="en-US" sz="1200" dirty="0"/>
          </a:p>
        </p:txBody>
      </p:sp>
      <p:sp>
        <p:nvSpPr>
          <p:cNvPr id="24" name="w_38"/>
          <p:cNvSpPr/>
          <p:nvPr/>
        </p:nvSpPr>
        <p:spPr>
          <a:xfrm>
            <a:off x="3246120" y="2185416"/>
            <a:ext cx="932688"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behind</a:t>
            </a:r>
            <a:endParaRPr lang="en-US" sz="1200" dirty="0"/>
          </a:p>
        </p:txBody>
      </p:sp>
      <p:sp>
        <p:nvSpPr>
          <p:cNvPr id="25" name="w_39"/>
          <p:cNvSpPr/>
          <p:nvPr/>
        </p:nvSpPr>
        <p:spPr>
          <a:xfrm>
            <a:off x="4270248" y="2185416"/>
            <a:ext cx="1019556"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next to</a:t>
            </a:r>
            <a:endParaRPr lang="en-US" sz="1200" dirty="0"/>
          </a:p>
        </p:txBody>
      </p:sp>
      <p:sp>
        <p:nvSpPr>
          <p:cNvPr id="26" name="w_40"/>
          <p:cNvSpPr/>
          <p:nvPr/>
        </p:nvSpPr>
        <p:spPr>
          <a:xfrm>
            <a:off x="5381244" y="2185416"/>
            <a:ext cx="1106424"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opposite</a:t>
            </a:r>
            <a:endParaRPr lang="en-US" sz="1200" dirty="0"/>
          </a:p>
        </p:txBody>
      </p:sp>
      <p:sp>
        <p:nvSpPr>
          <p:cNvPr id="27" name="lv_41"/>
          <p:cNvSpPr/>
          <p:nvPr/>
        </p:nvSpPr>
        <p:spPr>
          <a:xfrm>
            <a:off x="324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8" name="lv_42"/>
          <p:cNvSpPr/>
          <p:nvPr/>
        </p:nvSpPr>
        <p:spPr>
          <a:xfrm>
            <a:off x="5151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9" name="lv_43"/>
          <p:cNvSpPr/>
          <p:nvPr/>
        </p:nvSpPr>
        <p:spPr>
          <a:xfrm>
            <a:off x="705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0" name="cd_44"/>
          <p:cNvSpPr/>
          <p:nvPr/>
        </p:nvSpPr>
        <p:spPr>
          <a:xfrm>
            <a:off x="3246120" y="3172968"/>
            <a:ext cx="2756916" cy="1581912"/>
          </a:xfrm>
          <a:prstGeom prst="roundRect">
            <a:avLst>
              <a:gd name="adj" fmla="val 80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rh_45"/>
          <p:cNvSpPr/>
          <p:nvPr/>
        </p:nvSpPr>
        <p:spPr>
          <a:xfrm>
            <a:off x="3337560" y="3246120"/>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Present continuous = now / in a photo</a:t>
            </a:r>
            <a:endParaRPr lang="en-US" sz="950" dirty="0"/>
          </a:p>
        </p:txBody>
      </p:sp>
      <p:sp>
        <p:nvSpPr>
          <p:cNvPr id="32" name="rf_46"/>
          <p:cNvSpPr/>
          <p:nvPr/>
        </p:nvSpPr>
        <p:spPr>
          <a:xfrm>
            <a:off x="3383280" y="3593592"/>
            <a:ext cx="2482596" cy="292608"/>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Make a now · a look! · an in the photo</a:t>
            </a:r>
            <a:endParaRPr lang="en-US" sz="950" dirty="0"/>
          </a:p>
        </p:txBody>
      </p:sp>
      <p:sp>
        <p:nvSpPr>
          <p:cNvPr id="33" name="R1_rl47"/>
          <p:cNvSpPr/>
          <p:nvPr/>
        </p:nvSpPr>
        <p:spPr>
          <a:xfrm>
            <a:off x="3383280"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She's wearing a pink dress.</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He's holding a baby.</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Are they smiling? Yes, they are.</a:t>
            </a:r>
            <a:endParaRPr lang="en-US" sz="1100" dirty="0"/>
          </a:p>
        </p:txBody>
      </p:sp>
      <p:sp>
        <p:nvSpPr>
          <p:cNvPr id="34" name="cd_48"/>
          <p:cNvSpPr/>
          <p:nvPr/>
        </p:nvSpPr>
        <p:spPr>
          <a:xfrm>
            <a:off x="6112764" y="3172968"/>
            <a:ext cx="2756916" cy="1581912"/>
          </a:xfrm>
          <a:prstGeom prst="roundRect">
            <a:avLst>
              <a:gd name="adj" fmla="val 80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rh_49"/>
          <p:cNvSpPr/>
          <p:nvPr/>
        </p:nvSpPr>
        <p:spPr>
          <a:xfrm>
            <a:off x="6204204" y="3246120"/>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Where are they?</a:t>
            </a:r>
            <a:endParaRPr lang="en-US" sz="1100" dirty="0"/>
          </a:p>
        </p:txBody>
      </p:sp>
      <p:sp>
        <p:nvSpPr>
          <p:cNvPr id="36" name="rf_50"/>
          <p:cNvSpPr/>
          <p:nvPr/>
        </p:nvSpPr>
        <p:spPr>
          <a:xfrm>
            <a:off x="6249924"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in front of · a between · an on the left · an at the back</a:t>
            </a:r>
            <a:endParaRPr lang="en-US" sz="850" dirty="0"/>
          </a:p>
        </p:txBody>
      </p:sp>
      <p:sp>
        <p:nvSpPr>
          <p:cNvPr id="37" name="R2_rl51"/>
          <p:cNvSpPr/>
          <p:nvPr/>
        </p:nvSpPr>
        <p:spPr>
          <a:xfrm>
            <a:off x="6249924"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The wine is on the table.</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The sea is behind the people.</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The lemons are next to the tomatoes.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Photo memory!</a:t>
            </a:r>
            <a:endParaRPr lang="en-US" sz="2400" dirty="0"/>
          </a:p>
        </p:txBody>
      </p:sp>
      <p:pic>
        <p:nvPicPr>
          <p:cNvPr id="6" name="brP_5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 looking back! Answer from memory.</a:t>
            </a:r>
            <a:endParaRPr lang="en-US" sz="1250" dirty="0"/>
          </a:p>
        </p:txBody>
      </p:sp>
      <p:sp>
        <p:nvSpPr>
          <p:cNvPr id="8" name="insIT_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Senza guardare! Rispondi a memoria.</a:t>
            </a:r>
            <a:endParaRPr lang="en-US" sz="950" dirty="0"/>
          </a:p>
        </p:txBody>
      </p:sp>
      <p:sp>
        <p:nvSpPr>
          <p:cNvPr id="9" name="note_5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Warmer · last lesson   ·   📖 Recycles 1C</a:t>
            </a:r>
            <a:endParaRPr lang="en-US" sz="800" dirty="0"/>
          </a:p>
        </p:txBody>
      </p:sp>
      <p:sp>
        <p:nvSpPr>
          <p:cNvPr id="12" name="cd_61"/>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4"/>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Remember last lesson's photos.</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Ricorda le foto della lezione scorsa.</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Teams answer in full sentences.</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Le squadre rispondono con frasi complete.</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Right answer + right grammar = 1 point.</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Risposta giusta + grammatica giusta = 1 punto.</a:t>
            </a:r>
            <a:endParaRPr lang="en-US" sz="900" dirty="0"/>
          </a:p>
        </p:txBody>
      </p:sp>
      <p:sp>
        <p:nvSpPr>
          <p:cNvPr id="16" name="pf_65"/>
          <p:cNvSpPr/>
          <p:nvPr/>
        </p:nvSpPr>
        <p:spPr>
          <a:xfrm rot="-120000">
            <a:off x="733972" y="4069080"/>
            <a:ext cx="1823895"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6" descr="/home/claude/lls-course/v2/cache/1b1_sunday_lunch_jpg_417x253_31.png">    </p:cNvPr>
          <p:cNvPicPr>
            <a:picLocks noChangeAspect="1"/>
          </p:cNvPicPr>
          <p:nvPr/>
        </p:nvPicPr>
        <p:blipFill>
          <a:blip r:embed="rId5"/>
          <a:stretch>
            <a:fillRect/>
          </a:stretch>
        </p:blipFill>
        <p:spPr>
          <a:xfrm rot="-120000">
            <a:off x="779692" y="4114800"/>
            <a:ext cx="1732455" cy="1051560"/>
          </a:xfrm>
          <a:prstGeom prst="rect">
            <a:avLst/>
          </a:prstGeom>
        </p:spPr>
      </p:pic>
      <p:sp>
        <p:nvSpPr>
          <p:cNvPr id="18" name="bd_67"/>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68"/>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wedding: what's the bride holding?</a:t>
            </a:r>
            <a:endParaRPr lang="en-US" sz="1250" dirty="0"/>
          </a:p>
        </p:txBody>
      </p:sp>
      <p:sp>
        <p:nvSpPr>
          <p:cNvPr id="20" name="chip_69"/>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She's holding flowers.</a:t>
            </a:r>
            <a:endParaRPr lang="en-US" sz="1200" dirty="0"/>
          </a:p>
        </p:txBody>
      </p:sp>
      <p:sp>
        <p:nvSpPr>
          <p:cNvPr id="21" name="bd_70"/>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71"/>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the groom wearing?</a:t>
            </a:r>
            <a:endParaRPr lang="en-US" sz="1250" dirty="0"/>
          </a:p>
        </p:txBody>
      </p:sp>
      <p:sp>
        <p:nvSpPr>
          <p:cNvPr id="23" name="R1_chip72"/>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a dark blue suit and a tie</a:t>
            </a:r>
            <a:endParaRPr lang="en-US" sz="1200" dirty="0"/>
          </a:p>
        </p:txBody>
      </p:sp>
      <p:sp>
        <p:nvSpPr>
          <p:cNvPr id="24" name="bd_73"/>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4"/>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bride: what's she wearing?</a:t>
            </a:r>
            <a:endParaRPr lang="en-US" sz="1250" dirty="0"/>
          </a:p>
        </p:txBody>
      </p:sp>
      <p:sp>
        <p:nvSpPr>
          <p:cNvPr id="26" name="R2_chip75"/>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a pink dress</a:t>
            </a:r>
            <a:endParaRPr lang="en-US" sz="1200" dirty="0"/>
          </a:p>
        </p:txBody>
      </p:sp>
      <p:sp>
        <p:nvSpPr>
          <p:cNvPr id="27" name="bd_76"/>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7"/>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Sunday lunch: what's the man on the right doing?</a:t>
            </a:r>
            <a:endParaRPr lang="en-US" sz="1250" dirty="0"/>
          </a:p>
        </p:txBody>
      </p:sp>
      <p:sp>
        <p:nvSpPr>
          <p:cNvPr id="29" name="R3_chip78"/>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He's taking a selfie.</a:t>
            </a:r>
            <a:endParaRPr lang="en-US" sz="1200" dirty="0"/>
          </a:p>
        </p:txBody>
      </p:sp>
      <p:sp>
        <p:nvSpPr>
          <p:cNvPr id="30" name="bd_79"/>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80"/>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Where's the bottle of wine?</a:t>
            </a:r>
            <a:endParaRPr lang="en-US" sz="1250" dirty="0"/>
          </a:p>
        </p:txBody>
      </p:sp>
      <p:sp>
        <p:nvSpPr>
          <p:cNvPr id="32" name="R4_chip81"/>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on the table, in the middle</a:t>
            </a:r>
            <a:endParaRPr lang="en-US" sz="1200" dirty="0"/>
          </a:p>
        </p:txBody>
      </p:sp>
      <p:sp>
        <p:nvSpPr>
          <p:cNvPr id="33" name="bd_82"/>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83"/>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Glasses: wear or carry?</a:t>
            </a:r>
            <a:endParaRPr lang="en-US" sz="1250" dirty="0"/>
          </a:p>
        </p:txBody>
      </p:sp>
      <p:sp>
        <p:nvSpPr>
          <p:cNvPr id="35" name="R5_chip84"/>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wear! (I wear glasses.)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8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Holiday phrases</a:t>
            </a:r>
            <a:endParaRPr lang="en-US" sz="2500" dirty="0"/>
          </a:p>
        </p:txBody>
      </p:sp>
      <p:pic>
        <p:nvPicPr>
          <p:cNvPr id="6" name="brP_88"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89"/>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holiday phrases. Then click.</a:t>
            </a:r>
            <a:endParaRPr lang="en-US" sz="1250" dirty="0"/>
          </a:p>
        </p:txBody>
      </p:sp>
      <p:sp>
        <p:nvSpPr>
          <p:cNvPr id="8" name="insIT_9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le espressioni. Poi clicca.</a:t>
            </a:r>
            <a:endParaRPr lang="en-US" sz="950" dirty="0"/>
          </a:p>
        </p:txBody>
      </p:sp>
      <p:sp>
        <p:nvSpPr>
          <p:cNvPr id="9" name="note_9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150" dirty="0"/>
          </a:p>
        </p:txBody>
      </p:sp>
      <p:pic>
        <p:nvPicPr>
          <p:cNvPr id="10"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Vocabulary · holidays   ·   📖 VB p.152 · Holidays 1</a:t>
            </a:r>
            <a:endParaRPr lang="en-US" sz="800" dirty="0"/>
          </a:p>
        </p:txBody>
      </p:sp>
      <p:sp>
        <p:nvSpPr>
          <p:cNvPr id="12" name="cd_94"/>
          <p:cNvSpPr/>
          <p:nvPr/>
        </p:nvSpPr>
        <p:spPr>
          <a:xfrm>
            <a:off x="320040" y="1417320"/>
            <a:ext cx="2697480" cy="768096"/>
          </a:xfrm>
          <a:prstGeom prst="roundRect">
            <a:avLst>
              <a:gd name="adj" fmla="val 1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9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97"/>
          <p:cNvSpPr/>
          <p:nvPr/>
        </p:nvSpPr>
        <p:spPr>
          <a:xfrm>
            <a:off x="886968" y="1911096"/>
            <a:ext cx="2039112" cy="201168"/>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___ camping  →  go camping</a:t>
            </a:r>
            <a:endParaRPr lang="en-US" sz="1000" dirty="0"/>
          </a:p>
        </p:txBody>
      </p:sp>
      <p:sp>
        <p:nvSpPr>
          <p:cNvPr id="16" name="pf_98"/>
          <p:cNvSpPr/>
          <p:nvPr/>
        </p:nvSpPr>
        <p:spPr>
          <a:xfrm rot="-90000">
            <a:off x="805113" y="2368296"/>
            <a:ext cx="1727333" cy="1746504"/>
          </a:xfrm>
          <a:prstGeom prst="roundRect">
            <a:avLst>
              <a:gd name="adj" fmla="val 899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99" descr="/home/claude/lls-course/v2/cache/1b1_holiday_jpg_394x398_31.png">    </p:cNvPr>
          <p:cNvPicPr>
            <a:picLocks noChangeAspect="1"/>
          </p:cNvPicPr>
          <p:nvPr/>
        </p:nvPicPr>
        <p:blipFill>
          <a:blip r:embed="rId5"/>
          <a:stretch>
            <a:fillRect/>
          </a:stretch>
        </p:blipFill>
        <p:spPr>
          <a:xfrm rot="-90000">
            <a:off x="850833" y="2414016"/>
            <a:ext cx="1635893" cy="1655064"/>
          </a:xfrm>
          <a:prstGeom prst="rect">
            <a:avLst/>
          </a:prstGeom>
        </p:spPr>
      </p:pic>
      <p:sp>
        <p:nvSpPr>
          <p:cNvPr id="18" name="ap_100"/>
          <p:cNvSpPr/>
          <p:nvPr/>
        </p:nvSpPr>
        <p:spPr>
          <a:xfrm>
            <a:off x="365760" y="4297680"/>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2.6 + 2.7</a:t>
            </a:r>
            <a:endParaRPr lang="en-US" sz="1100" dirty="0"/>
          </a:p>
        </p:txBody>
      </p:sp>
      <p:sp>
        <p:nvSpPr>
          <p:cNvPr id="19" name="ah_101"/>
          <p:cNvSpPr/>
          <p:nvPr/>
        </p:nvSpPr>
        <p:spPr>
          <a:xfrm>
            <a:off x="363016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0"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4681728" y="4553712"/>
            <a:ext cx="411480" cy="411480"/>
          </a:xfrm>
          <a:prstGeom prst="rect">
            <a:avLst/>
          </a:prstGeom>
        </p:spPr>
      </p:pic>
      <p:pic>
        <p:nvPicPr>
          <p:cNvPr id="21"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5184648" y="4553712"/>
            <a:ext cx="411480" cy="411480"/>
          </a:xfrm>
          <a:prstGeom prst="rect">
            <a:avLst/>
          </a:prstGeom>
        </p:spPr>
      </p:pic>
      <p:sp>
        <p:nvSpPr>
          <p:cNvPr id="22" name="ah_102"/>
          <p:cNvSpPr/>
          <p:nvPr/>
        </p:nvSpPr>
        <p:spPr>
          <a:xfrm>
            <a:off x="696772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3"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7973568" y="4553712"/>
            <a:ext cx="411480" cy="411480"/>
          </a:xfrm>
          <a:prstGeom prst="rect">
            <a:avLst/>
          </a:prstGeom>
        </p:spPr>
      </p:pic>
      <p:pic>
        <p:nvPicPr>
          <p:cNvPr id="24" name="Media 3">
            <a:hlinkClick r:id="" action="ppaction://media"/>
          </p:cNvPr>
          <p:cNvPicPr>
            <a:picLocks noChangeAspect="1"/>
          </p:cNvPicPr>
          <p:nvPr>
            <a:audioFile r:link="rId15"/>
            <p:extLst>
              <p:ext uri="{DAA4B4D4-6D71-4841-9C94-3DE7FCFB9230}">
                <p14:media xmlns:p14="http://schemas.microsoft.com/office/powerpoint/2010/main" r:embed="rId16"/>
              </p:ext>
            </p:extLst>
          </p:nvPr>
        </p:nvPicPr>
        <p:blipFill>
          <a:blip r:embed="rId17"/>
          <a:stretch>
            <a:fillRect/>
          </a:stretch>
        </p:blipFill>
        <p:spPr>
          <a:xfrm>
            <a:off x="8476488" y="4553712"/>
            <a:ext cx="411480" cy="411480"/>
          </a:xfrm>
          <a:prstGeom prst="rect">
            <a:avLst/>
          </a:prstGeom>
        </p:spPr>
      </p:pic>
      <p:sp>
        <p:nvSpPr>
          <p:cNvPr id="25" name="bd_103"/>
          <p:cNvSpPr/>
          <p:nvPr/>
        </p:nvSpPr>
        <p:spPr>
          <a:xfrm>
            <a:off x="3246120" y="14447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6" name="q_104"/>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___ abroad</a:t>
            </a:r>
            <a:endParaRPr lang="en-US" sz="950" dirty="0"/>
          </a:p>
        </p:txBody>
      </p:sp>
      <p:sp>
        <p:nvSpPr>
          <p:cNvPr id="27" name="R1_chip105"/>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go abroad</a:t>
            </a:r>
            <a:endParaRPr lang="en-US" sz="1050" dirty="0"/>
          </a:p>
        </p:txBody>
      </p:sp>
      <p:sp>
        <p:nvSpPr>
          <p:cNvPr id="28" name="bd_106"/>
          <p:cNvSpPr/>
          <p:nvPr/>
        </p:nvSpPr>
        <p:spPr>
          <a:xfrm>
            <a:off x="3246120" y="18562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9" name="q_107"/>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___ away for the weekend</a:t>
            </a:r>
            <a:endParaRPr lang="en-US" sz="950" dirty="0"/>
          </a:p>
        </p:txBody>
      </p:sp>
      <p:sp>
        <p:nvSpPr>
          <p:cNvPr id="30" name="R2_chip108"/>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go away for the weekend</a:t>
            </a:r>
            <a:endParaRPr lang="en-US" sz="1050" dirty="0"/>
          </a:p>
        </p:txBody>
      </p:sp>
      <p:sp>
        <p:nvSpPr>
          <p:cNvPr id="31" name="bd_109"/>
          <p:cNvSpPr/>
          <p:nvPr/>
        </p:nvSpPr>
        <p:spPr>
          <a:xfrm>
            <a:off x="3246120" y="22677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2" name="q_110"/>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___ in a hotel / at a campsite</a:t>
            </a:r>
            <a:endParaRPr lang="en-US" sz="950" dirty="0"/>
          </a:p>
        </p:txBody>
      </p:sp>
      <p:sp>
        <p:nvSpPr>
          <p:cNvPr id="33" name="R3_chip111"/>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stay in a hotel / at a campsite</a:t>
            </a:r>
            <a:endParaRPr lang="en-US" sz="1050" dirty="0"/>
          </a:p>
        </p:txBody>
      </p:sp>
      <p:sp>
        <p:nvSpPr>
          <p:cNvPr id="34" name="bd_112"/>
          <p:cNvSpPr/>
          <p:nvPr/>
        </p:nvSpPr>
        <p:spPr>
          <a:xfrm>
            <a:off x="3246120" y="26791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5" name="q_113"/>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___ an apartment</a:t>
            </a:r>
            <a:endParaRPr lang="en-US" sz="950" dirty="0"/>
          </a:p>
        </p:txBody>
      </p:sp>
      <p:sp>
        <p:nvSpPr>
          <p:cNvPr id="36" name="R4_chip114"/>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rent an apartment</a:t>
            </a:r>
            <a:endParaRPr lang="en-US" sz="1050" dirty="0"/>
          </a:p>
        </p:txBody>
      </p:sp>
      <p:sp>
        <p:nvSpPr>
          <p:cNvPr id="37" name="bd_115"/>
          <p:cNvSpPr/>
          <p:nvPr/>
        </p:nvSpPr>
        <p:spPr>
          <a:xfrm>
            <a:off x="3246120" y="30906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8" name="q_116"/>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___ a bicycle</a:t>
            </a:r>
            <a:endParaRPr lang="en-US" sz="950" dirty="0"/>
          </a:p>
        </p:txBody>
      </p:sp>
      <p:sp>
        <p:nvSpPr>
          <p:cNvPr id="39" name="R5_chip117"/>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hire a bicycle</a:t>
            </a:r>
            <a:endParaRPr lang="en-US" sz="1050" dirty="0"/>
          </a:p>
        </p:txBody>
      </p:sp>
      <p:sp>
        <p:nvSpPr>
          <p:cNvPr id="40" name="bd_118"/>
          <p:cNvSpPr/>
          <p:nvPr/>
        </p:nvSpPr>
        <p:spPr>
          <a:xfrm>
            <a:off x="3246120" y="35021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41" name="q_119"/>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___ sightseeing</a:t>
            </a:r>
            <a:endParaRPr lang="en-US" sz="950" dirty="0"/>
          </a:p>
        </p:txBody>
      </p:sp>
      <p:sp>
        <p:nvSpPr>
          <p:cNvPr id="42" name="R6_chip120"/>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go sightseeing</a:t>
            </a:r>
            <a:endParaRPr lang="en-US" sz="1050" dirty="0"/>
          </a:p>
        </p:txBody>
      </p:sp>
      <p:sp>
        <p:nvSpPr>
          <p:cNvPr id="43" name="bd_121"/>
          <p:cNvSpPr/>
          <p:nvPr/>
        </p:nvSpPr>
        <p:spPr>
          <a:xfrm>
            <a:off x="3246120" y="391363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4" name="q_122"/>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___ on the beach</a:t>
            </a:r>
            <a:endParaRPr lang="en-US" sz="950" dirty="0"/>
          </a:p>
        </p:txBody>
      </p:sp>
      <p:sp>
        <p:nvSpPr>
          <p:cNvPr id="45" name="R7_chip123"/>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sunbathe on the beach</a:t>
            </a:r>
            <a:endParaRPr lang="en-US" sz="1050" dirty="0"/>
          </a:p>
        </p:txBody>
      </p:sp>
      <p:sp>
        <p:nvSpPr>
          <p:cNvPr id="46" name="bd_124"/>
          <p:cNvSpPr/>
          <p:nvPr/>
        </p:nvSpPr>
        <p:spPr>
          <a:xfrm>
            <a:off x="3246120" y="43251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7" name="q_125"/>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___ a flight online</a:t>
            </a:r>
            <a:endParaRPr lang="en-US" sz="950" dirty="0"/>
          </a:p>
        </p:txBody>
      </p:sp>
      <p:sp>
        <p:nvSpPr>
          <p:cNvPr id="48" name="R8_chip126"/>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book a flight online</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400"/>
                                        <p:tgtEl>
                                          <p:spTgt spid="3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fade">
                                      <p:cBhvr>
                                        <p:cTn id="32" dur="4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5"/>
                                        </p:tgtEl>
                                        <p:attrNameLst>
                                          <p:attrName>style.visibility</p:attrName>
                                        </p:attrNameLst>
                                      </p:cBhvr>
                                      <p:to>
                                        <p:strVal val="visible"/>
                                      </p:to>
                                    </p:set>
                                    <p:animEffect transition="in" filter="fade">
                                      <p:cBhvr>
                                        <p:cTn id="37" dur="400"/>
                                        <p:tgtEl>
                                          <p:spTgt spid="4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8"/>
                                        </p:tgtEl>
                                        <p:attrNameLst>
                                          <p:attrName>style.visibility</p:attrName>
                                        </p:attrNameLst>
                                      </p:cBhvr>
                                      <p:to>
                                        <p:strVal val="visible"/>
                                      </p:to>
                                    </p:set>
                                    <p:animEffect transition="in" filter="fade">
                                      <p:cBhvr>
                                        <p:cTn id="42"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seq concurrent="1" nextAc="seek">
              <p:cTn id="48" restart="whenNotActive" fill="hold" evtFilter="cancelBubble" nodeType="interactiveSeq">
                <p:stCondLst>
                  <p:cond evt="onClick" delay="0">
                    <p:tgtEl>
                      <p:spTgt spid="2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1"/>
                                        </p:tgtEl>
                                      </p:cBhvr>
                                    </p:cmd>
                                  </p:childTnLst>
                                </p:cTn>
                              </p:par>
                            </p:childTnLst>
                          </p:cTn>
                        </p:par>
                      </p:childTnLst>
                    </p:cTn>
                  </p:par>
                </p:childTnLst>
              </p:cTn>
              <p:nextCondLst>
                <p:cond evt="onClick" delay="0">
                  <p:tgtEl>
                    <p:spTgt spid="21"/>
                  </p:tgtEl>
                </p:cond>
              </p:nextCondLst>
            </p:seq>
            <p:seq concurrent="1" nextAc="seek">
              <p:cTn id="53" restart="whenNotActive" fill="hold" evtFilter="cancelBubble" nodeType="interactiveSeq">
                <p:stCondLst>
                  <p:cond evt="onClick" delay="0">
                    <p:tgtEl>
                      <p:spTgt spid="23"/>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23"/>
                                        </p:tgtEl>
                                      </p:cBhvr>
                                    </p:cmd>
                                  </p:childTnLst>
                                </p:cTn>
                              </p:par>
                            </p:childTnLst>
                          </p:cTn>
                        </p:par>
                      </p:childTnLst>
                    </p:cTn>
                  </p:par>
                </p:childTnLst>
              </p:cTn>
              <p:nextCondLst>
                <p:cond evt="onClick" delay="0">
                  <p:tgtEl>
                    <p:spTgt spid="23"/>
                  </p:tgtEl>
                </p:cond>
              </p:nextCondLst>
            </p:seq>
            <p:seq concurrent="1" nextAc="seek">
              <p:cTn id="58" restart="whenNotActive" fill="hold" evtFilter="cancelBubble" nodeType="interactiveSeq">
                <p:stCondLst>
                  <p:cond evt="onClick" delay="0">
                    <p:tgtEl>
                      <p:spTgt spid="24"/>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24"/>
                                        </p:tgtEl>
                                      </p:cBhvr>
                                    </p:cmd>
                                  </p:childTnLst>
                                </p:cTn>
                              </p:par>
                            </p:childTnLst>
                          </p:cTn>
                        </p:par>
                      </p:childTnLst>
                    </p:cTn>
                  </p:par>
                </p:childTnLst>
              </p:cTn>
              <p:nextCondLst>
                <p:cond evt="onClick" delay="0">
                  <p:tgtEl>
                    <p:spTgt spid="24"/>
                  </p:tgtEl>
                </p:cond>
              </p:nextCondLst>
            </p:seq>
            <p:audio>
              <p:cMediaNode vol="80000">
                <p:cTn id="63" fill="hold" display="0">
                  <p:stCondLst>
                    <p:cond delay="indefinite"/>
                  </p:stCondLst>
                  <p:endCondLst>
                    <p:cond evt="onStopAudio" delay="0">
                      <p:tgtEl>
                        <p:sldTgt/>
                      </p:tgtEl>
                    </p:cond>
                  </p:endCondLst>
                </p:cTn>
                <p:tgtEl>
                  <p:spTgt spid="20"/>
                </p:tgtEl>
              </p:cMediaNode>
            </p:audio>
            <p:audio>
              <p:cMediaNode vol="80000">
                <p:cTn id="64" fill="hold" display="0">
                  <p:stCondLst>
                    <p:cond delay="indefinite"/>
                  </p:stCondLst>
                  <p:endCondLst>
                    <p:cond evt="onStopAudio" delay="0">
                      <p:tgtEl>
                        <p:sldTgt/>
                      </p:tgtEl>
                    </p:cond>
                  </p:endCondLst>
                </p:cTn>
                <p:tgtEl>
                  <p:spTgt spid="21"/>
                </p:tgtEl>
              </p:cMediaNode>
            </p:audio>
            <p:audio>
              <p:cMediaNode vol="80000">
                <p:cTn id="65" fill="hold" display="0">
                  <p:stCondLst>
                    <p:cond delay="indefinite"/>
                  </p:stCondLst>
                  <p:endCondLst>
                    <p:cond evt="onStopAudio" delay="0">
                      <p:tgtEl>
                        <p:sldTgt/>
                      </p:tgtEl>
                    </p:cond>
                  </p:endCondLst>
                </p:cTn>
                <p:tgtEl>
                  <p:spTgt spid="23"/>
                </p:tgtEl>
              </p:cMediaNode>
            </p:audio>
            <p:audio>
              <p:cMediaNode vol="80000">
                <p:cTn id="66" fill="hold" display="0">
                  <p:stCondLst>
                    <p:cond delay="indefinite"/>
                  </p:stCondLst>
                  <p:endCondLst>
                    <p:cond evt="onStopAudio" delay="0">
                      <p:tgtEl>
                        <p:sldTgt/>
                      </p:tgtEl>
                    </p:cond>
                  </p:endCondLst>
                </p:cTn>
                <p:tgtEl>
                  <p:spTgt spid="24"/>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2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Holiday words in Italian</a:t>
            </a:r>
            <a:endParaRPr lang="en-US" sz="2500" dirty="0"/>
          </a:p>
        </p:txBody>
      </p:sp>
      <p:pic>
        <p:nvPicPr>
          <p:cNvPr id="6" name="brP_13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3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13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1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Vocabulary · in Italian   ·   📖 VB p.152 · Holidays</a:t>
            </a:r>
            <a:endParaRPr lang="en-US" sz="800" dirty="0"/>
          </a:p>
        </p:txBody>
      </p:sp>
      <p:sp>
        <p:nvSpPr>
          <p:cNvPr id="12" name="cd_136"/>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137"/>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138"/>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abroad</a:t>
            </a:r>
            <a:endParaRPr lang="en-US" sz="1200" dirty="0"/>
          </a:p>
        </p:txBody>
      </p:sp>
      <p:sp>
        <p:nvSpPr>
          <p:cNvPr id="15" name="R1_it139"/>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andare all'estero</a:t>
            </a:r>
            <a:endParaRPr lang="en-US" sz="1000" dirty="0"/>
          </a:p>
        </p:txBody>
      </p:sp>
      <p:sp>
        <p:nvSpPr>
          <p:cNvPr id="16" name="cd_140"/>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141"/>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142"/>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sightseeing</a:t>
            </a:r>
            <a:endParaRPr lang="en-US" sz="1200" dirty="0"/>
          </a:p>
        </p:txBody>
      </p:sp>
      <p:sp>
        <p:nvSpPr>
          <p:cNvPr id="19" name="R2_it143"/>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fare un giro turistico</a:t>
            </a:r>
            <a:endParaRPr lang="en-US" sz="950" dirty="0"/>
          </a:p>
        </p:txBody>
      </p:sp>
      <p:sp>
        <p:nvSpPr>
          <p:cNvPr id="20" name="cd_144"/>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145"/>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146"/>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sunbathe</a:t>
            </a:r>
            <a:endParaRPr lang="en-US" sz="1200" dirty="0"/>
          </a:p>
        </p:txBody>
      </p:sp>
      <p:sp>
        <p:nvSpPr>
          <p:cNvPr id="23" name="R3_it147"/>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prendere il sole</a:t>
            </a:r>
            <a:endParaRPr lang="en-US" sz="1000" dirty="0"/>
          </a:p>
        </p:txBody>
      </p:sp>
      <p:sp>
        <p:nvSpPr>
          <p:cNvPr id="24" name="cd_148"/>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149"/>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150"/>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stay at a campsite</a:t>
            </a:r>
            <a:endParaRPr lang="en-US" sz="1150" dirty="0"/>
          </a:p>
        </p:txBody>
      </p:sp>
      <p:sp>
        <p:nvSpPr>
          <p:cNvPr id="27" name="R4_it151"/>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stare in campeggio</a:t>
            </a:r>
            <a:endParaRPr lang="en-US" sz="1000" dirty="0"/>
          </a:p>
        </p:txBody>
      </p:sp>
      <p:sp>
        <p:nvSpPr>
          <p:cNvPr id="28" name="cd_152"/>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153"/>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154"/>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hire a bicycle</a:t>
            </a:r>
            <a:endParaRPr lang="en-US" sz="1200" dirty="0"/>
          </a:p>
        </p:txBody>
      </p:sp>
      <p:sp>
        <p:nvSpPr>
          <p:cNvPr id="31" name="R5_it155"/>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noleggiare una bici</a:t>
            </a:r>
            <a:endParaRPr lang="en-US" sz="1000" dirty="0"/>
          </a:p>
        </p:txBody>
      </p:sp>
      <p:sp>
        <p:nvSpPr>
          <p:cNvPr id="32" name="cd_156"/>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157"/>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158"/>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buy souvenirs</a:t>
            </a:r>
            <a:endParaRPr lang="en-US" sz="1200" dirty="0"/>
          </a:p>
        </p:txBody>
      </p:sp>
      <p:sp>
        <p:nvSpPr>
          <p:cNvPr id="35" name="R6_it159"/>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comprare souvenir</a:t>
            </a:r>
            <a:endParaRPr lang="en-US" sz="1000" dirty="0"/>
          </a:p>
        </p:txBody>
      </p:sp>
      <p:sp>
        <p:nvSpPr>
          <p:cNvPr id="36" name="cd_160"/>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161"/>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162"/>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have a good time</a:t>
            </a:r>
            <a:endParaRPr lang="en-US" sz="1200" dirty="0"/>
          </a:p>
        </p:txBody>
      </p:sp>
      <p:sp>
        <p:nvSpPr>
          <p:cNvPr id="39" name="R7_it163"/>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divertirsi</a:t>
            </a:r>
            <a:endParaRPr lang="en-US" sz="1000" dirty="0"/>
          </a:p>
        </p:txBody>
      </p:sp>
      <p:sp>
        <p:nvSpPr>
          <p:cNvPr id="40" name="cd_164"/>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165"/>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166"/>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spend money</a:t>
            </a:r>
            <a:endParaRPr lang="en-US" sz="1200" dirty="0"/>
          </a:p>
        </p:txBody>
      </p:sp>
      <p:sp>
        <p:nvSpPr>
          <p:cNvPr id="43" name="R8_it167"/>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spendere soldi</a:t>
            </a:r>
            <a:endParaRPr lang="en-US" sz="1000" dirty="0"/>
          </a:p>
        </p:txBody>
      </p:sp>
      <p:sp>
        <p:nvSpPr>
          <p:cNvPr id="44" name="cd_168"/>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169"/>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170"/>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crowded</a:t>
            </a:r>
            <a:endParaRPr lang="en-US" sz="1200" dirty="0"/>
          </a:p>
        </p:txBody>
      </p:sp>
      <p:sp>
        <p:nvSpPr>
          <p:cNvPr id="47" name="R9_it171"/>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affollato</a:t>
            </a:r>
            <a:endParaRPr lang="en-US" sz="1000" dirty="0"/>
          </a:p>
        </p:txBody>
      </p:sp>
      <p:sp>
        <p:nvSpPr>
          <p:cNvPr id="48" name="cd_172"/>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173"/>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174"/>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noisy</a:t>
            </a:r>
            <a:endParaRPr lang="en-US" sz="1200" dirty="0"/>
          </a:p>
        </p:txBody>
      </p:sp>
      <p:sp>
        <p:nvSpPr>
          <p:cNvPr id="51" name="R10_it175"/>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rumoroso</a:t>
            </a:r>
            <a:endParaRPr lang="en-US" sz="1000" dirty="0"/>
          </a:p>
        </p:txBody>
      </p:sp>
      <p:sp>
        <p:nvSpPr>
          <p:cNvPr id="52" name="cd_176"/>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177"/>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178"/>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comfortable</a:t>
            </a:r>
            <a:endParaRPr lang="en-US" sz="1200" dirty="0"/>
          </a:p>
        </p:txBody>
      </p:sp>
      <p:sp>
        <p:nvSpPr>
          <p:cNvPr id="55" name="R11_it179"/>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comodo</a:t>
            </a:r>
            <a:endParaRPr lang="en-US" sz="1000" dirty="0"/>
          </a:p>
        </p:txBody>
      </p:sp>
      <p:sp>
        <p:nvSpPr>
          <p:cNvPr id="56" name="cd_180"/>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181"/>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182"/>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helpful</a:t>
            </a:r>
            <a:endParaRPr lang="en-US" sz="1200" dirty="0"/>
          </a:p>
        </p:txBody>
      </p:sp>
      <p:sp>
        <p:nvSpPr>
          <p:cNvPr id="59" name="R12_it183"/>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disponibile</a:t>
            </a:r>
            <a:endParaRPr lang="en-US" sz="1000" dirty="0"/>
          </a:p>
        </p:txBody>
      </p:sp>
      <p:sp>
        <p:nvSpPr>
          <p:cNvPr id="60" name="R13_wc184"/>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185"/>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go abroad (✗ go to abroad)  ·  have a good time = divertirsi  ·  helpful ≠ unhelpful · comfortable ≠ uncomfortable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87"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88"/>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holidays</a:t>
            </a:r>
            <a:endParaRPr lang="en-US" sz="2500" dirty="0"/>
          </a:p>
        </p:txBody>
      </p:sp>
      <p:pic>
        <p:nvPicPr>
          <p:cNvPr id="6" name="brP_189"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90"/>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Then ask: And you?</a:t>
            </a:r>
            <a:endParaRPr lang="en-US" sz="1250" dirty="0"/>
          </a:p>
        </p:txBody>
      </p:sp>
      <p:sp>
        <p:nvSpPr>
          <p:cNvPr id="8" name="insIT_1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con un motivo. Poi chiedi: E tu?</a:t>
            </a:r>
            <a:endParaRPr lang="en-US" sz="950" dirty="0"/>
          </a:p>
        </p:txBody>
      </p:sp>
      <p:sp>
        <p:nvSpPr>
          <p:cNvPr id="9" name="note_19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1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Speaking · your holidays   ·   📖 VB p.152 · practice</a:t>
            </a:r>
            <a:endParaRPr lang="en-US" sz="800" dirty="0"/>
          </a:p>
        </p:txBody>
      </p:sp>
      <p:sp>
        <p:nvSpPr>
          <p:cNvPr id="12" name="pf_195"/>
          <p:cNvSpPr/>
          <p:nvPr/>
        </p:nvSpPr>
        <p:spPr>
          <a:xfrm rot="-120000">
            <a:off x="742588" y="1371600"/>
            <a:ext cx="1943824"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196" descr="/home/claude/lls-course/v2/cache/2b2_boiling_jpg_446x297_31.png">    </p:cNvPr>
          <p:cNvPicPr>
            <a:picLocks noChangeAspect="1"/>
          </p:cNvPicPr>
          <p:nvPr/>
        </p:nvPicPr>
        <p:blipFill>
          <a:blip r:embed="rId5"/>
          <a:stretch>
            <a:fillRect/>
          </a:stretch>
        </p:blipFill>
        <p:spPr>
          <a:xfrm rot="-120000">
            <a:off x="788308" y="1417320"/>
            <a:ext cx="1852384" cy="1234440"/>
          </a:xfrm>
          <a:prstGeom prst="rect">
            <a:avLst/>
          </a:prstGeom>
        </p:spPr>
      </p:pic>
      <p:sp>
        <p:nvSpPr>
          <p:cNvPr id="14" name="cd_197"/>
          <p:cNvSpPr/>
          <p:nvPr/>
        </p:nvSpPr>
        <p:spPr>
          <a:xfrm>
            <a:off x="320040" y="2880360"/>
            <a:ext cx="2788920" cy="1239520"/>
          </a:xfrm>
          <a:prstGeom prst="roundRect">
            <a:avLst>
              <a:gd name="adj" fmla="val 1032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98"/>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99"/>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200"/>
          <p:cNvSpPr/>
          <p:nvPr/>
        </p:nvSpPr>
        <p:spPr>
          <a:xfrm>
            <a:off x="886968" y="3374136"/>
            <a:ext cx="2130552" cy="672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prefer…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never… · I usually…</a:t>
            </a:r>
            <a:endParaRPr lang="en-US" sz="1150" dirty="0"/>
          </a:p>
        </p:txBody>
      </p:sp>
      <p:sp>
        <p:nvSpPr>
          <p:cNvPr id="18" name="R1_qb20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20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Do you usually go abroad or stay in Italy?</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 usually stay in Sicily – I love the beaches here.</a:t>
            </a:r>
            <a:endParaRPr lang="en-US" sz="1200" dirty="0"/>
          </a:p>
        </p:txBody>
      </p:sp>
      <p:sp>
        <p:nvSpPr>
          <p:cNvPr id="20" name="R2_qb20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20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Hotel, apartment or campsite?</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An apartment – it's cheaper and more comfortable.</a:t>
            </a:r>
            <a:endParaRPr lang="en-US" sz="1200" dirty="0"/>
          </a:p>
        </p:txBody>
      </p:sp>
      <p:sp>
        <p:nvSpPr>
          <p:cNvPr id="22" name="R3_qb20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20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Do you take a lot of photos on holiday?</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Yes, hundreds! My family hates it.</a:t>
            </a:r>
            <a:endParaRPr lang="en-US" sz="1200" dirty="0"/>
          </a:p>
        </p:txBody>
      </p:sp>
      <p:sp>
        <p:nvSpPr>
          <p:cNvPr id="24" name="R4_qb207"/>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208"/>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Do you buy souvenirs? Who for?</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Only magnets for my fridge!</a:t>
            </a:r>
            <a:endParaRPr lang="en-US" sz="1200" dirty="0"/>
          </a:p>
        </p:txBody>
      </p:sp>
      <p:sp>
        <p:nvSpPr>
          <p:cNvPr id="26" name="R5_qb209"/>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210"/>
          <p:cNvSpPr/>
          <p:nvPr/>
        </p:nvSpPr>
        <p:spPr>
          <a:xfrm>
            <a:off x="3675888" y="3831336"/>
            <a:ext cx="45079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do you hate on holiday?</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Crowded beaches and noisy hotels!</a:t>
            </a:r>
            <a:endParaRPr lang="en-US" sz="1200" dirty="0"/>
          </a:p>
        </p:txBody>
      </p:sp>
      <p:pic>
        <p:nvPicPr>
          <p:cNvPr id="28" name="R5_th211" descr="/home/claude/lls-course/v2/cache/2b2_boiling_jpg_154x119_18.png">    </p:cNvPr>
          <p:cNvPicPr>
            <a:picLocks noChangeAspect="1"/>
          </p:cNvPicPr>
          <p:nvPr/>
        </p:nvPicPr>
        <p:blipFill>
          <a:blip r:embed="rId6"/>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3"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14"/>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happened to Stuart?</a:t>
            </a:r>
            <a:endParaRPr lang="en-US" sz="2400" dirty="0"/>
          </a:p>
        </p:txBody>
      </p:sp>
      <p:pic>
        <p:nvPicPr>
          <p:cNvPr id="6" name="brP_215"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216"/>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Guess the story from 6 words!</a:t>
            </a:r>
            <a:endParaRPr lang="en-US" sz="1250" dirty="0"/>
          </a:p>
        </p:txBody>
      </p:sp>
      <p:sp>
        <p:nvSpPr>
          <p:cNvPr id="8" name="insIT_21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l'intro. Indovina la storia da 6 parole!</a:t>
            </a:r>
            <a:endParaRPr lang="en-US" sz="950" dirty="0"/>
          </a:p>
        </p:txBody>
      </p:sp>
      <p:sp>
        <p:nvSpPr>
          <p:cNvPr id="9" name="note_21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Prediction</a:t>
            </a:r>
            <a:endParaRPr lang="en-US" sz="1150" dirty="0"/>
          </a:p>
        </p:txBody>
      </p:sp>
      <p:pic>
        <p:nvPicPr>
          <p:cNvPr id="10" name="logo_2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Reading · prediction   ·   📖 SB p.14 · 1</a:t>
            </a:r>
            <a:endParaRPr lang="en-US" sz="800" dirty="0"/>
          </a:p>
        </p:txBody>
      </p:sp>
      <p:sp>
        <p:nvSpPr>
          <p:cNvPr id="12" name="cd_221"/>
          <p:cNvSpPr/>
          <p:nvPr/>
        </p:nvSpPr>
        <p:spPr>
          <a:xfrm>
            <a:off x="320040" y="1417320"/>
            <a:ext cx="5029200" cy="1965960"/>
          </a:xfrm>
          <a:prstGeom prst="roundRect">
            <a:avLst>
              <a:gd name="adj" fmla="val 651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hl_222"/>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Stuart's story</a:t>
            </a:r>
            <a:endParaRPr lang="en-US" sz="2800" dirty="0"/>
          </a:p>
        </p:txBody>
      </p:sp>
      <p:sp>
        <p:nvSpPr>
          <p:cNvPr id="14" name="nx_223"/>
          <p:cNvSpPr/>
          <p:nvPr/>
        </p:nvSpPr>
        <p:spPr>
          <a:xfrm>
            <a:off x="457200" y="2807208"/>
            <a:ext cx="4754880" cy="512064"/>
          </a:xfrm>
          <a:prstGeom prst="roundRect">
            <a:avLst>
              <a:gd name="adj" fmla="val 17857"/>
            </a:avLst>
          </a:prstGeom>
          <a:solidFill>
            <a:srgbClr val="E3F7EA"/>
          </a:solidFill>
          <a:ln w="28575">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story on the next 2 slides has 11 gaps. Write the verb in the past simple.</a:t>
            </a:r>
            <a:endParaRPr lang="en-US" sz="1000" dirty="0"/>
          </a:p>
        </p:txBody>
      </p:sp>
      <p:sp>
        <p:nvSpPr>
          <p:cNvPr id="15" name="sf_224"/>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'Passport, tickets, money, phone' – it's the mantra we always say to ourselves when we go on holiday. But what happens when one of those things is suddenly missing?</a:t>
            </a:r>
            <a:endParaRPr lang="en-US" sz="1150" dirty="0"/>
          </a:p>
        </p:txBody>
      </p:sp>
      <p:sp>
        <p:nvSpPr>
          <p:cNvPr id="16" name="nbl_225"/>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6 WORDS FROM THE STORY · what happened?</a:t>
            </a:r>
            <a:endParaRPr lang="en-US" sz="1100" dirty="0"/>
          </a:p>
        </p:txBody>
      </p:sp>
      <p:sp>
        <p:nvSpPr>
          <p:cNvPr id="17" name="bd_226"/>
          <p:cNvSpPr/>
          <p:nvPr/>
        </p:nvSpPr>
        <p:spPr>
          <a:xfrm>
            <a:off x="365760" y="3931920"/>
            <a:ext cx="548640" cy="5486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Alps</a:t>
            </a:r>
            <a:endParaRPr lang="en-US" sz="800" dirty="0"/>
          </a:p>
        </p:txBody>
      </p:sp>
      <p:sp>
        <p:nvSpPr>
          <p:cNvPr id="18" name="bd_227"/>
          <p:cNvSpPr/>
          <p:nvPr/>
        </p:nvSpPr>
        <p:spPr>
          <a:xfrm>
            <a:off x="987552" y="3931920"/>
            <a:ext cx="548640" cy="5486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lunch</a:t>
            </a:r>
            <a:endParaRPr lang="en-US" sz="800" dirty="0"/>
          </a:p>
        </p:txBody>
      </p:sp>
      <p:sp>
        <p:nvSpPr>
          <p:cNvPr id="19" name="bd_228"/>
          <p:cNvSpPr/>
          <p:nvPr/>
        </p:nvSpPr>
        <p:spPr>
          <a:xfrm>
            <a:off x="1609344" y="3931920"/>
            <a:ext cx="548640" cy="5486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car</a:t>
            </a:r>
            <a:endParaRPr lang="en-US" sz="1000" dirty="0"/>
          </a:p>
        </p:txBody>
      </p:sp>
      <p:sp>
        <p:nvSpPr>
          <p:cNvPr id="20" name="bd_229"/>
          <p:cNvSpPr/>
          <p:nvPr/>
        </p:nvSpPr>
        <p:spPr>
          <a:xfrm>
            <a:off x="2231136" y="3931920"/>
            <a:ext cx="548640" cy="548640"/>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phone</a:t>
            </a:r>
            <a:endParaRPr lang="en-US" sz="800" dirty="0"/>
          </a:p>
        </p:txBody>
      </p:sp>
      <p:sp>
        <p:nvSpPr>
          <p:cNvPr id="21" name="bd_230"/>
          <p:cNvSpPr/>
          <p:nvPr/>
        </p:nvSpPr>
        <p:spPr>
          <a:xfrm>
            <a:off x="2852928" y="3931920"/>
            <a:ext cx="548640" cy="5486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bag</a:t>
            </a:r>
            <a:endParaRPr lang="en-US" sz="1000" dirty="0"/>
          </a:p>
        </p:txBody>
      </p:sp>
      <p:sp>
        <p:nvSpPr>
          <p:cNvPr id="22" name="bd_231"/>
          <p:cNvSpPr/>
          <p:nvPr/>
        </p:nvSpPr>
        <p:spPr>
          <a:xfrm>
            <a:off x="3474720" y="3931920"/>
            <a:ext cx="548640" cy="5486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jacket</a:t>
            </a:r>
            <a:endParaRPr lang="en-US" sz="800" dirty="0"/>
          </a:p>
        </p:txBody>
      </p:sp>
      <p:sp>
        <p:nvSpPr>
          <p:cNvPr id="23" name="pf_232"/>
          <p:cNvSpPr/>
          <p:nvPr/>
        </p:nvSpPr>
        <p:spPr>
          <a:xfrm rot="90000">
            <a:off x="5577840" y="1827978"/>
            <a:ext cx="3246120" cy="2196203"/>
          </a:xfrm>
          <a:prstGeom prst="roundRect">
            <a:avLst>
              <a:gd name="adj" fmla="val 707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33" descr="/home/claude/lls-course/v2/cache/2b2_antarctic_tent_jpg_759x506_31.png">    </p:cNvPr>
          <p:cNvPicPr>
            <a:picLocks noChangeAspect="1"/>
          </p:cNvPicPr>
          <p:nvPr/>
        </p:nvPicPr>
        <p:blipFill>
          <a:blip r:embed="rId5"/>
          <a:stretch>
            <a:fillRect/>
          </a:stretch>
        </p:blipFill>
        <p:spPr>
          <a:xfrm rot="90000">
            <a:off x="5623560" y="1873698"/>
            <a:ext cx="3154680" cy="2104763"/>
          </a:xfrm>
          <a:prstGeom prst="rect">
            <a:avLst/>
          </a:prstGeom>
        </p:spPr>
      </p:pic>
    </p:spTree>
  </p:cSld>
  <p:clrMapOvr>
    <a:masterClrMapping/>
  </p:clrMapOvr>
  <p:transition spd="med">
    <p:push dir="l"/>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3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Stuart's story 1/2</a:t>
            </a:r>
            <a:endParaRPr lang="en-US" sz="2500" dirty="0"/>
          </a:p>
        </p:txBody>
      </p:sp>
      <p:pic>
        <p:nvPicPr>
          <p:cNvPr id="6" name="brP_23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3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verbs in the past simple.</a:t>
            </a:r>
            <a:endParaRPr lang="en-US" sz="1250" dirty="0"/>
          </a:p>
        </p:txBody>
      </p:sp>
      <p:sp>
        <p:nvSpPr>
          <p:cNvPr id="8" name="insIT_23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i verbi al past simple.</a:t>
            </a:r>
            <a:endParaRPr lang="en-US" sz="950" dirty="0"/>
          </a:p>
        </p:txBody>
      </p:sp>
      <p:sp>
        <p:nvSpPr>
          <p:cNvPr id="9" name="note_24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150" dirty="0"/>
          </a:p>
        </p:txBody>
      </p:sp>
      <p:pic>
        <p:nvPicPr>
          <p:cNvPr id="10" name="logo_2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Reading · Stuart's story   ·   📖 SB p.14 · text adapted</a:t>
            </a:r>
            <a:endParaRPr lang="en-US" sz="800" dirty="0"/>
          </a:p>
        </p:txBody>
      </p:sp>
      <p:sp>
        <p:nvSpPr>
          <p:cNvPr id="12" name="cd_243"/>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24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Last year in the Alps…</a:t>
            </a:r>
            <a:endParaRPr lang="en-US" sz="1700" dirty="0"/>
          </a:p>
        </p:txBody>
      </p:sp>
      <p:sp>
        <p:nvSpPr>
          <p:cNvPr id="14" name="ln_245"/>
          <p:cNvSpPr/>
          <p:nvPr/>
        </p:nvSpPr>
        <p:spPr>
          <a:xfrm>
            <a:off x="548640" y="1920240"/>
            <a:ext cx="5349240" cy="453583"/>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Last year, I </a:t>
            </a:r>
            <a:pPr indent="0" marL="0">
              <a:buNone/>
            </a:pPr>
            <a:r>
              <a:rPr lang="en-US" sz="1300" b="1" dirty="0">
                <a:solidFill>
                  <a:srgbClr val="2EB872"/>
                </a:solidFill>
                <a:latin typeface="Georgia" pitchFamily="34" charset="0"/>
                <a:ea typeface="Georgia" pitchFamily="34" charset="-122"/>
                <a:cs typeface="Georgia" pitchFamily="34" charset="-120"/>
              </a:rPr>
              <a:t> (1 go) ________ </a:t>
            </a:r>
            <a:pPr indent="0" marL="0">
              <a:buNone/>
            </a:pPr>
            <a:r>
              <a:rPr lang="en-US" sz="1300" dirty="0">
                <a:solidFill>
                  <a:srgbClr val="1B2559"/>
                </a:solidFill>
                <a:latin typeface="Georgia" pitchFamily="34" charset="0"/>
                <a:ea typeface="Georgia" pitchFamily="34" charset="-122"/>
                <a:cs typeface="Georgia" pitchFamily="34" charset="-120"/>
              </a:rPr>
              <a:t> on holiday to the Alps with a group of friends.</a:t>
            </a:r>
            <a:endParaRPr lang="en-US" sz="1300" dirty="0"/>
          </a:p>
        </p:txBody>
      </p:sp>
      <p:sp>
        <p:nvSpPr>
          <p:cNvPr id="15" name="R1_lnA246"/>
          <p:cNvSpPr/>
          <p:nvPr/>
        </p:nvSpPr>
        <p:spPr>
          <a:xfrm>
            <a:off x="548640" y="1920240"/>
            <a:ext cx="5349240" cy="453583"/>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Last year, I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went</a:t>
            </a:r>
            <a:pPr indent="0" marL="0">
              <a:buNone/>
            </a:pPr>
            <a:r>
              <a:rPr lang="en-US" sz="1300" dirty="0">
                <a:solidFill>
                  <a:srgbClr val="1B2559"/>
                </a:solidFill>
                <a:latin typeface="Georgia" pitchFamily="34" charset="0"/>
                <a:ea typeface="Georgia" pitchFamily="34" charset="-122"/>
                <a:cs typeface="Georgia" pitchFamily="34" charset="-120"/>
              </a:rPr>
              <a:t> on holiday to the Alps with a group of friends.</a:t>
            </a:r>
            <a:endParaRPr lang="en-US" sz="1300" dirty="0"/>
          </a:p>
        </p:txBody>
      </p:sp>
      <p:sp>
        <p:nvSpPr>
          <p:cNvPr id="16" name="ln_247"/>
          <p:cNvSpPr/>
          <p:nvPr/>
        </p:nvSpPr>
        <p:spPr>
          <a:xfrm>
            <a:off x="548640" y="2373823"/>
            <a:ext cx="5349240" cy="60069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One day, we </a:t>
            </a:r>
            <a:pPr indent="0" marL="0">
              <a:buNone/>
            </a:pPr>
            <a:r>
              <a:rPr lang="en-US" sz="1300" b="1" dirty="0">
                <a:solidFill>
                  <a:srgbClr val="2EB872"/>
                </a:solidFill>
                <a:latin typeface="Georgia" pitchFamily="34" charset="0"/>
                <a:ea typeface="Georgia" pitchFamily="34" charset="-122"/>
                <a:cs typeface="Georgia" pitchFamily="34" charset="-120"/>
              </a:rPr>
              <a:t> (2 climb) ________ </a:t>
            </a:r>
            <a:pPr indent="0" marL="0">
              <a:buNone/>
            </a:pPr>
            <a:r>
              <a:rPr lang="en-US" sz="1300" dirty="0">
                <a:solidFill>
                  <a:srgbClr val="1B2559"/>
                </a:solidFill>
                <a:latin typeface="Georgia" pitchFamily="34" charset="0"/>
                <a:ea typeface="Georgia" pitchFamily="34" charset="-122"/>
                <a:cs typeface="Georgia" pitchFamily="34" charset="-120"/>
              </a:rPr>
              <a:t> a mountain – it </a:t>
            </a:r>
            <a:pPr indent="0" marL="0">
              <a:buNone/>
            </a:pPr>
            <a:r>
              <a:rPr lang="en-US" sz="1300" b="1" dirty="0">
                <a:solidFill>
                  <a:srgbClr val="2EB872"/>
                </a:solidFill>
                <a:latin typeface="Georgia" pitchFamily="34" charset="0"/>
                <a:ea typeface="Georgia" pitchFamily="34" charset="-122"/>
                <a:cs typeface="Georgia" pitchFamily="34" charset="-120"/>
              </a:rPr>
              <a:t> (3 take) ________ </a:t>
            </a:r>
            <a:pPr indent="0" marL="0">
              <a:buNone/>
            </a:pPr>
            <a:r>
              <a:rPr lang="en-US" sz="1300" dirty="0">
                <a:solidFill>
                  <a:srgbClr val="1B2559"/>
                </a:solidFill>
                <a:latin typeface="Georgia" pitchFamily="34" charset="0"/>
                <a:ea typeface="Georgia" pitchFamily="34" charset="-122"/>
                <a:cs typeface="Georgia" pitchFamily="34" charset="-120"/>
              </a:rPr>
              <a:t> about two hours to get to the top.</a:t>
            </a:r>
            <a:endParaRPr lang="en-US" sz="1300" dirty="0"/>
          </a:p>
        </p:txBody>
      </p:sp>
      <p:sp>
        <p:nvSpPr>
          <p:cNvPr id="17" name="R2_lnA248"/>
          <p:cNvSpPr/>
          <p:nvPr/>
        </p:nvSpPr>
        <p:spPr>
          <a:xfrm>
            <a:off x="548640" y="2373823"/>
            <a:ext cx="5349240" cy="600690"/>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One day, we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climbed</a:t>
            </a:r>
            <a:pPr indent="0" marL="0">
              <a:buNone/>
            </a:pPr>
            <a:r>
              <a:rPr lang="en-US" sz="1300" dirty="0">
                <a:solidFill>
                  <a:srgbClr val="1B2559"/>
                </a:solidFill>
                <a:latin typeface="Georgia" pitchFamily="34" charset="0"/>
                <a:ea typeface="Georgia" pitchFamily="34" charset="-122"/>
                <a:cs typeface="Georgia" pitchFamily="34" charset="-120"/>
              </a:rPr>
              <a:t> a mountain – it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took</a:t>
            </a:r>
            <a:pPr indent="0" marL="0">
              <a:buNone/>
            </a:pPr>
            <a:r>
              <a:rPr lang="en-US" sz="1300" dirty="0">
                <a:solidFill>
                  <a:srgbClr val="1B2559"/>
                </a:solidFill>
                <a:latin typeface="Georgia" pitchFamily="34" charset="0"/>
                <a:ea typeface="Georgia" pitchFamily="34" charset="-122"/>
                <a:cs typeface="Georgia" pitchFamily="34" charset="-120"/>
              </a:rPr>
              <a:t> about two hours to get to the top.</a:t>
            </a:r>
            <a:endParaRPr lang="en-US" sz="1300" dirty="0"/>
          </a:p>
        </p:txBody>
      </p:sp>
      <p:sp>
        <p:nvSpPr>
          <p:cNvPr id="18" name="ln_249"/>
          <p:cNvSpPr/>
          <p:nvPr/>
        </p:nvSpPr>
        <p:spPr>
          <a:xfrm>
            <a:off x="548640" y="2974513"/>
            <a:ext cx="5349240" cy="53939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When we got there, we </a:t>
            </a:r>
            <a:pPr indent="0" marL="0">
              <a:buNone/>
            </a:pPr>
            <a:r>
              <a:rPr lang="en-US" sz="1300" b="1" dirty="0">
                <a:solidFill>
                  <a:srgbClr val="2EB872"/>
                </a:solidFill>
                <a:latin typeface="Georgia" pitchFamily="34" charset="0"/>
                <a:ea typeface="Georgia" pitchFamily="34" charset="-122"/>
                <a:cs typeface="Georgia" pitchFamily="34" charset="-120"/>
              </a:rPr>
              <a:t> (4 have) ________ </a:t>
            </a:r>
            <a:pPr indent="0" marL="0">
              <a:buNone/>
            </a:pPr>
            <a:r>
              <a:rPr lang="en-US" sz="1300" dirty="0">
                <a:solidFill>
                  <a:srgbClr val="1B2559"/>
                </a:solidFill>
                <a:latin typeface="Georgia" pitchFamily="34" charset="0"/>
                <a:ea typeface="Georgia" pitchFamily="34" charset="-122"/>
                <a:cs typeface="Georgia" pitchFamily="34" charset="-120"/>
              </a:rPr>
              <a:t> lunch. The view was amazing – we could see the sea!</a:t>
            </a:r>
            <a:endParaRPr lang="en-US" sz="1300" dirty="0"/>
          </a:p>
        </p:txBody>
      </p:sp>
      <p:sp>
        <p:nvSpPr>
          <p:cNvPr id="19" name="R3_lnA250"/>
          <p:cNvSpPr/>
          <p:nvPr/>
        </p:nvSpPr>
        <p:spPr>
          <a:xfrm>
            <a:off x="548640" y="2974513"/>
            <a:ext cx="5349240" cy="539396"/>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When we got there, we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had</a:t>
            </a:r>
            <a:pPr indent="0" marL="0">
              <a:buNone/>
            </a:pPr>
            <a:r>
              <a:rPr lang="en-US" sz="1300" dirty="0">
                <a:solidFill>
                  <a:srgbClr val="1B2559"/>
                </a:solidFill>
                <a:latin typeface="Georgia" pitchFamily="34" charset="0"/>
                <a:ea typeface="Georgia" pitchFamily="34" charset="-122"/>
                <a:cs typeface="Georgia" pitchFamily="34" charset="-120"/>
              </a:rPr>
              <a:t> lunch. The view was amazing – we could see the sea!</a:t>
            </a:r>
            <a:endParaRPr lang="en-US" sz="1300" dirty="0"/>
          </a:p>
        </p:txBody>
      </p:sp>
      <p:sp>
        <p:nvSpPr>
          <p:cNvPr id="20" name="ln_251"/>
          <p:cNvSpPr/>
          <p:nvPr/>
        </p:nvSpPr>
        <p:spPr>
          <a:xfrm>
            <a:off x="548640" y="3513909"/>
            <a:ext cx="5349240" cy="545525"/>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Back at the car, I </a:t>
            </a:r>
            <a:pPr indent="0" marL="0">
              <a:buNone/>
            </a:pPr>
            <a:r>
              <a:rPr lang="en-US" sz="1300" b="1" dirty="0">
                <a:solidFill>
                  <a:srgbClr val="2EB872"/>
                </a:solidFill>
                <a:latin typeface="Georgia" pitchFamily="34" charset="0"/>
                <a:ea typeface="Georgia" pitchFamily="34" charset="-122"/>
                <a:cs typeface="Georgia" pitchFamily="34" charset="-120"/>
              </a:rPr>
              <a:t> (5 want) ________ </a:t>
            </a:r>
            <a:pPr indent="0" marL="0">
              <a:buNone/>
            </a:pPr>
            <a:r>
              <a:rPr lang="en-US" sz="1300" dirty="0">
                <a:solidFill>
                  <a:srgbClr val="1B2559"/>
                </a:solidFill>
                <a:latin typeface="Georgia" pitchFamily="34" charset="0"/>
                <a:ea typeface="Georgia" pitchFamily="34" charset="-122"/>
                <a:cs typeface="Georgia" pitchFamily="34" charset="-120"/>
              </a:rPr>
              <a:t> to take another photo, but I couldn't find my phone.</a:t>
            </a:r>
            <a:endParaRPr lang="en-US" sz="1300" dirty="0"/>
          </a:p>
        </p:txBody>
      </p:sp>
      <p:sp>
        <p:nvSpPr>
          <p:cNvPr id="21" name="R4_lnA252"/>
          <p:cNvSpPr/>
          <p:nvPr/>
        </p:nvSpPr>
        <p:spPr>
          <a:xfrm>
            <a:off x="548640" y="3513909"/>
            <a:ext cx="5349240" cy="545525"/>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Back at the car, I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wanted</a:t>
            </a:r>
            <a:pPr indent="0" marL="0">
              <a:buNone/>
            </a:pPr>
            <a:r>
              <a:rPr lang="en-US" sz="1300" dirty="0">
                <a:solidFill>
                  <a:srgbClr val="1B2559"/>
                </a:solidFill>
                <a:latin typeface="Georgia" pitchFamily="34" charset="0"/>
                <a:ea typeface="Georgia" pitchFamily="34" charset="-122"/>
                <a:cs typeface="Georgia" pitchFamily="34" charset="-120"/>
              </a:rPr>
              <a:t> to take another photo, but I couldn't find my phone.</a:t>
            </a:r>
            <a:endParaRPr lang="en-US" sz="1300" dirty="0"/>
          </a:p>
        </p:txBody>
      </p:sp>
      <p:sp>
        <p:nvSpPr>
          <p:cNvPr id="22" name="ln_253"/>
          <p:cNvSpPr/>
          <p:nvPr/>
        </p:nvSpPr>
        <p:spPr>
          <a:xfrm>
            <a:off x="548640" y="4059434"/>
            <a:ext cx="5349240" cy="64972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 </a:t>
            </a:r>
            <a:pPr indent="0" marL="0">
              <a:buNone/>
            </a:pPr>
            <a:r>
              <a:rPr lang="en-US" sz="1300" b="1" dirty="0">
                <a:solidFill>
                  <a:srgbClr val="2EB872"/>
                </a:solidFill>
                <a:latin typeface="Georgia" pitchFamily="34" charset="0"/>
                <a:ea typeface="Georgia" pitchFamily="34" charset="-122"/>
                <a:cs typeface="Georgia" pitchFamily="34" charset="-120"/>
              </a:rPr>
              <a:t> (6 decide) ________ </a:t>
            </a:r>
            <a:pPr indent="0" marL="0">
              <a:buNone/>
            </a:pPr>
            <a:r>
              <a:rPr lang="en-US" sz="1300" dirty="0">
                <a:solidFill>
                  <a:srgbClr val="1B2559"/>
                </a:solidFill>
                <a:latin typeface="Georgia" pitchFamily="34" charset="0"/>
                <a:ea typeface="Georgia" pitchFamily="34" charset="-122"/>
                <a:cs typeface="Georgia" pitchFamily="34" charset="-120"/>
              </a:rPr>
              <a:t> to go back up. My friends said 'You can't go on your own', so we all went up again.</a:t>
            </a:r>
            <a:endParaRPr lang="en-US" sz="1300" dirty="0"/>
          </a:p>
        </p:txBody>
      </p:sp>
      <p:sp>
        <p:nvSpPr>
          <p:cNvPr id="23" name="R5_lnA254"/>
          <p:cNvSpPr/>
          <p:nvPr/>
        </p:nvSpPr>
        <p:spPr>
          <a:xfrm>
            <a:off x="548640" y="4059434"/>
            <a:ext cx="5349240" cy="649726"/>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decided</a:t>
            </a:r>
            <a:pPr indent="0" marL="0">
              <a:buNone/>
            </a:pPr>
            <a:r>
              <a:rPr lang="en-US" sz="1300" dirty="0">
                <a:solidFill>
                  <a:srgbClr val="1B2559"/>
                </a:solidFill>
                <a:latin typeface="Georgia" pitchFamily="34" charset="0"/>
                <a:ea typeface="Georgia" pitchFamily="34" charset="-122"/>
                <a:cs typeface="Georgia" pitchFamily="34" charset="-120"/>
              </a:rPr>
              <a:t> to go back up. My friends said 'You can't go on your own', so we all went up again.</a:t>
            </a:r>
            <a:endParaRPr lang="en-US" sz="1300" dirty="0"/>
          </a:p>
        </p:txBody>
      </p:sp>
      <p:sp>
        <p:nvSpPr>
          <p:cNvPr id="24" name="pf_255"/>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256" descr="/home/claude/lls-course/v2/cache/2b2_antarctic_ten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6" name="cd_257"/>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7" name="ii_25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25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260"/>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regular: + -ed (climbed)</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irregular: learn them! (go → went)</a:t>
            </a:r>
            <a:endParaRPr lang="en-US" sz="8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6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Stuart's story 2/2</a:t>
            </a:r>
            <a:endParaRPr lang="en-US" sz="2500" dirty="0"/>
          </a:p>
        </p:txBody>
      </p:sp>
      <p:pic>
        <p:nvPicPr>
          <p:cNvPr id="6" name="brP_26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6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verbs in the past simple.</a:t>
            </a:r>
            <a:endParaRPr lang="en-US" sz="1250" dirty="0"/>
          </a:p>
        </p:txBody>
      </p:sp>
      <p:sp>
        <p:nvSpPr>
          <p:cNvPr id="8" name="insIT_26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i verbi al past simple.</a:t>
            </a:r>
            <a:endParaRPr lang="en-US" sz="950" dirty="0"/>
          </a:p>
        </p:txBody>
      </p:sp>
      <p:sp>
        <p:nvSpPr>
          <p:cNvPr id="9" name="note_26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150" dirty="0"/>
          </a:p>
        </p:txBody>
      </p:sp>
      <p:pic>
        <p:nvPicPr>
          <p:cNvPr id="10" name="logo_2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Reading · Stuart's story   ·   📖 SB p.14 · text adapted</a:t>
            </a:r>
            <a:endParaRPr lang="en-US" sz="800" dirty="0"/>
          </a:p>
        </p:txBody>
      </p:sp>
      <p:sp>
        <p:nvSpPr>
          <p:cNvPr id="12" name="cd_270"/>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271"/>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…and back to the top!</a:t>
            </a:r>
            <a:endParaRPr lang="en-US" sz="1700" dirty="0"/>
          </a:p>
        </p:txBody>
      </p:sp>
      <p:sp>
        <p:nvSpPr>
          <p:cNvPr id="14" name="ln_272"/>
          <p:cNvSpPr/>
          <p:nvPr/>
        </p:nvSpPr>
        <p:spPr>
          <a:xfrm>
            <a:off x="548640" y="1920240"/>
            <a:ext cx="5349240" cy="722259"/>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At the top we </a:t>
            </a:r>
            <a:pPr indent="0" marL="0">
              <a:buNone/>
            </a:pPr>
            <a:r>
              <a:rPr lang="en-US" sz="1300" b="1" dirty="0">
                <a:solidFill>
                  <a:srgbClr val="2EB872"/>
                </a:solidFill>
                <a:latin typeface="Georgia" pitchFamily="34" charset="0"/>
                <a:ea typeface="Georgia" pitchFamily="34" charset="-122"/>
                <a:cs typeface="Georgia" pitchFamily="34" charset="-120"/>
              </a:rPr>
              <a:t> (7 spend) ________ </a:t>
            </a:r>
            <a:pPr indent="0" marL="0">
              <a:buNone/>
            </a:pPr>
            <a:r>
              <a:rPr lang="en-US" sz="1300" dirty="0">
                <a:solidFill>
                  <a:srgbClr val="1B2559"/>
                </a:solidFill>
                <a:latin typeface="Georgia" pitchFamily="34" charset="0"/>
                <a:ea typeface="Georgia" pitchFamily="34" charset="-122"/>
                <a:cs typeface="Georgia" pitchFamily="34" charset="-120"/>
              </a:rPr>
              <a:t> half an hour looking for the phone, but we couldn't find it anywhere.</a:t>
            </a:r>
            <a:endParaRPr lang="en-US" sz="1300" dirty="0"/>
          </a:p>
        </p:txBody>
      </p:sp>
      <p:sp>
        <p:nvSpPr>
          <p:cNvPr id="15" name="R1_lnA273"/>
          <p:cNvSpPr/>
          <p:nvPr/>
        </p:nvSpPr>
        <p:spPr>
          <a:xfrm>
            <a:off x="548640" y="1920240"/>
            <a:ext cx="5349240" cy="722259"/>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At the top we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spent</a:t>
            </a:r>
            <a:pPr indent="0" marL="0">
              <a:buNone/>
            </a:pPr>
            <a:r>
              <a:rPr lang="en-US" sz="1300" dirty="0">
                <a:solidFill>
                  <a:srgbClr val="1B2559"/>
                </a:solidFill>
                <a:latin typeface="Georgia" pitchFamily="34" charset="0"/>
                <a:ea typeface="Georgia" pitchFamily="34" charset="-122"/>
                <a:cs typeface="Georgia" pitchFamily="34" charset="-120"/>
              </a:rPr>
              <a:t> half an hour looking for the phone, but we couldn't find it anywhere.</a:t>
            </a:r>
            <a:endParaRPr lang="en-US" sz="1300" dirty="0"/>
          </a:p>
        </p:txBody>
      </p:sp>
      <p:sp>
        <p:nvSpPr>
          <p:cNvPr id="16" name="ln_274"/>
          <p:cNvSpPr/>
          <p:nvPr/>
        </p:nvSpPr>
        <p:spPr>
          <a:xfrm>
            <a:off x="548640" y="2642499"/>
            <a:ext cx="5349240" cy="66505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Then it </a:t>
            </a:r>
            <a:pPr indent="0" marL="0">
              <a:buNone/>
            </a:pPr>
            <a:r>
              <a:rPr lang="en-US" sz="1300" b="1" dirty="0">
                <a:solidFill>
                  <a:srgbClr val="2EB872"/>
                </a:solidFill>
                <a:latin typeface="Georgia" pitchFamily="34" charset="0"/>
                <a:ea typeface="Georgia" pitchFamily="34" charset="-122"/>
                <a:cs typeface="Georgia" pitchFamily="34" charset="-120"/>
              </a:rPr>
              <a:t> (8 start) ________ </a:t>
            </a:r>
            <a:pPr indent="0" marL="0">
              <a:buNone/>
            </a:pPr>
            <a:r>
              <a:rPr lang="en-US" sz="1300" dirty="0">
                <a:solidFill>
                  <a:srgbClr val="1B2559"/>
                </a:solidFill>
                <a:latin typeface="Georgia" pitchFamily="34" charset="0"/>
                <a:ea typeface="Georgia" pitchFamily="34" charset="-122"/>
                <a:cs typeface="Georgia" pitchFamily="34" charset="-120"/>
              </a:rPr>
              <a:t> to get colder, so I </a:t>
            </a:r>
            <a:pPr indent="0" marL="0">
              <a:buNone/>
            </a:pPr>
            <a:r>
              <a:rPr lang="en-US" sz="1300" b="1" dirty="0">
                <a:solidFill>
                  <a:srgbClr val="2EB872"/>
                </a:solidFill>
                <a:latin typeface="Georgia" pitchFamily="34" charset="0"/>
                <a:ea typeface="Georgia" pitchFamily="34" charset="-122"/>
                <a:cs typeface="Georgia" pitchFamily="34" charset="-120"/>
              </a:rPr>
              <a:t> (9 take) ________ </a:t>
            </a:r>
            <a:pPr indent="0" marL="0">
              <a:buNone/>
            </a:pPr>
            <a:r>
              <a:rPr lang="en-US" sz="1300" dirty="0">
                <a:solidFill>
                  <a:srgbClr val="1B2559"/>
                </a:solidFill>
                <a:latin typeface="Georgia" pitchFamily="34" charset="0"/>
                <a:ea typeface="Georgia" pitchFamily="34" charset="-122"/>
                <a:cs typeface="Georgia" pitchFamily="34" charset="-120"/>
              </a:rPr>
              <a:t> my jacket out of my bag, and…</a:t>
            </a:r>
            <a:endParaRPr lang="en-US" sz="1300" dirty="0"/>
          </a:p>
        </p:txBody>
      </p:sp>
      <p:sp>
        <p:nvSpPr>
          <p:cNvPr id="17" name="R2_lnA275"/>
          <p:cNvSpPr/>
          <p:nvPr/>
        </p:nvSpPr>
        <p:spPr>
          <a:xfrm>
            <a:off x="548640" y="2642499"/>
            <a:ext cx="5349240" cy="665050"/>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Then it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started</a:t>
            </a:r>
            <a:pPr indent="0" marL="0">
              <a:buNone/>
            </a:pPr>
            <a:r>
              <a:rPr lang="en-US" sz="1300" dirty="0">
                <a:solidFill>
                  <a:srgbClr val="1B2559"/>
                </a:solidFill>
                <a:latin typeface="Georgia" pitchFamily="34" charset="0"/>
                <a:ea typeface="Georgia" pitchFamily="34" charset="-122"/>
                <a:cs typeface="Georgia" pitchFamily="34" charset="-120"/>
              </a:rPr>
              <a:t> to get colder, so I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took</a:t>
            </a:r>
            <a:pPr indent="0" marL="0">
              <a:buNone/>
            </a:pPr>
            <a:r>
              <a:rPr lang="en-US" sz="1300" dirty="0">
                <a:solidFill>
                  <a:srgbClr val="1B2559"/>
                </a:solidFill>
                <a:latin typeface="Georgia" pitchFamily="34" charset="0"/>
                <a:ea typeface="Georgia" pitchFamily="34" charset="-122"/>
                <a:cs typeface="Georgia" pitchFamily="34" charset="-120"/>
              </a:rPr>
              <a:t> my jacket out of my bag, and…</a:t>
            </a:r>
            <a:endParaRPr lang="en-US" sz="1300" dirty="0"/>
          </a:p>
        </p:txBody>
      </p:sp>
      <p:sp>
        <p:nvSpPr>
          <p:cNvPr id="18" name="ln_276"/>
          <p:cNvSpPr/>
          <p:nvPr/>
        </p:nvSpPr>
        <p:spPr>
          <a:xfrm>
            <a:off x="548640" y="3307549"/>
            <a:ext cx="5349240" cy="286043"/>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 my phone was in my jacket pocket!</a:t>
            </a:r>
            <a:endParaRPr lang="en-US" sz="1300" dirty="0"/>
          </a:p>
        </p:txBody>
      </p:sp>
      <p:sp>
        <p:nvSpPr>
          <p:cNvPr id="19" name="ln_277"/>
          <p:cNvSpPr/>
          <p:nvPr/>
        </p:nvSpPr>
        <p:spPr>
          <a:xfrm>
            <a:off x="548640" y="3593592"/>
            <a:ext cx="5349240" cy="593539"/>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 </a:t>
            </a:r>
            <a:pPr indent="0" marL="0">
              <a:buNone/>
            </a:pPr>
            <a:r>
              <a:rPr lang="en-US" sz="1300" b="1" dirty="0">
                <a:solidFill>
                  <a:srgbClr val="2EB872"/>
                </a:solidFill>
                <a:latin typeface="Georgia" pitchFamily="34" charset="0"/>
                <a:ea typeface="Georgia" pitchFamily="34" charset="-122"/>
                <a:cs typeface="Georgia" pitchFamily="34" charset="-120"/>
              </a:rPr>
              <a:t> (10 feel) ________ </a:t>
            </a:r>
            <a:pPr indent="0" marL="0">
              <a:buNone/>
            </a:pPr>
            <a:r>
              <a:rPr lang="en-US" sz="1300" dirty="0">
                <a:solidFill>
                  <a:srgbClr val="1B2559"/>
                </a:solidFill>
                <a:latin typeface="Georgia" pitchFamily="34" charset="0"/>
                <a:ea typeface="Georgia" pitchFamily="34" charset="-122"/>
                <a:cs typeface="Georgia" pitchFamily="34" charset="-120"/>
              </a:rPr>
              <a:t> terrible, and really stupid! My friends were very nice about it…</a:t>
            </a:r>
            <a:endParaRPr lang="en-US" sz="1300" dirty="0"/>
          </a:p>
        </p:txBody>
      </p:sp>
      <p:sp>
        <p:nvSpPr>
          <p:cNvPr id="20" name="R3_lnA278"/>
          <p:cNvSpPr/>
          <p:nvPr/>
        </p:nvSpPr>
        <p:spPr>
          <a:xfrm>
            <a:off x="548640" y="3593592"/>
            <a:ext cx="5349240" cy="593539"/>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felt</a:t>
            </a:r>
            <a:pPr indent="0" marL="0">
              <a:buNone/>
            </a:pPr>
            <a:r>
              <a:rPr lang="en-US" sz="1300" dirty="0">
                <a:solidFill>
                  <a:srgbClr val="1B2559"/>
                </a:solidFill>
                <a:latin typeface="Georgia" pitchFamily="34" charset="0"/>
                <a:ea typeface="Georgia" pitchFamily="34" charset="-122"/>
                <a:cs typeface="Georgia" pitchFamily="34" charset="-120"/>
              </a:rPr>
              <a:t> terrible, and really stupid! My friends were very nice about it…</a:t>
            </a:r>
            <a:endParaRPr lang="en-US" sz="1300" dirty="0"/>
          </a:p>
        </p:txBody>
      </p:sp>
      <p:sp>
        <p:nvSpPr>
          <p:cNvPr id="21" name="ln_279"/>
          <p:cNvSpPr/>
          <p:nvPr/>
        </p:nvSpPr>
        <p:spPr>
          <a:xfrm>
            <a:off x="548640" y="4187131"/>
            <a:ext cx="5349240" cy="522029"/>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 but they never </a:t>
            </a:r>
            <a:pPr indent="0" marL="0">
              <a:buNone/>
            </a:pPr>
            <a:r>
              <a:rPr lang="en-US" sz="1300" b="1" dirty="0">
                <a:solidFill>
                  <a:srgbClr val="2EB872"/>
                </a:solidFill>
                <a:latin typeface="Georgia" pitchFamily="34" charset="0"/>
                <a:ea typeface="Georgia" pitchFamily="34" charset="-122"/>
                <a:cs typeface="Georgia" pitchFamily="34" charset="-120"/>
              </a:rPr>
              <a:t> (11 let) ________ </a:t>
            </a:r>
            <a:pPr indent="0" marL="0">
              <a:buNone/>
            </a:pPr>
            <a:r>
              <a:rPr lang="en-US" sz="1300" dirty="0">
                <a:solidFill>
                  <a:srgbClr val="1B2559"/>
                </a:solidFill>
                <a:latin typeface="Georgia" pitchFamily="34" charset="0"/>
                <a:ea typeface="Georgia" pitchFamily="34" charset="-122"/>
                <a:cs typeface="Georgia" pitchFamily="34" charset="-120"/>
              </a:rPr>
              <a:t> me forget it!   (Stuart, from Exeter, UK)</a:t>
            </a:r>
            <a:endParaRPr lang="en-US" sz="1300" dirty="0"/>
          </a:p>
        </p:txBody>
      </p:sp>
      <p:sp>
        <p:nvSpPr>
          <p:cNvPr id="22" name="R4_lnA280"/>
          <p:cNvSpPr/>
          <p:nvPr/>
        </p:nvSpPr>
        <p:spPr>
          <a:xfrm>
            <a:off x="548640" y="4187131"/>
            <a:ext cx="5349240" cy="522029"/>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 but they never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let</a:t>
            </a:r>
            <a:pPr indent="0" marL="0">
              <a:buNone/>
            </a:pPr>
            <a:r>
              <a:rPr lang="en-US" sz="1300" dirty="0">
                <a:solidFill>
                  <a:srgbClr val="1B2559"/>
                </a:solidFill>
                <a:latin typeface="Georgia" pitchFamily="34" charset="0"/>
                <a:ea typeface="Georgia" pitchFamily="34" charset="-122"/>
                <a:cs typeface="Georgia" pitchFamily="34" charset="-120"/>
              </a:rPr>
              <a:t> me forget it!   (Stuart, from Exeter, UK)</a:t>
            </a:r>
            <a:endParaRPr lang="en-US" sz="1300" dirty="0"/>
          </a:p>
        </p:txBody>
      </p:sp>
      <p:sp>
        <p:nvSpPr>
          <p:cNvPr id="23" name="pf_28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82" descr="/home/claude/lls-course/v2/cache/2b2_hilarious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5" name="cd_283"/>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6" name="ii_28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28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286"/>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let → let (same!)</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spend → spent · feel → felt</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8"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89"/>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Another disaster: Marta</a:t>
            </a:r>
            <a:endParaRPr lang="en-US" sz="2500" dirty="0"/>
          </a:p>
        </p:txBody>
      </p:sp>
      <p:pic>
        <p:nvPicPr>
          <p:cNvPr id="6" name="brP_29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9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Marta. Answer the 2 questions.</a:t>
            </a:r>
            <a:endParaRPr lang="en-US" sz="1250" dirty="0"/>
          </a:p>
        </p:txBody>
      </p:sp>
      <p:sp>
        <p:nvSpPr>
          <p:cNvPr id="8" name="insIT_29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Marta. Rispondi alle 2 domande.</a:t>
            </a:r>
            <a:endParaRPr lang="en-US" sz="950" dirty="0"/>
          </a:p>
        </p:txBody>
      </p:sp>
      <p:sp>
        <p:nvSpPr>
          <p:cNvPr id="9" name="note_29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2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Listening · Marta's story   ·   📖 SB p.14 · 1d · audio 2.1 (script SB p.120)</a:t>
            </a:r>
            <a:endParaRPr lang="en-US" sz="800" dirty="0"/>
          </a:p>
        </p:txBody>
      </p:sp>
      <p:sp>
        <p:nvSpPr>
          <p:cNvPr id="12" name="ap_296"/>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  ·  play once</a:t>
            </a:r>
            <a:endParaRPr lang="en-US" sz="1100" dirty="0"/>
          </a:p>
        </p:txBody>
      </p:sp>
      <p:sp>
        <p:nvSpPr>
          <p:cNvPr id="13" name="ah_29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29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299"/>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300"/>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1" descr="/home/claude/lls-course/v2/cache/2a2_passport_map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0" name="bd_302"/>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303"/>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304" descr="/home/claude/lls-course/v2/cache/2b2_worst_trip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3" name="bd_305"/>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cd_306"/>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5" name="ii_307"/>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308"/>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7" name="il_309"/>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to Marta's holiday story.</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Ascolta la storia di Marta.</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What did she lose? Did she find it?</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Cosa ha perso? L'ha ritrovato?</a:t>
            </a:r>
            <a:endParaRPr lang="en-US" sz="700" dirty="0"/>
          </a:p>
        </p:txBody>
      </p:sp>
      <p:sp>
        <p:nvSpPr>
          <p:cNvPr id="28" name="lq_310"/>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did she lose?</a:t>
            </a:r>
            <a:endParaRPr lang="en-US" sz="1100" dirty="0"/>
          </a:p>
        </p:txBody>
      </p:sp>
      <p:sp>
        <p:nvSpPr>
          <p:cNvPr id="29" name="R1_chip311"/>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ID card</a:t>
            </a:r>
            <a:endParaRPr lang="en-US" sz="1050" dirty="0"/>
          </a:p>
        </p:txBody>
      </p:sp>
      <p:sp>
        <p:nvSpPr>
          <p:cNvPr id="30" name="lq_312"/>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Did she find it?</a:t>
            </a:r>
            <a:endParaRPr lang="en-US" sz="1100" dirty="0"/>
          </a:p>
        </p:txBody>
      </p:sp>
      <p:sp>
        <p:nvSpPr>
          <p:cNvPr id="31" name="R2_chip313"/>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 restart="whenNotActive" fill="hold" evtFilter="cancelBubble" nodeType="interactiveSeq">
                <p:stCondLst>
                  <p:cond evt="onClick" delay="0">
                    <p:tgtEl>
                      <p:spTgt spid="14"/>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14"/>
                                        </p:tgtEl>
                                      </p:cBhvr>
                                    </p:cmd>
                                  </p:childTnLst>
                                </p:cTn>
                              </p:par>
                            </p:childTnLst>
                          </p:cTn>
                        </p:par>
                      </p:childTnLst>
                    </p:cTn>
                  </p:par>
                </p:childTnLst>
              </p:cTn>
              <p:nextCondLst>
                <p:cond evt="onClick" delay="0">
                  <p:tgtEl>
                    <p:spTgt spid="14"/>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audio>
              <p:cMediaNode vol="80000">
                <p:cTn id="23" fill="hold" display="0">
                  <p:stCondLst>
                    <p:cond delay="indefinite"/>
                  </p:stCondLst>
                  <p:endCondLst>
                    <p:cond evt="onStopAudio" delay="0">
                      <p:tgtEl>
                        <p:sldTgt/>
                      </p:tgtEl>
                    </p:cond>
                  </p:endCondLst>
                </p:cTn>
                <p:tgtEl>
                  <p:spTgt spid="14"/>
                </p:tgtEl>
              </p:cMediaNode>
            </p:audio>
            <p:audio>
              <p:cMediaNode vol="80000">
                <p:cTn id="24" fill="hold" display="0">
                  <p:stCondLst>
                    <p:cond delay="indefinite"/>
                  </p:stCondLst>
                  <p:endCondLst>
                    <p:cond evt="onStopAudio" delay="0">
                      <p:tgtEl>
                        <p:sldTgt/>
                      </p:tgtEl>
                    </p:cond>
                  </p:endCondLst>
                </p:cTn>
                <p:tgtEl>
                  <p:spTgt spid="16"/>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1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Marta: listen again</a:t>
            </a:r>
            <a:endParaRPr lang="en-US" sz="2500" dirty="0"/>
          </a:p>
        </p:txBody>
      </p:sp>
      <p:pic>
        <p:nvPicPr>
          <p:cNvPr id="6" name="brP_31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1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Answer questions 1–7.</a:t>
            </a:r>
            <a:endParaRPr lang="en-US" sz="1250" dirty="0"/>
          </a:p>
        </p:txBody>
      </p:sp>
      <p:sp>
        <p:nvSpPr>
          <p:cNvPr id="8" name="insIT_3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Riascolta. Rispondi alle domande 1–7.</a:t>
            </a:r>
            <a:endParaRPr lang="en-US" sz="950" dirty="0"/>
          </a:p>
        </p:txBody>
      </p:sp>
      <p:sp>
        <p:nvSpPr>
          <p:cNvPr id="9" name="note_32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3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Listening · detail   ·   📖 SB p.14 · 1e · audio 2.1</a:t>
            </a:r>
            <a:endParaRPr lang="en-US" sz="800" dirty="0"/>
          </a:p>
        </p:txBody>
      </p:sp>
      <p:sp>
        <p:nvSpPr>
          <p:cNvPr id="12" name="ap_323"/>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  ·  play again</a:t>
            </a:r>
            <a:endParaRPr lang="en-US" sz="1100" dirty="0"/>
          </a:p>
        </p:txBody>
      </p:sp>
      <p:sp>
        <p:nvSpPr>
          <p:cNvPr id="13" name="ah_32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2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32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27" descr="/home/claude/lls-course/v2/cache/2b2_worst_trip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328"/>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32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3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331"/>
          <p:cNvSpPr/>
          <p:nvPr/>
        </p:nvSpPr>
        <p:spPr>
          <a:xfrm>
            <a:off x="3383280" y="1417320"/>
            <a:ext cx="3337560" cy="406255"/>
          </a:xfrm>
          <a:prstGeom prst="roundRect">
            <a:avLst>
              <a:gd name="adj" fmla="val 2250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When did it happen?</a:t>
            </a:r>
            <a:endParaRPr lang="en-US" sz="1200" dirty="0"/>
          </a:p>
        </p:txBody>
      </p:sp>
      <p:sp>
        <p:nvSpPr>
          <p:cNvPr id="23" name="R1_chip332"/>
          <p:cNvSpPr/>
          <p:nvPr/>
        </p:nvSpPr>
        <p:spPr>
          <a:xfrm>
            <a:off x="6812280" y="1417320"/>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two years ago</a:t>
            </a:r>
            <a:endParaRPr lang="en-US" sz="1200" dirty="0"/>
          </a:p>
        </p:txBody>
      </p:sp>
      <p:sp>
        <p:nvSpPr>
          <p:cNvPr id="24" name="gq_333"/>
          <p:cNvSpPr/>
          <p:nvPr/>
        </p:nvSpPr>
        <p:spPr>
          <a:xfrm>
            <a:off x="3383280" y="1887583"/>
            <a:ext cx="3337560" cy="406255"/>
          </a:xfrm>
          <a:prstGeom prst="roundRect">
            <a:avLst>
              <a:gd name="adj" fmla="val 2250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 going? Why?</a:t>
            </a:r>
            <a:endParaRPr lang="en-US" sz="1200" dirty="0"/>
          </a:p>
        </p:txBody>
      </p:sp>
      <p:sp>
        <p:nvSpPr>
          <p:cNvPr id="25" name="R2_chip334"/>
          <p:cNvSpPr/>
          <p:nvPr/>
        </p:nvSpPr>
        <p:spPr>
          <a:xfrm>
            <a:off x="6812280" y="1887583"/>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Lyon – friends invited her</a:t>
            </a:r>
            <a:endParaRPr lang="en-US" sz="1200" dirty="0"/>
          </a:p>
        </p:txBody>
      </p:sp>
      <p:sp>
        <p:nvSpPr>
          <p:cNvPr id="26" name="gq_335"/>
          <p:cNvSpPr/>
          <p:nvPr/>
        </p:nvSpPr>
        <p:spPr>
          <a:xfrm>
            <a:off x="3383280" y="2357846"/>
            <a:ext cx="3337560" cy="406255"/>
          </a:xfrm>
          <a:prstGeom prst="roundRect">
            <a:avLst>
              <a:gd name="adj" fmla="val 2250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Why did she fly via Brussels?</a:t>
            </a:r>
            <a:endParaRPr lang="en-US" sz="1200" dirty="0"/>
          </a:p>
        </p:txBody>
      </p:sp>
      <p:sp>
        <p:nvSpPr>
          <p:cNvPr id="27" name="R3_chip336"/>
          <p:cNvSpPr/>
          <p:nvPr/>
        </p:nvSpPr>
        <p:spPr>
          <a:xfrm>
            <a:off x="6812280" y="2357846"/>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cheap direct flights</a:t>
            </a:r>
            <a:endParaRPr lang="en-US" sz="1200" dirty="0"/>
          </a:p>
        </p:txBody>
      </p:sp>
      <p:sp>
        <p:nvSpPr>
          <p:cNvPr id="28" name="gq_337"/>
          <p:cNvSpPr/>
          <p:nvPr/>
        </p:nvSpPr>
        <p:spPr>
          <a:xfrm>
            <a:off x="3383280" y="2828109"/>
            <a:ext cx="3337560" cy="406255"/>
          </a:xfrm>
          <a:prstGeom prst="roundRect">
            <a:avLst>
              <a:gd name="adj" fmla="val 2250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was the problem at the gate?</a:t>
            </a:r>
            <a:endParaRPr lang="en-US" sz="1200" dirty="0"/>
          </a:p>
        </p:txBody>
      </p:sp>
      <p:sp>
        <p:nvSpPr>
          <p:cNvPr id="29" name="R4_chip338"/>
          <p:cNvSpPr/>
          <p:nvPr/>
        </p:nvSpPr>
        <p:spPr>
          <a:xfrm>
            <a:off x="6812280" y="2828109"/>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couldn't find her ID card</a:t>
            </a:r>
            <a:endParaRPr lang="en-US" sz="1200" dirty="0"/>
          </a:p>
        </p:txBody>
      </p:sp>
      <p:sp>
        <p:nvSpPr>
          <p:cNvPr id="30" name="gq_339"/>
          <p:cNvSpPr/>
          <p:nvPr/>
        </p:nvSpPr>
        <p:spPr>
          <a:xfrm>
            <a:off x="3383280" y="3298371"/>
            <a:ext cx="3337560" cy="406255"/>
          </a:xfrm>
          <a:prstGeom prst="roundRect">
            <a:avLst>
              <a:gd name="adj" fmla="val 2250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did she feel?</a:t>
            </a:r>
            <a:endParaRPr lang="en-US" sz="1200" dirty="0"/>
          </a:p>
        </p:txBody>
      </p:sp>
      <p:sp>
        <p:nvSpPr>
          <p:cNvPr id="31" name="R5_chip340"/>
          <p:cNvSpPr/>
          <p:nvPr/>
        </p:nvSpPr>
        <p:spPr>
          <a:xfrm>
            <a:off x="6812280" y="3298371"/>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stressed and unhappy</a:t>
            </a:r>
            <a:endParaRPr lang="en-US" sz="1200" dirty="0"/>
          </a:p>
        </p:txBody>
      </p:sp>
      <p:sp>
        <p:nvSpPr>
          <p:cNvPr id="32" name="gq_341"/>
          <p:cNvSpPr/>
          <p:nvPr/>
        </p:nvSpPr>
        <p:spPr>
          <a:xfrm>
            <a:off x="3383280" y="3768634"/>
            <a:ext cx="3337560" cy="406255"/>
          </a:xfrm>
          <a:prstGeom prst="roundRect">
            <a:avLst>
              <a:gd name="adj" fmla="val 2250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What did the policeman say?</a:t>
            </a:r>
            <a:endParaRPr lang="en-US" sz="1200" dirty="0"/>
          </a:p>
        </p:txBody>
      </p:sp>
      <p:sp>
        <p:nvSpPr>
          <p:cNvPr id="33" name="R6_chip342"/>
          <p:cNvSpPr/>
          <p:nvPr/>
        </p:nvSpPr>
        <p:spPr>
          <a:xfrm>
            <a:off x="6812280" y="3768634"/>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couldn't go to France</a:t>
            </a:r>
            <a:endParaRPr lang="en-US" sz="1200" dirty="0"/>
          </a:p>
        </p:txBody>
      </p:sp>
      <p:sp>
        <p:nvSpPr>
          <p:cNvPr id="34" name="gq_343"/>
          <p:cNvSpPr/>
          <p:nvPr/>
        </p:nvSpPr>
        <p:spPr>
          <a:xfrm>
            <a:off x="3383280" y="4238897"/>
            <a:ext cx="3337560" cy="406255"/>
          </a:xfrm>
          <a:prstGeom prst="roundRect">
            <a:avLst>
              <a:gd name="adj" fmla="val 2250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Where did she go in the end?</a:t>
            </a:r>
            <a:endParaRPr lang="en-US" sz="1200" dirty="0"/>
          </a:p>
        </p:txBody>
      </p:sp>
      <p:sp>
        <p:nvSpPr>
          <p:cNvPr id="35" name="R7_chip344"/>
          <p:cNvSpPr/>
          <p:nvPr/>
        </p:nvSpPr>
        <p:spPr>
          <a:xfrm>
            <a:off x="6812280" y="4238897"/>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Madrid – to get a new ID card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4"/>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4"/>
                                        </p:tgtEl>
                                      </p:cBhvr>
                                    </p:cmd>
                                  </p:childTnLst>
                                </p:cTn>
                              </p:par>
                            </p:childTnLst>
                          </p:cTn>
                        </p:par>
                      </p:childTnLst>
                    </p:cTn>
                  </p:par>
                </p:childTnLst>
              </p:cTn>
              <p:nextCondLst>
                <p:cond evt="onClick" delay="0">
                  <p:tgtEl>
                    <p:spTgt spid="14"/>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audio>
              <p:cMediaNode vol="80000">
                <p:cTn id="48" fill="hold" display="0">
                  <p:stCondLst>
                    <p:cond delay="indefinite"/>
                  </p:stCondLst>
                  <p:endCondLst>
                    <p:cond evt="onStopAudio" delay="0">
                      <p:tgtEl>
                        <p:sldTgt/>
                      </p:tgtEl>
                    </p:cond>
                  </p:endCondLst>
                </p:cTn>
                <p:tgtEl>
                  <p:spTgt spid="14"/>
                </p:tgtEl>
              </p:cMediaNode>
            </p:audio>
            <p:audio>
              <p:cMediaNode vol="80000">
                <p:cTn id="49" fill="hold" display="0">
                  <p:stCondLst>
                    <p:cond delay="indefinite"/>
                  </p:stCondLst>
                  <p:endCondLst>
                    <p:cond evt="onStopAudio" delay="0">
                      <p:tgtEl>
                        <p:sldTgt/>
                      </p:tgtEl>
                    </p:cond>
                  </p:endCondLst>
                </p:cTn>
                <p:tgtEl>
                  <p:spTgt spid="16"/>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4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34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Regular or irregular?</a:t>
            </a:r>
            <a:endParaRPr lang="en-US" sz="2500" dirty="0"/>
          </a:p>
        </p:txBody>
      </p:sp>
      <p:pic>
        <p:nvPicPr>
          <p:cNvPr id="6" name="brP_34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34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Regular or irregular? Match the colour.</a:t>
            </a:r>
            <a:endParaRPr lang="en-US" sz="1250" dirty="0"/>
          </a:p>
        </p:txBody>
      </p:sp>
      <p:sp>
        <p:nvSpPr>
          <p:cNvPr id="8" name="insIT_3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Regolare o irregolare? Abbina il colore.</a:t>
            </a:r>
            <a:endParaRPr lang="en-US" sz="950" dirty="0"/>
          </a:p>
        </p:txBody>
      </p:sp>
      <p:sp>
        <p:nvSpPr>
          <p:cNvPr id="9" name="note_35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MATCH</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ABBINA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3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Grammar · noticing   ·   📖 SB p.15 · 2</a:t>
            </a:r>
            <a:endParaRPr lang="en-US" sz="800" dirty="0"/>
          </a:p>
        </p:txBody>
      </p:sp>
      <p:sp>
        <p:nvSpPr>
          <p:cNvPr id="12" name="cd_354"/>
          <p:cNvSpPr/>
          <p:nvPr/>
        </p:nvSpPr>
        <p:spPr>
          <a:xfrm>
            <a:off x="320040" y="1417320"/>
            <a:ext cx="2697480" cy="1527048"/>
          </a:xfrm>
          <a:prstGeom prst="roundRect">
            <a:avLst>
              <a:gd name="adj" fmla="val 838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5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5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Two types</a:t>
            </a:r>
            <a:endParaRPr lang="en-US" sz="1300" dirty="0"/>
          </a:p>
        </p:txBody>
      </p:sp>
      <p:sp>
        <p:nvSpPr>
          <p:cNvPr id="15" name="lg_357"/>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regular -ed</a:t>
            </a:r>
            <a:endParaRPr lang="en-US" sz="1050" dirty="0"/>
          </a:p>
        </p:txBody>
      </p:sp>
      <p:sp>
        <p:nvSpPr>
          <p:cNvPr id="16" name="lg_358"/>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irregular</a:t>
            </a:r>
            <a:endParaRPr lang="en-US" sz="1050" dirty="0"/>
          </a:p>
        </p:txBody>
      </p:sp>
      <p:sp>
        <p:nvSpPr>
          <p:cNvPr id="17" name="sq_359"/>
          <p:cNvSpPr/>
          <p:nvPr/>
        </p:nvSpPr>
        <p:spPr>
          <a:xfrm>
            <a:off x="3246120" y="1417320"/>
            <a:ext cx="3840480" cy="406255"/>
          </a:xfrm>
          <a:prstGeom prst="roundRect">
            <a:avLst>
              <a:gd name="adj" fmla="val 22508"/>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go → went</a:t>
            </a:r>
            <a:endParaRPr lang="en-US" sz="1200" dirty="0"/>
          </a:p>
        </p:txBody>
      </p:sp>
      <p:sp>
        <p:nvSpPr>
          <p:cNvPr id="18" name="R1_tag360"/>
          <p:cNvSpPr/>
          <p:nvPr/>
        </p:nvSpPr>
        <p:spPr>
          <a:xfrm>
            <a:off x="7178040" y="1417320"/>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19" name="sq_361"/>
          <p:cNvSpPr/>
          <p:nvPr/>
        </p:nvSpPr>
        <p:spPr>
          <a:xfrm>
            <a:off x="3246120" y="1887583"/>
            <a:ext cx="3840480" cy="406255"/>
          </a:xfrm>
          <a:prstGeom prst="roundRect">
            <a:avLst>
              <a:gd name="adj" fmla="val 22508"/>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climb → climbed</a:t>
            </a:r>
            <a:endParaRPr lang="en-US" sz="1200" dirty="0"/>
          </a:p>
        </p:txBody>
      </p:sp>
      <p:sp>
        <p:nvSpPr>
          <p:cNvPr id="20" name="R2_tag362"/>
          <p:cNvSpPr/>
          <p:nvPr/>
        </p:nvSpPr>
        <p:spPr>
          <a:xfrm>
            <a:off x="7178040" y="1887583"/>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21" name="sq_363"/>
          <p:cNvSpPr/>
          <p:nvPr/>
        </p:nvSpPr>
        <p:spPr>
          <a:xfrm>
            <a:off x="3246120" y="2357846"/>
            <a:ext cx="3840480" cy="406255"/>
          </a:xfrm>
          <a:prstGeom prst="roundRect">
            <a:avLst>
              <a:gd name="adj" fmla="val 22508"/>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take → took</a:t>
            </a:r>
            <a:endParaRPr lang="en-US" sz="1200" dirty="0"/>
          </a:p>
        </p:txBody>
      </p:sp>
      <p:sp>
        <p:nvSpPr>
          <p:cNvPr id="22" name="R3_tag364"/>
          <p:cNvSpPr/>
          <p:nvPr/>
        </p:nvSpPr>
        <p:spPr>
          <a:xfrm>
            <a:off x="7178040" y="2357846"/>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3" name="sq_365"/>
          <p:cNvSpPr/>
          <p:nvPr/>
        </p:nvSpPr>
        <p:spPr>
          <a:xfrm>
            <a:off x="3246120" y="2828109"/>
            <a:ext cx="3840480" cy="406255"/>
          </a:xfrm>
          <a:prstGeom prst="roundRect">
            <a:avLst>
              <a:gd name="adj" fmla="val 22508"/>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want → wanted</a:t>
            </a:r>
            <a:endParaRPr lang="en-US" sz="1200" dirty="0"/>
          </a:p>
        </p:txBody>
      </p:sp>
      <p:sp>
        <p:nvSpPr>
          <p:cNvPr id="24" name="R4_tag366"/>
          <p:cNvSpPr/>
          <p:nvPr/>
        </p:nvSpPr>
        <p:spPr>
          <a:xfrm>
            <a:off x="7178040" y="2828109"/>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25" name="sq_367"/>
          <p:cNvSpPr/>
          <p:nvPr/>
        </p:nvSpPr>
        <p:spPr>
          <a:xfrm>
            <a:off x="3246120" y="3298371"/>
            <a:ext cx="3840480" cy="406255"/>
          </a:xfrm>
          <a:prstGeom prst="roundRect">
            <a:avLst>
              <a:gd name="adj" fmla="val 22508"/>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spend → spent</a:t>
            </a:r>
            <a:endParaRPr lang="en-US" sz="1200" dirty="0"/>
          </a:p>
        </p:txBody>
      </p:sp>
      <p:sp>
        <p:nvSpPr>
          <p:cNvPr id="26" name="R5_tag368"/>
          <p:cNvSpPr/>
          <p:nvPr/>
        </p:nvSpPr>
        <p:spPr>
          <a:xfrm>
            <a:off x="7178040" y="3298371"/>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7" name="sq_369"/>
          <p:cNvSpPr/>
          <p:nvPr/>
        </p:nvSpPr>
        <p:spPr>
          <a:xfrm>
            <a:off x="3246120" y="3768634"/>
            <a:ext cx="3840480" cy="406255"/>
          </a:xfrm>
          <a:prstGeom prst="roundRect">
            <a:avLst>
              <a:gd name="adj" fmla="val 22508"/>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decide → decided</a:t>
            </a:r>
            <a:endParaRPr lang="en-US" sz="1200" dirty="0"/>
          </a:p>
        </p:txBody>
      </p:sp>
      <p:sp>
        <p:nvSpPr>
          <p:cNvPr id="28" name="R6_tag370"/>
          <p:cNvSpPr/>
          <p:nvPr/>
        </p:nvSpPr>
        <p:spPr>
          <a:xfrm>
            <a:off x="7178040" y="3768634"/>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29" name="sq_371"/>
          <p:cNvSpPr/>
          <p:nvPr/>
        </p:nvSpPr>
        <p:spPr>
          <a:xfrm>
            <a:off x="3246120" y="4238897"/>
            <a:ext cx="3840480" cy="406255"/>
          </a:xfrm>
          <a:prstGeom prst="roundRect">
            <a:avLst>
              <a:gd name="adj" fmla="val 22508"/>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feel → felt</a:t>
            </a:r>
            <a:endParaRPr lang="en-US" sz="1200" dirty="0"/>
          </a:p>
        </p:txBody>
      </p:sp>
      <p:sp>
        <p:nvSpPr>
          <p:cNvPr id="30" name="R7_tag372"/>
          <p:cNvSpPr/>
          <p:nvPr/>
        </p:nvSpPr>
        <p:spPr>
          <a:xfrm>
            <a:off x="7178040" y="4238897"/>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31" name="pf_373"/>
          <p:cNvSpPr/>
          <p:nvPr/>
        </p:nvSpPr>
        <p:spPr>
          <a:xfrm rot="-120000">
            <a:off x="934571" y="3703320"/>
            <a:ext cx="1468419"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374" descr="/home/claude/lls-course/v2/cache/2b2_furious_jpg_331x220_31.png">    </p:cNvPr>
          <p:cNvPicPr>
            <a:picLocks noChangeAspect="1"/>
          </p:cNvPicPr>
          <p:nvPr/>
        </p:nvPicPr>
        <p:blipFill>
          <a:blip r:embed="rId5"/>
          <a:stretch>
            <a:fillRect/>
          </a:stretch>
        </p:blipFill>
        <p:spPr>
          <a:xfrm rot="-120000">
            <a:off x="980291" y="3749040"/>
            <a:ext cx="1376979"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7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7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past simple</a:t>
            </a:r>
            <a:endParaRPr lang="en-US" sz="2500" dirty="0"/>
          </a:p>
        </p:txBody>
      </p:sp>
      <p:pic>
        <p:nvPicPr>
          <p:cNvPr id="6" name="brP_378"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379"/>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do we make it?</a:t>
            </a:r>
            <a:endParaRPr lang="en-US" sz="1250" dirty="0"/>
          </a:p>
        </p:txBody>
      </p:sp>
      <p:sp>
        <p:nvSpPr>
          <p:cNvPr id="8" name="insIT_38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Come si forma?</a:t>
            </a:r>
            <a:endParaRPr lang="en-US" sz="950" dirty="0"/>
          </a:p>
        </p:txBody>
      </p:sp>
      <p:sp>
        <p:nvSpPr>
          <p:cNvPr id="9" name="note_38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3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Grammar · past simple   ·   📖 Grammar Bank 2A p.128 · audio 2.2</a:t>
            </a:r>
            <a:endParaRPr lang="en-US" sz="800" dirty="0"/>
          </a:p>
        </p:txBody>
      </p:sp>
      <p:sp>
        <p:nvSpPr>
          <p:cNvPr id="12" name="ah_384"/>
          <p:cNvSpPr/>
          <p:nvPr/>
        </p:nvSpPr>
        <p:spPr>
          <a:xfrm>
            <a:off x="367588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2.2   ▶ normal</a:t>
            </a:r>
            <a:endParaRPr lang="en-US" sz="1000" dirty="0"/>
          </a:p>
        </p:txBody>
      </p:sp>
      <p:pic>
        <p:nvPicPr>
          <p:cNvPr id="13"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4" name="ah_38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5"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6" name="cd_386"/>
          <p:cNvSpPr/>
          <p:nvPr/>
        </p:nvSpPr>
        <p:spPr>
          <a:xfrm>
            <a:off x="320040" y="1417320"/>
            <a:ext cx="2034540" cy="3017520"/>
          </a:xfrm>
          <a:prstGeom prst="roundRect">
            <a:avLst>
              <a:gd name="adj" fmla="val 62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7" name="rh_387"/>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18" name="pf_388"/>
          <p:cNvSpPr/>
          <p:nvPr/>
        </p:nvSpPr>
        <p:spPr>
          <a:xfrm>
            <a:off x="640589" y="1938528"/>
            <a:ext cx="1393443"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89" descr="/home/claude/lls-course/v2/cache/2b2_antarctic_tent_jpg_313x209_31.png">    </p:cNvPr>
          <p:cNvPicPr>
            <a:picLocks noChangeAspect="1"/>
          </p:cNvPicPr>
          <p:nvPr/>
        </p:nvPicPr>
        <p:blipFill>
          <a:blip r:embed="rId11"/>
          <a:stretch>
            <a:fillRect/>
          </a:stretch>
        </p:blipFill>
        <p:spPr>
          <a:xfrm>
            <a:off x="686309" y="1984248"/>
            <a:ext cx="1302003" cy="868680"/>
          </a:xfrm>
          <a:prstGeom prst="rect">
            <a:avLst/>
          </a:prstGeom>
        </p:spPr>
      </p:pic>
      <p:sp>
        <p:nvSpPr>
          <p:cNvPr id="20" name="ru_390"/>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regular -ed · irregular</a:t>
            </a:r>
            <a:endParaRPr lang="en-US" sz="1050" dirty="0"/>
          </a:p>
        </p:txBody>
      </p:sp>
      <p:sp>
        <p:nvSpPr>
          <p:cNvPr id="21" name="R1_rx391"/>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climbed a mountain.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went to the Alps.</a:t>
            </a:r>
            <a:endParaRPr lang="en-US" sz="1050" dirty="0"/>
          </a:p>
        </p:txBody>
      </p:sp>
      <p:sp>
        <p:nvSpPr>
          <p:cNvPr id="22" name="R1_ri392"/>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uguale per tutte le persone!</a:t>
            </a:r>
            <a:endParaRPr lang="en-US" sz="900" dirty="0"/>
          </a:p>
        </p:txBody>
      </p:sp>
      <p:sp>
        <p:nvSpPr>
          <p:cNvPr id="23" name="cd_393"/>
          <p:cNvSpPr/>
          <p:nvPr/>
        </p:nvSpPr>
        <p:spPr>
          <a:xfrm>
            <a:off x="2491740" y="1417320"/>
            <a:ext cx="2034540" cy="3017520"/>
          </a:xfrm>
          <a:prstGeom prst="roundRect">
            <a:avLst>
              <a:gd name="adj" fmla="val 62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4" name="rh_394"/>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5" name="pf_395"/>
          <p:cNvSpPr/>
          <p:nvPr/>
        </p:nvSpPr>
        <p:spPr>
          <a:xfrm>
            <a:off x="2884170" y="1938528"/>
            <a:ext cx="1249680"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396" descr="/home/claude/lls-course/v2/cache/2b2_exhausted_jpg_279x209_31.png">    </p:cNvPr>
          <p:cNvPicPr>
            <a:picLocks noChangeAspect="1"/>
          </p:cNvPicPr>
          <p:nvPr/>
        </p:nvPicPr>
        <p:blipFill>
          <a:blip r:embed="rId12"/>
          <a:stretch>
            <a:fillRect/>
          </a:stretch>
        </p:blipFill>
        <p:spPr>
          <a:xfrm>
            <a:off x="2929890" y="1984248"/>
            <a:ext cx="1158240" cy="868680"/>
          </a:xfrm>
          <a:prstGeom prst="rect">
            <a:avLst/>
          </a:prstGeom>
        </p:spPr>
      </p:pic>
      <p:sp>
        <p:nvSpPr>
          <p:cNvPr id="27" name="ru_397"/>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didn't + infinitive</a:t>
            </a:r>
            <a:endParaRPr lang="en-US" sz="1050" dirty="0"/>
          </a:p>
        </p:txBody>
      </p:sp>
      <p:sp>
        <p:nvSpPr>
          <p:cNvPr id="28" name="R2_rx398"/>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didn't find my phone.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didn't stay long.</a:t>
            </a:r>
            <a:endParaRPr lang="en-US" sz="1050" dirty="0"/>
          </a:p>
        </p:txBody>
      </p:sp>
      <p:sp>
        <p:nvSpPr>
          <p:cNvPr id="29" name="R2_ri399"/>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didn't found</a:t>
            </a:r>
            <a:endParaRPr lang="en-US" sz="900" dirty="0"/>
          </a:p>
        </p:txBody>
      </p:sp>
      <p:sp>
        <p:nvSpPr>
          <p:cNvPr id="30" name="cd_400"/>
          <p:cNvSpPr/>
          <p:nvPr/>
        </p:nvSpPr>
        <p:spPr>
          <a:xfrm>
            <a:off x="4663440" y="1417320"/>
            <a:ext cx="2034540" cy="3017520"/>
          </a:xfrm>
          <a:prstGeom prst="roundRect">
            <a:avLst>
              <a:gd name="adj" fmla="val 629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1" name="rh_401"/>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32" name="pf_402"/>
          <p:cNvSpPr/>
          <p:nvPr/>
        </p:nvSpPr>
        <p:spPr>
          <a:xfrm>
            <a:off x="5092065" y="1938528"/>
            <a:ext cx="1177290"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403" descr="/home/claude/lls-course/v2/cache/2a2_passport_map_jpg_261x209_31.png">    </p:cNvPr>
          <p:cNvPicPr>
            <a:picLocks noChangeAspect="1"/>
          </p:cNvPicPr>
          <p:nvPr/>
        </p:nvPicPr>
        <p:blipFill>
          <a:blip r:embed="rId13"/>
          <a:stretch>
            <a:fillRect/>
          </a:stretch>
        </p:blipFill>
        <p:spPr>
          <a:xfrm>
            <a:off x="5137785" y="1984248"/>
            <a:ext cx="1085850" cy="868680"/>
          </a:xfrm>
          <a:prstGeom prst="rect">
            <a:avLst/>
          </a:prstGeom>
        </p:spPr>
      </p:pic>
      <p:sp>
        <p:nvSpPr>
          <p:cNvPr id="34" name="ru_404"/>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Did + person + infinitive</a:t>
            </a:r>
            <a:endParaRPr lang="en-US" sz="1050" dirty="0"/>
          </a:p>
        </p:txBody>
      </p:sp>
      <p:sp>
        <p:nvSpPr>
          <p:cNvPr id="35" name="R3_rx405"/>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Where did you go?</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Did you have a good time?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I did. / No, I didn't.</a:t>
            </a:r>
            <a:endParaRPr lang="en-US" sz="1050" dirty="0"/>
          </a:p>
        </p:txBody>
      </p:sp>
      <p:sp>
        <p:nvSpPr>
          <p:cNvPr id="36" name="R3_ri406"/>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you went?</a:t>
            </a:r>
            <a:endParaRPr lang="en-US" sz="900" dirty="0"/>
          </a:p>
        </p:txBody>
      </p:sp>
      <p:sp>
        <p:nvSpPr>
          <p:cNvPr id="37" name="cd_407"/>
          <p:cNvSpPr/>
          <p:nvPr/>
        </p:nvSpPr>
        <p:spPr>
          <a:xfrm>
            <a:off x="6835140" y="1417320"/>
            <a:ext cx="2034540" cy="3017520"/>
          </a:xfrm>
          <a:prstGeom prst="roundRect">
            <a:avLst>
              <a:gd name="adj" fmla="val 6292"/>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8" name="rh_408"/>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 · can</a:t>
            </a:r>
            <a:endParaRPr lang="en-US" sz="1250" dirty="0"/>
          </a:p>
        </p:txBody>
      </p:sp>
      <p:sp>
        <p:nvSpPr>
          <p:cNvPr id="39" name="pf_409"/>
          <p:cNvSpPr/>
          <p:nvPr/>
        </p:nvSpPr>
        <p:spPr>
          <a:xfrm>
            <a:off x="7155689" y="1938528"/>
            <a:ext cx="1393443"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410" descr="/home/claude/lls-course/v2/cache/2b2_hilarious_jpg_313x209_31.png">    </p:cNvPr>
          <p:cNvPicPr>
            <a:picLocks noChangeAspect="1"/>
          </p:cNvPicPr>
          <p:nvPr/>
        </p:nvPicPr>
        <p:blipFill>
          <a:blip r:embed="rId14"/>
          <a:stretch>
            <a:fillRect/>
          </a:stretch>
        </p:blipFill>
        <p:spPr>
          <a:xfrm>
            <a:off x="7201409" y="1984248"/>
            <a:ext cx="1302003" cy="868680"/>
          </a:xfrm>
          <a:prstGeom prst="rect">
            <a:avLst/>
          </a:prstGeom>
        </p:spPr>
      </p:pic>
      <p:sp>
        <p:nvSpPr>
          <p:cNvPr id="41" name="ru_411"/>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was / were · could</a:t>
            </a:r>
            <a:endParaRPr lang="en-US" sz="1050" dirty="0"/>
          </a:p>
        </p:txBody>
      </p:sp>
      <p:sp>
        <p:nvSpPr>
          <p:cNvPr id="42" name="R4_rx412"/>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view was amazing.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could see the sea.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couldn't find it.</a:t>
            </a:r>
            <a:endParaRPr lang="en-US" sz="1050" dirty="0"/>
          </a:p>
        </p:txBody>
      </p:sp>
      <p:sp>
        <p:nvSpPr>
          <p:cNvPr id="43" name="R4_ri413"/>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no did!</a:t>
            </a:r>
            <a:endParaRPr lang="en-US" sz="900" dirty="0"/>
          </a:p>
        </p:txBody>
      </p:sp>
      <p:sp>
        <p:nvSpPr>
          <p:cNvPr id="44" name="R5_wc414"/>
          <p:cNvSpPr/>
          <p:nvPr/>
        </p:nvSpPr>
        <p:spPr>
          <a:xfrm>
            <a:off x="320040" y="4544568"/>
            <a:ext cx="3172968" cy="329184"/>
          </a:xfrm>
          <a:prstGeom prst="roundRect">
            <a:avLst>
              <a:gd name="adj" fmla="val 38889"/>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R5_w415"/>
          <p:cNvSpPr/>
          <p:nvPr/>
        </p:nvSpPr>
        <p:spPr>
          <a:xfrm>
            <a:off x="457200" y="4544568"/>
            <a:ext cx="2944368" cy="329184"/>
          </a:xfrm>
          <a:prstGeom prst="rect">
            <a:avLst/>
          </a:prstGeom>
          <a:noFill/>
          <a:ln/>
        </p:spPr>
        <p:txBody>
          <a:bodyPr wrap="square" lIns="0" tIns="0" rIns="0" bIns="0" rtlCol="0" anchor="ctr">
            <a:normAutofit/>
          </a:bodyPr>
          <a:lstStyle/>
          <a:p>
            <a:pPr indent="0" marL="0">
              <a:buNone/>
            </a:pPr>
            <a:r>
              <a:rPr lang="en-US" sz="750" dirty="0">
                <a:solidFill>
                  <a:srgbClr val="1B2559"/>
                </a:solidFill>
                <a:latin typeface="Segoe UI Semibold" pitchFamily="34" charset="0"/>
                <a:ea typeface="Segoe UI Semibold" pitchFamily="34" charset="-122"/>
                <a:cs typeface="Segoe UI Semibold" pitchFamily="34" charset="-120"/>
              </a:rPr>
              <a:t>⚠ After did / didn't = infinitive:  ✗ Did you went? → ✓ Did you go?   ✗ I didn't took it → ✓ I didn't take it</a:t>
            </a:r>
            <a:endParaRPr lang="en-US" sz="7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400"/>
                                        <p:tgtEl>
                                          <p:spTgt spid="28"/>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00"/>
                                        <p:tgtEl>
                                          <p:spTgt spid="35"/>
                                        </p:tgtEl>
                                      </p:cBhvr>
                                    </p:animEffect>
                                  </p:childTnLst>
                                </p:cTn>
                              </p:par>
                              <p:par>
                                <p:cTn id="24" presetID="10" presetClass="entr" presetSubtype="0" fill="hold" nodeType="withEffect">
                                  <p:stCondLst>
                                    <p:cond delay="0"/>
                                  </p:stCondLst>
                                  <p:childTnLst>
                                    <p:set>
                                      <p:cBhvr>
                                        <p:cTn id="25" dur="1" fill="hold">
                                          <p:stCondLst>
                                            <p:cond delay="0"/>
                                          </p:stCondLst>
                                        </p:cTn>
                                        <p:tgtEl>
                                          <p:spTgt spid="36"/>
                                        </p:tgtEl>
                                        <p:attrNameLst>
                                          <p:attrName>style.visibility</p:attrName>
                                        </p:attrNameLst>
                                      </p:cBhvr>
                                      <p:to>
                                        <p:strVal val="visible"/>
                                      </p:to>
                                    </p:set>
                                    <p:animEffect transition="in" filter="fade">
                                      <p:cBhvr>
                                        <p:cTn id="26" dur="400"/>
                                        <p:tgtEl>
                                          <p:spTgt spid="3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animEffect transition="in" filter="fade">
                                      <p:cBhvr>
                                        <p:cTn id="31" dur="400"/>
                                        <p:tgtEl>
                                          <p:spTgt spid="42"/>
                                        </p:tgtEl>
                                      </p:cBhvr>
                                    </p:animEffect>
                                  </p:childTnLst>
                                </p:cTn>
                              </p:par>
                              <p:par>
                                <p:cTn id="32" presetID="10" presetClass="entr" presetSubtype="0" fill="hold" nodeType="withEffect">
                                  <p:stCondLst>
                                    <p:cond delay="0"/>
                                  </p:stCondLst>
                                  <p:childTnLst>
                                    <p:set>
                                      <p:cBhvr>
                                        <p:cTn id="33" dur="1" fill="hold">
                                          <p:stCondLst>
                                            <p:cond delay="0"/>
                                          </p:stCondLst>
                                        </p:cTn>
                                        <p:tgtEl>
                                          <p:spTgt spid="43"/>
                                        </p:tgtEl>
                                        <p:attrNameLst>
                                          <p:attrName>style.visibility</p:attrName>
                                        </p:attrNameLst>
                                      </p:cBhvr>
                                      <p:to>
                                        <p:strVal val="visible"/>
                                      </p:to>
                                    </p:set>
                                    <p:animEffect transition="in" filter="fade">
                                      <p:cBhvr>
                                        <p:cTn id="34" dur="400"/>
                                        <p:tgtEl>
                                          <p:spTgt spid="4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400"/>
                                        <p:tgtEl>
                                          <p:spTgt spid="44"/>
                                        </p:tgtEl>
                                      </p:cBhvr>
                                    </p:animEffect>
                                  </p:childTnLst>
                                </p:cTn>
                              </p:par>
                              <p:par>
                                <p:cTn id="40" presetID="10" presetClass="entr" presetSubtype="0" fill="hold" nodeType="with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3"/>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3"/>
                                        </p:tgtEl>
                                      </p:cBhvr>
                                    </p:cmd>
                                  </p:childTnLst>
                                </p:cTn>
                              </p:par>
                            </p:childTnLst>
                          </p:cTn>
                        </p:par>
                      </p:childTnLst>
                    </p:cTn>
                  </p:par>
                </p:childTnLst>
              </p:cTn>
              <p:nextCondLst>
                <p:cond evt="onClick" delay="0">
                  <p:tgtEl>
                    <p:spTgt spid="13"/>
                  </p:tgtEl>
                </p:cond>
              </p:nextCondLst>
            </p:seq>
            <p:seq concurrent="1" nextAc="seek">
              <p:cTn id="48" restart="whenNotActive" fill="hold" evtFilter="cancelBubble" nodeType="interactiveSeq">
                <p:stCondLst>
                  <p:cond evt="onClick" delay="0">
                    <p:tgtEl>
                      <p:spTgt spid="15"/>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5"/>
                                        </p:tgtEl>
                                      </p:cBhvr>
                                    </p:cmd>
                                  </p:childTnLst>
                                </p:cTn>
                              </p:par>
                            </p:childTnLst>
                          </p:cTn>
                        </p:par>
                      </p:childTnLst>
                    </p:cTn>
                  </p:par>
                </p:childTnLst>
              </p:cTn>
              <p:nextCondLst>
                <p:cond evt="onClick" delay="0">
                  <p:tgtEl>
                    <p:spTgt spid="15"/>
                  </p:tgtEl>
                </p:cond>
              </p:nextCondLst>
            </p:seq>
            <p:audio>
              <p:cMediaNode vol="80000">
                <p:cTn id="53" fill="hold" display="0">
                  <p:stCondLst>
                    <p:cond delay="indefinite"/>
                  </p:stCondLst>
                  <p:endCondLst>
                    <p:cond evt="onStopAudio" delay="0">
                      <p:tgtEl>
                        <p:sldTgt/>
                      </p:tgtEl>
                    </p:cond>
                  </p:endCondLst>
                </p:cTn>
                <p:tgtEl>
                  <p:spTgt spid="13"/>
                </p:tgtEl>
              </p:cMediaNode>
            </p:audio>
            <p:audio>
              <p:cMediaNode vol="80000">
                <p:cTn id="54" fill="hold" display="0">
                  <p:stCondLst>
                    <p:cond delay="indefinite"/>
                  </p:stCondLst>
                  <p:endCondLst>
                    <p:cond evt="onStopAudio" delay="0">
                      <p:tgtEl>
                        <p:sldTgt/>
                      </p:tgtEl>
                    </p:cond>
                  </p:endCondLst>
                </p:cTn>
                <p:tgtEl>
                  <p:spTgt spid="15"/>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6"/>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1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1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Nonna Rosa goes abroad</a:t>
            </a:r>
            <a:endParaRPr lang="en-US" sz="2250" dirty="0"/>
          </a:p>
        </p:txBody>
      </p:sp>
      <p:pic>
        <p:nvPicPr>
          <p:cNvPr id="6" name="brP_41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2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42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4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Speaking · class story (TPRS)</a:t>
            </a:r>
            <a:endParaRPr lang="en-US" sz="800" dirty="0"/>
          </a:p>
        </p:txBody>
      </p:sp>
      <p:sp>
        <p:nvSpPr>
          <p:cNvPr id="12" name="pf_425"/>
          <p:cNvSpPr/>
          <p:nvPr/>
        </p:nvSpPr>
        <p:spPr>
          <a:xfrm rot="-90000">
            <a:off x="902970" y="1417320"/>
            <a:ext cx="1577340"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426" descr="/home/claude/lls-course/v2/cache/2a2_passport_map_jpg_358x286_31.png">    </p:cNvPr>
          <p:cNvPicPr>
            <a:picLocks noChangeAspect="1"/>
          </p:cNvPicPr>
          <p:nvPr/>
        </p:nvPicPr>
        <p:blipFill>
          <a:blip r:embed="rId5"/>
          <a:stretch>
            <a:fillRect/>
          </a:stretch>
        </p:blipFill>
        <p:spPr>
          <a:xfrm rot="-90000">
            <a:off x="948690" y="1463040"/>
            <a:ext cx="1485900" cy="1188720"/>
          </a:xfrm>
          <a:prstGeom prst="rect">
            <a:avLst/>
          </a:prstGeom>
        </p:spPr>
      </p:pic>
      <p:sp>
        <p:nvSpPr>
          <p:cNvPr id="14" name="cd_427"/>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28"/>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29"/>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430"/>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went abroad</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è andata all'estero</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stayed in a hotel</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è stata in un hotel</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hired a bicycle</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ha noleggiato una bici</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went sightseeing</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ha fatto un giro turistico</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didn't find</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non ha trovato</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had a good time</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si è divertita</a:t>
            </a:r>
            <a:endParaRPr lang="en-US" sz="750" dirty="0"/>
          </a:p>
        </p:txBody>
      </p:sp>
      <p:sp>
        <p:nvSpPr>
          <p:cNvPr id="18" name="R1_sb431"/>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432"/>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Last summer Nonna Rosa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went abroad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for the first time.</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 she go abroad? · To London or Paris? (you decide!) · Who went abroad?</a:t>
            </a:r>
            <a:endParaRPr lang="en-US" sz="1250" dirty="0"/>
          </a:p>
        </p:txBody>
      </p:sp>
      <p:sp>
        <p:nvSpPr>
          <p:cNvPr id="20" name="R2_sb433"/>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434"/>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stayed in</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 small hotel. It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was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very noisy.</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 she stay in a hotel or at a campsite? · Was it quiet or noisy?</a:t>
            </a:r>
            <a:endParaRPr lang="en-US" sz="1250" dirty="0"/>
          </a:p>
        </p:txBody>
      </p:sp>
      <p:sp>
        <p:nvSpPr>
          <p:cNvPr id="22" name="R3_sb435"/>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436"/>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 Monday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hired a bicycle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and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went sightseeing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 she hire a car or a bicycle? · What did she do on Monday?</a:t>
            </a:r>
            <a:endParaRPr lang="en-US" sz="1250" dirty="0"/>
          </a:p>
        </p:txBody>
      </p:sp>
      <p:sp>
        <p:nvSpPr>
          <p:cNvPr id="24" name="R4_sb437"/>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438"/>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didn't find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the museum.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found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 pizzeria!</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 she find the museum? · What did she find?</a:t>
            </a:r>
            <a:endParaRPr lang="en-US" sz="1250" dirty="0"/>
          </a:p>
        </p:txBody>
      </p:sp>
      <p:sp>
        <p:nvSpPr>
          <p:cNvPr id="26" name="R5_sb439"/>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440"/>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pizza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was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terrible.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didn't eat</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it.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Was the pizza good? · Did she eat it? · Why not?</a:t>
            </a:r>
            <a:endParaRPr lang="en-US" sz="1250" dirty="0"/>
          </a:p>
        </p:txBody>
      </p:sp>
      <p:sp>
        <p:nvSpPr>
          <p:cNvPr id="28" name="R6_sb441"/>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442"/>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flew</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home and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made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arancine.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had a good time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 she have a good time? · And you – where did you go last summer?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4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4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-ed: /t/, /d/ or /ɪd/?</a:t>
            </a:r>
            <a:endParaRPr lang="en-US" sz="2500" dirty="0"/>
          </a:p>
        </p:txBody>
      </p:sp>
      <p:pic>
        <p:nvPicPr>
          <p:cNvPr id="6" name="brP_446"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447"/>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 /d/ or /ɪd/? Say the verb. Then click.</a:t>
            </a:r>
            <a:endParaRPr lang="en-US" sz="1250" dirty="0"/>
          </a:p>
        </p:txBody>
      </p:sp>
      <p:sp>
        <p:nvSpPr>
          <p:cNvPr id="8" name="insIT_4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 /d/ o /ɪd/? Di' il verbo. Poi clicca.</a:t>
            </a:r>
            <a:endParaRPr lang="en-US" sz="950" dirty="0"/>
          </a:p>
        </p:txBody>
      </p:sp>
      <p:sp>
        <p:nvSpPr>
          <p:cNvPr id="9" name="note_44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SAY IT</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PRONUNCIA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Guided discovery</a:t>
            </a:r>
            <a:endParaRPr lang="en-US" sz="1250" dirty="0"/>
          </a:p>
        </p:txBody>
      </p:sp>
      <p:pic>
        <p:nvPicPr>
          <p:cNvPr id="10" name="logo_4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Pronunciation · -ed endings   ·   📖 SB p.15 · 3 Pronunciation · audio 2.5</a:t>
            </a:r>
            <a:endParaRPr lang="en-US" sz="800" dirty="0"/>
          </a:p>
        </p:txBody>
      </p:sp>
      <p:sp>
        <p:nvSpPr>
          <p:cNvPr id="12" name="cd_452"/>
          <p:cNvSpPr/>
          <p:nvPr/>
        </p:nvSpPr>
        <p:spPr>
          <a:xfrm>
            <a:off x="320040" y="1417320"/>
            <a:ext cx="2697480" cy="1911096"/>
          </a:xfrm>
          <a:prstGeom prst="roundRect">
            <a:avLst>
              <a:gd name="adj" fmla="val 669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5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5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-ed sounds</a:t>
            </a:r>
            <a:endParaRPr lang="en-US" sz="1300" dirty="0"/>
          </a:p>
        </p:txBody>
      </p:sp>
      <p:sp>
        <p:nvSpPr>
          <p:cNvPr id="15" name="ap_455"/>
          <p:cNvSpPr/>
          <p:nvPr/>
        </p:nvSpPr>
        <p:spPr>
          <a:xfrm>
            <a:off x="365760" y="3465576"/>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a:t>
            </a:r>
            <a:endParaRPr lang="en-US" sz="1100" dirty="0"/>
          </a:p>
        </p:txBody>
      </p:sp>
      <p:sp>
        <p:nvSpPr>
          <p:cNvPr id="16" name="ah_45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45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lg_458"/>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 booked</a:t>
            </a:r>
            <a:endParaRPr lang="en-US" sz="1050" dirty="0"/>
          </a:p>
        </p:txBody>
      </p:sp>
      <p:sp>
        <p:nvSpPr>
          <p:cNvPr id="21" name="lg_459"/>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 arrived</a:t>
            </a:r>
            <a:endParaRPr lang="en-US" sz="1050" dirty="0"/>
          </a:p>
        </p:txBody>
      </p:sp>
      <p:sp>
        <p:nvSpPr>
          <p:cNvPr id="22" name="lg_460"/>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/ɪd/ invited</a:t>
            </a:r>
            <a:endParaRPr lang="en-US" sz="1050" dirty="0"/>
          </a:p>
        </p:txBody>
      </p:sp>
      <p:sp>
        <p:nvSpPr>
          <p:cNvPr id="23" name="sq_461"/>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asked</a:t>
            </a:r>
            <a:endParaRPr lang="en-US" sz="1200" dirty="0"/>
          </a:p>
        </p:txBody>
      </p:sp>
      <p:sp>
        <p:nvSpPr>
          <p:cNvPr id="24" name="R1_tag462"/>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25" name="sq_463"/>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called</a:t>
            </a:r>
            <a:endParaRPr lang="en-US" sz="1200" dirty="0"/>
          </a:p>
        </p:txBody>
      </p:sp>
      <p:sp>
        <p:nvSpPr>
          <p:cNvPr id="26" name="R2_tag464"/>
          <p:cNvSpPr/>
          <p:nvPr/>
        </p:nvSpPr>
        <p:spPr>
          <a:xfrm>
            <a:off x="7178040" y="18288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 arrived</a:t>
            </a:r>
            <a:endParaRPr lang="en-US" sz="1150" dirty="0"/>
          </a:p>
        </p:txBody>
      </p:sp>
      <p:sp>
        <p:nvSpPr>
          <p:cNvPr id="27" name="sq_465"/>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decided</a:t>
            </a:r>
            <a:endParaRPr lang="en-US" sz="1200" dirty="0"/>
          </a:p>
        </p:txBody>
      </p:sp>
      <p:sp>
        <p:nvSpPr>
          <p:cNvPr id="28" name="R3_tag466"/>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
        <p:nvSpPr>
          <p:cNvPr id="29" name="sq_467"/>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happened</a:t>
            </a:r>
            <a:endParaRPr lang="en-US" sz="1200" dirty="0"/>
          </a:p>
        </p:txBody>
      </p:sp>
      <p:sp>
        <p:nvSpPr>
          <p:cNvPr id="30" name="R4_tag468"/>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 arrived</a:t>
            </a:r>
            <a:endParaRPr lang="en-US" sz="1150" dirty="0"/>
          </a:p>
        </p:txBody>
      </p:sp>
      <p:sp>
        <p:nvSpPr>
          <p:cNvPr id="31" name="sq_469"/>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rented</a:t>
            </a:r>
            <a:endParaRPr lang="en-US" sz="1200" dirty="0"/>
          </a:p>
        </p:txBody>
      </p:sp>
      <p:sp>
        <p:nvSpPr>
          <p:cNvPr id="32" name="R5_tag470"/>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
        <p:nvSpPr>
          <p:cNvPr id="33" name="sq_471"/>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stopped</a:t>
            </a:r>
            <a:endParaRPr lang="en-US" sz="1200" dirty="0"/>
          </a:p>
        </p:txBody>
      </p:sp>
      <p:sp>
        <p:nvSpPr>
          <p:cNvPr id="34" name="R6_tag472"/>
          <p:cNvSpPr/>
          <p:nvPr/>
        </p:nvSpPr>
        <p:spPr>
          <a:xfrm>
            <a:off x="7178040" y="34747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35" name="sq_473"/>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thanked</a:t>
            </a:r>
            <a:endParaRPr lang="en-US" sz="1200" dirty="0"/>
          </a:p>
        </p:txBody>
      </p:sp>
      <p:sp>
        <p:nvSpPr>
          <p:cNvPr id="36" name="R7_tag474"/>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37" name="sq_475"/>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wanted</a:t>
            </a:r>
            <a:endParaRPr lang="en-US" sz="1200" dirty="0"/>
          </a:p>
        </p:txBody>
      </p:sp>
      <p:sp>
        <p:nvSpPr>
          <p:cNvPr id="38" name="R8_tag476"/>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9"/>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9"/>
                                        </p:tgtEl>
                                      </p:cBhvr>
                                    </p:cmd>
                                  </p:childTnLst>
                                </p:cTn>
                              </p:par>
                            </p:childTnLst>
                          </p:cTn>
                        </p:par>
                      </p:childTnLst>
                    </p:cTn>
                  </p:par>
                </p:childTnLst>
              </p:cTn>
              <p:nextCondLst>
                <p:cond evt="onClick" delay="0">
                  <p:tgtEl>
                    <p:spTgt spid="19"/>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9"/>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7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7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Wow! Oh no! Really?</a:t>
            </a:r>
            <a:endParaRPr lang="en-US" sz="2500" dirty="0"/>
          </a:p>
        </p:txBody>
      </p:sp>
      <p:pic>
        <p:nvPicPr>
          <p:cNvPr id="6" name="brP_480"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481"/>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B's replies. Then copy the voice!</a:t>
            </a:r>
            <a:endParaRPr lang="en-US" sz="1250" dirty="0"/>
          </a:p>
        </p:txBody>
      </p:sp>
      <p:sp>
        <p:nvSpPr>
          <p:cNvPr id="8" name="insIT_48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Completa le risposte di B. Poi imita il tono!</a:t>
            </a:r>
            <a:endParaRPr lang="en-US" sz="950" dirty="0"/>
          </a:p>
        </p:txBody>
      </p:sp>
      <p:sp>
        <p:nvSpPr>
          <p:cNvPr id="9" name="note_48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Listening for detail</a:t>
            </a:r>
            <a:endParaRPr lang="en-US" sz="1150" dirty="0"/>
          </a:p>
        </p:txBody>
      </p:sp>
      <p:pic>
        <p:nvPicPr>
          <p:cNvPr id="10" name="logo_4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Speaking · showing interest   ·   📖 SB p.15 · 5a, 5b · audio 2.9</a:t>
            </a:r>
            <a:endParaRPr lang="en-US" sz="800" dirty="0"/>
          </a:p>
        </p:txBody>
      </p:sp>
      <p:sp>
        <p:nvSpPr>
          <p:cNvPr id="12" name="ap_486"/>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2.9  ·  pause after B</a:t>
            </a:r>
            <a:endParaRPr lang="en-US" sz="1100" dirty="0"/>
          </a:p>
        </p:txBody>
      </p:sp>
      <p:sp>
        <p:nvSpPr>
          <p:cNvPr id="13" name="ah_48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48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48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90" descr="/home/claude/lls-course/v2/cache/2b2_hilarious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491"/>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49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9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494"/>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 went to New York last week.  B: ___! Did you like it?</a:t>
            </a:r>
            <a:endParaRPr lang="en-US" sz="1200" dirty="0"/>
          </a:p>
        </p:txBody>
      </p:sp>
      <p:sp>
        <p:nvSpPr>
          <p:cNvPr id="23" name="R1_chip495"/>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Wow</a:t>
            </a:r>
            <a:endParaRPr lang="en-US" sz="1200" dirty="0"/>
          </a:p>
        </p:txBody>
      </p:sp>
      <p:sp>
        <p:nvSpPr>
          <p:cNvPr id="24" name="gq_496"/>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It rained every day.  B: Oh ___! What a ___!</a:t>
            </a:r>
            <a:endParaRPr lang="en-US" sz="1200" dirty="0"/>
          </a:p>
        </p:txBody>
      </p:sp>
      <p:sp>
        <p:nvSpPr>
          <p:cNvPr id="25" name="R2_chip497"/>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 pity</a:t>
            </a:r>
            <a:endParaRPr lang="en-US" sz="1200" dirty="0"/>
          </a:p>
        </p:txBody>
      </p:sp>
      <p:sp>
        <p:nvSpPr>
          <p:cNvPr id="26" name="gq_498"/>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We went to a show in the West End.  B: ___! What show was it?</a:t>
            </a:r>
            <a:endParaRPr lang="en-US" sz="1200" dirty="0"/>
          </a:p>
        </p:txBody>
      </p:sp>
      <p:sp>
        <p:nvSpPr>
          <p:cNvPr id="27" name="R3_chip499"/>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Fantastic</a:t>
            </a:r>
            <a:endParaRPr lang="en-US" sz="1200" dirty="0"/>
          </a:p>
        </p:txBody>
      </p:sp>
      <p:sp>
        <p:nvSpPr>
          <p:cNvPr id="28" name="gq_500"/>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 lost my phone on the first day.  B: ___? How ___!</a:t>
            </a:r>
            <a:endParaRPr lang="en-US" sz="1200" dirty="0"/>
          </a:p>
        </p:txBody>
      </p:sp>
      <p:sp>
        <p:nvSpPr>
          <p:cNvPr id="29" name="R4_chip501"/>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 · awful</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4"/>
                                        </p:tgtEl>
                                      </p:cBhvr>
                                    </p:cmd>
                                  </p:childTnLst>
                                </p:cTn>
                              </p:par>
                            </p:childTnLst>
                          </p:cTn>
                        </p:par>
                      </p:childTnLst>
                    </p:cTn>
                  </p:par>
                </p:childTnLst>
              </p:cTn>
              <p:nextCondLst>
                <p:cond evt="onClick" delay="0">
                  <p:tgtEl>
                    <p:spTgt spid="14"/>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4"/>
                </p:tgtEl>
              </p:cMediaNode>
            </p:audio>
            <p:audio>
              <p:cMediaNode vol="80000">
                <p:cTn id="34" fill="hold" display="0">
                  <p:stCondLst>
                    <p:cond delay="indefinite"/>
                  </p:stCondLst>
                  <p:endCondLst>
                    <p:cond evt="onStopAudio" delay="0">
                      <p:tgtEl>
                        <p:sldTgt/>
                      </p:tgtEl>
                    </p:cond>
                  </p:endCondLst>
                </p:cTn>
                <p:tgtEl>
                  <p:spTgt spid="16"/>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0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0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question!</a:t>
            </a:r>
            <a:endParaRPr lang="en-US" sz="2500" dirty="0"/>
          </a:p>
        </p:txBody>
      </p:sp>
      <p:pic>
        <p:nvPicPr>
          <p:cNvPr id="6" name="brP_505"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06"/>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Then ask your teacher.</a:t>
            </a:r>
            <a:endParaRPr lang="en-US" sz="1250" dirty="0"/>
          </a:p>
        </p:txBody>
      </p:sp>
      <p:sp>
        <p:nvSpPr>
          <p:cNvPr id="8" name="insIT_5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Fai la domanda! Poi chiedi all'insegnante.</a:t>
            </a:r>
            <a:endParaRPr lang="en-US" sz="950" dirty="0"/>
          </a:p>
        </p:txBody>
      </p:sp>
      <p:sp>
        <p:nvSpPr>
          <p:cNvPr id="9" name="note_50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Communicative game</a:t>
            </a:r>
            <a:endParaRPr lang="en-US" sz="1250" dirty="0"/>
          </a:p>
        </p:txBody>
      </p:sp>
      <p:pic>
        <p:nvPicPr>
          <p:cNvPr id="10" name="logo_5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Grammar game</a:t>
            </a:r>
            <a:endParaRPr lang="en-US" sz="800" dirty="0"/>
          </a:p>
        </p:txBody>
      </p:sp>
      <p:sp>
        <p:nvSpPr>
          <p:cNvPr id="12" name="cd_511"/>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51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51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514"/>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words.</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le parole.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write the past simple question.</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 squadre scrivono la domanda al passato.</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Correct question = 1 point. Ask the teacher!</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Domanda corretta = 1 punto. Chiedi all'insegnante!</a:t>
            </a:r>
            <a:endParaRPr lang="en-US" sz="1000" dirty="0"/>
          </a:p>
        </p:txBody>
      </p:sp>
      <p:sp>
        <p:nvSpPr>
          <p:cNvPr id="16" name="st_515"/>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516"/>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517"/>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 go? When / go?</a:t>
            </a:r>
            <a:endParaRPr lang="en-US" sz="1250" dirty="0"/>
          </a:p>
        </p:txBody>
      </p:sp>
      <p:sp>
        <p:nvSpPr>
          <p:cNvPr id="19" name="chip_518"/>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Where did you go? When did you go?</a:t>
            </a:r>
            <a:endParaRPr lang="en-US" sz="1200" dirty="0"/>
          </a:p>
        </p:txBody>
      </p:sp>
      <p:sp>
        <p:nvSpPr>
          <p:cNvPr id="20" name="bd_519"/>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20"/>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 go with?</a:t>
            </a:r>
            <a:endParaRPr lang="en-US" sz="1250" dirty="0"/>
          </a:p>
        </p:txBody>
      </p:sp>
      <p:sp>
        <p:nvSpPr>
          <p:cNvPr id="22" name="R1_chip521"/>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Who did you go with?</a:t>
            </a:r>
            <a:endParaRPr lang="en-US" sz="1200" dirty="0"/>
          </a:p>
        </p:txBody>
      </p:sp>
      <p:sp>
        <p:nvSpPr>
          <p:cNvPr id="23" name="bd_522"/>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23"/>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 stay? What / like?</a:t>
            </a:r>
            <a:endParaRPr lang="en-US" sz="1250" dirty="0"/>
          </a:p>
        </p:txBody>
      </p:sp>
      <p:sp>
        <p:nvSpPr>
          <p:cNvPr id="25" name="R2_chip524"/>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Where did you stay? What was it like?</a:t>
            </a:r>
            <a:endParaRPr lang="en-US" sz="1200" dirty="0"/>
          </a:p>
        </p:txBody>
      </p:sp>
      <p:sp>
        <p:nvSpPr>
          <p:cNvPr id="26" name="bd_525"/>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26"/>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 the weather like?</a:t>
            </a:r>
            <a:endParaRPr lang="en-US" sz="1250" dirty="0"/>
          </a:p>
        </p:txBody>
      </p:sp>
      <p:sp>
        <p:nvSpPr>
          <p:cNvPr id="28" name="R3_chip527"/>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What was the weather like?</a:t>
            </a:r>
            <a:endParaRPr lang="en-US" sz="1200" dirty="0"/>
          </a:p>
        </p:txBody>
      </p:sp>
      <p:sp>
        <p:nvSpPr>
          <p:cNvPr id="29" name="bd_528"/>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29"/>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 do during the day?</a:t>
            </a:r>
            <a:endParaRPr lang="en-US" sz="1250" dirty="0"/>
          </a:p>
        </p:txBody>
      </p:sp>
      <p:sp>
        <p:nvSpPr>
          <p:cNvPr id="31" name="R4_chip530"/>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What did you do during the day?</a:t>
            </a:r>
            <a:endParaRPr lang="en-US" sz="1200" dirty="0"/>
          </a:p>
        </p:txBody>
      </p:sp>
      <p:sp>
        <p:nvSpPr>
          <p:cNvPr id="32" name="bd_531"/>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32"/>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 have any problems?</a:t>
            </a:r>
            <a:endParaRPr lang="en-US" sz="1250" dirty="0"/>
          </a:p>
        </p:txBody>
      </p:sp>
      <p:sp>
        <p:nvSpPr>
          <p:cNvPr id="34" name="R5_chip533"/>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Did you have any problems?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35"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536"/>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Tell me about your last holiday!</a:t>
            </a:r>
            <a:endParaRPr lang="en-US" sz="2500" dirty="0"/>
          </a:p>
        </p:txBody>
      </p:sp>
      <p:pic>
        <p:nvPicPr>
          <p:cNvPr id="6" name="brP_537"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38"/>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about your partner's last holiday.</a:t>
            </a:r>
            <a:endParaRPr lang="en-US" sz="1250" dirty="0"/>
          </a:p>
        </p:txBody>
      </p:sp>
      <p:sp>
        <p:nvSpPr>
          <p:cNvPr id="8" name="insIT_53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Chiedi al compagno della sua ultima vacanza.</a:t>
            </a:r>
            <a:endParaRPr lang="en-US" sz="950" dirty="0"/>
          </a:p>
        </p:txBody>
      </p:sp>
      <p:sp>
        <p:nvSpPr>
          <p:cNvPr id="9" name="note_54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5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Speaking · your last holiday   ·   📖 SB p.15 · 5 Speaking</a:t>
            </a:r>
            <a:endParaRPr lang="en-US" sz="800" dirty="0"/>
          </a:p>
        </p:txBody>
      </p:sp>
      <p:sp>
        <p:nvSpPr>
          <p:cNvPr id="12" name="pf_543"/>
          <p:cNvSpPr/>
          <p:nvPr/>
        </p:nvSpPr>
        <p:spPr>
          <a:xfrm rot="-120000">
            <a:off x="1058709" y="1371600"/>
            <a:ext cx="1311581" cy="1325880"/>
          </a:xfrm>
          <a:prstGeom prst="roundRect">
            <a:avLst>
              <a:gd name="adj" fmla="val 118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44" descr="/home/claude/lls-course/v2/cache/1b1_holiday_jpg_294x297_31.png">    </p:cNvPr>
          <p:cNvPicPr>
            <a:picLocks noChangeAspect="1"/>
          </p:cNvPicPr>
          <p:nvPr/>
        </p:nvPicPr>
        <p:blipFill>
          <a:blip r:embed="rId5"/>
          <a:stretch>
            <a:fillRect/>
          </a:stretch>
        </p:blipFill>
        <p:spPr>
          <a:xfrm rot="-120000">
            <a:off x="1104429" y="1417320"/>
            <a:ext cx="1220141" cy="1234440"/>
          </a:xfrm>
          <a:prstGeom prst="rect">
            <a:avLst/>
          </a:prstGeom>
        </p:spPr>
      </p:pic>
      <p:sp>
        <p:nvSpPr>
          <p:cNvPr id="14" name="cd_545"/>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546"/>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47"/>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548"/>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Wow! · Fantastic! · Really?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Oh no! What a pity! · How awful!</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was it like?</a:t>
            </a:r>
            <a:endParaRPr lang="en-US" sz="1150" dirty="0"/>
          </a:p>
        </p:txBody>
      </p:sp>
      <p:sp>
        <p:nvSpPr>
          <p:cNvPr id="18" name="R1_qb549"/>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550"/>
          <p:cNvSpPr/>
          <p:nvPr/>
        </p:nvSpPr>
        <p:spPr>
          <a:xfrm>
            <a:off x="3675888" y="141732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300" dirty="0">
                <a:solidFill>
                  <a:srgbClr val="1B2559"/>
                </a:solidFill>
                <a:latin typeface="Segoe UI Semibold" pitchFamily="34" charset="0"/>
                <a:ea typeface="Segoe UI Semibold" pitchFamily="34" charset="-122"/>
                <a:cs typeface="Segoe UI Semibold" pitchFamily="34" charset="-120"/>
              </a:rPr>
              <a:t>Where did you go? When? Who with?</a:t>
            </a:r>
            <a:endParaRPr lang="en-US" sz="1300" dirty="0"/>
          </a:p>
          <a:p>
            <a:pPr indent="0" marL="0">
              <a:buNone/>
            </a:pPr>
            <a:r>
              <a:rPr lang="en-US" sz="1050" i="1" dirty="0">
                <a:solidFill>
                  <a:srgbClr val="5B6785"/>
                </a:solidFill>
                <a:latin typeface="Segoe UI Semibold" pitchFamily="34" charset="0"/>
                <a:ea typeface="Segoe UI Semibold" pitchFamily="34" charset="-122"/>
                <a:cs typeface="Segoe UI Semibold" pitchFamily="34" charset="-120"/>
              </a:rPr>
              <a:t>e.g. I went to Cefalù last August with my family.</a:t>
            </a:r>
            <a:endParaRPr lang="en-US" sz="1300" dirty="0"/>
          </a:p>
        </p:txBody>
      </p:sp>
      <p:sp>
        <p:nvSpPr>
          <p:cNvPr id="20" name="R2_qb551"/>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552"/>
          <p:cNvSpPr/>
          <p:nvPr/>
        </p:nvSpPr>
        <p:spPr>
          <a:xfrm>
            <a:off x="3675888" y="197358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300" dirty="0">
                <a:solidFill>
                  <a:srgbClr val="1B2559"/>
                </a:solidFill>
                <a:latin typeface="Segoe UI Semibold" pitchFamily="34" charset="0"/>
                <a:ea typeface="Segoe UI Semibold" pitchFamily="34" charset="-122"/>
                <a:cs typeface="Segoe UI Semibold" pitchFamily="34" charset="-120"/>
              </a:rPr>
              <a:t>Where did you stay? What was it like?</a:t>
            </a:r>
            <a:endParaRPr lang="en-US" sz="1300" dirty="0"/>
          </a:p>
          <a:p>
            <a:pPr indent="0" marL="0">
              <a:buNone/>
            </a:pPr>
            <a:r>
              <a:rPr lang="en-US" sz="1050" i="1" dirty="0">
                <a:solidFill>
                  <a:srgbClr val="5B6785"/>
                </a:solidFill>
                <a:latin typeface="Segoe UI Semibold" pitchFamily="34" charset="0"/>
                <a:ea typeface="Segoe UI Semibold" pitchFamily="34" charset="-122"/>
                <a:cs typeface="Segoe UI Semibold" pitchFamily="34" charset="-120"/>
              </a:rPr>
              <a:t>e.g. We rented an apartment – it was basic but lovely.</a:t>
            </a:r>
            <a:endParaRPr lang="en-US" sz="1300" dirty="0"/>
          </a:p>
        </p:txBody>
      </p:sp>
      <p:sp>
        <p:nvSpPr>
          <p:cNvPr id="22" name="R3_qb553"/>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554"/>
          <p:cNvSpPr/>
          <p:nvPr/>
        </p:nvSpPr>
        <p:spPr>
          <a:xfrm>
            <a:off x="3675888" y="2529840"/>
            <a:ext cx="51937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300" dirty="0">
                <a:solidFill>
                  <a:srgbClr val="1B2559"/>
                </a:solidFill>
                <a:latin typeface="Segoe UI Semibold" pitchFamily="34" charset="0"/>
                <a:ea typeface="Segoe UI Semibold" pitchFamily="34" charset="-122"/>
                <a:cs typeface="Segoe UI Semibold" pitchFamily="34" charset="-120"/>
              </a:rPr>
              <a:t>What did you do there?</a:t>
            </a:r>
            <a:endParaRPr lang="en-US" sz="1300" dirty="0"/>
          </a:p>
          <a:p>
            <a:pPr indent="0" marL="0">
              <a:buNone/>
            </a:pPr>
            <a:r>
              <a:rPr lang="en-US" sz="1050" i="1" dirty="0">
                <a:solidFill>
                  <a:srgbClr val="5B6785"/>
                </a:solidFill>
                <a:latin typeface="Segoe UI Semibold" pitchFamily="34" charset="0"/>
                <a:ea typeface="Segoe UI Semibold" pitchFamily="34" charset="-122"/>
                <a:cs typeface="Segoe UI Semibold" pitchFamily="34" charset="-120"/>
              </a:rPr>
              <a:t>e.g. We sunbathed, went swimming and ate a lot of arancine!</a:t>
            </a:r>
            <a:endParaRPr lang="en-US" sz="1300" dirty="0"/>
          </a:p>
        </p:txBody>
      </p:sp>
      <p:sp>
        <p:nvSpPr>
          <p:cNvPr id="24" name="R4_qb555"/>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556"/>
          <p:cNvSpPr/>
          <p:nvPr/>
        </p:nvSpPr>
        <p:spPr>
          <a:xfrm>
            <a:off x="3675888" y="3086100"/>
            <a:ext cx="51937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300" dirty="0">
                <a:solidFill>
                  <a:srgbClr val="1B2559"/>
                </a:solidFill>
                <a:latin typeface="Segoe UI Semibold" pitchFamily="34" charset="0"/>
                <a:ea typeface="Segoe UI Semibold" pitchFamily="34" charset="-122"/>
                <a:cs typeface="Segoe UI Semibold" pitchFamily="34" charset="-120"/>
              </a:rPr>
              <a:t>What was the weather like?</a:t>
            </a:r>
            <a:endParaRPr lang="en-US" sz="1300" dirty="0"/>
          </a:p>
          <a:p>
            <a:pPr indent="0" marL="0">
              <a:buNone/>
            </a:pPr>
            <a:r>
              <a:rPr lang="en-US" sz="1050" i="1" dirty="0">
                <a:solidFill>
                  <a:srgbClr val="5B6785"/>
                </a:solidFill>
                <a:latin typeface="Segoe UI Semibold" pitchFamily="34" charset="0"/>
                <a:ea typeface="Segoe UI Semibold" pitchFamily="34" charset="-122"/>
                <a:cs typeface="Segoe UI Semibold" pitchFamily="34" charset="-120"/>
              </a:rPr>
              <a:t>e.g. It was really hot – 38 degrees!</a:t>
            </a:r>
            <a:endParaRPr lang="en-US" sz="1300" dirty="0"/>
          </a:p>
        </p:txBody>
      </p:sp>
      <p:sp>
        <p:nvSpPr>
          <p:cNvPr id="26" name="R5_qb557"/>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558"/>
          <p:cNvSpPr/>
          <p:nvPr/>
        </p:nvSpPr>
        <p:spPr>
          <a:xfrm>
            <a:off x="3675888" y="3642360"/>
            <a:ext cx="45079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300" dirty="0">
                <a:solidFill>
                  <a:srgbClr val="1B2559"/>
                </a:solidFill>
                <a:latin typeface="Segoe UI Semibold" pitchFamily="34" charset="0"/>
                <a:ea typeface="Segoe UI Semibold" pitchFamily="34" charset="-122"/>
                <a:cs typeface="Segoe UI Semibold" pitchFamily="34" charset="-120"/>
              </a:rPr>
              <a:t>Did anything go wrong?</a:t>
            </a:r>
            <a:endParaRPr lang="en-US" sz="1300" dirty="0"/>
          </a:p>
          <a:p>
            <a:pPr indent="0" marL="0">
              <a:buNone/>
            </a:pPr>
            <a:r>
              <a:rPr lang="en-US" sz="1050" i="1" dirty="0">
                <a:solidFill>
                  <a:srgbClr val="5B6785"/>
                </a:solidFill>
                <a:latin typeface="Segoe UI Semibold" pitchFamily="34" charset="0"/>
                <a:ea typeface="Segoe UI Semibold" pitchFamily="34" charset="-122"/>
                <a:cs typeface="Segoe UI Semibold" pitchFamily="34" charset="-120"/>
              </a:rPr>
              <a:t>e.g. Yes! I lost my sunglasses on the first day.</a:t>
            </a:r>
            <a:endParaRPr lang="en-US" sz="1300" dirty="0"/>
          </a:p>
        </p:txBody>
      </p:sp>
      <p:pic>
        <p:nvPicPr>
          <p:cNvPr id="28" name="R5_th559" descr="/home/claude/lls-course/v2/cache/2b2_worst_trip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29" name="R6_qb560"/>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0" name="R6_sq561"/>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300" dirty="0">
                <a:solidFill>
                  <a:srgbClr val="1B2559"/>
                </a:solidFill>
                <a:latin typeface="Segoe UI Semibold" pitchFamily="34" charset="0"/>
                <a:ea typeface="Segoe UI Semibold" pitchFamily="34" charset="-122"/>
                <a:cs typeface="Segoe UI Semibold" pitchFamily="34" charset="-120"/>
              </a:rPr>
              <a:t>Did you have a good time?</a:t>
            </a:r>
            <a:endParaRPr lang="en-US" sz="1300" dirty="0"/>
          </a:p>
          <a:p>
            <a:pPr indent="0" marL="0">
              <a:buNone/>
            </a:pPr>
            <a:r>
              <a:rPr lang="en-US" sz="1050" i="1" dirty="0">
                <a:solidFill>
                  <a:srgbClr val="5B6785"/>
                </a:solidFill>
                <a:latin typeface="Segoe UI Semibold" pitchFamily="34" charset="0"/>
                <a:ea typeface="Segoe UI Semibold" pitchFamily="34" charset="-122"/>
                <a:cs typeface="Segoe UI Semibold" pitchFamily="34" charset="-120"/>
              </a:rPr>
              <a:t>e.g. Yes, I did. It was fantastic!</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par>
                                <p:cTn id="51" presetID="10" presetClass="entr" presetSubtype="0" fill="hold" nodeType="with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63"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64"/>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6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6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568"/>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5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Exit · what can you remember?</a:t>
            </a:r>
            <a:endParaRPr lang="en-US" sz="800" dirty="0"/>
          </a:p>
        </p:txBody>
      </p:sp>
      <p:sp>
        <p:nvSpPr>
          <p:cNvPr id="12" name="bd_571"/>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572"/>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holiday phrases (go…, stay…, hire…)</a:t>
            </a:r>
            <a:endParaRPr lang="en-US" sz="1400" dirty="0"/>
          </a:p>
        </p:txBody>
      </p:sp>
      <p:sp>
        <p:nvSpPr>
          <p:cNvPr id="14" name="bd_573"/>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574"/>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irregular verbs from Stuart's story</a:t>
            </a:r>
            <a:endParaRPr lang="en-US" sz="1400" dirty="0"/>
          </a:p>
        </p:txBody>
      </p:sp>
      <p:sp>
        <p:nvSpPr>
          <p:cNvPr id="16" name="bd_575"/>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576"/>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question for your teacher about the weekend: "Did you…?"</a:t>
            </a:r>
            <a:endParaRPr lang="en-US" sz="1400" dirty="0"/>
          </a:p>
        </p:txBody>
      </p:sp>
      <p:sp>
        <p:nvSpPr>
          <p:cNvPr id="18" name="cd_577"/>
          <p:cNvSpPr/>
          <p:nvPr/>
        </p:nvSpPr>
        <p:spPr>
          <a:xfrm>
            <a:off x="5669280" y="1417320"/>
            <a:ext cx="3200400" cy="1837944"/>
          </a:xfrm>
          <a:prstGeom prst="roundRect">
            <a:avLst>
              <a:gd name="adj" fmla="val 696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578"/>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79"/>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580"/>
          <p:cNvSpPr/>
          <p:nvPr/>
        </p:nvSpPr>
        <p:spPr>
          <a:xfrm>
            <a:off x="6236208" y="1911096"/>
            <a:ext cx="2542032" cy="127101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2A (teacher's choice)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Write 60–80 words: My last holiday (past simple!)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Learn 10 irregular verbs (Student's Book p.164)</a:t>
            </a:r>
            <a:endParaRPr lang="en-US" sz="1150" dirty="0"/>
          </a:p>
        </p:txBody>
      </p:sp>
      <p:sp>
        <p:nvSpPr>
          <p:cNvPr id="22" name="st_581"/>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 That's me in the picture! · past continuous</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83"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84"/>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585"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586"/>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5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58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5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Review · what did you do today?</a:t>
            </a:r>
            <a:endParaRPr lang="en-US" sz="800" dirty="0"/>
          </a:p>
        </p:txBody>
      </p:sp>
      <p:sp>
        <p:nvSpPr>
          <p:cNvPr id="12" name="cd_591"/>
          <p:cNvSpPr/>
          <p:nvPr/>
        </p:nvSpPr>
        <p:spPr>
          <a:xfrm>
            <a:off x="548640" y="141732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592"/>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593"/>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holidays</a:t>
            </a:r>
            <a:endParaRPr lang="en-US" sz="1350" dirty="0"/>
          </a:p>
        </p:txBody>
      </p:sp>
      <p:sp>
        <p:nvSpPr>
          <p:cNvPr id="15" name="R1_tk594"/>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595"/>
          <p:cNvSpPr/>
          <p:nvPr/>
        </p:nvSpPr>
        <p:spPr>
          <a:xfrm>
            <a:off x="548640" y="196596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596"/>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597"/>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and listened to two holiday disasters</a:t>
            </a:r>
            <a:endParaRPr lang="en-US" sz="1350" dirty="0"/>
          </a:p>
        </p:txBody>
      </p:sp>
      <p:sp>
        <p:nvSpPr>
          <p:cNvPr id="19" name="R2_tk598"/>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599"/>
          <p:cNvSpPr/>
          <p:nvPr/>
        </p:nvSpPr>
        <p:spPr>
          <a:xfrm>
            <a:off x="548640" y="2514600"/>
            <a:ext cx="6035040" cy="475488"/>
          </a:xfrm>
          <a:prstGeom prst="roundRect">
            <a:avLst>
              <a:gd name="adj" fmla="val 26923"/>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600"/>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601"/>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Practised past simple: regular and irregular verbs</a:t>
            </a:r>
            <a:endParaRPr lang="en-US" sz="1350" dirty="0"/>
          </a:p>
        </p:txBody>
      </p:sp>
      <p:sp>
        <p:nvSpPr>
          <p:cNvPr id="23" name="R3_tk602"/>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603"/>
          <p:cNvSpPr/>
          <p:nvPr/>
        </p:nvSpPr>
        <p:spPr>
          <a:xfrm>
            <a:off x="548640" y="3063240"/>
            <a:ext cx="6035040" cy="475488"/>
          </a:xfrm>
          <a:prstGeom prst="roundRect">
            <a:avLst>
              <a:gd name="adj" fmla="val 26923"/>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604"/>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605"/>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-ed endings: /t/ /d/ /ɪd/</a:t>
            </a:r>
            <a:endParaRPr lang="en-US" sz="1350" dirty="0"/>
          </a:p>
        </p:txBody>
      </p:sp>
      <p:sp>
        <p:nvSpPr>
          <p:cNvPr id="27" name="R4_tk606"/>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607"/>
          <p:cNvSpPr/>
          <p:nvPr/>
        </p:nvSpPr>
        <p:spPr>
          <a:xfrm>
            <a:off x="548640" y="361188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608"/>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609"/>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1" name="R5_tk610"/>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cd_611"/>
          <p:cNvSpPr/>
          <p:nvPr/>
        </p:nvSpPr>
        <p:spPr>
          <a:xfrm>
            <a:off x="548640" y="416052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te_612"/>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tt_613"/>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Told a partner about your last holiday</a:t>
            </a:r>
            <a:endParaRPr lang="en-US" sz="1350" dirty="0"/>
          </a:p>
        </p:txBody>
      </p:sp>
      <p:sp>
        <p:nvSpPr>
          <p:cNvPr id="35" name="R6_tk614"/>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st_615"/>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616"/>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617"/>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618"/>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619"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2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2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2A</a:t>
            </a:r>
            <a:endParaRPr lang="en-US" sz="2500" dirty="0"/>
          </a:p>
        </p:txBody>
      </p:sp>
      <p:pic>
        <p:nvPicPr>
          <p:cNvPr id="6" name="brP_623"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624"/>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6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Clicca un altoparlante per l'audio del libro.</a:t>
            </a:r>
            <a:endParaRPr lang="en-US" sz="950" dirty="0"/>
          </a:p>
        </p:txBody>
      </p:sp>
      <p:sp>
        <p:nvSpPr>
          <p:cNvPr id="9" name="note_626"/>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whole class</a:t>
            </a:r>
            <a:endParaRPr lang="en-US" sz="1250" dirty="0"/>
          </a:p>
        </p:txBody>
      </p:sp>
      <p:pic>
        <p:nvPicPr>
          <p:cNvPr id="10" name="logo_6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Book audio · 2A</a:t>
            </a:r>
            <a:endParaRPr lang="en-US" sz="800" dirty="0"/>
          </a:p>
        </p:txBody>
      </p:sp>
      <p:sp>
        <p:nvSpPr>
          <p:cNvPr id="12" name="ext_629"/>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pf_630"/>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631" descr="/home/claude/lls-course/v2/cache/2a2_passport_map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632"/>
          <p:cNvSpPr/>
          <p:nvPr/>
        </p:nvSpPr>
        <p:spPr>
          <a:xfrm>
            <a:off x="320040" y="3383280"/>
            <a:ext cx="2743200" cy="1325880"/>
          </a:xfrm>
          <a:prstGeom prst="roundRect">
            <a:avLst>
              <a:gd name="adj" fmla="val 965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633"/>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34"/>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8" name="il_635"/>
          <p:cNvSpPr/>
          <p:nvPr/>
        </p:nvSpPr>
        <p:spPr>
          <a:xfrm>
            <a:off x="886968" y="3877056"/>
            <a:ext cx="2084832" cy="7589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Track numbers = Student's Book 2A (pp.14–15)</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Exercises checked in the Teacher's Guide</a:t>
            </a:r>
            <a:endParaRPr lang="en-US" sz="950" dirty="0"/>
          </a:p>
        </p:txBody>
      </p:sp>
      <p:sp>
        <p:nvSpPr>
          <p:cNvPr id="19" name="ab_636"/>
          <p:cNvSpPr/>
          <p:nvPr/>
        </p:nvSpPr>
        <p:spPr>
          <a:xfrm>
            <a:off x="3246120" y="1417320"/>
            <a:ext cx="4983480" cy="457200"/>
          </a:xfrm>
          <a:prstGeom prst="roundRect">
            <a:avLst>
              <a:gd name="adj" fmla="val 24000"/>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2.3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-ed endings: 3 sentences from Marta's story (p.15 · 3a)</a:t>
            </a:r>
            <a:endParaRPr lang="en-US" sz="1300" dirty="0"/>
          </a:p>
        </p:txBody>
      </p:sp>
      <p:pic>
        <p:nvPicPr>
          <p:cNvPr id="20"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1" name="ab_637"/>
          <p:cNvSpPr/>
          <p:nvPr/>
        </p:nvSpPr>
        <p:spPr>
          <a:xfrm>
            <a:off x="3246120" y="1947672"/>
            <a:ext cx="4983480" cy="457200"/>
          </a:xfrm>
          <a:prstGeom prst="roundRect">
            <a:avLst>
              <a:gd name="adj" fmla="val 24000"/>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Sounds /t/ /d/ /ɪd/ (p.15 · 3b)</a:t>
            </a:r>
            <a:endParaRPr lang="en-US" sz="1300" dirty="0"/>
          </a:p>
        </p:txBody>
      </p:sp>
      <p:pic>
        <p:nvPicPr>
          <p:cNvPr id="22"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3" name="ab_638"/>
          <p:cNvSpPr/>
          <p:nvPr/>
        </p:nvSpPr>
        <p:spPr>
          <a:xfrm>
            <a:off x="3246120" y="2478024"/>
            <a:ext cx="4983480" cy="457200"/>
          </a:xfrm>
          <a:prstGeom prst="roundRect">
            <a:avLst>
              <a:gd name="adj" fmla="val 24000"/>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Holiday adjectives: What was it like? (VB p.152 · 3)</a:t>
            </a:r>
            <a:endParaRPr lang="en-US" sz="1300" dirty="0"/>
          </a:p>
        </p:txBody>
      </p:sp>
      <p:pic>
        <p:nvPicPr>
          <p:cNvPr id="24"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0"/>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0"/>
                                        </p:tgtEl>
                                      </p:cBhvr>
                                    </p:cmd>
                                  </p:childTnLst>
                                </p:cTn>
                              </p:par>
                            </p:childTnLst>
                          </p:cTn>
                        </p:par>
                      </p:childTnLst>
                    </p:cTn>
                  </p:par>
                </p:childTnLst>
              </p:cTn>
              <p:nextCondLst>
                <p:cond evt="onClick" delay="0">
                  <p:tgtEl>
                    <p:spTgt spid="20"/>
                  </p:tgtEl>
                </p:cond>
              </p:nextCondLst>
            </p:seq>
            <p:seq concurrent="1" nextAc="seek">
              <p:cTn id="8" restart="whenNotActive" fill="hold" evtFilter="cancelBubble" nodeType="interactiveSeq">
                <p:stCondLst>
                  <p:cond evt="onClick" delay="0">
                    <p:tgtEl>
                      <p:spTgt spid="2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2"/>
                                        </p:tgtEl>
                                      </p:cBhvr>
                                    </p:cmd>
                                  </p:childTnLst>
                                </p:cTn>
                              </p:par>
                            </p:childTnLst>
                          </p:cTn>
                        </p:par>
                      </p:childTnLst>
                    </p:cTn>
                  </p:par>
                </p:childTnLst>
              </p:cTn>
              <p:nextCondLst>
                <p:cond evt="onClick" delay="0">
                  <p:tgtEl>
                    <p:spTgt spid="22"/>
                  </p:tgtEl>
                </p:cond>
              </p:nextCondLst>
            </p:seq>
            <p:seq concurrent="1" nextAc="seek">
              <p:cTn id="13" restart="whenNotActive" fill="hold" evtFilter="cancelBubble" nodeType="interactiveSeq">
                <p:stCondLst>
                  <p:cond evt="onClick" delay="0">
                    <p:tgtEl>
                      <p:spTgt spid="24"/>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24"/>
                                        </p:tgtEl>
                                      </p:cBhvr>
                                    </p:cmd>
                                  </p:childTnLst>
                                </p:cTn>
                              </p:par>
                            </p:childTnLst>
                          </p:cTn>
                        </p:par>
                      </p:childTnLst>
                    </p:cTn>
                  </p:par>
                </p:childTnLst>
              </p:cTn>
              <p:nextCondLst>
                <p:cond evt="onClick" delay="0">
                  <p:tgtEl>
                    <p:spTgt spid="24"/>
                  </p:tgtEl>
                </p:cond>
              </p:nextCondLst>
            </p:seq>
            <p:audio>
              <p:cMediaNode vol="80000">
                <p:cTn id="18" fill="hold" display="0">
                  <p:stCondLst>
                    <p:cond delay="indefinite"/>
                  </p:stCondLst>
                  <p:endCondLst>
                    <p:cond evt="onStopAudio" delay="0">
                      <p:tgtEl>
                        <p:sldTgt/>
                      </p:tgtEl>
                    </p:cond>
                  </p:endCondLst>
                </p:cTn>
                <p:tgtEl>
                  <p:spTgt spid="20"/>
                </p:tgtEl>
              </p:cMediaNode>
            </p:audio>
            <p:audio>
              <p:cMediaNode vol="80000">
                <p:cTn id="19" fill="hold" display="0">
                  <p:stCondLst>
                    <p:cond delay="indefinite"/>
                  </p:stCondLst>
                  <p:endCondLst>
                    <p:cond evt="onStopAudio" delay="0">
                      <p:tgtEl>
                        <p:sldTgt/>
                      </p:tgtEl>
                    </p:cond>
                  </p:endCondLst>
                </p:cTn>
                <p:tgtEl>
                  <p:spTgt spid="22"/>
                </p:tgtEl>
              </p:cMediaNode>
            </p:audio>
            <p:audio>
              <p:cMediaNode vol="80000">
                <p:cTn id="20" fill="hold" display="0">
                  <p:stCondLst>
                    <p:cond delay="indefinite"/>
                  </p:stCondLst>
                  <p:endCondLst>
                    <p:cond evt="onStopAudio" delay="0">
                      <p:tgtEl>
                        <p:sldTgt/>
                      </p:tgtEl>
                    </p:cond>
                  </p:endCondLst>
                </p:cTn>
                <p:tgtEl>
                  <p:spTgt spid="24"/>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2A OMG! Where's my passport?</dc:title>
  <dc:subject>PptxGenJS Presentation</dc:subject>
  <dc:creator>PptxGenJS</dc:creator>
  <cp:lastModifiedBy>PptxGenJS</cp:lastModifiedBy>
  <cp:revision>1</cp:revision>
  <dcterms:created xsi:type="dcterms:W3CDTF">2026-10-21T09:55:53Z</dcterms:created>
  <dcterms:modified xsi:type="dcterms:W3CDTF">2026-10-21T09:55:53Z</dcterms:modified>
</cp:coreProperties>
</file>