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(passport, camera, map). Ask the THINK question; take 3–4 answers – don't correct the past simple yet, just note mistakes. Click: the example. Read 'Today you're going to…' together. The title 'OMG!' = Oh my God! – what we say when something goes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Read the examples together. Ask 2 students: 'What are you wearing today?' 'Who is sitting next to you?' Then play Photo memory: the questions are about the two photos from last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books closed. Read each question; teams have 15 seconds; click to show the answer. Point only for a full sentence with be + -ing or the right preposition. The photo in the corner is a clue only if they're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holidays (4 min)
ELICIT FIRST (4 min). Pairs complete the phrases (go, stay, rent, hire, take, buy, book). Click once per phrase. Point out: go + -ing for activities (go swimming, go skiing) and go abroad (NOT go to abroad). Rent an apartment vs hire a bicycle (short time). The next slide gives the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in Italian (2 min)
CONSOLIDATION (2 min). Class says the Italian for each tile, ONE click shows all. Drill the stress: COMfortable (3 syllables: /ˈkʌmftəbl/), CROWDed, HELPful.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Speaking · your holidays (4 min)
SPEAKING (4 min). Present simple for habits (they know it) + the new phrases. Questions appear ONE per click (about 45 seconds each). Monitor for the new phrases; praise 'go abroad', 'stay in…'.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prediction (2 min)
PREDICTION (2 min). Read the introduction aloud ('mantra' = something you repeat). Pairs use the 6 words to guess Stuart's story in 1 minute: 'I think he lost his phone in the Alps…'. Take 2 guesses – don't confirm. ICQ: 'Are you reading the story yet?' (no,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Stuart's story (4 min)
READ + COMPLETE (4 min). The verb in brackets is the infinitive. Students write alone, then compare. Click once per sentence: the answers appear IN the text. Answers (text): 1 went · 2 climbed · 3 took · 4 had · 5 wanted · 6 decided. Ask after 5: 'Where do you think the phone is?'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Reading · Stuart's story (4 min)
READ + COMPLETE (4 min). Same procedure. Answers: 7 spent · 8 started · 9 took · 10 felt · 11 let. Reaction question: 'What do you think of Stuart? What would you do?' (They walked up the mountain twice – about two hours each time!)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detail (3 min)
DETAIL (3 min). Pairs decide T/F and correct the false sentences IN THE PAST SIMPLE (good practice). Click once per item. Answers from the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noticing (3 min)
NOTICING (3 min). Pairs sort the verbs from the story. Click once per verb. Then ask: 'How do we make the past of regular verbs?' (+ -ed; decide → decided: just + d). 'And irregular?' (no rule – learn them: Irregular verbs list at the back of the Student's 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past simple (4 min)
CLARIFY (4 min). Elicit each column before you click. Key Italian-speaker errors: past form after did/didn't; missing 'did' in questions; 'Did you was…?' (use Were you…?). CCQ: 'Did you went?' – right or wrong? (wrong: Did you go?).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Pronunciation · -ed endings (4 min)
PRONUNCIATION (4 min). Model the three examples. Rule: /ɪd/ (an extra syllable) ONLY after t or d: wanted, decided, started, rented. All the others: NO extra syllable – 'climbed' = 1 syllable /klaɪmd/, NOT 'climb-ed'. Italians often pronounce every -ed as /ɪd/ – that's the main thing to fix. Pairs say each verb, decide, click to check. Then drill: 'We walked, we climbed, we started, we arrived!'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game (4 min)
GAME (4 min). Teams write each question (20 seconds), click to show the model. Point for a correct question; +1 bonus if the team then ASKS you and you answer (tell a short true story about your last holiday – students love it). These are exactly the questions for the final speaking.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your last holiday (7 min)
FREER PRACTICE (7 min). Model first: a student asks YOU the questions. Questions appear one per click (about a minute each). The listener must react (useful phrases) and ask one extra question. Monitor: past simple form + -ed pronunciation. Delayed correction (2 min): write 4–5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Books closed. Pairs: 3 holiday phrases, 2 irregular verbs, 1 'Did you…?' question for the teacher – answer a couple.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pp.14–15 · VB p.152</a:t>
            </a:r>
            <a:endParaRPr lang="en-US" sz="1000" dirty="0"/>
          </a:p>
        </p:txBody>
      </p:sp>
      <p:sp>
        <p:nvSpPr>
          <p:cNvPr id="3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</a:t>
            </a:r>
            <a:endParaRPr lang="en-US" sz="2800" dirty="0"/>
          </a:p>
        </p:txBody>
      </p:sp>
      <p:pic>
        <p:nvPicPr>
          <p:cNvPr id="4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5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OMG! Where's my passport?</a:t>
            </a:r>
            <a:endParaRPr lang="en-US" sz="1900" dirty="0"/>
          </a:p>
        </p:txBody>
      </p:sp>
      <p:pic>
        <p:nvPicPr>
          <p:cNvPr id="6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7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Holidays, stories and the past simple</a:t>
            </a:r>
            <a:endParaRPr lang="en-US" sz="1250" dirty="0"/>
          </a:p>
        </p:txBody>
      </p:sp>
      <p:sp>
        <p:nvSpPr>
          <p:cNvPr id="8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9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1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🏖️  talk about holidays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 holiday story: a lost phone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past simple: regular and irregular verbs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-ed endings: /t/ /d/ /ɪd/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tell a partner about your last holiday</a:t>
            </a:r>
            <a:endParaRPr lang="en-US" sz="1250" dirty="0"/>
          </a:p>
        </p:txBody>
      </p:sp>
      <p:sp>
        <p:nvSpPr>
          <p:cNvPr id="12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I left my sunglasses on a train in Rome. I never found them!</a:t>
            </a:r>
            <a:endParaRPr lang="en-US" sz="1000" dirty="0"/>
          </a:p>
        </p:txBody>
      </p:sp>
      <p:sp>
        <p:nvSpPr>
          <p:cNvPr id="13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13" descr="/home/claude/lls-course/v2/cache/2a2_passport_map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5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Did you ever lose something on holiday?</a:t>
            </a:r>
            <a:endParaRPr lang="en-US" sz="1600" dirty="0"/>
          </a:p>
        </p:txBody>
      </p:sp>
      <p:sp>
        <p:nvSpPr>
          <p:cNvPr id="16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7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3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4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5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6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7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8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9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0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1b1_wedd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1C: clothes and photos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continuous · prepositions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 = now / in a photo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wearing a pink dress.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holding a baby.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they smiling? Yes, they are.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now · look! · in the photo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are they?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wine is on the table.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 is behind the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lemons are next to the tomatoes.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front of · between · on the left · at the back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wear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39502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carry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7320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980176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suit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684264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scarf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46607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behind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to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18338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3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4" name="title_50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Photo memory!</a:t>
            </a:r>
            <a:endParaRPr lang="en-US" sz="2500" dirty="0"/>
          </a:p>
        </p:txBody>
      </p:sp>
      <p:pic>
        <p:nvPicPr>
          <p:cNvPr id="5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6" name="ins_5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 back! Answer from memory.</a:t>
            </a:r>
            <a:endParaRPr lang="en-US" sz="1250" dirty="0"/>
          </a:p>
        </p:txBody>
      </p:sp>
      <p:sp>
        <p:nvSpPr>
          <p:cNvPr id="7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Senza guardare! Rispondi a memoria.</a:t>
            </a:r>
            <a:endParaRPr lang="en-US" sz="950" dirty="0"/>
          </a:p>
        </p:txBody>
      </p:sp>
      <p:sp>
        <p:nvSpPr>
          <p:cNvPr id="8" name="cmd_5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9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0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Warmer · last lesson   ·   📖 Recycles 1C</a:t>
            </a:r>
            <a:endParaRPr lang="en-US" sz="800" dirty="0"/>
          </a:p>
        </p:txBody>
      </p:sp>
      <p:sp>
        <p:nvSpPr>
          <p:cNvPr id="13" name="cd_5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6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last lesson's photos.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answer in full sentences.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answer + right grammar = 1 point.</a:t>
            </a:r>
            <a:endParaRPr lang="en-US" sz="1150" dirty="0"/>
          </a:p>
        </p:txBody>
      </p:sp>
      <p:sp>
        <p:nvSpPr>
          <p:cNvPr id="17" name="pf_62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63" descr="/home/claude/lls-course/v2/cache/1b1_sunday_lunch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6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wedding: what's the bride holding?</a:t>
            </a:r>
            <a:endParaRPr lang="en-US" sz="1100" dirty="0"/>
          </a:p>
        </p:txBody>
      </p:sp>
      <p:sp>
        <p:nvSpPr>
          <p:cNvPr id="21" name="R1_chip6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holding flowers.</a:t>
            </a:r>
            <a:endParaRPr lang="en-US" sz="1100" dirty="0"/>
          </a:p>
        </p:txBody>
      </p:sp>
      <p:sp>
        <p:nvSpPr>
          <p:cNvPr id="22" name="bd_6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groom wearing?</a:t>
            </a:r>
            <a:endParaRPr lang="en-US" sz="1100" dirty="0"/>
          </a:p>
        </p:txBody>
      </p:sp>
      <p:sp>
        <p:nvSpPr>
          <p:cNvPr id="24" name="R2_chip6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dark blue suit and a tie</a:t>
            </a:r>
            <a:endParaRPr lang="en-US" sz="1100" dirty="0"/>
          </a:p>
        </p:txBody>
      </p:sp>
      <p:sp>
        <p:nvSpPr>
          <p:cNvPr id="25" name="bd_7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woman on the left: what's she wearing?</a:t>
            </a:r>
            <a:endParaRPr lang="en-US" sz="1100" dirty="0"/>
          </a:p>
        </p:txBody>
      </p:sp>
      <p:sp>
        <p:nvSpPr>
          <p:cNvPr id="27" name="R3_chip7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pink dress</a:t>
            </a:r>
            <a:endParaRPr lang="en-US" sz="1100" dirty="0"/>
          </a:p>
        </p:txBody>
      </p:sp>
      <p:sp>
        <p:nvSpPr>
          <p:cNvPr id="28" name="bd_7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Sunday lunch: what's the man on the right doing?</a:t>
            </a:r>
            <a:endParaRPr lang="en-US" sz="1100" dirty="0"/>
          </a:p>
        </p:txBody>
      </p:sp>
      <p:sp>
        <p:nvSpPr>
          <p:cNvPr id="30" name="R4_chip7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He's taking a selfie.</a:t>
            </a:r>
            <a:endParaRPr lang="en-US" sz="1100" dirty="0"/>
          </a:p>
        </p:txBody>
      </p:sp>
      <p:sp>
        <p:nvSpPr>
          <p:cNvPr id="31" name="bd_7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the bottle of wine?</a:t>
            </a:r>
            <a:endParaRPr lang="en-US" sz="1100" dirty="0"/>
          </a:p>
        </p:txBody>
      </p:sp>
      <p:sp>
        <p:nvSpPr>
          <p:cNvPr id="33" name="R5_chip7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the table, in the middle</a:t>
            </a:r>
            <a:endParaRPr lang="en-US" sz="1100" dirty="0"/>
          </a:p>
        </p:txBody>
      </p:sp>
      <p:sp>
        <p:nvSpPr>
          <p:cNvPr id="34" name="bd_7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8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Glasses: wear or carry?</a:t>
            </a:r>
            <a:endParaRPr lang="en-US" sz="1100" dirty="0"/>
          </a:p>
        </p:txBody>
      </p:sp>
      <p:sp>
        <p:nvSpPr>
          <p:cNvPr id="36" name="R6_chip8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wear! (I wear glasses.)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3" name="brY_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4" name="title_84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 phrases</a:t>
            </a:r>
            <a:endParaRPr lang="en-US" sz="2500" dirty="0"/>
          </a:p>
        </p:txBody>
      </p:sp>
      <p:pic>
        <p:nvPicPr>
          <p:cNvPr id="5" name="brP_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6" name="ins_86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holiday phrases. Then click.</a:t>
            </a:r>
            <a:endParaRPr lang="en-US" sz="1250" dirty="0"/>
          </a:p>
        </p:txBody>
      </p:sp>
      <p:sp>
        <p:nvSpPr>
          <p:cNvPr id="7" name="insIT_8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le espressioni. Poi clicca.</a:t>
            </a:r>
            <a:endParaRPr lang="en-US" sz="950" dirty="0"/>
          </a:p>
        </p:txBody>
      </p:sp>
      <p:sp>
        <p:nvSpPr>
          <p:cNvPr id="8" name="cmd_8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9" name="cmd_89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9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holidays   ·   📖 VB p.152 · Holidays 1</a:t>
            </a:r>
            <a:endParaRPr lang="en-US" sz="800" dirty="0"/>
          </a:p>
        </p:txBody>
      </p:sp>
      <p:sp>
        <p:nvSpPr>
          <p:cNvPr id="14" name="cd_9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___ camping  →  go camping</a:t>
            </a:r>
            <a:endParaRPr lang="en-US" sz="1050" dirty="0"/>
          </a:p>
        </p:txBody>
      </p:sp>
      <p:sp>
        <p:nvSpPr>
          <p:cNvPr id="18" name="pf_9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8" descr="/home/claude/lls-course/v2/cache/1b1_holida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9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00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abroad</a:t>
            </a:r>
            <a:endParaRPr lang="en-US" sz="1150" dirty="0"/>
          </a:p>
        </p:txBody>
      </p:sp>
      <p:sp>
        <p:nvSpPr>
          <p:cNvPr id="22" name="R1_chip101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</a:t>
            </a:r>
            <a:endParaRPr lang="en-US" sz="1000" dirty="0"/>
          </a:p>
        </p:txBody>
      </p:sp>
      <p:sp>
        <p:nvSpPr>
          <p:cNvPr id="23" name="bd_102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3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in a hotel / at a campsite</a:t>
            </a:r>
            <a:endParaRPr lang="en-US" sz="1150" dirty="0"/>
          </a:p>
        </p:txBody>
      </p:sp>
      <p:sp>
        <p:nvSpPr>
          <p:cNvPr id="25" name="R2_chip104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/ at a campsite</a:t>
            </a:r>
            <a:endParaRPr lang="en-US" sz="1000" dirty="0"/>
          </a:p>
        </p:txBody>
      </p:sp>
      <p:sp>
        <p:nvSpPr>
          <p:cNvPr id="26" name="bd_105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6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 apartment</a:t>
            </a:r>
            <a:endParaRPr lang="en-US" sz="1150" dirty="0"/>
          </a:p>
        </p:txBody>
      </p:sp>
      <p:sp>
        <p:nvSpPr>
          <p:cNvPr id="28" name="R3_chip107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rent an apartment</a:t>
            </a:r>
            <a:endParaRPr lang="en-US" sz="1000" dirty="0"/>
          </a:p>
        </p:txBody>
      </p:sp>
      <p:sp>
        <p:nvSpPr>
          <p:cNvPr id="29" name="bd_108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9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bicycle / skis</a:t>
            </a:r>
            <a:endParaRPr lang="en-US" sz="1150" dirty="0"/>
          </a:p>
        </p:txBody>
      </p:sp>
      <p:sp>
        <p:nvSpPr>
          <p:cNvPr id="31" name="R4_chip110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hire a bicycle / skis</a:t>
            </a:r>
            <a:endParaRPr lang="en-US" sz="1000" dirty="0"/>
          </a:p>
        </p:txBody>
      </p:sp>
      <p:sp>
        <p:nvSpPr>
          <p:cNvPr id="32" name="bd_111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2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sightseeing</a:t>
            </a:r>
            <a:endParaRPr lang="en-US" sz="1150" dirty="0"/>
          </a:p>
        </p:txBody>
      </p:sp>
      <p:sp>
        <p:nvSpPr>
          <p:cNvPr id="34" name="R5_chip113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sightseeing</a:t>
            </a:r>
            <a:endParaRPr lang="en-US" sz="1000" dirty="0"/>
          </a:p>
        </p:txBody>
      </p:sp>
      <p:sp>
        <p:nvSpPr>
          <p:cNvPr id="35" name="bd_11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5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photos</a:t>
            </a:r>
            <a:endParaRPr lang="en-US" sz="1150" dirty="0"/>
          </a:p>
        </p:txBody>
      </p:sp>
      <p:sp>
        <p:nvSpPr>
          <p:cNvPr id="37" name="R6_chip116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photos</a:t>
            </a:r>
            <a:endParaRPr lang="en-US" sz="1000" dirty="0"/>
          </a:p>
        </p:txBody>
      </p:sp>
      <p:sp>
        <p:nvSpPr>
          <p:cNvPr id="38" name="bd_117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8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souvenirs</a:t>
            </a:r>
            <a:endParaRPr lang="en-US" sz="1150" dirty="0"/>
          </a:p>
        </p:txBody>
      </p:sp>
      <p:sp>
        <p:nvSpPr>
          <p:cNvPr id="40" name="R7_chip119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 souvenirs</a:t>
            </a:r>
            <a:endParaRPr lang="en-US" sz="1000" dirty="0"/>
          </a:p>
        </p:txBody>
      </p:sp>
      <p:sp>
        <p:nvSpPr>
          <p:cNvPr id="41" name="bd_120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1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flights online</a:t>
            </a:r>
            <a:endParaRPr lang="en-US" sz="1150" dirty="0"/>
          </a:p>
        </p:txBody>
      </p:sp>
      <p:sp>
        <p:nvSpPr>
          <p:cNvPr id="43" name="R8_chip122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 flights online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3" name="brY_1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4" name="title_12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 words in Italian</a:t>
            </a:r>
            <a:endParaRPr lang="en-US" sz="2500" dirty="0"/>
          </a:p>
        </p:txBody>
      </p:sp>
      <p:pic>
        <p:nvPicPr>
          <p:cNvPr id="5" name="brP_1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6" name="ins_12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7" name="insIT_12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8" name="cmd_12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9" name="meta_13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0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in Italian   ·   📖 VB p.152 · Holidays</a:t>
            </a:r>
            <a:endParaRPr lang="en-US" sz="800" dirty="0"/>
          </a:p>
        </p:txBody>
      </p:sp>
      <p:sp>
        <p:nvSpPr>
          <p:cNvPr id="13" name="cd_13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3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✈️</a:t>
            </a:r>
            <a:endParaRPr lang="en-US" sz="2000" dirty="0"/>
          </a:p>
        </p:txBody>
      </p:sp>
      <p:sp>
        <p:nvSpPr>
          <p:cNvPr id="15" name="en_13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abroad</a:t>
            </a:r>
            <a:endParaRPr lang="en-US" sz="1200" dirty="0"/>
          </a:p>
        </p:txBody>
      </p:sp>
      <p:sp>
        <p:nvSpPr>
          <p:cNvPr id="16" name="R1_it136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all'estero</a:t>
            </a:r>
            <a:endParaRPr lang="en-US" sz="1000" dirty="0"/>
          </a:p>
        </p:txBody>
      </p:sp>
      <p:sp>
        <p:nvSpPr>
          <p:cNvPr id="17" name="cd_137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13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🏛️</a:t>
            </a:r>
            <a:endParaRPr lang="en-US" sz="2000" dirty="0"/>
          </a:p>
        </p:txBody>
      </p:sp>
      <p:sp>
        <p:nvSpPr>
          <p:cNvPr id="19" name="en_13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sightseeing</a:t>
            </a:r>
            <a:endParaRPr lang="en-US" sz="1200" dirty="0"/>
          </a:p>
        </p:txBody>
      </p:sp>
      <p:sp>
        <p:nvSpPr>
          <p:cNvPr id="20" name="R1_it140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un giro turistico</a:t>
            </a:r>
            <a:endParaRPr lang="en-US" sz="1000" dirty="0"/>
          </a:p>
        </p:txBody>
      </p:sp>
      <p:sp>
        <p:nvSpPr>
          <p:cNvPr id="21" name="cd_14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14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23" name="en_14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sunbathe</a:t>
            </a:r>
            <a:endParaRPr lang="en-US" sz="1200" dirty="0"/>
          </a:p>
        </p:txBody>
      </p:sp>
      <p:sp>
        <p:nvSpPr>
          <p:cNvPr id="24" name="R1_it144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il sole</a:t>
            </a:r>
            <a:endParaRPr lang="en-US" sz="1000" dirty="0"/>
          </a:p>
        </p:txBody>
      </p:sp>
      <p:sp>
        <p:nvSpPr>
          <p:cNvPr id="25" name="cd_145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4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⛺</a:t>
            </a:r>
            <a:endParaRPr lang="en-US" sz="2000" dirty="0"/>
          </a:p>
        </p:txBody>
      </p:sp>
      <p:sp>
        <p:nvSpPr>
          <p:cNvPr id="27" name="en_14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stay at a campsite</a:t>
            </a:r>
            <a:endParaRPr lang="en-US" sz="1200" dirty="0"/>
          </a:p>
        </p:txBody>
      </p:sp>
      <p:sp>
        <p:nvSpPr>
          <p:cNvPr id="28" name="R1_it148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in campeggio</a:t>
            </a:r>
            <a:endParaRPr lang="en-US" sz="1000" dirty="0"/>
          </a:p>
        </p:txBody>
      </p:sp>
      <p:sp>
        <p:nvSpPr>
          <p:cNvPr id="29" name="cd_14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5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🚲</a:t>
            </a:r>
            <a:endParaRPr lang="en-US" sz="2000" dirty="0"/>
          </a:p>
        </p:txBody>
      </p:sp>
      <p:sp>
        <p:nvSpPr>
          <p:cNvPr id="31" name="en_15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hire a bicycle</a:t>
            </a:r>
            <a:endParaRPr lang="en-US" sz="1200" dirty="0"/>
          </a:p>
        </p:txBody>
      </p:sp>
      <p:sp>
        <p:nvSpPr>
          <p:cNvPr id="32" name="R1_it152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noleggiare una bici</a:t>
            </a:r>
            <a:endParaRPr lang="en-US" sz="1000" dirty="0"/>
          </a:p>
        </p:txBody>
      </p:sp>
      <p:sp>
        <p:nvSpPr>
          <p:cNvPr id="33" name="cd_153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54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🎁</a:t>
            </a:r>
            <a:endParaRPr lang="en-US" sz="2000" dirty="0"/>
          </a:p>
        </p:txBody>
      </p:sp>
      <p:sp>
        <p:nvSpPr>
          <p:cNvPr id="35" name="en_155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buy souvenirs</a:t>
            </a:r>
            <a:endParaRPr lang="en-US" sz="1200" dirty="0"/>
          </a:p>
        </p:txBody>
      </p:sp>
      <p:sp>
        <p:nvSpPr>
          <p:cNvPr id="36" name="R1_it156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comprare souvenir</a:t>
            </a:r>
            <a:endParaRPr lang="en-US" sz="1000" dirty="0"/>
          </a:p>
        </p:txBody>
      </p:sp>
      <p:sp>
        <p:nvSpPr>
          <p:cNvPr id="37" name="cd_157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158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😀</a:t>
            </a:r>
            <a:endParaRPr lang="en-US" sz="2000" dirty="0"/>
          </a:p>
        </p:txBody>
      </p:sp>
      <p:sp>
        <p:nvSpPr>
          <p:cNvPr id="39" name="en_159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good time</a:t>
            </a:r>
            <a:endParaRPr lang="en-US" sz="1200" dirty="0"/>
          </a:p>
        </p:txBody>
      </p:sp>
      <p:sp>
        <p:nvSpPr>
          <p:cNvPr id="40" name="R1_it160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divertirsi</a:t>
            </a:r>
            <a:endParaRPr lang="en-US" sz="1000" dirty="0"/>
          </a:p>
        </p:txBody>
      </p:sp>
      <p:sp>
        <p:nvSpPr>
          <p:cNvPr id="41" name="cd_161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162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43" name="en_163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 money</a:t>
            </a:r>
            <a:endParaRPr lang="en-US" sz="1200" dirty="0"/>
          </a:p>
        </p:txBody>
      </p:sp>
      <p:sp>
        <p:nvSpPr>
          <p:cNvPr id="44" name="R1_it164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spendere soldi</a:t>
            </a:r>
            <a:endParaRPr lang="en-US" sz="1000" dirty="0"/>
          </a:p>
        </p:txBody>
      </p:sp>
      <p:sp>
        <p:nvSpPr>
          <p:cNvPr id="45" name="cd_165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66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7" name="en_167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crowded</a:t>
            </a:r>
            <a:endParaRPr lang="en-US" sz="1200" dirty="0"/>
          </a:p>
        </p:txBody>
      </p:sp>
      <p:sp>
        <p:nvSpPr>
          <p:cNvPr id="48" name="R1_it168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affollato</a:t>
            </a:r>
            <a:endParaRPr lang="en-US" sz="1000" dirty="0"/>
          </a:p>
        </p:txBody>
      </p:sp>
      <p:sp>
        <p:nvSpPr>
          <p:cNvPr id="49" name="cd_169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70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🔊</a:t>
            </a:r>
            <a:endParaRPr lang="en-US" sz="2000" dirty="0"/>
          </a:p>
        </p:txBody>
      </p:sp>
      <p:sp>
        <p:nvSpPr>
          <p:cNvPr id="51" name="en_171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noisy</a:t>
            </a:r>
            <a:endParaRPr lang="en-US" sz="1200" dirty="0"/>
          </a:p>
        </p:txBody>
      </p:sp>
      <p:sp>
        <p:nvSpPr>
          <p:cNvPr id="52" name="R1_it172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rumoroso</a:t>
            </a:r>
            <a:endParaRPr lang="en-US" sz="1000" dirty="0"/>
          </a:p>
        </p:txBody>
      </p:sp>
      <p:sp>
        <p:nvSpPr>
          <p:cNvPr id="53" name="cd_173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174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🛋️</a:t>
            </a:r>
            <a:endParaRPr lang="en-US" sz="2000" dirty="0"/>
          </a:p>
        </p:txBody>
      </p:sp>
      <p:sp>
        <p:nvSpPr>
          <p:cNvPr id="55" name="en_175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56" name="R1_it176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comodo</a:t>
            </a:r>
            <a:endParaRPr lang="en-US" sz="1000" dirty="0"/>
          </a:p>
        </p:txBody>
      </p:sp>
      <p:sp>
        <p:nvSpPr>
          <p:cNvPr id="57" name="cd_177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178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🙋</a:t>
            </a:r>
            <a:endParaRPr lang="en-US" sz="2000" dirty="0"/>
          </a:p>
        </p:txBody>
      </p:sp>
      <p:sp>
        <p:nvSpPr>
          <p:cNvPr id="59" name="en_179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helpful</a:t>
            </a:r>
            <a:endParaRPr lang="en-US" sz="1200" dirty="0"/>
          </a:p>
        </p:txBody>
      </p:sp>
      <p:sp>
        <p:nvSpPr>
          <p:cNvPr id="60" name="R1_it180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disponibile</a:t>
            </a:r>
            <a:endParaRPr lang="en-US" sz="1000" dirty="0"/>
          </a:p>
        </p:txBody>
      </p:sp>
      <p:sp>
        <p:nvSpPr>
          <p:cNvPr id="61" name="R1_wc181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182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go abroad (✗ go to abroad)  ·  have a good time = divertirsi  ·  helpful ≠ unhelpful · comfortable ≠ uncomfortable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3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4" name="title_18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holidays</a:t>
            </a:r>
            <a:endParaRPr lang="en-US" sz="2500" dirty="0"/>
          </a:p>
        </p:txBody>
      </p:sp>
      <p:pic>
        <p:nvPicPr>
          <p:cNvPr id="5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6" name="ins_18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reason. Then ask: And you?</a:t>
            </a:r>
            <a:endParaRPr lang="en-US" sz="1250" dirty="0"/>
          </a:p>
        </p:txBody>
      </p:sp>
      <p:sp>
        <p:nvSpPr>
          <p:cNvPr id="7" name="insIT_1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motivo. Poi chiedi: E tu?</a:t>
            </a:r>
            <a:endParaRPr lang="en-US" sz="950" dirty="0"/>
          </a:p>
        </p:txBody>
      </p:sp>
      <p:sp>
        <p:nvSpPr>
          <p:cNvPr id="8" name="cmd_18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9" name="meta_1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0" name="logo_1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Speaking · your holidays   ·   📖 VB p.152 · practice</a:t>
            </a:r>
            <a:endParaRPr lang="en-US" sz="800" dirty="0"/>
          </a:p>
        </p:txBody>
      </p:sp>
      <p:sp>
        <p:nvSpPr>
          <p:cNvPr id="13" name="pf_19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194" descr="/home/claude/lls-course/v2/cache/2b2_boiling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19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19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19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prefer… because…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never… · I usually…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you?</a:t>
            </a:r>
            <a:endParaRPr lang="en-US" sz="1050" dirty="0"/>
          </a:p>
        </p:txBody>
      </p:sp>
      <p:sp>
        <p:nvSpPr>
          <p:cNvPr id="19" name="R1_qb19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20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go abroad or stay in Italy?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usually stay in Sicily – I love the beaches here.</a:t>
            </a:r>
            <a:endParaRPr lang="en-US" sz="1250" dirty="0"/>
          </a:p>
        </p:txBody>
      </p:sp>
      <p:sp>
        <p:nvSpPr>
          <p:cNvPr id="21" name="R2_qb20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20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Hotel, apartment or campsite?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An apartment – it's cheaper and more comfortable.</a:t>
            </a:r>
            <a:endParaRPr lang="en-US" sz="1250" dirty="0"/>
          </a:p>
        </p:txBody>
      </p:sp>
      <p:sp>
        <p:nvSpPr>
          <p:cNvPr id="23" name="R3_qb20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20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take a lot of photos on holiday?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hundreds! My family hates it.</a:t>
            </a:r>
            <a:endParaRPr lang="en-US" sz="1250" dirty="0"/>
          </a:p>
        </p:txBody>
      </p:sp>
      <p:sp>
        <p:nvSpPr>
          <p:cNvPr id="25" name="R4_qb20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20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buy souvenirs? For who?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Only magnets for my fridge!</a:t>
            </a:r>
            <a:endParaRPr lang="en-US" sz="1250" dirty="0"/>
          </a:p>
        </p:txBody>
      </p:sp>
      <p:sp>
        <p:nvSpPr>
          <p:cNvPr id="27" name="R5_qb207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208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hate on holiday?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Crowded beaches and noisy hotels!</a:t>
            </a:r>
            <a:endParaRPr lang="en-US" sz="1250" dirty="0"/>
          </a:p>
        </p:txBody>
      </p:sp>
      <p:pic>
        <p:nvPicPr>
          <p:cNvPr id="29" name="R5_th209" descr="/home/claude/lls-course/v2/cache/2b2_boiling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3" name="brY_2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4" name="title_212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happened to Stuart?</a:t>
            </a:r>
            <a:endParaRPr lang="en-US" sz="2500" dirty="0"/>
          </a:p>
        </p:txBody>
      </p:sp>
      <p:pic>
        <p:nvPicPr>
          <p:cNvPr id="5" name="brP_2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6" name="ins_21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intro. Guess the story from 6 words!</a:t>
            </a:r>
            <a:endParaRPr lang="en-US" sz="1250" dirty="0"/>
          </a:p>
        </p:txBody>
      </p:sp>
      <p:sp>
        <p:nvSpPr>
          <p:cNvPr id="7" name="insIT_21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l'intro. Indovina la storia da 6 parole!</a:t>
            </a:r>
            <a:endParaRPr lang="en-US" sz="950" dirty="0"/>
          </a:p>
        </p:txBody>
      </p:sp>
      <p:sp>
        <p:nvSpPr>
          <p:cNvPr id="8" name="cmd_21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9" name="cmd_21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0" name="meta_21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2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Reading · prediction   ·   📖 SB p.14 · 1</a:t>
            </a:r>
            <a:endParaRPr lang="en-US" sz="800" dirty="0"/>
          </a:p>
        </p:txBody>
      </p:sp>
      <p:sp>
        <p:nvSpPr>
          <p:cNvPr id="14" name="cd_221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222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Stuart's story</a:t>
            </a:r>
            <a:endParaRPr lang="en-US" sz="2800" dirty="0"/>
          </a:p>
        </p:txBody>
      </p:sp>
      <p:sp>
        <p:nvSpPr>
          <p:cNvPr id="16" name="nx_223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story on the next 2 slides has 11 gaps. Write the verb in the past simple.</a:t>
            </a:r>
            <a:endParaRPr lang="en-US" sz="1000" dirty="0"/>
          </a:p>
        </p:txBody>
      </p:sp>
      <p:sp>
        <p:nvSpPr>
          <p:cNvPr id="17" name="sf_224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'Passport, tickets, money, phone' – it's the mantra we always say to ourselves when we go on holiday. But what happens when one of those things is suddenly missing?</a:t>
            </a:r>
            <a:endParaRPr lang="en-US" sz="1150" dirty="0"/>
          </a:p>
        </p:txBody>
      </p:sp>
      <p:sp>
        <p:nvSpPr>
          <p:cNvPr id="18" name="nbl_225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THE STORY · what happened?</a:t>
            </a:r>
            <a:endParaRPr lang="en-US" sz="1100" dirty="0"/>
          </a:p>
        </p:txBody>
      </p:sp>
      <p:sp>
        <p:nvSpPr>
          <p:cNvPr id="19" name="bd_226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Alps</a:t>
            </a:r>
            <a:endParaRPr lang="en-US" sz="800" dirty="0"/>
          </a:p>
        </p:txBody>
      </p:sp>
      <p:sp>
        <p:nvSpPr>
          <p:cNvPr id="20" name="bd_227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lunch</a:t>
            </a:r>
            <a:endParaRPr lang="en-US" sz="800" dirty="0"/>
          </a:p>
        </p:txBody>
      </p:sp>
      <p:sp>
        <p:nvSpPr>
          <p:cNvPr id="21" name="bd_228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</a:t>
            </a:r>
            <a:endParaRPr lang="en-US" sz="1000" dirty="0"/>
          </a:p>
        </p:txBody>
      </p:sp>
      <p:sp>
        <p:nvSpPr>
          <p:cNvPr id="22" name="bd_229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</a:t>
            </a:r>
            <a:endParaRPr lang="en-US" sz="800" dirty="0"/>
          </a:p>
        </p:txBody>
      </p:sp>
      <p:sp>
        <p:nvSpPr>
          <p:cNvPr id="23" name="bd_230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bag</a:t>
            </a:r>
            <a:endParaRPr lang="en-US" sz="1000" dirty="0"/>
          </a:p>
        </p:txBody>
      </p:sp>
      <p:sp>
        <p:nvSpPr>
          <p:cNvPr id="24" name="bd_231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jacket</a:t>
            </a:r>
            <a:endParaRPr lang="en-US" sz="800" dirty="0"/>
          </a:p>
        </p:txBody>
      </p:sp>
      <p:sp>
        <p:nvSpPr>
          <p:cNvPr id="25" name="pf_232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33" descr="/home/claude/lls-course/v2/cache/2b2_antarctic_tent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3" name="brY_2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4" name="title_23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Stuart's story 1/2</a:t>
            </a:r>
            <a:endParaRPr lang="en-US" sz="2500" dirty="0"/>
          </a:p>
        </p:txBody>
      </p:sp>
      <p:pic>
        <p:nvPicPr>
          <p:cNvPr id="5" name="brP_2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6" name="ins_23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past simple.</a:t>
            </a:r>
            <a:endParaRPr lang="en-US" sz="1250" dirty="0"/>
          </a:p>
        </p:txBody>
      </p:sp>
      <p:sp>
        <p:nvSpPr>
          <p:cNvPr id="7" name="insIT_23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 verbi al past simple.</a:t>
            </a:r>
            <a:endParaRPr lang="en-US" sz="950" dirty="0"/>
          </a:p>
        </p:txBody>
      </p:sp>
      <p:sp>
        <p:nvSpPr>
          <p:cNvPr id="8" name="cmd_24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9" name="cmd_241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0" name="meta_24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2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Reading · Stuart's story   ·   📖 SB p.14 · text adapted</a:t>
            </a:r>
            <a:endParaRPr lang="en-US" sz="800" dirty="0"/>
          </a:p>
        </p:txBody>
      </p:sp>
      <p:sp>
        <p:nvSpPr>
          <p:cNvPr id="14" name="cd_24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24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year in the Alps…</a:t>
            </a:r>
            <a:endParaRPr lang="en-US" sz="1700" dirty="0"/>
          </a:p>
        </p:txBody>
      </p:sp>
      <p:sp>
        <p:nvSpPr>
          <p:cNvPr id="16" name="ln_24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year, 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 go)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holiday to the Alps with a group of friends.</a:t>
            </a:r>
            <a:endParaRPr lang="en-US" sz="1200" dirty="0"/>
          </a:p>
        </p:txBody>
      </p:sp>
      <p:sp>
        <p:nvSpPr>
          <p:cNvPr id="17" name="R1_lnA248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year, 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went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holiday to the Alps with a group of friends.</a:t>
            </a:r>
            <a:endParaRPr lang="en-US" sz="1200" dirty="0"/>
          </a:p>
        </p:txBody>
      </p:sp>
      <p:sp>
        <p:nvSpPr>
          <p:cNvPr id="18" name="ln_249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day, we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 climb)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mountain – it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 take)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about two hours to get to the top.</a:t>
            </a:r>
            <a:endParaRPr lang="en-US" sz="1200" dirty="0"/>
          </a:p>
        </p:txBody>
      </p:sp>
      <p:sp>
        <p:nvSpPr>
          <p:cNvPr id="19" name="R2_lnA250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day, we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climbed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mountain – it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took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about two hours to get to the top.</a:t>
            </a:r>
            <a:endParaRPr lang="en-US" sz="1200" dirty="0"/>
          </a:p>
        </p:txBody>
      </p:sp>
      <p:sp>
        <p:nvSpPr>
          <p:cNvPr id="20" name="ln_251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we got there, we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 have)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lunch. The view was amazing – we could see the sea!</a:t>
            </a:r>
            <a:endParaRPr lang="en-US" sz="1200" dirty="0"/>
          </a:p>
        </p:txBody>
      </p:sp>
      <p:sp>
        <p:nvSpPr>
          <p:cNvPr id="21" name="R3_lnA252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we got there, we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lunch. The view was amazing – we could see the sea!</a:t>
            </a:r>
            <a:endParaRPr lang="en-US" sz="1200" dirty="0"/>
          </a:p>
        </p:txBody>
      </p:sp>
      <p:sp>
        <p:nvSpPr>
          <p:cNvPr id="22" name="ln_253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at the car, 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 want)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take another photo, but I couldn't find my phone.</a:t>
            </a:r>
            <a:endParaRPr lang="en-US" sz="1200" dirty="0"/>
          </a:p>
        </p:txBody>
      </p:sp>
      <p:sp>
        <p:nvSpPr>
          <p:cNvPr id="23" name="R4_lnA254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at the car, 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wanted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take another photo, but I couldn't find my phone.</a:t>
            </a:r>
            <a:endParaRPr lang="en-US" sz="1200" dirty="0"/>
          </a:p>
        </p:txBody>
      </p:sp>
      <p:sp>
        <p:nvSpPr>
          <p:cNvPr id="24" name="ln_255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 decide)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go back up. My friends said 'You can't go on your own', so we all went up again.</a:t>
            </a:r>
            <a:endParaRPr lang="en-US" sz="1200" dirty="0"/>
          </a:p>
        </p:txBody>
      </p:sp>
      <p:sp>
        <p:nvSpPr>
          <p:cNvPr id="25" name="R5_lnA256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decided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go back up. My friends said 'You can't go on your own', so we all went up again.</a:t>
            </a:r>
            <a:endParaRPr lang="en-US" sz="1200" dirty="0"/>
          </a:p>
        </p:txBody>
      </p:sp>
      <p:sp>
        <p:nvSpPr>
          <p:cNvPr id="26" name="pf_25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258" descr="/home/claude/lls-course/v2/cache/2b2_antarctic_ten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8" name="cd_25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26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26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262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regular: + -ed (climbed)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irregular: learn them! (go → went)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3" name="brY_2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4" name="title_26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Stuart's story 2/2</a:t>
            </a:r>
            <a:endParaRPr lang="en-US" sz="2500" dirty="0"/>
          </a:p>
        </p:txBody>
      </p:sp>
      <p:pic>
        <p:nvPicPr>
          <p:cNvPr id="5" name="brP_2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6" name="ins_267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past simple.</a:t>
            </a:r>
            <a:endParaRPr lang="en-US" sz="1250" dirty="0"/>
          </a:p>
        </p:txBody>
      </p:sp>
      <p:sp>
        <p:nvSpPr>
          <p:cNvPr id="7" name="insIT_26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 verbi al past simple.</a:t>
            </a:r>
            <a:endParaRPr lang="en-US" sz="950" dirty="0"/>
          </a:p>
        </p:txBody>
      </p:sp>
      <p:sp>
        <p:nvSpPr>
          <p:cNvPr id="8" name="cmd_26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9" name="cmd_27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0" name="meta_27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2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Reading · Stuart's story   ·   📖 SB p.14 · text adapted</a:t>
            </a:r>
            <a:endParaRPr lang="en-US" sz="800" dirty="0"/>
          </a:p>
        </p:txBody>
      </p:sp>
      <p:sp>
        <p:nvSpPr>
          <p:cNvPr id="14" name="cd_27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27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back to the top!</a:t>
            </a:r>
            <a:endParaRPr lang="en-US" sz="1700" dirty="0"/>
          </a:p>
        </p:txBody>
      </p:sp>
      <p:sp>
        <p:nvSpPr>
          <p:cNvPr id="16" name="ln_276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top we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 spend)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half an hour looking for the phone, but we couldn't find it anywhere.</a:t>
            </a:r>
            <a:endParaRPr lang="en-US" sz="1200" dirty="0"/>
          </a:p>
        </p:txBody>
      </p:sp>
      <p:sp>
        <p:nvSpPr>
          <p:cNvPr id="17" name="R1_lnA27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top we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spent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half an hour looking for the phone, but we couldn't find it anywhere.</a:t>
            </a:r>
            <a:endParaRPr lang="en-US" sz="1200" dirty="0"/>
          </a:p>
        </p:txBody>
      </p:sp>
      <p:sp>
        <p:nvSpPr>
          <p:cNvPr id="18" name="ln_27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it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 start)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get colder, so 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 take)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jacket out of my bag, and…</a:t>
            </a:r>
            <a:endParaRPr lang="en-US" sz="1200" dirty="0"/>
          </a:p>
        </p:txBody>
      </p:sp>
      <p:sp>
        <p:nvSpPr>
          <p:cNvPr id="19" name="R2_lnA279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it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started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get colder, so 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took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jacket out of my bag, and…</a:t>
            </a:r>
            <a:endParaRPr lang="en-US" sz="1200" dirty="0"/>
          </a:p>
        </p:txBody>
      </p:sp>
      <p:sp>
        <p:nvSpPr>
          <p:cNvPr id="20" name="ln_280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my phone was in my jacket pocket!</a:t>
            </a:r>
            <a:endParaRPr lang="en-US" sz="1200" dirty="0"/>
          </a:p>
        </p:txBody>
      </p:sp>
      <p:sp>
        <p:nvSpPr>
          <p:cNvPr id="21" name="ln_28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 feel)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terrible, and really stupid! My friends were very nice about it…</a:t>
            </a:r>
            <a:endParaRPr lang="en-US" sz="1200" dirty="0"/>
          </a:p>
        </p:txBody>
      </p:sp>
      <p:sp>
        <p:nvSpPr>
          <p:cNvPr id="22" name="R3_lnA282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felt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terrible, and really stupid! My friends were very nice about it…</a:t>
            </a:r>
            <a:endParaRPr lang="en-US" sz="1200" dirty="0"/>
          </a:p>
        </p:txBody>
      </p:sp>
      <p:sp>
        <p:nvSpPr>
          <p:cNvPr id="23" name="ln_283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but they never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 let)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 forget it!   (Stuart, from Exeter, UK)</a:t>
            </a:r>
            <a:endParaRPr lang="en-US" sz="1200" dirty="0"/>
          </a:p>
        </p:txBody>
      </p:sp>
      <p:sp>
        <p:nvSpPr>
          <p:cNvPr id="24" name="R4_lnA284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but they never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let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 forget it!   (Stuart, from Exeter, UK)</a:t>
            </a:r>
            <a:endParaRPr lang="en-US" sz="1200" dirty="0"/>
          </a:p>
        </p:txBody>
      </p:sp>
      <p:sp>
        <p:nvSpPr>
          <p:cNvPr id="25" name="pf_285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86" descr="/home/claude/lls-course/v2/cache/2b2_hilarious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7" name="cd_28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ii_28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9" name="ih_28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0" name="il_29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→ let (same!)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spend → spent · feel → felt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3" name="brY_2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4" name="title_29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5" name="brP_2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6" name="ins_295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or false? Correct the false ones.</a:t>
            </a:r>
            <a:endParaRPr lang="en-US" sz="1250" dirty="0"/>
          </a:p>
        </p:txBody>
      </p:sp>
      <p:sp>
        <p:nvSpPr>
          <p:cNvPr id="7" name="insIT_29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Vero o falso? Correggi quelle false.</a:t>
            </a:r>
            <a:endParaRPr lang="en-US" sz="950" dirty="0"/>
          </a:p>
        </p:txBody>
      </p:sp>
      <p:sp>
        <p:nvSpPr>
          <p:cNvPr id="8" name="cmd_29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9" name="cmd_29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29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3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Reading · detail   ·   📖 SB p.14 · comprehension (our questions)</a:t>
            </a:r>
            <a:endParaRPr lang="en-US" sz="800" dirty="0"/>
          </a:p>
        </p:txBody>
      </p:sp>
      <p:sp>
        <p:nvSpPr>
          <p:cNvPr id="14" name="cd_30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0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Stuart went on holiday alone.  →  F – he went with a group of friends.</a:t>
            </a:r>
            <a:endParaRPr lang="en-US" sz="1050" dirty="0"/>
          </a:p>
        </p:txBody>
      </p:sp>
      <p:sp>
        <p:nvSpPr>
          <p:cNvPr id="18" name="pf_30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7" descr="/home/claude/lls-course/v2/cache/2b2_exhauste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0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0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took four hours to get to the top.</a:t>
            </a:r>
            <a:endParaRPr lang="en-US" sz="1150" dirty="0"/>
          </a:p>
        </p:txBody>
      </p:sp>
      <p:sp>
        <p:nvSpPr>
          <p:cNvPr id="22" name="R1_chip31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about two hours</a:t>
            </a:r>
            <a:endParaRPr lang="en-US" sz="1000" dirty="0"/>
          </a:p>
        </p:txBody>
      </p:sp>
      <p:sp>
        <p:nvSpPr>
          <p:cNvPr id="23" name="bd_31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1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could see the sea from the top.</a:t>
            </a:r>
            <a:endParaRPr lang="en-US" sz="1150" dirty="0"/>
          </a:p>
        </p:txBody>
      </p:sp>
      <p:sp>
        <p:nvSpPr>
          <p:cNvPr id="25" name="R2_chip31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00" dirty="0"/>
          </a:p>
        </p:txBody>
      </p:sp>
      <p:sp>
        <p:nvSpPr>
          <p:cNvPr id="26" name="bd_31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Stuart left his phone at the top of the mountain.</a:t>
            </a:r>
            <a:endParaRPr lang="en-US" sz="1150" dirty="0"/>
          </a:p>
        </p:txBody>
      </p:sp>
      <p:sp>
        <p:nvSpPr>
          <p:cNvPr id="28" name="R3_chip31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 was in his jacket pocket</a:t>
            </a:r>
            <a:endParaRPr lang="en-US" sz="1000" dirty="0"/>
          </a:p>
        </p:txBody>
      </p:sp>
      <p:sp>
        <p:nvSpPr>
          <p:cNvPr id="29" name="bd_31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1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friends let him go back up alone.</a:t>
            </a:r>
            <a:endParaRPr lang="en-US" sz="1150" dirty="0"/>
          </a:p>
        </p:txBody>
      </p:sp>
      <p:sp>
        <p:nvSpPr>
          <p:cNvPr id="31" name="R4_chip31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they all went up again</a:t>
            </a:r>
            <a:endParaRPr lang="en-US" sz="1000" dirty="0"/>
          </a:p>
        </p:txBody>
      </p:sp>
      <p:sp>
        <p:nvSpPr>
          <p:cNvPr id="32" name="bd_32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2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friends were angry with him.</a:t>
            </a:r>
            <a:endParaRPr lang="en-US" sz="1150" dirty="0"/>
          </a:p>
        </p:txBody>
      </p:sp>
      <p:sp>
        <p:nvSpPr>
          <p:cNvPr id="34" name="R5_chip32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they were very nice about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3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3" name="brY_3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4" name="title_32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or irregular?</a:t>
            </a:r>
            <a:endParaRPr lang="en-US" sz="2500" dirty="0"/>
          </a:p>
        </p:txBody>
      </p:sp>
      <p:pic>
        <p:nvPicPr>
          <p:cNvPr id="5" name="brP_3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6" name="ins_32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Regular or irregular? Match the colour.</a:t>
            </a:r>
            <a:endParaRPr lang="en-US" sz="1250" dirty="0"/>
          </a:p>
        </p:txBody>
      </p:sp>
      <p:sp>
        <p:nvSpPr>
          <p:cNvPr id="7" name="insIT_32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Regolare o irregolare? Abbina il colore.</a:t>
            </a:r>
            <a:endParaRPr lang="en-US" sz="950" dirty="0"/>
          </a:p>
        </p:txBody>
      </p:sp>
      <p:sp>
        <p:nvSpPr>
          <p:cNvPr id="8" name="cmd_32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9" name="meta_33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0" name="logo_3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noticing   ·   📖 SB p.15 · 2</a:t>
            </a:r>
            <a:endParaRPr lang="en-US" sz="800" dirty="0"/>
          </a:p>
        </p:txBody>
      </p:sp>
      <p:sp>
        <p:nvSpPr>
          <p:cNvPr id="13" name="cd_33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3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types</a:t>
            </a:r>
            <a:endParaRPr lang="en-US" sz="1300" dirty="0"/>
          </a:p>
        </p:txBody>
      </p:sp>
      <p:sp>
        <p:nvSpPr>
          <p:cNvPr id="16" name="il_336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3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-ed</a:t>
            </a:r>
            <a:endParaRPr lang="en-US" sz="1050" dirty="0"/>
          </a:p>
        </p:txBody>
      </p:sp>
      <p:sp>
        <p:nvSpPr>
          <p:cNvPr id="18" name="lg_3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050" dirty="0"/>
          </a:p>
        </p:txBody>
      </p:sp>
      <p:sp>
        <p:nvSpPr>
          <p:cNvPr id="19" name="sq_339"/>
          <p:cNvSpPr/>
          <p:nvPr/>
        </p:nvSpPr>
        <p:spPr>
          <a:xfrm>
            <a:off x="3246120" y="1417320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→ went</a:t>
            </a:r>
            <a:endParaRPr lang="en-US" sz="1200" dirty="0"/>
          </a:p>
        </p:txBody>
      </p:sp>
      <p:sp>
        <p:nvSpPr>
          <p:cNvPr id="20" name="R1_tag340"/>
          <p:cNvSpPr/>
          <p:nvPr/>
        </p:nvSpPr>
        <p:spPr>
          <a:xfrm>
            <a:off x="7178040" y="1417320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150" dirty="0"/>
          </a:p>
        </p:txBody>
      </p:sp>
      <p:sp>
        <p:nvSpPr>
          <p:cNvPr id="21" name="sq_341"/>
          <p:cNvSpPr/>
          <p:nvPr/>
        </p:nvSpPr>
        <p:spPr>
          <a:xfrm>
            <a:off x="3246120" y="1887583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climb → climbed</a:t>
            </a:r>
            <a:endParaRPr lang="en-US" sz="1200" dirty="0"/>
          </a:p>
        </p:txBody>
      </p:sp>
      <p:sp>
        <p:nvSpPr>
          <p:cNvPr id="22" name="R2_tag342"/>
          <p:cNvSpPr/>
          <p:nvPr/>
        </p:nvSpPr>
        <p:spPr>
          <a:xfrm>
            <a:off x="7178040" y="1887583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-ed</a:t>
            </a:r>
            <a:endParaRPr lang="en-US" sz="1150" dirty="0"/>
          </a:p>
        </p:txBody>
      </p:sp>
      <p:sp>
        <p:nvSpPr>
          <p:cNvPr id="23" name="sq_343"/>
          <p:cNvSpPr/>
          <p:nvPr/>
        </p:nvSpPr>
        <p:spPr>
          <a:xfrm>
            <a:off x="3246120" y="2357846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→ took</a:t>
            </a:r>
            <a:endParaRPr lang="en-US" sz="1200" dirty="0"/>
          </a:p>
        </p:txBody>
      </p:sp>
      <p:sp>
        <p:nvSpPr>
          <p:cNvPr id="24" name="R3_tag344"/>
          <p:cNvSpPr/>
          <p:nvPr/>
        </p:nvSpPr>
        <p:spPr>
          <a:xfrm>
            <a:off x="7178040" y="2357846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150" dirty="0"/>
          </a:p>
        </p:txBody>
      </p:sp>
      <p:sp>
        <p:nvSpPr>
          <p:cNvPr id="25" name="sq_345"/>
          <p:cNvSpPr/>
          <p:nvPr/>
        </p:nvSpPr>
        <p:spPr>
          <a:xfrm>
            <a:off x="3246120" y="2828109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want → wanted</a:t>
            </a:r>
            <a:endParaRPr lang="en-US" sz="1200" dirty="0"/>
          </a:p>
        </p:txBody>
      </p:sp>
      <p:sp>
        <p:nvSpPr>
          <p:cNvPr id="26" name="R4_tag346"/>
          <p:cNvSpPr/>
          <p:nvPr/>
        </p:nvSpPr>
        <p:spPr>
          <a:xfrm>
            <a:off x="7178040" y="2828109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-ed</a:t>
            </a:r>
            <a:endParaRPr lang="en-US" sz="1150" dirty="0"/>
          </a:p>
        </p:txBody>
      </p:sp>
      <p:sp>
        <p:nvSpPr>
          <p:cNvPr id="27" name="sq_347"/>
          <p:cNvSpPr/>
          <p:nvPr/>
        </p:nvSpPr>
        <p:spPr>
          <a:xfrm>
            <a:off x="3246120" y="3298371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spend → spent</a:t>
            </a:r>
            <a:endParaRPr lang="en-US" sz="1200" dirty="0"/>
          </a:p>
        </p:txBody>
      </p:sp>
      <p:sp>
        <p:nvSpPr>
          <p:cNvPr id="28" name="R5_tag348"/>
          <p:cNvSpPr/>
          <p:nvPr/>
        </p:nvSpPr>
        <p:spPr>
          <a:xfrm>
            <a:off x="7178040" y="3298371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150" dirty="0"/>
          </a:p>
        </p:txBody>
      </p:sp>
      <p:sp>
        <p:nvSpPr>
          <p:cNvPr id="29" name="sq_349"/>
          <p:cNvSpPr/>
          <p:nvPr/>
        </p:nvSpPr>
        <p:spPr>
          <a:xfrm>
            <a:off x="3246120" y="3768634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→ decided</a:t>
            </a:r>
            <a:endParaRPr lang="en-US" sz="1200" dirty="0"/>
          </a:p>
        </p:txBody>
      </p:sp>
      <p:sp>
        <p:nvSpPr>
          <p:cNvPr id="30" name="R6_tag350"/>
          <p:cNvSpPr/>
          <p:nvPr/>
        </p:nvSpPr>
        <p:spPr>
          <a:xfrm>
            <a:off x="7178040" y="3768634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-ed</a:t>
            </a:r>
            <a:endParaRPr lang="en-US" sz="1150" dirty="0"/>
          </a:p>
        </p:txBody>
      </p:sp>
      <p:sp>
        <p:nvSpPr>
          <p:cNvPr id="31" name="sq_351"/>
          <p:cNvSpPr/>
          <p:nvPr/>
        </p:nvSpPr>
        <p:spPr>
          <a:xfrm>
            <a:off x="3246120" y="4238897"/>
            <a:ext cx="3840480" cy="406255"/>
          </a:xfrm>
          <a:prstGeom prst="roundRect">
            <a:avLst>
              <a:gd name="adj" fmla="val 2250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feel → felt</a:t>
            </a:r>
            <a:endParaRPr lang="en-US" sz="1200" dirty="0"/>
          </a:p>
        </p:txBody>
      </p:sp>
      <p:sp>
        <p:nvSpPr>
          <p:cNvPr id="32" name="R7_tag352"/>
          <p:cNvSpPr/>
          <p:nvPr/>
        </p:nvSpPr>
        <p:spPr>
          <a:xfrm>
            <a:off x="7178040" y="4238897"/>
            <a:ext cx="1691640" cy="406255"/>
          </a:xfrm>
          <a:prstGeom prst="roundRect">
            <a:avLst>
              <a:gd name="adj" fmla="val 5627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150" dirty="0"/>
          </a:p>
        </p:txBody>
      </p:sp>
      <p:sp>
        <p:nvSpPr>
          <p:cNvPr id="33" name="pf_353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354" descr="/home/claude/lls-course/v2/cache/2b2_furious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3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3" name="brY_3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4" name="title_35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past simple</a:t>
            </a:r>
            <a:endParaRPr lang="en-US" sz="2500" dirty="0"/>
          </a:p>
        </p:txBody>
      </p:sp>
      <p:pic>
        <p:nvPicPr>
          <p:cNvPr id="5" name="brP_3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6" name="ins_35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examples. How do we make it?</a:t>
            </a:r>
            <a:endParaRPr lang="en-US" sz="1250" dirty="0"/>
          </a:p>
        </p:txBody>
      </p:sp>
      <p:sp>
        <p:nvSpPr>
          <p:cNvPr id="7" name="insIT_3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gli esempi. Come si forma?</a:t>
            </a:r>
            <a:endParaRPr lang="en-US" sz="950" dirty="0"/>
          </a:p>
        </p:txBody>
      </p:sp>
      <p:sp>
        <p:nvSpPr>
          <p:cNvPr id="8" name="cmd_36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9" name="meta_36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0" name="logo_3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past simple   ·   📖 Grammar Bank 2A p.127</a:t>
            </a:r>
            <a:endParaRPr lang="en-US" sz="800" dirty="0"/>
          </a:p>
        </p:txBody>
      </p:sp>
      <p:sp>
        <p:nvSpPr>
          <p:cNvPr id="13" name="cd_365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366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5" name="pf_367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68" descr="/home/claude/lls-course/v2/cache/2b2_antarctic_tent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369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 -ed · irregular</a:t>
            </a:r>
            <a:endParaRPr lang="en-US" sz="1050" dirty="0"/>
          </a:p>
        </p:txBody>
      </p:sp>
      <p:sp>
        <p:nvSpPr>
          <p:cNvPr id="18" name="R1_rx370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climbed a mountain.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went to the Alps.</a:t>
            </a:r>
            <a:endParaRPr lang="en-US" sz="1050" dirty="0"/>
          </a:p>
        </p:txBody>
      </p:sp>
      <p:sp>
        <p:nvSpPr>
          <p:cNvPr id="19" name="R1_ri371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uguale per tutte le persone!</a:t>
            </a:r>
            <a:endParaRPr lang="en-US" sz="900" dirty="0"/>
          </a:p>
        </p:txBody>
      </p:sp>
      <p:sp>
        <p:nvSpPr>
          <p:cNvPr id="20" name="cd_372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73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2" name="pf_374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75" descr="/home/claude/lls-course/v2/cache/2b2_exhausted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376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didn't + infinitive</a:t>
            </a:r>
            <a:endParaRPr lang="en-US" sz="1050" dirty="0"/>
          </a:p>
        </p:txBody>
      </p:sp>
      <p:sp>
        <p:nvSpPr>
          <p:cNvPr id="25" name="R2_rx377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didn't find my phone.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didn't stay long.</a:t>
            </a:r>
            <a:endParaRPr lang="en-US" sz="1050" dirty="0"/>
          </a:p>
        </p:txBody>
      </p:sp>
      <p:sp>
        <p:nvSpPr>
          <p:cNvPr id="26" name="R2_ri378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didn't found</a:t>
            </a:r>
            <a:endParaRPr lang="en-US" sz="900" dirty="0"/>
          </a:p>
        </p:txBody>
      </p:sp>
      <p:sp>
        <p:nvSpPr>
          <p:cNvPr id="27" name="cd_379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380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29" name="pf_381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382" descr="/home/claude/lls-course/v2/cache/2a2_passport_map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383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Did + person + infinitive</a:t>
            </a:r>
            <a:endParaRPr lang="en-US" sz="1050" dirty="0"/>
          </a:p>
        </p:txBody>
      </p:sp>
      <p:sp>
        <p:nvSpPr>
          <p:cNvPr id="32" name="R3_rx384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go?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have a good time?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did. / No, I didn't.</a:t>
            </a:r>
            <a:endParaRPr lang="en-US" sz="1050" dirty="0"/>
          </a:p>
        </p:txBody>
      </p:sp>
      <p:sp>
        <p:nvSpPr>
          <p:cNvPr id="33" name="R3_ri385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Where you went?</a:t>
            </a:r>
            <a:endParaRPr lang="en-US" sz="900" dirty="0"/>
          </a:p>
        </p:txBody>
      </p:sp>
      <p:sp>
        <p:nvSpPr>
          <p:cNvPr id="34" name="cd_386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387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· can</a:t>
            </a:r>
            <a:endParaRPr lang="en-US" sz="1250" dirty="0"/>
          </a:p>
        </p:txBody>
      </p:sp>
      <p:sp>
        <p:nvSpPr>
          <p:cNvPr id="36" name="pf_388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389" descr="/home/claude/lls-course/v2/cache/2b2_hilarious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390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· could</a:t>
            </a:r>
            <a:endParaRPr lang="en-US" sz="1050" dirty="0"/>
          </a:p>
        </p:txBody>
      </p:sp>
      <p:sp>
        <p:nvSpPr>
          <p:cNvPr id="39" name="R4_rx391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view was amazing.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could see the sea.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couldn't find it.</a:t>
            </a:r>
            <a:endParaRPr lang="en-US" sz="1050" dirty="0"/>
          </a:p>
        </p:txBody>
      </p:sp>
      <p:sp>
        <p:nvSpPr>
          <p:cNvPr id="40" name="R4_ri392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did!</a:t>
            </a:r>
            <a:endParaRPr lang="en-US" sz="900" dirty="0"/>
          </a:p>
        </p:txBody>
      </p:sp>
      <p:sp>
        <p:nvSpPr>
          <p:cNvPr id="41" name="R5_wc393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394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After did / didn't = infinitive:  ✗ Did you went? → ✓ Did you go?   ✗ I didn't took it → ✓ I didn't take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3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3" name="brY_3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4" name="title_397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-ed: /t/, /d/ or /ɪd/?</a:t>
            </a:r>
            <a:endParaRPr lang="en-US" sz="2500" dirty="0"/>
          </a:p>
        </p:txBody>
      </p:sp>
      <p:pic>
        <p:nvPicPr>
          <p:cNvPr id="5" name="brP_3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6" name="ins_399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/t/, /d/ or /ɪd/? Say the verb. Then click.</a:t>
            </a:r>
            <a:endParaRPr lang="en-US" sz="1250" dirty="0"/>
          </a:p>
        </p:txBody>
      </p:sp>
      <p:sp>
        <p:nvSpPr>
          <p:cNvPr id="7" name="insIT_40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/t/, /d/ o /ɪd/? Di' il verbo. Poi clicca.</a:t>
            </a:r>
            <a:endParaRPr lang="en-US" sz="950" dirty="0"/>
          </a:p>
        </p:txBody>
      </p:sp>
      <p:sp>
        <p:nvSpPr>
          <p:cNvPr id="8" name="cmd_40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9" name="meta_40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0" name="logo_4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Pronunciation · -ed endings   ·   📖 SB p.15 · 3 Pronunciation</a:t>
            </a:r>
            <a:endParaRPr lang="en-US" sz="800" dirty="0"/>
          </a:p>
        </p:txBody>
      </p:sp>
      <p:sp>
        <p:nvSpPr>
          <p:cNvPr id="13" name="cd_405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4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-ed sounds</a:t>
            </a:r>
            <a:endParaRPr lang="en-US" sz="1300" dirty="0"/>
          </a:p>
        </p:txBody>
      </p:sp>
      <p:sp>
        <p:nvSpPr>
          <p:cNvPr id="16" name="il_408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40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/t/ looked</a:t>
            </a:r>
            <a:endParaRPr lang="en-US" sz="1050" dirty="0"/>
          </a:p>
        </p:txBody>
      </p:sp>
      <p:sp>
        <p:nvSpPr>
          <p:cNvPr id="18" name="lg_41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/d/ stayed</a:t>
            </a:r>
            <a:endParaRPr lang="en-US" sz="1050" dirty="0"/>
          </a:p>
        </p:txBody>
      </p:sp>
      <p:sp>
        <p:nvSpPr>
          <p:cNvPr id="19" name="lg_411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/ɪd/ wanted</a:t>
            </a:r>
            <a:endParaRPr lang="en-US" sz="1050" dirty="0"/>
          </a:p>
        </p:txBody>
      </p:sp>
      <p:sp>
        <p:nvSpPr>
          <p:cNvPr id="20" name="sq_412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climbed</a:t>
            </a:r>
            <a:endParaRPr lang="en-US" sz="1200" dirty="0"/>
          </a:p>
        </p:txBody>
      </p:sp>
      <p:sp>
        <p:nvSpPr>
          <p:cNvPr id="21" name="R1_tag413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/d/ stayed</a:t>
            </a:r>
            <a:endParaRPr lang="en-US" sz="1150" dirty="0"/>
          </a:p>
        </p:txBody>
      </p:sp>
      <p:sp>
        <p:nvSpPr>
          <p:cNvPr id="22" name="sq_414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walked</a:t>
            </a:r>
            <a:endParaRPr lang="en-US" sz="1200" dirty="0"/>
          </a:p>
        </p:txBody>
      </p:sp>
      <p:sp>
        <p:nvSpPr>
          <p:cNvPr id="23" name="R2_tag415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/t/ looked</a:t>
            </a:r>
            <a:endParaRPr lang="en-US" sz="1150" dirty="0"/>
          </a:p>
        </p:txBody>
      </p:sp>
      <p:sp>
        <p:nvSpPr>
          <p:cNvPr id="24" name="sq_416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</a:t>
            </a:r>
            <a:endParaRPr lang="en-US" sz="1200" dirty="0"/>
          </a:p>
        </p:txBody>
      </p:sp>
      <p:sp>
        <p:nvSpPr>
          <p:cNvPr id="25" name="R3_tag417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/ɪd/ wanted</a:t>
            </a:r>
            <a:endParaRPr lang="en-US" sz="1150" dirty="0"/>
          </a:p>
        </p:txBody>
      </p:sp>
      <p:sp>
        <p:nvSpPr>
          <p:cNvPr id="26" name="sq_418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booked</a:t>
            </a:r>
            <a:endParaRPr lang="en-US" sz="1200" dirty="0"/>
          </a:p>
        </p:txBody>
      </p:sp>
      <p:sp>
        <p:nvSpPr>
          <p:cNvPr id="27" name="R4_tag419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/t/ looked</a:t>
            </a:r>
            <a:endParaRPr lang="en-US" sz="1150" dirty="0"/>
          </a:p>
        </p:txBody>
      </p:sp>
      <p:sp>
        <p:nvSpPr>
          <p:cNvPr id="28" name="sq_420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arrived</a:t>
            </a:r>
            <a:endParaRPr lang="en-US" sz="1200" dirty="0"/>
          </a:p>
        </p:txBody>
      </p:sp>
      <p:sp>
        <p:nvSpPr>
          <p:cNvPr id="29" name="R5_tag421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/d/ stayed</a:t>
            </a:r>
            <a:endParaRPr lang="en-US" sz="1150" dirty="0"/>
          </a:p>
        </p:txBody>
      </p:sp>
      <p:sp>
        <p:nvSpPr>
          <p:cNvPr id="30" name="sq_422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endParaRPr lang="en-US" sz="1200" dirty="0"/>
          </a:p>
        </p:txBody>
      </p:sp>
      <p:sp>
        <p:nvSpPr>
          <p:cNvPr id="31" name="R6_tag423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/ɪd/ wanted</a:t>
            </a:r>
            <a:endParaRPr lang="en-US" sz="1150" dirty="0"/>
          </a:p>
        </p:txBody>
      </p:sp>
      <p:sp>
        <p:nvSpPr>
          <p:cNvPr id="32" name="sq_424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</a:t>
            </a:r>
            <a:endParaRPr lang="en-US" sz="1200" dirty="0"/>
          </a:p>
        </p:txBody>
      </p:sp>
      <p:sp>
        <p:nvSpPr>
          <p:cNvPr id="33" name="R7_tag425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/t/ looked</a:t>
            </a:r>
            <a:endParaRPr lang="en-US" sz="1150" dirty="0"/>
          </a:p>
        </p:txBody>
      </p:sp>
      <p:sp>
        <p:nvSpPr>
          <p:cNvPr id="34" name="sq_426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rented</a:t>
            </a:r>
            <a:endParaRPr lang="en-US" sz="1200" dirty="0"/>
          </a:p>
        </p:txBody>
      </p:sp>
      <p:sp>
        <p:nvSpPr>
          <p:cNvPr id="35" name="R8_tag427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/ɪd/ wanted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3" name="brY_4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4" name="title_43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the question!</a:t>
            </a:r>
            <a:endParaRPr lang="en-US" sz="2500" dirty="0"/>
          </a:p>
        </p:txBody>
      </p:sp>
      <p:pic>
        <p:nvPicPr>
          <p:cNvPr id="5" name="brP_4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6" name="ins_432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question! Then ask your teacher.</a:t>
            </a:r>
            <a:endParaRPr lang="en-US" sz="1250" dirty="0"/>
          </a:p>
        </p:txBody>
      </p:sp>
      <p:sp>
        <p:nvSpPr>
          <p:cNvPr id="7" name="insIT_4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la domanda! Poi chiedi all'insegnante.</a:t>
            </a:r>
            <a:endParaRPr lang="en-US" sz="950" dirty="0"/>
          </a:p>
        </p:txBody>
      </p:sp>
      <p:sp>
        <p:nvSpPr>
          <p:cNvPr id="8" name="cmd_43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9" name="meta_43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0" name="logo_4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game</a:t>
            </a:r>
            <a:endParaRPr lang="en-US" sz="800" dirty="0"/>
          </a:p>
        </p:txBody>
      </p:sp>
      <p:sp>
        <p:nvSpPr>
          <p:cNvPr id="13" name="cd_43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4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44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past simple question.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 Ask the teacher!</a:t>
            </a:r>
            <a:endParaRPr lang="en-US" sz="1150" dirty="0"/>
          </a:p>
        </p:txBody>
      </p:sp>
      <p:sp>
        <p:nvSpPr>
          <p:cNvPr id="17" name="st_44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44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44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/ go / last summer?</a:t>
            </a:r>
            <a:endParaRPr lang="en-US" sz="1100" dirty="0"/>
          </a:p>
        </p:txBody>
      </p:sp>
      <p:sp>
        <p:nvSpPr>
          <p:cNvPr id="20" name="R1_chip44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did you go last summer?</a:t>
            </a:r>
            <a:endParaRPr lang="en-US" sz="1100" dirty="0"/>
          </a:p>
        </p:txBody>
      </p:sp>
      <p:sp>
        <p:nvSpPr>
          <p:cNvPr id="21" name="bd_44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44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/ get there?</a:t>
            </a:r>
            <a:endParaRPr lang="en-US" sz="1100" dirty="0"/>
          </a:p>
        </p:txBody>
      </p:sp>
      <p:sp>
        <p:nvSpPr>
          <p:cNvPr id="23" name="R2_chip44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did you get there?</a:t>
            </a:r>
            <a:endParaRPr lang="en-US" sz="1100" dirty="0"/>
          </a:p>
        </p:txBody>
      </p:sp>
      <p:sp>
        <p:nvSpPr>
          <p:cNvPr id="24" name="bd_44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45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/ stay?</a:t>
            </a:r>
            <a:endParaRPr lang="en-US" sz="1100" dirty="0"/>
          </a:p>
        </p:txBody>
      </p:sp>
      <p:sp>
        <p:nvSpPr>
          <p:cNvPr id="26" name="R3_chip45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did you stay?</a:t>
            </a:r>
            <a:endParaRPr lang="en-US" sz="1100" dirty="0"/>
          </a:p>
        </p:txBody>
      </p:sp>
      <p:sp>
        <p:nvSpPr>
          <p:cNvPr id="27" name="bd_45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45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/ do there?</a:t>
            </a:r>
            <a:endParaRPr lang="en-US" sz="1100" dirty="0"/>
          </a:p>
        </p:txBody>
      </p:sp>
      <p:sp>
        <p:nvSpPr>
          <p:cNvPr id="29" name="R4_chip45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you do there?</a:t>
            </a:r>
            <a:endParaRPr lang="en-US" sz="1100" dirty="0"/>
          </a:p>
        </p:txBody>
      </p:sp>
      <p:sp>
        <p:nvSpPr>
          <p:cNvPr id="30" name="bd_45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45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/ weather / like?</a:t>
            </a:r>
            <a:endParaRPr lang="en-US" sz="1100" dirty="0"/>
          </a:p>
        </p:txBody>
      </p:sp>
      <p:sp>
        <p:nvSpPr>
          <p:cNvPr id="32" name="R5_chip45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was the weather like?</a:t>
            </a:r>
            <a:endParaRPr lang="en-US" sz="1100" dirty="0"/>
          </a:p>
        </p:txBody>
      </p:sp>
      <p:sp>
        <p:nvSpPr>
          <p:cNvPr id="33" name="bd_45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45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/ a good time?</a:t>
            </a:r>
            <a:endParaRPr lang="en-US" sz="1100" dirty="0"/>
          </a:p>
        </p:txBody>
      </p:sp>
      <p:sp>
        <p:nvSpPr>
          <p:cNvPr id="35" name="R6_chip46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 you have a good time?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3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4" name="title_463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 your last holiday!</a:t>
            </a:r>
            <a:endParaRPr lang="en-US" sz="2500" dirty="0"/>
          </a:p>
        </p:txBody>
      </p:sp>
      <p:pic>
        <p:nvPicPr>
          <p:cNvPr id="5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6" name="ins_465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about your partner's last holiday.</a:t>
            </a:r>
            <a:endParaRPr lang="en-US" sz="1250" dirty="0"/>
          </a:p>
        </p:txBody>
      </p:sp>
      <p:sp>
        <p:nvSpPr>
          <p:cNvPr id="7" name="insIT_4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 della sua ultima vacanza.</a:t>
            </a:r>
            <a:endParaRPr lang="en-US" sz="950" dirty="0"/>
          </a:p>
        </p:txBody>
      </p:sp>
      <p:sp>
        <p:nvSpPr>
          <p:cNvPr id="8" name="cmd_46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9" name="meta_46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pic>
        <p:nvPicPr>
          <p:cNvPr id="10" name="logo_4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Speaking · your last holiday   ·   📖 SB p.15 · 5 Speaking</a:t>
            </a:r>
            <a:endParaRPr lang="en-US" sz="800" dirty="0"/>
          </a:p>
        </p:txBody>
      </p:sp>
      <p:sp>
        <p:nvSpPr>
          <p:cNvPr id="13" name="pf_47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72" descr="/home/claude/lls-course/v2/cache/1b1_holida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47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7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47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47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· How was it?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sounds great! · Oh no!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then what happened?</a:t>
            </a:r>
            <a:endParaRPr lang="en-US" sz="1050" dirty="0"/>
          </a:p>
        </p:txBody>
      </p:sp>
      <p:sp>
        <p:nvSpPr>
          <p:cNvPr id="19" name="R1_qb47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47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go last summer?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went to Cefalù with my family.</a:t>
            </a:r>
            <a:endParaRPr lang="en-US" sz="1250" dirty="0"/>
          </a:p>
        </p:txBody>
      </p:sp>
      <p:sp>
        <p:nvSpPr>
          <p:cNvPr id="21" name="R2_qb47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48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you get there? Where did you stay?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We went by car and we rented an apartment.</a:t>
            </a:r>
            <a:endParaRPr lang="en-US" sz="1250" dirty="0"/>
          </a:p>
        </p:txBody>
      </p:sp>
      <p:sp>
        <p:nvSpPr>
          <p:cNvPr id="23" name="R3_qb48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48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do there?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We sunbathed, went swimming and ate a lot of arancine!</a:t>
            </a:r>
            <a:endParaRPr lang="en-US" sz="1250" dirty="0"/>
          </a:p>
        </p:txBody>
      </p:sp>
      <p:sp>
        <p:nvSpPr>
          <p:cNvPr id="25" name="R4_qb48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48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was the weather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It was really hot – 38 degrees!</a:t>
            </a:r>
            <a:endParaRPr lang="en-US" sz="1250" dirty="0"/>
          </a:p>
        </p:txBody>
      </p:sp>
      <p:sp>
        <p:nvSpPr>
          <p:cNvPr id="27" name="R5_qb48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486"/>
          <p:cNvSpPr/>
          <p:nvPr/>
        </p:nvSpPr>
        <p:spPr>
          <a:xfrm>
            <a:off x="3675888" y="364236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anything go wrong?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I lost my sunglasses on the first day.</a:t>
            </a:r>
            <a:endParaRPr lang="en-US" sz="1250" dirty="0"/>
          </a:p>
        </p:txBody>
      </p:sp>
      <p:pic>
        <p:nvPicPr>
          <p:cNvPr id="29" name="R5_th487" descr="/home/claude/lls-course/v2/cache/2b2_worst_trip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660648"/>
            <a:ext cx="640080" cy="446532"/>
          </a:xfrm>
          <a:prstGeom prst="rect">
            <a:avLst/>
          </a:prstGeom>
        </p:spPr>
      </p:pic>
      <p:sp>
        <p:nvSpPr>
          <p:cNvPr id="30" name="R6_qb488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89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have a good time?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did. It was fantastic!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3" name="brY_4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4" name="title_49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5" name="brP_4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6" name="ins_494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7" name="insIT_4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8" name="meta_496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9" name="logo_4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0" name="foot_4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Exit · what can you remember?</a:t>
            </a:r>
            <a:endParaRPr lang="en-US" sz="800" dirty="0"/>
          </a:p>
        </p:txBody>
      </p:sp>
      <p:sp>
        <p:nvSpPr>
          <p:cNvPr id="12" name="bd_49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0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 phrases (go…, stay…, hire…)</a:t>
            </a:r>
            <a:endParaRPr lang="en-US" sz="1400" dirty="0"/>
          </a:p>
        </p:txBody>
      </p:sp>
      <p:sp>
        <p:nvSpPr>
          <p:cNvPr id="14" name="bd_50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0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 verbs from Stuart's story</a:t>
            </a:r>
            <a:endParaRPr lang="en-US" sz="1400" dirty="0"/>
          </a:p>
        </p:txBody>
      </p:sp>
      <p:sp>
        <p:nvSpPr>
          <p:cNvPr id="16" name="bd_50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0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 for your teacher about the weekend: "Did you…?"</a:t>
            </a:r>
            <a:endParaRPr lang="en-US" sz="1400" dirty="0"/>
          </a:p>
        </p:txBody>
      </p:sp>
      <p:sp>
        <p:nvSpPr>
          <p:cNvPr id="18" name="cd_50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0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0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0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 (teacher's choice)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60–80 words: My last holiday (past simple!)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10 irregular verbs (list at the back of the book)</a:t>
            </a:r>
            <a:endParaRPr lang="en-US" sz="1150" dirty="0"/>
          </a:p>
        </p:txBody>
      </p:sp>
      <p:sp>
        <p:nvSpPr>
          <p:cNvPr id="22" name="st_50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· That's me in the picture! · past continuous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 OMG! Where's my passport?</dc:title>
  <dc:subject>PptxGenJS Presentation</dc:subject>
  <dc:creator>PptxGenJS</dc:creator>
  <cp:lastModifiedBy>PptxGenJS</cp:lastModifiedBy>
  <cp:revision>1</cp:revision>
  <dcterms:created xsi:type="dcterms:W3CDTF">2026-10-08T12:07:03Z</dcterms:created>
  <dcterms:modified xsi:type="dcterms:W3CDTF">2026-10-08T12:07:03Z</dcterms:modified>
</cp:coreProperties>
</file>