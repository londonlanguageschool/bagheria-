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ONE click shows all.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(3 min)
GAME (4 min). Teams write each question (20 seconds), click to show the model. Point for a correct question; +1 bonus if the team then ASKS you and you answer (tell a short true story about your last holiday – students love it). These are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audio" Target="../media/media-19-9.mp3"/><Relationship Id="rId10" Type="http://schemas.microsoft.com/office/2007/relationships/media" Target="../media/media-19-9.mp3"/><Relationship Id="rId11" Type="http://schemas.openxmlformats.org/officeDocument/2006/relationships/image" Target="../media/image-19-11.png"/><Relationship Id="rId12" Type="http://schemas.openxmlformats.org/officeDocument/2006/relationships/audio" Target="../media/media-19-12.mp3"/><Relationship Id="rId13" Type="http://schemas.microsoft.com/office/2007/relationships/media" Target="../media/media-19-12.mp3"/><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3"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4"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5"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6"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7"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250" dirty="0"/>
          </a:p>
        </p:txBody>
      </p:sp>
      <p:sp>
        <p:nvSpPr>
          <p:cNvPr id="8"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9"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1"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holidays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and listen to two holiday disasters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past simple: regular and irregular verbs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-ed endings: /t/ /d/ /ɪd/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tell a partner about your last holiday</a:t>
            </a:r>
            <a:endParaRPr lang="en-US" sz="1250" dirty="0"/>
          </a:p>
        </p:txBody>
      </p:sp>
      <p:sp>
        <p:nvSpPr>
          <p:cNvPr id="12"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3"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5"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6"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7"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3"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5"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6"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7"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8"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9"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1C: clothes and photos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continuous · prepositions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7" name="w_41"/>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8" name="w_42"/>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29" name="w_43"/>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0" name="w_44"/>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2" name="w_46"/>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3" name="w_47"/>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3" name="brY_4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5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Photo memory!</a:t>
            </a:r>
            <a:endParaRPr lang="en-US" sz="2500" dirty="0"/>
          </a:p>
        </p:txBody>
      </p:sp>
      <p:pic>
        <p:nvPicPr>
          <p:cNvPr id="5"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7"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Senza guardare! Rispondi a memoria.</a:t>
            </a:r>
            <a:endParaRPr lang="en-US" sz="950" dirty="0"/>
          </a:p>
        </p:txBody>
      </p:sp>
      <p:sp>
        <p:nvSpPr>
          <p:cNvPr id="8"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0"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Warmer · last lesson   ·   📖 Recycles 1C</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Remember last lesson's photos.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answer in full sentences.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answer + right grammar = 1 point.</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woman on the left: what's she wearing?</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3" name="brY_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4" name="title_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5" name="brP_8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6" name="ins_8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7"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espressioni. Poi clicca.</a:t>
            </a:r>
            <a:endParaRPr lang="en-US" sz="950" dirty="0"/>
          </a:p>
        </p:txBody>
      </p:sp>
      <p:sp>
        <p:nvSpPr>
          <p:cNvPr id="8" name="cmd_8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cmd_8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9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holidays   ·   📖 VB p.152 · Holidays 1</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___ camping  →  go camping</a:t>
            </a:r>
            <a:endParaRPr lang="en-US" sz="1050" dirty="0"/>
          </a:p>
        </p:txBody>
      </p:sp>
      <p:sp>
        <p:nvSpPr>
          <p:cNvPr id="18" name="pf_97"/>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0" name="ap_99"/>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1" name="ah_100"/>
          <p:cNvSpPr/>
          <p:nvPr/>
        </p:nvSpPr>
        <p:spPr>
          <a:xfrm>
            <a:off x="648309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7470648" y="4553712"/>
            <a:ext cx="411480" cy="411480"/>
          </a:xfrm>
          <a:prstGeom prst="rect">
            <a:avLst/>
          </a:prstGeom>
        </p:spPr>
      </p:pic>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7973568" y="4553712"/>
            <a:ext cx="411480" cy="411480"/>
          </a:xfrm>
          <a:prstGeom prst="rect">
            <a:avLst/>
          </a:prstGeom>
        </p:spPr>
      </p:pic>
      <p:sp>
        <p:nvSpPr>
          <p:cNvPr id="24"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26"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27"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150" dirty="0"/>
          </a:p>
        </p:txBody>
      </p:sp>
      <p:sp>
        <p:nvSpPr>
          <p:cNvPr id="29"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0"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150" dirty="0"/>
          </a:p>
        </p:txBody>
      </p:sp>
      <p:sp>
        <p:nvSpPr>
          <p:cNvPr id="32"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3"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5"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36"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7"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38"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39"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0"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1"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2"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3"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4"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5"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6"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47"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4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8"/>
                                        </p:tgtEl>
                                      </p:cBhvr>
                                    </p:cmd>
                                  </p:childTnLst>
                                </p:cTn>
                              </p:par>
                            </p:childTnLst>
                          </p:cTn>
                        </p:par>
                      </p:childTnLst>
                    </p:cTn>
                  </p:par>
                </p:childTnLst>
              </p:cTn>
              <p:nextCondLst>
                <p:cond evt="onClick" delay="0">
                  <p:tgtEl>
                    <p:spTgt spid="8"/>
                  </p:tgtEl>
                </p:cond>
              </p:nextCondLst>
            </p:seq>
            <p:seq concurrent="1" nextAc="seek">
              <p:cTn id="48" restart="whenNotActive" fill="hold" evtFilter="cancelBubble" nodeType="interactiveSeq">
                <p:stCondLst>
                  <p:cond evt="onClick" delay="0">
                    <p:tgtEl>
                      <p:spTgt spid="1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1"/>
                                        </p:tgtEl>
                                      </p:cBhvr>
                                    </p:cmd>
                                  </p:childTnLst>
                                </p:cTn>
                              </p:par>
                            </p:childTnLst>
                          </p:cTn>
                        </p:par>
                      </p:childTnLst>
                    </p:cTn>
                  </p:par>
                </p:childTnLst>
              </p:cTn>
              <p:nextCondLst>
                <p:cond evt="onClick" delay="0">
                  <p:tgtEl>
                    <p:spTgt spid="11"/>
                  </p:tgtEl>
                </p:cond>
              </p:nextCondLst>
            </p:seq>
            <p:audio>
              <p:cMediaNode vol="80000">
                <p:cTn id="53" fill="hold" display="0">
                  <p:stCondLst>
                    <p:cond delay="indefinite"/>
                  </p:stCondLst>
                  <p:endCondLst>
                    <p:cond evt="onStopAudio" delay="0">
                      <p:tgtEl>
                        <p:sldTgt/>
                      </p:tgtEl>
                    </p:cond>
                  </p:endCondLst>
                </p:cTn>
                <p:tgtEl>
                  <p:spTgt spid="8"/>
                </p:tgtEl>
              </p:cMediaNode>
            </p:audio>
            <p:audio>
              <p:cMediaNode vol="80000">
                <p:cTn id="54" fill="hold" display="0">
                  <p:stCondLst>
                    <p:cond delay="indefinite"/>
                  </p:stCondLst>
                  <p:endCondLst>
                    <p:cond evt="onStopAudio" delay="0">
                      <p:tgtEl>
                        <p:sldTgt/>
                      </p:tgtEl>
                    </p:cond>
                  </p:endCondLst>
                </p:cTn>
                <p:tgtEl>
                  <p:spTgt spid="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3" name="brY_12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12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5" name="brP_12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12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7"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8" name="cmd_13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9" name="meta_13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0"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Italian   ·   📖 VB p.152 · Holidays</a:t>
            </a:r>
            <a:endParaRPr lang="en-US" sz="800" dirty="0"/>
          </a:p>
        </p:txBody>
      </p:sp>
      <p:sp>
        <p:nvSpPr>
          <p:cNvPr id="13" name="cd_1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6" name="R1_it1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7" name="cd_1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0" name="R1_it1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un giro turistico</a:t>
            </a:r>
            <a:endParaRPr lang="en-US" sz="1000" dirty="0"/>
          </a:p>
        </p:txBody>
      </p:sp>
      <p:sp>
        <p:nvSpPr>
          <p:cNvPr id="21" name="cd_1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4" name="R1_it1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5" name="cd_1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200" dirty="0"/>
          </a:p>
        </p:txBody>
      </p:sp>
      <p:sp>
        <p:nvSpPr>
          <p:cNvPr id="28" name="R1_it1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29" name="cd_1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2" name="R1_it1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3" name="cd_1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6" name="R1_it1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7" name="cd_1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0" name="R1_it1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1" name="cd_1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4" name="R1_it1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5" name="cd_1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8" name="R1_it1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49" name="cd_1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2" name="R1_it1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3" name="cd_1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6" name="R1_it1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7" name="cd_1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0" name="R1_it1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1" name="R1_wc1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3" name="brY_18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18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5" name="brP_18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18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7" name="insIT_1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E tu?</a:t>
            </a:r>
            <a:endParaRPr lang="en-US" sz="950" dirty="0"/>
          </a:p>
        </p:txBody>
      </p:sp>
      <p:sp>
        <p:nvSpPr>
          <p:cNvPr id="8" name="cmd_19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1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0"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holidays   ·   📖 VB p.152 · practice</a:t>
            </a:r>
            <a:endParaRPr lang="en-US" sz="800" dirty="0"/>
          </a:p>
        </p:txBody>
      </p:sp>
      <p:sp>
        <p:nvSpPr>
          <p:cNvPr id="13" name="pf_1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96"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1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0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prefer…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never… · I usually…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And you?</a:t>
            </a:r>
            <a:endParaRPr lang="en-US" sz="1050" dirty="0"/>
          </a:p>
        </p:txBody>
      </p:sp>
      <p:sp>
        <p:nvSpPr>
          <p:cNvPr id="19" name="R1_qb2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stay in Sicily – I love the beaches here.</a:t>
            </a:r>
            <a:endParaRPr lang="en-US" sz="1250" dirty="0"/>
          </a:p>
        </p:txBody>
      </p:sp>
      <p:sp>
        <p:nvSpPr>
          <p:cNvPr id="21" name="R2_qb2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 apartment – it's cheaper and more comfortable.</a:t>
            </a:r>
            <a:endParaRPr lang="en-US" sz="1250" dirty="0"/>
          </a:p>
        </p:txBody>
      </p:sp>
      <p:sp>
        <p:nvSpPr>
          <p:cNvPr id="23" name="R3_qb2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hundreds! My family hates it.</a:t>
            </a:r>
            <a:endParaRPr lang="en-US" sz="1250" dirty="0"/>
          </a:p>
        </p:txBody>
      </p:sp>
      <p:sp>
        <p:nvSpPr>
          <p:cNvPr id="25" name="R4_qb2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20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For who?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Only magnets for my fridge!</a:t>
            </a:r>
            <a:endParaRPr lang="en-US" sz="1250" dirty="0"/>
          </a:p>
        </p:txBody>
      </p:sp>
      <p:sp>
        <p:nvSpPr>
          <p:cNvPr id="27" name="R5_qb20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210"/>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Crowded beaches and noisy hotels!</a:t>
            </a:r>
            <a:endParaRPr lang="en-US" sz="1250" dirty="0"/>
          </a:p>
        </p:txBody>
      </p:sp>
      <p:pic>
        <p:nvPicPr>
          <p:cNvPr id="29" name="R5_th211"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1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3" name="brY_21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21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500" dirty="0"/>
          </a:p>
        </p:txBody>
      </p:sp>
      <p:pic>
        <p:nvPicPr>
          <p:cNvPr id="5" name="brP_2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6" name="ins_2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7" name="insIT_2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la storia da 6 parole!</a:t>
            </a:r>
            <a:endParaRPr lang="en-US" sz="950" dirty="0"/>
          </a:p>
        </p:txBody>
      </p:sp>
      <p:sp>
        <p:nvSpPr>
          <p:cNvPr id="8" name="cmd_21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1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0" name="meta_22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prediction   ·   📖 SB p.14 · 1</a:t>
            </a:r>
            <a:endParaRPr lang="en-US" sz="800" dirty="0"/>
          </a:p>
        </p:txBody>
      </p:sp>
      <p:sp>
        <p:nvSpPr>
          <p:cNvPr id="14" name="cd_22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22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6" name="nx_225"/>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7" name="sf_22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8" name="nbl_22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19" name="bd_228"/>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0" name="bd_229"/>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1" name="bd_230"/>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2" name="bd_231"/>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3" name="bd_232"/>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4" name="bd_233"/>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5" name="pf_23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5"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3" name="brY_2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2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5" name="brP_23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24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7"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8" name="cmd_24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4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4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4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48"/>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6" name="ln_24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7" name="R1_lnA25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ln_25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19" name="R2_lnA25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ln_25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1" name="R3_lnA25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ln_25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3" name="R4_lnA25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ln_25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5" name="R5_lnA258"/>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pf_25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60"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26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6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6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regular: + -ed (climbed)</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irregular: learn them! (go → went)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6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3" name="brY_26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26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5" name="brP_26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26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7" name="insIT_2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8" name="cmd_27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72"/>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7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77"/>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6" name="ln_27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7" name="R1_lnA27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ln_28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19" name="R2_lnA28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ln_28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1" name="ln_2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2" name="R3_lnA2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ln_28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4" name="R4_lnA28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pf_28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8" descr="/home/claude/lls-course/v2/cache/2b2_hilariou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8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9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let → let (same!)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3"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5" name="brP_29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29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7"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Marta. Rispondi alle 2 domande.</a:t>
            </a:r>
            <a:endParaRPr lang="en-US" sz="950" dirty="0"/>
          </a:p>
        </p:txBody>
      </p:sp>
      <p:sp>
        <p:nvSpPr>
          <p:cNvPr id="8" name="cmd_29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Marta's story   ·   📖 SB p.14 · 1d · audio 2.1 (script SB p.120)</a:t>
            </a:r>
            <a:endParaRPr lang="en-US" sz="800" dirty="0"/>
          </a:p>
        </p:txBody>
      </p:sp>
      <p:sp>
        <p:nvSpPr>
          <p:cNvPr id="13" name="ap_30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4" name="ah_30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30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30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07" descr="/home/claude/lls-course/v2/cache/2a2_passport_map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30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30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10" descr="/home/claude/lls-course/v2/cache/2b2_worst_trip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31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31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31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31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315"/>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to Marta's holiday story.</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did she lose? Did she find it?</a:t>
            </a:r>
            <a:endParaRPr lang="en-US" sz="1100" dirty="0"/>
          </a:p>
        </p:txBody>
      </p:sp>
      <p:sp>
        <p:nvSpPr>
          <p:cNvPr id="27" name="lq_31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28" name="R1_chip31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29" name="lq_31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0" name="R2_chip31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7"/>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7"/>
                                        </p:tgtEl>
                                      </p:cBhvr>
                                    </p:cmd>
                                  </p:childTnLst>
                                </p:cTn>
                              </p:par>
                            </p:childTnLst>
                          </p:cTn>
                        </p:par>
                      </p:childTnLst>
                    </p:cTn>
                  </p:par>
                </p:childTnLst>
              </p:cTn>
              <p:nextCondLst>
                <p:cond evt="onClick" delay="0">
                  <p:tgtEl>
                    <p:spTgt spid="7"/>
                  </p:tgtEl>
                </p:cond>
              </p:nextCondLst>
            </p:seq>
            <p:audio>
              <p:cMediaNode vol="80000">
                <p:cTn id="18" fill="hold" display="0">
                  <p:stCondLst>
                    <p:cond delay="indefinite"/>
                  </p:stCondLst>
                  <p:endCondLst>
                    <p:cond evt="onStopAudio" delay="0">
                      <p:tgtEl>
                        <p:sldTgt/>
                      </p:tgtEl>
                    </p:cond>
                  </p:endCondLst>
                </p:cTn>
                <p:tgtEl>
                  <p:spTgt spid="7"/>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3" name="brY_3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3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5" name="brP_32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32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7"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Rispondi alle domande 1–7.</a:t>
            </a:r>
            <a:endParaRPr lang="en-US" sz="950" dirty="0"/>
          </a:p>
        </p:txBody>
      </p:sp>
      <p:sp>
        <p:nvSpPr>
          <p:cNvPr id="8" name="cmd_32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cmd_32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32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p.14 · 1e · audio 2.1</a:t>
            </a:r>
            <a:endParaRPr lang="en-US" sz="800" dirty="0"/>
          </a:p>
        </p:txBody>
      </p:sp>
      <p:sp>
        <p:nvSpPr>
          <p:cNvPr id="14" name="ap_3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5" name="ah_33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4" descr="/home/claude/lls-course/v2/cache/2b2_worst_trip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3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4" name="R1_chip34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5" name="gq_34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6" name="R2_chip34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7" name="gq_34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28" name="R3_chip34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29" name="gq_34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0" name="R4_chip34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1" name="gq_34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2" name="R5_chip34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3" name="gq_34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4" name="R6_chip35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5" name="gq_35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6" name="R7_chip35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7"/>
                                        </p:tgtEl>
                                      </p:cBhvr>
                                    </p:cmd>
                                  </p:childTnLst>
                                </p:cTn>
                              </p:par>
                            </p:childTnLst>
                          </p:cTn>
                        </p:par>
                      </p:childTnLst>
                    </p:cTn>
                  </p:par>
                </p:childTnLst>
              </p:cTn>
              <p:nextCondLst>
                <p:cond evt="onClick" delay="0">
                  <p:tgtEl>
                    <p:spTgt spid="7"/>
                  </p:tgtEl>
                </p:cond>
              </p:nextCondLst>
            </p:seq>
            <p:audio>
              <p:cMediaNode vol="80000">
                <p:cTn id="43" fill="hold" display="0">
                  <p:stCondLst>
                    <p:cond delay="indefinite"/>
                  </p:stCondLst>
                  <p:endCondLst>
                    <p:cond evt="onStopAudio" delay="0">
                      <p:tgtEl>
                        <p:sldTgt/>
                      </p:tgtEl>
                    </p:cond>
                  </p:endCondLst>
                </p:cTn>
                <p:tgtEl>
                  <p:spTgt spid="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3" name="brY_35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35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5" name="brP_35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35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7"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Regolare o irregolare? Abbina il colore.</a:t>
            </a:r>
            <a:endParaRPr lang="en-US" sz="950" dirty="0"/>
          </a:p>
        </p:txBody>
      </p:sp>
      <p:sp>
        <p:nvSpPr>
          <p:cNvPr id="8" name="cmd_35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9"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0"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noticing   ·   📖 SB p.15 · 2</a:t>
            </a:r>
            <a:endParaRPr lang="en-US" sz="800" dirty="0"/>
          </a:p>
        </p:txBody>
      </p:sp>
      <p:sp>
        <p:nvSpPr>
          <p:cNvPr id="13" name="cd_363"/>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6" name="il_366"/>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67"/>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8" name="lg_368"/>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19" name="sq_369"/>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0" name="R1_tag370"/>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1" name="sq_371"/>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2" name="R2_tag372"/>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3" name="sq_373"/>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4" name="R3_tag374"/>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5" name="sq_375"/>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6" name="R4_tag376"/>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7" name="sq_377"/>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8" name="R5_tag378"/>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9" name="sq_379"/>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0" name="R6_tag380"/>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1" name="sq_381"/>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2" name="R7_tag382"/>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3" name="pf_3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84" descr="/home/claude/lls-course/v2/cache/2b2_furiou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3" name="brY_38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4" name="title_38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5" name="brP_388"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6" name="ins_389"/>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7"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forma?</a:t>
            </a:r>
            <a:endParaRPr lang="en-US" sz="950" dirty="0"/>
          </a:p>
        </p:txBody>
      </p:sp>
      <p:sp>
        <p:nvSpPr>
          <p:cNvPr id="8" name="cmd_39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3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0" name="logo_3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past simple   ·   📖 Grammar Bank 2A p.128 · audio 2.2</a:t>
            </a:r>
            <a:endParaRPr lang="en-US" sz="800" dirty="0"/>
          </a:p>
        </p:txBody>
      </p:sp>
      <p:sp>
        <p:nvSpPr>
          <p:cNvPr id="13" name="ap_395"/>
          <p:cNvSpPr/>
          <p:nvPr/>
        </p:nvSpPr>
        <p:spPr>
          <a:xfrm>
            <a:off x="4526280" y="786384"/>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4" name="ah_39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cd_39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7" name="rh_39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8" name="pf_39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0" descr="/home/claude/lls-course/v2/cache/2b2_antarctic_tent_jpg_415x209_31.png">    </p:cNvPr>
          <p:cNvPicPr>
            <a:picLocks noChangeAspect="1"/>
          </p:cNvPicPr>
          <p:nvPr/>
        </p:nvPicPr>
        <p:blipFill>
          <a:blip r:embed="rId8"/>
          <a:stretch>
            <a:fillRect/>
          </a:stretch>
        </p:blipFill>
        <p:spPr>
          <a:xfrm>
            <a:off x="475488" y="1984248"/>
            <a:ext cx="1723644" cy="868680"/>
          </a:xfrm>
          <a:prstGeom prst="rect">
            <a:avLst/>
          </a:prstGeom>
        </p:spPr>
      </p:pic>
      <p:sp>
        <p:nvSpPr>
          <p:cNvPr id="20" name="ru_40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1" name="R1_rx40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2" name="R1_ri40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uguale per tutte le persone!</a:t>
            </a:r>
            <a:endParaRPr lang="en-US" sz="900" dirty="0"/>
          </a:p>
        </p:txBody>
      </p:sp>
      <p:sp>
        <p:nvSpPr>
          <p:cNvPr id="23" name="cd_40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40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5" name="pf_40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07" descr="/home/claude/lls-course/v2/cache/2b2_exhausted_jpg_415x209_31.png">    </p:cNvPr>
          <p:cNvPicPr>
            <a:picLocks noChangeAspect="1"/>
          </p:cNvPicPr>
          <p:nvPr/>
        </p:nvPicPr>
        <p:blipFill>
          <a:blip r:embed="rId9"/>
          <a:stretch>
            <a:fillRect/>
          </a:stretch>
        </p:blipFill>
        <p:spPr>
          <a:xfrm>
            <a:off x="2647188" y="1984248"/>
            <a:ext cx="1723644" cy="868680"/>
          </a:xfrm>
          <a:prstGeom prst="rect">
            <a:avLst/>
          </a:prstGeom>
        </p:spPr>
      </p:pic>
      <p:sp>
        <p:nvSpPr>
          <p:cNvPr id="27" name="ru_40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28" name="R2_rx40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29" name="R2_ri41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didn't found</a:t>
            </a:r>
            <a:endParaRPr lang="en-US" sz="900" dirty="0"/>
          </a:p>
        </p:txBody>
      </p:sp>
      <p:sp>
        <p:nvSpPr>
          <p:cNvPr id="30" name="cd_41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1" name="rh_41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2" name="pf_41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14" descr="/home/claude/lls-course/v2/cache/2a2_passport_map_jpg_415x209_31.png">    </p:cNvPr>
          <p:cNvPicPr>
            <a:picLocks noChangeAspect="1"/>
          </p:cNvPicPr>
          <p:nvPr/>
        </p:nvPicPr>
        <p:blipFill>
          <a:blip r:embed="rId10"/>
          <a:stretch>
            <a:fillRect/>
          </a:stretch>
        </p:blipFill>
        <p:spPr>
          <a:xfrm>
            <a:off x="4818888" y="1984248"/>
            <a:ext cx="1723644" cy="868680"/>
          </a:xfrm>
          <a:prstGeom prst="rect">
            <a:avLst/>
          </a:prstGeom>
        </p:spPr>
      </p:pic>
      <p:sp>
        <p:nvSpPr>
          <p:cNvPr id="34" name="ru_41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5" name="R3_rx41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6" name="R3_ri41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Where you went?</a:t>
            </a:r>
            <a:endParaRPr lang="en-US" sz="900" dirty="0"/>
          </a:p>
        </p:txBody>
      </p:sp>
      <p:sp>
        <p:nvSpPr>
          <p:cNvPr id="37" name="cd_41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8" name="rh_41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39" name="pf_42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421" descr="/home/claude/lls-course/v2/cache/2b2_hilarious_jpg_415x209_31.png">    </p:cNvPr>
          <p:cNvPicPr>
            <a:picLocks noChangeAspect="1"/>
          </p:cNvPicPr>
          <p:nvPr/>
        </p:nvPicPr>
        <p:blipFill>
          <a:blip r:embed="rId11"/>
          <a:stretch>
            <a:fillRect/>
          </a:stretch>
        </p:blipFill>
        <p:spPr>
          <a:xfrm>
            <a:off x="6990588" y="1984248"/>
            <a:ext cx="1723644" cy="868680"/>
          </a:xfrm>
          <a:prstGeom prst="rect">
            <a:avLst/>
          </a:prstGeom>
        </p:spPr>
      </p:pic>
      <p:sp>
        <p:nvSpPr>
          <p:cNvPr id="41" name="ru_42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2" name="R4_rx42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3" name="R4_ri42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 did!</a:t>
            </a:r>
            <a:endParaRPr lang="en-US" sz="900" dirty="0"/>
          </a:p>
        </p:txBody>
      </p:sp>
      <p:sp>
        <p:nvSpPr>
          <p:cNvPr id="44" name="R5_wc4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5_w4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7"/>
                                        </p:tgtEl>
                                      </p:cBhvr>
                                    </p:cmd>
                                  </p:childTnLst>
                                </p:cTn>
                              </p:par>
                            </p:childTnLst>
                          </p:cTn>
                        </p:par>
                      </p:childTnLst>
                    </p:cTn>
                  </p:par>
                </p:childTnLst>
              </p:cTn>
              <p:nextCondLst>
                <p:cond evt="onClick" delay="0">
                  <p:tgtEl>
                    <p:spTgt spid="7"/>
                  </p:tgtEl>
                </p:cond>
              </p:nextCondLst>
            </p:seq>
            <p:audio>
              <p:cMediaNode vol="80000">
                <p:cTn id="48" fill="hold" display="0">
                  <p:stCondLst>
                    <p:cond delay="indefinite"/>
                  </p:stCondLst>
                  <p:endCondLst>
                    <p:cond evt="onStopAudio" delay="0">
                      <p:tgtEl>
                        <p:sldTgt/>
                      </p:tgtEl>
                    </p:cond>
                  </p:endCondLst>
                </p:cTn>
                <p:tgtEl>
                  <p:spTgt spid="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3" name="brY_42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4" name="title_42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5" name="brP_43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6" name="ins_43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7" name="insIT_4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 /d/ o /ɪd/? Di' il verbo. Poi clicca.</a:t>
            </a:r>
            <a:endParaRPr lang="en-US" sz="950" dirty="0"/>
          </a:p>
        </p:txBody>
      </p:sp>
      <p:sp>
        <p:nvSpPr>
          <p:cNvPr id="8" name="cmd_433"/>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9" name="meta_43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-ed endings   ·   📖 SB p.15 · 3 Pronunciation · audio 2.5</a:t>
            </a:r>
            <a:endParaRPr lang="en-US" sz="800" dirty="0"/>
          </a:p>
        </p:txBody>
      </p:sp>
      <p:sp>
        <p:nvSpPr>
          <p:cNvPr id="13" name="cd_437"/>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6" name="il_440"/>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441"/>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8" name="ah_44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20" name="lg_443"/>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looked</a:t>
            </a:r>
            <a:endParaRPr lang="en-US" sz="1050" dirty="0"/>
          </a:p>
        </p:txBody>
      </p:sp>
      <p:sp>
        <p:nvSpPr>
          <p:cNvPr id="21" name="lg_444"/>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stayed</a:t>
            </a:r>
            <a:endParaRPr lang="en-US" sz="1050" dirty="0"/>
          </a:p>
        </p:txBody>
      </p:sp>
      <p:sp>
        <p:nvSpPr>
          <p:cNvPr id="22" name="lg_44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wanted</a:t>
            </a:r>
            <a:endParaRPr lang="en-US" sz="1050" dirty="0"/>
          </a:p>
        </p:txBody>
      </p:sp>
      <p:sp>
        <p:nvSpPr>
          <p:cNvPr id="23" name="sq_446"/>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4" name="R1_tag447"/>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looked</a:t>
            </a:r>
            <a:endParaRPr lang="en-US" sz="1150" dirty="0"/>
          </a:p>
        </p:txBody>
      </p:sp>
      <p:sp>
        <p:nvSpPr>
          <p:cNvPr id="25" name="sq_448"/>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6" name="R2_tag449"/>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stayed</a:t>
            </a:r>
            <a:endParaRPr lang="en-US" sz="1150" dirty="0"/>
          </a:p>
        </p:txBody>
      </p:sp>
      <p:sp>
        <p:nvSpPr>
          <p:cNvPr id="27" name="sq_450"/>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28" name="R3_tag45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wanted</a:t>
            </a:r>
            <a:endParaRPr lang="en-US" sz="1150" dirty="0"/>
          </a:p>
        </p:txBody>
      </p:sp>
      <p:sp>
        <p:nvSpPr>
          <p:cNvPr id="29" name="sq_452"/>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0" name="R4_tag453"/>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stayed</a:t>
            </a:r>
            <a:endParaRPr lang="en-US" sz="1150" dirty="0"/>
          </a:p>
        </p:txBody>
      </p:sp>
      <p:sp>
        <p:nvSpPr>
          <p:cNvPr id="31" name="sq_454"/>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2" name="R5_tag45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wanted</a:t>
            </a:r>
            <a:endParaRPr lang="en-US" sz="1150" dirty="0"/>
          </a:p>
        </p:txBody>
      </p:sp>
      <p:sp>
        <p:nvSpPr>
          <p:cNvPr id="33" name="sq_456"/>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4" name="R6_tag457"/>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looked</a:t>
            </a:r>
            <a:endParaRPr lang="en-US" sz="1150" dirty="0"/>
          </a:p>
        </p:txBody>
      </p:sp>
      <p:sp>
        <p:nvSpPr>
          <p:cNvPr id="35" name="sq_458"/>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6" name="R7_tag459"/>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looked</a:t>
            </a:r>
            <a:endParaRPr lang="en-US" sz="1150" dirty="0"/>
          </a:p>
        </p:txBody>
      </p:sp>
      <p:sp>
        <p:nvSpPr>
          <p:cNvPr id="37" name="sq_460"/>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38" name="R8_tag461"/>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wanted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7"/>
                                        </p:tgtEl>
                                      </p:cBhvr>
                                    </p:cmd>
                                  </p:childTnLst>
                                </p:cTn>
                              </p:par>
                            </p:childTnLst>
                          </p:cTn>
                        </p:par>
                      </p:childTnLst>
                    </p:cTn>
                  </p:par>
                </p:childTnLst>
              </p:cTn>
              <p:nextCondLst>
                <p:cond evt="onClick" delay="0">
                  <p:tgtEl>
                    <p:spTgt spid="7"/>
                  </p:tgtEl>
                </p:cond>
              </p:nextCondLst>
            </p:seq>
            <p:audio>
              <p:cMediaNode vol="80000">
                <p:cTn id="48" fill="hold" display="0">
                  <p:stCondLst>
                    <p:cond delay="indefinite"/>
                  </p:stCondLst>
                  <p:endCondLst>
                    <p:cond evt="onStopAudio" delay="0">
                      <p:tgtEl>
                        <p:sldTgt/>
                      </p:tgtEl>
                    </p:cond>
                  </p:endCondLst>
                </p:cTn>
                <p:tgtEl>
                  <p:spTgt spid="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3" name="brY_46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46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5" name="brP_465"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6" name="ins_466"/>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7" name="insIT_4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le risposte di B. Poi imita il tono!</a:t>
            </a:r>
            <a:endParaRPr lang="en-US" sz="950" dirty="0"/>
          </a:p>
        </p:txBody>
      </p:sp>
      <p:sp>
        <p:nvSpPr>
          <p:cNvPr id="8" name="cmd_46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cmd_469"/>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47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showing interest   ·   📖 SB p.15 · 5a, 5b · audio 2.9</a:t>
            </a:r>
            <a:endParaRPr lang="en-US" sz="800" dirty="0"/>
          </a:p>
        </p:txBody>
      </p:sp>
      <p:sp>
        <p:nvSpPr>
          <p:cNvPr id="14" name="ap_47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5" name="ah_47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47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76" descr="/home/claude/lls-course/v2/cache/2b2_hilarious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47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8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8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4" name="R1_chip48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5" name="gq_48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6" name="R2_chip48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7" name="gq_48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28" name="R3_chip48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29" name="gq_48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0" name="R4_chip48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7"/>
                                        </p:tgtEl>
                                      </p:cBhvr>
                                    </p:cmd>
                                  </p:childTnLst>
                                </p:cTn>
                              </p:par>
                            </p:childTnLst>
                          </p:cTn>
                        </p:par>
                      </p:childTnLst>
                    </p:cTn>
                  </p:par>
                </p:childTnLst>
              </p:cTn>
              <p:nextCondLst>
                <p:cond evt="onClick" delay="0">
                  <p:tgtEl>
                    <p:spTgt spid="7"/>
                  </p:tgtEl>
                </p:cond>
              </p:nextCondLst>
            </p:seq>
            <p:audio>
              <p:cMediaNode vol="80000">
                <p:cTn id="28" fill="hold" display="0">
                  <p:stCondLst>
                    <p:cond delay="indefinite"/>
                  </p:stCondLst>
                  <p:endCondLst>
                    <p:cond evt="onStopAudio" delay="0">
                      <p:tgtEl>
                        <p:sldTgt/>
                      </p:tgtEl>
                    </p:cond>
                  </p:endCondLst>
                </p:cTn>
                <p:tgtEl>
                  <p:spTgt spid="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3" name="brY_49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49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5" name="brP_49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6" name="ins_49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7" name="insIT_4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domanda! Poi chiedi all'insegnante.</a:t>
            </a:r>
            <a:endParaRPr lang="en-US" sz="950" dirty="0"/>
          </a:p>
        </p:txBody>
      </p:sp>
      <p:sp>
        <p:nvSpPr>
          <p:cNvPr id="8" name="cmd_49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4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0" name="logo_4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game</a:t>
            </a:r>
            <a:endParaRPr lang="en-US" sz="800" dirty="0"/>
          </a:p>
        </p:txBody>
      </p:sp>
      <p:sp>
        <p:nvSpPr>
          <p:cNvPr id="13" name="cd_49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0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0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past simple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question = 1 point. Ask the teacher!</a:t>
            </a:r>
            <a:endParaRPr lang="en-US" sz="1150" dirty="0"/>
          </a:p>
        </p:txBody>
      </p:sp>
      <p:sp>
        <p:nvSpPr>
          <p:cNvPr id="17" name="st_50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50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50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 last summer?</a:t>
            </a:r>
            <a:endParaRPr lang="en-US" sz="1100" dirty="0"/>
          </a:p>
        </p:txBody>
      </p:sp>
      <p:sp>
        <p:nvSpPr>
          <p:cNvPr id="20" name="R1_chip50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last summer?</a:t>
            </a:r>
            <a:endParaRPr lang="en-US" sz="1100" dirty="0"/>
          </a:p>
        </p:txBody>
      </p:sp>
      <p:sp>
        <p:nvSpPr>
          <p:cNvPr id="21" name="bd_50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50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 get there?</a:t>
            </a:r>
            <a:endParaRPr lang="en-US" sz="1100" dirty="0"/>
          </a:p>
        </p:txBody>
      </p:sp>
      <p:sp>
        <p:nvSpPr>
          <p:cNvPr id="23" name="R2_chip50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did you get there?</a:t>
            </a:r>
            <a:endParaRPr lang="en-US" sz="1100" dirty="0"/>
          </a:p>
        </p:txBody>
      </p:sp>
      <p:sp>
        <p:nvSpPr>
          <p:cNvPr id="24" name="bd_51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51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a:t>
            </a:r>
            <a:endParaRPr lang="en-US" sz="1100" dirty="0"/>
          </a:p>
        </p:txBody>
      </p:sp>
      <p:sp>
        <p:nvSpPr>
          <p:cNvPr id="26" name="R3_chip51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a:t>
            </a:r>
            <a:endParaRPr lang="en-US" sz="1100" dirty="0"/>
          </a:p>
        </p:txBody>
      </p:sp>
      <p:sp>
        <p:nvSpPr>
          <p:cNvPr id="27" name="bd_51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51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there?</a:t>
            </a:r>
            <a:endParaRPr lang="en-US" sz="1100" dirty="0"/>
          </a:p>
        </p:txBody>
      </p:sp>
      <p:sp>
        <p:nvSpPr>
          <p:cNvPr id="29" name="R4_chip51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there?</a:t>
            </a:r>
            <a:endParaRPr lang="en-US" sz="1100" dirty="0"/>
          </a:p>
        </p:txBody>
      </p:sp>
      <p:sp>
        <p:nvSpPr>
          <p:cNvPr id="30" name="bd_51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51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weather / like?</a:t>
            </a:r>
            <a:endParaRPr lang="en-US" sz="1100" dirty="0"/>
          </a:p>
        </p:txBody>
      </p:sp>
      <p:sp>
        <p:nvSpPr>
          <p:cNvPr id="32" name="R5_chip51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3" name="bd_51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52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have / a good time?</a:t>
            </a:r>
            <a:endParaRPr lang="en-US" sz="1100" dirty="0"/>
          </a:p>
        </p:txBody>
      </p:sp>
      <p:sp>
        <p:nvSpPr>
          <p:cNvPr id="35" name="R6_chip52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 good time?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3" name="brY_52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4" name="title_52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5" name="brP_5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5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7"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della sua ultima vacanza.</a:t>
            </a:r>
            <a:endParaRPr lang="en-US" sz="950" dirty="0"/>
          </a:p>
        </p:txBody>
      </p:sp>
      <p:sp>
        <p:nvSpPr>
          <p:cNvPr id="8" name="cmd_52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5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pic>
        <p:nvPicPr>
          <p:cNvPr id="10" name="logo_5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last holiday   ·   📖 SB p.15 · 5 Speaking</a:t>
            </a:r>
            <a:endParaRPr lang="en-US" sz="800" dirty="0"/>
          </a:p>
        </p:txBody>
      </p:sp>
      <p:sp>
        <p:nvSpPr>
          <p:cNvPr id="13" name="pf_53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3"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3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Wow! · Fantastic! · Really?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no! What a pity! · How awful!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was it like?</a:t>
            </a:r>
            <a:endParaRPr lang="en-US" sz="1050" dirty="0"/>
          </a:p>
        </p:txBody>
      </p:sp>
      <p:sp>
        <p:nvSpPr>
          <p:cNvPr id="19" name="R1_qb53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3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last summer?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went to Cefalù with my family.</a:t>
            </a:r>
            <a:endParaRPr lang="en-US" sz="1250" dirty="0"/>
          </a:p>
        </p:txBody>
      </p:sp>
      <p:sp>
        <p:nvSpPr>
          <p:cNvPr id="21" name="R2_qb54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get there? Where did you stay?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went by car and we rented an apartment.</a:t>
            </a:r>
            <a:endParaRPr lang="en-US" sz="1250" dirty="0"/>
          </a:p>
        </p:txBody>
      </p:sp>
      <p:sp>
        <p:nvSpPr>
          <p:cNvPr id="23" name="R3_qb54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sunbathed, went swimming and ate a lot of arancine!</a:t>
            </a:r>
            <a:endParaRPr lang="en-US" sz="1250" dirty="0"/>
          </a:p>
        </p:txBody>
      </p:sp>
      <p:sp>
        <p:nvSpPr>
          <p:cNvPr id="25" name="R4_qb54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4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was really hot – 38 degrees!</a:t>
            </a:r>
            <a:endParaRPr lang="en-US" sz="1250" dirty="0"/>
          </a:p>
        </p:txBody>
      </p:sp>
      <p:sp>
        <p:nvSpPr>
          <p:cNvPr id="27" name="R5_qb54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47"/>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lost my sunglasses on the first day.</a:t>
            </a:r>
            <a:endParaRPr lang="en-US" sz="1250" dirty="0"/>
          </a:p>
        </p:txBody>
      </p:sp>
      <p:pic>
        <p:nvPicPr>
          <p:cNvPr id="29" name="R5_th548"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0" name="R6_qb54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5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3" name="brY_5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4" name="title_5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5" name="brP_5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5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7" name="insIT_5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8" name="meta_557"/>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9"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0"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2" name="bd_56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4" name="bd_56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6" name="bd_56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8" name="cd_56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9"/>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60–80 words: My last holiday (past simple!)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Learn 10 irregular verbs (Student's Book p.164)</a:t>
            </a:r>
            <a:endParaRPr lang="en-US" sz="1150" dirty="0"/>
          </a:p>
        </p:txBody>
      </p:sp>
      <p:sp>
        <p:nvSpPr>
          <p:cNvPr id="22" name="st_57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3" name="brY_57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57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5" name="brP_57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57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7"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8" name="cmd_57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57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0"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2" name="st_58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82"/>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3"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84"/>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85"/>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6"/>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87"/>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2A (pp.14–15)</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Exercises checked in the Teacher's Guide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588"/>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589"/>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590"/>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1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8"/>
                                        </p:tgtEl>
                                      </p:cBhvr>
                                    </p:cmd>
                                  </p:childTnLst>
                                </p:cTn>
                              </p:par>
                            </p:childTnLst>
                          </p:cTn>
                        </p:par>
                      </p:childTnLst>
                    </p:cTn>
                  </p:par>
                </p:childTnLst>
              </p:cTn>
              <p:nextCondLst>
                <p:cond evt="onClick" delay="0">
                  <p:tgtEl>
                    <p:spTgt spid="8"/>
                  </p:tgtEl>
                </p:cond>
              </p:nextCondLst>
            </p:seq>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seq concurrent="1" nextAc="seek">
              <p:cTn id="13" restart="whenNotActive" fill="hold" evtFilter="cancelBubble" nodeType="interactiveSeq">
                <p:stCondLst>
                  <p:cond evt="onClick" delay="0">
                    <p:tgtEl>
                      <p:spTgt spid="1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4"/>
                                        </p:tgtEl>
                                      </p:cBhvr>
                                    </p:cmd>
                                  </p:childTnLst>
                                </p:cTn>
                              </p:par>
                            </p:childTnLst>
                          </p:cTn>
                        </p:par>
                      </p:childTnLst>
                    </p:cTn>
                  </p:par>
                </p:childTnLst>
              </p:cTn>
              <p:nextCondLst>
                <p:cond evt="onClick" delay="0">
                  <p:tgtEl>
                    <p:spTgt spid="14"/>
                  </p:tgtEl>
                </p:cond>
              </p:nextCondLst>
            </p:seq>
            <p:audio>
              <p:cMediaNode vol="80000">
                <p:cTn id="18" fill="hold" display="0">
                  <p:stCondLst>
                    <p:cond delay="indefinite"/>
                  </p:stCondLst>
                  <p:endCondLst>
                    <p:cond evt="onStopAudio" delay="0">
                      <p:tgtEl>
                        <p:sldTgt/>
                      </p:tgtEl>
                    </p:cond>
                  </p:endCondLst>
                </p:cTn>
                <p:tgtEl>
                  <p:spTgt spid="8"/>
                </p:tgtEl>
              </p:cMediaNode>
            </p:audio>
            <p:audio>
              <p:cMediaNode vol="80000">
                <p:cTn id="19" fill="hold" display="0">
                  <p:stCondLst>
                    <p:cond delay="indefinite"/>
                  </p:stCondLst>
                  <p:endCondLst>
                    <p:cond evt="onStopAudio" delay="0">
                      <p:tgtEl>
                        <p:sldTgt/>
                      </p:tgtEl>
                    </p:cond>
                  </p:endCondLst>
                </p:cTn>
                <p:tgtEl>
                  <p:spTgt spid="11"/>
                </p:tgtEl>
              </p:cMediaNode>
            </p:audio>
            <p:audio>
              <p:cMediaNode vol="80000">
                <p:cTn id="20" fill="hold" display="0">
                  <p:stCondLst>
                    <p:cond delay="indefinite"/>
                  </p:stCondLst>
                  <p:endCondLst>
                    <p:cond evt="onStopAudio" delay="0">
                      <p:tgtEl>
                        <p:sldTgt/>
                      </p:tgtEl>
                    </p:cond>
                  </p:endCondLst>
                </p:cTn>
                <p:tgtEl>
                  <p:spTgt spid="14"/>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2026-10-08T12:35:57Z</dcterms:created>
  <dcterms:modified xsi:type="dcterms:W3CDTF">2026-10-08T12:35:57Z</dcterms:modified>
</cp:coreProperties>
</file>