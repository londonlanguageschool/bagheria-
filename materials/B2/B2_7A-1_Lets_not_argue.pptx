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TG lead-in: the quote on p.66. Desmond Tutu = South African archbishop and human rights activist. Elicit the meaning; take 2–3 opinions.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(3 min)
ACTIVE RECAP (3 min). ⭐ meaning ⭐⭐ sentence ⭐⭐⭐ negative or question ('Have you got used to getting up early?'). Ask 2 pairs for their best sentence.
HOW TO RUN IT (active recap): pairs. Words: A points at a word, B says what it means (⭐); then a sentence with it (⭐⭐); strong students make it negative or a question (⭐⭐⭐). Grammar: pairs make their own example for each use (offer, plan…) BEFORE you click – then click to show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Grammar · present deduction (warm-up) (3 min)
PREDICT (3 min). SB 1a. Don't say if they're right – the next slide checks it. Present modals of deduction should be revision (Intermediate).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Listening · the missing milk (4 min)
LISTENING (4 min). Play 7.1 once. Key (TG): flatmates in the kitchen of their shared house; one girl is accusing the others of using her milk; Jack used it in his white coffee. Script: SB p.127 / TG p.101.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Grammar · noticing (4 min)
EXTRACTS (4 min). Play 7.2, pausing after each extract. One click per gap. Key (TG): 1 must have 2 must have 3 can't have 4 Could…have 5 might have 6 should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Grammar · meaning (3 min)
MEANING (3 min). SB 1d – A is done as the example (from the book). Key (TG): A 1, 2 · B 4, 5 · C 3 · 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Grammar Bank 7A · past modals (5 min)
GRAMMAR BANK CHART (5 min). The Grammar Bank 7A examples as a chart. Read the situation, students say the sentence, then click: meaning + modal + sentence. Play 7.3 (and 7.4) for listen and repeat. TG notes: ✗ mustn't have does not exist → can't have · may / might / could have are the same · couldn't have ≠ might not have · should have / ought to have = criticism or regret.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Grammar Bank 7A p.144 · a (5 min)
GRAMMAR BANK a (5 min). The book's sentences shortened to the bold part (context in the GB). Alone, then click once per answer (TG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Grammar · choose the right option (4 min)
CHOOSE (4 min). The first is the example. Item 2 is the TG's typical mistake (mustn't have doesn't exist). Extra point for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Pronunciation · weak form of have (4 min)
WEAK FORM (4 min). 2a: the child wrote 'must of' because weak have /əv/ sounds like of. 2b: play 7.5 (repeat): He must have left his bag at school. · You must have known it would happen. · It can't have been a very good concert. · Could you have left it on the bus? · There might have been some witnesses. · You should have phoned me. 2c: play 7.6, students write; click to check. Stress the modal and the participle, never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Speaking · past modals (4 min)
CONVERSATIONS (4 min). SB 2d. The e.g. lines are the TG's possible answers – accept anything correct and logical. Pairs read them aloud: stress the modal and the participle, weak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Reading · Classic student house arguments (2 min)
SOLUTIONS (2 min). 3a first (30 sec): rank food, housework, money, noise, visitors 1–5 – which causes most arguments? Then students read solutions A–H (exactly as in the book). On the next slides the article is in full, with short cues for 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Reading · Classic student house arguments (1) (3 min)
READING 1 (5 min). 3a first (30 sec): rank food, housework, money, noise, visitors 1–5. 3b: which two categories are not in the list? (who gets the biggest room, taking too long in the bathroom – TG). 3c: problem 1 is the example (B). Click once per gap. Key (TG): 1 B 2 E 3 H 4 A. Glossary: direct debit 'bounced' = the bill wasn't paid because there wasn't enough money in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Reading · Classic student house arguments (2) (4 min)
READING 2 (4 min). Key (TG): 4 A 5 F 6 D. Glossary: direct debit 'bounced' = the bill wasn't paid because there wasn't enough money in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Reading · Classic student house arguments (3) (2 min)
READING 3 (2 min). Key (TG): 7 G 8 C. Teach ear plugs, wax, rota (TG).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Speaking · the solutions (3 min)
SPEAKING (4 min). SB 3d 1–2 (+ line 3 to recycle the grammar). TG: quick show of hands for the better solution to each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Game · Guess my verb (Communicative 7A) (4 min)
GUESS MY VERB (5 min). Endings exactly as on the photocopiable (the answers are printed on the partner's sheet). Model the first with a strong student. Print the PCM (TG p.205) for the full 12 sentences in A/B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Exit · what can you remember? (2 min)
EXIT (2 min). Pairs, books closed. Homework is in the students'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OPTIONAL EXTENSIONS
The lesson ended on the previous slide ("Today you…"). Use the next slides only if there is time left, or keep them for a quick start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Grammar Bank 7A p.144 · b (4 min)
EXTRA (4 min) – or homework. Key (TG p.102).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audio" Target="../media/media-4-5.mp3"/><Relationship Id="rId6" Type="http://schemas.microsoft.com/office/2007/relationships/media" Target="../media/media-4-5.mp3"/><Relationship Id="rId7" Type="http://schemas.openxmlformats.org/officeDocument/2006/relationships/image" Target="../media/image-4-7.png"/><Relationship Id="rId8" Type="http://schemas.openxmlformats.org/officeDocument/2006/relationships/audio" Target="../media/media-4-8.mp3"/><Relationship Id="rId9" Type="http://schemas.microsoft.com/office/2007/relationships/media" Target="../media/media-4-8.mp3"/><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audio" Target="../media/media-5-5.mp3"/><Relationship Id="rId6" Type="http://schemas.microsoft.com/office/2007/relationships/media" Target="../media/media-5-5.mp3"/><Relationship Id="rId7" Type="http://schemas.openxmlformats.org/officeDocument/2006/relationships/image" Target="../media/image-5-7.png"/><Relationship Id="rId8" Type="http://schemas.openxmlformats.org/officeDocument/2006/relationships/audio" Target="../media/media-5-8.mp3"/><Relationship Id="rId9" Type="http://schemas.microsoft.com/office/2007/relationships/media" Target="../media/media-5-8.mp3"/><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audio" Target="../media/media-10-6.mp3"/><Relationship Id="rId7" Type="http://schemas.microsoft.com/office/2007/relationships/media" Target="../media/media-10-6.mp3"/><Relationship Id="rId8" Type="http://schemas.openxmlformats.org/officeDocument/2006/relationships/image" Target="../media/image-10-8.png"/><Relationship Id="rId9" Type="http://schemas.openxmlformats.org/officeDocument/2006/relationships/audio" Target="../media/media-10-9.mp3"/><Relationship Id="rId10" Type="http://schemas.microsoft.com/office/2007/relationships/media" Target="../media/media-10-9.mp3"/><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Upper-intermediate · SB pp.66–67</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7A-1</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2200" dirty="0">
                <a:solidFill>
                  <a:srgbClr val="1B2559"/>
                </a:solidFill>
                <a:latin typeface="Arial Rounded MT Bold" pitchFamily="34" charset="0"/>
                <a:ea typeface="Arial Rounded MT Bold" pitchFamily="34" charset="-122"/>
                <a:cs typeface="Arial Rounded MT Bold" pitchFamily="34" charset="-120"/>
              </a:rPr>
              <a:t>Let's not argue</a:t>
            </a:r>
            <a:endParaRPr lang="en-US" sz="22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Past modals: must have, might have, can't have, should have</a:t>
            </a:r>
            <a:endParaRPr lang="en-US" sz="10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00" dirty="0">
                <a:solidFill>
                  <a:srgbClr val="1B2559"/>
                </a:solidFill>
                <a:latin typeface="Segoe UI Semibold" pitchFamily="34" charset="0"/>
                <a:ea typeface="Segoe UI Semibold" pitchFamily="34" charset="-122"/>
                <a:cs typeface="Segoe UI Semibold" pitchFamily="34" charset="-120"/>
              </a:rPr>
              <a:t>🕵️  make deductions about the past: must have, can't have…</a:t>
            </a:r>
            <a:endParaRPr lang="en-US" sz="800" dirty="0"/>
          </a:p>
          <a:p>
            <a:pPr indent="0" marL="0">
              <a:spcBef>
                <a:spcPts val="600"/>
              </a:spcBef>
              <a:spcAft>
                <a:spcPts val="200"/>
              </a:spcAft>
              <a:buNone/>
            </a:pPr>
            <a:r>
              <a:rPr lang="en-US" sz="800" dirty="0">
                <a:solidFill>
                  <a:srgbClr val="1B2559"/>
                </a:solidFill>
                <a:latin typeface="Segoe UI Semibold" pitchFamily="34" charset="0"/>
                <a:ea typeface="Segoe UI Semibold" pitchFamily="34" charset="-122"/>
                <a:cs typeface="Segoe UI Semibold" pitchFamily="34" charset="-120"/>
              </a:rPr>
              <a:t>🙈  criticise: you should have…</a:t>
            </a:r>
            <a:endParaRPr lang="en-US" sz="800" dirty="0"/>
          </a:p>
          <a:p>
            <a:pPr indent="0" marL="0">
              <a:spcBef>
                <a:spcPts val="600"/>
              </a:spcBef>
              <a:spcAft>
                <a:spcPts val="200"/>
              </a:spcAft>
              <a:buNone/>
            </a:pPr>
            <a:r>
              <a:rPr lang="en-US" sz="800" dirty="0">
                <a:solidFill>
                  <a:srgbClr val="1B2559"/>
                </a:solidFill>
                <a:latin typeface="Segoe UI Semibold" pitchFamily="34" charset="0"/>
                <a:ea typeface="Segoe UI Semibold" pitchFamily="34" charset="-122"/>
                <a:cs typeface="Segoe UI Semibold" pitchFamily="34" charset="-120"/>
              </a:rPr>
              <a:t>🔊  say the weak form of have</a:t>
            </a:r>
            <a:endParaRPr lang="en-US" sz="800" dirty="0"/>
          </a:p>
          <a:p>
            <a:pPr indent="0" marL="0">
              <a:spcBef>
                <a:spcPts val="600"/>
              </a:spcBef>
              <a:spcAft>
                <a:spcPts val="200"/>
              </a:spcAft>
              <a:buNone/>
            </a:pPr>
            <a:r>
              <a:rPr lang="en-US" sz="800" dirty="0">
                <a:solidFill>
                  <a:srgbClr val="1B2559"/>
                </a:solidFill>
                <a:latin typeface="Segoe UI Semibold" pitchFamily="34" charset="0"/>
                <a:ea typeface="Segoe UI Semibold" pitchFamily="34" charset="-122"/>
                <a:cs typeface="Segoe UI Semibold" pitchFamily="34" charset="-120"/>
              </a:rPr>
              <a:t>🏠  read about student house arguments</a:t>
            </a:r>
            <a:endParaRPr lang="en-US" sz="800" dirty="0"/>
          </a:p>
          <a:p>
            <a:pPr indent="0" marL="0">
              <a:spcBef>
                <a:spcPts val="600"/>
              </a:spcBef>
              <a:spcAft>
                <a:spcPts val="200"/>
              </a:spcAft>
              <a:buNone/>
            </a:pPr>
            <a:r>
              <a:rPr lang="en-US" sz="800" dirty="0">
                <a:solidFill>
                  <a:srgbClr val="1B2559"/>
                </a:solidFill>
                <a:latin typeface="Segoe UI Semibold" pitchFamily="34" charset="0"/>
                <a:ea typeface="Segoe UI Semibold" pitchFamily="34" charset="-122"/>
                <a:cs typeface="Segoe UI Semibold" pitchFamily="34" charset="-120"/>
              </a:rPr>
              <a:t>🎲  play Guess my verb</a:t>
            </a:r>
            <a:endParaRPr lang="en-US" sz="80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It means shouting doesn't help – a good reason is stronger than a loud voice.</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b2_7a_flatmates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350" dirty="0">
                <a:solidFill>
                  <a:srgbClr val="1B2559"/>
                </a:solidFill>
                <a:latin typeface="Arial Rounded MT Bold" pitchFamily="34" charset="0"/>
                <a:ea typeface="Arial Rounded MT Bold" pitchFamily="34" charset="-122"/>
                <a:cs typeface="Arial Rounded MT Bold" pitchFamily="34" charset="-120"/>
              </a:rPr>
              <a:t>'Don't raise your voice, improve your argument.' (Desmond Tutu) – What does it mean? Do you agree?</a:t>
            </a:r>
            <a:endParaRPr lang="en-US" sz="135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Files 5 &amp; 6?</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remember? Say it – then use it in a sentence!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ricordi? Dillo – poi usalo in una frase!</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Revision · last lesson</a:t>
            </a:r>
            <a:endParaRPr lang="en-US" sz="800" dirty="0"/>
          </a:p>
        </p:txBody>
      </p:sp>
      <p:sp>
        <p:nvSpPr>
          <p:cNvPr id="12" name="cd_26"/>
          <p:cNvSpPr/>
          <p:nvPr/>
        </p:nvSpPr>
        <p:spPr>
          <a:xfrm>
            <a:off x="320040" y="3200400"/>
            <a:ext cx="2743200" cy="1402080"/>
          </a:xfrm>
          <a:prstGeom prst="roundRect">
            <a:avLst>
              <a:gd name="adj" fmla="val 913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7"/>
          <p:cNvSpPr/>
          <p:nvPr/>
        </p:nvSpPr>
        <p:spPr>
          <a:xfrm>
            <a:off x="411480" y="32735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8"/>
          <p:cNvSpPr/>
          <p:nvPr/>
        </p:nvSpPr>
        <p:spPr>
          <a:xfrm>
            <a:off x="886968" y="329184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5" name="il_29"/>
          <p:cNvSpPr/>
          <p:nvPr/>
        </p:nvSpPr>
        <p:spPr>
          <a:xfrm>
            <a:off x="886968" y="3694176"/>
            <a:ext cx="2084832" cy="83515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Revise and Check 5 &amp; 6</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conditionals · used to · -ing / to · sleep · music</a:t>
            </a:r>
            <a:endParaRPr lang="en-US" sz="1100" dirty="0"/>
          </a:p>
        </p:txBody>
      </p:sp>
      <p:sp>
        <p:nvSpPr>
          <p:cNvPr id="16" name="kw_30"/>
          <p:cNvSpPr/>
          <p:nvPr/>
        </p:nvSpPr>
        <p:spPr>
          <a:xfrm>
            <a:off x="3246120" y="1417320"/>
            <a:ext cx="5623560" cy="292608"/>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 Can you remember these words? What do they mean?</a:t>
            </a:r>
            <a:endParaRPr lang="en-US" sz="1200" dirty="0"/>
          </a:p>
        </p:txBody>
      </p:sp>
      <p:sp>
        <p:nvSpPr>
          <p:cNvPr id="17" name="w_31"/>
          <p:cNvSpPr/>
          <p:nvPr/>
        </p:nvSpPr>
        <p:spPr>
          <a:xfrm>
            <a:off x="3246120" y="1783080"/>
            <a:ext cx="1367028"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get used to</a:t>
            </a:r>
            <a:endParaRPr lang="en-US" sz="1200" dirty="0"/>
          </a:p>
        </p:txBody>
      </p:sp>
      <p:sp>
        <p:nvSpPr>
          <p:cNvPr id="18" name="w_32"/>
          <p:cNvSpPr/>
          <p:nvPr/>
        </p:nvSpPr>
        <p:spPr>
          <a:xfrm>
            <a:off x="4704588" y="1783080"/>
            <a:ext cx="1106424"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insomnia</a:t>
            </a:r>
            <a:endParaRPr lang="en-US" sz="1200" dirty="0"/>
          </a:p>
        </p:txBody>
      </p:sp>
      <p:sp>
        <p:nvSpPr>
          <p:cNvPr id="19" name="w_33"/>
          <p:cNvSpPr/>
          <p:nvPr/>
        </p:nvSpPr>
        <p:spPr>
          <a:xfrm>
            <a:off x="5902452" y="1783080"/>
            <a:ext cx="1193292"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oversleep</a:t>
            </a:r>
            <a:endParaRPr lang="en-US" sz="1200" dirty="0"/>
          </a:p>
        </p:txBody>
      </p:sp>
      <p:sp>
        <p:nvSpPr>
          <p:cNvPr id="20" name="w_34"/>
          <p:cNvSpPr/>
          <p:nvPr/>
        </p:nvSpPr>
        <p:spPr>
          <a:xfrm>
            <a:off x="7187184" y="1783080"/>
            <a:ext cx="1193292"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uplifting</a:t>
            </a:r>
            <a:endParaRPr lang="en-US" sz="1200" dirty="0"/>
          </a:p>
        </p:txBody>
      </p:sp>
      <p:sp>
        <p:nvSpPr>
          <p:cNvPr id="21" name="w_35"/>
          <p:cNvSpPr/>
          <p:nvPr/>
        </p:nvSpPr>
        <p:spPr>
          <a:xfrm>
            <a:off x="3246120" y="2185416"/>
            <a:ext cx="1106424"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soothing</a:t>
            </a:r>
            <a:endParaRPr lang="en-US" sz="1200" dirty="0"/>
          </a:p>
        </p:txBody>
      </p:sp>
      <p:sp>
        <p:nvSpPr>
          <p:cNvPr id="22" name="w_36"/>
          <p:cNvSpPr/>
          <p:nvPr/>
        </p:nvSpPr>
        <p:spPr>
          <a:xfrm>
            <a:off x="4443984" y="2185416"/>
            <a:ext cx="932688"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regret</a:t>
            </a:r>
            <a:endParaRPr lang="en-US" sz="1200" dirty="0"/>
          </a:p>
        </p:txBody>
      </p:sp>
      <p:sp>
        <p:nvSpPr>
          <p:cNvPr id="23" name="w_37"/>
          <p:cNvSpPr/>
          <p:nvPr/>
        </p:nvSpPr>
        <p:spPr>
          <a:xfrm>
            <a:off x="5468112" y="2185416"/>
            <a:ext cx="672084"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hum</a:t>
            </a:r>
            <a:endParaRPr lang="en-US" sz="1200" dirty="0"/>
          </a:p>
        </p:txBody>
      </p:sp>
      <p:sp>
        <p:nvSpPr>
          <p:cNvPr id="24" name="w_38"/>
          <p:cNvSpPr/>
          <p:nvPr/>
        </p:nvSpPr>
        <p:spPr>
          <a:xfrm>
            <a:off x="6231636" y="2185416"/>
            <a:ext cx="932688"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I wish</a:t>
            </a:r>
            <a:endParaRPr lang="en-US" sz="1200" dirty="0"/>
          </a:p>
        </p:txBody>
      </p:sp>
      <p:sp>
        <p:nvSpPr>
          <p:cNvPr id="25" name="lv_39"/>
          <p:cNvSpPr/>
          <p:nvPr/>
        </p:nvSpPr>
        <p:spPr>
          <a:xfrm>
            <a:off x="324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it mean?</a:t>
            </a:r>
            <a:endParaRPr lang="en-US" sz="1000" dirty="0"/>
          </a:p>
        </p:txBody>
      </p:sp>
      <p:sp>
        <p:nvSpPr>
          <p:cNvPr id="26" name="lv_40"/>
          <p:cNvSpPr/>
          <p:nvPr/>
        </p:nvSpPr>
        <p:spPr>
          <a:xfrm>
            <a:off x="5151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Use it in a sentence.</a:t>
            </a:r>
            <a:endParaRPr lang="en-US" sz="1000" dirty="0"/>
          </a:p>
        </p:txBody>
      </p:sp>
      <p:sp>
        <p:nvSpPr>
          <p:cNvPr id="27" name="lv_41"/>
          <p:cNvSpPr/>
          <p:nvPr/>
        </p:nvSpPr>
        <p:spPr>
          <a:xfrm>
            <a:off x="705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950" dirty="0">
                <a:solidFill>
                  <a:srgbClr val="000000"/>
                </a:solidFill>
              </a:rPr>
              <a:t>⭐⭐⭐ </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Make it negative or a question!</a:t>
            </a:r>
            <a:endParaRPr lang="en-US" sz="9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3"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44"/>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It wasn't me!</a:t>
            </a:r>
            <a:endParaRPr lang="en-US" sz="2500" dirty="0"/>
          </a:p>
        </p:txBody>
      </p:sp>
      <p:pic>
        <p:nvPicPr>
          <p:cNvPr id="6" name="brP_45"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46"/>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Who are they? Where are they? What are they arguing about? Use can't be, must be, could be.</a:t>
            </a:r>
            <a:endParaRPr lang="en-US" sz="1100" dirty="0"/>
          </a:p>
        </p:txBody>
      </p:sp>
      <p:sp>
        <p:nvSpPr>
          <p:cNvPr id="8" name="insIT_4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Chi sono? Dove sono? Di cosa discutono? Usa can't be, must be, could be.</a:t>
            </a:r>
            <a:endParaRPr lang="en-US" sz="950" dirty="0"/>
          </a:p>
        </p:txBody>
      </p:sp>
      <p:sp>
        <p:nvSpPr>
          <p:cNvPr id="9" name="note_4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a:t>
            </a:r>
            <a:endParaRPr lang="en-US" sz="1150" dirty="0"/>
          </a:p>
        </p:txBody>
      </p:sp>
      <p:pic>
        <p:nvPicPr>
          <p:cNvPr id="10" name="logo_4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Grammar · present deduction (warm-up)   ·   📖 SB p.66 · 1a</a:t>
            </a:r>
            <a:endParaRPr lang="en-US" sz="800" dirty="0"/>
          </a:p>
        </p:txBody>
      </p:sp>
      <p:sp>
        <p:nvSpPr>
          <p:cNvPr id="12" name="pf_51"/>
          <p:cNvSpPr/>
          <p:nvPr/>
        </p:nvSpPr>
        <p:spPr>
          <a:xfrm rot="-120000">
            <a:off x="725482" y="1371600"/>
            <a:ext cx="1978037"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52" descr="/home/claude/lls-course/v2/cache/b2_7a_flatmates_jpg_454x297_31.png">    </p:cNvPr>
          <p:cNvPicPr>
            <a:picLocks noChangeAspect="1"/>
          </p:cNvPicPr>
          <p:nvPr/>
        </p:nvPicPr>
        <p:blipFill>
          <a:blip r:embed="rId5"/>
          <a:stretch>
            <a:fillRect/>
          </a:stretch>
        </p:blipFill>
        <p:spPr>
          <a:xfrm rot="-120000">
            <a:off x="771202" y="1417320"/>
            <a:ext cx="1886597" cy="1234440"/>
          </a:xfrm>
          <a:prstGeom prst="rect">
            <a:avLst/>
          </a:prstGeom>
        </p:spPr>
      </p:pic>
      <p:sp>
        <p:nvSpPr>
          <p:cNvPr id="14" name="cd_53"/>
          <p:cNvSpPr/>
          <p:nvPr/>
        </p:nvSpPr>
        <p:spPr>
          <a:xfrm>
            <a:off x="320040" y="2880360"/>
            <a:ext cx="2788920" cy="1426464"/>
          </a:xfrm>
          <a:prstGeom prst="roundRect">
            <a:avLst>
              <a:gd name="adj" fmla="val 897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54"/>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55"/>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56"/>
          <p:cNvSpPr/>
          <p:nvPr/>
        </p:nvSpPr>
        <p:spPr>
          <a:xfrm>
            <a:off x="886968" y="3374136"/>
            <a:ext cx="2130552" cy="8595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They can't be a family, because…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Number 2 might be…</a:t>
            </a:r>
            <a:endParaRPr lang="en-US" sz="1150" dirty="0"/>
          </a:p>
        </p:txBody>
      </p:sp>
      <p:sp>
        <p:nvSpPr>
          <p:cNvPr id="18" name="R1_qb57"/>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58"/>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Who are they?</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They can't be a family, because they're all the same age. They must be friends or flatmates.</a:t>
            </a:r>
            <a:endParaRPr lang="en-US" sz="1100" dirty="0"/>
          </a:p>
        </p:txBody>
      </p:sp>
      <p:sp>
        <p:nvSpPr>
          <p:cNvPr id="20" name="R2_qb59"/>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60"/>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 are they?</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They must be in a kitchen – maybe a shared house.</a:t>
            </a:r>
            <a:endParaRPr lang="en-US" sz="1100" dirty="0"/>
          </a:p>
        </p:txBody>
      </p:sp>
      <p:sp>
        <p:nvSpPr>
          <p:cNvPr id="22" name="R3_qb61"/>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62"/>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 are they arguing about?</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It could be about food… or the washing-up!</a:t>
            </a:r>
            <a:endParaRPr lang="en-US" sz="1100" dirty="0"/>
          </a:p>
        </p:txBody>
      </p:sp>
      <p:sp>
        <p:nvSpPr>
          <p:cNvPr id="24" name="R4_qb63"/>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64"/>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Who said 'It wasn't me!'?</a:t>
            </a:r>
            <a:endParaRPr lang="en-US" sz="11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Number 3 – she looks very innocent!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5"/>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66"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67"/>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Where's my milk?</a:t>
            </a:r>
            <a:endParaRPr lang="en-US" sz="2500" dirty="0"/>
          </a:p>
        </p:txBody>
      </p:sp>
      <p:pic>
        <p:nvPicPr>
          <p:cNvPr id="6" name="brP_68"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69"/>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Who are they? Who is 'guilty'?</a:t>
            </a:r>
            <a:endParaRPr lang="en-US" sz="1250" dirty="0"/>
          </a:p>
        </p:txBody>
      </p:sp>
      <p:sp>
        <p:nvSpPr>
          <p:cNvPr id="8" name="insIT_7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Chi sono? Chi è il 'colpevole'?</a:t>
            </a:r>
            <a:endParaRPr lang="en-US" sz="950" dirty="0"/>
          </a:p>
        </p:txBody>
      </p:sp>
      <p:sp>
        <p:nvSpPr>
          <p:cNvPr id="9" name="note_71"/>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for detail</a:t>
            </a:r>
            <a:endParaRPr lang="en-US" sz="1150" dirty="0"/>
          </a:p>
        </p:txBody>
      </p:sp>
      <p:pic>
        <p:nvPicPr>
          <p:cNvPr id="10" name="logo_7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7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Listening · the missing milk   ·   📖 SB p.66 · 1b · audio 7.1 (script SB p.127)</a:t>
            </a:r>
            <a:endParaRPr lang="en-US" sz="800" dirty="0"/>
          </a:p>
        </p:txBody>
      </p:sp>
      <p:sp>
        <p:nvSpPr>
          <p:cNvPr id="12" name="ap_74"/>
          <p:cNvSpPr/>
          <p:nvPr/>
        </p:nvSpPr>
        <p:spPr>
          <a:xfrm>
            <a:off x="365760" y="1417320"/>
            <a:ext cx="219456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7.1  ·  play once</a:t>
            </a:r>
            <a:endParaRPr lang="en-US" sz="1100" dirty="0"/>
          </a:p>
        </p:txBody>
      </p:sp>
      <p:sp>
        <p:nvSpPr>
          <p:cNvPr id="13" name="ah_75"/>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76"/>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pf_77"/>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78" descr="/home/claude/lls-course/v2/cache/b2_7a_flatmates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19" name="cd_79"/>
          <p:cNvSpPr/>
          <p:nvPr/>
        </p:nvSpPr>
        <p:spPr>
          <a:xfrm>
            <a:off x="320040" y="4023360"/>
            <a:ext cx="2788920" cy="731520"/>
          </a:xfrm>
          <a:prstGeom prst="roundRect">
            <a:avLst>
              <a:gd name="adj" fmla="val 1750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0" name="ii_80"/>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81"/>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Listen for: who, where, what – and who did it!</a:t>
            </a:r>
            <a:endParaRPr lang="en-US" sz="1200" dirty="0"/>
          </a:p>
        </p:txBody>
      </p:sp>
      <p:sp>
        <p:nvSpPr>
          <p:cNvPr id="22" name="gq_82"/>
          <p:cNvSpPr/>
          <p:nvPr/>
        </p:nvSpPr>
        <p:spPr>
          <a:xfrm>
            <a:off x="3383280" y="1417320"/>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Who are they?</a:t>
            </a:r>
            <a:endParaRPr lang="en-US" sz="1200" dirty="0"/>
          </a:p>
        </p:txBody>
      </p:sp>
      <p:sp>
        <p:nvSpPr>
          <p:cNvPr id="23" name="R1_chip83"/>
          <p:cNvSpPr/>
          <p:nvPr/>
        </p:nvSpPr>
        <p:spPr>
          <a:xfrm>
            <a:off x="6812280" y="141732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flatmates</a:t>
            </a:r>
            <a:endParaRPr lang="en-US" sz="1200" dirty="0"/>
          </a:p>
        </p:txBody>
      </p:sp>
      <p:sp>
        <p:nvSpPr>
          <p:cNvPr id="24" name="gq_84"/>
          <p:cNvSpPr/>
          <p:nvPr/>
        </p:nvSpPr>
        <p:spPr>
          <a:xfrm>
            <a:off x="3383280" y="1938528"/>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Where are they?</a:t>
            </a:r>
            <a:endParaRPr lang="en-US" sz="1200" dirty="0"/>
          </a:p>
        </p:txBody>
      </p:sp>
      <p:sp>
        <p:nvSpPr>
          <p:cNvPr id="25" name="R2_chip85"/>
          <p:cNvSpPr/>
          <p:nvPr/>
        </p:nvSpPr>
        <p:spPr>
          <a:xfrm>
            <a:off x="6812280" y="1938528"/>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in the kitchen of their shared house</a:t>
            </a:r>
            <a:endParaRPr lang="en-US" sz="1200" dirty="0"/>
          </a:p>
        </p:txBody>
      </p:sp>
      <p:sp>
        <p:nvSpPr>
          <p:cNvPr id="26" name="gq_86"/>
          <p:cNvSpPr/>
          <p:nvPr/>
        </p:nvSpPr>
        <p:spPr>
          <a:xfrm>
            <a:off x="3383280" y="2459736"/>
            <a:ext cx="333756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What's the argument about?</a:t>
            </a:r>
            <a:endParaRPr lang="en-US" sz="1200" dirty="0"/>
          </a:p>
        </p:txBody>
      </p:sp>
      <p:sp>
        <p:nvSpPr>
          <p:cNvPr id="27" name="R3_chip87"/>
          <p:cNvSpPr/>
          <p:nvPr/>
        </p:nvSpPr>
        <p:spPr>
          <a:xfrm>
            <a:off x="6812280" y="2459736"/>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one girl's milk – someone used it</a:t>
            </a:r>
            <a:endParaRPr lang="en-US" sz="1200" dirty="0"/>
          </a:p>
        </p:txBody>
      </p:sp>
      <p:sp>
        <p:nvSpPr>
          <p:cNvPr id="28" name="gq_88"/>
          <p:cNvSpPr/>
          <p:nvPr/>
        </p:nvSpPr>
        <p:spPr>
          <a:xfrm>
            <a:off x="3383280" y="2980944"/>
            <a:ext cx="333756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Who is guilty?</a:t>
            </a:r>
            <a:endParaRPr lang="en-US" sz="1200" dirty="0"/>
          </a:p>
        </p:txBody>
      </p:sp>
      <p:sp>
        <p:nvSpPr>
          <p:cNvPr id="29" name="R4_chip89"/>
          <p:cNvSpPr/>
          <p:nvPr/>
        </p:nvSpPr>
        <p:spPr>
          <a:xfrm>
            <a:off x="6812280" y="2980944"/>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Jack (man 2) – he used it in his coffee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4"/>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4"/>
                                        </p:tgtEl>
                                      </p:cBhvr>
                                    </p:cmd>
                                  </p:childTnLst>
                                </p:cTn>
                              </p:par>
                            </p:childTnLst>
                          </p:cTn>
                        </p:par>
                      </p:childTnLst>
                    </p:cTn>
                  </p:par>
                </p:childTnLst>
              </p:cTn>
              <p:nextCondLst>
                <p:cond evt="onClick" delay="0">
                  <p:tgtEl>
                    <p:spTgt spid="14"/>
                  </p:tgtEl>
                </p:cond>
              </p:nextCondLst>
            </p:seq>
            <p:seq concurrent="1" nextAc="seek">
              <p:cTn id="28" restart="whenNotActive" fill="hold" evtFilter="cancelBubble" nodeType="interactiveSeq">
                <p:stCondLst>
                  <p:cond evt="onClick" delay="0">
                    <p:tgtEl>
                      <p:spTgt spid="16"/>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6"/>
                                        </p:tgtEl>
                                      </p:cBhvr>
                                    </p:cmd>
                                  </p:childTnLst>
                                </p:cTn>
                              </p:par>
                            </p:childTnLst>
                          </p:cTn>
                        </p:par>
                      </p:childTnLst>
                    </p:cTn>
                  </p:par>
                </p:childTnLst>
              </p:cTn>
              <p:nextCondLst>
                <p:cond evt="onClick" delay="0">
                  <p:tgtEl>
                    <p:spTgt spid="16"/>
                  </p:tgtEl>
                </p:cond>
              </p:nextCondLst>
            </p:seq>
            <p:audio>
              <p:cMediaNode vol="80000">
                <p:cTn id="33" fill="hold" display="0">
                  <p:stCondLst>
                    <p:cond delay="indefinite"/>
                  </p:stCondLst>
                  <p:endCondLst>
                    <p:cond evt="onStopAudio" delay="0">
                      <p:tgtEl>
                        <p:sldTgt/>
                      </p:tgtEl>
                    </p:cond>
                  </p:endCondLst>
                </p:cTn>
                <p:tgtEl>
                  <p:spTgt spid="14"/>
                </p:tgtEl>
              </p:cMediaNode>
            </p:audio>
            <p:audio>
              <p:cMediaNode vol="80000">
                <p:cTn id="34" fill="hold" display="0">
                  <p:stCondLst>
                    <p:cond delay="indefinite"/>
                  </p:stCondLst>
                  <p:endCondLst>
                    <p:cond evt="onStopAudio" delay="0">
                      <p:tgtEl>
                        <p:sldTgt/>
                      </p:tgtEl>
                    </p:cond>
                  </p:endCondLst>
                </p:cTn>
                <p:tgtEl>
                  <p:spTgt spid="1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90"/>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91"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92"/>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did they say?</a:t>
            </a:r>
            <a:endParaRPr lang="en-US" sz="2500" dirty="0"/>
          </a:p>
        </p:txBody>
      </p:sp>
      <p:pic>
        <p:nvPicPr>
          <p:cNvPr id="6" name="brP_93"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94"/>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Listen again. Complete the extracts with could, might, must, can't or should + have.</a:t>
            </a:r>
            <a:endParaRPr lang="en-US" sz="1100" dirty="0"/>
          </a:p>
        </p:txBody>
      </p:sp>
      <p:sp>
        <p:nvSpPr>
          <p:cNvPr id="8" name="insIT_9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di nuovo. Completa con could, might, must, can't o should + have.</a:t>
            </a:r>
            <a:endParaRPr lang="en-US" sz="950" dirty="0"/>
          </a:p>
        </p:txBody>
      </p:sp>
      <p:sp>
        <p:nvSpPr>
          <p:cNvPr id="9" name="note_9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TPRS · reading</a:t>
            </a:r>
            <a:endParaRPr lang="en-US" sz="1150" dirty="0"/>
          </a:p>
        </p:txBody>
      </p:sp>
      <p:pic>
        <p:nvPicPr>
          <p:cNvPr id="10" name="logo_9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9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Grammar · noticing   ·   📖 SB p.66 · 1c · audio 7.2 (TG key)</a:t>
            </a:r>
            <a:endParaRPr lang="en-US" sz="800" dirty="0"/>
          </a:p>
        </p:txBody>
      </p:sp>
      <p:sp>
        <p:nvSpPr>
          <p:cNvPr id="12" name="cd_99"/>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100"/>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From the conversation</a:t>
            </a:r>
            <a:endParaRPr lang="en-US" sz="1700" dirty="0"/>
          </a:p>
        </p:txBody>
      </p:sp>
      <p:sp>
        <p:nvSpPr>
          <p:cNvPr id="14" name="ln_101"/>
          <p:cNvSpPr/>
          <p:nvPr/>
        </p:nvSpPr>
        <p:spPr>
          <a:xfrm>
            <a:off x="548640" y="1920240"/>
            <a:ext cx="5349240" cy="464820"/>
          </a:xfrm>
          <a:prstGeom prst="rect">
            <a:avLst/>
          </a:prstGeom>
          <a:no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1  You </a:t>
            </a:r>
            <a:pPr indent="0" marL="0">
              <a:buNone/>
            </a:pPr>
            <a:r>
              <a:rPr lang="en-US" sz="1300" b="1" dirty="0">
                <a:solidFill>
                  <a:srgbClr val="2EB872"/>
                </a:solidFill>
                <a:latin typeface="Georgia" pitchFamily="34" charset="0"/>
                <a:ea typeface="Georgia" pitchFamily="34" charset="-122"/>
                <a:cs typeface="Georgia" pitchFamily="34" charset="-120"/>
              </a:rPr>
              <a:t> (1) ________ </a:t>
            </a:r>
            <a:pPr indent="0" marL="0">
              <a:buNone/>
            </a:pPr>
            <a:r>
              <a:rPr lang="en-US" sz="1300" dirty="0">
                <a:solidFill>
                  <a:srgbClr val="1B2559"/>
                </a:solidFill>
                <a:latin typeface="Georgia" pitchFamily="34" charset="0"/>
                <a:ea typeface="Georgia" pitchFamily="34" charset="-122"/>
                <a:cs typeface="Georgia" pitchFamily="34" charset="-120"/>
              </a:rPr>
              <a:t> finished it.</a:t>
            </a:r>
            <a:endParaRPr lang="en-US" sz="1300" dirty="0"/>
          </a:p>
        </p:txBody>
      </p:sp>
      <p:sp>
        <p:nvSpPr>
          <p:cNvPr id="15" name="R1_lnA102"/>
          <p:cNvSpPr/>
          <p:nvPr/>
        </p:nvSpPr>
        <p:spPr>
          <a:xfrm>
            <a:off x="548640" y="1920240"/>
            <a:ext cx="5349240" cy="464820"/>
          </a:xfrm>
          <a:prstGeom prst="rect">
            <a:avLst/>
          </a:prstGeom>
          <a:solidFill>
            <a:srgbClr val="FFFFFF"/>
          </a:solid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1  You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must have</a:t>
            </a:r>
            <a:pPr indent="0" marL="0">
              <a:buNone/>
            </a:pPr>
            <a:r>
              <a:rPr lang="en-US" sz="1300" dirty="0">
                <a:solidFill>
                  <a:srgbClr val="1B2559"/>
                </a:solidFill>
                <a:latin typeface="Georgia" pitchFamily="34" charset="0"/>
                <a:ea typeface="Georgia" pitchFamily="34" charset="-122"/>
                <a:cs typeface="Georgia" pitchFamily="34" charset="-120"/>
              </a:rPr>
              <a:t> finished it.</a:t>
            </a:r>
            <a:endParaRPr lang="en-US" sz="1300" dirty="0"/>
          </a:p>
        </p:txBody>
      </p:sp>
      <p:sp>
        <p:nvSpPr>
          <p:cNvPr id="16" name="ln_103"/>
          <p:cNvSpPr/>
          <p:nvPr/>
        </p:nvSpPr>
        <p:spPr>
          <a:xfrm>
            <a:off x="548640" y="2385060"/>
            <a:ext cx="5349240" cy="464820"/>
          </a:xfrm>
          <a:prstGeom prst="rect">
            <a:avLst/>
          </a:prstGeom>
          <a:no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2  One of you </a:t>
            </a:r>
            <a:pPr indent="0" marL="0">
              <a:buNone/>
            </a:pPr>
            <a:r>
              <a:rPr lang="en-US" sz="1300" b="1" dirty="0">
                <a:solidFill>
                  <a:srgbClr val="2EB872"/>
                </a:solidFill>
                <a:latin typeface="Georgia" pitchFamily="34" charset="0"/>
                <a:ea typeface="Georgia" pitchFamily="34" charset="-122"/>
                <a:cs typeface="Georgia" pitchFamily="34" charset="-120"/>
              </a:rPr>
              <a:t> (2) ________ </a:t>
            </a:r>
            <a:pPr indent="0" marL="0">
              <a:buNone/>
            </a:pPr>
            <a:r>
              <a:rPr lang="en-US" sz="1300" dirty="0">
                <a:solidFill>
                  <a:srgbClr val="1B2559"/>
                </a:solidFill>
                <a:latin typeface="Georgia" pitchFamily="34" charset="0"/>
                <a:ea typeface="Georgia" pitchFamily="34" charset="-122"/>
                <a:cs typeface="Georgia" pitchFamily="34" charset="-120"/>
              </a:rPr>
              <a:t> used it.</a:t>
            </a:r>
            <a:endParaRPr lang="en-US" sz="1300" dirty="0"/>
          </a:p>
        </p:txBody>
      </p:sp>
      <p:sp>
        <p:nvSpPr>
          <p:cNvPr id="17" name="R2_lnA104"/>
          <p:cNvSpPr/>
          <p:nvPr/>
        </p:nvSpPr>
        <p:spPr>
          <a:xfrm>
            <a:off x="548640" y="2385060"/>
            <a:ext cx="5349240" cy="464820"/>
          </a:xfrm>
          <a:prstGeom prst="rect">
            <a:avLst/>
          </a:prstGeom>
          <a:solidFill>
            <a:srgbClr val="FFFFFF"/>
          </a:solid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2  One of you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must have</a:t>
            </a:r>
            <a:pPr indent="0" marL="0">
              <a:buNone/>
            </a:pPr>
            <a:r>
              <a:rPr lang="en-US" sz="1300" dirty="0">
                <a:solidFill>
                  <a:srgbClr val="1B2559"/>
                </a:solidFill>
                <a:latin typeface="Georgia" pitchFamily="34" charset="0"/>
                <a:ea typeface="Georgia" pitchFamily="34" charset="-122"/>
                <a:cs typeface="Georgia" pitchFamily="34" charset="-120"/>
              </a:rPr>
              <a:t> used it.</a:t>
            </a:r>
            <a:endParaRPr lang="en-US" sz="1300" dirty="0"/>
          </a:p>
        </p:txBody>
      </p:sp>
      <p:sp>
        <p:nvSpPr>
          <p:cNvPr id="18" name="ln_105"/>
          <p:cNvSpPr/>
          <p:nvPr/>
        </p:nvSpPr>
        <p:spPr>
          <a:xfrm>
            <a:off x="548640" y="2849880"/>
            <a:ext cx="5349240" cy="464820"/>
          </a:xfrm>
          <a:prstGeom prst="rect">
            <a:avLst/>
          </a:prstGeom>
          <a:no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3  It </a:t>
            </a:r>
            <a:pPr indent="0" marL="0">
              <a:buNone/>
            </a:pPr>
            <a:r>
              <a:rPr lang="en-US" sz="1300" b="1" dirty="0">
                <a:solidFill>
                  <a:srgbClr val="2EB872"/>
                </a:solidFill>
                <a:latin typeface="Georgia" pitchFamily="34" charset="0"/>
                <a:ea typeface="Georgia" pitchFamily="34" charset="-122"/>
                <a:cs typeface="Georgia" pitchFamily="34" charset="-120"/>
              </a:rPr>
              <a:t> (3) ________ </a:t>
            </a:r>
            <a:pPr indent="0" marL="0">
              <a:buNone/>
            </a:pPr>
            <a:r>
              <a:rPr lang="en-US" sz="1300" dirty="0">
                <a:solidFill>
                  <a:srgbClr val="1B2559"/>
                </a:solidFill>
                <a:latin typeface="Georgia" pitchFamily="34" charset="0"/>
                <a:ea typeface="Georgia" pitchFamily="34" charset="-122"/>
                <a:cs typeface="Georgia" pitchFamily="34" charset="-120"/>
              </a:rPr>
              <a:t> been me.</a:t>
            </a:r>
            <a:endParaRPr lang="en-US" sz="1300" dirty="0"/>
          </a:p>
        </p:txBody>
      </p:sp>
      <p:sp>
        <p:nvSpPr>
          <p:cNvPr id="19" name="R3_lnA106"/>
          <p:cNvSpPr/>
          <p:nvPr/>
        </p:nvSpPr>
        <p:spPr>
          <a:xfrm>
            <a:off x="548640" y="2849880"/>
            <a:ext cx="5349240" cy="464820"/>
          </a:xfrm>
          <a:prstGeom prst="rect">
            <a:avLst/>
          </a:prstGeom>
          <a:solidFill>
            <a:srgbClr val="FFFFFF"/>
          </a:solid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3  It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can't have</a:t>
            </a:r>
            <a:pPr indent="0" marL="0">
              <a:buNone/>
            </a:pPr>
            <a:r>
              <a:rPr lang="en-US" sz="1300" dirty="0">
                <a:solidFill>
                  <a:srgbClr val="1B2559"/>
                </a:solidFill>
                <a:latin typeface="Georgia" pitchFamily="34" charset="0"/>
                <a:ea typeface="Georgia" pitchFamily="34" charset="-122"/>
                <a:cs typeface="Georgia" pitchFamily="34" charset="-120"/>
              </a:rPr>
              <a:t> been me.</a:t>
            </a:r>
            <a:endParaRPr lang="en-US" sz="1300" dirty="0"/>
          </a:p>
        </p:txBody>
      </p:sp>
      <p:sp>
        <p:nvSpPr>
          <p:cNvPr id="20" name="ln_107"/>
          <p:cNvSpPr/>
          <p:nvPr/>
        </p:nvSpPr>
        <p:spPr>
          <a:xfrm>
            <a:off x="548640" y="3314700"/>
            <a:ext cx="5349240" cy="464820"/>
          </a:xfrm>
          <a:prstGeom prst="rect">
            <a:avLst/>
          </a:prstGeom>
          <a:no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4  </a:t>
            </a:r>
            <a:pPr indent="0" marL="0">
              <a:buNone/>
            </a:pPr>
            <a:r>
              <a:rPr lang="en-US" sz="1300" b="1" dirty="0">
                <a:solidFill>
                  <a:srgbClr val="2EB872"/>
                </a:solidFill>
                <a:latin typeface="Georgia" pitchFamily="34" charset="0"/>
                <a:ea typeface="Georgia" pitchFamily="34" charset="-122"/>
                <a:cs typeface="Georgia" pitchFamily="34" charset="-120"/>
              </a:rPr>
              <a:t> (4) ________ </a:t>
            </a:r>
            <a:pPr indent="0" marL="0">
              <a:buNone/>
            </a:pPr>
            <a:r>
              <a:rPr lang="en-US" sz="1300" dirty="0">
                <a:solidFill>
                  <a:srgbClr val="1B2559"/>
                </a:solidFill>
                <a:latin typeface="Georgia" pitchFamily="34" charset="0"/>
                <a:ea typeface="Georgia" pitchFamily="34" charset="-122"/>
                <a:cs typeface="Georgia" pitchFamily="34" charset="-120"/>
              </a:rPr>
              <a:t> you </a:t>
            </a:r>
            <a:pPr indent="0" marL="0">
              <a:buNone/>
            </a:pPr>
            <a:r>
              <a:rPr lang="en-US" sz="1300" b="1" dirty="0">
                <a:solidFill>
                  <a:srgbClr val="2EB872"/>
                </a:solidFill>
                <a:latin typeface="Georgia" pitchFamily="34" charset="0"/>
                <a:ea typeface="Georgia" pitchFamily="34" charset="-122"/>
                <a:cs typeface="Georgia" pitchFamily="34" charset="-120"/>
              </a:rPr>
              <a:t> (5) ________ </a:t>
            </a:r>
            <a:pPr indent="0" marL="0">
              <a:buNone/>
            </a:pPr>
            <a:r>
              <a:rPr lang="en-US" sz="1300" dirty="0">
                <a:solidFill>
                  <a:srgbClr val="1B2559"/>
                </a:solidFill>
                <a:latin typeface="Georgia" pitchFamily="34" charset="0"/>
                <a:ea typeface="Georgia" pitchFamily="34" charset="-122"/>
                <a:cs typeface="Georgia" pitchFamily="34" charset="-120"/>
              </a:rPr>
              <a:t> drunk it last night…?</a:t>
            </a:r>
            <a:endParaRPr lang="en-US" sz="1300" dirty="0"/>
          </a:p>
        </p:txBody>
      </p:sp>
      <p:sp>
        <p:nvSpPr>
          <p:cNvPr id="21" name="R4_lnA108"/>
          <p:cNvSpPr/>
          <p:nvPr/>
        </p:nvSpPr>
        <p:spPr>
          <a:xfrm>
            <a:off x="548640" y="3314700"/>
            <a:ext cx="5349240" cy="464820"/>
          </a:xfrm>
          <a:prstGeom prst="rect">
            <a:avLst/>
          </a:prstGeom>
          <a:solidFill>
            <a:srgbClr val="FFFFFF"/>
          </a:solid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4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Could</a:t>
            </a:r>
            <a:pPr indent="0" marL="0">
              <a:buNone/>
            </a:pPr>
            <a:r>
              <a:rPr lang="en-US" sz="1300" dirty="0">
                <a:solidFill>
                  <a:srgbClr val="1B2559"/>
                </a:solidFill>
                <a:latin typeface="Georgia" pitchFamily="34" charset="0"/>
                <a:ea typeface="Georgia" pitchFamily="34" charset="-122"/>
                <a:cs typeface="Georgia" pitchFamily="34" charset="-120"/>
              </a:rPr>
              <a:t> you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have</a:t>
            </a:r>
            <a:pPr indent="0" marL="0">
              <a:buNone/>
            </a:pPr>
            <a:r>
              <a:rPr lang="en-US" sz="1300" dirty="0">
                <a:solidFill>
                  <a:srgbClr val="1B2559"/>
                </a:solidFill>
                <a:latin typeface="Georgia" pitchFamily="34" charset="0"/>
                <a:ea typeface="Georgia" pitchFamily="34" charset="-122"/>
                <a:cs typeface="Georgia" pitchFamily="34" charset="-120"/>
              </a:rPr>
              <a:t> drunk it last night…?</a:t>
            </a:r>
            <a:endParaRPr lang="en-US" sz="1300" dirty="0"/>
          </a:p>
        </p:txBody>
      </p:sp>
      <p:sp>
        <p:nvSpPr>
          <p:cNvPr id="22" name="ln_109"/>
          <p:cNvSpPr/>
          <p:nvPr/>
        </p:nvSpPr>
        <p:spPr>
          <a:xfrm>
            <a:off x="548640" y="3779520"/>
            <a:ext cx="5349240" cy="464820"/>
          </a:xfrm>
          <a:prstGeom prst="rect">
            <a:avLst/>
          </a:prstGeom>
          <a:no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5  Someone </a:t>
            </a:r>
            <a:pPr indent="0" marL="0">
              <a:buNone/>
            </a:pPr>
            <a:r>
              <a:rPr lang="en-US" sz="1300" b="1" dirty="0">
                <a:solidFill>
                  <a:srgbClr val="2EB872"/>
                </a:solidFill>
                <a:latin typeface="Georgia" pitchFamily="34" charset="0"/>
                <a:ea typeface="Georgia" pitchFamily="34" charset="-122"/>
                <a:cs typeface="Georgia" pitchFamily="34" charset="-120"/>
              </a:rPr>
              <a:t> (6) ________ </a:t>
            </a:r>
            <a:pPr indent="0" marL="0">
              <a:buNone/>
            </a:pPr>
            <a:r>
              <a:rPr lang="en-US" sz="1300" dirty="0">
                <a:solidFill>
                  <a:srgbClr val="1B2559"/>
                </a:solidFill>
                <a:latin typeface="Georgia" pitchFamily="34" charset="0"/>
                <a:ea typeface="Georgia" pitchFamily="34" charset="-122"/>
                <a:cs typeface="Georgia" pitchFamily="34" charset="-120"/>
              </a:rPr>
              <a:t> given it to the cat.</a:t>
            </a:r>
            <a:endParaRPr lang="en-US" sz="1300" dirty="0"/>
          </a:p>
        </p:txBody>
      </p:sp>
      <p:sp>
        <p:nvSpPr>
          <p:cNvPr id="23" name="R5_lnA110"/>
          <p:cNvSpPr/>
          <p:nvPr/>
        </p:nvSpPr>
        <p:spPr>
          <a:xfrm>
            <a:off x="548640" y="3779520"/>
            <a:ext cx="5349240" cy="464820"/>
          </a:xfrm>
          <a:prstGeom prst="rect">
            <a:avLst/>
          </a:prstGeom>
          <a:solidFill>
            <a:srgbClr val="FFFFFF"/>
          </a:solid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5  Someone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might have</a:t>
            </a:r>
            <a:pPr indent="0" marL="0">
              <a:buNone/>
            </a:pPr>
            <a:r>
              <a:rPr lang="en-US" sz="1300" dirty="0">
                <a:solidFill>
                  <a:srgbClr val="1B2559"/>
                </a:solidFill>
                <a:latin typeface="Georgia" pitchFamily="34" charset="0"/>
                <a:ea typeface="Georgia" pitchFamily="34" charset="-122"/>
                <a:cs typeface="Georgia" pitchFamily="34" charset="-120"/>
              </a:rPr>
              <a:t> given it to the cat.</a:t>
            </a:r>
            <a:endParaRPr lang="en-US" sz="1300" dirty="0"/>
          </a:p>
        </p:txBody>
      </p:sp>
      <p:sp>
        <p:nvSpPr>
          <p:cNvPr id="24" name="ln_111"/>
          <p:cNvSpPr/>
          <p:nvPr/>
        </p:nvSpPr>
        <p:spPr>
          <a:xfrm>
            <a:off x="548640" y="4244340"/>
            <a:ext cx="5349240" cy="464820"/>
          </a:xfrm>
          <a:prstGeom prst="rect">
            <a:avLst/>
          </a:prstGeom>
          <a:no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6  …you </a:t>
            </a:r>
            <a:pPr indent="0" marL="0">
              <a:buNone/>
            </a:pPr>
            <a:r>
              <a:rPr lang="en-US" sz="1300" b="1" dirty="0">
                <a:solidFill>
                  <a:srgbClr val="2EB872"/>
                </a:solidFill>
                <a:latin typeface="Georgia" pitchFamily="34" charset="0"/>
                <a:ea typeface="Georgia" pitchFamily="34" charset="-122"/>
                <a:cs typeface="Georgia" pitchFamily="34" charset="-120"/>
              </a:rPr>
              <a:t> (7) ________ </a:t>
            </a:r>
            <a:pPr indent="0" marL="0">
              <a:buNone/>
            </a:pPr>
            <a:r>
              <a:rPr lang="en-US" sz="1300" dirty="0">
                <a:solidFill>
                  <a:srgbClr val="1B2559"/>
                </a:solidFill>
                <a:latin typeface="Georgia" pitchFamily="34" charset="0"/>
                <a:ea typeface="Georgia" pitchFamily="34" charset="-122"/>
                <a:cs typeface="Georgia" pitchFamily="34" charset="-120"/>
              </a:rPr>
              <a:t> put your name on it.</a:t>
            </a:r>
            <a:endParaRPr lang="en-US" sz="1300" dirty="0"/>
          </a:p>
        </p:txBody>
      </p:sp>
      <p:sp>
        <p:nvSpPr>
          <p:cNvPr id="25" name="R6_lnA112"/>
          <p:cNvSpPr/>
          <p:nvPr/>
        </p:nvSpPr>
        <p:spPr>
          <a:xfrm>
            <a:off x="548640" y="4244340"/>
            <a:ext cx="5349240" cy="464820"/>
          </a:xfrm>
          <a:prstGeom prst="rect">
            <a:avLst/>
          </a:prstGeom>
          <a:solidFill>
            <a:srgbClr val="FFFFFF"/>
          </a:solidFill>
          <a:ln/>
        </p:spPr>
        <p:txBody>
          <a:bodyPr wrap="square" lIns="0" tIns="0" rIns="0" bIns="0" rtlCol="0" anchor="ctr"/>
          <a:lstStyle/>
          <a:p>
            <a:pPr indent="0" marL="0">
              <a:buNone/>
            </a:pPr>
            <a:r>
              <a:rPr lang="en-US" sz="1300" dirty="0">
                <a:solidFill>
                  <a:srgbClr val="1B2559"/>
                </a:solidFill>
                <a:latin typeface="Georgia" pitchFamily="34" charset="0"/>
                <a:ea typeface="Georgia" pitchFamily="34" charset="-122"/>
                <a:cs typeface="Georgia" pitchFamily="34" charset="-120"/>
              </a:rPr>
              <a:t>6  …you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should have</a:t>
            </a:r>
            <a:pPr indent="0" marL="0">
              <a:buNone/>
            </a:pPr>
            <a:r>
              <a:rPr lang="en-US" sz="1300" dirty="0">
                <a:solidFill>
                  <a:srgbClr val="1B2559"/>
                </a:solidFill>
                <a:latin typeface="Georgia" pitchFamily="34" charset="0"/>
                <a:ea typeface="Georgia" pitchFamily="34" charset="-122"/>
                <a:cs typeface="Georgia" pitchFamily="34" charset="-120"/>
              </a:rPr>
              <a:t> put your name on it.</a:t>
            </a:r>
            <a:endParaRPr lang="en-US" sz="1300" dirty="0"/>
          </a:p>
        </p:txBody>
      </p:sp>
      <p:sp>
        <p:nvSpPr>
          <p:cNvPr id="26" name="ap_113"/>
          <p:cNvSpPr/>
          <p:nvPr/>
        </p:nvSpPr>
        <p:spPr>
          <a:xfrm>
            <a:off x="6263640" y="1417320"/>
            <a:ext cx="201168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7.2</a:t>
            </a:r>
            <a:endParaRPr lang="en-US" sz="1100" dirty="0"/>
          </a:p>
        </p:txBody>
      </p:sp>
      <p:sp>
        <p:nvSpPr>
          <p:cNvPr id="27" name="ah_114"/>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28"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29" name="ah_115"/>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30"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31" name="cd_116"/>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32" name="ii_117"/>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3" name="ih_118"/>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4" name="il_119"/>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modal + have + past participle</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have = /əv/ (weak)</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28"/>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8"/>
                                        </p:tgtEl>
                                      </p:cBhvr>
                                    </p:cmd>
                                  </p:childTnLst>
                                </p:cTn>
                              </p:par>
                            </p:childTnLst>
                          </p:cTn>
                        </p:par>
                      </p:childTnLst>
                    </p:cTn>
                  </p:par>
                </p:childTnLst>
              </p:cTn>
              <p:nextCondLst>
                <p:cond evt="onClick" delay="0">
                  <p:tgtEl>
                    <p:spTgt spid="28"/>
                  </p:tgtEl>
                </p:cond>
              </p:nextCondLst>
            </p:seq>
            <p:seq concurrent="1" nextAc="seek">
              <p:cTn id="38" restart="whenNotActive" fill="hold" evtFilter="cancelBubble" nodeType="interactiveSeq">
                <p:stCondLst>
                  <p:cond evt="onClick" delay="0">
                    <p:tgtEl>
                      <p:spTgt spid="30"/>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30"/>
                                        </p:tgtEl>
                                      </p:cBhvr>
                                    </p:cmd>
                                  </p:childTnLst>
                                </p:cTn>
                              </p:par>
                            </p:childTnLst>
                          </p:cTn>
                        </p:par>
                      </p:childTnLst>
                    </p:cTn>
                  </p:par>
                </p:childTnLst>
              </p:cTn>
              <p:nextCondLst>
                <p:cond evt="onClick" delay="0">
                  <p:tgtEl>
                    <p:spTgt spid="30"/>
                  </p:tgtEl>
                </p:cond>
              </p:nextCondLst>
            </p:seq>
            <p:audio>
              <p:cMediaNode vol="80000">
                <p:cTn id="43" fill="hold" display="0">
                  <p:stCondLst>
                    <p:cond delay="indefinite"/>
                  </p:stCondLst>
                  <p:endCondLst>
                    <p:cond evt="onStopAudio" delay="0">
                      <p:tgtEl>
                        <p:sldTgt/>
                      </p:tgtEl>
                    </p:cond>
                  </p:endCondLst>
                </p:cTn>
                <p:tgtEl>
                  <p:spTgt spid="28"/>
                </p:tgtEl>
              </p:cMediaNode>
            </p:audio>
            <p:audio>
              <p:cMediaNode vol="80000">
                <p:cTn id="44" fill="hold" display="0">
                  <p:stCondLst>
                    <p:cond delay="indefinite"/>
                  </p:stCondLst>
                  <p:endCondLst>
                    <p:cond evt="onStopAudio" delay="0">
                      <p:tgtEl>
                        <p:sldTgt/>
                      </p:tgtEl>
                    </p:cond>
                  </p:endCondLst>
                </p:cTn>
                <p:tgtEl>
                  <p:spTgt spid="3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0"/>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21"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122"/>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does it mean?</a:t>
            </a:r>
            <a:endParaRPr lang="en-US" sz="2500" dirty="0"/>
          </a:p>
        </p:txBody>
      </p:sp>
      <p:pic>
        <p:nvPicPr>
          <p:cNvPr id="6" name="brP_123" descr="/home/claude/lls-course/v2/assets/brush-pink.png">    </p:cNvPr>
          <p:cNvPicPr>
            <a:picLocks noChangeAspect="1"/>
          </p:cNvPicPr>
          <p:nvPr/>
        </p:nvPicPr>
        <p:blipFill>
          <a:blip r:embed="rId3"/>
          <a:stretch>
            <a:fillRect/>
          </a:stretch>
        </p:blipFill>
        <p:spPr>
          <a:xfrm>
            <a:off x="1207008" y="731520"/>
            <a:ext cx="4901184" cy="402336"/>
          </a:xfrm>
          <a:prstGeom prst="rect">
            <a:avLst/>
          </a:prstGeom>
        </p:spPr>
      </p:pic>
      <p:sp>
        <p:nvSpPr>
          <p:cNvPr id="7" name="ins_124"/>
          <p:cNvSpPr/>
          <p:nvPr/>
        </p:nvSpPr>
        <p:spPr>
          <a:xfrm>
            <a:off x="1353312" y="731520"/>
            <a:ext cx="464515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phrase means you think…? Match 1–6 to A–D.</a:t>
            </a:r>
            <a:endParaRPr lang="en-US" sz="1250" dirty="0"/>
          </a:p>
        </p:txBody>
      </p:sp>
      <p:sp>
        <p:nvSpPr>
          <p:cNvPr id="8" name="insIT_12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Quale frase significa…? Abbina 1–6 a A–D.</a:t>
            </a:r>
            <a:endParaRPr lang="en-US" sz="950" dirty="0"/>
          </a:p>
        </p:txBody>
      </p:sp>
      <p:sp>
        <p:nvSpPr>
          <p:cNvPr id="9" name="note_12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MATCH</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Controlled practice</a:t>
            </a:r>
            <a:endParaRPr lang="en-US" sz="1150" dirty="0"/>
          </a:p>
        </p:txBody>
      </p:sp>
      <p:pic>
        <p:nvPicPr>
          <p:cNvPr id="10" name="logo_12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2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Grammar · meaning   ·   📖 SB p.66 · 1d (TG key)</a:t>
            </a:r>
            <a:endParaRPr lang="en-US" sz="800" dirty="0"/>
          </a:p>
        </p:txBody>
      </p:sp>
      <p:sp>
        <p:nvSpPr>
          <p:cNvPr id="12" name="cd_129"/>
          <p:cNvSpPr/>
          <p:nvPr/>
        </p:nvSpPr>
        <p:spPr>
          <a:xfrm>
            <a:off x="320040" y="1417320"/>
            <a:ext cx="2697480" cy="969264"/>
          </a:xfrm>
          <a:prstGeom prst="roundRect">
            <a:avLst>
              <a:gd name="adj" fmla="val 1320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3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31"/>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132"/>
          <p:cNvSpPr/>
          <p:nvPr/>
        </p:nvSpPr>
        <p:spPr>
          <a:xfrm>
            <a:off x="886968" y="1911096"/>
            <a:ext cx="2039112" cy="402336"/>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A = 1, 2 → must have (you're almost sure)</a:t>
            </a:r>
            <a:endParaRPr lang="en-US" sz="1050" dirty="0"/>
          </a:p>
        </p:txBody>
      </p:sp>
      <p:sp>
        <p:nvSpPr>
          <p:cNvPr id="16" name="bd_133"/>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7" name="q_134"/>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A  it's very probable that something happened</a:t>
            </a:r>
            <a:endParaRPr lang="en-US" sz="1100" dirty="0"/>
          </a:p>
        </p:txBody>
      </p:sp>
      <p:sp>
        <p:nvSpPr>
          <p:cNvPr id="18" name="R1_chip135"/>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must have (1, 2)</a:t>
            </a:r>
            <a:endParaRPr lang="en-US" sz="1050" dirty="0"/>
          </a:p>
        </p:txBody>
      </p:sp>
      <p:sp>
        <p:nvSpPr>
          <p:cNvPr id="19" name="bd_136"/>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0" name="q_137"/>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B  it's possible that something happened</a:t>
            </a:r>
            <a:endParaRPr lang="en-US" sz="1150" dirty="0"/>
          </a:p>
        </p:txBody>
      </p:sp>
      <p:sp>
        <p:nvSpPr>
          <p:cNvPr id="21" name="R2_chip138"/>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might / could have (4, 5)</a:t>
            </a:r>
            <a:endParaRPr lang="en-US" sz="1050" dirty="0"/>
          </a:p>
        </p:txBody>
      </p:sp>
      <p:sp>
        <p:nvSpPr>
          <p:cNvPr id="22" name="bd_139"/>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3" name="q_140"/>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  it's impossible that something happened</a:t>
            </a:r>
            <a:endParaRPr lang="en-US" sz="1150" dirty="0"/>
          </a:p>
        </p:txBody>
      </p:sp>
      <p:sp>
        <p:nvSpPr>
          <p:cNvPr id="24" name="R3_chip141"/>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can't have (3)</a:t>
            </a:r>
            <a:endParaRPr lang="en-US" sz="1050" dirty="0"/>
          </a:p>
        </p:txBody>
      </p:sp>
      <p:sp>
        <p:nvSpPr>
          <p:cNvPr id="25" name="bd_142"/>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6" name="q_143"/>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D  somebody didn't do the right thing</a:t>
            </a:r>
            <a:endParaRPr lang="en-US" sz="1150" dirty="0"/>
          </a:p>
        </p:txBody>
      </p:sp>
      <p:sp>
        <p:nvSpPr>
          <p:cNvPr id="27" name="R4_chip144"/>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should have (6)</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45"/>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46" descr="/home/claude/lls-course/v2/assets/brush-yellow.png">    </p:cNvPr>
          <p:cNvPicPr>
            <a:picLocks noChangeAspect="1"/>
          </p:cNvPicPr>
          <p:nvPr/>
        </p:nvPicPr>
        <p:blipFill>
          <a:blip r:embed="rId2"/>
          <a:stretch>
            <a:fillRect/>
          </a:stretch>
        </p:blipFill>
        <p:spPr>
          <a:xfrm>
            <a:off x="1097280" y="146304"/>
            <a:ext cx="5607101" cy="621792"/>
          </a:xfrm>
          <a:prstGeom prst="rect">
            <a:avLst/>
          </a:prstGeom>
        </p:spPr>
      </p:pic>
      <p:sp>
        <p:nvSpPr>
          <p:cNvPr id="5" name="title_147"/>
          <p:cNvSpPr/>
          <p:nvPr/>
        </p:nvSpPr>
        <p:spPr>
          <a:xfrm>
            <a:off x="1261872" y="164592"/>
            <a:ext cx="5332781"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Sure, maybe, impossible, wrong?</a:t>
            </a:r>
            <a:endParaRPr lang="en-US" sz="2400" dirty="0"/>
          </a:p>
        </p:txBody>
      </p:sp>
      <p:pic>
        <p:nvPicPr>
          <p:cNvPr id="6" name="brP_148" descr="/home/claude/lls-course/v2/assets/brush-pink.png">    </p:cNvPr>
          <p:cNvPicPr>
            <a:picLocks noChangeAspect="1"/>
          </p:cNvPicPr>
          <p:nvPr/>
        </p:nvPicPr>
        <p:blipFill>
          <a:blip r:embed="rId3"/>
          <a:stretch>
            <a:fillRect/>
          </a:stretch>
        </p:blipFill>
        <p:spPr>
          <a:xfrm>
            <a:off x="1207008" y="731520"/>
            <a:ext cx="5248656" cy="402336"/>
          </a:xfrm>
          <a:prstGeom prst="rect">
            <a:avLst/>
          </a:prstGeom>
        </p:spPr>
      </p:pic>
      <p:sp>
        <p:nvSpPr>
          <p:cNvPr id="7" name="ins_149"/>
          <p:cNvSpPr/>
          <p:nvPr/>
        </p:nvSpPr>
        <p:spPr>
          <a:xfrm>
            <a:off x="1353312" y="731520"/>
            <a:ext cx="49926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situation. Make the deduction – then click!</a:t>
            </a:r>
            <a:endParaRPr lang="en-US" sz="1250" dirty="0"/>
          </a:p>
        </p:txBody>
      </p:sp>
      <p:sp>
        <p:nvSpPr>
          <p:cNvPr id="8" name="insIT_15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situazione. Fai la deduzione – poi clicca!</a:t>
            </a:r>
            <a:endParaRPr lang="en-US" sz="950" dirty="0"/>
          </a:p>
        </p:txBody>
      </p:sp>
      <p:sp>
        <p:nvSpPr>
          <p:cNvPr id="9" name="note_151"/>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a:t>
            </a:r>
            <a:endParaRPr lang="en-US" sz="1150" dirty="0"/>
          </a:p>
        </p:txBody>
      </p:sp>
      <p:pic>
        <p:nvPicPr>
          <p:cNvPr id="10" name="logo_15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5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Grammar Bank 7A · past modals   ·   📖 Grammar Bank 7A p.144 · audio 7.3, 7.4</a:t>
            </a:r>
            <a:endParaRPr lang="en-US" sz="800" dirty="0"/>
          </a:p>
        </p:txBody>
      </p:sp>
      <p:sp>
        <p:nvSpPr>
          <p:cNvPr id="12" name="cvl_154"/>
          <p:cNvSpPr/>
          <p:nvPr/>
        </p:nvSpPr>
        <p:spPr>
          <a:xfrm>
            <a:off x="320040" y="1417320"/>
            <a:ext cx="2971800" cy="372618"/>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I can't find my phone. I definitely remember having it at Anna's.</a:t>
            </a:r>
            <a:endParaRPr lang="en-US" sz="1000" dirty="0"/>
          </a:p>
        </p:txBody>
      </p:sp>
      <p:sp>
        <p:nvSpPr>
          <p:cNvPr id="13" name="cva_155"/>
          <p:cNvSpPr/>
          <p:nvPr/>
        </p:nvSpPr>
        <p:spPr>
          <a:xfrm>
            <a:off x="3364992" y="1417320"/>
            <a:ext cx="1024128" cy="372618"/>
          </a:xfrm>
          <a:prstGeom prst="roundRect">
            <a:avLst>
              <a:gd name="adj" fmla="val 14724"/>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almost sure ✓</a:t>
            </a:r>
            <a:endParaRPr lang="en-US" sz="1000" dirty="0"/>
          </a:p>
        </p:txBody>
      </p:sp>
      <p:sp>
        <p:nvSpPr>
          <p:cNvPr id="14" name="R1_cvb156"/>
          <p:cNvSpPr/>
          <p:nvPr/>
        </p:nvSpPr>
        <p:spPr>
          <a:xfrm>
            <a:off x="4443984" y="1417320"/>
            <a:ext cx="1024128" cy="372618"/>
          </a:xfrm>
          <a:prstGeom prst="roundRect">
            <a:avLst>
              <a:gd name="adj" fmla="val 14724"/>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must have</a:t>
            </a:r>
            <a:endParaRPr lang="en-US" sz="1000" dirty="0"/>
          </a:p>
        </p:txBody>
      </p:sp>
      <p:sp>
        <p:nvSpPr>
          <p:cNvPr id="15" name="R1_cvr157"/>
          <p:cNvSpPr/>
          <p:nvPr/>
        </p:nvSpPr>
        <p:spPr>
          <a:xfrm>
            <a:off x="5541264" y="1417320"/>
            <a:ext cx="3328416" cy="372618"/>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I </a:t>
            </a:r>
            <a:pPr algn="ctr" indent="0" marL="0">
              <a:buNone/>
            </a:pPr>
            <a:r>
              <a:rPr lang="en-US" sz="1000" b="1" dirty="0">
                <a:solidFill>
                  <a:srgbClr val="E8508F"/>
                </a:solidFill>
                <a:highlight>
                  <a:srgbClr val="FFF1A8"/>
                </a:highlight>
                <a:latin typeface="Segoe UI Semibold" pitchFamily="34" charset="0"/>
                <a:ea typeface="Segoe UI Semibold" pitchFamily="34" charset="-122"/>
                <a:cs typeface="Segoe UI Semibold" pitchFamily="34" charset="-120"/>
              </a:rPr>
              <a:t>must have left</a:t>
            </a:r>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 my phone at Anna's.</a:t>
            </a:r>
            <a:endParaRPr lang="en-US" sz="1000" dirty="0"/>
          </a:p>
        </p:txBody>
      </p:sp>
      <p:sp>
        <p:nvSpPr>
          <p:cNvPr id="16" name="cvl_158"/>
          <p:cNvSpPr/>
          <p:nvPr/>
        </p:nvSpPr>
        <p:spPr>
          <a:xfrm>
            <a:off x="320040" y="1835658"/>
            <a:ext cx="2971800" cy="372618"/>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You were there when the accident happened.</a:t>
            </a:r>
            <a:endParaRPr lang="en-US" sz="1000" dirty="0"/>
          </a:p>
        </p:txBody>
      </p:sp>
      <p:sp>
        <p:nvSpPr>
          <p:cNvPr id="17" name="cva_159"/>
          <p:cNvSpPr/>
          <p:nvPr/>
        </p:nvSpPr>
        <p:spPr>
          <a:xfrm>
            <a:off x="3364992" y="1835658"/>
            <a:ext cx="1024128" cy="372618"/>
          </a:xfrm>
          <a:prstGeom prst="roundRect">
            <a:avLst>
              <a:gd name="adj" fmla="val 14724"/>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almost sure ✓</a:t>
            </a:r>
            <a:endParaRPr lang="en-US" sz="1000" dirty="0"/>
          </a:p>
        </p:txBody>
      </p:sp>
      <p:sp>
        <p:nvSpPr>
          <p:cNvPr id="18" name="R2_cvb160"/>
          <p:cNvSpPr/>
          <p:nvPr/>
        </p:nvSpPr>
        <p:spPr>
          <a:xfrm>
            <a:off x="4443984" y="1835658"/>
            <a:ext cx="1024128" cy="372618"/>
          </a:xfrm>
          <a:prstGeom prst="roundRect">
            <a:avLst>
              <a:gd name="adj" fmla="val 14724"/>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must have</a:t>
            </a:r>
            <a:endParaRPr lang="en-US" sz="1000" dirty="0"/>
          </a:p>
        </p:txBody>
      </p:sp>
      <p:sp>
        <p:nvSpPr>
          <p:cNvPr id="19" name="R2_cvr161"/>
          <p:cNvSpPr/>
          <p:nvPr/>
        </p:nvSpPr>
        <p:spPr>
          <a:xfrm>
            <a:off x="5541264" y="1835658"/>
            <a:ext cx="3328416" cy="372618"/>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You </a:t>
            </a:r>
            <a:pPr algn="ctr" indent="0" marL="0">
              <a:buNone/>
            </a:pPr>
            <a:r>
              <a:rPr lang="en-US" sz="1000" b="1" dirty="0">
                <a:solidFill>
                  <a:srgbClr val="E8508F"/>
                </a:solidFill>
                <a:highlight>
                  <a:srgbClr val="FFF1A8"/>
                </a:highlight>
                <a:latin typeface="Segoe UI Semibold" pitchFamily="34" charset="0"/>
                <a:ea typeface="Segoe UI Semibold" pitchFamily="34" charset="-122"/>
                <a:cs typeface="Segoe UI Semibold" pitchFamily="34" charset="-120"/>
              </a:rPr>
              <a:t>must have seen</a:t>
            </a:r>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 something.</a:t>
            </a:r>
            <a:endParaRPr lang="en-US" sz="1000" dirty="0"/>
          </a:p>
        </p:txBody>
      </p:sp>
      <p:sp>
        <p:nvSpPr>
          <p:cNvPr id="20" name="cvl_162"/>
          <p:cNvSpPr/>
          <p:nvPr/>
        </p:nvSpPr>
        <p:spPr>
          <a:xfrm>
            <a:off x="320040" y="2253996"/>
            <a:ext cx="2971800" cy="372618"/>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My wallet isn't in my bag.</a:t>
            </a:r>
            <a:endParaRPr lang="en-US" sz="1000" dirty="0"/>
          </a:p>
        </p:txBody>
      </p:sp>
      <p:sp>
        <p:nvSpPr>
          <p:cNvPr id="21" name="cva_163"/>
          <p:cNvSpPr/>
          <p:nvPr/>
        </p:nvSpPr>
        <p:spPr>
          <a:xfrm>
            <a:off x="3364992" y="2253996"/>
            <a:ext cx="1024128" cy="372618"/>
          </a:xfrm>
          <a:prstGeom prst="roundRect">
            <a:avLst>
              <a:gd name="adj" fmla="val 14724"/>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possible ?</a:t>
            </a:r>
            <a:endParaRPr lang="en-US" sz="1000" dirty="0"/>
          </a:p>
        </p:txBody>
      </p:sp>
      <p:sp>
        <p:nvSpPr>
          <p:cNvPr id="22" name="R3_cvb164"/>
          <p:cNvSpPr/>
          <p:nvPr/>
        </p:nvSpPr>
        <p:spPr>
          <a:xfrm>
            <a:off x="4443984" y="2253996"/>
            <a:ext cx="1024128" cy="372618"/>
          </a:xfrm>
          <a:prstGeom prst="roundRect">
            <a:avLst>
              <a:gd name="adj" fmla="val 14724"/>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might / could have</a:t>
            </a:r>
            <a:endParaRPr lang="en-US" sz="1000" dirty="0"/>
          </a:p>
        </p:txBody>
      </p:sp>
      <p:sp>
        <p:nvSpPr>
          <p:cNvPr id="23" name="R3_cvr165"/>
          <p:cNvSpPr/>
          <p:nvPr/>
        </p:nvSpPr>
        <p:spPr>
          <a:xfrm>
            <a:off x="5541264" y="2253996"/>
            <a:ext cx="3328416" cy="372618"/>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Somebody </a:t>
            </a:r>
            <a:pPr algn="ctr" indent="0" marL="0">
              <a:buNone/>
            </a:pPr>
            <a:r>
              <a:rPr lang="en-US" sz="1000" b="1" dirty="0">
                <a:solidFill>
                  <a:srgbClr val="E8508F"/>
                </a:solidFill>
                <a:highlight>
                  <a:srgbClr val="FFF1A8"/>
                </a:highlight>
                <a:latin typeface="Segoe UI Semibold" pitchFamily="34" charset="0"/>
                <a:ea typeface="Segoe UI Semibold" pitchFamily="34" charset="-122"/>
                <a:cs typeface="Segoe UI Semibold" pitchFamily="34" charset="-120"/>
              </a:rPr>
              <a:t>might have stolen</a:t>
            </a:r>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 your wallet on the train.</a:t>
            </a:r>
            <a:endParaRPr lang="en-US" sz="1000" dirty="0"/>
          </a:p>
        </p:txBody>
      </p:sp>
      <p:sp>
        <p:nvSpPr>
          <p:cNvPr id="24" name="cvl_166"/>
          <p:cNvSpPr/>
          <p:nvPr/>
        </p:nvSpPr>
        <p:spPr>
          <a:xfrm>
            <a:off x="320040" y="2672334"/>
            <a:ext cx="2971800" cy="372618"/>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He still hasn't arrived.</a:t>
            </a:r>
            <a:endParaRPr lang="en-US" sz="1000" dirty="0"/>
          </a:p>
        </p:txBody>
      </p:sp>
      <p:sp>
        <p:nvSpPr>
          <p:cNvPr id="25" name="cva_167"/>
          <p:cNvSpPr/>
          <p:nvPr/>
        </p:nvSpPr>
        <p:spPr>
          <a:xfrm>
            <a:off x="3364992" y="2672334"/>
            <a:ext cx="1024128" cy="372618"/>
          </a:xfrm>
          <a:prstGeom prst="roundRect">
            <a:avLst>
              <a:gd name="adj" fmla="val 14724"/>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possible ?</a:t>
            </a:r>
            <a:endParaRPr lang="en-US" sz="1000" dirty="0"/>
          </a:p>
        </p:txBody>
      </p:sp>
      <p:sp>
        <p:nvSpPr>
          <p:cNvPr id="26" name="R4_cvb168"/>
          <p:cNvSpPr/>
          <p:nvPr/>
        </p:nvSpPr>
        <p:spPr>
          <a:xfrm>
            <a:off x="4443984" y="2672334"/>
            <a:ext cx="1024128" cy="372618"/>
          </a:xfrm>
          <a:prstGeom prst="roundRect">
            <a:avLst>
              <a:gd name="adj" fmla="val 14724"/>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may not have</a:t>
            </a:r>
            <a:endParaRPr lang="en-US" sz="1000" dirty="0"/>
          </a:p>
        </p:txBody>
      </p:sp>
      <p:sp>
        <p:nvSpPr>
          <p:cNvPr id="27" name="R4_cvr169"/>
          <p:cNvSpPr/>
          <p:nvPr/>
        </p:nvSpPr>
        <p:spPr>
          <a:xfrm>
            <a:off x="5541264" y="2672334"/>
            <a:ext cx="3328416" cy="372618"/>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He </a:t>
            </a:r>
            <a:pPr algn="ctr" indent="0" marL="0">
              <a:buNone/>
            </a:pPr>
            <a:r>
              <a:rPr lang="en-US" sz="1000" b="1" dirty="0">
                <a:solidFill>
                  <a:srgbClr val="E8508F"/>
                </a:solidFill>
                <a:highlight>
                  <a:srgbClr val="FFF1A8"/>
                </a:highlight>
                <a:latin typeface="Segoe UI Semibold" pitchFamily="34" charset="0"/>
                <a:ea typeface="Segoe UI Semibold" pitchFamily="34" charset="-122"/>
                <a:cs typeface="Segoe UI Semibold" pitchFamily="34" charset="-120"/>
              </a:rPr>
              <a:t>may not have been given</a:t>
            </a:r>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 the right directions.</a:t>
            </a:r>
            <a:endParaRPr lang="en-US" sz="1000" dirty="0"/>
          </a:p>
        </p:txBody>
      </p:sp>
      <p:sp>
        <p:nvSpPr>
          <p:cNvPr id="28" name="cvl_170"/>
          <p:cNvSpPr/>
          <p:nvPr/>
        </p:nvSpPr>
        <p:spPr>
          <a:xfrm>
            <a:off x="320040" y="3090672"/>
            <a:ext cx="2971800" cy="372618"/>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Her car's still there.</a:t>
            </a:r>
            <a:endParaRPr lang="en-US" sz="1000" dirty="0"/>
          </a:p>
        </p:txBody>
      </p:sp>
      <p:sp>
        <p:nvSpPr>
          <p:cNvPr id="29" name="cva_171"/>
          <p:cNvSpPr/>
          <p:nvPr/>
        </p:nvSpPr>
        <p:spPr>
          <a:xfrm>
            <a:off x="3364992" y="3090672"/>
            <a:ext cx="1024128" cy="372618"/>
          </a:xfrm>
          <a:prstGeom prst="roundRect">
            <a:avLst>
              <a:gd name="adj" fmla="val 14724"/>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impossible ✗</a:t>
            </a:r>
            <a:endParaRPr lang="en-US" sz="1000" dirty="0"/>
          </a:p>
        </p:txBody>
      </p:sp>
      <p:sp>
        <p:nvSpPr>
          <p:cNvPr id="30" name="R5_cvb172"/>
          <p:cNvSpPr/>
          <p:nvPr/>
        </p:nvSpPr>
        <p:spPr>
          <a:xfrm>
            <a:off x="4443984" y="3090672"/>
            <a:ext cx="1024128" cy="372618"/>
          </a:xfrm>
          <a:prstGeom prst="roundRect">
            <a:avLst>
              <a:gd name="adj" fmla="val 14724"/>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can't have</a:t>
            </a:r>
            <a:endParaRPr lang="en-US" sz="1000" dirty="0"/>
          </a:p>
        </p:txBody>
      </p:sp>
      <p:sp>
        <p:nvSpPr>
          <p:cNvPr id="31" name="R5_cvr173"/>
          <p:cNvSpPr/>
          <p:nvPr/>
        </p:nvSpPr>
        <p:spPr>
          <a:xfrm>
            <a:off x="5541264" y="3090672"/>
            <a:ext cx="3328416" cy="372618"/>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She </a:t>
            </a:r>
            <a:pPr algn="ctr" indent="0" marL="0">
              <a:buNone/>
            </a:pPr>
            <a:r>
              <a:rPr lang="en-US" sz="1000" b="1" dirty="0">
                <a:solidFill>
                  <a:srgbClr val="E8508F"/>
                </a:solidFill>
                <a:highlight>
                  <a:srgbClr val="FFF1A8"/>
                </a:highlight>
                <a:latin typeface="Segoe UI Semibold" pitchFamily="34" charset="0"/>
                <a:ea typeface="Segoe UI Semibold" pitchFamily="34" charset="-122"/>
                <a:cs typeface="Segoe UI Semibold" pitchFamily="34" charset="-120"/>
              </a:rPr>
              <a:t>can't have gone</a:t>
            </a:r>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 to work.</a:t>
            </a:r>
            <a:endParaRPr lang="en-US" sz="1000" dirty="0"/>
          </a:p>
        </p:txBody>
      </p:sp>
      <p:sp>
        <p:nvSpPr>
          <p:cNvPr id="32" name="cvl_174"/>
          <p:cNvSpPr/>
          <p:nvPr/>
        </p:nvSpPr>
        <p:spPr>
          <a:xfrm>
            <a:off x="320040" y="3509010"/>
            <a:ext cx="2971800" cy="372618"/>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It was too dark.</a:t>
            </a:r>
            <a:endParaRPr lang="en-US" sz="1000" dirty="0"/>
          </a:p>
        </p:txBody>
      </p:sp>
      <p:sp>
        <p:nvSpPr>
          <p:cNvPr id="33" name="cva_175"/>
          <p:cNvSpPr/>
          <p:nvPr/>
        </p:nvSpPr>
        <p:spPr>
          <a:xfrm>
            <a:off x="3364992" y="3509010"/>
            <a:ext cx="1024128" cy="372618"/>
          </a:xfrm>
          <a:prstGeom prst="roundRect">
            <a:avLst>
              <a:gd name="adj" fmla="val 14724"/>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impossible ✗</a:t>
            </a:r>
            <a:endParaRPr lang="en-US" sz="1000" dirty="0"/>
          </a:p>
        </p:txBody>
      </p:sp>
      <p:sp>
        <p:nvSpPr>
          <p:cNvPr id="34" name="R6_cvb176"/>
          <p:cNvSpPr/>
          <p:nvPr/>
        </p:nvSpPr>
        <p:spPr>
          <a:xfrm>
            <a:off x="4443984" y="3509010"/>
            <a:ext cx="1024128" cy="372618"/>
          </a:xfrm>
          <a:prstGeom prst="roundRect">
            <a:avLst>
              <a:gd name="adj" fmla="val 14724"/>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couldn't have</a:t>
            </a:r>
            <a:endParaRPr lang="en-US" sz="1000" dirty="0"/>
          </a:p>
        </p:txBody>
      </p:sp>
      <p:sp>
        <p:nvSpPr>
          <p:cNvPr id="35" name="R6_cvr177"/>
          <p:cNvSpPr/>
          <p:nvPr/>
        </p:nvSpPr>
        <p:spPr>
          <a:xfrm>
            <a:off x="5541264" y="3509010"/>
            <a:ext cx="3328416" cy="372618"/>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You </a:t>
            </a:r>
            <a:pPr algn="ctr" indent="0" marL="0">
              <a:buNone/>
            </a:pPr>
            <a:r>
              <a:rPr lang="en-US" sz="1000" b="1" dirty="0">
                <a:solidFill>
                  <a:srgbClr val="E8508F"/>
                </a:solidFill>
                <a:highlight>
                  <a:srgbClr val="FFF1A8"/>
                </a:highlight>
                <a:latin typeface="Segoe UI Semibold" pitchFamily="34" charset="0"/>
                <a:ea typeface="Segoe UI Semibold" pitchFamily="34" charset="-122"/>
                <a:cs typeface="Segoe UI Semibold" pitchFamily="34" charset="-120"/>
              </a:rPr>
              <a:t>couldn't have seen</a:t>
            </a:r>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 their faces very clearly.</a:t>
            </a:r>
            <a:endParaRPr lang="en-US" sz="1000" dirty="0"/>
          </a:p>
        </p:txBody>
      </p:sp>
      <p:sp>
        <p:nvSpPr>
          <p:cNvPr id="36" name="cvl_178"/>
          <p:cNvSpPr/>
          <p:nvPr/>
        </p:nvSpPr>
        <p:spPr>
          <a:xfrm>
            <a:off x="320040" y="3927348"/>
            <a:ext cx="2971800" cy="372618"/>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We've gone the wrong way.</a:t>
            </a:r>
            <a:endParaRPr lang="en-US" sz="1000" dirty="0"/>
          </a:p>
        </p:txBody>
      </p:sp>
      <p:sp>
        <p:nvSpPr>
          <p:cNvPr id="37" name="cva_179"/>
          <p:cNvSpPr/>
          <p:nvPr/>
        </p:nvSpPr>
        <p:spPr>
          <a:xfrm>
            <a:off x="3364992" y="3927348"/>
            <a:ext cx="1024128" cy="372618"/>
          </a:xfrm>
          <a:prstGeom prst="roundRect">
            <a:avLst>
              <a:gd name="adj" fmla="val 14724"/>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criticism</a:t>
            </a:r>
            <a:endParaRPr lang="en-US" sz="1000" dirty="0"/>
          </a:p>
        </p:txBody>
      </p:sp>
      <p:sp>
        <p:nvSpPr>
          <p:cNvPr id="38" name="R7_cvb180"/>
          <p:cNvSpPr/>
          <p:nvPr/>
        </p:nvSpPr>
        <p:spPr>
          <a:xfrm>
            <a:off x="4443984" y="3927348"/>
            <a:ext cx="1024128" cy="372618"/>
          </a:xfrm>
          <a:prstGeom prst="roundRect">
            <a:avLst>
              <a:gd name="adj" fmla="val 14724"/>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should have</a:t>
            </a:r>
            <a:endParaRPr lang="en-US" sz="1000" dirty="0"/>
          </a:p>
        </p:txBody>
      </p:sp>
      <p:sp>
        <p:nvSpPr>
          <p:cNvPr id="39" name="R7_cvr181"/>
          <p:cNvSpPr/>
          <p:nvPr/>
        </p:nvSpPr>
        <p:spPr>
          <a:xfrm>
            <a:off x="5541264" y="3927348"/>
            <a:ext cx="3328416" cy="372618"/>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We </a:t>
            </a:r>
            <a:pPr algn="ctr" indent="0" marL="0">
              <a:buNone/>
            </a:pPr>
            <a:r>
              <a:rPr lang="en-US" sz="1000" b="1" dirty="0">
                <a:solidFill>
                  <a:srgbClr val="E8508F"/>
                </a:solidFill>
                <a:highlight>
                  <a:srgbClr val="FFF1A8"/>
                </a:highlight>
                <a:latin typeface="Segoe UI Semibold" pitchFamily="34" charset="0"/>
                <a:ea typeface="Segoe UI Semibold" pitchFamily="34" charset="-122"/>
                <a:cs typeface="Segoe UI Semibold" pitchFamily="34" charset="-120"/>
              </a:rPr>
              <a:t>should have turned</a:t>
            </a:r>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 left at the traffic lights.</a:t>
            </a:r>
            <a:endParaRPr lang="en-US" sz="1000" dirty="0"/>
          </a:p>
        </p:txBody>
      </p:sp>
      <p:sp>
        <p:nvSpPr>
          <p:cNvPr id="40" name="cvl_182"/>
          <p:cNvSpPr/>
          <p:nvPr/>
        </p:nvSpPr>
        <p:spPr>
          <a:xfrm>
            <a:off x="320040" y="4345686"/>
            <a:ext cx="2971800" cy="372618"/>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It's my fault.</a:t>
            </a:r>
            <a:endParaRPr lang="en-US" sz="1000" dirty="0"/>
          </a:p>
        </p:txBody>
      </p:sp>
      <p:sp>
        <p:nvSpPr>
          <p:cNvPr id="41" name="cva_183"/>
          <p:cNvSpPr/>
          <p:nvPr/>
        </p:nvSpPr>
        <p:spPr>
          <a:xfrm>
            <a:off x="3364992" y="4345686"/>
            <a:ext cx="1024128" cy="372618"/>
          </a:xfrm>
          <a:prstGeom prst="roundRect">
            <a:avLst>
              <a:gd name="adj" fmla="val 14724"/>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criticism</a:t>
            </a:r>
            <a:endParaRPr lang="en-US" sz="1000" dirty="0"/>
          </a:p>
        </p:txBody>
      </p:sp>
      <p:sp>
        <p:nvSpPr>
          <p:cNvPr id="42" name="R8_cvb184"/>
          <p:cNvSpPr/>
          <p:nvPr/>
        </p:nvSpPr>
        <p:spPr>
          <a:xfrm>
            <a:off x="4443984" y="4345686"/>
            <a:ext cx="1024128" cy="372618"/>
          </a:xfrm>
          <a:prstGeom prst="roundRect">
            <a:avLst>
              <a:gd name="adj" fmla="val 14724"/>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ought to have</a:t>
            </a:r>
            <a:endParaRPr lang="en-US" sz="1000" dirty="0"/>
          </a:p>
        </p:txBody>
      </p:sp>
      <p:sp>
        <p:nvSpPr>
          <p:cNvPr id="43" name="R8_cvr185"/>
          <p:cNvSpPr/>
          <p:nvPr/>
        </p:nvSpPr>
        <p:spPr>
          <a:xfrm>
            <a:off x="5541264" y="4345686"/>
            <a:ext cx="3328416" cy="372618"/>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I </a:t>
            </a:r>
            <a:pPr algn="ctr" indent="0" marL="0">
              <a:buNone/>
            </a:pPr>
            <a:r>
              <a:rPr lang="en-US" sz="1000" b="1" dirty="0">
                <a:solidFill>
                  <a:srgbClr val="E8508F"/>
                </a:solidFill>
                <a:highlight>
                  <a:srgbClr val="FFF1A8"/>
                </a:highlight>
                <a:latin typeface="Segoe UI Semibold" pitchFamily="34" charset="0"/>
                <a:ea typeface="Segoe UI Semibold" pitchFamily="34" charset="-122"/>
                <a:cs typeface="Segoe UI Semibold" pitchFamily="34" charset="-120"/>
              </a:rPr>
              <a:t>ought to have told</a:t>
            </a:r>
            <a:pPr algn="ctr" indent="0" marL="0">
              <a:buNone/>
            </a:pPr>
            <a:r>
              <a:rPr lang="en-US" sz="1000" dirty="0">
                <a:solidFill>
                  <a:srgbClr val="1B2559"/>
                </a:solidFill>
                <a:latin typeface="Segoe UI Semibold" pitchFamily="34" charset="0"/>
                <a:ea typeface="Segoe UI Semibold" pitchFamily="34" charset="-122"/>
                <a:cs typeface="Segoe UI Semibold" pitchFamily="34" charset="-120"/>
              </a:rPr>
              <a:t> you earlier that my party was on Saturday.</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400"/>
                                        <p:tgtEl>
                                          <p:spTgt spid="30"/>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par>
                                <p:cTn id="48" presetID="10" presetClass="entr" presetSubtype="0"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00"/>
                                        <p:tgtEl>
                                          <p:spTgt spid="3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400"/>
                                        <p:tgtEl>
                                          <p:spTgt spid="38"/>
                                        </p:tgtEl>
                                      </p:cBhvr>
                                    </p:animEffect>
                                  </p:childTnLst>
                                </p:cTn>
                              </p:par>
                              <p:par>
                                <p:cTn id="56" presetID="10" presetClass="entr" presetSubtype="0" fill="hold"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400"/>
                                        <p:tgtEl>
                                          <p:spTgt spid="3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fade">
                                      <p:cBhvr>
                                        <p:cTn id="63" dur="400"/>
                                        <p:tgtEl>
                                          <p:spTgt spid="42"/>
                                        </p:tgtEl>
                                      </p:cBhvr>
                                    </p:animEffect>
                                  </p:childTnLst>
                                </p:cTn>
                              </p:par>
                              <p:par>
                                <p:cTn id="64" presetID="10" presetClass="entr" presetSubtype="0" fill="hold" nodeType="with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fade">
                                      <p:cBhvr>
                                        <p:cTn id="66"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86"/>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187"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88"/>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Grammar Bank practice</a:t>
            </a:r>
            <a:endParaRPr lang="en-US" sz="2400" dirty="0"/>
          </a:p>
        </p:txBody>
      </p:sp>
      <p:pic>
        <p:nvPicPr>
          <p:cNvPr id="6" name="brP_189"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90"/>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Grammar Bank 7A a: rewrite the bold sentences with must / might (not) / can't + have.</a:t>
            </a:r>
            <a:endParaRPr lang="en-US" sz="1100" dirty="0"/>
          </a:p>
        </p:txBody>
      </p:sp>
      <p:sp>
        <p:nvSpPr>
          <p:cNvPr id="8" name="insIT_19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Grammar Bank 7A a: riscrivi le frasi in grassetto.</a:t>
            </a:r>
            <a:endParaRPr lang="en-US" sz="950" dirty="0"/>
          </a:p>
        </p:txBody>
      </p:sp>
      <p:sp>
        <p:nvSpPr>
          <p:cNvPr id="9" name="note_19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TPRS · reading</a:t>
            </a:r>
            <a:endParaRPr lang="en-US" sz="1150" dirty="0"/>
          </a:p>
        </p:txBody>
      </p:sp>
      <p:pic>
        <p:nvPicPr>
          <p:cNvPr id="10" name="logo_19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9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Grammar Bank 7A p.144 · a   ·   📖 Grammar Bank 7A p.144 · a (TG key)</a:t>
            </a:r>
            <a:endParaRPr lang="en-US" sz="800" dirty="0"/>
          </a:p>
        </p:txBody>
      </p:sp>
      <p:sp>
        <p:nvSpPr>
          <p:cNvPr id="12" name="cd_195"/>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196"/>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Rewrite the sentence</a:t>
            </a:r>
            <a:endParaRPr lang="en-US" sz="1700" dirty="0"/>
          </a:p>
        </p:txBody>
      </p:sp>
      <p:sp>
        <p:nvSpPr>
          <p:cNvPr id="14" name="ln_197"/>
          <p:cNvSpPr/>
          <p:nvPr/>
        </p:nvSpPr>
        <p:spPr>
          <a:xfrm>
            <a:off x="548640" y="1920240"/>
            <a:ext cx="5349240" cy="262340"/>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e.g. I'm certain I left my umbrella at home. → I </a:t>
            </a:r>
            <a:pPr indent="0" marL="0">
              <a:buNone/>
            </a:pPr>
            <a:r>
              <a:rPr lang="en-US" sz="850" b="1" u="sng" dirty="0">
                <a:solidFill>
                  <a:srgbClr val="7B5CD6"/>
                </a:solidFill>
                <a:latin typeface="Georgia" pitchFamily="34" charset="0"/>
                <a:ea typeface="Georgia" pitchFamily="34" charset="-122"/>
                <a:cs typeface="Georgia" pitchFamily="34" charset="-120"/>
              </a:rPr>
              <a:t>must have left</a:t>
            </a:r>
            <a:pPr indent="0" marL="0">
              <a:buNone/>
            </a:pPr>
            <a:r>
              <a:rPr lang="en-US" sz="850" dirty="0">
                <a:solidFill>
                  <a:srgbClr val="1B2559"/>
                </a:solidFill>
                <a:latin typeface="Georgia" pitchFamily="34" charset="0"/>
                <a:ea typeface="Georgia" pitchFamily="34" charset="-122"/>
                <a:cs typeface="Georgia" pitchFamily="34" charset="-120"/>
              </a:rPr>
              <a:t> my umbrella at home.</a:t>
            </a:r>
            <a:endParaRPr lang="en-US" sz="850" dirty="0"/>
          </a:p>
        </p:txBody>
      </p:sp>
      <p:sp>
        <p:nvSpPr>
          <p:cNvPr id="15" name="ln_198"/>
          <p:cNvSpPr/>
          <p:nvPr/>
        </p:nvSpPr>
        <p:spPr>
          <a:xfrm>
            <a:off x="548640" y="2182580"/>
            <a:ext cx="5349240" cy="396633"/>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1  Holly's crying. Perhaps she's had an argument with her boyfriend. → She </a:t>
            </a:r>
            <a:pPr indent="0" marL="0">
              <a:buNone/>
            </a:pPr>
            <a:r>
              <a:rPr lang="en-US" sz="850" b="1" dirty="0">
                <a:solidFill>
                  <a:srgbClr val="2EB872"/>
                </a:solidFill>
                <a:latin typeface="Georgia" pitchFamily="34" charset="0"/>
                <a:ea typeface="Georgia" pitchFamily="34" charset="-122"/>
                <a:cs typeface="Georgia" pitchFamily="34" charset="-120"/>
              </a:rPr>
              <a:t> (1) ________ </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16" name="R1_lnA199"/>
          <p:cNvSpPr/>
          <p:nvPr/>
        </p:nvSpPr>
        <p:spPr>
          <a:xfrm>
            <a:off x="548640" y="2182580"/>
            <a:ext cx="5349240" cy="396633"/>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1  Holly's crying. Perhaps she's had an argument with her boyfriend. → She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might have had an argument with her boyfriend</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17" name="ln_200"/>
          <p:cNvSpPr/>
          <p:nvPr/>
        </p:nvSpPr>
        <p:spPr>
          <a:xfrm>
            <a:off x="548640" y="2579212"/>
            <a:ext cx="5349240" cy="221739"/>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2  I'm sure Ben has read my email. → Ben </a:t>
            </a:r>
            <a:pPr indent="0" marL="0">
              <a:buNone/>
            </a:pPr>
            <a:r>
              <a:rPr lang="en-US" sz="850" b="1" dirty="0">
                <a:solidFill>
                  <a:srgbClr val="2EB872"/>
                </a:solidFill>
                <a:latin typeface="Georgia" pitchFamily="34" charset="0"/>
                <a:ea typeface="Georgia" pitchFamily="34" charset="-122"/>
                <a:cs typeface="Georgia" pitchFamily="34" charset="-120"/>
              </a:rPr>
              <a:t> (2) ________ </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18" name="R2_lnA201"/>
          <p:cNvSpPr/>
          <p:nvPr/>
        </p:nvSpPr>
        <p:spPr>
          <a:xfrm>
            <a:off x="548640" y="2579212"/>
            <a:ext cx="5349240" cy="221739"/>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2  I'm sure Ben has read my email. → Ben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must have read my email</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19" name="ln_202"/>
          <p:cNvSpPr/>
          <p:nvPr/>
        </p:nvSpPr>
        <p:spPr>
          <a:xfrm>
            <a:off x="548640" y="2800952"/>
            <a:ext cx="5349240" cy="240478"/>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3  I'm sure Sam and Ginny haven't got lost. → They </a:t>
            </a:r>
            <a:pPr indent="0" marL="0">
              <a:buNone/>
            </a:pPr>
            <a:r>
              <a:rPr lang="en-US" sz="850" b="1" dirty="0">
                <a:solidFill>
                  <a:srgbClr val="2EB872"/>
                </a:solidFill>
                <a:latin typeface="Georgia" pitchFamily="34" charset="0"/>
                <a:ea typeface="Georgia" pitchFamily="34" charset="-122"/>
                <a:cs typeface="Georgia" pitchFamily="34" charset="-120"/>
              </a:rPr>
              <a:t> (3) ________ </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0" name="R3_lnA203"/>
          <p:cNvSpPr/>
          <p:nvPr/>
        </p:nvSpPr>
        <p:spPr>
          <a:xfrm>
            <a:off x="548640" y="2800952"/>
            <a:ext cx="5349240" cy="240478"/>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3  I'm sure Sam and Ginny haven't got lost. → They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can't have got lost</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1" name="ln_204"/>
          <p:cNvSpPr/>
          <p:nvPr/>
        </p:nvSpPr>
        <p:spPr>
          <a:xfrm>
            <a:off x="548640" y="3041430"/>
            <a:ext cx="5349240" cy="284201"/>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4  You saw Ellie yesterday? That's impossible. → You </a:t>
            </a:r>
            <a:pPr indent="0" marL="0">
              <a:buNone/>
            </a:pPr>
            <a:r>
              <a:rPr lang="en-US" sz="850" b="1" dirty="0">
                <a:solidFill>
                  <a:srgbClr val="2EB872"/>
                </a:solidFill>
                <a:latin typeface="Georgia" pitchFamily="34" charset="0"/>
                <a:ea typeface="Georgia" pitchFamily="34" charset="-122"/>
                <a:cs typeface="Georgia" pitchFamily="34" charset="-120"/>
              </a:rPr>
              <a:t> (4) ________ </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2" name="R4_lnA205"/>
          <p:cNvSpPr/>
          <p:nvPr/>
        </p:nvSpPr>
        <p:spPr>
          <a:xfrm>
            <a:off x="548640" y="3041430"/>
            <a:ext cx="5349240" cy="284201"/>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4  You saw Ellie yesterday? That's impossible. → You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can't have seen Ellie yesterday</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3" name="ln_206"/>
          <p:cNvSpPr/>
          <p:nvPr/>
        </p:nvSpPr>
        <p:spPr>
          <a:xfrm>
            <a:off x="548640" y="3325631"/>
            <a:ext cx="5349240" cy="215493"/>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5  Perhaps John didn't see you. → John </a:t>
            </a:r>
            <a:pPr indent="0" marL="0">
              <a:buNone/>
            </a:pPr>
            <a:r>
              <a:rPr lang="en-US" sz="850" b="1" dirty="0">
                <a:solidFill>
                  <a:srgbClr val="2EB872"/>
                </a:solidFill>
                <a:latin typeface="Georgia" pitchFamily="34" charset="0"/>
                <a:ea typeface="Georgia" pitchFamily="34" charset="-122"/>
                <a:cs typeface="Georgia" pitchFamily="34" charset="-120"/>
              </a:rPr>
              <a:t> (5) ________ </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4" name="R5_lnA207"/>
          <p:cNvSpPr/>
          <p:nvPr/>
        </p:nvSpPr>
        <p:spPr>
          <a:xfrm>
            <a:off x="548640" y="3325631"/>
            <a:ext cx="5349240" cy="215493"/>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5  Perhaps John didn't see you. → John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might not have seen you</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5" name="ln_208"/>
          <p:cNvSpPr/>
          <p:nvPr/>
        </p:nvSpPr>
        <p:spPr>
          <a:xfrm>
            <a:off x="548640" y="3541124"/>
            <a:ext cx="5349240" cy="246724"/>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6  I'm sure Lucy has bought a new car. → Lucy </a:t>
            </a:r>
            <a:pPr indent="0" marL="0">
              <a:buNone/>
            </a:pPr>
            <a:r>
              <a:rPr lang="en-US" sz="850" b="1" dirty="0">
                <a:solidFill>
                  <a:srgbClr val="2EB872"/>
                </a:solidFill>
                <a:latin typeface="Georgia" pitchFamily="34" charset="0"/>
                <a:ea typeface="Georgia" pitchFamily="34" charset="-122"/>
                <a:cs typeface="Georgia" pitchFamily="34" charset="-120"/>
              </a:rPr>
              <a:t> (6) ________ </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6" name="R6_lnA209"/>
          <p:cNvSpPr/>
          <p:nvPr/>
        </p:nvSpPr>
        <p:spPr>
          <a:xfrm>
            <a:off x="548640" y="3541124"/>
            <a:ext cx="5349240" cy="246724"/>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6  I'm sure Lucy has bought a new car. → Lucy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must have bought a new car</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7" name="ln_210"/>
          <p:cNvSpPr/>
          <p:nvPr/>
        </p:nvSpPr>
        <p:spPr>
          <a:xfrm>
            <a:off x="548640" y="3787848"/>
            <a:ext cx="5349240" cy="224863"/>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7  I'm sure Alex wasn't very ill. → Alex </a:t>
            </a:r>
            <a:pPr indent="0" marL="0">
              <a:buNone/>
            </a:pPr>
            <a:r>
              <a:rPr lang="en-US" sz="850" b="1" dirty="0">
                <a:solidFill>
                  <a:srgbClr val="2EB872"/>
                </a:solidFill>
                <a:latin typeface="Georgia" pitchFamily="34" charset="0"/>
                <a:ea typeface="Georgia" pitchFamily="34" charset="-122"/>
                <a:cs typeface="Georgia" pitchFamily="34" charset="-120"/>
              </a:rPr>
              <a:t> (7) ________ </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8" name="R7_lnA211"/>
          <p:cNvSpPr/>
          <p:nvPr/>
        </p:nvSpPr>
        <p:spPr>
          <a:xfrm>
            <a:off x="548640" y="3787848"/>
            <a:ext cx="5349240" cy="224863"/>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7  I'm sure Alex wasn't very ill. → Alex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can't have been very ill</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9" name="ln_212"/>
          <p:cNvSpPr/>
          <p:nvPr/>
        </p:nvSpPr>
        <p:spPr>
          <a:xfrm>
            <a:off x="548640" y="4012711"/>
            <a:ext cx="5349240" cy="224863"/>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8  Maybe they weren't invited. → They </a:t>
            </a:r>
            <a:pPr indent="0" marL="0">
              <a:buNone/>
            </a:pPr>
            <a:r>
              <a:rPr lang="en-US" sz="850" b="1" dirty="0">
                <a:solidFill>
                  <a:srgbClr val="2EB872"/>
                </a:solidFill>
                <a:latin typeface="Georgia" pitchFamily="34" charset="0"/>
                <a:ea typeface="Georgia" pitchFamily="34" charset="-122"/>
                <a:cs typeface="Georgia" pitchFamily="34" charset="-120"/>
              </a:rPr>
              <a:t> (8) ________ </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30" name="R8_lnA213"/>
          <p:cNvSpPr/>
          <p:nvPr/>
        </p:nvSpPr>
        <p:spPr>
          <a:xfrm>
            <a:off x="548640" y="4012711"/>
            <a:ext cx="5349240" cy="224863"/>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8  Maybe they weren't invited. → They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might not have been invited</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31" name="ln_214"/>
          <p:cNvSpPr/>
          <p:nvPr/>
        </p:nvSpPr>
        <p:spPr>
          <a:xfrm>
            <a:off x="548640" y="4237573"/>
            <a:ext cx="5349240" cy="246724"/>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9  I'm sure you used too much sugar. → You </a:t>
            </a:r>
            <a:pPr indent="0" marL="0">
              <a:buNone/>
            </a:pPr>
            <a:r>
              <a:rPr lang="en-US" sz="850" b="1" dirty="0">
                <a:solidFill>
                  <a:srgbClr val="2EB872"/>
                </a:solidFill>
                <a:latin typeface="Georgia" pitchFamily="34" charset="0"/>
                <a:ea typeface="Georgia" pitchFamily="34" charset="-122"/>
                <a:cs typeface="Georgia" pitchFamily="34" charset="-120"/>
              </a:rPr>
              <a:t> (9) ________ </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32" name="R9_lnA215"/>
          <p:cNvSpPr/>
          <p:nvPr/>
        </p:nvSpPr>
        <p:spPr>
          <a:xfrm>
            <a:off x="548640" y="4237573"/>
            <a:ext cx="5349240" cy="246724"/>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9  I'm sure you used too much sugar. → You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must have used too much sugar</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33" name="ln_216"/>
          <p:cNvSpPr/>
          <p:nvPr/>
        </p:nvSpPr>
        <p:spPr>
          <a:xfrm>
            <a:off x="548640" y="4484297"/>
            <a:ext cx="5349240" cy="224863"/>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10  It definitely wasn't my phone. → It </a:t>
            </a:r>
            <a:pPr indent="0" marL="0">
              <a:buNone/>
            </a:pPr>
            <a:r>
              <a:rPr lang="en-US" sz="850" b="1" dirty="0">
                <a:solidFill>
                  <a:srgbClr val="2EB872"/>
                </a:solidFill>
                <a:latin typeface="Georgia" pitchFamily="34" charset="0"/>
                <a:ea typeface="Georgia" pitchFamily="34" charset="-122"/>
                <a:cs typeface="Georgia" pitchFamily="34" charset="-120"/>
              </a:rPr>
              <a:t> (10) ________ </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34" name="R10_lnA217"/>
          <p:cNvSpPr/>
          <p:nvPr/>
        </p:nvSpPr>
        <p:spPr>
          <a:xfrm>
            <a:off x="548640" y="4484297"/>
            <a:ext cx="5349240" cy="224863"/>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10  It definitely wasn't my phone. → It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can't have been my phone</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35" name="cd_218"/>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36" name="ii_219"/>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7" name="ih_220"/>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8" name="il_221"/>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sure ✓ → must have</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impossible → can't have</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4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23" descr="/home/claude/lls-course/v2/assets/brush-yellow.png">    </p:cNvPr>
          <p:cNvPicPr>
            <a:picLocks noChangeAspect="1"/>
          </p:cNvPicPr>
          <p:nvPr/>
        </p:nvPicPr>
        <p:blipFill>
          <a:blip r:embed="rId2"/>
          <a:stretch>
            <a:fillRect/>
          </a:stretch>
        </p:blipFill>
        <p:spPr>
          <a:xfrm>
            <a:off x="1097280" y="146304"/>
            <a:ext cx="5292547" cy="621792"/>
          </a:xfrm>
          <a:prstGeom prst="rect">
            <a:avLst/>
          </a:prstGeom>
        </p:spPr>
      </p:pic>
      <p:sp>
        <p:nvSpPr>
          <p:cNvPr id="5" name="title_224"/>
          <p:cNvSpPr/>
          <p:nvPr/>
        </p:nvSpPr>
        <p:spPr>
          <a:xfrm>
            <a:off x="1261872" y="164592"/>
            <a:ext cx="501822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Must, might, can't or should?</a:t>
            </a:r>
            <a:endParaRPr lang="en-US" sz="2500" dirty="0"/>
          </a:p>
        </p:txBody>
      </p:sp>
      <p:pic>
        <p:nvPicPr>
          <p:cNvPr id="6" name="brP_225"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226"/>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Teams: choose the correct option. Say WHY!</a:t>
            </a:r>
            <a:endParaRPr lang="en-US" sz="1250" dirty="0"/>
          </a:p>
        </p:txBody>
      </p:sp>
      <p:sp>
        <p:nvSpPr>
          <p:cNvPr id="8" name="insIT_22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Squadre: scegliete l'opzione giusta. Dite PERCHÉ!</a:t>
            </a:r>
            <a:endParaRPr lang="en-US" sz="950" dirty="0"/>
          </a:p>
        </p:txBody>
      </p:sp>
      <p:sp>
        <p:nvSpPr>
          <p:cNvPr id="9" name="note_22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 game</a:t>
            </a:r>
            <a:endParaRPr lang="en-US" sz="1250" dirty="0"/>
          </a:p>
        </p:txBody>
      </p:sp>
      <p:pic>
        <p:nvPicPr>
          <p:cNvPr id="10" name="logo_22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3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Grammar · choose the right option   ·   📖 Grammar Bank 7A rules 1–3 + should have (TG grammar notes)</a:t>
            </a:r>
            <a:endParaRPr lang="en-US" sz="800" dirty="0"/>
          </a:p>
        </p:txBody>
      </p:sp>
      <p:sp>
        <p:nvSpPr>
          <p:cNvPr id="12" name="cd_231"/>
          <p:cNvSpPr/>
          <p:nvPr/>
        </p:nvSpPr>
        <p:spPr>
          <a:xfrm>
            <a:off x="320040" y="1417320"/>
            <a:ext cx="2697480" cy="2112264"/>
          </a:xfrm>
          <a:prstGeom prst="roundRect">
            <a:avLst>
              <a:gd name="adj" fmla="val 606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3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33"/>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234"/>
          <p:cNvSpPr/>
          <p:nvPr/>
        </p:nvSpPr>
        <p:spPr>
          <a:xfrm>
            <a:off x="886968" y="1911096"/>
            <a:ext cx="2039112" cy="15453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Read the sentence. Choose A or B.</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Correct = 1 point.</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Say the meaning (sure / maybe / impossible / criticism) = 1 more point!</a:t>
            </a:r>
            <a:endParaRPr lang="en-US" sz="1200" dirty="0"/>
          </a:p>
        </p:txBody>
      </p:sp>
      <p:sp>
        <p:nvSpPr>
          <p:cNvPr id="16" name="st_235"/>
          <p:cNvSpPr/>
          <p:nvPr/>
        </p:nvSpPr>
        <p:spPr>
          <a:xfrm rot="-180000">
            <a:off x="502920" y="3712464"/>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236"/>
          <p:cNvSpPr/>
          <p:nvPr/>
        </p:nvSpPr>
        <p:spPr>
          <a:xfrm>
            <a:off x="3246120" y="1452590"/>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237"/>
          <p:cNvSpPr/>
          <p:nvPr/>
        </p:nvSpPr>
        <p:spPr>
          <a:xfrm>
            <a:off x="3657600" y="1417320"/>
            <a:ext cx="2514600" cy="399723"/>
          </a:xfrm>
          <a:prstGeom prst="roundRect">
            <a:avLst>
              <a:gd name="adj" fmla="val 22876"/>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He's not answering. He must / can't have gone to bed.</a:t>
            </a:r>
            <a:endParaRPr lang="en-US" sz="950" dirty="0"/>
          </a:p>
        </p:txBody>
      </p:sp>
      <p:sp>
        <p:nvSpPr>
          <p:cNvPr id="19" name="chip_238"/>
          <p:cNvSpPr/>
          <p:nvPr/>
        </p:nvSpPr>
        <p:spPr>
          <a:xfrm>
            <a:off x="6263640" y="1417320"/>
            <a:ext cx="2560320" cy="399723"/>
          </a:xfrm>
          <a:prstGeom prst="roundRect">
            <a:avLst>
              <a:gd name="adj" fmla="val 22876"/>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must (almost sure)</a:t>
            </a:r>
            <a:endParaRPr lang="en-US" sz="1200" dirty="0"/>
          </a:p>
        </p:txBody>
      </p:sp>
      <p:sp>
        <p:nvSpPr>
          <p:cNvPr id="20" name="bd_239"/>
          <p:cNvSpPr/>
          <p:nvPr/>
        </p:nvSpPr>
        <p:spPr>
          <a:xfrm>
            <a:off x="3246120" y="1916321"/>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240"/>
          <p:cNvSpPr/>
          <p:nvPr/>
        </p:nvSpPr>
        <p:spPr>
          <a:xfrm>
            <a:off x="3657600" y="1881051"/>
            <a:ext cx="2514600" cy="399723"/>
          </a:xfrm>
          <a:prstGeom prst="roundRect">
            <a:avLst>
              <a:gd name="adj" fmla="val 2287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She can't / mustn't have seen me – I was in bed all day.</a:t>
            </a:r>
            <a:endParaRPr lang="en-US" sz="950" dirty="0"/>
          </a:p>
        </p:txBody>
      </p:sp>
      <p:sp>
        <p:nvSpPr>
          <p:cNvPr id="22" name="R1_chip241"/>
          <p:cNvSpPr/>
          <p:nvPr/>
        </p:nvSpPr>
        <p:spPr>
          <a:xfrm>
            <a:off x="6263640" y="1881051"/>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can't (✗ mustn't have)</a:t>
            </a:r>
            <a:endParaRPr lang="en-US" sz="1200" dirty="0"/>
          </a:p>
        </p:txBody>
      </p:sp>
      <p:sp>
        <p:nvSpPr>
          <p:cNvPr id="23" name="bd_242"/>
          <p:cNvSpPr/>
          <p:nvPr/>
        </p:nvSpPr>
        <p:spPr>
          <a:xfrm>
            <a:off x="3246120" y="2380053"/>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243"/>
          <p:cNvSpPr/>
          <p:nvPr/>
        </p:nvSpPr>
        <p:spPr>
          <a:xfrm>
            <a:off x="3657600" y="2344783"/>
            <a:ext cx="2514600" cy="399723"/>
          </a:xfrm>
          <a:prstGeom prst="roundRect">
            <a:avLst>
              <a:gd name="adj" fmla="val 2287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You should / must have told me it was your birthday!</a:t>
            </a:r>
            <a:endParaRPr lang="en-US" sz="950" dirty="0"/>
          </a:p>
        </p:txBody>
      </p:sp>
      <p:sp>
        <p:nvSpPr>
          <p:cNvPr id="25" name="R2_chip244"/>
          <p:cNvSpPr/>
          <p:nvPr/>
        </p:nvSpPr>
        <p:spPr>
          <a:xfrm>
            <a:off x="6263640" y="2344783"/>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should (criticism)</a:t>
            </a:r>
            <a:endParaRPr lang="en-US" sz="1200" dirty="0"/>
          </a:p>
        </p:txBody>
      </p:sp>
      <p:sp>
        <p:nvSpPr>
          <p:cNvPr id="26" name="bd_245"/>
          <p:cNvSpPr/>
          <p:nvPr/>
        </p:nvSpPr>
        <p:spPr>
          <a:xfrm>
            <a:off x="3246120" y="284378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246"/>
          <p:cNvSpPr/>
          <p:nvPr/>
        </p:nvSpPr>
        <p:spPr>
          <a:xfrm>
            <a:off x="3657600" y="2808514"/>
            <a:ext cx="2514600" cy="399723"/>
          </a:xfrm>
          <a:prstGeom prst="roundRect">
            <a:avLst>
              <a:gd name="adj" fmla="val 2287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I don't know where Tom is. He might / must have missed the bus.</a:t>
            </a:r>
            <a:endParaRPr lang="en-US" sz="950" dirty="0"/>
          </a:p>
        </p:txBody>
      </p:sp>
      <p:sp>
        <p:nvSpPr>
          <p:cNvPr id="28" name="R3_chip247"/>
          <p:cNvSpPr/>
          <p:nvPr/>
        </p:nvSpPr>
        <p:spPr>
          <a:xfrm>
            <a:off x="6263640" y="2808514"/>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might (possible)</a:t>
            </a:r>
            <a:endParaRPr lang="en-US" sz="1200" dirty="0"/>
          </a:p>
        </p:txBody>
      </p:sp>
      <p:sp>
        <p:nvSpPr>
          <p:cNvPr id="29" name="bd_248"/>
          <p:cNvSpPr/>
          <p:nvPr/>
        </p:nvSpPr>
        <p:spPr>
          <a:xfrm>
            <a:off x="3246120" y="3307515"/>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249"/>
          <p:cNvSpPr/>
          <p:nvPr/>
        </p:nvSpPr>
        <p:spPr>
          <a:xfrm>
            <a:off x="3657600" y="3272246"/>
            <a:ext cx="2514600" cy="399723"/>
          </a:xfrm>
          <a:prstGeom prst="roundRect">
            <a:avLst>
              <a:gd name="adj" fmla="val 2287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They can't / should have got lost – they've got satnav.</a:t>
            </a:r>
            <a:endParaRPr lang="en-US" sz="950" dirty="0"/>
          </a:p>
        </p:txBody>
      </p:sp>
      <p:sp>
        <p:nvSpPr>
          <p:cNvPr id="31" name="R4_chip250"/>
          <p:cNvSpPr/>
          <p:nvPr/>
        </p:nvSpPr>
        <p:spPr>
          <a:xfrm>
            <a:off x="6263640" y="3272246"/>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can't (impossible)</a:t>
            </a:r>
            <a:endParaRPr lang="en-US" sz="1200" dirty="0"/>
          </a:p>
        </p:txBody>
      </p:sp>
      <p:sp>
        <p:nvSpPr>
          <p:cNvPr id="32" name="bd_251"/>
          <p:cNvSpPr/>
          <p:nvPr/>
        </p:nvSpPr>
        <p:spPr>
          <a:xfrm>
            <a:off x="3246120" y="3771247"/>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252"/>
          <p:cNvSpPr/>
          <p:nvPr/>
        </p:nvSpPr>
        <p:spPr>
          <a:xfrm>
            <a:off x="3657600" y="3735977"/>
            <a:ext cx="2514600" cy="399723"/>
          </a:xfrm>
          <a:prstGeom prst="roundRect">
            <a:avLst>
              <a:gd name="adj" fmla="val 2287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You shouldn't / can't have driven here – you'd had a glass of wine.</a:t>
            </a:r>
            <a:endParaRPr lang="en-US" sz="950" dirty="0"/>
          </a:p>
        </p:txBody>
      </p:sp>
      <p:sp>
        <p:nvSpPr>
          <p:cNvPr id="34" name="R5_chip253"/>
          <p:cNvSpPr/>
          <p:nvPr/>
        </p:nvSpPr>
        <p:spPr>
          <a:xfrm>
            <a:off x="6263640" y="3735977"/>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shouldn't (criticism)</a:t>
            </a:r>
            <a:endParaRPr lang="en-US" sz="1200" dirty="0"/>
          </a:p>
        </p:txBody>
      </p:sp>
      <p:sp>
        <p:nvSpPr>
          <p:cNvPr id="35" name="bd_254"/>
          <p:cNvSpPr/>
          <p:nvPr/>
        </p:nvSpPr>
        <p:spPr>
          <a:xfrm>
            <a:off x="3246120" y="4234978"/>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255"/>
          <p:cNvSpPr/>
          <p:nvPr/>
        </p:nvSpPr>
        <p:spPr>
          <a:xfrm>
            <a:off x="3657600" y="4199709"/>
            <a:ext cx="2514600" cy="399723"/>
          </a:xfrm>
          <a:prstGeom prst="roundRect">
            <a:avLst>
              <a:gd name="adj" fmla="val 2287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The lights are off. They must / should have gone out.</a:t>
            </a:r>
            <a:endParaRPr lang="en-US" sz="950" dirty="0"/>
          </a:p>
        </p:txBody>
      </p:sp>
      <p:sp>
        <p:nvSpPr>
          <p:cNvPr id="37" name="R6_chip256"/>
          <p:cNvSpPr/>
          <p:nvPr/>
        </p:nvSpPr>
        <p:spPr>
          <a:xfrm>
            <a:off x="6263640" y="4199709"/>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must (almost sure)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5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58"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259"/>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Have or of?</a:t>
            </a:r>
            <a:endParaRPr lang="en-US" sz="2500" dirty="0"/>
          </a:p>
        </p:txBody>
      </p:sp>
      <p:pic>
        <p:nvPicPr>
          <p:cNvPr id="6" name="brP_260" descr="/home/claude/lls-course/v2/assets/brush-pink.png">    </p:cNvPr>
          <p:cNvPicPr>
            <a:picLocks noChangeAspect="1"/>
          </p:cNvPicPr>
          <p:nvPr/>
        </p:nvPicPr>
        <p:blipFill>
          <a:blip r:embed="rId3"/>
          <a:stretch>
            <a:fillRect/>
          </a:stretch>
        </p:blipFill>
        <p:spPr>
          <a:xfrm>
            <a:off x="1207008" y="731520"/>
            <a:ext cx="4466844" cy="402336"/>
          </a:xfrm>
          <a:prstGeom prst="rect">
            <a:avLst/>
          </a:prstGeom>
        </p:spPr>
      </p:pic>
      <p:sp>
        <p:nvSpPr>
          <p:cNvPr id="7" name="ins_261"/>
          <p:cNvSpPr/>
          <p:nvPr/>
        </p:nvSpPr>
        <p:spPr>
          <a:xfrm>
            <a:off x="1353312" y="731520"/>
            <a:ext cx="42108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and write the sentences. Have or of?</a:t>
            </a:r>
            <a:endParaRPr lang="en-US" sz="1250" dirty="0"/>
          </a:p>
        </p:txBody>
      </p:sp>
      <p:sp>
        <p:nvSpPr>
          <p:cNvPr id="8" name="insIT_26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e scrivi le frasi. Have o of?</a:t>
            </a:r>
            <a:endParaRPr lang="en-US" sz="950" dirty="0"/>
          </a:p>
        </p:txBody>
      </p:sp>
      <p:sp>
        <p:nvSpPr>
          <p:cNvPr id="9" name="note_26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Controlled practice</a:t>
            </a:r>
            <a:endParaRPr lang="en-US" sz="1150" dirty="0"/>
          </a:p>
        </p:txBody>
      </p:sp>
      <p:pic>
        <p:nvPicPr>
          <p:cNvPr id="10" name="logo_26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6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Pronunciation · weak form of have   ·   📖 SB p.66 · 2a, 2c · audio 7.5, 7.6 (TG script)</a:t>
            </a:r>
            <a:endParaRPr lang="en-US" sz="800" dirty="0"/>
          </a:p>
        </p:txBody>
      </p:sp>
      <p:sp>
        <p:nvSpPr>
          <p:cNvPr id="12" name="cd_266"/>
          <p:cNvSpPr/>
          <p:nvPr/>
        </p:nvSpPr>
        <p:spPr>
          <a:xfrm>
            <a:off x="320040" y="1417320"/>
            <a:ext cx="2697480" cy="1170432"/>
          </a:xfrm>
          <a:prstGeom prst="roundRect">
            <a:avLst>
              <a:gd name="adj" fmla="val 1093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6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68"/>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269"/>
          <p:cNvSpPr/>
          <p:nvPr/>
        </p:nvSpPr>
        <p:spPr>
          <a:xfrm>
            <a:off x="886968" y="1911096"/>
            <a:ext cx="2039112" cy="603504"/>
          </a:xfrm>
          <a:prstGeom prst="rect">
            <a:avLst/>
          </a:prstGeom>
          <a:noFill/>
          <a:ln/>
        </p:spPr>
        <p:txBody>
          <a:bodyPr wrap="square" lIns="0" tIns="0" rIns="0" bIns="0" rtlCol="0" anchor="t">
            <a:normAutofit/>
          </a:bodyPr>
          <a:lstStyle/>
          <a:p>
            <a:pPr indent="0" marL="0">
              <a:spcAft>
                <a:spcPts val="200"/>
              </a:spcAft>
              <a:buNone/>
            </a:pPr>
            <a:r>
              <a:rPr lang="en-US" sz="900" dirty="0">
                <a:solidFill>
                  <a:srgbClr val="1B2559"/>
                </a:solidFill>
                <a:latin typeface="Segoe UI Semibold" pitchFamily="34" charset="0"/>
                <a:ea typeface="Segoe UI Semibold" pitchFamily="34" charset="-122"/>
                <a:cs typeface="Segoe UI Semibold" pitchFamily="34" charset="-120"/>
              </a:rPr>
              <a:t>He must of left his bag at school. ✗ → He must HAVE left… ✓ (have = /əv/, sounds like of!)</a:t>
            </a:r>
            <a:endParaRPr lang="en-US" sz="900" dirty="0"/>
          </a:p>
        </p:txBody>
      </p:sp>
      <p:sp>
        <p:nvSpPr>
          <p:cNvPr id="16" name="pf_270"/>
          <p:cNvSpPr/>
          <p:nvPr/>
        </p:nvSpPr>
        <p:spPr>
          <a:xfrm rot="-90000">
            <a:off x="365760" y="3069005"/>
            <a:ext cx="2606040" cy="747423"/>
          </a:xfrm>
          <a:prstGeom prst="roundRect">
            <a:avLst>
              <a:gd name="adj" fmla="val 2079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271" descr="/home/claude/lls-course/v2/cache/b2_7a_homework_jpg_605x158_31.png">    </p:cNvPr>
          <p:cNvPicPr>
            <a:picLocks noChangeAspect="1"/>
          </p:cNvPicPr>
          <p:nvPr/>
        </p:nvPicPr>
        <p:blipFill>
          <a:blip r:embed="rId5"/>
          <a:stretch>
            <a:fillRect/>
          </a:stretch>
        </p:blipFill>
        <p:spPr>
          <a:xfrm rot="-90000">
            <a:off x="411480" y="3114725"/>
            <a:ext cx="2514600" cy="655983"/>
          </a:xfrm>
          <a:prstGeom prst="rect">
            <a:avLst/>
          </a:prstGeom>
        </p:spPr>
      </p:pic>
      <p:sp>
        <p:nvSpPr>
          <p:cNvPr id="18" name="ap_272"/>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7.6</a:t>
            </a:r>
            <a:endParaRPr lang="en-US" sz="1100" dirty="0"/>
          </a:p>
        </p:txBody>
      </p:sp>
      <p:sp>
        <p:nvSpPr>
          <p:cNvPr id="19" name="ah_273"/>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20" name="Media 0">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5687568" y="4553712"/>
            <a:ext cx="411480" cy="411480"/>
          </a:xfrm>
          <a:prstGeom prst="rect">
            <a:avLst/>
          </a:prstGeom>
        </p:spPr>
      </p:pic>
      <p:sp>
        <p:nvSpPr>
          <p:cNvPr id="21" name="ah_274"/>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22" name="Media 1">
            <a:hlinkClick r:id="" action="ppaction://media"/>
          </p:cNvPr>
          <p:cNvPicPr>
            <a:picLocks noChangeAspect="1"/>
          </p:cNvPicPr>
          <p:nvPr>
            <a:audioFile r:link="rId9"/>
            <p:extLst>
              <p:ext uri="{DAA4B4D4-6D71-4841-9C94-3DE7FCFB9230}">
                <p14:media xmlns:p14="http://schemas.microsoft.com/office/powerpoint/2010/main" r:embed="rId10"/>
              </p:ext>
            </p:extLst>
          </p:nvPr>
        </p:nvPicPr>
        <p:blipFill>
          <a:blip r:embed="rId11"/>
          <a:stretch>
            <a:fillRect/>
          </a:stretch>
        </p:blipFill>
        <p:spPr>
          <a:xfrm>
            <a:off x="8476488" y="4553712"/>
            <a:ext cx="411480" cy="411480"/>
          </a:xfrm>
          <a:prstGeom prst="rect">
            <a:avLst/>
          </a:prstGeom>
        </p:spPr>
      </p:pic>
      <p:sp>
        <p:nvSpPr>
          <p:cNvPr id="23" name="bd_275"/>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4" name="q_276"/>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1</a:t>
            </a:r>
            <a:endParaRPr lang="en-US" sz="1150" dirty="0"/>
          </a:p>
        </p:txBody>
      </p:sp>
      <p:sp>
        <p:nvSpPr>
          <p:cNvPr id="25" name="R1_chip277"/>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Where have you been all morning?</a:t>
            </a:r>
            <a:endParaRPr lang="en-US" sz="1050" dirty="0"/>
          </a:p>
        </p:txBody>
      </p:sp>
      <p:sp>
        <p:nvSpPr>
          <p:cNvPr id="26" name="bd_278"/>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7" name="q_279"/>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2</a:t>
            </a:r>
            <a:endParaRPr lang="en-US" sz="1150" dirty="0"/>
          </a:p>
        </p:txBody>
      </p:sp>
      <p:sp>
        <p:nvSpPr>
          <p:cNvPr id="28" name="R2_chip280"/>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I woke up in the middle of the night.</a:t>
            </a:r>
            <a:endParaRPr lang="en-US" sz="1050" dirty="0"/>
          </a:p>
        </p:txBody>
      </p:sp>
      <p:sp>
        <p:nvSpPr>
          <p:cNvPr id="29" name="bd_281"/>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30" name="q_282"/>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3</a:t>
            </a:r>
            <a:endParaRPr lang="en-US" sz="1150" dirty="0"/>
          </a:p>
        </p:txBody>
      </p:sp>
      <p:sp>
        <p:nvSpPr>
          <p:cNvPr id="31" name="R3_chip283"/>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Of course I'll be there on time!</a:t>
            </a:r>
            <a:endParaRPr lang="en-US" sz="1050" dirty="0"/>
          </a:p>
        </p:txBody>
      </p:sp>
      <p:sp>
        <p:nvSpPr>
          <p:cNvPr id="32" name="bd_284"/>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3" name="q_285"/>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4</a:t>
            </a:r>
            <a:endParaRPr lang="en-US" sz="1150" dirty="0"/>
          </a:p>
        </p:txBody>
      </p:sp>
      <p:sp>
        <p:nvSpPr>
          <p:cNvPr id="34" name="R4_chip286"/>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We can't have gone the wrong way!</a:t>
            </a:r>
            <a:endParaRPr lang="en-US" sz="1050" dirty="0"/>
          </a:p>
        </p:txBody>
      </p:sp>
      <p:sp>
        <p:nvSpPr>
          <p:cNvPr id="35" name="bd_287"/>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6" name="q_288"/>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5</a:t>
            </a:r>
            <a:endParaRPr lang="en-US" sz="1150" dirty="0"/>
          </a:p>
        </p:txBody>
      </p:sp>
      <p:sp>
        <p:nvSpPr>
          <p:cNvPr id="37" name="R5_chip289"/>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I'll have finished in about ten minutes.</a:t>
            </a:r>
            <a:endParaRPr lang="en-US" sz="1050" dirty="0"/>
          </a:p>
        </p:txBody>
      </p:sp>
      <p:sp>
        <p:nvSpPr>
          <p:cNvPr id="38" name="bd_290"/>
          <p:cNvSpPr/>
          <p:nvPr/>
        </p:nvSpPr>
        <p:spPr>
          <a:xfrm>
            <a:off x="3246120" y="400507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9" name="q_291"/>
          <p:cNvSpPr/>
          <p:nvPr/>
        </p:nvSpPr>
        <p:spPr>
          <a:xfrm>
            <a:off x="3630168" y="393192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6</a:t>
            </a:r>
            <a:endParaRPr lang="en-US" sz="1150" dirty="0"/>
          </a:p>
        </p:txBody>
      </p:sp>
      <p:sp>
        <p:nvSpPr>
          <p:cNvPr id="40" name="R6_chip292"/>
          <p:cNvSpPr/>
          <p:nvPr/>
        </p:nvSpPr>
        <p:spPr>
          <a:xfrm>
            <a:off x="5806440" y="39319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What's the point of arguing?</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4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20"/>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20"/>
                                        </p:tgtEl>
                                      </p:cBhvr>
                                    </p:cmd>
                                  </p:childTnLst>
                                </p:cTn>
                              </p:par>
                            </p:childTnLst>
                          </p:cTn>
                        </p:par>
                      </p:childTnLst>
                    </p:cTn>
                  </p:par>
                </p:childTnLst>
              </p:cTn>
              <p:nextCondLst>
                <p:cond evt="onClick" delay="0">
                  <p:tgtEl>
                    <p:spTgt spid="20"/>
                  </p:tgtEl>
                </p:cond>
              </p:nextCondLst>
            </p:seq>
            <p:seq concurrent="1" nextAc="seek">
              <p:cTn id="38" restart="whenNotActive" fill="hold" evtFilter="cancelBubble" nodeType="interactiveSeq">
                <p:stCondLst>
                  <p:cond evt="onClick" delay="0">
                    <p:tgtEl>
                      <p:spTgt spid="22"/>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22"/>
                                        </p:tgtEl>
                                      </p:cBhvr>
                                    </p:cmd>
                                  </p:childTnLst>
                                </p:cTn>
                              </p:par>
                            </p:childTnLst>
                          </p:cTn>
                        </p:par>
                      </p:childTnLst>
                    </p:cTn>
                  </p:par>
                </p:childTnLst>
              </p:cTn>
              <p:nextCondLst>
                <p:cond evt="onClick" delay="0">
                  <p:tgtEl>
                    <p:spTgt spid="22"/>
                  </p:tgtEl>
                </p:cond>
              </p:nextCondLst>
            </p:seq>
            <p:audio>
              <p:cMediaNode vol="80000">
                <p:cTn id="43" fill="hold" display="0">
                  <p:stCondLst>
                    <p:cond delay="indefinite"/>
                  </p:stCondLst>
                  <p:endCondLst>
                    <p:cond evt="onStopAudio" delay="0">
                      <p:tgtEl>
                        <p:sldTgt/>
                      </p:tgtEl>
                    </p:cond>
                  </p:endCondLst>
                </p:cTn>
                <p:tgtEl>
                  <p:spTgt spid="20"/>
                </p:tgtEl>
              </p:cMediaNode>
            </p:audio>
            <p:audio>
              <p:cMediaNode vol="80000">
                <p:cTn id="44" fill="hold" display="0">
                  <p:stCondLst>
                    <p:cond delay="indefinite"/>
                  </p:stCondLst>
                  <p:endCondLst>
                    <p:cond evt="onStopAudio" delay="0">
                      <p:tgtEl>
                        <p:sldTgt/>
                      </p:tgtEl>
                    </p:cond>
                  </p:endCondLst>
                </p:cTn>
                <p:tgtEl>
                  <p:spTgt spid="2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9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94"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295"/>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You should have told me!</a:t>
            </a:r>
            <a:endParaRPr lang="en-US" sz="2500" dirty="0"/>
          </a:p>
        </p:txBody>
      </p:sp>
      <p:pic>
        <p:nvPicPr>
          <p:cNvPr id="6" name="brP_296"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97"/>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Complete B's answers with your own ideas. Then practise – weak have!</a:t>
            </a:r>
            <a:endParaRPr lang="en-US" sz="1100" dirty="0"/>
          </a:p>
        </p:txBody>
      </p:sp>
      <p:sp>
        <p:nvSpPr>
          <p:cNvPr id="8" name="insIT_29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Completa le risposte di B con idee tue. Poi esercitati – have debole!</a:t>
            </a:r>
            <a:endParaRPr lang="en-US" sz="950" dirty="0"/>
          </a:p>
        </p:txBody>
      </p:sp>
      <p:sp>
        <p:nvSpPr>
          <p:cNvPr id="9" name="note_29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150" dirty="0"/>
          </a:p>
        </p:txBody>
      </p:sp>
      <p:pic>
        <p:nvPicPr>
          <p:cNvPr id="10" name="logo_30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0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Speaking · past modals   ·   📖 SB p.66 · 2d (TG possible answers)</a:t>
            </a:r>
            <a:endParaRPr lang="en-US" sz="800" dirty="0"/>
          </a:p>
        </p:txBody>
      </p:sp>
      <p:sp>
        <p:nvSpPr>
          <p:cNvPr id="12" name="cd_302"/>
          <p:cNvSpPr/>
          <p:nvPr/>
        </p:nvSpPr>
        <p:spPr>
          <a:xfrm>
            <a:off x="320040" y="1417320"/>
            <a:ext cx="2788920" cy="2028952"/>
          </a:xfrm>
          <a:prstGeom prst="roundRect">
            <a:avLst>
              <a:gd name="adj" fmla="val 630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30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304"/>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5" name="il_305"/>
          <p:cNvSpPr/>
          <p:nvPr/>
        </p:nvSpPr>
        <p:spPr>
          <a:xfrm>
            <a:off x="886968" y="1911096"/>
            <a:ext cx="2130552" cy="1462024"/>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You must have…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They may have…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You shouldn't have…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He might have…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We should have…</a:t>
            </a:r>
            <a:endParaRPr lang="en-US" sz="1150" dirty="0"/>
          </a:p>
        </p:txBody>
      </p:sp>
      <p:sp>
        <p:nvSpPr>
          <p:cNvPr id="16" name="R1_qb306"/>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7" name="R1_sq307"/>
          <p:cNvSpPr/>
          <p:nvPr/>
        </p:nvSpPr>
        <p:spPr>
          <a:xfrm>
            <a:off x="3675888" y="1417320"/>
            <a:ext cx="5193792" cy="483108"/>
          </a:xfrm>
          <a:prstGeom prst="roundRect">
            <a:avLst>
              <a:gd name="adj" fmla="val 22713"/>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A It was my birthday yesterday!  B You should have told me.</a:t>
            </a:r>
            <a:endParaRPr lang="en-US" sz="9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(the book's example)</a:t>
            </a:r>
            <a:endParaRPr lang="en-US" sz="900" dirty="0"/>
          </a:p>
        </p:txBody>
      </p:sp>
      <p:sp>
        <p:nvSpPr>
          <p:cNvPr id="18" name="R2_qb308"/>
          <p:cNvSpPr/>
          <p:nvPr/>
        </p:nvSpPr>
        <p:spPr>
          <a:xfrm>
            <a:off x="3273552" y="201015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19" name="R2_sq309"/>
          <p:cNvSpPr/>
          <p:nvPr/>
        </p:nvSpPr>
        <p:spPr>
          <a:xfrm>
            <a:off x="3675888" y="1973580"/>
            <a:ext cx="5193792" cy="483108"/>
          </a:xfrm>
          <a:prstGeom prst="roundRect">
            <a:avLst>
              <a:gd name="adj" fmla="val 22713"/>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A I can't find my phone anywhere.  B You must have…</a:t>
            </a:r>
            <a:endParaRPr lang="en-US" sz="9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left it at work</a:t>
            </a:r>
            <a:endParaRPr lang="en-US" sz="900" dirty="0"/>
          </a:p>
        </p:txBody>
      </p:sp>
      <p:sp>
        <p:nvSpPr>
          <p:cNvPr id="20" name="R3_qb310"/>
          <p:cNvSpPr/>
          <p:nvPr/>
        </p:nvSpPr>
        <p:spPr>
          <a:xfrm>
            <a:off x="3273552" y="2566416"/>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1" name="R3_sq311"/>
          <p:cNvSpPr/>
          <p:nvPr/>
        </p:nvSpPr>
        <p:spPr>
          <a:xfrm>
            <a:off x="3675888" y="2529840"/>
            <a:ext cx="5193792" cy="483108"/>
          </a:xfrm>
          <a:prstGeom prst="roundRect">
            <a:avLst>
              <a:gd name="adj" fmla="val 22713"/>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A I definitely said we were meeting them at 7.00.  B They may have…</a:t>
            </a:r>
            <a:endParaRPr lang="en-US" sz="9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forgotten</a:t>
            </a:r>
            <a:endParaRPr lang="en-US" sz="900" dirty="0"/>
          </a:p>
        </p:txBody>
      </p:sp>
      <p:sp>
        <p:nvSpPr>
          <p:cNvPr id="22" name="R4_qb312"/>
          <p:cNvSpPr/>
          <p:nvPr/>
        </p:nvSpPr>
        <p:spPr>
          <a:xfrm>
            <a:off x="3273552" y="3122676"/>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3" name="R4_sq313"/>
          <p:cNvSpPr/>
          <p:nvPr/>
        </p:nvSpPr>
        <p:spPr>
          <a:xfrm>
            <a:off x="3675888" y="3086100"/>
            <a:ext cx="5193792" cy="483108"/>
          </a:xfrm>
          <a:prstGeom prst="roundRect">
            <a:avLst>
              <a:gd name="adj" fmla="val 22713"/>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A I'm so tired. I can't keep my eyes open.  B You shouldn't have…</a:t>
            </a:r>
            <a:endParaRPr lang="en-US" sz="9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gone to bed so late last night</a:t>
            </a:r>
            <a:endParaRPr lang="en-US" sz="900" dirty="0"/>
          </a:p>
        </p:txBody>
      </p:sp>
      <p:sp>
        <p:nvSpPr>
          <p:cNvPr id="24" name="R5_qb314"/>
          <p:cNvSpPr/>
          <p:nvPr/>
        </p:nvSpPr>
        <p:spPr>
          <a:xfrm>
            <a:off x="3273552" y="367893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5" name="R5_sq315"/>
          <p:cNvSpPr/>
          <p:nvPr/>
        </p:nvSpPr>
        <p:spPr>
          <a:xfrm>
            <a:off x="3675888" y="3642360"/>
            <a:ext cx="5193792" cy="483108"/>
          </a:xfrm>
          <a:prstGeom prst="roundRect">
            <a:avLst>
              <a:gd name="adj" fmla="val 22713"/>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A I failed my piano exam.  B …   ·   A Why do you think Fiona and Brian broke up?  B …</a:t>
            </a:r>
            <a:endParaRPr lang="en-US" sz="80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e.g. You should have practised more. · One of them might have met someone else.</a:t>
            </a:r>
            <a:endParaRPr lang="en-US" sz="800" dirty="0"/>
          </a:p>
        </p:txBody>
      </p:sp>
      <p:sp>
        <p:nvSpPr>
          <p:cNvPr id="26" name="R6_qb316"/>
          <p:cNvSpPr/>
          <p:nvPr/>
        </p:nvSpPr>
        <p:spPr>
          <a:xfrm>
            <a:off x="3273552" y="423519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27" name="R6_sq317"/>
          <p:cNvSpPr/>
          <p:nvPr/>
        </p:nvSpPr>
        <p:spPr>
          <a:xfrm>
            <a:off x="3675888" y="4198620"/>
            <a:ext cx="5193792" cy="483108"/>
          </a:xfrm>
          <a:prstGeom prst="roundRect">
            <a:avLst>
              <a:gd name="adj" fmla="val 22713"/>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A Alberto didn't come to class yesterday.  B …   ·   A We're going to be late. There's so much traffic.  B …</a:t>
            </a:r>
            <a:endParaRPr lang="en-US" sz="80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e.g. He might have been ill. · We should have left earlier.</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400"/>
                                        <p:tgtEl>
                                          <p:spTgt spid="24"/>
                                        </p:tgtEl>
                                      </p:cBhvr>
                                    </p:animEffect>
                                  </p:childTnLst>
                                </p:cTn>
                              </p:par>
                              <p:par>
                                <p:cTn id="40" presetID="10" presetClass="entr" presetSubtype="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4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00"/>
                                        <p:tgtEl>
                                          <p:spTgt spid="26"/>
                                        </p:tgtEl>
                                      </p:cBhvr>
                                    </p:animEffect>
                                  </p:childTnLst>
                                </p:cTn>
                              </p:par>
                              <p:par>
                                <p:cTn id="48" presetID="10" presetClass="entr" presetSubtype="0" fill="hold"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8"/>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19"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320"/>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Solutions A–H</a:t>
            </a:r>
            <a:endParaRPr lang="en-US" sz="2500" dirty="0"/>
          </a:p>
        </p:txBody>
      </p:sp>
      <p:pic>
        <p:nvPicPr>
          <p:cNvPr id="6" name="brP_321"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22"/>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First read solutions A–H. Then read the article and match them.</a:t>
            </a:r>
            <a:endParaRPr lang="en-US" sz="1100" dirty="0"/>
          </a:p>
        </p:txBody>
      </p:sp>
      <p:sp>
        <p:nvSpPr>
          <p:cNvPr id="8" name="insIT_32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Prima leggi le soluzioni A–H. Poi leggi l'articolo e abbinale.</a:t>
            </a:r>
            <a:endParaRPr lang="en-US" sz="950" dirty="0"/>
          </a:p>
        </p:txBody>
      </p:sp>
      <p:sp>
        <p:nvSpPr>
          <p:cNvPr id="9" name="note_324"/>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LEGGI</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TPRS · reading</a:t>
            </a:r>
            <a:endParaRPr lang="en-US" sz="1250" dirty="0"/>
          </a:p>
        </p:txBody>
      </p:sp>
      <p:pic>
        <p:nvPicPr>
          <p:cNvPr id="10" name="logo_32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2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Reading · Classic student house arguments   ·   📖 SB p.67 · 3a, 3c</a:t>
            </a:r>
            <a:endParaRPr lang="en-US" sz="800" dirty="0"/>
          </a:p>
        </p:txBody>
      </p:sp>
      <p:sp>
        <p:nvSpPr>
          <p:cNvPr id="12" name="cd_327"/>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328"/>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Solutions A–H (SB p.67 · 3c)</a:t>
            </a:r>
            <a:endParaRPr lang="en-US" sz="1700" dirty="0"/>
          </a:p>
        </p:txBody>
      </p:sp>
      <p:sp>
        <p:nvSpPr>
          <p:cNvPr id="14" name="ln_329"/>
          <p:cNvSpPr/>
          <p:nvPr/>
        </p:nvSpPr>
        <p:spPr>
          <a:xfrm>
            <a:off x="548640" y="1920240"/>
            <a:ext cx="5349240" cy="410919"/>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A  Don't pay in your share, either, and wait until the wi-fi gets cut off. Then suddenly, everyone will pay.</a:t>
            </a:r>
            <a:endParaRPr lang="en-US" sz="950" dirty="0"/>
          </a:p>
        </p:txBody>
      </p:sp>
      <p:sp>
        <p:nvSpPr>
          <p:cNvPr id="15" name="ln_330"/>
          <p:cNvSpPr/>
          <p:nvPr/>
        </p:nvSpPr>
        <p:spPr>
          <a:xfrm>
            <a:off x="548640" y="2331159"/>
            <a:ext cx="5349240" cy="547892"/>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B  Before you move in, get everyone to write their name on a piece of paper, and put them in a hat. The first person to be picked chooses first.</a:t>
            </a:r>
            <a:endParaRPr lang="en-US" sz="950" dirty="0"/>
          </a:p>
        </p:txBody>
      </p:sp>
      <p:sp>
        <p:nvSpPr>
          <p:cNvPr id="16" name="ln_331"/>
          <p:cNvSpPr/>
          <p:nvPr/>
        </p:nvSpPr>
        <p:spPr>
          <a:xfrm>
            <a:off x="548640" y="2879050"/>
            <a:ext cx="5349240" cy="388090"/>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C  Encourage everyone to have a go. Don't criticize other people's attempts. Try to help them improve.</a:t>
            </a:r>
            <a:endParaRPr lang="en-US" sz="950" dirty="0"/>
          </a:p>
        </p:txBody>
      </p:sp>
      <p:sp>
        <p:nvSpPr>
          <p:cNvPr id="17" name="ln_332"/>
          <p:cNvSpPr/>
          <p:nvPr/>
        </p:nvSpPr>
        <p:spPr>
          <a:xfrm>
            <a:off x="548640" y="3267140"/>
            <a:ext cx="5349240" cy="171216"/>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D  Get some ear plugs. Wax ones are the best.</a:t>
            </a:r>
            <a:endParaRPr lang="en-US" sz="950" dirty="0"/>
          </a:p>
        </p:txBody>
      </p:sp>
      <p:sp>
        <p:nvSpPr>
          <p:cNvPr id="18" name="ln_333"/>
          <p:cNvSpPr/>
          <p:nvPr/>
        </p:nvSpPr>
        <p:spPr>
          <a:xfrm>
            <a:off x="548640" y="3438356"/>
            <a:ext cx="5349240" cy="308189"/>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E  Have a rota for all jobs, including washing-up, drying, cleaning, and tidying.</a:t>
            </a:r>
            <a:endParaRPr lang="en-US" sz="950" dirty="0"/>
          </a:p>
        </p:txBody>
      </p:sp>
      <p:sp>
        <p:nvSpPr>
          <p:cNvPr id="19" name="ln_334"/>
          <p:cNvSpPr/>
          <p:nvPr/>
        </p:nvSpPr>
        <p:spPr>
          <a:xfrm>
            <a:off x="548640" y="3746545"/>
            <a:ext cx="5349240" cy="285360"/>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F  If you often need to get ready at similar times, take turns to go first.</a:t>
            </a:r>
            <a:endParaRPr lang="en-US" sz="950" dirty="0"/>
          </a:p>
        </p:txBody>
      </p:sp>
      <p:sp>
        <p:nvSpPr>
          <p:cNvPr id="20" name="ln_335"/>
          <p:cNvSpPr/>
          <p:nvPr/>
        </p:nvSpPr>
        <p:spPr>
          <a:xfrm>
            <a:off x="548640" y="4031905"/>
            <a:ext cx="5349240" cy="281555"/>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G  Make sure everyone has their own fridge shelf space and cupboard space.</a:t>
            </a:r>
            <a:endParaRPr lang="en-US" sz="950" dirty="0"/>
          </a:p>
        </p:txBody>
      </p:sp>
      <p:sp>
        <p:nvSpPr>
          <p:cNvPr id="21" name="ln_336"/>
          <p:cNvSpPr/>
          <p:nvPr/>
        </p:nvSpPr>
        <p:spPr>
          <a:xfrm>
            <a:off x="548640" y="4313461"/>
            <a:ext cx="5349240" cy="395699"/>
          </a:xfrm>
          <a:prstGeom prst="rect">
            <a:avLst/>
          </a:prstGeom>
          <a:noFill/>
          <a:ln/>
        </p:spPr>
        <p:txBody>
          <a:bodyPr wrap="square" lIns="0" tIns="0" rIns="0" bIns="0" rtlCol="0" anchor="t"/>
          <a:lstStyle/>
          <a:p>
            <a:pPr indent="0" marL="0">
              <a:buNone/>
            </a:pPr>
            <a:r>
              <a:rPr lang="en-US" sz="950" dirty="0">
                <a:solidFill>
                  <a:srgbClr val="1B2559"/>
                </a:solidFill>
                <a:latin typeface="Georgia" pitchFamily="34" charset="0"/>
                <a:ea typeface="Georgia" pitchFamily="34" charset="-122"/>
                <a:cs typeface="Georgia" pitchFamily="34" charset="-120"/>
              </a:rPr>
              <a:t>H  Suggest that if they are going to stay over often, then maybe they should contribute to rent / bills.</a:t>
            </a:r>
            <a:endParaRPr lang="en-US" sz="950" dirty="0"/>
          </a:p>
        </p:txBody>
      </p:sp>
      <p:sp>
        <p:nvSpPr>
          <p:cNvPr id="22" name="pf_337"/>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338" descr="/home/claude/lls-course/v2/cache/b2_7a_flatmates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4" name="cd_339"/>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5" name="ii_340"/>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ih_341"/>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7" name="il_342"/>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ear plugs = tappi per le orecchie</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rota = turni</a:t>
            </a:r>
            <a:endParaRPr lang="en-US" sz="90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43"/>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44" descr="/home/claude/lls-course/v2/assets/brush-yellow.png">    </p:cNvPr>
          <p:cNvPicPr>
            <a:picLocks noChangeAspect="1"/>
          </p:cNvPicPr>
          <p:nvPr/>
        </p:nvPicPr>
        <p:blipFill>
          <a:blip r:embed="rId2"/>
          <a:stretch>
            <a:fillRect/>
          </a:stretch>
        </p:blipFill>
        <p:spPr>
          <a:xfrm>
            <a:off x="1097280" y="146304"/>
            <a:ext cx="4977994" cy="621792"/>
          </a:xfrm>
          <a:prstGeom prst="rect">
            <a:avLst/>
          </a:prstGeom>
        </p:spPr>
      </p:pic>
      <p:sp>
        <p:nvSpPr>
          <p:cNvPr id="5" name="title_345"/>
          <p:cNvSpPr/>
          <p:nvPr/>
        </p:nvSpPr>
        <p:spPr>
          <a:xfrm>
            <a:off x="1261872" y="164592"/>
            <a:ext cx="4703674"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Student house arguments (1)</a:t>
            </a:r>
            <a:endParaRPr lang="en-US" sz="2400" dirty="0"/>
          </a:p>
        </p:txBody>
      </p:sp>
      <p:pic>
        <p:nvPicPr>
          <p:cNvPr id="6" name="brP_346"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47"/>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Read problems 1–3. Which solution A–H goes with each one?</a:t>
            </a:r>
            <a:endParaRPr lang="en-US" sz="1200" dirty="0"/>
          </a:p>
        </p:txBody>
      </p:sp>
      <p:sp>
        <p:nvSpPr>
          <p:cNvPr id="8" name="insIT_34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 problemi 1–3. Quale soluzione A–H va con ognuno?</a:t>
            </a:r>
            <a:endParaRPr lang="en-US" sz="950" dirty="0"/>
          </a:p>
        </p:txBody>
      </p:sp>
      <p:sp>
        <p:nvSpPr>
          <p:cNvPr id="9" name="note_34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MATCH</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for detail</a:t>
            </a:r>
            <a:endParaRPr lang="en-US" sz="1150" dirty="0"/>
          </a:p>
        </p:txBody>
      </p:sp>
      <p:pic>
        <p:nvPicPr>
          <p:cNvPr id="10" name="logo_35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5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Reading · Classic student house arguments (1)   ·   📖 SB p.67 · 3a, 3b, 3c (the article is on the slide · TG key)</a:t>
            </a:r>
            <a:endParaRPr lang="en-US" sz="800" dirty="0"/>
          </a:p>
        </p:txBody>
      </p:sp>
      <p:sp>
        <p:nvSpPr>
          <p:cNvPr id="12" name="cd_352"/>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353"/>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Classic student house arguments – and how to avoid them</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Living in a shared student house can be one of university's greatest pleasures, but arguments will happen. What are the solutions?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Who gets the biggest room when moving in? There's always one housemate who is convinced they have the right to the biggest room. Solutions: • Adjust the rent, so that the person with the biggest room pays more. •</a:t>
            </a:r>
            <a:pPr indent="0" marL="0">
              <a:lnSpc>
                <a:spcPct val="105000"/>
              </a:lnSpc>
              <a:spcAft>
                <a:spcPts val="700"/>
              </a:spcAft>
              <a:buNone/>
            </a:pPr>
            <a:r>
              <a:rPr lang="en-US" sz="1000" b="1" dirty="0">
                <a:solidFill>
                  <a:srgbClr val="7B5CD6"/>
                </a:solidFill>
                <a:highlight>
                  <a:srgbClr val="EEE8FB"/>
                </a:highlight>
                <a:latin typeface="Georgia" pitchFamily="34" charset="0"/>
                <a:ea typeface="Georgia" pitchFamily="34" charset="-122"/>
                <a:cs typeface="Georgia" pitchFamily="34" charset="-120"/>
              </a:rPr>
              <a:t> (1) B </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The mess in the kitchen You come home from a long day at uni and can't get to the sink because of the enormous pile of pots and pans. Solutions: • Establish the 30-minute rule – nothing stays unwashed for over 30 minutes. •</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(2) ________ </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The housemate whose boyfriend / girlfriend spends more time in your house than their own They definitely do not live at your house, but you see them more than some of your housemates. And they use the electricity, the water, the wi-fi… Solutions: • Explain why it's annoying. It isn't personal, but with them there, there's less space for the rest of you. •</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(3) ________ </a:t>
            </a:r>
            <a:endParaRPr lang="en-US" sz="1000" dirty="0"/>
          </a:p>
        </p:txBody>
      </p:sp>
      <p:sp>
        <p:nvSpPr>
          <p:cNvPr id="14" name="R1_rdA354"/>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Classic student house arguments – and how to avoid them</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Living in a shared student house can be one of university's greatest pleasures, but arguments will happen. What are the solutions?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Who gets the biggest room when moving in? There's always one housemate who is convinced they have the right to the biggest room. Solutions: • Adjust the rent, so that the person with the biggest room pays more. •</a:t>
            </a:r>
            <a:pPr indent="0" marL="0">
              <a:lnSpc>
                <a:spcPct val="105000"/>
              </a:lnSpc>
              <a:spcAft>
                <a:spcPts val="700"/>
              </a:spcAft>
              <a:buNone/>
            </a:pPr>
            <a:r>
              <a:rPr lang="en-US" sz="1000" b="1" dirty="0">
                <a:solidFill>
                  <a:srgbClr val="7B5CD6"/>
                </a:solidFill>
                <a:highlight>
                  <a:srgbClr val="EEE8FB"/>
                </a:highlight>
                <a:latin typeface="Georgia" pitchFamily="34" charset="0"/>
                <a:ea typeface="Georgia" pitchFamily="34" charset="-122"/>
                <a:cs typeface="Georgia" pitchFamily="34" charset="-120"/>
              </a:rPr>
              <a:t> (1) B </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The mess in the kitchen You come home from a long day at uni and can't get to the sink because of the enormous pile of pots and pans. Solutions: • Establish the 30-minute rule – nothing stays unwashed for over 30 minutes. •</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(2) E </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The housemate whose boyfriend / girlfriend spends more time in your house than their own They definitely do not live at your house, but you see them more than some of your housemates. And they use the electricity, the water, the wi-fi… Solutions: • Explain why it's annoying. It isn't personal, but with them there, there's less space for the rest of you. •</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(3) ________ </a:t>
            </a:r>
            <a:endParaRPr lang="en-US" sz="1000" dirty="0"/>
          </a:p>
        </p:txBody>
      </p:sp>
      <p:sp>
        <p:nvSpPr>
          <p:cNvPr id="15" name="R2_rdA355"/>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Classic student house arguments – and how to avoid them</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Living in a shared student house can be one of university's greatest pleasures, but arguments will happen. What are the solutions?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Who gets the biggest room when moving in? There's always one housemate who is convinced they have the right to the biggest room. Solutions: • Adjust the rent, so that the person with the biggest room pays more. •</a:t>
            </a:r>
            <a:pPr indent="0" marL="0">
              <a:lnSpc>
                <a:spcPct val="105000"/>
              </a:lnSpc>
              <a:spcAft>
                <a:spcPts val="700"/>
              </a:spcAft>
              <a:buNone/>
            </a:pPr>
            <a:r>
              <a:rPr lang="en-US" sz="1000" b="1" dirty="0">
                <a:solidFill>
                  <a:srgbClr val="7B5CD6"/>
                </a:solidFill>
                <a:highlight>
                  <a:srgbClr val="EEE8FB"/>
                </a:highlight>
                <a:latin typeface="Georgia" pitchFamily="34" charset="0"/>
                <a:ea typeface="Georgia" pitchFamily="34" charset="-122"/>
                <a:cs typeface="Georgia" pitchFamily="34" charset="-120"/>
              </a:rPr>
              <a:t> (1) B </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The mess in the kitchen You come home from a long day at uni and can't get to the sink because of the enormous pile of pots and pans. Solutions: • Establish the 30-minute rule – nothing stays unwashed for over 30 minutes. •</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(2) E </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The housemate whose boyfriend / girlfriend spends more time in your house than their own They definitely do not live at your house, but you see them more than some of your housemates. And they use the electricity, the water, the wi-fi… Solutions: • Explain why it's annoying. It isn't personal, but with them there, there's less space for the rest of you. •</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(3) H </a:t>
            </a:r>
            <a:endParaRPr lang="en-US" sz="1000" dirty="0"/>
          </a:p>
        </p:txBody>
      </p:sp>
      <p:sp>
        <p:nvSpPr>
          <p:cNvPr id="16" name="rbh_356"/>
          <p:cNvSpPr/>
          <p:nvPr/>
        </p:nvSpPr>
        <p:spPr>
          <a:xfrm>
            <a:off x="6263640" y="1417320"/>
            <a:ext cx="2606040" cy="329184"/>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Solutions A–H (cues)</a:t>
            </a:r>
            <a:endParaRPr lang="en-US" sz="1300" dirty="0"/>
          </a:p>
        </p:txBody>
      </p:sp>
      <p:sp>
        <p:nvSpPr>
          <p:cNvPr id="17" name="bd_357"/>
          <p:cNvSpPr/>
          <p:nvPr/>
        </p:nvSpPr>
        <p:spPr>
          <a:xfrm>
            <a:off x="6263640" y="1830515"/>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A</a:t>
            </a:r>
            <a:endParaRPr lang="en-US" sz="1000" dirty="0"/>
          </a:p>
        </p:txBody>
      </p:sp>
      <p:sp>
        <p:nvSpPr>
          <p:cNvPr id="18" name="rb_358"/>
          <p:cNvSpPr/>
          <p:nvPr/>
        </p:nvSpPr>
        <p:spPr>
          <a:xfrm>
            <a:off x="6647688" y="1828800"/>
            <a:ext cx="2240280" cy="314325"/>
          </a:xfrm>
          <a:prstGeom prst="roundRect">
            <a:avLst>
              <a:gd name="adj" fmla="val 29091"/>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don't pay your share either</a:t>
            </a:r>
            <a:endParaRPr lang="en-US" sz="950" dirty="0"/>
          </a:p>
        </p:txBody>
      </p:sp>
      <p:sp>
        <p:nvSpPr>
          <p:cNvPr id="19" name="bd_359"/>
          <p:cNvSpPr/>
          <p:nvPr/>
        </p:nvSpPr>
        <p:spPr>
          <a:xfrm>
            <a:off x="6263640" y="2199704"/>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B</a:t>
            </a:r>
            <a:endParaRPr lang="en-US" sz="1000" dirty="0"/>
          </a:p>
        </p:txBody>
      </p:sp>
      <p:sp>
        <p:nvSpPr>
          <p:cNvPr id="20" name="rb_360"/>
          <p:cNvSpPr/>
          <p:nvPr/>
        </p:nvSpPr>
        <p:spPr>
          <a:xfrm>
            <a:off x="6647688" y="2197989"/>
            <a:ext cx="2240280" cy="314325"/>
          </a:xfrm>
          <a:prstGeom prst="roundRect">
            <a:avLst>
              <a:gd name="adj" fmla="val 29091"/>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names in a hat</a:t>
            </a:r>
            <a:endParaRPr lang="en-US" sz="950" dirty="0"/>
          </a:p>
        </p:txBody>
      </p:sp>
      <p:sp>
        <p:nvSpPr>
          <p:cNvPr id="21" name="bd_361"/>
          <p:cNvSpPr/>
          <p:nvPr/>
        </p:nvSpPr>
        <p:spPr>
          <a:xfrm>
            <a:off x="6263640" y="2568893"/>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C</a:t>
            </a:r>
            <a:endParaRPr lang="en-US" sz="1000" dirty="0"/>
          </a:p>
        </p:txBody>
      </p:sp>
      <p:sp>
        <p:nvSpPr>
          <p:cNvPr id="22" name="rb_362"/>
          <p:cNvSpPr/>
          <p:nvPr/>
        </p:nvSpPr>
        <p:spPr>
          <a:xfrm>
            <a:off x="6647688" y="2567178"/>
            <a:ext cx="2240280" cy="314325"/>
          </a:xfrm>
          <a:prstGeom prst="roundRect">
            <a:avLst>
              <a:gd name="adj" fmla="val 29091"/>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everyone has a go</a:t>
            </a:r>
            <a:endParaRPr lang="en-US" sz="950" dirty="0"/>
          </a:p>
        </p:txBody>
      </p:sp>
      <p:sp>
        <p:nvSpPr>
          <p:cNvPr id="23" name="bd_363"/>
          <p:cNvSpPr/>
          <p:nvPr/>
        </p:nvSpPr>
        <p:spPr>
          <a:xfrm>
            <a:off x="6263640" y="293808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D</a:t>
            </a:r>
            <a:endParaRPr lang="en-US" sz="1000" dirty="0"/>
          </a:p>
        </p:txBody>
      </p:sp>
      <p:sp>
        <p:nvSpPr>
          <p:cNvPr id="24" name="rb_364"/>
          <p:cNvSpPr/>
          <p:nvPr/>
        </p:nvSpPr>
        <p:spPr>
          <a:xfrm>
            <a:off x="6647688" y="2936367"/>
            <a:ext cx="2240280" cy="314325"/>
          </a:xfrm>
          <a:prstGeom prst="roundRect">
            <a:avLst>
              <a:gd name="adj" fmla="val 29091"/>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ear plugs</a:t>
            </a:r>
            <a:endParaRPr lang="en-US" sz="950" dirty="0"/>
          </a:p>
        </p:txBody>
      </p:sp>
      <p:sp>
        <p:nvSpPr>
          <p:cNvPr id="25" name="bd_365"/>
          <p:cNvSpPr/>
          <p:nvPr/>
        </p:nvSpPr>
        <p:spPr>
          <a:xfrm>
            <a:off x="6263640" y="3307271"/>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E</a:t>
            </a:r>
            <a:endParaRPr lang="en-US" sz="1000" dirty="0"/>
          </a:p>
        </p:txBody>
      </p:sp>
      <p:sp>
        <p:nvSpPr>
          <p:cNvPr id="26" name="rb_366"/>
          <p:cNvSpPr/>
          <p:nvPr/>
        </p:nvSpPr>
        <p:spPr>
          <a:xfrm>
            <a:off x="6647688" y="3305556"/>
            <a:ext cx="2240280" cy="314325"/>
          </a:xfrm>
          <a:prstGeom prst="roundRect">
            <a:avLst>
              <a:gd name="adj" fmla="val 29091"/>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a rota for all jobs</a:t>
            </a:r>
            <a:endParaRPr lang="en-US" sz="950" dirty="0"/>
          </a:p>
        </p:txBody>
      </p:sp>
      <p:sp>
        <p:nvSpPr>
          <p:cNvPr id="27" name="bd_367"/>
          <p:cNvSpPr/>
          <p:nvPr/>
        </p:nvSpPr>
        <p:spPr>
          <a:xfrm>
            <a:off x="6263640" y="3676460"/>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F</a:t>
            </a:r>
            <a:endParaRPr lang="en-US" sz="1000" dirty="0"/>
          </a:p>
        </p:txBody>
      </p:sp>
      <p:sp>
        <p:nvSpPr>
          <p:cNvPr id="28" name="rb_368"/>
          <p:cNvSpPr/>
          <p:nvPr/>
        </p:nvSpPr>
        <p:spPr>
          <a:xfrm>
            <a:off x="6647688" y="3674745"/>
            <a:ext cx="2240280" cy="314325"/>
          </a:xfrm>
          <a:prstGeom prst="roundRect">
            <a:avLst>
              <a:gd name="adj" fmla="val 29091"/>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take turns to go first</a:t>
            </a:r>
            <a:endParaRPr lang="en-US" sz="950" dirty="0"/>
          </a:p>
        </p:txBody>
      </p:sp>
      <p:sp>
        <p:nvSpPr>
          <p:cNvPr id="29" name="bd_369"/>
          <p:cNvSpPr/>
          <p:nvPr/>
        </p:nvSpPr>
        <p:spPr>
          <a:xfrm>
            <a:off x="6263640" y="4045648"/>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G</a:t>
            </a:r>
            <a:endParaRPr lang="en-US" sz="1000" dirty="0"/>
          </a:p>
        </p:txBody>
      </p:sp>
      <p:sp>
        <p:nvSpPr>
          <p:cNvPr id="30" name="rb_370"/>
          <p:cNvSpPr/>
          <p:nvPr/>
        </p:nvSpPr>
        <p:spPr>
          <a:xfrm>
            <a:off x="6647688" y="4043934"/>
            <a:ext cx="2240280" cy="314325"/>
          </a:xfrm>
          <a:prstGeom prst="roundRect">
            <a:avLst>
              <a:gd name="adj" fmla="val 29091"/>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own fridge shelf</a:t>
            </a:r>
            <a:endParaRPr lang="en-US" sz="950" dirty="0"/>
          </a:p>
        </p:txBody>
      </p:sp>
      <p:sp>
        <p:nvSpPr>
          <p:cNvPr id="31" name="bd_371"/>
          <p:cNvSpPr/>
          <p:nvPr/>
        </p:nvSpPr>
        <p:spPr>
          <a:xfrm>
            <a:off x="6263640" y="441483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H</a:t>
            </a:r>
            <a:endParaRPr lang="en-US" sz="1000" dirty="0"/>
          </a:p>
        </p:txBody>
      </p:sp>
      <p:sp>
        <p:nvSpPr>
          <p:cNvPr id="32" name="rb_372"/>
          <p:cNvSpPr/>
          <p:nvPr/>
        </p:nvSpPr>
        <p:spPr>
          <a:xfrm>
            <a:off x="6647688" y="4413123"/>
            <a:ext cx="2240280" cy="314325"/>
          </a:xfrm>
          <a:prstGeom prst="roundRect">
            <a:avLst>
              <a:gd name="adj" fmla="val 29091"/>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contribute to rent / bills</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73"/>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74" descr="/home/claude/lls-course/v2/assets/brush-yellow.png">    </p:cNvPr>
          <p:cNvPicPr>
            <a:picLocks noChangeAspect="1"/>
          </p:cNvPicPr>
          <p:nvPr/>
        </p:nvPicPr>
        <p:blipFill>
          <a:blip r:embed="rId2"/>
          <a:stretch>
            <a:fillRect/>
          </a:stretch>
        </p:blipFill>
        <p:spPr>
          <a:xfrm>
            <a:off x="1097280" y="146304"/>
            <a:ext cx="4977994" cy="621792"/>
          </a:xfrm>
          <a:prstGeom prst="rect">
            <a:avLst/>
          </a:prstGeom>
        </p:spPr>
      </p:pic>
      <p:sp>
        <p:nvSpPr>
          <p:cNvPr id="5" name="title_375"/>
          <p:cNvSpPr/>
          <p:nvPr/>
        </p:nvSpPr>
        <p:spPr>
          <a:xfrm>
            <a:off x="1261872" y="164592"/>
            <a:ext cx="4703674"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Student house arguments (2)</a:t>
            </a:r>
            <a:endParaRPr lang="en-US" sz="2400" dirty="0"/>
          </a:p>
        </p:txBody>
      </p:sp>
      <p:pic>
        <p:nvPicPr>
          <p:cNvPr id="6" name="brP_376"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77"/>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Read problems 4–6. Which solution A–H goes with each one?</a:t>
            </a:r>
            <a:endParaRPr lang="en-US" sz="1200" dirty="0"/>
          </a:p>
        </p:txBody>
      </p:sp>
      <p:sp>
        <p:nvSpPr>
          <p:cNvPr id="8" name="insIT_37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 problemi 4–6. Quale soluzione A–H va con ognuno?</a:t>
            </a:r>
            <a:endParaRPr lang="en-US" sz="950" dirty="0"/>
          </a:p>
        </p:txBody>
      </p:sp>
      <p:sp>
        <p:nvSpPr>
          <p:cNvPr id="9" name="note_37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MATCH</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for detail</a:t>
            </a:r>
            <a:endParaRPr lang="en-US" sz="1150" dirty="0"/>
          </a:p>
        </p:txBody>
      </p:sp>
      <p:pic>
        <p:nvPicPr>
          <p:cNvPr id="10" name="logo_38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8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Reading · Classic student house arguments (2)   ·   📖 SB p.67 · 3c (TG key)</a:t>
            </a:r>
            <a:endParaRPr lang="en-US" sz="800" dirty="0"/>
          </a:p>
        </p:txBody>
      </p:sp>
      <p:sp>
        <p:nvSpPr>
          <p:cNvPr id="12" name="cd_382"/>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383"/>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600" b="1" dirty="0">
                <a:solidFill>
                  <a:srgbClr val="1F6F43"/>
                </a:solidFill>
                <a:latin typeface="Georgia" pitchFamily="34" charset="0"/>
                <a:ea typeface="Georgia" pitchFamily="34" charset="-122"/>
                <a:cs typeface="Georgia" pitchFamily="34" charset="-120"/>
              </a:rPr>
              <a:t>Classic student house arguments (2)</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How to pay and split the bills The joint account seemed like a good idea until some people's money stopped going in, and the direct debit 'bounced' (incurring a charge), and the electricity bill, which was enormous, was forgotten about (another charge), and someone has gone to South America for three months. Solutions: • Get everyone to put in more money than will be needed in the account – then later pay the excess back (this is a good way of keeping a little extra cash in reserve, too). •</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(4) ________ </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Taking too long in the bathroom What are they doing in there? Solutions: • Have a kind word about the fact that there's only one bathroom. •</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(5) ________ </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When they come in at 3 a.m., waking everybody up the night before an exam. Solutions: • Make sure your housemates know if you have to be up early for something. Likewise, let them know if you intend to be back late. •</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(6) ________ </a:t>
            </a:r>
            <a:endParaRPr lang="en-US" sz="1100" dirty="0"/>
          </a:p>
        </p:txBody>
      </p:sp>
      <p:sp>
        <p:nvSpPr>
          <p:cNvPr id="14" name="R1_rdA384"/>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600" b="1" dirty="0">
                <a:solidFill>
                  <a:srgbClr val="1F6F43"/>
                </a:solidFill>
                <a:latin typeface="Georgia" pitchFamily="34" charset="0"/>
                <a:ea typeface="Georgia" pitchFamily="34" charset="-122"/>
                <a:cs typeface="Georgia" pitchFamily="34" charset="-120"/>
              </a:rPr>
              <a:t>Classic student house arguments (2)</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How to pay and split the bills The joint account seemed like a good idea until some people's money stopped going in, and the direct debit 'bounced' (incurring a charge), and the electricity bill, which was enormous, was forgotten about (another charge), and someone has gone to South America for three months. Solutions: • Get everyone to put in more money than will be needed in the account – then later pay the excess back (this is a good way of keeping a little extra cash in reserve, too). •</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(4) A </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Taking too long in the bathroom What are they doing in there? Solutions: • Have a kind word about the fact that there's only one bathroom. •</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(5) ________ </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When they come in at 3 a.m., waking everybody up the night before an exam. Solutions: • Make sure your housemates know if you have to be up early for something. Likewise, let them know if you intend to be back late. •</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(6) ________ </a:t>
            </a:r>
            <a:endParaRPr lang="en-US" sz="1100" dirty="0"/>
          </a:p>
        </p:txBody>
      </p:sp>
      <p:sp>
        <p:nvSpPr>
          <p:cNvPr id="15" name="R2_rdA385"/>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600" b="1" dirty="0">
                <a:solidFill>
                  <a:srgbClr val="1F6F43"/>
                </a:solidFill>
                <a:latin typeface="Georgia" pitchFamily="34" charset="0"/>
                <a:ea typeface="Georgia" pitchFamily="34" charset="-122"/>
                <a:cs typeface="Georgia" pitchFamily="34" charset="-120"/>
              </a:rPr>
              <a:t>Classic student house arguments (2)</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How to pay and split the bills The joint account seemed like a good idea until some people's money stopped going in, and the direct debit 'bounced' (incurring a charge), and the electricity bill, which was enormous, was forgotten about (another charge), and someone has gone to South America for three months. Solutions: • Get everyone to put in more money than will be needed in the account – then later pay the excess back (this is a good way of keeping a little extra cash in reserve, too). •</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(4) A </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Taking too long in the bathroom What are they doing in there? Solutions: • Have a kind word about the fact that there's only one bathroom. •</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(5) F </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When they come in at 3 a.m., waking everybody up the night before an exam. Solutions: • Make sure your housemates know if you have to be up early for something. Likewise, let them know if you intend to be back late. •</a:t>
            </a:r>
            <a:pPr indent="0" marL="0">
              <a:lnSpc>
                <a:spcPct val="105000"/>
              </a:lnSpc>
              <a:spcAft>
                <a:spcPts val="700"/>
              </a:spcAft>
              <a:buNone/>
            </a:pPr>
            <a:r>
              <a:rPr lang="en-US" sz="1100" b="1" dirty="0">
                <a:solidFill>
                  <a:srgbClr val="2EB872"/>
                </a:solidFill>
                <a:latin typeface="Georgia" pitchFamily="34" charset="0"/>
                <a:ea typeface="Georgia" pitchFamily="34" charset="-122"/>
                <a:cs typeface="Georgia" pitchFamily="34" charset="-120"/>
              </a:rPr>
              <a:t> (6) ________ </a:t>
            </a:r>
            <a:endParaRPr lang="en-US" sz="1100" dirty="0"/>
          </a:p>
        </p:txBody>
      </p:sp>
      <p:sp>
        <p:nvSpPr>
          <p:cNvPr id="16" name="R3_rdA386"/>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600" b="1" dirty="0">
                <a:solidFill>
                  <a:srgbClr val="1F6F43"/>
                </a:solidFill>
                <a:latin typeface="Georgia" pitchFamily="34" charset="0"/>
                <a:ea typeface="Georgia" pitchFamily="34" charset="-122"/>
                <a:cs typeface="Georgia" pitchFamily="34" charset="-120"/>
              </a:rPr>
              <a:t>Classic student house arguments (2)</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How to pay and split the bills The joint account seemed like a good idea until some people's money stopped going in, and the direct debit 'bounced' (incurring a charge), and the electricity bill, which was enormous, was forgotten about (another charge), and someone has gone to South America for three months. Solutions: • Get everyone to put in more money than will be needed in the account – then later pay the excess back (this is a good way of keeping a little extra cash in reserve, too). •</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(4) A </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Taking too long in the bathroom What are they doing in there? Solutions: • Have a kind word about the fact that there's only one bathroom. •</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(5) F </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When they come in at 3 a.m., waking everybody up the night before an exam. Solutions: • Make sure your housemates know if you have to be up early for something. Likewise, let them know if you intend to be back late. •</a:t>
            </a:r>
            <a:pPr indent="0" marL="0">
              <a:lnSpc>
                <a:spcPct val="105000"/>
              </a:lnSpc>
              <a:spcAft>
                <a:spcPts val="700"/>
              </a:spcAft>
              <a:buNone/>
            </a:pPr>
            <a:r>
              <a:rPr lang="en-US" sz="1100" b="1" dirty="0">
                <a:solidFill>
                  <a:srgbClr val="1B2559"/>
                </a:solidFill>
                <a:highlight>
                  <a:srgbClr val="FFE066"/>
                </a:highlight>
                <a:latin typeface="Georgia" pitchFamily="34" charset="0"/>
                <a:ea typeface="Georgia" pitchFamily="34" charset="-122"/>
                <a:cs typeface="Georgia" pitchFamily="34" charset="-120"/>
              </a:rPr>
              <a:t> (6) D </a:t>
            </a:r>
            <a:endParaRPr lang="en-US" sz="1100" dirty="0"/>
          </a:p>
        </p:txBody>
      </p:sp>
      <p:sp>
        <p:nvSpPr>
          <p:cNvPr id="17" name="rbh_387"/>
          <p:cNvSpPr/>
          <p:nvPr/>
        </p:nvSpPr>
        <p:spPr>
          <a:xfrm>
            <a:off x="6263640" y="1417320"/>
            <a:ext cx="2606040" cy="329184"/>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Solutions A–H (cues)</a:t>
            </a:r>
            <a:endParaRPr lang="en-US" sz="1300" dirty="0"/>
          </a:p>
        </p:txBody>
      </p:sp>
      <p:sp>
        <p:nvSpPr>
          <p:cNvPr id="18" name="bd_388"/>
          <p:cNvSpPr/>
          <p:nvPr/>
        </p:nvSpPr>
        <p:spPr>
          <a:xfrm>
            <a:off x="6263640" y="1830515"/>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A</a:t>
            </a:r>
            <a:endParaRPr lang="en-US" sz="1000" dirty="0"/>
          </a:p>
        </p:txBody>
      </p:sp>
      <p:sp>
        <p:nvSpPr>
          <p:cNvPr id="19" name="rb_389"/>
          <p:cNvSpPr/>
          <p:nvPr/>
        </p:nvSpPr>
        <p:spPr>
          <a:xfrm>
            <a:off x="6647688" y="1828800"/>
            <a:ext cx="2240280" cy="314325"/>
          </a:xfrm>
          <a:prstGeom prst="roundRect">
            <a:avLst>
              <a:gd name="adj" fmla="val 29091"/>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don't pay your share either</a:t>
            </a:r>
            <a:endParaRPr lang="en-US" sz="950" dirty="0"/>
          </a:p>
        </p:txBody>
      </p:sp>
      <p:sp>
        <p:nvSpPr>
          <p:cNvPr id="20" name="bd_390"/>
          <p:cNvSpPr/>
          <p:nvPr/>
        </p:nvSpPr>
        <p:spPr>
          <a:xfrm>
            <a:off x="6263640" y="2199704"/>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B</a:t>
            </a:r>
            <a:endParaRPr lang="en-US" sz="1000" dirty="0"/>
          </a:p>
        </p:txBody>
      </p:sp>
      <p:sp>
        <p:nvSpPr>
          <p:cNvPr id="21" name="rb_391"/>
          <p:cNvSpPr/>
          <p:nvPr/>
        </p:nvSpPr>
        <p:spPr>
          <a:xfrm>
            <a:off x="6647688" y="2197989"/>
            <a:ext cx="2240280" cy="314325"/>
          </a:xfrm>
          <a:prstGeom prst="roundRect">
            <a:avLst>
              <a:gd name="adj" fmla="val 29091"/>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names in a hat</a:t>
            </a:r>
            <a:endParaRPr lang="en-US" sz="950" dirty="0"/>
          </a:p>
        </p:txBody>
      </p:sp>
      <p:sp>
        <p:nvSpPr>
          <p:cNvPr id="22" name="bd_392"/>
          <p:cNvSpPr/>
          <p:nvPr/>
        </p:nvSpPr>
        <p:spPr>
          <a:xfrm>
            <a:off x="6263640" y="2568893"/>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C</a:t>
            </a:r>
            <a:endParaRPr lang="en-US" sz="1000" dirty="0"/>
          </a:p>
        </p:txBody>
      </p:sp>
      <p:sp>
        <p:nvSpPr>
          <p:cNvPr id="23" name="rb_393"/>
          <p:cNvSpPr/>
          <p:nvPr/>
        </p:nvSpPr>
        <p:spPr>
          <a:xfrm>
            <a:off x="6647688" y="2567178"/>
            <a:ext cx="2240280" cy="314325"/>
          </a:xfrm>
          <a:prstGeom prst="roundRect">
            <a:avLst>
              <a:gd name="adj" fmla="val 29091"/>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everyone has a go</a:t>
            </a:r>
            <a:endParaRPr lang="en-US" sz="950" dirty="0"/>
          </a:p>
        </p:txBody>
      </p:sp>
      <p:sp>
        <p:nvSpPr>
          <p:cNvPr id="24" name="bd_394"/>
          <p:cNvSpPr/>
          <p:nvPr/>
        </p:nvSpPr>
        <p:spPr>
          <a:xfrm>
            <a:off x="6263640" y="293808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D</a:t>
            </a:r>
            <a:endParaRPr lang="en-US" sz="1000" dirty="0"/>
          </a:p>
        </p:txBody>
      </p:sp>
      <p:sp>
        <p:nvSpPr>
          <p:cNvPr id="25" name="rb_395"/>
          <p:cNvSpPr/>
          <p:nvPr/>
        </p:nvSpPr>
        <p:spPr>
          <a:xfrm>
            <a:off x="6647688" y="2936367"/>
            <a:ext cx="2240280" cy="314325"/>
          </a:xfrm>
          <a:prstGeom prst="roundRect">
            <a:avLst>
              <a:gd name="adj" fmla="val 29091"/>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ear plugs</a:t>
            </a:r>
            <a:endParaRPr lang="en-US" sz="950" dirty="0"/>
          </a:p>
        </p:txBody>
      </p:sp>
      <p:sp>
        <p:nvSpPr>
          <p:cNvPr id="26" name="bd_396"/>
          <p:cNvSpPr/>
          <p:nvPr/>
        </p:nvSpPr>
        <p:spPr>
          <a:xfrm>
            <a:off x="6263640" y="3307271"/>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E</a:t>
            </a:r>
            <a:endParaRPr lang="en-US" sz="1000" dirty="0"/>
          </a:p>
        </p:txBody>
      </p:sp>
      <p:sp>
        <p:nvSpPr>
          <p:cNvPr id="27" name="rb_397"/>
          <p:cNvSpPr/>
          <p:nvPr/>
        </p:nvSpPr>
        <p:spPr>
          <a:xfrm>
            <a:off x="6647688" y="3305556"/>
            <a:ext cx="2240280" cy="314325"/>
          </a:xfrm>
          <a:prstGeom prst="roundRect">
            <a:avLst>
              <a:gd name="adj" fmla="val 29091"/>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a rota for all jobs</a:t>
            </a:r>
            <a:endParaRPr lang="en-US" sz="950" dirty="0"/>
          </a:p>
        </p:txBody>
      </p:sp>
      <p:sp>
        <p:nvSpPr>
          <p:cNvPr id="28" name="bd_398"/>
          <p:cNvSpPr/>
          <p:nvPr/>
        </p:nvSpPr>
        <p:spPr>
          <a:xfrm>
            <a:off x="6263640" y="3676460"/>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F</a:t>
            </a:r>
            <a:endParaRPr lang="en-US" sz="1000" dirty="0"/>
          </a:p>
        </p:txBody>
      </p:sp>
      <p:sp>
        <p:nvSpPr>
          <p:cNvPr id="29" name="rb_399"/>
          <p:cNvSpPr/>
          <p:nvPr/>
        </p:nvSpPr>
        <p:spPr>
          <a:xfrm>
            <a:off x="6647688" y="3674745"/>
            <a:ext cx="2240280" cy="314325"/>
          </a:xfrm>
          <a:prstGeom prst="roundRect">
            <a:avLst>
              <a:gd name="adj" fmla="val 29091"/>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take turns to go first</a:t>
            </a:r>
            <a:endParaRPr lang="en-US" sz="950" dirty="0"/>
          </a:p>
        </p:txBody>
      </p:sp>
      <p:sp>
        <p:nvSpPr>
          <p:cNvPr id="30" name="bd_400"/>
          <p:cNvSpPr/>
          <p:nvPr/>
        </p:nvSpPr>
        <p:spPr>
          <a:xfrm>
            <a:off x="6263640" y="4045648"/>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G</a:t>
            </a:r>
            <a:endParaRPr lang="en-US" sz="1000" dirty="0"/>
          </a:p>
        </p:txBody>
      </p:sp>
      <p:sp>
        <p:nvSpPr>
          <p:cNvPr id="31" name="rb_401"/>
          <p:cNvSpPr/>
          <p:nvPr/>
        </p:nvSpPr>
        <p:spPr>
          <a:xfrm>
            <a:off x="6647688" y="4043934"/>
            <a:ext cx="2240280" cy="314325"/>
          </a:xfrm>
          <a:prstGeom prst="roundRect">
            <a:avLst>
              <a:gd name="adj" fmla="val 29091"/>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own fridge shelf</a:t>
            </a:r>
            <a:endParaRPr lang="en-US" sz="950" dirty="0"/>
          </a:p>
        </p:txBody>
      </p:sp>
      <p:sp>
        <p:nvSpPr>
          <p:cNvPr id="32" name="bd_402"/>
          <p:cNvSpPr/>
          <p:nvPr/>
        </p:nvSpPr>
        <p:spPr>
          <a:xfrm>
            <a:off x="6263640" y="441483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H</a:t>
            </a:r>
            <a:endParaRPr lang="en-US" sz="1000" dirty="0"/>
          </a:p>
        </p:txBody>
      </p:sp>
      <p:sp>
        <p:nvSpPr>
          <p:cNvPr id="33" name="rb_403"/>
          <p:cNvSpPr/>
          <p:nvPr/>
        </p:nvSpPr>
        <p:spPr>
          <a:xfrm>
            <a:off x="6647688" y="4413123"/>
            <a:ext cx="2240280" cy="314325"/>
          </a:xfrm>
          <a:prstGeom prst="roundRect">
            <a:avLst>
              <a:gd name="adj" fmla="val 29091"/>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contribute to rent / bills</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0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05" descr="/home/claude/lls-course/v2/assets/brush-yellow.png">    </p:cNvPr>
          <p:cNvPicPr>
            <a:picLocks noChangeAspect="1"/>
          </p:cNvPicPr>
          <p:nvPr/>
        </p:nvPicPr>
        <p:blipFill>
          <a:blip r:embed="rId2"/>
          <a:stretch>
            <a:fillRect/>
          </a:stretch>
        </p:blipFill>
        <p:spPr>
          <a:xfrm>
            <a:off x="1097280" y="146304"/>
            <a:ext cx="4977994" cy="621792"/>
          </a:xfrm>
          <a:prstGeom prst="rect">
            <a:avLst/>
          </a:prstGeom>
        </p:spPr>
      </p:pic>
      <p:sp>
        <p:nvSpPr>
          <p:cNvPr id="5" name="title_406"/>
          <p:cNvSpPr/>
          <p:nvPr/>
        </p:nvSpPr>
        <p:spPr>
          <a:xfrm>
            <a:off x="1261872" y="164592"/>
            <a:ext cx="4703674"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Student house arguments (3)</a:t>
            </a:r>
            <a:endParaRPr lang="en-US" sz="2400" dirty="0"/>
          </a:p>
        </p:txBody>
      </p:sp>
      <p:pic>
        <p:nvPicPr>
          <p:cNvPr id="6" name="brP_407"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408"/>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problems 7–8. Which solution goes with each one?</a:t>
            </a:r>
            <a:endParaRPr lang="en-US" sz="1250" dirty="0"/>
          </a:p>
        </p:txBody>
      </p:sp>
      <p:sp>
        <p:nvSpPr>
          <p:cNvPr id="8" name="insIT_40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 problemi 7–8. Quale soluzione va con ognuno?</a:t>
            </a:r>
            <a:endParaRPr lang="en-US" sz="950" dirty="0"/>
          </a:p>
        </p:txBody>
      </p:sp>
      <p:sp>
        <p:nvSpPr>
          <p:cNvPr id="9" name="note_41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MATCH</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for detail</a:t>
            </a:r>
            <a:endParaRPr lang="en-US" sz="1150" dirty="0"/>
          </a:p>
        </p:txBody>
      </p:sp>
      <p:pic>
        <p:nvPicPr>
          <p:cNvPr id="10" name="logo_41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1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Reading · Classic student house arguments (3)   ·   📖 SB p.67 · 3c (TG key)</a:t>
            </a:r>
            <a:endParaRPr lang="en-US" sz="800" dirty="0"/>
          </a:p>
        </p:txBody>
      </p:sp>
      <p:sp>
        <p:nvSpPr>
          <p:cNvPr id="12" name="cd_413"/>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414"/>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2000" b="1" dirty="0">
                <a:solidFill>
                  <a:srgbClr val="1F6F43"/>
                </a:solidFill>
                <a:latin typeface="Georgia" pitchFamily="34" charset="0"/>
                <a:ea typeface="Georgia" pitchFamily="34" charset="-122"/>
                <a:cs typeface="Georgia" pitchFamily="34" charset="-120"/>
              </a:rPr>
              <a:t>Classic student house arguments (3)</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Food stealing, 'borrowing' clothes, etc. 'It was just there, so I took it.' Solutions: • Label your stuff, so that it's obvious what's yours. •</a:t>
            </a:r>
            <a:pPr indent="0" marL="0">
              <a:lnSpc>
                <a:spcPct val="105000"/>
              </a:lnSpc>
              <a:spcAft>
                <a:spcPts val="700"/>
              </a:spcAft>
              <a:buNone/>
            </a:pPr>
            <a:r>
              <a:rPr lang="en-US" sz="1500" b="1" dirty="0">
                <a:solidFill>
                  <a:srgbClr val="2EB872"/>
                </a:solidFill>
                <a:latin typeface="Georgia" pitchFamily="34" charset="0"/>
                <a:ea typeface="Georgia" pitchFamily="34" charset="-122"/>
                <a:cs typeface="Georgia" pitchFamily="34" charset="-120"/>
              </a:rPr>
              <a:t> (7) ________ </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Who can't cook, who won't cook? Why is it always you who's left alone to make dinner in the evening? How come as soon as you've finished, everyone suddenly appears? Solutions: • Draw up a cooking rota, so you know whose turn it is. •</a:t>
            </a:r>
            <a:pPr indent="0" marL="0">
              <a:lnSpc>
                <a:spcPct val="105000"/>
              </a:lnSpc>
              <a:spcAft>
                <a:spcPts val="700"/>
              </a:spcAft>
              <a:buNone/>
            </a:pPr>
            <a:r>
              <a:rPr lang="en-US" sz="1500" b="1" dirty="0">
                <a:solidFill>
                  <a:srgbClr val="2EB872"/>
                </a:solidFill>
                <a:latin typeface="Georgia" pitchFamily="34" charset="0"/>
                <a:ea typeface="Georgia" pitchFamily="34" charset="-122"/>
                <a:cs typeface="Georgia" pitchFamily="34" charset="-120"/>
              </a:rPr>
              <a:t> (8) ________ </a:t>
            </a:r>
            <a:endParaRPr lang="en-US" sz="1500" dirty="0"/>
          </a:p>
        </p:txBody>
      </p:sp>
      <p:sp>
        <p:nvSpPr>
          <p:cNvPr id="14" name="R1_rdA415"/>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2000" b="1" dirty="0">
                <a:solidFill>
                  <a:srgbClr val="1F6F43"/>
                </a:solidFill>
                <a:latin typeface="Georgia" pitchFamily="34" charset="0"/>
                <a:ea typeface="Georgia" pitchFamily="34" charset="-122"/>
                <a:cs typeface="Georgia" pitchFamily="34" charset="-120"/>
              </a:rPr>
              <a:t>Classic student house arguments (3)</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Food stealing, 'borrowing' clothes, etc. 'It was just there, so I took it.' Solutions: • Label your stuff, so that it's obvious what's yours. •</a:t>
            </a:r>
            <a:pPr indent="0" marL="0">
              <a:lnSpc>
                <a:spcPct val="105000"/>
              </a:lnSpc>
              <a:spcAft>
                <a:spcPts val="700"/>
              </a:spcAft>
              <a:buNone/>
            </a:pPr>
            <a:r>
              <a:rPr lang="en-US" sz="1500" b="1" dirty="0">
                <a:solidFill>
                  <a:srgbClr val="1B2559"/>
                </a:solidFill>
                <a:highlight>
                  <a:srgbClr val="FFE066"/>
                </a:highlight>
                <a:latin typeface="Georgia" pitchFamily="34" charset="0"/>
                <a:ea typeface="Georgia" pitchFamily="34" charset="-122"/>
                <a:cs typeface="Georgia" pitchFamily="34" charset="-120"/>
              </a:rPr>
              <a:t> (7) G </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Who can't cook, who won't cook? Why is it always you who's left alone to make dinner in the evening? How come as soon as you've finished, everyone suddenly appears? Solutions: • Draw up a cooking rota, so you know whose turn it is. •</a:t>
            </a:r>
            <a:pPr indent="0" marL="0">
              <a:lnSpc>
                <a:spcPct val="105000"/>
              </a:lnSpc>
              <a:spcAft>
                <a:spcPts val="700"/>
              </a:spcAft>
              <a:buNone/>
            </a:pPr>
            <a:r>
              <a:rPr lang="en-US" sz="1500" b="1" dirty="0">
                <a:solidFill>
                  <a:srgbClr val="2EB872"/>
                </a:solidFill>
                <a:latin typeface="Georgia" pitchFamily="34" charset="0"/>
                <a:ea typeface="Georgia" pitchFamily="34" charset="-122"/>
                <a:cs typeface="Georgia" pitchFamily="34" charset="-120"/>
              </a:rPr>
              <a:t> (8) ________ </a:t>
            </a:r>
            <a:endParaRPr lang="en-US" sz="1500" dirty="0"/>
          </a:p>
        </p:txBody>
      </p:sp>
      <p:sp>
        <p:nvSpPr>
          <p:cNvPr id="15" name="R2_rdA416"/>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2000" b="1" dirty="0">
                <a:solidFill>
                  <a:srgbClr val="1F6F43"/>
                </a:solidFill>
                <a:latin typeface="Georgia" pitchFamily="34" charset="0"/>
                <a:ea typeface="Georgia" pitchFamily="34" charset="-122"/>
                <a:cs typeface="Georgia" pitchFamily="34" charset="-120"/>
              </a:rPr>
              <a:t>Classic student house arguments (3)</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Food stealing, 'borrowing' clothes, etc. 'It was just there, so I took it.' Solutions: • Label your stuff, so that it's obvious what's yours. •</a:t>
            </a:r>
            <a:pPr indent="0" marL="0">
              <a:lnSpc>
                <a:spcPct val="105000"/>
              </a:lnSpc>
              <a:spcAft>
                <a:spcPts val="700"/>
              </a:spcAft>
              <a:buNone/>
            </a:pPr>
            <a:r>
              <a:rPr lang="en-US" sz="1500" b="1" dirty="0">
                <a:solidFill>
                  <a:srgbClr val="1B2559"/>
                </a:solidFill>
                <a:highlight>
                  <a:srgbClr val="FFE066"/>
                </a:highlight>
                <a:latin typeface="Georgia" pitchFamily="34" charset="0"/>
                <a:ea typeface="Georgia" pitchFamily="34" charset="-122"/>
                <a:cs typeface="Georgia" pitchFamily="34" charset="-120"/>
              </a:rPr>
              <a:t> (7) G </a:t>
            </a:r>
            <a:endParaRPr lang="en-US" sz="1500" dirty="0"/>
          </a:p>
          <a:p>
            <a:pPr indent="0" marL="0">
              <a:lnSpc>
                <a:spcPct val="105000"/>
              </a:lnSpc>
              <a:spcAft>
                <a:spcPts val="700"/>
              </a:spcAft>
              <a:buNone/>
            </a:pPr>
            <a:r>
              <a:rPr lang="en-US" sz="1500" dirty="0">
                <a:solidFill>
                  <a:srgbClr val="1B2559"/>
                </a:solidFill>
                <a:latin typeface="Georgia" pitchFamily="34" charset="0"/>
                <a:ea typeface="Georgia" pitchFamily="34" charset="-122"/>
                <a:cs typeface="Georgia" pitchFamily="34" charset="-120"/>
              </a:rPr>
              <a:t>Who can't cook, who won't cook? Why is it always you who's left alone to make dinner in the evening? How come as soon as you've finished, everyone suddenly appears? Solutions: • Draw up a cooking rota, so you know whose turn it is. •</a:t>
            </a:r>
            <a:pPr indent="0" marL="0">
              <a:lnSpc>
                <a:spcPct val="105000"/>
              </a:lnSpc>
              <a:spcAft>
                <a:spcPts val="700"/>
              </a:spcAft>
              <a:buNone/>
            </a:pPr>
            <a:r>
              <a:rPr lang="en-US" sz="1500" b="1" dirty="0">
                <a:solidFill>
                  <a:srgbClr val="1B2559"/>
                </a:solidFill>
                <a:highlight>
                  <a:srgbClr val="FFE066"/>
                </a:highlight>
                <a:latin typeface="Georgia" pitchFamily="34" charset="0"/>
                <a:ea typeface="Georgia" pitchFamily="34" charset="-122"/>
                <a:cs typeface="Georgia" pitchFamily="34" charset="-120"/>
              </a:rPr>
              <a:t> (8) C </a:t>
            </a:r>
            <a:endParaRPr lang="en-US" sz="1500" dirty="0"/>
          </a:p>
        </p:txBody>
      </p:sp>
      <p:sp>
        <p:nvSpPr>
          <p:cNvPr id="16" name="rbh_417"/>
          <p:cNvSpPr/>
          <p:nvPr/>
        </p:nvSpPr>
        <p:spPr>
          <a:xfrm>
            <a:off x="6263640" y="1417320"/>
            <a:ext cx="2606040" cy="329184"/>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Solutions A–H (cues)</a:t>
            </a:r>
            <a:endParaRPr lang="en-US" sz="1300" dirty="0"/>
          </a:p>
        </p:txBody>
      </p:sp>
      <p:sp>
        <p:nvSpPr>
          <p:cNvPr id="17" name="bd_418"/>
          <p:cNvSpPr/>
          <p:nvPr/>
        </p:nvSpPr>
        <p:spPr>
          <a:xfrm>
            <a:off x="6263640" y="1830515"/>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A</a:t>
            </a:r>
            <a:endParaRPr lang="en-US" sz="1000" dirty="0"/>
          </a:p>
        </p:txBody>
      </p:sp>
      <p:sp>
        <p:nvSpPr>
          <p:cNvPr id="18" name="rb_419"/>
          <p:cNvSpPr/>
          <p:nvPr/>
        </p:nvSpPr>
        <p:spPr>
          <a:xfrm>
            <a:off x="6647688" y="1828800"/>
            <a:ext cx="2240280" cy="314325"/>
          </a:xfrm>
          <a:prstGeom prst="roundRect">
            <a:avLst>
              <a:gd name="adj" fmla="val 29091"/>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don't pay your share either</a:t>
            </a:r>
            <a:endParaRPr lang="en-US" sz="950" dirty="0"/>
          </a:p>
        </p:txBody>
      </p:sp>
      <p:sp>
        <p:nvSpPr>
          <p:cNvPr id="19" name="bd_420"/>
          <p:cNvSpPr/>
          <p:nvPr/>
        </p:nvSpPr>
        <p:spPr>
          <a:xfrm>
            <a:off x="6263640" y="2199704"/>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B</a:t>
            </a:r>
            <a:endParaRPr lang="en-US" sz="1000" dirty="0"/>
          </a:p>
        </p:txBody>
      </p:sp>
      <p:sp>
        <p:nvSpPr>
          <p:cNvPr id="20" name="rb_421"/>
          <p:cNvSpPr/>
          <p:nvPr/>
        </p:nvSpPr>
        <p:spPr>
          <a:xfrm>
            <a:off x="6647688" y="2197989"/>
            <a:ext cx="2240280" cy="314325"/>
          </a:xfrm>
          <a:prstGeom prst="roundRect">
            <a:avLst>
              <a:gd name="adj" fmla="val 29091"/>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names in a hat</a:t>
            </a:r>
            <a:endParaRPr lang="en-US" sz="950" dirty="0"/>
          </a:p>
        </p:txBody>
      </p:sp>
      <p:sp>
        <p:nvSpPr>
          <p:cNvPr id="21" name="bd_422"/>
          <p:cNvSpPr/>
          <p:nvPr/>
        </p:nvSpPr>
        <p:spPr>
          <a:xfrm>
            <a:off x="6263640" y="2568893"/>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C</a:t>
            </a:r>
            <a:endParaRPr lang="en-US" sz="1000" dirty="0"/>
          </a:p>
        </p:txBody>
      </p:sp>
      <p:sp>
        <p:nvSpPr>
          <p:cNvPr id="22" name="rb_423"/>
          <p:cNvSpPr/>
          <p:nvPr/>
        </p:nvSpPr>
        <p:spPr>
          <a:xfrm>
            <a:off x="6647688" y="2567178"/>
            <a:ext cx="2240280" cy="314325"/>
          </a:xfrm>
          <a:prstGeom prst="roundRect">
            <a:avLst>
              <a:gd name="adj" fmla="val 29091"/>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everyone has a go</a:t>
            </a:r>
            <a:endParaRPr lang="en-US" sz="950" dirty="0"/>
          </a:p>
        </p:txBody>
      </p:sp>
      <p:sp>
        <p:nvSpPr>
          <p:cNvPr id="23" name="bd_424"/>
          <p:cNvSpPr/>
          <p:nvPr/>
        </p:nvSpPr>
        <p:spPr>
          <a:xfrm>
            <a:off x="6263640" y="293808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D</a:t>
            </a:r>
            <a:endParaRPr lang="en-US" sz="1000" dirty="0"/>
          </a:p>
        </p:txBody>
      </p:sp>
      <p:sp>
        <p:nvSpPr>
          <p:cNvPr id="24" name="rb_425"/>
          <p:cNvSpPr/>
          <p:nvPr/>
        </p:nvSpPr>
        <p:spPr>
          <a:xfrm>
            <a:off x="6647688" y="2936367"/>
            <a:ext cx="2240280" cy="314325"/>
          </a:xfrm>
          <a:prstGeom prst="roundRect">
            <a:avLst>
              <a:gd name="adj" fmla="val 29091"/>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ear plugs</a:t>
            </a:r>
            <a:endParaRPr lang="en-US" sz="950" dirty="0"/>
          </a:p>
        </p:txBody>
      </p:sp>
      <p:sp>
        <p:nvSpPr>
          <p:cNvPr id="25" name="bd_426"/>
          <p:cNvSpPr/>
          <p:nvPr/>
        </p:nvSpPr>
        <p:spPr>
          <a:xfrm>
            <a:off x="6263640" y="3307271"/>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E</a:t>
            </a:r>
            <a:endParaRPr lang="en-US" sz="1000" dirty="0"/>
          </a:p>
        </p:txBody>
      </p:sp>
      <p:sp>
        <p:nvSpPr>
          <p:cNvPr id="26" name="rb_427"/>
          <p:cNvSpPr/>
          <p:nvPr/>
        </p:nvSpPr>
        <p:spPr>
          <a:xfrm>
            <a:off x="6647688" y="3305556"/>
            <a:ext cx="2240280" cy="314325"/>
          </a:xfrm>
          <a:prstGeom prst="roundRect">
            <a:avLst>
              <a:gd name="adj" fmla="val 29091"/>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a rota for all jobs</a:t>
            </a:r>
            <a:endParaRPr lang="en-US" sz="950" dirty="0"/>
          </a:p>
        </p:txBody>
      </p:sp>
      <p:sp>
        <p:nvSpPr>
          <p:cNvPr id="27" name="bd_428"/>
          <p:cNvSpPr/>
          <p:nvPr/>
        </p:nvSpPr>
        <p:spPr>
          <a:xfrm>
            <a:off x="6263640" y="3676460"/>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F</a:t>
            </a:r>
            <a:endParaRPr lang="en-US" sz="1000" dirty="0"/>
          </a:p>
        </p:txBody>
      </p:sp>
      <p:sp>
        <p:nvSpPr>
          <p:cNvPr id="28" name="rb_429"/>
          <p:cNvSpPr/>
          <p:nvPr/>
        </p:nvSpPr>
        <p:spPr>
          <a:xfrm>
            <a:off x="6647688" y="3674745"/>
            <a:ext cx="2240280" cy="314325"/>
          </a:xfrm>
          <a:prstGeom prst="roundRect">
            <a:avLst>
              <a:gd name="adj" fmla="val 29091"/>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take turns to go first</a:t>
            </a:r>
            <a:endParaRPr lang="en-US" sz="950" dirty="0"/>
          </a:p>
        </p:txBody>
      </p:sp>
      <p:sp>
        <p:nvSpPr>
          <p:cNvPr id="29" name="bd_430"/>
          <p:cNvSpPr/>
          <p:nvPr/>
        </p:nvSpPr>
        <p:spPr>
          <a:xfrm>
            <a:off x="6263640" y="4045648"/>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G</a:t>
            </a:r>
            <a:endParaRPr lang="en-US" sz="1000" dirty="0"/>
          </a:p>
        </p:txBody>
      </p:sp>
      <p:sp>
        <p:nvSpPr>
          <p:cNvPr id="30" name="rb_431"/>
          <p:cNvSpPr/>
          <p:nvPr/>
        </p:nvSpPr>
        <p:spPr>
          <a:xfrm>
            <a:off x="6647688" y="4043934"/>
            <a:ext cx="2240280" cy="314325"/>
          </a:xfrm>
          <a:prstGeom prst="roundRect">
            <a:avLst>
              <a:gd name="adj" fmla="val 29091"/>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own fridge shelf</a:t>
            </a:r>
            <a:endParaRPr lang="en-US" sz="950" dirty="0"/>
          </a:p>
        </p:txBody>
      </p:sp>
      <p:sp>
        <p:nvSpPr>
          <p:cNvPr id="31" name="bd_432"/>
          <p:cNvSpPr/>
          <p:nvPr/>
        </p:nvSpPr>
        <p:spPr>
          <a:xfrm>
            <a:off x="6263640" y="4414838"/>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H</a:t>
            </a:r>
            <a:endParaRPr lang="en-US" sz="1000" dirty="0"/>
          </a:p>
        </p:txBody>
      </p:sp>
      <p:sp>
        <p:nvSpPr>
          <p:cNvPr id="32" name="rb_433"/>
          <p:cNvSpPr/>
          <p:nvPr/>
        </p:nvSpPr>
        <p:spPr>
          <a:xfrm>
            <a:off x="6647688" y="4413123"/>
            <a:ext cx="2240280" cy="314325"/>
          </a:xfrm>
          <a:prstGeom prst="roundRect">
            <a:avLst>
              <a:gd name="adj" fmla="val 29091"/>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contribute to rent / bills</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34"/>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35"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436"/>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Which solution is better?</a:t>
            </a:r>
            <a:endParaRPr lang="en-US" sz="2500" dirty="0"/>
          </a:p>
        </p:txBody>
      </p:sp>
      <p:pic>
        <p:nvPicPr>
          <p:cNvPr id="6" name="brP_437"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438"/>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Talk to a partner. Then judge your flatmates – use past modals!</a:t>
            </a:r>
            <a:endParaRPr lang="en-US" sz="1100" dirty="0"/>
          </a:p>
        </p:txBody>
      </p:sp>
      <p:sp>
        <p:nvSpPr>
          <p:cNvPr id="8" name="insIT_43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Parla con un compagno. Poi giudica i coinquilini – usa i past modals!</a:t>
            </a:r>
            <a:endParaRPr lang="en-US" sz="950" dirty="0"/>
          </a:p>
        </p:txBody>
      </p:sp>
      <p:sp>
        <p:nvSpPr>
          <p:cNvPr id="9" name="note_44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44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4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Speaking · the solutions   ·   📖 SB p.67 · 3d</a:t>
            </a:r>
            <a:endParaRPr lang="en-US" sz="800" dirty="0"/>
          </a:p>
        </p:txBody>
      </p:sp>
      <p:sp>
        <p:nvSpPr>
          <p:cNvPr id="12" name="cd_443"/>
          <p:cNvSpPr/>
          <p:nvPr/>
        </p:nvSpPr>
        <p:spPr>
          <a:xfrm>
            <a:off x="320040" y="1417320"/>
            <a:ext cx="2788920" cy="2215896"/>
          </a:xfrm>
          <a:prstGeom prst="roundRect">
            <a:avLst>
              <a:gd name="adj" fmla="val 57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44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445"/>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5" name="il_446"/>
          <p:cNvSpPr/>
          <p:nvPr/>
        </p:nvSpPr>
        <p:spPr>
          <a:xfrm>
            <a:off x="886968" y="1911096"/>
            <a:ext cx="2130552" cy="16489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think the second solution is better because…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They should have…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He must have…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The most annoying is…</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Once, my brother…</a:t>
            </a:r>
            <a:endParaRPr lang="en-US" sz="1150" dirty="0"/>
          </a:p>
        </p:txBody>
      </p:sp>
      <p:sp>
        <p:nvSpPr>
          <p:cNvPr id="16" name="R1_qb447"/>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7" name="R1_sq448"/>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Look at the two solutions to each problem. Which one do you think is better? Can you suggest any other solutions?</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prefer the hat – it's fairer than paying more rent.</a:t>
            </a:r>
            <a:endParaRPr lang="en-US" sz="950" dirty="0"/>
          </a:p>
        </p:txBody>
      </p:sp>
      <p:sp>
        <p:nvSpPr>
          <p:cNvPr id="18" name="R2_qb449"/>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19" name="R2_sq450"/>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Which problem would you find the most annoying? Have you ever had to deal with any of these problems yourself? What did you do?</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Food stealing! My brother always eats my yoghurts.</a:t>
            </a:r>
            <a:endParaRPr lang="en-US" sz="950" dirty="0"/>
          </a:p>
        </p:txBody>
      </p:sp>
      <p:sp>
        <p:nvSpPr>
          <p:cNvPr id="20" name="R3_qb451"/>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1" name="R3_sq452"/>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Back to the milk: what should Jack have done? What should the girl have done?</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He should have asked! She should have hidden it.</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454"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455"/>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Guess my verb</a:t>
            </a:r>
            <a:endParaRPr lang="en-US" sz="2500" dirty="0"/>
          </a:p>
        </p:txBody>
      </p:sp>
      <p:pic>
        <p:nvPicPr>
          <p:cNvPr id="6" name="brP_456"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457"/>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Guess my verb! Read the sentence. Your partner guesses the ending – 3 tries.</a:t>
            </a:r>
            <a:endParaRPr lang="en-US" sz="1100" dirty="0"/>
          </a:p>
        </p:txBody>
      </p:sp>
      <p:sp>
        <p:nvSpPr>
          <p:cNvPr id="8" name="insIT_45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Indovina il mio verbo! Leggi la frase. Il compagno indovina la fine – 3 tentativi.</a:t>
            </a:r>
            <a:endParaRPr lang="en-US" sz="950" dirty="0"/>
          </a:p>
        </p:txBody>
      </p:sp>
      <p:sp>
        <p:nvSpPr>
          <p:cNvPr id="9" name="note_45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 game</a:t>
            </a:r>
            <a:endParaRPr lang="en-US" sz="1150" dirty="0"/>
          </a:p>
        </p:txBody>
      </p:sp>
      <p:pic>
        <p:nvPicPr>
          <p:cNvPr id="10" name="logo_46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6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Game · Guess my verb (Communicative 7A)   ·   📖 Photocopiable Communicative 7A 'Guess my verb' (TG p.205)</a:t>
            </a:r>
            <a:endParaRPr lang="en-US" sz="800" dirty="0"/>
          </a:p>
        </p:txBody>
      </p:sp>
      <p:sp>
        <p:nvSpPr>
          <p:cNvPr id="12" name="cd_462"/>
          <p:cNvSpPr/>
          <p:nvPr/>
        </p:nvSpPr>
        <p:spPr>
          <a:xfrm>
            <a:off x="320040" y="1417320"/>
            <a:ext cx="2697480" cy="2036064"/>
          </a:xfrm>
          <a:prstGeom prst="roundRect">
            <a:avLst>
              <a:gd name="adj" fmla="val 628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46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464"/>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465"/>
          <p:cNvSpPr/>
          <p:nvPr/>
        </p:nvSpPr>
        <p:spPr>
          <a:xfrm>
            <a:off x="886968" y="1911096"/>
            <a:ext cx="2039112" cy="14691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Your partner says an ending with a past participle.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Same as the card = 'That's right!' Not the same = 'Try again' (3 tries).</a:t>
            </a:r>
            <a:endParaRPr lang="en-US" sz="1150" dirty="0"/>
          </a:p>
        </p:txBody>
      </p:sp>
      <p:sp>
        <p:nvSpPr>
          <p:cNvPr id="16" name="bd_466"/>
          <p:cNvSpPr/>
          <p:nvPr/>
        </p:nvSpPr>
        <p:spPr>
          <a:xfrm>
            <a:off x="3246120" y="1452590"/>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7" name="gq_467"/>
          <p:cNvSpPr/>
          <p:nvPr/>
        </p:nvSpPr>
        <p:spPr>
          <a:xfrm>
            <a:off x="3657600" y="1417320"/>
            <a:ext cx="2514600" cy="399723"/>
          </a:xfrm>
          <a:prstGeom prst="roundRect">
            <a:avLst>
              <a:gd name="adj" fmla="val 22876"/>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Greg's really late. He may have…</a:t>
            </a:r>
            <a:endParaRPr lang="en-US" sz="900" dirty="0"/>
          </a:p>
        </p:txBody>
      </p:sp>
      <p:sp>
        <p:nvSpPr>
          <p:cNvPr id="18" name="chip_468"/>
          <p:cNvSpPr/>
          <p:nvPr/>
        </p:nvSpPr>
        <p:spPr>
          <a:xfrm>
            <a:off x="6263640" y="1417320"/>
            <a:ext cx="2560320" cy="399723"/>
          </a:xfrm>
          <a:prstGeom prst="roundRect">
            <a:avLst>
              <a:gd name="adj" fmla="val 22876"/>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got lost</a:t>
            </a:r>
            <a:endParaRPr lang="en-US" sz="1050" dirty="0"/>
          </a:p>
        </p:txBody>
      </p:sp>
      <p:sp>
        <p:nvSpPr>
          <p:cNvPr id="19" name="bd_469"/>
          <p:cNvSpPr/>
          <p:nvPr/>
        </p:nvSpPr>
        <p:spPr>
          <a:xfrm>
            <a:off x="3246120" y="1916321"/>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gq_470"/>
          <p:cNvSpPr/>
          <p:nvPr/>
        </p:nvSpPr>
        <p:spPr>
          <a:xfrm>
            <a:off x="3657600" y="1881051"/>
            <a:ext cx="2514600" cy="399723"/>
          </a:xfrm>
          <a:prstGeom prst="roundRect">
            <a:avLst>
              <a:gd name="adj" fmla="val 2287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750" dirty="0">
                <a:solidFill>
                  <a:srgbClr val="1B2559"/>
                </a:solidFill>
                <a:latin typeface="Segoe UI Semibold" pitchFamily="34" charset="0"/>
                <a:ea typeface="Segoe UI Semibold" pitchFamily="34" charset="-122"/>
                <a:cs typeface="Segoe UI Semibold" pitchFamily="34" charset="-120"/>
              </a:rPr>
              <a:t>You can't have finished that book. You only started it yesterday and it's got over 600 pages!</a:t>
            </a:r>
            <a:endParaRPr lang="en-US" sz="750" dirty="0"/>
          </a:p>
        </p:txBody>
      </p:sp>
      <p:sp>
        <p:nvSpPr>
          <p:cNvPr id="21" name="R1_chip471"/>
          <p:cNvSpPr/>
          <p:nvPr/>
        </p:nvSpPr>
        <p:spPr>
          <a:xfrm>
            <a:off x="6263640" y="1881051"/>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(can't have) finished that book</a:t>
            </a:r>
            <a:endParaRPr lang="en-US" sz="1050" dirty="0"/>
          </a:p>
        </p:txBody>
      </p:sp>
      <p:sp>
        <p:nvSpPr>
          <p:cNvPr id="22" name="bd_472"/>
          <p:cNvSpPr/>
          <p:nvPr/>
        </p:nvSpPr>
        <p:spPr>
          <a:xfrm>
            <a:off x="3246120" y="2380053"/>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gq_473"/>
          <p:cNvSpPr/>
          <p:nvPr/>
        </p:nvSpPr>
        <p:spPr>
          <a:xfrm>
            <a:off x="3657600" y="2344783"/>
            <a:ext cx="2514600" cy="399723"/>
          </a:xfrm>
          <a:prstGeom prst="roundRect">
            <a:avLst>
              <a:gd name="adj" fmla="val 2287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Maria looks so tired. She can't have…</a:t>
            </a:r>
            <a:endParaRPr lang="en-US" sz="900" dirty="0"/>
          </a:p>
        </p:txBody>
      </p:sp>
      <p:sp>
        <p:nvSpPr>
          <p:cNvPr id="24" name="R2_chip474"/>
          <p:cNvSpPr/>
          <p:nvPr/>
        </p:nvSpPr>
        <p:spPr>
          <a:xfrm>
            <a:off x="6263640" y="2344783"/>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slept very well last night</a:t>
            </a:r>
            <a:endParaRPr lang="en-US" sz="1050" dirty="0"/>
          </a:p>
        </p:txBody>
      </p:sp>
      <p:sp>
        <p:nvSpPr>
          <p:cNvPr id="25" name="bd_475"/>
          <p:cNvSpPr/>
          <p:nvPr/>
        </p:nvSpPr>
        <p:spPr>
          <a:xfrm>
            <a:off x="3246120" y="284378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gq_476"/>
          <p:cNvSpPr/>
          <p:nvPr/>
        </p:nvSpPr>
        <p:spPr>
          <a:xfrm>
            <a:off x="3657600" y="2808514"/>
            <a:ext cx="2514600" cy="399723"/>
          </a:xfrm>
          <a:prstGeom prst="roundRect">
            <a:avLst>
              <a:gd name="adj" fmla="val 2287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Ellie usually rings me on my birthday, but this year she didn't. She must have…</a:t>
            </a:r>
            <a:endParaRPr lang="en-US" sz="800" dirty="0"/>
          </a:p>
        </p:txBody>
      </p:sp>
      <p:sp>
        <p:nvSpPr>
          <p:cNvPr id="27" name="R3_chip477"/>
          <p:cNvSpPr/>
          <p:nvPr/>
        </p:nvSpPr>
        <p:spPr>
          <a:xfrm>
            <a:off x="6263640" y="2808514"/>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forgotten</a:t>
            </a:r>
            <a:endParaRPr lang="en-US" sz="1050" dirty="0"/>
          </a:p>
        </p:txBody>
      </p:sp>
      <p:sp>
        <p:nvSpPr>
          <p:cNvPr id="28" name="bd_478"/>
          <p:cNvSpPr/>
          <p:nvPr/>
        </p:nvSpPr>
        <p:spPr>
          <a:xfrm>
            <a:off x="3246120" y="3307515"/>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gq_479"/>
          <p:cNvSpPr/>
          <p:nvPr/>
        </p:nvSpPr>
        <p:spPr>
          <a:xfrm>
            <a:off x="3657600" y="3272246"/>
            <a:ext cx="2514600" cy="399723"/>
          </a:xfrm>
          <a:prstGeom prst="roundRect">
            <a:avLst>
              <a:gd name="adj" fmla="val 2287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My neighbour's just bought a really expensive new car. She might have…</a:t>
            </a:r>
            <a:endParaRPr lang="en-US" sz="900" dirty="0"/>
          </a:p>
        </p:txBody>
      </p:sp>
      <p:sp>
        <p:nvSpPr>
          <p:cNvPr id="30" name="R4_chip480"/>
          <p:cNvSpPr/>
          <p:nvPr/>
        </p:nvSpPr>
        <p:spPr>
          <a:xfrm>
            <a:off x="6263640" y="3272246"/>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won the lottery!</a:t>
            </a:r>
            <a:endParaRPr lang="en-US" sz="1050" dirty="0"/>
          </a:p>
        </p:txBody>
      </p:sp>
      <p:sp>
        <p:nvSpPr>
          <p:cNvPr id="31" name="bd_481"/>
          <p:cNvSpPr/>
          <p:nvPr/>
        </p:nvSpPr>
        <p:spPr>
          <a:xfrm>
            <a:off x="3246120" y="3771247"/>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2" name="gq_482"/>
          <p:cNvSpPr/>
          <p:nvPr/>
        </p:nvSpPr>
        <p:spPr>
          <a:xfrm>
            <a:off x="3657600" y="3735977"/>
            <a:ext cx="2514600" cy="399723"/>
          </a:xfrm>
          <a:prstGeom prst="roundRect">
            <a:avLst>
              <a:gd name="adj" fmla="val 2287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Have you seen Kathy's huge engagement ring? It must have…</a:t>
            </a:r>
            <a:endParaRPr lang="en-US" sz="900" dirty="0"/>
          </a:p>
        </p:txBody>
      </p:sp>
      <p:sp>
        <p:nvSpPr>
          <p:cNvPr id="33" name="R5_chip483"/>
          <p:cNvSpPr/>
          <p:nvPr/>
        </p:nvSpPr>
        <p:spPr>
          <a:xfrm>
            <a:off x="6263640" y="3735977"/>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cost a fortune!</a:t>
            </a:r>
            <a:endParaRPr lang="en-US" sz="1050" dirty="0"/>
          </a:p>
        </p:txBody>
      </p:sp>
      <p:sp>
        <p:nvSpPr>
          <p:cNvPr id="34" name="bd_484"/>
          <p:cNvSpPr/>
          <p:nvPr/>
        </p:nvSpPr>
        <p:spPr>
          <a:xfrm>
            <a:off x="3246120" y="4234978"/>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5" name="gq_485"/>
          <p:cNvSpPr/>
          <p:nvPr/>
        </p:nvSpPr>
        <p:spPr>
          <a:xfrm>
            <a:off x="3657600" y="4199709"/>
            <a:ext cx="2514600" cy="399723"/>
          </a:xfrm>
          <a:prstGeom prst="roundRect">
            <a:avLst>
              <a:gd name="adj" fmla="val 2287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I've got a stomach ache. I shouldn't have…</a:t>
            </a:r>
            <a:endParaRPr lang="en-US" sz="900" dirty="0"/>
          </a:p>
        </p:txBody>
      </p:sp>
      <p:sp>
        <p:nvSpPr>
          <p:cNvPr id="36" name="R6_chip486"/>
          <p:cNvSpPr/>
          <p:nvPr/>
        </p:nvSpPr>
        <p:spPr>
          <a:xfrm>
            <a:off x="6263640" y="4199709"/>
            <a:ext cx="2560320" cy="399723"/>
          </a:xfrm>
          <a:prstGeom prst="roundRect">
            <a:avLst>
              <a:gd name="adj" fmla="val 2287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eaten so much</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8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488"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489"/>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490"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491"/>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Tell your partner…</a:t>
            </a:r>
            <a:endParaRPr lang="en-US" sz="1250" dirty="0"/>
          </a:p>
        </p:txBody>
      </p:sp>
      <p:sp>
        <p:nvSpPr>
          <p:cNvPr id="8" name="insIT_49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Di' al compagno…</a:t>
            </a:r>
            <a:endParaRPr lang="en-US" sz="950" dirty="0"/>
          </a:p>
        </p:txBody>
      </p:sp>
      <p:sp>
        <p:nvSpPr>
          <p:cNvPr id="9" name="note_493"/>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49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9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Exit · what can you remember?</a:t>
            </a:r>
            <a:endParaRPr lang="en-US" sz="800" dirty="0"/>
          </a:p>
        </p:txBody>
      </p:sp>
      <p:sp>
        <p:nvSpPr>
          <p:cNvPr id="12" name="bd_496"/>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497"/>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sentences: one with must have, one with might have, one with can't have.</a:t>
            </a:r>
            <a:endParaRPr lang="en-US" sz="1400" dirty="0"/>
          </a:p>
        </p:txBody>
      </p:sp>
      <p:sp>
        <p:nvSpPr>
          <p:cNvPr id="14" name="bd_498"/>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499"/>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things you should have done last week (but didn't!).</a:t>
            </a:r>
            <a:endParaRPr lang="en-US" sz="1400" dirty="0"/>
          </a:p>
        </p:txBody>
      </p:sp>
      <p:sp>
        <p:nvSpPr>
          <p:cNvPr id="16" name="bd_500"/>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501"/>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house rule that would stop arguments in your home.</a:t>
            </a:r>
            <a:endParaRPr lang="en-US" sz="1400" dirty="0"/>
          </a:p>
        </p:txBody>
      </p:sp>
      <p:sp>
        <p:nvSpPr>
          <p:cNvPr id="18" name="cd_502"/>
          <p:cNvSpPr/>
          <p:nvPr/>
        </p:nvSpPr>
        <p:spPr>
          <a:xfrm>
            <a:off x="5669280" y="1417320"/>
            <a:ext cx="3200400" cy="1426464"/>
          </a:xfrm>
          <a:prstGeom prst="roundRect">
            <a:avLst>
              <a:gd name="adj" fmla="val 897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503"/>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504"/>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505"/>
          <p:cNvSpPr/>
          <p:nvPr/>
        </p:nvSpPr>
        <p:spPr>
          <a:xfrm>
            <a:off x="6236208" y="1911096"/>
            <a:ext cx="2542032" cy="8595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7A pp.46–47: 1a–1d, 2a</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Grammar Bank 7A p.144: exercise b</a:t>
            </a:r>
            <a:endParaRPr lang="en-US" sz="1150" dirty="0"/>
          </a:p>
        </p:txBody>
      </p:sp>
      <p:sp>
        <p:nvSpPr>
          <p:cNvPr id="22" name="st_506"/>
          <p:cNvSpPr/>
          <p:nvPr/>
        </p:nvSpPr>
        <p:spPr>
          <a:xfrm rot="-180000">
            <a:off x="5806440" y="3099816"/>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7A part 2 – how to argue better · would rather (SB p.68)</a:t>
            </a:r>
            <a:endParaRPr lang="en-US" sz="11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07"/>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08"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509"/>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510"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511"/>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51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51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51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1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Review · what did you do today?</a:t>
            </a:r>
            <a:endParaRPr lang="en-US" sz="800" dirty="0"/>
          </a:p>
        </p:txBody>
      </p:sp>
      <p:sp>
        <p:nvSpPr>
          <p:cNvPr id="12" name="cd_516"/>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517"/>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518"/>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Made deductions about the past: must have, can't have…</a:t>
            </a:r>
            <a:endParaRPr lang="en-US" sz="1350" dirty="0"/>
          </a:p>
        </p:txBody>
      </p:sp>
      <p:sp>
        <p:nvSpPr>
          <p:cNvPr id="15" name="R1_tk519"/>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520"/>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521"/>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522"/>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Practised criticise: you should have…</a:t>
            </a:r>
            <a:endParaRPr lang="en-US" sz="1350" dirty="0"/>
          </a:p>
        </p:txBody>
      </p:sp>
      <p:sp>
        <p:nvSpPr>
          <p:cNvPr id="19" name="R2_tk523"/>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524"/>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525"/>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526"/>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the weak form of have</a:t>
            </a:r>
            <a:endParaRPr lang="en-US" sz="1350" dirty="0"/>
          </a:p>
        </p:txBody>
      </p:sp>
      <p:sp>
        <p:nvSpPr>
          <p:cNvPr id="23" name="R3_tk527"/>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528"/>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529"/>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530"/>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about student house arguments</a:t>
            </a:r>
            <a:endParaRPr lang="en-US" sz="1350" dirty="0"/>
          </a:p>
        </p:txBody>
      </p:sp>
      <p:sp>
        <p:nvSpPr>
          <p:cNvPr id="27" name="R4_tk531"/>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532"/>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533"/>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534"/>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Played Guess my verb</a:t>
            </a:r>
            <a:endParaRPr lang="en-US" sz="1350" dirty="0"/>
          </a:p>
        </p:txBody>
      </p:sp>
      <p:sp>
        <p:nvSpPr>
          <p:cNvPr id="31" name="R5_tk535"/>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536"/>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dv_537"/>
          <p:cNvSpPr/>
          <p:nvPr/>
        </p:nvSpPr>
        <p:spPr>
          <a:xfrm>
            <a:off x="4023360" y="914400"/>
            <a:ext cx="1097280" cy="91440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4" name="dvt_538"/>
          <p:cNvSpPr/>
          <p:nvPr/>
        </p:nvSpPr>
        <p:spPr>
          <a:xfrm>
            <a:off x="914400" y="1828800"/>
            <a:ext cx="7315200" cy="731520"/>
          </a:xfrm>
          <a:prstGeom prst="rect">
            <a:avLst/>
          </a:prstGeom>
          <a:noFill/>
          <a:ln/>
        </p:spPr>
        <p:txBody>
          <a:bodyPr wrap="square" lIns="0" tIns="0" rIns="0" bIns="0" rtlCol="0" anchor="ctr"/>
          <a:lstStyle/>
          <a:p>
            <a:pPr algn="ctr" indent="0" marL="0">
              <a:buNone/>
            </a:pPr>
            <a:r>
              <a:rPr lang="en-US" sz="3400" dirty="0">
                <a:solidFill>
                  <a:srgbClr val="1B2559"/>
                </a:solidFill>
                <a:latin typeface="Arial Rounded MT Bold" pitchFamily="34" charset="0"/>
                <a:ea typeface="Arial Rounded MT Bold" pitchFamily="34" charset="-122"/>
                <a:cs typeface="Arial Rounded MT Bold" pitchFamily="34" charset="-120"/>
              </a:rPr>
              <a:t>Optional extensions</a:t>
            </a:r>
            <a:endParaRPr lang="en-US" sz="3400" dirty="0"/>
          </a:p>
        </p:txBody>
      </p:sp>
      <p:sp>
        <p:nvSpPr>
          <p:cNvPr id="5" name="dvs_539"/>
          <p:cNvSpPr/>
          <p:nvPr/>
        </p:nvSpPr>
        <p:spPr>
          <a:xfrm>
            <a:off x="914400" y="2606040"/>
            <a:ext cx="7315200" cy="457200"/>
          </a:xfrm>
          <a:prstGeom prst="rect">
            <a:avLst/>
          </a:prstGeom>
          <a:noFill/>
          <a:ln/>
        </p:spPr>
        <p:txBody>
          <a:bodyPr wrap="square" lIns="0" tIns="0" rIns="0" bIns="0" rtlCol="0" anchor="ctr"/>
          <a:lstStyle/>
          <a:p>
            <a:pPr algn="ctr" indent="0" marL="0">
              <a:buNone/>
            </a:pPr>
            <a:r>
              <a:rPr lang="en-US" sz="1250" i="1" dirty="0">
                <a:solidFill>
                  <a:srgbClr val="5B6785"/>
                </a:solidFill>
                <a:latin typeface="Segoe UI Semibold" pitchFamily="34" charset="0"/>
                <a:ea typeface="Segoe UI Semibold" pitchFamily="34" charset="-122"/>
                <a:cs typeface="Segoe UI Semibold" pitchFamily="34" charset="-120"/>
              </a:rPr>
              <a:t>Only if there's time – the lesson is finished. · Solo se c'è tempo – la lezione è finita.</a:t>
            </a:r>
            <a:endParaRPr lang="en-US" sz="1250" dirty="0"/>
          </a:p>
        </p:txBody>
      </p:sp>
      <p:pic>
        <p:nvPicPr>
          <p:cNvPr id="6" name="logo_540" descr="/home/claude/lls-course/v2/img/logo.png">    </p:cNvPr>
          <p:cNvPicPr>
            <a:picLocks noChangeAspect="1"/>
          </p:cNvPicPr>
          <p:nvPr/>
        </p:nvPicPr>
        <p:blipFill>
          <a:blip r:embed="rId2"/>
          <a:stretch>
            <a:fillRect/>
          </a:stretch>
        </p:blipFill>
        <p:spPr>
          <a:xfrm>
            <a:off x="8485632" y="4526280"/>
            <a:ext cx="502920" cy="502920"/>
          </a:xfrm>
          <a:prstGeom prst="rect">
            <a:avLst/>
          </a:prstGeom>
        </p:spPr>
      </p:pic>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41"/>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542"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543"/>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You should have…</a:t>
            </a:r>
            <a:endParaRPr lang="en-US" sz="2400" dirty="0"/>
          </a:p>
        </p:txBody>
      </p:sp>
      <p:pic>
        <p:nvPicPr>
          <p:cNvPr id="6" name="brP_544"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545"/>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Grammar Bank 7A b: answer with should / shouldn't have + a verb.</a:t>
            </a:r>
            <a:endParaRPr lang="en-US" sz="1100" dirty="0"/>
          </a:p>
        </p:txBody>
      </p:sp>
      <p:sp>
        <p:nvSpPr>
          <p:cNvPr id="8" name="insIT_54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Grammar Bank 7A b: rispondi con should / shouldn't have + verbo.</a:t>
            </a:r>
            <a:endParaRPr lang="en-US" sz="950" dirty="0"/>
          </a:p>
        </p:txBody>
      </p:sp>
      <p:sp>
        <p:nvSpPr>
          <p:cNvPr id="9" name="note_54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TPRS · reading</a:t>
            </a:r>
            <a:endParaRPr lang="en-US" sz="1150" dirty="0"/>
          </a:p>
        </p:txBody>
      </p:sp>
      <p:pic>
        <p:nvPicPr>
          <p:cNvPr id="10" name="logo_54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4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7A-1 · Grammar Bank 7A p.144 · b   ·   📖 Grammar Bank 7A p.144 · b (TG key)</a:t>
            </a:r>
            <a:endParaRPr lang="en-US" sz="800" dirty="0"/>
          </a:p>
        </p:txBody>
      </p:sp>
      <p:sp>
        <p:nvSpPr>
          <p:cNvPr id="12" name="ext_550"/>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3" name="cd_551"/>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4" name="sh_552"/>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buy · drive · go · invite · learn · sit · take · write</a:t>
            </a:r>
            <a:endParaRPr lang="en-US" sz="1700" dirty="0"/>
          </a:p>
        </p:txBody>
      </p:sp>
      <p:sp>
        <p:nvSpPr>
          <p:cNvPr id="15" name="ln_553"/>
          <p:cNvSpPr/>
          <p:nvPr/>
        </p:nvSpPr>
        <p:spPr>
          <a:xfrm>
            <a:off x="548640" y="1920240"/>
            <a:ext cx="5349240" cy="295614"/>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e.g. A We couldn't understand anybody in Paris. B You </a:t>
            </a:r>
            <a:pPr indent="0" marL="0">
              <a:buNone/>
            </a:pPr>
            <a:r>
              <a:rPr lang="en-US" sz="850" b="1" u="sng" dirty="0">
                <a:solidFill>
                  <a:srgbClr val="7B5CD6"/>
                </a:solidFill>
                <a:latin typeface="Georgia" pitchFamily="34" charset="0"/>
                <a:ea typeface="Georgia" pitchFamily="34" charset="-122"/>
                <a:cs typeface="Georgia" pitchFamily="34" charset="-120"/>
              </a:rPr>
              <a:t>should have learned</a:t>
            </a:r>
            <a:pPr indent="0" marL="0">
              <a:buNone/>
            </a:pPr>
            <a:r>
              <a:rPr lang="en-US" sz="850" dirty="0">
                <a:solidFill>
                  <a:srgbClr val="1B2559"/>
                </a:solidFill>
                <a:latin typeface="Georgia" pitchFamily="34" charset="0"/>
                <a:ea typeface="Georgia" pitchFamily="34" charset="-122"/>
                <a:cs typeface="Georgia" pitchFamily="34" charset="-120"/>
              </a:rPr>
              <a:t> some French before going.</a:t>
            </a:r>
            <a:endParaRPr lang="en-US" sz="850" dirty="0"/>
          </a:p>
        </p:txBody>
      </p:sp>
      <p:sp>
        <p:nvSpPr>
          <p:cNvPr id="16" name="ln_554"/>
          <p:cNvSpPr/>
          <p:nvPr/>
        </p:nvSpPr>
        <p:spPr>
          <a:xfrm>
            <a:off x="548640" y="2215854"/>
            <a:ext cx="5349240" cy="349361"/>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1  Tom told me the date of his party, but I've forgotten it. → You </a:t>
            </a:r>
            <a:pPr indent="0" marL="0">
              <a:buNone/>
            </a:pPr>
            <a:r>
              <a:rPr lang="en-US" sz="850" b="1" dirty="0">
                <a:solidFill>
                  <a:srgbClr val="2EB872"/>
                </a:solidFill>
                <a:latin typeface="Georgia" pitchFamily="34" charset="0"/>
                <a:ea typeface="Georgia" pitchFamily="34" charset="-122"/>
                <a:cs typeface="Georgia" pitchFamily="34" charset="-120"/>
              </a:rPr>
              <a:t> (1) ________ </a:t>
            </a:r>
            <a:pPr indent="0" marL="0">
              <a:buNone/>
            </a:pPr>
            <a:r>
              <a:rPr lang="en-US" sz="850" dirty="0">
                <a:solidFill>
                  <a:srgbClr val="1B2559"/>
                </a:solidFill>
                <a:latin typeface="Georgia" pitchFamily="34" charset="0"/>
                <a:ea typeface="Georgia" pitchFamily="34" charset="-122"/>
                <a:cs typeface="Georgia" pitchFamily="34" charset="-120"/>
              </a:rPr>
              <a:t> it down.</a:t>
            </a:r>
            <a:endParaRPr lang="en-US" sz="850" dirty="0"/>
          </a:p>
        </p:txBody>
      </p:sp>
      <p:sp>
        <p:nvSpPr>
          <p:cNvPr id="17" name="R1_lnA555"/>
          <p:cNvSpPr/>
          <p:nvPr/>
        </p:nvSpPr>
        <p:spPr>
          <a:xfrm>
            <a:off x="548640" y="2215854"/>
            <a:ext cx="5349240" cy="349361"/>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1  Tom told me the date of his party, but I've forgotten it. → You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should have / ought to have written</a:t>
            </a:r>
            <a:pPr indent="0" marL="0">
              <a:buNone/>
            </a:pPr>
            <a:r>
              <a:rPr lang="en-US" sz="850" dirty="0">
                <a:solidFill>
                  <a:srgbClr val="1B2559"/>
                </a:solidFill>
                <a:latin typeface="Georgia" pitchFamily="34" charset="0"/>
                <a:ea typeface="Georgia" pitchFamily="34" charset="-122"/>
                <a:cs typeface="Georgia" pitchFamily="34" charset="-120"/>
              </a:rPr>
              <a:t> it down.</a:t>
            </a:r>
            <a:endParaRPr lang="en-US" sz="850" dirty="0"/>
          </a:p>
        </p:txBody>
      </p:sp>
      <p:sp>
        <p:nvSpPr>
          <p:cNvPr id="18" name="ln_556"/>
          <p:cNvSpPr/>
          <p:nvPr/>
        </p:nvSpPr>
        <p:spPr>
          <a:xfrm>
            <a:off x="548640" y="2565215"/>
            <a:ext cx="5349240" cy="370263"/>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2  Sorry I'm late! The traffic was terrible. → You </a:t>
            </a:r>
            <a:pPr indent="0" marL="0">
              <a:buNone/>
            </a:pPr>
            <a:r>
              <a:rPr lang="en-US" sz="850" b="1" dirty="0">
                <a:solidFill>
                  <a:srgbClr val="2EB872"/>
                </a:solidFill>
                <a:latin typeface="Georgia" pitchFamily="34" charset="0"/>
                <a:ea typeface="Georgia" pitchFamily="34" charset="-122"/>
                <a:cs typeface="Georgia" pitchFamily="34" charset="-120"/>
              </a:rPr>
              <a:t> (2) ________ </a:t>
            </a:r>
            <a:pPr indent="0" marL="0">
              <a:buNone/>
            </a:pPr>
            <a:r>
              <a:rPr lang="en-US" sz="850" dirty="0">
                <a:solidFill>
                  <a:srgbClr val="1B2559"/>
                </a:solidFill>
                <a:latin typeface="Georgia" pitchFamily="34" charset="0"/>
                <a:ea typeface="Georgia" pitchFamily="34" charset="-122"/>
                <a:cs typeface="Georgia" pitchFamily="34" charset="-120"/>
              </a:rPr>
              <a:t> here. The metro is faster.</a:t>
            </a:r>
            <a:endParaRPr lang="en-US" sz="850" dirty="0"/>
          </a:p>
        </p:txBody>
      </p:sp>
      <p:sp>
        <p:nvSpPr>
          <p:cNvPr id="19" name="R2_lnA557"/>
          <p:cNvSpPr/>
          <p:nvPr/>
        </p:nvSpPr>
        <p:spPr>
          <a:xfrm>
            <a:off x="548640" y="2565215"/>
            <a:ext cx="5349240" cy="370263"/>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2  Sorry I'm late! The traffic was terrible. → You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shouldn't have / oughtn't to have driven</a:t>
            </a:r>
            <a:pPr indent="0" marL="0">
              <a:buNone/>
            </a:pPr>
            <a:r>
              <a:rPr lang="en-US" sz="850" dirty="0">
                <a:solidFill>
                  <a:srgbClr val="1B2559"/>
                </a:solidFill>
                <a:latin typeface="Georgia" pitchFamily="34" charset="0"/>
                <a:ea typeface="Georgia" pitchFamily="34" charset="-122"/>
                <a:cs typeface="Georgia" pitchFamily="34" charset="-120"/>
              </a:rPr>
              <a:t> here. The metro is faster.</a:t>
            </a:r>
            <a:endParaRPr lang="en-US" sz="850" dirty="0"/>
          </a:p>
        </p:txBody>
      </p:sp>
      <p:sp>
        <p:nvSpPr>
          <p:cNvPr id="20" name="ln_558"/>
          <p:cNvSpPr/>
          <p:nvPr/>
        </p:nvSpPr>
        <p:spPr>
          <a:xfrm>
            <a:off x="548640" y="2935479"/>
            <a:ext cx="5349240" cy="304572"/>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3  Amanda was rude to everyone at my party. → You </a:t>
            </a:r>
            <a:pPr indent="0" marL="0">
              <a:buNone/>
            </a:pPr>
            <a:r>
              <a:rPr lang="en-US" sz="850" b="1" dirty="0">
                <a:solidFill>
                  <a:srgbClr val="2EB872"/>
                </a:solidFill>
                <a:latin typeface="Georgia" pitchFamily="34" charset="0"/>
                <a:ea typeface="Georgia" pitchFamily="34" charset="-122"/>
                <a:cs typeface="Georgia" pitchFamily="34" charset="-120"/>
              </a:rPr>
              <a:t> (3) ________ </a:t>
            </a:r>
            <a:pPr indent="0" marL="0">
              <a:buNone/>
            </a:pPr>
            <a:r>
              <a:rPr lang="en-US" sz="850" dirty="0">
                <a:solidFill>
                  <a:srgbClr val="1B2559"/>
                </a:solidFill>
                <a:latin typeface="Georgia" pitchFamily="34" charset="0"/>
                <a:ea typeface="Georgia" pitchFamily="34" charset="-122"/>
                <a:cs typeface="Georgia" pitchFamily="34" charset="-120"/>
              </a:rPr>
              <a:t> her.</a:t>
            </a:r>
            <a:endParaRPr lang="en-US" sz="850" dirty="0"/>
          </a:p>
        </p:txBody>
      </p:sp>
      <p:sp>
        <p:nvSpPr>
          <p:cNvPr id="21" name="R3_lnA559"/>
          <p:cNvSpPr/>
          <p:nvPr/>
        </p:nvSpPr>
        <p:spPr>
          <a:xfrm>
            <a:off x="548640" y="2935479"/>
            <a:ext cx="5349240" cy="304572"/>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3  Amanda was rude to everyone at my party. → You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shouldn't have / oughtn't to have invited</a:t>
            </a:r>
            <a:pPr indent="0" marL="0">
              <a:buNone/>
            </a:pPr>
            <a:r>
              <a:rPr lang="en-US" sz="850" dirty="0">
                <a:solidFill>
                  <a:srgbClr val="1B2559"/>
                </a:solidFill>
                <a:latin typeface="Georgia" pitchFamily="34" charset="0"/>
                <a:ea typeface="Georgia" pitchFamily="34" charset="-122"/>
                <a:cs typeface="Georgia" pitchFamily="34" charset="-120"/>
              </a:rPr>
              <a:t> her.</a:t>
            </a:r>
            <a:endParaRPr lang="en-US" sz="850" dirty="0"/>
          </a:p>
        </p:txBody>
      </p:sp>
      <p:sp>
        <p:nvSpPr>
          <p:cNvPr id="22" name="ln_560"/>
          <p:cNvSpPr/>
          <p:nvPr/>
        </p:nvSpPr>
        <p:spPr>
          <a:xfrm>
            <a:off x="548640" y="3240050"/>
            <a:ext cx="5349240" cy="358319"/>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4  I don't have any money left after going shopping. → You </a:t>
            </a:r>
            <a:pPr indent="0" marL="0">
              <a:buNone/>
            </a:pPr>
            <a:r>
              <a:rPr lang="en-US" sz="850" b="1" dirty="0">
                <a:solidFill>
                  <a:srgbClr val="2EB872"/>
                </a:solidFill>
                <a:latin typeface="Georgia" pitchFamily="34" charset="0"/>
                <a:ea typeface="Georgia" pitchFamily="34" charset="-122"/>
                <a:cs typeface="Georgia" pitchFamily="34" charset="-120"/>
              </a:rPr>
              <a:t> (4) ________ </a:t>
            </a:r>
            <a:pPr indent="0" marL="0">
              <a:buNone/>
            </a:pPr>
            <a:r>
              <a:rPr lang="en-US" sz="850" dirty="0">
                <a:solidFill>
                  <a:srgbClr val="1B2559"/>
                </a:solidFill>
                <a:latin typeface="Georgia" pitchFamily="34" charset="0"/>
                <a:ea typeface="Georgia" pitchFamily="34" charset="-122"/>
                <a:cs typeface="Georgia" pitchFamily="34" charset="-120"/>
              </a:rPr>
              <a:t> so many shoes.</a:t>
            </a:r>
            <a:endParaRPr lang="en-US" sz="850" dirty="0"/>
          </a:p>
        </p:txBody>
      </p:sp>
      <p:sp>
        <p:nvSpPr>
          <p:cNvPr id="23" name="R4_lnA561"/>
          <p:cNvSpPr/>
          <p:nvPr/>
        </p:nvSpPr>
        <p:spPr>
          <a:xfrm>
            <a:off x="548640" y="3240050"/>
            <a:ext cx="5349240" cy="358319"/>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4  I don't have any money left after going shopping. → You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shouldn't have / oughtn't to have bought</a:t>
            </a:r>
            <a:pPr indent="0" marL="0">
              <a:buNone/>
            </a:pPr>
            <a:r>
              <a:rPr lang="en-US" sz="850" dirty="0">
                <a:solidFill>
                  <a:srgbClr val="1B2559"/>
                </a:solidFill>
                <a:latin typeface="Georgia" pitchFamily="34" charset="0"/>
                <a:ea typeface="Georgia" pitchFamily="34" charset="-122"/>
                <a:cs typeface="Georgia" pitchFamily="34" charset="-120"/>
              </a:rPr>
              <a:t> so many shoes.</a:t>
            </a:r>
            <a:endParaRPr lang="en-US" sz="850" dirty="0"/>
          </a:p>
        </p:txBody>
      </p:sp>
      <p:sp>
        <p:nvSpPr>
          <p:cNvPr id="24" name="ln_562"/>
          <p:cNvSpPr/>
          <p:nvPr/>
        </p:nvSpPr>
        <p:spPr>
          <a:xfrm>
            <a:off x="548640" y="3598370"/>
            <a:ext cx="5349240" cy="307558"/>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5  You look really tired. → I know. I </a:t>
            </a:r>
            <a:pPr indent="0" marL="0">
              <a:buNone/>
            </a:pPr>
            <a:r>
              <a:rPr lang="en-US" sz="850" b="1" dirty="0">
                <a:solidFill>
                  <a:srgbClr val="2EB872"/>
                </a:solidFill>
                <a:latin typeface="Georgia" pitchFamily="34" charset="0"/>
                <a:ea typeface="Georgia" pitchFamily="34" charset="-122"/>
                <a:cs typeface="Georgia" pitchFamily="34" charset="-120"/>
              </a:rPr>
              <a:t> (5) ________ </a:t>
            </a:r>
            <a:pPr indent="0" marL="0">
              <a:buNone/>
            </a:pPr>
            <a:r>
              <a:rPr lang="en-US" sz="850" dirty="0">
                <a:solidFill>
                  <a:srgbClr val="1B2559"/>
                </a:solidFill>
                <a:latin typeface="Georgia" pitchFamily="34" charset="0"/>
                <a:ea typeface="Georgia" pitchFamily="34" charset="-122"/>
                <a:cs typeface="Georgia" pitchFamily="34" charset="-120"/>
              </a:rPr>
              <a:t> to bed earlier last night.</a:t>
            </a:r>
            <a:endParaRPr lang="en-US" sz="850" dirty="0"/>
          </a:p>
        </p:txBody>
      </p:sp>
      <p:sp>
        <p:nvSpPr>
          <p:cNvPr id="25" name="R5_lnA563"/>
          <p:cNvSpPr/>
          <p:nvPr/>
        </p:nvSpPr>
        <p:spPr>
          <a:xfrm>
            <a:off x="548640" y="3598370"/>
            <a:ext cx="5349240" cy="307558"/>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5  You look really tired. → I know. I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should have / ought to have gone</a:t>
            </a:r>
            <a:pPr indent="0" marL="0">
              <a:buNone/>
            </a:pPr>
            <a:r>
              <a:rPr lang="en-US" sz="850" dirty="0">
                <a:solidFill>
                  <a:srgbClr val="1B2559"/>
                </a:solidFill>
                <a:latin typeface="Georgia" pitchFamily="34" charset="0"/>
                <a:ea typeface="Georgia" pitchFamily="34" charset="-122"/>
                <a:cs typeface="Georgia" pitchFamily="34" charset="-120"/>
              </a:rPr>
              <a:t> to bed earlier last night.</a:t>
            </a:r>
            <a:endParaRPr lang="en-US" sz="850" dirty="0"/>
          </a:p>
        </p:txBody>
      </p:sp>
      <p:sp>
        <p:nvSpPr>
          <p:cNvPr id="26" name="ln_564"/>
          <p:cNvSpPr/>
          <p:nvPr/>
        </p:nvSpPr>
        <p:spPr>
          <a:xfrm>
            <a:off x="548640" y="3905927"/>
            <a:ext cx="5349240" cy="361305"/>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6  The chicken's still frozen solid. → I know. You </a:t>
            </a:r>
            <a:pPr indent="0" marL="0">
              <a:buNone/>
            </a:pPr>
            <a:r>
              <a:rPr lang="en-US" sz="850" b="1" dirty="0">
                <a:solidFill>
                  <a:srgbClr val="2EB872"/>
                </a:solidFill>
                <a:latin typeface="Georgia" pitchFamily="34" charset="0"/>
                <a:ea typeface="Georgia" pitchFamily="34" charset="-122"/>
                <a:cs typeface="Georgia" pitchFamily="34" charset="-120"/>
              </a:rPr>
              <a:t> (6) ________ </a:t>
            </a:r>
            <a:pPr indent="0" marL="0">
              <a:buNone/>
            </a:pPr>
            <a:r>
              <a:rPr lang="en-US" sz="850" dirty="0">
                <a:solidFill>
                  <a:srgbClr val="1B2559"/>
                </a:solidFill>
                <a:latin typeface="Georgia" pitchFamily="34" charset="0"/>
                <a:ea typeface="Georgia" pitchFamily="34" charset="-122"/>
                <a:cs typeface="Georgia" pitchFamily="34" charset="-120"/>
              </a:rPr>
              <a:t> it out of the freezer earlier.</a:t>
            </a:r>
            <a:endParaRPr lang="en-US" sz="850" dirty="0"/>
          </a:p>
        </p:txBody>
      </p:sp>
      <p:sp>
        <p:nvSpPr>
          <p:cNvPr id="27" name="R6_lnA565"/>
          <p:cNvSpPr/>
          <p:nvPr/>
        </p:nvSpPr>
        <p:spPr>
          <a:xfrm>
            <a:off x="548640" y="3905927"/>
            <a:ext cx="5349240" cy="361305"/>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6  The chicken's still frozen solid. → I know. You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should have / ought to have taken</a:t>
            </a:r>
            <a:pPr indent="0" marL="0">
              <a:buNone/>
            </a:pPr>
            <a:r>
              <a:rPr lang="en-US" sz="850" dirty="0">
                <a:solidFill>
                  <a:srgbClr val="1B2559"/>
                </a:solidFill>
                <a:latin typeface="Georgia" pitchFamily="34" charset="0"/>
                <a:ea typeface="Georgia" pitchFamily="34" charset="-122"/>
                <a:cs typeface="Georgia" pitchFamily="34" charset="-120"/>
              </a:rPr>
              <a:t> it out of the freezer earlier.</a:t>
            </a:r>
            <a:endParaRPr lang="en-US" sz="850" dirty="0"/>
          </a:p>
        </p:txBody>
      </p:sp>
      <p:sp>
        <p:nvSpPr>
          <p:cNvPr id="28" name="ln_566"/>
          <p:cNvSpPr/>
          <p:nvPr/>
        </p:nvSpPr>
        <p:spPr>
          <a:xfrm>
            <a:off x="548640" y="4267233"/>
            <a:ext cx="5349240" cy="441927"/>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7  I think I've burned my face. → I'm not surprised. You </a:t>
            </a:r>
            <a:pPr indent="0" marL="0">
              <a:buNone/>
            </a:pPr>
            <a:r>
              <a:rPr lang="en-US" sz="850" b="1" dirty="0">
                <a:solidFill>
                  <a:srgbClr val="2EB872"/>
                </a:solidFill>
                <a:latin typeface="Georgia" pitchFamily="34" charset="0"/>
                <a:ea typeface="Georgia" pitchFamily="34" charset="-122"/>
                <a:cs typeface="Georgia" pitchFamily="34" charset="-120"/>
              </a:rPr>
              <a:t> (7) ________ </a:t>
            </a:r>
            <a:pPr indent="0" marL="0">
              <a:buNone/>
            </a:pPr>
            <a:r>
              <a:rPr lang="en-US" sz="850" dirty="0">
                <a:solidFill>
                  <a:srgbClr val="1B2559"/>
                </a:solidFill>
                <a:latin typeface="Georgia" pitchFamily="34" charset="0"/>
                <a:ea typeface="Georgia" pitchFamily="34" charset="-122"/>
                <a:cs typeface="Georgia" pitchFamily="34" charset="-120"/>
              </a:rPr>
              <a:t> in the sun all afternoon without any sunscreen.</a:t>
            </a:r>
            <a:endParaRPr lang="en-US" sz="850" dirty="0"/>
          </a:p>
        </p:txBody>
      </p:sp>
      <p:sp>
        <p:nvSpPr>
          <p:cNvPr id="29" name="R7_lnA567"/>
          <p:cNvSpPr/>
          <p:nvPr/>
        </p:nvSpPr>
        <p:spPr>
          <a:xfrm>
            <a:off x="548640" y="4267233"/>
            <a:ext cx="5349240" cy="441927"/>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7  I think I've burned my face. → I'm not surprised. You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shouldn't have / oughtn't to have sat</a:t>
            </a:r>
            <a:pPr indent="0" marL="0">
              <a:buNone/>
            </a:pPr>
            <a:r>
              <a:rPr lang="en-US" sz="850" dirty="0">
                <a:solidFill>
                  <a:srgbClr val="1B2559"/>
                </a:solidFill>
                <a:latin typeface="Georgia" pitchFamily="34" charset="0"/>
                <a:ea typeface="Georgia" pitchFamily="34" charset="-122"/>
                <a:cs typeface="Georgia" pitchFamily="34" charset="-120"/>
              </a:rPr>
              <a:t> in the sun all afternoon without any sunscreen.</a:t>
            </a:r>
            <a:endParaRPr lang="en-US" sz="850" dirty="0"/>
          </a:p>
        </p:txBody>
      </p:sp>
      <p:sp>
        <p:nvSpPr>
          <p:cNvPr id="30" name="cd_568"/>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31" name="ii_569"/>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2" name="ih_570"/>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3" name="il_571"/>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should have = criticism / regret</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ought to have = the same</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7A-1 Let's not argue</dc:title>
  <dc:subject>PptxGenJS Presentation</dc:subject>
  <dc:creator>PptxGenJS</dc:creator>
  <cp:lastModifiedBy>PptxGenJS</cp:lastModifiedBy>
  <cp:revision>1</cp:revision>
  <dcterms:created xsi:type="dcterms:W3CDTF">2026-10-23T07:34:48Z</dcterms:created>
  <dcterms:modified xsi:type="dcterms:W3CDTF">2026-10-23T07:34:48Z</dcterms:modified>
</cp:coreProperties>
</file>