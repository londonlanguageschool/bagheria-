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night owl = person who stays up late; early bird = gets up early. Hands up for each; 2–3 students give a reason. Click: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6A part 1 (3 min)
REVISION (3 min). Pairs say one TRUE sentence per colour about themselves. Correct: 'Did you used to' ✗ → Did you use to; 'I'm used to get up' ✗ → getting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Warm-up · your sleep (PQA) (4 min)
PQA (4 min, teacher-led). Ask several students each question; circle ('So Anna goes to bed at 1 – does Luca go to bed at 1 or at 11? Who goes to bed later?'). Use and write the target collocations naturally as students answer (yawning, nap, fall asleep).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from the article (SB 4b) (5 min)
VOCABULARY (5 min). Pairs explain each word in English from the article context; click 1 shows the definition (SB key), click 2 the Italian. Drill: yawn, duvet, pillow, insomnia.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sleeping habits (SB 4c) (4 min)
VOCABULARY (4 min). Pairs explain, click once per line (SB key definitions). Stress: FALL aSLEEP, overSLEEP.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vocabulary race (SB 4d–e) (6 min)
GAME (6 min). Pairs race; note finishing order. Play 6.8 to check (speaker bottom right). Click once per group of answers. Fastest pair with most correct wins. Answers (SB key 4e): 2 yawn 3 pillow 4 duvet 5 sheets, blankets 6 insomnia 7 sleeping pills 8 snore 9 nap 10 sleeps like a log 11 light sleeper 12 have nightmares 13 keep you awake 14 fast asleep 15 sleepwalk 16 set the alarm 17 oversleep 18 fall asleep.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precision (B2) (4 min)
PRECISION (4 min). Italian 'dormire fino a tardi' covers both oversleep (accident) and sleep in (choice). ✗ deep asleep, ✗ fast awake. Extension: 'When did you last oversleep? What happened?'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Listening · predict (SB 5a) (3 min)
PREDICTION (3 min). Pairs write a guess for every gap – no answers here (rule 1). They keep their guesses for the next slide: 1 point per correct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Dr Stanley (SB 5b) (5 min)
LISTENING (5 min). Play 6.9 once (🐢 slower copy available). Pairs compare, then click one answer at a time. Answers (SB key): 1 bedroom 2 materials 3 pillows 4 window 5 dinner 6 coffee 7 9.5 8 read a book. Ask: 'Were you surprised? What kind of person is he?'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Listening · reasons (SB 5c) (5 min)
DETAIL (5 min). Play again; pairs explain; click one reason at a time (SB key). 5d extension: 'Which of his habits would you try? Which would you never do? Convince your partner.'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game · predict your partner (SB 6) (10 min)
SPEAKING GAME (10 min). The book's question clouds become an information gap: secret predictions, then interview. Follow-ups compulsory. Click the model exchanges first (one per click). Monitor and note 4 errors + 4 good collocations for feedback. Students may say 'Pass!' to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Exam · key word transformation (5 min)
EXAM PRACTICE (5 min). Our own Part 4 items (not from the book) – answers follow from the SB 4c definitions. Strategy: count the words (2–5, contractions count as 2); don't change the key word. Click one answer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Exit · what can you remember? (2 min)
EXIT (2 min). Vocabulary list: yawn, nap, snore, pillow, duvet, sheets, insomnia, sleeping pills, light sleeper, fast asleep, oversleep, keep you awake, sleep like a log, sleep in. Homework from the Workbook 6A pages (owner's photos).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audio" Target="../media/media-9-5.mp3"/><Relationship Id="rId6" Type="http://schemas.microsoft.com/office/2007/relationships/media" Target="../media/media-9-5.mp3"/><Relationship Id="rId7" Type="http://schemas.openxmlformats.org/officeDocument/2006/relationships/image" Target="../media/image-9-7.png"/><Relationship Id="rId8" Type="http://schemas.openxmlformats.org/officeDocument/2006/relationships/audio" Target="../media/media-9-8.mp3"/><Relationship Id="rId9" Type="http://schemas.microsoft.com/office/2007/relationships/media" Target="../media/media-9-8.mp3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Upper-intermediate · SB pp.58–59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6A-2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Night night</a:t>
            </a:r>
            <a:endParaRPr lang="en-US" sz="30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habits and a sleep expert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😴  learn precise sleep expressions (fast asleep, oversleep…)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a sleep expert's bedtime routine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🗣️  find out how well you know your partner's sleep habits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📝  B2 First practice: sleep collocations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Definitely a night owl – I'm wide awake at midnight and useless at 8 a.m.!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b2_6a_moo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Are you a night owl or an early bird?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 1 true sentence for each colour.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gli esempi. Poi di' al compagno una frase vera per ogni colore.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Revision · 6A part 1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b2_6a_moon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 part 1: used to, be used to, get used to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pattern article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used to + verb (past habit)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sleep with a teddy bear.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use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have a phone in bed.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dad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read me a story.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/ get used to + -ing (new = normal)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getting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up at 6.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still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getting used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new timetable.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be used to = normal now · get used to = becoming normal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18338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965192" y="417880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used to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6135624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used to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7383780" y="417880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pattern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YOU sleep?</a:t>
            </a:r>
            <a:endParaRPr lang="en-US" sz="2500" dirty="0"/>
          </a:p>
        </p:txBody>
      </p:sp>
      <p:pic>
        <p:nvPicPr>
          <p:cNvPr id="6" name="brP_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49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the teacher's questions about YOUR sleep.</a:t>
            </a:r>
            <a:endParaRPr lang="en-US" sz="1250" dirty="0"/>
          </a:p>
        </p:txBody>
      </p:sp>
      <p:sp>
        <p:nvSpPr>
          <p:cNvPr id="8" name="insIT_5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alle domande dell'insegnante sul TUO sonno.</a:t>
            </a:r>
            <a:endParaRPr lang="en-US" sz="950" dirty="0"/>
          </a:p>
        </p:txBody>
      </p:sp>
      <p:sp>
        <p:nvSpPr>
          <p:cNvPr id="9" name="cmd_5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5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pic>
        <p:nvPicPr>
          <p:cNvPr id="11" name="logo_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Warm-up · your sleep (PQA)</a:t>
            </a:r>
            <a:endParaRPr lang="en-US" sz="800" dirty="0"/>
          </a:p>
        </p:txBody>
      </p:sp>
      <p:sp>
        <p:nvSpPr>
          <p:cNvPr id="13" name="pf_55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56" descr="/home/claude/lls-course/v2/cache/b2_6a_cloud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57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8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59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60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usually… · I hardly ever…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I'm the opposite!</a:t>
            </a:r>
            <a:endParaRPr lang="en-US" sz="1050" dirty="0"/>
          </a:p>
        </p:txBody>
      </p:sp>
      <p:sp>
        <p:nvSpPr>
          <p:cNvPr id="19" name="R1_qb61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62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did you go to bed last night? Why so late/early?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About 1 a.m. – I was watching a series.</a:t>
            </a:r>
            <a:endParaRPr lang="en-US" sz="1250" dirty="0"/>
          </a:p>
        </p:txBody>
      </p:sp>
      <p:sp>
        <p:nvSpPr>
          <p:cNvPr id="21" name="R2_qb63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64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hours do you need to feel OK?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At least 8, or I'm a zombie.</a:t>
            </a:r>
            <a:endParaRPr lang="en-US" sz="1250" dirty="0"/>
          </a:p>
        </p:txBody>
      </p:sp>
      <p:sp>
        <p:nvSpPr>
          <p:cNvPr id="23" name="R3_qb65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66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check your phone in bed?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Every night – I know it's bad!</a:t>
            </a:r>
            <a:endParaRPr lang="en-US" sz="1250" dirty="0"/>
          </a:p>
        </p:txBody>
      </p:sp>
      <p:sp>
        <p:nvSpPr>
          <p:cNvPr id="25" name="R4_qb67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68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in this class is the worst sleeper?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Marco! He's always yawning.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71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words</a:t>
            </a:r>
            <a:endParaRPr lang="en-US" sz="2500" dirty="0"/>
          </a:p>
        </p:txBody>
      </p:sp>
      <p:pic>
        <p:nvPicPr>
          <p:cNvPr id="6" name="brP_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6035040" cy="402336"/>
          </a:xfrm>
          <a:prstGeom prst="rect">
            <a:avLst/>
          </a:prstGeom>
        </p:spPr>
      </p:pic>
      <p:sp>
        <p:nvSpPr>
          <p:cNvPr id="7" name="ins_73"/>
          <p:cNvSpPr/>
          <p:nvPr/>
        </p:nvSpPr>
        <p:spPr>
          <a:xfrm>
            <a:off x="1353312" y="731520"/>
            <a:ext cx="5779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 in English first. Click 1: definition. Click 2: Italian.</a:t>
            </a:r>
            <a:endParaRPr lang="en-US" sz="1250" dirty="0"/>
          </a:p>
        </p:txBody>
      </p:sp>
      <p:sp>
        <p:nvSpPr>
          <p:cNvPr id="8" name="insIT_7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parola in inglese. Clic 1: definizione. Clic 2: italiano.</a:t>
            </a:r>
            <a:endParaRPr lang="en-US" sz="950" dirty="0"/>
          </a:p>
        </p:txBody>
      </p:sp>
      <p:sp>
        <p:nvSpPr>
          <p:cNvPr id="9" name="cmd_7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meta_7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Vocabulary · from the article (SB 4b)   ·   📖 SB p.58 · 4b (definitions: SB key)</a:t>
            </a:r>
            <a:endParaRPr lang="en-US" sz="800" dirty="0"/>
          </a:p>
        </p:txBody>
      </p:sp>
      <p:sp>
        <p:nvSpPr>
          <p:cNvPr id="13" name="cd_79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8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🥱</a:t>
            </a:r>
            <a:endParaRPr lang="en-US" sz="2000" dirty="0"/>
          </a:p>
        </p:txBody>
      </p:sp>
      <p:sp>
        <p:nvSpPr>
          <p:cNvPr id="15" name="en_8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yawn /jɔːn/</a:t>
            </a:r>
            <a:endParaRPr lang="en-US" sz="1200" dirty="0"/>
          </a:p>
        </p:txBody>
      </p:sp>
      <p:sp>
        <p:nvSpPr>
          <p:cNvPr id="16" name="R1_def82"/>
          <p:cNvSpPr/>
          <p:nvPr/>
        </p:nvSpPr>
        <p:spPr>
          <a:xfrm>
            <a:off x="978408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your mouth wide when tired or bored</a:t>
            </a:r>
            <a:endParaRPr lang="en-US" sz="850" dirty="0"/>
          </a:p>
        </p:txBody>
      </p:sp>
      <p:sp>
        <p:nvSpPr>
          <p:cNvPr id="17" name="R2_it83"/>
          <p:cNvSpPr/>
          <p:nvPr/>
        </p:nvSpPr>
        <p:spPr>
          <a:xfrm>
            <a:off x="978408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sbadigliare</a:t>
            </a:r>
            <a:endParaRPr lang="en-US" sz="900" dirty="0"/>
          </a:p>
        </p:txBody>
      </p:sp>
      <p:sp>
        <p:nvSpPr>
          <p:cNvPr id="18" name="cd_84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85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💤</a:t>
            </a:r>
            <a:endParaRPr lang="en-US" sz="2000" dirty="0"/>
          </a:p>
        </p:txBody>
      </p:sp>
      <p:sp>
        <p:nvSpPr>
          <p:cNvPr id="20" name="en_86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nap</a:t>
            </a:r>
            <a:endParaRPr lang="en-US" sz="1200" dirty="0"/>
          </a:p>
        </p:txBody>
      </p:sp>
      <p:sp>
        <p:nvSpPr>
          <p:cNvPr id="21" name="R1_def87"/>
          <p:cNvSpPr/>
          <p:nvPr/>
        </p:nvSpPr>
        <p:spPr>
          <a:xfrm>
            <a:off x="3145536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sleep in the day</a:t>
            </a:r>
            <a:endParaRPr lang="en-US" sz="850" dirty="0"/>
          </a:p>
        </p:txBody>
      </p:sp>
      <p:sp>
        <p:nvSpPr>
          <p:cNvPr id="22" name="R2_it88"/>
          <p:cNvSpPr/>
          <p:nvPr/>
        </p:nvSpPr>
        <p:spPr>
          <a:xfrm>
            <a:off x="3145536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pisolino</a:t>
            </a:r>
            <a:endParaRPr lang="en-US" sz="900" dirty="0"/>
          </a:p>
        </p:txBody>
      </p:sp>
      <p:sp>
        <p:nvSpPr>
          <p:cNvPr id="23" name="cd_89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e_90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😪</a:t>
            </a:r>
            <a:endParaRPr lang="en-US" sz="2000" dirty="0"/>
          </a:p>
        </p:txBody>
      </p:sp>
      <p:sp>
        <p:nvSpPr>
          <p:cNvPr id="25" name="en_91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snore /snɔː/</a:t>
            </a:r>
            <a:endParaRPr lang="en-US" sz="1200" dirty="0"/>
          </a:p>
        </p:txBody>
      </p:sp>
      <p:sp>
        <p:nvSpPr>
          <p:cNvPr id="26" name="R1_def92"/>
          <p:cNvSpPr/>
          <p:nvPr/>
        </p:nvSpPr>
        <p:spPr>
          <a:xfrm>
            <a:off x="5312664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breathe noisily while asleep</a:t>
            </a:r>
            <a:endParaRPr lang="en-US" sz="850" dirty="0"/>
          </a:p>
        </p:txBody>
      </p:sp>
      <p:sp>
        <p:nvSpPr>
          <p:cNvPr id="27" name="R2_it93"/>
          <p:cNvSpPr/>
          <p:nvPr/>
        </p:nvSpPr>
        <p:spPr>
          <a:xfrm>
            <a:off x="5312664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russare</a:t>
            </a:r>
            <a:endParaRPr lang="en-US" sz="900" dirty="0"/>
          </a:p>
        </p:txBody>
      </p:sp>
      <p:sp>
        <p:nvSpPr>
          <p:cNvPr id="28" name="cd_94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95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🛏️</a:t>
            </a:r>
            <a:endParaRPr lang="en-US" sz="2000" dirty="0"/>
          </a:p>
        </p:txBody>
      </p:sp>
      <p:sp>
        <p:nvSpPr>
          <p:cNvPr id="30" name="en_96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pillow</a:t>
            </a:r>
            <a:endParaRPr lang="en-US" sz="1200" dirty="0"/>
          </a:p>
        </p:txBody>
      </p:sp>
      <p:sp>
        <p:nvSpPr>
          <p:cNvPr id="31" name="R1_def97"/>
          <p:cNvSpPr/>
          <p:nvPr/>
        </p:nvSpPr>
        <p:spPr>
          <a:xfrm>
            <a:off x="7479792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rest your head on it</a:t>
            </a:r>
            <a:endParaRPr lang="en-US" sz="850" dirty="0"/>
          </a:p>
        </p:txBody>
      </p:sp>
      <p:sp>
        <p:nvSpPr>
          <p:cNvPr id="32" name="R2_it98"/>
          <p:cNvSpPr/>
          <p:nvPr/>
        </p:nvSpPr>
        <p:spPr>
          <a:xfrm>
            <a:off x="7479792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cuscino (del letto)</a:t>
            </a:r>
            <a:endParaRPr lang="en-US" sz="900" dirty="0"/>
          </a:p>
        </p:txBody>
      </p:sp>
      <p:sp>
        <p:nvSpPr>
          <p:cNvPr id="33" name="cd_99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100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🛌</a:t>
            </a:r>
            <a:endParaRPr lang="en-US" sz="2000" dirty="0"/>
          </a:p>
        </p:txBody>
      </p:sp>
      <p:sp>
        <p:nvSpPr>
          <p:cNvPr id="35" name="en_101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duvet /ˈduːveɪ/</a:t>
            </a:r>
            <a:endParaRPr lang="en-US" sz="1200" dirty="0"/>
          </a:p>
        </p:txBody>
      </p:sp>
      <p:sp>
        <p:nvSpPr>
          <p:cNvPr id="36" name="R1_def102"/>
          <p:cNvSpPr/>
          <p:nvPr/>
        </p:nvSpPr>
        <p:spPr>
          <a:xfrm>
            <a:off x="978408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thick cover filled with feathers</a:t>
            </a:r>
            <a:endParaRPr lang="en-US" sz="850" dirty="0"/>
          </a:p>
        </p:txBody>
      </p:sp>
      <p:sp>
        <p:nvSpPr>
          <p:cNvPr id="37" name="R2_it103"/>
          <p:cNvSpPr/>
          <p:nvPr/>
        </p:nvSpPr>
        <p:spPr>
          <a:xfrm>
            <a:off x="978408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piumone</a:t>
            </a:r>
            <a:endParaRPr lang="en-US" sz="900" dirty="0"/>
          </a:p>
        </p:txBody>
      </p:sp>
      <p:sp>
        <p:nvSpPr>
          <p:cNvPr id="38" name="cd_104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05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📃</a:t>
            </a:r>
            <a:endParaRPr lang="en-US" sz="2000" dirty="0"/>
          </a:p>
        </p:txBody>
      </p:sp>
      <p:sp>
        <p:nvSpPr>
          <p:cNvPr id="40" name="en_106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sheets</a:t>
            </a:r>
            <a:endParaRPr lang="en-US" sz="1200" dirty="0"/>
          </a:p>
        </p:txBody>
      </p:sp>
      <p:sp>
        <p:nvSpPr>
          <p:cNvPr id="41" name="R1_def107"/>
          <p:cNvSpPr/>
          <p:nvPr/>
        </p:nvSpPr>
        <p:spPr>
          <a:xfrm>
            <a:off x="3145536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 cloth you lie on or under</a:t>
            </a:r>
            <a:endParaRPr lang="en-US" sz="850" dirty="0"/>
          </a:p>
        </p:txBody>
      </p:sp>
      <p:sp>
        <p:nvSpPr>
          <p:cNvPr id="42" name="R2_it108"/>
          <p:cNvSpPr/>
          <p:nvPr/>
        </p:nvSpPr>
        <p:spPr>
          <a:xfrm>
            <a:off x="3145536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lenzuola</a:t>
            </a:r>
            <a:endParaRPr lang="en-US" sz="900" dirty="0"/>
          </a:p>
        </p:txBody>
      </p:sp>
      <p:sp>
        <p:nvSpPr>
          <p:cNvPr id="43" name="cd_10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4" name="e_11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👁️</a:t>
            </a:r>
            <a:endParaRPr lang="en-US" sz="2000" dirty="0"/>
          </a:p>
        </p:txBody>
      </p:sp>
      <p:sp>
        <p:nvSpPr>
          <p:cNvPr id="45" name="en_11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insomnia</a:t>
            </a:r>
            <a:endParaRPr lang="en-US" sz="1200" dirty="0"/>
          </a:p>
        </p:txBody>
      </p:sp>
      <p:sp>
        <p:nvSpPr>
          <p:cNvPr id="46" name="R1_def112"/>
          <p:cNvSpPr/>
          <p:nvPr/>
        </p:nvSpPr>
        <p:spPr>
          <a:xfrm>
            <a:off x="5312664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can't sleep</a:t>
            </a:r>
            <a:endParaRPr lang="en-US" sz="850" dirty="0"/>
          </a:p>
        </p:txBody>
      </p:sp>
      <p:sp>
        <p:nvSpPr>
          <p:cNvPr id="47" name="R2_it113"/>
          <p:cNvSpPr/>
          <p:nvPr/>
        </p:nvSpPr>
        <p:spPr>
          <a:xfrm>
            <a:off x="5312664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insonnia</a:t>
            </a:r>
            <a:endParaRPr lang="en-US" sz="900" dirty="0"/>
          </a:p>
        </p:txBody>
      </p:sp>
      <p:sp>
        <p:nvSpPr>
          <p:cNvPr id="48" name="cd_114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115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50" name="en_116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sleeping pills</a:t>
            </a:r>
            <a:endParaRPr lang="en-US" sz="1200" dirty="0"/>
          </a:p>
        </p:txBody>
      </p:sp>
      <p:sp>
        <p:nvSpPr>
          <p:cNvPr id="51" name="R1_def117"/>
          <p:cNvSpPr/>
          <p:nvPr/>
        </p:nvSpPr>
        <p:spPr>
          <a:xfrm>
            <a:off x="7479792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pills that help you sleep</a:t>
            </a:r>
            <a:endParaRPr lang="en-US" sz="850" dirty="0"/>
          </a:p>
        </p:txBody>
      </p:sp>
      <p:sp>
        <p:nvSpPr>
          <p:cNvPr id="52" name="R2_it118"/>
          <p:cNvSpPr/>
          <p:nvPr/>
        </p:nvSpPr>
        <p:spPr>
          <a:xfrm>
            <a:off x="7479792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sonniferi</a:t>
            </a:r>
            <a:endParaRPr lang="en-US" sz="900" dirty="0"/>
          </a:p>
        </p:txBody>
      </p:sp>
      <p:sp>
        <p:nvSpPr>
          <p:cNvPr id="53" name="R2_wc119"/>
          <p:cNvSpPr/>
          <p:nvPr/>
        </p:nvSpPr>
        <p:spPr>
          <a:xfrm>
            <a:off x="320040" y="310896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R2_w120"/>
          <p:cNvSpPr/>
          <p:nvPr/>
        </p:nvSpPr>
        <p:spPr>
          <a:xfrm>
            <a:off x="457200" y="31089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pillow (letto) ≠ cushion (divano)  ·  duvet: silent t /ˈduːveɪ/  ·  yawn /jɔːn/ – not 'yown'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23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they mean?</a:t>
            </a:r>
            <a:endParaRPr lang="en-US" sz="2500" dirty="0"/>
          </a:p>
        </p:txBody>
      </p:sp>
      <p:pic>
        <p:nvPicPr>
          <p:cNvPr id="6" name="brP_1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856732" cy="402336"/>
          </a:xfrm>
          <a:prstGeom prst="rect">
            <a:avLst/>
          </a:prstGeom>
        </p:spPr>
      </p:pic>
      <p:sp>
        <p:nvSpPr>
          <p:cNvPr id="7" name="ins_125"/>
          <p:cNvSpPr/>
          <p:nvPr/>
        </p:nvSpPr>
        <p:spPr>
          <a:xfrm>
            <a:off x="1353312" y="731520"/>
            <a:ext cx="5600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each phrase to your partner in English. Then click.</a:t>
            </a:r>
            <a:endParaRPr lang="en-US" sz="1250" dirty="0"/>
          </a:p>
        </p:txBody>
      </p:sp>
      <p:sp>
        <p:nvSpPr>
          <p:cNvPr id="8" name="insIT_12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ogni espressione al compagno in inglese. Poi clicca.</a:t>
            </a:r>
            <a:endParaRPr lang="en-US" sz="950" dirty="0"/>
          </a:p>
        </p:txBody>
      </p:sp>
      <p:sp>
        <p:nvSpPr>
          <p:cNvPr id="9" name="cmd_12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12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1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Vocabulary · sleeping habits (SB 4c)   ·   📖 SB p.58 · 4c (answers: SB key)</a:t>
            </a:r>
            <a:endParaRPr lang="en-US" sz="800" dirty="0"/>
          </a:p>
        </p:txBody>
      </p:sp>
      <p:sp>
        <p:nvSpPr>
          <p:cNvPr id="13" name="cd_13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1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1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13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be a light sleeper → wake up easily (≠ a heavy sleeper)</a:t>
            </a:r>
            <a:endParaRPr lang="en-US" sz="1050" dirty="0"/>
          </a:p>
        </p:txBody>
      </p:sp>
      <p:sp>
        <p:nvSpPr>
          <p:cNvPr id="17" name="pf_13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136" descr="/home/claude/lls-course/v2/cache/b2_6a_moo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137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138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asleep</a:t>
            </a:r>
            <a:endParaRPr lang="en-US" sz="1150" dirty="0"/>
          </a:p>
        </p:txBody>
      </p:sp>
      <p:sp>
        <p:nvSpPr>
          <p:cNvPr id="21" name="R1_chip139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/ get to sleep</a:t>
            </a:r>
            <a:endParaRPr lang="en-US" sz="1000" dirty="0"/>
          </a:p>
        </p:txBody>
      </p:sp>
      <p:sp>
        <p:nvSpPr>
          <p:cNvPr id="22" name="bd_140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141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fast asleep</a:t>
            </a:r>
            <a:endParaRPr lang="en-US" sz="1150" dirty="0"/>
          </a:p>
        </p:txBody>
      </p:sp>
      <p:sp>
        <p:nvSpPr>
          <p:cNvPr id="24" name="R2_chip142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sleeping deeply</a:t>
            </a:r>
            <a:endParaRPr lang="en-US" sz="1000" dirty="0"/>
          </a:p>
        </p:txBody>
      </p:sp>
      <p:sp>
        <p:nvSpPr>
          <p:cNvPr id="25" name="bd_143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144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nightmares</a:t>
            </a:r>
            <a:endParaRPr lang="en-US" sz="1150" dirty="0"/>
          </a:p>
        </p:txBody>
      </p:sp>
      <p:sp>
        <p:nvSpPr>
          <p:cNvPr id="27" name="R3_chip145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unpleasant or frightening dreams</a:t>
            </a:r>
            <a:endParaRPr lang="en-US" sz="1000" dirty="0"/>
          </a:p>
        </p:txBody>
      </p:sp>
      <p:sp>
        <p:nvSpPr>
          <p:cNvPr id="28" name="bd_146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147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 awake</a:t>
            </a:r>
            <a:endParaRPr lang="en-US" sz="1150" dirty="0"/>
          </a:p>
        </p:txBody>
      </p:sp>
      <p:sp>
        <p:nvSpPr>
          <p:cNvPr id="30" name="R4_chip148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you stay awake</a:t>
            </a:r>
            <a:endParaRPr lang="en-US" sz="1000" dirty="0"/>
          </a:p>
        </p:txBody>
      </p:sp>
      <p:sp>
        <p:nvSpPr>
          <p:cNvPr id="31" name="bd_149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150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oversleep</a:t>
            </a:r>
            <a:endParaRPr lang="en-US" sz="1150" dirty="0"/>
          </a:p>
        </p:txBody>
      </p:sp>
      <p:sp>
        <p:nvSpPr>
          <p:cNvPr id="33" name="R5_chip151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longer than you intended</a:t>
            </a:r>
            <a:endParaRPr lang="en-US" sz="1000" dirty="0"/>
          </a:p>
        </p:txBody>
      </p:sp>
      <p:sp>
        <p:nvSpPr>
          <p:cNvPr id="34" name="bd_15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153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the alarm</a:t>
            </a:r>
            <a:endParaRPr lang="en-US" sz="1150" dirty="0"/>
          </a:p>
        </p:txBody>
      </p:sp>
      <p:sp>
        <p:nvSpPr>
          <p:cNvPr id="36" name="R6_chip154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the alarm to wake you</a:t>
            </a:r>
            <a:endParaRPr lang="en-US" sz="1000" dirty="0"/>
          </a:p>
        </p:txBody>
      </p:sp>
      <p:sp>
        <p:nvSpPr>
          <p:cNvPr id="37" name="bd_155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156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like a log</a:t>
            </a:r>
            <a:endParaRPr lang="en-US" sz="1150" dirty="0"/>
          </a:p>
        </p:txBody>
      </p:sp>
      <p:sp>
        <p:nvSpPr>
          <p:cNvPr id="39" name="R7_chip157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very well, deeply (= come un ghiro)</a:t>
            </a:r>
            <a:endParaRPr lang="en-US" sz="1000" dirty="0"/>
          </a:p>
        </p:txBody>
      </p:sp>
      <p:sp>
        <p:nvSpPr>
          <p:cNvPr id="40" name="bd_158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q_159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sleepwalk</a:t>
            </a:r>
            <a:endParaRPr lang="en-US" sz="1150" dirty="0"/>
          </a:p>
        </p:txBody>
      </p:sp>
      <p:sp>
        <p:nvSpPr>
          <p:cNvPr id="42" name="R8_chip160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walk around while asleep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6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sleep race</a:t>
            </a:r>
            <a:endParaRPr lang="en-US" sz="2500" dirty="0"/>
          </a:p>
        </p:txBody>
      </p:sp>
      <p:pic>
        <p:nvPicPr>
          <p:cNvPr id="6" name="brP_1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65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Cover 4a–c. Fill gaps 1–18 in 4d as fast as you can.</a:t>
            </a:r>
            <a:endParaRPr lang="en-US" sz="1250" dirty="0"/>
          </a:p>
        </p:txBody>
      </p:sp>
      <p:sp>
        <p:nvSpPr>
          <p:cNvPr id="8" name="insIT_16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Copri 4a–c. Completa gli spazi 1–18 del 4d il più veloce possibile.</a:t>
            </a:r>
            <a:endParaRPr lang="en-US" sz="950" dirty="0"/>
          </a:p>
        </p:txBody>
      </p:sp>
      <p:sp>
        <p:nvSpPr>
          <p:cNvPr id="9" name="cmd_16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16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1" name="logo_1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Game · vocabulary race (SB 4d–e)   ·   📖 SB p.58 · 4d–e · audio 6.8 (answers: SB key)</a:t>
            </a:r>
            <a:endParaRPr lang="en-US" sz="800" dirty="0"/>
          </a:p>
        </p:txBody>
      </p:sp>
      <p:sp>
        <p:nvSpPr>
          <p:cNvPr id="13" name="cd_171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17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17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174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 p.58, exercise 4d. Cover a–c.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GO! Write the missing words 1–18.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Finished? Hands up! Then listen (6.8) and check.</a:t>
            </a:r>
            <a:endParaRPr lang="en-US" sz="1150" dirty="0"/>
          </a:p>
        </p:txBody>
      </p:sp>
      <p:sp>
        <p:nvSpPr>
          <p:cNvPr id="17" name="ap_175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6.8</a:t>
            </a:r>
            <a:endParaRPr lang="en-US" sz="1100" dirty="0"/>
          </a:p>
        </p:txBody>
      </p:sp>
      <p:sp>
        <p:nvSpPr>
          <p:cNvPr id="18" name="ah_176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0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1" name="bd_177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178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2–5</a:t>
            </a:r>
            <a:endParaRPr lang="en-US" sz="1100" dirty="0"/>
          </a:p>
        </p:txBody>
      </p:sp>
      <p:sp>
        <p:nvSpPr>
          <p:cNvPr id="23" name="R1_chip179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yawn · pillow · duvet · sheets, blankets</a:t>
            </a:r>
            <a:endParaRPr lang="en-US" sz="1100" dirty="0"/>
          </a:p>
        </p:txBody>
      </p:sp>
      <p:sp>
        <p:nvSpPr>
          <p:cNvPr id="24" name="bd_180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181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6–9</a:t>
            </a:r>
            <a:endParaRPr lang="en-US" sz="1100" dirty="0"/>
          </a:p>
        </p:txBody>
      </p:sp>
      <p:sp>
        <p:nvSpPr>
          <p:cNvPr id="26" name="R2_chip182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insomnia · sleeping pills · snore · nap</a:t>
            </a:r>
            <a:endParaRPr lang="en-US" sz="1100" dirty="0"/>
          </a:p>
        </p:txBody>
      </p:sp>
      <p:sp>
        <p:nvSpPr>
          <p:cNvPr id="27" name="bd_183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184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10–13</a:t>
            </a:r>
            <a:endParaRPr lang="en-US" sz="1100" dirty="0"/>
          </a:p>
        </p:txBody>
      </p:sp>
      <p:sp>
        <p:nvSpPr>
          <p:cNvPr id="29" name="R3_chip185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sleeps like a log · light sleeper · have nightmares · keep you awake</a:t>
            </a:r>
            <a:endParaRPr lang="en-US" sz="1100" dirty="0"/>
          </a:p>
        </p:txBody>
      </p:sp>
      <p:sp>
        <p:nvSpPr>
          <p:cNvPr id="30" name="bd_186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187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14–18</a:t>
            </a:r>
            <a:endParaRPr lang="en-US" sz="1100" dirty="0"/>
          </a:p>
        </p:txBody>
      </p:sp>
      <p:sp>
        <p:nvSpPr>
          <p:cNvPr id="32" name="R4_chip188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fast asleep · sleepwalk · set the alarm · oversleep · fall asleep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9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Not quite the same!</a:t>
            </a:r>
            <a:endParaRPr lang="en-US" sz="2500" dirty="0"/>
          </a:p>
        </p:txBody>
      </p:sp>
      <p:pic>
        <p:nvPicPr>
          <p:cNvPr id="6" name="brP_1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422392" cy="402336"/>
          </a:xfrm>
          <a:prstGeom prst="rect">
            <a:avLst/>
          </a:prstGeom>
        </p:spPr>
      </p:pic>
      <p:sp>
        <p:nvSpPr>
          <p:cNvPr id="7" name="ins_193"/>
          <p:cNvSpPr/>
          <p:nvPr/>
        </p:nvSpPr>
        <p:spPr>
          <a:xfrm>
            <a:off x="1353312" y="731520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the natural option. Say why the other is wrong.</a:t>
            </a:r>
            <a:endParaRPr lang="en-US" sz="1250" dirty="0"/>
          </a:p>
        </p:txBody>
      </p:sp>
      <p:sp>
        <p:nvSpPr>
          <p:cNvPr id="8" name="insIT_19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 l'opzione naturale. Spiega perché l'altra è sbagliata.</a:t>
            </a:r>
            <a:endParaRPr lang="en-US" sz="950" dirty="0"/>
          </a:p>
        </p:txBody>
      </p:sp>
      <p:sp>
        <p:nvSpPr>
          <p:cNvPr id="9" name="cmd_19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19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1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Vocabulary · precision (B2)</a:t>
            </a:r>
            <a:endParaRPr lang="en-US" sz="800" dirty="0"/>
          </a:p>
        </p:txBody>
      </p:sp>
      <p:sp>
        <p:nvSpPr>
          <p:cNvPr id="13" name="cd_19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0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20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20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 was so tired I (fell / went) asleep on the sofa. → fell – it wasn't planned</a:t>
            </a:r>
            <a:endParaRPr lang="en-US" sz="1050" dirty="0"/>
          </a:p>
        </p:txBody>
      </p:sp>
      <p:sp>
        <p:nvSpPr>
          <p:cNvPr id="17" name="pf_20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04" descr="/home/claude/lls-course/v2/cache/b2_6a_cloud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20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0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couldn't (get / fall) to sleep – the party was too loud.</a:t>
            </a:r>
            <a:endParaRPr lang="en-US" sz="1150" dirty="0"/>
          </a:p>
        </p:txBody>
      </p:sp>
      <p:sp>
        <p:nvSpPr>
          <p:cNvPr id="21" name="R1_chip20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to sleep = manage to</a:t>
            </a:r>
            <a:endParaRPr lang="en-US" sz="1000" dirty="0"/>
          </a:p>
        </p:txBody>
      </p:sp>
      <p:sp>
        <p:nvSpPr>
          <p:cNvPr id="22" name="bd_20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0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Shh! The baby's (fast / deep) asleep.</a:t>
            </a:r>
            <a:endParaRPr lang="en-US" sz="1150" dirty="0"/>
          </a:p>
        </p:txBody>
      </p:sp>
      <p:sp>
        <p:nvSpPr>
          <p:cNvPr id="24" name="R2_chip21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asleep (fixed phrase)</a:t>
            </a:r>
            <a:endParaRPr lang="en-US" sz="1000" dirty="0"/>
          </a:p>
        </p:txBody>
      </p:sp>
      <p:sp>
        <p:nvSpPr>
          <p:cNvPr id="25" name="bd_21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21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three coffees I was (wide / fast) awake at 2 a.m.</a:t>
            </a:r>
            <a:endParaRPr lang="en-US" sz="1150" dirty="0"/>
          </a:p>
        </p:txBody>
      </p:sp>
      <p:sp>
        <p:nvSpPr>
          <p:cNvPr id="27" name="R3_chip21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wide awake</a:t>
            </a:r>
            <a:endParaRPr lang="en-US" sz="1000" dirty="0"/>
          </a:p>
        </p:txBody>
      </p:sp>
      <p:sp>
        <p:nvSpPr>
          <p:cNvPr id="28" name="bd_21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21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(overslept / slept in) and missed the bus.</a:t>
            </a:r>
            <a:endParaRPr lang="en-US" sz="1150" dirty="0"/>
          </a:p>
        </p:txBody>
      </p:sp>
      <p:sp>
        <p:nvSpPr>
          <p:cNvPr id="30" name="R4_chip21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overslept – an accident</a:t>
            </a:r>
            <a:endParaRPr lang="en-US" sz="1000" dirty="0"/>
          </a:p>
        </p:txBody>
      </p:sp>
      <p:sp>
        <p:nvSpPr>
          <p:cNvPr id="31" name="bd_21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21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Sunday – I'm going to (oversleep / sleep in)!</a:t>
            </a:r>
            <a:endParaRPr lang="en-US" sz="1150" dirty="0"/>
          </a:p>
        </p:txBody>
      </p:sp>
      <p:sp>
        <p:nvSpPr>
          <p:cNvPr id="33" name="R5_chip21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in – on purpose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222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does the expert sleep?</a:t>
            </a:r>
            <a:endParaRPr lang="en-US" sz="2500" dirty="0"/>
          </a:p>
        </p:txBody>
      </p:sp>
      <p:pic>
        <p:nvPicPr>
          <p:cNvPr id="6" name="brP_2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24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sleep expert's habits: 1 word per gap.</a:t>
            </a:r>
            <a:endParaRPr lang="en-US" sz="1250" dirty="0"/>
          </a:p>
        </p:txBody>
      </p:sp>
      <p:sp>
        <p:nvSpPr>
          <p:cNvPr id="8" name="insIT_22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Dr Stanley è un esperto del sonno. Indovina le sue abitudini.</a:t>
            </a:r>
            <a:endParaRPr lang="en-US" sz="950" dirty="0"/>
          </a:p>
        </p:txBody>
      </p:sp>
      <p:sp>
        <p:nvSpPr>
          <p:cNvPr id="9" name="cmd_22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300" dirty="0"/>
          </a:p>
        </p:txBody>
      </p:sp>
      <p:sp>
        <p:nvSpPr>
          <p:cNvPr id="10" name="cmd_227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1" name="meta_22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2" name="logo_2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Listening · predict (SB 5a)   ·   📖 SB p.59 · 5a</a:t>
            </a:r>
            <a:endParaRPr lang="en-US" sz="800" dirty="0"/>
          </a:p>
        </p:txBody>
      </p:sp>
      <p:sp>
        <p:nvSpPr>
          <p:cNvPr id="14" name="cd_23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3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 sleep in a different ___ from my partner. → room?</a:t>
            </a:r>
            <a:endParaRPr lang="en-US" sz="1050" dirty="0"/>
          </a:p>
        </p:txBody>
      </p:sp>
      <p:sp>
        <p:nvSpPr>
          <p:cNvPr id="18" name="pf_23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36" descr="/home/claude/lls-course/v2/cache/b2_6a_stanle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23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3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sleep in a different ___ from my partner.</a:t>
            </a:r>
            <a:endParaRPr lang="en-US" sz="1150" dirty="0"/>
          </a:p>
        </p:txBody>
      </p:sp>
      <p:sp>
        <p:nvSpPr>
          <p:cNvPr id="22" name="R1_chip23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23" name="bd_24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4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 sleep under natural ___.</a:t>
            </a:r>
            <a:endParaRPr lang="en-US" sz="1150" dirty="0"/>
          </a:p>
        </p:txBody>
      </p:sp>
      <p:sp>
        <p:nvSpPr>
          <p:cNvPr id="25" name="R2_chip24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26" name="bd_24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4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I'm obsessive about ___.</a:t>
            </a:r>
            <a:endParaRPr lang="en-US" sz="1150" dirty="0"/>
          </a:p>
        </p:txBody>
      </p:sp>
      <p:sp>
        <p:nvSpPr>
          <p:cNvPr id="28" name="R3_chip24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29" name="bd_24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4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 sleep with the ___ open.</a:t>
            </a:r>
            <a:endParaRPr lang="en-US" sz="1150" dirty="0"/>
          </a:p>
        </p:txBody>
      </p:sp>
      <p:sp>
        <p:nvSpPr>
          <p:cNvPr id="31" name="R4_chip24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32" name="bd_24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5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 don't have ___ late. · 6  I drink ___ in the evenings.</a:t>
            </a:r>
            <a:endParaRPr lang="en-US" sz="1150" dirty="0"/>
          </a:p>
        </p:txBody>
      </p:sp>
      <p:sp>
        <p:nvSpPr>
          <p:cNvPr id="34" name="R5_chip25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35" name="bd_25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25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I need ___ hours' sleep. · 8  I ___ before going to sleep.</a:t>
            </a:r>
            <a:endParaRPr lang="en-US" sz="1150" dirty="0"/>
          </a:p>
        </p:txBody>
      </p:sp>
      <p:sp>
        <p:nvSpPr>
          <p:cNvPr id="37" name="R6_chip25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57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and check</a:t>
            </a:r>
            <a:endParaRPr lang="en-US" sz="2500" dirty="0"/>
          </a:p>
        </p:txBody>
      </p:sp>
      <p:pic>
        <p:nvPicPr>
          <p:cNvPr id="6" name="brP_2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259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Complete 1–8. How many guesses were right?</a:t>
            </a:r>
            <a:endParaRPr lang="en-US" sz="1250" dirty="0"/>
          </a:p>
        </p:txBody>
      </p:sp>
      <p:sp>
        <p:nvSpPr>
          <p:cNvPr id="8" name="insIT_2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Completa 1–8. Quante ipotesi erano giuste?</a:t>
            </a:r>
            <a:endParaRPr lang="en-US" sz="950" dirty="0"/>
          </a:p>
        </p:txBody>
      </p:sp>
      <p:sp>
        <p:nvSpPr>
          <p:cNvPr id="9" name="cmd_26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262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1" name="meta_26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2" name="logo_2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Listening · Dr Stanley (SB 5b)   ·   📖 SB p.59 · 5b · audio 6.9 (answers: SB key)</a:t>
            </a:r>
            <a:endParaRPr lang="en-US" sz="800" dirty="0"/>
          </a:p>
        </p:txBody>
      </p:sp>
      <p:sp>
        <p:nvSpPr>
          <p:cNvPr id="14" name="ap_26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6.9  ·  play once, then check</a:t>
            </a:r>
            <a:endParaRPr lang="en-US" sz="1100" dirty="0"/>
          </a:p>
        </p:txBody>
      </p:sp>
      <p:sp>
        <p:nvSpPr>
          <p:cNvPr id="15" name="ah_267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pf_268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69" descr="/home/claude/lls-course/v2/cache/b2_6a_stanley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0" name="cd_27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ii_27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2" name="ih_27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3" name="il_273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4" name="gq_274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a different ___</a:t>
            </a:r>
            <a:endParaRPr lang="en-US" sz="1200" dirty="0"/>
          </a:p>
        </p:txBody>
      </p:sp>
      <p:sp>
        <p:nvSpPr>
          <p:cNvPr id="25" name="R1_chip275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bedroom</a:t>
            </a:r>
            <a:endParaRPr lang="en-US" sz="1200" dirty="0"/>
          </a:p>
        </p:txBody>
      </p:sp>
      <p:sp>
        <p:nvSpPr>
          <p:cNvPr id="26" name="gq_276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natural ___</a:t>
            </a:r>
            <a:endParaRPr lang="en-US" sz="1200" dirty="0"/>
          </a:p>
        </p:txBody>
      </p:sp>
      <p:sp>
        <p:nvSpPr>
          <p:cNvPr id="27" name="R2_chip277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materials</a:t>
            </a:r>
            <a:endParaRPr lang="en-US" sz="1200" dirty="0"/>
          </a:p>
        </p:txBody>
      </p:sp>
      <p:sp>
        <p:nvSpPr>
          <p:cNvPr id="28" name="gq_278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obsessive about ___</a:t>
            </a:r>
            <a:endParaRPr lang="en-US" sz="1200" dirty="0"/>
          </a:p>
        </p:txBody>
      </p:sp>
      <p:sp>
        <p:nvSpPr>
          <p:cNvPr id="29" name="R3_chip279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pillows</a:t>
            </a:r>
            <a:endParaRPr lang="en-US" sz="1200" dirty="0"/>
          </a:p>
        </p:txBody>
      </p:sp>
      <p:sp>
        <p:nvSpPr>
          <p:cNvPr id="30" name="gq_280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the ___ open</a:t>
            </a:r>
            <a:endParaRPr lang="en-US" sz="1200" dirty="0"/>
          </a:p>
        </p:txBody>
      </p:sp>
      <p:sp>
        <p:nvSpPr>
          <p:cNvPr id="31" name="R4_chip281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</a:t>
            </a:r>
            <a:endParaRPr lang="en-US" sz="1200" dirty="0"/>
          </a:p>
        </p:txBody>
      </p:sp>
      <p:sp>
        <p:nvSpPr>
          <p:cNvPr id="32" name="gq_282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___ late</a:t>
            </a:r>
            <a:endParaRPr lang="en-US" sz="1200" dirty="0"/>
          </a:p>
        </p:txBody>
      </p:sp>
      <p:sp>
        <p:nvSpPr>
          <p:cNvPr id="33" name="R5_chip283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dinner</a:t>
            </a:r>
            <a:endParaRPr lang="en-US" sz="1200" dirty="0"/>
          </a:p>
        </p:txBody>
      </p:sp>
      <p:sp>
        <p:nvSpPr>
          <p:cNvPr id="34" name="gq_284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I drink ___</a:t>
            </a:r>
            <a:endParaRPr lang="en-US" sz="1200" dirty="0"/>
          </a:p>
        </p:txBody>
      </p:sp>
      <p:sp>
        <p:nvSpPr>
          <p:cNvPr id="35" name="R6_chip285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coffee</a:t>
            </a:r>
            <a:endParaRPr lang="en-US" sz="1200" dirty="0"/>
          </a:p>
        </p:txBody>
      </p:sp>
      <p:sp>
        <p:nvSpPr>
          <p:cNvPr id="36" name="gq_286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___ hours' sleep</a:t>
            </a:r>
            <a:endParaRPr lang="en-US" sz="1200" dirty="0"/>
          </a:p>
        </p:txBody>
      </p:sp>
      <p:sp>
        <p:nvSpPr>
          <p:cNvPr id="37" name="R7_chip287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9.5</a:t>
            </a:r>
            <a:endParaRPr lang="en-US" sz="1200" dirty="0"/>
          </a:p>
        </p:txBody>
      </p:sp>
      <p:sp>
        <p:nvSpPr>
          <p:cNvPr id="38" name="gq_288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I ___ before sleep</a:t>
            </a:r>
            <a:endParaRPr lang="en-US" sz="1200" dirty="0"/>
          </a:p>
        </p:txBody>
      </p:sp>
      <p:sp>
        <p:nvSpPr>
          <p:cNvPr id="39" name="R8_chip289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 book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292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does he do it?</a:t>
            </a:r>
            <a:endParaRPr lang="en-US" sz="2500" dirty="0"/>
          </a:p>
        </p:txBody>
      </p:sp>
      <p:pic>
        <p:nvPicPr>
          <p:cNvPr id="6" name="brP_2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94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again. Explain his reason for each habit.</a:t>
            </a:r>
            <a:endParaRPr lang="en-US" sz="1250" dirty="0"/>
          </a:p>
        </p:txBody>
      </p:sp>
      <p:sp>
        <p:nvSpPr>
          <p:cNvPr id="8" name="insIT_29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Riascolta. Spiega il motivo di ogni abitudine.</a:t>
            </a:r>
            <a:endParaRPr lang="en-US" sz="950" dirty="0"/>
          </a:p>
        </p:txBody>
      </p:sp>
      <p:sp>
        <p:nvSpPr>
          <p:cNvPr id="9" name="cmd_29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297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1" name="meta_29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2" name="logo_2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Listening · reasons (SB 5c)   ·   📖 SB p.59 · 5c · audio 6.9 (answers: SB key)</a:t>
            </a:r>
            <a:endParaRPr lang="en-US" sz="800" dirty="0"/>
          </a:p>
        </p:txBody>
      </p:sp>
      <p:sp>
        <p:nvSpPr>
          <p:cNvPr id="14" name="ap_301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6.9  ·  play again</a:t>
            </a:r>
            <a:endParaRPr lang="en-US" sz="1100" dirty="0"/>
          </a:p>
        </p:txBody>
      </p:sp>
      <p:sp>
        <p:nvSpPr>
          <p:cNvPr id="15" name="ah_302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pf_303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04" descr="/home/claude/lls-course/v2/cache/b2_6a_clouds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0" name="cd_305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ii_306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2" name="ih_307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3" name="il_308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4" name="gq_309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Because then you don't…</a:t>
            </a:r>
            <a:endParaRPr lang="en-US" sz="1200" dirty="0"/>
          </a:p>
        </p:txBody>
      </p:sp>
      <p:sp>
        <p:nvSpPr>
          <p:cNvPr id="25" name="R1_chip310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disturbed / listen to your partner snoring</a:t>
            </a:r>
            <a:endParaRPr lang="en-US" sz="1200" dirty="0"/>
          </a:p>
        </p:txBody>
      </p:sp>
      <p:sp>
        <p:nvSpPr>
          <p:cNvPr id="26" name="gq_311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Because you don't sleep well if…</a:t>
            </a:r>
            <a:endParaRPr lang="en-US" sz="1200" dirty="0"/>
          </a:p>
        </p:txBody>
      </p:sp>
      <p:sp>
        <p:nvSpPr>
          <p:cNvPr id="27" name="R2_chip312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you're really hot (cotton is cooler)</a:t>
            </a:r>
            <a:endParaRPr lang="en-US" sz="1200" dirty="0"/>
          </a:p>
        </p:txBody>
      </p:sp>
      <p:sp>
        <p:nvSpPr>
          <p:cNvPr id="28" name="gq_313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Because it's really important to…</a:t>
            </a:r>
            <a:endParaRPr lang="en-US" sz="1200" dirty="0"/>
          </a:p>
        </p:txBody>
      </p:sp>
      <p:sp>
        <p:nvSpPr>
          <p:cNvPr id="29" name="R3_chip314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in the right position</a:t>
            </a:r>
            <a:endParaRPr lang="en-US" sz="1200" dirty="0"/>
          </a:p>
        </p:txBody>
      </p:sp>
      <p:sp>
        <p:nvSpPr>
          <p:cNvPr id="30" name="gq_315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Because you need…</a:t>
            </a:r>
            <a:endParaRPr lang="en-US" sz="1200" dirty="0"/>
          </a:p>
        </p:txBody>
      </p:sp>
      <p:sp>
        <p:nvSpPr>
          <p:cNvPr id="31" name="R4_chip316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fresh air, even if it's cold</a:t>
            </a:r>
            <a:endParaRPr lang="en-US" sz="1200" dirty="0"/>
          </a:p>
        </p:txBody>
      </p:sp>
      <p:sp>
        <p:nvSpPr>
          <p:cNvPr id="32" name="gq_317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Because your body…</a:t>
            </a:r>
            <a:endParaRPr lang="en-US" sz="1200" dirty="0"/>
          </a:p>
        </p:txBody>
      </p:sp>
      <p:sp>
        <p:nvSpPr>
          <p:cNvPr id="33" name="R5_chip318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will still be digesting the meal</a:t>
            </a:r>
            <a:endParaRPr lang="en-US" sz="1200" dirty="0"/>
          </a:p>
        </p:txBody>
      </p:sp>
      <p:sp>
        <p:nvSpPr>
          <p:cNvPr id="34" name="gq_319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Because he isn't…</a:t>
            </a:r>
            <a:endParaRPr lang="en-US" sz="1200" dirty="0"/>
          </a:p>
        </p:txBody>
      </p:sp>
      <p:sp>
        <p:nvSpPr>
          <p:cNvPr id="35" name="R6_chip320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affected by caffeine</a:t>
            </a:r>
            <a:endParaRPr lang="en-US" sz="1200" dirty="0"/>
          </a:p>
        </p:txBody>
      </p:sp>
      <p:sp>
        <p:nvSpPr>
          <p:cNvPr id="36" name="gq_321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Because that's the amount…</a:t>
            </a:r>
            <a:endParaRPr lang="en-US" sz="1200" dirty="0"/>
          </a:p>
        </p:txBody>
      </p:sp>
      <p:sp>
        <p:nvSpPr>
          <p:cNvPr id="37" name="R7_chip322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that's right for him</a:t>
            </a:r>
            <a:endParaRPr lang="en-US" sz="1200" dirty="0"/>
          </a:p>
        </p:txBody>
      </p:sp>
      <p:sp>
        <p:nvSpPr>
          <p:cNvPr id="38" name="gq_323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Because it's his way of…</a:t>
            </a:r>
            <a:endParaRPr lang="en-US" sz="1200" dirty="0"/>
          </a:p>
        </p:txBody>
      </p:sp>
      <p:sp>
        <p:nvSpPr>
          <p:cNvPr id="39" name="R8_chip324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relaxing before sleep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27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well do you know your partner?</a:t>
            </a:r>
            <a:endParaRPr lang="en-US" sz="2500" dirty="0"/>
          </a:p>
        </p:txBody>
      </p:sp>
      <p:pic>
        <p:nvPicPr>
          <p:cNvPr id="6" name="brP_3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329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 your partner's answers secretly. Then ask!</a:t>
            </a:r>
            <a:endParaRPr lang="en-US" sz="1250" dirty="0"/>
          </a:p>
        </p:txBody>
      </p:sp>
      <p:sp>
        <p:nvSpPr>
          <p:cNvPr id="8" name="insIT_33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una previsione SEGRETA della risposta del compagno. Poi chiedi.</a:t>
            </a:r>
            <a:endParaRPr lang="en-US" sz="950" dirty="0"/>
          </a:p>
        </p:txBody>
      </p:sp>
      <p:sp>
        <p:nvSpPr>
          <p:cNvPr id="9" name="cmd_33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cmd_332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1" name="meta_33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10 min   👥 pairs</a:t>
            </a:r>
            <a:endParaRPr lang="en-US" sz="950" dirty="0"/>
          </a:p>
        </p:txBody>
      </p:sp>
      <p:pic>
        <p:nvPicPr>
          <p:cNvPr id="12" name="logo_3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Speaking game · predict your partner (SB 6)   ·   📖 SB p.59 · 6 (question clouds)</a:t>
            </a:r>
            <a:endParaRPr lang="en-US" sz="800" dirty="0"/>
          </a:p>
        </p:txBody>
      </p:sp>
      <p:sp>
        <p:nvSpPr>
          <p:cNvPr id="14" name="cd_33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3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3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33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A: green questions · B: red questions (p.59). Choose 4.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your prediction for each one. Hide it!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+ 2 follow-ups each. Reveal: 1 point per correct guess.</a:t>
            </a:r>
            <a:endParaRPr lang="en-US" sz="1150" dirty="0"/>
          </a:p>
        </p:txBody>
      </p:sp>
      <p:sp>
        <p:nvSpPr>
          <p:cNvPr id="18" name="st_34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9" name="bd_341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342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a light sleeper, or do you sleep like a log?</a:t>
            </a:r>
            <a:endParaRPr lang="en-US" sz="1100" dirty="0"/>
          </a:p>
        </p:txBody>
      </p:sp>
      <p:sp>
        <p:nvSpPr>
          <p:cNvPr id="21" name="R1_chip343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bet you sleep like a log! – 'Not at all! The smallest noise wakes me up.'</a:t>
            </a:r>
            <a:endParaRPr lang="en-US" sz="1100" dirty="0"/>
          </a:p>
        </p:txBody>
      </p:sp>
      <p:sp>
        <p:nvSpPr>
          <p:cNvPr id="22" name="bd_344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345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overslept and missed something important?</a:t>
            </a:r>
            <a:endParaRPr lang="en-US" sz="1100" dirty="0"/>
          </a:p>
        </p:txBody>
      </p:sp>
      <p:sp>
        <p:nvSpPr>
          <p:cNvPr id="24" name="R2_chip346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Follow-up: What was it? What happened next?</a:t>
            </a:r>
            <a:endParaRPr lang="en-US" sz="1100" dirty="0"/>
          </a:p>
        </p:txBody>
      </p:sp>
      <p:sp>
        <p:nvSpPr>
          <p:cNvPr id="25" name="bd_347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348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fall asleep in front of the TV?</a:t>
            </a:r>
            <a:endParaRPr lang="en-US" sz="1100" dirty="0"/>
          </a:p>
        </p:txBody>
      </p:sp>
      <p:sp>
        <p:nvSpPr>
          <p:cNvPr id="27" name="R3_chip349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Follow-up: What were you watching?! How often?</a:t>
            </a:r>
            <a:endParaRPr lang="en-US" sz="1100" dirty="0"/>
          </a:p>
        </p:txBody>
      </p:sp>
      <p:sp>
        <p:nvSpPr>
          <p:cNvPr id="28" name="bd_350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351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Useful: Really? How come? · No way! · Me neither!</a:t>
            </a:r>
            <a:endParaRPr lang="en-US" sz="1100" dirty="0"/>
          </a:p>
        </p:txBody>
      </p:sp>
      <p:sp>
        <p:nvSpPr>
          <p:cNvPr id="30" name="R4_chip352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Challenge: Is that always true, though?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355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B2 First: sleep collocations</a:t>
            </a:r>
            <a:endParaRPr lang="en-US" sz="2500" dirty="0"/>
          </a:p>
        </p:txBody>
      </p:sp>
      <p:pic>
        <p:nvPicPr>
          <p:cNvPr id="6" name="brP_3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5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word in CAPITALS. Write 2–5 words.</a:t>
            </a:r>
            <a:endParaRPr lang="en-US" sz="1250" dirty="0"/>
          </a:p>
        </p:txBody>
      </p:sp>
      <p:sp>
        <p:nvSpPr>
          <p:cNvPr id="8" name="insIT_35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B2 First Parte 4: completa la seconda frase con la parola in MAIUSCOLO (2–5 parole).</a:t>
            </a:r>
            <a:endParaRPr lang="en-US" sz="950" dirty="0"/>
          </a:p>
        </p:txBody>
      </p:sp>
      <p:sp>
        <p:nvSpPr>
          <p:cNvPr id="9" name="cmd_35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0" name="cmd_360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1" name="meta_36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pic>
        <p:nvPicPr>
          <p:cNvPr id="12" name="logo_36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6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Exam · key word transformation</a:t>
            </a:r>
            <a:endParaRPr lang="en-US" sz="800" dirty="0"/>
          </a:p>
        </p:txBody>
      </p:sp>
      <p:sp>
        <p:nvSpPr>
          <p:cNvPr id="14" name="cd_36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6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 woke up too late this morning. OVERSLEPT → I overslept this morning.</a:t>
            </a:r>
            <a:endParaRPr lang="en-US" sz="1050" dirty="0"/>
          </a:p>
        </p:txBody>
      </p:sp>
      <p:sp>
        <p:nvSpPr>
          <p:cNvPr id="18" name="pf_36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69" descr="/home/claude/lls-course/v2/cache/b2_6a_moo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7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7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The noise from the street stopped me from sleeping. KEPT → The noise from the street ___ .</a:t>
            </a:r>
            <a:endParaRPr lang="en-US" sz="1150" dirty="0"/>
          </a:p>
        </p:txBody>
      </p:sp>
      <p:sp>
        <p:nvSpPr>
          <p:cNvPr id="22" name="R1_chip37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kept me awake</a:t>
            </a:r>
            <a:endParaRPr lang="en-US" sz="1000" dirty="0"/>
          </a:p>
        </p:txBody>
      </p:sp>
      <p:sp>
        <p:nvSpPr>
          <p:cNvPr id="23" name="bd_37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7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 find it hard to start sleeping at night. GET → I find it hard ___ at night.</a:t>
            </a:r>
            <a:endParaRPr lang="en-US" sz="1150" dirty="0"/>
          </a:p>
        </p:txBody>
      </p:sp>
      <p:sp>
        <p:nvSpPr>
          <p:cNvPr id="25" name="R2_chip37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get to sleep</a:t>
            </a:r>
            <a:endParaRPr lang="en-US" sz="1000" dirty="0"/>
          </a:p>
        </p:txBody>
      </p:sp>
      <p:sp>
        <p:nvSpPr>
          <p:cNvPr id="26" name="bd_37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7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My brother sleeps very deeply. LOG → My brother ___ .</a:t>
            </a:r>
            <a:endParaRPr lang="en-US" sz="1150" dirty="0"/>
          </a:p>
        </p:txBody>
      </p:sp>
      <p:sp>
        <p:nvSpPr>
          <p:cNvPr id="28" name="R3_chip37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sleeps like a log</a:t>
            </a:r>
            <a:endParaRPr lang="en-US" sz="1000" dirty="0"/>
          </a:p>
        </p:txBody>
      </p:sp>
      <p:sp>
        <p:nvSpPr>
          <p:cNvPr id="29" name="bd_37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8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The smallest noise wakes me up. LIGHT → I'm ___ – the smallest noise wakes me up.</a:t>
            </a:r>
            <a:endParaRPr lang="en-US" sz="1150" dirty="0"/>
          </a:p>
        </p:txBody>
      </p:sp>
      <p:sp>
        <p:nvSpPr>
          <p:cNvPr id="31" name="R4_chip38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light sleeper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38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3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386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38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388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0" name="logo_3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Exit · what can you remember?</a:t>
            </a:r>
            <a:endParaRPr lang="en-US" sz="800" dirty="0"/>
          </a:p>
        </p:txBody>
      </p:sp>
      <p:sp>
        <p:nvSpPr>
          <p:cNvPr id="12" name="bd_39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39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expressions you didn't know before today</a:t>
            </a:r>
            <a:endParaRPr lang="en-US" sz="1400" dirty="0"/>
          </a:p>
        </p:txBody>
      </p:sp>
      <p:sp>
        <p:nvSpPr>
          <p:cNvPr id="14" name="bd_39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39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 Dr Stanley's habits – and his reasons</a:t>
            </a:r>
            <a:endParaRPr lang="en-US" sz="1400" dirty="0"/>
          </a:p>
        </p:txBody>
      </p:sp>
      <p:sp>
        <p:nvSpPr>
          <p:cNvPr id="16" name="bd_39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39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difference: oversleep vs sleep in</a:t>
            </a:r>
            <a:endParaRPr lang="en-US" sz="1400" dirty="0"/>
          </a:p>
        </p:txBody>
      </p:sp>
      <p:sp>
        <p:nvSpPr>
          <p:cNvPr id="18" name="cd_397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39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39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00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6A: 3 Vocabulary a–d (sleep)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6A: 2 Pronunciation /s/ and /z/ a–e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80 words: your ideal bedtime routine (use 5 sleep expressions)</a:t>
            </a:r>
            <a:endParaRPr lang="en-US" sz="1150" dirty="0"/>
          </a:p>
        </p:txBody>
      </p:sp>
      <p:sp>
        <p:nvSpPr>
          <p:cNvPr id="22" name="st_401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6B · Music to my ears · gerunds and infinitives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6A-2 Night night</dc:title>
  <dc:subject>PptxGenJS Presentation</dc:subject>
  <dc:creator>PptxGenJS</dc:creator>
  <cp:lastModifiedBy>PptxGenJS</cp:lastModifiedBy>
  <cp:revision>1</cp:revision>
  <dcterms:created xsi:type="dcterms:W3CDTF">2026-10-09T13:58:16Z</dcterms:created>
  <dcterms:modified xsi:type="dcterms:W3CDTF">2026-10-09T13:58:16Z</dcterms:modified>
</cp:coreProperties>
</file>