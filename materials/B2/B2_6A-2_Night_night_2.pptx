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night owl = person who stays up late; early bird = gets up early. Hands up for each; 2–3 students give a reason. Click: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6A part 1 (3 min)
REVISION (3 min). Pairs say one TRUE sentence per colour about themselves. Correct: 'Did you used to' ✗ → Did you use to; 'I'm used to get up' ✗ → getting up.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sleep (PQA) (4 min)
PQA (4 min, teacher-led). Ask several students each question; circle ('So Anna goes to bed at 1 – does Luca go to bed at 1 or at 11? Who goes to bed later?'). Use and write the target collocations naturally as students answer (yawning, nap,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from the article (SB 4b) (5 min)
VOCABULARY (5 min). Pairs explain each word in English from the article context; click 1 shows the definition (SB key), click 2 the Italian. Drill: yawn, duvet, pillow, insomnia.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sleeping habits (SB 4c) (4 min)
VOCABULARY (4 min). Pairs explain, click once per line (SB key definitions). Stress: FALL aSLEEP, overSLEEP.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Game · vocabulary race (SB 4d–e) (6 min)
GAME (6 min). Pairs race; note finishing order. Play 6.8 to check (speaker bottom right). Click once per group of answers. Fastest pair with most correct wins. Answers (SB key 4e): 2 yawn 3 pillow 4 duvet 5 sheets, blankets 6 insomnia 7 sleeping pills 8 snore 9 nap 10 sleeps like a log 11 light sleeper 12 have nightmares 13 keep you awake 14 fast asleep 15 sleepwalk 16 set the alarm 17 oversleep 18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precision (B2) (4 min)
PRECISION (4 min). Italian 'dormire fino a tardi' covers both oversleep (accident) and sleep in (choice). ✗ deep asleep, ✗ fast awake. Extension: 'When did you last oversleep?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class story (TPRS) (4 min)
TPRS CLASS STORY (4 min) – after the sleep collocations have been presented and sharpened (precision slide) and before the Dr Stanley listening and the 'predict your partner' game, so the class hears the target expressions many times in one context before they need them. Click once per line. For each line: 1) say it, 2) ask the questions in grey round the class (yes/no → either/or → who/what/why), 3) let the CLASS change details: 'Was she revising phrasal verbs? No? What was she revising?' – accept their idea and use it in later lines (the book she uses as a pillow!). Students answer with one word or a short phrase – that's fine; at B2 push for the collocation in the answer ('She overslept – it was an accident, not a lie-in'). Recycles: light sleeper, set the alarm, wide awake, snore, keep you awake, fall asleep, pillow, oversleep (vs sleep in), yawn, sleep like a log. Finish: 'What happens next? Did she pass?'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predict (SB 5a) (3 min)
PREDICTION (3 min). Pairs write a guess for every gap – no answers here (rule 1). They keep their guesses for the next slide: 1 point per correct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Dr Stanley (SB 5b) (5 min)
LISTENING (5 min). Play 6.9 once (🐢 slower copy available). Pairs compare, then click one answer at a time. Answers (SB key): 1 bedroom 2 materials 3 pillows 4 window 5 dinner 6 coffee 7 9.5 8 read a book. Ask: 'Were you surprised? What kind of person is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reasons (SB 5c) (5 min)
DETAIL (5 min). Play again; pairs explain; click one reason at a time (SB key). 5d extension: 'Which of his habits would you try? Which would you never do? Convince your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predict your partner (SB 6) (10 min)
SPEAKING GAME (10 min). The book's question clouds become an information gap: secret predictions, then interview. Follow-ups compulsory. Click the model exchanges first (one per click). Monitor and note 4 errors + 4 good collocations for feedback. Students may say 'Pass!' to any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Exam · key word transformation (5 min)
EXAM PRACTICE (5 min). Our own Part 4 items (not from the book) – answers follow from the SB 4c definitions. Strategy: count the words (2–5, contractions count as 2); don't change the key word. Click one answer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EXIT (2 min). Vocabulary list: yawn, nap, snore, pillow, duvet, sheets, insomnia, sleeping pills, light sleeper, fast asleep, oversleep, keep you awake, sleep like a log, sleep in. Homework from the Workbook 6A pages (owner's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pp.58–59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Night night</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Sleep habits and a sleep expert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learn precise sleep expressions (fast asleep, oversleep…)</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sleep expert's bedtime routine</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find out how well you know your partner's sleep habits</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B2 First practice: sleep collocations</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Definitely a night owl – I'm wide awake at midnight and useless at 8 a.m.!</a:t>
            </a:r>
            <a:endParaRPr lang="en-US" sz="1000" dirty="0"/>
          </a:p>
        </p:txBody>
      </p:sp>
      <p:sp>
        <p:nvSpPr>
          <p:cNvPr id="14" name="pf_12"/>
          <p:cNvSpPr/>
          <p:nvPr/>
        </p:nvSpPr>
        <p:spPr>
          <a:xfrm rot="90000">
            <a:off x="5539077" y="777240"/>
            <a:ext cx="2592125" cy="3200400"/>
          </a:xfrm>
          <a:prstGeom prst="roundRect">
            <a:avLst>
              <a:gd name="adj" fmla="val 599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a_moon_jpg_602x748_31.png">    </p:cNvPr>
          <p:cNvPicPr>
            <a:picLocks noChangeAspect="1"/>
          </p:cNvPicPr>
          <p:nvPr/>
        </p:nvPicPr>
        <p:blipFill>
          <a:blip r:embed="rId4"/>
          <a:stretch>
            <a:fillRect/>
          </a:stretch>
        </p:blipFill>
        <p:spPr>
          <a:xfrm rot="90000">
            <a:off x="5584797" y="822960"/>
            <a:ext cx="2500685"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Are you a night owl or an early bird?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Revision · 6A part 1</a:t>
            </a:r>
            <a:endParaRPr lang="en-US" sz="800" dirty="0"/>
          </a:p>
        </p:txBody>
      </p:sp>
      <p:sp>
        <p:nvSpPr>
          <p:cNvPr id="12" name="pf_26"/>
          <p:cNvSpPr/>
          <p:nvPr/>
        </p:nvSpPr>
        <p:spPr>
          <a:xfrm rot="-120000">
            <a:off x="1020749" y="1371600"/>
            <a:ext cx="1341783" cy="1645920"/>
          </a:xfrm>
          <a:prstGeom prst="roundRect">
            <a:avLst>
              <a:gd name="adj" fmla="val 1158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b2_6a_moon_jpg_301x374_31.png">    </p:cNvPr>
          <p:cNvPicPr>
            <a:picLocks noChangeAspect="1"/>
          </p:cNvPicPr>
          <p:nvPr/>
        </p:nvPicPr>
        <p:blipFill>
          <a:blip r:embed="rId5"/>
          <a:stretch>
            <a:fillRect/>
          </a:stretch>
        </p:blipFill>
        <p:spPr>
          <a:xfrm rot="-120000">
            <a:off x="1066469" y="1417320"/>
            <a:ext cx="1250343"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6A part 1: used to, be used to, get used to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sleep pattern article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used to</a:t>
            </a:r>
            <a:endParaRPr lang="en-US" sz="1200" dirty="0"/>
          </a:p>
        </p:txBody>
      </p:sp>
      <p:sp>
        <p:nvSpPr>
          <p:cNvPr id="20" name="w_34"/>
          <p:cNvSpPr/>
          <p:nvPr/>
        </p:nvSpPr>
        <p:spPr>
          <a:xfrm>
            <a:off x="4357116"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would</a:t>
            </a:r>
            <a:endParaRPr lang="en-US" sz="1200" dirty="0"/>
          </a:p>
        </p:txBody>
      </p:sp>
      <p:sp>
        <p:nvSpPr>
          <p:cNvPr id="21" name="w_35"/>
          <p:cNvSpPr/>
          <p:nvPr/>
        </p:nvSpPr>
        <p:spPr>
          <a:xfrm>
            <a:off x="5294376" y="1783080"/>
            <a:ext cx="128016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used to</a:t>
            </a:r>
            <a:endParaRPr lang="en-US" sz="1200" dirty="0"/>
          </a:p>
        </p:txBody>
      </p:sp>
      <p:sp>
        <p:nvSpPr>
          <p:cNvPr id="22" name="w_36"/>
          <p:cNvSpPr/>
          <p:nvPr/>
        </p:nvSpPr>
        <p:spPr>
          <a:xfrm>
            <a:off x="6665976" y="1783080"/>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get used to</a:t>
            </a:r>
            <a:endParaRPr lang="en-US" sz="1200" dirty="0"/>
          </a:p>
        </p:txBody>
      </p:sp>
      <p:sp>
        <p:nvSpPr>
          <p:cNvPr id="23" name="w_37"/>
          <p:cNvSpPr/>
          <p:nvPr/>
        </p:nvSpPr>
        <p:spPr>
          <a:xfrm>
            <a:off x="3246120" y="2185416"/>
            <a:ext cx="1540764"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sleep pattern</a:t>
            </a:r>
            <a:endParaRPr lang="en-US" sz="1200" dirty="0"/>
          </a:p>
        </p:txBody>
      </p:sp>
      <p:sp>
        <p:nvSpPr>
          <p:cNvPr id="24" name="lv_38"/>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5" name="lv_39"/>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6" name="lv_40"/>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7" name="cd_41"/>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8" name="rh_42"/>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used to + verb (past habit)</a:t>
            </a:r>
            <a:endParaRPr lang="en-US" sz="1050" dirty="0"/>
          </a:p>
        </p:txBody>
      </p:sp>
      <p:sp>
        <p:nvSpPr>
          <p:cNvPr id="29" name="R1_rl43"/>
          <p:cNvSpPr/>
          <p:nvPr/>
        </p:nvSpPr>
        <p:spPr>
          <a:xfrm>
            <a:off x="3383280" y="3630168"/>
            <a:ext cx="2482596" cy="1051560"/>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used to</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sleep with a teddy bear.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didn't use to</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have a phone in bed.</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My dad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would</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read me a story.</a:t>
            </a:r>
            <a:endParaRPr lang="en-US" sz="1100" dirty="0"/>
          </a:p>
        </p:txBody>
      </p:sp>
      <p:sp>
        <p:nvSpPr>
          <p:cNvPr id="30" name="cd_44"/>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be / get used to + -ing (new = normal)</a:t>
            </a:r>
            <a:endParaRPr lang="en-US" sz="950" dirty="0"/>
          </a:p>
        </p:txBody>
      </p:sp>
      <p:sp>
        <p:nvSpPr>
          <p:cNvPr id="32" name="rf_46"/>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be used to = normal now · a get used to = becoming normal</a:t>
            </a:r>
            <a:endParaRPr lang="en-US" sz="850" dirty="0"/>
          </a:p>
        </p:txBody>
      </p:sp>
      <p:sp>
        <p:nvSpPr>
          <p:cNvPr id="33" name="R2_rl47"/>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used to getting</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up at 6.</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still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getting used to</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my new timetable.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do YOU sleep?</a:t>
            </a:r>
            <a:endParaRPr lang="en-US" sz="24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52"/>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teacher's questions about YOUR sleep.</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dell'insegnante sul TUO sonno.</a:t>
            </a:r>
            <a:endParaRPr lang="en-US" sz="950" dirty="0"/>
          </a:p>
        </p:txBody>
      </p:sp>
      <p:sp>
        <p:nvSpPr>
          <p:cNvPr id="9" name="note_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Warm-up · your sleep (PQA)</a:t>
            </a:r>
            <a:endParaRPr lang="en-US" sz="800" dirty="0"/>
          </a:p>
        </p:txBody>
      </p:sp>
      <p:sp>
        <p:nvSpPr>
          <p:cNvPr id="12" name="pf_57"/>
          <p:cNvSpPr/>
          <p:nvPr/>
        </p:nvSpPr>
        <p:spPr>
          <a:xfrm rot="-120000">
            <a:off x="1389763" y="1371600"/>
            <a:ext cx="649475" cy="1325880"/>
          </a:xfrm>
          <a:prstGeom prst="roundRect">
            <a:avLst>
              <a:gd name="adj" fmla="val 2393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8" descr="/home/claude/lls-course/v2/cache/b2_6a_clouds_jpg_134x297_31.png">    </p:cNvPr>
          <p:cNvPicPr>
            <a:picLocks noChangeAspect="1"/>
          </p:cNvPicPr>
          <p:nvPr/>
        </p:nvPicPr>
        <p:blipFill>
          <a:blip r:embed="rId5"/>
          <a:stretch>
            <a:fillRect/>
          </a:stretch>
        </p:blipFill>
        <p:spPr>
          <a:xfrm rot="-120000">
            <a:off x="1435483" y="1417320"/>
            <a:ext cx="558035" cy="1234440"/>
          </a:xfrm>
          <a:prstGeom prst="rect">
            <a:avLst/>
          </a:prstGeom>
        </p:spPr>
      </p:pic>
      <p:sp>
        <p:nvSpPr>
          <p:cNvPr id="14" name="cd_59"/>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2"/>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usually… · I hardly ever…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I'm the opposite!</a:t>
            </a:r>
            <a:endParaRPr lang="en-US" sz="1150" dirty="0"/>
          </a:p>
        </p:txBody>
      </p:sp>
      <p:sp>
        <p:nvSpPr>
          <p:cNvPr id="18" name="R1_qb6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time did you go to bed last night? Why so late/early?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About 1 a.m. – I was watching a series.</a:t>
            </a:r>
            <a:endParaRPr lang="en-US" sz="1150" dirty="0"/>
          </a:p>
        </p:txBody>
      </p:sp>
      <p:sp>
        <p:nvSpPr>
          <p:cNvPr id="20" name="R2_qb6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How many hours do you need to feel OK?</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At least 8, or I'm a zombie.</a:t>
            </a:r>
            <a:endParaRPr lang="en-US" sz="1150" dirty="0"/>
          </a:p>
        </p:txBody>
      </p:sp>
      <p:sp>
        <p:nvSpPr>
          <p:cNvPr id="22" name="R3_qb6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 you ever check your phone in bed?</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Every night – I know it's bad!</a:t>
            </a:r>
            <a:endParaRPr lang="en-US" sz="1150" dirty="0"/>
          </a:p>
        </p:txBody>
      </p:sp>
      <p:sp>
        <p:nvSpPr>
          <p:cNvPr id="24" name="R4_qb6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Who in this class is the worst sleeper?</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Marco! He's always yawning.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Sleep words</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the word in English first. Click 1: definition. Click 2: Italian.</a:t>
            </a:r>
            <a:endParaRPr lang="en-US" sz="1100" dirty="0"/>
          </a:p>
        </p:txBody>
      </p:sp>
      <p:sp>
        <p:nvSpPr>
          <p:cNvPr id="8" name="insIT_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in inglese. Clic 1: definizione. Clic 2: italiano.</a:t>
            </a:r>
            <a:endParaRPr lang="en-US" sz="950" dirty="0"/>
          </a:p>
        </p:txBody>
      </p:sp>
      <p:sp>
        <p:nvSpPr>
          <p:cNvPr id="9" name="note_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from the article (SB 4b)   ·   📖 SB p.58 · 4b (definitions: SB key)</a:t>
            </a:r>
            <a:endParaRPr lang="en-US" sz="800" dirty="0"/>
          </a:p>
        </p:txBody>
      </p:sp>
      <p:sp>
        <p:nvSpPr>
          <p:cNvPr id="12" name="cd_80"/>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8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8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yawn /jɔːn/</a:t>
            </a:r>
            <a:endParaRPr lang="en-US" sz="1200" dirty="0"/>
          </a:p>
        </p:txBody>
      </p:sp>
      <p:sp>
        <p:nvSpPr>
          <p:cNvPr id="15" name="R1_def83"/>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open your mouth wide when tired or bored</a:t>
            </a:r>
            <a:endParaRPr lang="en-US" sz="850" dirty="0"/>
          </a:p>
        </p:txBody>
      </p:sp>
      <p:sp>
        <p:nvSpPr>
          <p:cNvPr id="16" name="R2_it84"/>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sbadigliare</a:t>
            </a:r>
            <a:endParaRPr lang="en-US" sz="900" dirty="0"/>
          </a:p>
        </p:txBody>
      </p:sp>
      <p:sp>
        <p:nvSpPr>
          <p:cNvPr id="17" name="cd_85"/>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8" name="e_8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8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nap</a:t>
            </a:r>
            <a:endParaRPr lang="en-US" sz="1200" dirty="0"/>
          </a:p>
        </p:txBody>
      </p:sp>
      <p:sp>
        <p:nvSpPr>
          <p:cNvPr id="20" name="R3_def88"/>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sleep in the day</a:t>
            </a:r>
            <a:endParaRPr lang="en-US" sz="850" dirty="0"/>
          </a:p>
        </p:txBody>
      </p:sp>
      <p:sp>
        <p:nvSpPr>
          <p:cNvPr id="21" name="R4_it89"/>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pisolino</a:t>
            </a:r>
            <a:endParaRPr lang="en-US" sz="900" dirty="0"/>
          </a:p>
        </p:txBody>
      </p:sp>
      <p:sp>
        <p:nvSpPr>
          <p:cNvPr id="22" name="cd_90"/>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9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9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snore /snɔː/</a:t>
            </a:r>
            <a:endParaRPr lang="en-US" sz="1200" dirty="0"/>
          </a:p>
        </p:txBody>
      </p:sp>
      <p:sp>
        <p:nvSpPr>
          <p:cNvPr id="25" name="R5_def93"/>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breathe noisily while asleep</a:t>
            </a:r>
            <a:endParaRPr lang="en-US" sz="850" dirty="0"/>
          </a:p>
        </p:txBody>
      </p:sp>
      <p:sp>
        <p:nvSpPr>
          <p:cNvPr id="26" name="R6_it94"/>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russare</a:t>
            </a:r>
            <a:endParaRPr lang="en-US" sz="900" dirty="0"/>
          </a:p>
        </p:txBody>
      </p:sp>
      <p:sp>
        <p:nvSpPr>
          <p:cNvPr id="27" name="cd_95"/>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8" name="e_9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9" name="en_9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pillow</a:t>
            </a:r>
            <a:endParaRPr lang="en-US" sz="1200" dirty="0"/>
          </a:p>
        </p:txBody>
      </p:sp>
      <p:sp>
        <p:nvSpPr>
          <p:cNvPr id="30" name="R7_def98"/>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rest your head on it</a:t>
            </a:r>
            <a:endParaRPr lang="en-US" sz="850" dirty="0"/>
          </a:p>
        </p:txBody>
      </p:sp>
      <p:sp>
        <p:nvSpPr>
          <p:cNvPr id="31" name="R8_it99"/>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cuscino (del letto)</a:t>
            </a:r>
            <a:endParaRPr lang="en-US" sz="900" dirty="0"/>
          </a:p>
        </p:txBody>
      </p:sp>
      <p:sp>
        <p:nvSpPr>
          <p:cNvPr id="32" name="cd_100"/>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e_101"/>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02"/>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duvet /ˈduːveɪ/</a:t>
            </a:r>
            <a:endParaRPr lang="en-US" sz="1200" dirty="0"/>
          </a:p>
        </p:txBody>
      </p:sp>
      <p:sp>
        <p:nvSpPr>
          <p:cNvPr id="35" name="R9_def103"/>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thick cover filled with feathers</a:t>
            </a:r>
            <a:endParaRPr lang="en-US" sz="850" dirty="0"/>
          </a:p>
        </p:txBody>
      </p:sp>
      <p:sp>
        <p:nvSpPr>
          <p:cNvPr id="36" name="R10_it104"/>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piumone</a:t>
            </a:r>
            <a:endParaRPr lang="en-US" sz="900" dirty="0"/>
          </a:p>
        </p:txBody>
      </p:sp>
      <p:sp>
        <p:nvSpPr>
          <p:cNvPr id="37" name="cd_105"/>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8" name="e_106"/>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07"/>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sheets</a:t>
            </a:r>
            <a:endParaRPr lang="en-US" sz="1200" dirty="0"/>
          </a:p>
        </p:txBody>
      </p:sp>
      <p:sp>
        <p:nvSpPr>
          <p:cNvPr id="40" name="R11_def108"/>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thin cloth you lie on or under</a:t>
            </a:r>
            <a:endParaRPr lang="en-US" sz="850" dirty="0"/>
          </a:p>
        </p:txBody>
      </p:sp>
      <p:sp>
        <p:nvSpPr>
          <p:cNvPr id="41" name="R12_it109"/>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lenzuola</a:t>
            </a:r>
            <a:endParaRPr lang="en-US" sz="900" dirty="0"/>
          </a:p>
        </p:txBody>
      </p:sp>
      <p:sp>
        <p:nvSpPr>
          <p:cNvPr id="42" name="cd_110"/>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3" name="e_111"/>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12"/>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insomnia</a:t>
            </a:r>
            <a:endParaRPr lang="en-US" sz="1200" dirty="0"/>
          </a:p>
        </p:txBody>
      </p:sp>
      <p:sp>
        <p:nvSpPr>
          <p:cNvPr id="45" name="R13_def113"/>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can't sleep</a:t>
            </a:r>
            <a:endParaRPr lang="en-US" sz="850" dirty="0"/>
          </a:p>
        </p:txBody>
      </p:sp>
      <p:sp>
        <p:nvSpPr>
          <p:cNvPr id="46" name="R14_it114"/>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insonnia</a:t>
            </a:r>
            <a:endParaRPr lang="en-US" sz="900" dirty="0"/>
          </a:p>
        </p:txBody>
      </p:sp>
      <p:sp>
        <p:nvSpPr>
          <p:cNvPr id="47" name="cd_115"/>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8" name="e_116"/>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9" name="en_117"/>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sleeping pills</a:t>
            </a:r>
            <a:endParaRPr lang="en-US" sz="1200" dirty="0"/>
          </a:p>
        </p:txBody>
      </p:sp>
      <p:sp>
        <p:nvSpPr>
          <p:cNvPr id="50" name="R15_def118"/>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pills that help you sleep</a:t>
            </a:r>
            <a:endParaRPr lang="en-US" sz="850" dirty="0"/>
          </a:p>
        </p:txBody>
      </p:sp>
      <p:sp>
        <p:nvSpPr>
          <p:cNvPr id="51" name="R16_it119"/>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sonniferi</a:t>
            </a:r>
            <a:endParaRPr lang="en-US" sz="900" dirty="0"/>
          </a:p>
        </p:txBody>
      </p:sp>
      <p:sp>
        <p:nvSpPr>
          <p:cNvPr id="52" name="R17_wc120"/>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3" name="R17_w121"/>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pillow (letto) ≠ cushion (divano)  ·  duvet: silent t /ˈduːveɪ/  ·  yawn /jɔːn/ – not 'yown'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0"/>
                                        </p:tgtEl>
                                        <p:attrNameLst>
                                          <p:attrName>style.visibility</p:attrName>
                                        </p:attrNameLst>
                                      </p:cBhvr>
                                      <p:to>
                                        <p:strVal val="visible"/>
                                      </p:to>
                                    </p:set>
                                    <p:animEffect transition="in" filter="fade">
                                      <p:cBhvr>
                                        <p:cTn id="77" dur="400"/>
                                        <p:tgtEl>
                                          <p:spTgt spid="5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400"/>
                                        <p:tgtEl>
                                          <p:spTgt spid="5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2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each phrase to your partner in English. Then click.</a:t>
            </a:r>
            <a:endParaRPr lang="en-US" sz="1250" dirty="0"/>
          </a:p>
        </p:txBody>
      </p:sp>
      <p:sp>
        <p:nvSpPr>
          <p:cNvPr id="8" name="insIT_1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ogni espressione al compagno in inglese. Poi clicca.</a:t>
            </a:r>
            <a:endParaRPr lang="en-US" sz="950" dirty="0"/>
          </a:p>
        </p:txBody>
      </p:sp>
      <p:sp>
        <p:nvSpPr>
          <p:cNvPr id="9" name="note_12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sleeping habits (SB 4c)   ·   📖 SB p.58 · 4c (answers: SB key)</a:t>
            </a:r>
            <a:endParaRPr lang="en-US" sz="800" dirty="0"/>
          </a:p>
        </p:txBody>
      </p:sp>
      <p:sp>
        <p:nvSpPr>
          <p:cNvPr id="12" name="cd_13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3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be a light sleeper → wake up easily (≠ a heavy sleeper)</a:t>
            </a:r>
            <a:endParaRPr lang="en-US" sz="1050" dirty="0"/>
          </a:p>
        </p:txBody>
      </p:sp>
      <p:sp>
        <p:nvSpPr>
          <p:cNvPr id="16" name="pf_135"/>
          <p:cNvSpPr/>
          <p:nvPr/>
        </p:nvSpPr>
        <p:spPr>
          <a:xfrm rot="-90000">
            <a:off x="817692" y="2569464"/>
            <a:ext cx="1702175" cy="2093976"/>
          </a:xfrm>
          <a:prstGeom prst="roundRect">
            <a:avLst>
              <a:gd name="adj" fmla="val 913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6" descr="/home/claude/lls-course/v2/cache/b2_6a_moon_jpg_388x482_31.png">    </p:cNvPr>
          <p:cNvPicPr>
            <a:picLocks noChangeAspect="1"/>
          </p:cNvPicPr>
          <p:nvPr/>
        </p:nvPicPr>
        <p:blipFill>
          <a:blip r:embed="rId5"/>
          <a:stretch>
            <a:fillRect/>
          </a:stretch>
        </p:blipFill>
        <p:spPr>
          <a:xfrm rot="-90000">
            <a:off x="863412" y="2615184"/>
            <a:ext cx="1610735" cy="2002536"/>
          </a:xfrm>
          <a:prstGeom prst="rect">
            <a:avLst/>
          </a:prstGeom>
        </p:spPr>
      </p:pic>
      <p:sp>
        <p:nvSpPr>
          <p:cNvPr id="18" name="bd_137"/>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38"/>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fall asleep</a:t>
            </a:r>
            <a:endParaRPr lang="en-US" sz="1150" dirty="0"/>
          </a:p>
        </p:txBody>
      </p:sp>
      <p:sp>
        <p:nvSpPr>
          <p:cNvPr id="20" name="R1_chip139"/>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go / get to sleep</a:t>
            </a:r>
            <a:endParaRPr lang="en-US" sz="950" dirty="0"/>
          </a:p>
        </p:txBody>
      </p:sp>
      <p:sp>
        <p:nvSpPr>
          <p:cNvPr id="21" name="bd_140"/>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41"/>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 fast asleep</a:t>
            </a:r>
            <a:endParaRPr lang="en-US" sz="1150" dirty="0"/>
          </a:p>
        </p:txBody>
      </p:sp>
      <p:sp>
        <p:nvSpPr>
          <p:cNvPr id="23" name="R2_chip142"/>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be sleeping deeply</a:t>
            </a:r>
            <a:endParaRPr lang="en-US" sz="950" dirty="0"/>
          </a:p>
        </p:txBody>
      </p:sp>
      <p:sp>
        <p:nvSpPr>
          <p:cNvPr id="24" name="bd_143"/>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44"/>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nightmares</a:t>
            </a:r>
            <a:endParaRPr lang="en-US" sz="1150" dirty="0"/>
          </a:p>
        </p:txBody>
      </p:sp>
      <p:sp>
        <p:nvSpPr>
          <p:cNvPr id="26" name="R3_chip145"/>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have unpleasant or frightening dreams</a:t>
            </a:r>
            <a:endParaRPr lang="en-US" sz="950" dirty="0"/>
          </a:p>
        </p:txBody>
      </p:sp>
      <p:sp>
        <p:nvSpPr>
          <p:cNvPr id="27" name="bd_146"/>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47"/>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keep you awake</a:t>
            </a:r>
            <a:endParaRPr lang="en-US" sz="1150" dirty="0"/>
          </a:p>
        </p:txBody>
      </p:sp>
      <p:sp>
        <p:nvSpPr>
          <p:cNvPr id="29" name="R4_chip148"/>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make you stay awake</a:t>
            </a:r>
            <a:endParaRPr lang="en-US" sz="950" dirty="0"/>
          </a:p>
        </p:txBody>
      </p:sp>
      <p:sp>
        <p:nvSpPr>
          <p:cNvPr id="30" name="bd_149"/>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50"/>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oversleep</a:t>
            </a:r>
            <a:endParaRPr lang="en-US" sz="1150" dirty="0"/>
          </a:p>
        </p:txBody>
      </p:sp>
      <p:sp>
        <p:nvSpPr>
          <p:cNvPr id="32" name="R5_chip151"/>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sleep longer than you intended</a:t>
            </a:r>
            <a:endParaRPr lang="en-US" sz="950" dirty="0"/>
          </a:p>
        </p:txBody>
      </p:sp>
      <p:sp>
        <p:nvSpPr>
          <p:cNvPr id="33" name="bd_152"/>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53"/>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the alarm</a:t>
            </a:r>
            <a:endParaRPr lang="en-US" sz="1150" dirty="0"/>
          </a:p>
        </p:txBody>
      </p:sp>
      <p:sp>
        <p:nvSpPr>
          <p:cNvPr id="35" name="R6_chip154"/>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prepare the alarm to wake you</a:t>
            </a:r>
            <a:endParaRPr lang="en-US" sz="950" dirty="0"/>
          </a:p>
        </p:txBody>
      </p:sp>
      <p:sp>
        <p:nvSpPr>
          <p:cNvPr id="36" name="bd_155"/>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56"/>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 like a log</a:t>
            </a:r>
            <a:endParaRPr lang="en-US" sz="1150" dirty="0"/>
          </a:p>
        </p:txBody>
      </p:sp>
      <p:sp>
        <p:nvSpPr>
          <p:cNvPr id="38" name="R7_chip157"/>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sleep very well, deeply (= come un ghiro)</a:t>
            </a:r>
            <a:endParaRPr lang="en-US" sz="950" dirty="0"/>
          </a:p>
        </p:txBody>
      </p:sp>
      <p:sp>
        <p:nvSpPr>
          <p:cNvPr id="39" name="bd_158"/>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59"/>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sleepwalk</a:t>
            </a:r>
            <a:endParaRPr lang="en-US" sz="1150" dirty="0"/>
          </a:p>
        </p:txBody>
      </p:sp>
      <p:sp>
        <p:nvSpPr>
          <p:cNvPr id="41" name="R8_chip160"/>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walk around while asleep</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sleep race</a:t>
            </a:r>
            <a:endParaRPr lang="en-US" sz="2500" dirty="0"/>
          </a:p>
        </p:txBody>
      </p:sp>
      <p:pic>
        <p:nvPicPr>
          <p:cNvPr id="6" name="brP_164"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65"/>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Cover 4a–c. Fill gaps 1–18 in 4d as fast as you can.</a:t>
            </a:r>
            <a:endParaRPr lang="en-US" sz="1250" dirty="0"/>
          </a:p>
        </p:txBody>
      </p:sp>
      <p:sp>
        <p:nvSpPr>
          <p:cNvPr id="8" name="insIT_1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Copri 4a–c. Completa gli spazi 1–18 del 4d il più veloce possibile.</a:t>
            </a:r>
            <a:endParaRPr lang="en-US" sz="950" dirty="0"/>
          </a:p>
        </p:txBody>
      </p:sp>
      <p:sp>
        <p:nvSpPr>
          <p:cNvPr id="9" name="note_1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1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Game · vocabulary race (SB 4d–e)   ·   📖 SB p.58 · 4d–e · audio 6.8 (answers: SB key)</a:t>
            </a:r>
            <a:endParaRPr lang="en-US" sz="800" dirty="0"/>
          </a:p>
        </p:txBody>
      </p:sp>
      <p:sp>
        <p:nvSpPr>
          <p:cNvPr id="12" name="cd_170"/>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7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173"/>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Book p.58, exercise 4d. Cover a–c.</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GO! Write the missing words 1–18.</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Finished? Hands up! Then listen (6.8) and check.</a:t>
            </a:r>
            <a:endParaRPr lang="en-US" sz="1100" dirty="0"/>
          </a:p>
        </p:txBody>
      </p:sp>
      <p:sp>
        <p:nvSpPr>
          <p:cNvPr id="16" name="ap_174"/>
          <p:cNvSpPr/>
          <p:nvPr/>
        </p:nvSpPr>
        <p:spPr>
          <a:xfrm>
            <a:off x="365760" y="371246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6.8</a:t>
            </a:r>
            <a:endParaRPr lang="en-US" sz="1100" dirty="0"/>
          </a:p>
        </p:txBody>
      </p:sp>
      <p:sp>
        <p:nvSpPr>
          <p:cNvPr id="17" name="ah_17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9" name="ah_17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1" name="bd_177"/>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2" name="gq_178"/>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2–5</a:t>
            </a:r>
            <a:endParaRPr lang="en-US" sz="1250" dirty="0"/>
          </a:p>
        </p:txBody>
      </p:sp>
      <p:sp>
        <p:nvSpPr>
          <p:cNvPr id="23" name="chip_179"/>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yawn · pillow · duvet · sheets, blankets</a:t>
            </a:r>
            <a:endParaRPr lang="en-US" sz="1200" dirty="0"/>
          </a:p>
        </p:txBody>
      </p:sp>
      <p:sp>
        <p:nvSpPr>
          <p:cNvPr id="24" name="bd_180"/>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5" name="gq_181"/>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6–9</a:t>
            </a:r>
            <a:endParaRPr lang="en-US" sz="1250" dirty="0"/>
          </a:p>
        </p:txBody>
      </p:sp>
      <p:sp>
        <p:nvSpPr>
          <p:cNvPr id="26" name="R1_chip182"/>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insomnia · sleeping pills · snore · nap</a:t>
            </a:r>
            <a:endParaRPr lang="en-US" sz="1200" dirty="0"/>
          </a:p>
        </p:txBody>
      </p:sp>
      <p:sp>
        <p:nvSpPr>
          <p:cNvPr id="27" name="bd_183"/>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gq_184"/>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10–13</a:t>
            </a:r>
            <a:endParaRPr lang="en-US" sz="1250" dirty="0"/>
          </a:p>
        </p:txBody>
      </p:sp>
      <p:sp>
        <p:nvSpPr>
          <p:cNvPr id="29" name="R2_chip185"/>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sleeps like a log · light sleeper · have nightmares · keep you awake</a:t>
            </a:r>
            <a:endParaRPr lang="en-US" sz="1200" dirty="0"/>
          </a:p>
        </p:txBody>
      </p:sp>
      <p:sp>
        <p:nvSpPr>
          <p:cNvPr id="30" name="bd_186"/>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gq_187"/>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14–18</a:t>
            </a:r>
            <a:endParaRPr lang="en-US" sz="1250" dirty="0"/>
          </a:p>
        </p:txBody>
      </p:sp>
      <p:sp>
        <p:nvSpPr>
          <p:cNvPr id="32" name="R3_chip188"/>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fast asleep · sleepwalk · set the alarm · oversleep · fall asleep</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8"/>
                                        </p:tgtEl>
                                      </p:cBhvr>
                                    </p:cmd>
                                  </p:childTnLst>
                                </p:cTn>
                              </p:par>
                            </p:childTnLst>
                          </p:cTn>
                        </p:par>
                      </p:childTnLst>
                    </p:cTn>
                  </p:par>
                </p:childTnLst>
              </p:cTn>
              <p:nextCondLst>
                <p:cond evt="onClick" delay="0">
                  <p:tgtEl>
                    <p:spTgt spid="18"/>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audio>
              <p:cMediaNode vol="80000">
                <p:cTn id="28" fill="hold" display="0">
                  <p:stCondLst>
                    <p:cond delay="indefinite"/>
                  </p:stCondLst>
                  <p:endCondLst>
                    <p:cond evt="onStopAudio" delay="0">
                      <p:tgtEl>
                        <p:sldTgt/>
                      </p:tgtEl>
                    </p:cond>
                  </p:endCondLst>
                </p:cTn>
                <p:tgtEl>
                  <p:spTgt spid="18"/>
                </p:tgtEl>
              </p:cMediaNode>
            </p:audio>
            <p:audio>
              <p:cMediaNode vol="80000">
                <p:cTn id="29" fill="hold" display="0">
                  <p:stCondLst>
                    <p:cond delay="indefinite"/>
                  </p:stCondLst>
                  <p:endCondLst>
                    <p:cond evt="onStopAudio" delay="0">
                      <p:tgtEl>
                        <p:sldTgt/>
                      </p:tgtEl>
                    </p:cond>
                  </p:endCondLst>
                </p:cTn>
                <p:tgtEl>
                  <p:spTgt spid="2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quite the same!</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natural option. Say why the other is wrong.</a:t>
            </a:r>
            <a:endParaRPr lang="en-US" sz="1250" dirty="0"/>
          </a:p>
        </p:txBody>
      </p:sp>
      <p:sp>
        <p:nvSpPr>
          <p:cNvPr id="8" name="insIT_1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l'opzione naturale. Spiega perché l'altra è sbagliata.</a:t>
            </a:r>
            <a:endParaRPr lang="en-US" sz="950" dirty="0"/>
          </a:p>
        </p:txBody>
      </p:sp>
      <p:sp>
        <p:nvSpPr>
          <p:cNvPr id="9" name="note_1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precision (B2)</a:t>
            </a:r>
            <a:endParaRPr lang="en-US" sz="800" dirty="0"/>
          </a:p>
        </p:txBody>
      </p:sp>
      <p:sp>
        <p:nvSpPr>
          <p:cNvPr id="12" name="cd_198"/>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01"/>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was so tired I (fell / went) asleep on the sofa. → fell – it wasn't planned</a:t>
            </a:r>
            <a:endParaRPr lang="en-US" sz="1050" dirty="0"/>
          </a:p>
        </p:txBody>
      </p:sp>
      <p:sp>
        <p:nvSpPr>
          <p:cNvPr id="16" name="pf_202"/>
          <p:cNvSpPr/>
          <p:nvPr/>
        </p:nvSpPr>
        <p:spPr>
          <a:xfrm rot="-90000">
            <a:off x="1215901" y="2770632"/>
            <a:ext cx="905757" cy="1892808"/>
          </a:xfrm>
          <a:prstGeom prst="roundRect">
            <a:avLst>
              <a:gd name="adj" fmla="val 1716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3" descr="/home/claude/lls-course/v2/cache/b2_6a_clouds_jpg_196x433_31.png">    </p:cNvPr>
          <p:cNvPicPr>
            <a:picLocks noChangeAspect="1"/>
          </p:cNvPicPr>
          <p:nvPr/>
        </p:nvPicPr>
        <p:blipFill>
          <a:blip r:embed="rId5"/>
          <a:stretch>
            <a:fillRect/>
          </a:stretch>
        </p:blipFill>
        <p:spPr>
          <a:xfrm rot="-90000">
            <a:off x="1261621" y="2816352"/>
            <a:ext cx="814317" cy="1801368"/>
          </a:xfrm>
          <a:prstGeom prst="rect">
            <a:avLst/>
          </a:prstGeom>
        </p:spPr>
      </p:pic>
      <p:sp>
        <p:nvSpPr>
          <p:cNvPr id="18" name="bd_20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0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couldn't (get / fall) to sleep – the party was too loud.</a:t>
            </a:r>
            <a:endParaRPr lang="en-US" sz="900" dirty="0"/>
          </a:p>
        </p:txBody>
      </p:sp>
      <p:sp>
        <p:nvSpPr>
          <p:cNvPr id="20" name="R1_chip20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get to sleep = manage to</a:t>
            </a:r>
            <a:endParaRPr lang="en-US" sz="1050" dirty="0"/>
          </a:p>
        </p:txBody>
      </p:sp>
      <p:sp>
        <p:nvSpPr>
          <p:cNvPr id="21" name="bd_20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0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Shh! The baby's (fast / deep) asleep.</a:t>
            </a:r>
            <a:endParaRPr lang="en-US" sz="900" dirty="0"/>
          </a:p>
        </p:txBody>
      </p:sp>
      <p:sp>
        <p:nvSpPr>
          <p:cNvPr id="23" name="R2_chip20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fast asleep (fixed phrase)</a:t>
            </a:r>
            <a:endParaRPr lang="en-US" sz="1050" dirty="0"/>
          </a:p>
        </p:txBody>
      </p:sp>
      <p:sp>
        <p:nvSpPr>
          <p:cNvPr id="24" name="bd_21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1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After three coffees I was (wide / fast) awake at 2 a.m.</a:t>
            </a:r>
            <a:endParaRPr lang="en-US" sz="900" dirty="0"/>
          </a:p>
        </p:txBody>
      </p:sp>
      <p:sp>
        <p:nvSpPr>
          <p:cNvPr id="26" name="R3_chip21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wide awake</a:t>
            </a:r>
            <a:endParaRPr lang="en-US" sz="1050" dirty="0"/>
          </a:p>
        </p:txBody>
      </p:sp>
      <p:sp>
        <p:nvSpPr>
          <p:cNvPr id="27" name="bd_21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1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(overslept / slept in) and missed the bus.</a:t>
            </a:r>
            <a:endParaRPr lang="en-US" sz="900" dirty="0"/>
          </a:p>
        </p:txBody>
      </p:sp>
      <p:sp>
        <p:nvSpPr>
          <p:cNvPr id="29" name="R4_chip21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overslept – an accident</a:t>
            </a:r>
            <a:endParaRPr lang="en-US" sz="1050" dirty="0"/>
          </a:p>
        </p:txBody>
      </p:sp>
      <p:sp>
        <p:nvSpPr>
          <p:cNvPr id="30" name="bd_21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1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Sunday – I'm going to (oversleep / sleep in)!</a:t>
            </a:r>
            <a:endParaRPr lang="en-US" sz="900" dirty="0"/>
          </a:p>
        </p:txBody>
      </p:sp>
      <p:sp>
        <p:nvSpPr>
          <p:cNvPr id="32" name="R5_chip218"/>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sleep in – on purpose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9"/>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0"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21"/>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night before the exam</a:t>
            </a:r>
            <a:endParaRPr lang="en-US" sz="2500" dirty="0"/>
          </a:p>
        </p:txBody>
      </p:sp>
      <p:pic>
        <p:nvPicPr>
          <p:cNvPr id="6" name="brP_22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2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22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 class story (TPRS)</a:t>
            </a:r>
            <a:endParaRPr lang="en-US" sz="800" dirty="0"/>
          </a:p>
        </p:txBody>
      </p:sp>
      <p:sp>
        <p:nvSpPr>
          <p:cNvPr id="12" name="pf_228"/>
          <p:cNvSpPr/>
          <p:nvPr/>
        </p:nvSpPr>
        <p:spPr>
          <a:xfrm rot="-90000">
            <a:off x="1167848" y="1417320"/>
            <a:ext cx="1047584" cy="1280160"/>
          </a:xfrm>
          <a:prstGeom prst="roundRect">
            <a:avLst>
              <a:gd name="adj" fmla="val 1483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29" descr="/home/claude/lls-course/v2/cache/b2_6a_moon_jpg_230x286_31.png">    </p:cNvPr>
          <p:cNvPicPr>
            <a:picLocks noChangeAspect="1"/>
          </p:cNvPicPr>
          <p:nvPr/>
        </p:nvPicPr>
        <p:blipFill>
          <a:blip r:embed="rId5"/>
          <a:stretch>
            <a:fillRect/>
          </a:stretch>
        </p:blipFill>
        <p:spPr>
          <a:xfrm rot="-90000">
            <a:off x="1213568" y="1463040"/>
            <a:ext cx="956144" cy="1188720"/>
          </a:xfrm>
          <a:prstGeom prst="rect">
            <a:avLst/>
          </a:prstGeom>
        </p:spPr>
      </p:pic>
      <p:sp>
        <p:nvSpPr>
          <p:cNvPr id="14" name="cd_230"/>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31"/>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2"/>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33"/>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be a light sleeper</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wide awake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keep you awake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fall asleep</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oversleep</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sleep like a log</a:t>
            </a:r>
            <a:endParaRPr lang="en-US" sz="850" dirty="0"/>
          </a:p>
        </p:txBody>
      </p:sp>
      <p:sp>
        <p:nvSpPr>
          <p:cNvPr id="18" name="R1_sb234"/>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35"/>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 light sleeper</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and her B2 First exam was at 9 a.m. the next day.</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Giulia a light sleeper or does she sleep like a log? · When was the exam?</a:t>
            </a:r>
            <a:endParaRPr lang="en-US" sz="1000" dirty="0"/>
          </a:p>
        </p:txBody>
      </p:sp>
      <p:sp>
        <p:nvSpPr>
          <p:cNvPr id="20" name="R2_sb236"/>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37"/>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set the alarm</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7, but at midnight she was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wide awake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revising.</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Was she fast asleep or wide awake? · What was she revising? (you decide!)</a:t>
            </a:r>
            <a:endParaRPr lang="en-US" sz="1000" dirty="0"/>
          </a:p>
        </p:txBody>
      </p:sp>
      <p:sp>
        <p:nvSpPr>
          <p:cNvPr id="22" name="R3_sb238"/>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39"/>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snoring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through the wall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kept her awake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until 3 a.m.</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Who was snoring? · What kept her awake? · Until what time?</a:t>
            </a:r>
            <a:endParaRPr lang="en-US" sz="1100" dirty="0"/>
          </a:p>
        </p:txBody>
      </p:sp>
      <p:sp>
        <p:nvSpPr>
          <p:cNvPr id="24" name="R4_sb240"/>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41"/>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last she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fell asleep</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 using her grammar book as a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pillow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fall asleep in bed? · What did she use as a pillow?</a:t>
            </a:r>
            <a:endParaRPr lang="en-US" sz="1150" dirty="0"/>
          </a:p>
        </p:txBody>
      </p:sp>
      <p:sp>
        <p:nvSpPr>
          <p:cNvPr id="26" name="R5_sb242"/>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43"/>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Disaster!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overslept</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 her phone was on silent and the alarm never went off.</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Did she sleep in or oversleep? · Why didn't the alarm go off?</a:t>
            </a:r>
            <a:endParaRPr lang="en-US" sz="900" dirty="0"/>
          </a:p>
        </p:txBody>
      </p:sp>
      <p:sp>
        <p:nvSpPr>
          <p:cNvPr id="28" name="R6_sb244"/>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45"/>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yawned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all through the exam… Her brother? He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sleeps like a log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sleeps like a log? · And you – have you ever overslept on an important day?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4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the expert sleep?</a:t>
            </a:r>
            <a:endParaRPr lang="en-US" sz="25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50"/>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sleep expert's habits: 1 word per gap.</a:t>
            </a:r>
            <a:endParaRPr lang="en-US" sz="1250" dirty="0"/>
          </a:p>
        </p:txBody>
      </p:sp>
      <p:sp>
        <p:nvSpPr>
          <p:cNvPr id="8" name="insIT_2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Il Dr Stanley è un esperto del sonno. Indovina le sue abitudini.</a:t>
            </a:r>
            <a:endParaRPr lang="en-US" sz="950" dirty="0"/>
          </a:p>
        </p:txBody>
      </p:sp>
      <p:sp>
        <p:nvSpPr>
          <p:cNvPr id="9" name="note_25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150" dirty="0"/>
          </a:p>
        </p:txBody>
      </p:sp>
      <p:pic>
        <p:nvPicPr>
          <p:cNvPr id="10"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predict (SB 5a)   ·   📖 SB p.59 · 5a</a:t>
            </a:r>
            <a:endParaRPr lang="en-US" sz="800" dirty="0"/>
          </a:p>
        </p:txBody>
      </p:sp>
      <p:sp>
        <p:nvSpPr>
          <p:cNvPr id="12" name="cd_255"/>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5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58"/>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sleep in a different ___ from my partner. → room?</a:t>
            </a:r>
            <a:endParaRPr lang="en-US" sz="1050" dirty="0"/>
          </a:p>
        </p:txBody>
      </p:sp>
      <p:sp>
        <p:nvSpPr>
          <p:cNvPr id="16" name="pf_259"/>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60" descr="/home/claude/lls-course/v2/cache/b2_6a_stanley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261"/>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62"/>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sleep in a different ___ from my partner.</a:t>
            </a:r>
            <a:endParaRPr lang="en-US" sz="900" dirty="0"/>
          </a:p>
        </p:txBody>
      </p:sp>
      <p:sp>
        <p:nvSpPr>
          <p:cNvPr id="20" name="R1_chip263"/>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
        <p:nvSpPr>
          <p:cNvPr id="21" name="bd_264"/>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65"/>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sleep under natural ___.</a:t>
            </a:r>
            <a:endParaRPr lang="en-US" sz="900" dirty="0"/>
          </a:p>
        </p:txBody>
      </p:sp>
      <p:sp>
        <p:nvSpPr>
          <p:cNvPr id="23" name="R2_chip266"/>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
        <p:nvSpPr>
          <p:cNvPr id="24" name="bd_267"/>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68"/>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I'm obsessive about ___.</a:t>
            </a:r>
            <a:endParaRPr lang="en-US" sz="900" dirty="0"/>
          </a:p>
        </p:txBody>
      </p:sp>
      <p:sp>
        <p:nvSpPr>
          <p:cNvPr id="26" name="R3_chip269"/>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
        <p:nvSpPr>
          <p:cNvPr id="27" name="bd_270"/>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71"/>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sleep with the ___ open.</a:t>
            </a:r>
            <a:endParaRPr lang="en-US" sz="900" dirty="0"/>
          </a:p>
        </p:txBody>
      </p:sp>
      <p:sp>
        <p:nvSpPr>
          <p:cNvPr id="29" name="R4_chip272"/>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
        <p:nvSpPr>
          <p:cNvPr id="30" name="bd_273"/>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74"/>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don't have ___ late. · 6  I drink ___ in the evenings.</a:t>
            </a:r>
            <a:endParaRPr lang="en-US" sz="900" dirty="0"/>
          </a:p>
        </p:txBody>
      </p:sp>
      <p:sp>
        <p:nvSpPr>
          <p:cNvPr id="32" name="R5_chip275"/>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
        <p:nvSpPr>
          <p:cNvPr id="33" name="bd_276"/>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277"/>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need ___ hours' sleep. · 8  I ___ before going to sleep.</a:t>
            </a:r>
            <a:endParaRPr lang="en-US" sz="900" dirty="0"/>
          </a:p>
        </p:txBody>
      </p:sp>
      <p:sp>
        <p:nvSpPr>
          <p:cNvPr id="35" name="R6_chip278"/>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listen and check</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and check</a:t>
            </a:r>
            <a:endParaRPr lang="en-US" sz="2500" dirty="0"/>
          </a:p>
        </p:txBody>
      </p:sp>
      <p:pic>
        <p:nvPicPr>
          <p:cNvPr id="6" name="brP_282"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83"/>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1–8. How many guesses were right?</a:t>
            </a:r>
            <a:endParaRPr lang="en-US" sz="1250" dirty="0"/>
          </a:p>
        </p:txBody>
      </p:sp>
      <p:sp>
        <p:nvSpPr>
          <p:cNvPr id="8" name="insIT_2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1–8. Quante ipotesi erano giuste?</a:t>
            </a:r>
            <a:endParaRPr lang="en-US" sz="950" dirty="0"/>
          </a:p>
        </p:txBody>
      </p:sp>
      <p:sp>
        <p:nvSpPr>
          <p:cNvPr id="9" name="note_2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Dr Stanley (SB 5b)   ·   📖 SB p.59 · 5b · audio 6.9 (answers: SB key)</a:t>
            </a:r>
            <a:endParaRPr lang="en-US" sz="800" dirty="0"/>
          </a:p>
        </p:txBody>
      </p:sp>
      <p:sp>
        <p:nvSpPr>
          <p:cNvPr id="12" name="ap_28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once, then check</a:t>
            </a:r>
            <a:endParaRPr lang="en-US" sz="1100" dirty="0"/>
          </a:p>
        </p:txBody>
      </p:sp>
      <p:sp>
        <p:nvSpPr>
          <p:cNvPr id="13" name="ah_2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91"/>
          <p:cNvSpPr/>
          <p:nvPr/>
        </p:nvSpPr>
        <p:spPr>
          <a:xfrm rot="-90000">
            <a:off x="820544" y="2057400"/>
            <a:ext cx="1879352"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2" descr="/home/claude/lls-course/v2/cache/b2_6a_stanley_jpg_430x407_31.png">    </p:cNvPr>
          <p:cNvPicPr>
            <a:picLocks noChangeAspect="1"/>
          </p:cNvPicPr>
          <p:nvPr/>
        </p:nvPicPr>
        <p:blipFill>
          <a:blip r:embed="rId11"/>
          <a:stretch>
            <a:fillRect/>
          </a:stretch>
        </p:blipFill>
        <p:spPr>
          <a:xfrm rot="-90000">
            <a:off x="866264" y="2103120"/>
            <a:ext cx="1787912" cy="1691640"/>
          </a:xfrm>
          <a:prstGeom prst="rect">
            <a:avLst/>
          </a:prstGeom>
        </p:spPr>
      </p:pic>
      <p:sp>
        <p:nvSpPr>
          <p:cNvPr id="19" name="cd_29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9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9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96"/>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different ___</a:t>
            </a:r>
            <a:endParaRPr lang="en-US" sz="1200" dirty="0"/>
          </a:p>
        </p:txBody>
      </p:sp>
      <p:sp>
        <p:nvSpPr>
          <p:cNvPr id="23" name="R1_chip297"/>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bedroom</a:t>
            </a:r>
            <a:endParaRPr lang="en-US" sz="1200" dirty="0"/>
          </a:p>
        </p:txBody>
      </p:sp>
      <p:sp>
        <p:nvSpPr>
          <p:cNvPr id="24" name="gq_298"/>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natural ___</a:t>
            </a:r>
            <a:endParaRPr lang="en-US" sz="1200" dirty="0"/>
          </a:p>
        </p:txBody>
      </p:sp>
      <p:sp>
        <p:nvSpPr>
          <p:cNvPr id="25" name="R2_chip299"/>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materials</a:t>
            </a:r>
            <a:endParaRPr lang="en-US" sz="1200" dirty="0"/>
          </a:p>
        </p:txBody>
      </p:sp>
      <p:sp>
        <p:nvSpPr>
          <p:cNvPr id="26" name="gq_300"/>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obsessive about ___</a:t>
            </a:r>
            <a:endParaRPr lang="en-US" sz="1200" dirty="0"/>
          </a:p>
        </p:txBody>
      </p:sp>
      <p:sp>
        <p:nvSpPr>
          <p:cNvPr id="27" name="R3_chip301"/>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pillows</a:t>
            </a:r>
            <a:endParaRPr lang="en-US" sz="1200" dirty="0"/>
          </a:p>
        </p:txBody>
      </p:sp>
      <p:sp>
        <p:nvSpPr>
          <p:cNvPr id="28" name="gq_302"/>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___ open</a:t>
            </a:r>
            <a:endParaRPr lang="en-US" sz="1200" dirty="0"/>
          </a:p>
        </p:txBody>
      </p:sp>
      <p:sp>
        <p:nvSpPr>
          <p:cNvPr id="29" name="R4_chip303"/>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30" name="gq_304"/>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___ late</a:t>
            </a:r>
            <a:endParaRPr lang="en-US" sz="1200" dirty="0"/>
          </a:p>
        </p:txBody>
      </p:sp>
      <p:sp>
        <p:nvSpPr>
          <p:cNvPr id="31" name="R5_chip305"/>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dinner</a:t>
            </a:r>
            <a:endParaRPr lang="en-US" sz="1200" dirty="0"/>
          </a:p>
        </p:txBody>
      </p:sp>
      <p:sp>
        <p:nvSpPr>
          <p:cNvPr id="32" name="gq_306"/>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 drink ___</a:t>
            </a:r>
            <a:endParaRPr lang="en-US" sz="1200" dirty="0"/>
          </a:p>
        </p:txBody>
      </p:sp>
      <p:sp>
        <p:nvSpPr>
          <p:cNvPr id="33" name="R6_chip307"/>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coffee</a:t>
            </a:r>
            <a:endParaRPr lang="en-US" sz="1200" dirty="0"/>
          </a:p>
        </p:txBody>
      </p:sp>
      <p:sp>
        <p:nvSpPr>
          <p:cNvPr id="34" name="gq_308"/>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___ hours' sleep</a:t>
            </a:r>
            <a:endParaRPr lang="en-US" sz="1200" dirty="0"/>
          </a:p>
        </p:txBody>
      </p:sp>
      <p:sp>
        <p:nvSpPr>
          <p:cNvPr id="35" name="R7_chip309"/>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9.5</a:t>
            </a:r>
            <a:endParaRPr lang="en-US" sz="1200" dirty="0"/>
          </a:p>
        </p:txBody>
      </p:sp>
      <p:sp>
        <p:nvSpPr>
          <p:cNvPr id="36" name="gq_310"/>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I ___ before sleep</a:t>
            </a:r>
            <a:endParaRPr lang="en-US" sz="1200" dirty="0"/>
          </a:p>
        </p:txBody>
      </p:sp>
      <p:sp>
        <p:nvSpPr>
          <p:cNvPr id="37" name="R8_chip311"/>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read a book</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does he do it?</a:t>
            </a:r>
            <a:endParaRPr lang="en-US" sz="25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316"/>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Explain his reason for each habit.</a:t>
            </a:r>
            <a:endParaRPr lang="en-US" sz="1250" dirty="0"/>
          </a:p>
        </p:txBody>
      </p:sp>
      <p:sp>
        <p:nvSpPr>
          <p:cNvPr id="8" name="insIT_3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Spiega il motivo di ogni abitudine.</a:t>
            </a:r>
            <a:endParaRPr lang="en-US" sz="950" dirty="0"/>
          </a:p>
        </p:txBody>
      </p:sp>
      <p:sp>
        <p:nvSpPr>
          <p:cNvPr id="9" name="note_3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reasons (SB 5c)   ·   📖 SB p.59 · 5c · audio 6.9 (answers: SB key)</a:t>
            </a:r>
            <a:endParaRPr lang="en-US" sz="800" dirty="0"/>
          </a:p>
        </p:txBody>
      </p:sp>
      <p:sp>
        <p:nvSpPr>
          <p:cNvPr id="12" name="ap_32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again</a:t>
            </a:r>
            <a:endParaRPr lang="en-US" sz="1100" dirty="0"/>
          </a:p>
        </p:txBody>
      </p:sp>
      <p:sp>
        <p:nvSpPr>
          <p:cNvPr id="13" name="ah_3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24"/>
          <p:cNvSpPr/>
          <p:nvPr/>
        </p:nvSpPr>
        <p:spPr>
          <a:xfrm rot="-90000">
            <a:off x="1332143" y="2057400"/>
            <a:ext cx="856154" cy="1783080"/>
          </a:xfrm>
          <a:prstGeom prst="roundRect">
            <a:avLst>
              <a:gd name="adj" fmla="val 181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25" descr="/home/claude/lls-course/v2/cache/b2_6a_clouds_jpg_184x407_31.png">    </p:cNvPr>
          <p:cNvPicPr>
            <a:picLocks noChangeAspect="1"/>
          </p:cNvPicPr>
          <p:nvPr/>
        </p:nvPicPr>
        <p:blipFill>
          <a:blip r:embed="rId11"/>
          <a:stretch>
            <a:fillRect/>
          </a:stretch>
        </p:blipFill>
        <p:spPr>
          <a:xfrm rot="-90000">
            <a:off x="1377863" y="2103120"/>
            <a:ext cx="764714" cy="1691640"/>
          </a:xfrm>
          <a:prstGeom prst="rect">
            <a:avLst/>
          </a:prstGeom>
        </p:spPr>
      </p:pic>
      <p:sp>
        <p:nvSpPr>
          <p:cNvPr id="19" name="cd_32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2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2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29"/>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Because then you don't…</a:t>
            </a:r>
            <a:endParaRPr lang="en-US" sz="1200" dirty="0"/>
          </a:p>
        </p:txBody>
      </p:sp>
      <p:sp>
        <p:nvSpPr>
          <p:cNvPr id="23" name="R1_chip330"/>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get disturbed / listen to your partner snoring</a:t>
            </a:r>
            <a:endParaRPr lang="en-US" sz="950" dirty="0"/>
          </a:p>
        </p:txBody>
      </p:sp>
      <p:sp>
        <p:nvSpPr>
          <p:cNvPr id="24" name="gq_331"/>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Because you don't sleep well if…</a:t>
            </a:r>
            <a:endParaRPr lang="en-US" sz="1200" dirty="0"/>
          </a:p>
        </p:txBody>
      </p:sp>
      <p:sp>
        <p:nvSpPr>
          <p:cNvPr id="25" name="R2_chip332"/>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you're really hot (cotton is cooler)</a:t>
            </a:r>
            <a:endParaRPr lang="en-US" sz="950" dirty="0"/>
          </a:p>
        </p:txBody>
      </p:sp>
      <p:sp>
        <p:nvSpPr>
          <p:cNvPr id="26" name="gq_333"/>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Because it's really important to…</a:t>
            </a:r>
            <a:endParaRPr lang="en-US" sz="1200" dirty="0"/>
          </a:p>
        </p:txBody>
      </p:sp>
      <p:sp>
        <p:nvSpPr>
          <p:cNvPr id="27" name="R3_chip334"/>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the right position</a:t>
            </a:r>
            <a:endParaRPr lang="en-US" sz="1000" dirty="0"/>
          </a:p>
        </p:txBody>
      </p:sp>
      <p:sp>
        <p:nvSpPr>
          <p:cNvPr id="28" name="gq_335"/>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Because you need…</a:t>
            </a:r>
            <a:endParaRPr lang="en-US" sz="1200" dirty="0"/>
          </a:p>
        </p:txBody>
      </p:sp>
      <p:sp>
        <p:nvSpPr>
          <p:cNvPr id="29" name="R4_chip336"/>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fresh air, even if it's cold</a:t>
            </a:r>
            <a:endParaRPr lang="en-US" sz="1100" dirty="0"/>
          </a:p>
        </p:txBody>
      </p:sp>
      <p:sp>
        <p:nvSpPr>
          <p:cNvPr id="30" name="gq_337"/>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Because your body…</a:t>
            </a:r>
            <a:endParaRPr lang="en-US" sz="1200" dirty="0"/>
          </a:p>
        </p:txBody>
      </p:sp>
      <p:sp>
        <p:nvSpPr>
          <p:cNvPr id="31" name="R5_chip338"/>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will still be digesting the meal</a:t>
            </a:r>
            <a:endParaRPr lang="en-US" sz="950" dirty="0"/>
          </a:p>
        </p:txBody>
      </p:sp>
      <p:sp>
        <p:nvSpPr>
          <p:cNvPr id="32" name="gq_339"/>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Because he isn't…</a:t>
            </a:r>
            <a:endParaRPr lang="en-US" sz="1200" dirty="0"/>
          </a:p>
        </p:txBody>
      </p:sp>
      <p:sp>
        <p:nvSpPr>
          <p:cNvPr id="33" name="R6_chip340"/>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affected by caffeine</a:t>
            </a:r>
            <a:endParaRPr lang="en-US" sz="1200" dirty="0"/>
          </a:p>
        </p:txBody>
      </p:sp>
      <p:sp>
        <p:nvSpPr>
          <p:cNvPr id="34" name="gq_341"/>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Because that's the amount…</a:t>
            </a:r>
            <a:endParaRPr lang="en-US" sz="1200" dirty="0"/>
          </a:p>
        </p:txBody>
      </p:sp>
      <p:sp>
        <p:nvSpPr>
          <p:cNvPr id="35" name="R7_chip342"/>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that's right for him</a:t>
            </a:r>
            <a:endParaRPr lang="en-US" sz="1200" dirty="0"/>
          </a:p>
        </p:txBody>
      </p:sp>
      <p:sp>
        <p:nvSpPr>
          <p:cNvPr id="36" name="gq_343"/>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Because it's his way of…</a:t>
            </a:r>
            <a:endParaRPr lang="en-US" sz="1200" dirty="0"/>
          </a:p>
        </p:txBody>
      </p:sp>
      <p:sp>
        <p:nvSpPr>
          <p:cNvPr id="37" name="R8_chip344"/>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relaxing before sleep</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47"/>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well do you know your partner?</a:t>
            </a:r>
            <a:endParaRPr lang="en-US" sz="225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49"/>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Predict your partner's answers secretly. Then ask!</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una previsione SEGRETA della risposta del compagno. Poi chiedi.</a:t>
            </a:r>
            <a:endParaRPr lang="en-US" sz="950" dirty="0"/>
          </a:p>
        </p:txBody>
      </p:sp>
      <p:sp>
        <p:nvSpPr>
          <p:cNvPr id="9" name="note_3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10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game · predict your partner (SB 6)   ·   📖 SB p.59 · 6 (question clouds)</a:t>
            </a:r>
            <a:endParaRPr lang="en-US" sz="800" dirty="0"/>
          </a:p>
        </p:txBody>
      </p:sp>
      <p:sp>
        <p:nvSpPr>
          <p:cNvPr id="12" name="cd_354"/>
          <p:cNvSpPr/>
          <p:nvPr/>
        </p:nvSpPr>
        <p:spPr>
          <a:xfrm>
            <a:off x="320040" y="1417320"/>
            <a:ext cx="2697480" cy="2502408"/>
          </a:xfrm>
          <a:prstGeom prst="roundRect">
            <a:avLst>
              <a:gd name="adj" fmla="val 511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57"/>
          <p:cNvSpPr/>
          <p:nvPr/>
        </p:nvSpPr>
        <p:spPr>
          <a:xfrm>
            <a:off x="886968" y="1911096"/>
            <a:ext cx="2039112" cy="1935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green questions · B: red questions (p.59). Choose 4.</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Write your prediction for each one. Hide it!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Ask + 2 follow-ups each. Reveal: 1 point per correct guess.</a:t>
            </a:r>
            <a:endParaRPr lang="en-US" sz="1200" dirty="0"/>
          </a:p>
        </p:txBody>
      </p:sp>
      <p:sp>
        <p:nvSpPr>
          <p:cNvPr id="16" name="bd_358"/>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7" name="gq_359"/>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you a light sleeper, or do you sleep like a log?</a:t>
            </a:r>
            <a:endParaRPr lang="en-US" sz="1200" dirty="0"/>
          </a:p>
        </p:txBody>
      </p:sp>
      <p:sp>
        <p:nvSpPr>
          <p:cNvPr id="18" name="chip_360"/>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bet you sleep like a log! – 'Not at all! The smallest noise wakes me up.'</a:t>
            </a:r>
            <a:endParaRPr lang="en-US" sz="1200" dirty="0"/>
          </a:p>
        </p:txBody>
      </p:sp>
      <p:sp>
        <p:nvSpPr>
          <p:cNvPr id="19" name="bd_361"/>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62"/>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Have you ever overslept and missed something important?</a:t>
            </a:r>
            <a:endParaRPr lang="en-US" sz="1200" dirty="0"/>
          </a:p>
        </p:txBody>
      </p:sp>
      <p:sp>
        <p:nvSpPr>
          <p:cNvPr id="21" name="R1_chip363"/>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Follow-up: What was it? What happened next?</a:t>
            </a:r>
            <a:endParaRPr lang="en-US" sz="1200" dirty="0"/>
          </a:p>
        </p:txBody>
      </p:sp>
      <p:sp>
        <p:nvSpPr>
          <p:cNvPr id="22" name="bd_364"/>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5"/>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ever fall asleep in front of the TV?</a:t>
            </a:r>
            <a:endParaRPr lang="en-US" sz="1200" dirty="0"/>
          </a:p>
        </p:txBody>
      </p:sp>
      <p:sp>
        <p:nvSpPr>
          <p:cNvPr id="24" name="R2_chip366"/>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Follow-up: What were you watching?! How often?</a:t>
            </a:r>
            <a:endParaRPr lang="en-US" sz="1200" dirty="0"/>
          </a:p>
        </p:txBody>
      </p:sp>
      <p:sp>
        <p:nvSpPr>
          <p:cNvPr id="25" name="bd_367"/>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8"/>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Useful: Really? How come? · No way! · Me neither!</a:t>
            </a:r>
            <a:endParaRPr lang="en-US" sz="1200" dirty="0"/>
          </a:p>
        </p:txBody>
      </p:sp>
      <p:sp>
        <p:nvSpPr>
          <p:cNvPr id="27" name="R3_chip369"/>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Challenge: Is that always true, though?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1"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72"/>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B2 First: sleep collocations</a:t>
            </a:r>
            <a:endParaRPr lang="en-US" sz="2500" dirty="0"/>
          </a:p>
        </p:txBody>
      </p:sp>
      <p:pic>
        <p:nvPicPr>
          <p:cNvPr id="6" name="brP_37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7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word in CAPITALS. Write 2–5 words.</a:t>
            </a:r>
            <a:endParaRPr lang="en-US" sz="1250" dirty="0"/>
          </a:p>
        </p:txBody>
      </p:sp>
      <p:sp>
        <p:nvSpPr>
          <p:cNvPr id="8" name="insIT_3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B2 First Parte 4: completa la seconda frase con la parola in MAIUSCOLO (2–5 parole).</a:t>
            </a:r>
            <a:endParaRPr lang="en-US" sz="850" dirty="0"/>
          </a:p>
        </p:txBody>
      </p:sp>
      <p:sp>
        <p:nvSpPr>
          <p:cNvPr id="9" name="note_37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150" dirty="0"/>
          </a:p>
        </p:txBody>
      </p:sp>
      <p:pic>
        <p:nvPicPr>
          <p:cNvPr id="10" name="logo_3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Exam · key word transformation</a:t>
            </a:r>
            <a:endParaRPr lang="en-US" sz="800" dirty="0"/>
          </a:p>
        </p:txBody>
      </p:sp>
      <p:sp>
        <p:nvSpPr>
          <p:cNvPr id="12" name="cd_379"/>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382"/>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woke up too late this morning. OVERSLEPT → I overslept this morning.</a:t>
            </a:r>
            <a:endParaRPr lang="en-US" sz="1050" dirty="0"/>
          </a:p>
        </p:txBody>
      </p:sp>
      <p:sp>
        <p:nvSpPr>
          <p:cNvPr id="16" name="pf_383"/>
          <p:cNvSpPr/>
          <p:nvPr/>
        </p:nvSpPr>
        <p:spPr>
          <a:xfrm rot="-90000">
            <a:off x="898597" y="2770632"/>
            <a:ext cx="1540366" cy="1892808"/>
          </a:xfrm>
          <a:prstGeom prst="roundRect">
            <a:avLst>
              <a:gd name="adj" fmla="val 1009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84" descr="/home/claude/lls-course/v2/cache/b2_6a_moon_jpg_349x433_31.png">    </p:cNvPr>
          <p:cNvPicPr>
            <a:picLocks noChangeAspect="1"/>
          </p:cNvPicPr>
          <p:nvPr/>
        </p:nvPicPr>
        <p:blipFill>
          <a:blip r:embed="rId5"/>
          <a:stretch>
            <a:fillRect/>
          </a:stretch>
        </p:blipFill>
        <p:spPr>
          <a:xfrm rot="-90000">
            <a:off x="944317" y="2816352"/>
            <a:ext cx="1448926" cy="1801368"/>
          </a:xfrm>
          <a:prstGeom prst="rect">
            <a:avLst/>
          </a:prstGeom>
        </p:spPr>
      </p:pic>
      <p:sp>
        <p:nvSpPr>
          <p:cNvPr id="18" name="bd_38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38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00" b="1" dirty="0">
                <a:solidFill>
                  <a:srgbClr val="1B2559"/>
                </a:solidFill>
                <a:latin typeface="Segoe UI Semibold" pitchFamily="34" charset="0"/>
                <a:ea typeface="Segoe UI Semibold" pitchFamily="34" charset="-122"/>
                <a:cs typeface="Segoe UI Semibold" pitchFamily="34" charset="-120"/>
              </a:rPr>
              <a:t>The noise from the street stopped me from sleeping. KEPT → The noise from the street ___ .</a:t>
            </a:r>
            <a:endParaRPr lang="en-US" sz="800" dirty="0"/>
          </a:p>
        </p:txBody>
      </p:sp>
      <p:sp>
        <p:nvSpPr>
          <p:cNvPr id="20" name="R1_chip38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kept me awake</a:t>
            </a:r>
            <a:endParaRPr lang="en-US" sz="1050" dirty="0"/>
          </a:p>
        </p:txBody>
      </p:sp>
      <p:sp>
        <p:nvSpPr>
          <p:cNvPr id="21" name="bd_38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38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find it hard to start sleeping at night. GET → I find it hard ___ at night.</a:t>
            </a:r>
            <a:endParaRPr lang="en-US" sz="900" dirty="0"/>
          </a:p>
        </p:txBody>
      </p:sp>
      <p:sp>
        <p:nvSpPr>
          <p:cNvPr id="23" name="R2_chip39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get to sleep</a:t>
            </a:r>
            <a:endParaRPr lang="en-US" sz="1050" dirty="0"/>
          </a:p>
        </p:txBody>
      </p:sp>
      <p:sp>
        <p:nvSpPr>
          <p:cNvPr id="24" name="bd_39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39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My brother sleeps very deeply. LOG → My brother ___ .</a:t>
            </a:r>
            <a:endParaRPr lang="en-US" sz="900" dirty="0"/>
          </a:p>
        </p:txBody>
      </p:sp>
      <p:sp>
        <p:nvSpPr>
          <p:cNvPr id="26" name="R3_chip39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sleeps like a log</a:t>
            </a:r>
            <a:endParaRPr lang="en-US" sz="1050" dirty="0"/>
          </a:p>
        </p:txBody>
      </p:sp>
      <p:sp>
        <p:nvSpPr>
          <p:cNvPr id="27" name="bd_39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39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smallest noise wakes me up. LIGHT → I'm ___ – the smallest noise wakes me up.</a:t>
            </a:r>
            <a:endParaRPr lang="en-US" sz="900" dirty="0"/>
          </a:p>
        </p:txBody>
      </p:sp>
      <p:sp>
        <p:nvSpPr>
          <p:cNvPr id="29" name="R4_chip39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light sleeper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39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0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0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40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Exit · what can you remember?</a:t>
            </a:r>
            <a:endParaRPr lang="en-US" sz="800" dirty="0"/>
          </a:p>
        </p:txBody>
      </p:sp>
      <p:sp>
        <p:nvSpPr>
          <p:cNvPr id="12" name="bd_40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0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sleep expressions you didn't know before today</a:t>
            </a:r>
            <a:endParaRPr lang="en-US" sz="1400" dirty="0"/>
          </a:p>
        </p:txBody>
      </p:sp>
      <p:sp>
        <p:nvSpPr>
          <p:cNvPr id="14" name="bd_40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0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of Dr Stanley's habits – and his reasons</a:t>
            </a:r>
            <a:endParaRPr lang="en-US" sz="1400" dirty="0"/>
          </a:p>
        </p:txBody>
      </p:sp>
      <p:sp>
        <p:nvSpPr>
          <p:cNvPr id="16" name="bd_41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1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difference: oversleep vs sleep in</a:t>
            </a:r>
            <a:endParaRPr lang="en-US" sz="1400" dirty="0"/>
          </a:p>
        </p:txBody>
      </p:sp>
      <p:sp>
        <p:nvSpPr>
          <p:cNvPr id="18" name="cd_412"/>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1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1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15"/>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Workbook 6A: 3 Vocabulary a–d (sleep)</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Workbook 6A: 2 Pronunciation /s/ and /z/ a–e</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Write 80 words: your ideal bedtime routine (use 5 sleep expressions)</a:t>
            </a:r>
            <a:endParaRPr lang="en-US" sz="1050" dirty="0"/>
          </a:p>
        </p:txBody>
      </p:sp>
      <p:sp>
        <p:nvSpPr>
          <p:cNvPr id="22" name="st_416"/>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6B · Music to my ears · gerunds and infinitives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2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Review · what did you do today?</a:t>
            </a:r>
            <a:endParaRPr lang="en-US" sz="800" dirty="0"/>
          </a:p>
        </p:txBody>
      </p:sp>
      <p:sp>
        <p:nvSpPr>
          <p:cNvPr id="12" name="cd_426"/>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27"/>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28"/>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precise sleep expressions (fast asleep, oversleep…)</a:t>
            </a:r>
            <a:endParaRPr lang="en-US" sz="1350" dirty="0"/>
          </a:p>
        </p:txBody>
      </p:sp>
      <p:sp>
        <p:nvSpPr>
          <p:cNvPr id="15" name="R1_tk429"/>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30"/>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31"/>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32"/>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sleep expert's bedtime routine</a:t>
            </a:r>
            <a:endParaRPr lang="en-US" sz="1350" dirty="0"/>
          </a:p>
        </p:txBody>
      </p:sp>
      <p:sp>
        <p:nvSpPr>
          <p:cNvPr id="19" name="R2_tk433"/>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34"/>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35"/>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36"/>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out how well you know your partner's sleep habits</a:t>
            </a:r>
            <a:endParaRPr lang="en-US" sz="1350" dirty="0"/>
          </a:p>
        </p:txBody>
      </p:sp>
      <p:sp>
        <p:nvSpPr>
          <p:cNvPr id="23" name="R3_tk437"/>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38"/>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39"/>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40"/>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441"/>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442"/>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443"/>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444"/>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B2 First practice: sleep collocations</a:t>
            </a:r>
            <a:endParaRPr lang="en-US" sz="1350" dirty="0"/>
          </a:p>
        </p:txBody>
      </p:sp>
      <p:sp>
        <p:nvSpPr>
          <p:cNvPr id="31" name="R5_tk445"/>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44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6A-2 Night night</dc:title>
  <dc:subject>PptxGenJS Presentation</dc:subject>
  <dc:creator>PptxGenJS</dc:creator>
  <cp:lastModifiedBy>PptxGenJS</cp:lastModifiedBy>
  <cp:revision>1</cp:revision>
  <dcterms:created xsi:type="dcterms:W3CDTF">2026-10-21T09:55:58Z</dcterms:created>
  <dcterms:modified xsi:type="dcterms:W3CDTF">2026-10-21T09:55:58Z</dcterms:modified>
</cp:coreProperties>
</file>