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night owl = person who stays up late; early bird = gets up early. Hands up for each; 2–3 students give a reason. Click: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6A part 1 (3 min)
REVISION (3 min). Pairs say one TRUE sentence per colour about themselves. Correct: 'Did you used to' ✗ → Did you use to; 'I'm used to get up' ✗ → getting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Warm-up · your sleep (PQA) (4 min)
PQA (4 min, teacher-led). Ask several students each question; circle ('So Anna goes to bed at 1 – does Luca go to bed at 1 or at 11? Who goes to bed later?'). Use and write the target collocations naturally as students answer (yawning, nap, fall asleep).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Vocabulary · from the article (SB 4b) (5 min)
VOCABULARY (5 min). Pairs explain each word in English from the article context; click 1 shows the definition (SB key), click 2 the Italian. Drill: yawn, duvet, pillow, insomnia.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Vocabulary · sleeping habits (SB 4c) (4 min)
VOCABULARY (4 min). Pairs explain, click once per line (SB key definitions). Stress: FALL aSLEEP, overSLEEP.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Game · vocabulary race (SB 4d–e) (6 min)
GAME (6 min). Pairs race; note finishing order. Play 6.8 to check (speaker bottom right). Click once per group of answers. Fastest pair with most correct wins. Answers (SB key 4e): 2 yawn 3 pillow 4 duvet 5 sheets, blankets 6 insomnia 7 sleeping pills 8 snore 9 nap 10 sleeps like a log 11 light sleeper 12 have nightmares 13 keep you awake 14 fast asleep 15 sleepwalk 16 set the alarm 17 oversleep 18 fall asleep.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Vocabulary · precision (B2) (4 min)
PRECISION (4 min). Italian 'dormire fino a tardi' covers both oversleep (accident) and sleep in (choice). ✗ deep asleep, ✗ fast awake. Extension: 'When did you last oversleep? What happened?'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Listening · predict (SB 5a) (3 min)
PREDICTION (3 min). Pairs write a guess for every gap – no answers here (rule 1). They keep their guesses for the next slide: 1 point per correct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Listening · Dr Stanley (SB 5b) (5 min)
LISTENING (5 min). Play 6.9 once (🐢 slower copy available). Pairs compare, then click one answer at a time. Answers (SB key): 1 bedroom 2 materials 3 pillows 4 window 5 dinner 6 coffee 7 9.5 8 read a book. Ask: 'Were you surprised? What kind of person is he?'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Listening · reasons (SB 5c) (5 min)
DETAIL (5 min). Play again; pairs explain; click one reason at a time (SB key). 5d extension: 'Which of his habits would you try? Which would you never do? Convince your partner.'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Speaking game · predict your partner (SB 6) (10 min)
SPEAKING GAME (10 min). The book's question clouds become an information gap: secret predictions, then interview. Follow-ups compulsory. Click the model exchanges first (one per click). Monitor and note 4 errors + 4 good collocations for feedback. Students may say 'Pass!' to any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Exam · key word transformation (5 min)
EXAM PRACTICE (5 min). Our own Part 4 items (not from the book) – answers follow from the SB 4c definitions. Strategy: count the words (2–5, contractions count as 2); don't change the key word. Click one answer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Exit · what can you remember? (2 min)
EXIT (2 min). Vocabulary list: yawn, nap, snore, pillow, duvet, sheets, insomnia, sleeping pills, light sleeper, fast asleep, oversleep, keep you awake, sleep like a log, sleep in. Homework from the Workbook 6A pages (owner's photos).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audio" Target="../media/media-6-5.mp3"/><Relationship Id="rId6" Type="http://schemas.microsoft.com/office/2007/relationships/media" Target="../media/media-6-5.mp3"/><Relationship Id="rId7" Type="http://schemas.openxmlformats.org/officeDocument/2006/relationships/image" Target="../media/image-6-7.png"/><Relationship Id="rId8" Type="http://schemas.openxmlformats.org/officeDocument/2006/relationships/audio" Target="../media/media-6-8.mp3"/><Relationship Id="rId9" Type="http://schemas.microsoft.com/office/2007/relationships/media" Target="../media/media-6-8.mp3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audio" Target="../media/media-9-5.mp3"/><Relationship Id="rId6" Type="http://schemas.microsoft.com/office/2007/relationships/media" Target="../media/media-9-5.mp3"/><Relationship Id="rId7" Type="http://schemas.openxmlformats.org/officeDocument/2006/relationships/image" Target="../media/image-9-7.png"/><Relationship Id="rId8" Type="http://schemas.openxmlformats.org/officeDocument/2006/relationships/audio" Target="../media/media-9-8.mp3"/><Relationship Id="rId9" Type="http://schemas.microsoft.com/office/2007/relationships/media" Target="../media/media-9-8.mp3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audio" Target="../media/media-10-5.mp3"/><Relationship Id="rId6" Type="http://schemas.microsoft.com/office/2007/relationships/media" Target="../media/media-10-5.mp3"/><Relationship Id="rId7" Type="http://schemas.openxmlformats.org/officeDocument/2006/relationships/image" Target="../media/image-10-7.png"/><Relationship Id="rId8" Type="http://schemas.openxmlformats.org/officeDocument/2006/relationships/audio" Target="../media/media-10-8.mp3"/><Relationship Id="rId9" Type="http://schemas.microsoft.com/office/2007/relationships/media" Target="../media/media-10-8.mp3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Upper-intermediate · SB pp.58–59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6A-2</a:t>
            </a:r>
            <a:endParaRPr lang="en-US" sz="16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Night night</a:t>
            </a:r>
            <a:endParaRPr lang="en-US" sz="30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Sleep habits and a sleep expert</a:t>
            </a:r>
            <a:endParaRPr lang="en-US" sz="12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24328"/>
            <a:ext cx="3547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😴  learn precise sleep expressions (fast asleep, oversleep…)</a:t>
            </a:r>
            <a:endParaRPr lang="en-US" sz="9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🎧  listen to a sleep expert's bedtime routine</a:t>
            </a:r>
            <a:endParaRPr lang="en-US" sz="9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🗣️  find out how well you know your partner's sleep habits</a:t>
            </a:r>
            <a:endParaRPr lang="en-US" sz="95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 B2 First practice: sleep collocations</a:t>
            </a:r>
            <a:endParaRPr lang="en-US" sz="9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19050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Definitely a night owl – I'm wide awake at midnight and useless at 8 a.m.!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b2_6a_moon_jp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Are you a night owl or an early bird?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07492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4818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 your partner 1 true sentence for each colour.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gli esempi. Poi di' al compagno una frase vera per ogni colore.</a:t>
            </a:r>
            <a:endParaRPr lang="en-US" sz="950" dirty="0"/>
          </a:p>
        </p:txBody>
      </p:sp>
      <p:sp>
        <p:nvSpPr>
          <p:cNvPr id="9" name="cmd_2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24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25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Retrieval</a:t>
            </a:r>
            <a:endParaRPr lang="en-US" sz="850" dirty="0"/>
          </a:p>
        </p:txBody>
      </p:sp>
      <p:pic>
        <p:nvPicPr>
          <p:cNvPr id="12" name="logo_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6A-2 · Revision · 6A part 1</a:t>
            </a:r>
            <a:endParaRPr lang="en-US" sz="800" dirty="0"/>
          </a:p>
        </p:txBody>
      </p:sp>
      <p:sp>
        <p:nvSpPr>
          <p:cNvPr id="14" name="pf_28"/>
          <p:cNvSpPr/>
          <p:nvPr/>
        </p:nvSpPr>
        <p:spPr>
          <a:xfrm rot="-120000">
            <a:off x="365760" y="1371600"/>
            <a:ext cx="2651760" cy="182880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29" descr="/home/claude/lls-course/v2/cache/b2_6a_moon_jpg_616x418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737360"/>
          </a:xfrm>
          <a:prstGeom prst="rect">
            <a:avLst/>
          </a:prstGeom>
        </p:spPr>
      </p:pic>
      <p:sp>
        <p:nvSpPr>
          <p:cNvPr id="16" name="cd_30"/>
          <p:cNvSpPr/>
          <p:nvPr/>
        </p:nvSpPr>
        <p:spPr>
          <a:xfrm>
            <a:off x="320040" y="3383280"/>
            <a:ext cx="2743200" cy="1325880"/>
          </a:xfrm>
          <a:prstGeom prst="roundRect">
            <a:avLst>
              <a:gd name="adj" fmla="val 9655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31"/>
          <p:cNvSpPr/>
          <p:nvPr/>
        </p:nvSpPr>
        <p:spPr>
          <a:xfrm>
            <a:off x="4114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ih_32"/>
          <p:cNvSpPr/>
          <p:nvPr/>
        </p:nvSpPr>
        <p:spPr>
          <a:xfrm>
            <a:off x="886968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9" name="il_33"/>
          <p:cNvSpPr/>
          <p:nvPr/>
        </p:nvSpPr>
        <p:spPr>
          <a:xfrm>
            <a:off x="886968" y="38587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6A part 1: used to, be used to, get used to</a:t>
            </a:r>
            <a:endParaRPr lang="en-US" sz="11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sleep pattern article</a:t>
            </a:r>
            <a:endParaRPr lang="en-US" sz="1100" dirty="0"/>
          </a:p>
        </p:txBody>
      </p:sp>
      <p:sp>
        <p:nvSpPr>
          <p:cNvPr id="20" name="cd_34"/>
          <p:cNvSpPr/>
          <p:nvPr/>
        </p:nvSpPr>
        <p:spPr>
          <a:xfrm>
            <a:off x="324612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h_35"/>
          <p:cNvSpPr/>
          <p:nvPr/>
        </p:nvSpPr>
        <p:spPr>
          <a:xfrm>
            <a:off x="335584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used to + verb (past habit)</a:t>
            </a:r>
            <a:endParaRPr lang="en-US" sz="1200" dirty="0"/>
          </a:p>
        </p:txBody>
      </p:sp>
      <p:sp>
        <p:nvSpPr>
          <p:cNvPr id="22" name="rl_36"/>
          <p:cNvSpPr/>
          <p:nvPr/>
        </p:nvSpPr>
        <p:spPr>
          <a:xfrm>
            <a:off x="338328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used to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sleep with a teddy bear.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didn't use to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have a phone in bed.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dad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would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read me a story.</a:t>
            </a:r>
            <a:endParaRPr lang="en-US" sz="1150" dirty="0"/>
          </a:p>
        </p:txBody>
      </p:sp>
      <p:sp>
        <p:nvSpPr>
          <p:cNvPr id="23" name="cd_37"/>
          <p:cNvSpPr/>
          <p:nvPr/>
        </p:nvSpPr>
        <p:spPr>
          <a:xfrm>
            <a:off x="612648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4" name="rh_38"/>
          <p:cNvSpPr/>
          <p:nvPr/>
        </p:nvSpPr>
        <p:spPr>
          <a:xfrm>
            <a:off x="623620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/ get used to + -ing (new = normal)</a:t>
            </a:r>
            <a:endParaRPr lang="en-US" sz="1100" dirty="0"/>
          </a:p>
        </p:txBody>
      </p:sp>
      <p:sp>
        <p:nvSpPr>
          <p:cNvPr id="25" name="rl_39"/>
          <p:cNvSpPr/>
          <p:nvPr/>
        </p:nvSpPr>
        <p:spPr>
          <a:xfrm>
            <a:off x="626364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used to getting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up at 6.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still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getting used to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my new timetable.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be used to = normal now · get used to = becoming normal</a:t>
            </a:r>
            <a:endParaRPr lang="en-US" sz="1150" dirty="0"/>
          </a:p>
        </p:txBody>
      </p:sp>
      <p:sp>
        <p:nvSpPr>
          <p:cNvPr id="26" name="kw_40"/>
          <p:cNvSpPr/>
          <p:nvPr/>
        </p:nvSpPr>
        <p:spPr>
          <a:xfrm>
            <a:off x="3246120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KEY WORDS</a:t>
            </a:r>
            <a:endParaRPr lang="en-US" sz="1100" dirty="0"/>
          </a:p>
        </p:txBody>
      </p:sp>
      <p:sp>
        <p:nvSpPr>
          <p:cNvPr id="27" name="w_41"/>
          <p:cNvSpPr/>
          <p:nvPr/>
        </p:nvSpPr>
        <p:spPr>
          <a:xfrm>
            <a:off x="3246120" y="4178808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used to</a:t>
            </a:r>
            <a:endParaRPr lang="en-US" sz="1050" dirty="0"/>
          </a:p>
        </p:txBody>
      </p:sp>
      <p:sp>
        <p:nvSpPr>
          <p:cNvPr id="28" name="w_42"/>
          <p:cNvSpPr/>
          <p:nvPr/>
        </p:nvSpPr>
        <p:spPr>
          <a:xfrm>
            <a:off x="4183380" y="4178808"/>
            <a:ext cx="708660" cy="31089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would</a:t>
            </a:r>
            <a:endParaRPr lang="en-US" sz="1050" dirty="0"/>
          </a:p>
        </p:txBody>
      </p:sp>
      <p:sp>
        <p:nvSpPr>
          <p:cNvPr id="29" name="w_43"/>
          <p:cNvSpPr/>
          <p:nvPr/>
        </p:nvSpPr>
        <p:spPr>
          <a:xfrm>
            <a:off x="4965192" y="417880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 used to</a:t>
            </a:r>
            <a:endParaRPr lang="en-US" sz="1050" dirty="0"/>
          </a:p>
        </p:txBody>
      </p:sp>
      <p:sp>
        <p:nvSpPr>
          <p:cNvPr id="30" name="w_44"/>
          <p:cNvSpPr/>
          <p:nvPr/>
        </p:nvSpPr>
        <p:spPr>
          <a:xfrm>
            <a:off x="6135624" y="4178808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 used to</a:t>
            </a:r>
            <a:endParaRPr lang="en-US" sz="1050" dirty="0"/>
          </a:p>
        </p:txBody>
      </p:sp>
      <p:sp>
        <p:nvSpPr>
          <p:cNvPr id="31" name="w_45"/>
          <p:cNvSpPr/>
          <p:nvPr/>
        </p:nvSpPr>
        <p:spPr>
          <a:xfrm>
            <a:off x="7383780" y="4178808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sleep pattern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48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do YOU sleep?</a:t>
            </a:r>
            <a:endParaRPr lang="en-US" sz="2400" dirty="0"/>
          </a:p>
        </p:txBody>
      </p:sp>
      <p:pic>
        <p:nvPicPr>
          <p:cNvPr id="6" name="brP_4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901184" cy="402336"/>
          </a:xfrm>
          <a:prstGeom prst="rect">
            <a:avLst/>
          </a:prstGeom>
        </p:spPr>
      </p:pic>
      <p:sp>
        <p:nvSpPr>
          <p:cNvPr id="7" name="ins_50"/>
          <p:cNvSpPr/>
          <p:nvPr/>
        </p:nvSpPr>
        <p:spPr>
          <a:xfrm>
            <a:off x="1353312" y="731520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 the teacher's questions about YOUR sleep.</a:t>
            </a:r>
            <a:endParaRPr lang="en-US" sz="1250" dirty="0"/>
          </a:p>
        </p:txBody>
      </p:sp>
      <p:sp>
        <p:nvSpPr>
          <p:cNvPr id="8" name="insIT_51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Rispondi alle domande dell'insegnante sul TUO sonno.</a:t>
            </a:r>
            <a:endParaRPr lang="en-US" sz="950" dirty="0"/>
          </a:p>
        </p:txBody>
      </p:sp>
      <p:sp>
        <p:nvSpPr>
          <p:cNvPr id="9" name="cmd_52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53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950" dirty="0"/>
          </a:p>
        </p:txBody>
      </p:sp>
      <p:sp>
        <p:nvSpPr>
          <p:cNvPr id="11" name="tag_54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</a:t>
            </a:r>
            <a:endParaRPr lang="en-US" sz="850" dirty="0"/>
          </a:p>
        </p:txBody>
      </p:sp>
      <p:pic>
        <p:nvPicPr>
          <p:cNvPr id="12" name="logo_5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6A-2 · Warm-up · your sleep (PQA)</a:t>
            </a:r>
            <a:endParaRPr lang="en-US" sz="800" dirty="0"/>
          </a:p>
        </p:txBody>
      </p:sp>
      <p:sp>
        <p:nvSpPr>
          <p:cNvPr id="14" name="pf_57"/>
          <p:cNvSpPr/>
          <p:nvPr/>
        </p:nvSpPr>
        <p:spPr>
          <a:xfrm rot="-120000">
            <a:off x="320040" y="1371600"/>
            <a:ext cx="2788920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58" descr="/home/claude/lls-course/v2/cache/b2_6a_clouds_jpg_649x42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783080"/>
          </a:xfrm>
          <a:prstGeom prst="rect">
            <a:avLst/>
          </a:prstGeom>
        </p:spPr>
      </p:pic>
      <p:sp>
        <p:nvSpPr>
          <p:cNvPr id="16" name="cd_59"/>
          <p:cNvSpPr/>
          <p:nvPr/>
        </p:nvSpPr>
        <p:spPr>
          <a:xfrm>
            <a:off x="320040" y="3429000"/>
            <a:ext cx="2788920" cy="1325880"/>
          </a:xfrm>
          <a:prstGeom prst="roundRect">
            <a:avLst>
              <a:gd name="adj" fmla="val 9655"/>
            </a:avLst>
          </a:prstGeom>
          <a:solidFill>
            <a:srgbClr val="EEE8FB"/>
          </a:solidFill>
          <a:ln w="19050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60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ih_61"/>
          <p:cNvSpPr/>
          <p:nvPr/>
        </p:nvSpPr>
        <p:spPr>
          <a:xfrm>
            <a:off x="8869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9" name="il_62"/>
          <p:cNvSpPr/>
          <p:nvPr/>
        </p:nvSpPr>
        <p:spPr>
          <a:xfrm>
            <a:off x="886968" y="3904488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usually… · I hardly ever…</a:t>
            </a:r>
            <a:endParaRPr lang="en-US" sz="10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depends on…</a:t>
            </a:r>
            <a:endParaRPr lang="en-US" sz="10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Really? I'm the opposite!</a:t>
            </a:r>
            <a:endParaRPr lang="en-US" sz="1050" dirty="0"/>
          </a:p>
        </p:txBody>
      </p:sp>
      <p:sp>
        <p:nvSpPr>
          <p:cNvPr id="20" name="R1_qb63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R1_sq64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time did you go to bed last night? Why so late/early?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About 1 a.m. – I was watching a series.</a:t>
            </a:r>
            <a:endParaRPr lang="en-US" sz="1250" dirty="0"/>
          </a:p>
        </p:txBody>
      </p:sp>
      <p:sp>
        <p:nvSpPr>
          <p:cNvPr id="22" name="R2_qb65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R2_sq66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many hours do you need to feel OK?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At least 8, or I'm a zombie.</a:t>
            </a:r>
            <a:endParaRPr lang="en-US" sz="1250" dirty="0"/>
          </a:p>
        </p:txBody>
      </p:sp>
      <p:sp>
        <p:nvSpPr>
          <p:cNvPr id="24" name="R3_qb67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R3_sq68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ever check your phone in bed?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Every night – I know it's bad!</a:t>
            </a:r>
            <a:endParaRPr lang="en-US" sz="1250" dirty="0"/>
          </a:p>
        </p:txBody>
      </p:sp>
      <p:sp>
        <p:nvSpPr>
          <p:cNvPr id="26" name="R4_qb69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R4_sq70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in this class is the worst sleeper?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Marco! He's always yawning.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7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73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Sleep words</a:t>
            </a:r>
            <a:endParaRPr lang="en-US" sz="2500" dirty="0"/>
          </a:p>
        </p:txBody>
      </p:sp>
      <p:pic>
        <p:nvPicPr>
          <p:cNvPr id="6" name="brP_7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6035040" cy="402336"/>
          </a:xfrm>
          <a:prstGeom prst="rect">
            <a:avLst/>
          </a:prstGeom>
        </p:spPr>
      </p:pic>
      <p:sp>
        <p:nvSpPr>
          <p:cNvPr id="7" name="ins_75"/>
          <p:cNvSpPr/>
          <p:nvPr/>
        </p:nvSpPr>
        <p:spPr>
          <a:xfrm>
            <a:off x="1353312" y="731520"/>
            <a:ext cx="5779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Explain the word in English first. Click 1: definition. Click 2: Italian.</a:t>
            </a:r>
            <a:endParaRPr lang="en-US" sz="1250" dirty="0"/>
          </a:p>
        </p:txBody>
      </p:sp>
      <p:sp>
        <p:nvSpPr>
          <p:cNvPr id="8" name="insIT_76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Spiega la parola in inglese. Clic 1: definizione. Clic 2: italiano.</a:t>
            </a:r>
            <a:endParaRPr lang="en-US" sz="950" dirty="0"/>
          </a:p>
        </p:txBody>
      </p:sp>
      <p:sp>
        <p:nvSpPr>
          <p:cNvPr id="9" name="cmd_77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</a:t>
            </a:r>
            <a:endParaRPr lang="en-US" sz="1100" dirty="0"/>
          </a:p>
        </p:txBody>
      </p:sp>
      <p:sp>
        <p:nvSpPr>
          <p:cNvPr id="10" name="meta_78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1" name="tag_79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meaning</a:t>
            </a:r>
            <a:endParaRPr lang="en-US" sz="850" dirty="0"/>
          </a:p>
        </p:txBody>
      </p:sp>
      <p:pic>
        <p:nvPicPr>
          <p:cNvPr id="12" name="logo_8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8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6A-2 · Vocabulary · from the article (SB 4b)   ·   📖 SB p.58 · 4b (definitions: SB key)</a:t>
            </a:r>
            <a:endParaRPr lang="en-US" sz="800" dirty="0"/>
          </a:p>
        </p:txBody>
      </p:sp>
      <p:sp>
        <p:nvSpPr>
          <p:cNvPr id="14" name="cd_82"/>
          <p:cNvSpPr/>
          <p:nvPr/>
        </p:nvSpPr>
        <p:spPr>
          <a:xfrm>
            <a:off x="320040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e_83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🥱</a:t>
            </a:r>
            <a:endParaRPr lang="en-US" sz="2000" dirty="0"/>
          </a:p>
        </p:txBody>
      </p:sp>
      <p:sp>
        <p:nvSpPr>
          <p:cNvPr id="16" name="en_84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yawn /jɔːn/</a:t>
            </a:r>
            <a:endParaRPr lang="en-US" sz="1200" dirty="0"/>
          </a:p>
        </p:txBody>
      </p:sp>
      <p:sp>
        <p:nvSpPr>
          <p:cNvPr id="17" name="R1_def85"/>
          <p:cNvSpPr/>
          <p:nvPr/>
        </p:nvSpPr>
        <p:spPr>
          <a:xfrm>
            <a:off x="978408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your mouth wide when tired or bored</a:t>
            </a:r>
            <a:endParaRPr lang="en-US" sz="850" dirty="0"/>
          </a:p>
        </p:txBody>
      </p:sp>
      <p:sp>
        <p:nvSpPr>
          <p:cNvPr id="18" name="R2_it86"/>
          <p:cNvSpPr/>
          <p:nvPr/>
        </p:nvSpPr>
        <p:spPr>
          <a:xfrm>
            <a:off x="978408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sbadigliare</a:t>
            </a:r>
            <a:endParaRPr lang="en-US" sz="900" dirty="0"/>
          </a:p>
        </p:txBody>
      </p:sp>
      <p:sp>
        <p:nvSpPr>
          <p:cNvPr id="19" name="cd_87"/>
          <p:cNvSpPr/>
          <p:nvPr/>
        </p:nvSpPr>
        <p:spPr>
          <a:xfrm>
            <a:off x="2487168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e_88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💤</a:t>
            </a:r>
            <a:endParaRPr lang="en-US" sz="2000" dirty="0"/>
          </a:p>
        </p:txBody>
      </p:sp>
      <p:sp>
        <p:nvSpPr>
          <p:cNvPr id="21" name="en_89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nap</a:t>
            </a:r>
            <a:endParaRPr lang="en-US" sz="1200" dirty="0"/>
          </a:p>
        </p:txBody>
      </p:sp>
      <p:sp>
        <p:nvSpPr>
          <p:cNvPr id="22" name="R3_def90"/>
          <p:cNvSpPr/>
          <p:nvPr/>
        </p:nvSpPr>
        <p:spPr>
          <a:xfrm>
            <a:off x="3145536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short sleep in the day</a:t>
            </a:r>
            <a:endParaRPr lang="en-US" sz="850" dirty="0"/>
          </a:p>
        </p:txBody>
      </p:sp>
      <p:sp>
        <p:nvSpPr>
          <p:cNvPr id="23" name="R4_it91"/>
          <p:cNvSpPr/>
          <p:nvPr/>
        </p:nvSpPr>
        <p:spPr>
          <a:xfrm>
            <a:off x="3145536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pisolino</a:t>
            </a:r>
            <a:endParaRPr lang="en-US" sz="900" dirty="0"/>
          </a:p>
        </p:txBody>
      </p:sp>
      <p:sp>
        <p:nvSpPr>
          <p:cNvPr id="24" name="cd_92"/>
          <p:cNvSpPr/>
          <p:nvPr/>
        </p:nvSpPr>
        <p:spPr>
          <a:xfrm>
            <a:off x="4654296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e_93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😪</a:t>
            </a:r>
            <a:endParaRPr lang="en-US" sz="2000" dirty="0"/>
          </a:p>
        </p:txBody>
      </p:sp>
      <p:sp>
        <p:nvSpPr>
          <p:cNvPr id="26" name="en_94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snore /snɔː/</a:t>
            </a:r>
            <a:endParaRPr lang="en-US" sz="1200" dirty="0"/>
          </a:p>
        </p:txBody>
      </p:sp>
      <p:sp>
        <p:nvSpPr>
          <p:cNvPr id="27" name="R5_def95"/>
          <p:cNvSpPr/>
          <p:nvPr/>
        </p:nvSpPr>
        <p:spPr>
          <a:xfrm>
            <a:off x="5312664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breathe noisily while asleep</a:t>
            </a:r>
            <a:endParaRPr lang="en-US" sz="850" dirty="0"/>
          </a:p>
        </p:txBody>
      </p:sp>
      <p:sp>
        <p:nvSpPr>
          <p:cNvPr id="28" name="R6_it96"/>
          <p:cNvSpPr/>
          <p:nvPr/>
        </p:nvSpPr>
        <p:spPr>
          <a:xfrm>
            <a:off x="5312664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russare</a:t>
            </a:r>
            <a:endParaRPr lang="en-US" sz="900" dirty="0"/>
          </a:p>
        </p:txBody>
      </p:sp>
      <p:sp>
        <p:nvSpPr>
          <p:cNvPr id="29" name="cd_97"/>
          <p:cNvSpPr/>
          <p:nvPr/>
        </p:nvSpPr>
        <p:spPr>
          <a:xfrm>
            <a:off x="6821424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0" name="e_98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🛏️</a:t>
            </a:r>
            <a:endParaRPr lang="en-US" sz="2000" dirty="0"/>
          </a:p>
        </p:txBody>
      </p:sp>
      <p:sp>
        <p:nvSpPr>
          <p:cNvPr id="31" name="en_99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pillow</a:t>
            </a:r>
            <a:endParaRPr lang="en-US" sz="1200" dirty="0"/>
          </a:p>
        </p:txBody>
      </p:sp>
      <p:sp>
        <p:nvSpPr>
          <p:cNvPr id="32" name="R7_def100"/>
          <p:cNvSpPr/>
          <p:nvPr/>
        </p:nvSpPr>
        <p:spPr>
          <a:xfrm>
            <a:off x="7479792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rest your head on it</a:t>
            </a:r>
            <a:endParaRPr lang="en-US" sz="850" dirty="0"/>
          </a:p>
        </p:txBody>
      </p:sp>
      <p:sp>
        <p:nvSpPr>
          <p:cNvPr id="33" name="R8_it101"/>
          <p:cNvSpPr/>
          <p:nvPr/>
        </p:nvSpPr>
        <p:spPr>
          <a:xfrm>
            <a:off x="7479792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cuscino (del letto)</a:t>
            </a:r>
            <a:endParaRPr lang="en-US" sz="900" dirty="0"/>
          </a:p>
        </p:txBody>
      </p:sp>
      <p:sp>
        <p:nvSpPr>
          <p:cNvPr id="34" name="cd_102"/>
          <p:cNvSpPr/>
          <p:nvPr/>
        </p:nvSpPr>
        <p:spPr>
          <a:xfrm>
            <a:off x="320040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5" name="e_103"/>
          <p:cNvSpPr/>
          <p:nvPr/>
        </p:nvSpPr>
        <p:spPr>
          <a:xfrm>
            <a:off x="393192" y="253288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🛌</a:t>
            </a:r>
            <a:endParaRPr lang="en-US" sz="2000" dirty="0"/>
          </a:p>
        </p:txBody>
      </p:sp>
      <p:sp>
        <p:nvSpPr>
          <p:cNvPr id="36" name="en_104"/>
          <p:cNvSpPr/>
          <p:nvPr/>
        </p:nvSpPr>
        <p:spPr>
          <a:xfrm>
            <a:off x="978408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duvet /ˈduːveɪ/</a:t>
            </a:r>
            <a:endParaRPr lang="en-US" sz="1200" dirty="0"/>
          </a:p>
        </p:txBody>
      </p:sp>
      <p:sp>
        <p:nvSpPr>
          <p:cNvPr id="37" name="R9_def105"/>
          <p:cNvSpPr/>
          <p:nvPr/>
        </p:nvSpPr>
        <p:spPr>
          <a:xfrm>
            <a:off x="978408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thick cover filled with feathers</a:t>
            </a:r>
            <a:endParaRPr lang="en-US" sz="850" dirty="0"/>
          </a:p>
        </p:txBody>
      </p:sp>
      <p:sp>
        <p:nvSpPr>
          <p:cNvPr id="38" name="R10_it106"/>
          <p:cNvSpPr/>
          <p:nvPr/>
        </p:nvSpPr>
        <p:spPr>
          <a:xfrm>
            <a:off x="978408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piumone</a:t>
            </a:r>
            <a:endParaRPr lang="en-US" sz="900" dirty="0"/>
          </a:p>
        </p:txBody>
      </p:sp>
      <p:sp>
        <p:nvSpPr>
          <p:cNvPr id="39" name="cd_107"/>
          <p:cNvSpPr/>
          <p:nvPr/>
        </p:nvSpPr>
        <p:spPr>
          <a:xfrm>
            <a:off x="2487168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0" name="e_108"/>
          <p:cNvSpPr/>
          <p:nvPr/>
        </p:nvSpPr>
        <p:spPr>
          <a:xfrm>
            <a:off x="2560320" y="253288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📃</a:t>
            </a:r>
            <a:endParaRPr lang="en-US" sz="2000" dirty="0"/>
          </a:p>
        </p:txBody>
      </p:sp>
      <p:sp>
        <p:nvSpPr>
          <p:cNvPr id="41" name="en_109"/>
          <p:cNvSpPr/>
          <p:nvPr/>
        </p:nvSpPr>
        <p:spPr>
          <a:xfrm>
            <a:off x="3145536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sheets</a:t>
            </a:r>
            <a:endParaRPr lang="en-US" sz="1200" dirty="0"/>
          </a:p>
        </p:txBody>
      </p:sp>
      <p:sp>
        <p:nvSpPr>
          <p:cNvPr id="42" name="R11_def110"/>
          <p:cNvSpPr/>
          <p:nvPr/>
        </p:nvSpPr>
        <p:spPr>
          <a:xfrm>
            <a:off x="3145536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 cloth you lie on or under</a:t>
            </a:r>
            <a:endParaRPr lang="en-US" sz="850" dirty="0"/>
          </a:p>
        </p:txBody>
      </p:sp>
      <p:sp>
        <p:nvSpPr>
          <p:cNvPr id="43" name="R12_it111"/>
          <p:cNvSpPr/>
          <p:nvPr/>
        </p:nvSpPr>
        <p:spPr>
          <a:xfrm>
            <a:off x="3145536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lenzuola</a:t>
            </a:r>
            <a:endParaRPr lang="en-US" sz="900" dirty="0"/>
          </a:p>
        </p:txBody>
      </p:sp>
      <p:sp>
        <p:nvSpPr>
          <p:cNvPr id="44" name="cd_112"/>
          <p:cNvSpPr/>
          <p:nvPr/>
        </p:nvSpPr>
        <p:spPr>
          <a:xfrm>
            <a:off x="4654296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5" name="e_113"/>
          <p:cNvSpPr/>
          <p:nvPr/>
        </p:nvSpPr>
        <p:spPr>
          <a:xfrm>
            <a:off x="4727448" y="253288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46" name="en_114"/>
          <p:cNvSpPr/>
          <p:nvPr/>
        </p:nvSpPr>
        <p:spPr>
          <a:xfrm>
            <a:off x="5312664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insomnia</a:t>
            </a:r>
            <a:endParaRPr lang="en-US" sz="1200" dirty="0"/>
          </a:p>
        </p:txBody>
      </p:sp>
      <p:sp>
        <p:nvSpPr>
          <p:cNvPr id="47" name="R13_def115"/>
          <p:cNvSpPr/>
          <p:nvPr/>
        </p:nvSpPr>
        <p:spPr>
          <a:xfrm>
            <a:off x="5312664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can't sleep</a:t>
            </a:r>
            <a:endParaRPr lang="en-US" sz="850" dirty="0"/>
          </a:p>
        </p:txBody>
      </p:sp>
      <p:sp>
        <p:nvSpPr>
          <p:cNvPr id="48" name="R14_it116"/>
          <p:cNvSpPr/>
          <p:nvPr/>
        </p:nvSpPr>
        <p:spPr>
          <a:xfrm>
            <a:off x="5312664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insonnia</a:t>
            </a:r>
            <a:endParaRPr lang="en-US" sz="900" dirty="0"/>
          </a:p>
        </p:txBody>
      </p:sp>
      <p:sp>
        <p:nvSpPr>
          <p:cNvPr id="49" name="cd_117"/>
          <p:cNvSpPr/>
          <p:nvPr/>
        </p:nvSpPr>
        <p:spPr>
          <a:xfrm>
            <a:off x="6821424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0" name="e_118"/>
          <p:cNvSpPr/>
          <p:nvPr/>
        </p:nvSpPr>
        <p:spPr>
          <a:xfrm>
            <a:off x="6894576" y="253288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💊</a:t>
            </a:r>
            <a:endParaRPr lang="en-US" sz="2000" dirty="0"/>
          </a:p>
        </p:txBody>
      </p:sp>
      <p:sp>
        <p:nvSpPr>
          <p:cNvPr id="51" name="en_119"/>
          <p:cNvSpPr/>
          <p:nvPr/>
        </p:nvSpPr>
        <p:spPr>
          <a:xfrm>
            <a:off x="7479792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sleeping pills</a:t>
            </a:r>
            <a:endParaRPr lang="en-US" sz="1200" dirty="0"/>
          </a:p>
        </p:txBody>
      </p:sp>
      <p:sp>
        <p:nvSpPr>
          <p:cNvPr id="52" name="R15_def120"/>
          <p:cNvSpPr/>
          <p:nvPr/>
        </p:nvSpPr>
        <p:spPr>
          <a:xfrm>
            <a:off x="7479792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pills that help you sleep</a:t>
            </a:r>
            <a:endParaRPr lang="en-US" sz="850" dirty="0"/>
          </a:p>
        </p:txBody>
      </p:sp>
      <p:sp>
        <p:nvSpPr>
          <p:cNvPr id="53" name="R16_it121"/>
          <p:cNvSpPr/>
          <p:nvPr/>
        </p:nvSpPr>
        <p:spPr>
          <a:xfrm>
            <a:off x="7479792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sonniferi</a:t>
            </a:r>
            <a:endParaRPr lang="en-US" sz="900" dirty="0"/>
          </a:p>
        </p:txBody>
      </p:sp>
      <p:sp>
        <p:nvSpPr>
          <p:cNvPr id="54" name="R17_wc122"/>
          <p:cNvSpPr/>
          <p:nvPr/>
        </p:nvSpPr>
        <p:spPr>
          <a:xfrm>
            <a:off x="320040" y="3474720"/>
            <a:ext cx="8549640" cy="457200"/>
          </a:xfrm>
          <a:prstGeom prst="roundRect">
            <a:avLst>
              <a:gd name="adj" fmla="val 28000"/>
            </a:avLst>
          </a:prstGeom>
          <a:solidFill>
            <a:srgbClr val="FFE3EE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5" name="R17_w123"/>
          <p:cNvSpPr/>
          <p:nvPr/>
        </p:nvSpPr>
        <p:spPr>
          <a:xfrm>
            <a:off x="457200" y="34747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Watch out!  pillow (letto) ≠ cushion (divano)  ·  duvet: silent t /ˈduːveɪ/  ·  yawn /jɔːn/ – not 'yown'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2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2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126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 they mean?</a:t>
            </a:r>
            <a:endParaRPr lang="en-US" sz="2400" dirty="0"/>
          </a:p>
        </p:txBody>
      </p:sp>
      <p:pic>
        <p:nvPicPr>
          <p:cNvPr id="6" name="brP_12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856732" cy="402336"/>
          </a:xfrm>
          <a:prstGeom prst="rect">
            <a:avLst/>
          </a:prstGeom>
        </p:spPr>
      </p:pic>
      <p:sp>
        <p:nvSpPr>
          <p:cNvPr id="7" name="ins_128"/>
          <p:cNvSpPr/>
          <p:nvPr/>
        </p:nvSpPr>
        <p:spPr>
          <a:xfrm>
            <a:off x="1353312" y="731520"/>
            <a:ext cx="5600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Explain each phrase to your partner in English. Then click.</a:t>
            </a:r>
            <a:endParaRPr lang="en-US" sz="1250" dirty="0"/>
          </a:p>
        </p:txBody>
      </p:sp>
      <p:sp>
        <p:nvSpPr>
          <p:cNvPr id="8" name="insIT_129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Spiega ogni espressione al compagno in inglese. Poi clicca.</a:t>
            </a:r>
            <a:endParaRPr lang="en-US" sz="950" dirty="0"/>
          </a:p>
        </p:txBody>
      </p:sp>
      <p:sp>
        <p:nvSpPr>
          <p:cNvPr id="9" name="cmd_13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131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132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Controlled practice</a:t>
            </a:r>
            <a:endParaRPr lang="en-US" sz="850" dirty="0"/>
          </a:p>
        </p:txBody>
      </p:sp>
      <p:pic>
        <p:nvPicPr>
          <p:cNvPr id="12" name="logo_13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3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6A-2 · Vocabulary · sleeping habits (SB 4c)   ·   📖 SB p.58 · 4c (answers: SB key)</a:t>
            </a:r>
            <a:endParaRPr lang="en-US" sz="800" dirty="0"/>
          </a:p>
        </p:txBody>
      </p:sp>
      <p:sp>
        <p:nvSpPr>
          <p:cNvPr id="14" name="cd_135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136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137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138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be a light sleeper → wake up easily (≠ a heavy sleeper)</a:t>
            </a:r>
            <a:endParaRPr lang="en-US" sz="1050" dirty="0"/>
          </a:p>
        </p:txBody>
      </p:sp>
      <p:sp>
        <p:nvSpPr>
          <p:cNvPr id="18" name="pf_139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140" descr="/home/claude/lls-course/v2/cache/b2_6a_moon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0" name="bd_141"/>
          <p:cNvSpPr/>
          <p:nvPr/>
        </p:nvSpPr>
        <p:spPr>
          <a:xfrm>
            <a:off x="3246120" y="14447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142"/>
          <p:cNvSpPr/>
          <p:nvPr/>
        </p:nvSpPr>
        <p:spPr>
          <a:xfrm>
            <a:off x="3630168" y="14173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fall asleep</a:t>
            </a:r>
            <a:endParaRPr lang="en-US" sz="1150" dirty="0"/>
          </a:p>
        </p:txBody>
      </p:sp>
      <p:sp>
        <p:nvSpPr>
          <p:cNvPr id="22" name="R1_chip143"/>
          <p:cNvSpPr/>
          <p:nvPr/>
        </p:nvSpPr>
        <p:spPr>
          <a:xfrm>
            <a:off x="5806440" y="14173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 / get to sleep</a:t>
            </a:r>
            <a:endParaRPr lang="en-US" sz="1000" dirty="0"/>
          </a:p>
        </p:txBody>
      </p:sp>
      <p:sp>
        <p:nvSpPr>
          <p:cNvPr id="23" name="bd_144"/>
          <p:cNvSpPr/>
          <p:nvPr/>
        </p:nvSpPr>
        <p:spPr>
          <a:xfrm>
            <a:off x="3246120" y="185623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145"/>
          <p:cNvSpPr/>
          <p:nvPr/>
        </p:nvSpPr>
        <p:spPr>
          <a:xfrm>
            <a:off x="3630168" y="18288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 fast asleep</a:t>
            </a:r>
            <a:endParaRPr lang="en-US" sz="1150" dirty="0"/>
          </a:p>
        </p:txBody>
      </p:sp>
      <p:sp>
        <p:nvSpPr>
          <p:cNvPr id="25" name="R2_chip146"/>
          <p:cNvSpPr/>
          <p:nvPr/>
        </p:nvSpPr>
        <p:spPr>
          <a:xfrm>
            <a:off x="5806440" y="18288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 sleeping deeply</a:t>
            </a:r>
            <a:endParaRPr lang="en-US" sz="1000" dirty="0"/>
          </a:p>
        </p:txBody>
      </p:sp>
      <p:sp>
        <p:nvSpPr>
          <p:cNvPr id="26" name="bd_147"/>
          <p:cNvSpPr/>
          <p:nvPr/>
        </p:nvSpPr>
        <p:spPr>
          <a:xfrm>
            <a:off x="3246120" y="22677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148"/>
          <p:cNvSpPr/>
          <p:nvPr/>
        </p:nvSpPr>
        <p:spPr>
          <a:xfrm>
            <a:off x="3630168" y="22402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nightmares</a:t>
            </a:r>
            <a:endParaRPr lang="en-US" sz="1150" dirty="0"/>
          </a:p>
        </p:txBody>
      </p:sp>
      <p:sp>
        <p:nvSpPr>
          <p:cNvPr id="28" name="R3_chip149"/>
          <p:cNvSpPr/>
          <p:nvPr/>
        </p:nvSpPr>
        <p:spPr>
          <a:xfrm>
            <a:off x="5806440" y="22402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unpleasant or frightening dreams</a:t>
            </a:r>
            <a:endParaRPr lang="en-US" sz="1000" dirty="0"/>
          </a:p>
        </p:txBody>
      </p:sp>
      <p:sp>
        <p:nvSpPr>
          <p:cNvPr id="29" name="bd_150"/>
          <p:cNvSpPr/>
          <p:nvPr/>
        </p:nvSpPr>
        <p:spPr>
          <a:xfrm>
            <a:off x="3246120" y="267919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151"/>
          <p:cNvSpPr/>
          <p:nvPr/>
        </p:nvSpPr>
        <p:spPr>
          <a:xfrm>
            <a:off x="3630168" y="265176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keep you awake</a:t>
            </a:r>
            <a:endParaRPr lang="en-US" sz="1150" dirty="0"/>
          </a:p>
        </p:txBody>
      </p:sp>
      <p:sp>
        <p:nvSpPr>
          <p:cNvPr id="31" name="R4_chip152"/>
          <p:cNvSpPr/>
          <p:nvPr/>
        </p:nvSpPr>
        <p:spPr>
          <a:xfrm>
            <a:off x="5806440" y="265176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you stay awake</a:t>
            </a:r>
            <a:endParaRPr lang="en-US" sz="1000" dirty="0"/>
          </a:p>
        </p:txBody>
      </p:sp>
      <p:sp>
        <p:nvSpPr>
          <p:cNvPr id="32" name="bd_153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q_154"/>
          <p:cNvSpPr/>
          <p:nvPr/>
        </p:nvSpPr>
        <p:spPr>
          <a:xfrm>
            <a:off x="3630168" y="306324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oversleep</a:t>
            </a:r>
            <a:endParaRPr lang="en-US" sz="1150" dirty="0"/>
          </a:p>
        </p:txBody>
      </p:sp>
      <p:sp>
        <p:nvSpPr>
          <p:cNvPr id="34" name="R5_chip155"/>
          <p:cNvSpPr/>
          <p:nvPr/>
        </p:nvSpPr>
        <p:spPr>
          <a:xfrm>
            <a:off x="5806440" y="306324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sleep longer than you intended</a:t>
            </a:r>
            <a:endParaRPr lang="en-US" sz="1000" dirty="0"/>
          </a:p>
        </p:txBody>
      </p:sp>
      <p:sp>
        <p:nvSpPr>
          <p:cNvPr id="35" name="bd_156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q_157"/>
          <p:cNvSpPr/>
          <p:nvPr/>
        </p:nvSpPr>
        <p:spPr>
          <a:xfrm>
            <a:off x="3630168" y="34747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 the alarm</a:t>
            </a:r>
            <a:endParaRPr lang="en-US" sz="1150" dirty="0"/>
          </a:p>
        </p:txBody>
      </p:sp>
      <p:sp>
        <p:nvSpPr>
          <p:cNvPr id="37" name="R6_chip158"/>
          <p:cNvSpPr/>
          <p:nvPr/>
        </p:nvSpPr>
        <p:spPr>
          <a:xfrm>
            <a:off x="5806440" y="34747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prepare the alarm to wake you</a:t>
            </a:r>
            <a:endParaRPr lang="en-US" sz="1000" dirty="0"/>
          </a:p>
        </p:txBody>
      </p:sp>
      <p:sp>
        <p:nvSpPr>
          <p:cNvPr id="38" name="bd_159"/>
          <p:cNvSpPr/>
          <p:nvPr/>
        </p:nvSpPr>
        <p:spPr>
          <a:xfrm>
            <a:off x="3246120" y="391363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q_160"/>
          <p:cNvSpPr/>
          <p:nvPr/>
        </p:nvSpPr>
        <p:spPr>
          <a:xfrm>
            <a:off x="3630168" y="38862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sleep like a log</a:t>
            </a:r>
            <a:endParaRPr lang="en-US" sz="1150" dirty="0"/>
          </a:p>
        </p:txBody>
      </p:sp>
      <p:sp>
        <p:nvSpPr>
          <p:cNvPr id="40" name="R7_chip161"/>
          <p:cNvSpPr/>
          <p:nvPr/>
        </p:nvSpPr>
        <p:spPr>
          <a:xfrm>
            <a:off x="5806440" y="38862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sleep very well, deeply (= come un ghiro)</a:t>
            </a:r>
            <a:endParaRPr lang="en-US" sz="1000" dirty="0"/>
          </a:p>
        </p:txBody>
      </p:sp>
      <p:sp>
        <p:nvSpPr>
          <p:cNvPr id="41" name="bd_162"/>
          <p:cNvSpPr/>
          <p:nvPr/>
        </p:nvSpPr>
        <p:spPr>
          <a:xfrm>
            <a:off x="3246120" y="432511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42" name="q_163"/>
          <p:cNvSpPr/>
          <p:nvPr/>
        </p:nvSpPr>
        <p:spPr>
          <a:xfrm>
            <a:off x="3630168" y="42976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sleepwalk</a:t>
            </a:r>
            <a:endParaRPr lang="en-US" sz="1150" dirty="0"/>
          </a:p>
        </p:txBody>
      </p:sp>
      <p:sp>
        <p:nvSpPr>
          <p:cNvPr id="43" name="R8_chip164"/>
          <p:cNvSpPr/>
          <p:nvPr/>
        </p:nvSpPr>
        <p:spPr>
          <a:xfrm>
            <a:off x="5806440" y="42976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walk around while asleep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6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6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167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sleep race</a:t>
            </a:r>
            <a:endParaRPr lang="en-US" sz="2500" dirty="0"/>
          </a:p>
        </p:txBody>
      </p:sp>
      <p:pic>
        <p:nvPicPr>
          <p:cNvPr id="6" name="brP_16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48656" cy="402336"/>
          </a:xfrm>
          <a:prstGeom prst="rect">
            <a:avLst/>
          </a:prstGeom>
        </p:spPr>
      </p:pic>
      <p:sp>
        <p:nvSpPr>
          <p:cNvPr id="7" name="ins_169"/>
          <p:cNvSpPr/>
          <p:nvPr/>
        </p:nvSpPr>
        <p:spPr>
          <a:xfrm>
            <a:off x="1353312" y="73152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Cover 4a–c. Fill gaps 1–18 in 4d as fast as you can.</a:t>
            </a:r>
            <a:endParaRPr lang="en-US" sz="1250" dirty="0"/>
          </a:p>
        </p:txBody>
      </p:sp>
      <p:sp>
        <p:nvSpPr>
          <p:cNvPr id="8" name="insIT_170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Copri 4a–c. Completa gli spazi 1–18 del 4d il più veloce possibile.</a:t>
            </a:r>
            <a:endParaRPr lang="en-US" sz="950" dirty="0"/>
          </a:p>
        </p:txBody>
      </p:sp>
      <p:sp>
        <p:nvSpPr>
          <p:cNvPr id="9" name="cmd_171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172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950" dirty="0"/>
          </a:p>
        </p:txBody>
      </p:sp>
      <p:sp>
        <p:nvSpPr>
          <p:cNvPr id="11" name="tag_173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2" name="logo_17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7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6A-2 · Game · vocabulary race (SB 4d–e)   ·   📖 SB p.58 · 4d–e · audio 6.8 (answers: SB key)</a:t>
            </a:r>
            <a:endParaRPr lang="en-US" sz="800" dirty="0"/>
          </a:p>
        </p:txBody>
      </p:sp>
      <p:sp>
        <p:nvSpPr>
          <p:cNvPr id="14" name="cd_176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17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17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179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p.58, exercise 4d. Cover a–c.</a:t>
            </a:r>
            <a:endParaRPr lang="en-US" sz="9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Libro p.58, esercizio 4d. Coprite a–c.</a:t>
            </a:r>
            <a:endParaRPr lang="en-US" sz="95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GO! Write the missing words 1–18.</a:t>
            </a:r>
            <a:endParaRPr lang="en-US" sz="9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VIA! Scrivete le parole 1–18.</a:t>
            </a:r>
            <a:endParaRPr lang="en-US" sz="95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Finished? Hands up! Then listen (6.8) and check.</a:t>
            </a:r>
            <a:endParaRPr lang="en-US" sz="9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Finito? Mano alzata! Poi ascoltate (6.8) e controllate.</a:t>
            </a:r>
            <a:endParaRPr lang="en-US" sz="950" dirty="0"/>
          </a:p>
        </p:txBody>
      </p:sp>
      <p:sp>
        <p:nvSpPr>
          <p:cNvPr id="18" name="ap_180"/>
          <p:cNvSpPr/>
          <p:nvPr/>
        </p:nvSpPr>
        <p:spPr>
          <a:xfrm>
            <a:off x="365760" y="370332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6.8</a:t>
            </a:r>
            <a:endParaRPr lang="en-US" sz="1100" dirty="0"/>
          </a:p>
        </p:txBody>
      </p:sp>
      <p:sp>
        <p:nvSpPr>
          <p:cNvPr id="19" name="ah_181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20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21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22" name="bd_182"/>
          <p:cNvSpPr/>
          <p:nvPr/>
        </p:nvSpPr>
        <p:spPr>
          <a:xfrm>
            <a:off x="3246120" y="1508760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gq_183"/>
          <p:cNvSpPr/>
          <p:nvPr/>
        </p:nvSpPr>
        <p:spPr>
          <a:xfrm>
            <a:off x="3657600" y="1417320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2–5</a:t>
            </a:r>
            <a:endParaRPr lang="en-US" sz="1100" dirty="0"/>
          </a:p>
        </p:txBody>
      </p:sp>
      <p:sp>
        <p:nvSpPr>
          <p:cNvPr id="24" name="R1_chip184"/>
          <p:cNvSpPr/>
          <p:nvPr/>
        </p:nvSpPr>
        <p:spPr>
          <a:xfrm>
            <a:off x="6263640" y="1417320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yawn · pillow · duvet · sheets, blankets</a:t>
            </a:r>
            <a:endParaRPr lang="en-US" sz="1100" dirty="0"/>
          </a:p>
        </p:txBody>
      </p:sp>
      <p:sp>
        <p:nvSpPr>
          <p:cNvPr id="25" name="bd_185"/>
          <p:cNvSpPr/>
          <p:nvPr/>
        </p:nvSpPr>
        <p:spPr>
          <a:xfrm>
            <a:off x="3246120" y="2084832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gq_186"/>
          <p:cNvSpPr/>
          <p:nvPr/>
        </p:nvSpPr>
        <p:spPr>
          <a:xfrm>
            <a:off x="3657600" y="1993392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6–9</a:t>
            </a:r>
            <a:endParaRPr lang="en-US" sz="1100" dirty="0"/>
          </a:p>
        </p:txBody>
      </p:sp>
      <p:sp>
        <p:nvSpPr>
          <p:cNvPr id="27" name="R2_chip187"/>
          <p:cNvSpPr/>
          <p:nvPr/>
        </p:nvSpPr>
        <p:spPr>
          <a:xfrm>
            <a:off x="6263640" y="1993392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insomnia · sleeping pills · snore · nap</a:t>
            </a:r>
            <a:endParaRPr lang="en-US" sz="1100" dirty="0"/>
          </a:p>
        </p:txBody>
      </p:sp>
      <p:sp>
        <p:nvSpPr>
          <p:cNvPr id="28" name="bd_188"/>
          <p:cNvSpPr/>
          <p:nvPr/>
        </p:nvSpPr>
        <p:spPr>
          <a:xfrm>
            <a:off x="3246120" y="266090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gq_189"/>
          <p:cNvSpPr/>
          <p:nvPr/>
        </p:nvSpPr>
        <p:spPr>
          <a:xfrm>
            <a:off x="3657600" y="2569464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10–13</a:t>
            </a:r>
            <a:endParaRPr lang="en-US" sz="1100" dirty="0"/>
          </a:p>
        </p:txBody>
      </p:sp>
      <p:sp>
        <p:nvSpPr>
          <p:cNvPr id="30" name="R3_chip190"/>
          <p:cNvSpPr/>
          <p:nvPr/>
        </p:nvSpPr>
        <p:spPr>
          <a:xfrm>
            <a:off x="6263640" y="2569464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sleeps like a log · light sleeper · have nightmares · keep you awake</a:t>
            </a:r>
            <a:endParaRPr lang="en-US" sz="1000" dirty="0"/>
          </a:p>
        </p:txBody>
      </p:sp>
      <p:sp>
        <p:nvSpPr>
          <p:cNvPr id="31" name="bd_191"/>
          <p:cNvSpPr/>
          <p:nvPr/>
        </p:nvSpPr>
        <p:spPr>
          <a:xfrm>
            <a:off x="3246120" y="3236976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gq_192"/>
          <p:cNvSpPr/>
          <p:nvPr/>
        </p:nvSpPr>
        <p:spPr>
          <a:xfrm>
            <a:off x="3657600" y="3145536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14–18</a:t>
            </a:r>
            <a:endParaRPr lang="en-US" sz="1100" dirty="0"/>
          </a:p>
        </p:txBody>
      </p:sp>
      <p:sp>
        <p:nvSpPr>
          <p:cNvPr id="33" name="R4_chip193"/>
          <p:cNvSpPr/>
          <p:nvPr/>
        </p:nvSpPr>
        <p:spPr>
          <a:xfrm>
            <a:off x="6263640" y="3145536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fast asleep · sleepwalk · set the alarm · oversleep · fall asleep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9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9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196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Not quite the same!</a:t>
            </a:r>
            <a:endParaRPr lang="en-US" sz="2500" dirty="0"/>
          </a:p>
        </p:txBody>
      </p:sp>
      <p:pic>
        <p:nvPicPr>
          <p:cNvPr id="6" name="brP_19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422392" cy="402336"/>
          </a:xfrm>
          <a:prstGeom prst="rect">
            <a:avLst/>
          </a:prstGeom>
        </p:spPr>
      </p:pic>
      <p:sp>
        <p:nvSpPr>
          <p:cNvPr id="7" name="ins_198"/>
          <p:cNvSpPr/>
          <p:nvPr/>
        </p:nvSpPr>
        <p:spPr>
          <a:xfrm>
            <a:off x="1353312" y="731520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 the natural option. Say why the other is wrong.</a:t>
            </a:r>
            <a:endParaRPr lang="en-US" sz="1250" dirty="0"/>
          </a:p>
        </p:txBody>
      </p:sp>
      <p:sp>
        <p:nvSpPr>
          <p:cNvPr id="8" name="insIT_199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Scegli l'opzione naturale. Spiega perché l'altra è sbagliata.</a:t>
            </a:r>
            <a:endParaRPr lang="en-US" sz="950" dirty="0"/>
          </a:p>
        </p:txBody>
      </p:sp>
      <p:sp>
        <p:nvSpPr>
          <p:cNvPr id="9" name="cmd_20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0" name="meta_201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202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Controlled practice</a:t>
            </a:r>
            <a:endParaRPr lang="en-US" sz="850" dirty="0"/>
          </a:p>
        </p:txBody>
      </p:sp>
      <p:pic>
        <p:nvPicPr>
          <p:cNvPr id="12" name="logo_20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0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6A-2 · Vocabulary · precision (B2)</a:t>
            </a:r>
            <a:endParaRPr lang="en-US" sz="800" dirty="0"/>
          </a:p>
        </p:txBody>
      </p:sp>
      <p:sp>
        <p:nvSpPr>
          <p:cNvPr id="14" name="cd_205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06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207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208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I was so tired I (fell / went) asleep on the sofa. → fell – it wasn't planned</a:t>
            </a:r>
            <a:endParaRPr lang="en-US" sz="1050" dirty="0"/>
          </a:p>
        </p:txBody>
      </p:sp>
      <p:sp>
        <p:nvSpPr>
          <p:cNvPr id="18" name="pf_209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210" descr="/home/claude/lls-course/v2/cache/b2_6a_clouds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0" name="bd_211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212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couldn't (get / fall) to sleep – the party was too loud.</a:t>
            </a:r>
            <a:endParaRPr lang="en-US" sz="1000" dirty="0"/>
          </a:p>
        </p:txBody>
      </p:sp>
      <p:sp>
        <p:nvSpPr>
          <p:cNvPr id="22" name="R1_chip213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 to sleep = manage to</a:t>
            </a:r>
            <a:endParaRPr lang="en-US" sz="1000" dirty="0"/>
          </a:p>
        </p:txBody>
      </p:sp>
      <p:sp>
        <p:nvSpPr>
          <p:cNvPr id="23" name="bd_214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215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Shh! The baby's (fast / deep) asleep.</a:t>
            </a:r>
            <a:endParaRPr lang="en-US" sz="1150" dirty="0"/>
          </a:p>
        </p:txBody>
      </p:sp>
      <p:sp>
        <p:nvSpPr>
          <p:cNvPr id="25" name="R2_chip216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 asleep (fixed phrase)</a:t>
            </a:r>
            <a:endParaRPr lang="en-US" sz="1000" dirty="0"/>
          </a:p>
        </p:txBody>
      </p:sp>
      <p:sp>
        <p:nvSpPr>
          <p:cNvPr id="26" name="bd_217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218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After three coffees I was (wide / fast) awake at 2 a.m.</a:t>
            </a:r>
            <a:endParaRPr lang="en-US" sz="1000" dirty="0"/>
          </a:p>
        </p:txBody>
      </p:sp>
      <p:sp>
        <p:nvSpPr>
          <p:cNvPr id="28" name="R3_chip219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wide awake</a:t>
            </a:r>
            <a:endParaRPr lang="en-US" sz="1000" dirty="0"/>
          </a:p>
        </p:txBody>
      </p:sp>
      <p:sp>
        <p:nvSpPr>
          <p:cNvPr id="29" name="bd_220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221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(overslept / slept in) and missed the bus.</a:t>
            </a:r>
            <a:endParaRPr lang="en-US" sz="1150" dirty="0"/>
          </a:p>
        </p:txBody>
      </p:sp>
      <p:sp>
        <p:nvSpPr>
          <p:cNvPr id="31" name="R4_chip222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overslept – an accident</a:t>
            </a:r>
            <a:endParaRPr lang="en-US" sz="1000" dirty="0"/>
          </a:p>
        </p:txBody>
      </p:sp>
      <p:sp>
        <p:nvSpPr>
          <p:cNvPr id="32" name="bd_223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q_224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Sunday – I'm going to (oversleep / sleep in)!</a:t>
            </a:r>
            <a:endParaRPr lang="en-US" sz="1150" dirty="0"/>
          </a:p>
        </p:txBody>
      </p:sp>
      <p:sp>
        <p:nvSpPr>
          <p:cNvPr id="34" name="R5_chip225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sleep in – on purpose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2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2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820717" cy="621792"/>
          </a:xfrm>
          <a:prstGeom prst="rect">
            <a:avLst/>
          </a:prstGeom>
        </p:spPr>
      </p:pic>
      <p:sp>
        <p:nvSpPr>
          <p:cNvPr id="5" name="title_228"/>
          <p:cNvSpPr/>
          <p:nvPr/>
        </p:nvSpPr>
        <p:spPr>
          <a:xfrm>
            <a:off x="1261872" y="164592"/>
            <a:ext cx="45463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does the expert sleep?</a:t>
            </a:r>
            <a:endParaRPr lang="en-US" sz="2500" dirty="0"/>
          </a:p>
        </p:txBody>
      </p:sp>
      <p:pic>
        <p:nvPicPr>
          <p:cNvPr id="6" name="brP_22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901184" cy="402336"/>
          </a:xfrm>
          <a:prstGeom prst="rect">
            <a:avLst/>
          </a:prstGeom>
        </p:spPr>
      </p:pic>
      <p:sp>
        <p:nvSpPr>
          <p:cNvPr id="7" name="ins_230"/>
          <p:cNvSpPr/>
          <p:nvPr/>
        </p:nvSpPr>
        <p:spPr>
          <a:xfrm>
            <a:off x="1353312" y="731520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 the sleep expert's habits: 1 word per gap.</a:t>
            </a:r>
            <a:endParaRPr lang="en-US" sz="1250" dirty="0"/>
          </a:p>
        </p:txBody>
      </p:sp>
      <p:sp>
        <p:nvSpPr>
          <p:cNvPr id="8" name="insIT_231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Dr Stanley è un esperto del sonno. Indovina le sue abitudini.</a:t>
            </a:r>
            <a:endParaRPr lang="en-US" sz="950" dirty="0"/>
          </a:p>
        </p:txBody>
      </p:sp>
      <p:sp>
        <p:nvSpPr>
          <p:cNvPr id="9" name="cmd_232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🤔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INDOVINA</a:t>
            </a:r>
            <a:endParaRPr lang="en-US" sz="1100" dirty="0"/>
          </a:p>
        </p:txBody>
      </p:sp>
      <p:sp>
        <p:nvSpPr>
          <p:cNvPr id="10" name="cmd_233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✍️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SCRIVI</a:t>
            </a:r>
            <a:endParaRPr lang="en-US" sz="1100" dirty="0"/>
          </a:p>
        </p:txBody>
      </p:sp>
      <p:sp>
        <p:nvSpPr>
          <p:cNvPr id="11" name="meta_234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2" name="tag_235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Controlled practice</a:t>
            </a:r>
            <a:endParaRPr lang="en-US" sz="850" dirty="0"/>
          </a:p>
        </p:txBody>
      </p:sp>
      <p:pic>
        <p:nvPicPr>
          <p:cNvPr id="13" name="logo_23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23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6A-2 · Listening · predict (SB 5a)   ·   📖 SB p.59 · 5a</a:t>
            </a:r>
            <a:endParaRPr lang="en-US" sz="800" dirty="0"/>
          </a:p>
        </p:txBody>
      </p:sp>
      <p:sp>
        <p:nvSpPr>
          <p:cNvPr id="15" name="cd_238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23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ih_240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il_241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I sleep in a different ___ from my partner. → room?</a:t>
            </a:r>
            <a:endParaRPr lang="en-US" sz="1050" dirty="0"/>
          </a:p>
        </p:txBody>
      </p:sp>
      <p:sp>
        <p:nvSpPr>
          <p:cNvPr id="19" name="pf_242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243" descr="/home/claude/lls-course/v2/cache/b2_6a_stanley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1" name="bd_244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q_245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I sleep in a different ___ from my partner.</a:t>
            </a:r>
            <a:endParaRPr lang="en-US" sz="1150" dirty="0"/>
          </a:p>
        </p:txBody>
      </p:sp>
      <p:sp>
        <p:nvSpPr>
          <p:cNvPr id="23" name="R1_chip246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listen and check</a:t>
            </a:r>
            <a:endParaRPr lang="en-US" sz="1000" dirty="0"/>
          </a:p>
        </p:txBody>
      </p:sp>
      <p:sp>
        <p:nvSpPr>
          <p:cNvPr id="24" name="bd_247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q_248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I sleep under natural ___.</a:t>
            </a:r>
            <a:endParaRPr lang="en-US" sz="1150" dirty="0"/>
          </a:p>
        </p:txBody>
      </p:sp>
      <p:sp>
        <p:nvSpPr>
          <p:cNvPr id="26" name="R2_chip249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listen and check</a:t>
            </a:r>
            <a:endParaRPr lang="en-US" sz="1000" dirty="0"/>
          </a:p>
        </p:txBody>
      </p:sp>
      <p:sp>
        <p:nvSpPr>
          <p:cNvPr id="27" name="bd_250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q_251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I'm obsessive about ___.</a:t>
            </a:r>
            <a:endParaRPr lang="en-US" sz="1150" dirty="0"/>
          </a:p>
        </p:txBody>
      </p:sp>
      <p:sp>
        <p:nvSpPr>
          <p:cNvPr id="29" name="R3_chip252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listen and check</a:t>
            </a:r>
            <a:endParaRPr lang="en-US" sz="1000" dirty="0"/>
          </a:p>
        </p:txBody>
      </p:sp>
      <p:sp>
        <p:nvSpPr>
          <p:cNvPr id="30" name="bd_253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q_254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I sleep with the ___ open.</a:t>
            </a:r>
            <a:endParaRPr lang="en-US" sz="1150" dirty="0"/>
          </a:p>
        </p:txBody>
      </p:sp>
      <p:sp>
        <p:nvSpPr>
          <p:cNvPr id="32" name="R4_chip255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listen and check</a:t>
            </a:r>
            <a:endParaRPr lang="en-US" sz="1000" dirty="0"/>
          </a:p>
        </p:txBody>
      </p:sp>
      <p:sp>
        <p:nvSpPr>
          <p:cNvPr id="33" name="bd_256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q_257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 I don't have ___ late. · 6  I drink ___ in the evenings.</a:t>
            </a:r>
            <a:endParaRPr lang="en-US" sz="1000" dirty="0"/>
          </a:p>
        </p:txBody>
      </p:sp>
      <p:sp>
        <p:nvSpPr>
          <p:cNvPr id="35" name="R5_chip258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listen and check</a:t>
            </a:r>
            <a:endParaRPr lang="en-US" sz="1000" dirty="0"/>
          </a:p>
        </p:txBody>
      </p:sp>
      <p:sp>
        <p:nvSpPr>
          <p:cNvPr id="36" name="bd_259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q_260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  I need ___ hours' sleep. · 8  I ___ before going to sleep.</a:t>
            </a:r>
            <a:endParaRPr lang="en-US" sz="900" dirty="0"/>
          </a:p>
        </p:txBody>
      </p:sp>
      <p:sp>
        <p:nvSpPr>
          <p:cNvPr id="38" name="R6_chip261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listen and check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6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6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264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check</a:t>
            </a:r>
            <a:endParaRPr lang="en-US" sz="2500" dirty="0"/>
          </a:p>
        </p:txBody>
      </p:sp>
      <p:pic>
        <p:nvPicPr>
          <p:cNvPr id="6" name="brP_26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074920" cy="402336"/>
          </a:xfrm>
          <a:prstGeom prst="rect">
            <a:avLst/>
          </a:prstGeom>
        </p:spPr>
      </p:pic>
      <p:sp>
        <p:nvSpPr>
          <p:cNvPr id="7" name="ins_266"/>
          <p:cNvSpPr/>
          <p:nvPr/>
        </p:nvSpPr>
        <p:spPr>
          <a:xfrm>
            <a:off x="1353312" y="731520"/>
            <a:ext cx="4818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Listen. Complete 1–8. How many guesses were right?</a:t>
            </a:r>
            <a:endParaRPr lang="en-US" sz="1250" dirty="0"/>
          </a:p>
        </p:txBody>
      </p:sp>
      <p:sp>
        <p:nvSpPr>
          <p:cNvPr id="8" name="insIT_267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Ascolta. Completa 1–8. Quante ipotesi erano giuste?</a:t>
            </a:r>
            <a:endParaRPr lang="en-US" sz="950" dirty="0"/>
          </a:p>
        </p:txBody>
      </p:sp>
      <p:sp>
        <p:nvSpPr>
          <p:cNvPr id="9" name="cmd_268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269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✏️ </a:t>
            </a:r>
            <a:pPr indent="0" marL="0">
              <a:buNone/>
            </a:pPr>
            <a:r>
              <a:rPr lang="en-US" sz="9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COMPLETA</a:t>
            </a:r>
            <a:endParaRPr lang="en-US" sz="800" dirty="0"/>
          </a:p>
        </p:txBody>
      </p:sp>
      <p:sp>
        <p:nvSpPr>
          <p:cNvPr id="11" name="meta_270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2" name="tag_271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Listening for detail</a:t>
            </a:r>
            <a:endParaRPr lang="en-US" sz="850" dirty="0"/>
          </a:p>
        </p:txBody>
      </p:sp>
      <p:pic>
        <p:nvPicPr>
          <p:cNvPr id="13" name="logo_27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27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6A-2 · Listening · Dr Stanley (SB 5b)   ·   📖 SB p.59 · 5b · audio 6.9 (answers: SB key)</a:t>
            </a:r>
            <a:endParaRPr lang="en-US" sz="800" dirty="0"/>
          </a:p>
        </p:txBody>
      </p:sp>
      <p:sp>
        <p:nvSpPr>
          <p:cNvPr id="15" name="ap_274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6.9  ·  play once, then check</a:t>
            </a:r>
            <a:endParaRPr lang="en-US" sz="1100" dirty="0"/>
          </a:p>
        </p:txBody>
      </p:sp>
      <p:sp>
        <p:nvSpPr>
          <p:cNvPr id="16" name="ah_275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19" name="pf_276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277" descr="/home/claude/lls-course/v2/cache/b2_6a_stanley_jpg_627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21" name="cd_278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ii_279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3" name="ih_280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first, then listen!</a:t>
            </a:r>
            <a:endParaRPr lang="en-US" sz="1200" dirty="0"/>
          </a:p>
        </p:txBody>
      </p:sp>
      <p:sp>
        <p:nvSpPr>
          <p:cNvPr id="24" name="il_281"/>
          <p:cNvSpPr/>
          <p:nvPr/>
        </p:nvSpPr>
        <p:spPr>
          <a:xfrm>
            <a:off x="886968" y="449884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25" name="gq_282"/>
          <p:cNvSpPr/>
          <p:nvPr/>
        </p:nvSpPr>
        <p:spPr>
          <a:xfrm>
            <a:off x="3383280" y="141732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a different ___</a:t>
            </a:r>
            <a:endParaRPr lang="en-US" sz="1200" dirty="0"/>
          </a:p>
        </p:txBody>
      </p:sp>
      <p:sp>
        <p:nvSpPr>
          <p:cNvPr id="26" name="R1_chip283"/>
          <p:cNvSpPr/>
          <p:nvPr/>
        </p:nvSpPr>
        <p:spPr>
          <a:xfrm>
            <a:off x="6812280" y="141732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bedroom</a:t>
            </a:r>
            <a:endParaRPr lang="en-US" sz="1200" dirty="0"/>
          </a:p>
        </p:txBody>
      </p:sp>
      <p:sp>
        <p:nvSpPr>
          <p:cNvPr id="27" name="gq_284"/>
          <p:cNvSpPr/>
          <p:nvPr/>
        </p:nvSpPr>
        <p:spPr>
          <a:xfrm>
            <a:off x="3383280" y="182880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natural ___</a:t>
            </a:r>
            <a:endParaRPr lang="en-US" sz="1200" dirty="0"/>
          </a:p>
        </p:txBody>
      </p:sp>
      <p:sp>
        <p:nvSpPr>
          <p:cNvPr id="28" name="R2_chip285"/>
          <p:cNvSpPr/>
          <p:nvPr/>
        </p:nvSpPr>
        <p:spPr>
          <a:xfrm>
            <a:off x="6812280" y="182880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materials</a:t>
            </a:r>
            <a:endParaRPr lang="en-US" sz="1200" dirty="0"/>
          </a:p>
        </p:txBody>
      </p:sp>
      <p:sp>
        <p:nvSpPr>
          <p:cNvPr id="29" name="gq_286"/>
          <p:cNvSpPr/>
          <p:nvPr/>
        </p:nvSpPr>
        <p:spPr>
          <a:xfrm>
            <a:off x="3383280" y="224028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obsessive about ___</a:t>
            </a:r>
            <a:endParaRPr lang="en-US" sz="1200" dirty="0"/>
          </a:p>
        </p:txBody>
      </p:sp>
      <p:sp>
        <p:nvSpPr>
          <p:cNvPr id="30" name="R3_chip287"/>
          <p:cNvSpPr/>
          <p:nvPr/>
        </p:nvSpPr>
        <p:spPr>
          <a:xfrm>
            <a:off x="6812280" y="224028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pillows</a:t>
            </a:r>
            <a:endParaRPr lang="en-US" sz="1200" dirty="0"/>
          </a:p>
        </p:txBody>
      </p:sp>
      <p:sp>
        <p:nvSpPr>
          <p:cNvPr id="31" name="gq_288"/>
          <p:cNvSpPr/>
          <p:nvPr/>
        </p:nvSpPr>
        <p:spPr>
          <a:xfrm>
            <a:off x="3383280" y="265176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the ___ open</a:t>
            </a:r>
            <a:endParaRPr lang="en-US" sz="1200" dirty="0"/>
          </a:p>
        </p:txBody>
      </p:sp>
      <p:sp>
        <p:nvSpPr>
          <p:cNvPr id="32" name="R4_chip289"/>
          <p:cNvSpPr/>
          <p:nvPr/>
        </p:nvSpPr>
        <p:spPr>
          <a:xfrm>
            <a:off x="6812280" y="265176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</a:t>
            </a:r>
            <a:endParaRPr lang="en-US" sz="1200" dirty="0"/>
          </a:p>
        </p:txBody>
      </p:sp>
      <p:sp>
        <p:nvSpPr>
          <p:cNvPr id="33" name="gq_290"/>
          <p:cNvSpPr/>
          <p:nvPr/>
        </p:nvSpPr>
        <p:spPr>
          <a:xfrm>
            <a:off x="3383280" y="306324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 ___ late</a:t>
            </a:r>
            <a:endParaRPr lang="en-US" sz="1200" dirty="0"/>
          </a:p>
        </p:txBody>
      </p:sp>
      <p:sp>
        <p:nvSpPr>
          <p:cNvPr id="34" name="R5_chip291"/>
          <p:cNvSpPr/>
          <p:nvPr/>
        </p:nvSpPr>
        <p:spPr>
          <a:xfrm>
            <a:off x="6812280" y="306324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dinner</a:t>
            </a:r>
            <a:endParaRPr lang="en-US" sz="1200" dirty="0"/>
          </a:p>
        </p:txBody>
      </p:sp>
      <p:sp>
        <p:nvSpPr>
          <p:cNvPr id="35" name="gq_292"/>
          <p:cNvSpPr/>
          <p:nvPr/>
        </p:nvSpPr>
        <p:spPr>
          <a:xfrm>
            <a:off x="3383280" y="347472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 I drink ___</a:t>
            </a:r>
            <a:endParaRPr lang="en-US" sz="1200" dirty="0"/>
          </a:p>
        </p:txBody>
      </p:sp>
      <p:sp>
        <p:nvSpPr>
          <p:cNvPr id="36" name="R6_chip293"/>
          <p:cNvSpPr/>
          <p:nvPr/>
        </p:nvSpPr>
        <p:spPr>
          <a:xfrm>
            <a:off x="6812280" y="347472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coffee</a:t>
            </a:r>
            <a:endParaRPr lang="en-US" sz="1200" dirty="0"/>
          </a:p>
        </p:txBody>
      </p:sp>
      <p:sp>
        <p:nvSpPr>
          <p:cNvPr id="37" name="gq_294"/>
          <p:cNvSpPr/>
          <p:nvPr/>
        </p:nvSpPr>
        <p:spPr>
          <a:xfrm>
            <a:off x="3383280" y="388620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  ___ hours' sleep</a:t>
            </a:r>
            <a:endParaRPr lang="en-US" sz="1200" dirty="0"/>
          </a:p>
        </p:txBody>
      </p:sp>
      <p:sp>
        <p:nvSpPr>
          <p:cNvPr id="38" name="R7_chip295"/>
          <p:cNvSpPr/>
          <p:nvPr/>
        </p:nvSpPr>
        <p:spPr>
          <a:xfrm>
            <a:off x="6812280" y="388620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9.5</a:t>
            </a:r>
            <a:endParaRPr lang="en-US" sz="1200" dirty="0"/>
          </a:p>
        </p:txBody>
      </p:sp>
      <p:sp>
        <p:nvSpPr>
          <p:cNvPr id="39" name="gq_296"/>
          <p:cNvSpPr/>
          <p:nvPr/>
        </p:nvSpPr>
        <p:spPr>
          <a:xfrm>
            <a:off x="3383280" y="429768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  I ___ before sleep</a:t>
            </a:r>
            <a:endParaRPr lang="en-US" sz="1200" dirty="0"/>
          </a:p>
        </p:txBody>
      </p:sp>
      <p:sp>
        <p:nvSpPr>
          <p:cNvPr id="40" name="R8_chip297"/>
          <p:cNvSpPr/>
          <p:nvPr/>
        </p:nvSpPr>
        <p:spPr>
          <a:xfrm>
            <a:off x="6812280" y="429768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 book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9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9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300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 does he do it?</a:t>
            </a:r>
            <a:endParaRPr lang="en-US" sz="2500" dirty="0"/>
          </a:p>
        </p:txBody>
      </p:sp>
      <p:pic>
        <p:nvPicPr>
          <p:cNvPr id="6" name="brP_30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901184" cy="402336"/>
          </a:xfrm>
          <a:prstGeom prst="rect">
            <a:avLst/>
          </a:prstGeom>
        </p:spPr>
      </p:pic>
      <p:sp>
        <p:nvSpPr>
          <p:cNvPr id="7" name="ins_302"/>
          <p:cNvSpPr/>
          <p:nvPr/>
        </p:nvSpPr>
        <p:spPr>
          <a:xfrm>
            <a:off x="1353312" y="731520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again. Explain his reason for each habit.</a:t>
            </a:r>
            <a:endParaRPr lang="en-US" sz="1250" dirty="0"/>
          </a:p>
        </p:txBody>
      </p:sp>
      <p:sp>
        <p:nvSpPr>
          <p:cNvPr id="8" name="insIT_303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Riascolta. Spiega il motivo di ogni abitudine.</a:t>
            </a:r>
            <a:endParaRPr lang="en-US" sz="950" dirty="0"/>
          </a:p>
        </p:txBody>
      </p:sp>
      <p:sp>
        <p:nvSpPr>
          <p:cNvPr id="9" name="cmd_304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305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1" name="meta_306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2" name="tag_307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Listening for detail</a:t>
            </a:r>
            <a:endParaRPr lang="en-US" sz="850" dirty="0"/>
          </a:p>
        </p:txBody>
      </p:sp>
      <p:pic>
        <p:nvPicPr>
          <p:cNvPr id="13" name="logo_30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30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6A-2 · Listening · reasons (SB 5c)   ·   📖 SB p.59 · 5c · audio 6.9 (answers: SB key)</a:t>
            </a:r>
            <a:endParaRPr lang="en-US" sz="800" dirty="0"/>
          </a:p>
        </p:txBody>
      </p:sp>
      <p:sp>
        <p:nvSpPr>
          <p:cNvPr id="15" name="ap_310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6.9  ·  play again</a:t>
            </a:r>
            <a:endParaRPr lang="en-US" sz="1100" dirty="0"/>
          </a:p>
        </p:txBody>
      </p:sp>
      <p:sp>
        <p:nvSpPr>
          <p:cNvPr id="16" name="ah_311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19" name="pf_312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313" descr="/home/claude/lls-course/v2/cache/b2_6a_clouds_jpg_627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21" name="cd_314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ii_315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3" name="ih_316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first, then listen!</a:t>
            </a:r>
            <a:endParaRPr lang="en-US" sz="1200" dirty="0"/>
          </a:p>
        </p:txBody>
      </p:sp>
      <p:sp>
        <p:nvSpPr>
          <p:cNvPr id="24" name="il_317"/>
          <p:cNvSpPr/>
          <p:nvPr/>
        </p:nvSpPr>
        <p:spPr>
          <a:xfrm>
            <a:off x="886968" y="449884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25" name="gq_318"/>
          <p:cNvSpPr/>
          <p:nvPr/>
        </p:nvSpPr>
        <p:spPr>
          <a:xfrm>
            <a:off x="3383280" y="141732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Because then you don't…</a:t>
            </a:r>
            <a:endParaRPr lang="en-US" sz="1200" dirty="0"/>
          </a:p>
        </p:txBody>
      </p:sp>
      <p:sp>
        <p:nvSpPr>
          <p:cNvPr id="26" name="R1_chip319"/>
          <p:cNvSpPr/>
          <p:nvPr/>
        </p:nvSpPr>
        <p:spPr>
          <a:xfrm>
            <a:off x="6812280" y="141732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 disturbed / listen to your partner snoring</a:t>
            </a:r>
            <a:endParaRPr lang="en-US" sz="950" dirty="0"/>
          </a:p>
        </p:txBody>
      </p:sp>
      <p:sp>
        <p:nvSpPr>
          <p:cNvPr id="27" name="gq_320"/>
          <p:cNvSpPr/>
          <p:nvPr/>
        </p:nvSpPr>
        <p:spPr>
          <a:xfrm>
            <a:off x="3383280" y="182880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Because you don't sleep well if…</a:t>
            </a:r>
            <a:endParaRPr lang="en-US" sz="1200" dirty="0"/>
          </a:p>
        </p:txBody>
      </p:sp>
      <p:sp>
        <p:nvSpPr>
          <p:cNvPr id="28" name="R2_chip321"/>
          <p:cNvSpPr/>
          <p:nvPr/>
        </p:nvSpPr>
        <p:spPr>
          <a:xfrm>
            <a:off x="6812280" y="182880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you're really hot (cotton is cooler)</a:t>
            </a:r>
            <a:endParaRPr lang="en-US" sz="950" dirty="0"/>
          </a:p>
        </p:txBody>
      </p:sp>
      <p:sp>
        <p:nvSpPr>
          <p:cNvPr id="29" name="gq_322"/>
          <p:cNvSpPr/>
          <p:nvPr/>
        </p:nvSpPr>
        <p:spPr>
          <a:xfrm>
            <a:off x="3383280" y="224028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Because it's really important to…</a:t>
            </a:r>
            <a:endParaRPr lang="en-US" sz="1200" dirty="0"/>
          </a:p>
        </p:txBody>
      </p:sp>
      <p:sp>
        <p:nvSpPr>
          <p:cNvPr id="30" name="R3_chip323"/>
          <p:cNvSpPr/>
          <p:nvPr/>
        </p:nvSpPr>
        <p:spPr>
          <a:xfrm>
            <a:off x="6812280" y="224028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sleep in the right position</a:t>
            </a:r>
            <a:endParaRPr lang="en-US" sz="1000" dirty="0"/>
          </a:p>
        </p:txBody>
      </p:sp>
      <p:sp>
        <p:nvSpPr>
          <p:cNvPr id="31" name="gq_324"/>
          <p:cNvSpPr/>
          <p:nvPr/>
        </p:nvSpPr>
        <p:spPr>
          <a:xfrm>
            <a:off x="3383280" y="265176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Because you need…</a:t>
            </a:r>
            <a:endParaRPr lang="en-US" sz="1200" dirty="0"/>
          </a:p>
        </p:txBody>
      </p:sp>
      <p:sp>
        <p:nvSpPr>
          <p:cNvPr id="32" name="R4_chip325"/>
          <p:cNvSpPr/>
          <p:nvPr/>
        </p:nvSpPr>
        <p:spPr>
          <a:xfrm>
            <a:off x="6812280" y="265176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fresh air, even if it's cold</a:t>
            </a:r>
            <a:endParaRPr lang="en-US" sz="1100" dirty="0"/>
          </a:p>
        </p:txBody>
      </p:sp>
      <p:sp>
        <p:nvSpPr>
          <p:cNvPr id="33" name="gq_326"/>
          <p:cNvSpPr/>
          <p:nvPr/>
        </p:nvSpPr>
        <p:spPr>
          <a:xfrm>
            <a:off x="3383280" y="306324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 Because your body…</a:t>
            </a:r>
            <a:endParaRPr lang="en-US" sz="1200" dirty="0"/>
          </a:p>
        </p:txBody>
      </p:sp>
      <p:sp>
        <p:nvSpPr>
          <p:cNvPr id="34" name="R5_chip327"/>
          <p:cNvSpPr/>
          <p:nvPr/>
        </p:nvSpPr>
        <p:spPr>
          <a:xfrm>
            <a:off x="6812280" y="306324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will still be digesting the meal</a:t>
            </a:r>
            <a:endParaRPr lang="en-US" sz="950" dirty="0"/>
          </a:p>
        </p:txBody>
      </p:sp>
      <p:sp>
        <p:nvSpPr>
          <p:cNvPr id="35" name="gq_328"/>
          <p:cNvSpPr/>
          <p:nvPr/>
        </p:nvSpPr>
        <p:spPr>
          <a:xfrm>
            <a:off x="3383280" y="347472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 Because he isn't…</a:t>
            </a:r>
            <a:endParaRPr lang="en-US" sz="1200" dirty="0"/>
          </a:p>
        </p:txBody>
      </p:sp>
      <p:sp>
        <p:nvSpPr>
          <p:cNvPr id="36" name="R6_chip329"/>
          <p:cNvSpPr/>
          <p:nvPr/>
        </p:nvSpPr>
        <p:spPr>
          <a:xfrm>
            <a:off x="6812280" y="347472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affected by caffeine</a:t>
            </a:r>
            <a:endParaRPr lang="en-US" sz="1200" dirty="0"/>
          </a:p>
        </p:txBody>
      </p:sp>
      <p:sp>
        <p:nvSpPr>
          <p:cNvPr id="37" name="gq_330"/>
          <p:cNvSpPr/>
          <p:nvPr/>
        </p:nvSpPr>
        <p:spPr>
          <a:xfrm>
            <a:off x="3383280" y="388620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  Because that's the amount…</a:t>
            </a:r>
            <a:endParaRPr lang="en-US" sz="1200" dirty="0"/>
          </a:p>
        </p:txBody>
      </p:sp>
      <p:sp>
        <p:nvSpPr>
          <p:cNvPr id="38" name="R7_chip331"/>
          <p:cNvSpPr/>
          <p:nvPr/>
        </p:nvSpPr>
        <p:spPr>
          <a:xfrm>
            <a:off x="6812280" y="388620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that's right for him</a:t>
            </a:r>
            <a:endParaRPr lang="en-US" sz="1200" dirty="0"/>
          </a:p>
        </p:txBody>
      </p:sp>
      <p:sp>
        <p:nvSpPr>
          <p:cNvPr id="39" name="gq_332"/>
          <p:cNvSpPr/>
          <p:nvPr/>
        </p:nvSpPr>
        <p:spPr>
          <a:xfrm>
            <a:off x="3383280" y="429768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  Because it's his way of…</a:t>
            </a:r>
            <a:endParaRPr lang="en-US" sz="1200" dirty="0"/>
          </a:p>
        </p:txBody>
      </p:sp>
      <p:sp>
        <p:nvSpPr>
          <p:cNvPr id="40" name="R8_chip333"/>
          <p:cNvSpPr/>
          <p:nvPr/>
        </p:nvSpPr>
        <p:spPr>
          <a:xfrm>
            <a:off x="6812280" y="429768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relaxing before sleep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3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33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760720" cy="621792"/>
          </a:xfrm>
          <a:prstGeom prst="rect">
            <a:avLst/>
          </a:prstGeom>
        </p:spPr>
      </p:pic>
      <p:sp>
        <p:nvSpPr>
          <p:cNvPr id="5" name="title_336"/>
          <p:cNvSpPr/>
          <p:nvPr/>
        </p:nvSpPr>
        <p:spPr>
          <a:xfrm>
            <a:off x="1261872" y="1645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well do you know your partner?</a:t>
            </a:r>
            <a:endParaRPr lang="en-US" sz="2250" dirty="0"/>
          </a:p>
        </p:txBody>
      </p:sp>
      <p:pic>
        <p:nvPicPr>
          <p:cNvPr id="6" name="brP_33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074920" cy="402336"/>
          </a:xfrm>
          <a:prstGeom prst="rect">
            <a:avLst/>
          </a:prstGeom>
        </p:spPr>
      </p:pic>
      <p:sp>
        <p:nvSpPr>
          <p:cNvPr id="7" name="ins_338"/>
          <p:cNvSpPr/>
          <p:nvPr/>
        </p:nvSpPr>
        <p:spPr>
          <a:xfrm>
            <a:off x="1353312" y="731520"/>
            <a:ext cx="4818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Predict your partner's answers secretly. Then ask!</a:t>
            </a:r>
            <a:endParaRPr lang="en-US" sz="1250" dirty="0"/>
          </a:p>
        </p:txBody>
      </p:sp>
      <p:sp>
        <p:nvSpPr>
          <p:cNvPr id="8" name="insIT_339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Scrivi una previsione SEGRETA della risposta del compagno. Poi chiedi.</a:t>
            </a:r>
            <a:endParaRPr lang="en-US" sz="950" dirty="0"/>
          </a:p>
        </p:txBody>
      </p:sp>
      <p:sp>
        <p:nvSpPr>
          <p:cNvPr id="9" name="cmd_34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cmd_341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1" name="meta_342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10 min   👥 pairs</a:t>
            </a:r>
            <a:endParaRPr lang="en-US" sz="950" dirty="0"/>
          </a:p>
        </p:txBody>
      </p:sp>
      <p:sp>
        <p:nvSpPr>
          <p:cNvPr id="12" name="tag_343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3" name="logo_34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34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6A-2 · Speaking game · predict your partner (SB 6)   ·   📖 SB p.59 · 6 (question clouds)</a:t>
            </a:r>
            <a:endParaRPr lang="en-US" sz="800" dirty="0"/>
          </a:p>
        </p:txBody>
      </p:sp>
      <p:sp>
        <p:nvSpPr>
          <p:cNvPr id="15" name="cd_346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34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7" name="ih_34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8" name="il_349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A: green questions · B: red questions (p.59). Choose 4.</a:t>
            </a:r>
            <a:endParaRPr lang="en-US" sz="8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A: domande verdi · B: rosse (p.59). Scegline 4.</a:t>
            </a:r>
            <a:endParaRPr lang="en-US" sz="8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your prediction for each one. Hide it!</a:t>
            </a:r>
            <a:endParaRPr lang="en-US" sz="8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Scrivi la tua previsione. Nascondila!</a:t>
            </a:r>
            <a:endParaRPr lang="en-US" sz="8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8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+ 2 follow-ups each. Reveal: 1 point per correct guess.</a:t>
            </a:r>
            <a:endParaRPr lang="en-US" sz="8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Chiedi + 2 domande in più. Rivela: 1 punto a previsione giusta.</a:t>
            </a:r>
            <a:endParaRPr lang="en-US" sz="800" dirty="0"/>
          </a:p>
        </p:txBody>
      </p:sp>
      <p:sp>
        <p:nvSpPr>
          <p:cNvPr id="19" name="st_350"/>
          <p:cNvSpPr/>
          <p:nvPr/>
        </p:nvSpPr>
        <p:spPr>
          <a:xfrm rot="-180000">
            <a:off x="502920" y="3703320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20" name="bd_351"/>
          <p:cNvSpPr/>
          <p:nvPr/>
        </p:nvSpPr>
        <p:spPr>
          <a:xfrm>
            <a:off x="3246120" y="1508760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352"/>
          <p:cNvSpPr/>
          <p:nvPr/>
        </p:nvSpPr>
        <p:spPr>
          <a:xfrm>
            <a:off x="3657600" y="1417320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a light sleeper, or do you sleep like a log?</a:t>
            </a:r>
            <a:endParaRPr lang="en-US" sz="1100" dirty="0"/>
          </a:p>
        </p:txBody>
      </p:sp>
      <p:sp>
        <p:nvSpPr>
          <p:cNvPr id="22" name="R1_chip353"/>
          <p:cNvSpPr/>
          <p:nvPr/>
        </p:nvSpPr>
        <p:spPr>
          <a:xfrm>
            <a:off x="6263640" y="1417320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 bet you sleep like a log! – 'Not at all! The smallest noise wakes me up.'</a:t>
            </a:r>
            <a:endParaRPr lang="en-US" sz="950" dirty="0"/>
          </a:p>
        </p:txBody>
      </p:sp>
      <p:sp>
        <p:nvSpPr>
          <p:cNvPr id="23" name="bd_354"/>
          <p:cNvSpPr/>
          <p:nvPr/>
        </p:nvSpPr>
        <p:spPr>
          <a:xfrm>
            <a:off x="3246120" y="2084832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355"/>
          <p:cNvSpPr/>
          <p:nvPr/>
        </p:nvSpPr>
        <p:spPr>
          <a:xfrm>
            <a:off x="3657600" y="1993392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overslept and missed something important?</a:t>
            </a:r>
            <a:endParaRPr lang="en-US" sz="1100" dirty="0"/>
          </a:p>
        </p:txBody>
      </p:sp>
      <p:sp>
        <p:nvSpPr>
          <p:cNvPr id="25" name="R2_chip356"/>
          <p:cNvSpPr/>
          <p:nvPr/>
        </p:nvSpPr>
        <p:spPr>
          <a:xfrm>
            <a:off x="6263640" y="1993392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Follow-up: What was it? What happened next?</a:t>
            </a:r>
            <a:endParaRPr lang="en-US" sz="1100" dirty="0"/>
          </a:p>
        </p:txBody>
      </p:sp>
      <p:sp>
        <p:nvSpPr>
          <p:cNvPr id="26" name="bd_357"/>
          <p:cNvSpPr/>
          <p:nvPr/>
        </p:nvSpPr>
        <p:spPr>
          <a:xfrm>
            <a:off x="3246120" y="266090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358"/>
          <p:cNvSpPr/>
          <p:nvPr/>
        </p:nvSpPr>
        <p:spPr>
          <a:xfrm>
            <a:off x="3657600" y="2569464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ever fall asleep in front of the TV?</a:t>
            </a:r>
            <a:endParaRPr lang="en-US" sz="1100" dirty="0"/>
          </a:p>
        </p:txBody>
      </p:sp>
      <p:sp>
        <p:nvSpPr>
          <p:cNvPr id="28" name="R3_chip359"/>
          <p:cNvSpPr/>
          <p:nvPr/>
        </p:nvSpPr>
        <p:spPr>
          <a:xfrm>
            <a:off x="6263640" y="2569464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Follow-up: What were you watching?! How often?</a:t>
            </a:r>
            <a:endParaRPr lang="en-US" sz="1100" dirty="0"/>
          </a:p>
        </p:txBody>
      </p:sp>
      <p:sp>
        <p:nvSpPr>
          <p:cNvPr id="29" name="bd_360"/>
          <p:cNvSpPr/>
          <p:nvPr/>
        </p:nvSpPr>
        <p:spPr>
          <a:xfrm>
            <a:off x="3246120" y="3236976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361"/>
          <p:cNvSpPr/>
          <p:nvPr/>
        </p:nvSpPr>
        <p:spPr>
          <a:xfrm>
            <a:off x="3657600" y="3145536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Useful: Really? How come? · No way! · Me neither!</a:t>
            </a:r>
            <a:endParaRPr lang="en-US" sz="1100" dirty="0"/>
          </a:p>
        </p:txBody>
      </p:sp>
      <p:sp>
        <p:nvSpPr>
          <p:cNvPr id="31" name="R4_chip362"/>
          <p:cNvSpPr/>
          <p:nvPr/>
        </p:nvSpPr>
        <p:spPr>
          <a:xfrm>
            <a:off x="6263640" y="3145536"/>
            <a:ext cx="2560320" cy="512064"/>
          </a:xfrm>
          <a:prstGeom prst="roundRect">
            <a:avLst>
              <a:gd name="adj" fmla="val 17857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Challenge: Is that always true, though?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6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6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135270" cy="621792"/>
          </a:xfrm>
          <a:prstGeom prst="rect">
            <a:avLst/>
          </a:prstGeom>
        </p:spPr>
      </p:pic>
      <p:sp>
        <p:nvSpPr>
          <p:cNvPr id="5" name="title_365"/>
          <p:cNvSpPr/>
          <p:nvPr/>
        </p:nvSpPr>
        <p:spPr>
          <a:xfrm>
            <a:off x="1261872" y="164592"/>
            <a:ext cx="48609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B2 First: sleep collocations</a:t>
            </a:r>
            <a:endParaRPr lang="en-US" sz="2500" dirty="0"/>
          </a:p>
        </p:txBody>
      </p:sp>
      <p:pic>
        <p:nvPicPr>
          <p:cNvPr id="6" name="brP_36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367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the word in CAPITALS. Write 2–5 words.</a:t>
            </a:r>
            <a:endParaRPr lang="en-US" sz="1250" dirty="0"/>
          </a:p>
        </p:txBody>
      </p:sp>
      <p:sp>
        <p:nvSpPr>
          <p:cNvPr id="8" name="insIT_368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 First Parte 4: completa la seconda frase con la parola in MAIUSCOLO (2–5 parole).</a:t>
            </a:r>
            <a:endParaRPr lang="en-US" sz="950" dirty="0"/>
          </a:p>
        </p:txBody>
      </p:sp>
      <p:sp>
        <p:nvSpPr>
          <p:cNvPr id="9" name="cmd_36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✍️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SCRIVI</a:t>
            </a:r>
            <a:endParaRPr lang="en-US" sz="1100" dirty="0"/>
          </a:p>
        </p:txBody>
      </p:sp>
      <p:sp>
        <p:nvSpPr>
          <p:cNvPr id="10" name="cmd_370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1" name="meta_371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950" dirty="0"/>
          </a:p>
        </p:txBody>
      </p:sp>
      <p:pic>
        <p:nvPicPr>
          <p:cNvPr id="12" name="logo_37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37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6A-2 · Exam · key word transformation</a:t>
            </a:r>
            <a:endParaRPr lang="en-US" sz="800" dirty="0"/>
          </a:p>
        </p:txBody>
      </p:sp>
      <p:sp>
        <p:nvSpPr>
          <p:cNvPr id="14" name="cd_374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7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37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377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I woke up too late this morning. OVERSLEPT → I overslept this morning.</a:t>
            </a:r>
            <a:endParaRPr lang="en-US" sz="1050" dirty="0"/>
          </a:p>
        </p:txBody>
      </p:sp>
      <p:sp>
        <p:nvSpPr>
          <p:cNvPr id="18" name="pf_378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379" descr="/home/claude/lls-course/v2/cache/b2_6a_moon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0" name="bd_380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381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The noise from the street stopped me from sleeping. KEPT → The noise from the street ___ .</a:t>
            </a:r>
            <a:endParaRPr lang="en-US" sz="800" dirty="0"/>
          </a:p>
        </p:txBody>
      </p:sp>
      <p:sp>
        <p:nvSpPr>
          <p:cNvPr id="22" name="R1_chip382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kept me awake</a:t>
            </a:r>
            <a:endParaRPr lang="en-US" sz="1000" dirty="0"/>
          </a:p>
        </p:txBody>
      </p:sp>
      <p:sp>
        <p:nvSpPr>
          <p:cNvPr id="23" name="bd_383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384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I find it hard to start sleeping at night. GET → I find it hard ___ at night.</a:t>
            </a:r>
            <a:endParaRPr lang="en-US" sz="850" dirty="0"/>
          </a:p>
        </p:txBody>
      </p:sp>
      <p:sp>
        <p:nvSpPr>
          <p:cNvPr id="25" name="R2_chip385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get to sleep</a:t>
            </a:r>
            <a:endParaRPr lang="en-US" sz="1000" dirty="0"/>
          </a:p>
        </p:txBody>
      </p:sp>
      <p:sp>
        <p:nvSpPr>
          <p:cNvPr id="26" name="bd_386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387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My brother sleeps very deeply. LOG → My brother ___ .</a:t>
            </a:r>
            <a:endParaRPr lang="en-US" sz="850" dirty="0"/>
          </a:p>
        </p:txBody>
      </p:sp>
      <p:sp>
        <p:nvSpPr>
          <p:cNvPr id="28" name="R3_chip388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sleeps like a log</a:t>
            </a:r>
            <a:endParaRPr lang="en-US" sz="1000" dirty="0"/>
          </a:p>
        </p:txBody>
      </p:sp>
      <p:sp>
        <p:nvSpPr>
          <p:cNvPr id="29" name="bd_389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390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The smallest noise wakes me up. LIGHT → I'm ___ – the smallest noise wakes me up.</a:t>
            </a:r>
            <a:endParaRPr lang="en-US" sz="850" dirty="0"/>
          </a:p>
        </p:txBody>
      </p:sp>
      <p:sp>
        <p:nvSpPr>
          <p:cNvPr id="31" name="R4_chip391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light sleeper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9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9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394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39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396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What can you remember?</a:t>
            </a:r>
            <a:endParaRPr lang="en-US" sz="1250" dirty="0"/>
          </a:p>
        </p:txBody>
      </p:sp>
      <p:sp>
        <p:nvSpPr>
          <p:cNvPr id="8" name="insIT_397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Libri chiusi! Cosa ricordi?</a:t>
            </a:r>
            <a:endParaRPr lang="en-US" sz="950" dirty="0"/>
          </a:p>
        </p:txBody>
      </p:sp>
      <p:sp>
        <p:nvSpPr>
          <p:cNvPr id="9" name="meta_398"/>
          <p:cNvSpPr/>
          <p:nvPr/>
        </p:nvSpPr>
        <p:spPr>
          <a:xfrm>
            <a:off x="6583680" y="182880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0" name="tag_399"/>
          <p:cNvSpPr/>
          <p:nvPr/>
        </p:nvSpPr>
        <p:spPr>
          <a:xfrm>
            <a:off x="6510528" y="420624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Retrieval</a:t>
            </a:r>
            <a:endParaRPr lang="en-US" sz="850" dirty="0"/>
          </a:p>
        </p:txBody>
      </p:sp>
      <p:pic>
        <p:nvPicPr>
          <p:cNvPr id="11" name="logo_40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40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6A-2 · Exit · what can you remember?</a:t>
            </a:r>
            <a:endParaRPr lang="en-US" sz="800" dirty="0"/>
          </a:p>
        </p:txBody>
      </p:sp>
      <p:sp>
        <p:nvSpPr>
          <p:cNvPr id="13" name="bd_402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rt_403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sleep expressions you didn't know before today</a:t>
            </a:r>
            <a:endParaRPr lang="en-US" sz="1400" dirty="0"/>
          </a:p>
        </p:txBody>
      </p:sp>
      <p:sp>
        <p:nvSpPr>
          <p:cNvPr id="15" name="bd_404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rt_405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of Dr Stanley's habits – and his reasons</a:t>
            </a:r>
            <a:endParaRPr lang="en-US" sz="1400" dirty="0"/>
          </a:p>
        </p:txBody>
      </p:sp>
      <p:sp>
        <p:nvSpPr>
          <p:cNvPr id="17" name="bd_406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rt_407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difference: oversleep vs sleep in</a:t>
            </a:r>
            <a:endParaRPr lang="en-US" sz="1400" dirty="0"/>
          </a:p>
        </p:txBody>
      </p:sp>
      <p:sp>
        <p:nvSpPr>
          <p:cNvPr id="19" name="cd_408"/>
          <p:cNvSpPr/>
          <p:nvPr/>
        </p:nvSpPr>
        <p:spPr>
          <a:xfrm>
            <a:off x="5669280" y="141732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409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1" name="ih_410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2" name="il_411"/>
          <p:cNvSpPr/>
          <p:nvPr/>
        </p:nvSpPr>
        <p:spPr>
          <a:xfrm>
            <a:off x="6236208" y="1892808"/>
            <a:ext cx="2542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Workbook 6A: 3 Vocabulary a–d (sleep)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Workbook 6A: 2 Pronunciation /s/ and /z/ a–e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80 words: your ideal bedtime routine (use 5 sleep expressions)</a:t>
            </a:r>
            <a:endParaRPr lang="en-US" sz="1150" dirty="0"/>
          </a:p>
        </p:txBody>
      </p:sp>
      <p:sp>
        <p:nvSpPr>
          <p:cNvPr id="23" name="st_412"/>
          <p:cNvSpPr/>
          <p:nvPr/>
        </p:nvSpPr>
        <p:spPr>
          <a:xfrm rot="-180000">
            <a:off x="5806440" y="3931920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6B · Music to my ears · gerunds and infinitives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6A-2 Night night</dc:title>
  <dc:subject>PptxGenJS Presentation</dc:subject>
  <dc:creator>PptxGenJS</dc:creator>
  <cp:lastModifiedBy>PptxGenJS</cp:lastModifiedBy>
  <cp:revision>1</cp:revision>
  <dcterms:created xsi:type="dcterms:W3CDTF">2026-10-12T09:16:12Z</dcterms:created>
  <dcterms:modified xsi:type="dcterms:W3CDTF">2026-10-12T09:16:12Z</dcterms:modified>
</cp:coreProperties>
</file>