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1167433"/>
            <a:ext cx="3977640" cy="2420013"/>
          </a:xfrm>
          <a:prstGeom prst="roundRect">
            <a:avLst>
              <a:gd name="adj" fmla="val 642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560_31.png">    </p:cNvPr>
          <p:cNvPicPr>
            <a:picLocks noChangeAspect="1"/>
          </p:cNvPicPr>
          <p:nvPr/>
        </p:nvPicPr>
        <p:blipFill>
          <a:blip r:embed="rId4"/>
          <a:stretch>
            <a:fillRect/>
          </a:stretch>
        </p:blipFill>
        <p:spPr>
          <a:xfrm rot="90000">
            <a:off x="4892040" y="1213153"/>
            <a:ext cx="3886200" cy="2328573"/>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2" name="cd_26"/>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9"/>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6" name="st_30"/>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1"/>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2"/>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19" name="chip_33"/>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0" name="bd_34"/>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5"/>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2" name="R1_chip3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3" name="bd_37"/>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8"/>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5" name="R2_chip3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6" name="bd_40"/>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1"/>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28" name="R3_chip4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29" name="bd_43"/>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4"/>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1" name="R4_chip4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2" name="bd_46"/>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7"/>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4" name="R5_chip4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note_5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2" name="cd_58"/>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0"/>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61"/>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6" name="R1_qb6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63"/>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18" name="R2_qb64"/>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65"/>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0" name="R3_qb66"/>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67"/>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2" name="R4_qb68"/>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69"/>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1"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2"/>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note_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2" name="cd_79"/>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8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8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5" name="R1_def82"/>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6" name="R2_it83"/>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7" name="cd_84"/>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8" name="e_8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8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0" name="R3_def87"/>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1" name="R4_it88"/>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2" name="cd_89"/>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9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9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5" name="R5_def92"/>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6" name="R6_it93"/>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7" name="cd_94"/>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8" name="e_9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9" name="en_9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0" name="R7_def97"/>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1" name="R8_it98"/>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2" name="cd_99"/>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e_100"/>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01"/>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5" name="R9_def102"/>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6" name="R10_it103"/>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7" name="cd_104"/>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8" name="e_105"/>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06"/>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0" name="R11_def107"/>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1" name="R12_it108"/>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2" name="cd_109"/>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3" name="e_110"/>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11"/>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5" name="R13_def112"/>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6" name="R14_it113"/>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7" name="cd_114"/>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8" name="e_115"/>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9" name="en_116"/>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0" name="R15_def117"/>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1" name="R16_it118"/>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2" name="R17_wc119"/>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3" name="R17_w120"/>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0"/>
                                        </p:tgtEl>
                                        <p:attrNameLst>
                                          <p:attrName>style.visibility</p:attrName>
                                        </p:attrNameLst>
                                      </p:cBhvr>
                                      <p:to>
                                        <p:strVal val="visible"/>
                                      </p:to>
                                    </p:set>
                                    <p:animEffect transition="in" filter="fade">
                                      <p:cBhvr>
                                        <p:cTn id="77" dur="400"/>
                                        <p:tgtEl>
                                          <p:spTgt spid="5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400"/>
                                        <p:tgtEl>
                                          <p:spTgt spid="5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2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2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note_12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2" name="cd_130"/>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131"/>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4" name="nx_132"/>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5" name="sf_133"/>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3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3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note_1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gist</a:t>
            </a:r>
            <a:endParaRPr lang="en-US" sz="1250" dirty="0"/>
          </a:p>
        </p:txBody>
      </p:sp>
      <p:pic>
        <p:nvPicPr>
          <p:cNvPr id="10" name="logo_1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2" name="cd_1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14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4" name="R1_rdE14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happy music improved 'divergent thinking'</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which is all about creativity. However, they found that </a:t>
            </a:r>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it had no impact on 'convergent thinking'</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5" name="cd_146"/>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147"/>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48"/>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18" name="il_149"/>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19" name="R1_chip150"/>
          <p:cNvSpPr/>
          <p:nvPr/>
        </p:nvSpPr>
        <p:spPr>
          <a:xfrm>
            <a:off x="6263640" y="3777488"/>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5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54"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55"/>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note_1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detail</a:t>
            </a:r>
            <a:endParaRPr lang="en-US" sz="1150" dirty="0"/>
          </a:p>
        </p:txBody>
      </p:sp>
      <p:pic>
        <p:nvPicPr>
          <p:cNvPr id="10" name="logo_1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2" name="cd_160"/>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161"/>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4" name="R1_rdA162"/>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5" name="R2_rdA16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6" name="R3_rdA16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4_rdA16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5_rdA16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bh_167"/>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0" name="bd_168"/>
          <p:cNvSpPr/>
          <p:nvPr/>
        </p:nvSpPr>
        <p:spPr>
          <a:xfrm>
            <a:off x="6263640" y="189204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1" name="rb_169"/>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2" name="bd_170"/>
          <p:cNvSpPr/>
          <p:nvPr/>
        </p:nvSpPr>
        <p:spPr>
          <a:xfrm>
            <a:off x="6263640" y="238429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3" name="rb_171"/>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4" name="bd_172"/>
          <p:cNvSpPr/>
          <p:nvPr/>
        </p:nvSpPr>
        <p:spPr>
          <a:xfrm>
            <a:off x="6263640" y="28765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5" name="rb_173"/>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6" name="bd_174"/>
          <p:cNvSpPr/>
          <p:nvPr/>
        </p:nvSpPr>
        <p:spPr>
          <a:xfrm>
            <a:off x="6263640" y="336880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27" name="rb_175"/>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28" name="bd_176"/>
          <p:cNvSpPr/>
          <p:nvPr/>
        </p:nvSpPr>
        <p:spPr>
          <a:xfrm>
            <a:off x="6263640" y="38610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29" name="rb_177"/>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0" name="bd_178"/>
          <p:cNvSpPr/>
          <p:nvPr/>
        </p:nvSpPr>
        <p:spPr>
          <a:xfrm>
            <a:off x="6263640" y="43533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1" name="rb_179"/>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82"/>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8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note_1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150" dirty="0"/>
          </a:p>
        </p:txBody>
      </p:sp>
      <p:pic>
        <p:nvPicPr>
          <p:cNvPr id="10" name="logo_1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2" name="pf_189"/>
          <p:cNvSpPr/>
          <p:nvPr/>
        </p:nvSpPr>
        <p:spPr>
          <a:xfrm rot="-120000">
            <a:off x="651627" y="1371600"/>
            <a:ext cx="212574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90" descr="/home/claude/lls-course/v2/cache/b2_6b2_theatre_jpg_489x297_31.png">    </p:cNvPr>
          <p:cNvPicPr>
            <a:picLocks noChangeAspect="1"/>
          </p:cNvPicPr>
          <p:nvPr/>
        </p:nvPicPr>
        <p:blipFill>
          <a:blip r:embed="rId5"/>
          <a:stretch>
            <a:fillRect/>
          </a:stretch>
        </p:blipFill>
        <p:spPr>
          <a:xfrm rot="-120000">
            <a:off x="697347" y="1417320"/>
            <a:ext cx="2034307" cy="1234440"/>
          </a:xfrm>
          <a:prstGeom prst="rect">
            <a:avLst/>
          </a:prstGeom>
        </p:spPr>
      </p:pic>
      <p:sp>
        <p:nvSpPr>
          <p:cNvPr id="14" name="cd_19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19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18" name="R1_qb19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19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0" name="R2_qb19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9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2" name="R3_qb19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0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04"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05"/>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note_20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gist</a:t>
            </a:r>
            <a:endParaRPr lang="en-US" sz="1250" dirty="0"/>
          </a:p>
        </p:txBody>
      </p:sp>
      <p:pic>
        <p:nvPicPr>
          <p:cNvPr id="10" name="logo_2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2" name="cd_210"/>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11"/>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4" name="rd_212"/>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5" name="rdl_213"/>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1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1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note_2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gist</a:t>
            </a:r>
            <a:endParaRPr lang="en-US" sz="1250" dirty="0"/>
          </a:p>
        </p:txBody>
      </p:sp>
      <p:pic>
        <p:nvPicPr>
          <p:cNvPr id="10" name="logo_2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2" name="cd_223"/>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24"/>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4" name="rd_225"/>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5" name="rdl_226"/>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3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note_2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Scanning</a:t>
            </a:r>
            <a:endParaRPr lang="en-US" sz="1150" dirty="0"/>
          </a:p>
        </p:txBody>
      </p:sp>
      <p:pic>
        <p:nvPicPr>
          <p:cNvPr id="10" name="logo_2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2" name="bd_236"/>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237"/>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4" name="R1_chip238"/>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5" name="bd_239"/>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240"/>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17" name="R2_chip241"/>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18" name="bd_242"/>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243"/>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0" name="R3_chip244"/>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1" name="bd_245"/>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246"/>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3" name="R4_chip247"/>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4" name="bd_248"/>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249"/>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6" name="R5_chip250"/>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27" name="bd_251"/>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252"/>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29" name="R6_chip253"/>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0" name="bd_254"/>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255"/>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2" name="R7_chip256"/>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3" name="bd_257"/>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258"/>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5" name="R8_chip259"/>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6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6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note_26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2" name="bd_269"/>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270"/>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4" name="R1_chip271"/>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5" name="bd_272"/>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273"/>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7" name="R2_chip274"/>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18" name="bd_275"/>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276"/>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0" name="R3_chip277"/>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1" name="bd_278"/>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279"/>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3" name="R4_chip280"/>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4" name="bd_281"/>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282"/>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6" name="R5_chip283"/>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7" name="bd_284"/>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285"/>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29" name="R6_chip286"/>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89"/>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9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note_2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groups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Role-play · prepare</a:t>
            </a:r>
            <a:endParaRPr lang="en-US" sz="1150" dirty="0"/>
          </a:p>
        </p:txBody>
      </p:sp>
      <p:pic>
        <p:nvPicPr>
          <p:cNvPr id="10"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2" name="cd_296"/>
          <p:cNvSpPr/>
          <p:nvPr/>
        </p:nvSpPr>
        <p:spPr>
          <a:xfrm>
            <a:off x="320040" y="1417320"/>
            <a:ext cx="2788920" cy="2700528"/>
          </a:xfrm>
          <a:prstGeom prst="roundRect">
            <a:avLst>
              <a:gd name="adj" fmla="val 474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98"/>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5" name="il_299"/>
          <p:cNvSpPr/>
          <p:nvPr/>
        </p:nvSpPr>
        <p:spPr>
          <a:xfrm>
            <a:off x="886968" y="1911096"/>
            <a:ext cx="2130552" cy="21336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6" name="R1_qb30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30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18" name="R2_qb30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30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0" name="R3_qb30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30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2" name="R4_qb30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30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09"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10"/>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11"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12"/>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note_3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Reach a consensus</a:t>
            </a:r>
            <a:endParaRPr lang="en-US" sz="1250" dirty="0"/>
          </a:p>
        </p:txBody>
      </p:sp>
      <p:pic>
        <p:nvPicPr>
          <p:cNvPr id="10" name="logo_3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2" name="cd_317"/>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1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320"/>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6" name="R1_qb32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32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18" name="R2_qb32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32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0" name="R3_qb32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32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2" name="R4_qb32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32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4" name="R5_qb329"/>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330"/>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3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35"/>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note_33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2" name="pf_340"/>
          <p:cNvSpPr/>
          <p:nvPr/>
        </p:nvSpPr>
        <p:spPr>
          <a:xfrm rot="-90000">
            <a:off x="1089178" y="1417320"/>
            <a:ext cx="1204925" cy="1280160"/>
          </a:xfrm>
          <a:prstGeom prst="roundRect">
            <a:avLst>
              <a:gd name="adj" fmla="val 129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41" descr="/home/claude/lls-course/v2/cache/b2_6b2_giulia_jpg_268x286_31.png">    </p:cNvPr>
          <p:cNvPicPr>
            <a:picLocks noChangeAspect="1"/>
          </p:cNvPicPr>
          <p:nvPr/>
        </p:nvPicPr>
        <p:blipFill>
          <a:blip r:embed="rId5"/>
          <a:stretch>
            <a:fillRect/>
          </a:stretch>
        </p:blipFill>
        <p:spPr>
          <a:xfrm rot="-90000">
            <a:off x="1134898" y="1463040"/>
            <a:ext cx="1113485" cy="1188720"/>
          </a:xfrm>
          <a:prstGeom prst="rect">
            <a:avLst/>
          </a:prstGeom>
        </p:spPr>
      </p:pic>
      <p:sp>
        <p:nvSpPr>
          <p:cNvPr id="14" name="cd_342"/>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3"/>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4"/>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45"/>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18" name="R1_sb346"/>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47"/>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0" name="R2_sb348"/>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49"/>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2" name="R3_sb350"/>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51"/>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4" name="R4_sb352"/>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53"/>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6" name="R5_sb354"/>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55"/>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28" name="R6_sb356"/>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57"/>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8"/>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5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6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6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6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note_36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retell</a:t>
            </a:r>
            <a:endParaRPr lang="en-US" sz="1250" dirty="0"/>
          </a:p>
        </p:txBody>
      </p:sp>
      <p:pic>
        <p:nvPicPr>
          <p:cNvPr id="10"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2" name="R1_sb367"/>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R1_sl368"/>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4" name="R2_sb369"/>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5" name="R2_sl370"/>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6" name="R3_sb371"/>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7" name="R3_sl372"/>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18" name="R4_sb373"/>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19" name="R4_sl374"/>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0" name="R5_sb375"/>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1" name="R5_sl376"/>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2" name="R6_sb377"/>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3" name="R6_sl378"/>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400"/>
                                        <p:tgtEl>
                                          <p:spTgt spid="20"/>
                                        </p:tgtEl>
                                      </p:cBhvr>
                                    </p:animEffect>
                                  </p:childTnLst>
                                </p:cTn>
                              </p:par>
                              <p:par>
                                <p:cTn id="40" presetID="10" presetClass="entr" presetSubtype="0" fill="hold"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4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38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8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38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8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3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note_3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2" name="cd_38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9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6" name="st_392"/>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93"/>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94"/>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19" name="chip_395"/>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0" name="bd_396"/>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97"/>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2" name="R1_chip39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3" name="bd_399"/>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00"/>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5" name="R2_chip40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6" name="bd_402"/>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03"/>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28" name="R3_chip40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0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0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note_41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2" name="bd_414"/>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15"/>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4" name="bd_416"/>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17"/>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6" name="bd_418"/>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19"/>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8" name="cd_420"/>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21"/>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22"/>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23"/>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2" name="st_424"/>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2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29"/>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2" name="cd_434"/>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35"/>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36"/>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5" name="R1_tk437"/>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38"/>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39"/>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40"/>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19" name="R2_tk441"/>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42"/>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43"/>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44"/>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3" name="R3_tk445"/>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46"/>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47"/>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48"/>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7" name="R4_tk449"/>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450"/>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451"/>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452"/>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1" name="R5_tk453"/>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454"/>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455"/>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456"/>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457"/>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458"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46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6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6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6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4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note_46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2" name="ext_468"/>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469"/>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4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71"/>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6" name="il_472"/>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7" name="R1_qb47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8" name="R1_sq47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19" name="R2_qb47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0" name="R2_sq47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1" name="R3_qb47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2" name="R3_sq47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3" name="R4_qb47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4" name="R4_sq48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5" name="R5_qb481"/>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6" name="R5_sq482"/>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400"/>
                                        <p:tgtEl>
                                          <p:spTgt spid="25"/>
                                        </p:tgtEl>
                                      </p:cBhvr>
                                    </p:animEffect>
                                  </p:childTnLst>
                                </p:cTn>
                              </p:par>
                              <p:par>
                                <p:cTn id="40" presetID="10" presetClass="entr" presetSubtype="0" fill="hold"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2026-10-21T09:56:03Z</dcterms:created>
  <dcterms:modified xsi:type="dcterms:W3CDTF">2026-10-21T09:56:03Z</dcterms:modified>
</cp:coreProperties>
</file>