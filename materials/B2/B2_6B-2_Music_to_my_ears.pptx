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Ask the question; take 3–4 answers and push: 'Why? Always? For which subject?' Click: the example answer. Read 'Today you're going to…'. The photo is a young pianist (from SB p.63) – just the topic: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(6B-1): -ing or to? (4 min)
ACTIVE RECAP (4 min) – the only slide about last lesson. Two teams; 20 seconds per sentence. The team must say the WHOLE sentence (not just the verb). Click once per item: the full sentence appears. Meaning check after items 4–5: 'stopped playing' = they finished · 'stopped to buy' = they paused in order to buy. Item 6: need + -ing = passive meaning (they need to be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Speaking · music and work (3 min)
LEAD-IN (3 min). SB 4a. Questions appear one per click. Model Q1 with your own answer. Push beyond the first answer: 'Why? Give me an example.' Q4 is the fun one – let pairs argue for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8 key words from the texts (3 min)
KEY WORDS BEFORE READING (3 min). Only words Italians find hard (no cognates). Two levels: strong students explain each word in English; others say the Italian. Click 1 = English meaning, click 2 = Italian. Then quick personal check: 'Name a crowd-pleaser.' 'Which music do you find soothing?' 'Is silence eerie for you?' All 8 appear in today's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Reading · prediction (2 min)
PREDICTION (2 min). No books needed – the article is on the next slide. Pairs choose 1, 2 or 3 and say why. Take a class vote – write it on the board. Don't confirm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Reading · gist (top-down) (3 min)
GIST (3 min). The whole article is on the slide – no books. ONE minute only: students read fast for the main idea, not every word, and ignore the gaps. Then pairs choose 1, 2 or 3. Click: the answer. Answer (SB key 4b): 2. Compare with the class vote from the last slide. Ask: 'Which words in the text tell you?' (it depends on… / happy music improved divergent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detail (bottom-up) (5 min)
DETAIL (5 min). Gap 1 is already filled (purple) as the example: B 'can actually be beneficial'. Strategy: read the words BEFORE and AFTER each gap and check the grammar fits (gap 6: 'better off' + -ing → E opting for; gap 4: 'while' + -ing → A listening…). Pairs decide, then click once per gap: the phrase appears IN the text, highlighted. Key (SB 4c): 1B 2F 3D 4A 5C 6E. Then SB 4d (30 seconds): 'Will you do anything different when you study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prediction (text 2) (3 min)
PREDICTION (3 min). SB 4e. The photo is from the article. Questions one per click. Write 2–3 advantages and disadvantages on the board: students check them in the doctors' texts on the next two slides (SB 4f).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four doctors (1) (3 min)
READING 4f, part 1 (3 min). 'What doctors listen to in the operating theatre' (adapted from The Guardian) – the text exactly as in the book. Students read and tick the board ideas the doctors mention. Ask after each doctor: 'Music or no music? Why?' (Ramon: yes – better mood, the team had fun. Safina: yes – soothing; silence is eerie.)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four doctors (2) (2 min)
READING 4f, part 2 (2 min). Samer: NO music – communication. Gabriel: yes, for the patient – but off when things get serious. 4f question: 'In a discussion between these four doctors, what would the general consensus be?' (Probably music – but not all the time: 3 of 4 like it, and Gabriel turns it off when it's serious.) Go back one slide if students want to check Ramon or Safina.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four doctors (scanning) (5 min)
SCANNING (5 min). Pairs find who says each idea – AND the words in the text that prove it (go back to the two text slides). Click once per statement: the doctor + their exact words. Always ask: 'Where does it say that? Read me the words.' Key (SB 4g): 1 SN 2 RT 3 RT 4 SA 5 GW 6 SA 7 SN 8 GW.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Reading · real words + grammar (-ing or to?) (3 min)
REAL WORDS + NOTICING (3 min). Students scan the doctors' texts (previous slides) for the exact words. Click once per item: the full sentence with the verb form highlighted. Then the grammar question: 'Which verbs take -ing? Which take to?' (mind + -ing; try / like / impossible + to; get someone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Speaking · hospital meeting (1): roles (2 min)
HOSPITAL MEETING, step 1 (2 min). The question: should there be music in the operating theatre? Show roles A–D (one per click) and give each student one role (groups of 3: drop C). 1 minute to read the role and think of 2 reasons – they can use the doctors' ideas from the texts. Don't start discussing yet: go to the next slide for the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Speaking · hospital meeting (2): debate + vote (5 min)
HOSPITAL MEETING, step 2 (5 min). Click one stage at a time and keep time: Round 1 = 2 minutes (30 seconds each), Round 2 = 2 minutes (they must use 2 phrases from the box), then vote and write the rule (1 minute). Each group reads its rule to the class. Push: 'Who compromised? What changed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class story (TPRS) (4 min)
TPRS CLASS STORY (4 min) – no audio: you READ it, line by line (click). For each line ask the grey questions round the class – at B2 push for WHY and for opinions, not just facts. Let students change details ('Was it maths? Which subject?') and use their ideas in the next lines. Line 2: try + -ing (experiment) vs try to (effort) – recycles last lesson. Line 5 links back to the article (problem-solving → silence = E 'opting for quiet solitude').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Speaking · retell (TPRS) (3 min)
RETELL (3 min). The story slide is gone: only one word per line (click once per word or show all). A tells lines 1–3, B tells 4–6, then swap. Challenge for strong pairs: add one new detail to each line, or tell it as Giulia ('I opted for…'). Listen for opted for / tried putting on / couldn't help singing / better off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game · the right music (5 min)
WHICH MUSIC IS BEST? (5 min). SB 4h made into a team game. The 4 situations are on the slide; click once per situation for an example answer – show it only after the teams have answered. 1 minute per situation: each team decides the TYPE of music (fast/slow, lyrics/no lyrics, or silence) and gives 2 reasons with 2 of today's words (uplifting, soothing, bland, crowd-pleaser, opt for, better off…). The class votes (not for their own team). Link to the texts: creative task → happy music; problem-solving →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Exit · what can you remember? (2 min)
EXIT (2 min). Pairs, books closed: 3 words with meanings (eerie, bland, soothing, opt for…), 2 things the doctors said (Ramon: the team didn't mind staying late; Samer: noise gets in the way…), 1 personal change. Ask 3 students for their '1'. Homework is in the students'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Speaking · debate statements (5 min)
EXTRA (5 min). SB 5. Statements one per click. Each group discusses; then one student must argue the OPPOSITE of what they think ('devil's advocate'). VIDEO 6 (Isata Kanneh-Mason): the video is not in our files – if you have English File Online Practice / the DVD, SB 6a–c work well here (key in SB key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Upper-intermediate · SB pp.62–63</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6B-2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Music while you work</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Does music help you work?</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revise last lesson: -ing or to?</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learn 8 words Italians often get wrong</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two articles: music and work</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agree on a music rule for a hospital</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make your own playlist and sell it</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9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It depends! For maths I need silence, but when I draw I put on something upbeat.</a:t>
            </a:r>
            <a:endParaRPr lang="en-US" sz="900" dirty="0"/>
          </a:p>
        </p:txBody>
      </p:sp>
      <p:sp>
        <p:nvSpPr>
          <p:cNvPr id="14" name="pf_12"/>
          <p:cNvSpPr/>
          <p:nvPr/>
        </p:nvSpPr>
        <p:spPr>
          <a:xfrm rot="90000">
            <a:off x="4846320" y="1167433"/>
            <a:ext cx="3977640" cy="2420013"/>
          </a:xfrm>
          <a:prstGeom prst="roundRect">
            <a:avLst>
              <a:gd name="adj" fmla="val 642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b2_6b_pianist_jpg_935x560_31.png">    </p:cNvPr>
          <p:cNvPicPr>
            <a:picLocks noChangeAspect="1"/>
          </p:cNvPicPr>
          <p:nvPr/>
        </p:nvPicPr>
        <p:blipFill>
          <a:blip r:embed="rId4"/>
          <a:stretch>
            <a:fillRect/>
          </a:stretch>
        </p:blipFill>
        <p:spPr>
          <a:xfrm rot="90000">
            <a:off x="4892040" y="1213153"/>
            <a:ext cx="3886200" cy="2328573"/>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Do you listen to music when you study? Does it help you – or distract you?</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19"/>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Last lesson: -ing or to?</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21"/>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WHOLE sentence: -ing or to?</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la frase INTERA: -ing o to?</a:t>
            </a:r>
            <a:endParaRPr lang="en-US" sz="950" dirty="0"/>
          </a:p>
        </p:txBody>
      </p:sp>
      <p:sp>
        <p:nvSpPr>
          <p:cNvPr id="9" name="cmd_23"/>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PLAY</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GIOCA</a:t>
            </a:r>
            <a:endParaRPr lang="en-US" sz="950" dirty="0"/>
          </a:p>
        </p:txBody>
      </p:sp>
      <p:sp>
        <p:nvSpPr>
          <p:cNvPr id="10" name="meta_24"/>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25"/>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Communicative game</a:t>
            </a:r>
            <a:endParaRPr lang="en-US" sz="7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Revision · last lesson (6B-1): -ing or to?   ·   📖 Recycles 6B part 1 (Tue 13 Oct)</a:t>
            </a:r>
            <a:endParaRPr lang="en-US" sz="800" dirty="0"/>
          </a:p>
        </p:txBody>
      </p:sp>
      <p:sp>
        <p:nvSpPr>
          <p:cNvPr id="14" name="cd_28"/>
          <p:cNvSpPr/>
          <p:nvPr/>
        </p:nvSpPr>
        <p:spPr>
          <a:xfrm>
            <a:off x="320040" y="1417320"/>
            <a:ext cx="2697480" cy="2112264"/>
          </a:xfrm>
          <a:prstGeom prst="roundRect">
            <a:avLst>
              <a:gd name="adj" fmla="val 606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31"/>
          <p:cNvSpPr/>
          <p:nvPr/>
        </p:nvSpPr>
        <p:spPr>
          <a:xfrm>
            <a:off x="886968" y="1911096"/>
            <a:ext cx="2039112" cy="1545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e.g. I enjoy ___ (sing). → I enjoy singing.</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Careful: remember · try · stop · need!</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Whole sentence correct = 1 point.</a:t>
            </a:r>
            <a:endParaRPr lang="en-US" sz="1200" dirty="0"/>
          </a:p>
        </p:txBody>
      </p:sp>
      <p:sp>
        <p:nvSpPr>
          <p:cNvPr id="18" name="st_32"/>
          <p:cNvSpPr/>
          <p:nvPr/>
        </p:nvSpPr>
        <p:spPr>
          <a:xfrm rot="-180000">
            <a:off x="502920" y="3712464"/>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33"/>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20" name="gq_34"/>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I'll never forget ___ (see) my favourite band live.</a:t>
            </a:r>
            <a:endParaRPr lang="en-US" sz="1250" dirty="0"/>
          </a:p>
        </p:txBody>
      </p:sp>
      <p:sp>
        <p:nvSpPr>
          <p:cNvPr id="21" name="chip_35"/>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I'll never forget seeing my favourite band live.</a:t>
            </a:r>
            <a:endParaRPr lang="en-US" sz="1200" dirty="0"/>
          </a:p>
        </p:txBody>
      </p:sp>
      <p:sp>
        <p:nvSpPr>
          <p:cNvPr id="22" name="bd_36"/>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3" name="gq_37"/>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Remember ___ (charge) your phone before the concert!</a:t>
            </a:r>
            <a:endParaRPr lang="en-US" sz="1100" dirty="0"/>
          </a:p>
        </p:txBody>
      </p:sp>
      <p:sp>
        <p:nvSpPr>
          <p:cNvPr id="24" name="R1_chip38"/>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Remember to charge your phone before the concert!</a:t>
            </a:r>
            <a:endParaRPr lang="en-US" sz="1200" dirty="0"/>
          </a:p>
        </p:txBody>
      </p:sp>
      <p:sp>
        <p:nvSpPr>
          <p:cNvPr id="25" name="bd_39"/>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6" name="gq_40"/>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Can't sleep? Try ___ (listen) to calm music.</a:t>
            </a:r>
            <a:endParaRPr lang="en-US" sz="1250" dirty="0"/>
          </a:p>
        </p:txBody>
      </p:sp>
      <p:sp>
        <p:nvSpPr>
          <p:cNvPr id="27" name="R2_chip41"/>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Can't sleep? Try listening to calm music.</a:t>
            </a:r>
            <a:endParaRPr lang="en-US" sz="1200" dirty="0"/>
          </a:p>
        </p:txBody>
      </p:sp>
      <p:sp>
        <p:nvSpPr>
          <p:cNvPr id="28" name="bd_42"/>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9" name="gq_43"/>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band stopped ___ (play) because of the rain.</a:t>
            </a:r>
            <a:endParaRPr lang="en-US" sz="1250" dirty="0"/>
          </a:p>
        </p:txBody>
      </p:sp>
      <p:sp>
        <p:nvSpPr>
          <p:cNvPr id="30" name="R3_chip44"/>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The band stopped playing because of the rain.</a:t>
            </a:r>
            <a:endParaRPr lang="en-US" sz="1200" dirty="0"/>
          </a:p>
        </p:txBody>
      </p:sp>
      <p:sp>
        <p:nvSpPr>
          <p:cNvPr id="31" name="bd_45"/>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2" name="gq_46"/>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On the way, we stopped ___ (buy) a drink.</a:t>
            </a:r>
            <a:endParaRPr lang="en-US" sz="1250" dirty="0"/>
          </a:p>
        </p:txBody>
      </p:sp>
      <p:sp>
        <p:nvSpPr>
          <p:cNvPr id="33" name="R4_chip47"/>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On the way, we stopped to buy a drink.</a:t>
            </a:r>
            <a:endParaRPr lang="en-US" sz="1200" dirty="0"/>
          </a:p>
        </p:txBody>
      </p:sp>
      <p:sp>
        <p:nvSpPr>
          <p:cNvPr id="34" name="bd_48"/>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5" name="gq_49"/>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My headphones need ___ (fix).</a:t>
            </a:r>
            <a:endParaRPr lang="en-US" sz="1250" dirty="0"/>
          </a:p>
        </p:txBody>
      </p:sp>
      <p:sp>
        <p:nvSpPr>
          <p:cNvPr id="36" name="R5_chip50"/>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My headphones need fixing.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2"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3"/>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Music and work</a:t>
            </a:r>
            <a:endParaRPr lang="en-US" sz="2500" dirty="0"/>
          </a:p>
        </p:txBody>
      </p:sp>
      <p:pic>
        <p:nvPicPr>
          <p:cNvPr id="6" name="brP_54"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5"/>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Then ask your partner: And you?</a:t>
            </a:r>
            <a:endParaRPr lang="en-US" sz="1250" dirty="0"/>
          </a:p>
        </p:txBody>
      </p:sp>
      <p:sp>
        <p:nvSpPr>
          <p:cNvPr id="8" name="insIT_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Poi chiedi al compagno: E tu?</a:t>
            </a:r>
            <a:endParaRPr lang="en-US" sz="950" dirty="0"/>
          </a:p>
        </p:txBody>
      </p:sp>
      <p:sp>
        <p:nvSpPr>
          <p:cNvPr id="9" name="cmd_57"/>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58"/>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59"/>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6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 music and work   ·   📖 SB p.62 · 4a</a:t>
            </a:r>
            <a:endParaRPr lang="en-US" sz="800" dirty="0"/>
          </a:p>
        </p:txBody>
      </p:sp>
      <p:sp>
        <p:nvSpPr>
          <p:cNvPr id="14" name="cd_62"/>
          <p:cNvSpPr/>
          <p:nvPr/>
        </p:nvSpPr>
        <p:spPr>
          <a:xfrm>
            <a:off x="320040" y="1417320"/>
            <a:ext cx="2788920" cy="2402840"/>
          </a:xfrm>
          <a:prstGeom prst="roundRect">
            <a:avLst>
              <a:gd name="adj" fmla="val 532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6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4"/>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65"/>
          <p:cNvSpPr/>
          <p:nvPr/>
        </p:nvSpPr>
        <p:spPr>
          <a:xfrm>
            <a:off x="886968" y="1911096"/>
            <a:ext cx="2130552" cy="18359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depends on what I'm doing.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can't concentrate if…</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helps me to…</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I'd rather work in silence.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And you? · Really? Why?</a:t>
            </a:r>
            <a:endParaRPr lang="en-US" sz="1150" dirty="0"/>
          </a:p>
        </p:txBody>
      </p:sp>
      <p:sp>
        <p:nvSpPr>
          <p:cNvPr id="18" name="R1_qb6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67"/>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 you normally listen to music when you study or work? What kind?</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 lo-fi beats when I revise. No lyrics!</a:t>
            </a:r>
            <a:endParaRPr lang="en-US" sz="950" dirty="0"/>
          </a:p>
        </p:txBody>
      </p:sp>
      <p:sp>
        <p:nvSpPr>
          <p:cNvPr id="20" name="R2_qb68"/>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69"/>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Does it depend on the subject? Which subjects are impossible with music?</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Maths is impossible – I need total silence.</a:t>
            </a:r>
            <a:endParaRPr lang="en-US" sz="950" dirty="0"/>
          </a:p>
        </p:txBody>
      </p:sp>
      <p:sp>
        <p:nvSpPr>
          <p:cNvPr id="22" name="R3_qb70"/>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71"/>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Which is worse: music with lyrics or music without? Why?</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With lyrics – I start singing and stop reading!</a:t>
            </a:r>
            <a:endParaRPr lang="en-US" sz="950" dirty="0"/>
          </a:p>
        </p:txBody>
      </p:sp>
      <p:sp>
        <p:nvSpPr>
          <p:cNvPr id="24" name="R4_qb72"/>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73"/>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Challenge: what's the WORST music to study to? Convince your partner.</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Heavy metal – your heart is racing, you can't think.</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75" descr="/home/claude/lls-course/v2/assets/brush-yellow.png">    </p:cNvPr>
          <p:cNvPicPr>
            <a:picLocks noChangeAspect="1"/>
          </p:cNvPicPr>
          <p:nvPr/>
        </p:nvPicPr>
        <p:blipFill>
          <a:blip r:embed="rId2"/>
          <a:stretch>
            <a:fillRect/>
          </a:stretch>
        </p:blipFill>
        <p:spPr>
          <a:xfrm>
            <a:off x="1097280" y="146304"/>
            <a:ext cx="5449824" cy="621792"/>
          </a:xfrm>
          <a:prstGeom prst="rect">
            <a:avLst/>
          </a:prstGeom>
        </p:spPr>
      </p:pic>
      <p:sp>
        <p:nvSpPr>
          <p:cNvPr id="5" name="title_76"/>
          <p:cNvSpPr/>
          <p:nvPr/>
        </p:nvSpPr>
        <p:spPr>
          <a:xfrm>
            <a:off x="1261872" y="164592"/>
            <a:ext cx="517550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Key words: tricky for Italians</a:t>
            </a:r>
            <a:endParaRPr lang="en-US" sz="2500" dirty="0"/>
          </a:p>
        </p:txBody>
      </p:sp>
      <p:pic>
        <p:nvPicPr>
          <p:cNvPr id="6" name="brP_7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7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Explain it in English (harder) – or say it in Italian (easier). Click.</a:t>
            </a:r>
            <a:endParaRPr lang="en-US" sz="1100" dirty="0"/>
          </a:p>
        </p:txBody>
      </p:sp>
      <p:sp>
        <p:nvSpPr>
          <p:cNvPr id="8" name="insIT_7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Spiegalo in inglese (più difficile) – o dillo in italiano (più facile). Clicca.</a:t>
            </a:r>
            <a:endParaRPr lang="en-US" sz="950" dirty="0"/>
          </a:p>
        </p:txBody>
      </p:sp>
      <p:sp>
        <p:nvSpPr>
          <p:cNvPr id="9" name="cmd_80"/>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CHECK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CONTROLLA</a:t>
            </a:r>
            <a:endParaRPr lang="en-US" sz="950" dirty="0"/>
          </a:p>
        </p:txBody>
      </p:sp>
      <p:sp>
        <p:nvSpPr>
          <p:cNvPr id="10" name="meta_81"/>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82"/>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TPRS · meaning</a:t>
            </a:r>
            <a:endParaRPr lang="en-US" sz="750" dirty="0"/>
          </a:p>
        </p:txBody>
      </p:sp>
      <p:pic>
        <p:nvPicPr>
          <p:cNvPr id="12" name="logo_8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Vocabulary · 8 key words from the texts   ·   📖 SB pp.62–63</a:t>
            </a:r>
            <a:endParaRPr lang="en-US" sz="800" dirty="0"/>
          </a:p>
        </p:txBody>
      </p:sp>
      <p:sp>
        <p:nvSpPr>
          <p:cNvPr id="14" name="cd_85"/>
          <p:cNvSpPr/>
          <p:nvPr/>
        </p:nvSpPr>
        <p:spPr>
          <a:xfrm>
            <a:off x="320040" y="1417320"/>
            <a:ext cx="2075688" cy="914400"/>
          </a:xfrm>
          <a:prstGeom prst="roundRect">
            <a:avLst>
              <a:gd name="adj" fmla="val 140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5" name="e_86"/>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87"/>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tune</a:t>
            </a:r>
            <a:endParaRPr lang="en-US" sz="1200" dirty="0"/>
          </a:p>
        </p:txBody>
      </p:sp>
      <p:sp>
        <p:nvSpPr>
          <p:cNvPr id="17" name="R1_def88"/>
          <p:cNvSpPr/>
          <p:nvPr/>
        </p:nvSpPr>
        <p:spPr>
          <a:xfrm>
            <a:off x="978408"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a short piece of music you can hum</a:t>
            </a:r>
            <a:endParaRPr lang="en-US" sz="850" dirty="0"/>
          </a:p>
        </p:txBody>
      </p:sp>
      <p:sp>
        <p:nvSpPr>
          <p:cNvPr id="18" name="R2_it89"/>
          <p:cNvSpPr/>
          <p:nvPr/>
        </p:nvSpPr>
        <p:spPr>
          <a:xfrm>
            <a:off x="978408" y="2121408"/>
            <a:ext cx="1362456" cy="182880"/>
          </a:xfrm>
          <a:prstGeom prst="rect">
            <a:avLst/>
          </a:prstGeom>
          <a:noFill/>
          <a:ln/>
        </p:spPr>
        <p:txBody>
          <a:bodyPr wrap="square" lIns="0" tIns="0" rIns="0" bIns="0" rtlCol="0" anchor="ctr">
            <a:normAutofit/>
          </a:bodyPr>
          <a:lstStyle/>
          <a:p>
            <a:pPr indent="0" marL="0">
              <a:buNone/>
            </a:pPr>
            <a:r>
              <a:rPr lang="en-US" sz="700" i="1" dirty="0">
                <a:solidFill>
                  <a:srgbClr val="2EB872"/>
                </a:solidFill>
                <a:latin typeface="Segoe UI Semibold" pitchFamily="34" charset="0"/>
                <a:ea typeface="Segoe UI Semibold" pitchFamily="34" charset="-122"/>
                <a:cs typeface="Segoe UI Semibold" pitchFamily="34" charset="-120"/>
              </a:rPr>
              <a:t>una melodia, un motivetto</a:t>
            </a:r>
            <a:endParaRPr lang="en-US" sz="700" dirty="0"/>
          </a:p>
        </p:txBody>
      </p:sp>
      <p:sp>
        <p:nvSpPr>
          <p:cNvPr id="19" name="cd_90"/>
          <p:cNvSpPr/>
          <p:nvPr/>
        </p:nvSpPr>
        <p:spPr>
          <a:xfrm>
            <a:off x="2487168" y="1417320"/>
            <a:ext cx="2075688" cy="914400"/>
          </a:xfrm>
          <a:prstGeom prst="roundRect">
            <a:avLst>
              <a:gd name="adj" fmla="val 140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0" name="e_91"/>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en_92"/>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uplifting</a:t>
            </a:r>
            <a:endParaRPr lang="en-US" sz="1200" dirty="0"/>
          </a:p>
        </p:txBody>
      </p:sp>
      <p:sp>
        <p:nvSpPr>
          <p:cNvPr id="22" name="R3_def93"/>
          <p:cNvSpPr/>
          <p:nvPr/>
        </p:nvSpPr>
        <p:spPr>
          <a:xfrm>
            <a:off x="3145536"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makes you feel happier</a:t>
            </a:r>
            <a:endParaRPr lang="en-US" sz="850" dirty="0"/>
          </a:p>
        </p:txBody>
      </p:sp>
      <p:sp>
        <p:nvSpPr>
          <p:cNvPr id="23" name="R4_it94"/>
          <p:cNvSpPr/>
          <p:nvPr/>
        </p:nvSpPr>
        <p:spPr>
          <a:xfrm>
            <a:off x="3145536"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che tira su, positivo</a:t>
            </a:r>
            <a:endParaRPr lang="en-US" sz="900" dirty="0"/>
          </a:p>
        </p:txBody>
      </p:sp>
      <p:sp>
        <p:nvSpPr>
          <p:cNvPr id="24" name="cd_95"/>
          <p:cNvSpPr/>
          <p:nvPr/>
        </p:nvSpPr>
        <p:spPr>
          <a:xfrm>
            <a:off x="4654296" y="1417320"/>
            <a:ext cx="2075688" cy="914400"/>
          </a:xfrm>
          <a:prstGeom prst="roundRect">
            <a:avLst>
              <a:gd name="adj" fmla="val 140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5" name="e_96"/>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97"/>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opt for</a:t>
            </a:r>
            <a:endParaRPr lang="en-US" sz="1200" dirty="0"/>
          </a:p>
        </p:txBody>
      </p:sp>
      <p:sp>
        <p:nvSpPr>
          <p:cNvPr id="27" name="R5_def98"/>
          <p:cNvSpPr/>
          <p:nvPr/>
        </p:nvSpPr>
        <p:spPr>
          <a:xfrm>
            <a:off x="5312664"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choose (formal)</a:t>
            </a:r>
            <a:endParaRPr lang="en-US" sz="850" dirty="0"/>
          </a:p>
        </p:txBody>
      </p:sp>
      <p:sp>
        <p:nvSpPr>
          <p:cNvPr id="28" name="R6_it99"/>
          <p:cNvSpPr/>
          <p:nvPr/>
        </p:nvSpPr>
        <p:spPr>
          <a:xfrm>
            <a:off x="5312664"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scegliere, optare per</a:t>
            </a:r>
            <a:endParaRPr lang="en-US" sz="900" dirty="0"/>
          </a:p>
        </p:txBody>
      </p:sp>
      <p:sp>
        <p:nvSpPr>
          <p:cNvPr id="29" name="cd_100"/>
          <p:cNvSpPr/>
          <p:nvPr/>
        </p:nvSpPr>
        <p:spPr>
          <a:xfrm>
            <a:off x="6821424" y="1417320"/>
            <a:ext cx="2075688" cy="914400"/>
          </a:xfrm>
          <a:prstGeom prst="roundRect">
            <a:avLst>
              <a:gd name="adj" fmla="val 140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30" name="e_101"/>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en_102"/>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better off + -ing</a:t>
            </a:r>
            <a:endParaRPr lang="en-US" sz="1200" dirty="0"/>
          </a:p>
        </p:txBody>
      </p:sp>
      <p:sp>
        <p:nvSpPr>
          <p:cNvPr id="32" name="R7_def103"/>
          <p:cNvSpPr/>
          <p:nvPr/>
        </p:nvSpPr>
        <p:spPr>
          <a:xfrm>
            <a:off x="7479792" y="1783080"/>
            <a:ext cx="1362456" cy="329184"/>
          </a:xfrm>
          <a:prstGeom prst="rect">
            <a:avLst/>
          </a:prstGeom>
          <a:noFill/>
          <a:ln/>
        </p:spPr>
        <p:txBody>
          <a:bodyPr wrap="square" lIns="0" tIns="0" rIns="0" bIns="0" rtlCol="0" anchor="ctr">
            <a:normAutofit/>
          </a:bodyP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You're better off waiting = it's a better idea to wait</a:t>
            </a:r>
            <a:endParaRPr lang="en-US" sz="800" dirty="0"/>
          </a:p>
        </p:txBody>
      </p:sp>
      <p:sp>
        <p:nvSpPr>
          <p:cNvPr id="33" name="R8_it104"/>
          <p:cNvSpPr/>
          <p:nvPr/>
        </p:nvSpPr>
        <p:spPr>
          <a:xfrm>
            <a:off x="7479792"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è meglio + -ing</a:t>
            </a:r>
            <a:endParaRPr lang="en-US" sz="900" dirty="0"/>
          </a:p>
        </p:txBody>
      </p:sp>
      <p:sp>
        <p:nvSpPr>
          <p:cNvPr id="34" name="cd_105"/>
          <p:cNvSpPr/>
          <p:nvPr/>
        </p:nvSpPr>
        <p:spPr>
          <a:xfrm>
            <a:off x="320040" y="2423160"/>
            <a:ext cx="2075688" cy="914400"/>
          </a:xfrm>
          <a:prstGeom prst="roundRect">
            <a:avLst>
              <a:gd name="adj" fmla="val 140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5" name="e_106"/>
          <p:cNvSpPr/>
          <p:nvPr/>
        </p:nvSpPr>
        <p:spPr>
          <a:xfrm>
            <a:off x="393192" y="253288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107"/>
          <p:cNvSpPr/>
          <p:nvPr/>
        </p:nvSpPr>
        <p:spPr>
          <a:xfrm>
            <a:off x="978408"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soothing</a:t>
            </a:r>
            <a:endParaRPr lang="en-US" sz="1200" dirty="0"/>
          </a:p>
        </p:txBody>
      </p:sp>
      <p:sp>
        <p:nvSpPr>
          <p:cNvPr id="37" name="R9_def108"/>
          <p:cNvSpPr/>
          <p:nvPr/>
        </p:nvSpPr>
        <p:spPr>
          <a:xfrm>
            <a:off x="978408"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makes you calm</a:t>
            </a:r>
            <a:endParaRPr lang="en-US" sz="850" dirty="0"/>
          </a:p>
        </p:txBody>
      </p:sp>
      <p:sp>
        <p:nvSpPr>
          <p:cNvPr id="38" name="R10_it109"/>
          <p:cNvSpPr/>
          <p:nvPr/>
        </p:nvSpPr>
        <p:spPr>
          <a:xfrm>
            <a:off x="978408"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rilassante, calmante</a:t>
            </a:r>
            <a:endParaRPr lang="en-US" sz="900" dirty="0"/>
          </a:p>
        </p:txBody>
      </p:sp>
      <p:sp>
        <p:nvSpPr>
          <p:cNvPr id="39" name="cd_110"/>
          <p:cNvSpPr/>
          <p:nvPr/>
        </p:nvSpPr>
        <p:spPr>
          <a:xfrm>
            <a:off x="2487168" y="2423160"/>
            <a:ext cx="2075688" cy="914400"/>
          </a:xfrm>
          <a:prstGeom prst="roundRect">
            <a:avLst>
              <a:gd name="adj" fmla="val 140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40" name="e_111"/>
          <p:cNvSpPr/>
          <p:nvPr/>
        </p:nvSpPr>
        <p:spPr>
          <a:xfrm>
            <a:off x="2560320" y="253288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1" name="en_112"/>
          <p:cNvSpPr/>
          <p:nvPr/>
        </p:nvSpPr>
        <p:spPr>
          <a:xfrm>
            <a:off x="3145536"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eerie</a:t>
            </a:r>
            <a:endParaRPr lang="en-US" sz="1200" dirty="0"/>
          </a:p>
        </p:txBody>
      </p:sp>
      <p:sp>
        <p:nvSpPr>
          <p:cNvPr id="42" name="R11_def113"/>
          <p:cNvSpPr/>
          <p:nvPr/>
        </p:nvSpPr>
        <p:spPr>
          <a:xfrm>
            <a:off x="3145536"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strange and a bit frightening</a:t>
            </a:r>
            <a:endParaRPr lang="en-US" sz="850" dirty="0"/>
          </a:p>
        </p:txBody>
      </p:sp>
      <p:sp>
        <p:nvSpPr>
          <p:cNvPr id="43" name="R12_it114"/>
          <p:cNvSpPr/>
          <p:nvPr/>
        </p:nvSpPr>
        <p:spPr>
          <a:xfrm>
            <a:off x="3145536" y="3127248"/>
            <a:ext cx="1362456" cy="182880"/>
          </a:xfrm>
          <a:prstGeom prst="rect">
            <a:avLst/>
          </a:prstGeom>
          <a:noFill/>
          <a:ln/>
        </p:spPr>
        <p:txBody>
          <a:bodyPr wrap="square" lIns="0" tIns="0" rIns="0" bIns="0" rtlCol="0" anchor="ctr">
            <a:normAutofit/>
          </a:bodyPr>
          <a:lstStyle/>
          <a:p>
            <a:pPr indent="0" marL="0">
              <a:buNone/>
            </a:pPr>
            <a:r>
              <a:rPr lang="en-US" sz="700" i="1" dirty="0">
                <a:solidFill>
                  <a:srgbClr val="2EB872"/>
                </a:solidFill>
                <a:latin typeface="Segoe UI Semibold" pitchFamily="34" charset="0"/>
                <a:ea typeface="Segoe UI Semibold" pitchFamily="34" charset="-122"/>
                <a:cs typeface="Segoe UI Semibold" pitchFamily="34" charset="-120"/>
              </a:rPr>
              <a:t>inquietante (silenzio strano)</a:t>
            </a:r>
            <a:endParaRPr lang="en-US" sz="700" dirty="0"/>
          </a:p>
        </p:txBody>
      </p:sp>
      <p:sp>
        <p:nvSpPr>
          <p:cNvPr id="44" name="cd_115"/>
          <p:cNvSpPr/>
          <p:nvPr/>
        </p:nvSpPr>
        <p:spPr>
          <a:xfrm>
            <a:off x="4654296" y="2423160"/>
            <a:ext cx="2075688" cy="914400"/>
          </a:xfrm>
          <a:prstGeom prst="roundRect">
            <a:avLst>
              <a:gd name="adj" fmla="val 140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45" name="e_116"/>
          <p:cNvSpPr/>
          <p:nvPr/>
        </p:nvSpPr>
        <p:spPr>
          <a:xfrm>
            <a:off x="4727448" y="253288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en_117"/>
          <p:cNvSpPr/>
          <p:nvPr/>
        </p:nvSpPr>
        <p:spPr>
          <a:xfrm>
            <a:off x="5312664"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bland</a:t>
            </a:r>
            <a:endParaRPr lang="en-US" sz="1200" dirty="0"/>
          </a:p>
        </p:txBody>
      </p:sp>
      <p:sp>
        <p:nvSpPr>
          <p:cNvPr id="47" name="R13_def118"/>
          <p:cNvSpPr/>
          <p:nvPr/>
        </p:nvSpPr>
        <p:spPr>
          <a:xfrm>
            <a:off x="5312664"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boring, no strong taste or character</a:t>
            </a:r>
            <a:endParaRPr lang="en-US" sz="850" dirty="0"/>
          </a:p>
        </p:txBody>
      </p:sp>
      <p:sp>
        <p:nvSpPr>
          <p:cNvPr id="48" name="R14_it119"/>
          <p:cNvSpPr/>
          <p:nvPr/>
        </p:nvSpPr>
        <p:spPr>
          <a:xfrm>
            <a:off x="5312664"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insipido, piatto</a:t>
            </a:r>
            <a:endParaRPr lang="en-US" sz="900" dirty="0"/>
          </a:p>
        </p:txBody>
      </p:sp>
      <p:sp>
        <p:nvSpPr>
          <p:cNvPr id="49" name="cd_120"/>
          <p:cNvSpPr/>
          <p:nvPr/>
        </p:nvSpPr>
        <p:spPr>
          <a:xfrm>
            <a:off x="6821424" y="2423160"/>
            <a:ext cx="2075688" cy="914400"/>
          </a:xfrm>
          <a:prstGeom prst="roundRect">
            <a:avLst>
              <a:gd name="adj" fmla="val 140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50" name="e_121"/>
          <p:cNvSpPr/>
          <p:nvPr/>
        </p:nvSpPr>
        <p:spPr>
          <a:xfrm>
            <a:off x="6894576" y="253288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1" name="en_122"/>
          <p:cNvSpPr/>
          <p:nvPr/>
        </p:nvSpPr>
        <p:spPr>
          <a:xfrm>
            <a:off x="7479792"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crowd-pleaser</a:t>
            </a:r>
            <a:endParaRPr lang="en-US" sz="1200" dirty="0"/>
          </a:p>
        </p:txBody>
      </p:sp>
      <p:sp>
        <p:nvSpPr>
          <p:cNvPr id="52" name="R15_def123"/>
          <p:cNvSpPr/>
          <p:nvPr/>
        </p:nvSpPr>
        <p:spPr>
          <a:xfrm>
            <a:off x="7479792"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a song everybody likes</a:t>
            </a:r>
            <a:endParaRPr lang="en-US" sz="850" dirty="0"/>
          </a:p>
        </p:txBody>
      </p:sp>
      <p:sp>
        <p:nvSpPr>
          <p:cNvPr id="53" name="R16_it124"/>
          <p:cNvSpPr/>
          <p:nvPr/>
        </p:nvSpPr>
        <p:spPr>
          <a:xfrm>
            <a:off x="7479792" y="3127248"/>
            <a:ext cx="1362456" cy="182880"/>
          </a:xfrm>
          <a:prstGeom prst="rect">
            <a:avLst/>
          </a:prstGeom>
          <a:noFill/>
          <a:ln/>
        </p:spPr>
        <p:txBody>
          <a:bodyPr wrap="square" lIns="0" tIns="0" rIns="0" bIns="0" rtlCol="0" anchor="ctr">
            <a:normAutofit/>
          </a:bodyPr>
          <a:lstStyle/>
          <a:p>
            <a:pPr indent="0" marL="0">
              <a:buNone/>
            </a:pPr>
            <a:r>
              <a:rPr lang="en-US" sz="750" i="1" dirty="0">
                <a:solidFill>
                  <a:srgbClr val="2EB872"/>
                </a:solidFill>
                <a:latin typeface="Segoe UI Semibold" pitchFamily="34" charset="0"/>
                <a:ea typeface="Segoe UI Semibold" pitchFamily="34" charset="-122"/>
                <a:cs typeface="Segoe UI Semibold" pitchFamily="34" charset="-120"/>
              </a:rPr>
              <a:t>un pezzo che piace a tutti</a:t>
            </a:r>
            <a:endParaRPr lang="en-US" sz="750" dirty="0"/>
          </a:p>
        </p:txBody>
      </p:sp>
      <p:sp>
        <p:nvSpPr>
          <p:cNvPr id="54" name="R17_wc125"/>
          <p:cNvSpPr/>
          <p:nvPr/>
        </p:nvSpPr>
        <p:spPr>
          <a:xfrm>
            <a:off x="320040" y="34747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55" name="R17_w126"/>
          <p:cNvSpPr/>
          <p:nvPr/>
        </p:nvSpPr>
        <p:spPr>
          <a:xfrm>
            <a:off x="457200" y="34747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bland ≠ blando (mild = lieve)  ·  eerie /ˈɪəri/  ·  soothing /ˈsuːðɪŋ/  ·  opt for = formal choose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4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4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4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400"/>
                                        <p:tgtEl>
                                          <p:spTgt spid="4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fade">
                                      <p:cBhvr>
                                        <p:cTn id="72" dur="400"/>
                                        <p:tgtEl>
                                          <p:spTgt spid="4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400"/>
                                        <p:tgtEl>
                                          <p:spTgt spid="5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400"/>
                                        <p:tgtEl>
                                          <p:spTgt spid="5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400"/>
                                        <p:tgtEl>
                                          <p:spTgt spid="54"/>
                                        </p:tgtEl>
                                      </p:cBhvr>
                                    </p:animEffect>
                                  </p:childTnLst>
                                </p:cTn>
                              </p:par>
                              <p:par>
                                <p:cTn id="88" presetID="10" presetClass="entr" presetSubtype="0" fill="hold" nodeType="with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2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Music while you work?</a:t>
            </a:r>
            <a:endParaRPr lang="en-US" sz="2500" dirty="0"/>
          </a:p>
        </p:txBody>
      </p:sp>
      <p:pic>
        <p:nvPicPr>
          <p:cNvPr id="6" name="brP_13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3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title only. Guess: which summary is true?</a:t>
            </a:r>
            <a:endParaRPr lang="en-US" sz="1250" dirty="0"/>
          </a:p>
        </p:txBody>
      </p:sp>
      <p:sp>
        <p:nvSpPr>
          <p:cNvPr id="8" name="insIT_13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solo il titolo. Indovina: quale riassunto è vero?</a:t>
            </a:r>
            <a:endParaRPr lang="en-US" sz="950" dirty="0"/>
          </a:p>
        </p:txBody>
      </p:sp>
      <p:sp>
        <p:nvSpPr>
          <p:cNvPr id="9" name="cmd_133"/>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  </a:t>
            </a:r>
            <a:pPr algn="ctr" indent="0" marL="0">
              <a:buNone/>
            </a:pPr>
            <a:r>
              <a:rPr lang="en-US" sz="950" dirty="0">
                <a:solidFill>
                  <a:srgbClr val="000000"/>
                </a:solidFill>
              </a:rPr>
              <a:t>🤔 </a:t>
            </a:r>
            <a:pPr algn="ct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GUESS</a:t>
            </a:r>
            <a:endParaRPr lang="en-US" sz="950" dirty="0"/>
          </a:p>
        </p:txBody>
      </p:sp>
      <p:sp>
        <p:nvSpPr>
          <p:cNvPr id="10" name="meta_134"/>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135"/>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Prediction</a:t>
            </a:r>
            <a:endParaRPr lang="en-US" sz="950" dirty="0"/>
          </a:p>
        </p:txBody>
      </p:sp>
      <p:pic>
        <p:nvPicPr>
          <p:cNvPr id="12" name="logo_13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3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prediction   ·   📖 SB p.62 · 4b (before reading)</a:t>
            </a:r>
            <a:endParaRPr lang="en-US" sz="800" dirty="0"/>
          </a:p>
        </p:txBody>
      </p:sp>
      <p:sp>
        <p:nvSpPr>
          <p:cNvPr id="14" name="cd_138"/>
          <p:cNvSpPr/>
          <p:nvPr/>
        </p:nvSpPr>
        <p:spPr>
          <a:xfrm>
            <a:off x="320040" y="1417320"/>
            <a:ext cx="8503920" cy="3063240"/>
          </a:xfrm>
          <a:prstGeom prst="roundRect">
            <a:avLst>
              <a:gd name="adj" fmla="val 4179"/>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hl_139"/>
          <p:cNvSpPr/>
          <p:nvPr/>
        </p:nvSpPr>
        <p:spPr>
          <a:xfrm>
            <a:off x="502920" y="1508760"/>
            <a:ext cx="813816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Music while you work?</a:t>
            </a:r>
            <a:endParaRPr lang="en-US" sz="2800" dirty="0"/>
          </a:p>
        </p:txBody>
      </p:sp>
      <p:sp>
        <p:nvSpPr>
          <p:cNvPr id="16" name="nx_140"/>
          <p:cNvSpPr/>
          <p:nvPr/>
        </p:nvSpPr>
        <p:spPr>
          <a:xfrm>
            <a:off x="457200" y="3904488"/>
            <a:ext cx="8229600" cy="512064"/>
          </a:xfrm>
          <a:prstGeom prst="roundRect">
            <a:avLst>
              <a:gd name="adj" fmla="val 17857"/>
            </a:avLst>
          </a:prstGeom>
          <a:solidFill>
            <a:srgbClr val="E3F7EA"/>
          </a:solidFill>
          <a:ln w="28575">
            <a:solidFill>
              <a:srgbClr val="A8E5BE"/>
            </a:solidFill>
          </a:ln>
        </p:spPr>
        <p:txBody>
          <a:bodyPr wrap="square" lIns="127000" tIns="25400" rIns="127000" bIns="25400" rtlCol="0" anchor="ctr">
            <a:normAutofit/>
          </a:bodyPr>
          <a:lstStyle/>
          <a:p>
            <a:pPr indent="0" marL="0">
              <a:buNone/>
            </a:pPr>
            <a:r>
              <a:rPr lang="en-US" sz="1000" dirty="0">
                <a:solidFill>
                  <a:srgbClr val="2EB872"/>
                </a:solidFill>
                <a:latin typeface="Segoe UI Black" pitchFamily="34" charset="0"/>
                <a:ea typeface="Segoe UI Black" pitchFamily="34" charset="-122"/>
                <a:cs typeface="Segoe UI Black" pitchFamily="34" charset="-120"/>
              </a:rPr>
              <a:t>➡ NEXT  </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Next: read the article in ONE minute. Was your guess right?</a:t>
            </a:r>
            <a:endParaRPr lang="en-US" sz="1000" dirty="0"/>
          </a:p>
        </p:txBody>
      </p:sp>
      <p:sp>
        <p:nvSpPr>
          <p:cNvPr id="17" name="sf_141"/>
          <p:cNvSpPr/>
          <p:nvPr/>
        </p:nvSpPr>
        <p:spPr>
          <a:xfrm>
            <a:off x="521208" y="2039112"/>
            <a:ext cx="8138160" cy="1828800"/>
          </a:xfrm>
          <a:prstGeom prst="rect">
            <a:avLst/>
          </a:prstGeom>
          <a:noFill/>
          <a:ln/>
        </p:spPr>
        <p:txBody>
          <a:bodyPr wrap="square" lIns="0" tIns="0" rIns="0" bIns="0" rtlCol="0" anchor="t">
            <a:normAutofit/>
          </a:bodyPr>
          <a:lstStyle/>
          <a:p>
            <a:pPr indent="0" marL="0">
              <a:buNone/>
            </a:pPr>
            <a:r>
              <a:rPr lang="en-US" sz="1800" i="1" dirty="0">
                <a:solidFill>
                  <a:srgbClr val="1B2559"/>
                </a:solidFill>
                <a:latin typeface="Georgia" pitchFamily="34" charset="0"/>
                <a:ea typeface="Georgia" pitchFamily="34" charset="-122"/>
                <a:cs typeface="Georgia" pitchFamily="34" charset="-120"/>
              </a:rPr>
              <a:t>1  Music helps you work better.</a:t>
            </a:r>
            <a:endParaRPr lang="en-US" sz="1800" dirty="0"/>
          </a:p>
          <a:p>
            <a:pPr indent="0" marL="0">
              <a:buNone/>
            </a:pPr>
            <a:r>
              <a:rPr lang="en-US" sz="1800" i="1" dirty="0">
                <a:solidFill>
                  <a:srgbClr val="1B2559"/>
                </a:solidFill>
                <a:latin typeface="Georgia" pitchFamily="34" charset="0"/>
                <a:ea typeface="Georgia" pitchFamily="34" charset="-122"/>
                <a:cs typeface="Georgia" pitchFamily="34" charset="-120"/>
              </a:rPr>
              <a:t>2  Choose the right music for the task.</a:t>
            </a:r>
            <a:endParaRPr lang="en-US" sz="1800" dirty="0"/>
          </a:p>
          <a:p>
            <a:pPr indent="0" marL="0">
              <a:buNone/>
            </a:pPr>
            <a:r>
              <a:rPr lang="en-US" sz="1800" i="1" dirty="0">
                <a:solidFill>
                  <a:srgbClr val="1B2559"/>
                </a:solidFill>
                <a:latin typeface="Georgia" pitchFamily="34" charset="0"/>
                <a:ea typeface="Georgia" pitchFamily="34" charset="-122"/>
                <a:cs typeface="Georgia" pitchFamily="34" charset="-120"/>
              </a:rPr>
              <a:t>3  Classical music is best for creative thinking.</a:t>
            </a:r>
            <a:endParaRPr lang="en-US" sz="18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43"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44"/>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Was your guess right?</a:t>
            </a:r>
            <a:endParaRPr lang="en-US" sz="2500" dirty="0"/>
          </a:p>
        </p:txBody>
      </p:sp>
      <p:pic>
        <p:nvPicPr>
          <p:cNvPr id="6" name="brP_145"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46"/>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article in ONE minute. Which summary is true?</a:t>
            </a:r>
            <a:endParaRPr lang="en-US" sz="1250" dirty="0"/>
          </a:p>
        </p:txBody>
      </p:sp>
      <p:sp>
        <p:nvSpPr>
          <p:cNvPr id="8" name="insIT_14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l'articolo in UN minuto. Quale riassunto è vero?</a:t>
            </a:r>
            <a:endParaRPr lang="en-US" sz="950" dirty="0"/>
          </a:p>
        </p:txBody>
      </p:sp>
      <p:sp>
        <p:nvSpPr>
          <p:cNvPr id="9" name="cmd_148"/>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meta_149"/>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150"/>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for gist</a:t>
            </a:r>
            <a:endParaRPr lang="en-US" sz="950" dirty="0"/>
          </a:p>
        </p:txBody>
      </p:sp>
      <p:pic>
        <p:nvPicPr>
          <p:cNvPr id="12" name="logo_15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5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gist (top-down)   ·   📖 SB p.62 · 4b (the text is on the slide)</a:t>
            </a:r>
            <a:endParaRPr lang="en-US" sz="800" dirty="0"/>
          </a:p>
        </p:txBody>
      </p:sp>
      <p:sp>
        <p:nvSpPr>
          <p:cNvPr id="14" name="cd_153"/>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rd_154"/>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Music while you work?</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(1)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t>
            </a:r>
            <a:endParaRPr lang="en-US" sz="1000" dirty="0"/>
          </a:p>
        </p:txBody>
      </p:sp>
      <p:sp>
        <p:nvSpPr>
          <p:cNvPr id="16" name="cd_155"/>
          <p:cNvSpPr/>
          <p:nvPr/>
        </p:nvSpPr>
        <p:spPr>
          <a:xfrm>
            <a:off x="6263640" y="1417320"/>
            <a:ext cx="2606040" cy="2250440"/>
          </a:xfrm>
          <a:prstGeom prst="roundRect">
            <a:avLst>
              <a:gd name="adj" fmla="val 568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7" name="ii_156"/>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157"/>
          <p:cNvSpPr/>
          <p:nvPr/>
        </p:nvSpPr>
        <p:spPr>
          <a:xfrm>
            <a:off x="6830568" y="1508760"/>
            <a:ext cx="196596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Which summary is true?</a:t>
            </a:r>
            <a:endParaRPr lang="en-US" sz="1200" dirty="0"/>
          </a:p>
        </p:txBody>
      </p:sp>
      <p:sp>
        <p:nvSpPr>
          <p:cNvPr id="19" name="il_158"/>
          <p:cNvSpPr/>
          <p:nvPr/>
        </p:nvSpPr>
        <p:spPr>
          <a:xfrm>
            <a:off x="6830568" y="1911096"/>
            <a:ext cx="1947672" cy="1683512"/>
          </a:xfrm>
          <a:prstGeom prst="rect">
            <a:avLst/>
          </a:prstGeom>
          <a:noFill/>
          <a:ln/>
        </p:spPr>
        <p:txBody>
          <a:bodyPr wrap="square" lIns="0" tIns="0" rIns="0" bIns="0" rtlCol="0" anchor="t">
            <a:normAutofit/>
          </a:bodyPr>
          <a:lstStyle/>
          <a:p>
            <a:pPr indent="0" marL="0">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1  Music helps you work better.</a:t>
            </a:r>
            <a:endParaRPr lang="en-US" sz="1150" dirty="0"/>
          </a:p>
          <a:p>
            <a:pPr indent="0" marL="0">
              <a:spcBef>
                <a:spcPts val="600"/>
              </a:spcBef>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2  Choose the right music for the task.</a:t>
            </a:r>
            <a:endParaRPr lang="en-US" sz="1150" dirty="0"/>
          </a:p>
          <a:p>
            <a:pPr indent="0" marL="0">
              <a:spcBef>
                <a:spcPts val="600"/>
              </a:spcBef>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3  Classical music is best for creative thinking.</a:t>
            </a:r>
            <a:endParaRPr lang="en-US" sz="1150" dirty="0"/>
          </a:p>
        </p:txBody>
      </p:sp>
      <p:sp>
        <p:nvSpPr>
          <p:cNvPr id="20" name="R1_chip159"/>
          <p:cNvSpPr/>
          <p:nvPr/>
        </p:nvSpPr>
        <p:spPr>
          <a:xfrm>
            <a:off x="6263640" y="3804920"/>
            <a:ext cx="2606040" cy="977392"/>
          </a:xfrm>
          <a:prstGeom prst="roundRect">
            <a:avLst>
              <a:gd name="adj" fmla="val 935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2 – it depends on the task. Happy (not classical) music helped creative thinking.</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61"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62"/>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Fill the gaps 2–6</a:t>
            </a:r>
            <a:endParaRPr lang="en-US" sz="2500" dirty="0"/>
          </a:p>
        </p:txBody>
      </p:sp>
      <p:pic>
        <p:nvPicPr>
          <p:cNvPr id="6" name="brP_163"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164"/>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phrase A–F goes in each gap? Gap 1 is done.</a:t>
            </a:r>
            <a:endParaRPr lang="en-US" sz="1250" dirty="0"/>
          </a:p>
        </p:txBody>
      </p:sp>
      <p:sp>
        <p:nvSpPr>
          <p:cNvPr id="8" name="insIT_16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Rileggi. Quale frase A–F va in ogni spazio? Lo spazio 1 è già fatto.</a:t>
            </a:r>
            <a:endParaRPr lang="en-US" sz="950" dirty="0"/>
          </a:p>
        </p:txBody>
      </p:sp>
      <p:sp>
        <p:nvSpPr>
          <p:cNvPr id="9" name="cmd_166"/>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  </a:t>
            </a:r>
            <a:pPr algn="ctr" indent="0" marL="0">
              <a:buNone/>
            </a:pPr>
            <a:r>
              <a:rPr lang="en-US" sz="950" dirty="0">
                <a:solidFill>
                  <a:srgbClr val="000000"/>
                </a:solidFill>
              </a:rPr>
              <a:t>🔍 </a:t>
            </a:r>
            <a:pPr algn="ct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FIND</a:t>
            </a:r>
            <a:endParaRPr lang="en-US" sz="950" dirty="0"/>
          </a:p>
        </p:txBody>
      </p:sp>
      <p:sp>
        <p:nvSpPr>
          <p:cNvPr id="10" name="meta_167"/>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168"/>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for detail</a:t>
            </a:r>
            <a:endParaRPr lang="en-US" sz="950" dirty="0"/>
          </a:p>
        </p:txBody>
      </p:sp>
      <p:pic>
        <p:nvPicPr>
          <p:cNvPr id="12" name="logo_16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7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detail (bottom-up)   ·   📖 SB p.62 · 4c (the text is on the slide)</a:t>
            </a:r>
            <a:endParaRPr lang="en-US" sz="800" dirty="0"/>
          </a:p>
        </p:txBody>
      </p:sp>
      <p:sp>
        <p:nvSpPr>
          <p:cNvPr id="14" name="cd_171"/>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rd_172"/>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Music while you work?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B can actually be beneficial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p:txBody>
      </p:sp>
      <p:sp>
        <p:nvSpPr>
          <p:cNvPr id="16" name="R1_rdA17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Music while you work?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B can actually be beneficial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F what you're trying to achieve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p:txBody>
      </p:sp>
      <p:sp>
        <p:nvSpPr>
          <p:cNvPr id="17" name="R2_rdA17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Music while you work?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B can actually be beneficial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F what you're trying to achieve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D listening to various types of music affected different types of thinking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p:txBody>
      </p:sp>
      <p:sp>
        <p:nvSpPr>
          <p:cNvPr id="18" name="R3_rdA17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Music while you work?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B can actually be beneficial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F what you're trying to achieve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D listening to various types of music affected different types of thinking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A listening to classical music aimed at stimulating different moods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p:txBody>
      </p:sp>
      <p:sp>
        <p:nvSpPr>
          <p:cNvPr id="19" name="R4_rdA17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Music while you work?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B can actually be beneficial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F what you're trying to achieve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D listening to various types of music affected different types of thinking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A listening to classical music aimed at stimulating different moods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C put on some uplifting music to help get your brain working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p:txBody>
      </p:sp>
      <p:sp>
        <p:nvSpPr>
          <p:cNvPr id="20" name="R5_rdA177"/>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Music while you work?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Some prefer to work in silence. Others find playing their favourite tunes loudly helps them to be productive. Up till now, it has been a matter of personal preference. But recently, scientific research has uncovered that listening to music while you work</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B can actually be beneficial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although, it depends on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F what you're trying to achieve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study by Simone Ritter, at Radboud University in the Netherlands, and Sam Ferguson, at the University of Technology in Sydney, Australia, looked at how</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D listening to various types of music affected different types of thinking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compared to working in silence. In their study, Ritter and Ferguson divided 155 volunteers into five groups, which were then given tasks to complete. Four of the groups did so while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A listening to classical music aimed at stimulating different moods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such as Holst's Mars and Vivaldi's Spring. The fifth group worked in silence.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Their study found that happy music improved 'divergent thinking', which is all about creativity. However, they found that it had no impact on 'convergent thinking', which is all about problem solving. So, if you need to be creative with your work, then you should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C put on some uplifting music to help get your brain working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But if you're trying to solve a problem, you're better off</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E opting for quiet solitude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p:txBody>
      </p:sp>
      <p:sp>
        <p:nvSpPr>
          <p:cNvPr id="21" name="rbh_178"/>
          <p:cNvSpPr/>
          <p:nvPr/>
        </p:nvSpPr>
        <p:spPr>
          <a:xfrm>
            <a:off x="6263640" y="1417320"/>
            <a:ext cx="2606040" cy="329184"/>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Phrases A–F</a:t>
            </a:r>
            <a:endParaRPr lang="en-US" sz="1300" dirty="0"/>
          </a:p>
        </p:txBody>
      </p:sp>
      <p:sp>
        <p:nvSpPr>
          <p:cNvPr id="22" name="bd_179"/>
          <p:cNvSpPr/>
          <p:nvPr/>
        </p:nvSpPr>
        <p:spPr>
          <a:xfrm>
            <a:off x="6263640" y="189204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A</a:t>
            </a:r>
            <a:endParaRPr lang="en-US" sz="1000" dirty="0"/>
          </a:p>
        </p:txBody>
      </p:sp>
      <p:sp>
        <p:nvSpPr>
          <p:cNvPr id="23" name="rb_180"/>
          <p:cNvSpPr/>
          <p:nvPr/>
        </p:nvSpPr>
        <p:spPr>
          <a:xfrm>
            <a:off x="6647688" y="1828800"/>
            <a:ext cx="2240280" cy="437388"/>
          </a:xfrm>
          <a:prstGeom prst="roundRect">
            <a:avLst>
              <a:gd name="adj" fmla="val 2090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listening to classical music aimed at stimulating different moods</a:t>
            </a:r>
            <a:endParaRPr lang="en-US" sz="850" dirty="0"/>
          </a:p>
        </p:txBody>
      </p:sp>
      <p:sp>
        <p:nvSpPr>
          <p:cNvPr id="24" name="bd_181"/>
          <p:cNvSpPr/>
          <p:nvPr/>
        </p:nvSpPr>
        <p:spPr>
          <a:xfrm>
            <a:off x="6263640" y="2384298"/>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t>
            </a:r>
            <a:endParaRPr lang="en-US" sz="1000" dirty="0"/>
          </a:p>
        </p:txBody>
      </p:sp>
      <p:sp>
        <p:nvSpPr>
          <p:cNvPr id="25" name="rb_182"/>
          <p:cNvSpPr/>
          <p:nvPr/>
        </p:nvSpPr>
        <p:spPr>
          <a:xfrm>
            <a:off x="6647688" y="2321052"/>
            <a:ext cx="2240280" cy="437388"/>
          </a:xfrm>
          <a:prstGeom prst="roundRect">
            <a:avLst>
              <a:gd name="adj" fmla="val 2090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can actually be beneficial</a:t>
            </a:r>
            <a:endParaRPr lang="en-US" sz="900" dirty="0"/>
          </a:p>
        </p:txBody>
      </p:sp>
      <p:sp>
        <p:nvSpPr>
          <p:cNvPr id="26" name="bd_183"/>
          <p:cNvSpPr/>
          <p:nvPr/>
        </p:nvSpPr>
        <p:spPr>
          <a:xfrm>
            <a:off x="6263640" y="28765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t>
            </a:r>
            <a:endParaRPr lang="en-US" sz="1000" dirty="0"/>
          </a:p>
        </p:txBody>
      </p:sp>
      <p:sp>
        <p:nvSpPr>
          <p:cNvPr id="27" name="rb_184"/>
          <p:cNvSpPr/>
          <p:nvPr/>
        </p:nvSpPr>
        <p:spPr>
          <a:xfrm>
            <a:off x="6647688" y="2813304"/>
            <a:ext cx="2240280" cy="437388"/>
          </a:xfrm>
          <a:prstGeom prst="roundRect">
            <a:avLst>
              <a:gd name="adj" fmla="val 2090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put on some uplifting music to help get your brain working</a:t>
            </a:r>
            <a:endParaRPr lang="en-US" sz="900" dirty="0"/>
          </a:p>
        </p:txBody>
      </p:sp>
      <p:sp>
        <p:nvSpPr>
          <p:cNvPr id="28" name="bd_185"/>
          <p:cNvSpPr/>
          <p:nvPr/>
        </p:nvSpPr>
        <p:spPr>
          <a:xfrm>
            <a:off x="6263640" y="336880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D</a:t>
            </a:r>
            <a:endParaRPr lang="en-US" sz="1000" dirty="0"/>
          </a:p>
        </p:txBody>
      </p:sp>
      <p:sp>
        <p:nvSpPr>
          <p:cNvPr id="29" name="rb_186"/>
          <p:cNvSpPr/>
          <p:nvPr/>
        </p:nvSpPr>
        <p:spPr>
          <a:xfrm>
            <a:off x="6647688" y="3305556"/>
            <a:ext cx="2240280" cy="437388"/>
          </a:xfrm>
          <a:prstGeom prst="roundRect">
            <a:avLst>
              <a:gd name="adj" fmla="val 2090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listening to various types of music affected different types of thinking</a:t>
            </a:r>
            <a:endParaRPr lang="en-US" sz="850" dirty="0"/>
          </a:p>
        </p:txBody>
      </p:sp>
      <p:sp>
        <p:nvSpPr>
          <p:cNvPr id="30" name="bd_187"/>
          <p:cNvSpPr/>
          <p:nvPr/>
        </p:nvSpPr>
        <p:spPr>
          <a:xfrm>
            <a:off x="6263640" y="38610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E</a:t>
            </a:r>
            <a:endParaRPr lang="en-US" sz="1000" dirty="0"/>
          </a:p>
        </p:txBody>
      </p:sp>
      <p:sp>
        <p:nvSpPr>
          <p:cNvPr id="31" name="rb_188"/>
          <p:cNvSpPr/>
          <p:nvPr/>
        </p:nvSpPr>
        <p:spPr>
          <a:xfrm>
            <a:off x="6647688" y="3797808"/>
            <a:ext cx="2240280" cy="437388"/>
          </a:xfrm>
          <a:prstGeom prst="roundRect">
            <a:avLst>
              <a:gd name="adj" fmla="val 2090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opting for quiet solitude</a:t>
            </a:r>
            <a:endParaRPr lang="en-US" sz="900" dirty="0"/>
          </a:p>
        </p:txBody>
      </p:sp>
      <p:sp>
        <p:nvSpPr>
          <p:cNvPr id="32" name="bd_189"/>
          <p:cNvSpPr/>
          <p:nvPr/>
        </p:nvSpPr>
        <p:spPr>
          <a:xfrm>
            <a:off x="6263640" y="435330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F</a:t>
            </a:r>
            <a:endParaRPr lang="en-US" sz="1000" dirty="0"/>
          </a:p>
        </p:txBody>
      </p:sp>
      <p:sp>
        <p:nvSpPr>
          <p:cNvPr id="33" name="rb_190"/>
          <p:cNvSpPr/>
          <p:nvPr/>
        </p:nvSpPr>
        <p:spPr>
          <a:xfrm>
            <a:off x="6647688" y="4290060"/>
            <a:ext cx="2240280" cy="437388"/>
          </a:xfrm>
          <a:prstGeom prst="roundRect">
            <a:avLst>
              <a:gd name="adj" fmla="val 2090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what you're trying to achieve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92" descr="/home/claude/lls-course/v2/assets/brush-yellow.png">    </p:cNvPr>
          <p:cNvPicPr>
            <a:picLocks noChangeAspect="1"/>
          </p:cNvPicPr>
          <p:nvPr/>
        </p:nvPicPr>
        <p:blipFill>
          <a:blip r:embed="rId2"/>
          <a:stretch>
            <a:fillRect/>
          </a:stretch>
        </p:blipFill>
        <p:spPr>
          <a:xfrm>
            <a:off x="1097280" y="146304"/>
            <a:ext cx="5607101" cy="621792"/>
          </a:xfrm>
          <a:prstGeom prst="rect">
            <a:avLst/>
          </a:prstGeom>
        </p:spPr>
      </p:pic>
      <p:sp>
        <p:nvSpPr>
          <p:cNvPr id="5" name="title_193"/>
          <p:cNvSpPr/>
          <p:nvPr/>
        </p:nvSpPr>
        <p:spPr>
          <a:xfrm>
            <a:off x="1261872" y="164592"/>
            <a:ext cx="533278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Music in the operating theatre?</a:t>
            </a:r>
            <a:endParaRPr lang="en-US" sz="2500" dirty="0"/>
          </a:p>
        </p:txBody>
      </p:sp>
      <p:pic>
        <p:nvPicPr>
          <p:cNvPr id="6" name="brP_194"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195"/>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photo. Answer before you read.</a:t>
            </a:r>
            <a:endParaRPr lang="en-US" sz="1250" dirty="0"/>
          </a:p>
        </p:txBody>
      </p:sp>
      <p:sp>
        <p:nvSpPr>
          <p:cNvPr id="8" name="insIT_19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la foto. Rispondi prima di leggere.</a:t>
            </a:r>
            <a:endParaRPr lang="en-US" sz="950" dirty="0"/>
          </a:p>
        </p:txBody>
      </p:sp>
      <p:sp>
        <p:nvSpPr>
          <p:cNvPr id="9" name="cmd_197"/>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  </a:t>
            </a:r>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endParaRPr lang="en-US" sz="950" dirty="0"/>
          </a:p>
        </p:txBody>
      </p:sp>
      <p:sp>
        <p:nvSpPr>
          <p:cNvPr id="10" name="meta_198"/>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99"/>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2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prediction (text 2)   ·   📖 SB p.63 · 4e</a:t>
            </a:r>
            <a:endParaRPr lang="en-US" sz="800" dirty="0"/>
          </a:p>
        </p:txBody>
      </p:sp>
      <p:sp>
        <p:nvSpPr>
          <p:cNvPr id="14" name="pf_202"/>
          <p:cNvSpPr/>
          <p:nvPr/>
        </p:nvSpPr>
        <p:spPr>
          <a:xfrm rot="-120000">
            <a:off x="651627" y="1371600"/>
            <a:ext cx="2125747"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03" descr="/home/claude/lls-course/v2/cache/b2_6b2_theatre_jpg_489x297_31.png">    </p:cNvPr>
          <p:cNvPicPr>
            <a:picLocks noChangeAspect="1"/>
          </p:cNvPicPr>
          <p:nvPr/>
        </p:nvPicPr>
        <p:blipFill>
          <a:blip r:embed="rId5"/>
          <a:stretch>
            <a:fillRect/>
          </a:stretch>
        </p:blipFill>
        <p:spPr>
          <a:xfrm rot="-120000">
            <a:off x="697347" y="1417320"/>
            <a:ext cx="2034307" cy="1234440"/>
          </a:xfrm>
          <a:prstGeom prst="rect">
            <a:avLst/>
          </a:prstGeom>
        </p:spPr>
      </p:pic>
      <p:sp>
        <p:nvSpPr>
          <p:cNvPr id="16" name="cd_204"/>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7" name="ii_205"/>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06"/>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207"/>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I'd say it's more of a…</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On the one hand… on the other…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might help them to…</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could be dangerous if…</a:t>
            </a:r>
            <a:endParaRPr lang="en-US" sz="1150" dirty="0"/>
          </a:p>
        </p:txBody>
      </p:sp>
      <p:sp>
        <p:nvSpPr>
          <p:cNvPr id="20" name="R1_qb208"/>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209"/>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Is doing an operation more of a creative task or a problem-solving task?</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Problem-solving – one mistake and it's a disaster!</a:t>
            </a:r>
            <a:endParaRPr lang="en-US" sz="950" dirty="0"/>
          </a:p>
        </p:txBody>
      </p:sp>
      <p:sp>
        <p:nvSpPr>
          <p:cNvPr id="22" name="R2_qb210"/>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211"/>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 are the advantages of music in the operating theatre?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It might help the team to relax and concentrate.</a:t>
            </a:r>
            <a:endParaRPr lang="en-US" sz="950" dirty="0"/>
          </a:p>
        </p:txBody>
      </p:sp>
      <p:sp>
        <p:nvSpPr>
          <p:cNvPr id="24" name="R3_qb212"/>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213"/>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And the disadvantages?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They might not hear each other – or the machines.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15"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216"/>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doctors listen to (1)</a:t>
            </a:r>
            <a:endParaRPr lang="en-US" sz="2500" dirty="0"/>
          </a:p>
        </p:txBody>
      </p:sp>
      <p:pic>
        <p:nvPicPr>
          <p:cNvPr id="6" name="brP_217"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218"/>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Did they mention our ideas? Music or no music?</a:t>
            </a:r>
            <a:endParaRPr lang="en-US" sz="1250" dirty="0"/>
          </a:p>
        </p:txBody>
      </p:sp>
      <p:sp>
        <p:nvSpPr>
          <p:cNvPr id="8" name="insIT_21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Hanno citato le nostre idee? Musica o niente musica?</a:t>
            </a:r>
            <a:endParaRPr lang="en-US" sz="950" dirty="0"/>
          </a:p>
        </p:txBody>
      </p:sp>
      <p:sp>
        <p:nvSpPr>
          <p:cNvPr id="9" name="cmd_220"/>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meta_221"/>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222"/>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for gist</a:t>
            </a:r>
            <a:endParaRPr lang="en-US" sz="950" dirty="0"/>
          </a:p>
        </p:txBody>
      </p:sp>
      <p:pic>
        <p:nvPicPr>
          <p:cNvPr id="12" name="logo_22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2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four doctors (1)   ·   📖 SB p.63 · 4f (the text is on the slide)</a:t>
            </a:r>
            <a:endParaRPr lang="en-US" sz="800" dirty="0"/>
          </a:p>
        </p:txBody>
      </p:sp>
      <p:sp>
        <p:nvSpPr>
          <p:cNvPr id="14" name="cd_225"/>
          <p:cNvSpPr/>
          <p:nvPr/>
        </p:nvSpPr>
        <p:spPr>
          <a:xfrm>
            <a:off x="320040" y="1417320"/>
            <a:ext cx="854964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rd_226"/>
          <p:cNvSpPr/>
          <p:nvPr/>
        </p:nvSpPr>
        <p:spPr>
          <a:xfrm>
            <a:off x="45720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RAMON TAHMASSEBI, orthopaedic surgeon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If I play cool music, it puts me in a better mood and I perform better. You want something that will get you in the right frame of mind, but what you pick depends on the length and the complexity of the operation – I try to have some crowd-pleasers, some easy listening, some singalong tracks. Last week, I started a big, three-hour operation at 4 p.m., and the team was supposed to finish work at 5 p.m. But I had a playlist, and afterwards everyone told me they were having fun, so they didn't mind staying late.</a:t>
            </a:r>
            <a:endParaRPr lang="en-US" sz="1300" dirty="0"/>
          </a:p>
        </p:txBody>
      </p:sp>
      <p:sp>
        <p:nvSpPr>
          <p:cNvPr id="16" name="rd_227"/>
          <p:cNvSpPr/>
          <p:nvPr/>
        </p:nvSpPr>
        <p:spPr>
          <a:xfrm>
            <a:off x="473202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SAFINA ALI, head and neck surgeon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When you are operating, it is soothing and calming to have music. I listen to everything from hip-hop to classical. When I was training, I had to listen to Bruce Springsteen for ten hours at a time, because my boss loved him. My current boss likes to have classical music on, but we change it when he leaves. Most of the nurses are younger, so it's nice to have contemporary music like Taylor Swift, because you can talk about it. I prefer music to silence – it's too eerie; I feel like I am on my own.</a:t>
            </a:r>
            <a:endParaRPr lang="en-US" sz="1300" dirty="0"/>
          </a:p>
        </p:txBody>
      </p:sp>
      <p:sp>
        <p:nvSpPr>
          <p:cNvPr id="17" name="rdl_228"/>
          <p:cNvSpPr/>
          <p:nvPr/>
        </p:nvSpPr>
        <p:spPr>
          <a:xfrm>
            <a:off x="4594860" y="1600200"/>
            <a:ext cx="0" cy="2999232"/>
          </a:xfrm>
          <a:prstGeom prst="line">
            <a:avLst/>
          </a:prstGeom>
          <a:noFill/>
          <a:ln w="28575">
            <a:solidFill>
              <a:srgbClr val="A8E5BE"/>
            </a:solidFill>
            <a:prstDash val="solid"/>
          </a:ln>
        </p:spPr>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9"/>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30"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231"/>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doctors listen to (2)</a:t>
            </a:r>
            <a:endParaRPr lang="en-US" sz="2500" dirty="0"/>
          </a:p>
        </p:txBody>
      </p:sp>
      <p:pic>
        <p:nvPicPr>
          <p:cNvPr id="6" name="brP_23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3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Music or no music? What would the four doctors agree?</a:t>
            </a:r>
            <a:endParaRPr lang="en-US" sz="1100" dirty="0"/>
          </a:p>
        </p:txBody>
      </p:sp>
      <p:sp>
        <p:nvSpPr>
          <p:cNvPr id="8" name="insIT_23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Leggi. Musica o niente musica? Su cosa sarebbero d'accordo i quattro medici?</a:t>
            </a:r>
            <a:endParaRPr lang="en-US" sz="900" dirty="0"/>
          </a:p>
        </p:txBody>
      </p:sp>
      <p:sp>
        <p:nvSpPr>
          <p:cNvPr id="9" name="cmd_235"/>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meta_236"/>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2 min   👤 alone</a:t>
            </a:r>
            <a:endParaRPr lang="en-US" sz="950" dirty="0"/>
          </a:p>
        </p:txBody>
      </p:sp>
      <p:sp>
        <p:nvSpPr>
          <p:cNvPr id="11" name="tag_237"/>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for gist</a:t>
            </a:r>
            <a:endParaRPr lang="en-US" sz="950" dirty="0"/>
          </a:p>
        </p:txBody>
      </p:sp>
      <p:pic>
        <p:nvPicPr>
          <p:cNvPr id="12" name="logo_23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3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four doctors (2)   ·   📖 SB p.63 · 4f (the text is on the slide)</a:t>
            </a:r>
            <a:endParaRPr lang="en-US" sz="800" dirty="0"/>
          </a:p>
        </p:txBody>
      </p:sp>
      <p:sp>
        <p:nvSpPr>
          <p:cNvPr id="14" name="cd_240"/>
          <p:cNvSpPr/>
          <p:nvPr/>
        </p:nvSpPr>
        <p:spPr>
          <a:xfrm>
            <a:off x="320040" y="1417320"/>
            <a:ext cx="854964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rd_241"/>
          <p:cNvSpPr/>
          <p:nvPr/>
        </p:nvSpPr>
        <p:spPr>
          <a:xfrm>
            <a:off x="45720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SAMER NASHEF, cardiac surgeon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 never have music in the operating theatre. Firstly, it's almost impossible to find a genre that fits the musical tastes of the 12 or so people it takes to do a heart operation. Secondly, music, if it's emotionally engaging, is distracting, and if it's bland lift music, it's irritating. The real reason, however, is communication. Those 12 people need to be able to talk to each other, to provide information, ask questions, hear the answers, and act – any extraneous noise interferes with that.</a:t>
            </a:r>
            <a:endParaRPr lang="en-US" sz="1300" dirty="0"/>
          </a:p>
        </p:txBody>
      </p:sp>
      <p:sp>
        <p:nvSpPr>
          <p:cNvPr id="16" name="rd_242"/>
          <p:cNvSpPr/>
          <p:nvPr/>
        </p:nvSpPr>
        <p:spPr>
          <a:xfrm>
            <a:off x="473202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GABRIEL WESTON, skin cancer surgeon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 do surgery on people's faces using local anaesthetic, and they're awake during the operation. So I use music to get them to relax. Broadly, older people prefer classical and younger people prefer pop. I think it's sensible to let them know you care about their feelings. If there is a point when things get serious, you turn the music off. But in planned operations, there are long stretches when you're doing something you've done many times, but it still requires meticulousness, and music is good for this.</a:t>
            </a:r>
            <a:endParaRPr lang="en-US" sz="1300" dirty="0"/>
          </a:p>
        </p:txBody>
      </p:sp>
      <p:sp>
        <p:nvSpPr>
          <p:cNvPr id="17" name="rdl_243"/>
          <p:cNvSpPr/>
          <p:nvPr/>
        </p:nvSpPr>
        <p:spPr>
          <a:xfrm>
            <a:off x="4594860" y="1600200"/>
            <a:ext cx="0" cy="2999232"/>
          </a:xfrm>
          <a:prstGeom prst="line">
            <a:avLst/>
          </a:prstGeom>
          <a:noFill/>
          <a:ln w="28575">
            <a:solidFill>
              <a:srgbClr val="A8E5BE"/>
            </a:solidFill>
            <a:prstDash val="solid"/>
          </a:ln>
        </p:spPr>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4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24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Who says that…?</a:t>
            </a:r>
            <a:endParaRPr lang="en-US" sz="2400" dirty="0"/>
          </a:p>
        </p:txBody>
      </p:sp>
      <p:pic>
        <p:nvPicPr>
          <p:cNvPr id="6" name="brP_247"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248"/>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Who says that? Find the words in the texts.</a:t>
            </a:r>
            <a:endParaRPr lang="en-US" sz="1250" dirty="0"/>
          </a:p>
        </p:txBody>
      </p:sp>
      <p:sp>
        <p:nvSpPr>
          <p:cNvPr id="8" name="insIT_24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 lo dice? Trova le parole nei testi.</a:t>
            </a:r>
            <a:endParaRPr lang="en-US" sz="950" dirty="0"/>
          </a:p>
        </p:txBody>
      </p:sp>
      <p:sp>
        <p:nvSpPr>
          <p:cNvPr id="9" name="cmd_250"/>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  </a:t>
            </a:r>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MATCH</a:t>
            </a:r>
            <a:endParaRPr lang="en-US" sz="950" dirty="0"/>
          </a:p>
        </p:txBody>
      </p:sp>
      <p:sp>
        <p:nvSpPr>
          <p:cNvPr id="10" name="meta_251"/>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252"/>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Scanning</a:t>
            </a:r>
            <a:endParaRPr lang="en-US" sz="950" dirty="0"/>
          </a:p>
        </p:txBody>
      </p:sp>
      <p:pic>
        <p:nvPicPr>
          <p:cNvPr id="12" name="logo_2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four doctors (scanning)   ·   📖 SB p.63 · 4g</a:t>
            </a:r>
            <a:endParaRPr lang="en-US" sz="800" dirty="0"/>
          </a:p>
        </p:txBody>
      </p:sp>
      <p:sp>
        <p:nvSpPr>
          <p:cNvPr id="14" name="bd_255"/>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q_256"/>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It's very difficult to choose music that everyone likes.</a:t>
            </a:r>
            <a:endParaRPr lang="en-US" sz="900" dirty="0"/>
          </a:p>
        </p:txBody>
      </p:sp>
      <p:sp>
        <p:nvSpPr>
          <p:cNvPr id="16" name="R1_chip257"/>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Samer: 'it's almost impossible to find a genre that fits the musical tastes of the 12 or so people'</a:t>
            </a:r>
            <a:endParaRPr lang="en-US" sz="900" dirty="0"/>
          </a:p>
        </p:txBody>
      </p:sp>
      <p:sp>
        <p:nvSpPr>
          <p:cNvPr id="17" name="bd_258"/>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8" name="q_259"/>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 choice of music depends on the type of operation.</a:t>
            </a:r>
            <a:endParaRPr lang="en-US" sz="900" dirty="0"/>
          </a:p>
        </p:txBody>
      </p:sp>
      <p:sp>
        <p:nvSpPr>
          <p:cNvPr id="19" name="R2_chip260"/>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Ramon: 'what you pick depends on the length and the complexity of the operation'</a:t>
            </a:r>
            <a:endParaRPr lang="en-US" sz="900" dirty="0"/>
          </a:p>
        </p:txBody>
      </p:sp>
      <p:sp>
        <p:nvSpPr>
          <p:cNvPr id="20" name="bd_261"/>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1" name="q_262"/>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Playing a variety of music tends to motivate the team.</a:t>
            </a:r>
            <a:endParaRPr lang="en-US" sz="900" dirty="0"/>
          </a:p>
        </p:txBody>
      </p:sp>
      <p:sp>
        <p:nvSpPr>
          <p:cNvPr id="22" name="R3_chip263"/>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Ramon: 'some crowd-pleasers, some easy listening, some singalong tracks… everyone told me they were having fun'</a:t>
            </a:r>
            <a:endParaRPr lang="en-US" sz="900" dirty="0"/>
          </a:p>
        </p:txBody>
      </p:sp>
      <p:sp>
        <p:nvSpPr>
          <p:cNvPr id="23" name="bd_264"/>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4" name="q_265"/>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Working in silence makes them feel alone.</a:t>
            </a:r>
            <a:endParaRPr lang="en-US" sz="900" dirty="0"/>
          </a:p>
        </p:txBody>
      </p:sp>
      <p:sp>
        <p:nvSpPr>
          <p:cNvPr id="25" name="R4_chip266"/>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Safina: 'I prefer music to silence – it's too eerie; I feel like I am on my own.'</a:t>
            </a:r>
            <a:endParaRPr lang="en-US" sz="900" dirty="0"/>
          </a:p>
        </p:txBody>
      </p:sp>
      <p:sp>
        <p:nvSpPr>
          <p:cNvPr id="26" name="bd_267"/>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q_268"/>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He / she sometimes switches off the music in the middle of an operation.</a:t>
            </a:r>
            <a:endParaRPr lang="en-US" sz="700" dirty="0"/>
          </a:p>
        </p:txBody>
      </p:sp>
      <p:sp>
        <p:nvSpPr>
          <p:cNvPr id="28" name="R5_chip269"/>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Gabriel: 'If there is a point when things get serious, you turn the music off.'</a:t>
            </a:r>
            <a:endParaRPr lang="en-US" sz="900" dirty="0"/>
          </a:p>
        </p:txBody>
      </p:sp>
      <p:sp>
        <p:nvSpPr>
          <p:cNvPr id="29" name="bd_270"/>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q_271"/>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His / her colleagues often choose the music.</a:t>
            </a:r>
            <a:endParaRPr lang="en-US" sz="900" dirty="0"/>
          </a:p>
        </p:txBody>
      </p:sp>
      <p:sp>
        <p:nvSpPr>
          <p:cNvPr id="31" name="R6_chip272"/>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800" b="1" dirty="0">
                <a:solidFill>
                  <a:srgbClr val="1B2559"/>
                </a:solidFill>
                <a:latin typeface="Segoe UI Semibold" pitchFamily="34" charset="0"/>
                <a:ea typeface="Segoe UI Semibold" pitchFamily="34" charset="-122"/>
                <a:cs typeface="Segoe UI Semibold" pitchFamily="34" charset="-120"/>
              </a:rPr>
              <a:t>Safina: 'My current boss likes to have classical music on… the nurses are younger, so it's nice to have contemporary music'</a:t>
            </a:r>
            <a:endParaRPr lang="en-US" sz="800" dirty="0"/>
          </a:p>
        </p:txBody>
      </p:sp>
      <p:sp>
        <p:nvSpPr>
          <p:cNvPr id="32" name="bd_273"/>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3" name="q_274"/>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Music gets in the way of doing the job well.</a:t>
            </a:r>
            <a:endParaRPr lang="en-US" sz="900" dirty="0"/>
          </a:p>
        </p:txBody>
      </p:sp>
      <p:sp>
        <p:nvSpPr>
          <p:cNvPr id="34" name="R7_chip275"/>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Samer: 'music… is distracting… any extraneous noise interferes with that'</a:t>
            </a:r>
            <a:endParaRPr lang="en-US" sz="900" dirty="0"/>
          </a:p>
        </p:txBody>
      </p:sp>
      <p:sp>
        <p:nvSpPr>
          <p:cNvPr id="35" name="bd_276"/>
          <p:cNvSpPr/>
          <p:nvPr/>
        </p:nvSpPr>
        <p:spPr>
          <a:xfrm>
            <a:off x="470916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6" name="q_277"/>
          <p:cNvSpPr/>
          <p:nvPr/>
        </p:nvSpPr>
        <p:spPr>
          <a:xfrm>
            <a:off x="509320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He / she plays different music to suit different patients.</a:t>
            </a:r>
            <a:endParaRPr lang="en-US" sz="900" dirty="0"/>
          </a:p>
        </p:txBody>
      </p:sp>
      <p:sp>
        <p:nvSpPr>
          <p:cNvPr id="37" name="R8_chip278"/>
          <p:cNvSpPr/>
          <p:nvPr/>
        </p:nvSpPr>
        <p:spPr>
          <a:xfrm>
            <a:off x="509320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Gabriel: 'older people prefer classical and younger people prefer pop'</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4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9"/>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280"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281"/>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Their real words</a:t>
            </a:r>
            <a:endParaRPr lang="en-US" sz="2500" dirty="0"/>
          </a:p>
        </p:txBody>
      </p:sp>
      <p:pic>
        <p:nvPicPr>
          <p:cNvPr id="6" name="brP_28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8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Find the doctor's exact words in the texts. Say the full sentence.</a:t>
            </a:r>
            <a:endParaRPr lang="en-US" sz="1100" dirty="0"/>
          </a:p>
        </p:txBody>
      </p:sp>
      <p:sp>
        <p:nvSpPr>
          <p:cNvPr id="8" name="insIT_28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le parole esatte del medico nei testi. Di' la frase intera.</a:t>
            </a:r>
            <a:endParaRPr lang="en-US" sz="950" dirty="0"/>
          </a:p>
        </p:txBody>
      </p:sp>
      <p:sp>
        <p:nvSpPr>
          <p:cNvPr id="9" name="cmd_285"/>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FIND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TROVA</a:t>
            </a:r>
            <a:endParaRPr lang="en-US" sz="950" dirty="0"/>
          </a:p>
        </p:txBody>
      </p:sp>
      <p:sp>
        <p:nvSpPr>
          <p:cNvPr id="10" name="meta_286"/>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87"/>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Guided discovery</a:t>
            </a:r>
            <a:endParaRPr lang="en-US" sz="750" dirty="0"/>
          </a:p>
        </p:txBody>
      </p:sp>
      <p:pic>
        <p:nvPicPr>
          <p:cNvPr id="12" name="logo_2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Reading · real words + grammar (-ing or to?)   ·   📖 SB p.63</a:t>
            </a:r>
            <a:endParaRPr lang="en-US" sz="800" dirty="0"/>
          </a:p>
        </p:txBody>
      </p:sp>
      <p:sp>
        <p:nvSpPr>
          <p:cNvPr id="14" name="bd_290"/>
          <p:cNvSpPr/>
          <p:nvPr/>
        </p:nvSpPr>
        <p:spPr>
          <a:xfrm>
            <a:off x="548640" y="151333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q_291"/>
          <p:cNvSpPr/>
          <p:nvPr/>
        </p:nvSpPr>
        <p:spPr>
          <a:xfrm>
            <a:off x="932688" y="141732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Ramon: 'I try ___ some crowd-pleasers.'</a:t>
            </a:r>
            <a:endParaRPr lang="en-US" sz="1300" dirty="0"/>
          </a:p>
        </p:txBody>
      </p:sp>
      <p:sp>
        <p:nvSpPr>
          <p:cNvPr id="16" name="R1_chip292"/>
          <p:cNvSpPr/>
          <p:nvPr/>
        </p:nvSpPr>
        <p:spPr>
          <a:xfrm>
            <a:off x="4297680" y="141732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 try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 have</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some crowd-pleasers, some easy listening, some singalong tracks.</a:t>
            </a:r>
            <a:endParaRPr lang="en-US" sz="1200" dirty="0"/>
          </a:p>
        </p:txBody>
      </p:sp>
      <p:sp>
        <p:nvSpPr>
          <p:cNvPr id="17" name="bd_293"/>
          <p:cNvSpPr/>
          <p:nvPr/>
        </p:nvSpPr>
        <p:spPr>
          <a:xfrm>
            <a:off x="548640" y="20619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8" name="q_294"/>
          <p:cNvSpPr/>
          <p:nvPr/>
        </p:nvSpPr>
        <p:spPr>
          <a:xfrm>
            <a:off x="932688" y="196596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Ramon: '…so they didn't mind ___ late.'</a:t>
            </a:r>
            <a:endParaRPr lang="en-US" sz="1300" dirty="0"/>
          </a:p>
        </p:txBody>
      </p:sp>
      <p:sp>
        <p:nvSpPr>
          <p:cNvPr id="19" name="R2_chip295"/>
          <p:cNvSpPr/>
          <p:nvPr/>
        </p:nvSpPr>
        <p:spPr>
          <a:xfrm>
            <a:off x="4297680" y="196596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Everyone told me they were having fun, so they didn't mind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staying</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late.</a:t>
            </a:r>
            <a:endParaRPr lang="en-US" sz="1200" dirty="0"/>
          </a:p>
        </p:txBody>
      </p:sp>
      <p:sp>
        <p:nvSpPr>
          <p:cNvPr id="20" name="bd_296"/>
          <p:cNvSpPr/>
          <p:nvPr/>
        </p:nvSpPr>
        <p:spPr>
          <a:xfrm>
            <a:off x="548640" y="26106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1" name="q_297"/>
          <p:cNvSpPr/>
          <p:nvPr/>
        </p:nvSpPr>
        <p:spPr>
          <a:xfrm>
            <a:off x="932688" y="2514600"/>
            <a:ext cx="3291840" cy="502920"/>
          </a:xfrm>
          <a:prstGeom prst="roundRect">
            <a:avLst>
              <a:gd name="adj" fmla="val 1818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Safina: 'I had ___ to Bruce Springsteen.'</a:t>
            </a:r>
            <a:endParaRPr lang="en-US" sz="1300" dirty="0"/>
          </a:p>
        </p:txBody>
      </p:sp>
      <p:sp>
        <p:nvSpPr>
          <p:cNvPr id="22" name="R3_chip298"/>
          <p:cNvSpPr/>
          <p:nvPr/>
        </p:nvSpPr>
        <p:spPr>
          <a:xfrm>
            <a:off x="4297680" y="251460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When I was training, I had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 listen</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to Bruce Springsteen for ten hours at a time.</a:t>
            </a:r>
            <a:endParaRPr lang="en-US" sz="1200" dirty="0"/>
          </a:p>
        </p:txBody>
      </p:sp>
      <p:sp>
        <p:nvSpPr>
          <p:cNvPr id="23" name="bd_299"/>
          <p:cNvSpPr/>
          <p:nvPr/>
        </p:nvSpPr>
        <p:spPr>
          <a:xfrm>
            <a:off x="548640" y="315925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4" name="q_300"/>
          <p:cNvSpPr/>
          <p:nvPr/>
        </p:nvSpPr>
        <p:spPr>
          <a:xfrm>
            <a:off x="932688" y="3063240"/>
            <a:ext cx="3291840" cy="502920"/>
          </a:xfrm>
          <a:prstGeom prst="roundRect">
            <a:avLst>
              <a:gd name="adj" fmla="val 1818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Safina: 'My boss likes ___ classical music on.'</a:t>
            </a:r>
            <a:endParaRPr lang="en-US" sz="1300" dirty="0"/>
          </a:p>
        </p:txBody>
      </p:sp>
      <p:sp>
        <p:nvSpPr>
          <p:cNvPr id="25" name="R4_chip301"/>
          <p:cNvSpPr/>
          <p:nvPr/>
        </p:nvSpPr>
        <p:spPr>
          <a:xfrm>
            <a:off x="4297680" y="306324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My current boss likes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 have</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classical music on.</a:t>
            </a:r>
            <a:endParaRPr lang="en-US" sz="1200" dirty="0"/>
          </a:p>
        </p:txBody>
      </p:sp>
      <p:sp>
        <p:nvSpPr>
          <p:cNvPr id="26" name="bd_302"/>
          <p:cNvSpPr/>
          <p:nvPr/>
        </p:nvSpPr>
        <p:spPr>
          <a:xfrm>
            <a:off x="548640" y="370789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q_303"/>
          <p:cNvSpPr/>
          <p:nvPr/>
        </p:nvSpPr>
        <p:spPr>
          <a:xfrm>
            <a:off x="932688" y="361188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Samer: 'It's almost impossible ___ a genre…'</a:t>
            </a:r>
            <a:endParaRPr lang="en-US" sz="1300" dirty="0"/>
          </a:p>
        </p:txBody>
      </p:sp>
      <p:sp>
        <p:nvSpPr>
          <p:cNvPr id="28" name="R5_chip304"/>
          <p:cNvSpPr/>
          <p:nvPr/>
        </p:nvSpPr>
        <p:spPr>
          <a:xfrm>
            <a:off x="4297680" y="361188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It's almost impossible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 find</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 genre that fits the musical tastes of the 12 or so people.</a:t>
            </a:r>
            <a:endParaRPr lang="en-US" sz="1200" dirty="0"/>
          </a:p>
        </p:txBody>
      </p:sp>
      <p:sp>
        <p:nvSpPr>
          <p:cNvPr id="29" name="bd_305"/>
          <p:cNvSpPr/>
          <p:nvPr/>
        </p:nvSpPr>
        <p:spPr>
          <a:xfrm>
            <a:off x="548640" y="42565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q_306"/>
          <p:cNvSpPr/>
          <p:nvPr/>
        </p:nvSpPr>
        <p:spPr>
          <a:xfrm>
            <a:off x="932688" y="416052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Gabriel: 'I use music ___ them to relax.'</a:t>
            </a:r>
            <a:endParaRPr lang="en-US" sz="1300" dirty="0"/>
          </a:p>
        </p:txBody>
      </p:sp>
      <p:sp>
        <p:nvSpPr>
          <p:cNvPr id="31" name="R6_chip307"/>
          <p:cNvSpPr/>
          <p:nvPr/>
        </p:nvSpPr>
        <p:spPr>
          <a:xfrm>
            <a:off x="4297680" y="416052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 I use music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 get</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them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 relax</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09" descr="/home/claude/lls-course/v2/assets/brush-yellow.png">    </p:cNvPr>
          <p:cNvPicPr>
            <a:picLocks noChangeAspect="1"/>
          </p:cNvPicPr>
          <p:nvPr/>
        </p:nvPicPr>
        <p:blipFill>
          <a:blip r:embed="rId2"/>
          <a:stretch>
            <a:fillRect/>
          </a:stretch>
        </p:blipFill>
        <p:spPr>
          <a:xfrm>
            <a:off x="1097280" y="146304"/>
            <a:ext cx="5760720" cy="621792"/>
          </a:xfrm>
          <a:prstGeom prst="rect">
            <a:avLst/>
          </a:prstGeom>
        </p:spPr>
      </p:pic>
      <p:sp>
        <p:nvSpPr>
          <p:cNvPr id="5" name="title_310"/>
          <p:cNvSpPr/>
          <p:nvPr/>
        </p:nvSpPr>
        <p:spPr>
          <a:xfrm>
            <a:off x="1261872" y="164592"/>
            <a:ext cx="5486400"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Hospital meeting: music or silence?</a:t>
            </a:r>
            <a:endParaRPr lang="en-US" sz="2250" dirty="0"/>
          </a:p>
        </p:txBody>
      </p:sp>
      <p:pic>
        <p:nvPicPr>
          <p:cNvPr id="6" name="brP_31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1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Groups of 4: one role each. Read your role. Think of 2 reasons.</a:t>
            </a:r>
            <a:endParaRPr lang="en-US" sz="1100" dirty="0"/>
          </a:p>
        </p:txBody>
      </p:sp>
      <p:sp>
        <p:nvSpPr>
          <p:cNvPr id="8" name="insIT_31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Gruppi di 4: un ruolo a testa. Leggi il tuo ruolo. Pensa a 2 motivi.</a:t>
            </a:r>
            <a:endParaRPr lang="en-US" sz="950" dirty="0"/>
          </a:p>
        </p:txBody>
      </p:sp>
      <p:sp>
        <p:nvSpPr>
          <p:cNvPr id="9" name="cmd_314"/>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  </a:t>
            </a:r>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endParaRPr lang="en-US" sz="950" dirty="0"/>
          </a:p>
        </p:txBody>
      </p:sp>
      <p:sp>
        <p:nvSpPr>
          <p:cNvPr id="10" name="meta_315"/>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2 min   👨‍👩‍👧 groups</a:t>
            </a:r>
            <a:endParaRPr lang="en-US" sz="950" dirty="0"/>
          </a:p>
        </p:txBody>
      </p:sp>
      <p:sp>
        <p:nvSpPr>
          <p:cNvPr id="11" name="tag_316"/>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Role-play · prepare</a:t>
            </a:r>
            <a:endParaRPr lang="en-US" sz="750" dirty="0"/>
          </a:p>
        </p:txBody>
      </p:sp>
      <p:pic>
        <p:nvPicPr>
          <p:cNvPr id="12" name="logo_31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1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 hospital meeting (1): roles   ·   📖 SB p.62–63 · 4f (consensus) · role-play</a:t>
            </a:r>
            <a:endParaRPr lang="en-US" sz="800" dirty="0"/>
          </a:p>
        </p:txBody>
      </p:sp>
      <p:sp>
        <p:nvSpPr>
          <p:cNvPr id="14" name="cd_319"/>
          <p:cNvSpPr/>
          <p:nvPr/>
        </p:nvSpPr>
        <p:spPr>
          <a:xfrm>
            <a:off x="320040" y="1417320"/>
            <a:ext cx="2788920" cy="3150616"/>
          </a:xfrm>
          <a:prstGeom prst="roundRect">
            <a:avLst>
              <a:gd name="adj" fmla="val 459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2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21"/>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How it works</a:t>
            </a:r>
            <a:endParaRPr lang="en-US" sz="1300" dirty="0"/>
          </a:p>
        </p:txBody>
      </p:sp>
      <p:sp>
        <p:nvSpPr>
          <p:cNvPr id="17" name="il_322"/>
          <p:cNvSpPr/>
          <p:nvPr/>
        </p:nvSpPr>
        <p:spPr>
          <a:xfrm>
            <a:off x="886968" y="1911096"/>
            <a:ext cx="2130552" cy="25836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1 minute: read your role and think of 2 reasons.</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Round 1: each person speaks for 30 seconds. No interrupting!</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Round 2: discuss and answer the others' reasons.</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Vote: music always, sometimes or never?</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Write ONE rule for your hospital.</a:t>
            </a:r>
            <a:endParaRPr lang="en-US" sz="1100" dirty="0"/>
          </a:p>
        </p:txBody>
      </p:sp>
      <p:sp>
        <p:nvSpPr>
          <p:cNvPr id="18" name="R1_qb323"/>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24"/>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 · Surgeon: you love your playlist. Music keeps the team happy and motivated.</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'Last week we finished late – nobody minded, because of the music!'</a:t>
            </a:r>
            <a:endParaRPr lang="en-US" sz="950" dirty="0"/>
          </a:p>
        </p:txBody>
      </p:sp>
      <p:sp>
        <p:nvSpPr>
          <p:cNvPr id="20" name="R2_qb325"/>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326"/>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B · Heart surgeon: NO music, ever. A team of 12 must hear each other.</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'Any extra noise gets in the way. One mistake is too many.'</a:t>
            </a:r>
            <a:endParaRPr lang="en-US" sz="950" dirty="0"/>
          </a:p>
        </p:txBody>
      </p:sp>
      <p:sp>
        <p:nvSpPr>
          <p:cNvPr id="22" name="R3_qb327"/>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328"/>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 · Nurse: silence feels eerie. You want pop music you can talk about.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'In silence I feel alone – and classical music is bland!'</a:t>
            </a:r>
            <a:endParaRPr lang="en-US" sz="950" dirty="0"/>
          </a:p>
        </p:txBody>
      </p:sp>
      <p:sp>
        <p:nvSpPr>
          <p:cNvPr id="24" name="R4_qb329"/>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330"/>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 · Anaesthetist: you watch the patient and the machines. You must hear every alarm.</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'Music is OK – but quietly, and OFF when things get serious.'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3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32"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333"/>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Debate, vote, make a rule</a:t>
            </a:r>
            <a:endParaRPr lang="en-US" sz="2500" dirty="0"/>
          </a:p>
        </p:txBody>
      </p:sp>
      <p:pic>
        <p:nvPicPr>
          <p:cNvPr id="6" name="brP_334"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335"/>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Discuss in your group. Then vote and write ONE rule.</a:t>
            </a:r>
            <a:endParaRPr lang="en-US" sz="1250" dirty="0"/>
          </a:p>
        </p:txBody>
      </p:sp>
      <p:sp>
        <p:nvSpPr>
          <p:cNvPr id="8" name="insIT_33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Discutete nel gruppo. Poi votate e scrivete UNA regola.</a:t>
            </a:r>
            <a:endParaRPr lang="en-US" sz="950" dirty="0"/>
          </a:p>
        </p:txBody>
      </p:sp>
      <p:sp>
        <p:nvSpPr>
          <p:cNvPr id="9" name="cmd_337"/>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338"/>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339"/>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Reach a consensus</a:t>
            </a:r>
            <a:endParaRPr lang="en-US" sz="750" dirty="0"/>
          </a:p>
        </p:txBody>
      </p:sp>
      <p:pic>
        <p:nvPicPr>
          <p:cNvPr id="12" name="logo_34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4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 hospital meeting (2): debate + vote   ·   📖 SB pp.62–63 · 4f (consensus) · adapted</a:t>
            </a:r>
            <a:endParaRPr lang="en-US" sz="800" dirty="0"/>
          </a:p>
        </p:txBody>
      </p:sp>
      <p:sp>
        <p:nvSpPr>
          <p:cNvPr id="14" name="cd_342"/>
          <p:cNvSpPr/>
          <p:nvPr/>
        </p:nvSpPr>
        <p:spPr>
          <a:xfrm>
            <a:off x="320040" y="1417320"/>
            <a:ext cx="2788920" cy="2292096"/>
          </a:xfrm>
          <a:prstGeom prst="roundRect">
            <a:avLst>
              <a:gd name="adj" fmla="val 55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4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44"/>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345"/>
          <p:cNvSpPr/>
          <p:nvPr/>
        </p:nvSpPr>
        <p:spPr>
          <a:xfrm>
            <a:off x="886968" y="1911096"/>
            <a:ext cx="2130552" cy="17251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see your point, but…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That's true up to a point.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What if we…?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Could we agree that…?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OK, let's compromise: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So we all agree that…</a:t>
            </a:r>
            <a:endParaRPr lang="en-US" sz="1150" dirty="0"/>
          </a:p>
        </p:txBody>
      </p:sp>
      <p:sp>
        <p:nvSpPr>
          <p:cNvPr id="18" name="R1_qb34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47"/>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Round 1: each person, 30 seconds: your opinion + 2 reasons.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As a surgeon, I think music helps because…</a:t>
            </a:r>
            <a:endParaRPr lang="en-US" sz="950" dirty="0"/>
          </a:p>
        </p:txBody>
      </p:sp>
      <p:sp>
        <p:nvSpPr>
          <p:cNvPr id="20" name="R2_qb348"/>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349"/>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Round 2: discuss. Use 2 phrases from the box.</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see your point, but the team must hear the alarms.</a:t>
            </a:r>
            <a:endParaRPr lang="en-US" sz="950" dirty="0"/>
          </a:p>
        </p:txBody>
      </p:sp>
      <p:sp>
        <p:nvSpPr>
          <p:cNvPr id="22" name="R3_qb350"/>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351"/>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Vote: music always · sometimes · never?</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Three of us voted 'sometimes', one voted 'never'.</a:t>
            </a:r>
            <a:endParaRPr lang="en-US" sz="950" dirty="0"/>
          </a:p>
        </p:txBody>
      </p:sp>
      <p:sp>
        <p:nvSpPr>
          <p:cNvPr id="24" name="R4_qb352"/>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353"/>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Your rule in ONE sentence: Music is allowed when… but…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Music is allowed in planned operations, but it goes off when things get serious.</a:t>
            </a:r>
            <a:endParaRPr lang="en-US" sz="950" dirty="0"/>
          </a:p>
        </p:txBody>
      </p:sp>
      <p:sp>
        <p:nvSpPr>
          <p:cNvPr id="26" name="R5_qb354"/>
          <p:cNvSpPr/>
          <p:nvPr/>
        </p:nvSpPr>
        <p:spPr>
          <a:xfrm>
            <a:off x="3273552" y="386791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7" name="R5_sq355"/>
          <p:cNvSpPr/>
          <p:nvPr/>
        </p:nvSpPr>
        <p:spPr>
          <a:xfrm>
            <a:off x="3675888" y="3831336"/>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Report to the class: your rule. Did anyone change their mind?</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Luca changed his mind because…</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6"/>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357"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358"/>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Giulia's study playlist</a:t>
            </a:r>
            <a:endParaRPr lang="en-US" sz="2500" dirty="0"/>
          </a:p>
        </p:txBody>
      </p:sp>
      <p:pic>
        <p:nvPicPr>
          <p:cNvPr id="6" name="brP_359" descr="/home/claude/lls-course/v2/assets/brush-pink.png">    </p:cNvPr>
          <p:cNvPicPr>
            <a:picLocks noChangeAspect="1"/>
          </p:cNvPicPr>
          <p:nvPr/>
        </p:nvPicPr>
        <p:blipFill>
          <a:blip r:embed="rId3"/>
          <a:stretch>
            <a:fillRect/>
          </a:stretch>
        </p:blipFill>
        <p:spPr>
          <a:xfrm>
            <a:off x="1207008" y="731520"/>
            <a:ext cx="5074920" cy="402336"/>
          </a:xfrm>
          <a:prstGeom prst="rect">
            <a:avLst/>
          </a:prstGeom>
        </p:spPr>
      </p:pic>
      <p:sp>
        <p:nvSpPr>
          <p:cNvPr id="7" name="ins_360"/>
          <p:cNvSpPr/>
          <p:nvPr/>
        </p:nvSpPr>
        <p:spPr>
          <a:xfrm>
            <a:off x="1353312" y="731520"/>
            <a:ext cx="48188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story line by line. Answer the questions.</a:t>
            </a:r>
            <a:endParaRPr lang="en-US" sz="1250" dirty="0"/>
          </a:p>
        </p:txBody>
      </p:sp>
      <p:sp>
        <p:nvSpPr>
          <p:cNvPr id="8" name="insIT_36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storia riga per riga. Rispondi alle domande.</a:t>
            </a:r>
            <a:endParaRPr lang="en-US" sz="950" dirty="0"/>
          </a:p>
        </p:txBody>
      </p:sp>
      <p:sp>
        <p:nvSpPr>
          <p:cNvPr id="9" name="cmd_362"/>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  </a:t>
            </a:r>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endParaRPr lang="en-US" sz="950" dirty="0"/>
          </a:p>
        </p:txBody>
      </p:sp>
      <p:sp>
        <p:nvSpPr>
          <p:cNvPr id="10" name="meta_363"/>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364"/>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2" name="logo_3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 class story (TPRS)</a:t>
            </a:r>
            <a:endParaRPr lang="en-US" sz="800" dirty="0"/>
          </a:p>
        </p:txBody>
      </p:sp>
      <p:sp>
        <p:nvSpPr>
          <p:cNvPr id="14" name="pf_367"/>
          <p:cNvSpPr/>
          <p:nvPr/>
        </p:nvSpPr>
        <p:spPr>
          <a:xfrm rot="-90000">
            <a:off x="1089178" y="1417320"/>
            <a:ext cx="1204925" cy="1280160"/>
          </a:xfrm>
          <a:prstGeom prst="roundRect">
            <a:avLst>
              <a:gd name="adj" fmla="val 12901"/>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368" descr="/home/claude/lls-course/v2/cache/b2_6b2_giulia_jpg_268x286_31.png">    </p:cNvPr>
          <p:cNvPicPr>
            <a:picLocks noChangeAspect="1"/>
          </p:cNvPicPr>
          <p:nvPr/>
        </p:nvPicPr>
        <p:blipFill>
          <a:blip r:embed="rId5"/>
          <a:stretch>
            <a:fillRect/>
          </a:stretch>
        </p:blipFill>
        <p:spPr>
          <a:xfrm rot="-90000">
            <a:off x="1134898" y="1463040"/>
            <a:ext cx="1113485" cy="1188720"/>
          </a:xfrm>
          <a:prstGeom prst="rect">
            <a:avLst/>
          </a:prstGeom>
        </p:spPr>
      </p:pic>
      <p:sp>
        <p:nvSpPr>
          <p:cNvPr id="16" name="cd_369"/>
          <p:cNvSpPr/>
          <p:nvPr/>
        </p:nvSpPr>
        <p:spPr>
          <a:xfrm>
            <a:off x="320040" y="2834640"/>
            <a:ext cx="2697480" cy="1920240"/>
          </a:xfrm>
          <a:prstGeom prst="roundRect">
            <a:avLst>
              <a:gd name="adj" fmla="val 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7" name="ii_370"/>
          <p:cNvSpPr/>
          <p:nvPr/>
        </p:nvSpPr>
        <p:spPr>
          <a:xfrm>
            <a:off x="411480" y="29077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71"/>
          <p:cNvSpPr/>
          <p:nvPr/>
        </p:nvSpPr>
        <p:spPr>
          <a:xfrm>
            <a:off x="886968" y="292608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9" name="il_372"/>
          <p:cNvSpPr/>
          <p:nvPr/>
        </p:nvSpPr>
        <p:spPr>
          <a:xfrm>
            <a:off x="886968" y="3328416"/>
            <a:ext cx="2039112" cy="1353312"/>
          </a:xfrm>
          <a:prstGeom prst="rect">
            <a:avLst/>
          </a:prstGeom>
          <a:noFill/>
          <a:ln/>
        </p:spPr>
        <p:txBody>
          <a:bodyPr wrap="square" lIns="0" tIns="0" rIns="0" bIns="0" rtlCol="0" anchor="t">
            <a:normAutofit/>
          </a:bodyPr>
          <a:lstStyle/>
          <a:p>
            <a:pPr indent="0" marL="0">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opt for</a:t>
            </a:r>
            <a:endParaRPr lang="en-US" sz="1150" dirty="0"/>
          </a:p>
          <a:p>
            <a:pPr indent="0" marL="0">
              <a:spcBef>
                <a:spcPts val="600"/>
              </a:spcBef>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uplifting / soothing</a:t>
            </a:r>
            <a:endParaRPr lang="en-US" sz="1150" dirty="0"/>
          </a:p>
          <a:p>
            <a:pPr indent="0" marL="0">
              <a:spcBef>
                <a:spcPts val="600"/>
              </a:spcBef>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bland</a:t>
            </a:r>
            <a:endParaRPr lang="en-US" sz="1150" dirty="0"/>
          </a:p>
          <a:p>
            <a:pPr indent="0" marL="0">
              <a:spcBef>
                <a:spcPts val="600"/>
              </a:spcBef>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better off + -ing</a:t>
            </a:r>
            <a:endParaRPr lang="en-US" sz="1150" dirty="0"/>
          </a:p>
          <a:p>
            <a:pPr indent="0" marL="0">
              <a:spcBef>
                <a:spcPts val="600"/>
              </a:spcBef>
              <a:spcAft>
                <a:spcPts val="200"/>
              </a:spcAft>
              <a:buNone/>
            </a:pPr>
            <a:r>
              <a:rPr lang="en-US" sz="1150" dirty="0">
                <a:solidFill>
                  <a:srgbClr val="1B2559"/>
                </a:solidFill>
                <a:latin typeface="Segoe UI Semibold" pitchFamily="34" charset="0"/>
                <a:ea typeface="Segoe UI Semibold" pitchFamily="34" charset="-122"/>
                <a:cs typeface="Segoe UI Semibold" pitchFamily="34" charset="-120"/>
              </a:rPr>
              <a:t>can't help + -ing</a:t>
            </a:r>
            <a:endParaRPr lang="en-US" sz="1150" dirty="0"/>
          </a:p>
        </p:txBody>
      </p:sp>
      <p:sp>
        <p:nvSpPr>
          <p:cNvPr id="20" name="R1_sb373"/>
          <p:cNvSpPr/>
          <p:nvPr/>
        </p:nvSpPr>
        <p:spPr>
          <a:xfrm>
            <a:off x="32004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R1_sl374"/>
          <p:cNvSpPr/>
          <p:nvPr/>
        </p:nvSpPr>
        <p:spPr>
          <a:xfrm>
            <a:off x="3584448" y="141732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Giulia had a maths test, so she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opted for</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total silence. After ten minutes it felt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eerie</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a:t>
            </a:r>
            <a:endParaRPr lang="en-US" sz="9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Why did she choose silence? · Why do you think silence can feel eerie?</a:t>
            </a:r>
            <a:endParaRPr lang="en-US" sz="900" dirty="0"/>
          </a:p>
        </p:txBody>
      </p:sp>
      <p:sp>
        <p:nvSpPr>
          <p:cNvPr id="22" name="R2_sb375"/>
          <p:cNvSpPr/>
          <p:nvPr/>
        </p:nvSpPr>
        <p:spPr>
          <a:xfrm>
            <a:off x="32004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3" name="R2_sl376"/>
          <p:cNvSpPr/>
          <p:nvPr/>
        </p:nvSpPr>
        <p:spPr>
          <a:xfrm>
            <a:off x="3584448" y="198120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She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tried putting on</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some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soothing</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piano music – but it was so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bland</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she fell asleep.</a:t>
            </a:r>
            <a:endParaRPr lang="en-US" sz="9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What did she try? · What's the difference between 'tried putting on' and 'tried to put on'?</a:t>
            </a:r>
            <a:endParaRPr lang="en-US" sz="900" dirty="0"/>
          </a:p>
        </p:txBody>
      </p:sp>
      <p:sp>
        <p:nvSpPr>
          <p:cNvPr id="24" name="R3_sb377"/>
          <p:cNvSpPr/>
          <p:nvPr/>
        </p:nvSpPr>
        <p:spPr>
          <a:xfrm>
            <a:off x="32004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5" name="R3_sl378"/>
          <p:cNvSpPr/>
          <p:nvPr/>
        </p:nvSpPr>
        <p:spPr>
          <a:xfrm>
            <a:off x="3584448" y="2545080"/>
            <a:ext cx="53035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Then she chose an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uplifting</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pop playlist, full of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crowd-pleasers</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Why might uplifting music help? · Would it help YOU with maths?</a:t>
            </a:r>
            <a:endParaRPr lang="en-US" sz="1050" dirty="0"/>
          </a:p>
        </p:txBody>
      </p:sp>
      <p:sp>
        <p:nvSpPr>
          <p:cNvPr id="26" name="R4_sb379"/>
          <p:cNvSpPr/>
          <p:nvPr/>
        </p:nvSpPr>
        <p:spPr>
          <a:xfrm>
            <a:off x="32004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R4_sl380"/>
          <p:cNvSpPr/>
          <p:nvPr/>
        </p:nvSpPr>
        <p:spPr>
          <a:xfrm>
            <a:off x="3584448" y="3108960"/>
            <a:ext cx="53035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But she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couldn't help singing</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along, and she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forgot to do</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half the exercises.</a:t>
            </a:r>
            <a:endParaRPr lang="en-US" sz="9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What couldn't she help doing? · What did she forget? · Has this happened to you?</a:t>
            </a:r>
            <a:endParaRPr lang="en-US" sz="950" dirty="0"/>
          </a:p>
        </p:txBody>
      </p:sp>
      <p:sp>
        <p:nvSpPr>
          <p:cNvPr id="28" name="R5_sb381"/>
          <p:cNvSpPr/>
          <p:nvPr/>
        </p:nvSpPr>
        <p:spPr>
          <a:xfrm>
            <a:off x="32004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9" name="R5_sl382"/>
          <p:cNvSpPr/>
          <p:nvPr/>
        </p:nvSpPr>
        <p:spPr>
          <a:xfrm>
            <a:off x="3584448" y="367284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Her brother said: 'For problem-solving, you're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better off working</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in silence.'</a:t>
            </a:r>
            <a:endParaRPr lang="en-US" sz="9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Was he right, according to the article? · Why?</a:t>
            </a:r>
            <a:endParaRPr lang="en-US" sz="950" dirty="0"/>
          </a:p>
        </p:txBody>
      </p:sp>
      <p:sp>
        <p:nvSpPr>
          <p:cNvPr id="30" name="R6_sb383"/>
          <p:cNvSpPr/>
          <p:nvPr/>
        </p:nvSpPr>
        <p:spPr>
          <a:xfrm>
            <a:off x="32004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1" name="R6_sl384"/>
          <p:cNvSpPr/>
          <p:nvPr/>
        </p:nvSpPr>
        <p:spPr>
          <a:xfrm>
            <a:off x="3584448" y="423672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So now Giulia keeps silence for maths – and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saves her playlist for</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art homework.</a:t>
            </a:r>
            <a:endParaRPr lang="en-US" sz="9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Is that a good compromise? · What would YOU change in her plan?</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400"/>
                                        <p:tgtEl>
                                          <p:spTgt spid="30"/>
                                        </p:tgtEl>
                                      </p:cBhvr>
                                    </p:animEffect>
                                  </p:childTnLst>
                                </p:cTn>
                              </p:par>
                              <p:par>
                                <p:cTn id="48" presetID="10" presetClass="entr" presetSubtype="0" fill="hold"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5"/>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386"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87"/>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Retell it!</a:t>
            </a:r>
            <a:endParaRPr lang="en-US" sz="2500" dirty="0"/>
          </a:p>
        </p:txBody>
      </p:sp>
      <p:pic>
        <p:nvPicPr>
          <p:cNvPr id="6" name="brP_388"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89"/>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Books closed! Retell Giulia's story to your partner. One word per line helps.</a:t>
            </a:r>
            <a:endParaRPr lang="en-US" sz="1100" dirty="0"/>
          </a:p>
        </p:txBody>
      </p:sp>
      <p:sp>
        <p:nvSpPr>
          <p:cNvPr id="8" name="insIT_39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Libri chiusi! Racconta di nuovo la storia al compagno. Una parola per riga ti aiuta.</a:t>
            </a:r>
            <a:endParaRPr lang="en-US" sz="900" dirty="0"/>
          </a:p>
        </p:txBody>
      </p:sp>
      <p:sp>
        <p:nvSpPr>
          <p:cNvPr id="9" name="cmd_391"/>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392"/>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93"/>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retell</a:t>
            </a:r>
            <a:endParaRPr lang="en-US" sz="850" dirty="0"/>
          </a:p>
        </p:txBody>
      </p:sp>
      <p:pic>
        <p:nvPicPr>
          <p:cNvPr id="12" name="logo_39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9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 retell (TPRS)</a:t>
            </a:r>
            <a:endParaRPr lang="en-US" sz="800" dirty="0"/>
          </a:p>
        </p:txBody>
      </p:sp>
      <p:sp>
        <p:nvSpPr>
          <p:cNvPr id="14" name="R1_sb396"/>
          <p:cNvSpPr/>
          <p:nvPr/>
        </p:nvSpPr>
        <p:spPr>
          <a:xfrm>
            <a:off x="4572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R1_sl397"/>
          <p:cNvSpPr/>
          <p:nvPr/>
        </p:nvSpPr>
        <p:spPr>
          <a:xfrm>
            <a:off x="841248" y="1417320"/>
            <a:ext cx="80467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silence</a:t>
            </a:r>
            <a:endParaRPr lang="en-US" sz="1250" dirty="0"/>
          </a:p>
        </p:txBody>
      </p:sp>
      <p:sp>
        <p:nvSpPr>
          <p:cNvPr id="16" name="R2_sb398"/>
          <p:cNvSpPr/>
          <p:nvPr/>
        </p:nvSpPr>
        <p:spPr>
          <a:xfrm>
            <a:off x="4572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7" name="R2_sl399"/>
          <p:cNvSpPr/>
          <p:nvPr/>
        </p:nvSpPr>
        <p:spPr>
          <a:xfrm>
            <a:off x="841248" y="1981200"/>
            <a:ext cx="80467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piano</a:t>
            </a:r>
            <a:endParaRPr lang="en-US" sz="1250" dirty="0"/>
          </a:p>
        </p:txBody>
      </p:sp>
      <p:sp>
        <p:nvSpPr>
          <p:cNvPr id="18" name="R3_sb400"/>
          <p:cNvSpPr/>
          <p:nvPr/>
        </p:nvSpPr>
        <p:spPr>
          <a:xfrm>
            <a:off x="4572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R3_sl401"/>
          <p:cNvSpPr/>
          <p:nvPr/>
        </p:nvSpPr>
        <p:spPr>
          <a:xfrm>
            <a:off x="841248" y="2545080"/>
            <a:ext cx="80467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pop playlist</a:t>
            </a:r>
            <a:endParaRPr lang="en-US" sz="1250" dirty="0"/>
          </a:p>
        </p:txBody>
      </p:sp>
      <p:sp>
        <p:nvSpPr>
          <p:cNvPr id="20" name="R4_sb402"/>
          <p:cNvSpPr/>
          <p:nvPr/>
        </p:nvSpPr>
        <p:spPr>
          <a:xfrm>
            <a:off x="4572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1" name="R4_sl403"/>
          <p:cNvSpPr/>
          <p:nvPr/>
        </p:nvSpPr>
        <p:spPr>
          <a:xfrm>
            <a:off x="841248" y="3108960"/>
            <a:ext cx="80467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singing</a:t>
            </a:r>
            <a:endParaRPr lang="en-US" sz="1250" dirty="0"/>
          </a:p>
        </p:txBody>
      </p:sp>
      <p:sp>
        <p:nvSpPr>
          <p:cNvPr id="22" name="R5_sb404"/>
          <p:cNvSpPr/>
          <p:nvPr/>
        </p:nvSpPr>
        <p:spPr>
          <a:xfrm>
            <a:off x="4572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3" name="R5_sl405"/>
          <p:cNvSpPr/>
          <p:nvPr/>
        </p:nvSpPr>
        <p:spPr>
          <a:xfrm>
            <a:off x="841248" y="3672840"/>
            <a:ext cx="80467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her brother</a:t>
            </a:r>
            <a:endParaRPr lang="en-US" sz="1250" dirty="0"/>
          </a:p>
        </p:txBody>
      </p:sp>
      <p:sp>
        <p:nvSpPr>
          <p:cNvPr id="24" name="R6_sb406"/>
          <p:cNvSpPr/>
          <p:nvPr/>
        </p:nvSpPr>
        <p:spPr>
          <a:xfrm>
            <a:off x="4572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5" name="R6_sl407"/>
          <p:cNvSpPr/>
          <p:nvPr/>
        </p:nvSpPr>
        <p:spPr>
          <a:xfrm>
            <a:off x="841248" y="4236720"/>
            <a:ext cx="80467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now</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09"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410"/>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music is best?</a:t>
            </a:r>
            <a:endParaRPr lang="en-US" sz="2500" dirty="0"/>
          </a:p>
        </p:txBody>
      </p:sp>
      <p:pic>
        <p:nvPicPr>
          <p:cNvPr id="6" name="brP_41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1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Teams: which TYPE of music is best for each situation? Why?</a:t>
            </a:r>
            <a:endParaRPr lang="en-US" sz="1100" dirty="0"/>
          </a:p>
        </p:txBody>
      </p:sp>
      <p:sp>
        <p:nvSpPr>
          <p:cNvPr id="8" name="insIT_41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che TIPO di musica è meglio per ogni situazione? Perché?</a:t>
            </a:r>
            <a:endParaRPr lang="en-US" sz="950" dirty="0"/>
          </a:p>
        </p:txBody>
      </p:sp>
      <p:sp>
        <p:nvSpPr>
          <p:cNvPr id="9" name="cmd_414"/>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PLAY</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GIOCA</a:t>
            </a:r>
            <a:endParaRPr lang="en-US" sz="950" dirty="0"/>
          </a:p>
        </p:txBody>
      </p:sp>
      <p:sp>
        <p:nvSpPr>
          <p:cNvPr id="10" name="meta_415"/>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teams</a:t>
            </a:r>
            <a:endParaRPr lang="en-US" sz="950" dirty="0"/>
          </a:p>
        </p:txBody>
      </p:sp>
      <p:sp>
        <p:nvSpPr>
          <p:cNvPr id="11" name="tag_416"/>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Communicative game</a:t>
            </a:r>
            <a:endParaRPr lang="en-US" sz="750" dirty="0"/>
          </a:p>
        </p:txBody>
      </p:sp>
      <p:pic>
        <p:nvPicPr>
          <p:cNvPr id="12" name="logo_41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1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game · the right music   ·   📖 SB p.62 · 4h (adapted)</a:t>
            </a:r>
            <a:endParaRPr lang="en-US" sz="800" dirty="0"/>
          </a:p>
        </p:txBody>
      </p:sp>
      <p:sp>
        <p:nvSpPr>
          <p:cNvPr id="14" name="cd_419"/>
          <p:cNvSpPr/>
          <p:nvPr/>
        </p:nvSpPr>
        <p:spPr>
          <a:xfrm>
            <a:off x="320040" y="1417320"/>
            <a:ext cx="2697480" cy="2514600"/>
          </a:xfrm>
          <a:prstGeom prst="roundRect">
            <a:avLst>
              <a:gd name="adj" fmla="val 509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42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2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422"/>
          <p:cNvSpPr/>
          <p:nvPr/>
        </p:nvSpPr>
        <p:spPr>
          <a:xfrm>
            <a:off x="886968" y="1911096"/>
            <a:ext cx="2039112" cy="19476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1 minute: choose the type of music.</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Fast or slow? Lyrics or not? Or silence?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Give 2 reasons. Use 2 of today's words.</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The class votes: best reason = 1 point.</a:t>
            </a:r>
            <a:endParaRPr lang="en-US" sz="1200" dirty="0"/>
          </a:p>
        </p:txBody>
      </p:sp>
      <p:sp>
        <p:nvSpPr>
          <p:cNvPr id="18" name="st_423"/>
          <p:cNvSpPr/>
          <p:nvPr/>
        </p:nvSpPr>
        <p:spPr>
          <a:xfrm rot="-180000">
            <a:off x="502920" y="4114800"/>
            <a:ext cx="2286000" cy="59436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424"/>
          <p:cNvSpPr/>
          <p:nvPr/>
        </p:nvSpPr>
        <p:spPr>
          <a:xfrm>
            <a:off x="3246120" y="1572768"/>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20" name="gq_425"/>
          <p:cNvSpPr/>
          <p:nvPr/>
        </p:nvSpPr>
        <p:spPr>
          <a:xfrm>
            <a:off x="3657600" y="1417320"/>
            <a:ext cx="251460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Painting your bedroom (a creative task)</a:t>
            </a:r>
            <a:endParaRPr lang="en-US" sz="1250" dirty="0"/>
          </a:p>
        </p:txBody>
      </p:sp>
      <p:sp>
        <p:nvSpPr>
          <p:cNvPr id="21" name="chip_426"/>
          <p:cNvSpPr/>
          <p:nvPr/>
        </p:nvSpPr>
        <p:spPr>
          <a:xfrm>
            <a:off x="6263640" y="1417320"/>
            <a:ext cx="256032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Uplifting pop with lyrics – happy music helps creative thinking.</a:t>
            </a:r>
            <a:endParaRPr lang="en-US" sz="1150" dirty="0"/>
          </a:p>
        </p:txBody>
      </p:sp>
      <p:sp>
        <p:nvSpPr>
          <p:cNvPr id="22" name="bd_427"/>
          <p:cNvSpPr/>
          <p:nvPr/>
        </p:nvSpPr>
        <p:spPr>
          <a:xfrm>
            <a:off x="3246120" y="227685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3" name="gq_428"/>
          <p:cNvSpPr/>
          <p:nvPr/>
        </p:nvSpPr>
        <p:spPr>
          <a:xfrm>
            <a:off x="3657600" y="2121408"/>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Revising for a hard maths test tomorrow</a:t>
            </a:r>
            <a:endParaRPr lang="en-US" sz="1250" dirty="0"/>
          </a:p>
        </p:txBody>
      </p:sp>
      <p:sp>
        <p:nvSpPr>
          <p:cNvPr id="24" name="R1_chip429"/>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Silence, or soothing music with no lyrics – you're better off without distractions.</a:t>
            </a:r>
            <a:endParaRPr lang="en-US" sz="1150" dirty="0"/>
          </a:p>
        </p:txBody>
      </p:sp>
      <p:sp>
        <p:nvSpPr>
          <p:cNvPr id="25" name="bd_430"/>
          <p:cNvSpPr/>
          <p:nvPr/>
        </p:nvSpPr>
        <p:spPr>
          <a:xfrm>
            <a:off x="3246120" y="298094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6" name="gq_431"/>
          <p:cNvSpPr/>
          <p:nvPr/>
        </p:nvSpPr>
        <p:spPr>
          <a:xfrm>
            <a:off x="3657600" y="2825496"/>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3-hour heart operation (you're the surgeon!)</a:t>
            </a:r>
            <a:endParaRPr lang="en-US" sz="1250" dirty="0"/>
          </a:p>
        </p:txBody>
      </p:sp>
      <p:sp>
        <p:nvSpPr>
          <p:cNvPr id="27" name="R2_chip432"/>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Silence – like Samer, the team must hear each other.</a:t>
            </a:r>
            <a:endParaRPr lang="en-US" sz="1150" dirty="0"/>
          </a:p>
        </p:txBody>
      </p:sp>
      <p:sp>
        <p:nvSpPr>
          <p:cNvPr id="28" name="bd_433"/>
          <p:cNvSpPr/>
          <p:nvPr/>
        </p:nvSpPr>
        <p:spPr>
          <a:xfrm>
            <a:off x="3246120" y="3685032"/>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9" name="gq_434"/>
          <p:cNvSpPr/>
          <p:nvPr/>
        </p:nvSpPr>
        <p:spPr>
          <a:xfrm>
            <a:off x="3657600" y="3529584"/>
            <a:ext cx="2514600" cy="640080"/>
          </a:xfrm>
          <a:prstGeom prst="roundRect">
            <a:avLst>
              <a:gd name="adj" fmla="val 1428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6-hour car journey with your family</a:t>
            </a:r>
            <a:endParaRPr lang="en-US" sz="1250" dirty="0"/>
          </a:p>
        </p:txBody>
      </p:sp>
      <p:sp>
        <p:nvSpPr>
          <p:cNvPr id="30" name="R3_chip435"/>
          <p:cNvSpPr/>
          <p:nvPr/>
        </p:nvSpPr>
        <p:spPr>
          <a:xfrm>
            <a:off x="6263640" y="3529584"/>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Crowd-pleasers everyone can sing – nothing bland!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6"/>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437"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38"/>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39"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40"/>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44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meta_442"/>
          <p:cNvSpPr/>
          <p:nvPr/>
        </p:nvSpPr>
        <p:spPr>
          <a:xfrm>
            <a:off x="6510528" y="18288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443"/>
          <p:cNvSpPr/>
          <p:nvPr/>
        </p:nvSpPr>
        <p:spPr>
          <a:xfrm>
            <a:off x="6510528" y="54864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Retrieval</a:t>
            </a:r>
            <a:endParaRPr lang="en-US" sz="950" dirty="0"/>
          </a:p>
        </p:txBody>
      </p:sp>
      <p:pic>
        <p:nvPicPr>
          <p:cNvPr id="11" name="logo_4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Exit · what can you remember?</a:t>
            </a:r>
            <a:endParaRPr lang="en-US" sz="800" dirty="0"/>
          </a:p>
        </p:txBody>
      </p:sp>
      <p:sp>
        <p:nvSpPr>
          <p:cNvPr id="13" name="bd_446"/>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447"/>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key words from today and what they mean.</a:t>
            </a:r>
            <a:endParaRPr lang="en-US" sz="1400" dirty="0"/>
          </a:p>
        </p:txBody>
      </p:sp>
      <p:sp>
        <p:nvSpPr>
          <p:cNvPr id="15" name="bd_448"/>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449"/>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things the doctors said about music.</a:t>
            </a:r>
            <a:endParaRPr lang="en-US" sz="1400" dirty="0"/>
          </a:p>
        </p:txBody>
      </p:sp>
      <p:sp>
        <p:nvSpPr>
          <p:cNvPr id="17" name="bd_450"/>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451"/>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you'll change when you study – and why.</a:t>
            </a:r>
            <a:endParaRPr lang="en-US" sz="1400" dirty="0"/>
          </a:p>
        </p:txBody>
      </p:sp>
      <p:sp>
        <p:nvSpPr>
          <p:cNvPr id="19" name="cd_452"/>
          <p:cNvSpPr/>
          <p:nvPr/>
        </p:nvSpPr>
        <p:spPr>
          <a:xfrm>
            <a:off x="5669280" y="1417320"/>
            <a:ext cx="3200400" cy="1453896"/>
          </a:xfrm>
          <a:prstGeom prst="roundRect">
            <a:avLst>
              <a:gd name="adj" fmla="val 880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453"/>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454"/>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455"/>
          <p:cNvSpPr/>
          <p:nvPr/>
        </p:nvSpPr>
        <p:spPr>
          <a:xfrm>
            <a:off x="6236208" y="1911096"/>
            <a:ext cx="2542032" cy="886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Make a 5-song homework playlist: one sentence per song – why does it help?</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Write 80–100 words: music in class – yes or no? 2 reasons + an example.</a:t>
            </a:r>
            <a:endParaRPr lang="en-US" sz="900" dirty="0"/>
          </a:p>
        </p:txBody>
      </p:sp>
      <p:sp>
        <p:nvSpPr>
          <p:cNvPr id="23" name="st_456"/>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Revise and Check 5 &amp; 6</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45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5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60"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61"/>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6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463"/>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PENSA</a:t>
            </a:r>
            <a:endParaRPr lang="en-US" sz="950" dirty="0"/>
          </a:p>
        </p:txBody>
      </p:sp>
      <p:sp>
        <p:nvSpPr>
          <p:cNvPr id="10" name="meta_464"/>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465"/>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Reflection</a:t>
            </a:r>
            <a:endParaRPr lang="en-US" sz="950" dirty="0"/>
          </a:p>
        </p:txBody>
      </p:sp>
      <p:pic>
        <p:nvPicPr>
          <p:cNvPr id="12" name="logo_46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6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Review · what did you do today?</a:t>
            </a:r>
            <a:endParaRPr lang="en-US" sz="800" dirty="0"/>
          </a:p>
        </p:txBody>
      </p:sp>
      <p:sp>
        <p:nvSpPr>
          <p:cNvPr id="14" name="cd_468"/>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5" name="te_469"/>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470"/>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Revised last lesson: -ing or to?</a:t>
            </a:r>
            <a:endParaRPr lang="en-US" sz="1350" dirty="0"/>
          </a:p>
        </p:txBody>
      </p:sp>
      <p:sp>
        <p:nvSpPr>
          <p:cNvPr id="17" name="R1_tk471"/>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472"/>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9" name="te_473"/>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474"/>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8 words Italians often get wrong</a:t>
            </a:r>
            <a:endParaRPr lang="en-US" sz="1350" dirty="0"/>
          </a:p>
        </p:txBody>
      </p:sp>
      <p:sp>
        <p:nvSpPr>
          <p:cNvPr id="21" name="R2_tk475"/>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476"/>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3" name="te_477"/>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478"/>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two articles: music and work</a:t>
            </a:r>
            <a:endParaRPr lang="en-US" sz="1350" dirty="0"/>
          </a:p>
        </p:txBody>
      </p:sp>
      <p:sp>
        <p:nvSpPr>
          <p:cNvPr id="25" name="R3_tk479"/>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480"/>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7" name="te_481"/>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482"/>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Agreed on a music rule for a hospital</a:t>
            </a:r>
            <a:endParaRPr lang="en-US" sz="1350" dirty="0"/>
          </a:p>
        </p:txBody>
      </p:sp>
      <p:sp>
        <p:nvSpPr>
          <p:cNvPr id="29" name="R4_tk483"/>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484"/>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1" name="te_485"/>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486"/>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Made your own playlist and sold it</a:t>
            </a:r>
            <a:endParaRPr lang="en-US" sz="1350" dirty="0"/>
          </a:p>
        </p:txBody>
      </p:sp>
      <p:sp>
        <p:nvSpPr>
          <p:cNvPr id="33" name="R5_tk487"/>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st_488"/>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489"/>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490"/>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491"/>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492"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494"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495"/>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Do you agree?</a:t>
            </a:r>
            <a:endParaRPr lang="en-US" sz="2500" dirty="0"/>
          </a:p>
        </p:txBody>
      </p:sp>
      <p:pic>
        <p:nvPicPr>
          <p:cNvPr id="6" name="brP_49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9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Agree or disagree? Say why – then argue the OTHER side!</a:t>
            </a:r>
            <a:endParaRPr lang="en-US" sz="1250" dirty="0"/>
          </a:p>
        </p:txBody>
      </p:sp>
      <p:sp>
        <p:nvSpPr>
          <p:cNvPr id="8" name="insIT_49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D'accordo o no? Spiega perché – poi difendi l'ALTRA posizione!</a:t>
            </a:r>
            <a:endParaRPr lang="en-US" sz="950" dirty="0"/>
          </a:p>
        </p:txBody>
      </p:sp>
      <p:sp>
        <p:nvSpPr>
          <p:cNvPr id="9" name="cmd_499"/>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500"/>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501"/>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50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0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6B-2 · Speaking · debate statements   ·   📖 SB p.63 · 5</a:t>
            </a:r>
            <a:endParaRPr lang="en-US" sz="800" dirty="0"/>
          </a:p>
        </p:txBody>
      </p:sp>
      <p:sp>
        <p:nvSpPr>
          <p:cNvPr id="14" name="ext_504"/>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5" name="cd_505"/>
          <p:cNvSpPr/>
          <p:nvPr/>
        </p:nvSpPr>
        <p:spPr>
          <a:xfrm>
            <a:off x="320040" y="1417320"/>
            <a:ext cx="2788920" cy="2139696"/>
          </a:xfrm>
          <a:prstGeom prst="roundRect">
            <a:avLst>
              <a:gd name="adj" fmla="val 598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6" name="ii_50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07"/>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8" name="il_508"/>
          <p:cNvSpPr/>
          <p:nvPr/>
        </p:nvSpPr>
        <p:spPr>
          <a:xfrm>
            <a:off x="886968" y="1911096"/>
            <a:ext cx="2130552" cy="15727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couldn't agree more.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I'm not so sure about that.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depends what you mean by…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Playing devil's advocate…</a:t>
            </a:r>
            <a:endParaRPr lang="en-US" sz="1150" dirty="0"/>
          </a:p>
        </p:txBody>
      </p:sp>
      <p:sp>
        <p:nvSpPr>
          <p:cNvPr id="19" name="R1_qb509"/>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R1_sq510"/>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 music that means the most to you is the music you listen to as a teenager.</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Definitely – those songs stay with you forever.</a:t>
            </a:r>
            <a:endParaRPr lang="en-US" sz="950" dirty="0"/>
          </a:p>
        </p:txBody>
      </p:sp>
      <p:sp>
        <p:nvSpPr>
          <p:cNvPr id="21" name="R2_qb511"/>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512"/>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You always enjoy music more when you listen to it live.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Not if the sound is terrible and you can't see!</a:t>
            </a:r>
            <a:endParaRPr lang="en-US" sz="950" dirty="0"/>
          </a:p>
        </p:txBody>
      </p:sp>
      <p:sp>
        <p:nvSpPr>
          <p:cNvPr id="23" name="R3_qb513"/>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514"/>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Young people nowadays are not interested in opera and classical music.</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Not true – lots of film music is classical!</a:t>
            </a:r>
            <a:endParaRPr lang="en-US" sz="950" dirty="0"/>
          </a:p>
        </p:txBody>
      </p:sp>
      <p:sp>
        <p:nvSpPr>
          <p:cNvPr id="25" name="R4_qb515"/>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R4_sq516"/>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All schoolchildren should be taught to play a musical instrument.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 it's great for maths and concentration.</a:t>
            </a:r>
            <a:endParaRPr lang="en-US" sz="950" dirty="0"/>
          </a:p>
        </p:txBody>
      </p:sp>
      <p:sp>
        <p:nvSpPr>
          <p:cNvPr id="27" name="R5_qb517"/>
          <p:cNvSpPr/>
          <p:nvPr/>
        </p:nvSpPr>
        <p:spPr>
          <a:xfrm>
            <a:off x="3273552" y="386791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8" name="R5_sq518"/>
          <p:cNvSpPr/>
          <p:nvPr/>
        </p:nvSpPr>
        <p:spPr>
          <a:xfrm>
            <a:off x="3675888" y="3831336"/>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Anyone can learn to sing.</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I'm not so sure – I've heard my dad!</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6B-2 Music while you work</dc:title>
  <dc:subject>PptxGenJS Presentation</dc:subject>
  <dc:creator>PptxGenJS</dc:creator>
  <cp:lastModifiedBy>PptxGenJS</cp:lastModifiedBy>
  <cp:revision>1</cp:revision>
  <dcterms:created xsi:type="dcterms:W3CDTF">2026-10-19T07:38:07Z</dcterms:created>
  <dcterms:modified xsi:type="dcterms:W3CDTF">2026-10-19T07:38:07Z</dcterms:modified>
</cp:coreProperties>
</file>