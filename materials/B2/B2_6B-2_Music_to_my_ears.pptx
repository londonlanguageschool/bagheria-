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Ask the question; take 3–4 answers and push: 'Why? Always? For which subject?' Click: the example answer. Read 'Today you're going to…'. The photo is a young pianist (from SB p.63) – just the topic: music.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(6B-1): -ing or to? (4 min)
ACTIVE RECAP (4 min) – the only slide about last lesson. Two teams; 20 seconds per sentence. The team must say the WHOLE sentence (not just the verb). Click once per item: the full sentence appears. Meaning check after items 4–5: 'stopped playing' = they finished · 'stopped to buy' = they paused in order to buy. Item 6: need + -ing = passive meaning (they need to be fixed).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Speaking · music and work (3 min)
LEAD-IN (3 min). SB 4a. Questions appear one per click. Model Q1 with your own answer. Push beyond the first answer: 'Why? Give me an example.' Q4 is the fun one – let pairs argue for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8 key words from the texts (4 min)
KEY WORDS BEFORE READING (4 min). Only words Italians find hard (no cognates). Two levels: strong students explain each word in English; others say the Italian. Click 1 = English meaning, click 2 = Italian. Then quick personal check: 'Name a crowd-pleaser.' 'Which music do you find soothing?' 'Is silence eerie for you?' All 8 appear in today's texts.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Reading · prediction (2 min)
PREDICTION (2 min). Books closed or covered. Pairs choose 1, 2 or 3 and say why. Take a class vote – write it on the board. Don't confirm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Reading · gist (top-down) (3 min)
GIST (3 min). One minute only – students read fast for the main idea, not every word. Click once per line. Answer (SB key 4b): 2. Compare with the class vote.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Reading · detail (bottom-up) (5 min)
DETAIL (5 min). Strategy first: read the words BEFORE and AFTER each gap; check the grammar fits (e.g. gap 6: 'better off' + -ing → E opting for). Pairs compare, then click once per gap: the full sentence + the letter. Key (SB 4c): 1B 2F 3D 4A 5C 6E. SB 4d (30 seconds): 'Will you do anything different when you study now?'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Reading · prediction (text 2) (3 min)
PREDICTION (3 min). SB 4e. The photo is from the article (SB p.63). Questions one per click. Write 2–3 advantages and disadvantages on the board: students check them in the next reading (SB 4f).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Reading · four doctors (scanning) (5 min)
SCANNING (5 min). First SB 4f (1 min): did the doctors mention our board ideas? What's the consensus? (Key: probably 'have music while you work' – 3 of 4 do.) Then 4g: pairs find who says each idea. Click once per line: the colour shows the doctor. Ask 'Where does it say that? Read me the words.' Key (SB 4g): 1 SN 2 RT 3 RT 4 SA 5 GW 6 SA 7 SN 8 GW.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Reading · real words + grammar (-ing or to?) (4 min)
REAL WORDS + NOTICING (4 min). Students scan the doctors' texts for the exact words (rule 34 – the real words, not adapted). Click once per item: the full sentence from the text. Then the grammar question – underline on the board: try TO have · didn't mind STAYING · had TO listen · likes TO have · impossible TO find · use music TO get them TO relax. Ask: 'Which verbs take -ing? Which take to?' (mind + -ing; try / like / impossible + to; get someone to 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Speaking · role-play: reach a consensus (6 min)
ROLE-PLAY (6 min) – conflicting priorities, not 'advantages and disadvantages'. Show roles A–D one per click; each student in the group takes one role (in groups of 3, drop C). Give 30 seconds to plan, 4 minutes to agree ONE rule. They must use 2 phrases from the box. Then each group reports (line 5). Push: 'Who compromised? What would change your mind?'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· class story (TPRS) (4 min)
TPRS CLASS STORY (4 min) – no audio: you READ it, line by line (click). For each line ask the grey questions round the class – at B2 push for WHY and for opinions, not just facts. Let students change details ('Was it maths? Which subject?') and use their ideas in the next lines. Line 2: try + -ing (experiment) vs try to (effort) – recycles last lesson. Line 5 links back to the article (problem-solving → silence = E 'opting for quiet solitude').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Speaking · retell (TPRS) (3 min)
RETELL (3 min). The story slide is gone: only one word per line (click once per word or show all). A tells lines 1–3, B tells 4–6, then swap. Challenge for strong pairs: add one new detail to each line, or tell it as Giulia ('I opted for…'). Listen for opted for / tried putting on / couldn't help singing / better off working.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Speaking game · playlist battle (6 min)
PLAYLIST BATTLE (6 min). SB 4h made into a game. Click: the task appears (the example pitch is on the next click – show it only if teams are stuck). 2 minutes to choose, 30 seconds to pitch, the class votes (not for their own team). Do 2 tasks in class; more if there's time. Points only if the pitch uses 2 of today's key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Exit · what can you remember? (2 min)
EXIT (2 min). Pairs, books closed: 3 words with meanings (eerie, bland, soothing, opt for…), 2 things the doctors said (Ramon: the team didn't mind staying late; Samer: noise gets in the way…), 1 personal change. Ask 3 students for their '1'. Homework is in the students'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Speaking · debate statements (5 min)
EXTRA (5 min). SB 5. Statements one per click. Each group discusses; then one student must argue the OPPOSITE of what they think ('devil's advocate'). VIDEO 6 (Isata Kanneh-Mason): the video is not in our files – if you have English File Online Practice / the DVD, SB 6a–c work well here (key in SB key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Upper-intermediate · SB pp.62–63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6B-2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Music while you work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Does music help you work?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🔁  revise last lesson: -ing or to?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🔑  learn 8 words Italians often get wrong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read two articles: music and work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🗣️  agree on a music rule for a hospital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🎶  make your own playlist and sell it</a:t>
            </a:r>
            <a:endParaRPr lang="en-US" sz="10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2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depends! For maths I need silence, but when I draw I put on something upbeat.</a:t>
            </a:r>
            <a:endParaRPr lang="en-US" sz="9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b2_6b_pianist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 you listen to music when you study? Does it help you – or distract you?</a:t>
            </a:r>
            <a:endParaRPr lang="en-US" sz="15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lesson: -ing or to?</a:t>
            </a:r>
            <a:endParaRPr lang="en-US" sz="25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WHOLE sentence: -ing or to?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la frase INTERA: -ing o to?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10528" y="566928"/>
            <a:ext cx="190195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2E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0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Revision · last lesson (6B-1): -ing or to?   ·   📖 Recycles 6B part 1 (Tue 13 Oct)</a:t>
            </a:r>
            <a:endParaRPr lang="en-US" sz="800" dirty="0"/>
          </a:p>
        </p:txBody>
      </p:sp>
      <p:sp>
        <p:nvSpPr>
          <p:cNvPr id="14" name="cd_28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3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31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enjoy ___ (sing). → I enjoy singing.</a:t>
            </a:r>
            <a:endParaRPr lang="en-US" sz="9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es. I enjoy singing.</a:t>
            </a:r>
            <a:endParaRPr lang="en-US" sz="9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Careful: remember · try · stop · need!</a:t>
            </a:r>
            <a:endParaRPr lang="en-US" sz="9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Attenzione a questi verbi!</a:t>
            </a:r>
            <a:endParaRPr lang="en-US" sz="9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Whole sentence correct = 1 point.</a:t>
            </a:r>
            <a:endParaRPr lang="en-US" sz="9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Frase intera giusta = 1 punto.</a:t>
            </a:r>
            <a:endParaRPr lang="en-US" sz="950" dirty="0"/>
          </a:p>
        </p:txBody>
      </p:sp>
      <p:sp>
        <p:nvSpPr>
          <p:cNvPr id="18" name="st_32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33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34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I'll never forget ___ (see) my favourite band live.</a:t>
            </a:r>
            <a:endParaRPr lang="en-US" sz="1100" dirty="0"/>
          </a:p>
        </p:txBody>
      </p:sp>
      <p:sp>
        <p:nvSpPr>
          <p:cNvPr id="21" name="R1_chip35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I'll never forget seeing my favourite band live.</a:t>
            </a:r>
            <a:endParaRPr lang="en-US" sz="1100" dirty="0"/>
          </a:p>
        </p:txBody>
      </p:sp>
      <p:sp>
        <p:nvSpPr>
          <p:cNvPr id="22" name="bd_36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37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Remember ___ (charge) your phone before the concert!</a:t>
            </a:r>
            <a:endParaRPr lang="en-US" sz="1100" dirty="0"/>
          </a:p>
        </p:txBody>
      </p:sp>
      <p:sp>
        <p:nvSpPr>
          <p:cNvPr id="24" name="R2_chip38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Remember to charge your phone before the concert!</a:t>
            </a:r>
            <a:endParaRPr lang="en-US" sz="1100" dirty="0"/>
          </a:p>
        </p:txBody>
      </p:sp>
      <p:sp>
        <p:nvSpPr>
          <p:cNvPr id="25" name="bd_39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40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sleep? Try ___ (listen) to calm music.</a:t>
            </a:r>
            <a:endParaRPr lang="en-US" sz="1100" dirty="0"/>
          </a:p>
        </p:txBody>
      </p:sp>
      <p:sp>
        <p:nvSpPr>
          <p:cNvPr id="27" name="R3_chip41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Can't sleep? Try listening to calm music.</a:t>
            </a:r>
            <a:endParaRPr lang="en-US" sz="1100" dirty="0"/>
          </a:p>
        </p:txBody>
      </p:sp>
      <p:sp>
        <p:nvSpPr>
          <p:cNvPr id="28" name="bd_42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43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band stopped ___ (play) because of the rain.</a:t>
            </a:r>
            <a:endParaRPr lang="en-US" sz="1100" dirty="0"/>
          </a:p>
        </p:txBody>
      </p:sp>
      <p:sp>
        <p:nvSpPr>
          <p:cNvPr id="30" name="R4_chip44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band stopped playing because of the rain.</a:t>
            </a:r>
            <a:endParaRPr lang="en-US" sz="1100" dirty="0"/>
          </a:p>
        </p:txBody>
      </p:sp>
      <p:sp>
        <p:nvSpPr>
          <p:cNvPr id="31" name="bd_45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46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the way, we stopped ___ (buy) a drink.</a:t>
            </a:r>
            <a:endParaRPr lang="en-US" sz="1100" dirty="0"/>
          </a:p>
        </p:txBody>
      </p:sp>
      <p:sp>
        <p:nvSpPr>
          <p:cNvPr id="33" name="R5_chip47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On the way, we stopped to buy a drink.</a:t>
            </a:r>
            <a:endParaRPr lang="en-US" sz="1100" dirty="0"/>
          </a:p>
        </p:txBody>
      </p:sp>
      <p:sp>
        <p:nvSpPr>
          <p:cNvPr id="34" name="bd_48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49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headphones need ___ (fix).</a:t>
            </a:r>
            <a:endParaRPr lang="en-US" sz="1100" dirty="0"/>
          </a:p>
        </p:txBody>
      </p:sp>
      <p:sp>
        <p:nvSpPr>
          <p:cNvPr id="36" name="R6_chip50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My headphones need fixing.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5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53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Music and work</a:t>
            </a:r>
            <a:endParaRPr lang="en-US" sz="2500" dirty="0"/>
          </a:p>
        </p:txBody>
      </p:sp>
      <p:pic>
        <p:nvPicPr>
          <p:cNvPr id="6" name="brP_5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55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Answer. Then ask your partner: And you?</a:t>
            </a:r>
            <a:endParaRPr lang="en-US" sz="1250" dirty="0"/>
          </a:p>
        </p:txBody>
      </p:sp>
      <p:sp>
        <p:nvSpPr>
          <p:cNvPr id="8" name="insIT_5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Rispondi. Poi chiedi al compagno: E tu?</a:t>
            </a:r>
            <a:endParaRPr lang="en-US" sz="950" dirty="0"/>
          </a:p>
        </p:txBody>
      </p:sp>
      <p:sp>
        <p:nvSpPr>
          <p:cNvPr id="9" name="cmd_5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58"/>
          <p:cNvSpPr/>
          <p:nvPr/>
        </p:nvSpPr>
        <p:spPr>
          <a:xfrm>
            <a:off x="6510528" y="566928"/>
            <a:ext cx="190195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2E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00" dirty="0"/>
          </a:p>
        </p:txBody>
      </p:sp>
      <p:sp>
        <p:nvSpPr>
          <p:cNvPr id="11" name="tag_59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6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music and work   ·   📖 SB p.62 · 4a</a:t>
            </a:r>
            <a:endParaRPr lang="en-US" sz="800" dirty="0"/>
          </a:p>
        </p:txBody>
      </p:sp>
      <p:sp>
        <p:nvSpPr>
          <p:cNvPr id="14" name="cd_62"/>
          <p:cNvSpPr/>
          <p:nvPr/>
        </p:nvSpPr>
        <p:spPr>
          <a:xfrm>
            <a:off x="320040" y="1417320"/>
            <a:ext cx="2788920" cy="2743200"/>
          </a:xfrm>
          <a:prstGeom prst="roundRect">
            <a:avLst>
              <a:gd name="adj" fmla="val 4667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6" name="ih_64"/>
          <p:cNvSpPr/>
          <p:nvPr/>
        </p:nvSpPr>
        <p:spPr>
          <a:xfrm>
            <a:off x="886968" y="15087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7" name="il_65"/>
          <p:cNvSpPr/>
          <p:nvPr/>
        </p:nvSpPr>
        <p:spPr>
          <a:xfrm>
            <a:off x="886968" y="1892808"/>
            <a:ext cx="21305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depends on what I'm doing.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can't concentrate if…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helps me to…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rather work in silence.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And you? · Really? Why?</a:t>
            </a:r>
            <a:endParaRPr lang="en-US" sz="1150" dirty="0"/>
          </a:p>
        </p:txBody>
      </p:sp>
      <p:sp>
        <p:nvSpPr>
          <p:cNvPr id="18" name="R1_qb66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R1_sq67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normally listen to music when you study or work? What kind?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 – lo-fi beats when I revise. No lyrics!</a:t>
            </a:r>
            <a:endParaRPr lang="en-US" sz="950" dirty="0"/>
          </a:p>
        </p:txBody>
      </p:sp>
      <p:sp>
        <p:nvSpPr>
          <p:cNvPr id="20" name="R2_qb68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R2_sq69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Does it depend on the subject? Which subjects are impossible with music?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Maths is impossible – I need total silence.</a:t>
            </a:r>
            <a:endParaRPr lang="en-US" sz="950" dirty="0"/>
          </a:p>
        </p:txBody>
      </p:sp>
      <p:sp>
        <p:nvSpPr>
          <p:cNvPr id="22" name="R3_qb70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R3_sq71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is worse: music with lyrics or music without? Why?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With lyrics – I start singing and stop reading!</a:t>
            </a:r>
            <a:endParaRPr lang="en-US" sz="950" dirty="0"/>
          </a:p>
        </p:txBody>
      </p:sp>
      <p:sp>
        <p:nvSpPr>
          <p:cNvPr id="24" name="R4_qb72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R4_sq73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Challenge: what's the WORST music to study to? Convince your partner.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Heavy metal – your heart is racing, you can't think.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7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449824" cy="621792"/>
          </a:xfrm>
          <a:prstGeom prst="rect">
            <a:avLst/>
          </a:prstGeom>
        </p:spPr>
      </p:pic>
      <p:sp>
        <p:nvSpPr>
          <p:cNvPr id="5" name="title_76"/>
          <p:cNvSpPr/>
          <p:nvPr/>
        </p:nvSpPr>
        <p:spPr>
          <a:xfrm>
            <a:off x="1261872" y="164592"/>
            <a:ext cx="5175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Key words: tricky for Italians</a:t>
            </a:r>
            <a:endParaRPr lang="en-US" sz="2500" dirty="0"/>
          </a:p>
        </p:txBody>
      </p:sp>
      <p:pic>
        <p:nvPicPr>
          <p:cNvPr id="6" name="brP_7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78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it in English (harder) – or say it in Italian (easier). Click.</a:t>
            </a:r>
            <a:endParaRPr lang="en-US" sz="1100" dirty="0"/>
          </a:p>
        </p:txBody>
      </p:sp>
      <p:sp>
        <p:nvSpPr>
          <p:cNvPr id="8" name="insIT_7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Spiegalo in inglese (più difficile) – o dillo in italiano (più facile). Clicca.</a:t>
            </a:r>
            <a:endParaRPr lang="en-US" sz="950" dirty="0"/>
          </a:p>
        </p:txBody>
      </p:sp>
      <p:sp>
        <p:nvSpPr>
          <p:cNvPr id="9" name="cmd_8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81"/>
          <p:cNvSpPr/>
          <p:nvPr/>
        </p:nvSpPr>
        <p:spPr>
          <a:xfrm>
            <a:off x="6510528" y="566928"/>
            <a:ext cx="190195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2E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00" dirty="0"/>
          </a:p>
        </p:txBody>
      </p:sp>
      <p:sp>
        <p:nvSpPr>
          <p:cNvPr id="11" name="tag_82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meaning</a:t>
            </a:r>
            <a:endParaRPr lang="en-US" sz="700" dirty="0"/>
          </a:p>
        </p:txBody>
      </p:sp>
      <p:pic>
        <p:nvPicPr>
          <p:cNvPr id="12" name="logo_8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8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Vocabulary · 8 key words from the texts   ·   📖 SB pp.62–63</a:t>
            </a:r>
            <a:endParaRPr lang="en-US" sz="800" dirty="0"/>
          </a:p>
        </p:txBody>
      </p:sp>
      <p:sp>
        <p:nvSpPr>
          <p:cNvPr id="14" name="cd_85"/>
          <p:cNvSpPr/>
          <p:nvPr/>
        </p:nvSpPr>
        <p:spPr>
          <a:xfrm>
            <a:off x="320040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e_86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🎵</a:t>
            </a:r>
            <a:endParaRPr lang="en-US" sz="2000" dirty="0"/>
          </a:p>
        </p:txBody>
      </p:sp>
      <p:sp>
        <p:nvSpPr>
          <p:cNvPr id="16" name="en_87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tune</a:t>
            </a:r>
            <a:endParaRPr lang="en-US" sz="1200" dirty="0"/>
          </a:p>
        </p:txBody>
      </p:sp>
      <p:sp>
        <p:nvSpPr>
          <p:cNvPr id="17" name="R1_def88"/>
          <p:cNvSpPr/>
          <p:nvPr/>
        </p:nvSpPr>
        <p:spPr>
          <a:xfrm>
            <a:off x="978408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short piece of music you can hum</a:t>
            </a:r>
            <a:endParaRPr lang="en-US" sz="850" dirty="0"/>
          </a:p>
        </p:txBody>
      </p:sp>
      <p:sp>
        <p:nvSpPr>
          <p:cNvPr id="18" name="R2_it89"/>
          <p:cNvSpPr/>
          <p:nvPr/>
        </p:nvSpPr>
        <p:spPr>
          <a:xfrm>
            <a:off x="978408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una melodia, un motivetto</a:t>
            </a:r>
            <a:endParaRPr lang="en-US" sz="700" dirty="0"/>
          </a:p>
        </p:txBody>
      </p:sp>
      <p:sp>
        <p:nvSpPr>
          <p:cNvPr id="19" name="cd_90"/>
          <p:cNvSpPr/>
          <p:nvPr/>
        </p:nvSpPr>
        <p:spPr>
          <a:xfrm>
            <a:off x="2487168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e_91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⬆️</a:t>
            </a:r>
            <a:endParaRPr lang="en-US" sz="2000" dirty="0"/>
          </a:p>
        </p:txBody>
      </p:sp>
      <p:sp>
        <p:nvSpPr>
          <p:cNvPr id="21" name="en_92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uplifting</a:t>
            </a:r>
            <a:endParaRPr lang="en-US" sz="1200" dirty="0"/>
          </a:p>
        </p:txBody>
      </p:sp>
      <p:sp>
        <p:nvSpPr>
          <p:cNvPr id="22" name="R3_def93"/>
          <p:cNvSpPr/>
          <p:nvPr/>
        </p:nvSpPr>
        <p:spPr>
          <a:xfrm>
            <a:off x="3145536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makes you feel happier</a:t>
            </a:r>
            <a:endParaRPr lang="en-US" sz="850" dirty="0"/>
          </a:p>
        </p:txBody>
      </p:sp>
      <p:sp>
        <p:nvSpPr>
          <p:cNvPr id="23" name="R4_it94"/>
          <p:cNvSpPr/>
          <p:nvPr/>
        </p:nvSpPr>
        <p:spPr>
          <a:xfrm>
            <a:off x="3145536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 tira su, positivo</a:t>
            </a:r>
            <a:endParaRPr lang="en-US" sz="900" dirty="0"/>
          </a:p>
        </p:txBody>
      </p:sp>
      <p:sp>
        <p:nvSpPr>
          <p:cNvPr id="24" name="cd_95"/>
          <p:cNvSpPr/>
          <p:nvPr/>
        </p:nvSpPr>
        <p:spPr>
          <a:xfrm>
            <a:off x="4654296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e_96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✅</a:t>
            </a:r>
            <a:endParaRPr lang="en-US" sz="2000" dirty="0"/>
          </a:p>
        </p:txBody>
      </p:sp>
      <p:sp>
        <p:nvSpPr>
          <p:cNvPr id="26" name="en_97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 for</a:t>
            </a:r>
            <a:endParaRPr lang="en-US" sz="1200" dirty="0"/>
          </a:p>
        </p:txBody>
      </p:sp>
      <p:sp>
        <p:nvSpPr>
          <p:cNvPr id="27" name="R5_def98"/>
          <p:cNvSpPr/>
          <p:nvPr/>
        </p:nvSpPr>
        <p:spPr>
          <a:xfrm>
            <a:off x="5312664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(formal)</a:t>
            </a:r>
            <a:endParaRPr lang="en-US" sz="850" dirty="0"/>
          </a:p>
        </p:txBody>
      </p:sp>
      <p:sp>
        <p:nvSpPr>
          <p:cNvPr id="28" name="R6_it99"/>
          <p:cNvSpPr/>
          <p:nvPr/>
        </p:nvSpPr>
        <p:spPr>
          <a:xfrm>
            <a:off x="5312664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scegliere, optare per</a:t>
            </a:r>
            <a:endParaRPr lang="en-US" sz="900" dirty="0"/>
          </a:p>
        </p:txBody>
      </p:sp>
      <p:sp>
        <p:nvSpPr>
          <p:cNvPr id="29" name="cd_100"/>
          <p:cNvSpPr/>
          <p:nvPr/>
        </p:nvSpPr>
        <p:spPr>
          <a:xfrm>
            <a:off x="6821424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e_101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👍</a:t>
            </a:r>
            <a:endParaRPr lang="en-US" sz="2000" dirty="0"/>
          </a:p>
        </p:txBody>
      </p:sp>
      <p:sp>
        <p:nvSpPr>
          <p:cNvPr id="31" name="en_102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better off + -ing</a:t>
            </a:r>
            <a:endParaRPr lang="en-US" sz="1200" dirty="0"/>
          </a:p>
        </p:txBody>
      </p:sp>
      <p:sp>
        <p:nvSpPr>
          <p:cNvPr id="32" name="R7_def103"/>
          <p:cNvSpPr/>
          <p:nvPr/>
        </p:nvSpPr>
        <p:spPr>
          <a:xfrm>
            <a:off x="7479792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You're better off waiting = it's a better idea to wait</a:t>
            </a:r>
            <a:endParaRPr lang="en-US" sz="800" dirty="0"/>
          </a:p>
        </p:txBody>
      </p:sp>
      <p:sp>
        <p:nvSpPr>
          <p:cNvPr id="33" name="R8_it104"/>
          <p:cNvSpPr/>
          <p:nvPr/>
        </p:nvSpPr>
        <p:spPr>
          <a:xfrm>
            <a:off x="7479792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è meglio + -ing</a:t>
            </a:r>
            <a:endParaRPr lang="en-US" sz="900" dirty="0"/>
          </a:p>
        </p:txBody>
      </p:sp>
      <p:sp>
        <p:nvSpPr>
          <p:cNvPr id="34" name="cd_105"/>
          <p:cNvSpPr/>
          <p:nvPr/>
        </p:nvSpPr>
        <p:spPr>
          <a:xfrm>
            <a:off x="320040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e_106"/>
          <p:cNvSpPr/>
          <p:nvPr/>
        </p:nvSpPr>
        <p:spPr>
          <a:xfrm>
            <a:off x="393192" y="253288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🌊</a:t>
            </a:r>
            <a:endParaRPr lang="en-US" sz="2000" dirty="0"/>
          </a:p>
        </p:txBody>
      </p:sp>
      <p:sp>
        <p:nvSpPr>
          <p:cNvPr id="36" name="en_107"/>
          <p:cNvSpPr/>
          <p:nvPr/>
        </p:nvSpPr>
        <p:spPr>
          <a:xfrm>
            <a:off x="978408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soothing</a:t>
            </a:r>
            <a:endParaRPr lang="en-US" sz="1200" dirty="0"/>
          </a:p>
        </p:txBody>
      </p:sp>
      <p:sp>
        <p:nvSpPr>
          <p:cNvPr id="37" name="R9_def108"/>
          <p:cNvSpPr/>
          <p:nvPr/>
        </p:nvSpPr>
        <p:spPr>
          <a:xfrm>
            <a:off x="978408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makes you calm</a:t>
            </a:r>
            <a:endParaRPr lang="en-US" sz="850" dirty="0"/>
          </a:p>
        </p:txBody>
      </p:sp>
      <p:sp>
        <p:nvSpPr>
          <p:cNvPr id="38" name="R10_it109"/>
          <p:cNvSpPr/>
          <p:nvPr/>
        </p:nvSpPr>
        <p:spPr>
          <a:xfrm>
            <a:off x="978408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rilassante, calmante</a:t>
            </a:r>
            <a:endParaRPr lang="en-US" sz="900" dirty="0"/>
          </a:p>
        </p:txBody>
      </p:sp>
      <p:sp>
        <p:nvSpPr>
          <p:cNvPr id="39" name="cd_110"/>
          <p:cNvSpPr/>
          <p:nvPr/>
        </p:nvSpPr>
        <p:spPr>
          <a:xfrm>
            <a:off x="2487168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0" name="e_111"/>
          <p:cNvSpPr/>
          <p:nvPr/>
        </p:nvSpPr>
        <p:spPr>
          <a:xfrm>
            <a:off x="2560320" y="253288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👻</a:t>
            </a:r>
            <a:endParaRPr lang="en-US" sz="2000" dirty="0"/>
          </a:p>
        </p:txBody>
      </p:sp>
      <p:sp>
        <p:nvSpPr>
          <p:cNvPr id="41" name="en_112"/>
          <p:cNvSpPr/>
          <p:nvPr/>
        </p:nvSpPr>
        <p:spPr>
          <a:xfrm>
            <a:off x="3145536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eerie</a:t>
            </a:r>
            <a:endParaRPr lang="en-US" sz="1200" dirty="0"/>
          </a:p>
        </p:txBody>
      </p:sp>
      <p:sp>
        <p:nvSpPr>
          <p:cNvPr id="42" name="R11_def113"/>
          <p:cNvSpPr/>
          <p:nvPr/>
        </p:nvSpPr>
        <p:spPr>
          <a:xfrm>
            <a:off x="3145536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strange and a bit frightening</a:t>
            </a:r>
            <a:endParaRPr lang="en-US" sz="850" dirty="0"/>
          </a:p>
        </p:txBody>
      </p:sp>
      <p:sp>
        <p:nvSpPr>
          <p:cNvPr id="43" name="R12_it114"/>
          <p:cNvSpPr/>
          <p:nvPr/>
        </p:nvSpPr>
        <p:spPr>
          <a:xfrm>
            <a:off x="3145536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inquietante (silenzio strano)</a:t>
            </a:r>
            <a:endParaRPr lang="en-US" sz="700" dirty="0"/>
          </a:p>
        </p:txBody>
      </p:sp>
      <p:sp>
        <p:nvSpPr>
          <p:cNvPr id="44" name="cd_115"/>
          <p:cNvSpPr/>
          <p:nvPr/>
        </p:nvSpPr>
        <p:spPr>
          <a:xfrm>
            <a:off x="4654296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5" name="e_116"/>
          <p:cNvSpPr/>
          <p:nvPr/>
        </p:nvSpPr>
        <p:spPr>
          <a:xfrm>
            <a:off x="4727448" y="253288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🥱</a:t>
            </a:r>
            <a:endParaRPr lang="en-US" sz="2000" dirty="0"/>
          </a:p>
        </p:txBody>
      </p:sp>
      <p:sp>
        <p:nvSpPr>
          <p:cNvPr id="46" name="en_117"/>
          <p:cNvSpPr/>
          <p:nvPr/>
        </p:nvSpPr>
        <p:spPr>
          <a:xfrm>
            <a:off x="5312664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bland</a:t>
            </a:r>
            <a:endParaRPr lang="en-US" sz="1200" dirty="0"/>
          </a:p>
        </p:txBody>
      </p:sp>
      <p:sp>
        <p:nvSpPr>
          <p:cNvPr id="47" name="R13_def118"/>
          <p:cNvSpPr/>
          <p:nvPr/>
        </p:nvSpPr>
        <p:spPr>
          <a:xfrm>
            <a:off x="5312664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boring, no strong taste or character</a:t>
            </a:r>
            <a:endParaRPr lang="en-US" sz="850" dirty="0"/>
          </a:p>
        </p:txBody>
      </p:sp>
      <p:sp>
        <p:nvSpPr>
          <p:cNvPr id="48" name="R14_it119"/>
          <p:cNvSpPr/>
          <p:nvPr/>
        </p:nvSpPr>
        <p:spPr>
          <a:xfrm>
            <a:off x="5312664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insipido, piatto</a:t>
            </a:r>
            <a:endParaRPr lang="en-US" sz="900" dirty="0"/>
          </a:p>
        </p:txBody>
      </p:sp>
      <p:sp>
        <p:nvSpPr>
          <p:cNvPr id="49" name="cd_120"/>
          <p:cNvSpPr/>
          <p:nvPr/>
        </p:nvSpPr>
        <p:spPr>
          <a:xfrm>
            <a:off x="6821424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0" name="e_121"/>
          <p:cNvSpPr/>
          <p:nvPr/>
        </p:nvSpPr>
        <p:spPr>
          <a:xfrm>
            <a:off x="6894576" y="253288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🎉</a:t>
            </a:r>
            <a:endParaRPr lang="en-US" sz="2000" dirty="0"/>
          </a:p>
        </p:txBody>
      </p:sp>
      <p:sp>
        <p:nvSpPr>
          <p:cNvPr id="51" name="en_122"/>
          <p:cNvSpPr/>
          <p:nvPr/>
        </p:nvSpPr>
        <p:spPr>
          <a:xfrm>
            <a:off x="7479792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crowd-pleaser</a:t>
            </a:r>
            <a:endParaRPr lang="en-US" sz="1200" dirty="0"/>
          </a:p>
        </p:txBody>
      </p:sp>
      <p:sp>
        <p:nvSpPr>
          <p:cNvPr id="52" name="R15_def123"/>
          <p:cNvSpPr/>
          <p:nvPr/>
        </p:nvSpPr>
        <p:spPr>
          <a:xfrm>
            <a:off x="7479792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song everybody likes</a:t>
            </a:r>
            <a:endParaRPr lang="en-US" sz="850" dirty="0"/>
          </a:p>
        </p:txBody>
      </p:sp>
      <p:sp>
        <p:nvSpPr>
          <p:cNvPr id="53" name="R16_it124"/>
          <p:cNvSpPr/>
          <p:nvPr/>
        </p:nvSpPr>
        <p:spPr>
          <a:xfrm>
            <a:off x="7479792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 pezzo che piace a tutti</a:t>
            </a:r>
            <a:endParaRPr lang="en-US" sz="750" dirty="0"/>
          </a:p>
        </p:txBody>
      </p:sp>
      <p:sp>
        <p:nvSpPr>
          <p:cNvPr id="54" name="R17_wc125"/>
          <p:cNvSpPr/>
          <p:nvPr/>
        </p:nvSpPr>
        <p:spPr>
          <a:xfrm>
            <a:off x="320040" y="34747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5" name="R17_w126"/>
          <p:cNvSpPr/>
          <p:nvPr/>
        </p:nvSpPr>
        <p:spPr>
          <a:xfrm>
            <a:off x="457200" y="34747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bland ≠ blando (mild = lieve)  ·  eerie /ˈɪəri/  ·  soothing /ˈsuːðɪŋ/  ·  opt for = formal choose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2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Music while you work?</a:t>
            </a:r>
            <a:endParaRPr lang="en-US" sz="2500" dirty="0"/>
          </a:p>
        </p:txBody>
      </p:sp>
      <p:pic>
        <p:nvPicPr>
          <p:cNvPr id="6" name="brP_13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13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title only. Guess: which summary is true?</a:t>
            </a:r>
            <a:endParaRPr lang="en-US" sz="1250" dirty="0"/>
          </a:p>
        </p:txBody>
      </p:sp>
      <p:sp>
        <p:nvSpPr>
          <p:cNvPr id="8" name="insIT_13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solo il titolo. Indovina: quale riassunto è vero?</a:t>
            </a:r>
            <a:endParaRPr lang="en-US" sz="950" dirty="0"/>
          </a:p>
        </p:txBody>
      </p:sp>
      <p:sp>
        <p:nvSpPr>
          <p:cNvPr id="9" name="cmd_13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134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100" dirty="0"/>
          </a:p>
        </p:txBody>
      </p:sp>
      <p:sp>
        <p:nvSpPr>
          <p:cNvPr id="11" name="meta_135"/>
          <p:cNvSpPr/>
          <p:nvPr/>
        </p:nvSpPr>
        <p:spPr>
          <a:xfrm>
            <a:off x="6510528" y="950976"/>
            <a:ext cx="190195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2E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00" dirty="0"/>
          </a:p>
        </p:txBody>
      </p:sp>
      <p:sp>
        <p:nvSpPr>
          <p:cNvPr id="12" name="tag_136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Prediction</a:t>
            </a:r>
            <a:endParaRPr lang="en-US" sz="850" dirty="0"/>
          </a:p>
        </p:txBody>
      </p:sp>
      <p:pic>
        <p:nvPicPr>
          <p:cNvPr id="13" name="logo_13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3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prediction   ·   📖 SB p.62 · 4b (before reading)</a:t>
            </a:r>
            <a:endParaRPr lang="en-US" sz="800" dirty="0"/>
          </a:p>
        </p:txBody>
      </p:sp>
      <p:sp>
        <p:nvSpPr>
          <p:cNvPr id="15" name="cd_139"/>
          <p:cNvSpPr/>
          <p:nvPr/>
        </p:nvSpPr>
        <p:spPr>
          <a:xfrm>
            <a:off x="320040" y="1417320"/>
            <a:ext cx="8503920" cy="306324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hl_140"/>
          <p:cNvSpPr/>
          <p:nvPr/>
        </p:nvSpPr>
        <p:spPr>
          <a:xfrm>
            <a:off x="502920" y="150876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while you work?</a:t>
            </a:r>
            <a:endParaRPr lang="en-US" sz="2800" dirty="0"/>
          </a:p>
        </p:txBody>
      </p:sp>
      <p:sp>
        <p:nvSpPr>
          <p:cNvPr id="17" name="nx_141"/>
          <p:cNvSpPr/>
          <p:nvPr/>
        </p:nvSpPr>
        <p:spPr>
          <a:xfrm>
            <a:off x="457200" y="3904488"/>
            <a:ext cx="8229600" cy="512064"/>
          </a:xfrm>
          <a:prstGeom prst="roundRect">
            <a:avLst>
              <a:gd name="adj" fmla="val 17857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EB872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➡ NEXT 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Next: read the article on p.62 in ONE minute. Was your guess right?</a:t>
            </a:r>
            <a:endParaRPr lang="en-US" sz="1000" dirty="0"/>
          </a:p>
        </p:txBody>
      </p:sp>
      <p:sp>
        <p:nvSpPr>
          <p:cNvPr id="18" name="sf_142"/>
          <p:cNvSpPr/>
          <p:nvPr/>
        </p:nvSpPr>
        <p:spPr>
          <a:xfrm>
            <a:off x="521208" y="2039112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 Music helps you work better.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 Choose the right music for the task.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 Classical music is best for creative thinking.</a:t>
            </a:r>
            <a:endParaRPr lang="en-US" sz="1800" dirty="0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4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45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 your guess right?</a:t>
            </a:r>
            <a:endParaRPr lang="en-US" sz="2500" dirty="0"/>
          </a:p>
        </p:txBody>
      </p:sp>
      <p:pic>
        <p:nvPicPr>
          <p:cNvPr id="6" name="brP_14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147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p.62 in one minute. Then check: true, false or 'it depends'?</a:t>
            </a:r>
            <a:endParaRPr lang="en-US" sz="1100" dirty="0"/>
          </a:p>
        </p:txBody>
      </p:sp>
      <p:sp>
        <p:nvSpPr>
          <p:cNvPr id="8" name="insIT_14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p.62 in un minuto. Vero, falso o 'dipende'?</a:t>
            </a:r>
            <a:endParaRPr lang="en-US" sz="950" dirty="0"/>
          </a:p>
        </p:txBody>
      </p:sp>
      <p:sp>
        <p:nvSpPr>
          <p:cNvPr id="9" name="cmd_14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meta_150"/>
          <p:cNvSpPr/>
          <p:nvPr/>
        </p:nvSpPr>
        <p:spPr>
          <a:xfrm>
            <a:off x="6510528" y="566928"/>
            <a:ext cx="190195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2E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00" dirty="0"/>
          </a:p>
        </p:txBody>
      </p:sp>
      <p:sp>
        <p:nvSpPr>
          <p:cNvPr id="11" name="tag_151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15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5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gist (top-down)   ·   📖 SB p.62 · 4b</a:t>
            </a:r>
            <a:endParaRPr lang="en-US" sz="800" dirty="0"/>
          </a:p>
        </p:txBody>
      </p:sp>
      <p:sp>
        <p:nvSpPr>
          <p:cNvPr id="14" name="bd_154"/>
          <p:cNvSpPr/>
          <p:nvPr/>
        </p:nvSpPr>
        <p:spPr>
          <a:xfrm>
            <a:off x="548640" y="154533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q_155"/>
          <p:cNvSpPr/>
          <p:nvPr/>
        </p:nvSpPr>
        <p:spPr>
          <a:xfrm>
            <a:off x="932688" y="1417320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 helps you work better.</a:t>
            </a:r>
            <a:endParaRPr lang="en-US" sz="1300" dirty="0"/>
          </a:p>
        </p:txBody>
      </p:sp>
      <p:sp>
        <p:nvSpPr>
          <p:cNvPr id="16" name="R1_chip156"/>
          <p:cNvSpPr/>
          <p:nvPr/>
        </p:nvSpPr>
        <p:spPr>
          <a:xfrm>
            <a:off x="4297680" y="1417320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always – it depends on the task.</a:t>
            </a:r>
            <a:endParaRPr lang="en-US" sz="1200" dirty="0"/>
          </a:p>
        </p:txBody>
      </p:sp>
      <p:sp>
        <p:nvSpPr>
          <p:cNvPr id="17" name="bd_157"/>
          <p:cNvSpPr/>
          <p:nvPr/>
        </p:nvSpPr>
        <p:spPr>
          <a:xfrm>
            <a:off x="548640" y="2157984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q_158"/>
          <p:cNvSpPr/>
          <p:nvPr/>
        </p:nvSpPr>
        <p:spPr>
          <a:xfrm>
            <a:off x="932688" y="2029968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the right music for the task.</a:t>
            </a:r>
            <a:endParaRPr lang="en-US" sz="1300" dirty="0"/>
          </a:p>
        </p:txBody>
      </p:sp>
      <p:sp>
        <p:nvSpPr>
          <p:cNvPr id="19" name="R2_chip159"/>
          <p:cNvSpPr/>
          <p:nvPr/>
        </p:nvSpPr>
        <p:spPr>
          <a:xfrm>
            <a:off x="4297680" y="2029968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Yes! This is the best summary.</a:t>
            </a:r>
            <a:endParaRPr lang="en-US" sz="1200" dirty="0"/>
          </a:p>
        </p:txBody>
      </p:sp>
      <p:sp>
        <p:nvSpPr>
          <p:cNvPr id="20" name="bd_160"/>
          <p:cNvSpPr/>
          <p:nvPr/>
        </p:nvSpPr>
        <p:spPr>
          <a:xfrm>
            <a:off x="548640" y="277063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q_161"/>
          <p:cNvSpPr/>
          <p:nvPr/>
        </p:nvSpPr>
        <p:spPr>
          <a:xfrm>
            <a:off x="932688" y="2642616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Classical music is best for creative thinking.</a:t>
            </a:r>
            <a:endParaRPr lang="en-US" sz="1300" dirty="0"/>
          </a:p>
        </p:txBody>
      </p:sp>
      <p:sp>
        <p:nvSpPr>
          <p:cNvPr id="22" name="R3_chip162"/>
          <p:cNvSpPr/>
          <p:nvPr/>
        </p:nvSpPr>
        <p:spPr>
          <a:xfrm>
            <a:off x="4297680" y="2642616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– 'happy' (uplifting) music helped creative thinking.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6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6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165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 1–6</a:t>
            </a:r>
            <a:endParaRPr lang="en-US" sz="2500" dirty="0"/>
          </a:p>
        </p:txBody>
      </p:sp>
      <p:pic>
        <p:nvPicPr>
          <p:cNvPr id="6" name="brP_16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167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p.62 again. Which phrase A–F goes in each gap? Say the full sentence.</a:t>
            </a:r>
            <a:endParaRPr lang="en-US" sz="1100" dirty="0"/>
          </a:p>
        </p:txBody>
      </p:sp>
      <p:sp>
        <p:nvSpPr>
          <p:cNvPr id="8" name="insIT_16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Rileggi p.62. Quale frase A–F va in ogni spazio? Di' la frase intera.</a:t>
            </a:r>
            <a:endParaRPr lang="en-US" sz="950" dirty="0"/>
          </a:p>
        </p:txBody>
      </p:sp>
      <p:sp>
        <p:nvSpPr>
          <p:cNvPr id="9" name="cmd_16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170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TROVA</a:t>
            </a:r>
            <a:endParaRPr lang="en-US" sz="1100" dirty="0"/>
          </a:p>
        </p:txBody>
      </p:sp>
      <p:sp>
        <p:nvSpPr>
          <p:cNvPr id="11" name="meta_171"/>
          <p:cNvSpPr/>
          <p:nvPr/>
        </p:nvSpPr>
        <p:spPr>
          <a:xfrm>
            <a:off x="6510528" y="950976"/>
            <a:ext cx="190195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2E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00" dirty="0"/>
          </a:p>
        </p:txBody>
      </p:sp>
      <p:sp>
        <p:nvSpPr>
          <p:cNvPr id="12" name="tag_172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17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7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detail (bottom-up)   ·   📖 SB p.62 · 4c</a:t>
            </a:r>
            <a:endParaRPr lang="en-US" sz="800" dirty="0"/>
          </a:p>
        </p:txBody>
      </p:sp>
      <p:sp>
        <p:nvSpPr>
          <p:cNvPr id="15" name="cd_175"/>
          <p:cNvSpPr/>
          <p:nvPr/>
        </p:nvSpPr>
        <p:spPr>
          <a:xfrm>
            <a:off x="320040" y="1417320"/>
            <a:ext cx="2697480" cy="1170432"/>
          </a:xfrm>
          <a:prstGeom prst="roundRect">
            <a:avLst>
              <a:gd name="adj" fmla="val 10938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17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17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178"/>
          <p:cNvSpPr/>
          <p:nvPr/>
        </p:nvSpPr>
        <p:spPr>
          <a:xfrm>
            <a:off x="886968" y="1892808"/>
            <a:ext cx="20391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Gap 1: '…listening to music while you work ___ – although…' → B: it can actually be beneficial.</a:t>
            </a:r>
            <a:endParaRPr lang="en-US" sz="900" dirty="0"/>
          </a:p>
        </p:txBody>
      </p:sp>
      <p:sp>
        <p:nvSpPr>
          <p:cNvPr id="19" name="bd_179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180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Gap 2</a:t>
            </a:r>
            <a:endParaRPr lang="en-US" sz="1150" dirty="0"/>
          </a:p>
        </p:txBody>
      </p:sp>
      <p:sp>
        <p:nvSpPr>
          <p:cNvPr id="21" name="R1_chip181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…it depends on what you're trying to achieve. (F)</a:t>
            </a:r>
            <a:endParaRPr lang="en-US" sz="900" dirty="0"/>
          </a:p>
        </p:txBody>
      </p:sp>
      <p:sp>
        <p:nvSpPr>
          <p:cNvPr id="22" name="bd_182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183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Gap 3</a:t>
            </a:r>
            <a:endParaRPr lang="en-US" sz="1150" dirty="0"/>
          </a:p>
        </p:txBody>
      </p:sp>
      <p:sp>
        <p:nvSpPr>
          <p:cNvPr id="24" name="R2_chip184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…looked at how listening to various types of music affected different types of thinking. (D)</a:t>
            </a:r>
            <a:endParaRPr lang="en-US" sz="900" dirty="0"/>
          </a:p>
        </p:txBody>
      </p:sp>
      <p:sp>
        <p:nvSpPr>
          <p:cNvPr id="25" name="bd_185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186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Gap 4</a:t>
            </a:r>
            <a:endParaRPr lang="en-US" sz="1150" dirty="0"/>
          </a:p>
        </p:txBody>
      </p:sp>
      <p:sp>
        <p:nvSpPr>
          <p:cNvPr id="27" name="R3_chip187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Four of the groups did so while listening to classical music aimed at stimulating different moods. (A)</a:t>
            </a:r>
            <a:endParaRPr lang="en-US" sz="900" dirty="0"/>
          </a:p>
        </p:txBody>
      </p:sp>
      <p:sp>
        <p:nvSpPr>
          <p:cNvPr id="28" name="bd_188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189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Gap 5</a:t>
            </a:r>
            <a:endParaRPr lang="en-US" sz="1150" dirty="0"/>
          </a:p>
        </p:txBody>
      </p:sp>
      <p:sp>
        <p:nvSpPr>
          <p:cNvPr id="30" name="R4_chip190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you need to be creative, you should put on some uplifting music to get your brain working. (C)</a:t>
            </a:r>
            <a:endParaRPr lang="en-US" sz="900" dirty="0"/>
          </a:p>
        </p:txBody>
      </p:sp>
      <p:sp>
        <p:nvSpPr>
          <p:cNvPr id="31" name="bd_191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192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Gap 6</a:t>
            </a:r>
            <a:endParaRPr lang="en-US" sz="1150" dirty="0"/>
          </a:p>
        </p:txBody>
      </p:sp>
      <p:sp>
        <p:nvSpPr>
          <p:cNvPr id="33" name="R5_chip193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you're trying to solve a problem, you're better off opting for quiet solitude. (E)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19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607101" cy="621792"/>
          </a:xfrm>
          <a:prstGeom prst="rect">
            <a:avLst/>
          </a:prstGeom>
        </p:spPr>
      </p:pic>
      <p:sp>
        <p:nvSpPr>
          <p:cNvPr id="5" name="title_196"/>
          <p:cNvSpPr/>
          <p:nvPr/>
        </p:nvSpPr>
        <p:spPr>
          <a:xfrm>
            <a:off x="1261872" y="164592"/>
            <a:ext cx="53327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Music in the operating theatre?</a:t>
            </a:r>
            <a:endParaRPr lang="en-US" sz="2500" dirty="0"/>
          </a:p>
        </p:txBody>
      </p:sp>
      <p:pic>
        <p:nvPicPr>
          <p:cNvPr id="6" name="brP_19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198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photo. Answer before you read.</a:t>
            </a:r>
            <a:endParaRPr lang="en-US" sz="1250" dirty="0"/>
          </a:p>
        </p:txBody>
      </p:sp>
      <p:sp>
        <p:nvSpPr>
          <p:cNvPr id="8" name="insIT_19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la foto. Rispondi prima di leggere.</a:t>
            </a:r>
            <a:endParaRPr lang="en-US" sz="950" dirty="0"/>
          </a:p>
        </p:txBody>
      </p:sp>
      <p:sp>
        <p:nvSpPr>
          <p:cNvPr id="9" name="cmd_20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cmd_201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202"/>
          <p:cNvSpPr/>
          <p:nvPr/>
        </p:nvSpPr>
        <p:spPr>
          <a:xfrm>
            <a:off x="6510528" y="950976"/>
            <a:ext cx="190195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2E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00" dirty="0"/>
          </a:p>
        </p:txBody>
      </p:sp>
      <p:sp>
        <p:nvSpPr>
          <p:cNvPr id="12" name="tag_203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3" name="logo_20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0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prediction (text 2)   ·   📖 SB p.63 · 4e</a:t>
            </a:r>
            <a:endParaRPr lang="en-US" sz="800" dirty="0"/>
          </a:p>
        </p:txBody>
      </p:sp>
      <p:sp>
        <p:nvSpPr>
          <p:cNvPr id="15" name="pf_206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207" descr="/home/claude/lls-course/v2/cache/b2_6b2_theatre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7" name="cd_208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209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9" name="ih_210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20" name="il_211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say it's more of a…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the one hand… on the other…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might help them to…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could be dangerous if…</a:t>
            </a:r>
            <a:endParaRPr lang="en-US" sz="800" dirty="0"/>
          </a:p>
        </p:txBody>
      </p:sp>
      <p:sp>
        <p:nvSpPr>
          <p:cNvPr id="21" name="R1_qb212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R1_sq213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doing an operation more of a creative task or a problem-solving task?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Problem-solving – one mistake and it's a disaster!</a:t>
            </a:r>
            <a:endParaRPr lang="en-US" sz="950" dirty="0"/>
          </a:p>
        </p:txBody>
      </p:sp>
      <p:sp>
        <p:nvSpPr>
          <p:cNvPr id="23" name="R2_qb214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R2_sq215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are the advantages of music in the operating theatre?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It might help the team to relax and concentrate.</a:t>
            </a:r>
            <a:endParaRPr lang="en-US" sz="950" dirty="0"/>
          </a:p>
        </p:txBody>
      </p:sp>
      <p:sp>
        <p:nvSpPr>
          <p:cNvPr id="25" name="R3_qb216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R3_sq217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And the disadvantages?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They might not hear each other – or the machines.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1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220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says that…?</a:t>
            </a:r>
            <a:endParaRPr lang="en-US" sz="2400" dirty="0"/>
          </a:p>
        </p:txBody>
      </p:sp>
      <p:pic>
        <p:nvPicPr>
          <p:cNvPr id="6" name="brP_22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222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p.63. Who says it? RT, SA, SN or GW?</a:t>
            </a:r>
            <a:endParaRPr lang="en-US" sz="1250" dirty="0"/>
          </a:p>
        </p:txBody>
      </p:sp>
      <p:sp>
        <p:nvSpPr>
          <p:cNvPr id="8" name="insIT_22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p.63. Chi lo dice? RT, SA, SN o GW?</a:t>
            </a:r>
            <a:endParaRPr lang="en-US" sz="950" dirty="0"/>
          </a:p>
        </p:txBody>
      </p:sp>
      <p:sp>
        <p:nvSpPr>
          <p:cNvPr id="9" name="cmd_22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22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100" dirty="0"/>
          </a:p>
        </p:txBody>
      </p:sp>
      <p:sp>
        <p:nvSpPr>
          <p:cNvPr id="11" name="meta_226"/>
          <p:cNvSpPr/>
          <p:nvPr/>
        </p:nvSpPr>
        <p:spPr>
          <a:xfrm>
            <a:off x="6510528" y="950976"/>
            <a:ext cx="190195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2E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00" dirty="0"/>
          </a:p>
        </p:txBody>
      </p:sp>
      <p:sp>
        <p:nvSpPr>
          <p:cNvPr id="12" name="tag_227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3" name="logo_22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2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four doctors (scanning)   ·   📖 SB p.63 · 4f, 4g</a:t>
            </a:r>
            <a:endParaRPr lang="en-US" sz="800" dirty="0"/>
          </a:p>
        </p:txBody>
      </p:sp>
      <p:sp>
        <p:nvSpPr>
          <p:cNvPr id="15" name="cd_230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3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23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four surgeons</a:t>
            </a:r>
            <a:endParaRPr lang="en-US" sz="1300" dirty="0"/>
          </a:p>
        </p:txBody>
      </p:sp>
      <p:sp>
        <p:nvSpPr>
          <p:cNvPr id="18" name="il_233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9" name="lg_234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RT  Ramon</a:t>
            </a:r>
            <a:endParaRPr lang="en-US" sz="1050" dirty="0"/>
          </a:p>
        </p:txBody>
      </p:sp>
      <p:sp>
        <p:nvSpPr>
          <p:cNvPr id="20" name="lg_235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  Safina</a:t>
            </a:r>
            <a:endParaRPr lang="en-US" sz="1050" dirty="0"/>
          </a:p>
        </p:txBody>
      </p:sp>
      <p:sp>
        <p:nvSpPr>
          <p:cNvPr id="21" name="lg_236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SN  Samer</a:t>
            </a:r>
            <a:endParaRPr lang="en-US" sz="1050" dirty="0"/>
          </a:p>
        </p:txBody>
      </p:sp>
      <p:sp>
        <p:nvSpPr>
          <p:cNvPr id="22" name="lg_237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GW  Gabriel</a:t>
            </a:r>
            <a:endParaRPr lang="en-US" sz="1050" dirty="0"/>
          </a:p>
        </p:txBody>
      </p:sp>
      <p:sp>
        <p:nvSpPr>
          <p:cNvPr id="23" name="sq_238"/>
          <p:cNvSpPr/>
          <p:nvPr/>
        </p:nvSpPr>
        <p:spPr>
          <a:xfrm>
            <a:off x="3246120" y="14173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It's very difficult to choose music that everyone likes.</a:t>
            </a:r>
            <a:endParaRPr lang="en-US" sz="900" dirty="0"/>
          </a:p>
        </p:txBody>
      </p:sp>
      <p:sp>
        <p:nvSpPr>
          <p:cNvPr id="24" name="R1_tag239"/>
          <p:cNvSpPr/>
          <p:nvPr/>
        </p:nvSpPr>
        <p:spPr>
          <a:xfrm>
            <a:off x="7178040" y="14173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SN  Samer</a:t>
            </a:r>
            <a:endParaRPr lang="en-US" sz="1150" dirty="0"/>
          </a:p>
        </p:txBody>
      </p:sp>
      <p:sp>
        <p:nvSpPr>
          <p:cNvPr id="25" name="sq_240"/>
          <p:cNvSpPr/>
          <p:nvPr/>
        </p:nvSpPr>
        <p:spPr>
          <a:xfrm>
            <a:off x="3246120" y="18288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The choice of music depends on the type of operation.</a:t>
            </a:r>
            <a:endParaRPr lang="en-US" sz="900" dirty="0"/>
          </a:p>
        </p:txBody>
      </p:sp>
      <p:sp>
        <p:nvSpPr>
          <p:cNvPr id="26" name="R2_tag241"/>
          <p:cNvSpPr/>
          <p:nvPr/>
        </p:nvSpPr>
        <p:spPr>
          <a:xfrm>
            <a:off x="7178040" y="18288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RT  Ramon</a:t>
            </a:r>
            <a:endParaRPr lang="en-US" sz="1150" dirty="0"/>
          </a:p>
        </p:txBody>
      </p:sp>
      <p:sp>
        <p:nvSpPr>
          <p:cNvPr id="27" name="sq_242"/>
          <p:cNvSpPr/>
          <p:nvPr/>
        </p:nvSpPr>
        <p:spPr>
          <a:xfrm>
            <a:off x="3246120" y="22402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Playing a variety of music tends to motivate the team.</a:t>
            </a:r>
            <a:endParaRPr lang="en-US" sz="900" dirty="0"/>
          </a:p>
        </p:txBody>
      </p:sp>
      <p:sp>
        <p:nvSpPr>
          <p:cNvPr id="28" name="R3_tag243"/>
          <p:cNvSpPr/>
          <p:nvPr/>
        </p:nvSpPr>
        <p:spPr>
          <a:xfrm>
            <a:off x="7178040" y="22402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RT  Ramon</a:t>
            </a:r>
            <a:endParaRPr lang="en-US" sz="1150" dirty="0"/>
          </a:p>
        </p:txBody>
      </p:sp>
      <p:sp>
        <p:nvSpPr>
          <p:cNvPr id="29" name="sq_244"/>
          <p:cNvSpPr/>
          <p:nvPr/>
        </p:nvSpPr>
        <p:spPr>
          <a:xfrm>
            <a:off x="3246120" y="265176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Working in silence makes them feel alone.</a:t>
            </a:r>
            <a:endParaRPr lang="en-US" sz="900" dirty="0"/>
          </a:p>
        </p:txBody>
      </p:sp>
      <p:sp>
        <p:nvSpPr>
          <p:cNvPr id="30" name="R4_tag245"/>
          <p:cNvSpPr/>
          <p:nvPr/>
        </p:nvSpPr>
        <p:spPr>
          <a:xfrm>
            <a:off x="7178040" y="265176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  Safina</a:t>
            </a:r>
            <a:endParaRPr lang="en-US" sz="1150" dirty="0"/>
          </a:p>
        </p:txBody>
      </p:sp>
      <p:sp>
        <p:nvSpPr>
          <p:cNvPr id="31" name="sq_246"/>
          <p:cNvSpPr/>
          <p:nvPr/>
        </p:nvSpPr>
        <p:spPr>
          <a:xfrm>
            <a:off x="3246120" y="306324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He switches off the music in the middle of an operation.</a:t>
            </a:r>
            <a:endParaRPr lang="en-US" sz="900" dirty="0"/>
          </a:p>
        </p:txBody>
      </p:sp>
      <p:sp>
        <p:nvSpPr>
          <p:cNvPr id="32" name="R5_tag247"/>
          <p:cNvSpPr/>
          <p:nvPr/>
        </p:nvSpPr>
        <p:spPr>
          <a:xfrm>
            <a:off x="7178040" y="306324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GW  Gabriel</a:t>
            </a:r>
            <a:endParaRPr lang="en-US" sz="1150" dirty="0"/>
          </a:p>
        </p:txBody>
      </p:sp>
      <p:sp>
        <p:nvSpPr>
          <p:cNvPr id="33" name="sq_248"/>
          <p:cNvSpPr/>
          <p:nvPr/>
        </p:nvSpPr>
        <p:spPr>
          <a:xfrm>
            <a:off x="3246120" y="34747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Her colleagues often choose the music.</a:t>
            </a:r>
            <a:endParaRPr lang="en-US" sz="900" dirty="0"/>
          </a:p>
        </p:txBody>
      </p:sp>
      <p:sp>
        <p:nvSpPr>
          <p:cNvPr id="34" name="R6_tag249"/>
          <p:cNvSpPr/>
          <p:nvPr/>
        </p:nvSpPr>
        <p:spPr>
          <a:xfrm>
            <a:off x="7178040" y="34747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  Safina</a:t>
            </a:r>
            <a:endParaRPr lang="en-US" sz="1150" dirty="0"/>
          </a:p>
        </p:txBody>
      </p:sp>
      <p:sp>
        <p:nvSpPr>
          <p:cNvPr id="35" name="sq_250"/>
          <p:cNvSpPr/>
          <p:nvPr/>
        </p:nvSpPr>
        <p:spPr>
          <a:xfrm>
            <a:off x="3246120" y="38862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 Music gets in the way of doing the job well.</a:t>
            </a:r>
            <a:endParaRPr lang="en-US" sz="900" dirty="0"/>
          </a:p>
        </p:txBody>
      </p:sp>
      <p:sp>
        <p:nvSpPr>
          <p:cNvPr id="36" name="R7_tag251"/>
          <p:cNvSpPr/>
          <p:nvPr/>
        </p:nvSpPr>
        <p:spPr>
          <a:xfrm>
            <a:off x="7178040" y="38862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SN  Samer</a:t>
            </a:r>
            <a:endParaRPr lang="en-US" sz="1150" dirty="0"/>
          </a:p>
        </p:txBody>
      </p:sp>
      <p:sp>
        <p:nvSpPr>
          <p:cNvPr id="37" name="sq_252"/>
          <p:cNvSpPr/>
          <p:nvPr/>
        </p:nvSpPr>
        <p:spPr>
          <a:xfrm>
            <a:off x="3246120" y="42976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 He plays different music to suit different patients.</a:t>
            </a:r>
            <a:endParaRPr lang="en-US" sz="900" dirty="0"/>
          </a:p>
        </p:txBody>
      </p:sp>
      <p:sp>
        <p:nvSpPr>
          <p:cNvPr id="38" name="R8_tag253"/>
          <p:cNvSpPr/>
          <p:nvPr/>
        </p:nvSpPr>
        <p:spPr>
          <a:xfrm>
            <a:off x="7178040" y="42976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GW  Gabriel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5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256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Their real words</a:t>
            </a:r>
            <a:endParaRPr lang="en-US" sz="2500" dirty="0"/>
          </a:p>
        </p:txBody>
      </p:sp>
      <p:pic>
        <p:nvPicPr>
          <p:cNvPr id="6" name="brP_25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58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doctor's exact words on p.63. Say the full sentence.</a:t>
            </a:r>
            <a:endParaRPr lang="en-US" sz="1200" dirty="0"/>
          </a:p>
        </p:txBody>
      </p:sp>
      <p:sp>
        <p:nvSpPr>
          <p:cNvPr id="8" name="insIT_25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Trova le parole esatte del medico a p.63. Di' la frase intera.</a:t>
            </a:r>
            <a:endParaRPr lang="en-US" sz="950" dirty="0"/>
          </a:p>
        </p:txBody>
      </p:sp>
      <p:sp>
        <p:nvSpPr>
          <p:cNvPr id="9" name="cmd_26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TROVA</a:t>
            </a:r>
            <a:endParaRPr lang="en-US" sz="1100" dirty="0"/>
          </a:p>
        </p:txBody>
      </p:sp>
      <p:sp>
        <p:nvSpPr>
          <p:cNvPr id="10" name="meta_261"/>
          <p:cNvSpPr/>
          <p:nvPr/>
        </p:nvSpPr>
        <p:spPr>
          <a:xfrm>
            <a:off x="6510528" y="566928"/>
            <a:ext cx="190195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2E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00" dirty="0"/>
          </a:p>
        </p:txBody>
      </p:sp>
      <p:sp>
        <p:nvSpPr>
          <p:cNvPr id="11" name="tag_262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26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6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real words + grammar (-ing or to?)   ·   📖 SB p.63</a:t>
            </a:r>
            <a:endParaRPr lang="en-US" sz="800" dirty="0"/>
          </a:p>
        </p:txBody>
      </p:sp>
      <p:sp>
        <p:nvSpPr>
          <p:cNvPr id="14" name="cd_265"/>
          <p:cNvSpPr/>
          <p:nvPr/>
        </p:nvSpPr>
        <p:spPr>
          <a:xfrm>
            <a:off x="320040" y="1417320"/>
            <a:ext cx="2697480" cy="1170432"/>
          </a:xfrm>
          <a:prstGeom prst="roundRect">
            <a:avLst>
              <a:gd name="adj" fmla="val 10938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6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26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268"/>
          <p:cNvSpPr/>
          <p:nvPr/>
        </p:nvSpPr>
        <p:spPr>
          <a:xfrm>
            <a:off x="886968" y="1892808"/>
            <a:ext cx="20391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Ramon: 'If I play cool music, it puts me in a better ___.' → …it puts me in a better mood.</a:t>
            </a:r>
            <a:endParaRPr lang="en-US" sz="1000" dirty="0"/>
          </a:p>
        </p:txBody>
      </p:sp>
      <p:sp>
        <p:nvSpPr>
          <p:cNvPr id="18" name="bd_269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270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Ramon: 'I try ___ some crowd-pleasers.'</a:t>
            </a:r>
            <a:endParaRPr lang="en-US" sz="900" dirty="0"/>
          </a:p>
        </p:txBody>
      </p:sp>
      <p:sp>
        <p:nvSpPr>
          <p:cNvPr id="20" name="R1_chip271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try to have some crowd-pleasers, some easy listening, some singalong tracks.</a:t>
            </a:r>
            <a:endParaRPr lang="en-US" sz="900" dirty="0"/>
          </a:p>
        </p:txBody>
      </p:sp>
      <p:sp>
        <p:nvSpPr>
          <p:cNvPr id="21" name="bd_272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273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Ramon: '…so they didn't mind ___ late.'</a:t>
            </a:r>
            <a:endParaRPr lang="en-US" sz="900" dirty="0"/>
          </a:p>
        </p:txBody>
      </p:sp>
      <p:sp>
        <p:nvSpPr>
          <p:cNvPr id="23" name="R2_chip274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Everyone told me they were having fun, so they didn't mind staying late.</a:t>
            </a:r>
            <a:endParaRPr lang="en-US" sz="900" dirty="0"/>
          </a:p>
        </p:txBody>
      </p:sp>
      <p:sp>
        <p:nvSpPr>
          <p:cNvPr id="24" name="bd_275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276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Safina: 'I had ___ to Bruce Springsteen for ten hours at a time.'</a:t>
            </a:r>
            <a:endParaRPr lang="en-US" sz="900" dirty="0"/>
          </a:p>
        </p:txBody>
      </p:sp>
      <p:sp>
        <p:nvSpPr>
          <p:cNvPr id="26" name="R3_chip277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I was training, I had to listen to Bruce Springsteen for ten hours at a time.</a:t>
            </a:r>
            <a:endParaRPr lang="en-US" sz="900" dirty="0"/>
          </a:p>
        </p:txBody>
      </p:sp>
      <p:sp>
        <p:nvSpPr>
          <p:cNvPr id="27" name="bd_278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279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Safina: 'My current boss likes ___ classical music on.'</a:t>
            </a:r>
            <a:endParaRPr lang="en-US" sz="900" dirty="0"/>
          </a:p>
        </p:txBody>
      </p:sp>
      <p:sp>
        <p:nvSpPr>
          <p:cNvPr id="29" name="R4_chip280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current boss likes to have classical music on.</a:t>
            </a:r>
            <a:endParaRPr lang="en-US" sz="900" dirty="0"/>
          </a:p>
        </p:txBody>
      </p:sp>
      <p:sp>
        <p:nvSpPr>
          <p:cNvPr id="30" name="bd_281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282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Samer: 'It's almost impossible ___ a genre that fits…'</a:t>
            </a:r>
            <a:endParaRPr lang="en-US" sz="900" dirty="0"/>
          </a:p>
        </p:txBody>
      </p:sp>
      <p:sp>
        <p:nvSpPr>
          <p:cNvPr id="32" name="R5_chip283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almost impossible to find a genre that fits the musical tastes of the 12 or so people.</a:t>
            </a:r>
            <a:endParaRPr lang="en-US" sz="900" dirty="0"/>
          </a:p>
        </p:txBody>
      </p:sp>
      <p:sp>
        <p:nvSpPr>
          <p:cNvPr id="33" name="bd_284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285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Gabriel: 'I use music ___ them to relax.'</a:t>
            </a:r>
            <a:endParaRPr lang="en-US" sz="900" dirty="0"/>
          </a:p>
        </p:txBody>
      </p:sp>
      <p:sp>
        <p:nvSpPr>
          <p:cNvPr id="35" name="R6_chip286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 I use music to get them to relax.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28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289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hospital music rule</a:t>
            </a:r>
            <a:endParaRPr lang="en-US" sz="2500" dirty="0"/>
          </a:p>
        </p:txBody>
      </p:sp>
      <p:pic>
        <p:nvPicPr>
          <p:cNvPr id="6" name="brP_29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9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Groups of 4: one role each. Agree on ONE music rule in 4 minutes.</a:t>
            </a:r>
            <a:endParaRPr lang="en-US" sz="1100" dirty="0"/>
          </a:p>
        </p:txBody>
      </p:sp>
      <p:sp>
        <p:nvSpPr>
          <p:cNvPr id="8" name="insIT_29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Gruppi di 4: un ruolo a testa. Decidete UNA regola sulla musica in 4 minuti.</a:t>
            </a:r>
            <a:endParaRPr lang="en-US" sz="950" dirty="0"/>
          </a:p>
        </p:txBody>
      </p:sp>
      <p:sp>
        <p:nvSpPr>
          <p:cNvPr id="9" name="cmd_29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cmd_294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1" name="meta_295"/>
          <p:cNvSpPr/>
          <p:nvPr/>
        </p:nvSpPr>
        <p:spPr>
          <a:xfrm>
            <a:off x="6510528" y="950976"/>
            <a:ext cx="190195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2E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👨‍👩‍👧 groups</a:t>
            </a:r>
            <a:endParaRPr lang="en-US" sz="900" dirty="0"/>
          </a:p>
        </p:txBody>
      </p:sp>
      <p:sp>
        <p:nvSpPr>
          <p:cNvPr id="12" name="tag_296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3" name="logo_29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9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role-play: reach a consensus   ·   📖 SB pp.62–63 · 4f (consensus) · adapted</a:t>
            </a:r>
            <a:endParaRPr lang="en-US" sz="800" dirty="0"/>
          </a:p>
        </p:txBody>
      </p:sp>
      <p:sp>
        <p:nvSpPr>
          <p:cNvPr id="15" name="cd_299"/>
          <p:cNvSpPr/>
          <p:nvPr/>
        </p:nvSpPr>
        <p:spPr>
          <a:xfrm>
            <a:off x="320040" y="1417320"/>
            <a:ext cx="2788920" cy="3108960"/>
          </a:xfrm>
          <a:prstGeom prst="roundRect">
            <a:avLst>
              <a:gd name="adj" fmla="val 4590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0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7" name="ih_301"/>
          <p:cNvSpPr/>
          <p:nvPr/>
        </p:nvSpPr>
        <p:spPr>
          <a:xfrm>
            <a:off x="886968" y="15087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8" name="il_302"/>
          <p:cNvSpPr/>
          <p:nvPr/>
        </p:nvSpPr>
        <p:spPr>
          <a:xfrm>
            <a:off x="886968" y="1892808"/>
            <a:ext cx="213055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see your point, but…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That's true up to a point.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if we…?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Could we agree that…?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OK, let's compromise: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 we all agree that…</a:t>
            </a:r>
            <a:endParaRPr lang="en-US" sz="1150" dirty="0"/>
          </a:p>
        </p:txBody>
      </p:sp>
      <p:sp>
        <p:nvSpPr>
          <p:cNvPr id="19" name="R1_qb303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R1_sq304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· Surgeon: you LOVE playing your playlist. It keeps the team happy.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'Music makes us better – we stay late and we don't mind!'</a:t>
            </a:r>
            <a:endParaRPr lang="en-US" sz="950" dirty="0"/>
          </a:p>
        </p:txBody>
      </p:sp>
      <p:sp>
        <p:nvSpPr>
          <p:cNvPr id="21" name="R2_qb305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R2_sq306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· Surgeon: NO music, ever. The team must hear each other.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'Any noise gets in the way. One mistake is too many.'</a:t>
            </a:r>
            <a:endParaRPr lang="en-US" sz="950" dirty="0"/>
          </a:p>
        </p:txBody>
      </p:sp>
      <p:sp>
        <p:nvSpPr>
          <p:cNvPr id="23" name="R3_qb307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R3_sq308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· Young nurse: you want pop music you can talk about – not bland lift music.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'Silence is eerie. And classical music is boring!'</a:t>
            </a:r>
            <a:endParaRPr lang="en-US" sz="950" dirty="0"/>
          </a:p>
        </p:txBody>
      </p:sp>
      <p:sp>
        <p:nvSpPr>
          <p:cNvPr id="25" name="R4_qb309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R4_sq310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· Patient (awake!): you're nervous. What music would help YOU?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'Please – something soothing. Not heavy metal!'</a:t>
            </a:r>
            <a:endParaRPr lang="en-US" sz="950" dirty="0"/>
          </a:p>
        </p:txBody>
      </p:sp>
      <p:sp>
        <p:nvSpPr>
          <p:cNvPr id="27" name="R5_qb311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R5_sq312"/>
          <p:cNvSpPr/>
          <p:nvPr/>
        </p:nvSpPr>
        <p:spPr>
          <a:xfrm>
            <a:off x="3675888" y="3831336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Report: what's your rule? Did anyone change their mind? Why?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'Music for planned operations – but it goes off when things get serious.'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1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1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15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Giulia's study playlist</a:t>
            </a:r>
            <a:endParaRPr lang="en-US" sz="2500" dirty="0"/>
          </a:p>
        </p:txBody>
      </p:sp>
      <p:pic>
        <p:nvPicPr>
          <p:cNvPr id="6" name="brP_31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317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story line by line. Answer the questions.</a:t>
            </a:r>
            <a:endParaRPr lang="en-US" sz="1250" dirty="0"/>
          </a:p>
        </p:txBody>
      </p:sp>
      <p:sp>
        <p:nvSpPr>
          <p:cNvPr id="8" name="insIT_31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storia riga per riga. Rispondi alle domande.</a:t>
            </a:r>
            <a:endParaRPr lang="en-US" sz="950" dirty="0"/>
          </a:p>
        </p:txBody>
      </p:sp>
      <p:sp>
        <p:nvSpPr>
          <p:cNvPr id="9" name="cmd_31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320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21"/>
          <p:cNvSpPr/>
          <p:nvPr/>
        </p:nvSpPr>
        <p:spPr>
          <a:xfrm>
            <a:off x="6510528" y="950976"/>
            <a:ext cx="190195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2E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00" dirty="0"/>
          </a:p>
        </p:txBody>
      </p:sp>
      <p:sp>
        <p:nvSpPr>
          <p:cNvPr id="12" name="tag_322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3" name="logo_32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2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class story (TPRS)</a:t>
            </a:r>
            <a:endParaRPr lang="en-US" sz="800" dirty="0"/>
          </a:p>
        </p:txBody>
      </p:sp>
      <p:sp>
        <p:nvSpPr>
          <p:cNvPr id="15" name="cd_325"/>
          <p:cNvSpPr/>
          <p:nvPr/>
        </p:nvSpPr>
        <p:spPr>
          <a:xfrm>
            <a:off x="320040" y="1417320"/>
            <a:ext cx="2697480" cy="2468880"/>
          </a:xfrm>
          <a:prstGeom prst="roundRect">
            <a:avLst>
              <a:gd name="adj" fmla="val 518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2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7" name="ih_32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8" name="il_328"/>
          <p:cNvSpPr/>
          <p:nvPr/>
        </p:nvSpPr>
        <p:spPr>
          <a:xfrm>
            <a:off x="886968" y="1892808"/>
            <a:ext cx="203911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opt for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scegliere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uplifting / soothing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 tira su / rilassante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bland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insipido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better off + -ing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meglio + -ing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help + -ing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riesco a non…</a:t>
            </a:r>
            <a:endParaRPr lang="en-US" sz="1000" dirty="0"/>
          </a:p>
        </p:txBody>
      </p:sp>
      <p:sp>
        <p:nvSpPr>
          <p:cNvPr id="19" name="R1_sb329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R1_sl330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Giulia had a maths test, so she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opted for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total silence. After ten minutes it felt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eerie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90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Why did she choose silence? · Why do you think silence can feel eerie?</a:t>
            </a:r>
            <a:endParaRPr lang="en-US" sz="900" dirty="0"/>
          </a:p>
        </p:txBody>
      </p:sp>
      <p:sp>
        <p:nvSpPr>
          <p:cNvPr id="21" name="R2_sb331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R2_sl332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tried putting on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some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soothing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piano music – but it was so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bland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she fell asleep.</a:t>
            </a:r>
            <a:endParaRPr lang="en-US" sz="90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did she try? · What's the difference between 'tried putting on' and 'tried to put on'?</a:t>
            </a:r>
            <a:endParaRPr lang="en-US" sz="900" dirty="0"/>
          </a:p>
        </p:txBody>
      </p:sp>
      <p:sp>
        <p:nvSpPr>
          <p:cNvPr id="23" name="R3_sb333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R3_sl334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Then she chose an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uplifting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pop playlist, full of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crowd-pleasers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Why might uplifting music help? · Would it help YOU with maths?</a:t>
            </a:r>
            <a:endParaRPr lang="en-US" sz="1050" dirty="0"/>
          </a:p>
        </p:txBody>
      </p:sp>
      <p:sp>
        <p:nvSpPr>
          <p:cNvPr id="25" name="R4_sb335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R4_sl336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But she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couldn't help singing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along, and she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forgot to do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half the exercises.</a:t>
            </a:r>
            <a:endParaRPr lang="en-US" sz="95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couldn't she help doing? · What did she forget? · Has this happened to you?</a:t>
            </a:r>
            <a:endParaRPr lang="en-US" sz="950" dirty="0"/>
          </a:p>
        </p:txBody>
      </p:sp>
      <p:sp>
        <p:nvSpPr>
          <p:cNvPr id="27" name="R5_sb337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R5_sl338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brother said: 'For problem-solving, you're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better off working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silence.'</a:t>
            </a:r>
            <a:endParaRPr lang="en-US" sz="95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Was he right, according to the article on p.62? · Why?</a:t>
            </a:r>
            <a:endParaRPr lang="en-US" sz="950" dirty="0"/>
          </a:p>
        </p:txBody>
      </p:sp>
      <p:sp>
        <p:nvSpPr>
          <p:cNvPr id="29" name="R6_sb339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R6_sl340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 now Giulia keeps silence for maths – and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saves her playlist for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art homework.</a:t>
            </a:r>
            <a:endParaRPr lang="en-US" sz="90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that a good compromise? · What would YOU change in her plan?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4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343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Retell it!</a:t>
            </a:r>
            <a:endParaRPr lang="en-US" sz="2500" dirty="0"/>
          </a:p>
        </p:txBody>
      </p:sp>
      <p:pic>
        <p:nvPicPr>
          <p:cNvPr id="6" name="brP_34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45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Retell Giulia's story to your partner. One word per line helps.</a:t>
            </a:r>
            <a:endParaRPr lang="en-US" sz="1100" dirty="0"/>
          </a:p>
        </p:txBody>
      </p:sp>
      <p:sp>
        <p:nvSpPr>
          <p:cNvPr id="8" name="insIT_34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Racconta di nuovo la storia al compagno. Una parola per riga ti aiuta.</a:t>
            </a:r>
            <a:endParaRPr lang="en-US" sz="900" dirty="0"/>
          </a:p>
        </p:txBody>
      </p:sp>
      <p:sp>
        <p:nvSpPr>
          <p:cNvPr id="9" name="cmd_34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348"/>
          <p:cNvSpPr/>
          <p:nvPr/>
        </p:nvSpPr>
        <p:spPr>
          <a:xfrm>
            <a:off x="6510528" y="566928"/>
            <a:ext cx="190195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2E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00" dirty="0"/>
          </a:p>
        </p:txBody>
      </p:sp>
      <p:sp>
        <p:nvSpPr>
          <p:cNvPr id="11" name="tag_349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retell</a:t>
            </a:r>
            <a:endParaRPr lang="en-US" sz="850" dirty="0"/>
          </a:p>
        </p:txBody>
      </p:sp>
      <p:pic>
        <p:nvPicPr>
          <p:cNvPr id="12" name="logo_35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5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retell (TPRS)</a:t>
            </a:r>
            <a:endParaRPr lang="en-US" sz="800" dirty="0"/>
          </a:p>
        </p:txBody>
      </p:sp>
      <p:sp>
        <p:nvSpPr>
          <p:cNvPr id="14" name="R1_sb352"/>
          <p:cNvSpPr/>
          <p:nvPr/>
        </p:nvSpPr>
        <p:spPr>
          <a:xfrm>
            <a:off x="457200" y="145389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R1_sl353"/>
          <p:cNvSpPr/>
          <p:nvPr/>
        </p:nvSpPr>
        <p:spPr>
          <a:xfrm>
            <a:off x="841248" y="1417320"/>
            <a:ext cx="80467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silence</a:t>
            </a:r>
            <a:endParaRPr lang="en-US" sz="1250" dirty="0"/>
          </a:p>
        </p:txBody>
      </p:sp>
      <p:sp>
        <p:nvSpPr>
          <p:cNvPr id="16" name="R2_sb354"/>
          <p:cNvSpPr/>
          <p:nvPr/>
        </p:nvSpPr>
        <p:spPr>
          <a:xfrm>
            <a:off x="457200" y="201777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R2_sl355"/>
          <p:cNvSpPr/>
          <p:nvPr/>
        </p:nvSpPr>
        <p:spPr>
          <a:xfrm>
            <a:off x="841248" y="1981200"/>
            <a:ext cx="80467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piano</a:t>
            </a:r>
            <a:endParaRPr lang="en-US" sz="1250" dirty="0"/>
          </a:p>
        </p:txBody>
      </p:sp>
      <p:sp>
        <p:nvSpPr>
          <p:cNvPr id="18" name="R3_sb356"/>
          <p:cNvSpPr/>
          <p:nvPr/>
        </p:nvSpPr>
        <p:spPr>
          <a:xfrm>
            <a:off x="457200" y="2581656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R3_sl357"/>
          <p:cNvSpPr/>
          <p:nvPr/>
        </p:nvSpPr>
        <p:spPr>
          <a:xfrm>
            <a:off x="841248" y="2545080"/>
            <a:ext cx="80467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pop playlist</a:t>
            </a:r>
            <a:endParaRPr lang="en-US" sz="1250" dirty="0"/>
          </a:p>
        </p:txBody>
      </p:sp>
      <p:sp>
        <p:nvSpPr>
          <p:cNvPr id="20" name="R4_sb358"/>
          <p:cNvSpPr/>
          <p:nvPr/>
        </p:nvSpPr>
        <p:spPr>
          <a:xfrm>
            <a:off x="457200" y="3145536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1" name="R4_sl359"/>
          <p:cNvSpPr/>
          <p:nvPr/>
        </p:nvSpPr>
        <p:spPr>
          <a:xfrm>
            <a:off x="841248" y="3108960"/>
            <a:ext cx="80467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singing</a:t>
            </a:r>
            <a:endParaRPr lang="en-US" sz="1250" dirty="0"/>
          </a:p>
        </p:txBody>
      </p:sp>
      <p:sp>
        <p:nvSpPr>
          <p:cNvPr id="22" name="R5_sb360"/>
          <p:cNvSpPr/>
          <p:nvPr/>
        </p:nvSpPr>
        <p:spPr>
          <a:xfrm>
            <a:off x="457200" y="370941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3" name="R5_sl361"/>
          <p:cNvSpPr/>
          <p:nvPr/>
        </p:nvSpPr>
        <p:spPr>
          <a:xfrm>
            <a:off x="841248" y="3672840"/>
            <a:ext cx="80467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brother</a:t>
            </a:r>
            <a:endParaRPr lang="en-US" sz="1250" dirty="0"/>
          </a:p>
        </p:txBody>
      </p:sp>
      <p:sp>
        <p:nvSpPr>
          <p:cNvPr id="24" name="R6_sb362"/>
          <p:cNvSpPr/>
          <p:nvPr/>
        </p:nvSpPr>
        <p:spPr>
          <a:xfrm>
            <a:off x="457200" y="427329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5" name="R6_sl363"/>
          <p:cNvSpPr/>
          <p:nvPr/>
        </p:nvSpPr>
        <p:spPr>
          <a:xfrm>
            <a:off x="841248" y="4236720"/>
            <a:ext cx="80467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now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6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36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366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Playlist battle!</a:t>
            </a:r>
            <a:endParaRPr lang="en-US" sz="2500" dirty="0"/>
          </a:p>
        </p:txBody>
      </p:sp>
      <p:pic>
        <p:nvPicPr>
          <p:cNvPr id="6" name="brP_36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68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Teams: make a 5-song playlist. Then sell it in 30 seconds!</a:t>
            </a:r>
            <a:endParaRPr lang="en-US" sz="1250" dirty="0"/>
          </a:p>
        </p:txBody>
      </p:sp>
      <p:sp>
        <p:nvSpPr>
          <p:cNvPr id="8" name="insIT_36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Squadre: create una playlist di 5 canzoni. Poi vendetela in 30 secondi!</a:t>
            </a:r>
            <a:endParaRPr lang="en-US" sz="950" dirty="0"/>
          </a:p>
        </p:txBody>
      </p:sp>
      <p:sp>
        <p:nvSpPr>
          <p:cNvPr id="9" name="cmd_37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371"/>
          <p:cNvSpPr/>
          <p:nvPr/>
        </p:nvSpPr>
        <p:spPr>
          <a:xfrm>
            <a:off x="6510528" y="566928"/>
            <a:ext cx="190195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2E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🏆 teams</a:t>
            </a:r>
            <a:endParaRPr lang="en-US" sz="900" dirty="0"/>
          </a:p>
        </p:txBody>
      </p:sp>
      <p:sp>
        <p:nvSpPr>
          <p:cNvPr id="11" name="tag_372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37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7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game · playlist battle   ·   📖 SB p.62 · 4h (extended)</a:t>
            </a:r>
            <a:endParaRPr lang="en-US" sz="800" dirty="0"/>
          </a:p>
        </p:txBody>
      </p:sp>
      <p:sp>
        <p:nvSpPr>
          <p:cNvPr id="14" name="cd_375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7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37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378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minutes: choose 5 songs for the task.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minuti: 5 canzoni per il compito.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seconds: sell it! Use 2 key words.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secondi: vendetela! 2 parole chiave.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class votes. Best pitch = 1 point.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 classe vota. 1 punto.</a:t>
            </a:r>
            <a:endParaRPr lang="en-US" sz="900" dirty="0"/>
          </a:p>
        </p:txBody>
      </p:sp>
      <p:sp>
        <p:nvSpPr>
          <p:cNvPr id="18" name="st_379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380"/>
          <p:cNvSpPr/>
          <p:nvPr/>
        </p:nvSpPr>
        <p:spPr>
          <a:xfrm>
            <a:off x="3246120" y="1508760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381"/>
          <p:cNvSpPr/>
          <p:nvPr/>
        </p:nvSpPr>
        <p:spPr>
          <a:xfrm>
            <a:off x="3657600" y="1417320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creative task: painting your bedroom</a:t>
            </a:r>
            <a:endParaRPr lang="en-US" sz="1100" dirty="0"/>
          </a:p>
        </p:txBody>
      </p:sp>
      <p:sp>
        <p:nvSpPr>
          <p:cNvPr id="21" name="R1_chip382"/>
          <p:cNvSpPr/>
          <p:nvPr/>
        </p:nvSpPr>
        <p:spPr>
          <a:xfrm>
            <a:off x="6263640" y="1417320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e.g. 'Our playlist is uplifting – full of crowd-pleasers, so you'll paint faster!'</a:t>
            </a:r>
            <a:endParaRPr lang="en-US" sz="950" dirty="0"/>
          </a:p>
        </p:txBody>
      </p:sp>
      <p:sp>
        <p:nvSpPr>
          <p:cNvPr id="22" name="bd_383"/>
          <p:cNvSpPr/>
          <p:nvPr/>
        </p:nvSpPr>
        <p:spPr>
          <a:xfrm>
            <a:off x="3246120" y="20848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384"/>
          <p:cNvSpPr/>
          <p:nvPr/>
        </p:nvSpPr>
        <p:spPr>
          <a:xfrm>
            <a:off x="3657600" y="1993392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hard maths test tomorrow</a:t>
            </a:r>
            <a:endParaRPr lang="en-US" sz="1100" dirty="0"/>
          </a:p>
        </p:txBody>
      </p:sp>
      <p:sp>
        <p:nvSpPr>
          <p:cNvPr id="24" name="R2_chip385"/>
          <p:cNvSpPr/>
          <p:nvPr/>
        </p:nvSpPr>
        <p:spPr>
          <a:xfrm>
            <a:off x="6263640" y="1993392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e.g. 'You're better off opting for soothing music with no lyrics.'</a:t>
            </a:r>
            <a:endParaRPr lang="en-US" sz="1000" dirty="0"/>
          </a:p>
        </p:txBody>
      </p:sp>
      <p:sp>
        <p:nvSpPr>
          <p:cNvPr id="25" name="bd_386"/>
          <p:cNvSpPr/>
          <p:nvPr/>
        </p:nvSpPr>
        <p:spPr>
          <a:xfrm>
            <a:off x="3246120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387"/>
          <p:cNvSpPr/>
          <p:nvPr/>
        </p:nvSpPr>
        <p:spPr>
          <a:xfrm>
            <a:off x="3657600" y="2569464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3-hour heart operation (you're the surgeon!)</a:t>
            </a:r>
            <a:endParaRPr lang="en-US" sz="1100" dirty="0"/>
          </a:p>
        </p:txBody>
      </p:sp>
      <p:sp>
        <p:nvSpPr>
          <p:cNvPr id="27" name="R3_chip388"/>
          <p:cNvSpPr/>
          <p:nvPr/>
        </p:nvSpPr>
        <p:spPr>
          <a:xfrm>
            <a:off x="6263640" y="2569464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e.g. 'Nothing bland, nothing distracting – just calm piano.'</a:t>
            </a:r>
            <a:endParaRPr lang="en-US" sz="1100" dirty="0"/>
          </a:p>
        </p:txBody>
      </p:sp>
      <p:sp>
        <p:nvSpPr>
          <p:cNvPr id="28" name="bd_389"/>
          <p:cNvSpPr/>
          <p:nvPr/>
        </p:nvSpPr>
        <p:spPr>
          <a:xfrm>
            <a:off x="3246120" y="32369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390"/>
          <p:cNvSpPr/>
          <p:nvPr/>
        </p:nvSpPr>
        <p:spPr>
          <a:xfrm>
            <a:off x="3657600" y="3145536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6-hour car journey with your family</a:t>
            </a:r>
            <a:endParaRPr lang="en-US" sz="1100" dirty="0"/>
          </a:p>
        </p:txBody>
      </p:sp>
      <p:sp>
        <p:nvSpPr>
          <p:cNvPr id="30" name="R4_chip391"/>
          <p:cNvSpPr/>
          <p:nvPr/>
        </p:nvSpPr>
        <p:spPr>
          <a:xfrm>
            <a:off x="6263640" y="3145536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e.g. 'Crowd-pleasers everyone can sing – even Grandma!'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9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39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394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39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396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Tell your partner…</a:t>
            </a:r>
            <a:endParaRPr lang="en-US" sz="1250" dirty="0"/>
          </a:p>
        </p:txBody>
      </p:sp>
      <p:sp>
        <p:nvSpPr>
          <p:cNvPr id="8" name="insIT_39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Di' al compagno…</a:t>
            </a:r>
            <a:endParaRPr lang="en-US" sz="950" dirty="0"/>
          </a:p>
        </p:txBody>
      </p:sp>
      <p:sp>
        <p:nvSpPr>
          <p:cNvPr id="9" name="meta_398"/>
          <p:cNvSpPr/>
          <p:nvPr/>
        </p:nvSpPr>
        <p:spPr>
          <a:xfrm>
            <a:off x="6510528" y="182880"/>
            <a:ext cx="190195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2E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00" dirty="0"/>
          </a:p>
        </p:txBody>
      </p:sp>
      <p:sp>
        <p:nvSpPr>
          <p:cNvPr id="10" name="tag_399"/>
          <p:cNvSpPr/>
          <p:nvPr/>
        </p:nvSpPr>
        <p:spPr>
          <a:xfrm>
            <a:off x="6510528" y="420624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1" name="logo_40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40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Exit · what can you remember?</a:t>
            </a:r>
            <a:endParaRPr lang="en-US" sz="800" dirty="0"/>
          </a:p>
        </p:txBody>
      </p:sp>
      <p:sp>
        <p:nvSpPr>
          <p:cNvPr id="13" name="bd_402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403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key words from today and what they mean.</a:t>
            </a:r>
            <a:endParaRPr lang="en-US" sz="1400" dirty="0"/>
          </a:p>
        </p:txBody>
      </p:sp>
      <p:sp>
        <p:nvSpPr>
          <p:cNvPr id="15" name="bd_404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405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things the doctors said about music.</a:t>
            </a:r>
            <a:endParaRPr lang="en-US" sz="1400" dirty="0"/>
          </a:p>
        </p:txBody>
      </p:sp>
      <p:sp>
        <p:nvSpPr>
          <p:cNvPr id="17" name="bd_406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407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thing you'll change when you study – and why.</a:t>
            </a:r>
            <a:endParaRPr lang="en-US" sz="1400" dirty="0"/>
          </a:p>
        </p:txBody>
      </p:sp>
      <p:sp>
        <p:nvSpPr>
          <p:cNvPr id="19" name="cd_408"/>
          <p:cNvSpPr/>
          <p:nvPr/>
        </p:nvSpPr>
        <p:spPr>
          <a:xfrm>
            <a:off x="5669280" y="1417320"/>
            <a:ext cx="3200400" cy="1453896"/>
          </a:xfrm>
          <a:prstGeom prst="roundRect">
            <a:avLst>
              <a:gd name="adj" fmla="val 880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409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410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411"/>
          <p:cNvSpPr/>
          <p:nvPr/>
        </p:nvSpPr>
        <p:spPr>
          <a:xfrm>
            <a:off x="6236208" y="1892808"/>
            <a:ext cx="2542032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a 5-song homework playlist: one sentence per song – why does it help?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80–100 words: music in class – yes or no? 2 reasons + an example.</a:t>
            </a:r>
            <a:endParaRPr lang="en-US" sz="900" dirty="0"/>
          </a:p>
        </p:txBody>
      </p:sp>
      <p:sp>
        <p:nvSpPr>
          <p:cNvPr id="23" name="st_412"/>
          <p:cNvSpPr/>
          <p:nvPr/>
        </p:nvSpPr>
        <p:spPr>
          <a:xfrm rot="-180000">
            <a:off x="5806440" y="3099816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Revise and Check 5 &amp; 6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1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1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415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41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417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41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41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420"/>
          <p:cNvSpPr/>
          <p:nvPr/>
        </p:nvSpPr>
        <p:spPr>
          <a:xfrm>
            <a:off x="6510528" y="566928"/>
            <a:ext cx="190195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2E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00" dirty="0"/>
          </a:p>
        </p:txBody>
      </p:sp>
      <p:sp>
        <p:nvSpPr>
          <p:cNvPr id="11" name="tag_421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850" dirty="0"/>
          </a:p>
        </p:txBody>
      </p:sp>
      <p:pic>
        <p:nvPicPr>
          <p:cNvPr id="12" name="logo_42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2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Review · what did you do today?</a:t>
            </a:r>
            <a:endParaRPr lang="en-US" sz="800" dirty="0"/>
          </a:p>
        </p:txBody>
      </p:sp>
      <p:sp>
        <p:nvSpPr>
          <p:cNvPr id="14" name="cd_424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425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🔁</a:t>
            </a:r>
            <a:endParaRPr lang="en-US" sz="1800" dirty="0"/>
          </a:p>
        </p:txBody>
      </p:sp>
      <p:sp>
        <p:nvSpPr>
          <p:cNvPr id="16" name="tt_426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Revised last lesson: -ing or to?</a:t>
            </a:r>
            <a:endParaRPr lang="en-US" sz="1350" dirty="0"/>
          </a:p>
        </p:txBody>
      </p:sp>
      <p:sp>
        <p:nvSpPr>
          <p:cNvPr id="17" name="R1_tk427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428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429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20" name="tt_430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8 words Italians often get wrong</a:t>
            </a:r>
            <a:endParaRPr lang="en-US" sz="1350" dirty="0"/>
          </a:p>
        </p:txBody>
      </p:sp>
      <p:sp>
        <p:nvSpPr>
          <p:cNvPr id="21" name="R2_tk431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432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433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4" name="tt_434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two articles: music and work</a:t>
            </a:r>
            <a:endParaRPr lang="en-US" sz="1350" dirty="0"/>
          </a:p>
        </p:txBody>
      </p:sp>
      <p:sp>
        <p:nvSpPr>
          <p:cNvPr id="25" name="R3_tk435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436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437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🗣️</a:t>
            </a:r>
            <a:endParaRPr lang="en-US" sz="1800" dirty="0"/>
          </a:p>
        </p:txBody>
      </p:sp>
      <p:sp>
        <p:nvSpPr>
          <p:cNvPr id="28" name="tt_438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Agreed on a music rule for a hospital</a:t>
            </a:r>
            <a:endParaRPr lang="en-US" sz="1350" dirty="0"/>
          </a:p>
        </p:txBody>
      </p:sp>
      <p:sp>
        <p:nvSpPr>
          <p:cNvPr id="29" name="R4_tk439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440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441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🎶</a:t>
            </a:r>
            <a:endParaRPr lang="en-US" sz="1800" dirty="0"/>
          </a:p>
        </p:txBody>
      </p:sp>
      <p:sp>
        <p:nvSpPr>
          <p:cNvPr id="32" name="tt_442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Made your own playlist and sold it</a:t>
            </a:r>
            <a:endParaRPr lang="en-US" sz="1350" dirty="0"/>
          </a:p>
        </p:txBody>
      </p:sp>
      <p:sp>
        <p:nvSpPr>
          <p:cNvPr id="33" name="R5_tk443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st_444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4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44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447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 you agree?</a:t>
            </a:r>
            <a:endParaRPr lang="en-US" sz="2500" dirty="0"/>
          </a:p>
        </p:txBody>
      </p:sp>
      <p:pic>
        <p:nvPicPr>
          <p:cNvPr id="6" name="brP_44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449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Agree or disagree? Say why – then argue the OTHER side!</a:t>
            </a:r>
            <a:endParaRPr lang="en-US" sz="1250" dirty="0"/>
          </a:p>
        </p:txBody>
      </p:sp>
      <p:sp>
        <p:nvSpPr>
          <p:cNvPr id="8" name="insIT_45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D'accordo o no? Spiega perché – poi difendi l'ALTRA posizione!</a:t>
            </a:r>
            <a:endParaRPr lang="en-US" sz="950" dirty="0"/>
          </a:p>
        </p:txBody>
      </p:sp>
      <p:sp>
        <p:nvSpPr>
          <p:cNvPr id="9" name="cmd_45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452"/>
          <p:cNvSpPr/>
          <p:nvPr/>
        </p:nvSpPr>
        <p:spPr>
          <a:xfrm>
            <a:off x="6510528" y="566928"/>
            <a:ext cx="190195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2E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👨‍👩‍👧 groups</a:t>
            </a:r>
            <a:endParaRPr lang="en-US" sz="900" dirty="0"/>
          </a:p>
        </p:txBody>
      </p:sp>
      <p:sp>
        <p:nvSpPr>
          <p:cNvPr id="11" name="tag_453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45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5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debate statements   ·   📖 SB p.63 · 5</a:t>
            </a:r>
            <a:endParaRPr lang="en-US" sz="800" dirty="0"/>
          </a:p>
        </p:txBody>
      </p:sp>
      <p:sp>
        <p:nvSpPr>
          <p:cNvPr id="14" name="st_456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457"/>
          <p:cNvSpPr/>
          <p:nvPr/>
        </p:nvSpPr>
        <p:spPr>
          <a:xfrm>
            <a:off x="32004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5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7" name="ih_459"/>
          <p:cNvSpPr/>
          <p:nvPr/>
        </p:nvSpPr>
        <p:spPr>
          <a:xfrm>
            <a:off x="886968" y="15087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8" name="il_460"/>
          <p:cNvSpPr/>
          <p:nvPr/>
        </p:nvSpPr>
        <p:spPr>
          <a:xfrm>
            <a:off x="886968" y="1892808"/>
            <a:ext cx="213055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couldn't agree more.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not so sure about that.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depends what you mean by…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Playing devil's advocate…</a:t>
            </a:r>
            <a:endParaRPr lang="en-US" sz="1150" dirty="0"/>
          </a:p>
        </p:txBody>
      </p:sp>
      <p:sp>
        <p:nvSpPr>
          <p:cNvPr id="19" name="R1_qb461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R1_sq462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music that means the most to you is the music you listen to as a teenager.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Definitely – those songs stay with you forever.</a:t>
            </a:r>
            <a:endParaRPr lang="en-US" sz="950" dirty="0"/>
          </a:p>
        </p:txBody>
      </p:sp>
      <p:sp>
        <p:nvSpPr>
          <p:cNvPr id="21" name="R2_qb463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R2_sq464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always enjoy music more when you listen to it live.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Not if the sound is terrible and you can't see!</a:t>
            </a:r>
            <a:endParaRPr lang="en-US" sz="950" dirty="0"/>
          </a:p>
        </p:txBody>
      </p:sp>
      <p:sp>
        <p:nvSpPr>
          <p:cNvPr id="23" name="R3_qb465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R3_sq466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Young people nowadays are not interested in opera and classical music.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Not true – lots of film music is classical!</a:t>
            </a:r>
            <a:endParaRPr lang="en-US" sz="950" dirty="0"/>
          </a:p>
        </p:txBody>
      </p:sp>
      <p:sp>
        <p:nvSpPr>
          <p:cNvPr id="25" name="R4_qb467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R4_sq468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All schoolchildren should be taught to play a musical instrument.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 – it's great for maths and concentration.</a:t>
            </a:r>
            <a:endParaRPr lang="en-US" sz="950" dirty="0"/>
          </a:p>
        </p:txBody>
      </p:sp>
      <p:sp>
        <p:nvSpPr>
          <p:cNvPr id="27" name="R5_qb469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R5_sq470"/>
          <p:cNvSpPr/>
          <p:nvPr/>
        </p:nvSpPr>
        <p:spPr>
          <a:xfrm>
            <a:off x="3675888" y="3831336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Anyone can learn to sing.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not so sure – I've heard my dad!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6B-2 Music while you work</dc:title>
  <dc:subject>PptxGenJS Presentation</dc:subject>
  <dc:creator>PptxGenJS</dc:creator>
  <cp:lastModifiedBy>PptxGenJS</cp:lastModifiedBy>
  <cp:revision>1</cp:revision>
  <dcterms:created xsi:type="dcterms:W3CDTF">2026-10-16T09:18:24Z</dcterms:created>
  <dcterms:modified xsi:type="dcterms:W3CDTF">2026-10-16T09:18:24Z</dcterms:modified>
</cp:coreProperties>
</file>