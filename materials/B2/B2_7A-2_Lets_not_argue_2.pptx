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Quick personal start. Board 2–3 'argument topics' for the role-play.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ACTIVE RECAP (3 min). Students make their own deduction + criticism about a flatmate first, then click. Check homework: Workbook 7A 1a–1d.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Speaking · Argument! (round 1) (5 min)
ROUND 1 (5 min). If you have the books, students read their role on Communication p.109 (A) / p.113 (B). Let them argue naturally – don't teach the tips yet. Stop after 3–4 minutes: did any pairs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Listening · how to argue better (4 min)
GIST (4 min). Teach mediate (TG). Play 7.7 once. Key (TG):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Listening · detail (6 min)
DETAIL (6 min). Play 7.7 again; pause now and then. One click per sentence: ✓/✗ + the psychologist's reason (TG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Speaking · Argument! (round 2) (5 min)
ROUND 2 (5 min). TG: new pairs, same A/B role, B starts. Monitor: are they using the ✓ phrases? Feedback: better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Grammar in context · would rather (4 min)
WOULD RATHER (4 min). Rules (SB): 1 would rather + infinitive without to = present/future preference (✗ I'd not rather → ✓ I'd rather not). 2 would rather + person + PAST tense = what we'd like another person to do (I'd rather you came on Saturday). Key (TG): 1 I'd rather go to the cinema 2 I'd rather not go to the party 3 Would you rather meet 4 I'd rather you didn't 5 I'd rather your parents stayed.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Speaking · would rather (4 min)
WOULD YOU RATHER (4 min). SB 4f – the 5 options are from the book; the answers are models. Correct would rather + infinitive (no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verbs often confused (4 min)
VERBS (4 min). Play 7.8, pausing after each extract. 1 is the example. Key (TG): 2 discussing 3 warning 4 arguing 5 advising 6 refusing.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Bank p.158 · verbs often confused (1) (4 min)
VB 1 (4 min). Verbs 1–10 of Vocabulary Bank p.158 (TG script 7.9). One click per sentence. Italian help: discutere = discuss (talk) / litigare =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Vocabulary Bank p.158 · verbs often confused (2) (4 min)
VB 2 (4 min). Selected sentences 11–28 (TG script 7.9). rob a person / place – steal a thing. lie (lay, lain) = put your body down; lay (laid) = put something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 personalise (4 min)
QUESTIONS (4 min). The first gap is the example. One click per gap. Key (TG): 1 mind, matter 2 remember, remind 3 robbed, stolen 4 advise, warn 5 prevent, avoid 6 borrow, lent 7 won, beaten. Then pairs ask and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Reading · How to win an online argument (1) (4 min)
READING 1 (4 min). Glossary: thread /θred/ = a series of connected messages on a message board. Part 2 next slide. TG suggested answers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Reading · How to win an online argument (2) (5 min)
READING 2 + POSTS (5 min). SB 6b. Pairs rewrite the highlighted phrase in each post (left side of each question); click for the TG's suggested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Exit · what can you remember? (2 min)
EXIT (2 min). Pairs, books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Writing · comment thread (7 min)
THREAD (7 min). TG: each student writes the statement number at the top of a paper and a short reply; pass to the next person 3 times; then read the whole thread – who argued most effectively, and why? Models on click are only starters.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Vocabulary · PCM 7A verbs often confused (5 min)
EXTRA (5 min). Items from the vocabulary photocopiable; item 1 is the PCM's example (wish). Answers checked against Vocabulary Bank p.158 meanings.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audio" Target="../media/media-4-5.mp3"/><Relationship Id="rId6" Type="http://schemas.microsoft.com/office/2007/relationships/media" Target="../media/media-4-5.mp3"/><Relationship Id="rId7" Type="http://schemas.openxmlformats.org/officeDocument/2006/relationships/image" Target="../media/image-4-7.png"/><Relationship Id="rId8" Type="http://schemas.openxmlformats.org/officeDocument/2006/relationships/audio" Target="../media/media-4-8.mp3"/><Relationship Id="rId9" Type="http://schemas.microsoft.com/office/2007/relationships/media" Target="../media/media-4-8.mp3"/><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audio" Target="../media/media-5-5.mp3"/><Relationship Id="rId6" Type="http://schemas.microsoft.com/office/2007/relationships/media" Target="../media/media-5-5.mp3"/><Relationship Id="rId7" Type="http://schemas.openxmlformats.org/officeDocument/2006/relationships/image" Target="../media/image-5-7.png"/><Relationship Id="rId8" Type="http://schemas.openxmlformats.org/officeDocument/2006/relationships/audio" Target="../media/media-5-8.mp3"/><Relationship Id="rId9" Type="http://schemas.microsoft.com/office/2007/relationships/media" Target="../media/media-5-8.mp3"/><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audio" Target="../media/media-9-5.mp3"/><Relationship Id="rId6" Type="http://schemas.microsoft.com/office/2007/relationships/media" Target="../media/media-9-5.mp3"/><Relationship Id="rId7" Type="http://schemas.openxmlformats.org/officeDocument/2006/relationships/image" Target="../media/image-9-7.png"/><Relationship Id="rId8" Type="http://schemas.openxmlformats.org/officeDocument/2006/relationships/audio" Target="../media/media-9-8.mp3"/><Relationship Id="rId9" Type="http://schemas.microsoft.com/office/2007/relationships/media" Target="../media/media-9-8.mp3"/><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audio" Target="../media/media-10-5.mp3"/><Relationship Id="rId6" Type="http://schemas.microsoft.com/office/2007/relationships/media" Target="../media/media-10-5.mp3"/><Relationship Id="rId7" Type="http://schemas.openxmlformats.org/officeDocument/2006/relationships/image" Target="../media/image-10-7.png"/><Relationship Id="rId8" Type="http://schemas.openxmlformats.org/officeDocument/2006/relationships/audio" Target="../media/media-10-8.mp3"/><Relationship Id="rId9" Type="http://schemas.microsoft.com/office/2007/relationships/media" Target="../media/media-10-8.mp3"/><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Upper-intermediate · SB pp.68–69 · VB p.158</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7A-2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Let's not argue (2)</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Arguing better · would rather · verbs often confused</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role-play an argument – twice</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a psychologist's tips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use would rather</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learn verbs often confused: rob / steal…</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how to win an online argument</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85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We argue about the washing-up. My sister usually wins because she shouts the loudest!</a:t>
            </a:r>
            <a:endParaRPr lang="en-US" sz="85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b2_7a_argument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What do you argue about at home? Who usually wins – and how?</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Revision · last lesson</a:t>
            </a:r>
            <a:endParaRPr lang="en-US" sz="800" dirty="0"/>
          </a:p>
        </p:txBody>
      </p:sp>
      <p:sp>
        <p:nvSpPr>
          <p:cNvPr id="12" name="pf_26"/>
          <p:cNvSpPr/>
          <p:nvPr/>
        </p:nvSpPr>
        <p:spPr>
          <a:xfrm rot="-120000">
            <a:off x="365760" y="1371600"/>
            <a:ext cx="2651760" cy="1645920"/>
          </a:xfrm>
          <a:prstGeom prst="roundRect">
            <a:avLst>
              <a:gd name="adj" fmla="val 944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b2_7a_flatmates_jpg_616x374_31.png">    </p:cNvPr>
          <p:cNvPicPr>
            <a:picLocks noChangeAspect="1"/>
          </p:cNvPicPr>
          <p:nvPr/>
        </p:nvPicPr>
        <p:blipFill>
          <a:blip r:embed="rId5"/>
          <a:stretch>
            <a:fillRect/>
          </a:stretch>
        </p:blipFill>
        <p:spPr>
          <a:xfrm rot="-120000">
            <a:off x="411480" y="1417320"/>
            <a:ext cx="2560320" cy="1554480"/>
          </a:xfrm>
          <a:prstGeom prst="rect">
            <a:avLst/>
          </a:prstGeom>
        </p:spPr>
      </p:pic>
      <p:sp>
        <p:nvSpPr>
          <p:cNvPr id="14" name="cd_28"/>
          <p:cNvSpPr/>
          <p:nvPr/>
        </p:nvSpPr>
        <p:spPr>
          <a:xfrm>
            <a:off x="320040" y="3200400"/>
            <a:ext cx="2743200" cy="1402080"/>
          </a:xfrm>
          <a:prstGeom prst="roundRect">
            <a:avLst>
              <a:gd name="adj" fmla="val 913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8351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7A part 1</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past modals · student house arguments</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758952"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rota</a:t>
            </a:r>
            <a:endParaRPr lang="en-US" sz="1200" dirty="0"/>
          </a:p>
        </p:txBody>
      </p:sp>
      <p:sp>
        <p:nvSpPr>
          <p:cNvPr id="20" name="w_34"/>
          <p:cNvSpPr/>
          <p:nvPr/>
        </p:nvSpPr>
        <p:spPr>
          <a:xfrm>
            <a:off x="4096512" y="1783080"/>
            <a:ext cx="1193292"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ear plugs</a:t>
            </a:r>
            <a:endParaRPr lang="en-US" sz="1200" dirty="0"/>
          </a:p>
        </p:txBody>
      </p:sp>
      <p:sp>
        <p:nvSpPr>
          <p:cNvPr id="21" name="w_35"/>
          <p:cNvSpPr/>
          <p:nvPr/>
        </p:nvSpPr>
        <p:spPr>
          <a:xfrm>
            <a:off x="5381244" y="1783080"/>
            <a:ext cx="1801368"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label your stuff</a:t>
            </a:r>
            <a:endParaRPr lang="en-US" sz="1200" dirty="0"/>
          </a:p>
        </p:txBody>
      </p:sp>
      <p:sp>
        <p:nvSpPr>
          <p:cNvPr id="22" name="w_36"/>
          <p:cNvSpPr/>
          <p:nvPr/>
        </p:nvSpPr>
        <p:spPr>
          <a:xfrm>
            <a:off x="3246120" y="2185416"/>
            <a:ext cx="2409444"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contribute to the bills</a:t>
            </a:r>
            <a:endParaRPr lang="en-US" sz="1200" dirty="0"/>
          </a:p>
        </p:txBody>
      </p:sp>
      <p:sp>
        <p:nvSpPr>
          <p:cNvPr id="23" name="w_37"/>
          <p:cNvSpPr/>
          <p:nvPr/>
        </p:nvSpPr>
        <p:spPr>
          <a:xfrm>
            <a:off x="5747004" y="2185416"/>
            <a:ext cx="1280160"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take turns</a:t>
            </a:r>
            <a:endParaRPr lang="en-US" sz="1200" dirty="0"/>
          </a:p>
        </p:txBody>
      </p:sp>
      <p:sp>
        <p:nvSpPr>
          <p:cNvPr id="24" name="lv_38"/>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5" name="lv_39"/>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6" name="lv_40"/>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27" name="cd_41"/>
          <p:cNvSpPr/>
          <p:nvPr/>
        </p:nvSpPr>
        <p:spPr>
          <a:xfrm>
            <a:off x="3246120" y="3172968"/>
            <a:ext cx="2756916" cy="1581912"/>
          </a:xfrm>
          <a:prstGeom prst="roundRect">
            <a:avLst>
              <a:gd name="adj" fmla="val 80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8" name="rh_42"/>
          <p:cNvSpPr/>
          <p:nvPr/>
        </p:nvSpPr>
        <p:spPr>
          <a:xfrm>
            <a:off x="3337560" y="3246120"/>
            <a:ext cx="2574036"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deduction</a:t>
            </a:r>
            <a:endParaRPr lang="en-US" sz="1100" dirty="0"/>
          </a:p>
        </p:txBody>
      </p:sp>
      <p:sp>
        <p:nvSpPr>
          <p:cNvPr id="29" name="rf_43"/>
          <p:cNvSpPr/>
          <p:nvPr/>
        </p:nvSpPr>
        <p:spPr>
          <a:xfrm>
            <a:off x="3383280" y="3593592"/>
            <a:ext cx="2482596" cy="292608"/>
          </a:xfrm>
          <a:prstGeom prst="rect">
            <a:avLst/>
          </a:prstGeom>
          <a:noFill/>
          <a:ln/>
        </p:spPr>
        <p:txBody>
          <a:bodyPr wrap="square" lIns="0" tIns="0" rIns="0" bIns="0" rtlCol="0" anchor="ctr">
            <a:normAutofit/>
          </a:bodyPr>
          <a:lstStyle/>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Make a sure ✓ · an impossible ✗</a:t>
            </a:r>
            <a:endParaRPr lang="en-US" sz="1000" dirty="0"/>
          </a:p>
        </p:txBody>
      </p:sp>
      <p:sp>
        <p:nvSpPr>
          <p:cNvPr id="30" name="R1_rl44"/>
          <p:cNvSpPr/>
          <p:nvPr/>
        </p:nvSpPr>
        <p:spPr>
          <a:xfrm>
            <a:off x="3383280"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Jack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must have used</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the milk.</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It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can't have been</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me.</a:t>
            </a:r>
            <a:endParaRPr lang="en-US" sz="1100" dirty="0"/>
          </a:p>
        </p:txBody>
      </p:sp>
      <p:sp>
        <p:nvSpPr>
          <p:cNvPr id="31" name="cd_45"/>
          <p:cNvSpPr/>
          <p:nvPr/>
        </p:nvSpPr>
        <p:spPr>
          <a:xfrm>
            <a:off x="6112764" y="3172968"/>
            <a:ext cx="2756916" cy="1581912"/>
          </a:xfrm>
          <a:prstGeom prst="roundRect">
            <a:avLst>
              <a:gd name="adj" fmla="val 80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2" name="rh_46"/>
          <p:cNvSpPr/>
          <p:nvPr/>
        </p:nvSpPr>
        <p:spPr>
          <a:xfrm>
            <a:off x="6204204" y="3246120"/>
            <a:ext cx="2574036" cy="310896"/>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criticism</a:t>
            </a:r>
            <a:endParaRPr lang="en-US" sz="1100" dirty="0"/>
          </a:p>
        </p:txBody>
      </p:sp>
      <p:sp>
        <p:nvSpPr>
          <p:cNvPr id="33" name="rf_47"/>
          <p:cNvSpPr/>
          <p:nvPr/>
        </p:nvSpPr>
        <p:spPr>
          <a:xfrm>
            <a:off x="6249924" y="3593592"/>
            <a:ext cx="2482596" cy="292608"/>
          </a:xfrm>
          <a:prstGeom prst="rect">
            <a:avLst/>
          </a:prstGeom>
          <a:noFill/>
          <a:ln/>
        </p:spPr>
        <p:txBody>
          <a:bodyPr wrap="square" lIns="0" tIns="0" rIns="0" bIns="0" rtlCol="0" anchor="ctr">
            <a:normAutofit/>
          </a:bodyPr>
          <a:lstStyle/>
          <a:p>
            <a:pPr indent="0" marL="0">
              <a:buNone/>
            </a:pPr>
            <a:r>
              <a:rPr lang="en-US" sz="1050" i="1" dirty="0">
                <a:solidFill>
                  <a:srgbClr val="5B6785"/>
                </a:solidFill>
                <a:latin typeface="Segoe UI Semibold" pitchFamily="34" charset="0"/>
                <a:ea typeface="Segoe UI Semibold" pitchFamily="34" charset="-122"/>
                <a:cs typeface="Segoe UI Semibold" pitchFamily="34" charset="-120"/>
              </a:rPr>
              <a:t>Make a the right thing wasn't done</a:t>
            </a:r>
            <a:endParaRPr lang="en-US" sz="1050" dirty="0"/>
          </a:p>
        </p:txBody>
      </p:sp>
      <p:sp>
        <p:nvSpPr>
          <p:cNvPr id="34" name="R2_rl48"/>
          <p:cNvSpPr/>
          <p:nvPr/>
        </p:nvSpPr>
        <p:spPr>
          <a:xfrm>
            <a:off x="6249924"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You </a:t>
            </a:r>
            <a:pPr indent="0" marL="0">
              <a:spcAft>
                <a:spcPts val="300"/>
              </a:spcAft>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should have put</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your name on it.</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He </a:t>
            </a:r>
            <a:pPr indent="0" marL="0">
              <a:spcAft>
                <a:spcPts val="300"/>
              </a:spcAft>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shouldn't have taken</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it.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51"/>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Argument! (round 1)</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5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Role-play! A and B share a flat. Say what has been annoying you.</a:t>
            </a:r>
            <a:endParaRPr lang="en-US" sz="1100" dirty="0"/>
          </a:p>
        </p:txBody>
      </p:sp>
      <p:sp>
        <p:nvSpPr>
          <p:cNvPr id="8" name="insIT_5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Role-play! A e B condividono un appartamento. Dite cosa vi dà fastidio.</a:t>
            </a:r>
            <a:endParaRPr lang="en-US" sz="950" dirty="0"/>
          </a:p>
        </p:txBody>
      </p:sp>
      <p:sp>
        <p:nvSpPr>
          <p:cNvPr id="9" name="note_5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150" dirty="0"/>
          </a:p>
        </p:txBody>
      </p:sp>
      <p:pic>
        <p:nvPicPr>
          <p:cNvPr id="10" name="logo_5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Speaking · Argument! (round 1)   ·   📖 SB p.68 · 4a · Communication Argument! A p.109, B p.113</a:t>
            </a:r>
            <a:endParaRPr lang="en-US" sz="800" dirty="0"/>
          </a:p>
        </p:txBody>
      </p:sp>
      <p:sp>
        <p:nvSpPr>
          <p:cNvPr id="12" name="pf_58"/>
          <p:cNvSpPr/>
          <p:nvPr/>
        </p:nvSpPr>
        <p:spPr>
          <a:xfrm rot="-120000">
            <a:off x="804672" y="1371600"/>
            <a:ext cx="1819656"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59" descr="/home/claude/lls-course/v2/cache/b2_7a_argument_jpg_416x297_31.png">    </p:cNvPr>
          <p:cNvPicPr>
            <a:picLocks noChangeAspect="1"/>
          </p:cNvPicPr>
          <p:nvPr/>
        </p:nvPicPr>
        <p:blipFill>
          <a:blip r:embed="rId5"/>
          <a:stretch>
            <a:fillRect/>
          </a:stretch>
        </p:blipFill>
        <p:spPr>
          <a:xfrm rot="-120000">
            <a:off x="850392" y="1417320"/>
            <a:ext cx="1728216" cy="1234440"/>
          </a:xfrm>
          <a:prstGeom prst="rect">
            <a:avLst/>
          </a:prstGeom>
        </p:spPr>
      </p:pic>
      <p:sp>
        <p:nvSpPr>
          <p:cNvPr id="14" name="cd_60"/>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63"/>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Look, you always…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And another thing…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It's not my fault!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Why do you never…?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OK, so what can we do?</a:t>
            </a:r>
            <a:endParaRPr lang="en-US" sz="1150" dirty="0"/>
          </a:p>
        </p:txBody>
      </p:sp>
      <p:sp>
        <p:nvSpPr>
          <p:cNvPr id="18" name="R1_qb64"/>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65"/>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The situation: You share a flat with someone you didn't know before. At first, you got on really well, but recently there have been several things that have been annoying you, which you've both avoided talking about. Now you think the time has come to have a talk about them.</a:t>
            </a:r>
            <a:endParaRPr lang="en-US" sz="7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(SB p.68 · 4a)</a:t>
            </a:r>
            <a:endParaRPr lang="en-US" sz="700" dirty="0"/>
          </a:p>
        </p:txBody>
      </p:sp>
      <p:sp>
        <p:nvSpPr>
          <p:cNvPr id="20" name="R2_qb66"/>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67"/>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start. Tell B what has been annoying you (housework, noise, bills, visitors…).</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You never buy toilet paper!</a:t>
            </a:r>
            <a:endParaRPr lang="en-US" sz="900" dirty="0"/>
          </a:p>
        </p:txBody>
      </p:sp>
      <p:sp>
        <p:nvSpPr>
          <p:cNvPr id="22" name="R3_qb68"/>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69"/>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B: defend yourself – and say what annoys YOU.</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Well, you play music at 2 a.m.!</a:t>
            </a:r>
            <a:endParaRPr lang="en-US" sz="900" dirty="0"/>
          </a:p>
        </p:txBody>
      </p:sp>
      <p:sp>
        <p:nvSpPr>
          <p:cNvPr id="24" name="R4_qb70"/>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71"/>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Try to agree on a solution for each problem.</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OK – a rota for the shopping?</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7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7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Two general points</a:t>
            </a:r>
            <a:endParaRPr lang="en-US" sz="2500" dirty="0"/>
          </a:p>
        </p:txBody>
      </p:sp>
      <p:pic>
        <p:nvPicPr>
          <p:cNvPr id="6" name="brP_75"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76"/>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Listen to a psychologist. Which TWO general points does she make?</a:t>
            </a:r>
            <a:endParaRPr lang="en-US" sz="1100" dirty="0"/>
          </a:p>
        </p:txBody>
      </p:sp>
      <p:sp>
        <p:nvSpPr>
          <p:cNvPr id="8" name="insIT_7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una psicologa. Quali DUE punti generali fa?</a:t>
            </a:r>
            <a:endParaRPr lang="en-US" sz="950" dirty="0"/>
          </a:p>
        </p:txBody>
      </p:sp>
      <p:sp>
        <p:nvSpPr>
          <p:cNvPr id="9" name="note_7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Listening · how to argue better   ·   📖 SB p.68 · 4b · audio 7.7 (script SB pp.127–128)</a:t>
            </a:r>
            <a:endParaRPr lang="en-US" sz="800" dirty="0"/>
          </a:p>
        </p:txBody>
      </p:sp>
      <p:sp>
        <p:nvSpPr>
          <p:cNvPr id="12" name="ap_81"/>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7.7  ·  play once</a:t>
            </a:r>
            <a:endParaRPr lang="en-US" sz="1100" dirty="0"/>
          </a:p>
        </p:txBody>
      </p:sp>
      <p:sp>
        <p:nvSpPr>
          <p:cNvPr id="13" name="ah_82"/>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83"/>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84"/>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85" descr="/home/claude/lls-course/v2/cache/b2_7a_argument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19" name="cd_86"/>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87"/>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88"/>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Tick 2 of the 4!</a:t>
            </a:r>
            <a:endParaRPr lang="en-US" sz="1200" dirty="0"/>
          </a:p>
        </p:txBody>
      </p:sp>
      <p:sp>
        <p:nvSpPr>
          <p:cNvPr id="22" name="gq_89"/>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Never avoid an argument by refusing to talk.</a:t>
            </a:r>
            <a:endParaRPr lang="en-US" sz="1200" dirty="0"/>
          </a:p>
        </p:txBody>
      </p:sp>
      <p:sp>
        <p:nvSpPr>
          <p:cNvPr id="23" name="R1_chip90"/>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4" name="gq_91"/>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Try to avoid having an argument in the first place.</a:t>
            </a:r>
            <a:endParaRPr lang="en-US" sz="1200" dirty="0"/>
          </a:p>
        </p:txBody>
      </p:sp>
      <p:sp>
        <p:nvSpPr>
          <p:cNvPr id="25" name="R2_chip92"/>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6" name="gq_93"/>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It isn't a bad thing to argue from time to time.</a:t>
            </a:r>
            <a:endParaRPr lang="en-US" sz="1200" dirty="0"/>
          </a:p>
        </p:txBody>
      </p:sp>
      <p:sp>
        <p:nvSpPr>
          <p:cNvPr id="27" name="R3_chip94"/>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8" name="gq_95"/>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Always involve another person to mediate.</a:t>
            </a:r>
            <a:endParaRPr lang="en-US" sz="1200" dirty="0"/>
          </a:p>
        </p:txBody>
      </p:sp>
      <p:sp>
        <p:nvSpPr>
          <p:cNvPr id="29" name="R4_chip96"/>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audio>
              <p:cMediaNode vol="80000">
                <p:cTn id="33" fill="hold" display="0">
                  <p:stCondLst>
                    <p:cond delay="indefinite"/>
                  </p:stCondLst>
                  <p:endCondLst>
                    <p:cond evt="onStopAudio" delay="0">
                      <p:tgtEl>
                        <p:sldTgt/>
                      </p:tgtEl>
                    </p:cond>
                  </p:endCondLst>
                </p:cTn>
                <p:tgtEl>
                  <p:spTgt spid="14"/>
                </p:tgtEl>
              </p:cMediaNode>
            </p:audio>
            <p:audio>
              <p:cMediaNode vol="80000">
                <p:cTn id="34"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98"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99"/>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Right or wrong?</a:t>
            </a:r>
            <a:endParaRPr lang="en-US" sz="2500" dirty="0"/>
          </a:p>
        </p:txBody>
      </p:sp>
      <p:pic>
        <p:nvPicPr>
          <p:cNvPr id="6" name="brP_100"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101"/>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again. Should you say it (✓) or not (✗)? Why?</a:t>
            </a:r>
            <a:endParaRPr lang="en-US" sz="1250" dirty="0"/>
          </a:p>
        </p:txBody>
      </p:sp>
      <p:sp>
        <p:nvSpPr>
          <p:cNvPr id="8" name="insIT_1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di nuovo. Dovresti dirlo (✓) o no (✗)? Perché?</a:t>
            </a:r>
            <a:endParaRPr lang="en-US" sz="950" dirty="0"/>
          </a:p>
        </p:txBody>
      </p:sp>
      <p:sp>
        <p:nvSpPr>
          <p:cNvPr id="9" name="note_10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Controlled practice</a:t>
            </a:r>
            <a:endParaRPr lang="en-US" sz="1150" dirty="0"/>
          </a:p>
        </p:txBody>
      </p:sp>
      <p:pic>
        <p:nvPicPr>
          <p:cNvPr id="10" name="logo_1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Listening · detail   ·   📖 SB p.68 · 4c (TG key, script 7.7)</a:t>
            </a:r>
            <a:endParaRPr lang="en-US" sz="800" dirty="0"/>
          </a:p>
        </p:txBody>
      </p:sp>
      <p:sp>
        <p:nvSpPr>
          <p:cNvPr id="12" name="ap_106"/>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7.7</a:t>
            </a:r>
            <a:endParaRPr lang="en-US" sz="1100" dirty="0"/>
          </a:p>
        </p:txBody>
      </p:sp>
      <p:sp>
        <p:nvSpPr>
          <p:cNvPr id="13" name="ah_107"/>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108"/>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bd_109"/>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110"/>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'Look, you're not doing your share of the housework.'</a:t>
            </a:r>
            <a:endParaRPr lang="en-US" sz="900" dirty="0"/>
          </a:p>
        </p:txBody>
      </p:sp>
      <p:sp>
        <p:nvSpPr>
          <p:cNvPr id="19" name="R1_chip111"/>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you're beginning the conversation in a very negative way.</a:t>
            </a:r>
            <a:endParaRPr lang="en-US" sz="1100" dirty="0"/>
          </a:p>
        </p:txBody>
      </p:sp>
      <p:sp>
        <p:nvSpPr>
          <p:cNvPr id="20" name="bd_112"/>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113"/>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'I think we should have another look at how we divide up the housework.'</a:t>
            </a:r>
            <a:endParaRPr lang="en-US" sz="700" dirty="0"/>
          </a:p>
        </p:txBody>
      </p:sp>
      <p:sp>
        <p:nvSpPr>
          <p:cNvPr id="22" name="R2_chip114"/>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it's more constructive.</a:t>
            </a:r>
            <a:endParaRPr lang="en-US" sz="1100" dirty="0"/>
          </a:p>
        </p:txBody>
      </p:sp>
      <p:sp>
        <p:nvSpPr>
          <p:cNvPr id="23" name="bd_115"/>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116"/>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'Sorry, it was my fault.'</a:t>
            </a:r>
            <a:endParaRPr lang="en-US" sz="900" dirty="0"/>
          </a:p>
        </p:txBody>
      </p:sp>
      <p:sp>
        <p:nvSpPr>
          <p:cNvPr id="25" name="R3_chip117"/>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if you're the person who's in the wrong, just admit it.</a:t>
            </a:r>
            <a:endParaRPr lang="en-US" sz="1100" dirty="0"/>
          </a:p>
        </p:txBody>
      </p:sp>
      <p:sp>
        <p:nvSpPr>
          <p:cNvPr id="26" name="bd_118"/>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119"/>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'You always forget our wedding anniversary.'</a:t>
            </a:r>
            <a:endParaRPr lang="en-US" sz="900" dirty="0"/>
          </a:p>
        </p:txBody>
      </p:sp>
      <p:sp>
        <p:nvSpPr>
          <p:cNvPr id="28" name="R4_chip120"/>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it may only have happened once; it makes the other person very defensive.</a:t>
            </a:r>
            <a:endParaRPr lang="en-US" sz="1100" dirty="0"/>
          </a:p>
        </p:txBody>
      </p:sp>
      <p:sp>
        <p:nvSpPr>
          <p:cNvPr id="29" name="bd_121"/>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122"/>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'I didn't mean to shout. I'd rather we didn't argue, but this is very important to me.'</a:t>
            </a:r>
            <a:endParaRPr lang="en-US" sz="700" dirty="0"/>
          </a:p>
        </p:txBody>
      </p:sp>
      <p:sp>
        <p:nvSpPr>
          <p:cNvPr id="31" name="R5_chip123"/>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if you talk calmly and quietly, the other person will be more responsive.</a:t>
            </a:r>
            <a:endParaRPr lang="en-US" sz="1100" dirty="0"/>
          </a:p>
        </p:txBody>
      </p:sp>
      <p:sp>
        <p:nvSpPr>
          <p:cNvPr id="32" name="bd_124"/>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125"/>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'And another thing: I was really disappointed with my birthday present.'</a:t>
            </a:r>
            <a:endParaRPr lang="en-US" sz="700" dirty="0"/>
          </a:p>
        </p:txBody>
      </p:sp>
      <p:sp>
        <p:nvSpPr>
          <p:cNvPr id="34" name="R6_chip126"/>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concentrate on solving the problem you're having now.</a:t>
            </a:r>
            <a:endParaRPr lang="en-US" sz="1100" dirty="0"/>
          </a:p>
        </p:txBody>
      </p:sp>
      <p:sp>
        <p:nvSpPr>
          <p:cNvPr id="35" name="bd_127"/>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6" name="q_128"/>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750" b="1" dirty="0">
                <a:solidFill>
                  <a:srgbClr val="1B2559"/>
                </a:solidFill>
                <a:latin typeface="Segoe UI Semibold" pitchFamily="34" charset="0"/>
                <a:ea typeface="Segoe UI Semibold" pitchFamily="34" charset="-122"/>
                <a:cs typeface="Segoe UI Semibold" pitchFamily="34" charset="-120"/>
              </a:rPr>
              <a:t>'I'd rather talk about this tomorrow, when we've both calmed down.'</a:t>
            </a:r>
            <a:endParaRPr lang="en-US" sz="750" dirty="0"/>
          </a:p>
        </p:txBody>
      </p:sp>
      <p:sp>
        <p:nvSpPr>
          <p:cNvPr id="37" name="R7_chip129"/>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this can stop an argument that's getting out of control ('time out').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14"/>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4"/>
                                        </p:tgtEl>
                                      </p:cBhvr>
                                    </p:cmd>
                                  </p:childTnLst>
                                </p:cTn>
                              </p:par>
                            </p:childTnLst>
                          </p:cTn>
                        </p:par>
                      </p:childTnLst>
                    </p:cTn>
                  </p:par>
                </p:childTnLst>
              </p:cTn>
              <p:nextCondLst>
                <p:cond evt="onClick" delay="0">
                  <p:tgtEl>
                    <p:spTgt spid="14"/>
                  </p:tgtEl>
                </p:cond>
              </p:nextCondLst>
            </p:seq>
            <p:seq concurrent="1" nextAc="seek">
              <p:cTn id="43" restart="whenNotActive" fill="hold" evtFilter="cancelBubble" nodeType="interactiveSeq">
                <p:stCondLst>
                  <p:cond evt="onClick" delay="0">
                    <p:tgtEl>
                      <p:spTgt spid="16"/>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6"/>
                                        </p:tgtEl>
                                      </p:cBhvr>
                                    </p:cmd>
                                  </p:childTnLst>
                                </p:cTn>
                              </p:par>
                            </p:childTnLst>
                          </p:cTn>
                        </p:par>
                      </p:childTnLst>
                    </p:cTn>
                  </p:par>
                </p:childTnLst>
              </p:cTn>
              <p:nextCondLst>
                <p:cond evt="onClick" delay="0">
                  <p:tgtEl>
                    <p:spTgt spid="16"/>
                  </p:tgtEl>
                </p:cond>
              </p:nextCondLst>
            </p:seq>
            <p:audio>
              <p:cMediaNode vol="80000">
                <p:cTn id="48" fill="hold" display="0">
                  <p:stCondLst>
                    <p:cond delay="indefinite"/>
                  </p:stCondLst>
                  <p:endCondLst>
                    <p:cond evt="onStopAudio" delay="0">
                      <p:tgtEl>
                        <p:sldTgt/>
                      </p:tgtEl>
                    </p:cond>
                  </p:endCondLst>
                </p:cTn>
                <p:tgtEl>
                  <p:spTgt spid="14"/>
                </p:tgtEl>
              </p:cMediaNode>
            </p:audio>
            <p:audio>
              <p:cMediaNode vol="80000">
                <p:cTn id="49"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30"/>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31"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32"/>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Argument! (round 2)</a:t>
            </a:r>
            <a:endParaRPr lang="en-US" sz="2500" dirty="0"/>
          </a:p>
        </p:txBody>
      </p:sp>
      <p:pic>
        <p:nvPicPr>
          <p:cNvPr id="6" name="brP_133"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34"/>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New partner – same role. Argue again, the psychologist's way!</a:t>
            </a:r>
            <a:endParaRPr lang="en-US" sz="1100" dirty="0"/>
          </a:p>
        </p:txBody>
      </p:sp>
      <p:sp>
        <p:nvSpPr>
          <p:cNvPr id="8" name="insIT_13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Nuovo compagno – stesso ruolo. Discutete di nuovo, come dice la psicologa!</a:t>
            </a:r>
            <a:endParaRPr lang="en-US" sz="950" dirty="0"/>
          </a:p>
        </p:txBody>
      </p:sp>
      <p:sp>
        <p:nvSpPr>
          <p:cNvPr id="9" name="note_13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150" dirty="0"/>
          </a:p>
        </p:txBody>
      </p:sp>
      <p:pic>
        <p:nvPicPr>
          <p:cNvPr id="10" name="logo_13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3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Speaking · Argument! (round 2)   ·   📖 SB p.68 · 4d</a:t>
            </a:r>
            <a:endParaRPr lang="en-US" sz="800" dirty="0"/>
          </a:p>
        </p:txBody>
      </p:sp>
      <p:sp>
        <p:nvSpPr>
          <p:cNvPr id="12" name="cd_139"/>
          <p:cNvSpPr/>
          <p:nvPr/>
        </p:nvSpPr>
        <p:spPr>
          <a:xfrm>
            <a:off x="320040" y="1417320"/>
            <a:ext cx="2788920" cy="2700528"/>
          </a:xfrm>
          <a:prstGeom prst="roundRect">
            <a:avLst>
              <a:gd name="adj" fmla="val 474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4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41"/>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Say this!</a:t>
            </a:r>
            <a:endParaRPr lang="en-US" sz="1300" dirty="0"/>
          </a:p>
        </p:txBody>
      </p:sp>
      <p:sp>
        <p:nvSpPr>
          <p:cNvPr id="15" name="il_142"/>
          <p:cNvSpPr/>
          <p:nvPr/>
        </p:nvSpPr>
        <p:spPr>
          <a:xfrm>
            <a:off x="886968" y="1911096"/>
            <a:ext cx="2130552" cy="21336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think we should have another look at…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Sorry, it was my fault.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didn't mean to shout. I'd rather we didn't argue, but…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I'd rather talk about this tomorrow, when we've both calmed down.</a:t>
            </a:r>
            <a:endParaRPr lang="en-US" sz="1150" dirty="0"/>
          </a:p>
        </p:txBody>
      </p:sp>
      <p:sp>
        <p:nvSpPr>
          <p:cNvPr id="16" name="R1_qb143"/>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144"/>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B starts this time.</a:t>
            </a:r>
            <a:endParaRPr lang="en-US" sz="1350" dirty="0"/>
          </a:p>
          <a:p>
            <a:pPr indent="0" marL="0">
              <a:buNone/>
            </a:pPr>
            <a:r>
              <a:rPr lang="en-US" sz="1100" i="1" dirty="0">
                <a:solidFill>
                  <a:srgbClr val="5B6785"/>
                </a:solidFill>
                <a:latin typeface="Segoe UI Semibold" pitchFamily="34" charset="0"/>
                <a:ea typeface="Segoe UI Semibold" pitchFamily="34" charset="-122"/>
                <a:cs typeface="Segoe UI Semibold" pitchFamily="34" charset="-120"/>
              </a:rPr>
              <a:t>e.g. I think we should have another look at the shopping…</a:t>
            </a:r>
            <a:endParaRPr lang="en-US" sz="1350" dirty="0"/>
          </a:p>
        </p:txBody>
      </p:sp>
      <p:sp>
        <p:nvSpPr>
          <p:cNvPr id="18" name="R2_qb145"/>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146"/>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No 'always' or 'never'. One problem at a time!</a:t>
            </a:r>
            <a:endParaRPr lang="en-US" sz="1350" dirty="0"/>
          </a:p>
          <a:p>
            <a:pPr indent="0" marL="0">
              <a:buNone/>
            </a:pPr>
            <a:r>
              <a:rPr lang="en-US" sz="1100" i="1" dirty="0">
                <a:solidFill>
                  <a:srgbClr val="5B6785"/>
                </a:solidFill>
                <a:latin typeface="Segoe UI Semibold" pitchFamily="34" charset="0"/>
                <a:ea typeface="Segoe UI Semibold" pitchFamily="34" charset="-122"/>
                <a:cs typeface="Segoe UI Semibold" pitchFamily="34" charset="-120"/>
              </a:rPr>
              <a:t>e.g. Can we talk about the noise first?</a:t>
            </a:r>
            <a:endParaRPr lang="en-US" sz="1350" dirty="0"/>
          </a:p>
        </p:txBody>
      </p:sp>
      <p:sp>
        <p:nvSpPr>
          <p:cNvPr id="20" name="R3_qb147"/>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148"/>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Did you solve your problems better this time? Tell the class.</a:t>
            </a:r>
            <a:endParaRPr lang="en-US" sz="115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Yes – we made a rota!</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9"/>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50"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151"/>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I'd rather…</a:t>
            </a:r>
            <a:endParaRPr lang="en-US" sz="2500" dirty="0"/>
          </a:p>
        </p:txBody>
      </p:sp>
      <p:pic>
        <p:nvPicPr>
          <p:cNvPr id="6" name="brP_152"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153"/>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with would rather – then click!</a:t>
            </a:r>
            <a:endParaRPr lang="en-US" sz="1250" dirty="0"/>
          </a:p>
        </p:txBody>
      </p:sp>
      <p:sp>
        <p:nvSpPr>
          <p:cNvPr id="8" name="insIT_15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con would rather – poi clicca!</a:t>
            </a:r>
            <a:endParaRPr lang="en-US" sz="950" dirty="0"/>
          </a:p>
        </p:txBody>
      </p:sp>
      <p:sp>
        <p:nvSpPr>
          <p:cNvPr id="9" name="note_15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5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5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Grammar in context · would rather   ·   📖 SB p.68 · 4e Grammar in context (TG key)</a:t>
            </a:r>
            <a:endParaRPr lang="en-US" sz="800" dirty="0"/>
          </a:p>
        </p:txBody>
      </p:sp>
      <p:sp>
        <p:nvSpPr>
          <p:cNvPr id="12" name="cvl_158"/>
          <p:cNvSpPr/>
          <p:nvPr/>
        </p:nvSpPr>
        <p:spPr>
          <a:xfrm>
            <a:off x="320040" y="14173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I'd prefer to go to the cinema than to a club.</a:t>
            </a:r>
            <a:endParaRPr lang="en-US" sz="1150" dirty="0"/>
          </a:p>
        </p:txBody>
      </p:sp>
      <p:sp>
        <p:nvSpPr>
          <p:cNvPr id="13" name="cva_159"/>
          <p:cNvSpPr/>
          <p:nvPr/>
        </p:nvSpPr>
        <p:spPr>
          <a:xfrm>
            <a:off x="3364992" y="14173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prefer to</a:t>
            </a:r>
            <a:endParaRPr lang="en-US" sz="1000" dirty="0"/>
          </a:p>
        </p:txBody>
      </p:sp>
      <p:sp>
        <p:nvSpPr>
          <p:cNvPr id="14" name="R1_cvb160"/>
          <p:cNvSpPr/>
          <p:nvPr/>
        </p:nvSpPr>
        <p:spPr>
          <a:xfrm>
            <a:off x="4443984" y="14173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rather + inf.</a:t>
            </a:r>
            <a:endParaRPr lang="en-US" sz="1000" dirty="0"/>
          </a:p>
        </p:txBody>
      </p:sp>
      <p:sp>
        <p:nvSpPr>
          <p:cNvPr id="15" name="R1_cvr161"/>
          <p:cNvSpPr/>
          <p:nvPr/>
        </p:nvSpPr>
        <p:spPr>
          <a:xfrm>
            <a:off x="5541264" y="14173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algn="ctr" indent="0" marL="0">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'd rather go</a:t>
            </a:r>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 to the cinema than to a club.</a:t>
            </a:r>
            <a:endParaRPr lang="en-US" sz="1150" dirty="0"/>
          </a:p>
        </p:txBody>
      </p:sp>
      <p:sp>
        <p:nvSpPr>
          <p:cNvPr id="16" name="cvl_162"/>
          <p:cNvSpPr/>
          <p:nvPr/>
        </p:nvSpPr>
        <p:spPr>
          <a:xfrm>
            <a:off x="320040" y="192024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I'd prefer not to go to the party if my ex is going to be there.</a:t>
            </a:r>
            <a:endParaRPr lang="en-US" sz="1150" dirty="0"/>
          </a:p>
        </p:txBody>
      </p:sp>
      <p:sp>
        <p:nvSpPr>
          <p:cNvPr id="17" name="cva_163"/>
          <p:cNvSpPr/>
          <p:nvPr/>
        </p:nvSpPr>
        <p:spPr>
          <a:xfrm>
            <a:off x="3364992" y="192024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prefer not to</a:t>
            </a:r>
            <a:endParaRPr lang="en-US" sz="1000" dirty="0"/>
          </a:p>
        </p:txBody>
      </p:sp>
      <p:sp>
        <p:nvSpPr>
          <p:cNvPr id="18" name="R2_cvb164"/>
          <p:cNvSpPr/>
          <p:nvPr/>
        </p:nvSpPr>
        <p:spPr>
          <a:xfrm>
            <a:off x="4443984" y="192024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rather not</a:t>
            </a:r>
            <a:endParaRPr lang="en-US" sz="1000" dirty="0"/>
          </a:p>
        </p:txBody>
      </p:sp>
      <p:sp>
        <p:nvSpPr>
          <p:cNvPr id="19" name="R2_cvr165"/>
          <p:cNvSpPr/>
          <p:nvPr/>
        </p:nvSpPr>
        <p:spPr>
          <a:xfrm>
            <a:off x="5541264" y="192024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algn="ctr" indent="0" marL="0">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'd rather not go</a:t>
            </a:r>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 to the party if my ex is going to be there.</a:t>
            </a:r>
            <a:endParaRPr lang="en-US" sz="1150" dirty="0"/>
          </a:p>
        </p:txBody>
      </p:sp>
      <p:sp>
        <p:nvSpPr>
          <p:cNvPr id="20" name="cvl_166"/>
          <p:cNvSpPr/>
          <p:nvPr/>
        </p:nvSpPr>
        <p:spPr>
          <a:xfrm>
            <a:off x="320040" y="242316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Would you prefer to meet on Thursday morning or afternoon?</a:t>
            </a:r>
            <a:endParaRPr lang="en-US" sz="1150" dirty="0"/>
          </a:p>
        </p:txBody>
      </p:sp>
      <p:sp>
        <p:nvSpPr>
          <p:cNvPr id="21" name="cva_167"/>
          <p:cNvSpPr/>
          <p:nvPr/>
        </p:nvSpPr>
        <p:spPr>
          <a:xfrm>
            <a:off x="3364992" y="242316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question</a:t>
            </a:r>
            <a:endParaRPr lang="en-US" sz="1000" dirty="0"/>
          </a:p>
        </p:txBody>
      </p:sp>
      <p:sp>
        <p:nvSpPr>
          <p:cNvPr id="22" name="R3_cvb168"/>
          <p:cNvSpPr/>
          <p:nvPr/>
        </p:nvSpPr>
        <p:spPr>
          <a:xfrm>
            <a:off x="4443984" y="242316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Would you rather</a:t>
            </a:r>
            <a:endParaRPr lang="en-US" sz="1000" dirty="0"/>
          </a:p>
        </p:txBody>
      </p:sp>
      <p:sp>
        <p:nvSpPr>
          <p:cNvPr id="23" name="R3_cvr169"/>
          <p:cNvSpPr/>
          <p:nvPr/>
        </p:nvSpPr>
        <p:spPr>
          <a:xfrm>
            <a:off x="5541264" y="242316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Would you rather meet</a:t>
            </a:r>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 on Thursday morning or afternoon?</a:t>
            </a:r>
            <a:endParaRPr lang="en-US" sz="1150" dirty="0"/>
          </a:p>
        </p:txBody>
      </p:sp>
      <p:sp>
        <p:nvSpPr>
          <p:cNvPr id="24" name="cvl_170"/>
          <p:cNvSpPr/>
          <p:nvPr/>
        </p:nvSpPr>
        <p:spPr>
          <a:xfrm>
            <a:off x="320040" y="292608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I'd prefer it if you didn't take photos.</a:t>
            </a:r>
            <a:endParaRPr lang="en-US" sz="1150" dirty="0"/>
          </a:p>
        </p:txBody>
      </p:sp>
      <p:sp>
        <p:nvSpPr>
          <p:cNvPr id="25" name="cva_171"/>
          <p:cNvSpPr/>
          <p:nvPr/>
        </p:nvSpPr>
        <p:spPr>
          <a:xfrm>
            <a:off x="3364992" y="292608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prefer it if</a:t>
            </a:r>
            <a:endParaRPr lang="en-US" sz="1000" dirty="0"/>
          </a:p>
        </p:txBody>
      </p:sp>
      <p:sp>
        <p:nvSpPr>
          <p:cNvPr id="26" name="R4_cvb172"/>
          <p:cNvSpPr/>
          <p:nvPr/>
        </p:nvSpPr>
        <p:spPr>
          <a:xfrm>
            <a:off x="4443984" y="292608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rather + person + past</a:t>
            </a:r>
            <a:endParaRPr lang="en-US" sz="1000" dirty="0"/>
          </a:p>
        </p:txBody>
      </p:sp>
      <p:sp>
        <p:nvSpPr>
          <p:cNvPr id="27" name="R4_cvr173"/>
          <p:cNvSpPr/>
          <p:nvPr/>
        </p:nvSpPr>
        <p:spPr>
          <a:xfrm>
            <a:off x="5541264" y="292608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algn="ctr" indent="0" marL="0">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'd rather you didn't</a:t>
            </a:r>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 take photos.</a:t>
            </a:r>
            <a:endParaRPr lang="en-US" sz="1150" dirty="0"/>
          </a:p>
        </p:txBody>
      </p:sp>
      <p:sp>
        <p:nvSpPr>
          <p:cNvPr id="28" name="cvl_174"/>
          <p:cNvSpPr/>
          <p:nvPr/>
        </p:nvSpPr>
        <p:spPr>
          <a:xfrm>
            <a:off x="320040" y="342900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I'd prefer it if your parents stayed in a hotel and not with us.</a:t>
            </a:r>
            <a:endParaRPr lang="en-US" sz="1150" dirty="0"/>
          </a:p>
        </p:txBody>
      </p:sp>
      <p:sp>
        <p:nvSpPr>
          <p:cNvPr id="29" name="cva_175"/>
          <p:cNvSpPr/>
          <p:nvPr/>
        </p:nvSpPr>
        <p:spPr>
          <a:xfrm>
            <a:off x="3364992" y="342900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prefer it if</a:t>
            </a:r>
            <a:endParaRPr lang="en-US" sz="1000" dirty="0"/>
          </a:p>
        </p:txBody>
      </p:sp>
      <p:sp>
        <p:nvSpPr>
          <p:cNvPr id="30" name="R5_cvb176"/>
          <p:cNvSpPr/>
          <p:nvPr/>
        </p:nvSpPr>
        <p:spPr>
          <a:xfrm>
            <a:off x="4443984" y="342900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rather + person + past</a:t>
            </a:r>
            <a:endParaRPr lang="en-US" sz="1000" dirty="0"/>
          </a:p>
        </p:txBody>
      </p:sp>
      <p:sp>
        <p:nvSpPr>
          <p:cNvPr id="31" name="R5_cvr177"/>
          <p:cNvSpPr/>
          <p:nvPr/>
        </p:nvSpPr>
        <p:spPr>
          <a:xfrm>
            <a:off x="5541264" y="342900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algn="ctr" indent="0" marL="0">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'd rather your parents stayed</a:t>
            </a:r>
            <a:pPr algn="ctr" indent="0" marL="0">
              <a:buNone/>
            </a:pPr>
            <a:r>
              <a:rPr lang="en-US" sz="1150" dirty="0">
                <a:solidFill>
                  <a:srgbClr val="1B2559"/>
                </a:solidFill>
                <a:latin typeface="Segoe UI Semibold" pitchFamily="34" charset="0"/>
                <a:ea typeface="Segoe UI Semibold" pitchFamily="34" charset="-122"/>
                <a:cs typeface="Segoe UI Semibold" pitchFamily="34" charset="-120"/>
              </a:rPr>
              <a:t> in a hotel and not with us.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4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79"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180"/>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Would you rather…?</a:t>
            </a:r>
            <a:endParaRPr lang="en-US" sz="2400" dirty="0"/>
          </a:p>
        </p:txBody>
      </p:sp>
      <p:pic>
        <p:nvPicPr>
          <p:cNvPr id="6" name="brP_181"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182"/>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Would you rather…? Choose – and give a reason!</a:t>
            </a:r>
            <a:endParaRPr lang="en-US" sz="1250" dirty="0"/>
          </a:p>
        </p:txBody>
      </p:sp>
      <p:sp>
        <p:nvSpPr>
          <p:cNvPr id="8" name="insIT_18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Preferiresti…? Scegli – e dai un motivo!</a:t>
            </a:r>
            <a:endParaRPr lang="en-US" sz="950" dirty="0"/>
          </a:p>
        </p:txBody>
      </p:sp>
      <p:sp>
        <p:nvSpPr>
          <p:cNvPr id="9" name="note_18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150" dirty="0"/>
          </a:p>
        </p:txBody>
      </p:sp>
      <p:pic>
        <p:nvPicPr>
          <p:cNvPr id="10" name="logo_18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8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Speaking · would rather   ·   📖 SB p.68 · 4f</a:t>
            </a:r>
            <a:endParaRPr lang="en-US" sz="800" dirty="0"/>
          </a:p>
        </p:txBody>
      </p:sp>
      <p:sp>
        <p:nvSpPr>
          <p:cNvPr id="12" name="cd_187"/>
          <p:cNvSpPr/>
          <p:nvPr/>
        </p:nvSpPr>
        <p:spPr>
          <a:xfrm>
            <a:off x="320040" y="1417320"/>
            <a:ext cx="2697480" cy="2307336"/>
          </a:xfrm>
          <a:prstGeom prst="roundRect">
            <a:avLst>
              <a:gd name="adj" fmla="val 554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8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89"/>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190"/>
          <p:cNvSpPr/>
          <p:nvPr/>
        </p:nvSpPr>
        <p:spPr>
          <a:xfrm>
            <a:off x="886968" y="1911096"/>
            <a:ext cx="2039112" cy="17404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A asks: 'Would you rather…?'</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B answers: 'I'd rather… because…'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Swap. Then report one surprising answer to the class.</a:t>
            </a:r>
            <a:endParaRPr lang="en-US" sz="1200" dirty="0"/>
          </a:p>
        </p:txBody>
      </p:sp>
      <p:sp>
        <p:nvSpPr>
          <p:cNvPr id="16" name="bd_191"/>
          <p:cNvSpPr/>
          <p:nvPr/>
        </p:nvSpPr>
        <p:spPr>
          <a:xfrm>
            <a:off x="3246120" y="15453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gq_192"/>
          <p:cNvSpPr/>
          <p:nvPr/>
        </p:nvSpPr>
        <p:spPr>
          <a:xfrm>
            <a:off x="3657600" y="1417320"/>
            <a:ext cx="2514600" cy="585216"/>
          </a:xfrm>
          <a:prstGeom prst="roundRect">
            <a:avLst>
              <a:gd name="adj" fmla="val 15625"/>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live on your own or share a flat with friends</a:t>
            </a:r>
            <a:endParaRPr lang="en-US" sz="1250" dirty="0"/>
          </a:p>
        </p:txBody>
      </p:sp>
      <p:sp>
        <p:nvSpPr>
          <p:cNvPr id="18" name="R1_chip193"/>
          <p:cNvSpPr/>
          <p:nvPr/>
        </p:nvSpPr>
        <p:spPr>
          <a:xfrm>
            <a:off x="6263640" y="1417320"/>
            <a:ext cx="2560320" cy="585216"/>
          </a:xfrm>
          <a:prstGeom prst="roundRect">
            <a:avLst>
              <a:gd name="adj" fmla="val 15625"/>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I'd rather share a flat because I'd get lonely.</a:t>
            </a:r>
            <a:endParaRPr lang="en-US" sz="1200" dirty="0"/>
          </a:p>
        </p:txBody>
      </p:sp>
      <p:sp>
        <p:nvSpPr>
          <p:cNvPr id="19" name="bd_194"/>
          <p:cNvSpPr/>
          <p:nvPr/>
        </p:nvSpPr>
        <p:spPr>
          <a:xfrm>
            <a:off x="3246120" y="219456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0" name="gq_195"/>
          <p:cNvSpPr/>
          <p:nvPr/>
        </p:nvSpPr>
        <p:spPr>
          <a:xfrm>
            <a:off x="3657600" y="2066544"/>
            <a:ext cx="2514600" cy="585216"/>
          </a:xfrm>
          <a:prstGeom prst="roundRect">
            <a:avLst>
              <a:gd name="adj" fmla="val 15625"/>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an English course in London or New York</a:t>
            </a:r>
            <a:endParaRPr lang="en-US" sz="1250" dirty="0"/>
          </a:p>
        </p:txBody>
      </p:sp>
      <p:sp>
        <p:nvSpPr>
          <p:cNvPr id="21" name="R2_chip196"/>
          <p:cNvSpPr/>
          <p:nvPr/>
        </p:nvSpPr>
        <p:spPr>
          <a:xfrm>
            <a:off x="6263640" y="2066544"/>
            <a:ext cx="2560320" cy="585216"/>
          </a:xfrm>
          <a:prstGeom prst="roundRect">
            <a:avLst>
              <a:gd name="adj" fmla="val 15625"/>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I'd rather go to New York – I've never been.</a:t>
            </a:r>
            <a:endParaRPr lang="en-US" sz="1200" dirty="0"/>
          </a:p>
        </p:txBody>
      </p:sp>
      <p:sp>
        <p:nvSpPr>
          <p:cNvPr id="22" name="bd_197"/>
          <p:cNvSpPr/>
          <p:nvPr/>
        </p:nvSpPr>
        <p:spPr>
          <a:xfrm>
            <a:off x="3246120" y="284378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gq_198"/>
          <p:cNvSpPr/>
          <p:nvPr/>
        </p:nvSpPr>
        <p:spPr>
          <a:xfrm>
            <a:off x="3657600" y="2715768"/>
            <a:ext cx="2514600" cy="585216"/>
          </a:xfrm>
          <a:prstGeom prst="roundRect">
            <a:avLst>
              <a:gd name="adj" fmla="val 15625"/>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have a summer holiday or a winter holiday</a:t>
            </a:r>
            <a:endParaRPr lang="en-US" sz="1250" dirty="0"/>
          </a:p>
        </p:txBody>
      </p:sp>
      <p:sp>
        <p:nvSpPr>
          <p:cNvPr id="24" name="R3_chip199"/>
          <p:cNvSpPr/>
          <p:nvPr/>
        </p:nvSpPr>
        <p:spPr>
          <a:xfrm>
            <a:off x="6263640" y="2715768"/>
            <a:ext cx="2560320" cy="585216"/>
          </a:xfrm>
          <a:prstGeom prst="roundRect">
            <a:avLst>
              <a:gd name="adj" fmla="val 15625"/>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I'd rather have a winter holiday – I love skiing.</a:t>
            </a:r>
            <a:endParaRPr lang="en-US" sz="1200" dirty="0"/>
          </a:p>
        </p:txBody>
      </p:sp>
      <p:sp>
        <p:nvSpPr>
          <p:cNvPr id="25" name="bd_200"/>
          <p:cNvSpPr/>
          <p:nvPr/>
        </p:nvSpPr>
        <p:spPr>
          <a:xfrm>
            <a:off x="3246120" y="34930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gq_201"/>
          <p:cNvSpPr/>
          <p:nvPr/>
        </p:nvSpPr>
        <p:spPr>
          <a:xfrm>
            <a:off x="3657600" y="3364992"/>
            <a:ext cx="2514600" cy="585216"/>
          </a:xfrm>
          <a:prstGeom prst="roundRect">
            <a:avLst>
              <a:gd name="adj" fmla="val 15625"/>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stay up very late or get up very early</a:t>
            </a:r>
            <a:endParaRPr lang="en-US" sz="1250" dirty="0"/>
          </a:p>
        </p:txBody>
      </p:sp>
      <p:sp>
        <p:nvSpPr>
          <p:cNvPr id="27" name="R4_chip202"/>
          <p:cNvSpPr/>
          <p:nvPr/>
        </p:nvSpPr>
        <p:spPr>
          <a:xfrm>
            <a:off x="6263640" y="3364992"/>
            <a:ext cx="2560320" cy="585216"/>
          </a:xfrm>
          <a:prstGeom prst="roundRect">
            <a:avLst>
              <a:gd name="adj" fmla="val 15625"/>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I'd rather stay up late – I'm not a morning person.</a:t>
            </a:r>
            <a:endParaRPr lang="en-US" sz="1200" dirty="0"/>
          </a:p>
        </p:txBody>
      </p:sp>
      <p:sp>
        <p:nvSpPr>
          <p:cNvPr id="28" name="bd_203"/>
          <p:cNvSpPr/>
          <p:nvPr/>
        </p:nvSpPr>
        <p:spPr>
          <a:xfrm>
            <a:off x="3246120" y="414223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gq_204"/>
          <p:cNvSpPr/>
          <p:nvPr/>
        </p:nvSpPr>
        <p:spPr>
          <a:xfrm>
            <a:off x="3657600" y="4014216"/>
            <a:ext cx="2514600" cy="585216"/>
          </a:xfrm>
          <a:prstGeom prst="roundRect">
            <a:avLst>
              <a:gd name="adj" fmla="val 15625"/>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go to a concert or a sporting event</a:t>
            </a:r>
            <a:endParaRPr lang="en-US" sz="1250" dirty="0"/>
          </a:p>
        </p:txBody>
      </p:sp>
      <p:sp>
        <p:nvSpPr>
          <p:cNvPr id="30" name="R5_chip205"/>
          <p:cNvSpPr/>
          <p:nvPr/>
        </p:nvSpPr>
        <p:spPr>
          <a:xfrm>
            <a:off x="6263640" y="4014216"/>
            <a:ext cx="2560320" cy="585216"/>
          </a:xfrm>
          <a:prstGeom prst="roundRect">
            <a:avLst>
              <a:gd name="adj" fmla="val 15625"/>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I'd rather go to a concert.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6"/>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07"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08"/>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What's happening?</a:t>
            </a:r>
            <a:endParaRPr lang="en-US" sz="2400" dirty="0"/>
          </a:p>
        </p:txBody>
      </p:sp>
      <p:pic>
        <p:nvPicPr>
          <p:cNvPr id="6" name="brP_20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Listen to 6 extracts. What's happening? Use a verb from the list.</a:t>
            </a:r>
            <a:endParaRPr lang="en-US" sz="1100" dirty="0"/>
          </a:p>
        </p:txBody>
      </p:sp>
      <p:sp>
        <p:nvSpPr>
          <p:cNvPr id="8" name="insIT_21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6 estratti. Cosa succede? Usa un verbo della lista.</a:t>
            </a:r>
            <a:endParaRPr lang="en-US" sz="950" dirty="0"/>
          </a:p>
        </p:txBody>
      </p:sp>
      <p:sp>
        <p:nvSpPr>
          <p:cNvPr id="9" name="note_21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21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1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Vocabulary · verbs often confused   ·   📖 SB p.68 · 5a · audio 7.8 (TG key)</a:t>
            </a:r>
            <a:endParaRPr lang="en-US" sz="800" dirty="0"/>
          </a:p>
        </p:txBody>
      </p:sp>
      <p:sp>
        <p:nvSpPr>
          <p:cNvPr id="12" name="cd_215"/>
          <p:cNvSpPr/>
          <p:nvPr/>
        </p:nvSpPr>
        <p:spPr>
          <a:xfrm>
            <a:off x="320040" y="1417320"/>
            <a:ext cx="2697480" cy="1170432"/>
          </a:xfrm>
          <a:prstGeom prst="roundRect">
            <a:avLst>
              <a:gd name="adj" fmla="val 1093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1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1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18"/>
          <p:cNvSpPr/>
          <p:nvPr/>
        </p:nvSpPr>
        <p:spPr>
          <a:xfrm>
            <a:off x="886968" y="1911096"/>
            <a:ext cx="2039112" cy="603504"/>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advise · argue · deny · discuss · refuse · warn    →  1 He's denying something.</a:t>
            </a:r>
            <a:endParaRPr lang="en-US" sz="1050" dirty="0"/>
          </a:p>
        </p:txBody>
      </p:sp>
      <p:sp>
        <p:nvSpPr>
          <p:cNvPr id="16" name="ap_219"/>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7.8</a:t>
            </a:r>
            <a:endParaRPr lang="en-US" sz="1100" dirty="0"/>
          </a:p>
        </p:txBody>
      </p:sp>
      <p:sp>
        <p:nvSpPr>
          <p:cNvPr id="17" name="ah_220"/>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8"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9" name="ah_221"/>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0"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1" name="bd_222"/>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223"/>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2</a:t>
            </a:r>
            <a:endParaRPr lang="en-US" sz="1150" dirty="0"/>
          </a:p>
        </p:txBody>
      </p:sp>
      <p:sp>
        <p:nvSpPr>
          <p:cNvPr id="23" name="R1_chip224"/>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They're discussing something.</a:t>
            </a:r>
            <a:endParaRPr lang="en-US" sz="1050" dirty="0"/>
          </a:p>
        </p:txBody>
      </p:sp>
      <p:sp>
        <p:nvSpPr>
          <p:cNvPr id="24" name="bd_225"/>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226"/>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3</a:t>
            </a:r>
            <a:endParaRPr lang="en-US" sz="1150" dirty="0"/>
          </a:p>
        </p:txBody>
      </p:sp>
      <p:sp>
        <p:nvSpPr>
          <p:cNvPr id="26" name="R2_chip227"/>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She's warning someone about something.</a:t>
            </a:r>
            <a:endParaRPr lang="en-US" sz="1050" dirty="0"/>
          </a:p>
        </p:txBody>
      </p:sp>
      <p:sp>
        <p:nvSpPr>
          <p:cNvPr id="27" name="bd_228"/>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229"/>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4</a:t>
            </a:r>
            <a:endParaRPr lang="en-US" sz="1150" dirty="0"/>
          </a:p>
        </p:txBody>
      </p:sp>
      <p:sp>
        <p:nvSpPr>
          <p:cNvPr id="29" name="R3_chip230"/>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They're arguing about something.</a:t>
            </a:r>
            <a:endParaRPr lang="en-US" sz="1050" dirty="0"/>
          </a:p>
        </p:txBody>
      </p:sp>
      <p:sp>
        <p:nvSpPr>
          <p:cNvPr id="30" name="bd_231"/>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232"/>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5</a:t>
            </a:r>
            <a:endParaRPr lang="en-US" sz="1150" dirty="0"/>
          </a:p>
        </p:txBody>
      </p:sp>
      <p:sp>
        <p:nvSpPr>
          <p:cNvPr id="32" name="R4_chip233"/>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She's advising someone about something.</a:t>
            </a:r>
            <a:endParaRPr lang="en-US" sz="1050" dirty="0"/>
          </a:p>
        </p:txBody>
      </p:sp>
      <p:sp>
        <p:nvSpPr>
          <p:cNvPr id="33" name="bd_234"/>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235"/>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6</a:t>
            </a:r>
            <a:endParaRPr lang="en-US" sz="1150" dirty="0"/>
          </a:p>
        </p:txBody>
      </p:sp>
      <p:sp>
        <p:nvSpPr>
          <p:cNvPr id="35" name="R5_chip236"/>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He's refusing to do something.</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seq concurrent="1" nextAc="seek">
              <p:cTn id="33" restart="whenNotActive" fill="hold" evtFilter="cancelBubble" nodeType="interactiveSeq">
                <p:stCondLst>
                  <p:cond evt="onClick" delay="0">
                    <p:tgtEl>
                      <p:spTgt spid="20"/>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0"/>
                                        </p:tgtEl>
                                      </p:cBhvr>
                                    </p:cmd>
                                  </p:childTnLst>
                                </p:cTn>
                              </p:par>
                            </p:childTnLst>
                          </p:cTn>
                        </p:par>
                      </p:childTnLst>
                    </p:cTn>
                  </p:par>
                </p:childTnLst>
              </p:cTn>
              <p:nextCondLst>
                <p:cond evt="onClick" delay="0">
                  <p:tgtEl>
                    <p:spTgt spid="20"/>
                  </p:tgtEl>
                </p:cond>
              </p:nextCondLst>
            </p:seq>
            <p:audio>
              <p:cMediaNode vol="80000">
                <p:cTn id="38" fill="hold" display="0">
                  <p:stCondLst>
                    <p:cond delay="indefinite"/>
                  </p:stCondLst>
                  <p:endCondLst>
                    <p:cond evt="onStopAudio" delay="0">
                      <p:tgtEl>
                        <p:sldTgt/>
                      </p:tgtEl>
                    </p:cond>
                  </p:endCondLst>
                </p:cTn>
                <p:tgtEl>
                  <p:spTgt spid="18"/>
                </p:tgtEl>
              </p:cMediaNode>
            </p:audio>
            <p:audio>
              <p:cMediaNode vol="80000">
                <p:cTn id="39"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3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38" descr="/home/claude/lls-course/v2/assets/brush-yellow.png">    </p:cNvPr>
          <p:cNvPicPr>
            <a:picLocks noChangeAspect="1"/>
          </p:cNvPicPr>
          <p:nvPr/>
        </p:nvPicPr>
        <p:blipFill>
          <a:blip r:embed="rId2"/>
          <a:stretch>
            <a:fillRect/>
          </a:stretch>
        </p:blipFill>
        <p:spPr>
          <a:xfrm>
            <a:off x="1097280" y="146304"/>
            <a:ext cx="5760720" cy="621792"/>
          </a:xfrm>
          <a:prstGeom prst="rect">
            <a:avLst/>
          </a:prstGeom>
        </p:spPr>
      </p:pic>
      <p:sp>
        <p:nvSpPr>
          <p:cNvPr id="5" name="title_239"/>
          <p:cNvSpPr/>
          <p:nvPr/>
        </p:nvSpPr>
        <p:spPr>
          <a:xfrm>
            <a:off x="1261872" y="164592"/>
            <a:ext cx="5486400"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Argue or discuss? Lend or borrow?</a:t>
            </a:r>
            <a:endParaRPr lang="en-US" sz="2250" dirty="0"/>
          </a:p>
        </p:txBody>
      </p:sp>
      <p:pic>
        <p:nvPicPr>
          <p:cNvPr id="6" name="brP_240"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241"/>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Vocabulary Bank: which verb? Say the full sentence.</a:t>
            </a:r>
            <a:endParaRPr lang="en-US" sz="1250" dirty="0"/>
          </a:p>
        </p:txBody>
      </p:sp>
      <p:sp>
        <p:nvSpPr>
          <p:cNvPr id="8" name="insIT_24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Vocabulary Bank: quale verbo? Di' la frase intera.</a:t>
            </a:r>
            <a:endParaRPr lang="en-US" sz="950" dirty="0"/>
          </a:p>
        </p:txBody>
      </p:sp>
      <p:sp>
        <p:nvSpPr>
          <p:cNvPr id="9" name="note_24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2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Vocabulary Bank p.158 · verbs often confused (1)   ·   📖 VB p.158 · 1–10 · audio 7.9 (TG script)</a:t>
            </a:r>
            <a:endParaRPr lang="en-US" sz="800" dirty="0"/>
          </a:p>
        </p:txBody>
      </p:sp>
      <p:sp>
        <p:nvSpPr>
          <p:cNvPr id="12" name="ap_246"/>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7.9</a:t>
            </a:r>
            <a:endParaRPr lang="en-US" sz="1100" dirty="0"/>
          </a:p>
        </p:txBody>
      </p:sp>
      <p:sp>
        <p:nvSpPr>
          <p:cNvPr id="13" name="ah_247"/>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248"/>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bd_249"/>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250"/>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e.g. I need to ___ the problem with my boss. (argue / discuss)</a:t>
            </a:r>
            <a:endParaRPr lang="en-US" sz="850" dirty="0"/>
          </a:p>
        </p:txBody>
      </p:sp>
      <p:sp>
        <p:nvSpPr>
          <p:cNvPr id="19" name="R1_chip251"/>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need to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discuss</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the problem with my boss.</a:t>
            </a:r>
            <a:endParaRPr lang="en-US" sz="1150" dirty="0"/>
          </a:p>
        </p:txBody>
      </p:sp>
      <p:sp>
        <p:nvSpPr>
          <p:cNvPr id="20" name="bd_252"/>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253"/>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I often ___ with my parents about doing housework. (argue / discuss)</a:t>
            </a:r>
            <a:endParaRPr lang="en-US" sz="700" dirty="0"/>
          </a:p>
        </p:txBody>
      </p:sp>
      <p:sp>
        <p:nvSpPr>
          <p:cNvPr id="22" name="R2_chip254"/>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often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argue</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with my parents…</a:t>
            </a:r>
            <a:endParaRPr lang="en-US" sz="1150" dirty="0"/>
          </a:p>
        </p:txBody>
      </p:sp>
      <p:sp>
        <p:nvSpPr>
          <p:cNvPr id="23" name="bd_255"/>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256"/>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 didn't ___ you were so unhappy. (notice / realize)</a:t>
            </a:r>
            <a:endParaRPr lang="en-US" sz="900" dirty="0"/>
          </a:p>
        </p:txBody>
      </p:sp>
      <p:sp>
        <p:nvSpPr>
          <p:cNvPr id="25" name="R3_chip257"/>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didn't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realize</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you were so unhappy.</a:t>
            </a:r>
            <a:endParaRPr lang="en-US" sz="1150" dirty="0"/>
          </a:p>
        </p:txBody>
      </p:sp>
      <p:sp>
        <p:nvSpPr>
          <p:cNvPr id="26" name="bd_258"/>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259"/>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Jack always tries to ___ arguing with me. (avoid / prevent)</a:t>
            </a:r>
            <a:endParaRPr lang="en-US" sz="900" dirty="0"/>
          </a:p>
        </p:txBody>
      </p:sp>
      <p:sp>
        <p:nvSpPr>
          <p:cNvPr id="28" name="R4_chip260"/>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Jack always tries to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avoid</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arguing with me.</a:t>
            </a:r>
            <a:endParaRPr lang="en-US" sz="1150" dirty="0"/>
          </a:p>
        </p:txBody>
      </p:sp>
      <p:sp>
        <p:nvSpPr>
          <p:cNvPr id="29" name="bd_261"/>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262"/>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When are you going to pay me back the £50 that I ___ you? (lend / borrow)</a:t>
            </a:r>
            <a:endParaRPr lang="en-US" sz="700" dirty="0"/>
          </a:p>
        </p:txBody>
      </p:sp>
      <p:sp>
        <p:nvSpPr>
          <p:cNvPr id="31" name="R5_chip263"/>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£50 that I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lent</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you?</a:t>
            </a:r>
            <a:endParaRPr lang="en-US" sz="1150" dirty="0"/>
          </a:p>
        </p:txBody>
      </p:sp>
      <p:sp>
        <p:nvSpPr>
          <p:cNvPr id="32" name="bd_264"/>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265"/>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Could I ___ your car tonight? (lend / borrow)</a:t>
            </a:r>
            <a:endParaRPr lang="en-US" sz="900" dirty="0"/>
          </a:p>
        </p:txBody>
      </p:sp>
      <p:sp>
        <p:nvSpPr>
          <p:cNvPr id="34" name="R6_chip266"/>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Could I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borrow</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your car tonight?</a:t>
            </a:r>
            <a:endParaRPr lang="en-US" sz="1150" dirty="0"/>
          </a:p>
        </p:txBody>
      </p:sp>
      <p:sp>
        <p:nvSpPr>
          <p:cNvPr id="35" name="bd_267"/>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6" name="q_268"/>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My parents don't ___ if I stay out late. (mind / matter)</a:t>
            </a:r>
            <a:endParaRPr lang="en-US" sz="900" dirty="0"/>
          </a:p>
        </p:txBody>
      </p:sp>
      <p:sp>
        <p:nvSpPr>
          <p:cNvPr id="37" name="R7_chip269"/>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My parents don't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mind</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8" name="bd_270"/>
          <p:cNvSpPr/>
          <p:nvPr/>
        </p:nvSpPr>
        <p:spPr>
          <a:xfrm>
            <a:off x="470916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9" name="q_271"/>
          <p:cNvSpPr/>
          <p:nvPr/>
        </p:nvSpPr>
        <p:spPr>
          <a:xfrm>
            <a:off x="509320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It doesn't ___ if we're five minutes late. (mind / matter)</a:t>
            </a:r>
            <a:endParaRPr lang="en-US" sz="900" dirty="0"/>
          </a:p>
        </p:txBody>
      </p:sp>
      <p:sp>
        <p:nvSpPr>
          <p:cNvPr id="40" name="R8_chip272"/>
          <p:cNvSpPr/>
          <p:nvPr/>
        </p:nvSpPr>
        <p:spPr>
          <a:xfrm>
            <a:off x="509320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It doesn't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matter</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4"/>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4"/>
                                        </p:tgtEl>
                                      </p:cBhvr>
                                    </p:cmd>
                                  </p:childTnLst>
                                </p:cTn>
                              </p:par>
                            </p:childTnLst>
                          </p:cTn>
                        </p:par>
                      </p:childTnLst>
                    </p:cTn>
                  </p:par>
                </p:childTnLst>
              </p:cTn>
              <p:nextCondLst>
                <p:cond evt="onClick" delay="0">
                  <p:tgtEl>
                    <p:spTgt spid="14"/>
                  </p:tgtEl>
                </p:cond>
              </p:nextCondLst>
            </p:seq>
            <p:seq concurrent="1" nextAc="seek">
              <p:cTn id="48" restart="whenNotActive" fill="hold" evtFilter="cancelBubble" nodeType="interactiveSeq">
                <p:stCondLst>
                  <p:cond evt="onClick" delay="0">
                    <p:tgtEl>
                      <p:spTgt spid="16"/>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6"/>
                                        </p:tgtEl>
                                      </p:cBhvr>
                                    </p:cmd>
                                  </p:childTnLst>
                                </p:cTn>
                              </p:par>
                            </p:childTnLst>
                          </p:cTn>
                        </p:par>
                      </p:childTnLst>
                    </p:cTn>
                  </p:par>
                </p:childTnLst>
              </p:cTn>
              <p:nextCondLst>
                <p:cond evt="onClick" delay="0">
                  <p:tgtEl>
                    <p:spTgt spid="16"/>
                  </p:tgtEl>
                </p:cond>
              </p:nextCondLst>
            </p:seq>
            <p:audio>
              <p:cMediaNode vol="80000">
                <p:cTn id="53" fill="hold" display="0">
                  <p:stCondLst>
                    <p:cond delay="indefinite"/>
                  </p:stCondLst>
                  <p:endCondLst>
                    <p:cond evt="onStopAudio" delay="0">
                      <p:tgtEl>
                        <p:sldTgt/>
                      </p:tgtEl>
                    </p:cond>
                  </p:endCondLst>
                </p:cTn>
                <p:tgtEl>
                  <p:spTgt spid="14"/>
                </p:tgtEl>
              </p:cMediaNode>
            </p:audio>
            <p:audio>
              <p:cMediaNode vol="80000">
                <p:cTn id="54" fill="hold" display="0">
                  <p:stCondLst>
                    <p:cond delay="indefinite"/>
                  </p:stCondLst>
                  <p:endCondLst>
                    <p:cond evt="onStopAudio" delay="0">
                      <p:tgtEl>
                        <p:sldTgt/>
                      </p:tgtEl>
                    </p:cond>
                  </p:endCondLst>
                </p:cTn>
                <p:tgtEl>
                  <p:spTgt spid="1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74"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275"/>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Rob or steal? Rise or raise?</a:t>
            </a:r>
            <a:endParaRPr lang="en-US" sz="2500" dirty="0"/>
          </a:p>
        </p:txBody>
      </p:sp>
      <p:pic>
        <p:nvPicPr>
          <p:cNvPr id="6" name="brP_276"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277"/>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Vocabulary Bank: which verb? Say the full sentence.</a:t>
            </a:r>
            <a:endParaRPr lang="en-US" sz="1250" dirty="0"/>
          </a:p>
        </p:txBody>
      </p:sp>
      <p:sp>
        <p:nvSpPr>
          <p:cNvPr id="8" name="insIT_27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Vocabulary Bank: quale verbo? Di' la frase intera.</a:t>
            </a:r>
            <a:endParaRPr lang="en-US" sz="950" dirty="0"/>
          </a:p>
        </p:txBody>
      </p:sp>
      <p:sp>
        <p:nvSpPr>
          <p:cNvPr id="9" name="note_27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2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Vocabulary Bank p.158 · verbs often confused (2)   ·   📖 VB p.158 · 11–28 · audio 7.9 (TG script)</a:t>
            </a:r>
            <a:endParaRPr lang="en-US" sz="800" dirty="0"/>
          </a:p>
        </p:txBody>
      </p:sp>
      <p:sp>
        <p:nvSpPr>
          <p:cNvPr id="12" name="bd_282"/>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3" name="q_283"/>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Can you ___ me to call my mum later? (remember / remind)</a:t>
            </a:r>
            <a:endParaRPr lang="en-US" sz="850" dirty="0"/>
          </a:p>
        </p:txBody>
      </p:sp>
      <p:sp>
        <p:nvSpPr>
          <p:cNvPr id="14" name="R1_chip284"/>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Can you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remind</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me…?</a:t>
            </a:r>
            <a:endParaRPr lang="en-US" sz="1150" dirty="0"/>
          </a:p>
        </p:txBody>
      </p:sp>
      <p:sp>
        <p:nvSpPr>
          <p:cNvPr id="15" name="bd_285"/>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q_286"/>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 ___ that Daniel will forget our anniversary. (expect / wait)</a:t>
            </a:r>
            <a:endParaRPr lang="en-US" sz="900" dirty="0"/>
          </a:p>
        </p:txBody>
      </p:sp>
      <p:sp>
        <p:nvSpPr>
          <p:cNvPr id="17" name="R2_chip287"/>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expect</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that Daniel will forget…</a:t>
            </a:r>
            <a:endParaRPr lang="en-US" sz="1150" dirty="0"/>
          </a:p>
        </p:txBody>
      </p:sp>
      <p:sp>
        <p:nvSpPr>
          <p:cNvPr id="18" name="bd_288"/>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q_289"/>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 ___ I was a bit taller! (wish / hope)</a:t>
            </a:r>
            <a:endParaRPr lang="en-US" sz="900" dirty="0"/>
          </a:p>
        </p:txBody>
      </p:sp>
      <p:sp>
        <p:nvSpPr>
          <p:cNvPr id="20" name="R3_chip290"/>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wish</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I was a bit taller!</a:t>
            </a:r>
            <a:endParaRPr lang="en-US" sz="1150" dirty="0"/>
          </a:p>
        </p:txBody>
      </p:sp>
      <p:sp>
        <p:nvSpPr>
          <p:cNvPr id="21" name="bd_291"/>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2" name="q_292"/>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Arsenal ___ Manchester United 5–2. (beat / win)</a:t>
            </a:r>
            <a:endParaRPr lang="en-US" sz="900" dirty="0"/>
          </a:p>
        </p:txBody>
      </p:sp>
      <p:sp>
        <p:nvSpPr>
          <p:cNvPr id="23" name="R4_chip293"/>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Arsenal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beat</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Manchester United 5–2.</a:t>
            </a:r>
            <a:endParaRPr lang="en-US" sz="1150" dirty="0"/>
          </a:p>
        </p:txBody>
      </p:sp>
      <p:sp>
        <p:nvSpPr>
          <p:cNvPr id="24" name="bd_294"/>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5" name="q_295"/>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Tom always ___ that he has a problem. (refuse / deny)</a:t>
            </a:r>
            <a:endParaRPr lang="en-US" sz="900" dirty="0"/>
          </a:p>
        </p:txBody>
      </p:sp>
      <p:sp>
        <p:nvSpPr>
          <p:cNvPr id="26" name="R5_chip296"/>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Tom always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denies</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that he has a problem.</a:t>
            </a:r>
            <a:endParaRPr lang="en-US" sz="1150" dirty="0"/>
          </a:p>
        </p:txBody>
      </p:sp>
      <p:sp>
        <p:nvSpPr>
          <p:cNvPr id="27" name="bd_297"/>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8" name="q_298"/>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00" b="1" dirty="0">
                <a:solidFill>
                  <a:srgbClr val="1B2559"/>
                </a:solidFill>
                <a:latin typeface="Segoe UI Semibold" pitchFamily="34" charset="0"/>
                <a:ea typeface="Segoe UI Semibold" pitchFamily="34" charset="-122"/>
                <a:cs typeface="Segoe UI Semibold" pitchFamily="34" charset="-120"/>
              </a:rPr>
              <a:t>It's hard not to ___ your voice when you're arguing. (rise / raise)</a:t>
            </a:r>
            <a:endParaRPr lang="en-US" sz="800" dirty="0"/>
          </a:p>
        </p:txBody>
      </p:sp>
      <p:sp>
        <p:nvSpPr>
          <p:cNvPr id="29" name="R6_chip299"/>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…not to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raise</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your voice…</a:t>
            </a:r>
            <a:endParaRPr lang="en-US" sz="1150" dirty="0"/>
          </a:p>
        </p:txBody>
      </p:sp>
      <p:sp>
        <p:nvSpPr>
          <p:cNvPr id="30" name="bd_300"/>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1" name="q_301"/>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 men had been planning to ___ the bank. (rob / steal)</a:t>
            </a:r>
            <a:endParaRPr lang="en-US" sz="900" dirty="0"/>
          </a:p>
        </p:txBody>
      </p:sp>
      <p:sp>
        <p:nvSpPr>
          <p:cNvPr id="32" name="R7_chip302"/>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…to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rob</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the bank.</a:t>
            </a:r>
            <a:endParaRPr lang="en-US" sz="1150" dirty="0"/>
          </a:p>
        </p:txBody>
      </p:sp>
      <p:sp>
        <p:nvSpPr>
          <p:cNvPr id="33" name="bd_303"/>
          <p:cNvSpPr/>
          <p:nvPr/>
        </p:nvSpPr>
        <p:spPr>
          <a:xfrm>
            <a:off x="470916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4" name="q_304"/>
          <p:cNvSpPr/>
          <p:nvPr/>
        </p:nvSpPr>
        <p:spPr>
          <a:xfrm>
            <a:off x="509320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I think I should ___ you that Liam doesn't always tell the truth. (advise / warn)</a:t>
            </a:r>
            <a:endParaRPr lang="en-US" sz="700" dirty="0"/>
          </a:p>
        </p:txBody>
      </p:sp>
      <p:sp>
        <p:nvSpPr>
          <p:cNvPr id="35" name="R8_chip305"/>
          <p:cNvSpPr/>
          <p:nvPr/>
        </p:nvSpPr>
        <p:spPr>
          <a:xfrm>
            <a:off x="509320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should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warn</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you…</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07"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308"/>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300" dirty="0">
                <a:solidFill>
                  <a:srgbClr val="1B2559"/>
                </a:solidFill>
                <a:latin typeface="Arial Rounded MT Bold" pitchFamily="34" charset="0"/>
                <a:ea typeface="Arial Rounded MT Bold" pitchFamily="34" charset="-122"/>
                <a:cs typeface="Arial Rounded MT Bold" pitchFamily="34" charset="-120"/>
              </a:rPr>
              <a:t>Do you mind…?</a:t>
            </a:r>
            <a:endParaRPr lang="en-US" sz="2300" dirty="0"/>
          </a:p>
        </p:txBody>
      </p:sp>
      <p:pic>
        <p:nvPicPr>
          <p:cNvPr id="6" name="brP_30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1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Complete the questions with the correct verb. Then ask and answer!</a:t>
            </a:r>
            <a:endParaRPr lang="en-US" sz="1100" dirty="0"/>
          </a:p>
        </p:txBody>
      </p:sp>
      <p:sp>
        <p:nvSpPr>
          <p:cNvPr id="8" name="insIT_31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le domande con il verbo giusto. Poi fai e rispondi!</a:t>
            </a:r>
            <a:endParaRPr lang="en-US" sz="950" dirty="0"/>
          </a:p>
        </p:txBody>
      </p:sp>
      <p:sp>
        <p:nvSpPr>
          <p:cNvPr id="9" name="note_31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31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1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Vocabulary · personalise   ·   📖 SB p.69 · 5c (TG key)</a:t>
            </a:r>
            <a:endParaRPr lang="en-US" sz="800" dirty="0"/>
          </a:p>
        </p:txBody>
      </p:sp>
      <p:sp>
        <p:nvSpPr>
          <p:cNvPr id="12" name="cd_315"/>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16"/>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14" name="R1_rdA317"/>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15" name="R2_rdA318"/>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16" name="R3_rdA319"/>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17" name="R4_rdA320"/>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18" name="R5_rdA321"/>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19" name="R6_rdA32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0" name="R7_rdA32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1" name="R8_rdA32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prevent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2" name="R9_rdA32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prevent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avoid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3" name="R10_rdA32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prevent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avoid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(11) borrow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4" name="R11_rdA327"/>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prevent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avoid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(11) borrow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(12) lent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5" name="R12_rdA328"/>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prevent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avoid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(11) borrow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(12) lent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(13) won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6" name="R13_rdA329"/>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Questions (SB p.69 · 5c)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1 Do you</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people are a bit late when you have arranged to meet them, or do you think it doesn't</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matter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(matter / 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2 Can you usually</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remember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family birthdays, or do you need somebody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remind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you? (remember / remind)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3 Have you ever been</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robbed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you were on holiday? What was</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stolen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(rob / steal)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4 What would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advise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people to do if they want to come to your country in the summer? What might you</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warn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them to be careful about? (advise / warn)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5 Do you think taking vitamin C helps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prevent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colds? What other things can people do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avoid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catching colds? (avoid / prevent)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6 Do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(11) borrow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from friends or family? Have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(12) lent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clothes to someone which they then ruined? (borrow / lend)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7 Have you ever</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(13) won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 cup or medal for anything? Are there any games or sports where you absolutely hate being</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(14) beaten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(beat / win)</a:t>
            </a:r>
            <a:endParaRPr lang="en-US" sz="950" dirty="0"/>
          </a:p>
        </p:txBody>
      </p:sp>
      <p:sp>
        <p:nvSpPr>
          <p:cNvPr id="27" name="cd_330"/>
          <p:cNvSpPr/>
          <p:nvPr/>
        </p:nvSpPr>
        <p:spPr>
          <a:xfrm>
            <a:off x="6263640" y="1417320"/>
            <a:ext cx="260604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8" name="ii_331"/>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ih_332"/>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Then ask and answer</a:t>
            </a:r>
            <a:endParaRPr lang="en-US" sz="1300" dirty="0"/>
          </a:p>
        </p:txBody>
      </p:sp>
      <p:sp>
        <p:nvSpPr>
          <p:cNvPr id="30" name="il_333"/>
          <p:cNvSpPr/>
          <p:nvPr/>
        </p:nvSpPr>
        <p:spPr>
          <a:xfrm>
            <a:off x="6830568" y="1911096"/>
            <a:ext cx="194767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Ask for more information!</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Really? What happened?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3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35"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36"/>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Win an online argument (1)</a:t>
            </a:r>
            <a:endParaRPr lang="en-US" sz="2500" dirty="0"/>
          </a:p>
        </p:txBody>
      </p:sp>
      <p:pic>
        <p:nvPicPr>
          <p:cNvPr id="6" name="brP_33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3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the article. Which tips could also apply to a face-to-face argument?</a:t>
            </a:r>
            <a:endParaRPr lang="en-US" sz="1100" dirty="0"/>
          </a:p>
        </p:txBody>
      </p:sp>
      <p:sp>
        <p:nvSpPr>
          <p:cNvPr id="8" name="insIT_33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l'articolo. Quali consigli valgono anche faccia a faccia?</a:t>
            </a:r>
            <a:endParaRPr lang="en-US" sz="950" dirty="0"/>
          </a:p>
        </p:txBody>
      </p:sp>
      <p:sp>
        <p:nvSpPr>
          <p:cNvPr id="9" name="note_34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gist</a:t>
            </a:r>
            <a:endParaRPr lang="en-US" sz="1150" dirty="0"/>
          </a:p>
        </p:txBody>
      </p:sp>
      <p:pic>
        <p:nvPicPr>
          <p:cNvPr id="10" name="logo_34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4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Reading · How to win an online argument (1)   ·   📖 SB p.69 · 6a (the article is on the slide)</a:t>
            </a:r>
            <a:endParaRPr lang="en-US" sz="800" dirty="0"/>
          </a:p>
        </p:txBody>
      </p:sp>
      <p:sp>
        <p:nvSpPr>
          <p:cNvPr id="12" name="cd_343"/>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44"/>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How to win an online argument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it comes to arguing face-to-face, many people use persuasive intonation or facial expressions to help win the argument. However, these are no use when you want to argue your case online. A recent study of comment threads on online forums has found that some words are more effective than others and that using numbers makes you more persuasive. Lillian Lee and her PhD students at Cornell University analysed almost two years of posts made on the forum site ChangeMyView, a website where users invite others to challenge their views and present alternative opinions.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best ways to win an argument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Get your timing right Typically, the first person to reply to the thread has a greater chance of changing the view of the original poster (OP) than someone who joins the debate later on.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Use alternative terminology Use words that are different from those used in the post. For example, if discussing climate change, describing it as global warming in a reply makes more of an impact than using the same terminology as the OP.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Be polite The study suggests that swearing or using aggressive terms instantly makes your argument less effective.</a:t>
            </a:r>
            <a:endParaRPr lang="en-US" sz="950" dirty="0"/>
          </a:p>
        </p:txBody>
      </p:sp>
      <p:sp>
        <p:nvSpPr>
          <p:cNvPr id="14" name="R1_rdE34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How to win an online argument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When it comes to arguing face-to-face, many people use persuasive intonation or facial expressions to help win the argument. However, these are no use when you want to argue your case online. A recent study of comment threads on online forums has found that some words are more effective than others and that using numbers makes you more persuasive. Lillian Lee and her PhD students at Cornell University analysed almost two years of posts made on the forum site ChangeMyView, a website where users invite others to challenge their views and present alternative opinions.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best ways to win an argument</a:t>
            </a:r>
            <a:endParaRPr lang="en-US" sz="950" dirty="0"/>
          </a:p>
          <a:p>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Get your timing right</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Typically, the first person to reply to the thread has a greater chance of changing the view of the original poster (OP) than someone who joins the debate later on.</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Use alternative terminology Use words that are different from those used in the post. For example, if discussing climate change, describing it as global warming in a reply makes more of an impact than using the same terminology as the OP.</a:t>
            </a:r>
            <a:endParaRPr lang="en-US" sz="950" dirty="0"/>
          </a:p>
          <a:p>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Be polite</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The study suggests that swearing or using aggressive terms instantly makes your argument less effective.</a:t>
            </a:r>
            <a:endParaRPr lang="en-US" sz="950" dirty="0"/>
          </a:p>
        </p:txBody>
      </p:sp>
      <p:sp>
        <p:nvSpPr>
          <p:cNvPr id="15" name="cd_346"/>
          <p:cNvSpPr/>
          <p:nvPr/>
        </p:nvSpPr>
        <p:spPr>
          <a:xfrm>
            <a:off x="6263640" y="1417320"/>
            <a:ext cx="2606040" cy="1613408"/>
          </a:xfrm>
          <a:prstGeom prst="roundRect">
            <a:avLst>
              <a:gd name="adj" fmla="val 793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6" name="ii_347"/>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48"/>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Face-to-face too?</a:t>
            </a:r>
            <a:endParaRPr lang="en-US" sz="1300" dirty="0"/>
          </a:p>
        </p:txBody>
      </p:sp>
      <p:sp>
        <p:nvSpPr>
          <p:cNvPr id="18" name="il_349"/>
          <p:cNvSpPr/>
          <p:nvPr/>
        </p:nvSpPr>
        <p:spPr>
          <a:xfrm>
            <a:off x="6830568" y="1911096"/>
            <a:ext cx="1947672" cy="1046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Which tips also work in a real argument?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Which is the most important?</a:t>
            </a:r>
            <a:endParaRPr lang="en-US" sz="1150" dirty="0"/>
          </a:p>
        </p:txBody>
      </p:sp>
      <p:sp>
        <p:nvSpPr>
          <p:cNvPr id="19" name="R1_chip350"/>
          <p:cNvSpPr/>
          <p:nvPr/>
        </p:nvSpPr>
        <p:spPr>
          <a:xfrm>
            <a:off x="6263640" y="3140456"/>
            <a:ext cx="2606040" cy="1005840"/>
          </a:xfrm>
          <a:prstGeom prst="roundRect">
            <a:avLst>
              <a:gd name="adj" fmla="val 909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Suggested (TG): get your timing right · be polite · use evidence · show consideration · know when to give up</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52"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53"/>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Win an online argument (2)</a:t>
            </a:r>
            <a:endParaRPr lang="en-US" sz="2500" dirty="0"/>
          </a:p>
        </p:txBody>
      </p:sp>
      <p:pic>
        <p:nvPicPr>
          <p:cNvPr id="6" name="brP_35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5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part 2. Then improve the highlighted phrases in the posts.</a:t>
            </a:r>
            <a:endParaRPr lang="en-US" sz="1100" dirty="0"/>
          </a:p>
        </p:txBody>
      </p:sp>
      <p:sp>
        <p:nvSpPr>
          <p:cNvPr id="8" name="insIT_3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parte 2. Poi migliora le frasi evidenziate nei post.</a:t>
            </a:r>
            <a:endParaRPr lang="en-US" sz="950" dirty="0"/>
          </a:p>
        </p:txBody>
      </p:sp>
      <p:sp>
        <p:nvSpPr>
          <p:cNvPr id="9" name="note_35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 writing</a:t>
            </a:r>
            <a:endParaRPr lang="en-US" sz="1150" dirty="0"/>
          </a:p>
        </p:txBody>
      </p:sp>
      <p:pic>
        <p:nvPicPr>
          <p:cNvPr id="10" name="logo_3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Reading · How to win an online argument (2)   ·   📖 SB p.69 · 6b (TG suggested answers)</a:t>
            </a:r>
            <a:endParaRPr lang="en-US" sz="800" dirty="0"/>
          </a:p>
        </p:txBody>
      </p:sp>
      <p:sp>
        <p:nvSpPr>
          <p:cNvPr id="12" name="cd_360"/>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61"/>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How to win an online argument (2)</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Think about length Longer replies in general tend to be seen as more persuasive.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Use evidence Using numbers, statistics, and examples to back up opinions makes people sound more convincing. The same is true of links to examples and outside sources.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Show consideration for other's opinions Phrases like 'It could be the case that…' or 'It may be true that…' show that you are open to other points of view. Although this sounds like it might signal a weaker argument, the researchers said it may make your argument easier to accept, by softening its tone.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Check the language in the original post Personal pronouns, such as I, suggest that a person is more open-minded to persuasion, whereas we and us suggest they are more stubborn. Stubborn people also use more emotive language and use decisive words such as certain, nothing, and best.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Know when to give up Finally, the researchers found that after four or five 'back-and-forth' posts have been made, the chances of changing someone's opinion significantly drops.</a:t>
            </a:r>
            <a:endParaRPr lang="en-US" sz="950" dirty="0"/>
          </a:p>
        </p:txBody>
      </p:sp>
      <p:sp>
        <p:nvSpPr>
          <p:cNvPr id="14" name="R1_rdE36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How to win an online argument (2)</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Think about length Longer replies in general tend to be seen as more persuasive.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Use evidence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Using numbers, statistics, and examples</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to back up opinions makes people sound more convincing. The same is true of links to examples and outside sources.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Show consideration for other's opinions Phrases like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'It could be the case that…' or 'It may be true that…'</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show that you are open to other points of view. Although this sounds like it might signal a weaker argument, the researchers said it may make your argument easier to accept, by softening its tone.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Check the language in the original post Personal pronouns, such as I, suggest that a person is more open-minded to persuasion, whereas we and us suggest they are more stubborn. Stubborn people also use more emotive language and use decisive words such as certain, nothing, and best.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Know when to give up Finally, the researchers found that after four or five 'back-and-forth' posts have been made, the chances of changing someone's opinion significantly drops.</a:t>
            </a:r>
            <a:endParaRPr lang="en-US" sz="950" dirty="0"/>
          </a:p>
        </p:txBody>
      </p:sp>
      <p:sp>
        <p:nvSpPr>
          <p:cNvPr id="15" name="bd_363"/>
          <p:cNvSpPr/>
          <p:nvPr/>
        </p:nvSpPr>
        <p:spPr>
          <a:xfrm>
            <a:off x="6172200" y="1541526"/>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1</a:t>
            </a:r>
            <a:endParaRPr lang="en-US" sz="900" dirty="0"/>
          </a:p>
        </p:txBody>
      </p:sp>
      <p:sp>
        <p:nvSpPr>
          <p:cNvPr id="16" name="rq_364"/>
          <p:cNvSpPr/>
          <p:nvPr/>
        </p:nvSpPr>
        <p:spPr>
          <a:xfrm>
            <a:off x="6492240" y="1417320"/>
            <a:ext cx="2423160" cy="522732"/>
          </a:xfrm>
          <a:prstGeom prst="roundRect">
            <a:avLst>
              <a:gd name="adj" fmla="val 13994"/>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1 'You must be crazy! Everybody knows that it will never be possible to completely eradicate plastic.'</a:t>
            </a:r>
            <a:endParaRPr lang="en-US" sz="900" dirty="0"/>
          </a:p>
        </p:txBody>
      </p:sp>
      <p:sp>
        <p:nvSpPr>
          <p:cNvPr id="17" name="R1_chip365"/>
          <p:cNvSpPr/>
          <p:nvPr/>
        </p:nvSpPr>
        <p:spPr>
          <a:xfrm>
            <a:off x="6492240" y="1967484"/>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Be polite → 'I'm sorry, I don't agree.'</a:t>
            </a:r>
            <a:endParaRPr lang="en-US" sz="900" dirty="0"/>
          </a:p>
        </p:txBody>
      </p:sp>
      <p:sp>
        <p:nvSpPr>
          <p:cNvPr id="18" name="bd_366"/>
          <p:cNvSpPr/>
          <p:nvPr/>
        </p:nvSpPr>
        <p:spPr>
          <a:xfrm>
            <a:off x="6172200" y="2678430"/>
            <a:ext cx="274320" cy="27432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2</a:t>
            </a:r>
            <a:endParaRPr lang="en-US" sz="900" dirty="0"/>
          </a:p>
        </p:txBody>
      </p:sp>
      <p:sp>
        <p:nvSpPr>
          <p:cNvPr id="19" name="rq_367"/>
          <p:cNvSpPr/>
          <p:nvPr/>
        </p:nvSpPr>
        <p:spPr>
          <a:xfrm>
            <a:off x="6492240" y="2554224"/>
            <a:ext cx="2423160" cy="522732"/>
          </a:xfrm>
          <a:prstGeom prst="roundRect">
            <a:avLst>
              <a:gd name="adj" fmla="val 13994"/>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2 'According to my mother, children who grow up bilingual find it easier to learn a third language.'</a:t>
            </a:r>
            <a:endParaRPr lang="en-US" sz="900" dirty="0"/>
          </a:p>
        </p:txBody>
      </p:sp>
      <p:sp>
        <p:nvSpPr>
          <p:cNvPr id="20" name="R2_chip368"/>
          <p:cNvSpPr/>
          <p:nvPr/>
        </p:nvSpPr>
        <p:spPr>
          <a:xfrm>
            <a:off x="6492240" y="3104388"/>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Use evidence → 'According to some research I read,…'</a:t>
            </a:r>
            <a:endParaRPr lang="en-US" sz="900" dirty="0"/>
          </a:p>
        </p:txBody>
      </p:sp>
      <p:sp>
        <p:nvSpPr>
          <p:cNvPr id="21" name="bd_369"/>
          <p:cNvSpPr/>
          <p:nvPr/>
        </p:nvSpPr>
        <p:spPr>
          <a:xfrm>
            <a:off x="6172200" y="3815334"/>
            <a:ext cx="274320" cy="27432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3</a:t>
            </a:r>
            <a:endParaRPr lang="en-US" sz="900" dirty="0"/>
          </a:p>
        </p:txBody>
      </p:sp>
      <p:sp>
        <p:nvSpPr>
          <p:cNvPr id="22" name="rq_370"/>
          <p:cNvSpPr/>
          <p:nvPr/>
        </p:nvSpPr>
        <p:spPr>
          <a:xfrm>
            <a:off x="6492240" y="3691128"/>
            <a:ext cx="2423160" cy="522732"/>
          </a:xfrm>
          <a:prstGeom prst="roundRect">
            <a:avLst>
              <a:gd name="adj" fmla="val 13994"/>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3 'You're completely wrong to say that all young people are addicted to technology.'</a:t>
            </a:r>
            <a:endParaRPr lang="en-US" sz="900" dirty="0"/>
          </a:p>
        </p:txBody>
      </p:sp>
      <p:sp>
        <p:nvSpPr>
          <p:cNvPr id="23" name="R3_chip371"/>
          <p:cNvSpPr/>
          <p:nvPr/>
        </p:nvSpPr>
        <p:spPr>
          <a:xfrm>
            <a:off x="6492240" y="4241292"/>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Show consideration → 'It may be true that a lot of young people…'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373"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74"/>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375"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376"/>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37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378"/>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3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Exit · what can you remember?</a:t>
            </a:r>
            <a:endParaRPr lang="en-US" sz="800" dirty="0"/>
          </a:p>
        </p:txBody>
      </p:sp>
      <p:sp>
        <p:nvSpPr>
          <p:cNvPr id="12" name="bd_381"/>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382"/>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tips for arguing better.</a:t>
            </a:r>
            <a:endParaRPr lang="en-US" sz="1400" dirty="0"/>
          </a:p>
        </p:txBody>
      </p:sp>
      <p:sp>
        <p:nvSpPr>
          <p:cNvPr id="14" name="bd_383"/>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384"/>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pairs of verbs often confused – in a sentence each.</a:t>
            </a:r>
            <a:endParaRPr lang="en-US" sz="1400" dirty="0"/>
          </a:p>
        </p:txBody>
      </p:sp>
      <p:sp>
        <p:nvSpPr>
          <p:cNvPr id="16" name="bd_385"/>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386"/>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you'd rather do this weekend – and why.</a:t>
            </a:r>
            <a:endParaRPr lang="en-US" sz="1400" dirty="0"/>
          </a:p>
        </p:txBody>
      </p:sp>
      <p:sp>
        <p:nvSpPr>
          <p:cNvPr id="18" name="cd_387"/>
          <p:cNvSpPr/>
          <p:nvPr/>
        </p:nvSpPr>
        <p:spPr>
          <a:xfrm>
            <a:off x="5669280" y="1417320"/>
            <a:ext cx="3200400" cy="1453896"/>
          </a:xfrm>
          <a:prstGeom prst="roundRect">
            <a:avLst>
              <a:gd name="adj" fmla="val 880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388"/>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389"/>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390"/>
          <p:cNvSpPr/>
          <p:nvPr/>
        </p:nvSpPr>
        <p:spPr>
          <a:xfrm>
            <a:off x="6236208" y="1911096"/>
            <a:ext cx="2542032" cy="886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7A pp.47–48: 3 and 4a–4b</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Write an online comment (60–80 words)</a:t>
            </a:r>
            <a:endParaRPr lang="en-US" sz="1150" dirty="0"/>
          </a:p>
        </p:txBody>
      </p:sp>
      <p:sp>
        <p:nvSpPr>
          <p:cNvPr id="22" name="st_391"/>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7B It's all an act – verbs of the senses (SB p.70)</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393"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94"/>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395"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396"/>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39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39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3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Review · what did you do today?</a:t>
            </a:r>
            <a:endParaRPr lang="en-US" sz="800" dirty="0"/>
          </a:p>
        </p:txBody>
      </p:sp>
      <p:sp>
        <p:nvSpPr>
          <p:cNvPr id="12" name="cd_401"/>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402"/>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403"/>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Role-played an argument – twice</a:t>
            </a:r>
            <a:endParaRPr lang="en-US" sz="1350" dirty="0"/>
          </a:p>
        </p:txBody>
      </p:sp>
      <p:sp>
        <p:nvSpPr>
          <p:cNvPr id="15" name="R1_tk404"/>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05"/>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06"/>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07"/>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psychologist's tips</a:t>
            </a:r>
            <a:endParaRPr lang="en-US" sz="1350" dirty="0"/>
          </a:p>
        </p:txBody>
      </p:sp>
      <p:sp>
        <p:nvSpPr>
          <p:cNvPr id="19" name="R2_tk408"/>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09"/>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10"/>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11"/>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Used would rather</a:t>
            </a:r>
            <a:endParaRPr lang="en-US" sz="1350" dirty="0"/>
          </a:p>
        </p:txBody>
      </p:sp>
      <p:sp>
        <p:nvSpPr>
          <p:cNvPr id="23" name="R3_tk412"/>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13"/>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14"/>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15"/>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verbs often confused: rob / steal…</a:t>
            </a:r>
            <a:endParaRPr lang="en-US" sz="1350" dirty="0"/>
          </a:p>
        </p:txBody>
      </p:sp>
      <p:sp>
        <p:nvSpPr>
          <p:cNvPr id="27" name="R4_tk416"/>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17"/>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18"/>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19"/>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how to win an online argument</a:t>
            </a:r>
            <a:endParaRPr lang="en-US" sz="1350" dirty="0"/>
          </a:p>
        </p:txBody>
      </p:sp>
      <p:sp>
        <p:nvSpPr>
          <p:cNvPr id="31" name="R5_tk420"/>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21"/>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422"/>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423"/>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424"/>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425"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427"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428"/>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Win the thread!</a:t>
            </a:r>
            <a:endParaRPr lang="en-US" sz="2500" dirty="0"/>
          </a:p>
        </p:txBody>
      </p:sp>
      <p:pic>
        <p:nvPicPr>
          <p:cNvPr id="6" name="brP_42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3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Online thread! Write a reply, pass the paper, reply to the reply…</a:t>
            </a:r>
            <a:endParaRPr lang="en-US" sz="1100" dirty="0"/>
          </a:p>
        </p:txBody>
      </p:sp>
      <p:sp>
        <p:nvSpPr>
          <p:cNvPr id="8" name="insIT_43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Discussione online! Scrivi una risposta, passa il foglio, rispondi alla risposta…</a:t>
            </a:r>
            <a:endParaRPr lang="en-US" sz="950" dirty="0"/>
          </a:p>
        </p:txBody>
      </p:sp>
      <p:sp>
        <p:nvSpPr>
          <p:cNvPr id="9" name="note_43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7 min   👨‍👩‍👧 groups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Communicative game</a:t>
            </a:r>
            <a:endParaRPr lang="en-US" sz="1150" dirty="0"/>
          </a:p>
        </p:txBody>
      </p:sp>
      <p:pic>
        <p:nvPicPr>
          <p:cNvPr id="10" name="logo_43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3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7A-2 · Writing · comment thread   ·   📖 SB p.69 · 6c, 6d</a:t>
            </a:r>
            <a:endParaRPr lang="en-US" sz="800" dirty="0"/>
          </a:p>
        </p:txBody>
      </p:sp>
      <p:sp>
        <p:nvSpPr>
          <p:cNvPr id="12" name="ext_435"/>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cd_436"/>
          <p:cNvSpPr/>
          <p:nvPr/>
        </p:nvSpPr>
        <p:spPr>
          <a:xfrm>
            <a:off x="320040" y="1417320"/>
            <a:ext cx="2697480" cy="2502408"/>
          </a:xfrm>
          <a:prstGeom prst="roundRect">
            <a:avLst>
              <a:gd name="adj" fmla="val 511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4" name="ii_43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43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6" name="il_439"/>
          <p:cNvSpPr/>
          <p:nvPr/>
        </p:nvSpPr>
        <p:spPr>
          <a:xfrm>
            <a:off x="886968" y="1911096"/>
            <a:ext cx="2039112" cy="1935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Groups of 4: each student takes ONE statement.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Write a short reply for or against. Use the tips!</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Pass the paper. Reply to the post AND the comments. 4 rounds.</a:t>
            </a:r>
            <a:endParaRPr lang="en-US" sz="1200" dirty="0"/>
          </a:p>
        </p:txBody>
      </p:sp>
      <p:sp>
        <p:nvSpPr>
          <p:cNvPr id="17" name="bd_440"/>
          <p:cNvSpPr/>
          <p:nvPr/>
        </p:nvSpPr>
        <p:spPr>
          <a:xfrm>
            <a:off x="3246120" y="1572768"/>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8" name="gq_441"/>
          <p:cNvSpPr/>
          <p:nvPr/>
        </p:nvSpPr>
        <p:spPr>
          <a:xfrm>
            <a:off x="3657600" y="1417320"/>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1 Private schools and hospitals should be abolished.</a:t>
            </a:r>
            <a:endParaRPr lang="en-US" sz="1000" dirty="0"/>
          </a:p>
        </p:txBody>
      </p:sp>
      <p:sp>
        <p:nvSpPr>
          <p:cNvPr id="19" name="R1_chip442"/>
          <p:cNvSpPr/>
          <p:nvPr/>
        </p:nvSpPr>
        <p:spPr>
          <a:xfrm>
            <a:off x="6263640" y="1417320"/>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It may be true that… but according to…</a:t>
            </a:r>
            <a:endParaRPr lang="en-US" sz="1200" dirty="0"/>
          </a:p>
        </p:txBody>
      </p:sp>
      <p:sp>
        <p:nvSpPr>
          <p:cNvPr id="20" name="bd_443"/>
          <p:cNvSpPr/>
          <p:nvPr/>
        </p:nvSpPr>
        <p:spPr>
          <a:xfrm>
            <a:off x="3246120" y="22768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gq_444"/>
          <p:cNvSpPr/>
          <p:nvPr/>
        </p:nvSpPr>
        <p:spPr>
          <a:xfrm>
            <a:off x="3657600" y="2121408"/>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2 The best way to save the planet is to become a vegan.</a:t>
            </a:r>
            <a:endParaRPr lang="en-US" sz="1000" dirty="0"/>
          </a:p>
        </p:txBody>
      </p:sp>
      <p:sp>
        <p:nvSpPr>
          <p:cNvPr id="22" name="R2_chip445"/>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Statistics show that… However,…</a:t>
            </a:r>
            <a:endParaRPr lang="en-US" sz="1200" dirty="0"/>
          </a:p>
        </p:txBody>
      </p:sp>
      <p:sp>
        <p:nvSpPr>
          <p:cNvPr id="23" name="bd_446"/>
          <p:cNvSpPr/>
          <p:nvPr/>
        </p:nvSpPr>
        <p:spPr>
          <a:xfrm>
            <a:off x="3246120" y="298094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gq_447"/>
          <p:cNvSpPr/>
          <p:nvPr/>
        </p:nvSpPr>
        <p:spPr>
          <a:xfrm>
            <a:off x="3657600" y="2825496"/>
            <a:ext cx="2514600" cy="640080"/>
          </a:xfrm>
          <a:prstGeom prst="roundRect">
            <a:avLst>
              <a:gd name="adj" fmla="val 1428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3 It's impossible to like the works of an artist or musician if you think they were bad people.</a:t>
            </a:r>
            <a:endParaRPr lang="en-US" sz="1000" dirty="0"/>
          </a:p>
        </p:txBody>
      </p:sp>
      <p:sp>
        <p:nvSpPr>
          <p:cNvPr id="25" name="R3_chip448"/>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It could be the case that…</a:t>
            </a:r>
            <a:endParaRPr lang="en-US" sz="1200" dirty="0"/>
          </a:p>
        </p:txBody>
      </p:sp>
      <p:sp>
        <p:nvSpPr>
          <p:cNvPr id="26" name="bd_449"/>
          <p:cNvSpPr/>
          <p:nvPr/>
        </p:nvSpPr>
        <p:spPr>
          <a:xfrm>
            <a:off x="3246120" y="368503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gq_450"/>
          <p:cNvSpPr/>
          <p:nvPr/>
        </p:nvSpPr>
        <p:spPr>
          <a:xfrm>
            <a:off x="3657600" y="3529584"/>
            <a:ext cx="2514600" cy="640080"/>
          </a:xfrm>
          <a:prstGeom prst="roundRect">
            <a:avLst>
              <a:gd name="adj" fmla="val 1428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4 People should not be allowed to inherit money or property from their parents.</a:t>
            </a:r>
            <a:endParaRPr lang="en-US" sz="1000" dirty="0"/>
          </a:p>
        </p:txBody>
      </p:sp>
      <p:sp>
        <p:nvSpPr>
          <p:cNvPr id="28" name="R4_chip451"/>
          <p:cNvSpPr/>
          <p:nvPr/>
        </p:nvSpPr>
        <p:spPr>
          <a:xfrm>
            <a:off x="6263640" y="3529584"/>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I'm sorry, I don't agree, because…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453"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54"/>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Verb race</a:t>
            </a:r>
            <a:endParaRPr lang="en-US" sz="2500" dirty="0"/>
          </a:p>
        </p:txBody>
      </p:sp>
      <p:pic>
        <p:nvPicPr>
          <p:cNvPr id="6" name="brP_455"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456"/>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Circle the correct word – race!</a:t>
            </a:r>
            <a:endParaRPr lang="en-US" sz="1250" dirty="0"/>
          </a:p>
        </p:txBody>
      </p:sp>
      <p:sp>
        <p:nvSpPr>
          <p:cNvPr id="8" name="insIT_45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Cerchia la parola giusta – gara!</a:t>
            </a:r>
            <a:endParaRPr lang="en-US" sz="950" dirty="0"/>
          </a:p>
        </p:txBody>
      </p:sp>
      <p:sp>
        <p:nvSpPr>
          <p:cNvPr id="9" name="note_45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250" dirty="0"/>
          </a:p>
        </p:txBody>
      </p:sp>
      <p:pic>
        <p:nvPicPr>
          <p:cNvPr id="10" name="logo_4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60"/>
          <p:cNvSpPr/>
          <p:nvPr/>
        </p:nvSpPr>
        <p:spPr>
          <a:xfrm>
            <a:off x="274320" y="4873752"/>
            <a:ext cx="6858000" cy="219456"/>
          </a:xfrm>
          <a:prstGeom prst="rect">
            <a:avLst/>
          </a:prstGeom>
          <a:noFill/>
          <a:ln/>
        </p:spPr>
        <p:txBody>
          <a:bodyPr wrap="square" lIns="0" tIns="0" rIns="0" bIns="0" rtlCol="0" anchor="ctr"/>
          <a:lstStyle/>
          <a:p>
            <a:pPr indent="0" marL="0">
              <a:buNone/>
            </a:pPr>
            <a:r>
              <a:rPr lang="en-US" sz="700" dirty="0">
                <a:solidFill>
                  <a:srgbClr val="5B6785"/>
                </a:solidFill>
                <a:latin typeface="Segoe UI Semibold" pitchFamily="34" charset="0"/>
                <a:ea typeface="Segoe UI Semibold" pitchFamily="34" charset="-122"/>
                <a:cs typeface="Segoe UI Semibold" pitchFamily="34" charset="-120"/>
              </a:rPr>
              <a:t>7A-2 · Vocabulary · PCM 7A verbs often confused   ·   📖 Photocopiable Vocabulary 7A 'Verbs often confused' (TG p.224) – items 1, 3, 6, 8, 11, 12</a:t>
            </a:r>
            <a:endParaRPr lang="en-US" sz="700" dirty="0"/>
          </a:p>
        </p:txBody>
      </p:sp>
      <p:sp>
        <p:nvSpPr>
          <p:cNvPr id="12" name="ext_461"/>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cd_462"/>
          <p:cNvSpPr/>
          <p:nvPr/>
        </p:nvSpPr>
        <p:spPr>
          <a:xfrm>
            <a:off x="320040" y="1417320"/>
            <a:ext cx="2697480" cy="2112264"/>
          </a:xfrm>
          <a:prstGeom prst="roundRect">
            <a:avLst>
              <a:gd name="adj" fmla="val 606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4" name="ii_46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46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6" name="il_465"/>
          <p:cNvSpPr/>
          <p:nvPr/>
        </p:nvSpPr>
        <p:spPr>
          <a:xfrm>
            <a:off x="886968" y="1911096"/>
            <a:ext cx="2039112" cy="1545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Teacher reads the sentence with both verbs.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First team to say the right one = 1 point.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Explain why = 1 more point!</a:t>
            </a:r>
            <a:endParaRPr lang="en-US" sz="1150" dirty="0"/>
          </a:p>
        </p:txBody>
      </p:sp>
      <p:sp>
        <p:nvSpPr>
          <p:cNvPr id="17" name="st_466"/>
          <p:cNvSpPr/>
          <p:nvPr/>
        </p:nvSpPr>
        <p:spPr>
          <a:xfrm rot="-180000">
            <a:off x="502920" y="3712464"/>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8" name="bd_467"/>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9" name="gq_468"/>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 hope / wish I knew the answer to this question.</a:t>
            </a:r>
            <a:endParaRPr lang="en-US" sz="900" dirty="0"/>
          </a:p>
        </p:txBody>
      </p:sp>
      <p:sp>
        <p:nvSpPr>
          <p:cNvPr id="20" name="chip_469"/>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wish</a:t>
            </a:r>
            <a:endParaRPr lang="en-US" sz="1200" dirty="0"/>
          </a:p>
        </p:txBody>
      </p:sp>
      <p:sp>
        <p:nvSpPr>
          <p:cNvPr id="21" name="bd_470"/>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471"/>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When I ask my son what the problem is, he just denies / refuses to talk about it.</a:t>
            </a:r>
            <a:endParaRPr lang="en-US" sz="900" dirty="0"/>
          </a:p>
        </p:txBody>
      </p:sp>
      <p:sp>
        <p:nvSpPr>
          <p:cNvPr id="23" name="R1_chip472"/>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refuses</a:t>
            </a:r>
            <a:endParaRPr lang="en-US" sz="1200" dirty="0"/>
          </a:p>
        </p:txBody>
      </p:sp>
      <p:sp>
        <p:nvSpPr>
          <p:cNvPr id="24" name="bd_473"/>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474"/>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Hurry up! I can't expect / wait forever.</a:t>
            </a:r>
            <a:endParaRPr lang="en-US" sz="900" dirty="0"/>
          </a:p>
        </p:txBody>
      </p:sp>
      <p:sp>
        <p:nvSpPr>
          <p:cNvPr id="26" name="R2_chip475"/>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wait</a:t>
            </a:r>
            <a:endParaRPr lang="en-US" sz="1200" dirty="0"/>
          </a:p>
        </p:txBody>
      </p:sp>
      <p:sp>
        <p:nvSpPr>
          <p:cNvPr id="27" name="bd_476"/>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477"/>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 love laying / lying on the beach with a good book in summer.</a:t>
            </a:r>
            <a:endParaRPr lang="en-US" sz="900" dirty="0"/>
          </a:p>
        </p:txBody>
      </p:sp>
      <p:sp>
        <p:nvSpPr>
          <p:cNvPr id="29" name="R3_chip478"/>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lying</a:t>
            </a:r>
            <a:endParaRPr lang="en-US" sz="1200" dirty="0"/>
          </a:p>
        </p:txBody>
      </p:sp>
      <p:sp>
        <p:nvSpPr>
          <p:cNvPr id="30" name="bd_479"/>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480"/>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 was robbed / stolen when I took the train home last night.</a:t>
            </a:r>
            <a:endParaRPr lang="en-US" sz="900" dirty="0"/>
          </a:p>
        </p:txBody>
      </p:sp>
      <p:sp>
        <p:nvSpPr>
          <p:cNvPr id="32" name="R4_chip481"/>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robbed</a:t>
            </a:r>
            <a:endParaRPr lang="en-US" sz="1200" dirty="0"/>
          </a:p>
        </p:txBody>
      </p:sp>
      <p:sp>
        <p:nvSpPr>
          <p:cNvPr id="33" name="bd_482"/>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483"/>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Has she returned the jacket you borrowed / lent her?</a:t>
            </a:r>
            <a:endParaRPr lang="en-US" sz="900" dirty="0"/>
          </a:p>
        </p:txBody>
      </p:sp>
      <p:sp>
        <p:nvSpPr>
          <p:cNvPr id="35" name="R5_chip484"/>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lent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7A-2 Let's not argue (2)</dc:title>
  <dc:subject>PptxGenJS Presentation</dc:subject>
  <dc:creator>PptxGenJS</dc:creator>
  <cp:lastModifiedBy>PptxGenJS</cp:lastModifiedBy>
  <cp:revision>1</cp:revision>
  <dcterms:created xsi:type="dcterms:W3CDTF">2026-10-23T07:38:13Z</dcterms:created>
  <dcterms:modified xsi:type="dcterms:W3CDTF">2026-10-23T07:38:13Z</dcterms:modified>
</cp:coreProperties>
</file>