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 (a young pianist). Ask the THINK question; take 3–4 answers – push for a reason: 'How? Give me an example.' Click: the example answer. Read 'Today you're going to…' together. Don't correct gerunds/infinitives yet – just note errors like 'I like listen' for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(6A) (2 min)
REVISION (2 min). Read the examples together. Ask 2 students: 'What did you use to do before bed when you were small?' 'Is there anything you can't get used to?' Point out the key contrast again: used to + VERB (past habit) vs be/get used to + -ING (to = preposition). This prepares today: TODAY's grammar is also about -ing vs to. Then the warmer game uses exactly these sleep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6A sleep words (3 min)
RETRIEVAL WARMER (3 min). Variation of 'Describe it!' (last lesson's warmer was 'Here's the answer – what's the question?'). Demo first with a strong student: 'I'm not used to sleeping in the afternoon, but in Spain they often have one after lunch' → a nap. Click once per word (A sees it, B faces away). After round 1, partners swap seats/roles. Bonus point when the description uses used to / be used to / get used to correctly (I'm used to + -ing!). ICQ: 'Can you say the word?' (no) · 'Italian?' (no, English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Speaking · music in your day (3 min)
LEAD-IN (3 min). SB 1a. Questions appear ONE per click (about 30 seconds each). Model Q1 with your own answer. Push beyond the first answer: 'Why?', 'Always?'. Q5 = extension (negative/absurd questions get teens talking). Note good answers about MOOD – they lead straight into John Sloboda's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Listening · prediction (2 min)
PREDICTION (2 min). Read the introduction. Pairs use the 6 words to guess John's three reasons: 'I think one reason is to relax after work…' Take 2–3 guesses and write them on the board – DON'T confirm. ICQ: 'Are we listening yet?' (no – guessing first). The words come from his examples (film = Casablanca, night = going out in the evening, work = relaxing after work, sad / angry / date (a romantic dinner) = intensifying emotions).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Listening · John Sloboda, Part 1 (5 min)
LISTENING FOR KEY IDEAS (5 min). Worked example: show row 1 – 'to make us ___' needs a verb + what (e.g. 'remember…'). Play 6.10 once (1 min 40). Pairs compare and try to remember more (SB 1c). Play again (🐢 slower copy for weaker students). Click once per row. ANSWERS (SB key 1c): 1 to make us remember important moments in the past, e.g. when we met someone for the first time (like Humphrey Bogart in Casablanca saying 'Darling, they're playing our song'). 2 to help us to change activities, e.g. to prepare us to go out in the evening, to relax us when we get home from work. 3 to intensify the emotion that we're feeling, e.g. if we're feeling sad, we want to get sadder; if we're angry, we want to intensify the anger; at a romantic dinner, music makes it more romantic. Compare with the class predictions from the board. SB 1d (30 sec, pairs): 'When do YOU listen to music for one of these reasons? What kind?' AUDIO SCRIPT: not in our files – see the Student's Book audioscript (Listening 6.10).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Listening · four pieces of music (3 min)
PERSONAL RESPONSE (3 min). SB 1e: there is no 'right' answer – students write their own adjective for each extract. Play 6.11 once (1 min 30, four extracts – pause briefly after each). B2 PRECISION challenge: no 'happy', 'sad', 'nice' – choose a more precise word. Then click: the chips are only suggestions to extend vocabulary (not book answers). Q5 = quick pair talk. In Part 2 (next slide) John says which emotion HE links to each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Listening · John Sloboda, Part 2 (5 min)
LISTENING FOR DETAIL (5 min). Give 30 seconds to read and GUESS (e.g. 'happy people speak… faster?'). Play 6.12 (3 min 15 – the longest track; pause after the human voice part if needed, or use the 🐢 slower copy for a second listening). Pairs compare. Click once per row. ANSWERS (SB key 1f): human voice: happy = people speak faster, the voice is higher · sad = people speak more slowly, the voice is lower · angry = people raise their voice or shout. Music copies the voice: 1 faster, high-pitched music sounds happy · 2 slow music with falling pitches sounds sad · 3 loud music with irregular rhythms sounds angry. Next slide: the emotions John gives each piece. AUDIO SCRIPT: not in our files (SB audioscript 6.12).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Listening · John's emotions (1 min)
CHECK (1 min). From memory (they heard it in 6.12); replay the end of 6.12 if they're unsure. Click once per piece. ANSWERS (SB key 1f): 1 happy = the Beethoven · 2 angry = the Holst · 3 sad = the Albinoni · 4 terrified = the film music from Psycho. Quick question: 'Did John's emotions match YOUR adjectives?'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Grammar · from the talk (3 min)
NOTICING (3 min). Row 0 = worked example (click 1 shows it). The sentences come from John's talk (SB 2a). Pairs write the verbs (1 min), then play 6.13 to check; click once per answer. ANSWERS (SB key 2b): 1 remember · 2 hearing · 3 to go, make. Ask: 'Why make us REMEMBER without to?' (make + object + verb) · 'help us (to) make' – both are possible. Point at 2: 'remember HEARING' – did he hear it before or after remembering? (before → a memory).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Grammar · meaning changes (4 min)
GUIDED DISCOVERY (4 min). Worked example: do 1 together – 'Did I meet him before I remember? Yes → a MEMORY (B).' Pairs decide 2–8, click once per sentence. ANSWERS SB 2c: 1 B (to have or keep an image in your memory of something you did) · 2 A (to not forget to do something; to do what you have to do). 3–8 are our extra examples for forget / try / stop: 3 task · 4 memory · 5 effort (it was difficult, maybe impossible) · 6 experiment (do it and see if it helps) · 7 finish (he doesn't play now) · 8 pause/stop in order to do something else. CCQ: 'I stopped smoking / I stopped to smoke – who is a smoker now?' (the second!). Italian: ricordarsi DI fare (task) vs ricordare DI AVER fatto (memory) – Italian uses 'di' for both, so Italians mix them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Grammar · gerunds and infinitives (4 min)
CLARIFY (4 min). Elicit each rule from the previous slide BEFORE clicking the examples (one click per column, then the ⚠ line). CCQs: 'Try singing it lower – is it difficult or an idea to test?' (an idea) · 'I tried to reach the note – did I succeed?' (probably not – it was hard). Column 4 = Grammar Bank 6B verbs: + -ing after enjoy, mind, can't stand, suggest, feel like, imagine, avoid, give up · + to after want, manage, offer, threaten, would prefer, decide · verb without to after make, let, had better, would rather, modal verbs. like / love / hate / prefer: -ing or to with little difference. Italian traps: ✗ suggest to take → suggest taking · ✗ made me to tidy → made me tidy · ✗ I'm looking forward to see → to seeing. Need + -ing appears in the speaking task ('a job that needs doing').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Speaking · class story (TPRS) (4 min)
TPRS CLASS STORY (4 min) – straight after the rule (meaning is clear) and before the controlled practice, the key word race and 'Tell your partner about…', so the class hears remember / forget / try / stop + -ing or to (and let / make + verb) many times in one context. Click once per line. For each line: 1) say it, 2) ask the questions in grey round the class (yes/no → either/or → who/what/why), 3) let the CLASS change details: 'Was the concert in Palermo? No? Where was it? Which band?' – accept their idea and use it in later lines. Students answer with one word or a short phrase – that's fine; at B2 push for the contrast in the answer ('He stopped TO think – he paused; he didn't stop thinking!'). Line 4 and 6 are the key meaning contrasts: stop to think (pause in order to) vs stopped playing (finished); tried climbing (experiment) vs tried to explain (effort). Finish: 'What happens next?' – one or two ideas,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Grammar · practice: today's verbs (4 min)
CONTROLLED PRACTICE (4 min) – ONLY the verbs built up today (remember, forget, try, stop from the talk and the rule; make and need from the story). Worked example in the colour card. Pairs say each sentence with the right form, then click: the colour shows the pattern; a student says WHY (task or memory? effort or experiment? finish or in order to?). Answers: 1 seeing (memory) · 2 to bring (task) · 3 listening (experiment) · 4 to reach (effort) · 5 playing (finish) · 6 to buy (in order to) · 7 practise (make + verb) · 8 tuning (need + -ing). The other Grammar Bank 6B verbs (suggest, manage, can't stand, offer, feel like…) are for homework: Grammar Bank 6B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Game · Cambridge B2 First Part 4 (4 min)
EXAM GAME (4 min). Teams of 2–3. One sentence at a time: 45 seconds per item, teams write on mini-whiteboards/paper, then click. Point for a correct answer of 2–5 words with the key word UNCHANGED; contractions count as 2 words (didn't = did not). B2 First Part 4 facts (tell them): 6 items, 2 marks each (1 mark for each half), meaning must stay the same. Answers (our items): 1 Remember to call · 2 tried to open · 3 Try turning · 4 forget seeing · 5 didn't let me (3 words – contractions count as 2). The worked example is in the 'How to play' card. Common errors to reward/penalise: 'Remember calling' (wrong meaning), 'let me to go' (✗).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Speaking · tell your partner about… (5 min)
FREER PRACTICE (5 min). Prompts appear one per click – show them all, then pairs CHOOSE 3 (+ the extension if they finish early). Model one with your own true story. Worked example: A tells, B asks one follow-up question ('How old were you?'), then swap. Monitor: remember/forget/try + the right form. Other SB 2e prompts you can add: something you must remember to do today or this week · a job that needs doing in your house (e.g. the kitchen ceiling needs repainting) · something you need to do this evening. Delayed correction (1 min): 3 errors on the board, pairs correct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Vocabulary · instruments (3 min)
ELICIT FIRST (3 min). Pairs write the instrument for each clue (row 0 = example). Click once per row. Then play 6.16 (2 min 45 – sounds of instruments and musicians): students SAY which word they hear (no written key for the order in our files – just check orally). 6.17 = listen and check the words + stress: guiTAR, KEYboard, vioLIN, CELlo, SAXophone, conDUCtor, ORchestra, soPRAno. Musicians (choir, orchestra, conductor, soprano) are on the next slide. 3b: 'Can you play any of these instruments? Add more words: trumpet, harp, recorder, clarinet, drummer, pianist, lead singer…' (SB key 3b suggestions).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Vocabulary · musicians + Italian traps (2 min)
CONSOLIDATION (2 min, rule 5). Students explain each word in simple English first; click 1 shows the English meaning, click 2 the Italian and the ⚠ line. FALSE FRIENDS for Italians: a conductor = direttore d'orchestra (a TV conduttore = a presenter / host; a bus conductor = bigliettaio) · a concert = un concerto (show) but a concerto = a piece for a soloist and orchestra · a chorus = ritornello (or a large choir) · lyrics = il testo (not 'la lirica' = opera) · drums = la batteria (✗ battery) · a band = a pop/rock group (banda = brass band). PRONUNCIATION: concerto /kənˈtʃɜːtəʊ/, soprano /səˈprɑːnəʊ/. STRESS: ORchestra /ˈɔːkɪstrə/ (Italian orCHEStra), soPRAno, conDUCtor, CHOIR = one syllable-ish /ˈkwaɪə/.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Pronunciation · words from other languages (3 min)
PRONUNCIATION – RULE, THEN PRACTISE (3 min). Read the SB box 'Foreign words that are used in English': the English pronunciation is often similar to the original language – c before i and e in words from Italian is /tʃ/ (cello, ciao), ch in words from Greek is /k/ (choir, orchestra). 3c: pairs try to say concerto, mezzo-soprano, chorus, rhythm, symphony, ballet, encore, genre and underline the stress. Then click one column at a time and play 6.18 (23 sec) – students repeat. ANSWERS (SB key 3d): the second c in concerto = /tʃ/ · zz in mezzo = /ts/ · ch in chorus = /k/ · rhy in rhythm = /rɪ/ · ph in symphony = /f/ · et in ballet = /eɪ/ · en in encore = /ɒŋ/ · g in genre = /ʒ/. Stress (SB 3c phonemics): conCERto, mezzo-soPRAno, CHOrus, RHYthm, SYMphony, BALlet, ENcore, GENre. THE ITALIAN TRAP: Italians say these words perfectly – in Italian! In English vowels change: cappuccino /ˌkæpʊˈtʃiːnəʊ/, paparazzi /ˌpæpəˈrætsi/ (/æ/), barista /bəˈriːstə/ (weak /ə/). SPEAKERS (bottom right): 1 = 6.18 · 2 = 6.19 (for 3e/f, extra slide 22) · 3–4 = slower copies.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Exit · what can you remember? (2 min)
RETRIEVAL EXIT (2 min). Books closed. Pairs: 3 verbs with their pattern (enjoy + -ing, manage + to, make + verb…), 2 music words with a trap (conductor, concerto, chorus, orchestra…), 1 true 'I'll never forget …-ing' sentence – 3 students read theirs. Set homework: Workbook 6B pp.43–45: Grammar 1a–d; Vocabulary &amp; Pronunciation 2a–h (2d, 2f–h need the Workbook audio 6.3–6.5).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Pronunciation · borrowed words (4 min)
EXTRA (4 min). SB 3e: 18 words – the slide shows 5; do the others in the book. Pairs write I, G or F, then click; play 6.19 from slide 19 (second speaker) to check and repeat (the audio is there so its icon doesn't cover the EXTRA label here). ⚠ The SB key has NO answers for 3e – these are the usual origins; CHECK with audio 6.19: Italian: barista, cappuccino, graffiti, macchiato, paparazzi, villa · French: bouquet, chauffeur, chef, chic, croissant, fiancé · Greek: architecture, hypochondriac, microphone, philosophy, psychic, psychologist (architecture: Greek root, via Latin/French – confirm with the audio). Pronunciation: Greek ps- = /s/ (psychologist /saɪˈkɒlədʒɪst/), ch = /k/ (architecture /ˈɑːkɪtektʃə/); French ch = /ʃ/ (chauffeur, chef, chic). 3g: 'Which English words does Italian borrow? (weekend, smartphone, il manager…) Do Italians say them the English way?'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Game · music words (4 min)
EXTRA GAME (4 min). Same 'Describe it!' format. Point only if B says the word with ENGLISH pronunciation and stress (ORchestra, /ˈkwaɪə/, conCERto). Click once per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Speaking · what music would you play? (5 min)
EXTRA (5 min). SB 1g. Questions one per click. Connect to John's ideas: do they choose music to CHANGE their mood or to INTENSIFY it (reason 3)? The last example is the one printed in the Student's 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audio" Target="../media/media-7-6.mp3"/><Relationship Id="rId7" Type="http://schemas.microsoft.com/office/2007/relationships/media" Target="../media/media-7-6.mp3"/><Relationship Id="rId8" Type="http://schemas.openxmlformats.org/officeDocument/2006/relationships/image" Target="../media/image-7-8.png"/><Relationship Id="rId9" Type="http://schemas.openxmlformats.org/officeDocument/2006/relationships/audio" Target="../media/media-7-9.mp3"/><Relationship Id="rId10" Type="http://schemas.microsoft.com/office/2007/relationships/media" Target="../media/media-7-9.mp3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audio" Target="../media/media-9-5.mp3"/><Relationship Id="rId6" Type="http://schemas.microsoft.com/office/2007/relationships/media" Target="../media/media-9-5.mp3"/><Relationship Id="rId7" Type="http://schemas.openxmlformats.org/officeDocument/2006/relationships/image" Target="../media/image-9-7.png"/><Relationship Id="rId8" Type="http://schemas.openxmlformats.org/officeDocument/2006/relationships/audio" Target="../media/media-9-8.mp3"/><Relationship Id="rId9" Type="http://schemas.microsoft.com/office/2007/relationships/media" Target="../media/media-9-8.mp3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audio" Target="../media/media-10-5.mp3"/><Relationship Id="rId6" Type="http://schemas.microsoft.com/office/2007/relationships/media" Target="../media/media-10-5.mp3"/><Relationship Id="rId7" Type="http://schemas.openxmlformats.org/officeDocument/2006/relationships/image" Target="../media/image-10-7.png"/><Relationship Id="rId8" Type="http://schemas.openxmlformats.org/officeDocument/2006/relationships/audio" Target="../media/media-10-8.mp3"/><Relationship Id="rId9" Type="http://schemas.microsoft.com/office/2007/relationships/media" Target="../media/media-10-8.mp3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audio" Target="../media/media-17-6.mp3"/><Relationship Id="rId7" Type="http://schemas.microsoft.com/office/2007/relationships/media" Target="../media/media-17-6.mp3"/><Relationship Id="rId8" Type="http://schemas.openxmlformats.org/officeDocument/2006/relationships/image" Target="../media/image-17-8.png"/><Relationship Id="rId9" Type="http://schemas.openxmlformats.org/officeDocument/2006/relationships/audio" Target="../media/media-17-9.mp3"/><Relationship Id="rId10" Type="http://schemas.microsoft.com/office/2007/relationships/media" Target="../media/media-17-9.mp3"/><Relationship Id="rId11" Type="http://schemas.openxmlformats.org/officeDocument/2006/relationships/image" Target="../media/image-17-11.png"/><Relationship Id="rId12" Type="http://schemas.openxmlformats.org/officeDocument/2006/relationships/audio" Target="../media/media-17-12.mp3"/><Relationship Id="rId13" Type="http://schemas.microsoft.com/office/2007/relationships/media" Target="../media/media-17-12.mp3"/><Relationship Id="rId14" Type="http://schemas.openxmlformats.org/officeDocument/2006/relationships/image" Target="../media/image-17-14.png"/><Relationship Id="rId15" Type="http://schemas.openxmlformats.org/officeDocument/2006/relationships/audio" Target="../media/media-17-15.mp3"/><Relationship Id="rId16" Type="http://schemas.microsoft.com/office/2007/relationships/media" Target="../media/media-17-15.mp3"/><Relationship Id="rId17" Type="http://schemas.openxmlformats.org/officeDocument/2006/relationships/image" Target="../media/image-17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audio" Target="../media/media-19-5.mp3"/><Relationship Id="rId6" Type="http://schemas.microsoft.com/office/2007/relationships/media" Target="../media/media-19-5.mp3"/><Relationship Id="rId7" Type="http://schemas.openxmlformats.org/officeDocument/2006/relationships/image" Target="../media/image-19-7.png"/><Relationship Id="rId8" Type="http://schemas.openxmlformats.org/officeDocument/2006/relationships/audio" Target="../media/media-19-8.mp3"/><Relationship Id="rId9" Type="http://schemas.microsoft.com/office/2007/relationships/media" Target="../media/media-19-8.mp3"/><Relationship Id="rId10" Type="http://schemas.openxmlformats.org/officeDocument/2006/relationships/image" Target="../media/image-19-10.png"/><Relationship Id="rId11" Type="http://schemas.openxmlformats.org/officeDocument/2006/relationships/audio" Target="../media/media-19-11.mp3"/><Relationship Id="rId12" Type="http://schemas.microsoft.com/office/2007/relationships/media" Target="../media/media-19-11.mp3"/><Relationship Id="rId13" Type="http://schemas.openxmlformats.org/officeDocument/2006/relationships/image" Target="../media/image-19-13.png"/><Relationship Id="rId14" Type="http://schemas.openxmlformats.org/officeDocument/2006/relationships/audio" Target="../media/media-19-14.mp3"/><Relationship Id="rId15" Type="http://schemas.microsoft.com/office/2007/relationships/media" Target="../media/media-19-14.mp3"/><Relationship Id="rId16" Type="http://schemas.openxmlformats.org/officeDocument/2006/relationships/image" Target="../media/image-19-16.png"/><Relationship Id="rId17" Type="http://schemas.openxmlformats.org/officeDocument/2006/relationships/image" Target="../media/image-19-17.png"/><Relationship Id="rId18" Type="http://schemas.openxmlformats.org/officeDocument/2006/relationships/image" Target="../media/image-19-18.png"/><Relationship Id="rId19" Type="http://schemas.openxmlformats.org/officeDocument/2006/relationships/image" Target="../media/image-19-19.png"/><Relationship Id="rId20" Type="http://schemas.openxmlformats.org/officeDocument/2006/relationships/image" Target="../media/image-1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Upper-intermediate · SB pp.60–61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to my ears</a:t>
            </a:r>
            <a:endParaRPr lang="en-US" sz="21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Music, emotions, -ing or to?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 listen to a talk: why do we listen to music?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✏️  -ing or to? remember, try, stop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 music words – and Italian traps!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cello, concerto the English way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💬  tell a partner your music memories</a:t>
            </a:r>
            <a:endParaRPr lang="en-US" sz="8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Yes! When I'm stressed, a calm song helps me – but a sad song makes me even sadder!</a:t>
            </a:r>
            <a:endParaRPr lang="en-US" sz="85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b2_6b_pianist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music change the way you feel?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examples. Then say one about you.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gli esempi. Poi dinne uno su di te.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Revision · last lesson (6A)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b2_6a_moon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6A Night night (2 Oct)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/ be used to / get used to · sleep words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used to · be used to · get used to</a:t>
            </a:r>
            <a:endParaRPr lang="en-US" sz="115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used to sleep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with the light on.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Nurses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used to working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night.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getting used to waking up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at 6.30.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used to + verb · be / get used to + -ing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 words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overslept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missed the bus.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dad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snores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like a train!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I'm a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 wake up easily.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nap · pillow · duvet · fall asleep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snore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0279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nap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4654296" y="417880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oversleep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5747004" y="417880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light sleeper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 asleep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133045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set the alarm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649724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insomnia</a:t>
            </a:r>
            <a:endParaRPr lang="en-US" sz="1050" dirty="0"/>
          </a:p>
        </p:txBody>
      </p:sp>
      <p:sp>
        <p:nvSpPr>
          <p:cNvPr id="34" name="w_48"/>
          <p:cNvSpPr/>
          <p:nvPr/>
        </p:nvSpPr>
        <p:spPr>
          <a:xfrm>
            <a:off x="5664708" y="4544568"/>
            <a:ext cx="1019556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sleepwalk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51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with used to!</a:t>
            </a:r>
            <a:endParaRPr lang="en-US" sz="2500" dirty="0"/>
          </a:p>
        </p:txBody>
      </p:sp>
      <p:pic>
        <p:nvPicPr>
          <p:cNvPr id="6" name="brP_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3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5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5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Warmer · 6A sleep words   ·   📖 Recycles 6A (2 Oct)</a:t>
            </a:r>
            <a:endParaRPr lang="en-US" sz="800" dirty="0"/>
          </a:p>
        </p:txBody>
      </p:sp>
      <p:sp>
        <p:nvSpPr>
          <p:cNvPr id="14" name="cd_6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looks away.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 in English. Don't say it!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 in inglese. Non dirla!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Bonus: use used to / be used to. e.g. 'My grandad used to do it at night – a loud noise!' → snore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Bonus: usa used to / be used to.</a:t>
            </a:r>
            <a:endParaRPr lang="en-US" sz="800" dirty="0"/>
          </a:p>
        </p:txBody>
      </p:sp>
      <p:sp>
        <p:nvSpPr>
          <p:cNvPr id="18" name="st_6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rl_65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0" name="R1_w66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snore</a:t>
            </a:r>
            <a:endParaRPr lang="en-US" sz="1700" dirty="0"/>
          </a:p>
        </p:txBody>
      </p:sp>
      <p:sp>
        <p:nvSpPr>
          <p:cNvPr id="21" name="R3_w67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nap</a:t>
            </a:r>
            <a:endParaRPr lang="en-US" sz="1700" dirty="0"/>
          </a:p>
        </p:txBody>
      </p:sp>
      <p:sp>
        <p:nvSpPr>
          <p:cNvPr id="22" name="R5_w68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pillow</a:t>
            </a:r>
            <a:endParaRPr lang="en-US" sz="1700" dirty="0"/>
          </a:p>
        </p:txBody>
      </p:sp>
      <p:sp>
        <p:nvSpPr>
          <p:cNvPr id="23" name="R7_w69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oversleep</a:t>
            </a:r>
            <a:endParaRPr lang="en-US" sz="1700" dirty="0"/>
          </a:p>
        </p:txBody>
      </p:sp>
      <p:sp>
        <p:nvSpPr>
          <p:cNvPr id="24" name="rl_70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5" name="R2_w71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sleepwalk</a:t>
            </a:r>
            <a:endParaRPr lang="en-US" sz="1700" dirty="0"/>
          </a:p>
        </p:txBody>
      </p:sp>
      <p:sp>
        <p:nvSpPr>
          <p:cNvPr id="26" name="R4_w72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insomnia</a:t>
            </a:r>
            <a:endParaRPr lang="en-US" sz="1700" dirty="0"/>
          </a:p>
        </p:txBody>
      </p:sp>
      <p:sp>
        <p:nvSpPr>
          <p:cNvPr id="27" name="R6_w73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duvet</a:t>
            </a:r>
            <a:endParaRPr lang="en-US" sz="1700" dirty="0"/>
          </a:p>
        </p:txBody>
      </p:sp>
      <p:sp>
        <p:nvSpPr>
          <p:cNvPr id="28" name="R8_w74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set the alarm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77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in your day</a:t>
            </a:r>
            <a:endParaRPr lang="en-US" sz="2500" dirty="0"/>
          </a:p>
        </p:txBody>
      </p:sp>
      <p:pic>
        <p:nvPicPr>
          <p:cNvPr id="6" name="brP_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79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each question. Then ask: And you?</a:t>
            </a:r>
            <a:endParaRPr lang="en-US" sz="1250" dirty="0"/>
          </a:p>
        </p:txBody>
      </p:sp>
      <p:sp>
        <p:nvSpPr>
          <p:cNvPr id="8" name="insIT_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a ogni domanda. Poi chiedi: E tu?</a:t>
            </a:r>
            <a:endParaRPr lang="en-US" sz="950" dirty="0"/>
          </a:p>
        </p:txBody>
      </p:sp>
      <p:sp>
        <p:nvSpPr>
          <p:cNvPr id="9" name="cmd_8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8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8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music in your day   ·   📖 SB p.60 · 1a</a:t>
            </a:r>
            <a:endParaRPr lang="en-US" sz="800" dirty="0"/>
          </a:p>
        </p:txBody>
      </p:sp>
      <p:sp>
        <p:nvSpPr>
          <p:cNvPr id="14" name="pf_8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87" descr="/home/claude/lls-course/v2/cache/b2_6b_guitar_sax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8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8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9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9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usually listen to… when I…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 my mood.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I'm…, I put on…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And you? · Really? Me too!</a:t>
            </a:r>
            <a:endParaRPr lang="en-US" sz="800" dirty="0"/>
          </a:p>
        </p:txBody>
      </p:sp>
      <p:sp>
        <p:nvSpPr>
          <p:cNvPr id="20" name="R1_qb9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93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a typical day, when and where do you listen to music?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the bus to school and when I do my homework.</a:t>
            </a:r>
            <a:endParaRPr lang="en-US" sz="1250" dirty="0"/>
          </a:p>
        </p:txBody>
      </p:sp>
      <p:sp>
        <p:nvSpPr>
          <p:cNvPr id="22" name="R2_qb94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95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do you listen? (phone, speaker, headphones…)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On Spotify, with my wireless headphones.</a:t>
            </a:r>
            <a:endParaRPr lang="en-US" sz="1250" dirty="0"/>
          </a:p>
        </p:txBody>
      </p:sp>
      <p:sp>
        <p:nvSpPr>
          <p:cNvPr id="24" name="R3_qb96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97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listen to different kinds of music at different times of day?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 – rap in the morning, chill music at night.</a:t>
            </a:r>
            <a:endParaRPr lang="en-US" sz="1050" dirty="0"/>
          </a:p>
        </p:txBody>
      </p:sp>
      <p:sp>
        <p:nvSpPr>
          <p:cNvPr id="26" name="R4_qb98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99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makes you choose one kind of music over another?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My mood! If I'm stressed, I want something calm.</a:t>
            </a:r>
            <a:endParaRPr lang="en-US" sz="1250" dirty="0"/>
          </a:p>
        </p:txBody>
      </p:sp>
      <p:sp>
        <p:nvSpPr>
          <p:cNvPr id="28" name="R5_qb100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101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what's the WORST music for a dentist's waiting room? Why?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 – you'd be terrified before you sit down!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04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Why do we listen to music?</a:t>
            </a:r>
            <a:endParaRPr lang="en-US" sz="2500" dirty="0"/>
          </a:p>
        </p:txBody>
      </p:sp>
      <p:pic>
        <p:nvPicPr>
          <p:cNvPr id="6" name="brP_1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0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John's 3 reasons from the 6 words.</a:t>
            </a:r>
            <a:endParaRPr lang="en-US" sz="1250" dirty="0"/>
          </a:p>
        </p:txBody>
      </p:sp>
      <p:sp>
        <p:nvSpPr>
          <p:cNvPr id="8" name="insIT_10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Indovina i 3 motivi di John dalle 6 parole.</a:t>
            </a:r>
            <a:endParaRPr lang="en-US" sz="950" dirty="0"/>
          </a:p>
        </p:txBody>
      </p:sp>
      <p:sp>
        <p:nvSpPr>
          <p:cNvPr id="9" name="cmd_1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10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110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111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850" dirty="0"/>
          </a:p>
        </p:txBody>
      </p:sp>
      <p:pic>
        <p:nvPicPr>
          <p:cNvPr id="13" name="logo_11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1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prediction   ·   📖 SB p.60 · 1b (before listening)</a:t>
            </a:r>
            <a:endParaRPr lang="en-US" sz="800" dirty="0"/>
          </a:p>
        </p:txBody>
      </p:sp>
      <p:sp>
        <p:nvSpPr>
          <p:cNvPr id="15" name="cd_11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11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Sloboda's talk</a:t>
            </a:r>
            <a:endParaRPr lang="en-US" sz="2800" dirty="0"/>
          </a:p>
        </p:txBody>
      </p:sp>
      <p:sp>
        <p:nvSpPr>
          <p:cNvPr id="17" name="nx_116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 slide: listen to Part 1. Complete John's 3 reasons + an example for each.</a:t>
            </a:r>
            <a:endParaRPr lang="en-US" sz="1000" dirty="0"/>
          </a:p>
        </p:txBody>
      </p:sp>
      <p:sp>
        <p:nvSpPr>
          <p:cNvPr id="18" name="sf_117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John Sloboda is a music psychologist. He edited the 'Handbook of Music and Emotion'. In Part 1 of his talk, he gives three reasons why we listen to music.</a:t>
            </a:r>
            <a:endParaRPr lang="en-US" sz="1150" dirty="0"/>
          </a:p>
        </p:txBody>
      </p:sp>
      <p:sp>
        <p:nvSpPr>
          <p:cNvPr id="19" name="nbl_118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6 WORDS FROM HIS EXAMPLES · guess the 3 reasons!</a:t>
            </a:r>
            <a:endParaRPr lang="en-US" sz="1100" dirty="0"/>
          </a:p>
        </p:txBody>
      </p:sp>
      <p:sp>
        <p:nvSpPr>
          <p:cNvPr id="20" name="bd_119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film</a:t>
            </a:r>
            <a:endParaRPr lang="en-US" sz="800" dirty="0"/>
          </a:p>
        </p:txBody>
      </p:sp>
      <p:sp>
        <p:nvSpPr>
          <p:cNvPr id="21" name="bd_120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night</a:t>
            </a:r>
            <a:endParaRPr lang="en-US" sz="800" dirty="0"/>
          </a:p>
        </p:txBody>
      </p:sp>
      <p:sp>
        <p:nvSpPr>
          <p:cNvPr id="22" name="bd_121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</a:t>
            </a:r>
            <a:endParaRPr lang="en-US" sz="800" dirty="0"/>
          </a:p>
        </p:txBody>
      </p:sp>
      <p:sp>
        <p:nvSpPr>
          <p:cNvPr id="23" name="bd_122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00" dirty="0"/>
          </a:p>
        </p:txBody>
      </p:sp>
      <p:sp>
        <p:nvSpPr>
          <p:cNvPr id="24" name="bd_123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800" dirty="0"/>
          </a:p>
        </p:txBody>
      </p:sp>
      <p:sp>
        <p:nvSpPr>
          <p:cNvPr id="25" name="bd_124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date</a:t>
            </a:r>
            <a:endParaRPr lang="en-US" sz="800" dirty="0"/>
          </a:p>
        </p:txBody>
      </p:sp>
      <p:sp>
        <p:nvSpPr>
          <p:cNvPr id="26" name="pf_12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126" descr="/home/claude/lls-course/v2/cache/b2_6b_emotion_book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2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129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3 reasons</a:t>
            </a:r>
            <a:endParaRPr lang="en-US" sz="2500" dirty="0"/>
          </a:p>
        </p:txBody>
      </p:sp>
      <p:pic>
        <p:nvPicPr>
          <p:cNvPr id="6" name="brP_13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31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key words for reasons 1–3.</a:t>
            </a:r>
            <a:endParaRPr lang="en-US" sz="1250" dirty="0"/>
          </a:p>
        </p:txBody>
      </p:sp>
      <p:sp>
        <p:nvSpPr>
          <p:cNvPr id="8" name="insIT_13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Ascolta. Scrivi parole chiave per i motivi 1–3.</a:t>
            </a:r>
            <a:endParaRPr lang="en-US" sz="950" dirty="0"/>
          </a:p>
        </p:txBody>
      </p:sp>
      <p:sp>
        <p:nvSpPr>
          <p:cNvPr id="9" name="cmd_13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3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35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136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13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3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 Sloboda, Part 1   ·   📖 SB p.60 · 1b, 1c · audio 6.10</a:t>
            </a:r>
            <a:endParaRPr lang="en-US" sz="800" dirty="0"/>
          </a:p>
        </p:txBody>
      </p:sp>
      <p:sp>
        <p:nvSpPr>
          <p:cNvPr id="15" name="ap_13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6.10  ·  play twice</a:t>
            </a:r>
            <a:endParaRPr lang="en-US" sz="1100" dirty="0"/>
          </a:p>
        </p:txBody>
      </p:sp>
      <p:sp>
        <p:nvSpPr>
          <p:cNvPr id="16" name="ah_14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14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142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143" descr="/home/claude/lls-course/v2/cache/b2_6b_instruments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144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145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146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147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14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to make us ___</a:t>
            </a:r>
            <a:endParaRPr lang="en-US" sz="1200" dirty="0"/>
          </a:p>
        </p:txBody>
      </p:sp>
      <p:sp>
        <p:nvSpPr>
          <p:cNvPr id="27" name="R1_chip14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important moments in the past</a:t>
            </a:r>
            <a:endParaRPr lang="en-US" sz="1200" dirty="0"/>
          </a:p>
        </p:txBody>
      </p:sp>
      <p:sp>
        <p:nvSpPr>
          <p:cNvPr id="28" name="gq_15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29" name="R2_chip15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met someone for the first time</a:t>
            </a:r>
            <a:endParaRPr lang="en-US" sz="1150" dirty="0"/>
          </a:p>
        </p:txBody>
      </p:sp>
      <p:sp>
        <p:nvSpPr>
          <p:cNvPr id="30" name="gq_15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to help us to ___</a:t>
            </a:r>
            <a:endParaRPr lang="en-US" sz="1200" dirty="0"/>
          </a:p>
        </p:txBody>
      </p:sp>
      <p:sp>
        <p:nvSpPr>
          <p:cNvPr id="31" name="R3_chip15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change activities</a:t>
            </a:r>
            <a:endParaRPr lang="en-US" sz="1200" dirty="0"/>
          </a:p>
        </p:txBody>
      </p:sp>
      <p:sp>
        <p:nvSpPr>
          <p:cNvPr id="32" name="gq_154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3" name="R4_chip155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prepare to go out in the evening · relax after work</a:t>
            </a:r>
            <a:endParaRPr lang="en-US" sz="1050" dirty="0"/>
          </a:p>
        </p:txBody>
      </p:sp>
      <p:sp>
        <p:nvSpPr>
          <p:cNvPr id="34" name="gq_156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to intensify ___</a:t>
            </a:r>
            <a:endParaRPr lang="en-US" sz="1200" dirty="0"/>
          </a:p>
        </p:txBody>
      </p:sp>
      <p:sp>
        <p:nvSpPr>
          <p:cNvPr id="35" name="R5_chip157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emotion we're feeling</a:t>
            </a:r>
            <a:endParaRPr lang="en-US" sz="1200" dirty="0"/>
          </a:p>
        </p:txBody>
      </p:sp>
      <p:sp>
        <p:nvSpPr>
          <p:cNvPr id="36" name="gq_158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  e.g. ___</a:t>
            </a:r>
            <a:endParaRPr lang="en-US" sz="1200" dirty="0"/>
          </a:p>
        </p:txBody>
      </p:sp>
      <p:sp>
        <p:nvSpPr>
          <p:cNvPr id="37" name="R6_chip159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sad → sadder · romantic dinner → more romantic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1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820717" cy="621792"/>
          </a:xfrm>
          <a:prstGeom prst="rect">
            <a:avLst/>
          </a:prstGeom>
        </p:spPr>
      </p:pic>
      <p:sp>
        <p:nvSpPr>
          <p:cNvPr id="5" name="title_162"/>
          <p:cNvSpPr/>
          <p:nvPr/>
        </p:nvSpPr>
        <p:spPr>
          <a:xfrm>
            <a:off x="1261872" y="164592"/>
            <a:ext cx="454639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do they make you feel?</a:t>
            </a:r>
            <a:endParaRPr lang="en-US" sz="2400" dirty="0"/>
          </a:p>
        </p:txBody>
      </p:sp>
      <p:pic>
        <p:nvPicPr>
          <p:cNvPr id="6" name="brP_1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164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one adjective for each piece.</a:t>
            </a:r>
            <a:endParaRPr lang="en-US" sz="1250" dirty="0"/>
          </a:p>
        </p:txBody>
      </p:sp>
      <p:sp>
        <p:nvSpPr>
          <p:cNvPr id="8" name="insIT_16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4 brani. Scrivi un aggettivo per ognuno.</a:t>
            </a:r>
            <a:endParaRPr lang="en-US" sz="950" dirty="0"/>
          </a:p>
        </p:txBody>
      </p:sp>
      <p:sp>
        <p:nvSpPr>
          <p:cNvPr id="9" name="cmd_16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6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16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16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1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four pieces of music   ·   📖 SB p.60 · 1e · audio 6.11</a:t>
            </a:r>
            <a:endParaRPr lang="en-US" sz="800" dirty="0"/>
          </a:p>
        </p:txBody>
      </p:sp>
      <p:sp>
        <p:nvSpPr>
          <p:cNvPr id="15" name="cd_17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7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17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17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sounds calm. / It makes me feel relaxed.</a:t>
            </a:r>
            <a:endParaRPr lang="en-US" sz="1050" dirty="0"/>
          </a:p>
        </p:txBody>
      </p:sp>
      <p:sp>
        <p:nvSpPr>
          <p:cNvPr id="19" name="pf_176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177" descr="/home/claude/lls-course/v2/cache/b2_6b_family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178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6.11  ·  play once</a:t>
            </a:r>
            <a:endParaRPr lang="en-US" sz="1100" dirty="0"/>
          </a:p>
        </p:txBody>
      </p:sp>
      <p:sp>
        <p:nvSpPr>
          <p:cNvPr id="22" name="ah_17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4" name="ah_18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5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6" name="bd_181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q_182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 (1st movement)</a:t>
            </a:r>
            <a:endParaRPr lang="en-US" sz="1000" dirty="0"/>
          </a:p>
        </p:txBody>
      </p:sp>
      <p:sp>
        <p:nvSpPr>
          <p:cNvPr id="28" name="R1_chip183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joyful, energetic, triumphant</a:t>
            </a:r>
            <a:endParaRPr lang="en-US" sz="1000" dirty="0"/>
          </a:p>
        </p:txBody>
      </p:sp>
      <p:sp>
        <p:nvSpPr>
          <p:cNvPr id="29" name="bd_184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q_185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Mars, from The Planets</a:t>
            </a:r>
            <a:endParaRPr lang="en-US" sz="1150" dirty="0"/>
          </a:p>
        </p:txBody>
      </p:sp>
      <p:sp>
        <p:nvSpPr>
          <p:cNvPr id="31" name="R2_chip186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threatening, aggressive, tense</a:t>
            </a:r>
            <a:endParaRPr lang="en-US" sz="1000" dirty="0"/>
          </a:p>
        </p:txBody>
      </p:sp>
      <p:sp>
        <p:nvSpPr>
          <p:cNvPr id="32" name="bd_187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3" name="q_188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150" dirty="0"/>
          </a:p>
        </p:txBody>
      </p:sp>
      <p:sp>
        <p:nvSpPr>
          <p:cNvPr id="34" name="R3_chip189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melancholy, moving, heartbreaking</a:t>
            </a:r>
            <a:endParaRPr lang="en-US" sz="1000" dirty="0"/>
          </a:p>
        </p:txBody>
      </p:sp>
      <p:sp>
        <p:nvSpPr>
          <p:cNvPr id="35" name="bd_190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6" name="q_191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The music from Hitchcock's film Psycho</a:t>
            </a:r>
            <a:endParaRPr lang="en-US" sz="1150" dirty="0"/>
          </a:p>
        </p:txBody>
      </p:sp>
      <p:sp>
        <p:nvSpPr>
          <p:cNvPr id="37" name="R4_chip192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terrifying, creepy, nerve-racking</a:t>
            </a:r>
            <a:endParaRPr lang="en-US" sz="1000" dirty="0"/>
          </a:p>
        </p:txBody>
      </p:sp>
      <p:sp>
        <p:nvSpPr>
          <p:cNvPr id="38" name="bd_19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9" name="q_194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Which piece did you like most? Why?</a:t>
            </a:r>
            <a:endParaRPr lang="en-US" sz="1150" dirty="0"/>
          </a:p>
        </p:txBody>
      </p:sp>
      <p:sp>
        <p:nvSpPr>
          <p:cNvPr id="40" name="R5_chip195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Mars – it sounds like a battle in a film!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5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9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19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198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copies the human voice</a:t>
            </a:r>
            <a:endParaRPr lang="en-US" sz="2400" dirty="0"/>
          </a:p>
        </p:txBody>
      </p:sp>
      <p:pic>
        <p:nvPicPr>
          <p:cNvPr id="6" name="brP_19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00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Part 2. Complete the notes.</a:t>
            </a:r>
            <a:endParaRPr lang="en-US" sz="1250" dirty="0"/>
          </a:p>
        </p:txBody>
      </p:sp>
      <p:sp>
        <p:nvSpPr>
          <p:cNvPr id="8" name="insIT_20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parte 2. Completa gli appunti.</a:t>
            </a:r>
            <a:endParaRPr lang="en-US" sz="950" dirty="0"/>
          </a:p>
        </p:txBody>
      </p:sp>
      <p:sp>
        <p:nvSpPr>
          <p:cNvPr id="9" name="cmd_20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0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04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👤 alone</a:t>
            </a:r>
            <a:endParaRPr lang="en-US" sz="950" dirty="0"/>
          </a:p>
        </p:txBody>
      </p:sp>
      <p:sp>
        <p:nvSpPr>
          <p:cNvPr id="12" name="tag_205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850" dirty="0"/>
          </a:p>
        </p:txBody>
      </p:sp>
      <p:pic>
        <p:nvPicPr>
          <p:cNvPr id="13" name="logo_20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0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 Sloboda, Part 2   ·   📖 SB p.60 · 1f · audio 6.12</a:t>
            </a:r>
            <a:endParaRPr lang="en-US" sz="800" dirty="0"/>
          </a:p>
        </p:txBody>
      </p:sp>
      <p:sp>
        <p:nvSpPr>
          <p:cNvPr id="15" name="ap_20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play once</a:t>
            </a:r>
            <a:endParaRPr lang="en-US" sz="1100" dirty="0"/>
          </a:p>
        </p:txBody>
      </p:sp>
      <p:sp>
        <p:nvSpPr>
          <p:cNvPr id="16" name="ah_20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1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21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12" descr="/home/claude/lls-course/v2/cache/b2_6b_cello_drum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21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21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21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21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217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happy: people speak ___ , the voice is ___</a:t>
            </a:r>
            <a:endParaRPr lang="en-US" sz="1200" dirty="0"/>
          </a:p>
        </p:txBody>
      </p:sp>
      <p:sp>
        <p:nvSpPr>
          <p:cNvPr id="27" name="R1_chip218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higher</a:t>
            </a:r>
            <a:endParaRPr lang="en-US" sz="1200" dirty="0"/>
          </a:p>
        </p:txBody>
      </p:sp>
      <p:sp>
        <p:nvSpPr>
          <p:cNvPr id="28" name="gq_219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sad: people speak ___ , the voice is ___</a:t>
            </a:r>
            <a:endParaRPr lang="en-US" sz="1200" dirty="0"/>
          </a:p>
        </p:txBody>
      </p:sp>
      <p:sp>
        <p:nvSpPr>
          <p:cNvPr id="29" name="R2_chip220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more slowly · lower</a:t>
            </a:r>
            <a:endParaRPr lang="en-US" sz="1200" dirty="0"/>
          </a:p>
        </p:txBody>
      </p:sp>
      <p:sp>
        <p:nvSpPr>
          <p:cNvPr id="30" name="gq_221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Voice · angry: people ___ their voices or ___</a:t>
            </a:r>
            <a:endParaRPr lang="en-US" sz="1200" dirty="0"/>
          </a:p>
        </p:txBody>
      </p:sp>
      <p:sp>
        <p:nvSpPr>
          <p:cNvPr id="31" name="R3_chip222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raise · shout</a:t>
            </a:r>
            <a:endParaRPr lang="en-US" sz="1200" dirty="0"/>
          </a:p>
        </p:txBody>
      </p:sp>
      <p:sp>
        <p:nvSpPr>
          <p:cNvPr id="32" name="gq_223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1: ___ , ___ -pitched music sounds happy</a:t>
            </a:r>
            <a:endParaRPr lang="en-US" sz="1200" dirty="0"/>
          </a:p>
        </p:txBody>
      </p:sp>
      <p:sp>
        <p:nvSpPr>
          <p:cNvPr id="33" name="R4_chip224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faster · high (-pitched)</a:t>
            </a:r>
            <a:endParaRPr lang="en-US" sz="1200" dirty="0"/>
          </a:p>
        </p:txBody>
      </p:sp>
      <p:sp>
        <p:nvSpPr>
          <p:cNvPr id="34" name="gq_225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2: ___ music with ___ pitches sounds sad</a:t>
            </a:r>
            <a:endParaRPr lang="en-US" sz="1200" dirty="0"/>
          </a:p>
        </p:txBody>
      </p:sp>
      <p:sp>
        <p:nvSpPr>
          <p:cNvPr id="35" name="R5_chip226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slow · falling</a:t>
            </a:r>
            <a:endParaRPr lang="en-US" sz="1200" dirty="0"/>
          </a:p>
        </p:txBody>
      </p:sp>
      <p:sp>
        <p:nvSpPr>
          <p:cNvPr id="36" name="gq_227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Music 3: ___ music with ___ rhythms sounds angry</a:t>
            </a:r>
            <a:endParaRPr lang="en-US" sz="1200" dirty="0"/>
          </a:p>
        </p:txBody>
      </p:sp>
      <p:sp>
        <p:nvSpPr>
          <p:cNvPr id="37" name="R6_chip228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loud · irregular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23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emotion?</a:t>
            </a:r>
            <a:endParaRPr lang="en-US" sz="2400" dirty="0"/>
          </a:p>
        </p:txBody>
      </p:sp>
      <p:pic>
        <p:nvPicPr>
          <p:cNvPr id="6" name="brP_2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33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emotion does John give each piece?</a:t>
            </a:r>
            <a:endParaRPr lang="en-US" sz="1250" dirty="0"/>
          </a:p>
        </p:txBody>
      </p:sp>
      <p:sp>
        <p:nvSpPr>
          <p:cNvPr id="8" name="insIT_2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emozione dà John a ogni brano?</a:t>
            </a:r>
            <a:endParaRPr lang="en-US" sz="950" dirty="0"/>
          </a:p>
        </p:txBody>
      </p:sp>
      <p:sp>
        <p:nvSpPr>
          <p:cNvPr id="9" name="cmd_2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👥 pairs</a:t>
            </a:r>
            <a:endParaRPr lang="en-US" sz="950" dirty="0"/>
          </a:p>
        </p:txBody>
      </p:sp>
      <p:sp>
        <p:nvSpPr>
          <p:cNvPr id="11" name="tag_2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Listening · John's emotions   ·   📖 SB p.60 · 1f · audio 6.12</a:t>
            </a:r>
            <a:endParaRPr lang="en-US" sz="800" dirty="0"/>
          </a:p>
        </p:txBody>
      </p:sp>
      <p:sp>
        <p:nvSpPr>
          <p:cNvPr id="14" name="cd_240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4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4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John's emotions</a:t>
            </a:r>
            <a:endParaRPr lang="en-US" sz="1300" dirty="0"/>
          </a:p>
        </p:txBody>
      </p:sp>
      <p:sp>
        <p:nvSpPr>
          <p:cNvPr id="17" name="il_243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ap_244"/>
          <p:cNvSpPr/>
          <p:nvPr/>
        </p:nvSpPr>
        <p:spPr>
          <a:xfrm>
            <a:off x="365760" y="3465576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6.12  ·  the end of Part 2</a:t>
            </a:r>
            <a:endParaRPr lang="en-US" sz="1100" dirty="0"/>
          </a:p>
        </p:txBody>
      </p:sp>
      <p:sp>
        <p:nvSpPr>
          <p:cNvPr id="19" name="ah_245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46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24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050" dirty="0"/>
          </a:p>
        </p:txBody>
      </p:sp>
      <p:sp>
        <p:nvSpPr>
          <p:cNvPr id="24" name="lg_24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050" dirty="0"/>
          </a:p>
        </p:txBody>
      </p:sp>
      <p:sp>
        <p:nvSpPr>
          <p:cNvPr id="25" name="lg_24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050" dirty="0"/>
          </a:p>
        </p:txBody>
      </p:sp>
      <p:sp>
        <p:nvSpPr>
          <p:cNvPr id="26" name="lg_25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050" dirty="0"/>
          </a:p>
        </p:txBody>
      </p:sp>
      <p:sp>
        <p:nvSpPr>
          <p:cNvPr id="27" name="sq_251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Beethoven: Seventh Symphony</a:t>
            </a:r>
            <a:endParaRPr lang="en-US" sz="1200" dirty="0"/>
          </a:p>
        </p:txBody>
      </p:sp>
      <p:sp>
        <p:nvSpPr>
          <p:cNvPr id="28" name="R1_tag252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happy</a:t>
            </a:r>
            <a:endParaRPr lang="en-US" sz="1150" dirty="0"/>
          </a:p>
        </p:txBody>
      </p:sp>
      <p:sp>
        <p:nvSpPr>
          <p:cNvPr id="29" name="sq_253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Holst: Mars</a:t>
            </a:r>
            <a:endParaRPr lang="en-US" sz="1200" dirty="0"/>
          </a:p>
        </p:txBody>
      </p:sp>
      <p:sp>
        <p:nvSpPr>
          <p:cNvPr id="30" name="R2_tag254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angry</a:t>
            </a:r>
            <a:endParaRPr lang="en-US" sz="1150" dirty="0"/>
          </a:p>
        </p:txBody>
      </p:sp>
      <p:sp>
        <p:nvSpPr>
          <p:cNvPr id="31" name="sq_255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Albinoni: Adagio for Strings</a:t>
            </a:r>
            <a:endParaRPr lang="en-US" sz="1200" dirty="0"/>
          </a:p>
        </p:txBody>
      </p:sp>
      <p:sp>
        <p:nvSpPr>
          <p:cNvPr id="32" name="R3_tag256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sad</a:t>
            </a:r>
            <a:endParaRPr lang="en-US" sz="1150" dirty="0"/>
          </a:p>
        </p:txBody>
      </p:sp>
      <p:sp>
        <p:nvSpPr>
          <p:cNvPr id="33" name="sq_257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Psycho (film music)</a:t>
            </a:r>
            <a:endParaRPr lang="en-US" sz="1200" dirty="0"/>
          </a:p>
        </p:txBody>
      </p:sp>
      <p:sp>
        <p:nvSpPr>
          <p:cNvPr id="34" name="R4_tag258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terrified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26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261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hearing it?</a:t>
            </a:r>
            <a:endParaRPr lang="en-US" sz="2400" dirty="0"/>
          </a:p>
        </p:txBody>
      </p:sp>
      <p:pic>
        <p:nvPicPr>
          <p:cNvPr id="6" name="brP_26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263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the verb: -ing, to + verb or verb?</a:t>
            </a:r>
            <a:endParaRPr lang="en-US" sz="1250" dirty="0"/>
          </a:p>
        </p:txBody>
      </p:sp>
      <p:sp>
        <p:nvSpPr>
          <p:cNvPr id="8" name="insIT_26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il verbo: -ing, to + verbo o verbo?</a:t>
            </a:r>
            <a:endParaRPr lang="en-US" sz="950" dirty="0"/>
          </a:p>
        </p:txBody>
      </p:sp>
      <p:sp>
        <p:nvSpPr>
          <p:cNvPr id="9" name="cmd_26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0" name="cmd_266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67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68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Listening for detail</a:t>
            </a:r>
            <a:endParaRPr lang="en-US" sz="700" dirty="0"/>
          </a:p>
        </p:txBody>
      </p:sp>
      <p:pic>
        <p:nvPicPr>
          <p:cNvPr id="13" name="logo_2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from the talk   ·   📖 SB p.61 · 2a, 2b · audio 6.13</a:t>
            </a:r>
            <a:endParaRPr lang="en-US" sz="800" dirty="0"/>
          </a:p>
        </p:txBody>
      </p:sp>
      <p:sp>
        <p:nvSpPr>
          <p:cNvPr id="15" name="ap_271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6.13  ·  listen and check</a:t>
            </a:r>
            <a:endParaRPr lang="en-US" sz="1100" dirty="0"/>
          </a:p>
        </p:txBody>
      </p:sp>
      <p:sp>
        <p:nvSpPr>
          <p:cNvPr id="16" name="ah_272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273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27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275" descr="/home/claude/lls-course/v2/cache/b2_6b_emotion_book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27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27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27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il_27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6" name="gq_28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  We listen to music to relax. (relax)</a:t>
            </a:r>
            <a:endParaRPr lang="en-US" sz="1200" dirty="0"/>
          </a:p>
        </p:txBody>
      </p:sp>
      <p:sp>
        <p:nvSpPr>
          <p:cNvPr id="27" name="R1_chip28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example: to relax (= purpose)</a:t>
            </a:r>
            <a:endParaRPr lang="en-US" sz="1200" dirty="0"/>
          </a:p>
        </p:txBody>
      </p:sp>
      <p:sp>
        <p:nvSpPr>
          <p:cNvPr id="28" name="gq_28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We listen to music to make us ___ important moments. (remember)</a:t>
            </a:r>
            <a:endParaRPr lang="en-US" sz="1200" dirty="0"/>
          </a:p>
        </p:txBody>
      </p:sp>
      <p:sp>
        <p:nvSpPr>
          <p:cNvPr id="29" name="R2_chip28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(make + verb)</a:t>
            </a:r>
            <a:endParaRPr lang="en-US" sz="1200" dirty="0"/>
          </a:p>
        </p:txBody>
      </p:sp>
      <p:sp>
        <p:nvSpPr>
          <p:cNvPr id="30" name="gq_28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We remember ___ it for the first time. (hear)</a:t>
            </a:r>
            <a:endParaRPr lang="en-US" sz="1200" dirty="0"/>
          </a:p>
        </p:txBody>
      </p:sp>
      <p:sp>
        <p:nvSpPr>
          <p:cNvPr id="31" name="R3_chip28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hearing</a:t>
            </a:r>
            <a:endParaRPr lang="en-US" sz="1200" dirty="0"/>
          </a:p>
        </p:txBody>
      </p:sp>
      <p:sp>
        <p:nvSpPr>
          <p:cNvPr id="32" name="gq_28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3a  If we want ___ from one activity to another… (go)</a:t>
            </a:r>
            <a:endParaRPr lang="en-US" sz="1200" dirty="0"/>
          </a:p>
        </p:txBody>
      </p:sp>
      <p:sp>
        <p:nvSpPr>
          <p:cNvPr id="33" name="R4_chip28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 go</a:t>
            </a:r>
            <a:endParaRPr lang="en-US" sz="1200" dirty="0"/>
          </a:p>
        </p:txBody>
      </p:sp>
      <p:sp>
        <p:nvSpPr>
          <p:cNvPr id="34" name="gq_28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3b  …we use music to help us ___ the change. (make)</a:t>
            </a:r>
            <a:endParaRPr lang="en-US" sz="1200" dirty="0"/>
          </a:p>
        </p:txBody>
      </p:sp>
      <p:sp>
        <p:nvSpPr>
          <p:cNvPr id="35" name="R5_chip28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(help + verb / to)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2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135270" cy="621792"/>
          </a:xfrm>
          <a:prstGeom prst="rect">
            <a:avLst/>
          </a:prstGeom>
        </p:spPr>
      </p:pic>
      <p:sp>
        <p:nvSpPr>
          <p:cNvPr id="5" name="title_292"/>
          <p:cNvSpPr/>
          <p:nvPr/>
        </p:nvSpPr>
        <p:spPr>
          <a:xfrm>
            <a:off x="1261872" y="164592"/>
            <a:ext cx="486095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Same verb, different meaning</a:t>
            </a:r>
            <a:endParaRPr lang="en-US" sz="2500" dirty="0"/>
          </a:p>
        </p:txBody>
      </p:sp>
      <p:pic>
        <p:nvPicPr>
          <p:cNvPr id="6" name="brP_2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294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each sentence. What does the verb mean?</a:t>
            </a:r>
            <a:endParaRPr lang="en-US" sz="1250" dirty="0"/>
          </a:p>
        </p:txBody>
      </p:sp>
      <p:sp>
        <p:nvSpPr>
          <p:cNvPr id="8" name="insIT_29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ogni frase. Cosa significa il verbo?</a:t>
            </a:r>
            <a:endParaRPr lang="en-US" sz="950" dirty="0"/>
          </a:p>
        </p:txBody>
      </p:sp>
      <p:sp>
        <p:nvSpPr>
          <p:cNvPr id="9" name="cmd_2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297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98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2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meaning changes   ·   📖 SB p.61 · 2c (1–2) + more examples</a:t>
            </a:r>
            <a:endParaRPr lang="en-US" sz="800" dirty="0"/>
          </a:p>
        </p:txBody>
      </p:sp>
      <p:sp>
        <p:nvSpPr>
          <p:cNvPr id="14" name="cd_30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0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Choose the meaning</a:t>
            </a:r>
            <a:endParaRPr lang="en-US" sz="1300" dirty="0"/>
          </a:p>
        </p:txBody>
      </p:sp>
      <p:sp>
        <p:nvSpPr>
          <p:cNvPr id="17" name="il_304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0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050" dirty="0"/>
          </a:p>
        </p:txBody>
      </p:sp>
      <p:sp>
        <p:nvSpPr>
          <p:cNvPr id="19" name="lg_30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050" dirty="0"/>
          </a:p>
        </p:txBody>
      </p:sp>
      <p:sp>
        <p:nvSpPr>
          <p:cNvPr id="20" name="lg_307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050" dirty="0"/>
          </a:p>
        </p:txBody>
      </p:sp>
      <p:sp>
        <p:nvSpPr>
          <p:cNvPr id="21" name="lg_308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050" dirty="0"/>
          </a:p>
        </p:txBody>
      </p:sp>
      <p:sp>
        <p:nvSpPr>
          <p:cNvPr id="22" name="lg_309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050" dirty="0"/>
          </a:p>
        </p:txBody>
      </p:sp>
      <p:sp>
        <p:nvSpPr>
          <p:cNvPr id="23" name="lg_310"/>
          <p:cNvSpPr/>
          <p:nvPr/>
        </p:nvSpPr>
        <p:spPr>
          <a:xfrm>
            <a:off x="1719072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050" dirty="0"/>
          </a:p>
        </p:txBody>
      </p:sp>
      <p:sp>
        <p:nvSpPr>
          <p:cNvPr id="24" name="sq_311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 remember meeting him for the first time.</a:t>
            </a:r>
            <a:endParaRPr lang="en-US" sz="1200" dirty="0"/>
          </a:p>
        </p:txBody>
      </p:sp>
      <p:sp>
        <p:nvSpPr>
          <p:cNvPr id="25" name="R1_tag312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26" name="sq_313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Please remember to meet him at the station.</a:t>
            </a:r>
            <a:endParaRPr lang="en-US" sz="1150" dirty="0"/>
          </a:p>
        </p:txBody>
      </p:sp>
      <p:sp>
        <p:nvSpPr>
          <p:cNvPr id="27" name="R2_tag314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28" name="sq_315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Did you remember to lock the door?</a:t>
            </a:r>
            <a:endParaRPr lang="en-US" sz="1200" dirty="0"/>
          </a:p>
        </p:txBody>
      </p:sp>
      <p:sp>
        <p:nvSpPr>
          <p:cNvPr id="29" name="R3_tag316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E07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 task (later)</a:t>
            </a:r>
            <a:endParaRPr lang="en-US" sz="1150" dirty="0"/>
          </a:p>
        </p:txBody>
      </p:sp>
      <p:sp>
        <p:nvSpPr>
          <p:cNvPr id="30" name="sq_317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I'll never forget hearing that song live.</a:t>
            </a:r>
            <a:endParaRPr lang="en-US" sz="1200" dirty="0"/>
          </a:p>
        </p:txBody>
      </p:sp>
      <p:sp>
        <p:nvSpPr>
          <p:cNvPr id="31" name="R4_tag318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 memory</a:t>
            </a:r>
            <a:endParaRPr lang="en-US" sz="1150" dirty="0"/>
          </a:p>
        </p:txBody>
      </p:sp>
      <p:sp>
        <p:nvSpPr>
          <p:cNvPr id="32" name="sq_319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I tried to open the window, but it was stuck.</a:t>
            </a:r>
            <a:endParaRPr lang="en-US" sz="1150" dirty="0"/>
          </a:p>
        </p:txBody>
      </p:sp>
      <p:sp>
        <p:nvSpPr>
          <p:cNvPr id="33" name="R5_tag320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effort (hard)</a:t>
            </a:r>
            <a:endParaRPr lang="en-US" sz="1150" dirty="0"/>
          </a:p>
        </p:txBody>
      </p:sp>
      <p:sp>
        <p:nvSpPr>
          <p:cNvPr id="34" name="sq_321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Can't sleep? Try listening to calm music.</a:t>
            </a:r>
            <a:endParaRPr lang="en-US" sz="1200" dirty="0"/>
          </a:p>
        </p:txBody>
      </p:sp>
      <p:sp>
        <p:nvSpPr>
          <p:cNvPr id="35" name="R6_tag322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experiment</a:t>
            </a:r>
            <a:endParaRPr lang="en-US" sz="1150" dirty="0"/>
          </a:p>
        </p:txBody>
      </p:sp>
      <p:sp>
        <p:nvSpPr>
          <p:cNvPr id="36" name="sq_323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He stopped playing the drums at midnight.</a:t>
            </a:r>
            <a:endParaRPr lang="en-US" sz="1150" dirty="0"/>
          </a:p>
        </p:txBody>
      </p:sp>
      <p:sp>
        <p:nvSpPr>
          <p:cNvPr id="37" name="R7_tag324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finish</a:t>
            </a:r>
            <a:endParaRPr lang="en-US" sz="1150" dirty="0"/>
          </a:p>
        </p:txBody>
      </p:sp>
      <p:sp>
        <p:nvSpPr>
          <p:cNvPr id="38" name="sq_325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We stopped to listen to a street musician.</a:t>
            </a:r>
            <a:endParaRPr lang="en-US" sz="1200" dirty="0"/>
          </a:p>
        </p:txBody>
      </p:sp>
      <p:sp>
        <p:nvSpPr>
          <p:cNvPr id="39" name="R8_tag326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C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pause to do</a:t>
            </a:r>
            <a:endParaRPr lang="en-US" sz="1150" dirty="0"/>
          </a:p>
        </p:txBody>
      </p:sp>
      <p:sp>
        <p:nvSpPr>
          <p:cNvPr id="40" name="pf_327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1" name="ph_328" descr="/home/claude/lls-course/v2/cache/b2_6b_guitar_sax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2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3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331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 or to? Meaning!</a:t>
            </a:r>
            <a:endParaRPr lang="en-US" sz="2500" dirty="0"/>
          </a:p>
        </p:txBody>
      </p:sp>
      <p:pic>
        <p:nvPicPr>
          <p:cNvPr id="6" name="brP_33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33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Then click for examples.</a:t>
            </a:r>
            <a:endParaRPr lang="en-US" sz="1250" dirty="0"/>
          </a:p>
        </p:txBody>
      </p:sp>
      <p:sp>
        <p:nvSpPr>
          <p:cNvPr id="8" name="insIT_33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regola. Poi clicca per gli esempi.</a:t>
            </a:r>
            <a:endParaRPr lang="en-US" sz="950" dirty="0"/>
          </a:p>
        </p:txBody>
      </p:sp>
      <p:sp>
        <p:nvSpPr>
          <p:cNvPr id="9" name="cmd_33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LOOK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</a:t>
            </a:r>
            <a:endParaRPr lang="en-US" sz="1100" dirty="0"/>
          </a:p>
        </p:txBody>
      </p:sp>
      <p:sp>
        <p:nvSpPr>
          <p:cNvPr id="10" name="meta_336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37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33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3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gerunds and infinitives   ·   📖 Grammar Bank 6B p.143</a:t>
            </a:r>
            <a:endParaRPr lang="en-US" sz="800" dirty="0"/>
          </a:p>
        </p:txBody>
      </p:sp>
      <p:sp>
        <p:nvSpPr>
          <p:cNvPr id="14" name="cd_340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rh_341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/ forget</a:t>
            </a:r>
            <a:endParaRPr lang="en-US" sz="1250" dirty="0"/>
          </a:p>
        </p:txBody>
      </p:sp>
      <p:sp>
        <p:nvSpPr>
          <p:cNvPr id="16" name="pf_342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7" name="ph_343" descr="/home/claude/lls-course/v2/cache/b2_6b_emotion_book_jpg_415x20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18" name="ru_344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a task · + -ing = a memory</a:t>
            </a:r>
            <a:endParaRPr lang="en-US" sz="1050" dirty="0"/>
          </a:p>
        </p:txBody>
      </p:sp>
      <p:sp>
        <p:nvSpPr>
          <p:cNvPr id="19" name="R1_rx345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tickets!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I'll never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seeing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them live.</a:t>
            </a:r>
            <a:endParaRPr lang="en-US" sz="1050" dirty="0"/>
          </a:p>
        </p:txBody>
      </p:sp>
      <p:sp>
        <p:nvSpPr>
          <p:cNvPr id="20" name="R1_ri346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ricordarsi di ≠ ricordare di aver fatto</a:t>
            </a:r>
            <a:endParaRPr lang="en-US" sz="750" dirty="0"/>
          </a:p>
        </p:txBody>
      </p:sp>
      <p:sp>
        <p:nvSpPr>
          <p:cNvPr id="21" name="cd_347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rh_348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try</a:t>
            </a:r>
            <a:endParaRPr lang="en-US" sz="1250" dirty="0"/>
          </a:p>
        </p:txBody>
      </p:sp>
      <p:sp>
        <p:nvSpPr>
          <p:cNvPr id="23" name="pf_349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50" descr="/home/claude/lls-course/v2/cache/b2_6b_guitar_sax_jpg_415x209_31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25" name="ru_351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= effort · + -ing = experiment</a:t>
            </a:r>
            <a:endParaRPr lang="en-US" sz="1050" dirty="0"/>
          </a:p>
        </p:txBody>
      </p:sp>
      <p:sp>
        <p:nvSpPr>
          <p:cNvPr id="26" name="R2_rx352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reach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high note.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singing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it lower!</a:t>
            </a:r>
            <a:endParaRPr lang="en-US" sz="1050" dirty="0"/>
          </a:p>
        </p:txBody>
      </p:sp>
      <p:sp>
        <p:nvSpPr>
          <p:cNvPr id="27" name="R2_ri353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cercare di ≠ provare a (per vedere)</a:t>
            </a:r>
            <a:endParaRPr lang="en-US" sz="750" dirty="0"/>
          </a:p>
        </p:txBody>
      </p:sp>
      <p:sp>
        <p:nvSpPr>
          <p:cNvPr id="28" name="cd_354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9" name="rh_355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stop</a:t>
            </a:r>
            <a:endParaRPr lang="en-US" sz="1250" dirty="0"/>
          </a:p>
        </p:txBody>
      </p:sp>
      <p:sp>
        <p:nvSpPr>
          <p:cNvPr id="30" name="pf_356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1" name="ph_357" descr="/home/claude/lls-course/v2/cache/b2_6b_instruments_jpg_415x209_31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2" name="ru_358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 = finish · + to = in order to</a:t>
            </a:r>
            <a:endParaRPr lang="en-US" sz="1050" dirty="0"/>
          </a:p>
        </p:txBody>
      </p:sp>
      <p:sp>
        <p:nvSpPr>
          <p:cNvPr id="33" name="R3_rx359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playing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it's midnight!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 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buy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 coffee.</a:t>
            </a:r>
            <a:endParaRPr lang="en-US" sz="1050" dirty="0"/>
          </a:p>
        </p:txBody>
      </p:sp>
      <p:sp>
        <p:nvSpPr>
          <p:cNvPr id="34" name="R3_ri360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smettere di ≠ fermarsi per</a:t>
            </a:r>
            <a:endParaRPr lang="en-US" sz="900" dirty="0"/>
          </a:p>
        </p:txBody>
      </p:sp>
      <p:sp>
        <p:nvSpPr>
          <p:cNvPr id="35" name="cd_361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rh_362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/ let · need</a:t>
            </a:r>
            <a:endParaRPr lang="en-US" sz="1250" dirty="0"/>
          </a:p>
        </p:txBody>
      </p:sp>
      <p:sp>
        <p:nvSpPr>
          <p:cNvPr id="37" name="pf_363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364" descr="/home/claude/lls-course/v2/cache/b2_6b_family_jpg_415x209_3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39" name="ru_365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make / let + verb (no to) · need + -ing</a:t>
            </a:r>
            <a:endParaRPr lang="en-US" sz="1050" dirty="0"/>
          </a:p>
        </p:txBody>
      </p:sp>
      <p:sp>
        <p:nvSpPr>
          <p:cNvPr id="40" name="R4_rx366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him sit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outside.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They didn't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him go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in.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guitar 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needs tuning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050" dirty="0"/>
          </a:p>
        </p:txBody>
      </p:sp>
      <p:sp>
        <p:nvSpPr>
          <p:cNvPr id="41" name="R4_ri367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fare · lasciar fare · va accordata</a:t>
            </a:r>
            <a:endParaRPr lang="en-US" sz="750" dirty="0"/>
          </a:p>
        </p:txBody>
      </p:sp>
      <p:sp>
        <p:nvSpPr>
          <p:cNvPr id="42" name="R5_wc368"/>
          <p:cNvSpPr/>
          <p:nvPr/>
        </p:nvSpPr>
        <p:spPr>
          <a:xfrm>
            <a:off x="320040" y="4544568"/>
            <a:ext cx="8549640" cy="329184"/>
          </a:xfrm>
          <a:prstGeom prst="roundRect">
            <a:avLst>
              <a:gd name="adj" fmla="val 38889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R5_w369"/>
          <p:cNvSpPr/>
          <p:nvPr/>
        </p:nvSpPr>
        <p:spPr>
          <a:xfrm>
            <a:off x="457200" y="4544568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need + -ing = passive meaning: My guitar needs tuning (= needs to be tuned).   ✗ made him to sit → ✓ made him sit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372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Luca's worst gig ever</a:t>
            </a:r>
            <a:endParaRPr lang="en-US" sz="2500" dirty="0"/>
          </a:p>
        </p:txBody>
      </p:sp>
      <p:pic>
        <p:nvPicPr>
          <p:cNvPr id="6" name="brP_3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7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7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78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79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class story (TPRS)</a:t>
            </a:r>
            <a:endParaRPr lang="en-US" sz="800" dirty="0"/>
          </a:p>
        </p:txBody>
      </p:sp>
      <p:sp>
        <p:nvSpPr>
          <p:cNvPr id="15" name="cd_382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85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to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ricordarsi di (un compito)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to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dimenticarsi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to · try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cercare di · provare 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to · stop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fermarsi per · smettere 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/ make + verb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lasciar fare · far fare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forget -ing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dimenticare mai (ricordo)</a:t>
            </a:r>
            <a:endParaRPr lang="en-US" sz="1000" dirty="0"/>
          </a:p>
        </p:txBody>
      </p:sp>
      <p:sp>
        <p:nvSpPr>
          <p:cNvPr id="19" name="R1_sb386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87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Luca </a:t>
            </a:r>
            <a:pPr indent="0" marL="0">
              <a:buNone/>
            </a:pPr>
            <a:r>
              <a:rPr lang="en-US" sz="10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remembered to buy</a:t>
            </a:r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tickets for a big concert in Palermo – a miracle!</a:t>
            </a:r>
            <a:endParaRPr lang="en-US" sz="10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Luca remember or forget to buy tickets? · Where was the concert?</a:t>
            </a:r>
            <a:endParaRPr lang="en-US" sz="1000" dirty="0"/>
          </a:p>
        </p:txBody>
      </p:sp>
      <p:sp>
        <p:nvSpPr>
          <p:cNvPr id="21" name="R2_sb388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89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But he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forgot to charge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phone – and the tickets were on it.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remember to charge it? · What did he forget to do?</a:t>
            </a:r>
            <a:endParaRPr lang="en-US" sz="1200" dirty="0"/>
          </a:p>
        </p:txBody>
      </p:sp>
      <p:sp>
        <p:nvSpPr>
          <p:cNvPr id="23" name="R3_sb390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91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to explain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but the security guard wouldn't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him go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in.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try to explain? · Did the guard let him go in? · Why not?</a:t>
            </a:r>
            <a:endParaRPr lang="en-US" sz="1100" dirty="0"/>
          </a:p>
        </p:txBody>
      </p:sp>
      <p:sp>
        <p:nvSpPr>
          <p:cNvPr id="25" name="R4_sb392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93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to think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then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climbing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over the back fence. Bad idea!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he stop to think or stop thinking? · What did he try doing?</a:t>
            </a:r>
            <a:endParaRPr lang="en-US" sz="1050" dirty="0"/>
          </a:p>
        </p:txBody>
      </p:sp>
      <p:sp>
        <p:nvSpPr>
          <p:cNvPr id="27" name="R5_sb394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95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Security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made him sit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outside,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started singing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– really loudly.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Did they let him stay or make him sit outside? · What did he start doing?</a:t>
            </a:r>
            <a:endParaRPr lang="en-US" sz="1050" dirty="0"/>
          </a:p>
        </p:txBody>
      </p:sp>
      <p:sp>
        <p:nvSpPr>
          <p:cNvPr id="29" name="R6_sb396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97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band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stopped playing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and called him on stage! He'll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never forget singing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there.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Why did the band stop? · And you – what concert will you never forget?</a:t>
            </a:r>
            <a:endParaRPr lang="en-US" sz="9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39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400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-ing, to or no to?</a:t>
            </a:r>
            <a:endParaRPr lang="en-US" sz="2500" dirty="0"/>
          </a:p>
        </p:txBody>
      </p:sp>
      <p:pic>
        <p:nvPicPr>
          <p:cNvPr id="6" name="brP_40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93108" cy="402336"/>
          </a:xfrm>
          <a:prstGeom prst="rect">
            <a:avLst/>
          </a:prstGeom>
        </p:spPr>
      </p:pic>
      <p:sp>
        <p:nvSpPr>
          <p:cNvPr id="7" name="ins_402"/>
          <p:cNvSpPr/>
          <p:nvPr/>
        </p:nvSpPr>
        <p:spPr>
          <a:xfrm>
            <a:off x="1353312" y="731520"/>
            <a:ext cx="40370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-ing, to or no to? Say the full sentence.</a:t>
            </a:r>
            <a:endParaRPr lang="en-US" sz="1250" dirty="0"/>
          </a:p>
        </p:txBody>
      </p:sp>
      <p:sp>
        <p:nvSpPr>
          <p:cNvPr id="8" name="insIT_40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forma dopo il verbo? Di' la risposta completa.</a:t>
            </a:r>
            <a:endParaRPr lang="en-US" sz="950" dirty="0"/>
          </a:p>
        </p:txBody>
      </p:sp>
      <p:sp>
        <p:nvSpPr>
          <p:cNvPr id="9" name="cmd_40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40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40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Grammar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40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0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Grammar · practice: today's verbs   ·   📖 Grammar Bank 6B p.143 · a (adapted)</a:t>
            </a:r>
            <a:endParaRPr lang="en-US" sz="800" dirty="0"/>
          </a:p>
        </p:txBody>
      </p:sp>
      <p:sp>
        <p:nvSpPr>
          <p:cNvPr id="14" name="cd_409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1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41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 I remember ___ (meet) him → meeting</a:t>
            </a:r>
            <a:endParaRPr lang="en-US" sz="1100" dirty="0"/>
          </a:p>
        </p:txBody>
      </p:sp>
      <p:sp>
        <p:nvSpPr>
          <p:cNvPr id="17" name="il_412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413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050" dirty="0"/>
          </a:p>
        </p:txBody>
      </p:sp>
      <p:sp>
        <p:nvSpPr>
          <p:cNvPr id="19" name="lg_414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050" dirty="0"/>
          </a:p>
        </p:txBody>
      </p:sp>
      <p:sp>
        <p:nvSpPr>
          <p:cNvPr id="20" name="lg_415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050" dirty="0"/>
          </a:p>
        </p:txBody>
      </p:sp>
      <p:sp>
        <p:nvSpPr>
          <p:cNvPr id="21" name="sq_416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I'll never forget ___ them live in Rome. (see)</a:t>
            </a:r>
            <a:endParaRPr lang="en-US" sz="1150" dirty="0"/>
          </a:p>
        </p:txBody>
      </p:sp>
      <p:sp>
        <p:nvSpPr>
          <p:cNvPr id="22" name="R1_tag417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3" name="sq_418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 ___ the tickets! (bring)</a:t>
            </a:r>
            <a:endParaRPr lang="en-US" sz="1200" dirty="0"/>
          </a:p>
        </p:txBody>
      </p:sp>
      <p:sp>
        <p:nvSpPr>
          <p:cNvPr id="24" name="R2_tag419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5" name="sq_420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Can't sleep? Try ___ to calm music. (listen)</a:t>
            </a:r>
            <a:endParaRPr lang="en-US" sz="1150" dirty="0"/>
          </a:p>
        </p:txBody>
      </p:sp>
      <p:sp>
        <p:nvSpPr>
          <p:cNvPr id="26" name="R3_tag421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27" name="sq_422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 tried ___ the high note, but I couldn't. (reach)</a:t>
            </a:r>
            <a:endParaRPr lang="en-US" sz="1100" dirty="0"/>
          </a:p>
        </p:txBody>
      </p:sp>
      <p:sp>
        <p:nvSpPr>
          <p:cNvPr id="28" name="R4_tag423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29" name="sq_424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Stop ___ the drums – it's midnight! (play)</a:t>
            </a:r>
            <a:endParaRPr lang="en-US" sz="1200" dirty="0"/>
          </a:p>
        </p:txBody>
      </p:sp>
      <p:sp>
        <p:nvSpPr>
          <p:cNvPr id="30" name="R5_tag425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1" name="sq_426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We stopped ___ a coffee on the way. (buy)</a:t>
            </a:r>
            <a:endParaRPr lang="en-US" sz="1200" dirty="0"/>
          </a:p>
        </p:txBody>
      </p:sp>
      <p:sp>
        <p:nvSpPr>
          <p:cNvPr id="32" name="R6_tag427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to + verb</a:t>
            </a:r>
            <a:endParaRPr lang="en-US" sz="1150" dirty="0"/>
          </a:p>
        </p:txBody>
      </p:sp>
      <p:sp>
        <p:nvSpPr>
          <p:cNvPr id="33" name="sq_428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 My teacher made me ___ every day. (practise)</a:t>
            </a:r>
            <a:endParaRPr lang="en-US" sz="1100" dirty="0"/>
          </a:p>
        </p:txBody>
      </p:sp>
      <p:sp>
        <p:nvSpPr>
          <p:cNvPr id="34" name="R7_tag429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 (no to)</a:t>
            </a:r>
            <a:endParaRPr lang="en-US" sz="1150" dirty="0"/>
          </a:p>
        </p:txBody>
      </p:sp>
      <p:sp>
        <p:nvSpPr>
          <p:cNvPr id="35" name="sq_430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 My guitar needs ___. (tune)</a:t>
            </a:r>
            <a:endParaRPr lang="en-US" sz="1200" dirty="0"/>
          </a:p>
        </p:txBody>
      </p:sp>
      <p:sp>
        <p:nvSpPr>
          <p:cNvPr id="36" name="R8_tag431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+ -ing</a:t>
            </a:r>
            <a:endParaRPr lang="en-US" sz="1150" dirty="0"/>
          </a:p>
        </p:txBody>
      </p:sp>
      <p:sp>
        <p:nvSpPr>
          <p:cNvPr id="37" name="pf_432"/>
          <p:cNvSpPr/>
          <p:nvPr/>
        </p:nvSpPr>
        <p:spPr>
          <a:xfrm rot="-120000">
            <a:off x="411480" y="3703320"/>
            <a:ext cx="2514600" cy="1005840"/>
          </a:xfrm>
          <a:prstGeom prst="roundRect">
            <a:avLst>
              <a:gd name="adj" fmla="val 154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8" name="ph_433" descr="/home/claude/lls-course/v2/cache/b2_6b_family_jpg_583x220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144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3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 word race!</a:t>
            </a:r>
            <a:endParaRPr lang="en-US" sz="2500" dirty="0"/>
          </a:p>
        </p:txBody>
      </p:sp>
      <p:pic>
        <p:nvPicPr>
          <p:cNvPr id="6" name="brP_4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438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the KEY WORD. Write 2–5 words.</a:t>
            </a:r>
            <a:endParaRPr lang="en-US" sz="1250" dirty="0"/>
          </a:p>
        </p:txBody>
      </p:sp>
      <p:sp>
        <p:nvSpPr>
          <p:cNvPr id="8" name="insIT_4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Completa la frase 2 con 2–5 parole. Usa la PAROLA CHIAVE.</a:t>
            </a:r>
            <a:endParaRPr lang="en-US" sz="950" dirty="0"/>
          </a:p>
        </p:txBody>
      </p:sp>
      <p:sp>
        <p:nvSpPr>
          <p:cNvPr id="9" name="cmd_4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44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🏆 teams</a:t>
            </a:r>
            <a:endParaRPr lang="en-US" sz="950" dirty="0"/>
          </a:p>
        </p:txBody>
      </p:sp>
      <p:sp>
        <p:nvSpPr>
          <p:cNvPr id="11" name="tag_44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4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Game · Cambridge B2 First Part 4   ·   📖 Cambridge B2 First · Reading &amp; Use of English Part 4 style</a:t>
            </a:r>
            <a:endParaRPr lang="en-US" sz="800" dirty="0"/>
          </a:p>
        </p:txBody>
      </p:sp>
      <p:sp>
        <p:nvSpPr>
          <p:cNvPr id="14" name="cd_445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4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44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448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sentence 1 and the KEY WORD.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 1 e la parola chiave.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2–5 words. Don't change the key word!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Scrivi 2–5 parole. Non cambiare la parola chiave!</a:t>
            </a:r>
            <a:endParaRPr lang="en-US" sz="8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8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Don't forget the tickets! REMEMBER → Remember to bring the tickets!</a:t>
            </a:r>
            <a:endParaRPr lang="en-US" sz="8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Corretta = 1 punto.</a:t>
            </a:r>
            <a:endParaRPr lang="en-US" sz="800" dirty="0"/>
          </a:p>
        </p:txBody>
      </p:sp>
      <p:sp>
        <p:nvSpPr>
          <p:cNvPr id="18" name="st_449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450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451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Don't forget to call Grandma.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REMEMBER → ___ Grandma.</a:t>
            </a:r>
            <a:endParaRPr lang="en-US" sz="1100" dirty="0"/>
          </a:p>
        </p:txBody>
      </p:sp>
      <p:sp>
        <p:nvSpPr>
          <p:cNvPr id="21" name="R1_chip452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Remember to call</a:t>
            </a:r>
            <a:endParaRPr lang="en-US" sz="1100" dirty="0"/>
          </a:p>
        </p:txBody>
      </p:sp>
      <p:sp>
        <p:nvSpPr>
          <p:cNvPr id="22" name="bd_453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454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jar was too hard to open.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TRIED → I ___ the jar, but I couldn't.</a:t>
            </a:r>
            <a:endParaRPr lang="en-US" sz="950" dirty="0"/>
          </a:p>
        </p:txBody>
      </p:sp>
      <p:sp>
        <p:nvSpPr>
          <p:cNvPr id="24" name="R2_chip455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tried to open</a:t>
            </a:r>
            <a:endParaRPr lang="en-US" sz="1100" dirty="0"/>
          </a:p>
        </p:txBody>
      </p:sp>
      <p:sp>
        <p:nvSpPr>
          <p:cNvPr id="25" name="bd_456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457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not turn it off and on again?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 → ___ it off and on again.</a:t>
            </a:r>
            <a:endParaRPr lang="en-US" sz="1000" dirty="0"/>
          </a:p>
        </p:txBody>
      </p:sp>
      <p:sp>
        <p:nvSpPr>
          <p:cNvPr id="27" name="R3_chip458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Try turning</a:t>
            </a:r>
            <a:endParaRPr lang="en-US" sz="1100" dirty="0"/>
          </a:p>
        </p:txBody>
      </p:sp>
      <p:sp>
        <p:nvSpPr>
          <p:cNvPr id="28" name="bd_459"/>
          <p:cNvSpPr/>
          <p:nvPr/>
        </p:nvSpPr>
        <p:spPr>
          <a:xfrm>
            <a:off x="3246120" y="32369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460"/>
          <p:cNvSpPr/>
          <p:nvPr/>
        </p:nvSpPr>
        <p:spPr>
          <a:xfrm>
            <a:off x="3657600" y="3145536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saw them live – amazing!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FORGET → I'll never ___ them live.</a:t>
            </a:r>
            <a:endParaRPr lang="en-US" sz="950" dirty="0"/>
          </a:p>
        </p:txBody>
      </p:sp>
      <p:sp>
        <p:nvSpPr>
          <p:cNvPr id="30" name="R4_chip461"/>
          <p:cNvSpPr/>
          <p:nvPr/>
        </p:nvSpPr>
        <p:spPr>
          <a:xfrm>
            <a:off x="6263640" y="3145536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forget seeing</a:t>
            </a:r>
            <a:endParaRPr lang="en-US" sz="1100" dirty="0"/>
          </a:p>
        </p:txBody>
      </p:sp>
      <p:sp>
        <p:nvSpPr>
          <p:cNvPr id="31" name="bd_462"/>
          <p:cNvSpPr/>
          <p:nvPr/>
        </p:nvSpPr>
        <p:spPr>
          <a:xfrm>
            <a:off x="3246120" y="3813048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463"/>
          <p:cNvSpPr/>
          <p:nvPr/>
        </p:nvSpPr>
        <p:spPr>
          <a:xfrm>
            <a:off x="3657600" y="3721608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Mum didn't allow me to go to the gig.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LET → Mum ___ go to the gig.</a:t>
            </a:r>
            <a:endParaRPr lang="en-US" sz="950" dirty="0"/>
          </a:p>
        </p:txBody>
      </p:sp>
      <p:sp>
        <p:nvSpPr>
          <p:cNvPr id="33" name="R5_chip464"/>
          <p:cNvSpPr/>
          <p:nvPr/>
        </p:nvSpPr>
        <p:spPr>
          <a:xfrm>
            <a:off x="6263640" y="3721608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didn't let me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467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your partner about…</a:t>
            </a:r>
            <a:endParaRPr lang="en-US" sz="2500" dirty="0"/>
          </a:p>
        </p:txBody>
      </p:sp>
      <p:pic>
        <p:nvPicPr>
          <p:cNvPr id="6" name="brP_4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69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3 topics. Tell your partner.</a:t>
            </a:r>
            <a:endParaRPr lang="en-US" sz="1250" dirty="0"/>
          </a:p>
        </p:txBody>
      </p:sp>
      <p:sp>
        <p:nvSpPr>
          <p:cNvPr id="8" name="insIT_4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3 argomenti. Parla al compagno. Fai 1 domanda.</a:t>
            </a:r>
            <a:endParaRPr lang="en-US" sz="950" dirty="0"/>
          </a:p>
        </p:txBody>
      </p:sp>
      <p:sp>
        <p:nvSpPr>
          <p:cNvPr id="9" name="cmd_47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72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73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4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tell your partner about…   ·   📖 SB p.61 · 2e</a:t>
            </a:r>
            <a:endParaRPr lang="en-US" sz="800" dirty="0"/>
          </a:p>
        </p:txBody>
      </p:sp>
      <p:sp>
        <p:nvSpPr>
          <p:cNvPr id="14" name="pf_476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77" descr="/home/claude/lls-course/v2/cache/b2_6b_instrum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78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79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80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81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Memory: I'll never forget… -ing · I remember… -ing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Trying: I tried to… · I've tried… -ing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 up: When was that? Did it work?</a:t>
            </a:r>
            <a:endParaRPr lang="en-US" sz="7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React: No way! · Me too! · Really?</a:t>
            </a:r>
            <a:endParaRPr lang="en-US" sz="700" dirty="0"/>
          </a:p>
        </p:txBody>
      </p:sp>
      <p:sp>
        <p:nvSpPr>
          <p:cNvPr id="20" name="R1_qb482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83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piece of music you'll never forget hearing for the first time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I'll never forget hearing my dad's favourite song at a wedding – I was about seven.</a:t>
            </a:r>
            <a:endParaRPr lang="en-US" sz="1000" dirty="0"/>
          </a:p>
        </p:txBody>
      </p:sp>
      <p:sp>
        <p:nvSpPr>
          <p:cNvPr id="22" name="R2_qb484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85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sometimes forget to do before you leave the house</a:t>
            </a:r>
            <a:endParaRPr lang="en-US" sz="105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often forget to charge my phone, so it dies at lunchtime!</a:t>
            </a:r>
            <a:endParaRPr lang="en-US" sz="1050" dirty="0"/>
          </a:p>
        </p:txBody>
      </p:sp>
      <p:sp>
        <p:nvSpPr>
          <p:cNvPr id="24" name="R3_qb486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87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 remember doing before you were five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remember playing on the beach at Aspra with my grandad.</a:t>
            </a:r>
            <a:endParaRPr lang="en-US" sz="1250" dirty="0"/>
          </a:p>
        </p:txBody>
      </p:sp>
      <p:sp>
        <p:nvSpPr>
          <p:cNvPr id="26" name="R4_qb488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89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skill you tried to learn but couldn't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tried to learn the guitar, but my fingers hurt too much!</a:t>
            </a:r>
            <a:endParaRPr lang="en-US" sz="1250" dirty="0"/>
          </a:p>
        </p:txBody>
      </p:sp>
      <p:sp>
        <p:nvSpPr>
          <p:cNvPr id="28" name="R5_qb490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491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something you've tried doing when you can't sleep at night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I've tried listening to rain sounds – it actually works.</a:t>
            </a:r>
            <a:endParaRPr lang="en-US" sz="1200" dirty="0"/>
          </a:p>
        </p:txBody>
      </p:sp>
      <p:sp>
        <p:nvSpPr>
          <p:cNvPr id="30" name="R6_qb492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493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Extension: which song will you choose in 20 years to remember this year? Why?</a:t>
            </a:r>
            <a:endParaRPr lang="en-US" sz="8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This summer's hit – it'll remind me of my friends and the beach.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4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49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Name the instrument!</a:t>
            </a:r>
            <a:endParaRPr lang="en-US" sz="2500" dirty="0"/>
          </a:p>
        </p:txBody>
      </p:sp>
      <p:pic>
        <p:nvPicPr>
          <p:cNvPr id="6" name="brP_4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98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Write the instrument.</a:t>
            </a:r>
            <a:endParaRPr lang="en-US" sz="1250" dirty="0"/>
          </a:p>
        </p:txBody>
      </p:sp>
      <p:sp>
        <p:nvSpPr>
          <p:cNvPr id="8" name="insIT_4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l'indizio. Scrivi lo strumento. Poi ascolta.</a:t>
            </a:r>
            <a:endParaRPr lang="en-US" sz="950" dirty="0"/>
          </a:p>
        </p:txBody>
      </p:sp>
      <p:sp>
        <p:nvSpPr>
          <p:cNvPr id="9" name="cmd_5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0" name="cmd_50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50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0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00" dirty="0"/>
          </a:p>
        </p:txBody>
      </p:sp>
      <p:pic>
        <p:nvPicPr>
          <p:cNvPr id="13" name="logo_50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0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Vocabulary · instruments   ·   📖 SB p.61 · 3a, 3b · audio 6.16, 6.17</a:t>
            </a:r>
            <a:endParaRPr lang="en-US" sz="800" dirty="0"/>
          </a:p>
        </p:txBody>
      </p:sp>
      <p:sp>
        <p:nvSpPr>
          <p:cNvPr id="15" name="cd_50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0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50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50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small, under your chin → a violin /vaɪəˈlɪn/</a:t>
            </a:r>
            <a:endParaRPr lang="en-US" sz="1050" dirty="0"/>
          </a:p>
        </p:txBody>
      </p:sp>
      <p:sp>
        <p:nvSpPr>
          <p:cNvPr id="19" name="pf_510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11" descr="/home/claude/lls-course/v2/cache/b2_6b_guitar_sax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1" name="ap_512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 + 6.17</a:t>
            </a:r>
            <a:endParaRPr lang="en-US" sz="1100" dirty="0"/>
          </a:p>
        </p:txBody>
      </p:sp>
      <p:sp>
        <p:nvSpPr>
          <p:cNvPr id="22" name="ah_513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3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5" name="ah_514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6" name="Media 2">
            <a:hlinkClick r:id="" action="ppaction://media"/>
          </p:cNvPr>
          <p:cNvPicPr>
            <a:picLocks noChangeAspect="1"/>
          </p:cNvPicPr>
          <p:nvPr>
            <a:audioFile r:link="rId12"/>
            <p:extLst>
              <p:ext uri="{DAA4B4D4-6D71-4841-9C94-3DE7FCFB9230}">
                <p14:media xmlns:p14="http://schemas.microsoft.com/office/powerpoint/2010/main" r:embed="rId13"/>
              </p:ext>
            </p:extLst>
          </p:nvPr>
        </p:nvPicPr>
        <p:blipFill>
          <a:blip r:embed="rId14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7" name="Media 3">
            <a:hlinkClick r:id="" action="ppaction://media"/>
          </p:cNvPr>
          <p:cNvPicPr>
            <a:picLocks noChangeAspect="1"/>
          </p:cNvPicPr>
          <p:nvPr>
            <a:audioFile r:link="rId15"/>
            <p:extLst>
              <p:ext uri="{DAA4B4D4-6D71-4841-9C94-3DE7FCFB9230}">
                <p14:media xmlns:p14="http://schemas.microsoft.com/office/powerpoint/2010/main" r:embed="rId16"/>
              </p:ext>
            </p:extLst>
          </p:nvPr>
        </p:nvPicPr>
        <p:blipFill>
          <a:blip r:embed="rId17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8" name="bd_515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q_516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🎸 4 strings, very low notes</a:t>
            </a:r>
            <a:endParaRPr lang="en-US" sz="1150" dirty="0"/>
          </a:p>
        </p:txBody>
      </p:sp>
      <p:sp>
        <p:nvSpPr>
          <p:cNvPr id="30" name="R1_chip517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bass guitar – bass = /beɪs/ (like base!)</a:t>
            </a:r>
            <a:endParaRPr lang="en-US" sz="1000" dirty="0"/>
          </a:p>
        </p:txBody>
      </p:sp>
      <p:sp>
        <p:nvSpPr>
          <p:cNvPr id="31" name="bd_518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q_519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🥁 you hit them with sticks</a:t>
            </a:r>
            <a:endParaRPr lang="en-US" sz="1150" dirty="0"/>
          </a:p>
        </p:txBody>
      </p:sp>
      <p:sp>
        <p:nvSpPr>
          <p:cNvPr id="33" name="R2_chip520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drums (✗ battery!)</a:t>
            </a:r>
            <a:endParaRPr lang="en-US" sz="1000" dirty="0"/>
          </a:p>
        </p:txBody>
      </p:sp>
      <p:sp>
        <p:nvSpPr>
          <p:cNvPr id="34" name="bd_521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5" name="q_522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🎹 an electric piano</a:t>
            </a:r>
            <a:endParaRPr lang="en-US" sz="1150" dirty="0"/>
          </a:p>
        </p:txBody>
      </p:sp>
      <p:sp>
        <p:nvSpPr>
          <p:cNvPr id="36" name="R3_chip523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keyboard /ˈkiːbɔːd/</a:t>
            </a:r>
            <a:endParaRPr lang="en-US" sz="1000" dirty="0"/>
          </a:p>
        </p:txBody>
      </p:sp>
      <p:sp>
        <p:nvSpPr>
          <p:cNvPr id="37" name="bd_524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8" name="q_525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🎻 big – you sit to play it</a:t>
            </a:r>
            <a:endParaRPr lang="en-US" sz="1150" dirty="0"/>
          </a:p>
        </p:txBody>
      </p:sp>
      <p:sp>
        <p:nvSpPr>
          <p:cNvPr id="39" name="R4_chip526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cello /ˈtʃeləʊ/</a:t>
            </a:r>
            <a:endParaRPr lang="en-US" sz="1000" dirty="0"/>
          </a:p>
        </p:txBody>
      </p:sp>
      <p:sp>
        <p:nvSpPr>
          <p:cNvPr id="40" name="bd_527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q_528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🎶 silver – you blow across it</a:t>
            </a:r>
            <a:endParaRPr lang="en-US" sz="1150" dirty="0"/>
          </a:p>
        </p:txBody>
      </p:sp>
      <p:sp>
        <p:nvSpPr>
          <p:cNvPr id="42" name="R5_chip529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flute /fluːt/</a:t>
            </a:r>
            <a:endParaRPr lang="en-US" sz="1000" dirty="0"/>
          </a:p>
        </p:txBody>
      </p:sp>
      <p:sp>
        <p:nvSpPr>
          <p:cNvPr id="43" name="bd_530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4" name="q_531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🎷 jazz – gold – you blow into it</a:t>
            </a:r>
            <a:endParaRPr lang="en-US" sz="1150" dirty="0"/>
          </a:p>
        </p:txBody>
      </p:sp>
      <p:sp>
        <p:nvSpPr>
          <p:cNvPr id="45" name="R6_chip532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saxophone /ˈsæksəfəʊn/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6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7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3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35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Careful, Italians!</a:t>
            </a:r>
            <a:endParaRPr lang="en-US" sz="2500" dirty="0"/>
          </a:p>
        </p:txBody>
      </p:sp>
      <p:pic>
        <p:nvPicPr>
          <p:cNvPr id="6" name="brP_53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537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it in English. Then click.</a:t>
            </a:r>
            <a:endParaRPr lang="en-US" sz="1250" dirty="0"/>
          </a:p>
        </p:txBody>
      </p:sp>
      <p:sp>
        <p:nvSpPr>
          <p:cNvPr id="8" name="insIT_53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Spiegalo in inglese. Poi clicca per l'italiano.</a:t>
            </a:r>
            <a:endParaRPr lang="en-US" sz="950" dirty="0"/>
          </a:p>
        </p:txBody>
      </p:sp>
      <p:sp>
        <p:nvSpPr>
          <p:cNvPr id="9" name="cmd_53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540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541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00" dirty="0"/>
          </a:p>
        </p:txBody>
      </p:sp>
      <p:pic>
        <p:nvPicPr>
          <p:cNvPr id="12" name="logo_5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Vocabulary · musicians + Italian traps   ·   📖 SB p.61 · 3a musicians</a:t>
            </a:r>
            <a:endParaRPr lang="en-US" sz="800" dirty="0"/>
          </a:p>
        </p:txBody>
      </p:sp>
      <p:sp>
        <p:nvSpPr>
          <p:cNvPr id="14" name="cd_544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545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🤵</a:t>
            </a:r>
            <a:endParaRPr lang="en-US" sz="2000" dirty="0"/>
          </a:p>
        </p:txBody>
      </p:sp>
      <p:sp>
        <p:nvSpPr>
          <p:cNvPr id="16" name="en_546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conductor</a:t>
            </a:r>
            <a:endParaRPr lang="en-US" sz="1200" dirty="0"/>
          </a:p>
        </p:txBody>
      </p:sp>
      <p:sp>
        <p:nvSpPr>
          <p:cNvPr id="17" name="R1_def547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leads an orchestra</a:t>
            </a:r>
            <a:endParaRPr lang="en-US" sz="850" dirty="0"/>
          </a:p>
        </p:txBody>
      </p:sp>
      <p:sp>
        <p:nvSpPr>
          <p:cNvPr id="18" name="R2_it548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direttore d'orchestra</a:t>
            </a:r>
            <a:endParaRPr lang="en-US" sz="900" dirty="0"/>
          </a:p>
        </p:txBody>
      </p:sp>
      <p:sp>
        <p:nvSpPr>
          <p:cNvPr id="19" name="cd_549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550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🎼</a:t>
            </a:r>
            <a:endParaRPr lang="en-US" sz="2000" dirty="0"/>
          </a:p>
        </p:txBody>
      </p:sp>
      <p:sp>
        <p:nvSpPr>
          <p:cNvPr id="21" name="en_551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200" dirty="0"/>
          </a:p>
        </p:txBody>
      </p:sp>
      <p:sp>
        <p:nvSpPr>
          <p:cNvPr id="22" name="R3_def552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big classical group</a:t>
            </a:r>
            <a:endParaRPr lang="en-US" sz="850" dirty="0"/>
          </a:p>
        </p:txBody>
      </p:sp>
      <p:sp>
        <p:nvSpPr>
          <p:cNvPr id="23" name="R4_it553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orchestra</a:t>
            </a:r>
            <a:endParaRPr lang="en-US" sz="900" dirty="0"/>
          </a:p>
        </p:txBody>
      </p:sp>
      <p:sp>
        <p:nvSpPr>
          <p:cNvPr id="24" name="cd_554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555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26" name="en_556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 /ˈkwaɪə/</a:t>
            </a:r>
            <a:endParaRPr lang="en-US" sz="1200" dirty="0"/>
          </a:p>
        </p:txBody>
      </p:sp>
      <p:sp>
        <p:nvSpPr>
          <p:cNvPr id="27" name="R5_def557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 who sing together</a:t>
            </a:r>
            <a:endParaRPr lang="en-US" sz="850" dirty="0"/>
          </a:p>
        </p:txBody>
      </p:sp>
      <p:sp>
        <p:nvSpPr>
          <p:cNvPr id="28" name="R6_it558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coro</a:t>
            </a:r>
            <a:endParaRPr lang="en-US" sz="900" dirty="0"/>
          </a:p>
        </p:txBody>
      </p:sp>
      <p:sp>
        <p:nvSpPr>
          <p:cNvPr id="29" name="cd_559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56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🔁</a:t>
            </a:r>
            <a:endParaRPr lang="en-US" sz="2000" dirty="0"/>
          </a:p>
        </p:txBody>
      </p:sp>
      <p:sp>
        <p:nvSpPr>
          <p:cNvPr id="31" name="en_56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 /ˈkɔːrəs/</a:t>
            </a:r>
            <a:endParaRPr lang="en-US" sz="1150" dirty="0"/>
          </a:p>
        </p:txBody>
      </p:sp>
      <p:sp>
        <p:nvSpPr>
          <p:cNvPr id="32" name="R7_def562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repeated part of a song</a:t>
            </a:r>
            <a:endParaRPr lang="en-US" sz="850" dirty="0"/>
          </a:p>
        </p:txBody>
      </p:sp>
      <p:sp>
        <p:nvSpPr>
          <p:cNvPr id="33" name="R8_it563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ritornello</a:t>
            </a:r>
            <a:endParaRPr lang="en-US" sz="900" dirty="0"/>
          </a:p>
        </p:txBody>
      </p:sp>
      <p:sp>
        <p:nvSpPr>
          <p:cNvPr id="34" name="cd_564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565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🎫</a:t>
            </a:r>
            <a:endParaRPr lang="en-US" sz="2000" dirty="0"/>
          </a:p>
        </p:txBody>
      </p:sp>
      <p:sp>
        <p:nvSpPr>
          <p:cNvPr id="36" name="en_566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</a:t>
            </a:r>
            <a:endParaRPr lang="en-US" sz="1200" dirty="0"/>
          </a:p>
        </p:txBody>
      </p:sp>
      <p:sp>
        <p:nvSpPr>
          <p:cNvPr id="37" name="R9_def567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live music show</a:t>
            </a:r>
            <a:endParaRPr lang="en-US" sz="850" dirty="0"/>
          </a:p>
        </p:txBody>
      </p:sp>
      <p:sp>
        <p:nvSpPr>
          <p:cNvPr id="38" name="R10_it568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 concerto</a:t>
            </a:r>
            <a:endParaRPr lang="en-US" sz="900" dirty="0"/>
          </a:p>
        </p:txBody>
      </p:sp>
      <p:sp>
        <p:nvSpPr>
          <p:cNvPr id="39" name="cd_569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570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🎻</a:t>
            </a:r>
            <a:endParaRPr lang="en-US" sz="2000" dirty="0"/>
          </a:p>
        </p:txBody>
      </p:sp>
      <p:sp>
        <p:nvSpPr>
          <p:cNvPr id="41" name="en_571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200" dirty="0"/>
          </a:p>
        </p:txBody>
      </p:sp>
      <p:sp>
        <p:nvSpPr>
          <p:cNvPr id="42" name="R11_def572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for soloist + orchestra</a:t>
            </a:r>
            <a:endParaRPr lang="en-US" sz="850" dirty="0"/>
          </a:p>
        </p:txBody>
      </p:sp>
      <p:sp>
        <p:nvSpPr>
          <p:cNvPr id="43" name="R12_it573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concerto (per solista)</a:t>
            </a:r>
            <a:endParaRPr lang="en-US" sz="900" dirty="0"/>
          </a:p>
        </p:txBody>
      </p:sp>
      <p:sp>
        <p:nvSpPr>
          <p:cNvPr id="44" name="cd_574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575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🎤</a:t>
            </a:r>
            <a:endParaRPr lang="en-US" sz="2000" dirty="0"/>
          </a:p>
        </p:txBody>
      </p:sp>
      <p:sp>
        <p:nvSpPr>
          <p:cNvPr id="46" name="en_576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200" dirty="0"/>
          </a:p>
        </p:txBody>
      </p:sp>
      <p:sp>
        <p:nvSpPr>
          <p:cNvPr id="47" name="R13_def577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highest female voice</a:t>
            </a:r>
            <a:endParaRPr lang="en-US" sz="850" dirty="0"/>
          </a:p>
        </p:txBody>
      </p:sp>
      <p:sp>
        <p:nvSpPr>
          <p:cNvPr id="48" name="R14_it578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soprano</a:t>
            </a:r>
            <a:endParaRPr lang="en-US" sz="900" dirty="0"/>
          </a:p>
        </p:txBody>
      </p:sp>
      <p:sp>
        <p:nvSpPr>
          <p:cNvPr id="49" name="cd_579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580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✍️</a:t>
            </a:r>
            <a:endParaRPr lang="en-US" sz="2000" dirty="0"/>
          </a:p>
        </p:txBody>
      </p:sp>
      <p:sp>
        <p:nvSpPr>
          <p:cNvPr id="51" name="en_581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composer</a:t>
            </a:r>
            <a:endParaRPr lang="en-US" sz="1200" dirty="0"/>
          </a:p>
        </p:txBody>
      </p:sp>
      <p:sp>
        <p:nvSpPr>
          <p:cNvPr id="52" name="R15_def582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writes music (Beethoven)</a:t>
            </a:r>
            <a:endParaRPr lang="en-US" sz="850" dirty="0"/>
          </a:p>
        </p:txBody>
      </p:sp>
      <p:sp>
        <p:nvSpPr>
          <p:cNvPr id="53" name="R16_it583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compositore</a:t>
            </a:r>
            <a:endParaRPr lang="en-US" sz="900" dirty="0"/>
          </a:p>
        </p:txBody>
      </p:sp>
      <p:sp>
        <p:nvSpPr>
          <p:cNvPr id="54" name="cd_584"/>
          <p:cNvSpPr/>
          <p:nvPr/>
        </p:nvSpPr>
        <p:spPr>
          <a:xfrm>
            <a:off x="320040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585"/>
          <p:cNvSpPr/>
          <p:nvPr/>
        </p:nvSpPr>
        <p:spPr>
          <a:xfrm>
            <a:off x="393192" y="353872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🎸</a:t>
            </a:r>
            <a:endParaRPr lang="en-US" sz="2000" dirty="0"/>
          </a:p>
        </p:txBody>
      </p:sp>
      <p:sp>
        <p:nvSpPr>
          <p:cNvPr id="56" name="en_586"/>
          <p:cNvSpPr/>
          <p:nvPr/>
        </p:nvSpPr>
        <p:spPr>
          <a:xfrm>
            <a:off x="978408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band</a:t>
            </a:r>
            <a:endParaRPr lang="en-US" sz="1200" dirty="0"/>
          </a:p>
        </p:txBody>
      </p:sp>
      <p:sp>
        <p:nvSpPr>
          <p:cNvPr id="57" name="R17_def587"/>
          <p:cNvSpPr/>
          <p:nvPr/>
        </p:nvSpPr>
        <p:spPr>
          <a:xfrm>
            <a:off x="978408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pop or rock group</a:t>
            </a:r>
            <a:endParaRPr lang="en-US" sz="850" dirty="0"/>
          </a:p>
        </p:txBody>
      </p:sp>
      <p:sp>
        <p:nvSpPr>
          <p:cNvPr id="58" name="R18_it588"/>
          <p:cNvSpPr/>
          <p:nvPr/>
        </p:nvSpPr>
        <p:spPr>
          <a:xfrm>
            <a:off x="978408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gruppo / band</a:t>
            </a:r>
            <a:endParaRPr lang="en-US" sz="900" dirty="0"/>
          </a:p>
        </p:txBody>
      </p:sp>
      <p:sp>
        <p:nvSpPr>
          <p:cNvPr id="59" name="cd_589"/>
          <p:cNvSpPr/>
          <p:nvPr/>
        </p:nvSpPr>
        <p:spPr>
          <a:xfrm>
            <a:off x="2487168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e_590"/>
          <p:cNvSpPr/>
          <p:nvPr/>
        </p:nvSpPr>
        <p:spPr>
          <a:xfrm>
            <a:off x="2560320" y="353872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📝</a:t>
            </a:r>
            <a:endParaRPr lang="en-US" sz="2000" dirty="0"/>
          </a:p>
        </p:txBody>
      </p:sp>
      <p:sp>
        <p:nvSpPr>
          <p:cNvPr id="61" name="en_591"/>
          <p:cNvSpPr/>
          <p:nvPr/>
        </p:nvSpPr>
        <p:spPr>
          <a:xfrm>
            <a:off x="3145536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200" dirty="0"/>
          </a:p>
        </p:txBody>
      </p:sp>
      <p:sp>
        <p:nvSpPr>
          <p:cNvPr id="62" name="R19_def592"/>
          <p:cNvSpPr/>
          <p:nvPr/>
        </p:nvSpPr>
        <p:spPr>
          <a:xfrm>
            <a:off x="3145536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words of a song</a:t>
            </a:r>
            <a:endParaRPr lang="en-US" sz="850" dirty="0"/>
          </a:p>
        </p:txBody>
      </p:sp>
      <p:sp>
        <p:nvSpPr>
          <p:cNvPr id="63" name="R20_it593"/>
          <p:cNvSpPr/>
          <p:nvPr/>
        </p:nvSpPr>
        <p:spPr>
          <a:xfrm>
            <a:off x="3145536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testo (di una canzone)</a:t>
            </a:r>
            <a:endParaRPr lang="en-US" sz="800" dirty="0"/>
          </a:p>
        </p:txBody>
      </p:sp>
      <p:sp>
        <p:nvSpPr>
          <p:cNvPr id="64" name="cd_594"/>
          <p:cNvSpPr/>
          <p:nvPr/>
        </p:nvSpPr>
        <p:spPr>
          <a:xfrm>
            <a:off x="4654296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5" name="e_595"/>
          <p:cNvSpPr/>
          <p:nvPr/>
        </p:nvSpPr>
        <p:spPr>
          <a:xfrm>
            <a:off x="4727448" y="353872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🥁</a:t>
            </a:r>
            <a:endParaRPr lang="en-US" sz="2000" dirty="0"/>
          </a:p>
        </p:txBody>
      </p:sp>
      <p:sp>
        <p:nvSpPr>
          <p:cNvPr id="66" name="en_596"/>
          <p:cNvSpPr/>
          <p:nvPr/>
        </p:nvSpPr>
        <p:spPr>
          <a:xfrm>
            <a:off x="5312664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200" dirty="0"/>
          </a:p>
        </p:txBody>
      </p:sp>
      <p:sp>
        <p:nvSpPr>
          <p:cNvPr id="67" name="R21_def597"/>
          <p:cNvSpPr/>
          <p:nvPr/>
        </p:nvSpPr>
        <p:spPr>
          <a:xfrm>
            <a:off x="5312664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hit them with sticks</a:t>
            </a:r>
            <a:endParaRPr lang="en-US" sz="850" dirty="0"/>
          </a:p>
        </p:txBody>
      </p:sp>
      <p:sp>
        <p:nvSpPr>
          <p:cNvPr id="68" name="R22_it598"/>
          <p:cNvSpPr/>
          <p:nvPr/>
        </p:nvSpPr>
        <p:spPr>
          <a:xfrm>
            <a:off x="5312664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batteria</a:t>
            </a:r>
            <a:endParaRPr lang="en-US" sz="900" dirty="0"/>
          </a:p>
        </p:txBody>
      </p:sp>
      <p:sp>
        <p:nvSpPr>
          <p:cNvPr id="69" name="cd_599"/>
          <p:cNvSpPr/>
          <p:nvPr/>
        </p:nvSpPr>
        <p:spPr>
          <a:xfrm>
            <a:off x="6821424" y="342900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0" name="e_600"/>
          <p:cNvSpPr/>
          <p:nvPr/>
        </p:nvSpPr>
        <p:spPr>
          <a:xfrm>
            <a:off x="6894576" y="353872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🎹</a:t>
            </a:r>
            <a:endParaRPr lang="en-US" sz="2000" dirty="0"/>
          </a:p>
        </p:txBody>
      </p:sp>
      <p:sp>
        <p:nvSpPr>
          <p:cNvPr id="71" name="en_601"/>
          <p:cNvSpPr/>
          <p:nvPr/>
        </p:nvSpPr>
        <p:spPr>
          <a:xfrm>
            <a:off x="7479792" y="348386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200" dirty="0"/>
          </a:p>
        </p:txBody>
      </p:sp>
      <p:sp>
        <p:nvSpPr>
          <p:cNvPr id="72" name="R23_def602"/>
          <p:cNvSpPr/>
          <p:nvPr/>
        </p:nvSpPr>
        <p:spPr>
          <a:xfrm>
            <a:off x="7479792" y="37947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electric piano</a:t>
            </a:r>
            <a:endParaRPr lang="en-US" sz="850" dirty="0"/>
          </a:p>
        </p:txBody>
      </p:sp>
      <p:sp>
        <p:nvSpPr>
          <p:cNvPr id="73" name="R24_it603"/>
          <p:cNvSpPr/>
          <p:nvPr/>
        </p:nvSpPr>
        <p:spPr>
          <a:xfrm>
            <a:off x="7479792" y="413308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tastiera</a:t>
            </a:r>
            <a:endParaRPr lang="en-US" sz="900" dirty="0"/>
          </a:p>
        </p:txBody>
      </p:sp>
      <p:sp>
        <p:nvSpPr>
          <p:cNvPr id="74" name="R25_wc604"/>
          <p:cNvSpPr/>
          <p:nvPr/>
        </p:nvSpPr>
        <p:spPr>
          <a:xfrm>
            <a:off x="320040" y="448056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75" name="R25_w605"/>
          <p:cNvSpPr/>
          <p:nvPr/>
        </p:nvSpPr>
        <p:spPr>
          <a:xfrm>
            <a:off x="457200" y="44805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conductor ≠ conduttore (TV = presenter)  ·  concert = concerto (show)  ·  chorus = ritornello  ·  ORchestra, not orCHEStra  ·  ✗ battery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60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Borrowed words</a:t>
            </a:r>
            <a:endParaRPr lang="en-US" sz="2400" dirty="0"/>
          </a:p>
        </p:txBody>
      </p:sp>
      <p:pic>
        <p:nvPicPr>
          <p:cNvPr id="6" name="brP_60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10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rule. Click. Say the words aloud.</a:t>
            </a:r>
            <a:endParaRPr lang="en-US" sz="1250" dirty="0"/>
          </a:p>
        </p:txBody>
      </p:sp>
      <p:sp>
        <p:nvSpPr>
          <p:cNvPr id="8" name="insIT_61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regola. Clicca. Di' le parole.</a:t>
            </a:r>
            <a:endParaRPr lang="en-US" sz="950" dirty="0"/>
          </a:p>
        </p:txBody>
      </p:sp>
      <p:sp>
        <p:nvSpPr>
          <p:cNvPr id="9" name="cmd_61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613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614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2" name="logo_61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Pronunciation · words from other languages   ·   📖 SB p.61 · 3c, 3d · audio 6.18 (+ 6.19 for 3e/f)</a:t>
            </a:r>
            <a:endParaRPr lang="en-US" sz="800" dirty="0"/>
          </a:p>
        </p:txBody>
      </p:sp>
      <p:sp>
        <p:nvSpPr>
          <p:cNvPr id="14" name="ah_617"/>
          <p:cNvSpPr/>
          <p:nvPr/>
        </p:nvSpPr>
        <p:spPr>
          <a:xfrm>
            <a:off x="2670048" y="457200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 + 6.19   ▶ normal</a:t>
            </a:r>
            <a:endParaRPr lang="en-US" sz="10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16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17" name="ah_618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19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cd_619"/>
          <p:cNvSpPr/>
          <p:nvPr/>
        </p:nvSpPr>
        <p:spPr>
          <a:xfrm>
            <a:off x="3200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620"/>
          <p:cNvSpPr/>
          <p:nvPr/>
        </p:nvSpPr>
        <p:spPr>
          <a:xfrm>
            <a:off x="4297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c + e / i</a:t>
            </a:r>
            <a:endParaRPr lang="en-US" sz="1250" dirty="0"/>
          </a:p>
        </p:txBody>
      </p:sp>
      <p:sp>
        <p:nvSpPr>
          <p:cNvPr id="22" name="pf_621"/>
          <p:cNvSpPr/>
          <p:nvPr/>
        </p:nvSpPr>
        <p:spPr>
          <a:xfrm>
            <a:off x="4297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622" descr="/home/claude/lls-course/v2/cache/b2_6b_cello_drum_jpg_415x209_31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488" y="1984248"/>
            <a:ext cx="1723644" cy="868680"/>
          </a:xfrm>
          <a:prstGeom prst="rect">
            <a:avLst/>
          </a:prstGeom>
        </p:spPr>
      </p:pic>
      <p:sp>
        <p:nvSpPr>
          <p:cNvPr id="24" name="ru_623"/>
          <p:cNvSpPr/>
          <p:nvPr/>
        </p:nvSpPr>
        <p:spPr>
          <a:xfrm>
            <a:off x="4114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 = /tʃ/</a:t>
            </a:r>
            <a:endParaRPr lang="en-US" sz="1050" dirty="0"/>
          </a:p>
        </p:txBody>
      </p:sp>
      <p:sp>
        <p:nvSpPr>
          <p:cNvPr id="25" name="R1_rx624"/>
          <p:cNvSpPr/>
          <p:nvPr/>
        </p:nvSpPr>
        <p:spPr>
          <a:xfrm>
            <a:off x="4114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erto /kənˈtʃɜːtəʊ/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ello · </a:t>
            </a:r>
            <a:pPr algn="ctr" indent="0" marL="0">
              <a:buNone/>
            </a:pPr>
            <a:r>
              <a:rPr lang="en-US" sz="10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iao</a:t>
            </a:r>
            <a:endParaRPr lang="en-US" sz="1050" dirty="0"/>
          </a:p>
        </p:txBody>
      </p:sp>
      <p:sp>
        <p:nvSpPr>
          <p:cNvPr id="26" name="R1_ri625"/>
          <p:cNvSpPr/>
          <p:nvPr/>
        </p:nvSpPr>
        <p:spPr>
          <a:xfrm>
            <a:off x="4114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in italiano!</a:t>
            </a:r>
            <a:endParaRPr lang="en-US" sz="900" dirty="0"/>
          </a:p>
        </p:txBody>
      </p:sp>
      <p:sp>
        <p:nvSpPr>
          <p:cNvPr id="27" name="cd_626"/>
          <p:cNvSpPr/>
          <p:nvPr/>
        </p:nvSpPr>
        <p:spPr>
          <a:xfrm>
            <a:off x="24917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8" name="rh_627"/>
          <p:cNvSpPr/>
          <p:nvPr/>
        </p:nvSpPr>
        <p:spPr>
          <a:xfrm>
            <a:off x="26014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Italian zz</a:t>
            </a:r>
            <a:endParaRPr lang="en-US" sz="1250" dirty="0"/>
          </a:p>
        </p:txBody>
      </p:sp>
      <p:sp>
        <p:nvSpPr>
          <p:cNvPr id="29" name="pf_628"/>
          <p:cNvSpPr/>
          <p:nvPr/>
        </p:nvSpPr>
        <p:spPr>
          <a:xfrm>
            <a:off x="26014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0" name="ph_629" descr="/home/claude/lls-course/v2/cache/b2_6b_conductor_jpg_415x209_31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647188" y="1984248"/>
            <a:ext cx="1723644" cy="868680"/>
          </a:xfrm>
          <a:prstGeom prst="rect">
            <a:avLst/>
          </a:prstGeom>
        </p:spPr>
      </p:pic>
      <p:sp>
        <p:nvSpPr>
          <p:cNvPr id="31" name="ru_630"/>
          <p:cNvSpPr/>
          <p:nvPr/>
        </p:nvSpPr>
        <p:spPr>
          <a:xfrm>
            <a:off x="25831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zz = /ts/</a:t>
            </a:r>
            <a:endParaRPr lang="en-US" sz="1050" dirty="0"/>
          </a:p>
        </p:txBody>
      </p:sp>
      <p:sp>
        <p:nvSpPr>
          <p:cNvPr id="32" name="R2_rx631"/>
          <p:cNvSpPr/>
          <p:nvPr/>
        </p:nvSpPr>
        <p:spPr>
          <a:xfrm>
            <a:off x="25831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</a:t>
            </a:r>
            <a:pPr algn="ctr" indent="0" marL="0">
              <a:buNone/>
            </a:pPr>
            <a:r>
              <a:rPr lang="en-US" sz="1050" b="1" dirty="0">
                <a:solidFill>
                  <a:srgbClr val="2F8DE4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zz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o-soprano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/ˌmetsəʊ səˈprɑːnəʊ/</a:t>
            </a:r>
            <a:endParaRPr lang="en-US" sz="1050" dirty="0"/>
          </a:p>
        </p:txBody>
      </p:sp>
      <p:sp>
        <p:nvSpPr>
          <p:cNvPr id="33" name="R2_ri632"/>
          <p:cNvSpPr/>
          <p:nvPr/>
        </p:nvSpPr>
        <p:spPr>
          <a:xfrm>
            <a:off x="25831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come in pizza</a:t>
            </a:r>
            <a:endParaRPr lang="en-US" sz="900" dirty="0"/>
          </a:p>
        </p:txBody>
      </p:sp>
      <p:sp>
        <p:nvSpPr>
          <p:cNvPr id="34" name="cd_633"/>
          <p:cNvSpPr/>
          <p:nvPr/>
        </p:nvSpPr>
        <p:spPr>
          <a:xfrm>
            <a:off x="46634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rh_634"/>
          <p:cNvSpPr/>
          <p:nvPr/>
        </p:nvSpPr>
        <p:spPr>
          <a:xfrm>
            <a:off x="47731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Greek ch · rh · ph</a:t>
            </a:r>
            <a:endParaRPr lang="en-US" sz="1250" dirty="0"/>
          </a:p>
        </p:txBody>
      </p:sp>
      <p:sp>
        <p:nvSpPr>
          <p:cNvPr id="36" name="pf_635"/>
          <p:cNvSpPr/>
          <p:nvPr/>
        </p:nvSpPr>
        <p:spPr>
          <a:xfrm>
            <a:off x="47731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37" name="ph_636" descr="/home/claude/lls-course/v2/cache/b2_6b_family_jpg_415x209_31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818888" y="1984248"/>
            <a:ext cx="1723644" cy="868680"/>
          </a:xfrm>
          <a:prstGeom prst="rect">
            <a:avLst/>
          </a:prstGeom>
        </p:spPr>
      </p:pic>
      <p:sp>
        <p:nvSpPr>
          <p:cNvPr id="38" name="ru_637"/>
          <p:cNvSpPr/>
          <p:nvPr/>
        </p:nvSpPr>
        <p:spPr>
          <a:xfrm>
            <a:off x="47548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 = /k/ · rh = /r/ · ph = /f/</a:t>
            </a:r>
            <a:endParaRPr lang="en-US" sz="1050" dirty="0"/>
          </a:p>
        </p:txBody>
      </p:sp>
      <p:sp>
        <p:nvSpPr>
          <p:cNvPr id="39" name="R3_rx638"/>
          <p:cNvSpPr/>
          <p:nvPr/>
        </p:nvSpPr>
        <p:spPr>
          <a:xfrm>
            <a:off x="47548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orus · or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estra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ythm /ˈrɪðəm/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sym</a:t>
            </a:r>
            <a:pPr algn="ctr" indent="0" marL="0">
              <a:buNone/>
            </a:pPr>
            <a:r>
              <a:rPr lang="en-US" sz="10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ony /ˈsɪmfəni/</a:t>
            </a:r>
            <a:endParaRPr lang="en-US" sz="1050" dirty="0"/>
          </a:p>
        </p:txBody>
      </p:sp>
      <p:sp>
        <p:nvSpPr>
          <p:cNvPr id="40" name="R3_ri639"/>
          <p:cNvSpPr/>
          <p:nvPr/>
        </p:nvSpPr>
        <p:spPr>
          <a:xfrm>
            <a:off x="47548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 NON è /tʃ/!</a:t>
            </a:r>
            <a:endParaRPr lang="en-US" sz="900" dirty="0"/>
          </a:p>
        </p:txBody>
      </p:sp>
      <p:sp>
        <p:nvSpPr>
          <p:cNvPr id="41" name="cd_640"/>
          <p:cNvSpPr/>
          <p:nvPr/>
        </p:nvSpPr>
        <p:spPr>
          <a:xfrm>
            <a:off x="6835140" y="1417320"/>
            <a:ext cx="2034540" cy="3017520"/>
          </a:xfrm>
          <a:prstGeom prst="roundRect">
            <a:avLst>
              <a:gd name="adj" fmla="val 6292"/>
            </a:avLst>
          </a:prstGeom>
          <a:solidFill>
            <a:srgbClr val="FFFFFF"/>
          </a:solidFill>
          <a:ln w="2540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2" name="rh_641"/>
          <p:cNvSpPr/>
          <p:nvPr/>
        </p:nvSpPr>
        <p:spPr>
          <a:xfrm>
            <a:off x="6944868" y="1508760"/>
            <a:ext cx="1815084" cy="36576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</a:t>
            </a:r>
            <a:endParaRPr lang="en-US" sz="1250" dirty="0"/>
          </a:p>
        </p:txBody>
      </p:sp>
      <p:sp>
        <p:nvSpPr>
          <p:cNvPr id="43" name="pf_642"/>
          <p:cNvSpPr/>
          <p:nvPr/>
        </p:nvSpPr>
        <p:spPr>
          <a:xfrm>
            <a:off x="6944868" y="1938528"/>
            <a:ext cx="1815084" cy="960120"/>
          </a:xfrm>
          <a:prstGeom prst="roundRect">
            <a:avLst>
              <a:gd name="adj" fmla="val 161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4" name="ph_643" descr="/home/claude/lls-course/v2/cache/b2_6b_pianist_jpg_415x209_31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90588" y="1984248"/>
            <a:ext cx="1723644" cy="868680"/>
          </a:xfrm>
          <a:prstGeom prst="rect">
            <a:avLst/>
          </a:prstGeom>
        </p:spPr>
      </p:pic>
      <p:sp>
        <p:nvSpPr>
          <p:cNvPr id="45" name="ru_644"/>
          <p:cNvSpPr/>
          <p:nvPr/>
        </p:nvSpPr>
        <p:spPr>
          <a:xfrm>
            <a:off x="6926580" y="2926080"/>
            <a:ext cx="18516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French sounds</a:t>
            </a:r>
            <a:endParaRPr lang="en-US" sz="1050" dirty="0"/>
          </a:p>
        </p:txBody>
      </p:sp>
      <p:sp>
        <p:nvSpPr>
          <p:cNvPr id="46" name="R4_rx645"/>
          <p:cNvSpPr/>
          <p:nvPr/>
        </p:nvSpPr>
        <p:spPr>
          <a:xfrm>
            <a:off x="6926580" y="3319272"/>
            <a:ext cx="18516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ball</a:t>
            </a:r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et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/ˈbæleɪ/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core /ˈɒŋkɔː/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2B705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enre /ˈʒɒnrə/</a:t>
            </a:r>
            <a:endParaRPr lang="en-US" sz="1050" dirty="0"/>
          </a:p>
        </p:txBody>
      </p:sp>
      <p:sp>
        <p:nvSpPr>
          <p:cNvPr id="47" name="R4_ri646"/>
          <p:cNvSpPr/>
          <p:nvPr/>
        </p:nvSpPr>
        <p:spPr>
          <a:xfrm>
            <a:off x="6926580" y="4087368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finale muta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6" fill="hold">
                      <p:stCondLst>
                        <p:cond delay="0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9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4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45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6" fill="hold">
                      <p:stCondLst>
                        <p:cond delay="0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9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4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5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5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  <p:audio>
              <p:cMediaNode vol="80000">
                <p:cTn id="5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49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5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53"/>
          <p:cNvSpPr/>
          <p:nvPr/>
        </p:nvSpPr>
        <p:spPr>
          <a:xfrm>
            <a:off x="6510528" y="182880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54"/>
          <p:cNvSpPr/>
          <p:nvPr/>
        </p:nvSpPr>
        <p:spPr>
          <a:xfrm>
            <a:off x="6510528" y="420624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850" dirty="0"/>
          </a:p>
        </p:txBody>
      </p:sp>
      <p:pic>
        <p:nvPicPr>
          <p:cNvPr id="11" name="logo_6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Exit · what can you remember?</a:t>
            </a:r>
            <a:endParaRPr lang="en-US" sz="800" dirty="0"/>
          </a:p>
        </p:txBody>
      </p:sp>
      <p:sp>
        <p:nvSpPr>
          <p:cNvPr id="13" name="bd_657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58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verbs + -ing or to (e.g. enjoy…)</a:t>
            </a:r>
            <a:endParaRPr lang="en-US" sz="1400" dirty="0"/>
          </a:p>
        </p:txBody>
      </p:sp>
      <p:sp>
        <p:nvSpPr>
          <p:cNvPr id="15" name="bd_659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60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music words Italians get wrong</a:t>
            </a:r>
            <a:endParaRPr lang="en-US" sz="1400" dirty="0"/>
          </a:p>
        </p:txBody>
      </p:sp>
      <p:sp>
        <p:nvSpPr>
          <p:cNvPr id="17" name="bd_661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62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sentence: I'll never forget …-ing</a:t>
            </a:r>
            <a:endParaRPr lang="en-US" sz="1400" dirty="0"/>
          </a:p>
        </p:txBody>
      </p:sp>
      <p:sp>
        <p:nvSpPr>
          <p:cNvPr id="19" name="cd_663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64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65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66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1a, 1b, 1c, 1d (gerunds and infinitives)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2e (music · borrowed words)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2d, 2f, 2g, 2h with the Workbook audio</a:t>
            </a:r>
            <a:endParaRPr lang="en-US" sz="1150" dirty="0"/>
          </a:p>
        </p:txBody>
      </p:sp>
      <p:sp>
        <p:nvSpPr>
          <p:cNvPr id="23" name="st_667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6B part 2 · Music while you work · reading + speaking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67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6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67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6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675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76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850" dirty="0"/>
          </a:p>
        </p:txBody>
      </p:sp>
      <p:pic>
        <p:nvPicPr>
          <p:cNvPr id="12" name="logo_6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Review · what did you do today?</a:t>
            </a:r>
            <a:endParaRPr lang="en-US" sz="800" dirty="0"/>
          </a:p>
        </p:txBody>
      </p:sp>
      <p:sp>
        <p:nvSpPr>
          <p:cNvPr id="14" name="cd_679"/>
          <p:cNvSpPr/>
          <p:nvPr/>
        </p:nvSpPr>
        <p:spPr>
          <a:xfrm>
            <a:off x="548640" y="14173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80"/>
          <p:cNvSpPr/>
          <p:nvPr/>
        </p:nvSpPr>
        <p:spPr>
          <a:xfrm>
            <a:off x="640080" y="14538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🎧</a:t>
            </a:r>
            <a:endParaRPr lang="en-US" sz="1800" dirty="0"/>
          </a:p>
        </p:txBody>
      </p:sp>
      <p:sp>
        <p:nvSpPr>
          <p:cNvPr id="16" name="tt_681"/>
          <p:cNvSpPr/>
          <p:nvPr/>
        </p:nvSpPr>
        <p:spPr>
          <a:xfrm>
            <a:off x="1188720" y="14173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talk: why do we listen to music?</a:t>
            </a:r>
            <a:endParaRPr lang="en-US" sz="1350" dirty="0"/>
          </a:p>
        </p:txBody>
      </p:sp>
      <p:sp>
        <p:nvSpPr>
          <p:cNvPr id="17" name="R1_tk682"/>
          <p:cNvSpPr/>
          <p:nvPr/>
        </p:nvSpPr>
        <p:spPr>
          <a:xfrm>
            <a:off x="5989320" y="14538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83"/>
          <p:cNvSpPr/>
          <p:nvPr/>
        </p:nvSpPr>
        <p:spPr>
          <a:xfrm>
            <a:off x="548640" y="196596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84"/>
          <p:cNvSpPr/>
          <p:nvPr/>
        </p:nvSpPr>
        <p:spPr>
          <a:xfrm>
            <a:off x="640080" y="200253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✏️</a:t>
            </a:r>
            <a:endParaRPr lang="en-US" sz="1800" dirty="0"/>
          </a:p>
        </p:txBody>
      </p:sp>
      <p:sp>
        <p:nvSpPr>
          <p:cNvPr id="20" name="tt_685"/>
          <p:cNvSpPr/>
          <p:nvPr/>
        </p:nvSpPr>
        <p:spPr>
          <a:xfrm>
            <a:off x="1188720" y="196596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-ing or to? remember, try, stop</a:t>
            </a:r>
            <a:endParaRPr lang="en-US" sz="1350" dirty="0"/>
          </a:p>
        </p:txBody>
      </p:sp>
      <p:sp>
        <p:nvSpPr>
          <p:cNvPr id="21" name="R2_tk686"/>
          <p:cNvSpPr/>
          <p:nvPr/>
        </p:nvSpPr>
        <p:spPr>
          <a:xfrm>
            <a:off x="5989320" y="200253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87"/>
          <p:cNvSpPr/>
          <p:nvPr/>
        </p:nvSpPr>
        <p:spPr>
          <a:xfrm>
            <a:off x="548640" y="251460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88"/>
          <p:cNvSpPr/>
          <p:nvPr/>
        </p:nvSpPr>
        <p:spPr>
          <a:xfrm>
            <a:off x="640080" y="255117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🎻</a:t>
            </a:r>
            <a:endParaRPr lang="en-US" sz="1800" dirty="0"/>
          </a:p>
        </p:txBody>
      </p:sp>
      <p:sp>
        <p:nvSpPr>
          <p:cNvPr id="24" name="tt_689"/>
          <p:cNvSpPr/>
          <p:nvPr/>
        </p:nvSpPr>
        <p:spPr>
          <a:xfrm>
            <a:off x="1188720" y="251460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Practised music words – and Italian traps!</a:t>
            </a:r>
            <a:endParaRPr lang="en-US" sz="1350" dirty="0"/>
          </a:p>
        </p:txBody>
      </p:sp>
      <p:sp>
        <p:nvSpPr>
          <p:cNvPr id="25" name="R3_tk690"/>
          <p:cNvSpPr/>
          <p:nvPr/>
        </p:nvSpPr>
        <p:spPr>
          <a:xfrm>
            <a:off x="5989320" y="255117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91"/>
          <p:cNvSpPr/>
          <p:nvPr/>
        </p:nvSpPr>
        <p:spPr>
          <a:xfrm>
            <a:off x="548640" y="306324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92"/>
          <p:cNvSpPr/>
          <p:nvPr/>
        </p:nvSpPr>
        <p:spPr>
          <a:xfrm>
            <a:off x="640080" y="309981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8" name="tt_693"/>
          <p:cNvSpPr/>
          <p:nvPr/>
        </p:nvSpPr>
        <p:spPr>
          <a:xfrm>
            <a:off x="1188720" y="306324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cello, concerto the English way</a:t>
            </a:r>
            <a:endParaRPr lang="en-US" sz="1350" dirty="0"/>
          </a:p>
        </p:txBody>
      </p:sp>
      <p:sp>
        <p:nvSpPr>
          <p:cNvPr id="29" name="R4_tk694"/>
          <p:cNvSpPr/>
          <p:nvPr/>
        </p:nvSpPr>
        <p:spPr>
          <a:xfrm>
            <a:off x="5989320" y="309981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95"/>
          <p:cNvSpPr/>
          <p:nvPr/>
        </p:nvSpPr>
        <p:spPr>
          <a:xfrm>
            <a:off x="548640" y="361188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96"/>
          <p:cNvSpPr/>
          <p:nvPr/>
        </p:nvSpPr>
        <p:spPr>
          <a:xfrm>
            <a:off x="640080" y="364845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32" name="tt_697"/>
          <p:cNvSpPr/>
          <p:nvPr/>
        </p:nvSpPr>
        <p:spPr>
          <a:xfrm>
            <a:off x="1188720" y="361188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33" name="R5_tk698"/>
          <p:cNvSpPr/>
          <p:nvPr/>
        </p:nvSpPr>
        <p:spPr>
          <a:xfrm>
            <a:off x="5989320" y="364845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cd_699"/>
          <p:cNvSpPr/>
          <p:nvPr/>
        </p:nvSpPr>
        <p:spPr>
          <a:xfrm>
            <a:off x="548640" y="4160520"/>
            <a:ext cx="6035040" cy="475488"/>
          </a:xfrm>
          <a:prstGeom prst="roundRect">
            <a:avLst>
              <a:gd name="adj" fmla="val 26923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te_700"/>
          <p:cNvSpPr/>
          <p:nvPr/>
        </p:nvSpPr>
        <p:spPr>
          <a:xfrm>
            <a:off x="640080" y="4197096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💬</a:t>
            </a:r>
            <a:endParaRPr lang="en-US" sz="1800" dirty="0"/>
          </a:p>
        </p:txBody>
      </p:sp>
      <p:sp>
        <p:nvSpPr>
          <p:cNvPr id="36" name="tt_701"/>
          <p:cNvSpPr/>
          <p:nvPr/>
        </p:nvSpPr>
        <p:spPr>
          <a:xfrm>
            <a:off x="1188720" y="4160520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Told a partner your music memories</a:t>
            </a:r>
            <a:endParaRPr lang="en-US" sz="1350" dirty="0"/>
          </a:p>
        </p:txBody>
      </p:sp>
      <p:sp>
        <p:nvSpPr>
          <p:cNvPr id="37" name="R6_tk702"/>
          <p:cNvSpPr/>
          <p:nvPr/>
        </p:nvSpPr>
        <p:spPr>
          <a:xfrm>
            <a:off x="5989320" y="4197096"/>
            <a:ext cx="502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8" name="st_703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0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70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70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Where's it from?</a:t>
            </a:r>
            <a:endParaRPr lang="en-US" sz="2500" dirty="0"/>
          </a:p>
        </p:txBody>
      </p:sp>
      <p:pic>
        <p:nvPicPr>
          <p:cNvPr id="6" name="brP_70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70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Italian, Greek or French? Then listen.</a:t>
            </a:r>
            <a:endParaRPr lang="en-US" sz="1250" dirty="0"/>
          </a:p>
        </p:txBody>
      </p:sp>
      <p:sp>
        <p:nvSpPr>
          <p:cNvPr id="8" name="insIT_70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Italiano, greco o francese? Poi ascolta.</a:t>
            </a:r>
            <a:endParaRPr lang="en-US" sz="950" dirty="0"/>
          </a:p>
        </p:txBody>
      </p:sp>
      <p:sp>
        <p:nvSpPr>
          <p:cNvPr id="9" name="cmd_71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cmd_711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712"/>
          <p:cNvSpPr/>
          <p:nvPr/>
        </p:nvSpPr>
        <p:spPr>
          <a:xfrm>
            <a:off x="6510528" y="950976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2" name="tag_713"/>
          <p:cNvSpPr/>
          <p:nvPr/>
        </p:nvSpPr>
        <p:spPr>
          <a:xfrm>
            <a:off x="6510528" y="1188720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00" dirty="0"/>
          </a:p>
        </p:txBody>
      </p:sp>
      <p:pic>
        <p:nvPicPr>
          <p:cNvPr id="13" name="logo_7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7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Pronunciation · borrowed words   ·   📖 SB p.61 · 3e, 3f · audio 6.19 is on slide 19</a:t>
            </a:r>
            <a:endParaRPr lang="en-US" sz="800" dirty="0"/>
          </a:p>
        </p:txBody>
      </p:sp>
      <p:sp>
        <p:nvSpPr>
          <p:cNvPr id="15" name="st_71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6" name="cd_717"/>
          <p:cNvSpPr/>
          <p:nvPr/>
        </p:nvSpPr>
        <p:spPr>
          <a:xfrm>
            <a:off x="320040" y="1417320"/>
            <a:ext cx="2697480" cy="1911096"/>
          </a:xfrm>
          <a:prstGeom prst="roundRect">
            <a:avLst>
              <a:gd name="adj" fmla="val 6699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71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8" name="ih_71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Where does it come from?</a:t>
            </a:r>
            <a:endParaRPr lang="en-US" sz="1150" dirty="0"/>
          </a:p>
        </p:txBody>
      </p:sp>
      <p:sp>
        <p:nvSpPr>
          <p:cNvPr id="19" name="il_720"/>
          <p:cNvSpPr/>
          <p:nvPr/>
        </p:nvSpPr>
        <p:spPr>
          <a:xfrm>
            <a:off x="886968" y="1892808"/>
            <a:ext cx="2039112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0" name="lg_72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050" dirty="0"/>
          </a:p>
        </p:txBody>
      </p:sp>
      <p:sp>
        <p:nvSpPr>
          <p:cNvPr id="21" name="lg_72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050" dirty="0"/>
          </a:p>
        </p:txBody>
      </p:sp>
      <p:sp>
        <p:nvSpPr>
          <p:cNvPr id="22" name="lg_72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050" dirty="0"/>
          </a:p>
        </p:txBody>
      </p:sp>
      <p:sp>
        <p:nvSpPr>
          <p:cNvPr id="23" name="sq_724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barista</a:t>
            </a:r>
            <a:endParaRPr lang="en-US" sz="1200" dirty="0"/>
          </a:p>
        </p:txBody>
      </p:sp>
      <p:sp>
        <p:nvSpPr>
          <p:cNvPr id="24" name="R1_tag725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25" name="sq_726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chauffeur</a:t>
            </a:r>
            <a:endParaRPr lang="en-US" sz="1200" dirty="0"/>
          </a:p>
        </p:txBody>
      </p:sp>
      <p:sp>
        <p:nvSpPr>
          <p:cNvPr id="26" name="R2_tag727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  <p:sp>
        <p:nvSpPr>
          <p:cNvPr id="27" name="sq_728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psychologist</a:t>
            </a:r>
            <a:endParaRPr lang="en-US" sz="1200" dirty="0"/>
          </a:p>
        </p:txBody>
      </p:sp>
      <p:sp>
        <p:nvSpPr>
          <p:cNvPr id="28" name="R3_tag729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  Greek</a:t>
            </a:r>
            <a:endParaRPr lang="en-US" sz="1150" dirty="0"/>
          </a:p>
        </p:txBody>
      </p:sp>
      <p:sp>
        <p:nvSpPr>
          <p:cNvPr id="29" name="sq_730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paparazzi</a:t>
            </a:r>
            <a:endParaRPr lang="en-US" sz="1200" dirty="0"/>
          </a:p>
        </p:txBody>
      </p:sp>
      <p:sp>
        <p:nvSpPr>
          <p:cNvPr id="30" name="R4_tag731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  Italian</a:t>
            </a:r>
            <a:endParaRPr lang="en-US" sz="1150" dirty="0"/>
          </a:p>
        </p:txBody>
      </p:sp>
      <p:sp>
        <p:nvSpPr>
          <p:cNvPr id="31" name="sq_732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croissant</a:t>
            </a:r>
            <a:endParaRPr lang="en-US" sz="1200" dirty="0"/>
          </a:p>
        </p:txBody>
      </p:sp>
      <p:sp>
        <p:nvSpPr>
          <p:cNvPr id="32" name="R5_tag733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  French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3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3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736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 – music!</a:t>
            </a:r>
            <a:endParaRPr lang="en-US" sz="2500" dirty="0"/>
          </a:p>
        </p:txBody>
      </p:sp>
      <p:pic>
        <p:nvPicPr>
          <p:cNvPr id="6" name="brP_73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73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the word. B guesses. Then swap.</a:t>
            </a:r>
            <a:endParaRPr lang="en-US" sz="1250" dirty="0"/>
          </a:p>
        </p:txBody>
      </p:sp>
      <p:sp>
        <p:nvSpPr>
          <p:cNvPr id="8" name="insIT_73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la parola. B indovina. Poi scambiatevi.</a:t>
            </a:r>
            <a:endParaRPr lang="en-US" sz="950" dirty="0"/>
          </a:p>
        </p:txBody>
      </p:sp>
      <p:sp>
        <p:nvSpPr>
          <p:cNvPr id="9" name="cmd_74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41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742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00" dirty="0"/>
          </a:p>
        </p:txBody>
      </p:sp>
      <p:pic>
        <p:nvPicPr>
          <p:cNvPr id="12" name="logo_74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4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Game · music words</a:t>
            </a:r>
            <a:endParaRPr lang="en-US" sz="800" dirty="0"/>
          </a:p>
        </p:txBody>
      </p:sp>
      <p:sp>
        <p:nvSpPr>
          <p:cNvPr id="14" name="st_745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46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4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74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749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looks at the screen. B looks away.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guarda lo schermo. B si gira.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explains in English. Don't say the word!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spiega in inglese. Non dire la parola!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'He leads the orchestra with a stick.' → a conductor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 "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 all'inglese!</a:t>
            </a:r>
            <a:endParaRPr lang="en-US" sz="900" dirty="0"/>
          </a:p>
        </p:txBody>
      </p:sp>
      <p:sp>
        <p:nvSpPr>
          <p:cNvPr id="19" name="st_750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rl_751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1" name="R1_w752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choir</a:t>
            </a:r>
            <a:endParaRPr lang="en-US" sz="1700" dirty="0"/>
          </a:p>
        </p:txBody>
      </p:sp>
      <p:sp>
        <p:nvSpPr>
          <p:cNvPr id="22" name="R3_w753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drums</a:t>
            </a:r>
            <a:endParaRPr lang="en-US" sz="1700" dirty="0"/>
          </a:p>
        </p:txBody>
      </p:sp>
      <p:sp>
        <p:nvSpPr>
          <p:cNvPr id="23" name="R5_w754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concerto</a:t>
            </a:r>
            <a:endParaRPr lang="en-US" sz="1700" dirty="0"/>
          </a:p>
        </p:txBody>
      </p:sp>
      <p:sp>
        <p:nvSpPr>
          <p:cNvPr id="24" name="R7_w755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lyrics</a:t>
            </a:r>
            <a:endParaRPr lang="en-US" sz="1700" dirty="0"/>
          </a:p>
        </p:txBody>
      </p:sp>
      <p:sp>
        <p:nvSpPr>
          <p:cNvPr id="25" name="rl_756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6" name="R2_w757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an orchestra</a:t>
            </a:r>
            <a:endParaRPr lang="en-US" sz="1700" dirty="0"/>
          </a:p>
        </p:txBody>
      </p:sp>
      <p:sp>
        <p:nvSpPr>
          <p:cNvPr id="27" name="R4_w758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chorus</a:t>
            </a:r>
            <a:endParaRPr lang="en-US" sz="1700" dirty="0"/>
          </a:p>
        </p:txBody>
      </p:sp>
      <p:sp>
        <p:nvSpPr>
          <p:cNvPr id="28" name="R6_w759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keyboard</a:t>
            </a:r>
            <a:endParaRPr lang="en-US" sz="1700" dirty="0"/>
          </a:p>
        </p:txBody>
      </p:sp>
      <p:sp>
        <p:nvSpPr>
          <p:cNvPr id="29" name="R8_w760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soprano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7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763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music would you play…?</a:t>
            </a:r>
            <a:endParaRPr lang="en-US" sz="2250" dirty="0"/>
          </a:p>
        </p:txBody>
      </p:sp>
      <p:pic>
        <p:nvPicPr>
          <p:cNvPr id="6" name="brP_7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163824" cy="402336"/>
          </a:xfrm>
          <a:prstGeom prst="rect">
            <a:avLst/>
          </a:prstGeom>
        </p:spPr>
      </p:pic>
      <p:sp>
        <p:nvSpPr>
          <p:cNvPr id="7" name="ins_765"/>
          <p:cNvSpPr/>
          <p:nvPr/>
        </p:nvSpPr>
        <p:spPr>
          <a:xfrm>
            <a:off x="1353312" y="731520"/>
            <a:ext cx="29077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Choose music. Give a reason.</a:t>
            </a:r>
            <a:endParaRPr lang="en-US" sz="1250" dirty="0"/>
          </a:p>
        </p:txBody>
      </p:sp>
      <p:sp>
        <p:nvSpPr>
          <p:cNvPr id="8" name="insIT_76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Scegli la musica per ogni situazione. Spiega perché.</a:t>
            </a:r>
            <a:endParaRPr lang="en-US" sz="950" dirty="0"/>
          </a:p>
        </p:txBody>
      </p:sp>
      <p:sp>
        <p:nvSpPr>
          <p:cNvPr id="9" name="cmd_76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768"/>
          <p:cNvSpPr/>
          <p:nvPr/>
        </p:nvSpPr>
        <p:spPr>
          <a:xfrm>
            <a:off x="6510528" y="566928"/>
            <a:ext cx="1901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769"/>
          <p:cNvSpPr/>
          <p:nvPr/>
        </p:nvSpPr>
        <p:spPr>
          <a:xfrm>
            <a:off x="6510528" y="804672"/>
            <a:ext cx="1901952" cy="219456"/>
          </a:xfrm>
          <a:prstGeom prst="roundRect">
            <a:avLst>
              <a:gd name="adj" fmla="val 58333"/>
            </a:avLst>
          </a:prstGeom>
          <a:solidFill>
            <a:srgbClr val="F3EEFF"/>
          </a:solidFill>
          <a:ln w="12700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7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6B-1 · Speaking · what music would you play?   ·   📖 SB p.60 · 1g</a:t>
            </a:r>
            <a:endParaRPr lang="en-US" sz="800" dirty="0"/>
          </a:p>
        </p:txBody>
      </p:sp>
      <p:sp>
        <p:nvSpPr>
          <p:cNvPr id="14" name="st_77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pf_77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774" descr="/home/claude/lls-course/v2/cache/b2_6b_pianis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7" name="cd_77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77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77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20" name="il_77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If I was…, I'd play… because…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reminds me of… · It makes me feel…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Really? I'd choose…</a:t>
            </a:r>
            <a:endParaRPr lang="en-US" sz="900" dirty="0"/>
          </a:p>
        </p:txBody>
      </p:sp>
      <p:sp>
        <p:nvSpPr>
          <p:cNvPr id="21" name="R1_qb77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R1_sq780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preparing to go out and feeling happy and excited about it?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I'd play something loud and fast – it gets me in the mood!</a:t>
            </a:r>
            <a:endParaRPr lang="en-US" sz="1000" dirty="0"/>
          </a:p>
        </p:txBody>
      </p:sp>
      <p:sp>
        <p:nvSpPr>
          <p:cNvPr id="23" name="R2_qb781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R2_sq782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wanted to create a romantic atmosphere?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Something slow and soft – maybe an old Italian song.</a:t>
            </a:r>
            <a:endParaRPr lang="en-US" sz="1250" dirty="0"/>
          </a:p>
        </p:txBody>
      </p:sp>
      <p:sp>
        <p:nvSpPr>
          <p:cNvPr id="25" name="R3_qb783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R3_sq784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furious about something or somebody?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Heavy metal! It makes me even angrier – but then I feel better.</a:t>
            </a:r>
            <a:endParaRPr lang="en-US" sz="1200" dirty="0"/>
          </a:p>
        </p:txBody>
      </p:sp>
      <p:sp>
        <p:nvSpPr>
          <p:cNvPr id="27" name="R4_qb785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R4_sq786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stressed or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Piano music, really quiet. It slows me down.</a:t>
            </a:r>
            <a:endParaRPr lang="en-US" sz="1250" dirty="0"/>
          </a:p>
        </p:txBody>
      </p:sp>
      <p:sp>
        <p:nvSpPr>
          <p:cNvPr id="29" name="R5_qb787"/>
          <p:cNvSpPr/>
          <p:nvPr/>
        </p:nvSpPr>
        <p:spPr>
          <a:xfrm>
            <a:off x="3273552" y="3867912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788"/>
          <p:cNvSpPr/>
          <p:nvPr/>
        </p:nvSpPr>
        <p:spPr>
          <a:xfrm>
            <a:off x="3675888" y="3831336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…if you were feeling depressed?</a:t>
            </a:r>
            <a:endParaRPr lang="en-US" sz="10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If I was feeling depressed, I'd play Someone Like You by Adele, because it makes me cry. (SB)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6B-1 Music to my ears</dc:title>
  <dc:subject>PptxGenJS Presentation</dc:subject>
  <dc:creator>PptxGenJS</dc:creator>
  <cp:lastModifiedBy>PptxGenJS</cp:lastModifiedBy>
  <cp:revision>1</cp:revision>
  <dcterms:created xsi:type="dcterms:W3CDTF">2026-10-12T17:12:22Z</dcterms:created>
  <dcterms:modified xsi:type="dcterms:W3CDTF">2026-10-12T17:12:22Z</dcterms:modified>
</cp:coreProperties>
</file>