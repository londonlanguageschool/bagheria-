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Show the photo (a young pianist). Ask the THINK question; take 3–4 answers – push for a reason: 'How? Give me an example.' Click: the example answer. Read 'Today you're going to…' together. Don't correct gerunds/infinitives yet – just note errors like 'I like listen' for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(6A) (2 min)
REVISION (2 min). Read the examples together. Ask 2 students: 'What did you use to do before bed when you were small?' 'Is there anything you can't get used to?' Point out the key contrast again: used to + VERB (past habit) vs be/get used to + -ING (to = preposition). This prepares today: TODAY's grammar is also about -ing vs to. Then the warmer game uses exactly these sleep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Warmer · 6A sleep words (3 min)
RETRIEVAL WARMER (3 min). Variation of 'Describe it!' (last lesson's warmer was 'Here's the answer – what's the question?'). Demo first with a strong student: 'I'm not used to sleeping in the afternoon, but in Spain they often have one after lunch' → a nap. Click once per word (A sees it, B faces away). After round 1, partners swap seats/roles. Bonus point when the description uses used to / be used to / get used to correctly (I'm used to + -ing!). ICQ: 'Can you say the word?' (no) · 'Italian?' (no, English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Speaking · music in your day (3 min)
LEAD-IN (3 min). SB 1a. Questions appear ONE per click (about 30 seconds each). Model Q1 with your own answer. Push beyond the first answer: 'Why?', 'Always?'. Q5 = extension (negative/absurd questions get teens talking). Note good answers about MOOD – they lead straight into John Sloboda's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Listening · prediction (2 min)
PREDICTION (2 min). Read the introduction. Pairs use the 6 words to guess John's three reasons: 'I think one reason is to relax after work…' Take 2–3 guesses and write them on the board – DON'T confirm. ICQ: 'Are we listening yet?' (no – guessing first). The words come from his examples (film = Casablanca, night = going out in the evening, work = relaxing after work, sad / angry / date (a romantic dinner) = intensifying emotions).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Listening · John Sloboda, Part 1 (5 min)
LISTENING FOR KEY IDEAS (5 min). Worked example: show row 1 – 'to make us ___' needs a verb + what (e.g. 'remember…'). Play 6.10 once (1 min 40). Pairs compare and try to remember more (SB 1c). Play again (🐢 slower copy for weaker students). Click once per row. ANSWERS (SB key 1c): 1 to make us remember important moments in the past, e.g. when we met someone for the first time (like Humphrey Bogart in Casablanca saying 'Darling, they're playing our song'). 2 to help us to change activities, e.g. to prepare us to go out in the evening, to relax us when we get home from work. 3 to intensify the emotion that we're feeling, e.g. if we're feeling sad, we want to get sadder; if we're angry, we want to intensify the anger; at a romantic dinner, music makes it more romantic. Compare with the class predictions from the board. SB 1d (30 sec, pairs): 'When do YOU listen to music for one of these reasons? What kind?' AUDIO SCRIPT: not in our files – see the Student's Book audioscript (Listening 6.10).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Listening · four pieces of music (3 min)
PERSONAL RESPONSE (3 min). SB 1e: there is no 'right' answer – students write their own adjective for each extract. Play 6.11 once (1 min 30, four extracts – pause briefly after each). B2 PRECISION challenge: no 'happy', 'sad', 'nice' – choose a more precise word. Then click: the chips are only suggestions to extend vocabulary (not book answers). Q5 = quick pair talk. In Part 2 (next slide) John says which emotion HE links to each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Listening · John Sloboda, Part 2 (5 min)
LISTENING FOR DETAIL (5 min). Give 30 seconds to read and GUESS (e.g. 'happy people speak… faster?'). Play 6.12 (3 min 15 – the longest track; pause after the human voice part if needed, or use the 🐢 slower copy for a second listening). Pairs compare. Click once per row. ANSWERS (SB key 1f): human voice: happy = people speak faster, the voice is higher · sad = people speak more slowly, the voice is lower · angry = people raise their voice or shout. Music copies the voice: 1 faster, high-pitched music sounds happy · 2 slow music with falling pitches sounds sad · 3 loud music with irregular rhythms sounds angry. Next slide: the emotions John gives each piece. AUDIO SCRIPT: not in our files (SB audioscript 6.12).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Listening · John's emotions (1 min)
CHECK (1 min). From memory (they heard it in 6.12); replay the end of 6.12 if they're unsure. Click once per piece. ANSWERS (SB key 1f): 1 happy = the Beethoven · 2 angry = the Holst · 3 sad = the Albinoni · 4 terrified = the film music from Psycho. Quick question: 'Did John's emotions match YOUR adjectives?'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Grammar · from the talk (3 min)
NOTICING (3 min). Row 0 = worked example (click 1 shows it). The sentences come from John's talk (SB 2a). Pairs write the verbs (1 min), then play 6.13 to check; click once per answer. ANSWERS (SB key 2b): 1 remember · 2 hearing · 3 to go, make. Ask: 'Why make us REMEMBER without to?' (make + object + verb) · 'help us (to) make' – both are possible. Point at 2: 'remember HEARING' – did he hear it before or after remembering? (before → a memory). That's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Grammar · meaning changes (4 min)
GUIDED DISCOVERY (4 min). Worked example: do 1 together – 'Did I meet him before I remember? Yes → a MEMORY (B).' Pairs decide 2–8, click once per sentence. ANSWERS SB 2c: 1 B (to have or keep an image in your memory of something you did) · 2 A (to not forget to do something; to do what you have to do). 3–8 are our extra examples for forget / try / stop: 3 task · 4 memory · 5 effort (it was difficult, maybe impossible) · 6 experiment (do it and see if it helps) · 7 finish (he doesn't play now) · 8 pause/stop in order to do something else. CCQ: 'I stopped smoking / I stopped to smoke – who is a smoker now?' (the second!). Italian: ricordarsi DI fare (task) vs ricordare DI AVER fatto (memory) – Italian uses 'di' for both, so Italians mix them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Grammar · gerunds and infinitives (4 min)
CLARIFY (4 min). Elicit each rule from the previous slide BEFORE clicking the examples (one click per column, then the ⚠ line). CCQs: 'Try singing it lower – is it difficult or an idea to test?' (an idea) · 'I tried to reach the note – did I succeed?' (probably not – it was hard). Column 4 = Grammar Bank 6B verbs: + -ing after enjoy, mind, can't stand, suggest, feel like, imagine, avoid, give up · + to after want, manage, offer, threaten, would prefer, decide · verb without to after make, let, had better, would rather, modal verbs. like / love / hate / prefer: -ing or to with little difference. Italian traps: ✗ suggest to take → suggest taking · ✗ made me to tidy → made me tidy · ✗ I'm looking forward to see → to seeing. Need + -ing appears in the speaking task ('a job that needs doing').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Speaking · class story (TPRS) (4 min)
TPRS CLASS STORY (4 min) – straight after the rule (meaning is clear) and before the controlled practice, the key word race and 'Tell your partner about…', so the class hears remember / forget / try / stop + -ing or to (and let / make + verb) many times in one context. Click once per line. For each line: 1) say it, 2) ask the questions in grey round the class (yes/no → either/or → who/what/why), 3) let the CLASS change details: 'Was the concert in Palermo? No? Where was it? Which band?' – accept their idea and use it in later lines. Students answer with one word or a short phrase – that's fine; at B2 push for the contrast in the answer ('He stopped TO think – he paused; he didn't stop thinking!'). Line 4 and 6 are the key meaning contrasts: stop to think (pause in order to) vs stopped playing (finished); tried climbing (experiment) vs tried to explain (effort). Finish: 'What happens next?' – one or two ideas,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Grammar · Grammar Bank 6B practice (4 min)
CONTROLLED PRACTICE (4 min). Worked example in the colour card: I enjoy ___ (sing) → singing (+ -ing). Pairs say each sentence aloud with the right form, then click: the colour shows the pattern; a student says the full answer. ANSWERS (SB key, Grammar Bank 6B a): 1 I suggest taking · 2 we managed to drive · 3 We'd better do · 4 I can't stand waiting · 5 offered to carry · 6 make me tidy · 7 feel like coming · 8 I'd prefer to eat. (GB a also has: 9 We threatened to call the police if the boys didn't stop throwing stones · 10 I don't mind working late tonight.) NOTE: sentences adapted from the key – check the exact Grammar Bank wording in the book (we don't have p.143). Grammar Bank 6B b (key: 1 seeing · 2 to call · 3 taking · 4 locking · 5 to turn · 6 painting · 7 to send · 8 to reach) – do it in the book if there's time, or set it as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Game · Cambridge B2 First Part 4 (4 min)
EXAM GAME (4 min). Teams of 2–3. One sentence at a time: 45 seconds per item, teams write on mini-whiteboards/paper, then click. Point for a correct answer of 2–5 words with the key word UNCHANGED; contractions count as 2 words (didn't = did not). B2 First Part 4 facts (tell them): 6 items, 2 marks each (1 mark for each half), meaning must stay the same. Answers (our items): 1 Remember to call · 2 tried to open · 3 Try turning · 4 forget seeing · 5 didn't let me (3 words – contractions count as 2). The worked example is in the 'How to play' card. Common errors to reward/penalise: 'Remember calling' (wrong meaning), 'let me to go' (✗).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Speaking · tell your partner about… (5 min)
FREER PRACTICE (5 min). Prompts appear one per click – show them all, then pairs CHOOSE 3 (+ the extension if they finish early). Model one with your own true story. Worked example: A tells, B asks one follow-up question ('How old were you?'), then swap. Monitor: remember/forget/try + the right form. Other SB 2e prompts you can add: something you must remember to do today or this week · a job that needs doing in your house (e.g. the kitchen ceiling needs repainting) · something you need to do this evening. Delayed correction (1 min): 3 errors on the board, pairs correct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Vocabulary · instruments (3 min)
ELICIT FIRST (3 min). Pairs write the instrument for each clue (row 0 = example). Click once per row. Then play 6.16 (2 min 45 – sounds of instruments and musicians): students SAY which word they hear (no written key for the order in our files – just check orally). 6.17 = listen and check the words + stress: guiTAR, KEYboard, vioLIN, CELlo, SAXophone, conDUCtor, ORchestra, soPRAno. Musicians (choir, orchestra, conductor, soprano) are on the next slide. 3b: 'Can you play any of these instruments? Add more words: trumpet, harp, recorder, clarinet, drummer, pianist, lead singer…' (SB key 3b suggestions).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Vocabulary · musicians + Italian traps (2 min)
CONSOLIDATION (2 min, rule 5). Students explain each word in simple English first; click 1 shows the English meaning, click 2 the Italian and the ⚠ line. FALSE FRIENDS for Italians: a conductor = direttore d'orchestra (a TV conduttore = a presenter / host; a bus conductor = bigliettaio) · a concert = un concerto (show) but a concerto = a piece for a soloist and orchestra · a chorus = ritornello (or a large choir) · lyrics = il testo (not 'la lirica' = opera) · drums = la batteria (✗ battery) · a band = a pop/rock group (banda = brass band). PRONUNCIATION: concerto /kənˈtʃɜːtəʊ/, soprano /səˈprɑːnəʊ/. STRESS: ORchestra /ˈɔːkɪstrə/ (Italian orCHEStra), soPRAno, conDUCtor, CHOIR = one syllable-ish /ˈkwaɪə/.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Pronunciation · words from other languages (3 min)
PRONUNCIATION – RULE, THEN PRACTISE (3 min). Read the SB box 'Foreign words that are used in English': the English pronunciation is often similar to the original language – c before i and e in words from Italian is /tʃ/ (cello, ciao), ch in words from Greek is /k/ (choir, orchestra). 3c: pairs try to say concerto, mezzo-soprano, chorus, rhythm, symphony, ballet, encore, genre and underline the stress. Then click one column at a time and play 6.18 (23 sec) – students repeat. ANSWERS (SB key 3d): the second c in concerto = /tʃ/ · zz in mezzo = /ts/ · ch in chorus = /k/ · rhy in rhythm = /rɪ/ · ph in symphony = /f/ · et in ballet = /eɪ/ · en in encore = /ɒŋ/ · g in genre = /ʒ/. Stress (SB 3c phonemics): conCERto, mezzo-soPRAno, CHOrus, RHYthm, SYMphony, BALlet, ENcore, GENre. THE ITALIAN TRAP: Italians say these words perfectly – in Italian! In English vowels change: cappuccino /ˌkæpʊˈtʃiːnəʊ/, paparazzi /ˌpæpəˈrætsi/ (/æ/), barista /bəˈriːstə/ (weak /ə/). SPEAKERS (bottom right): 1 = 6.18 · 2 = 6.19 (for 3e/f, extra slide 22) · 3–4 = slower copies.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Exit · what can you remember? (2 min)
RETRIEVAL EXIT (2 min). Books closed. Pairs: 3 verbs with their pattern (enjoy + -ing, manage + to, make + verb…), 2 music words with a trap (conductor, concerto, chorus, orchestra…), 1 true 'I'll never forget …-ing' sentence – 3 students read theirs. Set homework: Workbook 6B pp.43–45: Grammar 1a–d; Vocabulary &amp; Pronunciation 2a–h (2d, 2f–h need the Workbook audio 6.3–6.5).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Pronunciation · borrowed words (4 min)
EXTRA (4 min). SB 3e: 18 words – the slide shows 5; do the others in the book. Pairs write I, G or F, then click; play 6.19 from slide 19 (second speaker) to check and repeat (the audio is there so its icon doesn't cover the EXTRA label here). ⚠ The SB key has NO answers for 3e – these are the usual origins; CHECK with audio 6.19: Italian: barista, cappuccino, graffiti, macchiato, paparazzi, villa · French: bouquet, chauffeur, chef, chic, croissant, fiancé · Greek: architecture, hypochondriac, microphone, philosophy, psychic, psychologist (architecture: Greek root, via Latin/French – confirm with the audio). Pronunciation: Greek ps- = /s/ (psychologist /saɪˈkɒlədʒɪst/), ch = /k/ (architecture /ˈɑːkɪtektʃə/); French ch = /ʃ/ (chauffeur, chef, chic). 3g: 'Which English words does Italian borrow? (weekend, smartphone, il manager…) Do Italians say them the English way?'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 Game · music words (4 min)
EXTRA GAME (4 min). Same 'Describe it!' format. Point only if B says the word with ENGLISH pronunciation and stress (ORchestra, /ˈkwaɪə/, conCERto). Click once per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 Speaking · what music would you play? (5 min)
EXTRA (5 min). SB 1g. Questions one per click. Connect to John's ideas: do they choose music to CHANGE their mood or to INTENSIFY it (reason 3)? The last example is the one printed in the Student's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audio" Target="../media/media-6-5.mp3"/><Relationship Id="rId6" Type="http://schemas.microsoft.com/office/2007/relationships/media" Target="../media/media-6-5.mp3"/><Relationship Id="rId7" Type="http://schemas.openxmlformats.org/officeDocument/2006/relationships/image" Target="../media/image-6-7.png"/><Relationship Id="rId8" Type="http://schemas.openxmlformats.org/officeDocument/2006/relationships/audio" Target="../media/media-6-8.mp3"/><Relationship Id="rId9" Type="http://schemas.microsoft.com/office/2007/relationships/media" Target="../media/media-6-8.mp3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audio" Target="../media/media-7-6.mp3"/><Relationship Id="rId7" Type="http://schemas.microsoft.com/office/2007/relationships/media" Target="../media/media-7-6.mp3"/><Relationship Id="rId8" Type="http://schemas.openxmlformats.org/officeDocument/2006/relationships/image" Target="../media/image-7-8.png"/><Relationship Id="rId9" Type="http://schemas.openxmlformats.org/officeDocument/2006/relationships/audio" Target="../media/media-7-9.mp3"/><Relationship Id="rId10" Type="http://schemas.microsoft.com/office/2007/relationships/media" Target="../media/media-7-9.mp3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audio" Target="../media/media-8-5.mp3"/><Relationship Id="rId6" Type="http://schemas.microsoft.com/office/2007/relationships/media" Target="../media/media-8-5.mp3"/><Relationship Id="rId7" Type="http://schemas.openxmlformats.org/officeDocument/2006/relationships/image" Target="../media/image-8-7.png"/><Relationship Id="rId8" Type="http://schemas.openxmlformats.org/officeDocument/2006/relationships/audio" Target="../media/media-8-8.mp3"/><Relationship Id="rId9" Type="http://schemas.microsoft.com/office/2007/relationships/media" Target="../media/media-8-8.mp3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audio" Target="../media/media-10-5.mp3"/><Relationship Id="rId6" Type="http://schemas.microsoft.com/office/2007/relationships/media" Target="../media/media-10-5.mp3"/><Relationship Id="rId7" Type="http://schemas.openxmlformats.org/officeDocument/2006/relationships/image" Target="../media/image-10-7.png"/><Relationship Id="rId8" Type="http://schemas.openxmlformats.org/officeDocument/2006/relationships/audio" Target="../media/media-10-8.mp3"/><Relationship Id="rId9" Type="http://schemas.microsoft.com/office/2007/relationships/media" Target="../media/media-10-8.mp3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audio" Target="../media/media-17-6.mp3"/><Relationship Id="rId7" Type="http://schemas.microsoft.com/office/2007/relationships/media" Target="../media/media-17-6.mp3"/><Relationship Id="rId8" Type="http://schemas.openxmlformats.org/officeDocument/2006/relationships/image" Target="../media/image-17-8.png"/><Relationship Id="rId9" Type="http://schemas.openxmlformats.org/officeDocument/2006/relationships/audio" Target="../media/media-17-9.mp3"/><Relationship Id="rId10" Type="http://schemas.microsoft.com/office/2007/relationships/media" Target="../media/media-17-9.mp3"/><Relationship Id="rId11" Type="http://schemas.openxmlformats.org/officeDocument/2006/relationships/image" Target="../media/image-17-11.png"/><Relationship Id="rId12" Type="http://schemas.openxmlformats.org/officeDocument/2006/relationships/audio" Target="../media/media-17-12.mp3"/><Relationship Id="rId13" Type="http://schemas.microsoft.com/office/2007/relationships/media" Target="../media/media-17-12.mp3"/><Relationship Id="rId14" Type="http://schemas.openxmlformats.org/officeDocument/2006/relationships/image" Target="../media/image-17-14.png"/><Relationship Id="rId15" Type="http://schemas.openxmlformats.org/officeDocument/2006/relationships/audio" Target="../media/media-17-15.mp3"/><Relationship Id="rId16" Type="http://schemas.microsoft.com/office/2007/relationships/media" Target="../media/media-17-15.mp3"/><Relationship Id="rId17" Type="http://schemas.openxmlformats.org/officeDocument/2006/relationships/image" Target="../media/image-1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audio" Target="../media/media-19-5.mp3"/><Relationship Id="rId6" Type="http://schemas.microsoft.com/office/2007/relationships/media" Target="../media/media-19-5.mp3"/><Relationship Id="rId7" Type="http://schemas.openxmlformats.org/officeDocument/2006/relationships/image" Target="../media/image-19-7.png"/><Relationship Id="rId8" Type="http://schemas.openxmlformats.org/officeDocument/2006/relationships/audio" Target="../media/media-19-8.mp3"/><Relationship Id="rId9" Type="http://schemas.microsoft.com/office/2007/relationships/media" Target="../media/media-19-8.mp3"/><Relationship Id="rId10" Type="http://schemas.openxmlformats.org/officeDocument/2006/relationships/image" Target="../media/image-19-10.png"/><Relationship Id="rId11" Type="http://schemas.openxmlformats.org/officeDocument/2006/relationships/audio" Target="../media/media-19-11.mp3"/><Relationship Id="rId12" Type="http://schemas.microsoft.com/office/2007/relationships/media" Target="../media/media-19-11.mp3"/><Relationship Id="rId13" Type="http://schemas.openxmlformats.org/officeDocument/2006/relationships/image" Target="../media/image-19-13.png"/><Relationship Id="rId14" Type="http://schemas.openxmlformats.org/officeDocument/2006/relationships/audio" Target="../media/media-19-14.mp3"/><Relationship Id="rId15" Type="http://schemas.microsoft.com/office/2007/relationships/media" Target="../media/media-19-14.mp3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Upper-intermediate · SB pp.60–61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6B-1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Music to my ears</a:t>
            </a:r>
            <a:endParaRPr lang="en-US" sz="21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Music, emotions, -ing or to?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243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🎧  listen to a talk: why do we listen to music?</a:t>
            </a:r>
            <a:endParaRPr lang="en-US" sz="8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 -ing or to? remember, try, stop</a:t>
            </a:r>
            <a:endParaRPr lang="en-US" sz="8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🎻  music words – and Italian traps!</a:t>
            </a:r>
            <a:endParaRPr lang="en-US" sz="8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🔊  say cello, concerto the English way</a:t>
            </a:r>
            <a:endParaRPr lang="en-US" sz="8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listen to a class story and answer questions</a:t>
            </a:r>
            <a:endParaRPr lang="en-US" sz="8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tell a partner your music memories</a:t>
            </a:r>
            <a:endParaRPr lang="en-US" sz="80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19050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Yes! When I'm stressed, a calm song helps me – but a sad song makes me even sadder!</a:t>
            </a:r>
            <a:endParaRPr lang="en-US" sz="85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b2_6b_pianist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music change the way you feel?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examples. Then say one about you.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gli esempi. Poi dinne uno su di te.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2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🙋 whole class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Revision · last lesson (6A)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b2_6a_moon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 Night night (2 Oct)</a:t>
            </a:r>
            <a:endParaRPr lang="en-US" sz="11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to / be used to / get used to · sleep words</a:t>
            </a:r>
            <a:endParaRPr lang="en-US" sz="1100" dirty="0"/>
          </a:p>
        </p:txBody>
      </p:sp>
      <p:sp>
        <p:nvSpPr>
          <p:cNvPr id="20" name="cd_34"/>
          <p:cNvSpPr/>
          <p:nvPr/>
        </p:nvSpPr>
        <p:spPr>
          <a:xfrm>
            <a:off x="324612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35"/>
          <p:cNvSpPr/>
          <p:nvPr/>
        </p:nvSpPr>
        <p:spPr>
          <a:xfrm>
            <a:off x="335584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used to · be used to · get used to</a:t>
            </a:r>
            <a:endParaRPr lang="en-US" sz="1150" dirty="0"/>
          </a:p>
        </p:txBody>
      </p:sp>
      <p:sp>
        <p:nvSpPr>
          <p:cNvPr id="22" name="rl_36"/>
          <p:cNvSpPr/>
          <p:nvPr/>
        </p:nvSpPr>
        <p:spPr>
          <a:xfrm>
            <a:off x="33832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to sleep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with the light on.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Nurses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used to working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at night.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getting used to waking up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at 6.30.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used to + verb · be / get used to + -ing</a:t>
            </a:r>
            <a:endParaRPr lang="en-US" sz="1150" dirty="0"/>
          </a:p>
        </p:txBody>
      </p:sp>
      <p:sp>
        <p:nvSpPr>
          <p:cNvPr id="23" name="cd_37"/>
          <p:cNvSpPr/>
          <p:nvPr/>
        </p:nvSpPr>
        <p:spPr>
          <a:xfrm>
            <a:off x="612648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rh_38"/>
          <p:cNvSpPr/>
          <p:nvPr/>
        </p:nvSpPr>
        <p:spPr>
          <a:xfrm>
            <a:off x="623620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Sleep words</a:t>
            </a:r>
            <a:endParaRPr lang="en-US" sz="1200" dirty="0"/>
          </a:p>
        </p:txBody>
      </p:sp>
      <p:sp>
        <p:nvSpPr>
          <p:cNvPr id="25" name="rl_39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overslept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and missed the bus.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dad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snores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like a train!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a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light sleeper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– I wake up easily.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nap · pillow · duvet · fall asleep</a:t>
            </a:r>
            <a:endParaRPr lang="en-US" sz="1150" dirty="0"/>
          </a:p>
        </p:txBody>
      </p:sp>
      <p:sp>
        <p:nvSpPr>
          <p:cNvPr id="26" name="kw_40"/>
          <p:cNvSpPr/>
          <p:nvPr/>
        </p:nvSpPr>
        <p:spPr>
          <a:xfrm>
            <a:off x="32461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KEY WORDS</a:t>
            </a:r>
            <a:endParaRPr lang="en-US" sz="1100" dirty="0"/>
          </a:p>
        </p:txBody>
      </p:sp>
      <p:sp>
        <p:nvSpPr>
          <p:cNvPr id="27" name="w_41"/>
          <p:cNvSpPr/>
          <p:nvPr/>
        </p:nvSpPr>
        <p:spPr>
          <a:xfrm>
            <a:off x="3246120" y="4178808"/>
            <a:ext cx="708660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snore</a:t>
            </a:r>
            <a:endParaRPr lang="en-US" sz="1050" dirty="0"/>
          </a:p>
        </p:txBody>
      </p:sp>
      <p:sp>
        <p:nvSpPr>
          <p:cNvPr id="28" name="w_42"/>
          <p:cNvSpPr/>
          <p:nvPr/>
        </p:nvSpPr>
        <p:spPr>
          <a:xfrm>
            <a:off x="4027932" y="4178808"/>
            <a:ext cx="553212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nap</a:t>
            </a:r>
            <a:endParaRPr lang="en-US" sz="1050" dirty="0"/>
          </a:p>
        </p:txBody>
      </p:sp>
      <p:sp>
        <p:nvSpPr>
          <p:cNvPr id="29" name="w_43"/>
          <p:cNvSpPr/>
          <p:nvPr/>
        </p:nvSpPr>
        <p:spPr>
          <a:xfrm>
            <a:off x="4654296" y="4178808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oversleep</a:t>
            </a:r>
            <a:endParaRPr lang="en-US" sz="1050" dirty="0"/>
          </a:p>
        </p:txBody>
      </p:sp>
      <p:sp>
        <p:nvSpPr>
          <p:cNvPr id="30" name="w_44"/>
          <p:cNvSpPr/>
          <p:nvPr/>
        </p:nvSpPr>
        <p:spPr>
          <a:xfrm>
            <a:off x="5747004" y="4178808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light sleeper</a:t>
            </a:r>
            <a:endParaRPr lang="en-US" sz="1050" dirty="0"/>
          </a:p>
        </p:txBody>
      </p:sp>
      <p:sp>
        <p:nvSpPr>
          <p:cNvPr id="31" name="w_45"/>
          <p:cNvSpPr/>
          <p:nvPr/>
        </p:nvSpPr>
        <p:spPr>
          <a:xfrm>
            <a:off x="7150608" y="4178808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 asleep</a:t>
            </a:r>
            <a:endParaRPr lang="en-US" sz="1050" dirty="0"/>
          </a:p>
        </p:txBody>
      </p:sp>
      <p:sp>
        <p:nvSpPr>
          <p:cNvPr id="32" name="w_46"/>
          <p:cNvSpPr/>
          <p:nvPr/>
        </p:nvSpPr>
        <p:spPr>
          <a:xfrm>
            <a:off x="3246120" y="4544568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 the alarm</a:t>
            </a:r>
            <a:endParaRPr lang="en-US" sz="1050" dirty="0"/>
          </a:p>
        </p:txBody>
      </p:sp>
      <p:sp>
        <p:nvSpPr>
          <p:cNvPr id="33" name="w_47"/>
          <p:cNvSpPr/>
          <p:nvPr/>
        </p:nvSpPr>
        <p:spPr>
          <a:xfrm>
            <a:off x="4649724" y="454456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insomnia</a:t>
            </a:r>
            <a:endParaRPr lang="en-US" sz="1050" dirty="0"/>
          </a:p>
        </p:txBody>
      </p:sp>
      <p:sp>
        <p:nvSpPr>
          <p:cNvPr id="34" name="w_48"/>
          <p:cNvSpPr/>
          <p:nvPr/>
        </p:nvSpPr>
        <p:spPr>
          <a:xfrm>
            <a:off x="5664708" y="4544568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sleepwalk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5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977994" cy="621792"/>
          </a:xfrm>
          <a:prstGeom prst="rect">
            <a:avLst/>
          </a:prstGeom>
        </p:spPr>
      </p:pic>
      <p:sp>
        <p:nvSpPr>
          <p:cNvPr id="5" name="title_51"/>
          <p:cNvSpPr/>
          <p:nvPr/>
        </p:nvSpPr>
        <p:spPr>
          <a:xfrm>
            <a:off x="1261872" y="164592"/>
            <a:ext cx="4703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Describe it – with used to!</a:t>
            </a:r>
            <a:endParaRPr lang="en-US" sz="2500" dirty="0"/>
          </a:p>
        </p:txBody>
      </p:sp>
      <p:pic>
        <p:nvPicPr>
          <p:cNvPr id="6" name="brP_5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53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explains the word. B guesses. Then swap.</a:t>
            </a:r>
            <a:endParaRPr lang="en-US" sz="1250" dirty="0"/>
          </a:p>
        </p:txBody>
      </p:sp>
      <p:sp>
        <p:nvSpPr>
          <p:cNvPr id="8" name="insIT_54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spiega la parola. B indovina. Poi scambiatevi.</a:t>
            </a:r>
            <a:endParaRPr lang="en-US" sz="950" dirty="0"/>
          </a:p>
        </p:txBody>
      </p:sp>
      <p:sp>
        <p:nvSpPr>
          <p:cNvPr id="9" name="cmd_55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56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57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5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Warmer · 6A sleep words   ·   📖 Recycles 6A (2 Oct)</a:t>
            </a:r>
            <a:endParaRPr lang="en-US" sz="800" dirty="0"/>
          </a:p>
        </p:txBody>
      </p:sp>
      <p:sp>
        <p:nvSpPr>
          <p:cNvPr id="14" name="cd_60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6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6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63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looks at the screen. B looks away.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guarda lo schermo. B si gira.</a:t>
            </a:r>
            <a:endParaRPr lang="en-US" sz="9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explains the word in English. Don't say it!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spiega la parola in inglese. Non dirla!</a:t>
            </a:r>
            <a:endParaRPr lang="en-US" sz="9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Bonus: use used to / be used to. e.g. 'My grandad used to do it at night – a loud noise!' → snore</a:t>
            </a:r>
            <a:endParaRPr lang="en-US" sz="9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Bonus: usa used to / be used to.</a:t>
            </a:r>
            <a:endParaRPr lang="en-US" sz="900" dirty="0"/>
          </a:p>
        </p:txBody>
      </p:sp>
      <p:sp>
        <p:nvSpPr>
          <p:cNvPr id="18" name="st_64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9" name="rl_65"/>
          <p:cNvSpPr/>
          <p:nvPr/>
        </p:nvSpPr>
        <p:spPr>
          <a:xfrm>
            <a:off x="324612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explains</a:t>
            </a:r>
            <a:endParaRPr lang="en-US" sz="1100" dirty="0"/>
          </a:p>
        </p:txBody>
      </p:sp>
      <p:sp>
        <p:nvSpPr>
          <p:cNvPr id="20" name="R1_w66"/>
          <p:cNvSpPr/>
          <p:nvPr/>
        </p:nvSpPr>
        <p:spPr>
          <a:xfrm>
            <a:off x="324612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snore</a:t>
            </a:r>
            <a:endParaRPr lang="en-US" sz="1700" dirty="0"/>
          </a:p>
        </p:txBody>
      </p:sp>
      <p:sp>
        <p:nvSpPr>
          <p:cNvPr id="21" name="R3_w67"/>
          <p:cNvSpPr/>
          <p:nvPr/>
        </p:nvSpPr>
        <p:spPr>
          <a:xfrm>
            <a:off x="324612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nap</a:t>
            </a:r>
            <a:endParaRPr lang="en-US" sz="1700" dirty="0"/>
          </a:p>
        </p:txBody>
      </p:sp>
      <p:sp>
        <p:nvSpPr>
          <p:cNvPr id="22" name="R5_w68"/>
          <p:cNvSpPr/>
          <p:nvPr/>
        </p:nvSpPr>
        <p:spPr>
          <a:xfrm>
            <a:off x="324612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pillow</a:t>
            </a:r>
            <a:endParaRPr lang="en-US" sz="1700" dirty="0"/>
          </a:p>
        </p:txBody>
      </p:sp>
      <p:sp>
        <p:nvSpPr>
          <p:cNvPr id="23" name="R7_w69"/>
          <p:cNvSpPr/>
          <p:nvPr/>
        </p:nvSpPr>
        <p:spPr>
          <a:xfrm>
            <a:off x="324612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oversleep</a:t>
            </a:r>
            <a:endParaRPr lang="en-US" sz="1700" dirty="0"/>
          </a:p>
        </p:txBody>
      </p:sp>
      <p:sp>
        <p:nvSpPr>
          <p:cNvPr id="24" name="rl_70"/>
          <p:cNvSpPr/>
          <p:nvPr/>
        </p:nvSpPr>
        <p:spPr>
          <a:xfrm>
            <a:off x="608076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 explains</a:t>
            </a:r>
            <a:endParaRPr lang="en-US" sz="1100" dirty="0"/>
          </a:p>
        </p:txBody>
      </p:sp>
      <p:sp>
        <p:nvSpPr>
          <p:cNvPr id="25" name="R2_w71"/>
          <p:cNvSpPr/>
          <p:nvPr/>
        </p:nvSpPr>
        <p:spPr>
          <a:xfrm>
            <a:off x="608076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sleepwalk</a:t>
            </a:r>
            <a:endParaRPr lang="en-US" sz="1700" dirty="0"/>
          </a:p>
        </p:txBody>
      </p:sp>
      <p:sp>
        <p:nvSpPr>
          <p:cNvPr id="26" name="R4_w72"/>
          <p:cNvSpPr/>
          <p:nvPr/>
        </p:nvSpPr>
        <p:spPr>
          <a:xfrm>
            <a:off x="608076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insomnia</a:t>
            </a:r>
            <a:endParaRPr lang="en-US" sz="1700" dirty="0"/>
          </a:p>
        </p:txBody>
      </p:sp>
      <p:sp>
        <p:nvSpPr>
          <p:cNvPr id="27" name="R6_w73"/>
          <p:cNvSpPr/>
          <p:nvPr/>
        </p:nvSpPr>
        <p:spPr>
          <a:xfrm>
            <a:off x="608076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duvet</a:t>
            </a:r>
            <a:endParaRPr lang="en-US" sz="1700" dirty="0"/>
          </a:p>
        </p:txBody>
      </p:sp>
      <p:sp>
        <p:nvSpPr>
          <p:cNvPr id="28" name="R8_w74"/>
          <p:cNvSpPr/>
          <p:nvPr/>
        </p:nvSpPr>
        <p:spPr>
          <a:xfrm>
            <a:off x="608076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set the alarm</a:t>
            </a:r>
            <a:endParaRPr lang="en-US" sz="1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77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Music in your day</a:t>
            </a:r>
            <a:endParaRPr lang="en-US" sz="2500" dirty="0"/>
          </a:p>
        </p:txBody>
      </p:sp>
      <p:pic>
        <p:nvPicPr>
          <p:cNvPr id="6" name="brP_7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79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each question. Then ask: And you?</a:t>
            </a:r>
            <a:endParaRPr lang="en-US" sz="1250" dirty="0"/>
          </a:p>
        </p:txBody>
      </p:sp>
      <p:sp>
        <p:nvSpPr>
          <p:cNvPr id="8" name="insIT_8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Rispondi a ogni domanda. Poi chiedi: E tu?</a:t>
            </a:r>
            <a:endParaRPr lang="en-US" sz="950" dirty="0"/>
          </a:p>
        </p:txBody>
      </p:sp>
      <p:sp>
        <p:nvSpPr>
          <p:cNvPr id="9" name="cmd_8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8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8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8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8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Speaking · music in your day   ·   📖 SB p.60 · 1a</a:t>
            </a:r>
            <a:endParaRPr lang="en-US" sz="800" dirty="0"/>
          </a:p>
        </p:txBody>
      </p:sp>
      <p:sp>
        <p:nvSpPr>
          <p:cNvPr id="14" name="pf_86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87" descr="/home/claude/lls-course/v2/cache/b2_6b_guitar_sax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88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89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90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91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usually listen to… when I…</a:t>
            </a:r>
            <a:endParaRPr lang="en-US" sz="8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depends on my mood.</a:t>
            </a:r>
            <a:endParaRPr lang="en-US" sz="8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I'm…, I put on…</a:t>
            </a:r>
            <a:endParaRPr lang="en-US" sz="8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you? · Really? Me too!</a:t>
            </a:r>
            <a:endParaRPr lang="en-US" sz="800" dirty="0"/>
          </a:p>
        </p:txBody>
      </p:sp>
      <p:sp>
        <p:nvSpPr>
          <p:cNvPr id="20" name="R1_qb9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9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a typical day, when and where do you listen to music?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On the bus to school and when I do my homework.</a:t>
            </a:r>
            <a:endParaRPr lang="en-US" sz="1250" dirty="0"/>
          </a:p>
        </p:txBody>
      </p:sp>
      <p:sp>
        <p:nvSpPr>
          <p:cNvPr id="22" name="R2_qb9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9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you listen? (phone, speaker, headphones…)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On Spotify, with my wireless headphones.</a:t>
            </a:r>
            <a:endParaRPr lang="en-US" sz="1250" dirty="0"/>
          </a:p>
        </p:txBody>
      </p:sp>
      <p:sp>
        <p:nvSpPr>
          <p:cNvPr id="24" name="R3_qb9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9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listen to different kinds of music at different times of day?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 – rap in the morning, chill music at night.</a:t>
            </a:r>
            <a:endParaRPr lang="en-US" sz="1050" dirty="0"/>
          </a:p>
        </p:txBody>
      </p:sp>
      <p:sp>
        <p:nvSpPr>
          <p:cNvPr id="26" name="R4_qb98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99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makes you choose one kind of music over another?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My mood! If I'm stressed, I want something calm.</a:t>
            </a:r>
            <a:endParaRPr lang="en-US" sz="1250" dirty="0"/>
          </a:p>
        </p:txBody>
      </p:sp>
      <p:sp>
        <p:nvSpPr>
          <p:cNvPr id="28" name="R5_qb100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R5_sq101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Extension: what's the WORST music for a dentist's waiting room? Why?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Heavy metal – you'd be terrified before you sit down!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0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820717" cy="621792"/>
          </a:xfrm>
          <a:prstGeom prst="rect">
            <a:avLst/>
          </a:prstGeom>
        </p:spPr>
      </p:pic>
      <p:sp>
        <p:nvSpPr>
          <p:cNvPr id="5" name="title_104"/>
          <p:cNvSpPr/>
          <p:nvPr/>
        </p:nvSpPr>
        <p:spPr>
          <a:xfrm>
            <a:off x="1261872" y="164592"/>
            <a:ext cx="45463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do we listen to music?</a:t>
            </a:r>
            <a:endParaRPr lang="en-US" sz="2500" dirty="0"/>
          </a:p>
        </p:txBody>
      </p:sp>
      <p:pic>
        <p:nvPicPr>
          <p:cNvPr id="6" name="brP_10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106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John's 3 reasons from the 6 words.</a:t>
            </a:r>
            <a:endParaRPr lang="en-US" sz="1250" dirty="0"/>
          </a:p>
        </p:txBody>
      </p:sp>
      <p:sp>
        <p:nvSpPr>
          <p:cNvPr id="8" name="insIT_107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Leggi. Indovina i 3 motivi di John dalle 6 parole.</a:t>
            </a:r>
            <a:endParaRPr lang="en-US" sz="950" dirty="0"/>
          </a:p>
        </p:txBody>
      </p:sp>
      <p:sp>
        <p:nvSpPr>
          <p:cNvPr id="9" name="cmd_10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109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🤔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INDOVINA</a:t>
            </a:r>
            <a:endParaRPr lang="en-US" sz="1100" dirty="0"/>
          </a:p>
        </p:txBody>
      </p:sp>
      <p:sp>
        <p:nvSpPr>
          <p:cNvPr id="11" name="meta_110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2" name="tag_111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Prediction</a:t>
            </a:r>
            <a:endParaRPr lang="en-US" sz="850" dirty="0"/>
          </a:p>
        </p:txBody>
      </p:sp>
      <p:pic>
        <p:nvPicPr>
          <p:cNvPr id="13" name="logo_11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11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Listening · prediction   ·   📖 SB p.60 · 1b (before listening)</a:t>
            </a:r>
            <a:endParaRPr lang="en-US" sz="800" dirty="0"/>
          </a:p>
        </p:txBody>
      </p:sp>
      <p:sp>
        <p:nvSpPr>
          <p:cNvPr id="15" name="cd_114"/>
          <p:cNvSpPr/>
          <p:nvPr/>
        </p:nvSpPr>
        <p:spPr>
          <a:xfrm>
            <a:off x="320040" y="1417320"/>
            <a:ext cx="50292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hl_115"/>
          <p:cNvSpPr/>
          <p:nvPr/>
        </p:nvSpPr>
        <p:spPr>
          <a:xfrm>
            <a:off x="502920" y="1508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Sloboda's talk</a:t>
            </a:r>
            <a:endParaRPr lang="en-US" sz="2800" dirty="0"/>
          </a:p>
        </p:txBody>
      </p:sp>
      <p:sp>
        <p:nvSpPr>
          <p:cNvPr id="17" name="nx_116"/>
          <p:cNvSpPr/>
          <p:nvPr/>
        </p:nvSpPr>
        <p:spPr>
          <a:xfrm>
            <a:off x="457200" y="2807208"/>
            <a:ext cx="4754880" cy="512064"/>
          </a:xfrm>
          <a:prstGeom prst="roundRect">
            <a:avLst>
              <a:gd name="adj" fmla="val 17857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EB872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➡ NEXT  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slide: listen to Part 1. Complete John's 3 reasons + an example for each.</a:t>
            </a:r>
            <a:endParaRPr lang="en-US" sz="1000" dirty="0"/>
          </a:p>
        </p:txBody>
      </p:sp>
      <p:sp>
        <p:nvSpPr>
          <p:cNvPr id="18" name="sf_117"/>
          <p:cNvSpPr/>
          <p:nvPr/>
        </p:nvSpPr>
        <p:spPr>
          <a:xfrm>
            <a:off x="521208" y="203911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Sloboda is a music psychologist. He edited the 'Handbook of Music and Emotion'. In Part 1 of his talk, he gives three reasons why we listen to music.</a:t>
            </a:r>
            <a:endParaRPr lang="en-US" sz="1150" dirty="0"/>
          </a:p>
        </p:txBody>
      </p:sp>
      <p:sp>
        <p:nvSpPr>
          <p:cNvPr id="19" name="nbl_118"/>
          <p:cNvSpPr/>
          <p:nvPr/>
        </p:nvSpPr>
        <p:spPr>
          <a:xfrm>
            <a:off x="3657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6 WORDS FROM HIS EXAMPLES · guess the 3 reasons!</a:t>
            </a:r>
            <a:endParaRPr lang="en-US" sz="1100" dirty="0"/>
          </a:p>
        </p:txBody>
      </p:sp>
      <p:sp>
        <p:nvSpPr>
          <p:cNvPr id="20" name="bd_119"/>
          <p:cNvSpPr/>
          <p:nvPr/>
        </p:nvSpPr>
        <p:spPr>
          <a:xfrm>
            <a:off x="365760" y="3931920"/>
            <a:ext cx="548640" cy="5486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film</a:t>
            </a:r>
            <a:endParaRPr lang="en-US" sz="800" dirty="0"/>
          </a:p>
        </p:txBody>
      </p:sp>
      <p:sp>
        <p:nvSpPr>
          <p:cNvPr id="21" name="bd_120"/>
          <p:cNvSpPr/>
          <p:nvPr/>
        </p:nvSpPr>
        <p:spPr>
          <a:xfrm>
            <a:off x="987552" y="3931920"/>
            <a:ext cx="548640" cy="5486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night</a:t>
            </a:r>
            <a:endParaRPr lang="en-US" sz="800" dirty="0"/>
          </a:p>
        </p:txBody>
      </p:sp>
      <p:sp>
        <p:nvSpPr>
          <p:cNvPr id="22" name="bd_121"/>
          <p:cNvSpPr/>
          <p:nvPr/>
        </p:nvSpPr>
        <p:spPr>
          <a:xfrm>
            <a:off x="1609344" y="3931920"/>
            <a:ext cx="548640" cy="5486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</a:t>
            </a:r>
            <a:endParaRPr lang="en-US" sz="800" dirty="0"/>
          </a:p>
        </p:txBody>
      </p:sp>
      <p:sp>
        <p:nvSpPr>
          <p:cNvPr id="23" name="bd_122"/>
          <p:cNvSpPr/>
          <p:nvPr/>
        </p:nvSpPr>
        <p:spPr>
          <a:xfrm>
            <a:off x="2231136" y="3931920"/>
            <a:ext cx="548640" cy="548640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sad</a:t>
            </a:r>
            <a:endParaRPr lang="en-US" sz="1000" dirty="0"/>
          </a:p>
        </p:txBody>
      </p:sp>
      <p:sp>
        <p:nvSpPr>
          <p:cNvPr id="24" name="bd_123"/>
          <p:cNvSpPr/>
          <p:nvPr/>
        </p:nvSpPr>
        <p:spPr>
          <a:xfrm>
            <a:off x="2852928" y="3931920"/>
            <a:ext cx="548640" cy="5486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angry</a:t>
            </a:r>
            <a:endParaRPr lang="en-US" sz="800" dirty="0"/>
          </a:p>
        </p:txBody>
      </p:sp>
      <p:sp>
        <p:nvSpPr>
          <p:cNvPr id="25" name="bd_124"/>
          <p:cNvSpPr/>
          <p:nvPr/>
        </p:nvSpPr>
        <p:spPr>
          <a:xfrm>
            <a:off x="3474720" y="3931920"/>
            <a:ext cx="548640" cy="5486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date</a:t>
            </a:r>
            <a:endParaRPr lang="en-US" sz="800" dirty="0"/>
          </a:p>
        </p:txBody>
      </p:sp>
      <p:sp>
        <p:nvSpPr>
          <p:cNvPr id="26" name="pf_125"/>
          <p:cNvSpPr/>
          <p:nvPr/>
        </p:nvSpPr>
        <p:spPr>
          <a:xfrm rot="90000">
            <a:off x="5577840" y="1234440"/>
            <a:ext cx="3246120" cy="3383280"/>
          </a:xfrm>
          <a:prstGeom prst="roundRect">
            <a:avLst>
              <a:gd name="adj" fmla="val 4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7" name="ph_126" descr="/home/claude/lls-course/v2/cache/b2_6b_emotion_book_jpg_759x79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0000">
            <a:off x="5623560" y="1280160"/>
            <a:ext cx="3154680" cy="3291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2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29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John's 3 reasons</a:t>
            </a:r>
            <a:endParaRPr lang="en-US" sz="2500" dirty="0"/>
          </a:p>
        </p:txBody>
      </p:sp>
      <p:pic>
        <p:nvPicPr>
          <p:cNvPr id="6" name="brP_13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131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Write key words for reasons 1–3.</a:t>
            </a:r>
            <a:endParaRPr lang="en-US" sz="1250" dirty="0"/>
          </a:p>
        </p:txBody>
      </p:sp>
      <p:sp>
        <p:nvSpPr>
          <p:cNvPr id="8" name="insIT_13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Ascolta. Scrivi parole chiave per i motivi 1–3.</a:t>
            </a:r>
            <a:endParaRPr lang="en-US" sz="950" dirty="0"/>
          </a:p>
        </p:txBody>
      </p:sp>
      <p:sp>
        <p:nvSpPr>
          <p:cNvPr id="9" name="cmd_13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134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1" name="meta_135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950" dirty="0"/>
          </a:p>
        </p:txBody>
      </p:sp>
      <p:sp>
        <p:nvSpPr>
          <p:cNvPr id="12" name="tag_136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13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13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Listening · John Sloboda, Part 1   ·   📖 SB p.60 · 1b, 1c · audio 6.10</a:t>
            </a:r>
            <a:endParaRPr lang="en-US" sz="800" dirty="0"/>
          </a:p>
        </p:txBody>
      </p:sp>
      <p:sp>
        <p:nvSpPr>
          <p:cNvPr id="15" name="ap_139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6.10  ·  play twice</a:t>
            </a:r>
            <a:endParaRPr lang="en-US" sz="1100" dirty="0"/>
          </a:p>
        </p:txBody>
      </p:sp>
      <p:sp>
        <p:nvSpPr>
          <p:cNvPr id="16" name="ah_140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141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142" descr="/home/claude/lls-course/v2/cache/b2_6b_instruments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21" name="cd_143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144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145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146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147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to make us ___</a:t>
            </a:r>
            <a:endParaRPr lang="en-US" sz="1200" dirty="0"/>
          </a:p>
        </p:txBody>
      </p:sp>
      <p:sp>
        <p:nvSpPr>
          <p:cNvPr id="26" name="R1_chip148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remember important moments in the past</a:t>
            </a:r>
            <a:endParaRPr lang="en-US" sz="1200" dirty="0"/>
          </a:p>
        </p:txBody>
      </p:sp>
      <p:sp>
        <p:nvSpPr>
          <p:cNvPr id="27" name="gq_149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e.g. ___</a:t>
            </a:r>
            <a:endParaRPr lang="en-US" sz="1200" dirty="0"/>
          </a:p>
        </p:txBody>
      </p:sp>
      <p:sp>
        <p:nvSpPr>
          <p:cNvPr id="28" name="R2_chip150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we met someone for the first time</a:t>
            </a:r>
            <a:endParaRPr lang="en-US" sz="1150" dirty="0"/>
          </a:p>
        </p:txBody>
      </p:sp>
      <p:sp>
        <p:nvSpPr>
          <p:cNvPr id="29" name="gq_151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to help us to ___</a:t>
            </a:r>
            <a:endParaRPr lang="en-US" sz="1200" dirty="0"/>
          </a:p>
        </p:txBody>
      </p:sp>
      <p:sp>
        <p:nvSpPr>
          <p:cNvPr id="30" name="R3_chip152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activities</a:t>
            </a:r>
            <a:endParaRPr lang="en-US" sz="1200" dirty="0"/>
          </a:p>
        </p:txBody>
      </p:sp>
      <p:sp>
        <p:nvSpPr>
          <p:cNvPr id="31" name="gq_153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e.g. ___</a:t>
            </a:r>
            <a:endParaRPr lang="en-US" sz="1200" dirty="0"/>
          </a:p>
        </p:txBody>
      </p:sp>
      <p:sp>
        <p:nvSpPr>
          <p:cNvPr id="32" name="R4_chip154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prepare to go out in the evening · relax after work</a:t>
            </a:r>
            <a:endParaRPr lang="en-US" sz="1050" dirty="0"/>
          </a:p>
        </p:txBody>
      </p:sp>
      <p:sp>
        <p:nvSpPr>
          <p:cNvPr id="33" name="gq_155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to intensify ___</a:t>
            </a:r>
            <a:endParaRPr lang="en-US" sz="1200" dirty="0"/>
          </a:p>
        </p:txBody>
      </p:sp>
      <p:sp>
        <p:nvSpPr>
          <p:cNvPr id="34" name="R5_chip156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emotion we're feeling</a:t>
            </a:r>
            <a:endParaRPr lang="en-US" sz="1200" dirty="0"/>
          </a:p>
        </p:txBody>
      </p:sp>
      <p:sp>
        <p:nvSpPr>
          <p:cNvPr id="35" name="gq_157"/>
          <p:cNvSpPr/>
          <p:nvPr/>
        </p:nvSpPr>
        <p:spPr>
          <a:xfrm>
            <a:off x="3383280" y="40233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e.g. ___</a:t>
            </a:r>
            <a:endParaRPr lang="en-US" sz="1200" dirty="0"/>
          </a:p>
        </p:txBody>
      </p:sp>
      <p:sp>
        <p:nvSpPr>
          <p:cNvPr id="36" name="R6_chip158"/>
          <p:cNvSpPr/>
          <p:nvPr/>
        </p:nvSpPr>
        <p:spPr>
          <a:xfrm>
            <a:off x="6812280" y="402336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sad → sadder · romantic dinner → more romantic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5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6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820717" cy="621792"/>
          </a:xfrm>
          <a:prstGeom prst="rect">
            <a:avLst/>
          </a:prstGeom>
        </p:spPr>
      </p:pic>
      <p:sp>
        <p:nvSpPr>
          <p:cNvPr id="5" name="title_161"/>
          <p:cNvSpPr/>
          <p:nvPr/>
        </p:nvSpPr>
        <p:spPr>
          <a:xfrm>
            <a:off x="1261872" y="164592"/>
            <a:ext cx="45463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do they make you feel?</a:t>
            </a:r>
            <a:endParaRPr lang="en-US" sz="2400" dirty="0"/>
          </a:p>
        </p:txBody>
      </p:sp>
      <p:pic>
        <p:nvPicPr>
          <p:cNvPr id="6" name="brP_16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466844" cy="402336"/>
          </a:xfrm>
          <a:prstGeom prst="rect">
            <a:avLst/>
          </a:prstGeom>
        </p:spPr>
      </p:pic>
      <p:sp>
        <p:nvSpPr>
          <p:cNvPr id="7" name="ins_163"/>
          <p:cNvSpPr/>
          <p:nvPr/>
        </p:nvSpPr>
        <p:spPr>
          <a:xfrm>
            <a:off x="1353312" y="731520"/>
            <a:ext cx="4210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Write one adjective for each piece.</a:t>
            </a:r>
            <a:endParaRPr lang="en-US" sz="1250" dirty="0"/>
          </a:p>
        </p:txBody>
      </p:sp>
      <p:sp>
        <p:nvSpPr>
          <p:cNvPr id="8" name="insIT_164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 4 brani. Scrivi un aggettivo per ognuno.</a:t>
            </a:r>
            <a:endParaRPr lang="en-US" sz="950" dirty="0"/>
          </a:p>
        </p:txBody>
      </p:sp>
      <p:sp>
        <p:nvSpPr>
          <p:cNvPr id="9" name="cmd_165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166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1" name="meta_167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👤 alone</a:t>
            </a:r>
            <a:endParaRPr lang="en-US" sz="950" dirty="0"/>
          </a:p>
        </p:txBody>
      </p:sp>
      <p:sp>
        <p:nvSpPr>
          <p:cNvPr id="12" name="tag_168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3" name="logo_16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17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Listening · four pieces of music   ·   📖 SB p.60 · 1e · audio 6.11</a:t>
            </a:r>
            <a:endParaRPr lang="en-US" sz="800" dirty="0"/>
          </a:p>
        </p:txBody>
      </p:sp>
      <p:sp>
        <p:nvSpPr>
          <p:cNvPr id="15" name="cd_171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17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17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174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It sounds calm. / It makes me feel relaxed.</a:t>
            </a:r>
            <a:endParaRPr lang="en-US" sz="1050" dirty="0"/>
          </a:p>
        </p:txBody>
      </p:sp>
      <p:sp>
        <p:nvSpPr>
          <p:cNvPr id="19" name="pf_175"/>
          <p:cNvSpPr/>
          <p:nvPr/>
        </p:nvSpPr>
        <p:spPr>
          <a:xfrm rot="-90000">
            <a:off x="365760" y="2697480"/>
            <a:ext cx="2606040" cy="1417320"/>
          </a:xfrm>
          <a:prstGeom prst="roundRect">
            <a:avLst>
              <a:gd name="adj" fmla="val 10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176" descr="/home/claude/lls-course/v2/cache/b2_6b_family_jpg_605x31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325880"/>
          </a:xfrm>
          <a:prstGeom prst="rect">
            <a:avLst/>
          </a:prstGeom>
        </p:spPr>
      </p:pic>
      <p:sp>
        <p:nvSpPr>
          <p:cNvPr id="21" name="ap_177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6.11  ·  play once</a:t>
            </a:r>
            <a:endParaRPr lang="en-US" sz="1100" dirty="0"/>
          </a:p>
        </p:txBody>
      </p:sp>
      <p:sp>
        <p:nvSpPr>
          <p:cNvPr id="22" name="ah_178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23" name="Media 0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24" name="Media 1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25" name="bd_179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q_180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Beethoven: Seventh Symphony (1st movement)</a:t>
            </a:r>
            <a:endParaRPr lang="en-US" sz="1000" dirty="0"/>
          </a:p>
        </p:txBody>
      </p:sp>
      <p:sp>
        <p:nvSpPr>
          <p:cNvPr id="27" name="R1_chip181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joyful, energetic, triumphant</a:t>
            </a:r>
            <a:endParaRPr lang="en-US" sz="1000" dirty="0"/>
          </a:p>
        </p:txBody>
      </p:sp>
      <p:sp>
        <p:nvSpPr>
          <p:cNvPr id="28" name="bd_182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q_183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Holst: Mars, from The Planets</a:t>
            </a:r>
            <a:endParaRPr lang="en-US" sz="1150" dirty="0"/>
          </a:p>
        </p:txBody>
      </p:sp>
      <p:sp>
        <p:nvSpPr>
          <p:cNvPr id="30" name="R2_chip184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threatening, aggressive, tense</a:t>
            </a:r>
            <a:endParaRPr lang="en-US" sz="1000" dirty="0"/>
          </a:p>
        </p:txBody>
      </p:sp>
      <p:sp>
        <p:nvSpPr>
          <p:cNvPr id="31" name="bd_185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q_186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Albinoni: Adagio for Strings</a:t>
            </a:r>
            <a:endParaRPr lang="en-US" sz="1150" dirty="0"/>
          </a:p>
        </p:txBody>
      </p:sp>
      <p:sp>
        <p:nvSpPr>
          <p:cNvPr id="33" name="R3_chip187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melancholy, moving, heartbreaking</a:t>
            </a:r>
            <a:endParaRPr lang="en-US" sz="1000" dirty="0"/>
          </a:p>
        </p:txBody>
      </p:sp>
      <p:sp>
        <p:nvSpPr>
          <p:cNvPr id="34" name="bd_188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q_189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The music from Hitchcock's film Psycho</a:t>
            </a:r>
            <a:endParaRPr lang="en-US" sz="1150" dirty="0"/>
          </a:p>
        </p:txBody>
      </p:sp>
      <p:sp>
        <p:nvSpPr>
          <p:cNvPr id="36" name="R4_chip190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terrifying, creepy, nerve-racking</a:t>
            </a:r>
            <a:endParaRPr lang="en-US" sz="1000" dirty="0"/>
          </a:p>
        </p:txBody>
      </p:sp>
      <p:sp>
        <p:nvSpPr>
          <p:cNvPr id="37" name="bd_191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q_192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Which piece did you like most? Why?</a:t>
            </a:r>
            <a:endParaRPr lang="en-US" sz="1150" dirty="0"/>
          </a:p>
        </p:txBody>
      </p:sp>
      <p:sp>
        <p:nvSpPr>
          <p:cNvPr id="39" name="R5_chip193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Mars – it sounds like a battle in a film!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9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135270" cy="621792"/>
          </a:xfrm>
          <a:prstGeom prst="rect">
            <a:avLst/>
          </a:prstGeom>
        </p:spPr>
      </p:pic>
      <p:sp>
        <p:nvSpPr>
          <p:cNvPr id="5" name="title_196"/>
          <p:cNvSpPr/>
          <p:nvPr/>
        </p:nvSpPr>
        <p:spPr>
          <a:xfrm>
            <a:off x="1261872" y="164592"/>
            <a:ext cx="48609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Music copies the human voice</a:t>
            </a:r>
            <a:endParaRPr lang="en-US" sz="2400" dirty="0"/>
          </a:p>
        </p:txBody>
      </p:sp>
      <p:pic>
        <p:nvPicPr>
          <p:cNvPr id="6" name="brP_19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198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Part 2. Complete the notes.</a:t>
            </a:r>
            <a:endParaRPr lang="en-US" sz="1250" dirty="0"/>
          </a:p>
        </p:txBody>
      </p:sp>
      <p:sp>
        <p:nvSpPr>
          <p:cNvPr id="8" name="insIT_19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 la parte 2. Completa gli appunti.</a:t>
            </a:r>
            <a:endParaRPr lang="en-US" sz="950" dirty="0"/>
          </a:p>
        </p:txBody>
      </p:sp>
      <p:sp>
        <p:nvSpPr>
          <p:cNvPr id="9" name="cmd_20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20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202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950" dirty="0"/>
          </a:p>
        </p:txBody>
      </p:sp>
      <p:sp>
        <p:nvSpPr>
          <p:cNvPr id="12" name="tag_203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20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0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Listening · John Sloboda, Part 2   ·   📖 SB p.60 · 1f · audio 6.12</a:t>
            </a:r>
            <a:endParaRPr lang="en-US" sz="800" dirty="0"/>
          </a:p>
        </p:txBody>
      </p:sp>
      <p:sp>
        <p:nvSpPr>
          <p:cNvPr id="15" name="ap_206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6.12  ·  play once</a:t>
            </a:r>
            <a:endParaRPr lang="en-US" sz="1100" dirty="0"/>
          </a:p>
        </p:txBody>
      </p:sp>
      <p:sp>
        <p:nvSpPr>
          <p:cNvPr id="16" name="ah_207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208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209" descr="/home/claude/lls-course/v2/cache/b2_6b_cello_drum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21" name="cd_210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211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212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213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214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· happy: people speak ___ , the voice is ___</a:t>
            </a:r>
            <a:endParaRPr lang="en-US" sz="1200" dirty="0"/>
          </a:p>
        </p:txBody>
      </p:sp>
      <p:sp>
        <p:nvSpPr>
          <p:cNvPr id="26" name="R1_chip215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faster · higher</a:t>
            </a:r>
            <a:endParaRPr lang="en-US" sz="1200" dirty="0"/>
          </a:p>
        </p:txBody>
      </p:sp>
      <p:sp>
        <p:nvSpPr>
          <p:cNvPr id="27" name="gq_216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· sad: people speak ___ , the voice is ___</a:t>
            </a:r>
            <a:endParaRPr lang="en-US" sz="1200" dirty="0"/>
          </a:p>
        </p:txBody>
      </p:sp>
      <p:sp>
        <p:nvSpPr>
          <p:cNvPr id="28" name="R2_chip217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more slowly · lower</a:t>
            </a:r>
            <a:endParaRPr lang="en-US" sz="1200" dirty="0"/>
          </a:p>
        </p:txBody>
      </p:sp>
      <p:sp>
        <p:nvSpPr>
          <p:cNvPr id="29" name="gq_218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· angry: people ___ their voices or ___</a:t>
            </a:r>
            <a:endParaRPr lang="en-US" sz="1200" dirty="0"/>
          </a:p>
        </p:txBody>
      </p:sp>
      <p:sp>
        <p:nvSpPr>
          <p:cNvPr id="30" name="R3_chip219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raise · shout</a:t>
            </a:r>
            <a:endParaRPr lang="en-US" sz="1200" dirty="0"/>
          </a:p>
        </p:txBody>
      </p:sp>
      <p:sp>
        <p:nvSpPr>
          <p:cNvPr id="31" name="gq_220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Music 1: ___ , ___ -pitched music sounds happy</a:t>
            </a:r>
            <a:endParaRPr lang="en-US" sz="1200" dirty="0"/>
          </a:p>
        </p:txBody>
      </p:sp>
      <p:sp>
        <p:nvSpPr>
          <p:cNvPr id="32" name="R4_chip221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faster · high (-pitched)</a:t>
            </a:r>
            <a:endParaRPr lang="en-US" sz="1200" dirty="0"/>
          </a:p>
        </p:txBody>
      </p:sp>
      <p:sp>
        <p:nvSpPr>
          <p:cNvPr id="33" name="gq_222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Music 2: ___ music with ___ pitches sounds sad</a:t>
            </a:r>
            <a:endParaRPr lang="en-US" sz="1200" dirty="0"/>
          </a:p>
        </p:txBody>
      </p:sp>
      <p:sp>
        <p:nvSpPr>
          <p:cNvPr id="34" name="R5_chip223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slow · falling</a:t>
            </a:r>
            <a:endParaRPr lang="en-US" sz="1200" dirty="0"/>
          </a:p>
        </p:txBody>
      </p:sp>
      <p:sp>
        <p:nvSpPr>
          <p:cNvPr id="35" name="gq_224"/>
          <p:cNvSpPr/>
          <p:nvPr/>
        </p:nvSpPr>
        <p:spPr>
          <a:xfrm>
            <a:off x="3383280" y="40233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Music 3: ___ music with ___ rhythms sounds angry</a:t>
            </a:r>
            <a:endParaRPr lang="en-US" sz="1200" dirty="0"/>
          </a:p>
        </p:txBody>
      </p:sp>
      <p:sp>
        <p:nvSpPr>
          <p:cNvPr id="36" name="R6_chip225"/>
          <p:cNvSpPr/>
          <p:nvPr/>
        </p:nvSpPr>
        <p:spPr>
          <a:xfrm>
            <a:off x="6812280" y="402336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loud · irregular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2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28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emotion?</a:t>
            </a:r>
            <a:endParaRPr lang="en-US" sz="2400" dirty="0"/>
          </a:p>
        </p:txBody>
      </p:sp>
      <p:pic>
        <p:nvPicPr>
          <p:cNvPr id="6" name="brP_22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230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emotion does John give each piece?</a:t>
            </a:r>
            <a:endParaRPr lang="en-US" sz="1250" dirty="0"/>
          </a:p>
        </p:txBody>
      </p:sp>
      <p:sp>
        <p:nvSpPr>
          <p:cNvPr id="8" name="insIT_231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Quale emozione dà John a ogni brano?</a:t>
            </a:r>
            <a:endParaRPr lang="en-US" sz="950" dirty="0"/>
          </a:p>
        </p:txBody>
      </p:sp>
      <p:sp>
        <p:nvSpPr>
          <p:cNvPr id="9" name="cmd_23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MATCH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ABBINA</a:t>
            </a:r>
            <a:endParaRPr lang="en-US" sz="1100" dirty="0"/>
          </a:p>
        </p:txBody>
      </p:sp>
      <p:sp>
        <p:nvSpPr>
          <p:cNvPr id="10" name="meta_233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👥 pairs</a:t>
            </a:r>
            <a:endParaRPr lang="en-US" sz="950" dirty="0"/>
          </a:p>
        </p:txBody>
      </p:sp>
      <p:sp>
        <p:nvSpPr>
          <p:cNvPr id="11" name="tag_234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23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3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Listening · John's emotions   ·   📖 SB p.60 · 1f · audio 6.12</a:t>
            </a:r>
            <a:endParaRPr lang="en-US" sz="800" dirty="0"/>
          </a:p>
        </p:txBody>
      </p:sp>
      <p:sp>
        <p:nvSpPr>
          <p:cNvPr id="14" name="cd_237"/>
          <p:cNvSpPr/>
          <p:nvPr/>
        </p:nvSpPr>
        <p:spPr>
          <a:xfrm>
            <a:off x="320040" y="1417320"/>
            <a:ext cx="2697480" cy="1911096"/>
          </a:xfrm>
          <a:prstGeom prst="roundRect">
            <a:avLst>
              <a:gd name="adj" fmla="val 6699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3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6" name="ih_23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John's emotions</a:t>
            </a:r>
            <a:endParaRPr lang="en-US" sz="1300" dirty="0"/>
          </a:p>
        </p:txBody>
      </p:sp>
      <p:sp>
        <p:nvSpPr>
          <p:cNvPr id="17" name="il_240"/>
          <p:cNvSpPr/>
          <p:nvPr/>
        </p:nvSpPr>
        <p:spPr>
          <a:xfrm>
            <a:off x="886968" y="1892808"/>
            <a:ext cx="20391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8" name="lg_241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happy</a:t>
            </a:r>
            <a:endParaRPr lang="en-US" sz="1050" dirty="0"/>
          </a:p>
        </p:txBody>
      </p:sp>
      <p:sp>
        <p:nvSpPr>
          <p:cNvPr id="19" name="lg_242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angry</a:t>
            </a:r>
            <a:endParaRPr lang="en-US" sz="1050" dirty="0"/>
          </a:p>
        </p:txBody>
      </p:sp>
      <p:sp>
        <p:nvSpPr>
          <p:cNvPr id="20" name="lg_243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sad</a:t>
            </a:r>
            <a:endParaRPr lang="en-US" sz="1050" dirty="0"/>
          </a:p>
        </p:txBody>
      </p:sp>
      <p:sp>
        <p:nvSpPr>
          <p:cNvPr id="21" name="lg_244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E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terrified</a:t>
            </a:r>
            <a:endParaRPr lang="en-US" sz="1050" dirty="0"/>
          </a:p>
        </p:txBody>
      </p:sp>
      <p:sp>
        <p:nvSpPr>
          <p:cNvPr id="22" name="sq_245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Beethoven: Seventh Symphony</a:t>
            </a:r>
            <a:endParaRPr lang="en-US" sz="1200" dirty="0"/>
          </a:p>
        </p:txBody>
      </p:sp>
      <p:sp>
        <p:nvSpPr>
          <p:cNvPr id="23" name="R1_tag246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happy</a:t>
            </a:r>
            <a:endParaRPr lang="en-US" sz="1150" dirty="0"/>
          </a:p>
        </p:txBody>
      </p:sp>
      <p:sp>
        <p:nvSpPr>
          <p:cNvPr id="24" name="sq_247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Holst: Mars</a:t>
            </a:r>
            <a:endParaRPr lang="en-US" sz="1200" dirty="0"/>
          </a:p>
        </p:txBody>
      </p:sp>
      <p:sp>
        <p:nvSpPr>
          <p:cNvPr id="25" name="R2_tag248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angry</a:t>
            </a:r>
            <a:endParaRPr lang="en-US" sz="1150" dirty="0"/>
          </a:p>
        </p:txBody>
      </p:sp>
      <p:sp>
        <p:nvSpPr>
          <p:cNvPr id="26" name="sq_249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Albinoni: Adagio for Strings</a:t>
            </a:r>
            <a:endParaRPr lang="en-US" sz="1200" dirty="0"/>
          </a:p>
        </p:txBody>
      </p:sp>
      <p:sp>
        <p:nvSpPr>
          <p:cNvPr id="27" name="R3_tag250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sad</a:t>
            </a:r>
            <a:endParaRPr lang="en-US" sz="1150" dirty="0"/>
          </a:p>
        </p:txBody>
      </p:sp>
      <p:sp>
        <p:nvSpPr>
          <p:cNvPr id="28" name="sq_251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Psycho (film music)</a:t>
            </a:r>
            <a:endParaRPr lang="en-US" sz="1200" dirty="0"/>
          </a:p>
        </p:txBody>
      </p:sp>
      <p:sp>
        <p:nvSpPr>
          <p:cNvPr id="29" name="R4_tag252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E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terrified</a:t>
            </a:r>
            <a:endParaRPr lang="en-US" sz="1150" dirty="0"/>
          </a:p>
        </p:txBody>
      </p:sp>
      <p:sp>
        <p:nvSpPr>
          <p:cNvPr id="30" name="pf_253"/>
          <p:cNvSpPr/>
          <p:nvPr/>
        </p:nvSpPr>
        <p:spPr>
          <a:xfrm rot="-120000">
            <a:off x="411480" y="3703320"/>
            <a:ext cx="2514600" cy="1051560"/>
          </a:xfrm>
          <a:prstGeom prst="roundRect">
            <a:avLst>
              <a:gd name="adj" fmla="val 1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1" name="ph_254" descr="/home/claude/lls-course/v2/cache/b2_6b_conductor_jpg_583x23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749040"/>
            <a:ext cx="2423160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5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257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hearing it?</a:t>
            </a:r>
            <a:endParaRPr lang="en-US" sz="2400" dirty="0"/>
          </a:p>
        </p:txBody>
      </p:sp>
      <p:pic>
        <p:nvPicPr>
          <p:cNvPr id="6" name="brP_25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259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the verb: -ing, to + verb or verb?</a:t>
            </a:r>
            <a:endParaRPr lang="en-US" sz="1250" dirty="0"/>
          </a:p>
        </p:txBody>
      </p:sp>
      <p:sp>
        <p:nvSpPr>
          <p:cNvPr id="8" name="insIT_26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Scrivi il verbo: -ing, to + verbo o verbo?</a:t>
            </a:r>
            <a:endParaRPr lang="en-US" sz="950" dirty="0"/>
          </a:p>
        </p:txBody>
      </p:sp>
      <p:sp>
        <p:nvSpPr>
          <p:cNvPr id="9" name="cmd_26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0" name="cmd_262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1" name="meta_263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264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26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6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Grammar · from the talk   ·   📖 SB p.61 · 2a, 2b · audio 6.13</a:t>
            </a:r>
            <a:endParaRPr lang="en-US" sz="800" dirty="0"/>
          </a:p>
        </p:txBody>
      </p:sp>
      <p:sp>
        <p:nvSpPr>
          <p:cNvPr id="15" name="ap_267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6.13  ·  listen and check</a:t>
            </a:r>
            <a:endParaRPr lang="en-US" sz="1100" dirty="0"/>
          </a:p>
        </p:txBody>
      </p:sp>
      <p:sp>
        <p:nvSpPr>
          <p:cNvPr id="16" name="ah_268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269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270" descr="/home/claude/lls-course/v2/cache/b2_6b_emotion_book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21" name="cd_271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272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273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274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275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 We listen to music to relax. (relax)</a:t>
            </a:r>
            <a:endParaRPr lang="en-US" sz="1200" dirty="0"/>
          </a:p>
        </p:txBody>
      </p:sp>
      <p:sp>
        <p:nvSpPr>
          <p:cNvPr id="26" name="R1_chip276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example: to relax (= purpose)</a:t>
            </a:r>
            <a:endParaRPr lang="en-US" sz="1200" dirty="0"/>
          </a:p>
        </p:txBody>
      </p:sp>
      <p:sp>
        <p:nvSpPr>
          <p:cNvPr id="27" name="gq_277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We listen to music to make us ___ important moments. (remember)</a:t>
            </a:r>
            <a:endParaRPr lang="en-US" sz="1200" dirty="0"/>
          </a:p>
        </p:txBody>
      </p:sp>
      <p:sp>
        <p:nvSpPr>
          <p:cNvPr id="28" name="R2_chip278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remember (make + verb)</a:t>
            </a:r>
            <a:endParaRPr lang="en-US" sz="1200" dirty="0"/>
          </a:p>
        </p:txBody>
      </p:sp>
      <p:sp>
        <p:nvSpPr>
          <p:cNvPr id="29" name="gq_279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We remember ___ it for the first time. (hear)</a:t>
            </a:r>
            <a:endParaRPr lang="en-US" sz="1200" dirty="0"/>
          </a:p>
        </p:txBody>
      </p:sp>
      <p:sp>
        <p:nvSpPr>
          <p:cNvPr id="30" name="R3_chip280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hearing</a:t>
            </a:r>
            <a:endParaRPr lang="en-US" sz="1200" dirty="0"/>
          </a:p>
        </p:txBody>
      </p:sp>
      <p:sp>
        <p:nvSpPr>
          <p:cNvPr id="31" name="gq_281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 If we want ___ from one activity to another… (go)</a:t>
            </a:r>
            <a:endParaRPr lang="en-US" sz="1200" dirty="0"/>
          </a:p>
        </p:txBody>
      </p:sp>
      <p:sp>
        <p:nvSpPr>
          <p:cNvPr id="32" name="R4_chip282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go</a:t>
            </a:r>
            <a:endParaRPr lang="en-US" sz="1200" dirty="0"/>
          </a:p>
        </p:txBody>
      </p:sp>
      <p:sp>
        <p:nvSpPr>
          <p:cNvPr id="33" name="gq_283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 …we use music to help us ___ the change. (make)</a:t>
            </a:r>
            <a:endParaRPr lang="en-US" sz="1200" dirty="0"/>
          </a:p>
        </p:txBody>
      </p:sp>
      <p:sp>
        <p:nvSpPr>
          <p:cNvPr id="34" name="R5_chip284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(help + verb / to)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8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8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135270" cy="621792"/>
          </a:xfrm>
          <a:prstGeom prst="rect">
            <a:avLst/>
          </a:prstGeom>
        </p:spPr>
      </p:pic>
      <p:sp>
        <p:nvSpPr>
          <p:cNvPr id="5" name="title_287"/>
          <p:cNvSpPr/>
          <p:nvPr/>
        </p:nvSpPr>
        <p:spPr>
          <a:xfrm>
            <a:off x="1261872" y="164592"/>
            <a:ext cx="48609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Same verb, different meaning</a:t>
            </a:r>
            <a:endParaRPr lang="en-US" sz="2500" dirty="0"/>
          </a:p>
        </p:txBody>
      </p:sp>
      <p:pic>
        <p:nvPicPr>
          <p:cNvPr id="6" name="brP_28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289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each sentence. What does the verb mean?</a:t>
            </a:r>
            <a:endParaRPr lang="en-US" sz="1250" dirty="0"/>
          </a:p>
        </p:txBody>
      </p:sp>
      <p:sp>
        <p:nvSpPr>
          <p:cNvPr id="8" name="insIT_29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ogni frase. Cosa significa il verbo?</a:t>
            </a:r>
            <a:endParaRPr lang="en-US" sz="950" dirty="0"/>
          </a:p>
        </p:txBody>
      </p:sp>
      <p:sp>
        <p:nvSpPr>
          <p:cNvPr id="9" name="cmd_29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MATCH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ABBINA</a:t>
            </a:r>
            <a:endParaRPr lang="en-US" sz="1100" dirty="0"/>
          </a:p>
        </p:txBody>
      </p:sp>
      <p:sp>
        <p:nvSpPr>
          <p:cNvPr id="10" name="meta_29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29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29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9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Grammar · meaning changes   ·   📖 SB p.61 · 2c (1–2) + more examples</a:t>
            </a:r>
            <a:endParaRPr lang="en-US" sz="800" dirty="0"/>
          </a:p>
        </p:txBody>
      </p:sp>
      <p:sp>
        <p:nvSpPr>
          <p:cNvPr id="14" name="cd_296"/>
          <p:cNvSpPr/>
          <p:nvPr/>
        </p:nvSpPr>
        <p:spPr>
          <a:xfrm>
            <a:off x="320040" y="1417320"/>
            <a:ext cx="2697480" cy="2295144"/>
          </a:xfrm>
          <a:prstGeom prst="roundRect">
            <a:avLst>
              <a:gd name="adj" fmla="val 5578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6" name="ih_29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Choose the meaning</a:t>
            </a:r>
            <a:endParaRPr lang="en-US" sz="1300" dirty="0"/>
          </a:p>
        </p:txBody>
      </p:sp>
      <p:sp>
        <p:nvSpPr>
          <p:cNvPr id="17" name="il_299"/>
          <p:cNvSpPr/>
          <p:nvPr/>
        </p:nvSpPr>
        <p:spPr>
          <a:xfrm>
            <a:off x="886968" y="1892808"/>
            <a:ext cx="203911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8" name="lg_300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E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 task (later)</a:t>
            </a:r>
            <a:endParaRPr lang="en-US" sz="1050" dirty="0"/>
          </a:p>
        </p:txBody>
      </p:sp>
      <p:sp>
        <p:nvSpPr>
          <p:cNvPr id="19" name="lg_301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  memory</a:t>
            </a:r>
            <a:endParaRPr lang="en-US" sz="1050" dirty="0"/>
          </a:p>
        </p:txBody>
      </p:sp>
      <p:sp>
        <p:nvSpPr>
          <p:cNvPr id="20" name="lg_302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effort (hard)</a:t>
            </a:r>
            <a:endParaRPr lang="en-US" sz="1050" dirty="0"/>
          </a:p>
        </p:txBody>
      </p:sp>
      <p:sp>
        <p:nvSpPr>
          <p:cNvPr id="21" name="lg_303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experiment</a:t>
            </a:r>
            <a:endParaRPr lang="en-US" sz="1050" dirty="0"/>
          </a:p>
        </p:txBody>
      </p:sp>
      <p:sp>
        <p:nvSpPr>
          <p:cNvPr id="22" name="lg_304"/>
          <p:cNvSpPr/>
          <p:nvPr/>
        </p:nvSpPr>
        <p:spPr>
          <a:xfrm>
            <a:off x="457200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DBF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finish</a:t>
            </a:r>
            <a:endParaRPr lang="en-US" sz="1050" dirty="0"/>
          </a:p>
        </p:txBody>
      </p:sp>
      <p:sp>
        <p:nvSpPr>
          <p:cNvPr id="23" name="lg_305"/>
          <p:cNvSpPr/>
          <p:nvPr/>
        </p:nvSpPr>
        <p:spPr>
          <a:xfrm>
            <a:off x="1719072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C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pause to do</a:t>
            </a:r>
            <a:endParaRPr lang="en-US" sz="1050" dirty="0"/>
          </a:p>
        </p:txBody>
      </p:sp>
      <p:sp>
        <p:nvSpPr>
          <p:cNvPr id="24" name="sq_306"/>
          <p:cNvSpPr/>
          <p:nvPr/>
        </p:nvSpPr>
        <p:spPr>
          <a:xfrm>
            <a:off x="3246120" y="14173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I remember meeting him for the first time.</a:t>
            </a:r>
            <a:endParaRPr lang="en-US" sz="1200" dirty="0"/>
          </a:p>
        </p:txBody>
      </p:sp>
      <p:sp>
        <p:nvSpPr>
          <p:cNvPr id="25" name="R1_tag307"/>
          <p:cNvSpPr/>
          <p:nvPr/>
        </p:nvSpPr>
        <p:spPr>
          <a:xfrm>
            <a:off x="7178040" y="14173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  memory</a:t>
            </a:r>
            <a:endParaRPr lang="en-US" sz="1150" dirty="0"/>
          </a:p>
        </p:txBody>
      </p:sp>
      <p:sp>
        <p:nvSpPr>
          <p:cNvPr id="26" name="sq_308"/>
          <p:cNvSpPr/>
          <p:nvPr/>
        </p:nvSpPr>
        <p:spPr>
          <a:xfrm>
            <a:off x="3246120" y="18288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Please remember to meet him at the station.</a:t>
            </a:r>
            <a:endParaRPr lang="en-US" sz="1150" dirty="0"/>
          </a:p>
        </p:txBody>
      </p:sp>
      <p:sp>
        <p:nvSpPr>
          <p:cNvPr id="27" name="R2_tag309"/>
          <p:cNvSpPr/>
          <p:nvPr/>
        </p:nvSpPr>
        <p:spPr>
          <a:xfrm>
            <a:off x="7178040" y="18288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FE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 task (later)</a:t>
            </a:r>
            <a:endParaRPr lang="en-US" sz="1150" dirty="0"/>
          </a:p>
        </p:txBody>
      </p:sp>
      <p:sp>
        <p:nvSpPr>
          <p:cNvPr id="28" name="sq_310"/>
          <p:cNvSpPr/>
          <p:nvPr/>
        </p:nvSpPr>
        <p:spPr>
          <a:xfrm>
            <a:off x="3246120" y="22402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Did you remember to lock the door?</a:t>
            </a:r>
            <a:endParaRPr lang="en-US" sz="1200" dirty="0"/>
          </a:p>
        </p:txBody>
      </p:sp>
      <p:sp>
        <p:nvSpPr>
          <p:cNvPr id="29" name="R3_tag311"/>
          <p:cNvSpPr/>
          <p:nvPr/>
        </p:nvSpPr>
        <p:spPr>
          <a:xfrm>
            <a:off x="7178040" y="22402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FE0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 task (later)</a:t>
            </a:r>
            <a:endParaRPr lang="en-US" sz="1150" dirty="0"/>
          </a:p>
        </p:txBody>
      </p:sp>
      <p:sp>
        <p:nvSpPr>
          <p:cNvPr id="30" name="sq_312"/>
          <p:cNvSpPr/>
          <p:nvPr/>
        </p:nvSpPr>
        <p:spPr>
          <a:xfrm>
            <a:off x="3246120" y="265176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I'll never forget hearing that song live.</a:t>
            </a:r>
            <a:endParaRPr lang="en-US" sz="1200" dirty="0"/>
          </a:p>
        </p:txBody>
      </p:sp>
      <p:sp>
        <p:nvSpPr>
          <p:cNvPr id="31" name="R4_tag313"/>
          <p:cNvSpPr/>
          <p:nvPr/>
        </p:nvSpPr>
        <p:spPr>
          <a:xfrm>
            <a:off x="7178040" y="265176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  memory</a:t>
            </a:r>
            <a:endParaRPr lang="en-US" sz="1150" dirty="0"/>
          </a:p>
        </p:txBody>
      </p:sp>
      <p:sp>
        <p:nvSpPr>
          <p:cNvPr id="32" name="sq_314"/>
          <p:cNvSpPr/>
          <p:nvPr/>
        </p:nvSpPr>
        <p:spPr>
          <a:xfrm>
            <a:off x="3246120" y="306324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I tried to open the window, but it was stuck.</a:t>
            </a:r>
            <a:endParaRPr lang="en-US" sz="1150" dirty="0"/>
          </a:p>
        </p:txBody>
      </p:sp>
      <p:sp>
        <p:nvSpPr>
          <p:cNvPr id="33" name="R5_tag315"/>
          <p:cNvSpPr/>
          <p:nvPr/>
        </p:nvSpPr>
        <p:spPr>
          <a:xfrm>
            <a:off x="7178040" y="306324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effort (hard)</a:t>
            </a:r>
            <a:endParaRPr lang="en-US" sz="1150" dirty="0"/>
          </a:p>
        </p:txBody>
      </p:sp>
      <p:sp>
        <p:nvSpPr>
          <p:cNvPr id="34" name="sq_316"/>
          <p:cNvSpPr/>
          <p:nvPr/>
        </p:nvSpPr>
        <p:spPr>
          <a:xfrm>
            <a:off x="3246120" y="34747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 Can't sleep? Try listening to calm music.</a:t>
            </a:r>
            <a:endParaRPr lang="en-US" sz="1200" dirty="0"/>
          </a:p>
        </p:txBody>
      </p:sp>
      <p:sp>
        <p:nvSpPr>
          <p:cNvPr id="35" name="R6_tag317"/>
          <p:cNvSpPr/>
          <p:nvPr/>
        </p:nvSpPr>
        <p:spPr>
          <a:xfrm>
            <a:off x="7178040" y="34747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experiment</a:t>
            </a:r>
            <a:endParaRPr lang="en-US" sz="1150" dirty="0"/>
          </a:p>
        </p:txBody>
      </p:sp>
      <p:sp>
        <p:nvSpPr>
          <p:cNvPr id="36" name="sq_318"/>
          <p:cNvSpPr/>
          <p:nvPr/>
        </p:nvSpPr>
        <p:spPr>
          <a:xfrm>
            <a:off x="3246120" y="38862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 He stopped playing the drums at midnight.</a:t>
            </a:r>
            <a:endParaRPr lang="en-US" sz="1150" dirty="0"/>
          </a:p>
        </p:txBody>
      </p:sp>
      <p:sp>
        <p:nvSpPr>
          <p:cNvPr id="37" name="R7_tag319"/>
          <p:cNvSpPr/>
          <p:nvPr/>
        </p:nvSpPr>
        <p:spPr>
          <a:xfrm>
            <a:off x="7178040" y="38862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CDBF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finish</a:t>
            </a:r>
            <a:endParaRPr lang="en-US" sz="1150" dirty="0"/>
          </a:p>
        </p:txBody>
      </p:sp>
      <p:sp>
        <p:nvSpPr>
          <p:cNvPr id="38" name="sq_320"/>
          <p:cNvSpPr/>
          <p:nvPr/>
        </p:nvSpPr>
        <p:spPr>
          <a:xfrm>
            <a:off x="3246120" y="42976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 We stopped to listen to a street musician.</a:t>
            </a:r>
            <a:endParaRPr lang="en-US" sz="1200" dirty="0"/>
          </a:p>
        </p:txBody>
      </p:sp>
      <p:sp>
        <p:nvSpPr>
          <p:cNvPr id="39" name="R8_tag321"/>
          <p:cNvSpPr/>
          <p:nvPr/>
        </p:nvSpPr>
        <p:spPr>
          <a:xfrm>
            <a:off x="7178040" y="42976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FC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pause to do</a:t>
            </a:r>
            <a:endParaRPr lang="en-US" sz="1150" dirty="0"/>
          </a:p>
        </p:txBody>
      </p:sp>
      <p:sp>
        <p:nvSpPr>
          <p:cNvPr id="40" name="pf_322"/>
          <p:cNvSpPr/>
          <p:nvPr/>
        </p:nvSpPr>
        <p:spPr>
          <a:xfrm rot="-120000">
            <a:off x="411480" y="3703320"/>
            <a:ext cx="2514600" cy="1051560"/>
          </a:xfrm>
          <a:prstGeom prst="roundRect">
            <a:avLst>
              <a:gd name="adj" fmla="val 1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41" name="ph_323" descr="/home/claude/lls-course/v2/cache/b2_6b_guitar_sax_jpg_583x23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749040"/>
            <a:ext cx="2423160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2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2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326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-ing or to? Meaning!</a:t>
            </a:r>
            <a:endParaRPr lang="en-US" sz="2500" dirty="0"/>
          </a:p>
        </p:txBody>
      </p:sp>
      <p:pic>
        <p:nvPicPr>
          <p:cNvPr id="6" name="brP_32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328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rule. Then click for examples.</a:t>
            </a:r>
            <a:endParaRPr lang="en-US" sz="1250" dirty="0"/>
          </a:p>
        </p:txBody>
      </p:sp>
      <p:sp>
        <p:nvSpPr>
          <p:cNvPr id="8" name="insIT_32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la regola. Poi clicca per gli esempi.</a:t>
            </a:r>
            <a:endParaRPr lang="en-US" sz="950" dirty="0"/>
          </a:p>
        </p:txBody>
      </p:sp>
      <p:sp>
        <p:nvSpPr>
          <p:cNvPr id="9" name="cmd_33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meta_331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1" name="tag_332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33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3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Grammar · gerunds and infinitives   ·   📖 Grammar Bank 6B p.143</a:t>
            </a:r>
            <a:endParaRPr lang="en-US" sz="800" dirty="0"/>
          </a:p>
        </p:txBody>
      </p:sp>
      <p:sp>
        <p:nvSpPr>
          <p:cNvPr id="14" name="cd_335"/>
          <p:cNvSpPr/>
          <p:nvPr/>
        </p:nvSpPr>
        <p:spPr>
          <a:xfrm>
            <a:off x="3200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rh_336"/>
          <p:cNvSpPr/>
          <p:nvPr/>
        </p:nvSpPr>
        <p:spPr>
          <a:xfrm>
            <a:off x="4297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/ forget</a:t>
            </a:r>
            <a:endParaRPr lang="en-US" sz="1250" dirty="0"/>
          </a:p>
        </p:txBody>
      </p:sp>
      <p:sp>
        <p:nvSpPr>
          <p:cNvPr id="16" name="pf_337"/>
          <p:cNvSpPr/>
          <p:nvPr/>
        </p:nvSpPr>
        <p:spPr>
          <a:xfrm>
            <a:off x="4297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338" descr="/home/claude/lls-course/v2/cache/b2_6b_emotion_book_jpg_415x20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984248"/>
            <a:ext cx="1723644" cy="868680"/>
          </a:xfrm>
          <a:prstGeom prst="rect">
            <a:avLst/>
          </a:prstGeom>
        </p:spPr>
      </p:pic>
      <p:sp>
        <p:nvSpPr>
          <p:cNvPr id="18" name="ru_339"/>
          <p:cNvSpPr/>
          <p:nvPr/>
        </p:nvSpPr>
        <p:spPr>
          <a:xfrm>
            <a:off x="4114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to = a task · + -ing = a memory</a:t>
            </a:r>
            <a:endParaRPr lang="en-US" sz="1050" dirty="0"/>
          </a:p>
        </p:txBody>
      </p:sp>
      <p:sp>
        <p:nvSpPr>
          <p:cNvPr id="19" name="R1_rx340"/>
          <p:cNvSpPr/>
          <p:nvPr/>
        </p:nvSpPr>
        <p:spPr>
          <a:xfrm>
            <a:off x="4114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Remember to buy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tickets!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I'll never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forget seeing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them live.</a:t>
            </a:r>
            <a:endParaRPr lang="en-US" sz="1050" dirty="0"/>
          </a:p>
        </p:txBody>
      </p:sp>
      <p:sp>
        <p:nvSpPr>
          <p:cNvPr id="20" name="R1_ri341"/>
          <p:cNvSpPr/>
          <p:nvPr/>
        </p:nvSpPr>
        <p:spPr>
          <a:xfrm>
            <a:off x="4114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ricordarsi di ≠ ricordare di aver fatto</a:t>
            </a:r>
            <a:endParaRPr lang="en-US" sz="850" dirty="0"/>
          </a:p>
        </p:txBody>
      </p:sp>
      <p:sp>
        <p:nvSpPr>
          <p:cNvPr id="21" name="cd_342"/>
          <p:cNvSpPr/>
          <p:nvPr/>
        </p:nvSpPr>
        <p:spPr>
          <a:xfrm>
            <a:off x="24917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rh_343"/>
          <p:cNvSpPr/>
          <p:nvPr/>
        </p:nvSpPr>
        <p:spPr>
          <a:xfrm>
            <a:off x="26014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try</a:t>
            </a:r>
            <a:endParaRPr lang="en-US" sz="1250" dirty="0"/>
          </a:p>
        </p:txBody>
      </p:sp>
      <p:sp>
        <p:nvSpPr>
          <p:cNvPr id="23" name="pf_344"/>
          <p:cNvSpPr/>
          <p:nvPr/>
        </p:nvSpPr>
        <p:spPr>
          <a:xfrm>
            <a:off x="26014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4" name="ph_345" descr="/home/claude/lls-course/v2/cache/b2_6b_guitar_sax_jpg_415x209_3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7188" y="1984248"/>
            <a:ext cx="1723644" cy="868680"/>
          </a:xfrm>
          <a:prstGeom prst="rect">
            <a:avLst/>
          </a:prstGeom>
        </p:spPr>
      </p:pic>
      <p:sp>
        <p:nvSpPr>
          <p:cNvPr id="25" name="ru_346"/>
          <p:cNvSpPr/>
          <p:nvPr/>
        </p:nvSpPr>
        <p:spPr>
          <a:xfrm>
            <a:off x="25831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to = effort · + -ing = experiment</a:t>
            </a:r>
            <a:endParaRPr lang="en-US" sz="1050" dirty="0"/>
          </a:p>
        </p:txBody>
      </p:sp>
      <p:sp>
        <p:nvSpPr>
          <p:cNvPr id="26" name="R2_rx347"/>
          <p:cNvSpPr/>
          <p:nvPr/>
        </p:nvSpPr>
        <p:spPr>
          <a:xfrm>
            <a:off x="25831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tried to reach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high note.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Try singing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 lower!</a:t>
            </a:r>
            <a:endParaRPr lang="en-US" sz="1050" dirty="0"/>
          </a:p>
        </p:txBody>
      </p:sp>
      <p:sp>
        <p:nvSpPr>
          <p:cNvPr id="27" name="R2_ri348"/>
          <p:cNvSpPr/>
          <p:nvPr/>
        </p:nvSpPr>
        <p:spPr>
          <a:xfrm>
            <a:off x="25831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cercare di ≠ provare a (per vedere)</a:t>
            </a:r>
            <a:endParaRPr lang="en-US" sz="850" dirty="0"/>
          </a:p>
        </p:txBody>
      </p:sp>
      <p:sp>
        <p:nvSpPr>
          <p:cNvPr id="28" name="cd_349"/>
          <p:cNvSpPr/>
          <p:nvPr/>
        </p:nvSpPr>
        <p:spPr>
          <a:xfrm>
            <a:off x="46634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rh_350"/>
          <p:cNvSpPr/>
          <p:nvPr/>
        </p:nvSpPr>
        <p:spPr>
          <a:xfrm>
            <a:off x="47731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stop</a:t>
            </a:r>
            <a:endParaRPr lang="en-US" sz="1250" dirty="0"/>
          </a:p>
        </p:txBody>
      </p:sp>
      <p:sp>
        <p:nvSpPr>
          <p:cNvPr id="30" name="pf_351"/>
          <p:cNvSpPr/>
          <p:nvPr/>
        </p:nvSpPr>
        <p:spPr>
          <a:xfrm>
            <a:off x="47731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1" name="ph_352" descr="/home/claude/lls-course/v2/cache/b2_6b_instruments_jpg_415x209_3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1984248"/>
            <a:ext cx="1723644" cy="868680"/>
          </a:xfrm>
          <a:prstGeom prst="rect">
            <a:avLst/>
          </a:prstGeom>
        </p:spPr>
      </p:pic>
      <p:sp>
        <p:nvSpPr>
          <p:cNvPr id="32" name="ru_353"/>
          <p:cNvSpPr/>
          <p:nvPr/>
        </p:nvSpPr>
        <p:spPr>
          <a:xfrm>
            <a:off x="47548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-ing = finish · + to = in order to</a:t>
            </a:r>
            <a:endParaRPr lang="en-US" sz="1050" dirty="0"/>
          </a:p>
        </p:txBody>
      </p:sp>
      <p:sp>
        <p:nvSpPr>
          <p:cNvPr id="33" name="R3_rx354"/>
          <p:cNvSpPr/>
          <p:nvPr/>
        </p:nvSpPr>
        <p:spPr>
          <a:xfrm>
            <a:off x="47548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 playing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– it's midnight!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stopped to buy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coffee.</a:t>
            </a:r>
            <a:endParaRPr lang="en-US" sz="1050" dirty="0"/>
          </a:p>
        </p:txBody>
      </p:sp>
      <p:sp>
        <p:nvSpPr>
          <p:cNvPr id="34" name="R3_ri355"/>
          <p:cNvSpPr/>
          <p:nvPr/>
        </p:nvSpPr>
        <p:spPr>
          <a:xfrm>
            <a:off x="47548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smettere di ≠ fermarsi per</a:t>
            </a:r>
            <a:endParaRPr lang="en-US" sz="900" dirty="0"/>
          </a:p>
        </p:txBody>
      </p:sp>
      <p:sp>
        <p:nvSpPr>
          <p:cNvPr id="35" name="cd_356"/>
          <p:cNvSpPr/>
          <p:nvPr/>
        </p:nvSpPr>
        <p:spPr>
          <a:xfrm>
            <a:off x="68351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6" name="rh_357"/>
          <p:cNvSpPr/>
          <p:nvPr/>
        </p:nvSpPr>
        <p:spPr>
          <a:xfrm>
            <a:off x="69448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other verbs</a:t>
            </a:r>
            <a:endParaRPr lang="en-US" sz="1250" dirty="0"/>
          </a:p>
        </p:txBody>
      </p:sp>
      <p:sp>
        <p:nvSpPr>
          <p:cNvPr id="37" name="pf_358"/>
          <p:cNvSpPr/>
          <p:nvPr/>
        </p:nvSpPr>
        <p:spPr>
          <a:xfrm>
            <a:off x="69448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8" name="ph_359" descr="/home/claude/lls-course/v2/cache/b2_6b_family_jpg_415x209_3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0588" y="1984248"/>
            <a:ext cx="1723644" cy="868680"/>
          </a:xfrm>
          <a:prstGeom prst="rect">
            <a:avLst/>
          </a:prstGeom>
        </p:spPr>
      </p:pic>
      <p:sp>
        <p:nvSpPr>
          <p:cNvPr id="39" name="ru_360"/>
          <p:cNvSpPr/>
          <p:nvPr/>
        </p:nvSpPr>
        <p:spPr>
          <a:xfrm>
            <a:off x="69265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-ing · to · verb (no to)</a:t>
            </a:r>
            <a:endParaRPr lang="en-US" sz="1050" dirty="0"/>
          </a:p>
        </p:txBody>
      </p:sp>
      <p:sp>
        <p:nvSpPr>
          <p:cNvPr id="40" name="R4_rx361"/>
          <p:cNvSpPr/>
          <p:nvPr/>
        </p:nvSpPr>
        <p:spPr>
          <a:xfrm>
            <a:off x="69265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 stand waiting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managed to get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tickets.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Mum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made me practise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</p:txBody>
      </p:sp>
      <p:sp>
        <p:nvSpPr>
          <p:cNvPr id="41" name="R4_ri362"/>
          <p:cNvSpPr/>
          <p:nvPr/>
        </p:nvSpPr>
        <p:spPr>
          <a:xfrm>
            <a:off x="69265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/ let + verbo senza to</a:t>
            </a:r>
            <a:endParaRPr lang="en-US" sz="900" dirty="0"/>
          </a:p>
        </p:txBody>
      </p:sp>
      <p:sp>
        <p:nvSpPr>
          <p:cNvPr id="42" name="R5_wc363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3" name="R5_w364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need + -ing = passive meaning: My guitar needs tuning (= needs to be tuned).  ✗ suggest to do → ✓ suggest doing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6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367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Luca's worst gig ever</a:t>
            </a:r>
            <a:endParaRPr lang="en-US" sz="2500" dirty="0"/>
          </a:p>
        </p:txBody>
      </p:sp>
      <p:pic>
        <p:nvPicPr>
          <p:cNvPr id="6" name="brP_36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69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37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cmd_37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372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373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2" name="tag_374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story</a:t>
            </a:r>
            <a:endParaRPr lang="en-US" sz="850" dirty="0"/>
          </a:p>
        </p:txBody>
      </p:sp>
      <p:pic>
        <p:nvPicPr>
          <p:cNvPr id="13" name="logo_37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7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Speaking · class story (TPRS)</a:t>
            </a:r>
            <a:endParaRPr lang="en-US" sz="800" dirty="0"/>
          </a:p>
        </p:txBody>
      </p:sp>
      <p:sp>
        <p:nvSpPr>
          <p:cNvPr id="15" name="cd_377"/>
          <p:cNvSpPr/>
          <p:nvPr/>
        </p:nvSpPr>
        <p:spPr>
          <a:xfrm>
            <a:off x="320040" y="1417320"/>
            <a:ext cx="2697480" cy="2852928"/>
          </a:xfrm>
          <a:prstGeom prst="roundRect">
            <a:avLst>
              <a:gd name="adj" fmla="val 4746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7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7" name="ih_37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8" name="il_380"/>
          <p:cNvSpPr/>
          <p:nvPr/>
        </p:nvSpPr>
        <p:spPr>
          <a:xfrm>
            <a:off x="886968" y="1892808"/>
            <a:ext cx="203911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to + verb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ricordarsi di (un compito)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forget to + verb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dimenticarsi di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to · try -ing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cercare di · provare a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to · stop -ing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fermarsi per · smettere di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/ make + verb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lasciar fare · far fare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forget -ing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dimenticare mai (ricordo)</a:t>
            </a:r>
            <a:endParaRPr lang="en-US" sz="1000" dirty="0"/>
          </a:p>
        </p:txBody>
      </p:sp>
      <p:sp>
        <p:nvSpPr>
          <p:cNvPr id="19" name="R1_sb381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R1_sl382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Luca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remembered to buy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tickets for a big concert in Palermo – a miracle!</a:t>
            </a:r>
            <a:endParaRPr lang="en-US" sz="10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Did Luca remember or forget to buy tickets? · Where was the concert?</a:t>
            </a:r>
            <a:endParaRPr lang="en-US" sz="1000" dirty="0"/>
          </a:p>
        </p:txBody>
      </p:sp>
      <p:sp>
        <p:nvSpPr>
          <p:cNvPr id="21" name="R2_sb383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R2_sl384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But he </a:t>
            </a:r>
            <a:pPr indent="0" marL="0"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forgot to charge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his phone – and the tickets were on it.</a:t>
            </a:r>
            <a:endParaRPr lang="en-US" sz="12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Did he remember to charge it? · What did he forget to do?</a:t>
            </a:r>
            <a:endParaRPr lang="en-US" sz="1200" dirty="0"/>
          </a:p>
        </p:txBody>
      </p:sp>
      <p:sp>
        <p:nvSpPr>
          <p:cNvPr id="23" name="R3_sb385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R3_sl386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tried to explain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but the security guard wouldn't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 him go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in.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Did he try to explain? · Did the guard let him go in? · Why not?</a:t>
            </a:r>
            <a:endParaRPr lang="en-US" sz="1100" dirty="0"/>
          </a:p>
        </p:txBody>
      </p:sp>
      <p:sp>
        <p:nvSpPr>
          <p:cNvPr id="25" name="R4_sb387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R4_sl388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stopped to think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then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tried climbing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over the back fence. Bad idea!</a:t>
            </a:r>
            <a:endParaRPr lang="en-US" sz="105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Did he stop to think or stop thinking? · What did he try doing?</a:t>
            </a:r>
            <a:endParaRPr lang="en-US" sz="1050" dirty="0"/>
          </a:p>
        </p:txBody>
      </p:sp>
      <p:sp>
        <p:nvSpPr>
          <p:cNvPr id="27" name="R5_sb389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R5_sl390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made him sit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outside, so he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started singing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– really loudly.</a:t>
            </a:r>
            <a:endParaRPr lang="en-US" sz="105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Did they let him stay or make him sit outside? · What did he start doing?</a:t>
            </a:r>
            <a:endParaRPr lang="en-US" sz="1050" dirty="0"/>
          </a:p>
        </p:txBody>
      </p:sp>
      <p:sp>
        <p:nvSpPr>
          <p:cNvPr id="29" name="R6_sb391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R6_sl392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band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stopped playing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and called him on stage! He'll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never forget singing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there.</a:t>
            </a:r>
            <a:endParaRPr lang="en-US" sz="95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Why did the band stop? · And you – what concert will you never forget?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9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395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-ing, to or no to?</a:t>
            </a:r>
            <a:endParaRPr lang="en-US" sz="2500" dirty="0"/>
          </a:p>
        </p:txBody>
      </p:sp>
      <p:pic>
        <p:nvPicPr>
          <p:cNvPr id="6" name="brP_39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397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-ing, to or no to? Say the full sentence.</a:t>
            </a:r>
            <a:endParaRPr lang="en-US" sz="1250" dirty="0"/>
          </a:p>
        </p:txBody>
      </p:sp>
      <p:sp>
        <p:nvSpPr>
          <p:cNvPr id="8" name="insIT_39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Quale forma dopo il verbo? Di' la risposta completa.</a:t>
            </a:r>
            <a:endParaRPr lang="en-US" sz="950" dirty="0"/>
          </a:p>
        </p:txBody>
      </p:sp>
      <p:sp>
        <p:nvSpPr>
          <p:cNvPr id="9" name="cmd_39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MATCH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ABBINA</a:t>
            </a:r>
            <a:endParaRPr lang="en-US" sz="1100" dirty="0"/>
          </a:p>
        </p:txBody>
      </p:sp>
      <p:sp>
        <p:nvSpPr>
          <p:cNvPr id="10" name="meta_400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401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40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0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Grammar · Grammar Bank 6B practice   ·   📖 Grammar Bank 6B p.143 · a (adapted)</a:t>
            </a:r>
            <a:endParaRPr lang="en-US" sz="800" dirty="0"/>
          </a:p>
        </p:txBody>
      </p:sp>
      <p:sp>
        <p:nvSpPr>
          <p:cNvPr id="14" name="cd_404"/>
          <p:cNvSpPr/>
          <p:nvPr/>
        </p:nvSpPr>
        <p:spPr>
          <a:xfrm>
            <a:off x="320040" y="1417320"/>
            <a:ext cx="2697480" cy="1911096"/>
          </a:xfrm>
          <a:prstGeom prst="roundRect">
            <a:avLst>
              <a:gd name="adj" fmla="val 6699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0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6" name="ih_40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 I enjoy ___ (sing) → singing</a:t>
            </a:r>
            <a:endParaRPr lang="en-US" sz="1100" dirty="0"/>
          </a:p>
        </p:txBody>
      </p:sp>
      <p:sp>
        <p:nvSpPr>
          <p:cNvPr id="17" name="il_407"/>
          <p:cNvSpPr/>
          <p:nvPr/>
        </p:nvSpPr>
        <p:spPr>
          <a:xfrm>
            <a:off x="886968" y="1892808"/>
            <a:ext cx="20391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8" name="lg_408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-ing</a:t>
            </a:r>
            <a:endParaRPr lang="en-US" sz="1050" dirty="0"/>
          </a:p>
        </p:txBody>
      </p:sp>
      <p:sp>
        <p:nvSpPr>
          <p:cNvPr id="19" name="lg_409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to + verb</a:t>
            </a:r>
            <a:endParaRPr lang="en-US" sz="1050" dirty="0"/>
          </a:p>
        </p:txBody>
      </p:sp>
      <p:sp>
        <p:nvSpPr>
          <p:cNvPr id="20" name="lg_410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 (no to)</a:t>
            </a:r>
            <a:endParaRPr lang="en-US" sz="1050" dirty="0"/>
          </a:p>
        </p:txBody>
      </p:sp>
      <p:sp>
        <p:nvSpPr>
          <p:cNvPr id="21" name="sq_411"/>
          <p:cNvSpPr/>
          <p:nvPr/>
        </p:nvSpPr>
        <p:spPr>
          <a:xfrm>
            <a:off x="3246120" y="14173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I suggest ___ a taxi to the airport tomorrow. (take)</a:t>
            </a:r>
            <a:endParaRPr lang="en-US" sz="1000" dirty="0"/>
          </a:p>
        </p:txBody>
      </p:sp>
      <p:sp>
        <p:nvSpPr>
          <p:cNvPr id="22" name="R1_tag412"/>
          <p:cNvSpPr/>
          <p:nvPr/>
        </p:nvSpPr>
        <p:spPr>
          <a:xfrm>
            <a:off x="7178040" y="14173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-ing</a:t>
            </a:r>
            <a:endParaRPr lang="en-US" sz="1150" dirty="0"/>
          </a:p>
        </p:txBody>
      </p:sp>
      <p:sp>
        <p:nvSpPr>
          <p:cNvPr id="23" name="sq_413"/>
          <p:cNvSpPr/>
          <p:nvPr/>
        </p:nvSpPr>
        <p:spPr>
          <a:xfrm>
            <a:off x="3246120" y="18288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In the snow, we managed ___ to the shop. (drive)</a:t>
            </a:r>
            <a:endParaRPr lang="en-US" sz="1000" dirty="0"/>
          </a:p>
        </p:txBody>
      </p:sp>
      <p:sp>
        <p:nvSpPr>
          <p:cNvPr id="24" name="R2_tag414"/>
          <p:cNvSpPr/>
          <p:nvPr/>
        </p:nvSpPr>
        <p:spPr>
          <a:xfrm>
            <a:off x="7178040" y="18288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to + verb</a:t>
            </a:r>
            <a:endParaRPr lang="en-US" sz="1150" dirty="0"/>
          </a:p>
        </p:txBody>
      </p:sp>
      <p:sp>
        <p:nvSpPr>
          <p:cNvPr id="25" name="sq_415"/>
          <p:cNvSpPr/>
          <p:nvPr/>
        </p:nvSpPr>
        <p:spPr>
          <a:xfrm>
            <a:off x="3246120" y="22402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We'd better ___ some shopping. (do)</a:t>
            </a:r>
            <a:endParaRPr lang="en-US" sz="1200" dirty="0"/>
          </a:p>
        </p:txBody>
      </p:sp>
      <p:sp>
        <p:nvSpPr>
          <p:cNvPr id="26" name="R3_tag416"/>
          <p:cNvSpPr/>
          <p:nvPr/>
        </p:nvSpPr>
        <p:spPr>
          <a:xfrm>
            <a:off x="7178040" y="22402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 (no to)</a:t>
            </a:r>
            <a:endParaRPr lang="en-US" sz="1150" dirty="0"/>
          </a:p>
        </p:txBody>
      </p:sp>
      <p:sp>
        <p:nvSpPr>
          <p:cNvPr id="27" name="sq_417"/>
          <p:cNvSpPr/>
          <p:nvPr/>
        </p:nvSpPr>
        <p:spPr>
          <a:xfrm>
            <a:off x="3246120" y="265176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I'm very impatient. I can't stand ___ in queues. (wait)</a:t>
            </a:r>
            <a:endParaRPr lang="en-US" sz="950" dirty="0"/>
          </a:p>
        </p:txBody>
      </p:sp>
      <p:sp>
        <p:nvSpPr>
          <p:cNvPr id="28" name="R4_tag418"/>
          <p:cNvSpPr/>
          <p:nvPr/>
        </p:nvSpPr>
        <p:spPr>
          <a:xfrm>
            <a:off x="7178040" y="265176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-ing</a:t>
            </a:r>
            <a:endParaRPr lang="en-US" sz="1150" dirty="0"/>
          </a:p>
        </p:txBody>
      </p:sp>
      <p:sp>
        <p:nvSpPr>
          <p:cNvPr id="29" name="sq_419"/>
          <p:cNvSpPr/>
          <p:nvPr/>
        </p:nvSpPr>
        <p:spPr>
          <a:xfrm>
            <a:off x="3246120" y="306324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A young man kindly offered ___ my bags. (carry)</a:t>
            </a:r>
            <a:endParaRPr lang="en-US" sz="1000" dirty="0"/>
          </a:p>
        </p:txBody>
      </p:sp>
      <p:sp>
        <p:nvSpPr>
          <p:cNvPr id="30" name="R5_tag420"/>
          <p:cNvSpPr/>
          <p:nvPr/>
        </p:nvSpPr>
        <p:spPr>
          <a:xfrm>
            <a:off x="7178040" y="306324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to + verb</a:t>
            </a:r>
            <a:endParaRPr lang="en-US" sz="1150" dirty="0"/>
          </a:p>
        </p:txBody>
      </p:sp>
      <p:sp>
        <p:nvSpPr>
          <p:cNvPr id="31" name="sq_421"/>
          <p:cNvSpPr/>
          <p:nvPr/>
        </p:nvSpPr>
        <p:spPr>
          <a:xfrm>
            <a:off x="3246120" y="34747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 My parents used to make me ___ my room. (tidy)</a:t>
            </a:r>
            <a:endParaRPr lang="en-US" sz="1000" dirty="0"/>
          </a:p>
        </p:txBody>
      </p:sp>
      <p:sp>
        <p:nvSpPr>
          <p:cNvPr id="32" name="R6_tag422"/>
          <p:cNvSpPr/>
          <p:nvPr/>
        </p:nvSpPr>
        <p:spPr>
          <a:xfrm>
            <a:off x="7178040" y="34747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 (no to)</a:t>
            </a:r>
            <a:endParaRPr lang="en-US" sz="1150" dirty="0"/>
          </a:p>
        </p:txBody>
      </p:sp>
      <p:sp>
        <p:nvSpPr>
          <p:cNvPr id="33" name="sq_423"/>
          <p:cNvSpPr/>
          <p:nvPr/>
        </p:nvSpPr>
        <p:spPr>
          <a:xfrm>
            <a:off x="3246120" y="38862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 Do you feel like ___ to the gym with me? (come)</a:t>
            </a:r>
            <a:endParaRPr lang="en-US" sz="1000" dirty="0"/>
          </a:p>
        </p:txBody>
      </p:sp>
      <p:sp>
        <p:nvSpPr>
          <p:cNvPr id="34" name="R7_tag424"/>
          <p:cNvSpPr/>
          <p:nvPr/>
        </p:nvSpPr>
        <p:spPr>
          <a:xfrm>
            <a:off x="7178040" y="38862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-ing</a:t>
            </a:r>
            <a:endParaRPr lang="en-US" sz="1150" dirty="0"/>
          </a:p>
        </p:txBody>
      </p:sp>
      <p:sp>
        <p:nvSpPr>
          <p:cNvPr id="35" name="sq_425"/>
          <p:cNvSpPr/>
          <p:nvPr/>
        </p:nvSpPr>
        <p:spPr>
          <a:xfrm>
            <a:off x="3246120" y="42976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 I'd prefer ___ out, not get a takeaway. (eat)</a:t>
            </a:r>
            <a:endParaRPr lang="en-US" sz="1200" dirty="0"/>
          </a:p>
        </p:txBody>
      </p:sp>
      <p:sp>
        <p:nvSpPr>
          <p:cNvPr id="36" name="R8_tag426"/>
          <p:cNvSpPr/>
          <p:nvPr/>
        </p:nvSpPr>
        <p:spPr>
          <a:xfrm>
            <a:off x="7178040" y="42976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to + verb</a:t>
            </a:r>
            <a:endParaRPr lang="en-US" sz="1150" dirty="0"/>
          </a:p>
        </p:txBody>
      </p:sp>
      <p:sp>
        <p:nvSpPr>
          <p:cNvPr id="37" name="pf_427"/>
          <p:cNvSpPr/>
          <p:nvPr/>
        </p:nvSpPr>
        <p:spPr>
          <a:xfrm rot="-120000">
            <a:off x="411480" y="3703320"/>
            <a:ext cx="2514600" cy="1051560"/>
          </a:xfrm>
          <a:prstGeom prst="roundRect">
            <a:avLst>
              <a:gd name="adj" fmla="val 1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8" name="ph_428" descr="/home/claude/lls-course/v2/cache/b2_6b_family_jpg_583x23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749040"/>
            <a:ext cx="2423160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2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3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431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Key word race!</a:t>
            </a:r>
            <a:endParaRPr lang="en-US" sz="2500" dirty="0"/>
          </a:p>
        </p:txBody>
      </p:sp>
      <p:pic>
        <p:nvPicPr>
          <p:cNvPr id="6" name="brP_43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433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the KEY WORD. Write 2–5 words.</a:t>
            </a:r>
            <a:endParaRPr lang="en-US" sz="1250" dirty="0"/>
          </a:p>
        </p:txBody>
      </p:sp>
      <p:sp>
        <p:nvSpPr>
          <p:cNvPr id="8" name="insIT_434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 la frase 2 con 2–5 parole. Usa la PAROLA CHIAVE.</a:t>
            </a:r>
            <a:endParaRPr lang="en-US" sz="950" dirty="0"/>
          </a:p>
        </p:txBody>
      </p:sp>
      <p:sp>
        <p:nvSpPr>
          <p:cNvPr id="9" name="cmd_435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436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950" dirty="0"/>
          </a:p>
        </p:txBody>
      </p:sp>
      <p:sp>
        <p:nvSpPr>
          <p:cNvPr id="11" name="tag_437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43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3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Game · Cambridge B2 First Part 4   ·   📖 Cambridge B2 First · Reading &amp; Use of English Part 4 style</a:t>
            </a:r>
            <a:endParaRPr lang="en-US" sz="800" dirty="0"/>
          </a:p>
        </p:txBody>
      </p:sp>
      <p:sp>
        <p:nvSpPr>
          <p:cNvPr id="14" name="cd_440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4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44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443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8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sentence 1 and the KEY WORD.</a:t>
            </a:r>
            <a:endParaRPr lang="en-US" sz="8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la frase 1 e la parola chiave.</a:t>
            </a:r>
            <a:endParaRPr lang="en-US" sz="8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8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2–5 words. Don't change the key word!</a:t>
            </a:r>
            <a:endParaRPr lang="en-US" sz="8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Scrivi 2–5 parole. Non cambiare la parola chiave!</a:t>
            </a:r>
            <a:endParaRPr lang="en-US" sz="8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8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Don't forget the tickets! REMEMBER → Remember to bring the tickets!</a:t>
            </a:r>
            <a:endParaRPr lang="en-US" sz="8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Corretta = 1 punto.</a:t>
            </a:r>
            <a:endParaRPr lang="en-US" sz="850" dirty="0"/>
          </a:p>
        </p:txBody>
      </p:sp>
      <p:sp>
        <p:nvSpPr>
          <p:cNvPr id="18" name="st_444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9" name="bd_445"/>
          <p:cNvSpPr/>
          <p:nvPr/>
        </p:nvSpPr>
        <p:spPr>
          <a:xfrm>
            <a:off x="3246120" y="1508760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gq_446"/>
          <p:cNvSpPr/>
          <p:nvPr/>
        </p:nvSpPr>
        <p:spPr>
          <a:xfrm>
            <a:off x="3657600" y="1417320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forget to call Grandma.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REMEMBER → ___ Grandma.</a:t>
            </a:r>
            <a:endParaRPr lang="en-US" sz="1100" dirty="0"/>
          </a:p>
        </p:txBody>
      </p:sp>
      <p:sp>
        <p:nvSpPr>
          <p:cNvPr id="21" name="R1_chip447"/>
          <p:cNvSpPr/>
          <p:nvPr/>
        </p:nvSpPr>
        <p:spPr>
          <a:xfrm>
            <a:off x="6263640" y="1417320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Remember to call</a:t>
            </a:r>
            <a:endParaRPr lang="en-US" sz="1100" dirty="0"/>
          </a:p>
        </p:txBody>
      </p:sp>
      <p:sp>
        <p:nvSpPr>
          <p:cNvPr id="22" name="bd_448"/>
          <p:cNvSpPr/>
          <p:nvPr/>
        </p:nvSpPr>
        <p:spPr>
          <a:xfrm>
            <a:off x="3246120" y="208483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gq_449"/>
          <p:cNvSpPr/>
          <p:nvPr/>
        </p:nvSpPr>
        <p:spPr>
          <a:xfrm>
            <a:off x="3657600" y="1993392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jar was too hard to open.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TRIED → I ___ the jar, but I couldn't.</a:t>
            </a:r>
            <a:endParaRPr lang="en-US" sz="950" dirty="0"/>
          </a:p>
        </p:txBody>
      </p:sp>
      <p:sp>
        <p:nvSpPr>
          <p:cNvPr id="24" name="R2_chip450"/>
          <p:cNvSpPr/>
          <p:nvPr/>
        </p:nvSpPr>
        <p:spPr>
          <a:xfrm>
            <a:off x="6263640" y="1993392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tried to open</a:t>
            </a:r>
            <a:endParaRPr lang="en-US" sz="1100" dirty="0"/>
          </a:p>
        </p:txBody>
      </p:sp>
      <p:sp>
        <p:nvSpPr>
          <p:cNvPr id="25" name="bd_451"/>
          <p:cNvSpPr/>
          <p:nvPr/>
        </p:nvSpPr>
        <p:spPr>
          <a:xfrm>
            <a:off x="3246120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gq_452"/>
          <p:cNvSpPr/>
          <p:nvPr/>
        </p:nvSpPr>
        <p:spPr>
          <a:xfrm>
            <a:off x="3657600" y="2569464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not turn it off and on again?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TRY → ___ it off and on again.</a:t>
            </a:r>
            <a:endParaRPr lang="en-US" sz="1000" dirty="0"/>
          </a:p>
        </p:txBody>
      </p:sp>
      <p:sp>
        <p:nvSpPr>
          <p:cNvPr id="27" name="R3_chip453"/>
          <p:cNvSpPr/>
          <p:nvPr/>
        </p:nvSpPr>
        <p:spPr>
          <a:xfrm>
            <a:off x="6263640" y="2569464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Try turning</a:t>
            </a:r>
            <a:endParaRPr lang="en-US" sz="1100" dirty="0"/>
          </a:p>
        </p:txBody>
      </p:sp>
      <p:sp>
        <p:nvSpPr>
          <p:cNvPr id="28" name="bd_454"/>
          <p:cNvSpPr/>
          <p:nvPr/>
        </p:nvSpPr>
        <p:spPr>
          <a:xfrm>
            <a:off x="3246120" y="32369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gq_455"/>
          <p:cNvSpPr/>
          <p:nvPr/>
        </p:nvSpPr>
        <p:spPr>
          <a:xfrm>
            <a:off x="3657600" y="3145536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saw them live – amazing!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FORGET → I'll never ___ them live.</a:t>
            </a:r>
            <a:endParaRPr lang="en-US" sz="950" dirty="0"/>
          </a:p>
        </p:txBody>
      </p:sp>
      <p:sp>
        <p:nvSpPr>
          <p:cNvPr id="30" name="R4_chip456"/>
          <p:cNvSpPr/>
          <p:nvPr/>
        </p:nvSpPr>
        <p:spPr>
          <a:xfrm>
            <a:off x="6263640" y="3145536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forget seeing</a:t>
            </a:r>
            <a:endParaRPr lang="en-US" sz="1100" dirty="0"/>
          </a:p>
        </p:txBody>
      </p:sp>
      <p:sp>
        <p:nvSpPr>
          <p:cNvPr id="31" name="bd_457"/>
          <p:cNvSpPr/>
          <p:nvPr/>
        </p:nvSpPr>
        <p:spPr>
          <a:xfrm>
            <a:off x="3246120" y="3813048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gq_458"/>
          <p:cNvSpPr/>
          <p:nvPr/>
        </p:nvSpPr>
        <p:spPr>
          <a:xfrm>
            <a:off x="3657600" y="3721608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Mum didn't allow me to go to the gig.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 → Mum ___ go to the gig.</a:t>
            </a:r>
            <a:endParaRPr lang="en-US" sz="950" dirty="0"/>
          </a:p>
        </p:txBody>
      </p:sp>
      <p:sp>
        <p:nvSpPr>
          <p:cNvPr id="33" name="R5_chip459"/>
          <p:cNvSpPr/>
          <p:nvPr/>
        </p:nvSpPr>
        <p:spPr>
          <a:xfrm>
            <a:off x="6263640" y="3721608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didn't let me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6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462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your partner about…</a:t>
            </a:r>
            <a:endParaRPr lang="en-US" sz="2500" dirty="0"/>
          </a:p>
        </p:txBody>
      </p:sp>
      <p:pic>
        <p:nvPicPr>
          <p:cNvPr id="6" name="brP_46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464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3 topics. Tell your partner.</a:t>
            </a:r>
            <a:endParaRPr lang="en-US" sz="1250" dirty="0"/>
          </a:p>
        </p:txBody>
      </p:sp>
      <p:sp>
        <p:nvSpPr>
          <p:cNvPr id="8" name="insIT_46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Scegli 3 argomenti. Parla al compagno. Fai 1 domanda.</a:t>
            </a:r>
            <a:endParaRPr lang="en-US" sz="950" dirty="0"/>
          </a:p>
        </p:txBody>
      </p:sp>
      <p:sp>
        <p:nvSpPr>
          <p:cNvPr id="9" name="cmd_46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467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468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46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7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Speaking · tell your partner about…   ·   📖 SB p.61 · 2e</a:t>
            </a:r>
            <a:endParaRPr lang="en-US" sz="800" dirty="0"/>
          </a:p>
        </p:txBody>
      </p:sp>
      <p:sp>
        <p:nvSpPr>
          <p:cNvPr id="14" name="pf_471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472" descr="/home/claude/lls-course/v2/cache/b2_6b_instruments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473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474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475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476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Memory: I'll never forget… -ing · I remember… -ing</a:t>
            </a:r>
            <a:endParaRPr lang="en-US" sz="7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Trying: I tried to… · I've tried… -ing</a:t>
            </a:r>
            <a:endParaRPr lang="en-US" sz="7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up: When was that? Did it work?</a:t>
            </a:r>
            <a:endParaRPr lang="en-US" sz="7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React: No way! · Me too! · Really?</a:t>
            </a:r>
            <a:endParaRPr lang="en-US" sz="700" dirty="0"/>
          </a:p>
        </p:txBody>
      </p:sp>
      <p:sp>
        <p:nvSpPr>
          <p:cNvPr id="20" name="R1_qb477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478"/>
          <p:cNvSpPr/>
          <p:nvPr/>
        </p:nvSpPr>
        <p:spPr>
          <a:xfrm>
            <a:off x="3675888" y="14173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piece of music you'll never forget hearing for the first time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I'll never forget hearing my dad's favourite song at a wedding – I was about seven.</a:t>
            </a:r>
            <a:endParaRPr lang="en-US" sz="1100" dirty="0"/>
          </a:p>
        </p:txBody>
      </p:sp>
      <p:sp>
        <p:nvSpPr>
          <p:cNvPr id="22" name="R2_qb479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480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 sometimes forget to do before you leave the house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often forget to charge my phone, so it dies at lunchtime!</a:t>
            </a:r>
            <a:endParaRPr lang="en-US" sz="1050" dirty="0"/>
          </a:p>
        </p:txBody>
      </p:sp>
      <p:sp>
        <p:nvSpPr>
          <p:cNvPr id="24" name="R3_qb481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482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 remember doing before you were five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remember playing on the beach at Aspra with my grandad.</a:t>
            </a:r>
            <a:endParaRPr lang="en-US" sz="1250" dirty="0"/>
          </a:p>
        </p:txBody>
      </p:sp>
      <p:sp>
        <p:nvSpPr>
          <p:cNvPr id="26" name="R4_qb483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484"/>
          <p:cNvSpPr/>
          <p:nvPr/>
        </p:nvSpPr>
        <p:spPr>
          <a:xfrm>
            <a:off x="3675888" y="308610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skill you tried to learn but couldn't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tried to learn the guitar, but my fingers hurt too much!</a:t>
            </a:r>
            <a:endParaRPr lang="en-US" sz="1250" dirty="0"/>
          </a:p>
        </p:txBody>
      </p:sp>
      <p:sp>
        <p:nvSpPr>
          <p:cNvPr id="28" name="R5_qb485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R5_sq486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you've tried doing when you can't sleep at night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I've tried listening to rain sounds – it actually works.</a:t>
            </a:r>
            <a:endParaRPr lang="en-US" sz="1200" dirty="0"/>
          </a:p>
        </p:txBody>
      </p:sp>
      <p:sp>
        <p:nvSpPr>
          <p:cNvPr id="30" name="R6_qb487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R6_sq488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Extension: which song will you choose in 20 years to remember this year? Why?</a:t>
            </a:r>
            <a:endParaRPr lang="en-US" sz="85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This summer's hit – it'll remind me of my friends and the beach.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9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491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Name the instrument!</a:t>
            </a:r>
            <a:endParaRPr lang="en-US" sz="2500" dirty="0"/>
          </a:p>
        </p:txBody>
      </p:sp>
      <p:pic>
        <p:nvPicPr>
          <p:cNvPr id="6" name="brP_49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493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clue. Write the instrument.</a:t>
            </a:r>
            <a:endParaRPr lang="en-US" sz="1250" dirty="0"/>
          </a:p>
        </p:txBody>
      </p:sp>
      <p:sp>
        <p:nvSpPr>
          <p:cNvPr id="8" name="insIT_494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l'indizio. Scrivi lo strumento. Poi ascolta.</a:t>
            </a:r>
            <a:endParaRPr lang="en-US" sz="950" dirty="0"/>
          </a:p>
        </p:txBody>
      </p:sp>
      <p:sp>
        <p:nvSpPr>
          <p:cNvPr id="9" name="cmd_495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0" name="cmd_496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1" name="meta_497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498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3" name="logo_49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50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Vocabulary · instruments   ·   📖 SB p.61 · 3a, 3b · audio 6.16, 6.17</a:t>
            </a:r>
            <a:endParaRPr lang="en-US" sz="800" dirty="0"/>
          </a:p>
        </p:txBody>
      </p:sp>
      <p:sp>
        <p:nvSpPr>
          <p:cNvPr id="15" name="cd_501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50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50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504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🎻 small, under your chin → a violin /vaɪəˈlɪn/</a:t>
            </a:r>
            <a:endParaRPr lang="en-US" sz="1050" dirty="0"/>
          </a:p>
        </p:txBody>
      </p:sp>
      <p:sp>
        <p:nvSpPr>
          <p:cNvPr id="19" name="pf_505"/>
          <p:cNvSpPr/>
          <p:nvPr/>
        </p:nvSpPr>
        <p:spPr>
          <a:xfrm rot="-90000">
            <a:off x="365760" y="2697480"/>
            <a:ext cx="2606040" cy="1417320"/>
          </a:xfrm>
          <a:prstGeom prst="roundRect">
            <a:avLst>
              <a:gd name="adj" fmla="val 10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506" descr="/home/claude/lls-course/v2/cache/b2_6b_guitar_sax_jpg_605x31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325880"/>
          </a:xfrm>
          <a:prstGeom prst="rect">
            <a:avLst/>
          </a:prstGeom>
        </p:spPr>
      </p:pic>
      <p:sp>
        <p:nvSpPr>
          <p:cNvPr id="21" name="ap_507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6.16 + 6.17</a:t>
            </a:r>
            <a:endParaRPr lang="en-US" sz="1100" dirty="0"/>
          </a:p>
        </p:txBody>
      </p:sp>
      <p:sp>
        <p:nvSpPr>
          <p:cNvPr id="22" name="ah_508"/>
          <p:cNvSpPr/>
          <p:nvPr/>
        </p:nvSpPr>
        <p:spPr>
          <a:xfrm>
            <a:off x="4974336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23" name="Media 0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574536" y="4553712"/>
            <a:ext cx="411480" cy="411480"/>
          </a:xfrm>
          <a:prstGeom prst="rect">
            <a:avLst/>
          </a:prstGeom>
        </p:spPr>
      </p:pic>
      <p:pic>
        <p:nvPicPr>
          <p:cNvPr id="24" name="Media 1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7050024" y="4553712"/>
            <a:ext cx="411480" cy="411480"/>
          </a:xfrm>
          <a:prstGeom prst="rect">
            <a:avLst/>
          </a:prstGeom>
        </p:spPr>
      </p:pic>
      <p:pic>
        <p:nvPicPr>
          <p:cNvPr id="25" name="Media 2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26" name="Media 3">
            <a:hlinkClick r:id="" action="ppaction://media"/>
          </p:cNvPr>
          <p:cNvPicPr>
            <a:picLocks noChangeAspect="1"/>
          </p:cNvPicPr>
          <p:nvPr>
            <a:audi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27" name="bd_509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q_510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🎸 4 strings, very low notes</a:t>
            </a:r>
            <a:endParaRPr lang="en-US" sz="1150" dirty="0"/>
          </a:p>
        </p:txBody>
      </p:sp>
      <p:sp>
        <p:nvSpPr>
          <p:cNvPr id="29" name="R1_chip511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bass guitar – bass = /beɪs/ (like base!)</a:t>
            </a:r>
            <a:endParaRPr lang="en-US" sz="1000" dirty="0"/>
          </a:p>
        </p:txBody>
      </p:sp>
      <p:sp>
        <p:nvSpPr>
          <p:cNvPr id="30" name="bd_512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q_513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🥁 you hit them with sticks</a:t>
            </a:r>
            <a:endParaRPr lang="en-US" sz="1150" dirty="0"/>
          </a:p>
        </p:txBody>
      </p:sp>
      <p:sp>
        <p:nvSpPr>
          <p:cNvPr id="32" name="R2_chip514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drums (✗ battery!)</a:t>
            </a:r>
            <a:endParaRPr lang="en-US" sz="1000" dirty="0"/>
          </a:p>
        </p:txBody>
      </p:sp>
      <p:sp>
        <p:nvSpPr>
          <p:cNvPr id="33" name="bd_515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q_516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🎹 an electric piano</a:t>
            </a:r>
            <a:endParaRPr lang="en-US" sz="1150" dirty="0"/>
          </a:p>
        </p:txBody>
      </p:sp>
      <p:sp>
        <p:nvSpPr>
          <p:cNvPr id="35" name="R3_chip517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keyboard /ˈkiːbɔːd/</a:t>
            </a:r>
            <a:endParaRPr lang="en-US" sz="1000" dirty="0"/>
          </a:p>
        </p:txBody>
      </p:sp>
      <p:sp>
        <p:nvSpPr>
          <p:cNvPr id="36" name="bd_518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q_519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🎻 big – you sit to play it</a:t>
            </a:r>
            <a:endParaRPr lang="en-US" sz="1150" dirty="0"/>
          </a:p>
        </p:txBody>
      </p:sp>
      <p:sp>
        <p:nvSpPr>
          <p:cNvPr id="38" name="R4_chip520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cello /ˈtʃeləʊ/</a:t>
            </a:r>
            <a:endParaRPr lang="en-US" sz="1000" dirty="0"/>
          </a:p>
        </p:txBody>
      </p:sp>
      <p:sp>
        <p:nvSpPr>
          <p:cNvPr id="39" name="bd_521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q_522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🎶 silver – you blow across it</a:t>
            </a:r>
            <a:endParaRPr lang="en-US" sz="1150" dirty="0"/>
          </a:p>
        </p:txBody>
      </p:sp>
      <p:sp>
        <p:nvSpPr>
          <p:cNvPr id="41" name="R5_chip523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flute /fluːt/</a:t>
            </a:r>
            <a:endParaRPr lang="en-US" sz="1000" dirty="0"/>
          </a:p>
        </p:txBody>
      </p:sp>
      <p:sp>
        <p:nvSpPr>
          <p:cNvPr id="42" name="bd_524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q_525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🎷 jazz – gold – you blow into it</a:t>
            </a:r>
            <a:endParaRPr lang="en-US" sz="1150" dirty="0"/>
          </a:p>
        </p:txBody>
      </p:sp>
      <p:sp>
        <p:nvSpPr>
          <p:cNvPr id="44" name="R6_chip526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saxophone /ˈsæksəfəʊn/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2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52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529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Careful, Italians!</a:t>
            </a:r>
            <a:endParaRPr lang="en-US" sz="2500" dirty="0"/>
          </a:p>
        </p:txBody>
      </p:sp>
      <p:pic>
        <p:nvPicPr>
          <p:cNvPr id="6" name="brP_53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531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it in English. Then click.</a:t>
            </a:r>
            <a:endParaRPr lang="en-US" sz="1250" dirty="0"/>
          </a:p>
        </p:txBody>
      </p:sp>
      <p:sp>
        <p:nvSpPr>
          <p:cNvPr id="8" name="insIT_53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Spiegalo in inglese. Poi clicca per l'italiano.</a:t>
            </a:r>
            <a:endParaRPr lang="en-US" sz="950" dirty="0"/>
          </a:p>
        </p:txBody>
      </p:sp>
      <p:sp>
        <p:nvSpPr>
          <p:cNvPr id="9" name="cmd_53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0" name="meta_53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🙋 whole class</a:t>
            </a:r>
            <a:endParaRPr lang="en-US" sz="950" dirty="0"/>
          </a:p>
        </p:txBody>
      </p:sp>
      <p:sp>
        <p:nvSpPr>
          <p:cNvPr id="11" name="tag_53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meaning</a:t>
            </a:r>
            <a:endParaRPr lang="en-US" sz="850" dirty="0"/>
          </a:p>
        </p:txBody>
      </p:sp>
      <p:pic>
        <p:nvPicPr>
          <p:cNvPr id="12" name="logo_53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3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Vocabulary · musicians + Italian traps   ·   📖 SB p.61 · 3a musicians</a:t>
            </a:r>
            <a:endParaRPr lang="en-US" sz="800" dirty="0"/>
          </a:p>
        </p:txBody>
      </p:sp>
      <p:sp>
        <p:nvSpPr>
          <p:cNvPr id="14" name="cd_538"/>
          <p:cNvSpPr/>
          <p:nvPr/>
        </p:nvSpPr>
        <p:spPr>
          <a:xfrm>
            <a:off x="320040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e_539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🤵</a:t>
            </a:r>
            <a:endParaRPr lang="en-US" sz="2000" dirty="0"/>
          </a:p>
        </p:txBody>
      </p:sp>
      <p:sp>
        <p:nvSpPr>
          <p:cNvPr id="16" name="en_540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conductor</a:t>
            </a:r>
            <a:endParaRPr lang="en-US" sz="1200" dirty="0"/>
          </a:p>
        </p:txBody>
      </p:sp>
      <p:sp>
        <p:nvSpPr>
          <p:cNvPr id="17" name="R1_def541"/>
          <p:cNvSpPr/>
          <p:nvPr/>
        </p:nvSpPr>
        <p:spPr>
          <a:xfrm>
            <a:off x="978408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an orchestra</a:t>
            </a:r>
            <a:endParaRPr lang="en-US" sz="850" dirty="0"/>
          </a:p>
        </p:txBody>
      </p:sp>
      <p:sp>
        <p:nvSpPr>
          <p:cNvPr id="18" name="R2_it542"/>
          <p:cNvSpPr/>
          <p:nvPr/>
        </p:nvSpPr>
        <p:spPr>
          <a:xfrm>
            <a:off x="978408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direttore d'orchestra</a:t>
            </a:r>
            <a:endParaRPr lang="en-US" sz="900" dirty="0"/>
          </a:p>
        </p:txBody>
      </p:sp>
      <p:sp>
        <p:nvSpPr>
          <p:cNvPr id="19" name="cd_543"/>
          <p:cNvSpPr/>
          <p:nvPr/>
        </p:nvSpPr>
        <p:spPr>
          <a:xfrm>
            <a:off x="2487168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e_544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🎼</a:t>
            </a:r>
            <a:endParaRPr lang="en-US" sz="2000" dirty="0"/>
          </a:p>
        </p:txBody>
      </p:sp>
      <p:sp>
        <p:nvSpPr>
          <p:cNvPr id="21" name="en_545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 ORchestra</a:t>
            </a:r>
            <a:endParaRPr lang="en-US" sz="1200" dirty="0"/>
          </a:p>
        </p:txBody>
      </p:sp>
      <p:sp>
        <p:nvSpPr>
          <p:cNvPr id="22" name="R3_def546"/>
          <p:cNvSpPr/>
          <p:nvPr/>
        </p:nvSpPr>
        <p:spPr>
          <a:xfrm>
            <a:off x="3145536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big classical group</a:t>
            </a:r>
            <a:endParaRPr lang="en-US" sz="850" dirty="0"/>
          </a:p>
        </p:txBody>
      </p:sp>
      <p:sp>
        <p:nvSpPr>
          <p:cNvPr id="23" name="R4_it547"/>
          <p:cNvSpPr/>
          <p:nvPr/>
        </p:nvSpPr>
        <p:spPr>
          <a:xfrm>
            <a:off x="3145536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orchestra</a:t>
            </a:r>
            <a:endParaRPr lang="en-US" sz="900" dirty="0"/>
          </a:p>
        </p:txBody>
      </p:sp>
      <p:sp>
        <p:nvSpPr>
          <p:cNvPr id="24" name="cd_548"/>
          <p:cNvSpPr/>
          <p:nvPr/>
        </p:nvSpPr>
        <p:spPr>
          <a:xfrm>
            <a:off x="4654296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e_549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6" name="en_550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choir /ˈkwaɪə/</a:t>
            </a:r>
            <a:endParaRPr lang="en-US" sz="1200" dirty="0"/>
          </a:p>
        </p:txBody>
      </p:sp>
      <p:sp>
        <p:nvSpPr>
          <p:cNvPr id="27" name="R5_def551"/>
          <p:cNvSpPr/>
          <p:nvPr/>
        </p:nvSpPr>
        <p:spPr>
          <a:xfrm>
            <a:off x="5312664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who sing together</a:t>
            </a:r>
            <a:endParaRPr lang="en-US" sz="850" dirty="0"/>
          </a:p>
        </p:txBody>
      </p:sp>
      <p:sp>
        <p:nvSpPr>
          <p:cNvPr id="28" name="R6_it552"/>
          <p:cNvSpPr/>
          <p:nvPr/>
        </p:nvSpPr>
        <p:spPr>
          <a:xfrm>
            <a:off x="5312664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coro</a:t>
            </a:r>
            <a:endParaRPr lang="en-US" sz="900" dirty="0"/>
          </a:p>
        </p:txBody>
      </p:sp>
      <p:sp>
        <p:nvSpPr>
          <p:cNvPr id="29" name="cd_553"/>
          <p:cNvSpPr/>
          <p:nvPr/>
        </p:nvSpPr>
        <p:spPr>
          <a:xfrm>
            <a:off x="6821424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0" name="e_554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31" name="en_555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chorus /ˈkɔːrəs/</a:t>
            </a:r>
            <a:endParaRPr lang="en-US" sz="1150" dirty="0"/>
          </a:p>
        </p:txBody>
      </p:sp>
      <p:sp>
        <p:nvSpPr>
          <p:cNvPr id="32" name="R7_def556"/>
          <p:cNvSpPr/>
          <p:nvPr/>
        </p:nvSpPr>
        <p:spPr>
          <a:xfrm>
            <a:off x="7479792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repeated part of a song</a:t>
            </a:r>
            <a:endParaRPr lang="en-US" sz="850" dirty="0"/>
          </a:p>
        </p:txBody>
      </p:sp>
      <p:sp>
        <p:nvSpPr>
          <p:cNvPr id="33" name="R8_it557"/>
          <p:cNvSpPr/>
          <p:nvPr/>
        </p:nvSpPr>
        <p:spPr>
          <a:xfrm>
            <a:off x="7479792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ritornello</a:t>
            </a:r>
            <a:endParaRPr lang="en-US" sz="900" dirty="0"/>
          </a:p>
        </p:txBody>
      </p:sp>
      <p:sp>
        <p:nvSpPr>
          <p:cNvPr id="34" name="cd_558"/>
          <p:cNvSpPr/>
          <p:nvPr/>
        </p:nvSpPr>
        <p:spPr>
          <a:xfrm>
            <a:off x="320040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e_559"/>
          <p:cNvSpPr/>
          <p:nvPr/>
        </p:nvSpPr>
        <p:spPr>
          <a:xfrm>
            <a:off x="393192" y="253288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36" name="en_560"/>
          <p:cNvSpPr/>
          <p:nvPr/>
        </p:nvSpPr>
        <p:spPr>
          <a:xfrm>
            <a:off x="978408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concert</a:t>
            </a:r>
            <a:endParaRPr lang="en-US" sz="1200" dirty="0"/>
          </a:p>
        </p:txBody>
      </p:sp>
      <p:sp>
        <p:nvSpPr>
          <p:cNvPr id="37" name="R9_def561"/>
          <p:cNvSpPr/>
          <p:nvPr/>
        </p:nvSpPr>
        <p:spPr>
          <a:xfrm>
            <a:off x="978408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music show</a:t>
            </a:r>
            <a:endParaRPr lang="en-US" sz="850" dirty="0"/>
          </a:p>
        </p:txBody>
      </p:sp>
      <p:sp>
        <p:nvSpPr>
          <p:cNvPr id="38" name="R10_it562"/>
          <p:cNvSpPr/>
          <p:nvPr/>
        </p:nvSpPr>
        <p:spPr>
          <a:xfrm>
            <a:off x="978408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concerto</a:t>
            </a:r>
            <a:endParaRPr lang="en-US" sz="900" dirty="0"/>
          </a:p>
        </p:txBody>
      </p:sp>
      <p:sp>
        <p:nvSpPr>
          <p:cNvPr id="39" name="cd_563"/>
          <p:cNvSpPr/>
          <p:nvPr/>
        </p:nvSpPr>
        <p:spPr>
          <a:xfrm>
            <a:off x="2487168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0" name="e_564"/>
          <p:cNvSpPr/>
          <p:nvPr/>
        </p:nvSpPr>
        <p:spPr>
          <a:xfrm>
            <a:off x="2560320" y="253288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🎻</a:t>
            </a:r>
            <a:endParaRPr lang="en-US" sz="2000" dirty="0"/>
          </a:p>
        </p:txBody>
      </p:sp>
      <p:sp>
        <p:nvSpPr>
          <p:cNvPr id="41" name="en_565"/>
          <p:cNvSpPr/>
          <p:nvPr/>
        </p:nvSpPr>
        <p:spPr>
          <a:xfrm>
            <a:off x="3145536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concerto</a:t>
            </a:r>
            <a:endParaRPr lang="en-US" sz="1200" dirty="0"/>
          </a:p>
        </p:txBody>
      </p:sp>
      <p:sp>
        <p:nvSpPr>
          <p:cNvPr id="42" name="R11_def566"/>
          <p:cNvSpPr/>
          <p:nvPr/>
        </p:nvSpPr>
        <p:spPr>
          <a:xfrm>
            <a:off x="3145536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soloist + orchestra</a:t>
            </a:r>
            <a:endParaRPr lang="en-US" sz="850" dirty="0"/>
          </a:p>
        </p:txBody>
      </p:sp>
      <p:sp>
        <p:nvSpPr>
          <p:cNvPr id="43" name="R12_it567"/>
          <p:cNvSpPr/>
          <p:nvPr/>
        </p:nvSpPr>
        <p:spPr>
          <a:xfrm>
            <a:off x="3145536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concerto (per solista)</a:t>
            </a:r>
            <a:endParaRPr lang="en-US" sz="900" dirty="0"/>
          </a:p>
        </p:txBody>
      </p:sp>
      <p:sp>
        <p:nvSpPr>
          <p:cNvPr id="44" name="cd_568"/>
          <p:cNvSpPr/>
          <p:nvPr/>
        </p:nvSpPr>
        <p:spPr>
          <a:xfrm>
            <a:off x="4654296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5" name="e_569"/>
          <p:cNvSpPr/>
          <p:nvPr/>
        </p:nvSpPr>
        <p:spPr>
          <a:xfrm>
            <a:off x="4727448" y="253288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46" name="en_570"/>
          <p:cNvSpPr/>
          <p:nvPr/>
        </p:nvSpPr>
        <p:spPr>
          <a:xfrm>
            <a:off x="5312664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soprano</a:t>
            </a:r>
            <a:endParaRPr lang="en-US" sz="1200" dirty="0"/>
          </a:p>
        </p:txBody>
      </p:sp>
      <p:sp>
        <p:nvSpPr>
          <p:cNvPr id="47" name="R13_def571"/>
          <p:cNvSpPr/>
          <p:nvPr/>
        </p:nvSpPr>
        <p:spPr>
          <a:xfrm>
            <a:off x="5312664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highest female voice</a:t>
            </a:r>
            <a:endParaRPr lang="en-US" sz="850" dirty="0"/>
          </a:p>
        </p:txBody>
      </p:sp>
      <p:sp>
        <p:nvSpPr>
          <p:cNvPr id="48" name="R14_it572"/>
          <p:cNvSpPr/>
          <p:nvPr/>
        </p:nvSpPr>
        <p:spPr>
          <a:xfrm>
            <a:off x="5312664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soprano</a:t>
            </a:r>
            <a:endParaRPr lang="en-US" sz="900" dirty="0"/>
          </a:p>
        </p:txBody>
      </p:sp>
      <p:sp>
        <p:nvSpPr>
          <p:cNvPr id="49" name="cd_573"/>
          <p:cNvSpPr/>
          <p:nvPr/>
        </p:nvSpPr>
        <p:spPr>
          <a:xfrm>
            <a:off x="6821424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0" name="e_574"/>
          <p:cNvSpPr/>
          <p:nvPr/>
        </p:nvSpPr>
        <p:spPr>
          <a:xfrm>
            <a:off x="6894576" y="253288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51" name="en_575"/>
          <p:cNvSpPr/>
          <p:nvPr/>
        </p:nvSpPr>
        <p:spPr>
          <a:xfrm>
            <a:off x="7479792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composer</a:t>
            </a:r>
            <a:endParaRPr lang="en-US" sz="1200" dirty="0"/>
          </a:p>
        </p:txBody>
      </p:sp>
      <p:sp>
        <p:nvSpPr>
          <p:cNvPr id="52" name="R15_def576"/>
          <p:cNvSpPr/>
          <p:nvPr/>
        </p:nvSpPr>
        <p:spPr>
          <a:xfrm>
            <a:off x="7479792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music (Beethoven)</a:t>
            </a:r>
            <a:endParaRPr lang="en-US" sz="850" dirty="0"/>
          </a:p>
        </p:txBody>
      </p:sp>
      <p:sp>
        <p:nvSpPr>
          <p:cNvPr id="53" name="R16_it577"/>
          <p:cNvSpPr/>
          <p:nvPr/>
        </p:nvSpPr>
        <p:spPr>
          <a:xfrm>
            <a:off x="7479792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compositore</a:t>
            </a:r>
            <a:endParaRPr lang="en-US" sz="900" dirty="0"/>
          </a:p>
        </p:txBody>
      </p:sp>
      <p:sp>
        <p:nvSpPr>
          <p:cNvPr id="54" name="cd_578"/>
          <p:cNvSpPr/>
          <p:nvPr/>
        </p:nvSpPr>
        <p:spPr>
          <a:xfrm>
            <a:off x="320040" y="342900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5" name="e_579"/>
          <p:cNvSpPr/>
          <p:nvPr/>
        </p:nvSpPr>
        <p:spPr>
          <a:xfrm>
            <a:off x="393192" y="353872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🎸</a:t>
            </a:r>
            <a:endParaRPr lang="en-US" sz="2000" dirty="0"/>
          </a:p>
        </p:txBody>
      </p:sp>
      <p:sp>
        <p:nvSpPr>
          <p:cNvPr id="56" name="en_580"/>
          <p:cNvSpPr/>
          <p:nvPr/>
        </p:nvSpPr>
        <p:spPr>
          <a:xfrm>
            <a:off x="978408" y="34838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band</a:t>
            </a:r>
            <a:endParaRPr lang="en-US" sz="1200" dirty="0"/>
          </a:p>
        </p:txBody>
      </p:sp>
      <p:sp>
        <p:nvSpPr>
          <p:cNvPr id="57" name="R17_def581"/>
          <p:cNvSpPr/>
          <p:nvPr/>
        </p:nvSpPr>
        <p:spPr>
          <a:xfrm>
            <a:off x="978408" y="379476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pop or rock group</a:t>
            </a:r>
            <a:endParaRPr lang="en-US" sz="850" dirty="0"/>
          </a:p>
        </p:txBody>
      </p:sp>
      <p:sp>
        <p:nvSpPr>
          <p:cNvPr id="58" name="R18_it582"/>
          <p:cNvSpPr/>
          <p:nvPr/>
        </p:nvSpPr>
        <p:spPr>
          <a:xfrm>
            <a:off x="978408" y="413308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gruppo / band</a:t>
            </a:r>
            <a:endParaRPr lang="en-US" sz="900" dirty="0"/>
          </a:p>
        </p:txBody>
      </p:sp>
      <p:sp>
        <p:nvSpPr>
          <p:cNvPr id="59" name="cd_583"/>
          <p:cNvSpPr/>
          <p:nvPr/>
        </p:nvSpPr>
        <p:spPr>
          <a:xfrm>
            <a:off x="2487168" y="342900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0" name="e_584"/>
          <p:cNvSpPr/>
          <p:nvPr/>
        </p:nvSpPr>
        <p:spPr>
          <a:xfrm>
            <a:off x="2560320" y="353872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61" name="en_585"/>
          <p:cNvSpPr/>
          <p:nvPr/>
        </p:nvSpPr>
        <p:spPr>
          <a:xfrm>
            <a:off x="3145536" y="34838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lyrics</a:t>
            </a:r>
            <a:endParaRPr lang="en-US" sz="1200" dirty="0"/>
          </a:p>
        </p:txBody>
      </p:sp>
      <p:sp>
        <p:nvSpPr>
          <p:cNvPr id="62" name="R19_def586"/>
          <p:cNvSpPr/>
          <p:nvPr/>
        </p:nvSpPr>
        <p:spPr>
          <a:xfrm>
            <a:off x="3145536" y="379476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words of a song</a:t>
            </a:r>
            <a:endParaRPr lang="en-US" sz="850" dirty="0"/>
          </a:p>
        </p:txBody>
      </p:sp>
      <p:sp>
        <p:nvSpPr>
          <p:cNvPr id="63" name="R20_it587"/>
          <p:cNvSpPr/>
          <p:nvPr/>
        </p:nvSpPr>
        <p:spPr>
          <a:xfrm>
            <a:off x="3145536" y="413308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 testo (di una canzone)</a:t>
            </a:r>
            <a:endParaRPr lang="en-US" sz="800" dirty="0"/>
          </a:p>
        </p:txBody>
      </p:sp>
      <p:sp>
        <p:nvSpPr>
          <p:cNvPr id="64" name="cd_588"/>
          <p:cNvSpPr/>
          <p:nvPr/>
        </p:nvSpPr>
        <p:spPr>
          <a:xfrm>
            <a:off x="4654296" y="342900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5" name="e_589"/>
          <p:cNvSpPr/>
          <p:nvPr/>
        </p:nvSpPr>
        <p:spPr>
          <a:xfrm>
            <a:off x="4727448" y="353872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🥁</a:t>
            </a:r>
            <a:endParaRPr lang="en-US" sz="2000" dirty="0"/>
          </a:p>
        </p:txBody>
      </p:sp>
      <p:sp>
        <p:nvSpPr>
          <p:cNvPr id="66" name="en_590"/>
          <p:cNvSpPr/>
          <p:nvPr/>
        </p:nvSpPr>
        <p:spPr>
          <a:xfrm>
            <a:off x="5312664" y="34838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drums</a:t>
            </a:r>
            <a:endParaRPr lang="en-US" sz="1200" dirty="0"/>
          </a:p>
        </p:txBody>
      </p:sp>
      <p:sp>
        <p:nvSpPr>
          <p:cNvPr id="67" name="R21_def591"/>
          <p:cNvSpPr/>
          <p:nvPr/>
        </p:nvSpPr>
        <p:spPr>
          <a:xfrm>
            <a:off x="5312664" y="379476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hit them with sticks</a:t>
            </a:r>
            <a:endParaRPr lang="en-US" sz="850" dirty="0"/>
          </a:p>
        </p:txBody>
      </p:sp>
      <p:sp>
        <p:nvSpPr>
          <p:cNvPr id="68" name="R22_it592"/>
          <p:cNvSpPr/>
          <p:nvPr/>
        </p:nvSpPr>
        <p:spPr>
          <a:xfrm>
            <a:off x="5312664" y="413308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batteria</a:t>
            </a:r>
            <a:endParaRPr lang="en-US" sz="900" dirty="0"/>
          </a:p>
        </p:txBody>
      </p:sp>
      <p:sp>
        <p:nvSpPr>
          <p:cNvPr id="69" name="cd_593"/>
          <p:cNvSpPr/>
          <p:nvPr/>
        </p:nvSpPr>
        <p:spPr>
          <a:xfrm>
            <a:off x="6821424" y="342900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70" name="e_594"/>
          <p:cNvSpPr/>
          <p:nvPr/>
        </p:nvSpPr>
        <p:spPr>
          <a:xfrm>
            <a:off x="6894576" y="353872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🎹</a:t>
            </a:r>
            <a:endParaRPr lang="en-US" sz="2000" dirty="0"/>
          </a:p>
        </p:txBody>
      </p:sp>
      <p:sp>
        <p:nvSpPr>
          <p:cNvPr id="71" name="en_595"/>
          <p:cNvSpPr/>
          <p:nvPr/>
        </p:nvSpPr>
        <p:spPr>
          <a:xfrm>
            <a:off x="7479792" y="34838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keyboard</a:t>
            </a:r>
            <a:endParaRPr lang="en-US" sz="1200" dirty="0"/>
          </a:p>
        </p:txBody>
      </p:sp>
      <p:sp>
        <p:nvSpPr>
          <p:cNvPr id="72" name="R23_def596"/>
          <p:cNvSpPr/>
          <p:nvPr/>
        </p:nvSpPr>
        <p:spPr>
          <a:xfrm>
            <a:off x="7479792" y="379476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electric piano</a:t>
            </a:r>
            <a:endParaRPr lang="en-US" sz="850" dirty="0"/>
          </a:p>
        </p:txBody>
      </p:sp>
      <p:sp>
        <p:nvSpPr>
          <p:cNvPr id="73" name="R24_it597"/>
          <p:cNvSpPr/>
          <p:nvPr/>
        </p:nvSpPr>
        <p:spPr>
          <a:xfrm>
            <a:off x="7479792" y="413308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tastiera</a:t>
            </a:r>
            <a:endParaRPr lang="en-US" sz="900" dirty="0"/>
          </a:p>
        </p:txBody>
      </p:sp>
      <p:sp>
        <p:nvSpPr>
          <p:cNvPr id="74" name="R25_wc598"/>
          <p:cNvSpPr/>
          <p:nvPr/>
        </p:nvSpPr>
        <p:spPr>
          <a:xfrm>
            <a:off x="320040" y="448056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75" name="R25_w599"/>
          <p:cNvSpPr/>
          <p:nvPr/>
        </p:nvSpPr>
        <p:spPr>
          <a:xfrm>
            <a:off x="45720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conductor ≠ conduttore (TV = presenter)  ·  concert = concerto (show)  ·  chorus = ritornello  ·  ORchestra, not orCHEStra  ·  ✗ battery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0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19</a:t>
            </a:r>
            <a:endParaRPr lang="en-US" sz="2200" dirty="0"/>
          </a:p>
        </p:txBody>
      </p:sp>
      <p:pic>
        <p:nvPicPr>
          <p:cNvPr id="4" name="brY_60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602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Borrowed words</a:t>
            </a:r>
            <a:endParaRPr lang="en-US" sz="2400" dirty="0"/>
          </a:p>
        </p:txBody>
      </p:sp>
      <p:pic>
        <p:nvPicPr>
          <p:cNvPr id="6" name="brP_60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604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rule. Click. Say the words aloud.</a:t>
            </a:r>
            <a:endParaRPr lang="en-US" sz="1250" dirty="0"/>
          </a:p>
        </p:txBody>
      </p:sp>
      <p:sp>
        <p:nvSpPr>
          <p:cNvPr id="8" name="insIT_60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la regola. Clicca. Di' le parole.</a:t>
            </a:r>
            <a:endParaRPr lang="en-US" sz="950" dirty="0"/>
          </a:p>
        </p:txBody>
      </p:sp>
      <p:sp>
        <p:nvSpPr>
          <p:cNvPr id="9" name="cmd_60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0" name="meta_607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950" dirty="0"/>
          </a:p>
        </p:txBody>
      </p:sp>
      <p:sp>
        <p:nvSpPr>
          <p:cNvPr id="11" name="tag_608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Pronunciation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60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1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Pronunciation · words from other languages   ·   📖 SB p.61 · 3c, 3d · audio 6.18 (+ 6.19 for 3e/f)</a:t>
            </a:r>
            <a:endParaRPr lang="en-US" sz="800" dirty="0"/>
          </a:p>
        </p:txBody>
      </p:sp>
      <p:sp>
        <p:nvSpPr>
          <p:cNvPr id="14" name="ap_611"/>
          <p:cNvSpPr/>
          <p:nvPr/>
        </p:nvSpPr>
        <p:spPr>
          <a:xfrm>
            <a:off x="6583680" y="914400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6.18 + 6.19</a:t>
            </a:r>
            <a:endParaRPr lang="en-US" sz="1100" dirty="0"/>
          </a:p>
        </p:txBody>
      </p:sp>
      <p:sp>
        <p:nvSpPr>
          <p:cNvPr id="15" name="ah_612"/>
          <p:cNvSpPr/>
          <p:nvPr/>
        </p:nvSpPr>
        <p:spPr>
          <a:xfrm>
            <a:off x="4974336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6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574536" y="4553712"/>
            <a:ext cx="411480" cy="411480"/>
          </a:xfrm>
          <a:prstGeom prst="rect">
            <a:avLst/>
          </a:prstGeom>
        </p:spPr>
      </p:pic>
      <p:pic>
        <p:nvPicPr>
          <p:cNvPr id="17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050024" y="4553712"/>
            <a:ext cx="411480" cy="411480"/>
          </a:xfrm>
          <a:prstGeom prst="rect">
            <a:avLst/>
          </a:prstGeom>
        </p:spPr>
      </p:pic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9" name="Media 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20" name="cd_613"/>
          <p:cNvSpPr/>
          <p:nvPr/>
        </p:nvSpPr>
        <p:spPr>
          <a:xfrm>
            <a:off x="3200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614"/>
          <p:cNvSpPr/>
          <p:nvPr/>
        </p:nvSpPr>
        <p:spPr>
          <a:xfrm>
            <a:off x="4297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Italian c + e / i</a:t>
            </a:r>
            <a:endParaRPr lang="en-US" sz="1250" dirty="0"/>
          </a:p>
        </p:txBody>
      </p:sp>
      <p:sp>
        <p:nvSpPr>
          <p:cNvPr id="22" name="pf_615"/>
          <p:cNvSpPr/>
          <p:nvPr/>
        </p:nvSpPr>
        <p:spPr>
          <a:xfrm>
            <a:off x="4297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3" name="ph_616" descr="/home/claude/lls-course/v2/cache/b2_6b_cello_drum_jpg_415x209_31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488" y="1984248"/>
            <a:ext cx="1723644" cy="868680"/>
          </a:xfrm>
          <a:prstGeom prst="rect">
            <a:avLst/>
          </a:prstGeom>
        </p:spPr>
      </p:pic>
      <p:sp>
        <p:nvSpPr>
          <p:cNvPr id="24" name="ru_617"/>
          <p:cNvSpPr/>
          <p:nvPr/>
        </p:nvSpPr>
        <p:spPr>
          <a:xfrm>
            <a:off x="4114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 = /tʃ/</a:t>
            </a:r>
            <a:endParaRPr lang="en-US" sz="1050" dirty="0"/>
          </a:p>
        </p:txBody>
      </p:sp>
      <p:sp>
        <p:nvSpPr>
          <p:cNvPr id="25" name="R1_rx618"/>
          <p:cNvSpPr/>
          <p:nvPr/>
        </p:nvSpPr>
        <p:spPr>
          <a:xfrm>
            <a:off x="4114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erto /kənˈtʃɜːtəʊ/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ello ·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iao</a:t>
            </a:r>
            <a:endParaRPr lang="en-US" sz="1050" dirty="0"/>
          </a:p>
        </p:txBody>
      </p:sp>
      <p:sp>
        <p:nvSpPr>
          <p:cNvPr id="26" name="R1_ri619"/>
          <p:cNvSpPr/>
          <p:nvPr/>
        </p:nvSpPr>
        <p:spPr>
          <a:xfrm>
            <a:off x="4114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 in italiano!</a:t>
            </a:r>
            <a:endParaRPr lang="en-US" sz="900" dirty="0"/>
          </a:p>
        </p:txBody>
      </p:sp>
      <p:sp>
        <p:nvSpPr>
          <p:cNvPr id="27" name="cd_620"/>
          <p:cNvSpPr/>
          <p:nvPr/>
        </p:nvSpPr>
        <p:spPr>
          <a:xfrm>
            <a:off x="24917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8" name="rh_621"/>
          <p:cNvSpPr/>
          <p:nvPr/>
        </p:nvSpPr>
        <p:spPr>
          <a:xfrm>
            <a:off x="26014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Italian zz</a:t>
            </a:r>
            <a:endParaRPr lang="en-US" sz="1250" dirty="0"/>
          </a:p>
        </p:txBody>
      </p:sp>
      <p:sp>
        <p:nvSpPr>
          <p:cNvPr id="29" name="pf_622"/>
          <p:cNvSpPr/>
          <p:nvPr/>
        </p:nvSpPr>
        <p:spPr>
          <a:xfrm>
            <a:off x="26014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0" name="ph_623" descr="/home/claude/lls-course/v2/cache/b2_6b_conductor_jpg_415x209_31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47188" y="1984248"/>
            <a:ext cx="1723644" cy="868680"/>
          </a:xfrm>
          <a:prstGeom prst="rect">
            <a:avLst/>
          </a:prstGeom>
        </p:spPr>
      </p:pic>
      <p:sp>
        <p:nvSpPr>
          <p:cNvPr id="31" name="ru_624"/>
          <p:cNvSpPr/>
          <p:nvPr/>
        </p:nvSpPr>
        <p:spPr>
          <a:xfrm>
            <a:off x="25831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zz = /ts/</a:t>
            </a:r>
            <a:endParaRPr lang="en-US" sz="1050" dirty="0"/>
          </a:p>
        </p:txBody>
      </p:sp>
      <p:sp>
        <p:nvSpPr>
          <p:cNvPr id="32" name="R2_rx625"/>
          <p:cNvSpPr/>
          <p:nvPr/>
        </p:nvSpPr>
        <p:spPr>
          <a:xfrm>
            <a:off x="25831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zz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o-soprano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/ˌmetsəʊ səˈprɑːnəʊ/</a:t>
            </a:r>
            <a:endParaRPr lang="en-US" sz="1050" dirty="0"/>
          </a:p>
        </p:txBody>
      </p:sp>
      <p:sp>
        <p:nvSpPr>
          <p:cNvPr id="33" name="R2_ri626"/>
          <p:cNvSpPr/>
          <p:nvPr/>
        </p:nvSpPr>
        <p:spPr>
          <a:xfrm>
            <a:off x="25831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 in pizza</a:t>
            </a:r>
            <a:endParaRPr lang="en-US" sz="900" dirty="0"/>
          </a:p>
        </p:txBody>
      </p:sp>
      <p:sp>
        <p:nvSpPr>
          <p:cNvPr id="34" name="cd_627"/>
          <p:cNvSpPr/>
          <p:nvPr/>
        </p:nvSpPr>
        <p:spPr>
          <a:xfrm>
            <a:off x="46634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rh_628"/>
          <p:cNvSpPr/>
          <p:nvPr/>
        </p:nvSpPr>
        <p:spPr>
          <a:xfrm>
            <a:off x="47731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Greek ch · rh · ph</a:t>
            </a:r>
            <a:endParaRPr lang="en-US" sz="1250" dirty="0"/>
          </a:p>
        </p:txBody>
      </p:sp>
      <p:sp>
        <p:nvSpPr>
          <p:cNvPr id="36" name="pf_629"/>
          <p:cNvSpPr/>
          <p:nvPr/>
        </p:nvSpPr>
        <p:spPr>
          <a:xfrm>
            <a:off x="47731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7" name="ph_630" descr="/home/claude/lls-course/v2/cache/b2_6b_family_jpg_415x209_31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18888" y="1984248"/>
            <a:ext cx="1723644" cy="868680"/>
          </a:xfrm>
          <a:prstGeom prst="rect">
            <a:avLst/>
          </a:prstGeom>
        </p:spPr>
      </p:pic>
      <p:sp>
        <p:nvSpPr>
          <p:cNvPr id="38" name="ru_631"/>
          <p:cNvSpPr/>
          <p:nvPr/>
        </p:nvSpPr>
        <p:spPr>
          <a:xfrm>
            <a:off x="47548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 = /k/ · rh = /r/ · ph = /f/</a:t>
            </a:r>
            <a:endParaRPr lang="en-US" sz="1050" dirty="0"/>
          </a:p>
        </p:txBody>
      </p:sp>
      <p:sp>
        <p:nvSpPr>
          <p:cNvPr id="39" name="R3_rx632"/>
          <p:cNvSpPr/>
          <p:nvPr/>
        </p:nvSpPr>
        <p:spPr>
          <a:xfrm>
            <a:off x="47548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orus · or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rh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ythm /ˈrɪðəm/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sym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ony /ˈsɪmfəni/</a:t>
            </a:r>
            <a:endParaRPr lang="en-US" sz="1050" dirty="0"/>
          </a:p>
        </p:txBody>
      </p:sp>
      <p:sp>
        <p:nvSpPr>
          <p:cNvPr id="40" name="R3_ri633"/>
          <p:cNvSpPr/>
          <p:nvPr/>
        </p:nvSpPr>
        <p:spPr>
          <a:xfrm>
            <a:off x="47548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 NON è /tʃ/!</a:t>
            </a:r>
            <a:endParaRPr lang="en-US" sz="900" dirty="0"/>
          </a:p>
        </p:txBody>
      </p:sp>
      <p:sp>
        <p:nvSpPr>
          <p:cNvPr id="41" name="cd_634"/>
          <p:cNvSpPr/>
          <p:nvPr/>
        </p:nvSpPr>
        <p:spPr>
          <a:xfrm>
            <a:off x="68351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2" name="rh_635"/>
          <p:cNvSpPr/>
          <p:nvPr/>
        </p:nvSpPr>
        <p:spPr>
          <a:xfrm>
            <a:off x="69448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French</a:t>
            </a:r>
            <a:endParaRPr lang="en-US" sz="1250" dirty="0"/>
          </a:p>
        </p:txBody>
      </p:sp>
      <p:sp>
        <p:nvSpPr>
          <p:cNvPr id="43" name="pf_636"/>
          <p:cNvSpPr/>
          <p:nvPr/>
        </p:nvSpPr>
        <p:spPr>
          <a:xfrm>
            <a:off x="69448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44" name="ph_637" descr="/home/claude/lls-course/v2/cache/b2_6b_pianist_jpg_415x209_3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90588" y="1984248"/>
            <a:ext cx="1723644" cy="868680"/>
          </a:xfrm>
          <a:prstGeom prst="rect">
            <a:avLst/>
          </a:prstGeom>
        </p:spPr>
      </p:pic>
      <p:sp>
        <p:nvSpPr>
          <p:cNvPr id="45" name="ru_638"/>
          <p:cNvSpPr/>
          <p:nvPr/>
        </p:nvSpPr>
        <p:spPr>
          <a:xfrm>
            <a:off x="69265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French sounds</a:t>
            </a:r>
            <a:endParaRPr lang="en-US" sz="1050" dirty="0"/>
          </a:p>
        </p:txBody>
      </p:sp>
      <p:sp>
        <p:nvSpPr>
          <p:cNvPr id="46" name="R4_rx639"/>
          <p:cNvSpPr/>
          <p:nvPr/>
        </p:nvSpPr>
        <p:spPr>
          <a:xfrm>
            <a:off x="69265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ball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/ˈbæleɪ/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/ˈɒŋkɔː/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enre /ˈʒɒnrə/</a:t>
            </a:r>
            <a:endParaRPr lang="en-US" sz="1050" dirty="0"/>
          </a:p>
        </p:txBody>
      </p:sp>
      <p:sp>
        <p:nvSpPr>
          <p:cNvPr id="47" name="R4_ri640"/>
          <p:cNvSpPr/>
          <p:nvPr/>
        </p:nvSpPr>
        <p:spPr>
          <a:xfrm>
            <a:off x="69265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finale muta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4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9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4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4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20</a:t>
            </a:r>
            <a:endParaRPr lang="en-US" sz="2200" dirty="0"/>
          </a:p>
        </p:txBody>
      </p:sp>
      <p:pic>
        <p:nvPicPr>
          <p:cNvPr id="4" name="brY_64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643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64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645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646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64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648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649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Reflection</a:t>
            </a:r>
            <a:endParaRPr lang="en-US" sz="850" dirty="0"/>
          </a:p>
        </p:txBody>
      </p:sp>
      <p:pic>
        <p:nvPicPr>
          <p:cNvPr id="12" name="logo_65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5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Review · what did you do today?</a:t>
            </a:r>
            <a:endParaRPr lang="en-US" sz="800" dirty="0"/>
          </a:p>
        </p:txBody>
      </p:sp>
      <p:sp>
        <p:nvSpPr>
          <p:cNvPr id="14" name="cd_652"/>
          <p:cNvSpPr/>
          <p:nvPr/>
        </p:nvSpPr>
        <p:spPr>
          <a:xfrm>
            <a:off x="548640" y="1417320"/>
            <a:ext cx="603504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653"/>
          <p:cNvSpPr/>
          <p:nvPr/>
        </p:nvSpPr>
        <p:spPr>
          <a:xfrm>
            <a:off x="640080" y="14538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16" name="tt_654"/>
          <p:cNvSpPr/>
          <p:nvPr/>
        </p:nvSpPr>
        <p:spPr>
          <a:xfrm>
            <a:off x="1188720" y="14173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talk: why do we listen to music?</a:t>
            </a:r>
            <a:endParaRPr lang="en-US" sz="1350" dirty="0"/>
          </a:p>
        </p:txBody>
      </p:sp>
      <p:sp>
        <p:nvSpPr>
          <p:cNvPr id="17" name="R1_tk655"/>
          <p:cNvSpPr/>
          <p:nvPr/>
        </p:nvSpPr>
        <p:spPr>
          <a:xfrm>
            <a:off x="5989320" y="145389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656"/>
          <p:cNvSpPr/>
          <p:nvPr/>
        </p:nvSpPr>
        <p:spPr>
          <a:xfrm>
            <a:off x="548640" y="1965960"/>
            <a:ext cx="603504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657"/>
          <p:cNvSpPr/>
          <p:nvPr/>
        </p:nvSpPr>
        <p:spPr>
          <a:xfrm>
            <a:off x="640080" y="20025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0" name="tt_658"/>
          <p:cNvSpPr/>
          <p:nvPr/>
        </p:nvSpPr>
        <p:spPr>
          <a:xfrm>
            <a:off x="1188720" y="19659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-ing or to? remember, try, stop</a:t>
            </a:r>
            <a:endParaRPr lang="en-US" sz="1350" dirty="0"/>
          </a:p>
        </p:txBody>
      </p:sp>
      <p:sp>
        <p:nvSpPr>
          <p:cNvPr id="21" name="R2_tk659"/>
          <p:cNvSpPr/>
          <p:nvPr/>
        </p:nvSpPr>
        <p:spPr>
          <a:xfrm>
            <a:off x="5989320" y="200253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660"/>
          <p:cNvSpPr/>
          <p:nvPr/>
        </p:nvSpPr>
        <p:spPr>
          <a:xfrm>
            <a:off x="548640" y="2514600"/>
            <a:ext cx="603504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661"/>
          <p:cNvSpPr/>
          <p:nvPr/>
        </p:nvSpPr>
        <p:spPr>
          <a:xfrm>
            <a:off x="640080" y="25511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🎻</a:t>
            </a:r>
            <a:endParaRPr lang="en-US" sz="1800" dirty="0"/>
          </a:p>
        </p:txBody>
      </p:sp>
      <p:sp>
        <p:nvSpPr>
          <p:cNvPr id="24" name="tt_662"/>
          <p:cNvSpPr/>
          <p:nvPr/>
        </p:nvSpPr>
        <p:spPr>
          <a:xfrm>
            <a:off x="1188720" y="25146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music words – and Italian traps!</a:t>
            </a:r>
            <a:endParaRPr lang="en-US" sz="1350" dirty="0"/>
          </a:p>
        </p:txBody>
      </p:sp>
      <p:sp>
        <p:nvSpPr>
          <p:cNvPr id="25" name="R3_tk663"/>
          <p:cNvSpPr/>
          <p:nvPr/>
        </p:nvSpPr>
        <p:spPr>
          <a:xfrm>
            <a:off x="5989320" y="25511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cd_664"/>
          <p:cNvSpPr/>
          <p:nvPr/>
        </p:nvSpPr>
        <p:spPr>
          <a:xfrm>
            <a:off x="548640" y="3063240"/>
            <a:ext cx="603504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te_665"/>
          <p:cNvSpPr/>
          <p:nvPr/>
        </p:nvSpPr>
        <p:spPr>
          <a:xfrm>
            <a:off x="640080" y="30998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8" name="tt_666"/>
          <p:cNvSpPr/>
          <p:nvPr/>
        </p:nvSpPr>
        <p:spPr>
          <a:xfrm>
            <a:off x="1188720" y="30632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cello, concerto the English way</a:t>
            </a:r>
            <a:endParaRPr lang="en-US" sz="1350" dirty="0"/>
          </a:p>
        </p:txBody>
      </p:sp>
      <p:sp>
        <p:nvSpPr>
          <p:cNvPr id="29" name="R4_tk667"/>
          <p:cNvSpPr/>
          <p:nvPr/>
        </p:nvSpPr>
        <p:spPr>
          <a:xfrm>
            <a:off x="5989320" y="309981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cd_668"/>
          <p:cNvSpPr/>
          <p:nvPr/>
        </p:nvSpPr>
        <p:spPr>
          <a:xfrm>
            <a:off x="548640" y="3611880"/>
            <a:ext cx="603504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te_669"/>
          <p:cNvSpPr/>
          <p:nvPr/>
        </p:nvSpPr>
        <p:spPr>
          <a:xfrm>
            <a:off x="640080" y="3648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32" name="tt_670"/>
          <p:cNvSpPr/>
          <p:nvPr/>
        </p:nvSpPr>
        <p:spPr>
          <a:xfrm>
            <a:off x="1188720" y="36118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33" name="R5_tk671"/>
          <p:cNvSpPr/>
          <p:nvPr/>
        </p:nvSpPr>
        <p:spPr>
          <a:xfrm>
            <a:off x="5989320" y="364845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cd_672"/>
          <p:cNvSpPr/>
          <p:nvPr/>
        </p:nvSpPr>
        <p:spPr>
          <a:xfrm>
            <a:off x="548640" y="4160520"/>
            <a:ext cx="603504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te_673"/>
          <p:cNvSpPr/>
          <p:nvPr/>
        </p:nvSpPr>
        <p:spPr>
          <a:xfrm>
            <a:off x="640080" y="41970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6" name="tt_674"/>
          <p:cNvSpPr/>
          <p:nvPr/>
        </p:nvSpPr>
        <p:spPr>
          <a:xfrm>
            <a:off x="1188720" y="41605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Told a partner your music memories</a:t>
            </a:r>
            <a:endParaRPr lang="en-US" sz="1350" dirty="0"/>
          </a:p>
        </p:txBody>
      </p:sp>
      <p:sp>
        <p:nvSpPr>
          <p:cNvPr id="37" name="R6_tk675"/>
          <p:cNvSpPr/>
          <p:nvPr/>
        </p:nvSpPr>
        <p:spPr>
          <a:xfrm>
            <a:off x="5989320" y="419709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8" name="st_676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7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21</a:t>
            </a:r>
            <a:endParaRPr lang="en-US" sz="2200" dirty="0"/>
          </a:p>
        </p:txBody>
      </p:sp>
      <p:pic>
        <p:nvPicPr>
          <p:cNvPr id="4" name="brY_67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679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68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68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68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meta_683"/>
          <p:cNvSpPr/>
          <p:nvPr/>
        </p:nvSpPr>
        <p:spPr>
          <a:xfrm>
            <a:off x="6583680" y="182880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0" name="tag_684"/>
          <p:cNvSpPr/>
          <p:nvPr/>
        </p:nvSpPr>
        <p:spPr>
          <a:xfrm>
            <a:off x="6510528" y="420624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1" name="logo_68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68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Exit · what can you remember?</a:t>
            </a:r>
            <a:endParaRPr lang="en-US" sz="800" dirty="0"/>
          </a:p>
        </p:txBody>
      </p:sp>
      <p:sp>
        <p:nvSpPr>
          <p:cNvPr id="13" name="bd_687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688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verbs + -ing or to (e.g. enjoy…)</a:t>
            </a:r>
            <a:endParaRPr lang="en-US" sz="1400" dirty="0"/>
          </a:p>
        </p:txBody>
      </p:sp>
      <p:sp>
        <p:nvSpPr>
          <p:cNvPr id="15" name="bd_689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690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music words Italians get wrong</a:t>
            </a:r>
            <a:endParaRPr lang="en-US" sz="1400" dirty="0"/>
          </a:p>
        </p:txBody>
      </p:sp>
      <p:sp>
        <p:nvSpPr>
          <p:cNvPr id="17" name="bd_691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692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 sentence: I'll never forget …-ing</a:t>
            </a:r>
            <a:endParaRPr lang="en-US" sz="1400" dirty="0"/>
          </a:p>
        </p:txBody>
      </p:sp>
      <p:sp>
        <p:nvSpPr>
          <p:cNvPr id="19" name="cd_693"/>
          <p:cNvSpPr/>
          <p:nvPr/>
        </p:nvSpPr>
        <p:spPr>
          <a:xfrm>
            <a:off x="5669280" y="14173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694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695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696"/>
          <p:cNvSpPr/>
          <p:nvPr/>
        </p:nvSpPr>
        <p:spPr>
          <a:xfrm>
            <a:off x="6236208" y="1892808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6B: 1a, 1b, 1c, 1d (gerunds and infinitives)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6B: 2a, 2b, 2c, 2e (music · borrowed words)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6B: 2d, 2f, 2g, 2h with the Workbook audio</a:t>
            </a:r>
            <a:endParaRPr lang="en-US" sz="1150" dirty="0"/>
          </a:p>
        </p:txBody>
      </p:sp>
      <p:sp>
        <p:nvSpPr>
          <p:cNvPr id="23" name="st_697"/>
          <p:cNvSpPr/>
          <p:nvPr/>
        </p:nvSpPr>
        <p:spPr>
          <a:xfrm rot="-180000">
            <a:off x="5806440" y="3931920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6B part 2 · Music while you work · reading + speaking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9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22</a:t>
            </a:r>
            <a:endParaRPr lang="en-US" sz="2200" dirty="0"/>
          </a:p>
        </p:txBody>
      </p:sp>
      <p:pic>
        <p:nvPicPr>
          <p:cNvPr id="4" name="brY_69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700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Where's it from?</a:t>
            </a:r>
            <a:endParaRPr lang="en-US" sz="2500" dirty="0"/>
          </a:p>
        </p:txBody>
      </p:sp>
      <p:pic>
        <p:nvPicPr>
          <p:cNvPr id="6" name="brP_70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702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Italian, Greek or French? Then listen.</a:t>
            </a:r>
            <a:endParaRPr lang="en-US" sz="1250" dirty="0"/>
          </a:p>
        </p:txBody>
      </p:sp>
      <p:sp>
        <p:nvSpPr>
          <p:cNvPr id="8" name="insIT_70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Italiano, greco o francese? Poi ascolta.</a:t>
            </a:r>
            <a:endParaRPr lang="en-US" sz="950" dirty="0"/>
          </a:p>
        </p:txBody>
      </p:sp>
      <p:sp>
        <p:nvSpPr>
          <p:cNvPr id="9" name="cmd_70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🤔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INDOVINA</a:t>
            </a:r>
            <a:endParaRPr lang="en-US" sz="1100" dirty="0"/>
          </a:p>
        </p:txBody>
      </p:sp>
      <p:sp>
        <p:nvSpPr>
          <p:cNvPr id="10" name="cmd_705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1" name="meta_706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707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Pronunciation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3" name="logo_70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70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Pronunciation · borrowed words   ·   📖 SB p.61 · 3e, 3f · audio 6.19 is on slide 19</a:t>
            </a:r>
            <a:endParaRPr lang="en-US" sz="800" dirty="0"/>
          </a:p>
        </p:txBody>
      </p:sp>
      <p:sp>
        <p:nvSpPr>
          <p:cNvPr id="15" name="st_710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6" name="cd_711"/>
          <p:cNvSpPr/>
          <p:nvPr/>
        </p:nvSpPr>
        <p:spPr>
          <a:xfrm>
            <a:off x="320040" y="1417320"/>
            <a:ext cx="2697480" cy="1911096"/>
          </a:xfrm>
          <a:prstGeom prst="roundRect">
            <a:avLst>
              <a:gd name="adj" fmla="val 6699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71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8" name="ih_71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 does it come from?</a:t>
            </a:r>
            <a:endParaRPr lang="en-US" sz="1150" dirty="0"/>
          </a:p>
        </p:txBody>
      </p:sp>
      <p:sp>
        <p:nvSpPr>
          <p:cNvPr id="19" name="il_714"/>
          <p:cNvSpPr/>
          <p:nvPr/>
        </p:nvSpPr>
        <p:spPr>
          <a:xfrm>
            <a:off x="886968" y="1892808"/>
            <a:ext cx="20391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0" name="lg_715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 Italian</a:t>
            </a:r>
            <a:endParaRPr lang="en-US" sz="1050" dirty="0"/>
          </a:p>
        </p:txBody>
      </p:sp>
      <p:sp>
        <p:nvSpPr>
          <p:cNvPr id="21" name="lg_716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  Greek</a:t>
            </a:r>
            <a:endParaRPr lang="en-US" sz="1050" dirty="0"/>
          </a:p>
        </p:txBody>
      </p:sp>
      <p:sp>
        <p:nvSpPr>
          <p:cNvPr id="22" name="lg_717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  French</a:t>
            </a:r>
            <a:endParaRPr lang="en-US" sz="1050" dirty="0"/>
          </a:p>
        </p:txBody>
      </p:sp>
      <p:sp>
        <p:nvSpPr>
          <p:cNvPr id="23" name="sq_718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barista</a:t>
            </a:r>
            <a:endParaRPr lang="en-US" sz="1200" dirty="0"/>
          </a:p>
        </p:txBody>
      </p:sp>
      <p:sp>
        <p:nvSpPr>
          <p:cNvPr id="24" name="R1_tag719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 Italian</a:t>
            </a:r>
            <a:endParaRPr lang="en-US" sz="1150" dirty="0"/>
          </a:p>
        </p:txBody>
      </p:sp>
      <p:sp>
        <p:nvSpPr>
          <p:cNvPr id="25" name="sq_720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chauffeur</a:t>
            </a:r>
            <a:endParaRPr lang="en-US" sz="1200" dirty="0"/>
          </a:p>
        </p:txBody>
      </p:sp>
      <p:sp>
        <p:nvSpPr>
          <p:cNvPr id="26" name="R2_tag721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  French</a:t>
            </a:r>
            <a:endParaRPr lang="en-US" sz="1150" dirty="0"/>
          </a:p>
        </p:txBody>
      </p:sp>
      <p:sp>
        <p:nvSpPr>
          <p:cNvPr id="27" name="sq_722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psychologist</a:t>
            </a:r>
            <a:endParaRPr lang="en-US" sz="1200" dirty="0"/>
          </a:p>
        </p:txBody>
      </p:sp>
      <p:sp>
        <p:nvSpPr>
          <p:cNvPr id="28" name="R3_tag723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  Greek</a:t>
            </a:r>
            <a:endParaRPr lang="en-US" sz="1150" dirty="0"/>
          </a:p>
        </p:txBody>
      </p:sp>
      <p:sp>
        <p:nvSpPr>
          <p:cNvPr id="29" name="sq_724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paparazzi</a:t>
            </a:r>
            <a:endParaRPr lang="en-US" sz="1200" dirty="0"/>
          </a:p>
        </p:txBody>
      </p:sp>
      <p:sp>
        <p:nvSpPr>
          <p:cNvPr id="30" name="R4_tag725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 Italian</a:t>
            </a:r>
            <a:endParaRPr lang="en-US" sz="1150" dirty="0"/>
          </a:p>
        </p:txBody>
      </p:sp>
      <p:sp>
        <p:nvSpPr>
          <p:cNvPr id="31" name="sq_726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croissant</a:t>
            </a:r>
            <a:endParaRPr lang="en-US" sz="1200" dirty="0"/>
          </a:p>
        </p:txBody>
      </p:sp>
      <p:sp>
        <p:nvSpPr>
          <p:cNvPr id="32" name="R5_tag727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  French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2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23</a:t>
            </a:r>
            <a:endParaRPr lang="en-US" sz="2200" dirty="0"/>
          </a:p>
        </p:txBody>
      </p:sp>
      <p:pic>
        <p:nvPicPr>
          <p:cNvPr id="4" name="brY_72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730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Describe it – music!</a:t>
            </a:r>
            <a:endParaRPr lang="en-US" sz="2500" dirty="0"/>
          </a:p>
        </p:txBody>
      </p:sp>
      <p:pic>
        <p:nvPicPr>
          <p:cNvPr id="6" name="brP_73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732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explains the word. B guesses. Then swap.</a:t>
            </a:r>
            <a:endParaRPr lang="en-US" sz="1250" dirty="0"/>
          </a:p>
        </p:txBody>
      </p:sp>
      <p:sp>
        <p:nvSpPr>
          <p:cNvPr id="8" name="insIT_73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spiega la parola. B indovina. Poi scambiatevi.</a:t>
            </a:r>
            <a:endParaRPr lang="en-US" sz="950" dirty="0"/>
          </a:p>
        </p:txBody>
      </p:sp>
      <p:sp>
        <p:nvSpPr>
          <p:cNvPr id="9" name="cmd_73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735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736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73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73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Game · music words</a:t>
            </a:r>
            <a:endParaRPr lang="en-US" sz="800" dirty="0"/>
          </a:p>
        </p:txBody>
      </p:sp>
      <p:sp>
        <p:nvSpPr>
          <p:cNvPr id="14" name="st_739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5" name="cd_740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74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74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743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looks at the screen. B looks away.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guarda lo schermo. B si gira.</a:t>
            </a:r>
            <a:endParaRPr lang="en-US" sz="9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explains in English. Don't say the word!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spiega in inglese. Non dire la parola!</a:t>
            </a:r>
            <a:endParaRPr lang="en-US" sz="9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'He leads the orchestra with a stick.' → a conductor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Pronuncia all'inglese!</a:t>
            </a:r>
            <a:endParaRPr lang="en-US" sz="950" dirty="0"/>
          </a:p>
        </p:txBody>
      </p:sp>
      <p:sp>
        <p:nvSpPr>
          <p:cNvPr id="19" name="st_744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20" name="rl_745"/>
          <p:cNvSpPr/>
          <p:nvPr/>
        </p:nvSpPr>
        <p:spPr>
          <a:xfrm>
            <a:off x="324612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explains</a:t>
            </a:r>
            <a:endParaRPr lang="en-US" sz="1100" dirty="0"/>
          </a:p>
        </p:txBody>
      </p:sp>
      <p:sp>
        <p:nvSpPr>
          <p:cNvPr id="21" name="R1_w746"/>
          <p:cNvSpPr/>
          <p:nvPr/>
        </p:nvSpPr>
        <p:spPr>
          <a:xfrm>
            <a:off x="324612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choir</a:t>
            </a:r>
            <a:endParaRPr lang="en-US" sz="1700" dirty="0"/>
          </a:p>
        </p:txBody>
      </p:sp>
      <p:sp>
        <p:nvSpPr>
          <p:cNvPr id="22" name="R3_w747"/>
          <p:cNvSpPr/>
          <p:nvPr/>
        </p:nvSpPr>
        <p:spPr>
          <a:xfrm>
            <a:off x="324612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drums</a:t>
            </a:r>
            <a:endParaRPr lang="en-US" sz="1700" dirty="0"/>
          </a:p>
        </p:txBody>
      </p:sp>
      <p:sp>
        <p:nvSpPr>
          <p:cNvPr id="23" name="R5_w748"/>
          <p:cNvSpPr/>
          <p:nvPr/>
        </p:nvSpPr>
        <p:spPr>
          <a:xfrm>
            <a:off x="324612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concerto</a:t>
            </a:r>
            <a:endParaRPr lang="en-US" sz="1700" dirty="0"/>
          </a:p>
        </p:txBody>
      </p:sp>
      <p:sp>
        <p:nvSpPr>
          <p:cNvPr id="24" name="R7_w749"/>
          <p:cNvSpPr/>
          <p:nvPr/>
        </p:nvSpPr>
        <p:spPr>
          <a:xfrm>
            <a:off x="324612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lyrics</a:t>
            </a:r>
            <a:endParaRPr lang="en-US" sz="1700" dirty="0"/>
          </a:p>
        </p:txBody>
      </p:sp>
      <p:sp>
        <p:nvSpPr>
          <p:cNvPr id="25" name="rl_750"/>
          <p:cNvSpPr/>
          <p:nvPr/>
        </p:nvSpPr>
        <p:spPr>
          <a:xfrm>
            <a:off x="608076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 explains</a:t>
            </a:r>
            <a:endParaRPr lang="en-US" sz="1100" dirty="0"/>
          </a:p>
        </p:txBody>
      </p:sp>
      <p:sp>
        <p:nvSpPr>
          <p:cNvPr id="26" name="R2_w751"/>
          <p:cNvSpPr/>
          <p:nvPr/>
        </p:nvSpPr>
        <p:spPr>
          <a:xfrm>
            <a:off x="608076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 orchestra</a:t>
            </a:r>
            <a:endParaRPr lang="en-US" sz="1700" dirty="0"/>
          </a:p>
        </p:txBody>
      </p:sp>
      <p:sp>
        <p:nvSpPr>
          <p:cNvPr id="27" name="R4_w752"/>
          <p:cNvSpPr/>
          <p:nvPr/>
        </p:nvSpPr>
        <p:spPr>
          <a:xfrm>
            <a:off x="608076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chorus</a:t>
            </a:r>
            <a:endParaRPr lang="en-US" sz="1700" dirty="0"/>
          </a:p>
        </p:txBody>
      </p:sp>
      <p:sp>
        <p:nvSpPr>
          <p:cNvPr id="28" name="R6_w753"/>
          <p:cNvSpPr/>
          <p:nvPr/>
        </p:nvSpPr>
        <p:spPr>
          <a:xfrm>
            <a:off x="608076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keyboard</a:t>
            </a:r>
            <a:endParaRPr lang="en-US" sz="1700" dirty="0"/>
          </a:p>
        </p:txBody>
      </p:sp>
      <p:sp>
        <p:nvSpPr>
          <p:cNvPr id="29" name="R8_w754"/>
          <p:cNvSpPr/>
          <p:nvPr/>
        </p:nvSpPr>
        <p:spPr>
          <a:xfrm>
            <a:off x="608076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soprano</a:t>
            </a:r>
            <a:endParaRPr lang="en-US" sz="1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5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24</a:t>
            </a:r>
            <a:endParaRPr lang="en-US" sz="2200" dirty="0"/>
          </a:p>
        </p:txBody>
      </p:sp>
      <p:pic>
        <p:nvPicPr>
          <p:cNvPr id="4" name="brY_75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977994" cy="621792"/>
          </a:xfrm>
          <a:prstGeom prst="rect">
            <a:avLst/>
          </a:prstGeom>
        </p:spPr>
      </p:pic>
      <p:sp>
        <p:nvSpPr>
          <p:cNvPr id="5" name="title_757"/>
          <p:cNvSpPr/>
          <p:nvPr/>
        </p:nvSpPr>
        <p:spPr>
          <a:xfrm>
            <a:off x="1261872" y="164592"/>
            <a:ext cx="4703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music would you play…?</a:t>
            </a:r>
            <a:endParaRPr lang="en-US" sz="2250" dirty="0"/>
          </a:p>
        </p:txBody>
      </p:sp>
      <p:pic>
        <p:nvPicPr>
          <p:cNvPr id="6" name="brP_75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163824" cy="402336"/>
          </a:xfrm>
          <a:prstGeom prst="rect">
            <a:avLst/>
          </a:prstGeom>
        </p:spPr>
      </p:pic>
      <p:sp>
        <p:nvSpPr>
          <p:cNvPr id="7" name="ins_759"/>
          <p:cNvSpPr/>
          <p:nvPr/>
        </p:nvSpPr>
        <p:spPr>
          <a:xfrm>
            <a:off x="1353312" y="73152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music. Give a reason.</a:t>
            </a:r>
            <a:endParaRPr lang="en-US" sz="1250" dirty="0"/>
          </a:p>
        </p:txBody>
      </p:sp>
      <p:sp>
        <p:nvSpPr>
          <p:cNvPr id="8" name="insIT_76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Scegli la musica per ogni situazione. Spiega perché.</a:t>
            </a:r>
            <a:endParaRPr lang="en-US" sz="950" dirty="0"/>
          </a:p>
        </p:txBody>
      </p:sp>
      <p:sp>
        <p:nvSpPr>
          <p:cNvPr id="9" name="cmd_76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76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76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76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76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6B-1 · Speaking · what music would you play?   ·   📖 SB p.60 · 1g</a:t>
            </a:r>
            <a:endParaRPr lang="en-US" sz="800" dirty="0"/>
          </a:p>
        </p:txBody>
      </p:sp>
      <p:sp>
        <p:nvSpPr>
          <p:cNvPr id="14" name="st_766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5" name="pf_767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6" name="ph_768" descr="/home/claude/lls-course/v2/cache/b2_6b_pianist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7" name="cd_769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ii_770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ih_771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20" name="il_772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 was…, I'd play… because…</a:t>
            </a:r>
            <a:endParaRPr lang="en-US" sz="9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reminds me of… · It makes me feel…</a:t>
            </a:r>
            <a:endParaRPr lang="en-US" sz="9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Really? I'd choose…</a:t>
            </a:r>
            <a:endParaRPr lang="en-US" sz="900" dirty="0"/>
          </a:p>
        </p:txBody>
      </p:sp>
      <p:sp>
        <p:nvSpPr>
          <p:cNvPr id="21" name="R1_qb77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R1_sq774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…if you were preparing to go out and feeling happy and excited about it?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I'd play something loud and fast – it gets me in the mood!</a:t>
            </a:r>
            <a:endParaRPr lang="en-US" sz="1000" dirty="0"/>
          </a:p>
        </p:txBody>
      </p:sp>
      <p:sp>
        <p:nvSpPr>
          <p:cNvPr id="23" name="R2_qb775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R2_sq776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…if you wanted to create a romantic atmosphere?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Something slow and soft – maybe an old Italian song.</a:t>
            </a:r>
            <a:endParaRPr lang="en-US" sz="1250" dirty="0"/>
          </a:p>
        </p:txBody>
      </p:sp>
      <p:sp>
        <p:nvSpPr>
          <p:cNvPr id="25" name="R3_qb777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R3_sq778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…if you were feeling furious about something or somebody?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Heavy metal! It makes me even angrier – but then I feel better.</a:t>
            </a:r>
            <a:endParaRPr lang="en-US" sz="1200" dirty="0"/>
          </a:p>
        </p:txBody>
      </p:sp>
      <p:sp>
        <p:nvSpPr>
          <p:cNvPr id="27" name="R4_qb779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R4_sq780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…if you were feeling stressed or nervous?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Piano music, really quiet. It slows me down.</a:t>
            </a:r>
            <a:endParaRPr lang="en-US" sz="1250" dirty="0"/>
          </a:p>
        </p:txBody>
      </p:sp>
      <p:sp>
        <p:nvSpPr>
          <p:cNvPr id="29" name="R5_qb781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R5_sq782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…if you were feeling depressed?</a:t>
            </a: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If I was feeling depressed, I'd play Someone Like You by Adele, because it makes me cry. (SB)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6B-1 Music to my ears</dc:title>
  <dc:subject>PptxGenJS Presentation</dc:subject>
  <dc:creator>PptxGenJS</dc:creator>
  <cp:lastModifiedBy>PptxGenJS</cp:lastModifiedBy>
  <cp:revision>1</cp:revision>
  <dcterms:created xsi:type="dcterms:W3CDTF">2026-10-12T10:16:23Z</dcterms:created>
  <dcterms:modified xsi:type="dcterms:W3CDTF">2026-10-12T10:16:23Z</dcterms:modified>
</cp:coreProperties>
</file>