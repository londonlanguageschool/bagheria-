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(a young pianist). Ask the THINK question; take 3–4 answers – push for a reason: 'How? Give me an example.' Click: the example answer. Read 'Today you're going to…' together. Don't correct gerunds/infinitives yet – just note errors like 'I like listen'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(6A) (2 min)
REVISION (2 min). Read the examples together. Ask 2 students: 'What did you use to do before bed when you were small?' 'Is there anything you can't get used to?' Point out the key contrast again: used to + VERB (past habit) vs be/get used to + -ING (to = preposition). This prepares today: TODAY's grammar is also about -ing vs to. Then the warmer game uses exactly these sleep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6A sleep words (3 min)
RETRIEVAL WARMER (3 min). Variation of 'Describe it!' (last lesson's warmer was 'Here's the answer – what's the question?'). Demo first with a strong student: 'I'm not used to sleeping in the afternoon, but in Spain they often have one after lunch' → a nap. Click once per word (A sees it, B faces away). After round 1, partners swap seats/roles. Bonus point when the description uses used to / be used to / get used to correctly (I'm used to + -ing!). ICQ: 'Can you say the word?' (no) · 'Italian?' (no, English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music in your day (3 min)
LEAD-IN (3 min). SB 1a. Questions appear ONE per click (about 30 seconds each). Model Q1 with your own answer. Push beyond the first answer: 'Why?', 'Always?'. Q5 = extension (negative/absurd questions get teens talking). Note good answers about MOOD – they lead straight into John Sloboda's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Listening · prediction (2 min)
PREDICTION (2 min). Read the introduction. Pairs use the 6 words to guess John's three reasons: 'I think one reason is to relax after work…' Take 2–3 guesses and write them on the board – DON'T confirm. ICQ: 'Are we listening yet?' (no – guessing first). The words come from his examples (film = Casablanca, night = going out in the evening, work = relaxing after work, sad / angry / date (a romantic dinner) = intensifying emotions).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Listening · John Sloboda, Part 1 (5 min)
LISTENING FOR KEY IDEAS (5 min). Worked example: show row 1 – 'to make us ___' needs a verb + what (e.g. 'remember…'). Play 6.10 once (1 min 40). Pairs compare and try to remember more (SB 1c). Play again (🐢 slower copy for weaker students). Click once per row. ANSWERS (SB key 1c): 1 to make us remember important moments in the past, e.g. when we met someone for the first time (like Humphrey Bogart in Casablanca saying 'Darling, they're playing our song'). 2 to help us to change activities, e.g. to prepare us to go out in the evening, to relax us when we get home from work. 3 to intensify the emotion that we're feeling, e.g. if we're feeling sad, we want to get sadder; if we're angry, we want to intensify the anger; at a romantic dinner, music makes it more romantic. Compare with the class predictions from the board. SB 1d (30 sec, pairs): 'When do YOU listen to music for one of these reasons? What kind?' AUDIO SCRIPT: not in our files – see the Student's Book audioscript (Listening 6.10).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Listening · four pieces of music (3 min)
PERSONAL RESPONSE (3 min). SB 1e: there is no 'right' answer – students write their own adjective for each extract. Play 6.11 once (1 min 30, four extracts – pause briefly after each). B2 PRECISION challenge: no 'happy', 'sad', 'nice' – choose a more precise word. Then click: the chips are only suggestions to extend vocabulary (not book answers). Q5 = quick pair talk. In Part 2 (next slide) John says which emotion HE links to each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John Sloboda, Part 2 (5 min)
LISTENING FOR DETAIL (5 min). Give 30 seconds to read and GUESS (e.g. 'happy people speak… faster?'). Play 6.12 (3 min 15 – the longest track; pause after the human voice part if needed, or use the 🐢 slower copy for a second listening). Pairs compare. Click once per row. ANSWERS (SB key 1f): human voice: happy = people speak faster, the voice is higher · sad = people speak more slowly, the voice is lower · angry = people raise their voice or shout. Music copies the voice: 1 faster, high-pitched music sounds happy · 2 slow music with falling pitches sounds sad · 3 loud music with irregular rhythms sounds angry. Next slide: the emotions John gives each piece. AUDIO SCRIPT: not in our files (SB audioscript 6.12).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John's emotions (1 min)
CHECK (1 min). From memory (they heard it in 6.12); replay the end of 6.12 if they're unsure. Click once per piece. ANSWERS (SB key 1f): 1 happy = the Beethoven · 2 angry = the Holst · 3 sad = the Albinoni · 4 terrified = the film music from Psycho. Quick question: 'Did John's emotions match YOUR adjectives?'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from the talk (3 min)
NOTICING (3 min). Row 0 = worked example (click 1 shows it). The sentences come from John's talk (SB 2a). Pairs write the verbs (1 min), then play 6.13 to check; click once per answer. ANSWERS (SB key 2b): 1 remember · 2 hearing · 3 to go, make. Ask: 'Why make us REMEMBER without to?' (make + object + verb) · 'help us (to) make' – both are possible. Point at 2: 'remember HEARING' – did he hear it before or after remembering? (before → a memory).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meaning changes (4 min)
GUIDED DISCOVERY (4 min). Worked example: do 1 together – 'Did I meet him before I remember? Yes → a MEMORY (B).' Pairs decide 2–8, click once per sentence. ANSWERS SB 2c: 1 B (to have or keep an image in your memory of something you did) · 2 A (to not forget to do something; to do what you have to do). 3–8 are our extra examples for forget / try / stop: 3 task · 4 memory · 5 effort (it was difficult, maybe impossible) · 6 experiment (do it and see if it helps) · 7 finish (he doesn't play now) · 8 pause/stop in order to do something else. CCQ: 'I stopped smoking / I stopped to smoke – who is a smoker now?' (the second!). Italian: ricordarsi DI fare (task) vs ricordare DI AVER fatto (memory) – Italian uses 'di' for both, so Italians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gerunds and infinitives (4 min)
CLARIFY (4 min). Elicit each rule from the previous slide BEFORE clicking the examples (one click per column, then the ⚠ line). CCQs: 'Try singing it lower – is it difficult or an idea to test?' (an idea) · 'I tried to reach the note – did I succeed?' (probably not – it was hard). Column 4 = Grammar Bank 6B verbs: + -ing after enjoy, mind, can't stand, suggest, feel like, imagine, avoid, give up · + to after want, manage, offer, threaten, would prefer, decide · verb without to after make, let, had better, would rather, modal verbs. like / love / hate / prefer: -ing or to with little difference. Italian traps: ✗ suggest to take → suggest taking · ✗ made me to tidy → made me tidy · ✗ I'm looking forward to see → to seeing. Need + -ing appears in the speaking task ('a job that needs doing').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Grammar Bank 6B practice (4 min)
CONTROLLED PRACTICE (4 min). Worked example in the colour card: I enjoy ___ (sing) → singing (+ -ing). Pairs say each sentence aloud with the right form, then click: the colour shows the pattern; a student says the full answer. ANSWERS (SB key, Grammar Bank 6B a): 1 I suggest taking · 2 we managed to drive · 3 We'd better do · 4 I can't stand waiting · 5 offered to carry · 6 make me tidy · 7 feel like coming · 8 I'd prefer to eat. (GB a also has: 9 We threatened to call the police if the boys didn't stop throwing stones · 10 I don't mind working late tonight.) NOTE: sentences adapted from the key – check the exact Grammar Bank wording in the book (we don't have p.143). Grammar Bank 6B b (key: 1 seeing · 2 to call · 3 taking · 4 locking · 5 to turn · 6 painting · 7 to send · 8 to reach) – do it in the book if there's time, or set it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Game · Cambridge B2 First Part 4 (4 min)
EXAM GAME (4 min). Teams of 2–3. One sentence at a time: 45 seconds per item, teams write on mini-whiteboards/paper, then click. Point for a correct answer of 2–5 words with the key word UNCHANGED; contractions count as 2 words (didn't = did not). B2 First Part 4 facts (tell them): 6 items, 2 marks each (1 mark for each half), meaning must stay the same. Answers (our items): 1 Remember to call · 2 tried to open · 3 Try turning · 4 forget seeing · 5 didn't let me (3 words – contractions count as 2). The worked example is in the 'How to play' card. Common errors to reward/penalise: 'Remember calling' (wrong meaning), 'let me to go' (✗).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tell your partner about… (5 min)
FREER PRACTICE (5 min). Prompts appear one per click – show them all, then pairs CHOOSE 3 (+ the extension if they finish early). Model one with your own true story. Worked example: A tells, B asks one follow-up question ('How old were you?'), then swap. Monitor: remember/forget/try + the right form. Other SB 2e prompts you can add: something you must remember to do today or this week · a job that needs doing in your house (e.g. the kitchen ceiling needs repainting) · something you need to do this evening. Delayed correction (1 min): 3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Vocabulary · instruments (3 min)
ELICIT FIRST (3 min). Pairs write the instrument for each clue (row 0 = example). Click once per row. Then play 6.16 (2 min 45 – sounds of instruments and musicians): students SAY which word they hear (no written key for the order in our files – just check orally). 6.17 = listen and check the words + stress: guiTAR, KEYboard, vioLIN, CELlo, SAXophone, conDUCtor, ORchestra, soPRAno. Musicians (choir, orchestra, conductor, soprano) are on the next slide. 3b: 'Can you play any of these instruments? Add more words: trumpet, harp, recorder, clarinet, drummer, pianist, lead singer…' (SB key 3b suggestions).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Vocabulary · musicians + Italian traps (2 min)
CONSOLIDATION (2 min, rule 5). Students explain each word in simple English first; click 1 shows the English meaning, click 2 the Italian and the ⚠ line. FALSE FRIENDS for Italians: a conductor = direttore d'orchestra (a TV conduttore = a presenter / host; a bus conductor = bigliettaio) · a concert = un concerto (show) but a concerto = a piece for a soloist and orchestra · a chorus = ritornello (or a large choir) · lyrics = il testo (not 'la lirica' = opera) · drums = la batteria (✗ battery) · a band = a pop/rock group (banda = brass band). PRONUNCIATION: concerto /kənˈtʃɜːtəʊ/, soprano /səˈprɑːnəʊ/. STRESS: ORchestra /ˈɔːkɪstrə/ (Italian orCHEStra), soPRAno, conDUCtor, CHOIR = one syllable-ish /ˈkwaɪə/.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Pronunciation · words from other languages (3 min)
PRONUNCIATION – RULE, THEN PRACTISE (3 min). Read the SB box 'Foreign words that are used in English': the English pronunciation is often similar to the original language – c before i and e in words from Italian is /tʃ/ (cello, ciao), ch in words from Greek is /k/ (choir, orchestra). 3c: pairs try to say concerto, mezzo-soprano, chorus, rhythm, symphony, ballet, encore, genre and underline the stress. Then click one column at a time and play 6.18 (23 sec) – students repeat. ANSWERS (SB key 3d): the second c in concerto = /tʃ/ · zz in mezzo = /ts/ · ch in chorus = /k/ · rhy in rhythm = /rɪ/ · ph in symphony = /f/ · et in ballet = /eɪ/ · en in encore = /ɒŋ/ · g in genre = /ʒ/. Stress (SB 3c phonemics): conCERto, mezzo-soPRAno, CHOrus, RHYthm, SYMphony, BALlet, ENcore, GENre. THE ITALIAN TRAP: Italians say these words perfectly – in Italian! In English vowels change: cappuccino /ˌkæpʊˈtʃiːnəʊ/, paparazzi /ˌpæpəˈrætsi/ (/æ/), barista /bəˈriːstə/ (weak /ə/). SPEAKERS (bottom right): 1 = 6.18 · 2 = 6.19 (for 3e/f, extra slide 20) · 3–4 = slower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Pairs: 3 verbs with their pattern (enjoy + -ing, manage + to, make + verb…), 2 music words with a trap (conductor, concerto, chorus, orchestra…), 1 true 'I'll never forget …-ing' sentence – 3 students read theirs. Set homework: Workbook 6B pp.43–45: Grammar 1a–d; Vocabulary &amp; Pronunciation 2a–h (2d, 2f–h need the Workbook audio 6.3–6.5).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Pronunciation · borrowed words (4 min)
EXTRA (4 min). SB 3e: 18 words – the slide shows 5; do the others in the book. Pairs write I, G or F, then click; play 6.19 from slide 18 (second speaker) to check and repeat (the audio is there so its icon doesn't cover the EXTRA label here). ⚠ The SB key has NO answers for 3e – these are the usual origins; CHECK with audio 6.19: Italian: barista, cappuccino, graffiti, macchiato, paparazzi, villa · French: bouquet, chauffeur, chef, chic, croissant, fiancé · Greek: architecture, hypochondriac, microphone, philosophy, psychic, psychologist (architecture: Greek root, via Latin/French – confirm with the audio). Pronunciation: Greek ps- = /s/ (psychologist /saɪˈkɒlədʒɪst/), ch = /k/ (architecture /ˈɑːkɪtektʃə/); French ch = /ʃ/ (chauffeur, chef, chic). 3g: 'Which English words does Italian borrow? (weekend, smartphone, il manager…) Do Italians say them the English way?'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Game · music words (4 min)
EXTRA GAME (4 min). Same 'Describe it!' format. Point only if B says the word with ENGLISH pronunciation and stress (ORchestra, /ˈkwaɪə/, conCERto). Click once per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Speaking · what music would you play? (5 min)
EXTRA (5 min). SB 1g. Questions one per click. Connect to John's ideas: do they choose music to CHANGE their mood or to INTENSIFY it (reason 3)? The last example is the one printed in the Student's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audio" Target="../media/media-16-6.mp3"/><Relationship Id="rId7" Type="http://schemas.microsoft.com/office/2007/relationships/media" Target="../media/media-16-6.mp3"/><Relationship Id="rId8" Type="http://schemas.openxmlformats.org/officeDocument/2006/relationships/image" Target="../media/image-16-8.png"/><Relationship Id="rId9" Type="http://schemas.openxmlformats.org/officeDocument/2006/relationships/audio" Target="../media/media-16-9.mp3"/><Relationship Id="rId10" Type="http://schemas.microsoft.com/office/2007/relationships/media" Target="../media/media-16-9.mp3"/><Relationship Id="rId11" Type="http://schemas.openxmlformats.org/officeDocument/2006/relationships/image" Target="../media/image-16-11.png"/><Relationship Id="rId12" Type="http://schemas.openxmlformats.org/officeDocument/2006/relationships/audio" Target="../media/media-16-12.mp3"/><Relationship Id="rId13" Type="http://schemas.microsoft.com/office/2007/relationships/media" Target="../media/media-16-12.mp3"/><Relationship Id="rId14" Type="http://schemas.openxmlformats.org/officeDocument/2006/relationships/image" Target="../media/image-16-14.png"/><Relationship Id="rId15" Type="http://schemas.openxmlformats.org/officeDocument/2006/relationships/audio" Target="../media/media-16-15.mp3"/><Relationship Id="rId16" Type="http://schemas.microsoft.com/office/2007/relationships/media" Target="../media/media-16-15.mp3"/><Relationship Id="rId17" Type="http://schemas.openxmlformats.org/officeDocument/2006/relationships/image" Target="../media/image-1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audio" Target="../media/media-18-5.mp3"/><Relationship Id="rId6" Type="http://schemas.microsoft.com/office/2007/relationships/media" Target="../media/media-18-5.mp3"/><Relationship Id="rId7" Type="http://schemas.openxmlformats.org/officeDocument/2006/relationships/image" Target="../media/image-18-7.png"/><Relationship Id="rId8" Type="http://schemas.openxmlformats.org/officeDocument/2006/relationships/audio" Target="../media/media-18-8.mp3"/><Relationship Id="rId9" Type="http://schemas.microsoft.com/office/2007/relationships/media" Target="../media/media-18-8.mp3"/><Relationship Id="rId10" Type="http://schemas.openxmlformats.org/officeDocument/2006/relationships/image" Target="../media/image-18-10.png"/><Relationship Id="rId11" Type="http://schemas.openxmlformats.org/officeDocument/2006/relationships/audio" Target="../media/media-18-11.mp3"/><Relationship Id="rId12" Type="http://schemas.microsoft.com/office/2007/relationships/media" Target="../media/media-18-11.mp3"/><Relationship Id="rId13" Type="http://schemas.openxmlformats.org/officeDocument/2006/relationships/image" Target="../media/image-18-13.png"/><Relationship Id="rId14" Type="http://schemas.openxmlformats.org/officeDocument/2006/relationships/audio" Target="../media/media-18-14.mp3"/><Relationship Id="rId15" Type="http://schemas.microsoft.com/office/2007/relationships/media" Target="../media/media-18-14.mp3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pp.60–61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to my ears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Music, emotions,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a talk: why do we listen to music?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-ing or to? remember, try, stop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🎻  music words – and Italian traps!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cello, concerto the English way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tell a partner your music memories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When I'm stressed, a calm song helps me – but a sad song makes me even sadder!</a:t>
            </a:r>
            <a:endParaRPr lang="en-US" sz="85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music change the way you feel?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about you.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dinne uno su di te.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Revision · last lesson (6A)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 Night night (2 Oct)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to / be used to / get used to · sleep words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· be used to · get used to</a:t>
            </a:r>
            <a:endParaRPr lang="en-US" sz="115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sleep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with the light on.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Nurses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used to working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night.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 waking up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6.30.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used to + verb · be / get used to + -ing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missed the bus.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like a train!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 wake up easily.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nap · pillow · duvet · fall asleep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0279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nap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654296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747004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649724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insomnia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566470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with used to!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5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Warmer · 6A sleep words   ·   📖 Recycles 6A (2 Oct)</a:t>
            </a:r>
            <a:endParaRPr lang="en-US" sz="800" dirty="0"/>
          </a:p>
        </p:txBody>
      </p:sp>
      <p:sp>
        <p:nvSpPr>
          <p:cNvPr id="14" name="cd_6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looks away.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 in English. Don't say it!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Bonus: use used to / be used to. e.g. 'My grandad used to do it at night – a loud noise!' → snore</a:t>
            </a:r>
            <a:endParaRPr lang="en-US" sz="1050" dirty="0"/>
          </a:p>
        </p:txBody>
      </p:sp>
      <p:sp>
        <p:nvSpPr>
          <p:cNvPr id="18" name="st_6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rl_6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0" name="R1_w6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</a:t>
            </a:r>
            <a:endParaRPr lang="en-US" sz="1700" dirty="0"/>
          </a:p>
        </p:txBody>
      </p:sp>
      <p:sp>
        <p:nvSpPr>
          <p:cNvPr id="21" name="R2_w6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nap</a:t>
            </a:r>
            <a:endParaRPr lang="en-US" sz="1700" dirty="0"/>
          </a:p>
        </p:txBody>
      </p:sp>
      <p:sp>
        <p:nvSpPr>
          <p:cNvPr id="22" name="R3_w6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pillow</a:t>
            </a:r>
            <a:endParaRPr lang="en-US" sz="1700" dirty="0"/>
          </a:p>
        </p:txBody>
      </p:sp>
      <p:sp>
        <p:nvSpPr>
          <p:cNvPr id="23" name="R4_w6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oversleep</a:t>
            </a:r>
            <a:endParaRPr lang="en-US" sz="1700" dirty="0"/>
          </a:p>
        </p:txBody>
      </p:sp>
      <p:sp>
        <p:nvSpPr>
          <p:cNvPr id="24" name="rl_7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5" name="R5_w7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sleepwalk</a:t>
            </a:r>
            <a:endParaRPr lang="en-US" sz="1700" dirty="0"/>
          </a:p>
        </p:txBody>
      </p:sp>
      <p:sp>
        <p:nvSpPr>
          <p:cNvPr id="26" name="R6_w7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700" dirty="0"/>
          </a:p>
        </p:txBody>
      </p:sp>
      <p:sp>
        <p:nvSpPr>
          <p:cNvPr id="27" name="R7_w7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duvet</a:t>
            </a:r>
            <a:endParaRPr lang="en-US" sz="1700" dirty="0"/>
          </a:p>
        </p:txBody>
      </p:sp>
      <p:sp>
        <p:nvSpPr>
          <p:cNvPr id="28" name="R8_w7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the alarm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your day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each question. Then ask: And you?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a ogni domanda. Poi chiedi: E tu?</a:t>
            </a:r>
            <a:endParaRPr lang="en-US" sz="950" dirty="0"/>
          </a:p>
        </p:txBody>
      </p:sp>
      <p:sp>
        <p:nvSpPr>
          <p:cNvPr id="9" name="cmd_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8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music in your day   ·   📖 SB p.60 · 1a</a:t>
            </a:r>
            <a:endParaRPr lang="en-US" sz="800" dirty="0"/>
          </a:p>
        </p:txBody>
      </p:sp>
      <p:sp>
        <p:nvSpPr>
          <p:cNvPr id="14" name="pf_8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87" descr="/home/claude/lls-course/v2/cache/b2_6b_guitar_sax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8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8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9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9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usually listen to… when I…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my mood.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I'm…, I put on…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you? · Really? Me too!</a:t>
            </a:r>
            <a:endParaRPr lang="en-US" sz="1050" dirty="0"/>
          </a:p>
        </p:txBody>
      </p:sp>
      <p:sp>
        <p:nvSpPr>
          <p:cNvPr id="20" name="R1_qb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9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typical day, when and where do you listen to music?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On the bus to school and when I do my homework.</a:t>
            </a:r>
            <a:endParaRPr lang="en-US" sz="1250" dirty="0"/>
          </a:p>
        </p:txBody>
      </p:sp>
      <p:sp>
        <p:nvSpPr>
          <p:cNvPr id="22" name="R2_qb9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9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listen? (phone, speaker, headphones…)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On Spotify, with my wireless headphones.</a:t>
            </a:r>
            <a:endParaRPr lang="en-US" sz="1250" dirty="0"/>
          </a:p>
        </p:txBody>
      </p:sp>
      <p:sp>
        <p:nvSpPr>
          <p:cNvPr id="24" name="R3_qb9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9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listen to different kinds of music at different times of day?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rap in the morning, chill music at night.</a:t>
            </a:r>
            <a:endParaRPr lang="en-US" sz="1050" dirty="0"/>
          </a:p>
        </p:txBody>
      </p:sp>
      <p:sp>
        <p:nvSpPr>
          <p:cNvPr id="26" name="R4_qb9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9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makes you choose one kind of music over another?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mood! If I'm stressed, I want something calm.</a:t>
            </a:r>
            <a:endParaRPr lang="en-US" sz="1250" dirty="0"/>
          </a:p>
        </p:txBody>
      </p:sp>
      <p:sp>
        <p:nvSpPr>
          <p:cNvPr id="28" name="R5_qb10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10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what's the WORST music for a dentist's waiting room? Why?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Heavy metal – you'd be terrified before you sit down!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04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 we listen to music?</a:t>
            </a:r>
            <a:endParaRPr lang="en-US" sz="2500" dirty="0"/>
          </a:p>
        </p:txBody>
      </p:sp>
      <p:pic>
        <p:nvPicPr>
          <p:cNvPr id="6" name="brP_1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0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John's 3 reasons from the 6 words.</a:t>
            </a:r>
            <a:endParaRPr lang="en-US" sz="1250" dirty="0"/>
          </a:p>
        </p:txBody>
      </p:sp>
      <p:sp>
        <p:nvSpPr>
          <p:cNvPr id="8" name="insIT_1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Indovina i 3 motivi di John dalle 6 parole.</a:t>
            </a:r>
            <a:endParaRPr lang="en-US" sz="950" dirty="0"/>
          </a:p>
        </p:txBody>
      </p:sp>
      <p:sp>
        <p:nvSpPr>
          <p:cNvPr id="9" name="cmd_1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11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11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3" name="logo_1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prediction   ·   📖 SB p.60 · 1b (before listening)</a:t>
            </a:r>
            <a:endParaRPr lang="en-US" sz="800" dirty="0"/>
          </a:p>
        </p:txBody>
      </p:sp>
      <p:sp>
        <p:nvSpPr>
          <p:cNvPr id="15" name="cd_11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11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Sloboda's talk</a:t>
            </a:r>
            <a:endParaRPr lang="en-US" sz="2800" dirty="0"/>
          </a:p>
        </p:txBody>
      </p:sp>
      <p:sp>
        <p:nvSpPr>
          <p:cNvPr id="17" name="nx_116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slide: listen to Part 1. Complete John's 3 reasons + an example for each.</a:t>
            </a:r>
            <a:endParaRPr lang="en-US" sz="1000" dirty="0"/>
          </a:p>
        </p:txBody>
      </p:sp>
      <p:sp>
        <p:nvSpPr>
          <p:cNvPr id="18" name="sf_117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 is a music psychologist. He edited the 'Handbook of Music and Emotion'. In Part 1 of his talk, he gives three reasons why we listen to music.</a:t>
            </a:r>
            <a:endParaRPr lang="en-US" sz="1150" dirty="0"/>
          </a:p>
        </p:txBody>
      </p:sp>
      <p:sp>
        <p:nvSpPr>
          <p:cNvPr id="19" name="nbl_118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HIS EXAMPLES · guess the 3 reasons!</a:t>
            </a:r>
            <a:endParaRPr lang="en-US" sz="1100" dirty="0"/>
          </a:p>
        </p:txBody>
      </p:sp>
      <p:sp>
        <p:nvSpPr>
          <p:cNvPr id="20" name="bd_119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film</a:t>
            </a:r>
            <a:endParaRPr lang="en-US" sz="800" dirty="0"/>
          </a:p>
        </p:txBody>
      </p:sp>
      <p:sp>
        <p:nvSpPr>
          <p:cNvPr id="21" name="bd_120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</a:t>
            </a:r>
            <a:endParaRPr lang="en-US" sz="800" dirty="0"/>
          </a:p>
        </p:txBody>
      </p:sp>
      <p:sp>
        <p:nvSpPr>
          <p:cNvPr id="22" name="bd_121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</a:t>
            </a:r>
            <a:endParaRPr lang="en-US" sz="800" dirty="0"/>
          </a:p>
        </p:txBody>
      </p:sp>
      <p:sp>
        <p:nvSpPr>
          <p:cNvPr id="23" name="bd_122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00" dirty="0"/>
          </a:p>
        </p:txBody>
      </p:sp>
      <p:sp>
        <p:nvSpPr>
          <p:cNvPr id="24" name="bd_123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800" dirty="0"/>
          </a:p>
        </p:txBody>
      </p:sp>
      <p:sp>
        <p:nvSpPr>
          <p:cNvPr id="25" name="bd_124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date</a:t>
            </a:r>
            <a:endParaRPr lang="en-US" sz="800" dirty="0"/>
          </a:p>
        </p:txBody>
      </p:sp>
      <p:sp>
        <p:nvSpPr>
          <p:cNvPr id="26" name="pf_12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26" descr="/home/claude/lls-course/v2/cache/b2_6b_emotion_book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3 reasons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key words for reasons 1–3.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parole chiave per i motivi 1–3.</a:t>
            </a:r>
            <a:endParaRPr lang="en-US" sz="950" dirty="0"/>
          </a:p>
        </p:txBody>
      </p:sp>
      <p:sp>
        <p:nvSpPr>
          <p:cNvPr id="9" name="cmd_13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3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3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13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 Sloboda, Part 1   ·   📖 SB p.60 · 1b, 1c · audio 6.10</a:t>
            </a:r>
            <a:endParaRPr lang="en-US" sz="800" dirty="0"/>
          </a:p>
        </p:txBody>
      </p:sp>
      <p:sp>
        <p:nvSpPr>
          <p:cNvPr id="15" name="ap_13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6.10  ·  play twice</a:t>
            </a:r>
            <a:endParaRPr lang="en-US" sz="1100" dirty="0"/>
          </a:p>
        </p:txBody>
      </p:sp>
      <p:sp>
        <p:nvSpPr>
          <p:cNvPr id="16" name="ah_14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14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42" descr="/home/claude/lls-course/v2/cache/b2_6b_instrument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14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14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14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14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14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to make us ___</a:t>
            </a:r>
            <a:endParaRPr lang="en-US" sz="1200" dirty="0"/>
          </a:p>
        </p:txBody>
      </p:sp>
      <p:sp>
        <p:nvSpPr>
          <p:cNvPr id="26" name="R1_chip14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important moments in the past</a:t>
            </a:r>
            <a:endParaRPr lang="en-US" sz="1200" dirty="0"/>
          </a:p>
        </p:txBody>
      </p:sp>
      <p:sp>
        <p:nvSpPr>
          <p:cNvPr id="27" name="gq_14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8" name="R2_chip15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met someone for the first time</a:t>
            </a:r>
            <a:endParaRPr lang="en-US" sz="1150" dirty="0"/>
          </a:p>
        </p:txBody>
      </p:sp>
      <p:sp>
        <p:nvSpPr>
          <p:cNvPr id="29" name="gq_15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to help us to ___</a:t>
            </a:r>
            <a:endParaRPr lang="en-US" sz="1200" dirty="0"/>
          </a:p>
        </p:txBody>
      </p:sp>
      <p:sp>
        <p:nvSpPr>
          <p:cNvPr id="30" name="R3_chip15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activities</a:t>
            </a:r>
            <a:endParaRPr lang="en-US" sz="1200" dirty="0"/>
          </a:p>
        </p:txBody>
      </p:sp>
      <p:sp>
        <p:nvSpPr>
          <p:cNvPr id="31" name="gq_15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2" name="R4_chip15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to go out in the evening · relax after work</a:t>
            </a:r>
            <a:endParaRPr lang="en-US" sz="1050" dirty="0"/>
          </a:p>
        </p:txBody>
      </p:sp>
      <p:sp>
        <p:nvSpPr>
          <p:cNvPr id="33" name="gq_15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to intensify ___</a:t>
            </a:r>
            <a:endParaRPr lang="en-US" sz="1200" dirty="0"/>
          </a:p>
        </p:txBody>
      </p:sp>
      <p:sp>
        <p:nvSpPr>
          <p:cNvPr id="34" name="R5_chip15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emotion we're feeling</a:t>
            </a:r>
            <a:endParaRPr lang="en-US" sz="1200" dirty="0"/>
          </a:p>
        </p:txBody>
      </p:sp>
      <p:sp>
        <p:nvSpPr>
          <p:cNvPr id="35" name="gq_157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6" name="R6_chip158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sad → sadder · romantic dinner → more romantic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1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they make you feel?</a:t>
            </a:r>
            <a:endParaRPr lang="en-US" sz="2400" dirty="0"/>
          </a:p>
        </p:txBody>
      </p:sp>
      <p:pic>
        <p:nvPicPr>
          <p:cNvPr id="6" name="brP_1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6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one adjective for each piece.</a:t>
            </a:r>
            <a:endParaRPr lang="en-US" sz="1250" dirty="0"/>
          </a:p>
        </p:txBody>
      </p:sp>
      <p:sp>
        <p:nvSpPr>
          <p:cNvPr id="8" name="insIT_1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4 brani. Scrivi un aggettivo per ognuno.</a:t>
            </a:r>
            <a:endParaRPr lang="en-US" sz="950" dirty="0"/>
          </a:p>
        </p:txBody>
      </p:sp>
      <p:sp>
        <p:nvSpPr>
          <p:cNvPr id="9" name="cmd_1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6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16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four pieces of music   ·   📖 SB p.60 · 1e · audio 6.11</a:t>
            </a:r>
            <a:endParaRPr lang="en-US" sz="800" dirty="0"/>
          </a:p>
        </p:txBody>
      </p:sp>
      <p:sp>
        <p:nvSpPr>
          <p:cNvPr id="15" name="cd_17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7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7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7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It sounds calm. / It makes me feel relaxed.</a:t>
            </a:r>
            <a:endParaRPr lang="en-US" sz="1050" dirty="0"/>
          </a:p>
        </p:txBody>
      </p:sp>
      <p:sp>
        <p:nvSpPr>
          <p:cNvPr id="19" name="pf_175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76" descr="/home/claude/lls-course/v2/cache/b2_6b_famil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17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6.11  ·  play once</a:t>
            </a:r>
            <a:endParaRPr lang="en-US" sz="1100" dirty="0"/>
          </a:p>
        </p:txBody>
      </p:sp>
      <p:sp>
        <p:nvSpPr>
          <p:cNvPr id="22" name="ah_17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5" name="bd_17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8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 (1st movement)</a:t>
            </a:r>
            <a:endParaRPr lang="en-US" sz="1000" dirty="0"/>
          </a:p>
        </p:txBody>
      </p:sp>
      <p:sp>
        <p:nvSpPr>
          <p:cNvPr id="27" name="R1_chip18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joyful, energetic, triumphant</a:t>
            </a:r>
            <a:endParaRPr lang="en-US" sz="1000" dirty="0"/>
          </a:p>
        </p:txBody>
      </p:sp>
      <p:sp>
        <p:nvSpPr>
          <p:cNvPr id="28" name="bd_18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8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Mars, from The Planets</a:t>
            </a:r>
            <a:endParaRPr lang="en-US" sz="1150" dirty="0"/>
          </a:p>
        </p:txBody>
      </p:sp>
      <p:sp>
        <p:nvSpPr>
          <p:cNvPr id="30" name="R2_chip18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threatening, aggressive, tense</a:t>
            </a:r>
            <a:endParaRPr lang="en-US" sz="1000" dirty="0"/>
          </a:p>
        </p:txBody>
      </p:sp>
      <p:sp>
        <p:nvSpPr>
          <p:cNvPr id="31" name="bd_18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8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150" dirty="0"/>
          </a:p>
        </p:txBody>
      </p:sp>
      <p:sp>
        <p:nvSpPr>
          <p:cNvPr id="33" name="R3_chip18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melancholy, moving, heartbreaking</a:t>
            </a:r>
            <a:endParaRPr lang="en-US" sz="1000" dirty="0"/>
          </a:p>
        </p:txBody>
      </p:sp>
      <p:sp>
        <p:nvSpPr>
          <p:cNvPr id="34" name="bd_18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8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music from Hitchcock's film Psycho</a:t>
            </a:r>
            <a:endParaRPr lang="en-US" sz="1150" dirty="0"/>
          </a:p>
        </p:txBody>
      </p:sp>
      <p:sp>
        <p:nvSpPr>
          <p:cNvPr id="36" name="R4_chip19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terrifying, creepy, nerve-racking</a:t>
            </a:r>
            <a:endParaRPr lang="en-US" sz="1000" dirty="0"/>
          </a:p>
        </p:txBody>
      </p:sp>
      <p:sp>
        <p:nvSpPr>
          <p:cNvPr id="37" name="bd_19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9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Which piece did you like most? Why?</a:t>
            </a:r>
            <a:endParaRPr lang="en-US" sz="1150" dirty="0"/>
          </a:p>
        </p:txBody>
      </p:sp>
      <p:sp>
        <p:nvSpPr>
          <p:cNvPr id="39" name="R5_chip19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Mars – it sounds like a battle in a film!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copies the human voice</a:t>
            </a:r>
            <a:endParaRPr lang="en-US" sz="24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Part 2. Complete the notes.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parte 2. Completa gli appunti.</a:t>
            </a:r>
            <a:endParaRPr lang="en-US" sz="950" dirty="0"/>
          </a:p>
        </p:txBody>
      </p:sp>
      <p:sp>
        <p:nvSpPr>
          <p:cNvPr id="9" name="cmd_2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0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0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20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 Sloboda, Part 2   ·   📖 SB p.60 · 1f · audio 6.12</a:t>
            </a:r>
            <a:endParaRPr lang="en-US" sz="800" dirty="0"/>
          </a:p>
        </p:txBody>
      </p:sp>
      <p:sp>
        <p:nvSpPr>
          <p:cNvPr id="15" name="ap_20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play once</a:t>
            </a:r>
            <a:endParaRPr lang="en-US" sz="1100" dirty="0"/>
          </a:p>
        </p:txBody>
      </p:sp>
      <p:sp>
        <p:nvSpPr>
          <p:cNvPr id="16" name="ah_20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0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09" descr="/home/claude/lls-course/v2/cache/b2_6b_cello_drum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1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1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1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1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1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happy: people speak ___ , the voice is ___</a:t>
            </a:r>
            <a:endParaRPr lang="en-US" sz="1200" dirty="0"/>
          </a:p>
        </p:txBody>
      </p:sp>
      <p:sp>
        <p:nvSpPr>
          <p:cNvPr id="26" name="R1_chip21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higher</a:t>
            </a:r>
            <a:endParaRPr lang="en-US" sz="1200" dirty="0"/>
          </a:p>
        </p:txBody>
      </p:sp>
      <p:sp>
        <p:nvSpPr>
          <p:cNvPr id="27" name="gq_21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sad: people speak ___ , the voice is ___</a:t>
            </a:r>
            <a:endParaRPr lang="en-US" sz="1200" dirty="0"/>
          </a:p>
        </p:txBody>
      </p:sp>
      <p:sp>
        <p:nvSpPr>
          <p:cNvPr id="28" name="R2_chip21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slowly · lower</a:t>
            </a:r>
            <a:endParaRPr lang="en-US" sz="1200" dirty="0"/>
          </a:p>
        </p:txBody>
      </p:sp>
      <p:sp>
        <p:nvSpPr>
          <p:cNvPr id="29" name="gq_21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angry: people ___ their voices or ___</a:t>
            </a:r>
            <a:endParaRPr lang="en-US" sz="1200" dirty="0"/>
          </a:p>
        </p:txBody>
      </p:sp>
      <p:sp>
        <p:nvSpPr>
          <p:cNvPr id="30" name="R3_chip21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 · shout</a:t>
            </a:r>
            <a:endParaRPr lang="en-US" sz="1200" dirty="0"/>
          </a:p>
        </p:txBody>
      </p:sp>
      <p:sp>
        <p:nvSpPr>
          <p:cNvPr id="31" name="gq_22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1: ___ , ___ -pitched music sounds happy</a:t>
            </a:r>
            <a:endParaRPr lang="en-US" sz="1200" dirty="0"/>
          </a:p>
        </p:txBody>
      </p:sp>
      <p:sp>
        <p:nvSpPr>
          <p:cNvPr id="32" name="R4_chip22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 (-pitched)</a:t>
            </a:r>
            <a:endParaRPr lang="en-US" sz="1200" dirty="0"/>
          </a:p>
        </p:txBody>
      </p:sp>
      <p:sp>
        <p:nvSpPr>
          <p:cNvPr id="33" name="gq_222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2: ___ music with ___ pitches sounds sad</a:t>
            </a:r>
            <a:endParaRPr lang="en-US" sz="1200" dirty="0"/>
          </a:p>
        </p:txBody>
      </p:sp>
      <p:sp>
        <p:nvSpPr>
          <p:cNvPr id="34" name="R5_chip223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slow · falling</a:t>
            </a:r>
            <a:endParaRPr lang="en-US" sz="1200" dirty="0"/>
          </a:p>
        </p:txBody>
      </p:sp>
      <p:sp>
        <p:nvSpPr>
          <p:cNvPr id="35" name="gq_224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3: ___ music with ___ rhythms sounds angry</a:t>
            </a:r>
            <a:endParaRPr lang="en-US" sz="1200" dirty="0"/>
          </a:p>
        </p:txBody>
      </p:sp>
      <p:sp>
        <p:nvSpPr>
          <p:cNvPr id="36" name="R6_chip225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loud · irregular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2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emotion?</a:t>
            </a:r>
            <a:endParaRPr lang="en-US" sz="2400" dirty="0"/>
          </a:p>
        </p:txBody>
      </p:sp>
      <p:pic>
        <p:nvPicPr>
          <p:cNvPr id="6" name="brP_2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3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emotion does John give each piece?</a:t>
            </a:r>
            <a:endParaRPr lang="en-US" sz="1250" dirty="0"/>
          </a:p>
        </p:txBody>
      </p:sp>
      <p:sp>
        <p:nvSpPr>
          <p:cNvPr id="8" name="insIT_2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emozione dà John a ogni brano?</a:t>
            </a:r>
            <a:endParaRPr lang="en-US" sz="950" dirty="0"/>
          </a:p>
        </p:txBody>
      </p:sp>
      <p:sp>
        <p:nvSpPr>
          <p:cNvPr id="9" name="cmd_2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3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👥 pairs</a:t>
            </a:r>
            <a:endParaRPr lang="en-US" sz="950" dirty="0"/>
          </a:p>
        </p:txBody>
      </p:sp>
      <p:sp>
        <p:nvSpPr>
          <p:cNvPr id="11" name="tag_23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John's emotions   ·   📖 SB p.60 · 1f · audio 6.12</a:t>
            </a:r>
            <a:endParaRPr lang="en-US" sz="800" dirty="0"/>
          </a:p>
        </p:txBody>
      </p:sp>
      <p:sp>
        <p:nvSpPr>
          <p:cNvPr id="14" name="cd_23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emotions</a:t>
            </a:r>
            <a:endParaRPr lang="en-US" sz="1300" dirty="0"/>
          </a:p>
        </p:txBody>
      </p:sp>
      <p:sp>
        <p:nvSpPr>
          <p:cNvPr id="17" name="il_24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24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050" dirty="0"/>
          </a:p>
        </p:txBody>
      </p:sp>
      <p:sp>
        <p:nvSpPr>
          <p:cNvPr id="19" name="lg_24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050" dirty="0"/>
          </a:p>
        </p:txBody>
      </p:sp>
      <p:sp>
        <p:nvSpPr>
          <p:cNvPr id="20" name="lg_24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50" dirty="0"/>
          </a:p>
        </p:txBody>
      </p:sp>
      <p:sp>
        <p:nvSpPr>
          <p:cNvPr id="21" name="lg_24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050" dirty="0"/>
          </a:p>
        </p:txBody>
      </p:sp>
      <p:sp>
        <p:nvSpPr>
          <p:cNvPr id="22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</a:t>
            </a:r>
            <a:endParaRPr lang="en-US" sz="1200" dirty="0"/>
          </a:p>
        </p:txBody>
      </p:sp>
      <p:sp>
        <p:nvSpPr>
          <p:cNvPr id="23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150" dirty="0"/>
          </a:p>
        </p:txBody>
      </p:sp>
      <p:sp>
        <p:nvSpPr>
          <p:cNvPr id="24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</a:t>
            </a:r>
            <a:endParaRPr lang="en-US" sz="1200" dirty="0"/>
          </a:p>
        </p:txBody>
      </p:sp>
      <p:sp>
        <p:nvSpPr>
          <p:cNvPr id="25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150" dirty="0"/>
          </a:p>
        </p:txBody>
      </p:sp>
      <p:sp>
        <p:nvSpPr>
          <p:cNvPr id="26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200" dirty="0"/>
          </a:p>
        </p:txBody>
      </p:sp>
      <p:sp>
        <p:nvSpPr>
          <p:cNvPr id="27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150" dirty="0"/>
          </a:p>
        </p:txBody>
      </p:sp>
      <p:sp>
        <p:nvSpPr>
          <p:cNvPr id="28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Psycho (film music)</a:t>
            </a:r>
            <a:endParaRPr lang="en-US" sz="1200" dirty="0"/>
          </a:p>
        </p:txBody>
      </p:sp>
      <p:sp>
        <p:nvSpPr>
          <p:cNvPr id="29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150" dirty="0"/>
          </a:p>
        </p:txBody>
      </p:sp>
      <p:sp>
        <p:nvSpPr>
          <p:cNvPr id="30" name="pf_253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54" descr="/home/claude/lls-course/v2/cache/b2_6b_conductor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hearing it?</a:t>
            </a:r>
            <a:endParaRPr lang="en-US" sz="24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verb: -ing, to + verb or verb?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il verbo: -ing, to + verbo o verbo?</a:t>
            </a:r>
            <a:endParaRPr lang="en-US" sz="950" dirty="0"/>
          </a:p>
        </p:txBody>
      </p:sp>
      <p:sp>
        <p:nvSpPr>
          <p:cNvPr id="9" name="cmd_2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26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from the talk   ·   📖 SB p.61 · 2a, 2b · audio 6.13</a:t>
            </a:r>
            <a:endParaRPr lang="en-US" sz="800" dirty="0"/>
          </a:p>
        </p:txBody>
      </p:sp>
      <p:sp>
        <p:nvSpPr>
          <p:cNvPr id="15" name="ap_267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6.13  ·  listen and check</a:t>
            </a:r>
            <a:endParaRPr lang="en-US" sz="1100" dirty="0"/>
          </a:p>
        </p:txBody>
      </p:sp>
      <p:sp>
        <p:nvSpPr>
          <p:cNvPr id="16" name="ah_2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6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70" descr="/home/claude/lls-course/v2/cache/b2_6b_emotion_book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7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7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7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7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75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 We listen to music to relax. (relax)</a:t>
            </a:r>
            <a:endParaRPr lang="en-US" sz="1200" dirty="0"/>
          </a:p>
        </p:txBody>
      </p:sp>
      <p:sp>
        <p:nvSpPr>
          <p:cNvPr id="26" name="R1_chip276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example: to relax (= purpose)</a:t>
            </a:r>
            <a:endParaRPr lang="en-US" sz="1200" dirty="0"/>
          </a:p>
        </p:txBody>
      </p:sp>
      <p:sp>
        <p:nvSpPr>
          <p:cNvPr id="27" name="gq_277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We listen to music to make us ___ important moments. (remember)</a:t>
            </a:r>
            <a:endParaRPr lang="en-US" sz="1200" dirty="0"/>
          </a:p>
        </p:txBody>
      </p:sp>
      <p:sp>
        <p:nvSpPr>
          <p:cNvPr id="28" name="R2_chip278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(make + verb)</a:t>
            </a:r>
            <a:endParaRPr lang="en-US" sz="1200" dirty="0"/>
          </a:p>
        </p:txBody>
      </p:sp>
      <p:sp>
        <p:nvSpPr>
          <p:cNvPr id="29" name="gq_279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We remember ___ it for the first time. (hear)</a:t>
            </a:r>
            <a:endParaRPr lang="en-US" sz="1200" dirty="0"/>
          </a:p>
        </p:txBody>
      </p:sp>
      <p:sp>
        <p:nvSpPr>
          <p:cNvPr id="30" name="R3_chip280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</a:t>
            </a:r>
            <a:endParaRPr lang="en-US" sz="1200" dirty="0"/>
          </a:p>
        </p:txBody>
      </p:sp>
      <p:sp>
        <p:nvSpPr>
          <p:cNvPr id="31" name="gq_281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 If we want ___ from one activity to another… (go)</a:t>
            </a:r>
            <a:endParaRPr lang="en-US" sz="1200" dirty="0"/>
          </a:p>
        </p:txBody>
      </p:sp>
      <p:sp>
        <p:nvSpPr>
          <p:cNvPr id="32" name="R4_chip282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go</a:t>
            </a:r>
            <a:endParaRPr lang="en-US" sz="1200" dirty="0"/>
          </a:p>
        </p:txBody>
      </p:sp>
      <p:sp>
        <p:nvSpPr>
          <p:cNvPr id="33" name="gq_283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 …we use music to help us ___ the change. (make)</a:t>
            </a:r>
            <a:endParaRPr lang="en-US" sz="1200" dirty="0"/>
          </a:p>
        </p:txBody>
      </p:sp>
      <p:sp>
        <p:nvSpPr>
          <p:cNvPr id="34" name="R5_chip284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(help + verb / to)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87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verb, different meaning</a:t>
            </a:r>
            <a:endParaRPr lang="en-US" sz="2500" dirty="0"/>
          </a:p>
        </p:txBody>
      </p:sp>
      <p:pic>
        <p:nvPicPr>
          <p:cNvPr id="6" name="brP_2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89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each sentence. What does the verb mean?</a:t>
            </a:r>
            <a:endParaRPr lang="en-US" sz="1250" dirty="0"/>
          </a:p>
        </p:txBody>
      </p:sp>
      <p:sp>
        <p:nvSpPr>
          <p:cNvPr id="8" name="insIT_2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ogni frase. Cosa significa il verbo?</a:t>
            </a:r>
            <a:endParaRPr lang="en-US" sz="950" dirty="0"/>
          </a:p>
        </p:txBody>
      </p:sp>
      <p:sp>
        <p:nvSpPr>
          <p:cNvPr id="9" name="cmd_2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meaning changes   ·   📖 SB p.61 · 2c (1–2) + more examples</a:t>
            </a:r>
            <a:endParaRPr lang="en-US" sz="800" dirty="0"/>
          </a:p>
        </p:txBody>
      </p:sp>
      <p:sp>
        <p:nvSpPr>
          <p:cNvPr id="14" name="cd_296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meaning</a:t>
            </a:r>
            <a:endParaRPr lang="en-US" sz="1300" dirty="0"/>
          </a:p>
        </p:txBody>
      </p:sp>
      <p:sp>
        <p:nvSpPr>
          <p:cNvPr id="17" name="il_299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0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050" dirty="0"/>
          </a:p>
        </p:txBody>
      </p:sp>
      <p:sp>
        <p:nvSpPr>
          <p:cNvPr id="19" name="lg_30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050" dirty="0"/>
          </a:p>
        </p:txBody>
      </p:sp>
      <p:sp>
        <p:nvSpPr>
          <p:cNvPr id="20" name="lg_30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050" dirty="0"/>
          </a:p>
        </p:txBody>
      </p:sp>
      <p:sp>
        <p:nvSpPr>
          <p:cNvPr id="21" name="lg_303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050" dirty="0"/>
          </a:p>
        </p:txBody>
      </p:sp>
      <p:sp>
        <p:nvSpPr>
          <p:cNvPr id="22" name="lg_304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050" dirty="0"/>
          </a:p>
        </p:txBody>
      </p:sp>
      <p:sp>
        <p:nvSpPr>
          <p:cNvPr id="23" name="lg_305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050" dirty="0"/>
          </a:p>
        </p:txBody>
      </p:sp>
      <p:sp>
        <p:nvSpPr>
          <p:cNvPr id="24" name="sq_306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remember meeting him for the first time.</a:t>
            </a:r>
            <a:endParaRPr lang="en-US" sz="1200" dirty="0"/>
          </a:p>
        </p:txBody>
      </p:sp>
      <p:sp>
        <p:nvSpPr>
          <p:cNvPr id="25" name="R1_tag307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6" name="sq_308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Please remember to meet him at the station.</a:t>
            </a:r>
            <a:endParaRPr lang="en-US" sz="1150" dirty="0"/>
          </a:p>
        </p:txBody>
      </p:sp>
      <p:sp>
        <p:nvSpPr>
          <p:cNvPr id="27" name="R2_tag309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8" name="sq_310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Did you remember to lock the door?</a:t>
            </a:r>
            <a:endParaRPr lang="en-US" sz="1200" dirty="0"/>
          </a:p>
        </p:txBody>
      </p:sp>
      <p:sp>
        <p:nvSpPr>
          <p:cNvPr id="29" name="R3_tag311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30" name="sq_312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I'll never forget hearing that song live.</a:t>
            </a:r>
            <a:endParaRPr lang="en-US" sz="1200" dirty="0"/>
          </a:p>
        </p:txBody>
      </p:sp>
      <p:sp>
        <p:nvSpPr>
          <p:cNvPr id="31" name="R4_tag313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32" name="sq_314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tried to open the window, but it was stuck.</a:t>
            </a:r>
            <a:endParaRPr lang="en-US" sz="1150" dirty="0"/>
          </a:p>
        </p:txBody>
      </p:sp>
      <p:sp>
        <p:nvSpPr>
          <p:cNvPr id="33" name="R5_tag315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150" dirty="0"/>
          </a:p>
        </p:txBody>
      </p:sp>
      <p:sp>
        <p:nvSpPr>
          <p:cNvPr id="34" name="sq_316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Can't sleep? Try listening to calm music.</a:t>
            </a:r>
            <a:endParaRPr lang="en-US" sz="1200" dirty="0"/>
          </a:p>
        </p:txBody>
      </p:sp>
      <p:sp>
        <p:nvSpPr>
          <p:cNvPr id="35" name="R6_tag317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150" dirty="0"/>
          </a:p>
        </p:txBody>
      </p:sp>
      <p:sp>
        <p:nvSpPr>
          <p:cNvPr id="36" name="sq_318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 stopped playing the drums at midnight.</a:t>
            </a:r>
            <a:endParaRPr lang="en-US" sz="1150" dirty="0"/>
          </a:p>
        </p:txBody>
      </p:sp>
      <p:sp>
        <p:nvSpPr>
          <p:cNvPr id="37" name="R7_tag319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150" dirty="0"/>
          </a:p>
        </p:txBody>
      </p:sp>
      <p:sp>
        <p:nvSpPr>
          <p:cNvPr id="38" name="sq_320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We stopped to listen to a street musician.</a:t>
            </a:r>
            <a:endParaRPr lang="en-US" sz="1200" dirty="0"/>
          </a:p>
        </p:txBody>
      </p:sp>
      <p:sp>
        <p:nvSpPr>
          <p:cNvPr id="39" name="R8_tag321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150" dirty="0"/>
          </a:p>
        </p:txBody>
      </p:sp>
      <p:sp>
        <p:nvSpPr>
          <p:cNvPr id="40" name="pf_322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1" name="ph_323" descr="/home/claude/lls-course/v2/cache/b2_6b_guitar_sax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or to? Meaning!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Then click for examples.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regola. Poi clicca per gli esempi.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gerunds and infinitives   ·   📖 Grammar Bank 6B p.143</a:t>
            </a:r>
            <a:endParaRPr lang="en-US" sz="800" dirty="0"/>
          </a:p>
        </p:txBody>
      </p:sp>
      <p:sp>
        <p:nvSpPr>
          <p:cNvPr id="14" name="cd_335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336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/ forget</a:t>
            </a:r>
            <a:endParaRPr lang="en-US" sz="1250" dirty="0"/>
          </a:p>
        </p:txBody>
      </p:sp>
      <p:sp>
        <p:nvSpPr>
          <p:cNvPr id="16" name="pf_337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38" descr="/home/claude/lls-course/v2/cache/b2_6b_emotion_book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339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a task · + -ing = a memory</a:t>
            </a:r>
            <a:endParaRPr lang="en-US" sz="1050" dirty="0"/>
          </a:p>
        </p:txBody>
      </p:sp>
      <p:sp>
        <p:nvSpPr>
          <p:cNvPr id="19" name="R1_rx340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tickets!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seeing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them live.</a:t>
            </a:r>
            <a:endParaRPr lang="en-US" sz="1050" dirty="0"/>
          </a:p>
        </p:txBody>
      </p:sp>
      <p:sp>
        <p:nvSpPr>
          <p:cNvPr id="20" name="R1_ri341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ricordarsi di ≠ ricordare di aver fatto</a:t>
            </a:r>
            <a:endParaRPr lang="en-US" sz="850" dirty="0"/>
          </a:p>
        </p:txBody>
      </p:sp>
      <p:sp>
        <p:nvSpPr>
          <p:cNvPr id="21" name="cd_342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43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</a:t>
            </a:r>
            <a:endParaRPr lang="en-US" sz="1250" dirty="0"/>
          </a:p>
        </p:txBody>
      </p:sp>
      <p:sp>
        <p:nvSpPr>
          <p:cNvPr id="23" name="pf_344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45" descr="/home/claude/lls-course/v2/cache/b2_6b_guitar_sax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46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effort · + -ing = experiment</a:t>
            </a:r>
            <a:endParaRPr lang="en-US" sz="1050" dirty="0"/>
          </a:p>
        </p:txBody>
      </p:sp>
      <p:sp>
        <p:nvSpPr>
          <p:cNvPr id="26" name="R2_rx347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reach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high note.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singing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lower!</a:t>
            </a:r>
            <a:endParaRPr lang="en-US" sz="1050" dirty="0"/>
          </a:p>
        </p:txBody>
      </p:sp>
      <p:sp>
        <p:nvSpPr>
          <p:cNvPr id="27" name="R2_ri348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cercare di ≠ provare a (per vedere)</a:t>
            </a:r>
            <a:endParaRPr lang="en-US" sz="850" dirty="0"/>
          </a:p>
        </p:txBody>
      </p:sp>
      <p:sp>
        <p:nvSpPr>
          <p:cNvPr id="28" name="cd_349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50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</a:t>
            </a:r>
            <a:endParaRPr lang="en-US" sz="1250" dirty="0"/>
          </a:p>
        </p:txBody>
      </p:sp>
      <p:sp>
        <p:nvSpPr>
          <p:cNvPr id="30" name="pf_351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52" descr="/home/claude/lls-course/v2/cache/b2_6b_instrument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53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 = finish · + to = in order to</a:t>
            </a:r>
            <a:endParaRPr lang="en-US" sz="1050" dirty="0"/>
          </a:p>
        </p:txBody>
      </p:sp>
      <p:sp>
        <p:nvSpPr>
          <p:cNvPr id="33" name="R3_rx354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playing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it's midnight!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coffee.</a:t>
            </a:r>
            <a:endParaRPr lang="en-US" sz="1050" dirty="0"/>
          </a:p>
        </p:txBody>
      </p:sp>
      <p:sp>
        <p:nvSpPr>
          <p:cNvPr id="34" name="R3_ri355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smettere di ≠ fermarsi per</a:t>
            </a:r>
            <a:endParaRPr lang="en-US" sz="900" dirty="0"/>
          </a:p>
        </p:txBody>
      </p:sp>
      <p:sp>
        <p:nvSpPr>
          <p:cNvPr id="35" name="cd_356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57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other verbs</a:t>
            </a:r>
            <a:endParaRPr lang="en-US" sz="1250" dirty="0"/>
          </a:p>
        </p:txBody>
      </p:sp>
      <p:sp>
        <p:nvSpPr>
          <p:cNvPr id="37" name="pf_358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59" descr="/home/claude/lls-course/v2/cache/b2_6b_famil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60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· to · verb (no to)</a:t>
            </a:r>
            <a:endParaRPr lang="en-US" sz="1050" dirty="0"/>
          </a:p>
        </p:txBody>
      </p:sp>
      <p:sp>
        <p:nvSpPr>
          <p:cNvPr id="40" name="R4_rx361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stand waiting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to get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tickets.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me practise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62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/ let + verbo senza to</a:t>
            </a:r>
            <a:endParaRPr lang="en-US" sz="900" dirty="0"/>
          </a:p>
        </p:txBody>
      </p:sp>
      <p:sp>
        <p:nvSpPr>
          <p:cNvPr id="42" name="R5_wc363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64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need + -ing = passive meaning: My guitar needs tuning (= needs to be tuned).  ✗ suggest to do → ✓ suggest doing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6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or no to?</a:t>
            </a:r>
            <a:endParaRPr lang="en-US" sz="2500" dirty="0"/>
          </a:p>
        </p:txBody>
      </p:sp>
      <p:pic>
        <p:nvPicPr>
          <p:cNvPr id="6" name="brP_3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69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or no to? Say the full sentence.</a:t>
            </a:r>
            <a:endParaRPr lang="en-US" sz="1250" dirty="0"/>
          </a:p>
        </p:txBody>
      </p:sp>
      <p:sp>
        <p:nvSpPr>
          <p:cNvPr id="8" name="insIT_37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forma dopo il verbo? Di' la risposta completa.</a:t>
            </a:r>
            <a:endParaRPr lang="en-US" sz="950" dirty="0"/>
          </a:p>
        </p:txBody>
      </p:sp>
      <p:sp>
        <p:nvSpPr>
          <p:cNvPr id="9" name="cmd_3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37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7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Grammar Bank 6B practice   ·   📖 Grammar Bank 6B p.143 · a (adapted)</a:t>
            </a:r>
            <a:endParaRPr lang="en-US" sz="800" dirty="0"/>
          </a:p>
        </p:txBody>
      </p:sp>
      <p:sp>
        <p:nvSpPr>
          <p:cNvPr id="14" name="cd_376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 I enjoy ___ (sing) → singing</a:t>
            </a:r>
            <a:endParaRPr lang="en-US" sz="1100" dirty="0"/>
          </a:p>
        </p:txBody>
      </p:sp>
      <p:sp>
        <p:nvSpPr>
          <p:cNvPr id="17" name="il_379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8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050" dirty="0"/>
          </a:p>
        </p:txBody>
      </p:sp>
      <p:sp>
        <p:nvSpPr>
          <p:cNvPr id="19" name="lg_38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050" dirty="0"/>
          </a:p>
        </p:txBody>
      </p:sp>
      <p:sp>
        <p:nvSpPr>
          <p:cNvPr id="20" name="lg_38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050" dirty="0"/>
          </a:p>
        </p:txBody>
      </p:sp>
      <p:sp>
        <p:nvSpPr>
          <p:cNvPr id="21" name="sq_38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suggest ___ a taxi to the airport tomorrow. (take)</a:t>
            </a:r>
            <a:endParaRPr lang="en-US" sz="1000" dirty="0"/>
          </a:p>
        </p:txBody>
      </p:sp>
      <p:sp>
        <p:nvSpPr>
          <p:cNvPr id="22" name="R1_tag38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3" name="sq_38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In the snow, we managed ___ to the shop. (drive)</a:t>
            </a:r>
            <a:endParaRPr lang="en-US" sz="1000" dirty="0"/>
          </a:p>
        </p:txBody>
      </p:sp>
      <p:sp>
        <p:nvSpPr>
          <p:cNvPr id="24" name="R2_tag38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5" name="sq_38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We'd better ___ some shopping. (do)</a:t>
            </a:r>
            <a:endParaRPr lang="en-US" sz="1200" dirty="0"/>
          </a:p>
        </p:txBody>
      </p:sp>
      <p:sp>
        <p:nvSpPr>
          <p:cNvPr id="26" name="R3_tag38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27" name="sq_38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I'm very impatient. I can't stand ___ in queues. (wait)</a:t>
            </a:r>
            <a:endParaRPr lang="en-US" sz="950" dirty="0"/>
          </a:p>
        </p:txBody>
      </p:sp>
      <p:sp>
        <p:nvSpPr>
          <p:cNvPr id="28" name="R4_tag39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9" name="sq_39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A young man kindly offered ___ my bags. (carry)</a:t>
            </a:r>
            <a:endParaRPr lang="en-US" sz="1000" dirty="0"/>
          </a:p>
        </p:txBody>
      </p:sp>
      <p:sp>
        <p:nvSpPr>
          <p:cNvPr id="30" name="R5_tag39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1" name="sq_39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My parents used to make me ___ my room. (tidy)</a:t>
            </a:r>
            <a:endParaRPr lang="en-US" sz="1000" dirty="0"/>
          </a:p>
        </p:txBody>
      </p:sp>
      <p:sp>
        <p:nvSpPr>
          <p:cNvPr id="32" name="R6_tag39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33" name="sq_39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Do you feel like ___ to the gym with me? (come)</a:t>
            </a:r>
            <a:endParaRPr lang="en-US" sz="1000" dirty="0"/>
          </a:p>
        </p:txBody>
      </p:sp>
      <p:sp>
        <p:nvSpPr>
          <p:cNvPr id="34" name="R7_tag39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5" name="sq_39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I'd prefer ___ out, not get a takeaway. (eat)</a:t>
            </a:r>
            <a:endParaRPr lang="en-US" sz="1200" dirty="0"/>
          </a:p>
        </p:txBody>
      </p:sp>
      <p:sp>
        <p:nvSpPr>
          <p:cNvPr id="36" name="R8_tag39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7" name="pf_399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400" descr="/home/claude/lls-course/v2/cache/b2_6b_family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0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 race!</a:t>
            </a:r>
            <a:endParaRPr lang="en-US" sz="2500" dirty="0"/>
          </a:p>
        </p:txBody>
      </p:sp>
      <p:pic>
        <p:nvPicPr>
          <p:cNvPr id="6" name="brP_40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05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KEY WORD. Write 2–5 words.</a:t>
            </a:r>
            <a:endParaRPr lang="en-US" sz="1250" dirty="0"/>
          </a:p>
        </p:txBody>
      </p:sp>
      <p:sp>
        <p:nvSpPr>
          <p:cNvPr id="8" name="insIT_40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la frase 2 con 2–5 parole. Usa la PAROLA CHIAVE.</a:t>
            </a:r>
            <a:endParaRPr lang="en-US" sz="950" dirty="0"/>
          </a:p>
        </p:txBody>
      </p:sp>
      <p:sp>
        <p:nvSpPr>
          <p:cNvPr id="9" name="cmd_40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0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40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4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Game · Cambridge B2 First Part 4   ·   📖 Cambridge B2 First · Reading &amp; Use of English Part 4 style</a:t>
            </a:r>
            <a:endParaRPr lang="en-US" sz="800" dirty="0"/>
          </a:p>
        </p:txBody>
      </p:sp>
      <p:sp>
        <p:nvSpPr>
          <p:cNvPr id="14" name="cd_412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1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415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sentence 1 and the KEY WORD.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2–5 words. Don't change the key word!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Don't forget the tickets! REMEMBER → Remember to bring the tickets!</a:t>
            </a:r>
            <a:endParaRPr lang="en-US" sz="1150" dirty="0"/>
          </a:p>
        </p:txBody>
      </p:sp>
      <p:sp>
        <p:nvSpPr>
          <p:cNvPr id="18" name="st_41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17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18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to call Grandma.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→ ___ Grandma.</a:t>
            </a:r>
            <a:endParaRPr lang="en-US" sz="1100" dirty="0"/>
          </a:p>
        </p:txBody>
      </p:sp>
      <p:sp>
        <p:nvSpPr>
          <p:cNvPr id="21" name="R1_chip419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call</a:t>
            </a:r>
            <a:endParaRPr lang="en-US" sz="1100" dirty="0"/>
          </a:p>
        </p:txBody>
      </p:sp>
      <p:sp>
        <p:nvSpPr>
          <p:cNvPr id="22" name="bd_420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21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jar was too hard to open.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→ I ___ the jar, but I couldn't.</a:t>
            </a:r>
            <a:endParaRPr lang="en-US" sz="950" dirty="0"/>
          </a:p>
        </p:txBody>
      </p:sp>
      <p:sp>
        <p:nvSpPr>
          <p:cNvPr id="24" name="R2_chip422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tried to open</a:t>
            </a:r>
            <a:endParaRPr lang="en-US" sz="1100" dirty="0"/>
          </a:p>
        </p:txBody>
      </p:sp>
      <p:sp>
        <p:nvSpPr>
          <p:cNvPr id="25" name="bd_423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24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not turn it off and on again?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→ ___ it off and on again.</a:t>
            </a:r>
            <a:endParaRPr lang="en-US" sz="1000" dirty="0"/>
          </a:p>
        </p:txBody>
      </p:sp>
      <p:sp>
        <p:nvSpPr>
          <p:cNvPr id="27" name="R3_chip425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Try turning</a:t>
            </a:r>
            <a:endParaRPr lang="en-US" sz="1100" dirty="0"/>
          </a:p>
        </p:txBody>
      </p:sp>
      <p:sp>
        <p:nvSpPr>
          <p:cNvPr id="28" name="bd_426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27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saw them live – amazing!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I'll never ___ them live.</a:t>
            </a:r>
            <a:endParaRPr lang="en-US" sz="950" dirty="0"/>
          </a:p>
        </p:txBody>
      </p:sp>
      <p:sp>
        <p:nvSpPr>
          <p:cNvPr id="30" name="R4_chip428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forget seeing</a:t>
            </a:r>
            <a:endParaRPr lang="en-US" sz="1100" dirty="0"/>
          </a:p>
        </p:txBody>
      </p:sp>
      <p:sp>
        <p:nvSpPr>
          <p:cNvPr id="31" name="bd_429"/>
          <p:cNvSpPr/>
          <p:nvPr/>
        </p:nvSpPr>
        <p:spPr>
          <a:xfrm>
            <a:off x="3246120" y="3813048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30"/>
          <p:cNvSpPr/>
          <p:nvPr/>
        </p:nvSpPr>
        <p:spPr>
          <a:xfrm>
            <a:off x="3657600" y="3721608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didn't allow me to go to the gig.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→ Mum ___ go to the gig.</a:t>
            </a:r>
            <a:endParaRPr lang="en-US" sz="950" dirty="0"/>
          </a:p>
        </p:txBody>
      </p:sp>
      <p:sp>
        <p:nvSpPr>
          <p:cNvPr id="33" name="R5_chip431"/>
          <p:cNvSpPr/>
          <p:nvPr/>
        </p:nvSpPr>
        <p:spPr>
          <a:xfrm>
            <a:off x="6263640" y="3721608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didn't let 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your partner about…</a:t>
            </a:r>
            <a:endParaRPr lang="en-US" sz="25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3 topics. Tell your partner.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3 argomenti. Parla al compagno. Fai 1 domanda.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3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4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4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tell your partner about…   ·   📖 SB p.61 · 2e</a:t>
            </a:r>
            <a:endParaRPr lang="en-US" sz="800" dirty="0"/>
          </a:p>
        </p:txBody>
      </p:sp>
      <p:sp>
        <p:nvSpPr>
          <p:cNvPr id="14" name="pf_44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4" descr="/home/claude/lls-course/v2/cache/b2_6b_instrum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Memory: I'll never forget… -ing · I remember… -ing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Trying: I tried to… · I've tried… -ing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up: When was that? Did it work?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React: No way! · Me too! · Really?</a:t>
            </a:r>
            <a:endParaRPr lang="en-US" sz="850" dirty="0"/>
          </a:p>
        </p:txBody>
      </p:sp>
      <p:sp>
        <p:nvSpPr>
          <p:cNvPr id="20" name="R1_qb44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piece of music you'll never forget hearing for the first time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I'll never forget hearing my dad's favourite song at a wedding – I was about seven.</a:t>
            </a:r>
            <a:endParaRPr lang="en-US" sz="1100" dirty="0"/>
          </a:p>
        </p:txBody>
      </p:sp>
      <p:sp>
        <p:nvSpPr>
          <p:cNvPr id="22" name="R2_qb45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sometimes forget to do before you leave the house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often forget to charge my phone, so it dies at lunchtime!</a:t>
            </a:r>
            <a:endParaRPr lang="en-US" sz="1050" dirty="0"/>
          </a:p>
        </p:txBody>
      </p:sp>
      <p:sp>
        <p:nvSpPr>
          <p:cNvPr id="24" name="R3_qb45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remember doing before you were five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remember playing on the beach at Aspra with my grandad.</a:t>
            </a:r>
            <a:endParaRPr lang="en-US" sz="1250" dirty="0"/>
          </a:p>
        </p:txBody>
      </p:sp>
      <p:sp>
        <p:nvSpPr>
          <p:cNvPr id="26" name="R4_qb45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6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skill you tried to learn but couldn't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tried to learn the guitar, but my fingers hurt too much!</a:t>
            </a:r>
            <a:endParaRPr lang="en-US" sz="1250" dirty="0"/>
          </a:p>
        </p:txBody>
      </p:sp>
      <p:sp>
        <p:nvSpPr>
          <p:cNvPr id="28" name="R5_qb457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58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tried doing when you can't sleep at night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I've tried listening to rain sounds – it actually works.</a:t>
            </a:r>
            <a:endParaRPr lang="en-US" sz="1200" dirty="0"/>
          </a:p>
        </p:txBody>
      </p:sp>
      <p:sp>
        <p:nvSpPr>
          <p:cNvPr id="30" name="R6_qb459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60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which song will you choose in 20 years to remember this year? Why?</a:t>
            </a:r>
            <a:endParaRPr lang="en-US" sz="8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This summer's hit – it'll remind me of my friends and the beach.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6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Name the instrument!</a:t>
            </a:r>
            <a:endParaRPr lang="en-US" sz="2500" dirty="0"/>
          </a:p>
        </p:txBody>
      </p:sp>
      <p:pic>
        <p:nvPicPr>
          <p:cNvPr id="6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Write the instrument.</a:t>
            </a:r>
            <a:endParaRPr lang="en-US" sz="1250" dirty="0"/>
          </a:p>
        </p:txBody>
      </p:sp>
      <p:sp>
        <p:nvSpPr>
          <p:cNvPr id="8" name="insIT_4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 Scrivi lo strumento. Poi ascolta.</a:t>
            </a:r>
            <a:endParaRPr lang="en-US" sz="950" dirty="0"/>
          </a:p>
        </p:txBody>
      </p:sp>
      <p:sp>
        <p:nvSpPr>
          <p:cNvPr id="9" name="cmd_4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46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6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7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Vocabulary · instruments   ·   📖 SB p.61 · 3a, 3b · audio 6.16, 6.17</a:t>
            </a:r>
            <a:endParaRPr lang="en-US" sz="800" dirty="0"/>
          </a:p>
        </p:txBody>
      </p:sp>
      <p:sp>
        <p:nvSpPr>
          <p:cNvPr id="15" name="cd_47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7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🎻 small, under your chin → a violin /vaɪəˈlɪn/</a:t>
            </a:r>
            <a:endParaRPr lang="en-US" sz="1050" dirty="0"/>
          </a:p>
        </p:txBody>
      </p:sp>
      <p:sp>
        <p:nvSpPr>
          <p:cNvPr id="19" name="pf_477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8" descr="/home/claude/lls-course/v2/cache/b2_6b_guitar_sax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47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 + 6.17</a:t>
            </a:r>
            <a:endParaRPr lang="en-US" sz="1100" dirty="0"/>
          </a:p>
        </p:txBody>
      </p:sp>
      <p:sp>
        <p:nvSpPr>
          <p:cNvPr id="22" name="ah_480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5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6" name="Media 3">
            <a:hlinkClick r:id="" action="ppaction://media"/>
          </p:cNvPr>
          <p:cNvPicPr>
            <a:picLocks noChangeAspect="1"/>
          </p:cNvPicPr>
          <p:nvPr>
            <a:audioFile r:link="rId15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7" name="bd_48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q_48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4 strings, very low notes</a:t>
            </a:r>
            <a:endParaRPr lang="en-US" sz="1150" dirty="0"/>
          </a:p>
        </p:txBody>
      </p:sp>
      <p:sp>
        <p:nvSpPr>
          <p:cNvPr id="29" name="R1_chip48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bass guitar – bass = /beɪs/ (like base!)</a:t>
            </a:r>
            <a:endParaRPr lang="en-US" sz="1000" dirty="0"/>
          </a:p>
        </p:txBody>
      </p:sp>
      <p:sp>
        <p:nvSpPr>
          <p:cNvPr id="30" name="bd_48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q_48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🥁 you hit them with sticks</a:t>
            </a:r>
            <a:endParaRPr lang="en-US" sz="1150" dirty="0"/>
          </a:p>
        </p:txBody>
      </p:sp>
      <p:sp>
        <p:nvSpPr>
          <p:cNvPr id="32" name="R2_chip48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drums (✗ battery!)</a:t>
            </a:r>
            <a:endParaRPr lang="en-US" sz="1000" dirty="0"/>
          </a:p>
        </p:txBody>
      </p:sp>
      <p:sp>
        <p:nvSpPr>
          <p:cNvPr id="33" name="bd_48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q_48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🎹 an electric piano</a:t>
            </a:r>
            <a:endParaRPr lang="en-US" sz="1150" dirty="0"/>
          </a:p>
        </p:txBody>
      </p:sp>
      <p:sp>
        <p:nvSpPr>
          <p:cNvPr id="35" name="R3_chip48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keyboard /ˈkiːbɔːd/</a:t>
            </a:r>
            <a:endParaRPr lang="en-US" sz="1000" dirty="0"/>
          </a:p>
        </p:txBody>
      </p:sp>
      <p:sp>
        <p:nvSpPr>
          <p:cNvPr id="36" name="bd_49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q_49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big – you sit to play it</a:t>
            </a:r>
            <a:endParaRPr lang="en-US" sz="1150" dirty="0"/>
          </a:p>
        </p:txBody>
      </p:sp>
      <p:sp>
        <p:nvSpPr>
          <p:cNvPr id="38" name="R4_chip49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cello /ˈtʃeləʊ/</a:t>
            </a:r>
            <a:endParaRPr lang="en-US" sz="1000" dirty="0"/>
          </a:p>
        </p:txBody>
      </p:sp>
      <p:sp>
        <p:nvSpPr>
          <p:cNvPr id="39" name="bd_49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40" name="q_49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silver – you blow across it</a:t>
            </a:r>
            <a:endParaRPr lang="en-US" sz="1150" dirty="0"/>
          </a:p>
        </p:txBody>
      </p:sp>
      <p:sp>
        <p:nvSpPr>
          <p:cNvPr id="41" name="R5_chip49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flute /fluːt/</a:t>
            </a:r>
            <a:endParaRPr lang="en-US" sz="1000" dirty="0"/>
          </a:p>
        </p:txBody>
      </p:sp>
      <p:sp>
        <p:nvSpPr>
          <p:cNvPr id="42" name="bd_496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3" name="q_497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🎷 jazz – gold – you blow into it</a:t>
            </a:r>
            <a:endParaRPr lang="en-US" sz="1150" dirty="0"/>
          </a:p>
        </p:txBody>
      </p:sp>
      <p:sp>
        <p:nvSpPr>
          <p:cNvPr id="44" name="R6_chip498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saxophone /ˈsæksəfəʊn/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0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Careful, Italians!</a:t>
            </a:r>
            <a:endParaRPr lang="en-US" sz="2500" dirty="0"/>
          </a:p>
        </p:txBody>
      </p:sp>
      <p:pic>
        <p:nvPicPr>
          <p:cNvPr id="6" name="brP_5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0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click.</a:t>
            </a:r>
            <a:endParaRPr lang="en-US" sz="1250" dirty="0"/>
          </a:p>
        </p:txBody>
      </p:sp>
      <p:sp>
        <p:nvSpPr>
          <p:cNvPr id="8" name="insIT_50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5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0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50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5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Vocabulary · musicians + Italian traps   ·   📖 SB p.61 · 3a musicians</a:t>
            </a:r>
            <a:endParaRPr lang="en-US" sz="800" dirty="0"/>
          </a:p>
        </p:txBody>
      </p:sp>
      <p:sp>
        <p:nvSpPr>
          <p:cNvPr id="14" name="cd_510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11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16" name="en_512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conductor</a:t>
            </a:r>
            <a:endParaRPr lang="en-US" sz="1200" dirty="0"/>
          </a:p>
        </p:txBody>
      </p:sp>
      <p:sp>
        <p:nvSpPr>
          <p:cNvPr id="17" name="R1_def513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 an orchestra</a:t>
            </a:r>
            <a:endParaRPr lang="en-US" sz="850" dirty="0"/>
          </a:p>
        </p:txBody>
      </p:sp>
      <p:sp>
        <p:nvSpPr>
          <p:cNvPr id="18" name="R2_it514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direttore d'orchestra</a:t>
            </a:r>
            <a:endParaRPr lang="en-US" sz="900" dirty="0"/>
          </a:p>
        </p:txBody>
      </p:sp>
      <p:sp>
        <p:nvSpPr>
          <p:cNvPr id="19" name="cd_515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516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1" name="en_517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200" dirty="0"/>
          </a:p>
        </p:txBody>
      </p:sp>
      <p:sp>
        <p:nvSpPr>
          <p:cNvPr id="22" name="R1_def518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big classical group</a:t>
            </a:r>
            <a:endParaRPr lang="en-US" sz="850" dirty="0"/>
          </a:p>
        </p:txBody>
      </p:sp>
      <p:sp>
        <p:nvSpPr>
          <p:cNvPr id="23" name="R2_it519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</a:t>
            </a:r>
            <a:endParaRPr lang="en-US" sz="900" dirty="0"/>
          </a:p>
        </p:txBody>
      </p:sp>
      <p:sp>
        <p:nvSpPr>
          <p:cNvPr id="24" name="cd_520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521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6" name="en_522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 /ˈkwaɪə/</a:t>
            </a:r>
            <a:endParaRPr lang="en-US" sz="1200" dirty="0"/>
          </a:p>
        </p:txBody>
      </p:sp>
      <p:sp>
        <p:nvSpPr>
          <p:cNvPr id="27" name="R1_def523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who sing together</a:t>
            </a:r>
            <a:endParaRPr lang="en-US" sz="850" dirty="0"/>
          </a:p>
        </p:txBody>
      </p:sp>
      <p:sp>
        <p:nvSpPr>
          <p:cNvPr id="28" name="R2_it524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coro</a:t>
            </a:r>
            <a:endParaRPr lang="en-US" sz="900" dirty="0"/>
          </a:p>
        </p:txBody>
      </p:sp>
      <p:sp>
        <p:nvSpPr>
          <p:cNvPr id="29" name="cd_525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2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31" name="en_52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 /ˈkɔːrəs/</a:t>
            </a:r>
            <a:endParaRPr lang="en-US" sz="1150" dirty="0"/>
          </a:p>
        </p:txBody>
      </p:sp>
      <p:sp>
        <p:nvSpPr>
          <p:cNvPr id="32" name="R1_def528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repeated part of a song</a:t>
            </a:r>
            <a:endParaRPr lang="en-US" sz="850" dirty="0"/>
          </a:p>
        </p:txBody>
      </p:sp>
      <p:sp>
        <p:nvSpPr>
          <p:cNvPr id="33" name="R2_it529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ritornello</a:t>
            </a:r>
            <a:endParaRPr lang="en-US" sz="900" dirty="0"/>
          </a:p>
        </p:txBody>
      </p:sp>
      <p:sp>
        <p:nvSpPr>
          <p:cNvPr id="34" name="cd_530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531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🎫</a:t>
            </a:r>
            <a:endParaRPr lang="en-US" sz="2000" dirty="0"/>
          </a:p>
        </p:txBody>
      </p:sp>
      <p:sp>
        <p:nvSpPr>
          <p:cNvPr id="36" name="en_532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</a:t>
            </a:r>
            <a:endParaRPr lang="en-US" sz="1200" dirty="0"/>
          </a:p>
        </p:txBody>
      </p:sp>
      <p:sp>
        <p:nvSpPr>
          <p:cNvPr id="37" name="R1_def533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music show</a:t>
            </a:r>
            <a:endParaRPr lang="en-US" sz="850" dirty="0"/>
          </a:p>
        </p:txBody>
      </p:sp>
      <p:sp>
        <p:nvSpPr>
          <p:cNvPr id="38" name="R2_it534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concerto</a:t>
            </a:r>
            <a:endParaRPr lang="en-US" sz="900" dirty="0"/>
          </a:p>
        </p:txBody>
      </p:sp>
      <p:sp>
        <p:nvSpPr>
          <p:cNvPr id="39" name="cd_535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536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41" name="en_537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200" dirty="0"/>
          </a:p>
        </p:txBody>
      </p:sp>
      <p:sp>
        <p:nvSpPr>
          <p:cNvPr id="42" name="R1_def538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soloist + orchestra</a:t>
            </a:r>
            <a:endParaRPr lang="en-US" sz="850" dirty="0"/>
          </a:p>
        </p:txBody>
      </p:sp>
      <p:sp>
        <p:nvSpPr>
          <p:cNvPr id="43" name="R2_it539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concerto (per solista)</a:t>
            </a:r>
            <a:endParaRPr lang="en-US" sz="900" dirty="0"/>
          </a:p>
        </p:txBody>
      </p:sp>
      <p:sp>
        <p:nvSpPr>
          <p:cNvPr id="44" name="cd_540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541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46" name="en_542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200" dirty="0"/>
          </a:p>
        </p:txBody>
      </p:sp>
      <p:sp>
        <p:nvSpPr>
          <p:cNvPr id="47" name="R1_def543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highest female voice</a:t>
            </a:r>
            <a:endParaRPr lang="en-US" sz="850" dirty="0"/>
          </a:p>
        </p:txBody>
      </p:sp>
      <p:sp>
        <p:nvSpPr>
          <p:cNvPr id="48" name="R2_it544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soprano</a:t>
            </a:r>
            <a:endParaRPr lang="en-US" sz="900" dirty="0"/>
          </a:p>
        </p:txBody>
      </p:sp>
      <p:sp>
        <p:nvSpPr>
          <p:cNvPr id="49" name="cd_545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546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51" name="en_547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composer</a:t>
            </a:r>
            <a:endParaRPr lang="en-US" sz="1200" dirty="0"/>
          </a:p>
        </p:txBody>
      </p:sp>
      <p:sp>
        <p:nvSpPr>
          <p:cNvPr id="52" name="R1_def548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music (Beethoven)</a:t>
            </a:r>
            <a:endParaRPr lang="en-US" sz="850" dirty="0"/>
          </a:p>
        </p:txBody>
      </p:sp>
      <p:sp>
        <p:nvSpPr>
          <p:cNvPr id="53" name="R2_it549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compositore</a:t>
            </a:r>
            <a:endParaRPr lang="en-US" sz="900" dirty="0"/>
          </a:p>
        </p:txBody>
      </p:sp>
      <p:sp>
        <p:nvSpPr>
          <p:cNvPr id="54" name="cd_550"/>
          <p:cNvSpPr/>
          <p:nvPr/>
        </p:nvSpPr>
        <p:spPr>
          <a:xfrm>
            <a:off x="320040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551"/>
          <p:cNvSpPr/>
          <p:nvPr/>
        </p:nvSpPr>
        <p:spPr>
          <a:xfrm>
            <a:off x="393192" y="35387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56" name="en_552"/>
          <p:cNvSpPr/>
          <p:nvPr/>
        </p:nvSpPr>
        <p:spPr>
          <a:xfrm>
            <a:off x="978408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band</a:t>
            </a:r>
            <a:endParaRPr lang="en-US" sz="1200" dirty="0"/>
          </a:p>
        </p:txBody>
      </p:sp>
      <p:sp>
        <p:nvSpPr>
          <p:cNvPr id="57" name="R1_def553"/>
          <p:cNvSpPr/>
          <p:nvPr/>
        </p:nvSpPr>
        <p:spPr>
          <a:xfrm>
            <a:off x="978408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pop or rock group</a:t>
            </a:r>
            <a:endParaRPr lang="en-US" sz="850" dirty="0"/>
          </a:p>
        </p:txBody>
      </p:sp>
      <p:sp>
        <p:nvSpPr>
          <p:cNvPr id="58" name="R2_it554"/>
          <p:cNvSpPr/>
          <p:nvPr/>
        </p:nvSpPr>
        <p:spPr>
          <a:xfrm>
            <a:off x="978408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gruppo / band</a:t>
            </a:r>
            <a:endParaRPr lang="en-US" sz="900" dirty="0"/>
          </a:p>
        </p:txBody>
      </p:sp>
      <p:sp>
        <p:nvSpPr>
          <p:cNvPr id="59" name="cd_555"/>
          <p:cNvSpPr/>
          <p:nvPr/>
        </p:nvSpPr>
        <p:spPr>
          <a:xfrm>
            <a:off x="2487168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556"/>
          <p:cNvSpPr/>
          <p:nvPr/>
        </p:nvSpPr>
        <p:spPr>
          <a:xfrm>
            <a:off x="2560320" y="35387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61" name="en_557"/>
          <p:cNvSpPr/>
          <p:nvPr/>
        </p:nvSpPr>
        <p:spPr>
          <a:xfrm>
            <a:off x="3145536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200" dirty="0"/>
          </a:p>
        </p:txBody>
      </p:sp>
      <p:sp>
        <p:nvSpPr>
          <p:cNvPr id="62" name="R1_def558"/>
          <p:cNvSpPr/>
          <p:nvPr/>
        </p:nvSpPr>
        <p:spPr>
          <a:xfrm>
            <a:off x="3145536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words of a song</a:t>
            </a:r>
            <a:endParaRPr lang="en-US" sz="850" dirty="0"/>
          </a:p>
        </p:txBody>
      </p:sp>
      <p:sp>
        <p:nvSpPr>
          <p:cNvPr id="63" name="R2_it559"/>
          <p:cNvSpPr/>
          <p:nvPr/>
        </p:nvSpPr>
        <p:spPr>
          <a:xfrm>
            <a:off x="3145536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testo (di una canzone)</a:t>
            </a:r>
            <a:endParaRPr lang="en-US" sz="800" dirty="0"/>
          </a:p>
        </p:txBody>
      </p:sp>
      <p:sp>
        <p:nvSpPr>
          <p:cNvPr id="64" name="cd_560"/>
          <p:cNvSpPr/>
          <p:nvPr/>
        </p:nvSpPr>
        <p:spPr>
          <a:xfrm>
            <a:off x="4654296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561"/>
          <p:cNvSpPr/>
          <p:nvPr/>
        </p:nvSpPr>
        <p:spPr>
          <a:xfrm>
            <a:off x="4727448" y="35387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🥁</a:t>
            </a:r>
            <a:endParaRPr lang="en-US" sz="2000" dirty="0"/>
          </a:p>
        </p:txBody>
      </p:sp>
      <p:sp>
        <p:nvSpPr>
          <p:cNvPr id="66" name="en_562"/>
          <p:cNvSpPr/>
          <p:nvPr/>
        </p:nvSpPr>
        <p:spPr>
          <a:xfrm>
            <a:off x="5312664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200" dirty="0"/>
          </a:p>
        </p:txBody>
      </p:sp>
      <p:sp>
        <p:nvSpPr>
          <p:cNvPr id="67" name="R1_def563"/>
          <p:cNvSpPr/>
          <p:nvPr/>
        </p:nvSpPr>
        <p:spPr>
          <a:xfrm>
            <a:off x="5312664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hit them with sticks</a:t>
            </a:r>
            <a:endParaRPr lang="en-US" sz="850" dirty="0"/>
          </a:p>
        </p:txBody>
      </p:sp>
      <p:sp>
        <p:nvSpPr>
          <p:cNvPr id="68" name="R2_it564"/>
          <p:cNvSpPr/>
          <p:nvPr/>
        </p:nvSpPr>
        <p:spPr>
          <a:xfrm>
            <a:off x="5312664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batteria</a:t>
            </a:r>
            <a:endParaRPr lang="en-US" sz="900" dirty="0"/>
          </a:p>
        </p:txBody>
      </p:sp>
      <p:sp>
        <p:nvSpPr>
          <p:cNvPr id="69" name="cd_565"/>
          <p:cNvSpPr/>
          <p:nvPr/>
        </p:nvSpPr>
        <p:spPr>
          <a:xfrm>
            <a:off x="6821424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0" name="e_566"/>
          <p:cNvSpPr/>
          <p:nvPr/>
        </p:nvSpPr>
        <p:spPr>
          <a:xfrm>
            <a:off x="6894576" y="35387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71" name="en_567"/>
          <p:cNvSpPr/>
          <p:nvPr/>
        </p:nvSpPr>
        <p:spPr>
          <a:xfrm>
            <a:off x="7479792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200" dirty="0"/>
          </a:p>
        </p:txBody>
      </p:sp>
      <p:sp>
        <p:nvSpPr>
          <p:cNvPr id="72" name="R1_def568"/>
          <p:cNvSpPr/>
          <p:nvPr/>
        </p:nvSpPr>
        <p:spPr>
          <a:xfrm>
            <a:off x="7479792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electric piano</a:t>
            </a:r>
            <a:endParaRPr lang="en-US" sz="850" dirty="0"/>
          </a:p>
        </p:txBody>
      </p:sp>
      <p:sp>
        <p:nvSpPr>
          <p:cNvPr id="73" name="R2_it569"/>
          <p:cNvSpPr/>
          <p:nvPr/>
        </p:nvSpPr>
        <p:spPr>
          <a:xfrm>
            <a:off x="7479792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tastiera</a:t>
            </a:r>
            <a:endParaRPr lang="en-US" sz="900" dirty="0"/>
          </a:p>
        </p:txBody>
      </p:sp>
      <p:sp>
        <p:nvSpPr>
          <p:cNvPr id="74" name="R2_wc570"/>
          <p:cNvSpPr/>
          <p:nvPr/>
        </p:nvSpPr>
        <p:spPr>
          <a:xfrm>
            <a:off x="320040" y="44805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R2_w571"/>
          <p:cNvSpPr/>
          <p:nvPr/>
        </p:nvSpPr>
        <p:spPr>
          <a:xfrm>
            <a:off x="457200" y="44805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conductor ≠ conduttore (TV = presenter)  ·  concert = concerto (show)  ·  chorus = ritornello  ·  ORchestra, not orCHEStra  ·  ✗ battery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7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Borrowed words</a:t>
            </a:r>
            <a:endParaRPr lang="en-US" sz="2400" dirty="0"/>
          </a:p>
        </p:txBody>
      </p:sp>
      <p:pic>
        <p:nvPicPr>
          <p:cNvPr id="6" name="brP_5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7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Click. Say the words aloud.</a:t>
            </a:r>
            <a:endParaRPr lang="en-US" sz="1250" dirty="0"/>
          </a:p>
        </p:txBody>
      </p:sp>
      <p:sp>
        <p:nvSpPr>
          <p:cNvPr id="8" name="insIT_57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regola. Clicca. Di' le parole.</a:t>
            </a:r>
            <a:endParaRPr lang="en-US" sz="950" dirty="0"/>
          </a:p>
        </p:txBody>
      </p:sp>
      <p:sp>
        <p:nvSpPr>
          <p:cNvPr id="9" name="cmd_57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57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58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5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Pronunciation · words from other languages   ·   📖 SB p.61 · 3c, 3d · audio 6.18 (+ 6.19 for 3e/f)</a:t>
            </a:r>
            <a:endParaRPr lang="en-US" sz="800" dirty="0"/>
          </a:p>
        </p:txBody>
      </p:sp>
      <p:sp>
        <p:nvSpPr>
          <p:cNvPr id="14" name="ap_583"/>
          <p:cNvSpPr/>
          <p:nvPr/>
        </p:nvSpPr>
        <p:spPr>
          <a:xfrm>
            <a:off x="6583680" y="9144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 + 6.19</a:t>
            </a:r>
            <a:endParaRPr lang="en-US" sz="1100" dirty="0"/>
          </a:p>
        </p:txBody>
      </p:sp>
      <p:sp>
        <p:nvSpPr>
          <p:cNvPr id="15" name="ah_584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9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0" name="cd_585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586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c + e / i</a:t>
            </a:r>
            <a:endParaRPr lang="en-US" sz="1250" dirty="0"/>
          </a:p>
        </p:txBody>
      </p:sp>
      <p:sp>
        <p:nvSpPr>
          <p:cNvPr id="22" name="pf_587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88" descr="/home/claude/lls-course/v2/cache/b2_6b_cello_drum_jpg_415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4" name="ru_589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 = /tʃ/</a:t>
            </a:r>
            <a:endParaRPr lang="en-US" sz="1050" dirty="0"/>
          </a:p>
        </p:txBody>
      </p:sp>
      <p:sp>
        <p:nvSpPr>
          <p:cNvPr id="25" name="R1_rx590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erto /kənˈtʃɜːtəʊ/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ello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iao</a:t>
            </a:r>
            <a:endParaRPr lang="en-US" sz="1050" dirty="0"/>
          </a:p>
        </p:txBody>
      </p:sp>
      <p:sp>
        <p:nvSpPr>
          <p:cNvPr id="26" name="R1_ri591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in italiano!</a:t>
            </a:r>
            <a:endParaRPr lang="en-US" sz="900" dirty="0"/>
          </a:p>
        </p:txBody>
      </p:sp>
      <p:sp>
        <p:nvSpPr>
          <p:cNvPr id="27" name="cd_592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593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zz</a:t>
            </a:r>
            <a:endParaRPr lang="en-US" sz="1250" dirty="0"/>
          </a:p>
        </p:txBody>
      </p:sp>
      <p:sp>
        <p:nvSpPr>
          <p:cNvPr id="29" name="pf_594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595" descr="/home/claude/lls-course/v2/cache/b2_6b_conductor_jpg_415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31" name="ru_596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zz = /ts/</a:t>
            </a:r>
            <a:endParaRPr lang="en-US" sz="1050" dirty="0"/>
          </a:p>
        </p:txBody>
      </p:sp>
      <p:sp>
        <p:nvSpPr>
          <p:cNvPr id="32" name="R2_rx597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zz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o-soprano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/ˌmetsəʊ səˈprɑːnəʊ/</a:t>
            </a:r>
            <a:endParaRPr lang="en-US" sz="1050" dirty="0"/>
          </a:p>
        </p:txBody>
      </p:sp>
      <p:sp>
        <p:nvSpPr>
          <p:cNvPr id="33" name="R2_ri598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in pizza</a:t>
            </a:r>
            <a:endParaRPr lang="en-US" sz="900" dirty="0"/>
          </a:p>
        </p:txBody>
      </p:sp>
      <p:sp>
        <p:nvSpPr>
          <p:cNvPr id="34" name="cd_599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600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Greek ch · rh · ph</a:t>
            </a:r>
            <a:endParaRPr lang="en-US" sz="1250" dirty="0"/>
          </a:p>
        </p:txBody>
      </p:sp>
      <p:sp>
        <p:nvSpPr>
          <p:cNvPr id="36" name="pf_601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602" descr="/home/claude/lls-course/v2/cache/b2_6b_family_jpg_415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8" name="ru_603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 = /k/ · rh = /r/ · ph = /f/</a:t>
            </a:r>
            <a:endParaRPr lang="en-US" sz="1050" dirty="0"/>
          </a:p>
        </p:txBody>
      </p:sp>
      <p:sp>
        <p:nvSpPr>
          <p:cNvPr id="39" name="R3_rx604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orus · or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ythm /ˈrɪðəm/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sym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ony /ˈsɪmfəni/</a:t>
            </a:r>
            <a:endParaRPr lang="en-US" sz="1050" dirty="0"/>
          </a:p>
        </p:txBody>
      </p:sp>
      <p:sp>
        <p:nvSpPr>
          <p:cNvPr id="40" name="R3_ri605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 NON è /tʃ/!</a:t>
            </a:r>
            <a:endParaRPr lang="en-US" sz="900" dirty="0"/>
          </a:p>
        </p:txBody>
      </p:sp>
      <p:sp>
        <p:nvSpPr>
          <p:cNvPr id="41" name="cd_606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h_607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</a:t>
            </a:r>
            <a:endParaRPr lang="en-US" sz="1250" dirty="0"/>
          </a:p>
        </p:txBody>
      </p:sp>
      <p:sp>
        <p:nvSpPr>
          <p:cNvPr id="43" name="pf_608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4" name="ph_609" descr="/home/claude/lls-course/v2/cache/b2_6b_pianist_jpg_415x209_3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5" name="ru_610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 sounds</a:t>
            </a:r>
            <a:endParaRPr lang="en-US" sz="1050" dirty="0"/>
          </a:p>
        </p:txBody>
      </p:sp>
      <p:sp>
        <p:nvSpPr>
          <p:cNvPr id="46" name="R4_rx611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/ˈbæleɪ/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/ˈɒŋkɔː/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enre /ˈʒɒnrə/</a:t>
            </a:r>
            <a:endParaRPr lang="en-US" sz="1050" dirty="0"/>
          </a:p>
        </p:txBody>
      </p:sp>
      <p:sp>
        <p:nvSpPr>
          <p:cNvPr id="47" name="R4_ri612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 finale muta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1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1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19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20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Exit · what can you remember?</a:t>
            </a:r>
            <a:endParaRPr lang="en-US" sz="800" dirty="0"/>
          </a:p>
        </p:txBody>
      </p:sp>
      <p:sp>
        <p:nvSpPr>
          <p:cNvPr id="13" name="bd_62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2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or to (e.g. enjoy…)</a:t>
            </a:r>
            <a:endParaRPr lang="en-US" sz="1400" dirty="0"/>
          </a:p>
        </p:txBody>
      </p:sp>
      <p:sp>
        <p:nvSpPr>
          <p:cNvPr id="15" name="bd_62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2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words Italians get wrong</a:t>
            </a:r>
            <a:endParaRPr lang="en-US" sz="1400" dirty="0"/>
          </a:p>
        </p:txBody>
      </p:sp>
      <p:sp>
        <p:nvSpPr>
          <p:cNvPr id="17" name="bd_62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2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sentence: I'll never forget …-ing</a:t>
            </a:r>
            <a:endParaRPr lang="en-US" sz="1400" dirty="0"/>
          </a:p>
        </p:txBody>
      </p:sp>
      <p:sp>
        <p:nvSpPr>
          <p:cNvPr id="19" name="cd_629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3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3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32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1a, 1b, 1c, 1d (gerunds and infinitives)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2a, 2b, 2c, 2e (music · borrowed words)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2d, 2f, 2g, 2h with the Workbook audio</a:t>
            </a:r>
            <a:endParaRPr lang="en-US" sz="1150" dirty="0"/>
          </a:p>
        </p:txBody>
      </p:sp>
      <p:sp>
        <p:nvSpPr>
          <p:cNvPr id="23" name="st_633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part 2 · Music while you work · reading + speaking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3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it from?</a:t>
            </a:r>
            <a:endParaRPr lang="en-US" sz="2500" dirty="0"/>
          </a:p>
        </p:txBody>
      </p:sp>
      <p:pic>
        <p:nvPicPr>
          <p:cNvPr id="6" name="brP_6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63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Italian, Greek or French? Then listen.</a:t>
            </a:r>
            <a:endParaRPr lang="en-US" sz="1250" dirty="0"/>
          </a:p>
        </p:txBody>
      </p:sp>
      <p:sp>
        <p:nvSpPr>
          <p:cNvPr id="8" name="insIT_63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Italiano, greco o francese? Poi ascolta.</a:t>
            </a:r>
            <a:endParaRPr lang="en-US" sz="950" dirty="0"/>
          </a:p>
        </p:txBody>
      </p:sp>
      <p:sp>
        <p:nvSpPr>
          <p:cNvPr id="9" name="cmd_6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cmd_64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64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64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6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Pronunciation · borrowed words   ·   📖 SB p.61 · 3e, 3f · audio 6.19 is on slide 18</a:t>
            </a:r>
            <a:endParaRPr lang="en-US" sz="800" dirty="0"/>
          </a:p>
        </p:txBody>
      </p:sp>
      <p:sp>
        <p:nvSpPr>
          <p:cNvPr id="15" name="st_64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64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8" name="ih_6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does it come from?</a:t>
            </a:r>
            <a:endParaRPr lang="en-US" sz="1150" dirty="0"/>
          </a:p>
        </p:txBody>
      </p:sp>
      <p:sp>
        <p:nvSpPr>
          <p:cNvPr id="19" name="il_65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0" name="lg_65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050" dirty="0"/>
          </a:p>
        </p:txBody>
      </p:sp>
      <p:sp>
        <p:nvSpPr>
          <p:cNvPr id="21" name="lg_65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050" dirty="0"/>
          </a:p>
        </p:txBody>
      </p:sp>
      <p:sp>
        <p:nvSpPr>
          <p:cNvPr id="22" name="lg_65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050" dirty="0"/>
          </a:p>
        </p:txBody>
      </p:sp>
      <p:sp>
        <p:nvSpPr>
          <p:cNvPr id="23" name="sq_65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barista</a:t>
            </a:r>
            <a:endParaRPr lang="en-US" sz="1200" dirty="0"/>
          </a:p>
        </p:txBody>
      </p:sp>
      <p:sp>
        <p:nvSpPr>
          <p:cNvPr id="24" name="R1_tag65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5" name="sq_65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6" name="R2_tag65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  <p:sp>
        <p:nvSpPr>
          <p:cNvPr id="27" name="sq_65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psychologist</a:t>
            </a:r>
            <a:endParaRPr lang="en-US" sz="1200" dirty="0"/>
          </a:p>
        </p:txBody>
      </p:sp>
      <p:sp>
        <p:nvSpPr>
          <p:cNvPr id="28" name="R3_tag65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150" dirty="0"/>
          </a:p>
        </p:txBody>
      </p:sp>
      <p:sp>
        <p:nvSpPr>
          <p:cNvPr id="29" name="sq_66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paparazzi</a:t>
            </a:r>
            <a:endParaRPr lang="en-US" sz="1200" dirty="0"/>
          </a:p>
        </p:txBody>
      </p:sp>
      <p:sp>
        <p:nvSpPr>
          <p:cNvPr id="30" name="R4_tag66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31" name="sq_66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croissant</a:t>
            </a:r>
            <a:endParaRPr lang="en-US" sz="1200" dirty="0"/>
          </a:p>
        </p:txBody>
      </p:sp>
      <p:sp>
        <p:nvSpPr>
          <p:cNvPr id="32" name="R5_tag66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6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music!</a:t>
            </a:r>
            <a:endParaRPr lang="en-US" sz="2500" dirty="0"/>
          </a:p>
        </p:txBody>
      </p:sp>
      <p:pic>
        <p:nvPicPr>
          <p:cNvPr id="6" name="brP_6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6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66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67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7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67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6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Game · music words</a:t>
            </a:r>
            <a:endParaRPr lang="en-US" sz="800" dirty="0"/>
          </a:p>
        </p:txBody>
      </p:sp>
      <p:sp>
        <p:nvSpPr>
          <p:cNvPr id="14" name="st_67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7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67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looks away.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in English. Don't say the word!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'He leads the orchestra with a stick.' → a conductor</a:t>
            </a:r>
            <a:endParaRPr lang="en-US" sz="1150" dirty="0"/>
          </a:p>
        </p:txBody>
      </p:sp>
      <p:sp>
        <p:nvSpPr>
          <p:cNvPr id="19" name="st_68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rl_68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1" name="R1_w68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</a:t>
            </a:r>
            <a:endParaRPr lang="en-US" sz="1700" dirty="0"/>
          </a:p>
        </p:txBody>
      </p:sp>
      <p:sp>
        <p:nvSpPr>
          <p:cNvPr id="22" name="R2_w68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700" dirty="0"/>
          </a:p>
        </p:txBody>
      </p:sp>
      <p:sp>
        <p:nvSpPr>
          <p:cNvPr id="23" name="R3_w68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700" dirty="0"/>
          </a:p>
        </p:txBody>
      </p:sp>
      <p:sp>
        <p:nvSpPr>
          <p:cNvPr id="24" name="R4_w68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700" dirty="0"/>
          </a:p>
        </p:txBody>
      </p:sp>
      <p:sp>
        <p:nvSpPr>
          <p:cNvPr id="25" name="rl_68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6" name="R5_w68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700" dirty="0"/>
          </a:p>
        </p:txBody>
      </p:sp>
      <p:sp>
        <p:nvSpPr>
          <p:cNvPr id="27" name="R6_w68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</a:t>
            </a:r>
            <a:endParaRPr lang="en-US" sz="1700" dirty="0"/>
          </a:p>
        </p:txBody>
      </p:sp>
      <p:sp>
        <p:nvSpPr>
          <p:cNvPr id="28" name="R7_w68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700" dirty="0"/>
          </a:p>
        </p:txBody>
      </p:sp>
      <p:sp>
        <p:nvSpPr>
          <p:cNvPr id="29" name="R8_w69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693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music would you play…?</a:t>
            </a:r>
            <a:endParaRPr lang="en-US" sz="2250" dirty="0"/>
          </a:p>
        </p:txBody>
      </p:sp>
      <p:pic>
        <p:nvPicPr>
          <p:cNvPr id="6" name="brP_6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69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music. Give a reason.</a:t>
            </a:r>
            <a:endParaRPr lang="en-US" sz="1250" dirty="0"/>
          </a:p>
        </p:txBody>
      </p:sp>
      <p:sp>
        <p:nvSpPr>
          <p:cNvPr id="8" name="insIT_69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la musica per ogni situazione. Spiega perché.</a:t>
            </a:r>
            <a:endParaRPr lang="en-US" sz="950" dirty="0"/>
          </a:p>
        </p:txBody>
      </p:sp>
      <p:sp>
        <p:nvSpPr>
          <p:cNvPr id="9" name="cmd_6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9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69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7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what music would you play?   ·   📖 SB p.60 · 1g</a:t>
            </a:r>
            <a:endParaRPr lang="en-US" sz="800" dirty="0"/>
          </a:p>
        </p:txBody>
      </p:sp>
      <p:sp>
        <p:nvSpPr>
          <p:cNvPr id="14" name="st_70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0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04" descr="/home/claude/lls-course/v2/cache/b2_6b_pianis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0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0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0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0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I was…, I'd play… because…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reminds me of… · It makes me feel…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I'd choose…</a:t>
            </a:r>
            <a:endParaRPr lang="en-US" sz="1050" dirty="0"/>
          </a:p>
        </p:txBody>
      </p:sp>
      <p:sp>
        <p:nvSpPr>
          <p:cNvPr id="21" name="R1_qb70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1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preparing to go out and feeling happy and excited about it?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play something loud and fast – it gets me in the mood!</a:t>
            </a:r>
            <a:endParaRPr lang="en-US" sz="1000" dirty="0"/>
          </a:p>
        </p:txBody>
      </p:sp>
      <p:sp>
        <p:nvSpPr>
          <p:cNvPr id="23" name="R2_qb71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1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wanted to create a romantic atmosphere?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Something slow and soft – maybe an old Italian song.</a:t>
            </a:r>
            <a:endParaRPr lang="en-US" sz="1250" dirty="0"/>
          </a:p>
        </p:txBody>
      </p:sp>
      <p:sp>
        <p:nvSpPr>
          <p:cNvPr id="25" name="R3_qb71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1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furious about something or somebody?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Heavy metal! It makes me even angrier – but then I feel better.</a:t>
            </a:r>
            <a:endParaRPr lang="en-US" sz="1200" dirty="0"/>
          </a:p>
        </p:txBody>
      </p:sp>
      <p:sp>
        <p:nvSpPr>
          <p:cNvPr id="27" name="R4_qb71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1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stressed or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Piano music, really quiet. It slows me down.</a:t>
            </a:r>
            <a:endParaRPr lang="en-US" sz="1250" dirty="0"/>
          </a:p>
        </p:txBody>
      </p:sp>
      <p:sp>
        <p:nvSpPr>
          <p:cNvPr id="29" name="R5_qb717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718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depressed?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If I was feeling depressed, I'd play Someone Like You by Adele, because it makes me cry. (SB)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6B-1 Music to my ears</dc:title>
  <dc:subject>PptxGenJS Presentation</dc:subject>
  <dc:creator>PptxGenJS</dc:creator>
  <cp:lastModifiedBy>PptxGenJS</cp:lastModifiedBy>
  <cp:revision>1</cp:revision>
  <dcterms:created xsi:type="dcterms:W3CDTF">2026-10-11T16:15:39Z</dcterms:created>
  <dcterms:modified xsi:type="dcterms:W3CDTF">2026-10-11T16:15:39Z</dcterms:modified>
</cp:coreProperties>
</file>