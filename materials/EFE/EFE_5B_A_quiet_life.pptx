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TG lead-in: make a noise (music, bang the desk) – elicit noise, make a noise, noisy, neighbours /ˈneɪbəz/.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 (3 min)
ACTIVE RECAP (3 min). Pairs: 3 things you can do well, 1 you can't do at all.
HOW TO RUN IT (active recap): pairs. Words: A points at a word, B says what it means (⭐); then a sentence with it (⭐⭐); strong students make it negative or a question (⭐⭐⭐). Grammar: pairs make their own example for each use (offer, plan…) BEFORE you click – then click to show the model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Vocabulary · noise (5 min)
NOISE (5 min). 1a: questions 1–4 with a partner first (how many family members, are they noisy, neighbours upstairs / downstairs / next door). 1b key (TG). play loud music = put music on (not play an instrument).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Speaking · noise (3 min)
NOISE TALK (3 min). Students interview you first (TG), then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Grammar · present continuous (6 min)
MAX'S FAMILY (6 min). Cover the text, play 5.10: why are they unhappy? (click side answer). Then play again – one click per gap. TG key: 1 trying 2 making 3 practising 4 playing 5 cooking 6 listening 7 happening 8 barking 9 having. EXTRA: pairs read the conversations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Listening · next door (3 min)
NEXT DOOR (3 min). Elicit ideas, play 5.11. TG key: the neighbours invite him to the party and offer him a drink. What does Isabel think now?!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Grammar Bank 5B · the rule (4 min)
RULE (4 min). 2d key (TG): They're / are having · Are they playing · aren't playing. 2e: now. TG notes: the typical mistake is the present simple for now (What do you do here?). -ing spelling: y stays, drop e (but be, see, agree).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Grammar Bank 5B p.133 · a (4 min)
GRAMMAR BANK a (4 min). Prompts made from the TG answers. b key (TG): 1 'm staying 2 are…doing 3 'm looking for 4 'm looking 5 Are…living 6 's…doing 7 Is…studying 8 's working 9 isn't enjoying 10 's looking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Grammar · listen to the sounds (4 min)
SOUNDS (4 min). Play once, then again pausing – pairs write full sentences. Accept any good answer. No audio yet? Do it live: mime or make the sounds yourself!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Pronunciation · /ŋ/ (3 min)
/ŋ/ (3 min). No hard g at the end: singing, not 'singin-g'! Back of the tongue up. Sound Bank video on the Teacher's Resource Centre (TG).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Speaking · the houses (4 min)
THE HOUSES (4 min). Then TG extra idea: write 5 friends / family on the board – What's your mother doing at the moment? – I think she's probably having lunch. Spot the differences (Communication A p.105, B p.110 – TG key) if you have the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Listening · working out the situation (6 min)
WHAT ARE THEY DOING? (6 min). 5.15 first (She's checking in…), then 5.16 – pause after each. Key + clue words (TG).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Game · mime it! (6 min)
MIME (5 min). Short answers: Yes, I am. / No, I'm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Exit · what can you remember? (2 min)
EXIT (2 min). Pairs, books 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Elementary · SB pp.40–41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5B</a:t>
            </a:r>
            <a:endParaRPr lang="en-US" sz="28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quiet life?</a:t>
            </a:r>
            <a:endParaRPr lang="en-US" sz="25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Present continuous · noise</a:t>
            </a:r>
            <a:endParaRPr lang="en-US" sz="12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🔊  talk about noise: bark, cry, argue, make a noise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🎬  say what's happening now: She's playing the piano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🔤  say /ŋ/: singing, going, young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 listen to a noisy family and noisy neighbours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🕵️  guess what people are doing</a:t>
            </a:r>
            <a:endParaRPr lang="en-US" sz="8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Yes! My neighbours have a dog and it barks all night.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5793345" y="777240"/>
            <a:ext cx="2083589" cy="3200400"/>
          </a:xfrm>
          <a:prstGeom prst="roundRect">
            <a:avLst>
              <a:gd name="adj" fmla="val 74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red_5b_house_jpg_479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5839065" y="822960"/>
            <a:ext cx="1992149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Is your family noisy? Are your neighbours noisy?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remember? Say it – then use it in a sentence!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 ricordi? Dillo – poi usalo in una frase!</a:t>
            </a:r>
            <a:endParaRPr lang="en-US" sz="950" dirty="0"/>
          </a:p>
        </p:txBody>
      </p:sp>
      <p:sp>
        <p:nvSpPr>
          <p:cNvPr id="9" name="note_2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50" dirty="0"/>
          </a:p>
        </p:txBody>
      </p:sp>
      <p:pic>
        <p:nvPicPr>
          <p:cNvPr id="10" name="logo_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5B · Revision · last lesson</a:t>
            </a:r>
            <a:endParaRPr lang="en-US" sz="800" dirty="0"/>
          </a:p>
        </p:txBody>
      </p:sp>
      <p:sp>
        <p:nvSpPr>
          <p:cNvPr id="12" name="pf_26"/>
          <p:cNvSpPr/>
          <p:nvPr/>
        </p:nvSpPr>
        <p:spPr>
          <a:xfrm rot="-120000">
            <a:off x="365760" y="1371600"/>
            <a:ext cx="2651760" cy="1645920"/>
          </a:xfrm>
          <a:prstGeom prst="roundRect">
            <a:avLst>
              <a:gd name="adj" fmla="val 9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7" descr="/home/claude/lls-course/v2/cache/red_5a_audition_jpg_616x374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11480" y="1417320"/>
            <a:ext cx="2560320" cy="1554480"/>
          </a:xfrm>
          <a:prstGeom prst="rect">
            <a:avLst/>
          </a:prstGeom>
        </p:spPr>
      </p:pic>
      <p:sp>
        <p:nvSpPr>
          <p:cNvPr id="14" name="cd_28"/>
          <p:cNvSpPr/>
          <p:nvPr/>
        </p:nvSpPr>
        <p:spPr>
          <a:xfrm>
            <a:off x="320040" y="3200400"/>
            <a:ext cx="2743200" cy="1223264"/>
          </a:xfrm>
          <a:prstGeom prst="roundRect">
            <a:avLst>
              <a:gd name="adj" fmla="val 1046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9"/>
          <p:cNvSpPr/>
          <p:nvPr/>
        </p:nvSpPr>
        <p:spPr>
          <a:xfrm>
            <a:off x="4114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6" name="ih_30"/>
          <p:cNvSpPr/>
          <p:nvPr/>
        </p:nvSpPr>
        <p:spPr>
          <a:xfrm>
            <a:off x="88696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7" name="il_31"/>
          <p:cNvSpPr/>
          <p:nvPr/>
        </p:nvSpPr>
        <p:spPr>
          <a:xfrm>
            <a:off x="886968" y="3694176"/>
            <a:ext cx="2084832" cy="656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5A: Vote for me!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/ can't · verb phrases</a:t>
            </a:r>
            <a:endParaRPr lang="en-US" sz="1100" dirty="0"/>
          </a:p>
        </p:txBody>
      </p:sp>
      <p:sp>
        <p:nvSpPr>
          <p:cNvPr id="18" name="kw_32"/>
          <p:cNvSpPr/>
          <p:nvPr/>
        </p:nvSpPr>
        <p:spPr>
          <a:xfrm>
            <a:off x="3246120" y="14173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Can you remember these words? What do they mean?</a:t>
            </a:r>
            <a:endParaRPr lang="en-US" sz="1200" dirty="0"/>
          </a:p>
        </p:txBody>
      </p:sp>
      <p:sp>
        <p:nvSpPr>
          <p:cNvPr id="19" name="w_33"/>
          <p:cNvSpPr/>
          <p:nvPr/>
        </p:nvSpPr>
        <p:spPr>
          <a:xfrm>
            <a:off x="3246120" y="1783080"/>
            <a:ext cx="1367028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call a taxi</a:t>
            </a:r>
            <a:endParaRPr lang="en-US" sz="1200" dirty="0"/>
          </a:p>
        </p:txBody>
      </p:sp>
      <p:sp>
        <p:nvSpPr>
          <p:cNvPr id="20" name="w_34"/>
          <p:cNvSpPr/>
          <p:nvPr/>
        </p:nvSpPr>
        <p:spPr>
          <a:xfrm>
            <a:off x="4704588" y="1783080"/>
            <a:ext cx="1975104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 for your keys</a:t>
            </a:r>
            <a:endParaRPr lang="en-US" sz="1200" dirty="0"/>
          </a:p>
        </p:txBody>
      </p:sp>
      <p:sp>
        <p:nvSpPr>
          <p:cNvPr id="21" name="w_35"/>
          <p:cNvSpPr/>
          <p:nvPr/>
        </p:nvSpPr>
        <p:spPr>
          <a:xfrm>
            <a:off x="6771132" y="1783080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wait for a bus</a:t>
            </a:r>
            <a:endParaRPr lang="en-US" sz="1200" dirty="0"/>
          </a:p>
        </p:txBody>
      </p:sp>
      <p:sp>
        <p:nvSpPr>
          <p:cNvPr id="22" name="w_36"/>
          <p:cNvSpPr/>
          <p:nvPr/>
        </p:nvSpPr>
        <p:spPr>
          <a:xfrm>
            <a:off x="3246120" y="2185416"/>
            <a:ext cx="2322576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tell somebody a secret</a:t>
            </a:r>
            <a:endParaRPr lang="en-US" sz="1200" dirty="0"/>
          </a:p>
        </p:txBody>
      </p:sp>
      <p:sp>
        <p:nvSpPr>
          <p:cNvPr id="23" name="w_37"/>
          <p:cNvSpPr/>
          <p:nvPr/>
        </p:nvSpPr>
        <p:spPr>
          <a:xfrm>
            <a:off x="5660136" y="2185416"/>
            <a:ext cx="2061972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send a text message</a:t>
            </a:r>
            <a:endParaRPr lang="en-US" sz="1200" dirty="0"/>
          </a:p>
        </p:txBody>
      </p:sp>
      <p:sp>
        <p:nvSpPr>
          <p:cNvPr id="24" name="w_38"/>
          <p:cNvSpPr/>
          <p:nvPr/>
        </p:nvSpPr>
        <p:spPr>
          <a:xfrm>
            <a:off x="3246120" y="2587752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 a parking space</a:t>
            </a:r>
            <a:endParaRPr lang="en-US" sz="1200" dirty="0"/>
          </a:p>
        </p:txBody>
      </p:sp>
      <p:sp>
        <p:nvSpPr>
          <p:cNvPr id="25" name="w_39"/>
          <p:cNvSpPr/>
          <p:nvPr/>
        </p:nvSpPr>
        <p:spPr>
          <a:xfrm>
            <a:off x="5486400" y="2587752"/>
            <a:ext cx="1453896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hear a noise</a:t>
            </a:r>
            <a:endParaRPr lang="en-US" sz="1200" dirty="0"/>
          </a:p>
        </p:txBody>
      </p:sp>
      <p:sp>
        <p:nvSpPr>
          <p:cNvPr id="26" name="w_40"/>
          <p:cNvSpPr/>
          <p:nvPr/>
        </p:nvSpPr>
        <p:spPr>
          <a:xfrm>
            <a:off x="7031736" y="2587752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 a race</a:t>
            </a:r>
            <a:endParaRPr lang="en-US" sz="1200" dirty="0"/>
          </a:p>
        </p:txBody>
      </p:sp>
      <p:sp>
        <p:nvSpPr>
          <p:cNvPr id="27" name="lv_41"/>
          <p:cNvSpPr/>
          <p:nvPr/>
        </p:nvSpPr>
        <p:spPr>
          <a:xfrm>
            <a:off x="3246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it mean?</a:t>
            </a:r>
            <a:endParaRPr lang="en-US" sz="1000" dirty="0"/>
          </a:p>
        </p:txBody>
      </p:sp>
      <p:sp>
        <p:nvSpPr>
          <p:cNvPr id="28" name="lv_42"/>
          <p:cNvSpPr/>
          <p:nvPr/>
        </p:nvSpPr>
        <p:spPr>
          <a:xfrm>
            <a:off x="5151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it in a sentence.</a:t>
            </a:r>
            <a:endParaRPr lang="en-US" sz="1000" dirty="0"/>
          </a:p>
        </p:txBody>
      </p:sp>
      <p:sp>
        <p:nvSpPr>
          <p:cNvPr id="29" name="lv_43"/>
          <p:cNvSpPr/>
          <p:nvPr/>
        </p:nvSpPr>
        <p:spPr>
          <a:xfrm>
            <a:off x="7056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⭐⭐⭐ 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it negative or a question!</a:t>
            </a:r>
            <a:endParaRPr lang="en-US" sz="950" dirty="0"/>
          </a:p>
        </p:txBody>
      </p:sp>
      <p:sp>
        <p:nvSpPr>
          <p:cNvPr id="30" name="cd_44"/>
          <p:cNvSpPr/>
          <p:nvPr/>
        </p:nvSpPr>
        <p:spPr>
          <a:xfrm>
            <a:off x="3246120" y="3575304"/>
            <a:ext cx="5623560" cy="1179576"/>
          </a:xfrm>
          <a:prstGeom prst="roundRect">
            <a:avLst>
              <a:gd name="adj" fmla="val 10853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rh_45"/>
          <p:cNvSpPr/>
          <p:nvPr/>
        </p:nvSpPr>
        <p:spPr>
          <a:xfrm>
            <a:off x="3337560" y="3648456"/>
            <a:ext cx="5440680" cy="310896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/ can't</a:t>
            </a:r>
            <a:endParaRPr lang="en-US" sz="1100" dirty="0"/>
          </a:p>
        </p:txBody>
      </p:sp>
      <p:sp>
        <p:nvSpPr>
          <p:cNvPr id="32" name="R1_rl46"/>
          <p:cNvSpPr/>
          <p:nvPr/>
        </p:nvSpPr>
        <p:spPr>
          <a:xfrm>
            <a:off x="3383280" y="4032504"/>
            <a:ext cx="5349240" cy="6492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sing. /kən/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can't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dance. /kɑːnt/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you swim? – Yes, I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607101" cy="621792"/>
          </a:xfrm>
          <a:prstGeom prst="rect">
            <a:avLst/>
          </a:prstGeom>
        </p:spPr>
      </p:pic>
      <p:sp>
        <p:nvSpPr>
          <p:cNvPr id="5" name="title_49"/>
          <p:cNvSpPr/>
          <p:nvPr/>
        </p:nvSpPr>
        <p:spPr>
          <a:xfrm>
            <a:off x="1261872" y="164592"/>
            <a:ext cx="533278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Noisy family? Noisy neighbours?</a:t>
            </a:r>
            <a:endParaRPr lang="en-US" sz="2400" dirty="0"/>
          </a:p>
        </p:txBody>
      </p:sp>
      <p:pic>
        <p:nvPicPr>
          <p:cNvPr id="6" name="brP_5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5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forum. Guess the meaning of the highlighted verbs. Then listen and number the sounds 1–8.</a:t>
            </a:r>
            <a:endParaRPr lang="en-US" sz="1100" dirty="0"/>
          </a:p>
        </p:txBody>
      </p:sp>
      <p:sp>
        <p:nvSpPr>
          <p:cNvPr id="8" name="insIT_5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il forum. Indovina i verbi evidenziati. Poi ascolta e numera i suoni 1–8.</a:t>
            </a:r>
            <a:endParaRPr lang="en-US" sz="950" dirty="0"/>
          </a:p>
        </p:txBody>
      </p:sp>
      <p:sp>
        <p:nvSpPr>
          <p:cNvPr id="9" name="note_5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Controlled practice</a:t>
            </a:r>
            <a:endParaRPr lang="en-US" sz="1150" dirty="0"/>
          </a:p>
        </p:txBody>
      </p:sp>
      <p:pic>
        <p:nvPicPr>
          <p:cNvPr id="10" name="logo_5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5B · Vocabulary · noise   ·   📖 SB p.40 · 1a, 1b · audio 5.9 (TG key)</a:t>
            </a:r>
            <a:endParaRPr lang="en-US" sz="800" dirty="0"/>
          </a:p>
        </p:txBody>
      </p:sp>
      <p:sp>
        <p:nvSpPr>
          <p:cNvPr id="12" name="cd_56"/>
          <p:cNvSpPr/>
          <p:nvPr/>
        </p:nvSpPr>
        <p:spPr>
          <a:xfrm>
            <a:off x="320040" y="1417320"/>
            <a:ext cx="2697480" cy="969264"/>
          </a:xfrm>
          <a:prstGeom prst="roundRect">
            <a:avLst>
              <a:gd name="adj" fmla="val 1320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5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5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59"/>
          <p:cNvSpPr/>
          <p:nvPr/>
        </p:nvSpPr>
        <p:spPr>
          <a:xfrm>
            <a:off x="886968" y="1911096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have a problem with noise? Tell us about your problems.</a:t>
            </a:r>
            <a:endParaRPr lang="en-US" sz="850" dirty="0"/>
          </a:p>
        </p:txBody>
      </p:sp>
      <p:sp>
        <p:nvSpPr>
          <p:cNvPr id="16" name="pf_60"/>
          <p:cNvSpPr/>
          <p:nvPr/>
        </p:nvSpPr>
        <p:spPr>
          <a:xfrm rot="-90000">
            <a:off x="365760" y="2969514"/>
            <a:ext cx="2606040" cy="745236"/>
          </a:xfrm>
          <a:prstGeom prst="roundRect">
            <a:avLst>
              <a:gd name="adj" fmla="val 208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7" name="ph_61" descr="/home/claude/lls-course/v2/cache/red_5b_forum_jpg_605x15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3015234"/>
            <a:ext cx="2514600" cy="653796"/>
          </a:xfrm>
          <a:prstGeom prst="rect">
            <a:avLst/>
          </a:prstGeom>
        </p:spPr>
      </p:pic>
      <p:sp>
        <p:nvSpPr>
          <p:cNvPr id="18" name="ap_62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5.9</a:t>
            </a:r>
            <a:endParaRPr lang="en-US" sz="1100" dirty="0"/>
          </a:p>
        </p:txBody>
      </p:sp>
      <p:sp>
        <p:nvSpPr>
          <p:cNvPr id="19" name="bd_63"/>
          <p:cNvSpPr/>
          <p:nvPr/>
        </p:nvSpPr>
        <p:spPr>
          <a:xfrm>
            <a:off x="3246120" y="14447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q_64"/>
          <p:cNvSpPr/>
          <p:nvPr/>
        </p:nvSpPr>
        <p:spPr>
          <a:xfrm>
            <a:off x="3630168" y="141732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Sound 1</a:t>
            </a:r>
            <a:endParaRPr lang="en-US" sz="1150" dirty="0"/>
          </a:p>
        </p:txBody>
      </p:sp>
      <p:sp>
        <p:nvSpPr>
          <p:cNvPr id="21" name="R1_chip65"/>
          <p:cNvSpPr/>
          <p:nvPr/>
        </p:nvSpPr>
        <p:spPr>
          <a:xfrm>
            <a:off x="5806440" y="141732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couple next door </a:t>
            </a:r>
            <a:pPr algn="l"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argue</a:t>
            </a:r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 lot.</a:t>
            </a:r>
            <a:endParaRPr lang="en-US" sz="950" dirty="0"/>
          </a:p>
        </p:txBody>
      </p:sp>
      <p:sp>
        <p:nvSpPr>
          <p:cNvPr id="22" name="bd_66"/>
          <p:cNvSpPr/>
          <p:nvPr/>
        </p:nvSpPr>
        <p:spPr>
          <a:xfrm>
            <a:off x="3246120" y="185623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q_67"/>
          <p:cNvSpPr/>
          <p:nvPr/>
        </p:nvSpPr>
        <p:spPr>
          <a:xfrm>
            <a:off x="3630168" y="182880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Sound 2</a:t>
            </a:r>
            <a:endParaRPr lang="en-US" sz="1150" dirty="0"/>
          </a:p>
        </p:txBody>
      </p:sp>
      <p:sp>
        <p:nvSpPr>
          <p:cNvPr id="24" name="R2_chip68"/>
          <p:cNvSpPr/>
          <p:nvPr/>
        </p:nvSpPr>
        <p:spPr>
          <a:xfrm>
            <a:off x="5806440" y="182880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neighbours' dog </a:t>
            </a:r>
            <a:pPr algn="l"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barks</a:t>
            </a:r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all day – and all night!</a:t>
            </a:r>
            <a:endParaRPr lang="en-US" sz="950" dirty="0"/>
          </a:p>
        </p:txBody>
      </p:sp>
      <p:sp>
        <p:nvSpPr>
          <p:cNvPr id="25" name="bd_69"/>
          <p:cNvSpPr/>
          <p:nvPr/>
        </p:nvSpPr>
        <p:spPr>
          <a:xfrm>
            <a:off x="3246120" y="22677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q_70"/>
          <p:cNvSpPr/>
          <p:nvPr/>
        </p:nvSpPr>
        <p:spPr>
          <a:xfrm>
            <a:off x="3630168" y="22402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Sound 3</a:t>
            </a:r>
            <a:endParaRPr lang="en-US" sz="1150" dirty="0"/>
          </a:p>
        </p:txBody>
      </p:sp>
      <p:sp>
        <p:nvSpPr>
          <p:cNvPr id="27" name="R3_chip71"/>
          <p:cNvSpPr/>
          <p:nvPr/>
        </p:nvSpPr>
        <p:spPr>
          <a:xfrm>
            <a:off x="5806440" y="224028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baby in the flat upstairs </a:t>
            </a:r>
            <a:pPr algn="l"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cries</a:t>
            </a:r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all the time.</a:t>
            </a:r>
            <a:endParaRPr lang="en-US" sz="950" dirty="0"/>
          </a:p>
        </p:txBody>
      </p:sp>
      <p:sp>
        <p:nvSpPr>
          <p:cNvPr id="28" name="bd_72"/>
          <p:cNvSpPr/>
          <p:nvPr/>
        </p:nvSpPr>
        <p:spPr>
          <a:xfrm>
            <a:off x="3246120" y="267919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q_73"/>
          <p:cNvSpPr/>
          <p:nvPr/>
        </p:nvSpPr>
        <p:spPr>
          <a:xfrm>
            <a:off x="3630168" y="265176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Sound 4</a:t>
            </a:r>
            <a:endParaRPr lang="en-US" sz="1150" dirty="0"/>
          </a:p>
        </p:txBody>
      </p:sp>
      <p:sp>
        <p:nvSpPr>
          <p:cNvPr id="30" name="R4_chip74"/>
          <p:cNvSpPr/>
          <p:nvPr/>
        </p:nvSpPr>
        <p:spPr>
          <a:xfrm>
            <a:off x="5806440" y="265176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old people next door </a:t>
            </a:r>
            <a:pPr algn="l"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the TV on</a:t>
            </a:r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very loud.</a:t>
            </a:r>
            <a:endParaRPr lang="en-US" sz="950" dirty="0"/>
          </a:p>
        </p:txBody>
      </p:sp>
      <p:sp>
        <p:nvSpPr>
          <p:cNvPr id="31" name="bd_75"/>
          <p:cNvSpPr/>
          <p:nvPr/>
        </p:nvSpPr>
        <p:spPr>
          <a:xfrm>
            <a:off x="3246120" y="30906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q_76"/>
          <p:cNvSpPr/>
          <p:nvPr/>
        </p:nvSpPr>
        <p:spPr>
          <a:xfrm>
            <a:off x="3630168" y="306324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Sound 5</a:t>
            </a:r>
            <a:endParaRPr lang="en-US" sz="1150" dirty="0"/>
          </a:p>
        </p:txBody>
      </p:sp>
      <p:sp>
        <p:nvSpPr>
          <p:cNvPr id="33" name="R5_chip77"/>
          <p:cNvSpPr/>
          <p:nvPr/>
        </p:nvSpPr>
        <p:spPr>
          <a:xfrm>
            <a:off x="5806440" y="306324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people next door have builders who </a:t>
            </a:r>
            <a:pPr algn="l"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a lot of noise</a:t>
            </a:r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950" dirty="0"/>
          </a:p>
        </p:txBody>
      </p:sp>
      <p:sp>
        <p:nvSpPr>
          <p:cNvPr id="34" name="bd_78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q_79"/>
          <p:cNvSpPr/>
          <p:nvPr/>
        </p:nvSpPr>
        <p:spPr>
          <a:xfrm>
            <a:off x="3630168" y="347472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Sound 6</a:t>
            </a:r>
            <a:endParaRPr lang="en-US" sz="1150" dirty="0"/>
          </a:p>
        </p:txBody>
      </p:sp>
      <p:sp>
        <p:nvSpPr>
          <p:cNvPr id="36" name="R6_chip80"/>
          <p:cNvSpPr/>
          <p:nvPr/>
        </p:nvSpPr>
        <p:spPr>
          <a:xfrm>
            <a:off x="5806440" y="347472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people next door often </a:t>
            </a:r>
            <a:pPr algn="l"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noisy parties</a:t>
            </a:r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until 3.00 a.m.</a:t>
            </a:r>
            <a:endParaRPr lang="en-US" sz="950" dirty="0"/>
          </a:p>
        </p:txBody>
      </p:sp>
      <p:sp>
        <p:nvSpPr>
          <p:cNvPr id="37" name="bd_81"/>
          <p:cNvSpPr/>
          <p:nvPr/>
        </p:nvSpPr>
        <p:spPr>
          <a:xfrm>
            <a:off x="3246120" y="391363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38" name="q_82"/>
          <p:cNvSpPr/>
          <p:nvPr/>
        </p:nvSpPr>
        <p:spPr>
          <a:xfrm>
            <a:off x="3630168" y="388620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Sound 7</a:t>
            </a:r>
            <a:endParaRPr lang="en-US" sz="1150" dirty="0"/>
          </a:p>
        </p:txBody>
      </p:sp>
      <p:sp>
        <p:nvSpPr>
          <p:cNvPr id="39" name="R7_chip83"/>
          <p:cNvSpPr/>
          <p:nvPr/>
        </p:nvSpPr>
        <p:spPr>
          <a:xfrm>
            <a:off x="5806440" y="388620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sister </a:t>
            </a:r>
            <a:pPr algn="l"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practises the piano</a:t>
            </a:r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for hours.</a:t>
            </a:r>
            <a:endParaRPr lang="en-US" sz="950" dirty="0"/>
          </a:p>
        </p:txBody>
      </p:sp>
      <p:sp>
        <p:nvSpPr>
          <p:cNvPr id="40" name="bd_84"/>
          <p:cNvSpPr/>
          <p:nvPr/>
        </p:nvSpPr>
        <p:spPr>
          <a:xfrm>
            <a:off x="3246120" y="432511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000" dirty="0"/>
          </a:p>
        </p:txBody>
      </p:sp>
      <p:sp>
        <p:nvSpPr>
          <p:cNvPr id="41" name="q_85"/>
          <p:cNvSpPr/>
          <p:nvPr/>
        </p:nvSpPr>
        <p:spPr>
          <a:xfrm>
            <a:off x="3630168" y="42976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Sound 8</a:t>
            </a:r>
            <a:endParaRPr lang="en-US" sz="1150" dirty="0"/>
          </a:p>
        </p:txBody>
      </p:sp>
      <p:sp>
        <p:nvSpPr>
          <p:cNvPr id="42" name="R8_chip86"/>
          <p:cNvSpPr/>
          <p:nvPr/>
        </p:nvSpPr>
        <p:spPr>
          <a:xfrm>
            <a:off x="5806440" y="429768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son </a:t>
            </a:r>
            <a:pPr algn="l"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plays loud music</a:t>
            </a:r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in his room – awful music, too.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8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8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89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Are you noisy?</a:t>
            </a:r>
            <a:endParaRPr lang="en-US" sz="2500" dirty="0"/>
          </a:p>
        </p:txBody>
      </p:sp>
      <p:pic>
        <p:nvPicPr>
          <p:cNvPr id="6" name="brP_9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91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Answer the questions with a partner.</a:t>
            </a:r>
            <a:endParaRPr lang="en-US" sz="1250" dirty="0"/>
          </a:p>
        </p:txBody>
      </p:sp>
      <p:sp>
        <p:nvSpPr>
          <p:cNvPr id="8" name="insIT_9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Rispondi con un compagno.</a:t>
            </a:r>
            <a:endParaRPr lang="en-US" sz="950" dirty="0"/>
          </a:p>
        </p:txBody>
      </p:sp>
      <p:sp>
        <p:nvSpPr>
          <p:cNvPr id="9" name="note_9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9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9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5B · Speaking · noise   ·   📖 SB p.40 · 1c</a:t>
            </a:r>
            <a:endParaRPr lang="en-US" sz="800" dirty="0"/>
          </a:p>
        </p:txBody>
      </p:sp>
      <p:sp>
        <p:nvSpPr>
          <p:cNvPr id="12" name="pf_96"/>
          <p:cNvSpPr/>
          <p:nvPr/>
        </p:nvSpPr>
        <p:spPr>
          <a:xfrm rot="-120000">
            <a:off x="1273280" y="1371600"/>
            <a:ext cx="882440" cy="1325880"/>
          </a:xfrm>
          <a:prstGeom prst="roundRect">
            <a:avLst>
              <a:gd name="adj" fmla="val 176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97" descr="/home/claude/lls-course/v2/cache/red_5b_house_jpg_190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1319000" y="1417320"/>
            <a:ext cx="791000" cy="1234440"/>
          </a:xfrm>
          <a:prstGeom prst="rect">
            <a:avLst/>
          </a:prstGeom>
        </p:spPr>
      </p:pic>
      <p:sp>
        <p:nvSpPr>
          <p:cNvPr id="14" name="cd_98"/>
          <p:cNvSpPr/>
          <p:nvPr/>
        </p:nvSpPr>
        <p:spPr>
          <a:xfrm>
            <a:off x="320040" y="288036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99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100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101"/>
          <p:cNvSpPr/>
          <p:nvPr/>
        </p:nvSpPr>
        <p:spPr>
          <a:xfrm>
            <a:off x="886968" y="3374136"/>
            <a:ext cx="2130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neighbours upstairs / downstairs / next door…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a problem because…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play loud music!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Italians are quite noisy!</a:t>
            </a:r>
            <a:endParaRPr lang="en-US" sz="1150" dirty="0"/>
          </a:p>
        </p:txBody>
      </p:sp>
      <p:sp>
        <p:nvSpPr>
          <p:cNvPr id="18" name="R1_qb102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103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noises do your family or neighbours make? Are the noises a problem for you?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My brother plays loud music. It's a problem when I study.</a:t>
            </a:r>
            <a:endParaRPr lang="en-US" sz="950" dirty="0"/>
          </a:p>
        </p:txBody>
      </p:sp>
      <p:sp>
        <p:nvSpPr>
          <p:cNvPr id="20" name="R2_qb104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105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noisy? Do you do any of the things in the forum?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Yes – I have noisy parties!</a:t>
            </a:r>
            <a:endParaRPr lang="en-US" sz="950" dirty="0"/>
          </a:p>
        </p:txBody>
      </p:sp>
      <p:sp>
        <p:nvSpPr>
          <p:cNvPr id="22" name="R3_qb106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107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people in your country noisy? Is this a problem?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Yes, very! In Bagheria people talk very loud.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0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0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506163" cy="621792"/>
          </a:xfrm>
          <a:prstGeom prst="rect">
            <a:avLst/>
          </a:prstGeom>
        </p:spPr>
      </p:pic>
      <p:sp>
        <p:nvSpPr>
          <p:cNvPr id="5" name="title_110"/>
          <p:cNvSpPr/>
          <p:nvPr/>
        </p:nvSpPr>
        <p:spPr>
          <a:xfrm>
            <a:off x="1261872" y="164592"/>
            <a:ext cx="42318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It's impossible to work!</a:t>
            </a:r>
            <a:endParaRPr lang="en-US" sz="2500" dirty="0"/>
          </a:p>
        </p:txBody>
      </p:sp>
      <p:pic>
        <p:nvPicPr>
          <p:cNvPr id="6" name="brP_11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12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are Max and his mother unhappy? Listen. Then complete the conversations with verbs from the list.</a:t>
            </a:r>
            <a:endParaRPr lang="en-US" sz="1100" dirty="0"/>
          </a:p>
        </p:txBody>
      </p:sp>
      <p:sp>
        <p:nvSpPr>
          <p:cNvPr id="8" name="insIT_11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Perché Max e sua madre sono infelici? Ascolta. Poi completa con i verbi.</a:t>
            </a:r>
            <a:endParaRPr lang="en-US" sz="950" dirty="0"/>
          </a:p>
        </p:txBody>
      </p:sp>
      <p:sp>
        <p:nvSpPr>
          <p:cNvPr id="9" name="note_11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Listening → grammar</a:t>
            </a:r>
            <a:endParaRPr lang="en-US" sz="1150" dirty="0"/>
          </a:p>
        </p:txBody>
      </p:sp>
      <p:pic>
        <p:nvPicPr>
          <p:cNvPr id="10" name="logo_11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1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5B · Grammar · present continuous   ·   📖 SB p.41 · 2a, 2b · audio 5.10 (TG key)</a:t>
            </a:r>
            <a:endParaRPr lang="en-US" sz="800" dirty="0"/>
          </a:p>
        </p:txBody>
      </p:sp>
      <p:sp>
        <p:nvSpPr>
          <p:cNvPr id="12" name="cd_117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118"/>
          <p:cNvSpPr/>
          <p:nvPr/>
        </p:nvSpPr>
        <p:spPr>
          <a:xfrm>
            <a:off x="457200" y="1527048"/>
            <a:ext cx="260604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Max and Lucy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Hey, Lucy. 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study, and you're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 awful noise.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LUCY  It isn't a noise, it's Beethoven. 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I have a school concert tomorrow. You can study downstairs.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I can't, Jake's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video game.   LUCY  What about the kitchen?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No, Mum's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dinner, and she's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the radio. It's impossible to work in this house!</a:t>
            </a:r>
            <a:endParaRPr lang="en-US" sz="950" dirty="0"/>
          </a:p>
        </p:txBody>
      </p:sp>
      <p:sp>
        <p:nvSpPr>
          <p:cNvPr id="14" name="R2_rdA119"/>
          <p:cNvSpPr/>
          <p:nvPr/>
        </p:nvSpPr>
        <p:spPr>
          <a:xfrm>
            <a:off x="457200" y="1527048"/>
            <a:ext cx="260604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Max and Lucy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Hey, Lucy. 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trying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study, and you're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 awful noise.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LUCY  It isn't a noise, it's Beethoven. 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I have a school concert tomorrow. You can study downstairs.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I can't, Jake's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video game.   LUCY  What about the kitchen?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No, Mum's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dinner, and she's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the radio. It's impossible to work in this house!</a:t>
            </a:r>
            <a:endParaRPr lang="en-US" sz="950" dirty="0"/>
          </a:p>
        </p:txBody>
      </p:sp>
      <p:sp>
        <p:nvSpPr>
          <p:cNvPr id="15" name="R3_rdA120"/>
          <p:cNvSpPr/>
          <p:nvPr/>
        </p:nvSpPr>
        <p:spPr>
          <a:xfrm>
            <a:off x="457200" y="1527048"/>
            <a:ext cx="260604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Max and Lucy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Hey, Lucy. 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trying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study, and you're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making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 awful noise.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LUCY  It isn't a noise, it's Beethoven. 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I have a school concert tomorrow. You can study downstairs.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I can't, Jake's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video game.   LUCY  What about the kitchen?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No, Mum's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dinner, and she's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the radio. It's impossible to work in this house!</a:t>
            </a:r>
            <a:endParaRPr lang="en-US" sz="950" dirty="0"/>
          </a:p>
        </p:txBody>
      </p:sp>
      <p:sp>
        <p:nvSpPr>
          <p:cNvPr id="16" name="R4_rdA121"/>
          <p:cNvSpPr/>
          <p:nvPr/>
        </p:nvSpPr>
        <p:spPr>
          <a:xfrm>
            <a:off x="457200" y="1527048"/>
            <a:ext cx="260604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Max and Lucy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Hey, Lucy. 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trying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study, and you're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making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 awful noise.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LUCY  It isn't a noise, it's Beethoven. 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practising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I have a school concert tomorrow. You can study downstairs.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I can't, Jake's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video game.   LUCY  What about the kitchen?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No, Mum's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dinner, and she's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the radio. It's impossible to work in this house!</a:t>
            </a:r>
            <a:endParaRPr lang="en-US" sz="950" dirty="0"/>
          </a:p>
        </p:txBody>
      </p:sp>
      <p:sp>
        <p:nvSpPr>
          <p:cNvPr id="17" name="R5_rdA122"/>
          <p:cNvSpPr/>
          <p:nvPr/>
        </p:nvSpPr>
        <p:spPr>
          <a:xfrm>
            <a:off x="457200" y="1527048"/>
            <a:ext cx="260604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Max and Lucy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Hey, Lucy. 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trying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study, and you're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making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 awful noise.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LUCY  It isn't a noise, it's Beethoven. 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practising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I have a school concert tomorrow. You can study downstairs.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I can't, Jake's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playing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video game.   LUCY  What about the kitchen?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No, Mum's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dinner, and she's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the radio. It's impossible to work in this house!</a:t>
            </a:r>
            <a:endParaRPr lang="en-US" sz="950" dirty="0"/>
          </a:p>
        </p:txBody>
      </p:sp>
      <p:sp>
        <p:nvSpPr>
          <p:cNvPr id="18" name="R6_rdA123"/>
          <p:cNvSpPr/>
          <p:nvPr/>
        </p:nvSpPr>
        <p:spPr>
          <a:xfrm>
            <a:off x="457200" y="1527048"/>
            <a:ext cx="260604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Max and Lucy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Hey, Lucy. 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trying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study, and you're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making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 awful noise.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LUCY  It isn't a noise, it's Beethoven. 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practising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I have a school concert tomorrow. You can study downstairs.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I can't, Jake's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playing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video game.   LUCY  What about the kitchen?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No, Mum's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cooking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dinner, and she's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the radio. It's impossible to work in this house!</a:t>
            </a:r>
            <a:endParaRPr lang="en-US" sz="950" dirty="0"/>
          </a:p>
        </p:txBody>
      </p:sp>
      <p:sp>
        <p:nvSpPr>
          <p:cNvPr id="19" name="R7_rdA124"/>
          <p:cNvSpPr/>
          <p:nvPr/>
        </p:nvSpPr>
        <p:spPr>
          <a:xfrm>
            <a:off x="457200" y="1527048"/>
            <a:ext cx="260604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Max and Lucy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Hey, Lucy. 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trying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study, and you're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making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 awful noise.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LUCY  It isn't a noise, it's Beethoven. 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practising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I have a school concert tomorrow. You can study downstairs.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I can't, Jake's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playing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video game.   LUCY  What about the kitchen?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 No, Mum's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cooking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dinner, and she's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listening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the radio. It's impossible to work in this house!</a:t>
            </a:r>
            <a:endParaRPr lang="en-US" sz="950" dirty="0"/>
          </a:p>
        </p:txBody>
      </p:sp>
      <p:sp>
        <p:nvSpPr>
          <p:cNvPr id="20" name="rd_125"/>
          <p:cNvSpPr/>
          <p:nvPr/>
        </p:nvSpPr>
        <p:spPr>
          <a:xfrm>
            <a:off x="3337560" y="1527048"/>
            <a:ext cx="260604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Isabel and Paul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ISABEL  Paul! Come here.   PAUL  Yes, dear? What's the matter?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ISABEL  What's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next door? Why's their dog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I can't hear the radio.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PAUL  They're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party in the garden.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ISABEL  Not again! Can you go and talk to them?   PAUL  Yes, good idea. It's their second party in three weeks!</a:t>
            </a:r>
            <a:endParaRPr lang="en-US" sz="950" dirty="0"/>
          </a:p>
        </p:txBody>
      </p:sp>
      <p:sp>
        <p:nvSpPr>
          <p:cNvPr id="21" name="R8_rdA126"/>
          <p:cNvSpPr/>
          <p:nvPr/>
        </p:nvSpPr>
        <p:spPr>
          <a:xfrm>
            <a:off x="3337560" y="1527048"/>
            <a:ext cx="260604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Isabel and Paul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ISABEL  Paul! Come here.   PAUL  Yes, dear? What's the matter?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ISABEL  What's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happening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next door? Why's their dog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I can't hear the radio.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PAUL  They're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party in the garden.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ISABEL  Not again! Can you go and talk to them?   PAUL  Yes, good idea. It's their second party in three weeks!</a:t>
            </a:r>
            <a:endParaRPr lang="en-US" sz="950" dirty="0"/>
          </a:p>
        </p:txBody>
      </p:sp>
      <p:sp>
        <p:nvSpPr>
          <p:cNvPr id="22" name="R9_rdA127"/>
          <p:cNvSpPr/>
          <p:nvPr/>
        </p:nvSpPr>
        <p:spPr>
          <a:xfrm>
            <a:off x="3337560" y="1527048"/>
            <a:ext cx="260604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Isabel and Paul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ISABEL  Paul! Come here.   PAUL  Yes, dear? What's the matter?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ISABEL  What's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happening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next door? Why's their dog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barking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I can't hear the radio.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PAUL  They're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party in the garden.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ISABEL  Not again! Can you go and talk to them?   PAUL  Yes, good idea. It's their second party in three weeks!</a:t>
            </a:r>
            <a:endParaRPr lang="en-US" sz="950" dirty="0"/>
          </a:p>
        </p:txBody>
      </p:sp>
      <p:sp>
        <p:nvSpPr>
          <p:cNvPr id="23" name="R10_rdA128"/>
          <p:cNvSpPr/>
          <p:nvPr/>
        </p:nvSpPr>
        <p:spPr>
          <a:xfrm>
            <a:off x="3337560" y="1527048"/>
            <a:ext cx="260604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Isabel and Paul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ISABEL  Paul! Come here.   PAUL  Yes, dear? What's the matter?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ISABEL  What's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happening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next door? Why's their dog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barking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I can't hear the radio.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PAUL  They're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(9) having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party in the garden.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ISABEL  Not again! Can you go and talk to them?   PAUL  Yes, good idea. It's their second party in three weeks!</a:t>
            </a:r>
            <a:endParaRPr lang="en-US" sz="950" dirty="0"/>
          </a:p>
        </p:txBody>
      </p:sp>
      <p:sp>
        <p:nvSpPr>
          <p:cNvPr id="24" name="rdl_129"/>
          <p:cNvSpPr/>
          <p:nvPr/>
        </p:nvSpPr>
        <p:spPr>
          <a:xfrm>
            <a:off x="3200400" y="1600200"/>
            <a:ext cx="0" cy="2999232"/>
          </a:xfrm>
          <a:prstGeom prst="line">
            <a:avLst/>
          </a:prstGeom>
          <a:noFill/>
          <a:ln w="28575">
            <a:solidFill>
              <a:srgbClr val="A8E5BE"/>
            </a:solidFill>
            <a:prstDash val="solid"/>
          </a:ln>
        </p:spPr>
      </p:sp>
      <p:sp>
        <p:nvSpPr>
          <p:cNvPr id="25" name="cd_130"/>
          <p:cNvSpPr/>
          <p:nvPr/>
        </p:nvSpPr>
        <p:spPr>
          <a:xfrm>
            <a:off x="6263640" y="1417320"/>
            <a:ext cx="2606040" cy="1800352"/>
          </a:xfrm>
          <a:prstGeom prst="roundRect">
            <a:avLst>
              <a:gd name="adj" fmla="val 711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6" name="ii_131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27" name="ih_132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Why are they unhappy?</a:t>
            </a:r>
            <a:endParaRPr lang="en-US" sz="1250" dirty="0"/>
          </a:p>
        </p:txBody>
      </p:sp>
      <p:sp>
        <p:nvSpPr>
          <p:cNvPr id="28" name="il_133"/>
          <p:cNvSpPr/>
          <p:nvPr/>
        </p:nvSpPr>
        <p:spPr>
          <a:xfrm>
            <a:off x="6830568" y="1911096"/>
            <a:ext cx="1947672" cy="1233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barking · cooking · happening · having · listening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making · playing · practising · trying</a:t>
            </a:r>
            <a:endParaRPr lang="en-US" sz="1150" dirty="0"/>
          </a:p>
        </p:txBody>
      </p:sp>
      <p:sp>
        <p:nvSpPr>
          <p:cNvPr id="29" name="R1_chip134"/>
          <p:cNvSpPr/>
          <p:nvPr/>
        </p:nvSpPr>
        <p:spPr>
          <a:xfrm>
            <a:off x="6263640" y="332740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Max can't study – his family are making a lot of noise. His mum: the neighbours' party and dog.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3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3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137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Paul goes next door</a:t>
            </a:r>
            <a:endParaRPr lang="en-US" sz="2500" dirty="0"/>
          </a:p>
        </p:txBody>
      </p:sp>
      <p:pic>
        <p:nvPicPr>
          <p:cNvPr id="6" name="brP_13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727448" cy="402336"/>
          </a:xfrm>
          <a:prstGeom prst="rect">
            <a:avLst/>
          </a:prstGeom>
        </p:spPr>
      </p:pic>
      <p:sp>
        <p:nvSpPr>
          <p:cNvPr id="7" name="ins_139"/>
          <p:cNvSpPr/>
          <p:nvPr/>
        </p:nvSpPr>
        <p:spPr>
          <a:xfrm>
            <a:off x="1353312" y="731520"/>
            <a:ext cx="4471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Listen. What happens when Paul goes next door?</a:t>
            </a:r>
            <a:endParaRPr lang="en-US" sz="1250" dirty="0"/>
          </a:p>
        </p:txBody>
      </p:sp>
      <p:sp>
        <p:nvSpPr>
          <p:cNvPr id="8" name="insIT_140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Ascolta. Cosa succede quando Paul va dai vicini?</a:t>
            </a:r>
            <a:endParaRPr lang="en-US" sz="950" dirty="0"/>
          </a:p>
        </p:txBody>
      </p:sp>
      <p:sp>
        <p:nvSpPr>
          <p:cNvPr id="9" name="note_141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Controlled practice</a:t>
            </a:r>
            <a:endParaRPr lang="en-US" sz="1150" dirty="0"/>
          </a:p>
        </p:txBody>
      </p:sp>
      <p:pic>
        <p:nvPicPr>
          <p:cNvPr id="10" name="logo_14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4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5B · Listening · next door   ·   📖 SB p.41 · 2c · audio 5.11 (TG key + script p.119)</a:t>
            </a:r>
            <a:endParaRPr lang="en-US" sz="800" dirty="0"/>
          </a:p>
        </p:txBody>
      </p:sp>
      <p:sp>
        <p:nvSpPr>
          <p:cNvPr id="12" name="cd_144"/>
          <p:cNvSpPr/>
          <p:nvPr/>
        </p:nvSpPr>
        <p:spPr>
          <a:xfrm>
            <a:off x="320040" y="1417320"/>
            <a:ext cx="2697480" cy="969264"/>
          </a:xfrm>
          <a:prstGeom prst="roundRect">
            <a:avLst>
              <a:gd name="adj" fmla="val 1320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145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146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147"/>
          <p:cNvSpPr/>
          <p:nvPr/>
        </p:nvSpPr>
        <p:spPr>
          <a:xfrm>
            <a:off x="886968" y="1911096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Guess first! Does Paul stop the party?</a:t>
            </a:r>
            <a:endParaRPr lang="en-US" sz="1050" dirty="0"/>
          </a:p>
        </p:txBody>
      </p:sp>
      <p:sp>
        <p:nvSpPr>
          <p:cNvPr id="16" name="pf_148"/>
          <p:cNvSpPr/>
          <p:nvPr/>
        </p:nvSpPr>
        <p:spPr>
          <a:xfrm rot="-90000">
            <a:off x="365760" y="2569464"/>
            <a:ext cx="2606040" cy="1545336"/>
          </a:xfrm>
          <a:prstGeom prst="roundRect">
            <a:avLst>
              <a:gd name="adj" fmla="val 10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7" name="ph_149" descr="/home/claude/lls-course/v2/cache/red_5b_party_jpg_605x350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615184"/>
            <a:ext cx="2514600" cy="1453896"/>
          </a:xfrm>
          <a:prstGeom prst="rect">
            <a:avLst/>
          </a:prstGeom>
        </p:spPr>
      </p:pic>
      <p:sp>
        <p:nvSpPr>
          <p:cNvPr id="18" name="ap_150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5.11</a:t>
            </a:r>
            <a:endParaRPr lang="en-US" sz="1100" dirty="0"/>
          </a:p>
        </p:txBody>
      </p:sp>
      <p:sp>
        <p:nvSpPr>
          <p:cNvPr id="19" name="bd_151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q_152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are they having a party?</a:t>
            </a:r>
            <a:endParaRPr lang="en-US" sz="1150" dirty="0"/>
          </a:p>
        </p:txBody>
      </p:sp>
      <p:sp>
        <p:nvSpPr>
          <p:cNvPr id="21" name="R1_chip153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the woman's birthday.</a:t>
            </a:r>
            <a:endParaRPr lang="en-US" sz="1050" dirty="0"/>
          </a:p>
        </p:txBody>
      </p:sp>
      <p:sp>
        <p:nvSpPr>
          <p:cNvPr id="22" name="bd_154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q_155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Paul want to talk about?</a:t>
            </a:r>
            <a:endParaRPr lang="en-US" sz="1150" dirty="0"/>
          </a:p>
        </p:txBody>
      </p:sp>
      <p:sp>
        <p:nvSpPr>
          <p:cNvPr id="24" name="R2_chip156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noise.</a:t>
            </a:r>
            <a:endParaRPr lang="en-US" sz="1050" dirty="0"/>
          </a:p>
        </p:txBody>
      </p:sp>
      <p:sp>
        <p:nvSpPr>
          <p:cNvPr id="25" name="bd_157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q_158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happens?</a:t>
            </a:r>
            <a:endParaRPr lang="en-US" sz="1150" dirty="0"/>
          </a:p>
        </p:txBody>
      </p:sp>
      <p:sp>
        <p:nvSpPr>
          <p:cNvPr id="27" name="R3_chip159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invite him to the party and offer him a drink – he has a beer!</a:t>
            </a:r>
            <a:endParaRPr lang="en-US" sz="1050" dirty="0"/>
          </a:p>
        </p:txBody>
      </p:sp>
      <p:sp>
        <p:nvSpPr>
          <p:cNvPr id="28" name="bd_160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q_161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the last question?</a:t>
            </a:r>
            <a:endParaRPr lang="en-US" sz="1150" dirty="0"/>
          </a:p>
        </p:txBody>
      </p:sp>
      <p:sp>
        <p:nvSpPr>
          <p:cNvPr id="30" name="R4_chip162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'Do you want to dance, Paul?'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6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6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165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+ verb + -ing</a:t>
            </a:r>
            <a:endParaRPr lang="en-US" sz="2500" dirty="0"/>
          </a:p>
        </p:txBody>
      </p:sp>
      <p:pic>
        <p:nvPicPr>
          <p:cNvPr id="6" name="brP_16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250692" cy="402336"/>
          </a:xfrm>
          <a:prstGeom prst="rect">
            <a:avLst/>
          </a:prstGeom>
        </p:spPr>
      </p:pic>
      <p:sp>
        <p:nvSpPr>
          <p:cNvPr id="7" name="ins_167"/>
          <p:cNvSpPr/>
          <p:nvPr/>
        </p:nvSpPr>
        <p:spPr>
          <a:xfrm>
            <a:off x="1353312" y="731520"/>
            <a:ext cx="29946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Complete with be. Then click!</a:t>
            </a:r>
            <a:endParaRPr lang="en-US" sz="1250" dirty="0"/>
          </a:p>
        </p:txBody>
      </p:sp>
      <p:sp>
        <p:nvSpPr>
          <p:cNvPr id="8" name="insIT_16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Completa con be. Poi clicca!</a:t>
            </a:r>
            <a:endParaRPr lang="en-US" sz="950" dirty="0"/>
          </a:p>
        </p:txBody>
      </p:sp>
      <p:sp>
        <p:nvSpPr>
          <p:cNvPr id="9" name="note_169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GUARDA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Guided discovery</a:t>
            </a:r>
            <a:endParaRPr lang="en-US" sz="1250" dirty="0"/>
          </a:p>
        </p:txBody>
      </p:sp>
      <p:pic>
        <p:nvPicPr>
          <p:cNvPr id="10" name="logo_17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7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5B · Grammar Bank 5B · the rule   ·   📖 SB p.41 · 2d, 2e · Grammar Bank 5B p.132 · audio 5.12 (TG notes)</a:t>
            </a:r>
            <a:endParaRPr lang="en-US" sz="800" dirty="0"/>
          </a:p>
        </p:txBody>
      </p:sp>
      <p:sp>
        <p:nvSpPr>
          <p:cNvPr id="12" name="cd_172"/>
          <p:cNvSpPr/>
          <p:nvPr/>
        </p:nvSpPr>
        <p:spPr>
          <a:xfrm>
            <a:off x="320040" y="1417320"/>
            <a:ext cx="42062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h_173"/>
          <p:cNvSpPr/>
          <p:nvPr/>
        </p:nvSpPr>
        <p:spPr>
          <a:xfrm>
            <a:off x="429768" y="1508760"/>
            <a:ext cx="3986784" cy="365760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/ − / ?</a:t>
            </a:r>
            <a:endParaRPr lang="en-US" sz="1250" dirty="0"/>
          </a:p>
        </p:txBody>
      </p:sp>
      <p:sp>
        <p:nvSpPr>
          <p:cNvPr id="14" name="R1_rx174"/>
          <p:cNvSpPr/>
          <p:nvPr/>
        </p:nvSpPr>
        <p:spPr>
          <a:xfrm>
            <a:off x="457200" y="201168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 They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're having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 party next door.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?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they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playing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music?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− No, they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aren't playing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music. They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're talking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R1_ri175"/>
          <p:cNvSpPr/>
          <p:nvPr/>
        </p:nvSpPr>
        <p:spPr>
          <a:xfrm>
            <a:off x="411480" y="4023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 (am / is / are) + verbo + -ing</a:t>
            </a:r>
            <a:endParaRPr lang="en-US" sz="1100" dirty="0"/>
          </a:p>
        </p:txBody>
      </p:sp>
      <p:sp>
        <p:nvSpPr>
          <p:cNvPr id="16" name="cd_176"/>
          <p:cNvSpPr/>
          <p:nvPr/>
        </p:nvSpPr>
        <p:spPr>
          <a:xfrm>
            <a:off x="4663440" y="1417320"/>
            <a:ext cx="42062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rh_177"/>
          <p:cNvSpPr/>
          <p:nvPr/>
        </p:nvSpPr>
        <p:spPr>
          <a:xfrm>
            <a:off x="4773168" y="1508760"/>
            <a:ext cx="3986784" cy="365760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 + spelling</a:t>
            </a:r>
            <a:endParaRPr lang="en-US" sz="1250" dirty="0"/>
          </a:p>
        </p:txBody>
      </p:sp>
      <p:sp>
        <p:nvSpPr>
          <p:cNvPr id="18" name="R2_rx178"/>
          <p:cNvSpPr/>
          <p:nvPr/>
        </p:nvSpPr>
        <p:spPr>
          <a:xfrm>
            <a:off x="4800600" y="201168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NOW: We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're having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 class. I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'm talking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, you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're listening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play → playing · study → studying (no change!)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→ having (−e) · sit → sitting (double)</a:t>
            </a:r>
            <a:endParaRPr lang="en-US" sz="1400" dirty="0"/>
          </a:p>
        </p:txBody>
      </p:sp>
      <p:sp>
        <p:nvSpPr>
          <p:cNvPr id="19" name="R2_ri179"/>
          <p:cNvSpPr/>
          <p:nvPr/>
        </p:nvSpPr>
        <p:spPr>
          <a:xfrm>
            <a:off x="4754880" y="4023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adesso, in questo momento (= sto facendo)</a:t>
            </a:r>
            <a:endParaRPr lang="en-US" sz="1100" dirty="0"/>
          </a:p>
        </p:txBody>
      </p:sp>
      <p:sp>
        <p:nvSpPr>
          <p:cNvPr id="20" name="R3_wc180"/>
          <p:cNvSpPr/>
          <p:nvPr/>
        </p:nvSpPr>
        <p:spPr>
          <a:xfrm>
            <a:off x="320040" y="4544568"/>
            <a:ext cx="8412480" cy="329184"/>
          </a:xfrm>
          <a:prstGeom prst="roundRect">
            <a:avLst>
              <a:gd name="adj" fmla="val 38889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R3_w181"/>
          <p:cNvSpPr/>
          <p:nvPr/>
        </p:nvSpPr>
        <p:spPr>
          <a:xfrm>
            <a:off x="457200" y="4544568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✗ Hello! What do you do here? → ✓ What are you doing here?   ·   ✗ studing → ✓ studying   ·   see → seeing (-ee: keep it)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8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18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84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Grammar Bank practice</a:t>
            </a:r>
            <a:endParaRPr lang="en-US" sz="2400" dirty="0"/>
          </a:p>
        </p:txBody>
      </p:sp>
      <p:pic>
        <p:nvPicPr>
          <p:cNvPr id="6" name="brP_18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119372" cy="402336"/>
          </a:xfrm>
          <a:prstGeom prst="rect">
            <a:avLst/>
          </a:prstGeom>
        </p:spPr>
      </p:pic>
      <p:sp>
        <p:nvSpPr>
          <p:cNvPr id="7" name="ins_186"/>
          <p:cNvSpPr/>
          <p:nvPr/>
        </p:nvSpPr>
        <p:spPr>
          <a:xfrm>
            <a:off x="1353312" y="731520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 Bank 5B a: What are they doing?</a:t>
            </a:r>
            <a:endParaRPr lang="en-US" sz="1250" dirty="0"/>
          </a:p>
        </p:txBody>
      </p:sp>
      <p:sp>
        <p:nvSpPr>
          <p:cNvPr id="8" name="insIT_18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 Bank 5B a: Cosa stanno facendo?</a:t>
            </a:r>
            <a:endParaRPr lang="en-US" sz="950" dirty="0"/>
          </a:p>
        </p:txBody>
      </p:sp>
      <p:sp>
        <p:nvSpPr>
          <p:cNvPr id="9" name="note_188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✍️ WRITE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TPRS · reading</a:t>
            </a:r>
            <a:endParaRPr lang="en-US" sz="1150" dirty="0"/>
          </a:p>
        </p:txBody>
      </p:sp>
      <p:pic>
        <p:nvPicPr>
          <p:cNvPr id="10" name="logo_18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9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5B · Grammar Bank 5B p.133 · a   ·   📖 Grammar Bank 5B p.133 · a (TG key)</a:t>
            </a:r>
            <a:endParaRPr lang="en-US" sz="800" dirty="0"/>
          </a:p>
        </p:txBody>
      </p:sp>
      <p:sp>
        <p:nvSpPr>
          <p:cNvPr id="12" name="cd_191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sh_192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and answer</a:t>
            </a:r>
            <a:endParaRPr lang="en-US" sz="1700" dirty="0"/>
          </a:p>
        </p:txBody>
      </p:sp>
      <p:sp>
        <p:nvSpPr>
          <p:cNvPr id="14" name="ln_193"/>
          <p:cNvSpPr/>
          <p:nvPr/>
        </p:nvSpPr>
        <p:spPr>
          <a:xfrm>
            <a:off x="548640" y="1920240"/>
            <a:ext cx="5349240" cy="480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she / cry →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endParaRPr lang="en-US" sz="1300" dirty="0"/>
          </a:p>
        </p:txBody>
      </p:sp>
      <p:sp>
        <p:nvSpPr>
          <p:cNvPr id="15" name="R1_lnA194"/>
          <p:cNvSpPr/>
          <p:nvPr/>
        </p:nvSpPr>
        <p:spPr>
          <a:xfrm>
            <a:off x="548640" y="1920240"/>
            <a:ext cx="5349240" cy="48021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she / cry →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What's she doing? She's crying.</a:t>
            </a:r>
            <a:endParaRPr lang="en-US" sz="1300" dirty="0"/>
          </a:p>
        </p:txBody>
      </p:sp>
      <p:sp>
        <p:nvSpPr>
          <p:cNvPr id="16" name="ln_195"/>
          <p:cNvSpPr/>
          <p:nvPr/>
        </p:nvSpPr>
        <p:spPr>
          <a:xfrm>
            <a:off x="548640" y="2400451"/>
            <a:ext cx="5349240" cy="627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they / watch TV →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endParaRPr lang="en-US" sz="1300" dirty="0"/>
          </a:p>
        </p:txBody>
      </p:sp>
      <p:sp>
        <p:nvSpPr>
          <p:cNvPr id="17" name="R2_lnA196"/>
          <p:cNvSpPr/>
          <p:nvPr/>
        </p:nvSpPr>
        <p:spPr>
          <a:xfrm>
            <a:off x="548640" y="2400451"/>
            <a:ext cx="5349240" cy="62796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they / watch TV →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What are they doing? They're watching TV.</a:t>
            </a:r>
            <a:endParaRPr lang="en-US" sz="1300" dirty="0"/>
          </a:p>
        </p:txBody>
      </p:sp>
      <p:sp>
        <p:nvSpPr>
          <p:cNvPr id="18" name="ln_197"/>
          <p:cNvSpPr/>
          <p:nvPr/>
        </p:nvSpPr>
        <p:spPr>
          <a:xfrm>
            <a:off x="548640" y="3028420"/>
            <a:ext cx="5349240" cy="674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he / play basketball →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endParaRPr lang="en-US" sz="1300" dirty="0"/>
          </a:p>
        </p:txBody>
      </p:sp>
      <p:sp>
        <p:nvSpPr>
          <p:cNvPr id="19" name="R3_lnA198"/>
          <p:cNvSpPr/>
          <p:nvPr/>
        </p:nvSpPr>
        <p:spPr>
          <a:xfrm>
            <a:off x="548640" y="3028420"/>
            <a:ext cx="5349240" cy="67414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he / play basketball →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What's he doing? He's playing basketball.</a:t>
            </a:r>
            <a:endParaRPr lang="en-US" sz="1300" dirty="0"/>
          </a:p>
        </p:txBody>
      </p:sp>
      <p:sp>
        <p:nvSpPr>
          <p:cNvPr id="20" name="ln_199"/>
          <p:cNvSpPr/>
          <p:nvPr/>
        </p:nvSpPr>
        <p:spPr>
          <a:xfrm>
            <a:off x="548640" y="3702563"/>
            <a:ext cx="5349240" cy="554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they / sing →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endParaRPr lang="en-US" sz="1300" dirty="0"/>
          </a:p>
        </p:txBody>
      </p:sp>
      <p:sp>
        <p:nvSpPr>
          <p:cNvPr id="21" name="R4_lnA200"/>
          <p:cNvSpPr/>
          <p:nvPr/>
        </p:nvSpPr>
        <p:spPr>
          <a:xfrm>
            <a:off x="548640" y="3702563"/>
            <a:ext cx="5349240" cy="55409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they / sing →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What are they doing? They're singing.</a:t>
            </a:r>
            <a:endParaRPr lang="en-US" sz="1300" dirty="0"/>
          </a:p>
        </p:txBody>
      </p:sp>
      <p:sp>
        <p:nvSpPr>
          <p:cNvPr id="22" name="ln_201"/>
          <p:cNvSpPr/>
          <p:nvPr/>
        </p:nvSpPr>
        <p:spPr>
          <a:xfrm>
            <a:off x="548640" y="4256653"/>
            <a:ext cx="5349240" cy="452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it / eat → </a:t>
            </a:r>
            <a:pPr indent="0" marL="0">
              <a:buNone/>
            </a:pPr>
            <a:r>
              <a:rPr lang="en-US" sz="13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endParaRPr lang="en-US" sz="1300" dirty="0"/>
          </a:p>
        </p:txBody>
      </p:sp>
      <p:sp>
        <p:nvSpPr>
          <p:cNvPr id="23" name="R5_lnA202"/>
          <p:cNvSpPr/>
          <p:nvPr/>
        </p:nvSpPr>
        <p:spPr>
          <a:xfrm>
            <a:off x="548640" y="4256653"/>
            <a:ext cx="5349240" cy="45250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it / eat → </a:t>
            </a:r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What's it doing? It's eating.</a:t>
            </a:r>
            <a:endParaRPr lang="en-US" sz="1300" dirty="0"/>
          </a:p>
        </p:txBody>
      </p:sp>
      <p:sp>
        <p:nvSpPr>
          <p:cNvPr id="24" name="pf_203"/>
          <p:cNvSpPr/>
          <p:nvPr/>
        </p:nvSpPr>
        <p:spPr>
          <a:xfrm rot="120000">
            <a:off x="6309360" y="1417320"/>
            <a:ext cx="2560320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5" name="ph_204" descr="/home/claude/lls-course/v2/cache/red_5b_rooms_jpg_594x34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6355080" y="1463040"/>
            <a:ext cx="2468880" cy="1417320"/>
          </a:xfrm>
          <a:prstGeom prst="rect">
            <a:avLst/>
          </a:prstGeom>
        </p:spPr>
      </p:pic>
      <p:sp>
        <p:nvSpPr>
          <p:cNvPr id="26" name="cd_205"/>
          <p:cNvSpPr/>
          <p:nvPr/>
        </p:nvSpPr>
        <p:spPr>
          <a:xfrm>
            <a:off x="6263640" y="3794760"/>
            <a:ext cx="2651760" cy="951992"/>
          </a:xfrm>
          <a:prstGeom prst="roundRect">
            <a:avLst>
              <a:gd name="adj" fmla="val 1344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7" name="ii_206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8" name="ih_207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29" name="il_208"/>
          <p:cNvSpPr/>
          <p:nvPr/>
        </p:nvSpPr>
        <p:spPr>
          <a:xfrm>
            <a:off x="6830568" y="4288536"/>
            <a:ext cx="1993392" cy="385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he / she doing?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0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1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211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happening?</a:t>
            </a:r>
            <a:endParaRPr lang="en-US" sz="2400" dirty="0"/>
          </a:p>
        </p:txBody>
      </p:sp>
      <p:pic>
        <p:nvPicPr>
          <p:cNvPr id="6" name="brP_21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3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Listen to the sounds. What's happening? Say a full sentence.</a:t>
            </a:r>
            <a:endParaRPr lang="en-US" sz="1100" dirty="0"/>
          </a:p>
        </p:txBody>
      </p:sp>
      <p:sp>
        <p:nvSpPr>
          <p:cNvPr id="8" name="insIT_21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Ascolta i suoni. Cosa succede? Di' una frase intera.</a:t>
            </a:r>
            <a:endParaRPr lang="en-US" sz="950" dirty="0"/>
          </a:p>
        </p:txBody>
      </p:sp>
      <p:sp>
        <p:nvSpPr>
          <p:cNvPr id="9" name="note_21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Controlled practice</a:t>
            </a:r>
            <a:endParaRPr lang="en-US" sz="1150" dirty="0"/>
          </a:p>
        </p:txBody>
      </p:sp>
      <p:pic>
        <p:nvPicPr>
          <p:cNvPr id="10" name="logo_21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1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5B · Grammar · listen to the sounds   ·   📖 SB p.41 · 2g · audio 5.13 (TG key)</a:t>
            </a:r>
            <a:endParaRPr lang="en-US" sz="800" dirty="0"/>
          </a:p>
        </p:txBody>
      </p:sp>
      <p:sp>
        <p:nvSpPr>
          <p:cNvPr id="12" name="cd_218"/>
          <p:cNvSpPr/>
          <p:nvPr/>
        </p:nvSpPr>
        <p:spPr>
          <a:xfrm>
            <a:off x="320040" y="1417320"/>
            <a:ext cx="2697480" cy="969264"/>
          </a:xfrm>
          <a:prstGeom prst="roundRect">
            <a:avLst>
              <a:gd name="adj" fmla="val 1320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19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220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221"/>
          <p:cNvSpPr/>
          <p:nvPr/>
        </p:nvSpPr>
        <p:spPr>
          <a:xfrm>
            <a:off x="886968" y="1911096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 Somebody's cooking.  (Somebody = a man or a woman)</a:t>
            </a:r>
            <a:endParaRPr lang="en-US" sz="900" dirty="0"/>
          </a:p>
        </p:txBody>
      </p:sp>
      <p:sp>
        <p:nvSpPr>
          <p:cNvPr id="16" name="ap_222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5.13</a:t>
            </a:r>
            <a:endParaRPr lang="en-US" sz="1100" dirty="0"/>
          </a:p>
        </p:txBody>
      </p:sp>
      <p:sp>
        <p:nvSpPr>
          <p:cNvPr id="17" name="bd_223"/>
          <p:cNvSpPr/>
          <p:nvPr/>
        </p:nvSpPr>
        <p:spPr>
          <a:xfrm>
            <a:off x="3246120" y="1474143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q_224"/>
          <p:cNvSpPr/>
          <p:nvPr/>
        </p:nvSpPr>
        <p:spPr>
          <a:xfrm>
            <a:off x="3630168" y="1417320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Sound 2</a:t>
            </a:r>
            <a:endParaRPr lang="en-US" sz="1150" dirty="0"/>
          </a:p>
        </p:txBody>
      </p:sp>
      <p:sp>
        <p:nvSpPr>
          <p:cNvPr id="19" name="R1_chip225"/>
          <p:cNvSpPr/>
          <p:nvPr/>
        </p:nvSpPr>
        <p:spPr>
          <a:xfrm>
            <a:off x="5806440" y="1417320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Somebody's sending messages / texting.</a:t>
            </a:r>
            <a:endParaRPr lang="en-US" sz="1050" dirty="0"/>
          </a:p>
        </p:txBody>
      </p:sp>
      <p:sp>
        <p:nvSpPr>
          <p:cNvPr id="20" name="bd_226"/>
          <p:cNvSpPr/>
          <p:nvPr/>
        </p:nvSpPr>
        <p:spPr>
          <a:xfrm>
            <a:off x="3246120" y="1944406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q_227"/>
          <p:cNvSpPr/>
          <p:nvPr/>
        </p:nvSpPr>
        <p:spPr>
          <a:xfrm>
            <a:off x="3630168" y="1887583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Sound 3</a:t>
            </a:r>
            <a:endParaRPr lang="en-US" sz="1150" dirty="0"/>
          </a:p>
        </p:txBody>
      </p:sp>
      <p:sp>
        <p:nvSpPr>
          <p:cNvPr id="22" name="R2_chip228"/>
          <p:cNvSpPr/>
          <p:nvPr/>
        </p:nvSpPr>
        <p:spPr>
          <a:xfrm>
            <a:off x="5806440" y="1887583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Somebody's having a shower and singing.</a:t>
            </a:r>
            <a:endParaRPr lang="en-US" sz="1050" dirty="0"/>
          </a:p>
        </p:txBody>
      </p:sp>
      <p:sp>
        <p:nvSpPr>
          <p:cNvPr id="23" name="bd_229"/>
          <p:cNvSpPr/>
          <p:nvPr/>
        </p:nvSpPr>
        <p:spPr>
          <a:xfrm>
            <a:off x="3246120" y="2414669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q_230"/>
          <p:cNvSpPr/>
          <p:nvPr/>
        </p:nvSpPr>
        <p:spPr>
          <a:xfrm>
            <a:off x="3630168" y="2357846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Sound 4</a:t>
            </a:r>
            <a:endParaRPr lang="en-US" sz="1150" dirty="0"/>
          </a:p>
        </p:txBody>
      </p:sp>
      <p:sp>
        <p:nvSpPr>
          <p:cNvPr id="25" name="R3_chip231"/>
          <p:cNvSpPr/>
          <p:nvPr/>
        </p:nvSpPr>
        <p:spPr>
          <a:xfrm>
            <a:off x="5806440" y="2357846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raining.</a:t>
            </a:r>
            <a:endParaRPr lang="en-US" sz="1050" dirty="0"/>
          </a:p>
        </p:txBody>
      </p:sp>
      <p:sp>
        <p:nvSpPr>
          <p:cNvPr id="26" name="bd_232"/>
          <p:cNvSpPr/>
          <p:nvPr/>
        </p:nvSpPr>
        <p:spPr>
          <a:xfrm>
            <a:off x="3246120" y="28849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q_233"/>
          <p:cNvSpPr/>
          <p:nvPr/>
        </p:nvSpPr>
        <p:spPr>
          <a:xfrm>
            <a:off x="3630168" y="2828109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Sound 5</a:t>
            </a:r>
            <a:endParaRPr lang="en-US" sz="1150" dirty="0"/>
          </a:p>
        </p:txBody>
      </p:sp>
      <p:sp>
        <p:nvSpPr>
          <p:cNvPr id="28" name="R4_chip234"/>
          <p:cNvSpPr/>
          <p:nvPr/>
        </p:nvSpPr>
        <p:spPr>
          <a:xfrm>
            <a:off x="5806440" y="2828109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Somebody's eating spaghetti.</a:t>
            </a:r>
            <a:endParaRPr lang="en-US" sz="1050" dirty="0"/>
          </a:p>
        </p:txBody>
      </p:sp>
      <p:sp>
        <p:nvSpPr>
          <p:cNvPr id="29" name="bd_235"/>
          <p:cNvSpPr/>
          <p:nvPr/>
        </p:nvSpPr>
        <p:spPr>
          <a:xfrm>
            <a:off x="3246120" y="3355195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q_236"/>
          <p:cNvSpPr/>
          <p:nvPr/>
        </p:nvSpPr>
        <p:spPr>
          <a:xfrm>
            <a:off x="3630168" y="3298371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Sound 6</a:t>
            </a:r>
            <a:endParaRPr lang="en-US" sz="1150" dirty="0"/>
          </a:p>
        </p:txBody>
      </p:sp>
      <p:sp>
        <p:nvSpPr>
          <p:cNvPr id="31" name="R5_chip237"/>
          <p:cNvSpPr/>
          <p:nvPr/>
        </p:nvSpPr>
        <p:spPr>
          <a:xfrm>
            <a:off x="5806440" y="3298371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Somebody's making a coffee.</a:t>
            </a:r>
            <a:endParaRPr lang="en-US" sz="1050" dirty="0"/>
          </a:p>
        </p:txBody>
      </p:sp>
      <p:sp>
        <p:nvSpPr>
          <p:cNvPr id="32" name="bd_238"/>
          <p:cNvSpPr/>
          <p:nvPr/>
        </p:nvSpPr>
        <p:spPr>
          <a:xfrm>
            <a:off x="3246120" y="3825458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q_239"/>
          <p:cNvSpPr/>
          <p:nvPr/>
        </p:nvSpPr>
        <p:spPr>
          <a:xfrm>
            <a:off x="3630168" y="3768634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Sound 7</a:t>
            </a:r>
            <a:endParaRPr lang="en-US" sz="1150" dirty="0"/>
          </a:p>
        </p:txBody>
      </p:sp>
      <p:sp>
        <p:nvSpPr>
          <p:cNvPr id="34" name="R6_chip240"/>
          <p:cNvSpPr/>
          <p:nvPr/>
        </p:nvSpPr>
        <p:spPr>
          <a:xfrm>
            <a:off x="5806440" y="3768634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Somebody's crying.</a:t>
            </a:r>
            <a:endParaRPr lang="en-US" sz="1050" dirty="0"/>
          </a:p>
        </p:txBody>
      </p:sp>
      <p:sp>
        <p:nvSpPr>
          <p:cNvPr id="35" name="bd_241"/>
          <p:cNvSpPr/>
          <p:nvPr/>
        </p:nvSpPr>
        <p:spPr>
          <a:xfrm>
            <a:off x="3246120" y="4295721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36" name="q_242"/>
          <p:cNvSpPr/>
          <p:nvPr/>
        </p:nvSpPr>
        <p:spPr>
          <a:xfrm>
            <a:off x="3630168" y="4238897"/>
            <a:ext cx="2103120" cy="424543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Sound 8</a:t>
            </a:r>
            <a:endParaRPr lang="en-US" sz="1150" dirty="0"/>
          </a:p>
        </p:txBody>
      </p:sp>
      <p:sp>
        <p:nvSpPr>
          <p:cNvPr id="37" name="R7_chip243"/>
          <p:cNvSpPr/>
          <p:nvPr/>
        </p:nvSpPr>
        <p:spPr>
          <a:xfrm>
            <a:off x="5806440" y="4238897"/>
            <a:ext cx="3063240" cy="424543"/>
          </a:xfrm>
          <a:prstGeom prst="roundRect">
            <a:avLst>
              <a:gd name="adj" fmla="val 21538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Somebody's doing the housework.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4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4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246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singer /ŋ/</a:t>
            </a:r>
            <a:endParaRPr lang="en-US" sz="2500" dirty="0"/>
          </a:p>
        </p:txBody>
      </p:sp>
      <p:pic>
        <p:nvPicPr>
          <p:cNvPr id="6" name="brP_24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93108" cy="402336"/>
          </a:xfrm>
          <a:prstGeom prst="rect">
            <a:avLst/>
          </a:prstGeom>
        </p:spPr>
      </p:pic>
      <p:sp>
        <p:nvSpPr>
          <p:cNvPr id="7" name="ins_248"/>
          <p:cNvSpPr/>
          <p:nvPr/>
        </p:nvSpPr>
        <p:spPr>
          <a:xfrm>
            <a:off x="1353312" y="731520"/>
            <a:ext cx="40370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and repeat /ŋ/. Then: /ŋ/ or /ŋk/?</a:t>
            </a:r>
            <a:endParaRPr lang="en-US" sz="1250" dirty="0"/>
          </a:p>
        </p:txBody>
      </p:sp>
      <p:sp>
        <p:nvSpPr>
          <p:cNvPr id="8" name="insIT_24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e ripeti /ŋ/. Poi: /ŋ/ o /ŋk/?</a:t>
            </a:r>
            <a:endParaRPr lang="en-US" sz="950" dirty="0"/>
          </a:p>
        </p:txBody>
      </p:sp>
      <p:sp>
        <p:nvSpPr>
          <p:cNvPr id="9" name="note_25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🙋 whole class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 · Guided discovery</a:t>
            </a:r>
            <a:endParaRPr lang="en-US" sz="1150" dirty="0"/>
          </a:p>
        </p:txBody>
      </p:sp>
      <p:pic>
        <p:nvPicPr>
          <p:cNvPr id="10" name="logo_25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5B · Pronunciation · /ŋ/   ·   📖 SB p.41 · 3a · audio 5.14</a:t>
            </a:r>
            <a:endParaRPr lang="en-US" sz="800" dirty="0"/>
          </a:p>
        </p:txBody>
      </p:sp>
      <p:sp>
        <p:nvSpPr>
          <p:cNvPr id="12" name="cd_253"/>
          <p:cNvSpPr/>
          <p:nvPr/>
        </p:nvSpPr>
        <p:spPr>
          <a:xfrm>
            <a:off x="320040" y="1417320"/>
            <a:ext cx="2697480" cy="1527048"/>
          </a:xfrm>
          <a:prstGeom prst="roundRect">
            <a:avLst>
              <a:gd name="adj" fmla="val 838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54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4" name="ih_255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sound</a:t>
            </a:r>
            <a:endParaRPr lang="en-US" sz="1300" dirty="0"/>
          </a:p>
        </p:txBody>
      </p:sp>
      <p:sp>
        <p:nvSpPr>
          <p:cNvPr id="15" name="ap_256"/>
          <p:cNvSpPr/>
          <p:nvPr/>
        </p:nvSpPr>
        <p:spPr>
          <a:xfrm>
            <a:off x="365760" y="3081528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5.14</a:t>
            </a:r>
            <a:endParaRPr lang="en-US" sz="1100" dirty="0"/>
          </a:p>
        </p:txBody>
      </p:sp>
      <p:sp>
        <p:nvSpPr>
          <p:cNvPr id="16" name="lg_257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🎤 singer /ŋ/</a:t>
            </a:r>
            <a:endParaRPr lang="en-US" sz="1050" dirty="0"/>
          </a:p>
        </p:txBody>
      </p:sp>
      <p:sp>
        <p:nvSpPr>
          <p:cNvPr id="17" name="lg_258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🏦 + k: /ŋk/</a:t>
            </a:r>
            <a:endParaRPr lang="en-US" sz="1050" dirty="0"/>
          </a:p>
        </p:txBody>
      </p:sp>
      <p:sp>
        <p:nvSpPr>
          <p:cNvPr id="18" name="sq_259"/>
          <p:cNvSpPr/>
          <p:nvPr/>
        </p:nvSpPr>
        <p:spPr>
          <a:xfrm>
            <a:off x="3246120" y="1417320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singi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ng</a:t>
            </a:r>
            <a:endParaRPr lang="en-US" sz="1200" dirty="0"/>
          </a:p>
        </p:txBody>
      </p:sp>
      <p:sp>
        <p:nvSpPr>
          <p:cNvPr id="19" name="R1_tag260"/>
          <p:cNvSpPr/>
          <p:nvPr/>
        </p:nvSpPr>
        <p:spPr>
          <a:xfrm>
            <a:off x="7178040" y="1417320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🎤 singer /ŋ/</a:t>
            </a:r>
            <a:endParaRPr lang="en-US" sz="1150" dirty="0"/>
          </a:p>
        </p:txBody>
      </p:sp>
      <p:sp>
        <p:nvSpPr>
          <p:cNvPr id="20" name="sq_261"/>
          <p:cNvSpPr/>
          <p:nvPr/>
        </p:nvSpPr>
        <p:spPr>
          <a:xfrm>
            <a:off x="3246120" y="1716578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goi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ng</a:t>
            </a:r>
            <a:endParaRPr lang="en-US" sz="1200" dirty="0"/>
          </a:p>
        </p:txBody>
      </p:sp>
      <p:sp>
        <p:nvSpPr>
          <p:cNvPr id="21" name="R2_tag262"/>
          <p:cNvSpPr/>
          <p:nvPr/>
        </p:nvSpPr>
        <p:spPr>
          <a:xfrm>
            <a:off x="7178040" y="1716578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🎤 singer /ŋ/</a:t>
            </a:r>
            <a:endParaRPr lang="en-US" sz="1150" dirty="0"/>
          </a:p>
        </p:txBody>
      </p:sp>
      <p:sp>
        <p:nvSpPr>
          <p:cNvPr id="22" name="sq_263"/>
          <p:cNvSpPr/>
          <p:nvPr/>
        </p:nvSpPr>
        <p:spPr>
          <a:xfrm>
            <a:off x="3246120" y="2015836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doi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ng</a:t>
            </a:r>
            <a:endParaRPr lang="en-US" sz="1200" dirty="0"/>
          </a:p>
        </p:txBody>
      </p:sp>
      <p:sp>
        <p:nvSpPr>
          <p:cNvPr id="23" name="R3_tag264"/>
          <p:cNvSpPr/>
          <p:nvPr/>
        </p:nvSpPr>
        <p:spPr>
          <a:xfrm>
            <a:off x="7178040" y="2015836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🎤 singer /ŋ/</a:t>
            </a:r>
            <a:endParaRPr lang="en-US" sz="1150" dirty="0"/>
          </a:p>
        </p:txBody>
      </p:sp>
      <p:sp>
        <p:nvSpPr>
          <p:cNvPr id="24" name="sq_265"/>
          <p:cNvSpPr/>
          <p:nvPr/>
        </p:nvSpPr>
        <p:spPr>
          <a:xfrm>
            <a:off x="3246120" y="2315095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studyi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ng</a:t>
            </a:r>
            <a:endParaRPr lang="en-US" sz="1200" dirty="0"/>
          </a:p>
        </p:txBody>
      </p:sp>
      <p:sp>
        <p:nvSpPr>
          <p:cNvPr id="25" name="R4_tag266"/>
          <p:cNvSpPr/>
          <p:nvPr/>
        </p:nvSpPr>
        <p:spPr>
          <a:xfrm>
            <a:off x="7178040" y="2315095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🎤 singer /ŋ/</a:t>
            </a:r>
            <a:endParaRPr lang="en-US" sz="1150" dirty="0"/>
          </a:p>
        </p:txBody>
      </p:sp>
      <p:sp>
        <p:nvSpPr>
          <p:cNvPr id="26" name="sq_267"/>
          <p:cNvSpPr/>
          <p:nvPr/>
        </p:nvSpPr>
        <p:spPr>
          <a:xfrm>
            <a:off x="3246120" y="2614353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uage</a:t>
            </a:r>
            <a:endParaRPr lang="en-US" sz="1200" dirty="0"/>
          </a:p>
        </p:txBody>
      </p:sp>
      <p:sp>
        <p:nvSpPr>
          <p:cNvPr id="27" name="R5_tag268"/>
          <p:cNvSpPr/>
          <p:nvPr/>
        </p:nvSpPr>
        <p:spPr>
          <a:xfrm>
            <a:off x="7178040" y="2614353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🎤 singer /ŋ/</a:t>
            </a:r>
            <a:endParaRPr lang="en-US" sz="1150" dirty="0"/>
          </a:p>
        </p:txBody>
      </p:sp>
      <p:sp>
        <p:nvSpPr>
          <p:cNvPr id="28" name="sq_269"/>
          <p:cNvSpPr/>
          <p:nvPr/>
        </p:nvSpPr>
        <p:spPr>
          <a:xfrm>
            <a:off x="3246120" y="2913611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wro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ng</a:t>
            </a:r>
            <a:endParaRPr lang="en-US" sz="1200" dirty="0"/>
          </a:p>
        </p:txBody>
      </p:sp>
      <p:sp>
        <p:nvSpPr>
          <p:cNvPr id="29" name="R6_tag270"/>
          <p:cNvSpPr/>
          <p:nvPr/>
        </p:nvSpPr>
        <p:spPr>
          <a:xfrm>
            <a:off x="7178040" y="2913611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🎤 singer /ŋ/</a:t>
            </a:r>
            <a:endParaRPr lang="en-US" sz="1150" dirty="0"/>
          </a:p>
        </p:txBody>
      </p:sp>
      <p:sp>
        <p:nvSpPr>
          <p:cNvPr id="30" name="sq_271"/>
          <p:cNvSpPr/>
          <p:nvPr/>
        </p:nvSpPr>
        <p:spPr>
          <a:xfrm>
            <a:off x="3246120" y="3212869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ng</a:t>
            </a:r>
            <a:endParaRPr lang="en-US" sz="1200" dirty="0"/>
          </a:p>
        </p:txBody>
      </p:sp>
      <p:sp>
        <p:nvSpPr>
          <p:cNvPr id="31" name="R7_tag272"/>
          <p:cNvSpPr/>
          <p:nvPr/>
        </p:nvSpPr>
        <p:spPr>
          <a:xfrm>
            <a:off x="7178040" y="3212869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🎤 singer /ŋ/</a:t>
            </a:r>
            <a:endParaRPr lang="en-US" sz="1150" dirty="0"/>
          </a:p>
        </p:txBody>
      </p:sp>
      <p:sp>
        <p:nvSpPr>
          <p:cNvPr id="32" name="sq_273"/>
          <p:cNvSpPr/>
          <p:nvPr/>
        </p:nvSpPr>
        <p:spPr>
          <a:xfrm>
            <a:off x="3246120" y="3512127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nk</a:t>
            </a:r>
            <a:endParaRPr lang="en-US" sz="1200" dirty="0"/>
          </a:p>
        </p:txBody>
      </p:sp>
      <p:sp>
        <p:nvSpPr>
          <p:cNvPr id="33" name="R8_tag274"/>
          <p:cNvSpPr/>
          <p:nvPr/>
        </p:nvSpPr>
        <p:spPr>
          <a:xfrm>
            <a:off x="7178040" y="3512127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🏦 + k: /ŋk/</a:t>
            </a:r>
            <a:endParaRPr lang="en-US" sz="1150" dirty="0"/>
          </a:p>
        </p:txBody>
      </p:sp>
      <p:sp>
        <p:nvSpPr>
          <p:cNvPr id="34" name="sq_275"/>
          <p:cNvSpPr/>
          <p:nvPr/>
        </p:nvSpPr>
        <p:spPr>
          <a:xfrm>
            <a:off x="3246120" y="3811385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nk</a:t>
            </a:r>
            <a:endParaRPr lang="en-US" sz="1200" dirty="0"/>
          </a:p>
        </p:txBody>
      </p:sp>
      <p:sp>
        <p:nvSpPr>
          <p:cNvPr id="35" name="R9_tag276"/>
          <p:cNvSpPr/>
          <p:nvPr/>
        </p:nvSpPr>
        <p:spPr>
          <a:xfrm>
            <a:off x="7178040" y="3811385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🏦 + k: /ŋk/</a:t>
            </a:r>
            <a:endParaRPr lang="en-US" sz="1150" dirty="0"/>
          </a:p>
        </p:txBody>
      </p:sp>
      <p:sp>
        <p:nvSpPr>
          <p:cNvPr id="36" name="sq_277"/>
          <p:cNvSpPr/>
          <p:nvPr/>
        </p:nvSpPr>
        <p:spPr>
          <a:xfrm>
            <a:off x="3246120" y="4110644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nk</a:t>
            </a:r>
            <a:endParaRPr lang="en-US" sz="1200" dirty="0"/>
          </a:p>
        </p:txBody>
      </p:sp>
      <p:sp>
        <p:nvSpPr>
          <p:cNvPr id="37" name="R10_tag278"/>
          <p:cNvSpPr/>
          <p:nvPr/>
        </p:nvSpPr>
        <p:spPr>
          <a:xfrm>
            <a:off x="7178040" y="4110644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🏦 + k: /ŋk/</a:t>
            </a:r>
            <a:endParaRPr lang="en-US" sz="1150" dirty="0"/>
          </a:p>
        </p:txBody>
      </p:sp>
      <p:sp>
        <p:nvSpPr>
          <p:cNvPr id="38" name="sq_279"/>
          <p:cNvSpPr/>
          <p:nvPr/>
        </p:nvSpPr>
        <p:spPr>
          <a:xfrm>
            <a:off x="3246120" y="4409902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nk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</a:t>
            </a:r>
            <a:endParaRPr lang="en-US" sz="1200" dirty="0"/>
          </a:p>
        </p:txBody>
      </p:sp>
      <p:sp>
        <p:nvSpPr>
          <p:cNvPr id="39" name="R11_tag280"/>
          <p:cNvSpPr/>
          <p:nvPr/>
        </p:nvSpPr>
        <p:spPr>
          <a:xfrm>
            <a:off x="7178040" y="4409902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🏦 + k: /ŋk/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8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28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283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she doing?</a:t>
            </a:r>
            <a:endParaRPr lang="en-US" sz="2500" dirty="0"/>
          </a:p>
        </p:txBody>
      </p:sp>
      <p:pic>
        <p:nvPicPr>
          <p:cNvPr id="6" name="brP_28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85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Point at the picture of the houses. Ask and answer: What's she doing?</a:t>
            </a:r>
            <a:endParaRPr lang="en-US" sz="1100" dirty="0"/>
          </a:p>
        </p:txBody>
      </p:sp>
      <p:sp>
        <p:nvSpPr>
          <p:cNvPr id="8" name="insIT_28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Indica la figura delle case. Chiedi e rispondi: What's she doing?</a:t>
            </a:r>
            <a:endParaRPr lang="en-US" sz="950" dirty="0"/>
          </a:p>
        </p:txBody>
      </p:sp>
      <p:sp>
        <p:nvSpPr>
          <p:cNvPr id="9" name="note_28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28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8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5B · Speaking · the houses   ·   📖 SB p.41 · 3b · TG extra idea</a:t>
            </a:r>
            <a:endParaRPr lang="en-US" sz="800" dirty="0"/>
          </a:p>
        </p:txBody>
      </p:sp>
      <p:sp>
        <p:nvSpPr>
          <p:cNvPr id="12" name="pf_290"/>
          <p:cNvSpPr/>
          <p:nvPr/>
        </p:nvSpPr>
        <p:spPr>
          <a:xfrm rot="-120000">
            <a:off x="1273280" y="1371600"/>
            <a:ext cx="882440" cy="1325880"/>
          </a:xfrm>
          <a:prstGeom prst="roundRect">
            <a:avLst>
              <a:gd name="adj" fmla="val 176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91" descr="/home/claude/lls-course/v2/cache/red_5b_house_jpg_190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1319000" y="1417320"/>
            <a:ext cx="791000" cy="1234440"/>
          </a:xfrm>
          <a:prstGeom prst="rect">
            <a:avLst/>
          </a:prstGeom>
        </p:spPr>
      </p:pic>
      <p:sp>
        <p:nvSpPr>
          <p:cNvPr id="14" name="cd_292"/>
          <p:cNvSpPr/>
          <p:nvPr/>
        </p:nvSpPr>
        <p:spPr>
          <a:xfrm>
            <a:off x="320040" y="2880360"/>
            <a:ext cx="2788920" cy="1765808"/>
          </a:xfrm>
          <a:prstGeom prst="roundRect">
            <a:avLst>
              <a:gd name="adj" fmla="val 725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93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294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295"/>
          <p:cNvSpPr/>
          <p:nvPr/>
        </p:nvSpPr>
        <p:spPr>
          <a:xfrm>
            <a:off x="886968" y="3374136"/>
            <a:ext cx="2130552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She's playing the piano.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are they doing?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They're having a party.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dog is barking.</a:t>
            </a:r>
            <a:endParaRPr lang="en-US" sz="1150" dirty="0"/>
          </a:p>
        </p:txBody>
      </p:sp>
      <p:sp>
        <p:nvSpPr>
          <p:cNvPr id="18" name="R1_qb296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297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girl upstairs?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She's playing the piano.</a:t>
            </a:r>
            <a:endParaRPr lang="en-US" sz="1400" dirty="0"/>
          </a:p>
        </p:txBody>
      </p:sp>
      <p:sp>
        <p:nvSpPr>
          <p:cNvPr id="20" name="R2_qb298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299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boy in the living room?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He's playing a video game.</a:t>
            </a:r>
            <a:endParaRPr lang="en-US" sz="1400" dirty="0"/>
          </a:p>
        </p:txBody>
      </p:sp>
      <p:sp>
        <p:nvSpPr>
          <p:cNvPr id="22" name="R3_qb300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301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woman in the kitchen?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She's cooking and listening to the radio.</a:t>
            </a:r>
            <a:endParaRPr lang="en-US" sz="1400" dirty="0"/>
          </a:p>
        </p:txBody>
      </p:sp>
      <p:sp>
        <p:nvSpPr>
          <p:cNvPr id="24" name="R4_qb302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303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people in the garden?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They're having a party.</a:t>
            </a:r>
            <a:endParaRPr lang="en-US" sz="1400" dirty="0"/>
          </a:p>
        </p:txBody>
      </p:sp>
      <p:sp>
        <p:nvSpPr>
          <p:cNvPr id="26" name="R5_qb304"/>
          <p:cNvSpPr/>
          <p:nvPr/>
        </p:nvSpPr>
        <p:spPr>
          <a:xfrm>
            <a:off x="3273552" y="386791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R5_sq305"/>
          <p:cNvSpPr/>
          <p:nvPr/>
        </p:nvSpPr>
        <p:spPr>
          <a:xfrm>
            <a:off x="3675888" y="3831336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your mum doing now? Your best friend?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think she's probably having lunch.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0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30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308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are they doing?</a:t>
            </a:r>
            <a:endParaRPr lang="en-US" sz="2500" dirty="0"/>
          </a:p>
        </p:txBody>
      </p:sp>
      <p:pic>
        <p:nvPicPr>
          <p:cNvPr id="6" name="brP_30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10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6 short conversations. What are the people doing?</a:t>
            </a:r>
            <a:endParaRPr lang="en-US" sz="1200" dirty="0"/>
          </a:p>
        </p:txBody>
      </p:sp>
      <p:sp>
        <p:nvSpPr>
          <p:cNvPr id="8" name="insIT_31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6 conversazioni. Cosa stanno facendo?</a:t>
            </a:r>
            <a:endParaRPr lang="en-US" sz="950" dirty="0"/>
          </a:p>
        </p:txBody>
      </p:sp>
      <p:sp>
        <p:nvSpPr>
          <p:cNvPr id="9" name="note_31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Controlled practice</a:t>
            </a:r>
            <a:endParaRPr lang="en-US" sz="1150" dirty="0"/>
          </a:p>
        </p:txBody>
      </p:sp>
      <p:pic>
        <p:nvPicPr>
          <p:cNvPr id="10" name="logo_31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1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5B · Listening · working out the situation   ·   📖 SB p.41 · 4a–4d · audio 5.15, 5.16 (TG key + scripts pp.119–120)</a:t>
            </a:r>
            <a:endParaRPr lang="en-US" sz="800" dirty="0"/>
          </a:p>
        </p:txBody>
      </p:sp>
      <p:sp>
        <p:nvSpPr>
          <p:cNvPr id="12" name="cd_315"/>
          <p:cNvSpPr/>
          <p:nvPr/>
        </p:nvSpPr>
        <p:spPr>
          <a:xfrm>
            <a:off x="320040" y="1417320"/>
            <a:ext cx="2697480" cy="969264"/>
          </a:xfrm>
          <a:prstGeom prst="roundRect">
            <a:avLst>
              <a:gd name="adj" fmla="val 1320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16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317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318"/>
          <p:cNvSpPr/>
          <p:nvPr/>
        </p:nvSpPr>
        <p:spPr>
          <a:xfrm>
            <a:off x="886968" y="1911096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words help you? Write two for each.</a:t>
            </a:r>
            <a:endParaRPr lang="en-US" sz="1050" dirty="0"/>
          </a:p>
        </p:txBody>
      </p:sp>
      <p:sp>
        <p:nvSpPr>
          <p:cNvPr id="16" name="ap_319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5.16</a:t>
            </a:r>
            <a:endParaRPr lang="en-US" sz="1100" dirty="0"/>
          </a:p>
        </p:txBody>
      </p:sp>
      <p:sp>
        <p:nvSpPr>
          <p:cNvPr id="17" name="bd_320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q_321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woman (5.15)</a:t>
            </a:r>
            <a:endParaRPr lang="en-US" sz="1150" dirty="0"/>
          </a:p>
        </p:txBody>
      </p:sp>
      <p:sp>
        <p:nvSpPr>
          <p:cNvPr id="19" name="R1_chip322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She's checking in at a hotel. – reservation, two nights, sign here, key card, room 212</a:t>
            </a:r>
            <a:endParaRPr lang="en-US" sz="900" dirty="0"/>
          </a:p>
        </p:txBody>
      </p:sp>
      <p:sp>
        <p:nvSpPr>
          <p:cNvPr id="20" name="bd_323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q_324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150" dirty="0"/>
          </a:p>
        </p:txBody>
      </p:sp>
      <p:sp>
        <p:nvSpPr>
          <p:cNvPr id="22" name="R2_chip325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buying a coffee. – latte, regular or large, take away, £3.40</a:t>
            </a:r>
            <a:endParaRPr lang="en-US" sz="900" dirty="0"/>
          </a:p>
        </p:txBody>
      </p:sp>
      <p:sp>
        <p:nvSpPr>
          <p:cNvPr id="23" name="bd_326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q_327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150" dirty="0"/>
          </a:p>
        </p:txBody>
      </p:sp>
      <p:sp>
        <p:nvSpPr>
          <p:cNvPr id="25" name="R3_chip328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looking for his car keys. – I can't find them, Look in the living room</a:t>
            </a:r>
            <a:endParaRPr lang="en-US" sz="900" dirty="0"/>
          </a:p>
        </p:txBody>
      </p:sp>
      <p:sp>
        <p:nvSpPr>
          <p:cNvPr id="26" name="bd_329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q_330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150" dirty="0"/>
          </a:p>
        </p:txBody>
      </p:sp>
      <p:sp>
        <p:nvSpPr>
          <p:cNvPr id="28" name="R4_chip331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They're waiting for a train. – waiting room, platform, slow train</a:t>
            </a:r>
            <a:endParaRPr lang="en-US" sz="900" dirty="0"/>
          </a:p>
        </p:txBody>
      </p:sp>
      <p:sp>
        <p:nvSpPr>
          <p:cNvPr id="29" name="bd_332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q_333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150" dirty="0"/>
          </a:p>
        </p:txBody>
      </p:sp>
      <p:sp>
        <p:nvSpPr>
          <p:cNvPr id="31" name="R5_chip334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She's taking a photo. – stand together, Are you ready?, Say cheese!</a:t>
            </a:r>
            <a:endParaRPr lang="en-US" sz="900" dirty="0"/>
          </a:p>
        </p:txBody>
      </p:sp>
      <p:sp>
        <p:nvSpPr>
          <p:cNvPr id="32" name="bd_335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q_336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150" dirty="0"/>
          </a:p>
        </p:txBody>
      </p:sp>
      <p:sp>
        <p:nvSpPr>
          <p:cNvPr id="34" name="R6_chip337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having a job interview. – the hours, overtime, the contract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3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33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340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what I'm doing!</a:t>
            </a:r>
            <a:endParaRPr lang="en-US" sz="2500" dirty="0"/>
          </a:p>
        </p:txBody>
      </p:sp>
      <p:pic>
        <p:nvPicPr>
          <p:cNvPr id="6" name="brP_34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42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Guess what I'm doing! Mime an action. The others guess with the present continuous.</a:t>
            </a:r>
            <a:endParaRPr lang="en-US" sz="1100" dirty="0"/>
          </a:p>
        </p:txBody>
      </p:sp>
      <p:sp>
        <p:nvSpPr>
          <p:cNvPr id="8" name="insIT_34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Indovina cosa sto facendo! Mima un'azione. Gli altri indovinano.</a:t>
            </a:r>
            <a:endParaRPr lang="en-US" sz="950" dirty="0"/>
          </a:p>
        </p:txBody>
      </p:sp>
      <p:sp>
        <p:nvSpPr>
          <p:cNvPr id="9" name="note_34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🏆 teams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 game</a:t>
            </a:r>
            <a:endParaRPr lang="en-US" sz="1150" dirty="0"/>
          </a:p>
        </p:txBody>
      </p:sp>
      <p:pic>
        <p:nvPicPr>
          <p:cNvPr id="10" name="logo_34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4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5B · Game · mime it!   ·   📖 Communicative photocopiable Guess what I'm doing! p.227 – zero-prep version</a:t>
            </a:r>
            <a:endParaRPr lang="en-US" sz="800" dirty="0"/>
          </a:p>
        </p:txBody>
      </p:sp>
      <p:sp>
        <p:nvSpPr>
          <p:cNvPr id="12" name="cd_347"/>
          <p:cNvSpPr/>
          <p:nvPr/>
        </p:nvSpPr>
        <p:spPr>
          <a:xfrm>
            <a:off x="320040" y="1417320"/>
            <a:ext cx="2697480" cy="2502408"/>
          </a:xfrm>
          <a:prstGeom prst="roundRect">
            <a:avLst>
              <a:gd name="adj" fmla="val 5116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48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349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350"/>
          <p:cNvSpPr/>
          <p:nvPr/>
        </p:nvSpPr>
        <p:spPr>
          <a:xfrm>
            <a:off x="886968" y="1911096"/>
            <a:ext cx="2039112" cy="193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student mimes an action (no talking!).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team guesses: Are you swimming? – No, I'm not!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Correct guess in 30 seconds = 1 point. Use verb phrases from 5A too!</a:t>
            </a:r>
            <a:endParaRPr lang="en-US" sz="1150" dirty="0"/>
          </a:p>
        </p:txBody>
      </p:sp>
      <p:sp>
        <p:nvSpPr>
          <p:cNvPr id="16" name="st_351"/>
          <p:cNvSpPr/>
          <p:nvPr/>
        </p:nvSpPr>
        <p:spPr>
          <a:xfrm rot="-180000">
            <a:off x="502920" y="4102608"/>
            <a:ext cx="2286000" cy="606552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7" name="bd_352"/>
          <p:cNvSpPr/>
          <p:nvPr/>
        </p:nvSpPr>
        <p:spPr>
          <a:xfrm>
            <a:off x="3246120" y="1572768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gq_353"/>
          <p:cNvSpPr/>
          <p:nvPr/>
        </p:nvSpPr>
        <p:spPr>
          <a:xfrm>
            <a:off x="3657600" y="141732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playing the guitar?</a:t>
            </a:r>
            <a:endParaRPr lang="en-US" sz="1250" dirty="0"/>
          </a:p>
        </p:txBody>
      </p:sp>
      <p:sp>
        <p:nvSpPr>
          <p:cNvPr id="19" name="R1_chip354"/>
          <p:cNvSpPr/>
          <p:nvPr/>
        </p:nvSpPr>
        <p:spPr>
          <a:xfrm>
            <a:off x="6263640" y="14173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Yes, I am!</a:t>
            </a:r>
            <a:endParaRPr lang="en-US" sz="1200" dirty="0"/>
          </a:p>
        </p:txBody>
      </p:sp>
      <p:sp>
        <p:nvSpPr>
          <p:cNvPr id="20" name="bd_355"/>
          <p:cNvSpPr/>
          <p:nvPr/>
        </p:nvSpPr>
        <p:spPr>
          <a:xfrm>
            <a:off x="3246120" y="2276856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gq_356"/>
          <p:cNvSpPr/>
          <p:nvPr/>
        </p:nvSpPr>
        <p:spPr>
          <a:xfrm>
            <a:off x="3657600" y="2121408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looking for your keys?</a:t>
            </a:r>
            <a:endParaRPr lang="en-US" sz="1250" dirty="0"/>
          </a:p>
        </p:txBody>
      </p:sp>
      <p:sp>
        <p:nvSpPr>
          <p:cNvPr id="22" name="R2_chip357"/>
          <p:cNvSpPr/>
          <p:nvPr/>
        </p:nvSpPr>
        <p:spPr>
          <a:xfrm>
            <a:off x="6263640" y="2121408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No, I'm not. I'm…</a:t>
            </a:r>
            <a:endParaRPr lang="en-US" sz="1200" dirty="0"/>
          </a:p>
        </p:txBody>
      </p:sp>
      <p:sp>
        <p:nvSpPr>
          <p:cNvPr id="23" name="bd_358"/>
          <p:cNvSpPr/>
          <p:nvPr/>
        </p:nvSpPr>
        <p:spPr>
          <a:xfrm>
            <a:off x="3246120" y="298094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gq_359"/>
          <p:cNvSpPr/>
          <p:nvPr/>
        </p:nvSpPr>
        <p:spPr>
          <a:xfrm>
            <a:off x="3657600" y="2825496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she taking a photo?</a:t>
            </a:r>
            <a:endParaRPr lang="en-US" sz="1250" dirty="0"/>
          </a:p>
        </p:txBody>
      </p:sp>
      <p:sp>
        <p:nvSpPr>
          <p:cNvPr id="25" name="R3_chip360"/>
          <p:cNvSpPr/>
          <p:nvPr/>
        </p:nvSpPr>
        <p:spPr>
          <a:xfrm>
            <a:off x="6263640" y="2825496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Yes, she is!</a:t>
            </a:r>
            <a:endParaRPr lang="en-US" sz="1200" dirty="0"/>
          </a:p>
        </p:txBody>
      </p:sp>
      <p:sp>
        <p:nvSpPr>
          <p:cNvPr id="26" name="bd_361"/>
          <p:cNvSpPr/>
          <p:nvPr/>
        </p:nvSpPr>
        <p:spPr>
          <a:xfrm>
            <a:off x="3246120" y="3685032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gq_362"/>
          <p:cNvSpPr/>
          <p:nvPr/>
        </p:nvSpPr>
        <p:spPr>
          <a:xfrm>
            <a:off x="3657600" y="3529584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they arguing?</a:t>
            </a:r>
            <a:endParaRPr lang="en-US" sz="1250" dirty="0"/>
          </a:p>
        </p:txBody>
      </p:sp>
      <p:sp>
        <p:nvSpPr>
          <p:cNvPr id="28" name="R4_chip363"/>
          <p:cNvSpPr/>
          <p:nvPr/>
        </p:nvSpPr>
        <p:spPr>
          <a:xfrm>
            <a:off x="6263640" y="3529584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No – they're dancing the tango!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6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36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366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36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368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Tell your partner…</a:t>
            </a:r>
            <a:endParaRPr lang="en-US" sz="1250" dirty="0"/>
          </a:p>
        </p:txBody>
      </p:sp>
      <p:sp>
        <p:nvSpPr>
          <p:cNvPr id="8" name="insIT_36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Di' al compagno…</a:t>
            </a:r>
            <a:endParaRPr lang="en-US" sz="950" dirty="0"/>
          </a:p>
        </p:txBody>
      </p:sp>
      <p:sp>
        <p:nvSpPr>
          <p:cNvPr id="9" name="note_370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00" dirty="0"/>
          </a:p>
        </p:txBody>
      </p:sp>
      <p:pic>
        <p:nvPicPr>
          <p:cNvPr id="10" name="logo_37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7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5B · Exit · what can you remember?</a:t>
            </a:r>
            <a:endParaRPr lang="en-US" sz="800" dirty="0"/>
          </a:p>
        </p:txBody>
      </p:sp>
      <p:sp>
        <p:nvSpPr>
          <p:cNvPr id="12" name="bd_373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rt_374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noisy things neighbours do.</a:t>
            </a:r>
            <a:endParaRPr lang="en-US" sz="1400" dirty="0"/>
          </a:p>
        </p:txBody>
      </p:sp>
      <p:sp>
        <p:nvSpPr>
          <p:cNvPr id="14" name="bd_375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rt_376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2 things people are doing in this room now.</a:t>
            </a:r>
            <a:endParaRPr lang="en-US" sz="1400" dirty="0"/>
          </a:p>
        </p:txBody>
      </p:sp>
      <p:sp>
        <p:nvSpPr>
          <p:cNvPr id="16" name="bd_377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rt_378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what happens when Paul goes next door.</a:t>
            </a:r>
            <a:endParaRPr lang="en-US" sz="1400" dirty="0"/>
          </a:p>
        </p:txBody>
      </p:sp>
      <p:sp>
        <p:nvSpPr>
          <p:cNvPr id="18" name="cd_379"/>
          <p:cNvSpPr/>
          <p:nvPr/>
        </p:nvSpPr>
        <p:spPr>
          <a:xfrm>
            <a:off x="5669280" y="1417320"/>
            <a:ext cx="3200400" cy="976376"/>
          </a:xfrm>
          <a:prstGeom prst="roundRect">
            <a:avLst>
              <a:gd name="adj" fmla="val 1311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ii_380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ih_381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1" name="il_382"/>
          <p:cNvSpPr/>
          <p:nvPr/>
        </p:nvSpPr>
        <p:spPr>
          <a:xfrm>
            <a:off x="6236208" y="1911096"/>
            <a:ext cx="2542032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Workbook 5B pp.34–35</a:t>
            </a:r>
            <a:endParaRPr lang="en-US" sz="1150" dirty="0"/>
          </a:p>
        </p:txBody>
      </p:sp>
      <p:sp>
        <p:nvSpPr>
          <p:cNvPr id="22" name="st_383"/>
          <p:cNvSpPr/>
          <p:nvPr/>
        </p:nvSpPr>
        <p:spPr>
          <a:xfrm rot="-180000">
            <a:off x="5806440" y="2715768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5C A city for all seasons – present simple or continuous? (SB p.42)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8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38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386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38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388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38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note_39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Reflection</a:t>
            </a:r>
            <a:endParaRPr lang="en-US" sz="1250" dirty="0"/>
          </a:p>
        </p:txBody>
      </p:sp>
      <p:pic>
        <p:nvPicPr>
          <p:cNvPr id="10" name="logo_39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9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5B · Review · what did you do today?</a:t>
            </a:r>
            <a:endParaRPr lang="en-US" sz="800" dirty="0"/>
          </a:p>
        </p:txBody>
      </p:sp>
      <p:sp>
        <p:nvSpPr>
          <p:cNvPr id="12" name="cd_393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te_394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14" name="tt_395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Talked about noise: bark, cry, argue, make a noise</a:t>
            </a:r>
            <a:endParaRPr lang="en-US" sz="1350" dirty="0"/>
          </a:p>
        </p:txBody>
      </p:sp>
      <p:sp>
        <p:nvSpPr>
          <p:cNvPr id="15" name="R1_tk396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cd_397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te_398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🎬</a:t>
            </a:r>
            <a:endParaRPr lang="en-US" sz="1800" dirty="0"/>
          </a:p>
        </p:txBody>
      </p:sp>
      <p:sp>
        <p:nvSpPr>
          <p:cNvPr id="18" name="tt_399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Said what's happening now: She's playing the piano</a:t>
            </a:r>
            <a:endParaRPr lang="en-US" sz="1350" dirty="0"/>
          </a:p>
        </p:txBody>
      </p:sp>
      <p:sp>
        <p:nvSpPr>
          <p:cNvPr id="19" name="R2_tk400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cd_401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te_402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22" name="tt_403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Said /ŋ/: singing, going, young</a:t>
            </a:r>
            <a:endParaRPr lang="en-US" sz="1350" dirty="0"/>
          </a:p>
        </p:txBody>
      </p:sp>
      <p:sp>
        <p:nvSpPr>
          <p:cNvPr id="23" name="R3_tk404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cd_405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te_406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🎧</a:t>
            </a:r>
            <a:endParaRPr lang="en-US" sz="1800" dirty="0"/>
          </a:p>
        </p:txBody>
      </p:sp>
      <p:sp>
        <p:nvSpPr>
          <p:cNvPr id="26" name="tt_407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Listened to a noisy family and noisy neighbours</a:t>
            </a:r>
            <a:endParaRPr lang="en-US" sz="1350" dirty="0"/>
          </a:p>
        </p:txBody>
      </p:sp>
      <p:sp>
        <p:nvSpPr>
          <p:cNvPr id="27" name="R4_tk408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cd_409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te_410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🕵️</a:t>
            </a:r>
            <a:endParaRPr lang="en-US" sz="1800" dirty="0"/>
          </a:p>
        </p:txBody>
      </p:sp>
      <p:sp>
        <p:nvSpPr>
          <p:cNvPr id="30" name="tt_411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Guessed what people are doing</a:t>
            </a:r>
            <a:endParaRPr lang="en-US" sz="1350" dirty="0"/>
          </a:p>
        </p:txBody>
      </p:sp>
      <p:sp>
        <p:nvSpPr>
          <p:cNvPr id="31" name="R5_tk412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2" name="st_413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5B A quiet life?</dc:title>
  <dc:subject>PptxGenJS Presentation</dc:subject>
  <dc:creator>PptxGenJS</dc:creator>
  <cp:lastModifiedBy>PptxGenJS</cp:lastModifiedBy>
  <cp:revision>1</cp:revision>
  <dcterms:created xsi:type="dcterms:W3CDTF">2026-10-23T08:43:13Z</dcterms:created>
  <dcterms:modified xsi:type="dcterms:W3CDTF">2026-10-23T08:43:13Z</dcterms:modified>
</cp:coreProperties>
</file>