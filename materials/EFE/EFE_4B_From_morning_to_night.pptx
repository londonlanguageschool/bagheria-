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Speech bubble on the page: What time do you go to work? – At 8.00.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 (3 min)
ACTIVE RECAP (3 min). Pairs: your mother's sister's daughter is…? (cousin). Make 3 riddles each.
HOW TO RUN IT (active recap): pairs. Words: A points at a word, B says what it means (⭐); then a sentence with it (⭐⭐); strong students make it negative or a question (⭐⭐⭐). Grammar: pairs make their own example for each use (offer, plan…) BEFORE you click – then click to show the model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Vocabulary Bank p.156 · daily routine (5 min)
ROUTINE (5 min). 1a (4.7 sounds): 1 wake up 2 have a shower 3 get dressed 4 have a coffee / tea 5 have breakfast 6 go to work / school. VB: 28 phrases (Belinda 1–16, Charlie 17–28 – SB key). 1b: What order do you do these things? First I wake up, then I…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Speaking · my morning (4 min)
MY MORNING (4 min). Listen for 3rd person when they report back: Marco wakes up at 6!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Pronunciation · linking (4 min)
LINKING (4 min). 2a dictation (4.9): 1 He wakes up at eight. 2 She works in an office. 3 She has a coffee at eleven. 4 He has a lot of homework. 5 She has an interesting day. 2b (4.10): repeat with links. Fun: students say the poem like a bored robot, then like a happy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Reading · Busy lives: mother… (5 min)
MARJAN (5 min). Glossary on the slide. 3a suggested answer (SB key): she probably feels (very) tired, but happy.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Reading · Busy lives: mother… (5 min)
MARJAN 2 (5 min). 3b from memory (SB key): 1 6.00–6.30 2 meetings, lectures, operations 3 at her desk 4 dinner with her son, research, news, piano, sometimes operations 5 No – long hours, nights, weekends 6 her son a lot, not her husband 7 piano every day, hairdresser 8 Yes, she loves it. Fun question: her husband 'isn't at home all the time' – is that a good thing?!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Listening · …and son (6 min)
DARIUS (6 min). Play 4.11 (audio to come – read the script p.120 if needed), pause, one click per gap. SB key: 2 gets 3 four…five 4 school 5 1.45 6 go home 7 sings 8 Thursdays 9 plays 10 has…shower 11 two…three 12 10.30. 3d SB key on the side. Ask: is it the same for teenagers in Bagheria?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Grammar Bank 4B · at, in, on (4 min)
RULE (4 min). 4a first (SB key: 1 at 2 to 3 at 4 in 5 on – check with 4.12). Then the chart. Classic Italian errors: in Monday, at the morning, go to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Grammar · time phrases (3 min)
TIME PHRASES (3 min). Fast: students shout the answer before you click. Then pairs test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Game · preposition tennis (4 min)
TENNIS (4 min). Click to give extra 'balls' if they run out of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Speaking · a typical day (8 min)
INTERVIEW (8 min). 5a: the two missing words are do you. Model with a strong student. Feedback: what do you have in common? Who has the busiest day?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Exit · what can you remember? (2 min)
EXIT (2 min). Show the Writing p.114 model before they go (Then, After, before, During, from… to, until).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Elementary · SB pp.32–33 · VB p.156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4B</a:t>
            </a:r>
            <a:endParaRPr lang="en-US" sz="28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From morning to night</a:t>
            </a:r>
            <a:endParaRPr lang="en-US" sz="19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Prepositions of time and place · daily routine</a:t>
            </a:r>
            <a:endParaRPr lang="en-US" sz="10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⏰  talk about your day: get up, have a shower…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📍  use at, in, on: at 7.00, in the morning, on Monday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🔗  link words: I get_up_at seven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📖  read about a busy surgeon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 listen to her son's day</a:t>
            </a:r>
            <a:endParaRPr lang="en-US" sz="8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get up at seven. I go to work at eight.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5713242" y="777240"/>
            <a:ext cx="2243797" cy="3200400"/>
          </a:xfrm>
          <a:prstGeom prst="roundRect">
            <a:avLst>
              <a:gd name="adj" fmla="val 69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red_4b_clock_jpg_518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5758962" y="822960"/>
            <a:ext cx="2152357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time do you get up? What time do you go to work?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remember? Say it – then use it in a sentence!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 ricordi? Dillo – poi usalo in una frase!</a:t>
            </a:r>
            <a:endParaRPr lang="en-US" sz="950" dirty="0"/>
          </a:p>
        </p:txBody>
      </p:sp>
      <p:sp>
        <p:nvSpPr>
          <p:cNvPr id="9" name="note_2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50" dirty="0"/>
          </a:p>
        </p:txBody>
      </p:sp>
      <p:pic>
        <p:nvPicPr>
          <p:cNvPr id="10" name="logo_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4B · Revision · last lesson</a:t>
            </a:r>
            <a:endParaRPr lang="en-US" sz="800" dirty="0"/>
          </a:p>
        </p:txBody>
      </p:sp>
      <p:sp>
        <p:nvSpPr>
          <p:cNvPr id="12" name="pf_26"/>
          <p:cNvSpPr/>
          <p:nvPr/>
        </p:nvSpPr>
        <p:spPr>
          <a:xfrm rot="-120000">
            <a:off x="687927" y="1371600"/>
            <a:ext cx="2007427" cy="1645920"/>
          </a:xfrm>
          <a:prstGeom prst="roundRect">
            <a:avLst>
              <a:gd name="adj" fmla="val 9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7" descr="/home/claude/lls-course/v2/cache/red_4a_friends_jpg_461x374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733647" y="1417320"/>
            <a:ext cx="1915987" cy="1554480"/>
          </a:xfrm>
          <a:prstGeom prst="rect">
            <a:avLst/>
          </a:prstGeom>
        </p:spPr>
      </p:pic>
      <p:sp>
        <p:nvSpPr>
          <p:cNvPr id="14" name="cd_28"/>
          <p:cNvSpPr/>
          <p:nvPr/>
        </p:nvSpPr>
        <p:spPr>
          <a:xfrm>
            <a:off x="320040" y="3200400"/>
            <a:ext cx="2743200" cy="1402080"/>
          </a:xfrm>
          <a:prstGeom prst="roundRect">
            <a:avLst>
              <a:gd name="adj" fmla="val 913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9"/>
          <p:cNvSpPr/>
          <p:nvPr/>
        </p:nvSpPr>
        <p:spPr>
          <a:xfrm>
            <a:off x="4114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6" name="ih_30"/>
          <p:cNvSpPr/>
          <p:nvPr/>
        </p:nvSpPr>
        <p:spPr>
          <a:xfrm>
            <a:off x="88696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7" name="il_31"/>
          <p:cNvSpPr/>
          <p:nvPr/>
        </p:nvSpPr>
        <p:spPr>
          <a:xfrm>
            <a:off x="886968" y="3694176"/>
            <a:ext cx="2084832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4A: Family photos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possessive 's · Whose…? · family</a:t>
            </a:r>
            <a:endParaRPr lang="en-US" sz="1100" dirty="0"/>
          </a:p>
        </p:txBody>
      </p:sp>
      <p:sp>
        <p:nvSpPr>
          <p:cNvPr id="18" name="kw_32"/>
          <p:cNvSpPr/>
          <p:nvPr/>
        </p:nvSpPr>
        <p:spPr>
          <a:xfrm>
            <a:off x="3246120" y="14173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Can you remember these words? What do they mean?</a:t>
            </a:r>
            <a:endParaRPr lang="en-US" sz="1200" dirty="0"/>
          </a:p>
        </p:txBody>
      </p:sp>
      <p:sp>
        <p:nvSpPr>
          <p:cNvPr id="19" name="w_33"/>
          <p:cNvSpPr/>
          <p:nvPr/>
        </p:nvSpPr>
        <p:spPr>
          <a:xfrm>
            <a:off x="3246120" y="1783080"/>
            <a:ext cx="758952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aunt</a:t>
            </a:r>
            <a:endParaRPr lang="en-US" sz="1200" dirty="0"/>
          </a:p>
        </p:txBody>
      </p:sp>
      <p:sp>
        <p:nvSpPr>
          <p:cNvPr id="20" name="w_34"/>
          <p:cNvSpPr/>
          <p:nvPr/>
        </p:nvSpPr>
        <p:spPr>
          <a:xfrm>
            <a:off x="4096512" y="1783080"/>
            <a:ext cx="845820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uncle</a:t>
            </a:r>
            <a:endParaRPr lang="en-US" sz="1200" dirty="0"/>
          </a:p>
        </p:txBody>
      </p:sp>
      <p:sp>
        <p:nvSpPr>
          <p:cNvPr id="21" name="w_35"/>
          <p:cNvSpPr/>
          <p:nvPr/>
        </p:nvSpPr>
        <p:spPr>
          <a:xfrm>
            <a:off x="5033772" y="1783080"/>
            <a:ext cx="932688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cousin</a:t>
            </a:r>
            <a:endParaRPr lang="en-US" sz="1200" dirty="0"/>
          </a:p>
        </p:txBody>
      </p:sp>
      <p:sp>
        <p:nvSpPr>
          <p:cNvPr id="22" name="w_36"/>
          <p:cNvSpPr/>
          <p:nvPr/>
        </p:nvSpPr>
        <p:spPr>
          <a:xfrm>
            <a:off x="6057900" y="1783080"/>
            <a:ext cx="845820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niece</a:t>
            </a:r>
            <a:endParaRPr lang="en-US" sz="1200" dirty="0"/>
          </a:p>
        </p:txBody>
      </p:sp>
      <p:sp>
        <p:nvSpPr>
          <p:cNvPr id="23" name="w_37"/>
          <p:cNvSpPr/>
          <p:nvPr/>
        </p:nvSpPr>
        <p:spPr>
          <a:xfrm>
            <a:off x="6995160" y="1783080"/>
            <a:ext cx="932688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nephew</a:t>
            </a:r>
            <a:endParaRPr lang="en-US" sz="1200" dirty="0"/>
          </a:p>
        </p:txBody>
      </p:sp>
      <p:sp>
        <p:nvSpPr>
          <p:cNvPr id="24" name="w_38"/>
          <p:cNvSpPr/>
          <p:nvPr/>
        </p:nvSpPr>
        <p:spPr>
          <a:xfrm>
            <a:off x="3246120" y="2185416"/>
            <a:ext cx="1453896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grandparents</a:t>
            </a:r>
            <a:endParaRPr lang="en-US" sz="1200" dirty="0"/>
          </a:p>
        </p:txBody>
      </p:sp>
      <p:sp>
        <p:nvSpPr>
          <p:cNvPr id="25" name="w_39"/>
          <p:cNvSpPr/>
          <p:nvPr/>
        </p:nvSpPr>
        <p:spPr>
          <a:xfrm>
            <a:off x="4791456" y="2185416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parents-in-law</a:t>
            </a:r>
            <a:endParaRPr lang="en-US" sz="1200" dirty="0"/>
          </a:p>
        </p:txBody>
      </p:sp>
      <p:sp>
        <p:nvSpPr>
          <p:cNvPr id="26" name="w_40"/>
          <p:cNvSpPr/>
          <p:nvPr/>
        </p:nvSpPr>
        <p:spPr>
          <a:xfrm>
            <a:off x="6510528" y="2185416"/>
            <a:ext cx="1019556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Whose…?</a:t>
            </a:r>
            <a:endParaRPr lang="en-US" sz="1200" dirty="0"/>
          </a:p>
        </p:txBody>
      </p:sp>
      <p:sp>
        <p:nvSpPr>
          <p:cNvPr id="27" name="lv_41"/>
          <p:cNvSpPr/>
          <p:nvPr/>
        </p:nvSpPr>
        <p:spPr>
          <a:xfrm>
            <a:off x="3246120" y="2642616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it mean?</a:t>
            </a:r>
            <a:endParaRPr lang="en-US" sz="1000" dirty="0"/>
          </a:p>
        </p:txBody>
      </p:sp>
      <p:sp>
        <p:nvSpPr>
          <p:cNvPr id="28" name="lv_42"/>
          <p:cNvSpPr/>
          <p:nvPr/>
        </p:nvSpPr>
        <p:spPr>
          <a:xfrm>
            <a:off x="5151120" y="2642616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it in a sentence.</a:t>
            </a:r>
            <a:endParaRPr lang="en-US" sz="1000" dirty="0"/>
          </a:p>
        </p:txBody>
      </p:sp>
      <p:sp>
        <p:nvSpPr>
          <p:cNvPr id="29" name="lv_43"/>
          <p:cNvSpPr/>
          <p:nvPr/>
        </p:nvSpPr>
        <p:spPr>
          <a:xfrm>
            <a:off x="7056120" y="2642616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⭐⭐⭐ 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it negative or a question!</a:t>
            </a:r>
            <a:endParaRPr lang="en-US" sz="950" dirty="0"/>
          </a:p>
        </p:txBody>
      </p:sp>
      <p:sp>
        <p:nvSpPr>
          <p:cNvPr id="30" name="cd_44"/>
          <p:cNvSpPr/>
          <p:nvPr/>
        </p:nvSpPr>
        <p:spPr>
          <a:xfrm>
            <a:off x="3246120" y="3172968"/>
            <a:ext cx="5623560" cy="1581912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rh_45"/>
          <p:cNvSpPr/>
          <p:nvPr/>
        </p:nvSpPr>
        <p:spPr>
          <a:xfrm>
            <a:off x="3337560" y="3246120"/>
            <a:ext cx="5440680" cy="310896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possessive 's</a:t>
            </a:r>
            <a:endParaRPr lang="en-US" sz="1100" dirty="0"/>
          </a:p>
        </p:txBody>
      </p:sp>
      <p:sp>
        <p:nvSpPr>
          <p:cNvPr id="32" name="R1_rl46"/>
          <p:cNvSpPr/>
          <p:nvPr/>
        </p:nvSpPr>
        <p:spPr>
          <a:xfrm>
            <a:off x="3383280" y="3630168"/>
            <a:ext cx="5349240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Brad Pitt's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brother.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my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parents'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car.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Whose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is this bag? – It's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Maria's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292547" cy="621792"/>
          </a:xfrm>
          <a:prstGeom prst="rect">
            <a:avLst/>
          </a:prstGeom>
        </p:spPr>
      </p:pic>
      <p:sp>
        <p:nvSpPr>
          <p:cNvPr id="5" name="title_49"/>
          <p:cNvSpPr/>
          <p:nvPr/>
        </p:nvSpPr>
        <p:spPr>
          <a:xfrm>
            <a:off x="1261872" y="164592"/>
            <a:ext cx="50182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Busy Belinda, Chilled Charlie</a:t>
            </a:r>
            <a:endParaRPr lang="en-US" sz="2500" dirty="0"/>
          </a:p>
        </p:txBody>
      </p:sp>
      <p:pic>
        <p:nvPicPr>
          <p:cNvPr id="6" name="brP_5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5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 Bank: daily routine. Say the phrase, then click!</a:t>
            </a:r>
            <a:endParaRPr lang="en-US" sz="1250" dirty="0"/>
          </a:p>
        </p:txBody>
      </p:sp>
      <p:sp>
        <p:nvSpPr>
          <p:cNvPr id="8" name="insIT_5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 Bank: la routine. Di' la frase, poi clicca!</a:t>
            </a:r>
            <a:endParaRPr lang="en-US" sz="950" dirty="0"/>
          </a:p>
        </p:txBody>
      </p:sp>
      <p:sp>
        <p:nvSpPr>
          <p:cNvPr id="9" name="note_5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CONTROLLA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TPRS · meaning</a:t>
            </a:r>
            <a:endParaRPr lang="en-US" sz="1250" dirty="0"/>
          </a:p>
        </p:txBody>
      </p:sp>
      <p:pic>
        <p:nvPicPr>
          <p:cNvPr id="10" name="logo_5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4B · Vocabulary Bank p.156 · daily routine   ·   📖 SB p.32 · 1a–1c · VB p.156 · audio 4.7, 4.8 (SB key)</a:t>
            </a:r>
            <a:endParaRPr lang="en-US" sz="800" dirty="0"/>
          </a:p>
        </p:txBody>
      </p:sp>
      <p:sp>
        <p:nvSpPr>
          <p:cNvPr id="12" name="cd_56"/>
          <p:cNvSpPr/>
          <p:nvPr/>
        </p:nvSpPr>
        <p:spPr>
          <a:xfrm>
            <a:off x="320040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e_57"/>
          <p:cNvSpPr/>
          <p:nvPr/>
        </p:nvSpPr>
        <p:spPr>
          <a:xfrm>
            <a:off x="393192" y="152704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14" name="en_58"/>
          <p:cNvSpPr/>
          <p:nvPr/>
        </p:nvSpPr>
        <p:spPr>
          <a:xfrm>
            <a:off x="978408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wake up / get up</a:t>
            </a:r>
            <a:endParaRPr lang="en-US" sz="1200" dirty="0"/>
          </a:p>
        </p:txBody>
      </p:sp>
      <p:sp>
        <p:nvSpPr>
          <p:cNvPr id="15" name="R1_it59"/>
          <p:cNvSpPr/>
          <p:nvPr/>
        </p:nvSpPr>
        <p:spPr>
          <a:xfrm>
            <a:off x="978408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svegliarsi / alzarsi</a:t>
            </a:r>
            <a:endParaRPr lang="en-US" sz="1000" dirty="0"/>
          </a:p>
        </p:txBody>
      </p:sp>
      <p:sp>
        <p:nvSpPr>
          <p:cNvPr id="16" name="cd_60"/>
          <p:cNvSpPr/>
          <p:nvPr/>
        </p:nvSpPr>
        <p:spPr>
          <a:xfrm>
            <a:off x="2487168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e_61"/>
          <p:cNvSpPr/>
          <p:nvPr/>
        </p:nvSpPr>
        <p:spPr>
          <a:xfrm>
            <a:off x="2560320" y="152704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🚿</a:t>
            </a:r>
            <a:endParaRPr lang="en-US" sz="2000" dirty="0"/>
          </a:p>
        </p:txBody>
      </p:sp>
      <p:sp>
        <p:nvSpPr>
          <p:cNvPr id="18" name="en_62"/>
          <p:cNvSpPr/>
          <p:nvPr/>
        </p:nvSpPr>
        <p:spPr>
          <a:xfrm>
            <a:off x="3145536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have a shower</a:t>
            </a:r>
            <a:endParaRPr lang="en-US" sz="1200" dirty="0"/>
          </a:p>
        </p:txBody>
      </p:sp>
      <p:sp>
        <p:nvSpPr>
          <p:cNvPr id="19" name="R2_it63"/>
          <p:cNvSpPr/>
          <p:nvPr/>
        </p:nvSpPr>
        <p:spPr>
          <a:xfrm>
            <a:off x="3145536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fare la doccia</a:t>
            </a:r>
            <a:endParaRPr lang="en-US" sz="1000" dirty="0"/>
          </a:p>
        </p:txBody>
      </p:sp>
      <p:sp>
        <p:nvSpPr>
          <p:cNvPr id="20" name="cd_64"/>
          <p:cNvSpPr/>
          <p:nvPr/>
        </p:nvSpPr>
        <p:spPr>
          <a:xfrm>
            <a:off x="4654296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e_65"/>
          <p:cNvSpPr/>
          <p:nvPr/>
        </p:nvSpPr>
        <p:spPr>
          <a:xfrm>
            <a:off x="4727448" y="152704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👕</a:t>
            </a:r>
            <a:endParaRPr lang="en-US" sz="2000" dirty="0"/>
          </a:p>
        </p:txBody>
      </p:sp>
      <p:sp>
        <p:nvSpPr>
          <p:cNvPr id="22" name="en_66"/>
          <p:cNvSpPr/>
          <p:nvPr/>
        </p:nvSpPr>
        <p:spPr>
          <a:xfrm>
            <a:off x="5312664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get dressed</a:t>
            </a:r>
            <a:endParaRPr lang="en-US" sz="1200" dirty="0"/>
          </a:p>
        </p:txBody>
      </p:sp>
      <p:sp>
        <p:nvSpPr>
          <p:cNvPr id="23" name="R3_it67"/>
          <p:cNvSpPr/>
          <p:nvPr/>
        </p:nvSpPr>
        <p:spPr>
          <a:xfrm>
            <a:off x="5312664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vestirsi</a:t>
            </a:r>
            <a:endParaRPr lang="en-US" sz="1000" dirty="0"/>
          </a:p>
        </p:txBody>
      </p:sp>
      <p:sp>
        <p:nvSpPr>
          <p:cNvPr id="24" name="cd_68"/>
          <p:cNvSpPr/>
          <p:nvPr/>
        </p:nvSpPr>
        <p:spPr>
          <a:xfrm>
            <a:off x="6821424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e_69"/>
          <p:cNvSpPr/>
          <p:nvPr/>
        </p:nvSpPr>
        <p:spPr>
          <a:xfrm>
            <a:off x="6894576" y="152704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💄</a:t>
            </a:r>
            <a:endParaRPr lang="en-US" sz="2000" dirty="0"/>
          </a:p>
        </p:txBody>
      </p:sp>
      <p:sp>
        <p:nvSpPr>
          <p:cNvPr id="26" name="en_70"/>
          <p:cNvSpPr/>
          <p:nvPr/>
        </p:nvSpPr>
        <p:spPr>
          <a:xfrm>
            <a:off x="7479792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put on make-up</a:t>
            </a:r>
            <a:endParaRPr lang="en-US" sz="1200" dirty="0"/>
          </a:p>
        </p:txBody>
      </p:sp>
      <p:sp>
        <p:nvSpPr>
          <p:cNvPr id="27" name="R4_it71"/>
          <p:cNvSpPr/>
          <p:nvPr/>
        </p:nvSpPr>
        <p:spPr>
          <a:xfrm>
            <a:off x="7479792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truccarsi</a:t>
            </a:r>
            <a:endParaRPr lang="en-US" sz="1000" dirty="0"/>
          </a:p>
        </p:txBody>
      </p:sp>
      <p:sp>
        <p:nvSpPr>
          <p:cNvPr id="28" name="cd_72"/>
          <p:cNvSpPr/>
          <p:nvPr/>
        </p:nvSpPr>
        <p:spPr>
          <a:xfrm>
            <a:off x="320040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e_73"/>
          <p:cNvSpPr/>
          <p:nvPr/>
        </p:nvSpPr>
        <p:spPr>
          <a:xfrm>
            <a:off x="393192" y="235000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🚌</a:t>
            </a:r>
            <a:endParaRPr lang="en-US" sz="2000" dirty="0"/>
          </a:p>
        </p:txBody>
      </p:sp>
      <p:sp>
        <p:nvSpPr>
          <p:cNvPr id="30" name="en_74"/>
          <p:cNvSpPr/>
          <p:nvPr/>
        </p:nvSpPr>
        <p:spPr>
          <a:xfrm>
            <a:off x="978408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go to work by bus</a:t>
            </a:r>
            <a:endParaRPr lang="en-US" sz="1150" dirty="0"/>
          </a:p>
        </p:txBody>
      </p:sp>
      <p:sp>
        <p:nvSpPr>
          <p:cNvPr id="31" name="R5_it75"/>
          <p:cNvSpPr/>
          <p:nvPr/>
        </p:nvSpPr>
        <p:spPr>
          <a:xfrm>
            <a:off x="978408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andare al lavoro in autobus</a:t>
            </a:r>
            <a:endParaRPr lang="en-US" sz="800" dirty="0"/>
          </a:p>
        </p:txBody>
      </p:sp>
      <p:sp>
        <p:nvSpPr>
          <p:cNvPr id="32" name="cd_76"/>
          <p:cNvSpPr/>
          <p:nvPr/>
        </p:nvSpPr>
        <p:spPr>
          <a:xfrm>
            <a:off x="2487168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3" name="e_77"/>
          <p:cNvSpPr/>
          <p:nvPr/>
        </p:nvSpPr>
        <p:spPr>
          <a:xfrm>
            <a:off x="2560320" y="235000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34" name="en_78"/>
          <p:cNvSpPr/>
          <p:nvPr/>
        </p:nvSpPr>
        <p:spPr>
          <a:xfrm>
            <a:off x="3145536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get to work</a:t>
            </a:r>
            <a:endParaRPr lang="en-US" sz="1200" dirty="0"/>
          </a:p>
        </p:txBody>
      </p:sp>
      <p:sp>
        <p:nvSpPr>
          <p:cNvPr id="35" name="R6_it79"/>
          <p:cNvSpPr/>
          <p:nvPr/>
        </p:nvSpPr>
        <p:spPr>
          <a:xfrm>
            <a:off x="3145536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arrivare al lavoro</a:t>
            </a:r>
            <a:endParaRPr lang="en-US" sz="1000" dirty="0"/>
          </a:p>
        </p:txBody>
      </p:sp>
      <p:sp>
        <p:nvSpPr>
          <p:cNvPr id="36" name="cd_80"/>
          <p:cNvSpPr/>
          <p:nvPr/>
        </p:nvSpPr>
        <p:spPr>
          <a:xfrm>
            <a:off x="4654296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7" name="e_81"/>
          <p:cNvSpPr/>
          <p:nvPr/>
        </p:nvSpPr>
        <p:spPr>
          <a:xfrm>
            <a:off x="4727448" y="235000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38" name="en_82"/>
          <p:cNvSpPr/>
          <p:nvPr/>
        </p:nvSpPr>
        <p:spPr>
          <a:xfrm>
            <a:off x="5312664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get home late</a:t>
            </a:r>
            <a:endParaRPr lang="en-US" sz="1200" dirty="0"/>
          </a:p>
        </p:txBody>
      </p:sp>
      <p:sp>
        <p:nvSpPr>
          <p:cNvPr id="39" name="R7_it83"/>
          <p:cNvSpPr/>
          <p:nvPr/>
        </p:nvSpPr>
        <p:spPr>
          <a:xfrm>
            <a:off x="5312664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tornare a casa tardi</a:t>
            </a:r>
            <a:endParaRPr lang="en-US" sz="1000" dirty="0"/>
          </a:p>
        </p:txBody>
      </p:sp>
      <p:sp>
        <p:nvSpPr>
          <p:cNvPr id="40" name="cd_84"/>
          <p:cNvSpPr/>
          <p:nvPr/>
        </p:nvSpPr>
        <p:spPr>
          <a:xfrm>
            <a:off x="6821424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1" name="e_85"/>
          <p:cNvSpPr/>
          <p:nvPr/>
        </p:nvSpPr>
        <p:spPr>
          <a:xfrm>
            <a:off x="6894576" y="235000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🧹</a:t>
            </a:r>
            <a:endParaRPr lang="en-US" sz="2000" dirty="0"/>
          </a:p>
        </p:txBody>
      </p:sp>
      <p:sp>
        <p:nvSpPr>
          <p:cNvPr id="42" name="en_86"/>
          <p:cNvSpPr/>
          <p:nvPr/>
        </p:nvSpPr>
        <p:spPr>
          <a:xfrm>
            <a:off x="7479792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the housework</a:t>
            </a:r>
            <a:endParaRPr lang="en-US" sz="1150" dirty="0"/>
          </a:p>
        </p:txBody>
      </p:sp>
      <p:sp>
        <p:nvSpPr>
          <p:cNvPr id="43" name="R8_it87"/>
          <p:cNvSpPr/>
          <p:nvPr/>
        </p:nvSpPr>
        <p:spPr>
          <a:xfrm>
            <a:off x="7479792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fare le faccende</a:t>
            </a:r>
            <a:endParaRPr lang="en-US" sz="1000" dirty="0"/>
          </a:p>
        </p:txBody>
      </p:sp>
      <p:sp>
        <p:nvSpPr>
          <p:cNvPr id="44" name="cd_88"/>
          <p:cNvSpPr/>
          <p:nvPr/>
        </p:nvSpPr>
        <p:spPr>
          <a:xfrm>
            <a:off x="320040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5" name="e_89"/>
          <p:cNvSpPr/>
          <p:nvPr/>
        </p:nvSpPr>
        <p:spPr>
          <a:xfrm>
            <a:off x="393192" y="317296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🪒</a:t>
            </a:r>
            <a:endParaRPr lang="en-US" sz="2000" dirty="0"/>
          </a:p>
        </p:txBody>
      </p:sp>
      <p:sp>
        <p:nvSpPr>
          <p:cNvPr id="46" name="en_90"/>
          <p:cNvSpPr/>
          <p:nvPr/>
        </p:nvSpPr>
        <p:spPr>
          <a:xfrm>
            <a:off x="978408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have a shave</a:t>
            </a:r>
            <a:endParaRPr lang="en-US" sz="1200" dirty="0"/>
          </a:p>
        </p:txBody>
      </p:sp>
      <p:sp>
        <p:nvSpPr>
          <p:cNvPr id="47" name="R9_it91"/>
          <p:cNvSpPr/>
          <p:nvPr/>
        </p:nvSpPr>
        <p:spPr>
          <a:xfrm>
            <a:off x="978408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farsi la barba</a:t>
            </a:r>
            <a:endParaRPr lang="en-US" sz="1000" dirty="0"/>
          </a:p>
        </p:txBody>
      </p:sp>
      <p:sp>
        <p:nvSpPr>
          <p:cNvPr id="48" name="cd_92"/>
          <p:cNvSpPr/>
          <p:nvPr/>
        </p:nvSpPr>
        <p:spPr>
          <a:xfrm>
            <a:off x="2487168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9" name="e_93"/>
          <p:cNvSpPr/>
          <p:nvPr/>
        </p:nvSpPr>
        <p:spPr>
          <a:xfrm>
            <a:off x="2560320" y="317296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🐕</a:t>
            </a:r>
            <a:endParaRPr lang="en-US" sz="2000" dirty="0"/>
          </a:p>
        </p:txBody>
      </p:sp>
      <p:sp>
        <p:nvSpPr>
          <p:cNvPr id="50" name="en_94"/>
          <p:cNvSpPr/>
          <p:nvPr/>
        </p:nvSpPr>
        <p:spPr>
          <a:xfrm>
            <a:off x="3145536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take the dog for a walk</a:t>
            </a:r>
            <a:endParaRPr lang="en-US" sz="1000" dirty="0"/>
          </a:p>
        </p:txBody>
      </p:sp>
      <p:sp>
        <p:nvSpPr>
          <p:cNvPr id="51" name="R10_it95"/>
          <p:cNvSpPr/>
          <p:nvPr/>
        </p:nvSpPr>
        <p:spPr>
          <a:xfrm>
            <a:off x="3145536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portare fuori il cane</a:t>
            </a:r>
            <a:endParaRPr lang="en-US" sz="1000" dirty="0"/>
          </a:p>
        </p:txBody>
      </p:sp>
      <p:sp>
        <p:nvSpPr>
          <p:cNvPr id="52" name="cd_96"/>
          <p:cNvSpPr/>
          <p:nvPr/>
        </p:nvSpPr>
        <p:spPr>
          <a:xfrm>
            <a:off x="4654296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3" name="e_97"/>
          <p:cNvSpPr/>
          <p:nvPr/>
        </p:nvSpPr>
        <p:spPr>
          <a:xfrm>
            <a:off x="4727448" y="317296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🛁</a:t>
            </a:r>
            <a:endParaRPr lang="en-US" sz="2000" dirty="0"/>
          </a:p>
        </p:txBody>
      </p:sp>
      <p:sp>
        <p:nvSpPr>
          <p:cNvPr id="54" name="en_98"/>
          <p:cNvSpPr/>
          <p:nvPr/>
        </p:nvSpPr>
        <p:spPr>
          <a:xfrm>
            <a:off x="5312664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have a bath</a:t>
            </a:r>
            <a:endParaRPr lang="en-US" sz="1200" dirty="0"/>
          </a:p>
        </p:txBody>
      </p:sp>
      <p:sp>
        <p:nvSpPr>
          <p:cNvPr id="55" name="R11_it99"/>
          <p:cNvSpPr/>
          <p:nvPr/>
        </p:nvSpPr>
        <p:spPr>
          <a:xfrm>
            <a:off x="5312664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fare il bagno</a:t>
            </a:r>
            <a:endParaRPr lang="en-US" sz="1000" dirty="0"/>
          </a:p>
        </p:txBody>
      </p:sp>
      <p:sp>
        <p:nvSpPr>
          <p:cNvPr id="56" name="cd_100"/>
          <p:cNvSpPr/>
          <p:nvPr/>
        </p:nvSpPr>
        <p:spPr>
          <a:xfrm>
            <a:off x="6821424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7" name="e_101"/>
          <p:cNvSpPr/>
          <p:nvPr/>
        </p:nvSpPr>
        <p:spPr>
          <a:xfrm>
            <a:off x="6894576" y="317296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😴</a:t>
            </a:r>
            <a:endParaRPr lang="en-US" sz="2000" dirty="0"/>
          </a:p>
        </p:txBody>
      </p:sp>
      <p:sp>
        <p:nvSpPr>
          <p:cNvPr id="58" name="en_102"/>
          <p:cNvSpPr/>
          <p:nvPr/>
        </p:nvSpPr>
        <p:spPr>
          <a:xfrm>
            <a:off x="7479792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go to bed</a:t>
            </a:r>
            <a:endParaRPr lang="en-US" sz="1200" dirty="0"/>
          </a:p>
        </p:txBody>
      </p:sp>
      <p:sp>
        <p:nvSpPr>
          <p:cNvPr id="59" name="R12_it103"/>
          <p:cNvSpPr/>
          <p:nvPr/>
        </p:nvSpPr>
        <p:spPr>
          <a:xfrm>
            <a:off x="7479792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andare a letto</a:t>
            </a:r>
            <a:endParaRPr lang="en-US" sz="1000" dirty="0"/>
          </a:p>
        </p:txBody>
      </p:sp>
      <p:sp>
        <p:nvSpPr>
          <p:cNvPr id="60" name="ap_104"/>
          <p:cNvSpPr/>
          <p:nvPr/>
        </p:nvSpPr>
        <p:spPr>
          <a:xfrm>
            <a:off x="320040" y="4480560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4.8</a:t>
            </a:r>
            <a:endParaRPr lang="en-US" sz="1100" dirty="0"/>
          </a:p>
        </p:txBody>
      </p:sp>
      <p:sp>
        <p:nvSpPr>
          <p:cNvPr id="61" name="R13_wc105"/>
          <p:cNvSpPr/>
          <p:nvPr/>
        </p:nvSpPr>
        <p:spPr>
          <a:xfrm>
            <a:off x="320040" y="3931920"/>
            <a:ext cx="8549640" cy="457200"/>
          </a:xfrm>
          <a:prstGeom prst="roundRect">
            <a:avLst>
              <a:gd name="adj" fmla="val 28000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62" name="R13_w106"/>
          <p:cNvSpPr/>
          <p:nvPr/>
        </p:nvSpPr>
        <p:spPr>
          <a:xfrm>
            <a:off x="457200" y="39319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Watch out!  have a shower / breakfast / lunch / a coffee (not 'make' or 'do')   ·   go home / get home (no to!)   ·   get up = alzarsi · wake up = svegliarsi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0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10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506163" cy="621792"/>
          </a:xfrm>
          <a:prstGeom prst="rect">
            <a:avLst/>
          </a:prstGeom>
        </p:spPr>
      </p:pic>
      <p:sp>
        <p:nvSpPr>
          <p:cNvPr id="5" name="title_109"/>
          <p:cNvSpPr/>
          <p:nvPr/>
        </p:nvSpPr>
        <p:spPr>
          <a:xfrm>
            <a:off x="1261872" y="164592"/>
            <a:ext cx="42318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First I wake up, then I…</a:t>
            </a:r>
            <a:endParaRPr lang="en-US" sz="2500" dirty="0"/>
          </a:p>
        </p:txBody>
      </p:sp>
      <p:pic>
        <p:nvPicPr>
          <p:cNvPr id="6" name="brP_11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1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Busy Belinda or Chilled Charlie? Tell your partner your morning – in order!</a:t>
            </a:r>
            <a:endParaRPr lang="en-US" sz="1100" dirty="0"/>
          </a:p>
        </p:txBody>
      </p:sp>
      <p:sp>
        <p:nvSpPr>
          <p:cNvPr id="8" name="insIT_11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Busy Belinda o Chilled Charlie? Racconta la tua mattina – in ordine!</a:t>
            </a:r>
            <a:endParaRPr lang="en-US" sz="950" dirty="0"/>
          </a:p>
        </p:txBody>
      </p:sp>
      <p:sp>
        <p:nvSpPr>
          <p:cNvPr id="9" name="note_11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11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1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4B · Speaking · my morning   ·   📖 SB p.32 · 1b</a:t>
            </a:r>
            <a:endParaRPr lang="en-US" sz="800" dirty="0"/>
          </a:p>
        </p:txBody>
      </p:sp>
      <p:sp>
        <p:nvSpPr>
          <p:cNvPr id="12" name="pf_116"/>
          <p:cNvSpPr/>
          <p:nvPr/>
        </p:nvSpPr>
        <p:spPr>
          <a:xfrm rot="-120000">
            <a:off x="1241474" y="1371600"/>
            <a:ext cx="946052" cy="1325880"/>
          </a:xfrm>
          <a:prstGeom prst="roundRect">
            <a:avLst>
              <a:gd name="adj" fmla="val 164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117" descr="/home/claude/lls-course/v2/cache/red_4b_clock_jpg_206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1287194" y="1417320"/>
            <a:ext cx="854612" cy="1234440"/>
          </a:xfrm>
          <a:prstGeom prst="rect">
            <a:avLst/>
          </a:prstGeom>
        </p:spPr>
      </p:pic>
      <p:sp>
        <p:nvSpPr>
          <p:cNvPr id="14" name="cd_118"/>
          <p:cNvSpPr/>
          <p:nvPr/>
        </p:nvSpPr>
        <p:spPr>
          <a:xfrm>
            <a:off x="320040" y="288036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119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120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121"/>
          <p:cNvSpPr/>
          <p:nvPr/>
        </p:nvSpPr>
        <p:spPr>
          <a:xfrm>
            <a:off x="886968" y="3374136"/>
            <a:ext cx="2130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First I…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Then I…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After that, I…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never… / I always…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a Belinda! / I'm a Charlie!</a:t>
            </a:r>
            <a:endParaRPr lang="en-US" sz="1100" dirty="0"/>
          </a:p>
        </p:txBody>
      </p:sp>
      <p:sp>
        <p:nvSpPr>
          <p:cNvPr id="18" name="R1_qb122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123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order do you do these things in the morning?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First I wake up, then I have a coffee…</a:t>
            </a:r>
            <a:endParaRPr lang="en-US" sz="1250" dirty="0"/>
          </a:p>
        </p:txBody>
      </p:sp>
      <p:sp>
        <p:nvSpPr>
          <p:cNvPr id="20" name="R2_qb124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125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a Busy Belinda or a Chilled Charlie?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I'm a Belinda – I get home late every day!</a:t>
            </a:r>
            <a:endParaRPr lang="en-US" sz="1250" dirty="0"/>
          </a:p>
        </p:txBody>
      </p:sp>
      <p:sp>
        <p:nvSpPr>
          <p:cNvPr id="22" name="R3_qb126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127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about at the weekend?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At the weekend I'm a Charlie!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2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2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130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get_up_at seven</a:t>
            </a:r>
            <a:endParaRPr lang="en-US" sz="2500" dirty="0"/>
          </a:p>
        </p:txBody>
      </p:sp>
      <p:pic>
        <p:nvPicPr>
          <p:cNvPr id="6" name="brP_13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32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and repeat. Link the words with _ – they sound like one word!</a:t>
            </a:r>
            <a:endParaRPr lang="en-US" sz="1100" dirty="0"/>
          </a:p>
        </p:txBody>
      </p:sp>
      <p:sp>
        <p:nvSpPr>
          <p:cNvPr id="8" name="insIT_13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e ripeti. Collega le parole – suonano come una parola sola!</a:t>
            </a:r>
            <a:endParaRPr lang="en-US" sz="950" dirty="0"/>
          </a:p>
        </p:txBody>
      </p:sp>
      <p:sp>
        <p:nvSpPr>
          <p:cNvPr id="9" name="note_13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 · Controlled practice</a:t>
            </a:r>
            <a:endParaRPr lang="en-US" sz="1150" dirty="0"/>
          </a:p>
        </p:txBody>
      </p:sp>
      <p:pic>
        <p:nvPicPr>
          <p:cNvPr id="10" name="logo_13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3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4B · Pronunciation · linking   ·   📖 SB p.32 · 2a, 2b · audio 4.9, 4.10 (Connected speech box)</a:t>
            </a:r>
            <a:endParaRPr lang="en-US" sz="800" dirty="0"/>
          </a:p>
        </p:txBody>
      </p:sp>
      <p:sp>
        <p:nvSpPr>
          <p:cNvPr id="12" name="cd_137"/>
          <p:cNvSpPr/>
          <p:nvPr/>
        </p:nvSpPr>
        <p:spPr>
          <a:xfrm>
            <a:off x="320040" y="1417320"/>
            <a:ext cx="2697480" cy="969264"/>
          </a:xfrm>
          <a:prstGeom prst="roundRect">
            <a:avLst>
              <a:gd name="adj" fmla="val 1320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138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139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140"/>
          <p:cNvSpPr/>
          <p:nvPr/>
        </p:nvSpPr>
        <p:spPr>
          <a:xfrm>
            <a:off x="886968" y="1911096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consonant + vowel = link: get_up_at · have_a · home_at</a:t>
            </a:r>
            <a:endParaRPr lang="en-US" sz="1000" dirty="0"/>
          </a:p>
        </p:txBody>
      </p:sp>
      <p:sp>
        <p:nvSpPr>
          <p:cNvPr id="16" name="ap_141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4.10</a:t>
            </a:r>
            <a:endParaRPr lang="en-US" sz="1100" dirty="0"/>
          </a:p>
        </p:txBody>
      </p:sp>
      <p:sp>
        <p:nvSpPr>
          <p:cNvPr id="17" name="bd_142"/>
          <p:cNvSpPr/>
          <p:nvPr/>
        </p:nvSpPr>
        <p:spPr>
          <a:xfrm>
            <a:off x="3246120" y="14447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q_143"/>
          <p:cNvSpPr/>
          <p:nvPr/>
        </p:nvSpPr>
        <p:spPr>
          <a:xfrm>
            <a:off x="3630168" y="141732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150" dirty="0"/>
          </a:p>
        </p:txBody>
      </p:sp>
      <p:sp>
        <p:nvSpPr>
          <p:cNvPr id="19" name="R1_chip144"/>
          <p:cNvSpPr/>
          <p:nvPr/>
        </p:nvSpPr>
        <p:spPr>
          <a:xfrm>
            <a:off x="5806440" y="141732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get_up_at seven.</a:t>
            </a:r>
            <a:endParaRPr lang="en-US" sz="1050" dirty="0"/>
          </a:p>
        </p:txBody>
      </p:sp>
      <p:sp>
        <p:nvSpPr>
          <p:cNvPr id="20" name="bd_145"/>
          <p:cNvSpPr/>
          <p:nvPr/>
        </p:nvSpPr>
        <p:spPr>
          <a:xfrm>
            <a:off x="3246120" y="185623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q_146"/>
          <p:cNvSpPr/>
          <p:nvPr/>
        </p:nvSpPr>
        <p:spPr>
          <a:xfrm>
            <a:off x="3630168" y="182880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150" dirty="0"/>
          </a:p>
        </p:txBody>
      </p:sp>
      <p:sp>
        <p:nvSpPr>
          <p:cNvPr id="22" name="R2_chip147"/>
          <p:cNvSpPr/>
          <p:nvPr/>
        </p:nvSpPr>
        <p:spPr>
          <a:xfrm>
            <a:off x="5806440" y="182880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have_a shower.</a:t>
            </a:r>
            <a:endParaRPr lang="en-US" sz="1050" dirty="0"/>
          </a:p>
        </p:txBody>
      </p:sp>
      <p:sp>
        <p:nvSpPr>
          <p:cNvPr id="23" name="bd_148"/>
          <p:cNvSpPr/>
          <p:nvPr/>
        </p:nvSpPr>
        <p:spPr>
          <a:xfrm>
            <a:off x="3246120" y="22677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q_149"/>
          <p:cNvSpPr/>
          <p:nvPr/>
        </p:nvSpPr>
        <p:spPr>
          <a:xfrm>
            <a:off x="3630168" y="22402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150" dirty="0"/>
          </a:p>
        </p:txBody>
      </p:sp>
      <p:sp>
        <p:nvSpPr>
          <p:cNvPr id="25" name="R3_chip150"/>
          <p:cNvSpPr/>
          <p:nvPr/>
        </p:nvSpPr>
        <p:spPr>
          <a:xfrm>
            <a:off x="5806440" y="224028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go to work.</a:t>
            </a:r>
            <a:endParaRPr lang="en-US" sz="1050" dirty="0"/>
          </a:p>
        </p:txBody>
      </p:sp>
      <p:sp>
        <p:nvSpPr>
          <p:cNvPr id="26" name="bd_151"/>
          <p:cNvSpPr/>
          <p:nvPr/>
        </p:nvSpPr>
        <p:spPr>
          <a:xfrm>
            <a:off x="3246120" y="267919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q_152"/>
          <p:cNvSpPr/>
          <p:nvPr/>
        </p:nvSpPr>
        <p:spPr>
          <a:xfrm>
            <a:off x="3630168" y="265176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150" dirty="0"/>
          </a:p>
        </p:txBody>
      </p:sp>
      <p:sp>
        <p:nvSpPr>
          <p:cNvPr id="28" name="R4_chip153"/>
          <p:cNvSpPr/>
          <p:nvPr/>
        </p:nvSpPr>
        <p:spPr>
          <a:xfrm>
            <a:off x="5806440" y="265176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have_a sandwich for lunch.</a:t>
            </a:r>
            <a:endParaRPr lang="en-US" sz="1050" dirty="0"/>
          </a:p>
        </p:txBody>
      </p:sp>
      <p:sp>
        <p:nvSpPr>
          <p:cNvPr id="29" name="bd_154"/>
          <p:cNvSpPr/>
          <p:nvPr/>
        </p:nvSpPr>
        <p:spPr>
          <a:xfrm>
            <a:off x="3246120" y="30906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q_155"/>
          <p:cNvSpPr/>
          <p:nvPr/>
        </p:nvSpPr>
        <p:spPr>
          <a:xfrm>
            <a:off x="3630168" y="306324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150" dirty="0"/>
          </a:p>
        </p:txBody>
      </p:sp>
      <p:sp>
        <p:nvSpPr>
          <p:cNvPr id="31" name="R5_chip156"/>
          <p:cNvSpPr/>
          <p:nvPr/>
        </p:nvSpPr>
        <p:spPr>
          <a:xfrm>
            <a:off x="5806440" y="306324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get home_at six.</a:t>
            </a:r>
            <a:endParaRPr lang="en-US" sz="1050" dirty="0"/>
          </a:p>
        </p:txBody>
      </p:sp>
      <p:sp>
        <p:nvSpPr>
          <p:cNvPr id="32" name="bd_157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q_158"/>
          <p:cNvSpPr/>
          <p:nvPr/>
        </p:nvSpPr>
        <p:spPr>
          <a:xfrm>
            <a:off x="3630168" y="347472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150" dirty="0"/>
          </a:p>
        </p:txBody>
      </p:sp>
      <p:sp>
        <p:nvSpPr>
          <p:cNvPr id="34" name="R6_chip159"/>
          <p:cNvSpPr/>
          <p:nvPr/>
        </p:nvSpPr>
        <p:spPr>
          <a:xfrm>
            <a:off x="5806440" y="347472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make the dinner.</a:t>
            </a:r>
            <a:endParaRPr lang="en-US" sz="1050" dirty="0"/>
          </a:p>
        </p:txBody>
      </p:sp>
      <p:sp>
        <p:nvSpPr>
          <p:cNvPr id="35" name="bd_160"/>
          <p:cNvSpPr/>
          <p:nvPr/>
        </p:nvSpPr>
        <p:spPr>
          <a:xfrm>
            <a:off x="3246120" y="391363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36" name="q_161"/>
          <p:cNvSpPr/>
          <p:nvPr/>
        </p:nvSpPr>
        <p:spPr>
          <a:xfrm>
            <a:off x="3630168" y="388620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150" dirty="0"/>
          </a:p>
        </p:txBody>
      </p:sp>
      <p:sp>
        <p:nvSpPr>
          <p:cNvPr id="37" name="R7_chip162"/>
          <p:cNvSpPr/>
          <p:nvPr/>
        </p:nvSpPr>
        <p:spPr>
          <a:xfrm>
            <a:off x="5806440" y="388620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go to bed_at ten.</a:t>
            </a:r>
            <a:endParaRPr lang="en-US" sz="1050" dirty="0"/>
          </a:p>
        </p:txBody>
      </p:sp>
      <p:sp>
        <p:nvSpPr>
          <p:cNvPr id="38" name="bd_163"/>
          <p:cNvSpPr/>
          <p:nvPr/>
        </p:nvSpPr>
        <p:spPr>
          <a:xfrm>
            <a:off x="3246120" y="432511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000" dirty="0"/>
          </a:p>
        </p:txBody>
      </p:sp>
      <p:sp>
        <p:nvSpPr>
          <p:cNvPr id="39" name="q_164"/>
          <p:cNvSpPr/>
          <p:nvPr/>
        </p:nvSpPr>
        <p:spPr>
          <a:xfrm>
            <a:off x="3630168" y="42976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1150" dirty="0"/>
          </a:p>
        </p:txBody>
      </p:sp>
      <p:sp>
        <p:nvSpPr>
          <p:cNvPr id="40" name="R8_chip165"/>
          <p:cNvSpPr/>
          <p:nvPr/>
        </p:nvSpPr>
        <p:spPr>
          <a:xfrm>
            <a:off x="5806440" y="429768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What_a life!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6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6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168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Busy lives (1)</a:t>
            </a:r>
            <a:endParaRPr lang="en-US" sz="2500" dirty="0"/>
          </a:p>
        </p:txBody>
      </p:sp>
      <p:pic>
        <p:nvPicPr>
          <p:cNvPr id="6" name="brP_16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70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article. How do you think Marjan feels at the end of a typical day?</a:t>
            </a:r>
            <a:endParaRPr lang="en-US" sz="1100" dirty="0"/>
          </a:p>
        </p:txBody>
      </p:sp>
      <p:sp>
        <p:nvSpPr>
          <p:cNvPr id="8" name="insIT_17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l'articolo. Come si sente Marjan alla fine di una giornata?</a:t>
            </a:r>
            <a:endParaRPr lang="en-US" sz="950" dirty="0"/>
          </a:p>
        </p:txBody>
      </p:sp>
      <p:sp>
        <p:nvSpPr>
          <p:cNvPr id="9" name="note_17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</a:t>
            </a:r>
            <a:endParaRPr lang="en-US" sz="1150" dirty="0"/>
          </a:p>
        </p:txBody>
      </p:sp>
      <p:pic>
        <p:nvPicPr>
          <p:cNvPr id="10" name="logo_17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7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4B · Reading · Busy lives: mother…   ·   📖 SB p.32 · 3a (SB key · glossary)</a:t>
            </a:r>
            <a:endParaRPr lang="en-US" sz="800" dirty="0"/>
          </a:p>
        </p:txBody>
      </p:sp>
      <p:sp>
        <p:nvSpPr>
          <p:cNvPr id="12" name="cd_175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176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Marjan Jahangiri – Can you describe your daily routine?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Marjan Jahangiri, originally from Iran, is one of the only women professors of cardiac surgery in Europe. She does more than 300 operations a year. She lives in London with her husband and their 17-year-old son, Darius.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get up between 6.00 and 6.30 a.m., I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work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7.00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my meetings usually start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7.30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After that, I don't have a break. I have lunch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my desk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I often do two operations a day, and I also have lectures and more meetings.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home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 have dinner with my son. Between 9.30 and 11.30 p.m., I do research and I watch the news on TV. One or two nights a week I'm on call, so I probably need to do operations during the night. I often work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weekends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too. But that's OK – I think I have a fantastic life because I love my work.</a:t>
            </a:r>
            <a:endParaRPr lang="en-US" sz="1200" dirty="0"/>
          </a:p>
        </p:txBody>
      </p:sp>
      <p:sp>
        <p:nvSpPr>
          <p:cNvPr id="14" name="cd_177"/>
          <p:cNvSpPr/>
          <p:nvPr/>
        </p:nvSpPr>
        <p:spPr>
          <a:xfrm>
            <a:off x="6263640" y="1417320"/>
            <a:ext cx="2606040" cy="2139696"/>
          </a:xfrm>
          <a:prstGeom prst="roundRect">
            <a:avLst>
              <a:gd name="adj" fmla="val 598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178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😮‍💨</a:t>
            </a:r>
            <a:endParaRPr lang="en-US" sz="2200" dirty="0"/>
          </a:p>
        </p:txBody>
      </p:sp>
      <p:sp>
        <p:nvSpPr>
          <p:cNvPr id="16" name="ih_179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does she feel?</a:t>
            </a:r>
            <a:endParaRPr lang="en-US" sz="1300" dirty="0"/>
          </a:p>
        </p:txBody>
      </p:sp>
      <p:sp>
        <p:nvSpPr>
          <p:cNvPr id="17" name="il_180"/>
          <p:cNvSpPr/>
          <p:nvPr/>
        </p:nvSpPr>
        <p:spPr>
          <a:xfrm>
            <a:off x="6830568" y="1911096"/>
            <a:ext cx="19476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bored · happy · relaxed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sad · stressed · tired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cardiac surgery = an operation on the heart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 on call = available for work</a:t>
            </a:r>
            <a:endParaRPr lang="en-US" sz="1150" dirty="0"/>
          </a:p>
        </p:txBody>
      </p:sp>
      <p:sp>
        <p:nvSpPr>
          <p:cNvPr id="18" name="R1_chip181"/>
          <p:cNvSpPr/>
          <p:nvPr/>
        </p:nvSpPr>
        <p:spPr>
          <a:xfrm>
            <a:off x="6263640" y="3666744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Probably very tired – but happy.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8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8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184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Busy lives (2)</a:t>
            </a:r>
            <a:endParaRPr lang="en-US" sz="2500" dirty="0"/>
          </a:p>
        </p:txBody>
      </p:sp>
      <p:pic>
        <p:nvPicPr>
          <p:cNvPr id="6" name="brP_18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86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rest. Then answer the questions from memory.</a:t>
            </a:r>
            <a:endParaRPr lang="en-US" sz="1250" dirty="0"/>
          </a:p>
        </p:txBody>
      </p:sp>
      <p:sp>
        <p:nvSpPr>
          <p:cNvPr id="8" name="insIT_18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il resto. Poi rispondi a memoria.</a:t>
            </a:r>
            <a:endParaRPr lang="en-US" sz="950" dirty="0"/>
          </a:p>
        </p:txBody>
      </p:sp>
      <p:sp>
        <p:nvSpPr>
          <p:cNvPr id="9" name="note_188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</a:t>
            </a:r>
            <a:endParaRPr lang="en-US" sz="1150" dirty="0"/>
          </a:p>
        </p:txBody>
      </p:sp>
      <p:pic>
        <p:nvPicPr>
          <p:cNvPr id="10" name="logo_18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9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4B · Reading · Busy lives: mother…   ·   📖 SB p.33 · 3b (SB key)</a:t>
            </a:r>
            <a:endParaRPr lang="en-US" sz="800" dirty="0"/>
          </a:p>
        </p:txBody>
      </p:sp>
      <p:sp>
        <p:nvSpPr>
          <p:cNvPr id="12" name="cd_191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192"/>
          <p:cNvSpPr/>
          <p:nvPr/>
        </p:nvSpPr>
        <p:spPr>
          <a:xfrm>
            <a:off x="457200" y="1527048"/>
            <a:ext cx="260604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you balance work with your family life?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spend a lot of time with my son. I want him to learn about hard work and good values, and I want to be an example for him. My husband is away a lot, but we speak on the phone every day. I think one reason why I am successful in my professional life is because he isn't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home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all the time!</a:t>
            </a:r>
            <a:endParaRPr lang="en-US" sz="1250" dirty="0"/>
          </a:p>
        </p:txBody>
      </p:sp>
      <p:sp>
        <p:nvSpPr>
          <p:cNvPr id="14" name="rd_193"/>
          <p:cNvSpPr/>
          <p:nvPr/>
        </p:nvSpPr>
        <p:spPr>
          <a:xfrm>
            <a:off x="3337560" y="1527048"/>
            <a:ext cx="260604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you do to relax?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play the piano for an hour every day, late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night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I think it helps me with my operations – it's technical in the same way. I also go to the hairdresser twice a week. I do a lot of my research there! They turn the music off for me and I use the time to read all my academic papers.</a:t>
            </a:r>
            <a:endParaRPr lang="en-US" sz="1250" dirty="0"/>
          </a:p>
        </p:txBody>
      </p:sp>
      <p:sp>
        <p:nvSpPr>
          <p:cNvPr id="15" name="rdl_194"/>
          <p:cNvSpPr/>
          <p:nvPr/>
        </p:nvSpPr>
        <p:spPr>
          <a:xfrm>
            <a:off x="3200400" y="1600200"/>
            <a:ext cx="0" cy="2999232"/>
          </a:xfrm>
          <a:prstGeom prst="line">
            <a:avLst/>
          </a:prstGeom>
          <a:noFill/>
          <a:ln w="28575">
            <a:solidFill>
              <a:srgbClr val="A8E5BE"/>
            </a:solidFill>
            <a:prstDash val="solid"/>
          </a:ln>
        </p:spPr>
      </p:sp>
      <p:sp>
        <p:nvSpPr>
          <p:cNvPr id="16" name="cd_195"/>
          <p:cNvSpPr/>
          <p:nvPr/>
        </p:nvSpPr>
        <p:spPr>
          <a:xfrm>
            <a:off x="6263640" y="1417320"/>
            <a:ext cx="2606040" cy="2377440"/>
          </a:xfrm>
          <a:prstGeom prst="roundRect">
            <a:avLst>
              <a:gd name="adj" fmla="val 538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196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18" name="ih_197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From memory</a:t>
            </a:r>
            <a:endParaRPr lang="en-US" sz="1300" dirty="0"/>
          </a:p>
        </p:txBody>
      </p:sp>
      <p:sp>
        <p:nvSpPr>
          <p:cNvPr id="19" name="il_198"/>
          <p:cNvSpPr/>
          <p:nvPr/>
        </p:nvSpPr>
        <p:spPr>
          <a:xfrm>
            <a:off x="6830568" y="1911096"/>
            <a:ext cx="194767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time does she get up?</a:t>
            </a:r>
            <a:endParaRPr lang="en-US" sz="10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does she have lunch?</a:t>
            </a:r>
            <a:endParaRPr lang="en-US" sz="10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her job 9–5?</a:t>
            </a:r>
            <a:endParaRPr lang="en-US" sz="10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 she see her family a lot?</a:t>
            </a:r>
            <a:endParaRPr lang="en-US" sz="10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does she relax?</a:t>
            </a:r>
            <a:endParaRPr lang="en-US" sz="10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 she like her job?</a:t>
            </a:r>
            <a:endParaRPr lang="en-US" sz="1000" dirty="0"/>
          </a:p>
        </p:txBody>
      </p:sp>
      <p:sp>
        <p:nvSpPr>
          <p:cNvPr id="20" name="R1_chip199"/>
          <p:cNvSpPr/>
          <p:nvPr/>
        </p:nvSpPr>
        <p:spPr>
          <a:xfrm>
            <a:off x="6263640" y="3904488"/>
            <a:ext cx="2606040" cy="850392"/>
          </a:xfrm>
          <a:prstGeom prst="roundRect">
            <a:avLst>
              <a:gd name="adj" fmla="val 1075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6–6.30 · at her desk · no! · her son yes, her husband no · piano + hairdresser · she loves it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0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20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618842" cy="621792"/>
          </a:xfrm>
          <a:prstGeom prst="rect">
            <a:avLst/>
          </a:prstGeom>
        </p:spPr>
      </p:pic>
      <p:sp>
        <p:nvSpPr>
          <p:cNvPr id="5" name="title_202"/>
          <p:cNvSpPr/>
          <p:nvPr/>
        </p:nvSpPr>
        <p:spPr>
          <a:xfrm>
            <a:off x="1261872" y="164592"/>
            <a:ext cx="2344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Darius's day</a:t>
            </a:r>
            <a:endParaRPr lang="en-US" sz="2500" dirty="0"/>
          </a:p>
        </p:txBody>
      </p:sp>
      <p:pic>
        <p:nvPicPr>
          <p:cNvPr id="6" name="brP_20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04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Darius, Marjan's 17-year-old son. Complete gaps 2–12.</a:t>
            </a:r>
            <a:endParaRPr lang="en-US" sz="1100" dirty="0"/>
          </a:p>
        </p:txBody>
      </p:sp>
      <p:sp>
        <p:nvSpPr>
          <p:cNvPr id="8" name="insIT_20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Darius, il figlio di Marjan. Completa 2–12.</a:t>
            </a:r>
            <a:endParaRPr lang="en-US" sz="950" dirty="0"/>
          </a:p>
        </p:txBody>
      </p:sp>
      <p:sp>
        <p:nvSpPr>
          <p:cNvPr id="9" name="note_206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→ grammar</a:t>
            </a:r>
            <a:endParaRPr lang="en-US" sz="1150" dirty="0"/>
          </a:p>
        </p:txBody>
      </p:sp>
      <p:pic>
        <p:nvPicPr>
          <p:cNvPr id="10" name="logo_20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0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4B · Listening · …and son   ·   📖 SB p.33 · 3c, 3d · audio 4.11 (SB key + script)</a:t>
            </a:r>
            <a:endParaRPr lang="en-US" sz="800" dirty="0"/>
          </a:p>
        </p:txBody>
      </p:sp>
      <p:sp>
        <p:nvSpPr>
          <p:cNvPr id="12" name="cd_209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210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Darius's day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7.30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gets up. He has breakfast and then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Tube.  8.20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9.00 Lessons start. He has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lessons before lunch.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  1.00 He has lunch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starts lessons again.  4.15 He finishes school. He doesn't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then. He studies in the library or plays music.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Tuesdays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school choir and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percussion in the school orchestra.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EVENING  6.00 He gets home.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then has dinner. After dinner, he does homework for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hours.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14" name="R2_rdA211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Darius's day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7.30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gets up. He has breakfast and then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Tube.  8.20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gets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9.00 Lessons start. He has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lessons before lunch.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  1.00 He has lunch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starts lessons again.  4.15 He finishes school. He doesn't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then. He studies in the library or plays music.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Tuesdays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school choir and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percussion in the school orchestra.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EVENING  6.00 He gets home.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then has dinner. After dinner, he does homework for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hours.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15" name="R3_rdA212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Darius's day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7.30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gets up. He has breakfast and then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Tube.  8.20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gets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9.00 Lessons start. He has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four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lessons before lunch.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  1.00 He has lunch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starts lessons again.  4.15 He finishes school. He doesn't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then. He studies in the library or plays music.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Tuesdays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school choir and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percussion in the school orchestra.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EVENING  6.00 He gets home.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then has dinner. After dinner, he does homework for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hours.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R3_rdA213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Darius's day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7.30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gets up. He has breakfast and then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Tube.  8.20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gets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9.00 Lessons start. He has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four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lessons before lunch.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  1.00 He has lunch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starts lessons again.  4.15 He finishes school. He doesn't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then. He studies in the library or plays music.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Tuesdays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school choir and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percussion in the school orchestra.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EVENING  6.00 He gets home.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then has dinner. After dinner, he does homework for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hours.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R5_rdA214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Darius's day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7.30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gets up. He has breakfast and then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Tube.  8.20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gets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9.00 Lessons start. He has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four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lessons before lunch.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  1.00 He has lunch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school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starts lessons again.  4.15 He finishes school. He doesn't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then. He studies in the library or plays music.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Tuesdays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school choir and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percussion in the school orchestra.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EVENING  6.00 He gets home.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then has dinner. After dinner, he does homework for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hours.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18" name="R6_rdA215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Darius's day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7.30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gets up. He has breakfast and then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Tube.  8.20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gets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9.00 Lessons start. He has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four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lessons before lunch.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  1.00 He has lunch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school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1.45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starts lessons again.  4.15 He finishes school. He doesn't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then. He studies in the library or plays music.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Tuesdays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school choir and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percussion in the school orchestra.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EVENING  6.00 He gets home.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then has dinner. After dinner, he does homework for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hours.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19" name="R7_rdA216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Darius's day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7.30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gets up. He has breakfast and then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Tube.  8.20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gets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9.00 Lessons start. He has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four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lessons before lunch.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  1.00 He has lunch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school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1.45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starts lessons again.  4.15 He finishes school. He doesn't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go home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then. He studies in the library or plays music.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Tuesdays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school choir and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percussion in the school orchestra.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EVENING  6.00 He gets home.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then has dinner. After dinner, he does homework for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hours.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R8_rdA217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Darius's day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7.30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gets up. He has breakfast and then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Tube.  8.20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gets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9.00 Lessons start. He has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four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lessons before lunch.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  1.00 He has lunch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school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1.45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starts lessons again.  4.15 He finishes school. He doesn't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go home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then. He studies in the library or plays music.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Tuesdays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sings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school choir and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percussion in the school orchestra.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EVENING  6.00 He gets home.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then has dinner. After dinner, he does homework for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hours.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21" name="R9_rdA218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Darius's day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7.30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gets up. He has breakfast and then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Tube.  8.20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gets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9.00 Lessons start. He has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four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lessons before lunch.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  1.00 He has lunch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school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1.45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starts lessons again.  4.15 He finishes school. He doesn't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go home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then. He studies in the library or plays music.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Tuesdays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sings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school choir and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Thursdays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percussion in the school orchestra.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EVENING  6.00 He gets home.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then has dinner. After dinner, he does homework for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hours.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22" name="R10_rdA219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Darius's day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7.30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gets up. He has breakfast and then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Tube.  8.20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gets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9.00 Lessons start. He has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four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lessons before lunch.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  1.00 He has lunch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school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1.45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starts lessons again.  4.15 He finishes school. He doesn't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go home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then. He studies in the library or plays music.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Tuesdays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sings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school choir and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Thursdays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(9) plays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percussion in the school orchestra.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EVENING  6.00 He gets home.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then has dinner. After dinner, he does homework for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hours.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23" name="R11_rdA220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Darius's day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7.30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gets up. He has breakfast and then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Tube.  8.20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gets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9.00 Lessons start. He has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four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lessons before lunch.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  1.00 He has lunch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school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1.45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starts lessons again.  4.15 He finishes school. He doesn't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go home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then. He studies in the library or plays music.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Tuesdays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sings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school choir and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Thursdays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(9) plays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percussion in the school orchestra.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EVENING  6.00 He gets home.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(10) has a shower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then has dinner. After dinner, he does homework for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hours.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24" name="R12_rdA221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Darius's day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7.30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gets up. He has breakfast and then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Tube.  8.20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gets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9.00 Lessons start. He has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four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lessons before lunch.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  1.00 He has lunch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school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1.45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starts lessons again.  4.15 He finishes school. He doesn't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go home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then. He studies in the library or plays music.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Tuesdays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sings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school choir and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Thursdays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(9) plays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percussion in the school orchestra.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EVENING  6.00 He gets home.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(10) has a shower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then has dinner. After dinner, he does homework for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(11) two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(11) three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hours.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R12_rdA222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Darius's day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7.30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gets up. He has breakfast and then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Tube.  8.20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gets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9.00 Lessons start. He has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four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lessons before lunch.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  1.00 He has lunch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school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1.45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starts lessons again.  4.15 He finishes school. He doesn't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go home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then. He studies in the library or plays music.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Tuesdays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sings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school choir and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Thursdays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(9) plays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percussion in the school orchestra.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EVENING  6.00 He gets home.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(10) has a shower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then has dinner. After dinner, he does homework for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(11) two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(11) three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hours.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26" name="R14_rdA223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Darius's day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7.30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gets up. He has breakfast and then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Tube.  8.20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gets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school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9.00 Lessons start. He has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four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five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lessons before lunch.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  1.00 He has lunch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school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1.45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starts lessons again.  4.15 He finishes school. He doesn't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go home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then. He studies in the library or plays music.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Tuesdays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sings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school choir and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Thursdays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(9) plays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percussion in the school orchestra.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EVENING  6.00 He gets home. 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(10) has a shower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then has dinner. After dinner, he does homework for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(11) two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(11) three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hours.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(12) 10.30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27" name="cd_224"/>
          <p:cNvSpPr/>
          <p:nvPr/>
        </p:nvSpPr>
        <p:spPr>
          <a:xfrm>
            <a:off x="6263640" y="1417320"/>
            <a:ext cx="2606040" cy="2377440"/>
          </a:xfrm>
          <a:prstGeom prst="roundRect">
            <a:avLst>
              <a:gd name="adj" fmla="val 538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8" name="ii_225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29" name="ih_226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Then think</a:t>
            </a:r>
            <a:endParaRPr lang="en-US" sz="1300" dirty="0"/>
          </a:p>
        </p:txBody>
      </p:sp>
      <p:sp>
        <p:nvSpPr>
          <p:cNvPr id="30" name="il_227"/>
          <p:cNvSpPr/>
          <p:nvPr/>
        </p:nvSpPr>
        <p:spPr>
          <a:xfrm>
            <a:off x="6830568" y="1911096"/>
            <a:ext cx="194767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Marjan and Darius have in common?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is more tired in the evening?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Tube = the London Underground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levels = exams in the last year of school</a:t>
            </a:r>
            <a:endParaRPr lang="en-US" sz="1150" dirty="0"/>
          </a:p>
        </p:txBody>
      </p:sp>
      <p:sp>
        <p:nvSpPr>
          <p:cNvPr id="31" name="R1_chip228"/>
          <p:cNvSpPr/>
          <p:nvPr/>
        </p:nvSpPr>
        <p:spPr>
          <a:xfrm>
            <a:off x="6263640" y="3904488"/>
            <a:ext cx="2606040" cy="850392"/>
          </a:xfrm>
          <a:prstGeom prst="roundRect">
            <a:avLst>
              <a:gd name="adj" fmla="val 1075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Both work hard and like what they do. Marjan is probably more tired.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2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3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231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at, in, on</a:t>
            </a:r>
            <a:endParaRPr lang="en-US" sz="2500" dirty="0"/>
          </a:p>
        </p:txBody>
      </p:sp>
      <p:pic>
        <p:nvPicPr>
          <p:cNvPr id="6" name="brP_23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98164" cy="402336"/>
          </a:xfrm>
          <a:prstGeom prst="rect">
            <a:avLst/>
          </a:prstGeom>
        </p:spPr>
      </p:pic>
      <p:sp>
        <p:nvSpPr>
          <p:cNvPr id="7" name="ins_233"/>
          <p:cNvSpPr/>
          <p:nvPr/>
        </p:nvSpPr>
        <p:spPr>
          <a:xfrm>
            <a:off x="1353312" y="731520"/>
            <a:ext cx="3342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 at the examples. Then click!</a:t>
            </a:r>
            <a:endParaRPr lang="en-US" sz="1250" dirty="0"/>
          </a:p>
        </p:txBody>
      </p:sp>
      <p:sp>
        <p:nvSpPr>
          <p:cNvPr id="8" name="insIT_23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gli esempi. Poi clicca!</a:t>
            </a:r>
            <a:endParaRPr lang="en-US" sz="950" dirty="0"/>
          </a:p>
        </p:txBody>
      </p:sp>
      <p:sp>
        <p:nvSpPr>
          <p:cNvPr id="9" name="note_23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GUARDA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Guided discovery</a:t>
            </a:r>
            <a:endParaRPr lang="en-US" sz="1250" dirty="0"/>
          </a:p>
        </p:txBody>
      </p:sp>
      <p:pic>
        <p:nvPicPr>
          <p:cNvPr id="10" name="logo_23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3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4B · Grammar Bank 4B · at, in, on   ·   📖 SB p.33 · 4a, 4b · Grammar Bank 4B p.130 · audio 4.12, 4.13, 4.14 (SB key)</a:t>
            </a:r>
            <a:endParaRPr lang="en-US" sz="800" dirty="0"/>
          </a:p>
        </p:txBody>
      </p:sp>
      <p:sp>
        <p:nvSpPr>
          <p:cNvPr id="12" name="cd_238"/>
          <p:cNvSpPr/>
          <p:nvPr/>
        </p:nvSpPr>
        <p:spPr>
          <a:xfrm>
            <a:off x="320040" y="1417320"/>
            <a:ext cx="42062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h_239"/>
          <p:cNvSpPr/>
          <p:nvPr/>
        </p:nvSpPr>
        <p:spPr>
          <a:xfrm>
            <a:off x="429768" y="1508760"/>
            <a:ext cx="3986784" cy="365760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⏰ time</a:t>
            </a:r>
            <a:endParaRPr lang="en-US" sz="1250" dirty="0"/>
          </a:p>
        </p:txBody>
      </p:sp>
      <p:sp>
        <p:nvSpPr>
          <p:cNvPr id="14" name="R1_rx240"/>
          <p:cNvSpPr/>
          <p:nvPr/>
        </p:nvSpPr>
        <p:spPr>
          <a:xfrm>
            <a:off x="457200" y="201168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three o'clock ·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midday ·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night ·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weekend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morning ·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summer ·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December ·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2018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Monday ·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first of January</a:t>
            </a:r>
            <a:endParaRPr lang="en-US" sz="1400" dirty="0"/>
          </a:p>
        </p:txBody>
      </p:sp>
      <p:sp>
        <p:nvSpPr>
          <p:cNvPr id="15" name="R1_ri241"/>
          <p:cNvSpPr/>
          <p:nvPr/>
        </p:nvSpPr>
        <p:spPr>
          <a:xfrm>
            <a:off x="411480" y="4023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= ore · in = parti del giorno, mesi, anni · on = giorni</a:t>
            </a:r>
            <a:endParaRPr lang="en-US" sz="1100" dirty="0"/>
          </a:p>
        </p:txBody>
      </p:sp>
      <p:sp>
        <p:nvSpPr>
          <p:cNvPr id="16" name="cd_242"/>
          <p:cNvSpPr/>
          <p:nvPr/>
        </p:nvSpPr>
        <p:spPr>
          <a:xfrm>
            <a:off x="4663440" y="1417320"/>
            <a:ext cx="42062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rh_243"/>
          <p:cNvSpPr/>
          <p:nvPr/>
        </p:nvSpPr>
        <p:spPr>
          <a:xfrm>
            <a:off x="4773168" y="1508760"/>
            <a:ext cx="3986784" cy="365760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📍 place</a:t>
            </a:r>
            <a:endParaRPr lang="en-US" sz="1250" dirty="0"/>
          </a:p>
        </p:txBody>
      </p:sp>
      <p:sp>
        <p:nvSpPr>
          <p:cNvPr id="18" name="R2_rx244"/>
          <p:cNvSpPr/>
          <p:nvPr/>
        </p:nvSpPr>
        <p:spPr>
          <a:xfrm>
            <a:off x="4800600" y="201168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home ·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work ·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school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 café ·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library ·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London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school ·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work (movement)  ·  ✗ go to home → ✓ go home</a:t>
            </a:r>
            <a:endParaRPr lang="en-US" sz="1400" dirty="0"/>
          </a:p>
        </p:txBody>
      </p:sp>
      <p:sp>
        <p:nvSpPr>
          <p:cNvPr id="19" name="R2_ri245"/>
          <p:cNvSpPr/>
          <p:nvPr/>
        </p:nvSpPr>
        <p:spPr>
          <a:xfrm>
            <a:off x="4754880" y="4023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= luogo 'fisso' · in = dentro · to = verso</a:t>
            </a:r>
            <a:endParaRPr lang="en-US" sz="1100" dirty="0"/>
          </a:p>
        </p:txBody>
      </p:sp>
      <p:sp>
        <p:nvSpPr>
          <p:cNvPr id="20" name="R3_wc246"/>
          <p:cNvSpPr/>
          <p:nvPr/>
        </p:nvSpPr>
        <p:spPr>
          <a:xfrm>
            <a:off x="320040" y="4544568"/>
            <a:ext cx="8412480" cy="329184"/>
          </a:xfrm>
          <a:prstGeom prst="roundRect">
            <a:avLst>
              <a:gd name="adj" fmla="val 38889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R3_w247"/>
          <p:cNvSpPr/>
          <p:nvPr/>
        </p:nvSpPr>
        <p:spPr>
          <a:xfrm>
            <a:off x="457200" y="4544568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✓ in the morning BUT at night · ✓ on Tuesday morning · ✓ at the weekend (UK) · ✗ in Monday → ✓ on Monday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4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4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250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at, in or on?</a:t>
            </a:r>
            <a:endParaRPr lang="en-US" sz="2500" dirty="0"/>
          </a:p>
        </p:txBody>
      </p:sp>
      <p:pic>
        <p:nvPicPr>
          <p:cNvPr id="6" name="brP_25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52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the time phrase with the correct preposition. Then click!</a:t>
            </a:r>
            <a:endParaRPr lang="en-US" sz="1200" dirty="0"/>
          </a:p>
        </p:txBody>
      </p:sp>
      <p:sp>
        <p:nvSpPr>
          <p:cNvPr id="8" name="insIT_25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Di' l'espressione con la preposizione giusta. Poi clicca!</a:t>
            </a:r>
            <a:endParaRPr lang="en-US" sz="950" dirty="0"/>
          </a:p>
        </p:txBody>
      </p:sp>
      <p:sp>
        <p:nvSpPr>
          <p:cNvPr id="9" name="note_25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🙋 whole class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Controlled practice</a:t>
            </a:r>
            <a:endParaRPr lang="en-US" sz="1150" dirty="0"/>
          </a:p>
        </p:txBody>
      </p:sp>
      <p:pic>
        <p:nvPicPr>
          <p:cNvPr id="10" name="logo_25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4B · Grammar · time phrases   ·   📖 SB p.33 · 4d · audio 4.15 (Grammar Bank 4B d key)</a:t>
            </a:r>
            <a:endParaRPr lang="en-US" sz="800" dirty="0"/>
          </a:p>
        </p:txBody>
      </p:sp>
      <p:sp>
        <p:nvSpPr>
          <p:cNvPr id="12" name="cd_257"/>
          <p:cNvSpPr/>
          <p:nvPr/>
        </p:nvSpPr>
        <p:spPr>
          <a:xfrm>
            <a:off x="320040" y="1417320"/>
            <a:ext cx="2697480" cy="768096"/>
          </a:xfrm>
          <a:prstGeom prst="roundRect">
            <a:avLst>
              <a:gd name="adj" fmla="val 1666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58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259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260"/>
          <p:cNvSpPr/>
          <p:nvPr/>
        </p:nvSpPr>
        <p:spPr>
          <a:xfrm>
            <a:off x="886968" y="1911096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weekend → at the weekend</a:t>
            </a:r>
            <a:endParaRPr lang="en-US" sz="950" dirty="0"/>
          </a:p>
        </p:txBody>
      </p:sp>
      <p:sp>
        <p:nvSpPr>
          <p:cNvPr id="16" name="ap_261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4.15</a:t>
            </a:r>
            <a:endParaRPr lang="en-US" sz="1100" dirty="0"/>
          </a:p>
        </p:txBody>
      </p:sp>
      <p:sp>
        <p:nvSpPr>
          <p:cNvPr id="17" name="bd_262"/>
          <p:cNvSpPr/>
          <p:nvPr/>
        </p:nvSpPr>
        <p:spPr>
          <a:xfrm>
            <a:off x="3246120" y="1403604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q_263"/>
          <p:cNvSpPr/>
          <p:nvPr/>
        </p:nvSpPr>
        <p:spPr>
          <a:xfrm>
            <a:off x="3630168" y="1417320"/>
            <a:ext cx="2103120" cy="283464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weekend</a:t>
            </a:r>
            <a:endParaRPr lang="en-US" sz="1150" dirty="0"/>
          </a:p>
        </p:txBody>
      </p:sp>
      <p:sp>
        <p:nvSpPr>
          <p:cNvPr id="19" name="R1_chip264"/>
          <p:cNvSpPr/>
          <p:nvPr/>
        </p:nvSpPr>
        <p:spPr>
          <a:xfrm>
            <a:off x="5806440" y="1417320"/>
            <a:ext cx="3063240" cy="283464"/>
          </a:xfrm>
          <a:prstGeom prst="roundRect">
            <a:avLst>
              <a:gd name="adj" fmla="val 32258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the weekend</a:t>
            </a:r>
            <a:endParaRPr lang="en-US" sz="1050" dirty="0"/>
          </a:p>
        </p:txBody>
      </p:sp>
      <p:sp>
        <p:nvSpPr>
          <p:cNvPr id="20" name="bd_265"/>
          <p:cNvSpPr/>
          <p:nvPr/>
        </p:nvSpPr>
        <p:spPr>
          <a:xfrm>
            <a:off x="3246120" y="1732788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q_266"/>
          <p:cNvSpPr/>
          <p:nvPr/>
        </p:nvSpPr>
        <p:spPr>
          <a:xfrm>
            <a:off x="3630168" y="1746504"/>
            <a:ext cx="2103120" cy="283464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morning</a:t>
            </a:r>
            <a:endParaRPr lang="en-US" sz="1150" dirty="0"/>
          </a:p>
        </p:txBody>
      </p:sp>
      <p:sp>
        <p:nvSpPr>
          <p:cNvPr id="22" name="R2_chip267"/>
          <p:cNvSpPr/>
          <p:nvPr/>
        </p:nvSpPr>
        <p:spPr>
          <a:xfrm>
            <a:off x="5806440" y="1746504"/>
            <a:ext cx="3063240" cy="283464"/>
          </a:xfrm>
          <a:prstGeom prst="roundRect">
            <a:avLst>
              <a:gd name="adj" fmla="val 32258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the morning</a:t>
            </a:r>
            <a:endParaRPr lang="en-US" sz="1050" dirty="0"/>
          </a:p>
        </p:txBody>
      </p:sp>
      <p:sp>
        <p:nvSpPr>
          <p:cNvPr id="23" name="bd_268"/>
          <p:cNvSpPr/>
          <p:nvPr/>
        </p:nvSpPr>
        <p:spPr>
          <a:xfrm>
            <a:off x="3246120" y="206197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q_269"/>
          <p:cNvSpPr/>
          <p:nvPr/>
        </p:nvSpPr>
        <p:spPr>
          <a:xfrm>
            <a:off x="3630168" y="2075688"/>
            <a:ext cx="2103120" cy="283464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seven o'clock</a:t>
            </a:r>
            <a:endParaRPr lang="en-US" sz="1150" dirty="0"/>
          </a:p>
        </p:txBody>
      </p:sp>
      <p:sp>
        <p:nvSpPr>
          <p:cNvPr id="25" name="R3_chip270"/>
          <p:cNvSpPr/>
          <p:nvPr/>
        </p:nvSpPr>
        <p:spPr>
          <a:xfrm>
            <a:off x="5806440" y="2075688"/>
            <a:ext cx="3063240" cy="283464"/>
          </a:xfrm>
          <a:prstGeom prst="roundRect">
            <a:avLst>
              <a:gd name="adj" fmla="val 32258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seven o'clock</a:t>
            </a:r>
            <a:endParaRPr lang="en-US" sz="1050" dirty="0"/>
          </a:p>
        </p:txBody>
      </p:sp>
      <p:sp>
        <p:nvSpPr>
          <p:cNvPr id="26" name="bd_271"/>
          <p:cNvSpPr/>
          <p:nvPr/>
        </p:nvSpPr>
        <p:spPr>
          <a:xfrm>
            <a:off x="3246120" y="2391156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q_272"/>
          <p:cNvSpPr/>
          <p:nvPr/>
        </p:nvSpPr>
        <p:spPr>
          <a:xfrm>
            <a:off x="3630168" y="2404872"/>
            <a:ext cx="2103120" cy="283464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Sunday</a:t>
            </a:r>
            <a:endParaRPr lang="en-US" sz="1150" dirty="0"/>
          </a:p>
        </p:txBody>
      </p:sp>
      <p:sp>
        <p:nvSpPr>
          <p:cNvPr id="28" name="R4_chip273"/>
          <p:cNvSpPr/>
          <p:nvPr/>
        </p:nvSpPr>
        <p:spPr>
          <a:xfrm>
            <a:off x="5806440" y="2404872"/>
            <a:ext cx="3063240" cy="283464"/>
          </a:xfrm>
          <a:prstGeom prst="roundRect">
            <a:avLst>
              <a:gd name="adj" fmla="val 32258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Sunday</a:t>
            </a:r>
            <a:endParaRPr lang="en-US" sz="1050" dirty="0"/>
          </a:p>
        </p:txBody>
      </p:sp>
      <p:sp>
        <p:nvSpPr>
          <p:cNvPr id="29" name="bd_274"/>
          <p:cNvSpPr/>
          <p:nvPr/>
        </p:nvSpPr>
        <p:spPr>
          <a:xfrm>
            <a:off x="3246120" y="2720340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q_275"/>
          <p:cNvSpPr/>
          <p:nvPr/>
        </p:nvSpPr>
        <p:spPr>
          <a:xfrm>
            <a:off x="3630168" y="2734056"/>
            <a:ext cx="2103120" cy="283464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night</a:t>
            </a:r>
            <a:endParaRPr lang="en-US" sz="1150" dirty="0"/>
          </a:p>
        </p:txBody>
      </p:sp>
      <p:sp>
        <p:nvSpPr>
          <p:cNvPr id="31" name="R5_chip276"/>
          <p:cNvSpPr/>
          <p:nvPr/>
        </p:nvSpPr>
        <p:spPr>
          <a:xfrm>
            <a:off x="5806440" y="2734056"/>
            <a:ext cx="3063240" cy="283464"/>
          </a:xfrm>
          <a:prstGeom prst="roundRect">
            <a:avLst>
              <a:gd name="adj" fmla="val 32258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night</a:t>
            </a:r>
            <a:endParaRPr lang="en-US" sz="1050" dirty="0"/>
          </a:p>
        </p:txBody>
      </p:sp>
      <p:sp>
        <p:nvSpPr>
          <p:cNvPr id="32" name="bd_277"/>
          <p:cNvSpPr/>
          <p:nvPr/>
        </p:nvSpPr>
        <p:spPr>
          <a:xfrm>
            <a:off x="3246120" y="3049524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q_278"/>
          <p:cNvSpPr/>
          <p:nvPr/>
        </p:nvSpPr>
        <p:spPr>
          <a:xfrm>
            <a:off x="3630168" y="3063240"/>
            <a:ext cx="2103120" cy="283464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evening</a:t>
            </a:r>
            <a:endParaRPr lang="en-US" sz="1150" dirty="0"/>
          </a:p>
        </p:txBody>
      </p:sp>
      <p:sp>
        <p:nvSpPr>
          <p:cNvPr id="34" name="R6_chip279"/>
          <p:cNvSpPr/>
          <p:nvPr/>
        </p:nvSpPr>
        <p:spPr>
          <a:xfrm>
            <a:off x="5806440" y="3063240"/>
            <a:ext cx="3063240" cy="283464"/>
          </a:xfrm>
          <a:prstGeom prst="roundRect">
            <a:avLst>
              <a:gd name="adj" fmla="val 32258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the evening</a:t>
            </a:r>
            <a:endParaRPr lang="en-US" sz="1050" dirty="0"/>
          </a:p>
        </p:txBody>
      </p:sp>
      <p:sp>
        <p:nvSpPr>
          <p:cNvPr id="35" name="bd_280"/>
          <p:cNvSpPr/>
          <p:nvPr/>
        </p:nvSpPr>
        <p:spPr>
          <a:xfrm>
            <a:off x="3246120" y="3378708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36" name="q_281"/>
          <p:cNvSpPr/>
          <p:nvPr/>
        </p:nvSpPr>
        <p:spPr>
          <a:xfrm>
            <a:off x="3630168" y="3392424"/>
            <a:ext cx="2103120" cy="283464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midnight</a:t>
            </a:r>
            <a:endParaRPr lang="en-US" sz="1150" dirty="0"/>
          </a:p>
        </p:txBody>
      </p:sp>
      <p:sp>
        <p:nvSpPr>
          <p:cNvPr id="37" name="R7_chip282"/>
          <p:cNvSpPr/>
          <p:nvPr/>
        </p:nvSpPr>
        <p:spPr>
          <a:xfrm>
            <a:off x="5806440" y="3392424"/>
            <a:ext cx="3063240" cy="283464"/>
          </a:xfrm>
          <a:prstGeom prst="roundRect">
            <a:avLst>
              <a:gd name="adj" fmla="val 32258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midnight</a:t>
            </a:r>
            <a:endParaRPr lang="en-US" sz="1050" dirty="0"/>
          </a:p>
        </p:txBody>
      </p:sp>
      <p:sp>
        <p:nvSpPr>
          <p:cNvPr id="38" name="bd_283"/>
          <p:cNvSpPr/>
          <p:nvPr/>
        </p:nvSpPr>
        <p:spPr>
          <a:xfrm>
            <a:off x="3246120" y="370789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000" dirty="0"/>
          </a:p>
        </p:txBody>
      </p:sp>
      <p:sp>
        <p:nvSpPr>
          <p:cNvPr id="39" name="q_284"/>
          <p:cNvSpPr/>
          <p:nvPr/>
        </p:nvSpPr>
        <p:spPr>
          <a:xfrm>
            <a:off x="3630168" y="3721608"/>
            <a:ext cx="2103120" cy="283464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summer</a:t>
            </a:r>
            <a:endParaRPr lang="en-US" sz="1150" dirty="0"/>
          </a:p>
        </p:txBody>
      </p:sp>
      <p:sp>
        <p:nvSpPr>
          <p:cNvPr id="40" name="R8_chip285"/>
          <p:cNvSpPr/>
          <p:nvPr/>
        </p:nvSpPr>
        <p:spPr>
          <a:xfrm>
            <a:off x="5806440" y="3721608"/>
            <a:ext cx="3063240" cy="283464"/>
          </a:xfrm>
          <a:prstGeom prst="roundRect">
            <a:avLst>
              <a:gd name="adj" fmla="val 32258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the summer</a:t>
            </a:r>
            <a:endParaRPr lang="en-US" sz="1050" dirty="0"/>
          </a:p>
        </p:txBody>
      </p:sp>
      <p:sp>
        <p:nvSpPr>
          <p:cNvPr id="41" name="bd_286"/>
          <p:cNvSpPr/>
          <p:nvPr/>
        </p:nvSpPr>
        <p:spPr>
          <a:xfrm>
            <a:off x="3246120" y="4037076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1000" dirty="0"/>
          </a:p>
        </p:txBody>
      </p:sp>
      <p:sp>
        <p:nvSpPr>
          <p:cNvPr id="42" name="q_287"/>
          <p:cNvSpPr/>
          <p:nvPr/>
        </p:nvSpPr>
        <p:spPr>
          <a:xfrm>
            <a:off x="3630168" y="4050792"/>
            <a:ext cx="2103120" cy="283464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Tuesday morning</a:t>
            </a:r>
            <a:endParaRPr lang="en-US" sz="1150" dirty="0"/>
          </a:p>
        </p:txBody>
      </p:sp>
      <p:sp>
        <p:nvSpPr>
          <p:cNvPr id="43" name="R9_chip288"/>
          <p:cNvSpPr/>
          <p:nvPr/>
        </p:nvSpPr>
        <p:spPr>
          <a:xfrm>
            <a:off x="5806440" y="4050792"/>
            <a:ext cx="3063240" cy="283464"/>
          </a:xfrm>
          <a:prstGeom prst="roundRect">
            <a:avLst>
              <a:gd name="adj" fmla="val 32258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Tuesday morning</a:t>
            </a:r>
            <a:endParaRPr lang="en-US" sz="1050" dirty="0"/>
          </a:p>
        </p:txBody>
      </p:sp>
      <p:sp>
        <p:nvSpPr>
          <p:cNvPr id="44" name="bd_289"/>
          <p:cNvSpPr/>
          <p:nvPr/>
        </p:nvSpPr>
        <p:spPr>
          <a:xfrm>
            <a:off x="3246120" y="4366260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800" dirty="0"/>
          </a:p>
        </p:txBody>
      </p:sp>
      <p:sp>
        <p:nvSpPr>
          <p:cNvPr id="45" name="q_290"/>
          <p:cNvSpPr/>
          <p:nvPr/>
        </p:nvSpPr>
        <p:spPr>
          <a:xfrm>
            <a:off x="3630168" y="4379976"/>
            <a:ext cx="2103120" cy="283464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Christmas</a:t>
            </a:r>
            <a:endParaRPr lang="en-US" sz="1150" dirty="0"/>
          </a:p>
        </p:txBody>
      </p:sp>
      <p:sp>
        <p:nvSpPr>
          <p:cNvPr id="46" name="R10_chip291"/>
          <p:cNvSpPr/>
          <p:nvPr/>
        </p:nvSpPr>
        <p:spPr>
          <a:xfrm>
            <a:off x="5806440" y="4379976"/>
            <a:ext cx="3063240" cy="283464"/>
          </a:xfrm>
          <a:prstGeom prst="roundRect">
            <a:avLst>
              <a:gd name="adj" fmla="val 32258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Christmas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9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29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294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Preposition tennis</a:t>
            </a:r>
            <a:endParaRPr lang="en-US" sz="2500" dirty="0"/>
          </a:p>
        </p:txBody>
      </p:sp>
      <p:pic>
        <p:nvPicPr>
          <p:cNvPr id="6" name="brP_29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96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Preposition tennis! A says a word, B 'hits' it back with at, in or on. Miss = point to A!</a:t>
            </a:r>
            <a:endParaRPr lang="en-US" sz="1100" dirty="0"/>
          </a:p>
        </p:txBody>
      </p:sp>
      <p:sp>
        <p:nvSpPr>
          <p:cNvPr id="8" name="insIT_29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Tennis delle preposizioni! A dice una parola, B risponde con at, in o on!</a:t>
            </a:r>
            <a:endParaRPr lang="en-US" sz="950" dirty="0"/>
          </a:p>
        </p:txBody>
      </p:sp>
      <p:sp>
        <p:nvSpPr>
          <p:cNvPr id="9" name="note_298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 game</a:t>
            </a:r>
            <a:endParaRPr lang="en-US" sz="1150" dirty="0"/>
          </a:p>
        </p:txBody>
      </p:sp>
      <p:pic>
        <p:nvPicPr>
          <p:cNvPr id="10" name="logo_29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0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4B · Game · preposition tennis   ·   📖 Extra · zero-prep game</a:t>
            </a:r>
            <a:endParaRPr lang="en-US" sz="800" dirty="0"/>
          </a:p>
        </p:txBody>
      </p:sp>
      <p:sp>
        <p:nvSpPr>
          <p:cNvPr id="12" name="cd_301"/>
          <p:cNvSpPr/>
          <p:nvPr/>
        </p:nvSpPr>
        <p:spPr>
          <a:xfrm>
            <a:off x="320040" y="1417320"/>
            <a:ext cx="2697480" cy="2502408"/>
          </a:xfrm>
          <a:prstGeom prst="roundRect">
            <a:avLst>
              <a:gd name="adj" fmla="val 5116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02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303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304"/>
          <p:cNvSpPr/>
          <p:nvPr/>
        </p:nvSpPr>
        <p:spPr>
          <a:xfrm>
            <a:off x="886968" y="1911096"/>
            <a:ext cx="2039112" cy="193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Pairs. A says a time or place: Friday!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hits it back fast: on Friday! Then B says a new word.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Wrong or too slow = 1 point to the other player. First to 5!</a:t>
            </a:r>
            <a:endParaRPr lang="en-US" sz="1200" dirty="0"/>
          </a:p>
        </p:txBody>
      </p:sp>
      <p:sp>
        <p:nvSpPr>
          <p:cNvPr id="16" name="pf_305"/>
          <p:cNvSpPr/>
          <p:nvPr/>
        </p:nvSpPr>
        <p:spPr>
          <a:xfrm rot="-120000">
            <a:off x="1236198" y="4056888"/>
            <a:ext cx="819443" cy="1143000"/>
          </a:xfrm>
          <a:prstGeom prst="roundRect">
            <a:avLst>
              <a:gd name="adj" fmla="val 189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7" name="ph_306" descr="/home/claude/lls-course/v2/cache/red_4b_clock_jpg_175x253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1281918" y="4102608"/>
            <a:ext cx="728003" cy="1051560"/>
          </a:xfrm>
          <a:prstGeom prst="rect">
            <a:avLst/>
          </a:prstGeom>
        </p:spPr>
      </p:pic>
      <p:sp>
        <p:nvSpPr>
          <p:cNvPr id="18" name="bd_307"/>
          <p:cNvSpPr/>
          <p:nvPr/>
        </p:nvSpPr>
        <p:spPr>
          <a:xfrm>
            <a:off x="3246120" y="1572768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gq_308"/>
          <p:cNvSpPr/>
          <p:nvPr/>
        </p:nvSpPr>
        <p:spPr>
          <a:xfrm>
            <a:off x="3657600" y="141732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Friday · July · 9.30</a:t>
            </a:r>
            <a:endParaRPr lang="en-US" sz="1250" dirty="0"/>
          </a:p>
        </p:txBody>
      </p:sp>
      <p:sp>
        <p:nvSpPr>
          <p:cNvPr id="20" name="R1_chip309"/>
          <p:cNvSpPr/>
          <p:nvPr/>
        </p:nvSpPr>
        <p:spPr>
          <a:xfrm>
            <a:off x="6263640" y="14173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on Friday · in July · at 9.30</a:t>
            </a:r>
            <a:endParaRPr lang="en-US" sz="1200" dirty="0"/>
          </a:p>
        </p:txBody>
      </p:sp>
      <p:sp>
        <p:nvSpPr>
          <p:cNvPr id="21" name="bd_310"/>
          <p:cNvSpPr/>
          <p:nvPr/>
        </p:nvSpPr>
        <p:spPr>
          <a:xfrm>
            <a:off x="3246120" y="2276856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gq_311"/>
          <p:cNvSpPr/>
          <p:nvPr/>
        </p:nvSpPr>
        <p:spPr>
          <a:xfrm>
            <a:off x="3657600" y="2121408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home · the library · work</a:t>
            </a:r>
            <a:endParaRPr lang="en-US" sz="1250" dirty="0"/>
          </a:p>
        </p:txBody>
      </p:sp>
      <p:sp>
        <p:nvSpPr>
          <p:cNvPr id="23" name="R2_chip312"/>
          <p:cNvSpPr/>
          <p:nvPr/>
        </p:nvSpPr>
        <p:spPr>
          <a:xfrm>
            <a:off x="6263640" y="2121408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at home · in the library · at work</a:t>
            </a:r>
            <a:endParaRPr lang="en-US" sz="1200" dirty="0"/>
          </a:p>
        </p:txBody>
      </p:sp>
      <p:sp>
        <p:nvSpPr>
          <p:cNvPr id="24" name="bd_313"/>
          <p:cNvSpPr/>
          <p:nvPr/>
        </p:nvSpPr>
        <p:spPr>
          <a:xfrm>
            <a:off x="3246120" y="298094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gq_314"/>
          <p:cNvSpPr/>
          <p:nvPr/>
        </p:nvSpPr>
        <p:spPr>
          <a:xfrm>
            <a:off x="3657600" y="2825496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afternoon · night · 2026</a:t>
            </a:r>
            <a:endParaRPr lang="en-US" sz="1250" dirty="0"/>
          </a:p>
        </p:txBody>
      </p:sp>
      <p:sp>
        <p:nvSpPr>
          <p:cNvPr id="26" name="R3_chip315"/>
          <p:cNvSpPr/>
          <p:nvPr/>
        </p:nvSpPr>
        <p:spPr>
          <a:xfrm>
            <a:off x="6263640" y="2825496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in the afternoon · at night · in 2026</a:t>
            </a:r>
            <a:endParaRPr lang="en-US" sz="1200" dirty="0"/>
          </a:p>
        </p:txBody>
      </p:sp>
      <p:sp>
        <p:nvSpPr>
          <p:cNvPr id="27" name="bd_316"/>
          <p:cNvSpPr/>
          <p:nvPr/>
        </p:nvSpPr>
        <p:spPr>
          <a:xfrm>
            <a:off x="3246120" y="3685032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gq_317"/>
          <p:cNvSpPr/>
          <p:nvPr/>
        </p:nvSpPr>
        <p:spPr>
          <a:xfrm>
            <a:off x="3657600" y="3529584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birthday · Easter · the weekend</a:t>
            </a:r>
            <a:endParaRPr lang="en-US" sz="1250" dirty="0"/>
          </a:p>
        </p:txBody>
      </p:sp>
      <p:sp>
        <p:nvSpPr>
          <p:cNvPr id="29" name="R4_chip318"/>
          <p:cNvSpPr/>
          <p:nvPr/>
        </p:nvSpPr>
        <p:spPr>
          <a:xfrm>
            <a:off x="6263640" y="3529584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on my birthday · at Easter · at the weekend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1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32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1989734" cy="621792"/>
          </a:xfrm>
          <a:prstGeom prst="rect">
            <a:avLst/>
          </a:prstGeom>
        </p:spPr>
      </p:pic>
      <p:sp>
        <p:nvSpPr>
          <p:cNvPr id="5" name="title_321"/>
          <p:cNvSpPr/>
          <p:nvPr/>
        </p:nvSpPr>
        <p:spPr>
          <a:xfrm>
            <a:off x="1261872" y="164592"/>
            <a:ext cx="17154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day</a:t>
            </a:r>
            <a:endParaRPr lang="en-US" sz="2500" dirty="0"/>
          </a:p>
        </p:txBody>
      </p:sp>
      <p:pic>
        <p:nvPicPr>
          <p:cNvPr id="6" name="brP_32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23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Interview your partner about a typical weekday. What do you have in common?</a:t>
            </a:r>
            <a:endParaRPr lang="en-US" sz="1100" dirty="0"/>
          </a:p>
        </p:txBody>
      </p:sp>
      <p:sp>
        <p:nvSpPr>
          <p:cNvPr id="8" name="insIT_32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Intervista il compagno su una giornata tipo. Cosa avete in comune?</a:t>
            </a:r>
            <a:endParaRPr lang="en-US" sz="950" dirty="0"/>
          </a:p>
        </p:txBody>
      </p:sp>
      <p:sp>
        <p:nvSpPr>
          <p:cNvPr id="9" name="note_32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8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150" dirty="0"/>
          </a:p>
        </p:txBody>
      </p:sp>
      <p:pic>
        <p:nvPicPr>
          <p:cNvPr id="10" name="logo_32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2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4B · Speaking · a typical day   ·   📖 SB p.33 · 5a, 5b (SB 5a: add do you)</a:t>
            </a:r>
            <a:endParaRPr lang="en-US" sz="800" dirty="0"/>
          </a:p>
        </p:txBody>
      </p:sp>
      <p:sp>
        <p:nvSpPr>
          <p:cNvPr id="12" name="pf_328"/>
          <p:cNvSpPr/>
          <p:nvPr/>
        </p:nvSpPr>
        <p:spPr>
          <a:xfrm rot="-120000">
            <a:off x="320040" y="1371600"/>
            <a:ext cx="2788920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329" descr="/home/claude/lls-course/v2/cache/red_4b_music_jpg_649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65760" y="1417320"/>
            <a:ext cx="2697480" cy="1234440"/>
          </a:xfrm>
          <a:prstGeom prst="rect">
            <a:avLst/>
          </a:prstGeom>
        </p:spPr>
      </p:pic>
      <p:sp>
        <p:nvSpPr>
          <p:cNvPr id="14" name="cd_330"/>
          <p:cNvSpPr/>
          <p:nvPr/>
        </p:nvSpPr>
        <p:spPr>
          <a:xfrm>
            <a:off x="320040" y="288036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331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332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333"/>
          <p:cNvSpPr/>
          <p:nvPr/>
        </p:nvSpPr>
        <p:spPr>
          <a:xfrm>
            <a:off x="886968" y="3374136"/>
            <a:ext cx="2130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time do you get up?</a:t>
            </a:r>
            <a:endParaRPr lang="en-US" sz="8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have breakfast in the morning?</a:t>
            </a:r>
            <a:endParaRPr lang="en-US" sz="8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do you go to work or school?</a:t>
            </a:r>
            <a:endParaRPr lang="en-US" sz="8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do you have lunch?</a:t>
            </a:r>
            <a:endParaRPr lang="en-US" sz="8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you do after work?</a:t>
            </a:r>
            <a:endParaRPr lang="en-US" sz="8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do you feel at the end of the day?</a:t>
            </a:r>
            <a:endParaRPr lang="en-US" sz="800" dirty="0"/>
          </a:p>
        </p:txBody>
      </p:sp>
      <p:sp>
        <p:nvSpPr>
          <p:cNvPr id="18" name="R1_qb334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335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time / get up? · have breakfast?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What time do you get up? Do you have breakfast?</a:t>
            </a:r>
            <a:endParaRPr lang="en-US" sz="1250" dirty="0"/>
          </a:p>
        </p:txBody>
      </p:sp>
      <p:sp>
        <p:nvSpPr>
          <p:cNvPr id="20" name="R2_qb336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337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/ go to work? · What time / start work?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How do you go to work? – By car. I start at 8.30.</a:t>
            </a:r>
            <a:endParaRPr lang="en-US" sz="1250" dirty="0"/>
          </a:p>
        </p:txBody>
      </p:sp>
      <p:sp>
        <p:nvSpPr>
          <p:cNvPr id="22" name="R3_qb338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339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/ have lunch? · long lunch break?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Do you have a long lunch break?</a:t>
            </a:r>
            <a:endParaRPr lang="en-US" sz="1250" dirty="0"/>
          </a:p>
        </p:txBody>
      </p:sp>
      <p:sp>
        <p:nvSpPr>
          <p:cNvPr id="24" name="R4_qb340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341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/ do after work? · go out during the week?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Where do you go?</a:t>
            </a:r>
            <a:endParaRPr lang="en-US" sz="1250" dirty="0"/>
          </a:p>
        </p:txBody>
      </p:sp>
      <p:sp>
        <p:nvSpPr>
          <p:cNvPr id="26" name="R5_qb342"/>
          <p:cNvSpPr/>
          <p:nvPr/>
        </p:nvSpPr>
        <p:spPr>
          <a:xfrm>
            <a:off x="3273552" y="386791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R5_sq343"/>
          <p:cNvSpPr/>
          <p:nvPr/>
        </p:nvSpPr>
        <p:spPr>
          <a:xfrm>
            <a:off x="3675888" y="3831336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you have in common?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We both get up at 7.00!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4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34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346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34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348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Tell your partner…</a:t>
            </a:r>
            <a:endParaRPr lang="en-US" sz="1250" dirty="0"/>
          </a:p>
        </p:txBody>
      </p:sp>
      <p:sp>
        <p:nvSpPr>
          <p:cNvPr id="8" name="insIT_34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Di' al compagno…</a:t>
            </a:r>
            <a:endParaRPr lang="en-US" sz="950" dirty="0"/>
          </a:p>
        </p:txBody>
      </p:sp>
      <p:sp>
        <p:nvSpPr>
          <p:cNvPr id="9" name="note_350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00" dirty="0"/>
          </a:p>
        </p:txBody>
      </p:sp>
      <p:pic>
        <p:nvPicPr>
          <p:cNvPr id="10" name="logo_35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5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4B · Exit · what can you remember?</a:t>
            </a:r>
            <a:endParaRPr lang="en-US" sz="800" dirty="0"/>
          </a:p>
        </p:txBody>
      </p:sp>
      <p:sp>
        <p:nvSpPr>
          <p:cNvPr id="12" name="bd_353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rt_354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things you do every morning.</a:t>
            </a:r>
            <a:endParaRPr lang="en-US" sz="1400" dirty="0"/>
          </a:p>
        </p:txBody>
      </p:sp>
      <p:sp>
        <p:nvSpPr>
          <p:cNvPr id="14" name="bd_355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rt_356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2 things about Marjan – or Darius.</a:t>
            </a:r>
            <a:endParaRPr lang="en-US" sz="1400" dirty="0"/>
          </a:p>
        </p:txBody>
      </p:sp>
      <p:sp>
        <p:nvSpPr>
          <p:cNvPr id="16" name="bd_357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rt_358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1 sentence with at, 1 with in, 1 with on!</a:t>
            </a:r>
            <a:endParaRPr lang="en-US" sz="1400" dirty="0"/>
          </a:p>
        </p:txBody>
      </p:sp>
      <p:sp>
        <p:nvSpPr>
          <p:cNvPr id="18" name="cd_359"/>
          <p:cNvSpPr/>
          <p:nvPr/>
        </p:nvSpPr>
        <p:spPr>
          <a:xfrm>
            <a:off x="5669280" y="1417320"/>
            <a:ext cx="3200400" cy="1426464"/>
          </a:xfrm>
          <a:prstGeom prst="roundRect">
            <a:avLst>
              <a:gd name="adj" fmla="val 8974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ii_360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ih_361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1" name="il_362"/>
          <p:cNvSpPr/>
          <p:nvPr/>
        </p:nvSpPr>
        <p:spPr>
          <a:xfrm>
            <a:off x="6236208" y="1911096"/>
            <a:ext cx="25420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Workbook 4B pp.28–29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Writing p.114: an article – My favourite day of the week</a:t>
            </a:r>
            <a:endParaRPr lang="en-US" sz="1150" dirty="0"/>
          </a:p>
        </p:txBody>
      </p:sp>
      <p:sp>
        <p:nvSpPr>
          <p:cNvPr id="22" name="st_363"/>
          <p:cNvSpPr/>
          <p:nvPr/>
        </p:nvSpPr>
        <p:spPr>
          <a:xfrm rot="-180000">
            <a:off x="5806440" y="3099816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4C Blue Zones – adverbs of frequency (SB p.34)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6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36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366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36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368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36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note_37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Reflection</a:t>
            </a:r>
            <a:endParaRPr lang="en-US" sz="1250" dirty="0"/>
          </a:p>
        </p:txBody>
      </p:sp>
      <p:pic>
        <p:nvPicPr>
          <p:cNvPr id="10" name="logo_37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7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4B · Review · what did you do today?</a:t>
            </a:r>
            <a:endParaRPr lang="en-US" sz="800" dirty="0"/>
          </a:p>
        </p:txBody>
      </p:sp>
      <p:sp>
        <p:nvSpPr>
          <p:cNvPr id="12" name="cd_373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te_374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⏰</a:t>
            </a:r>
            <a:endParaRPr lang="en-US" sz="1800" dirty="0"/>
          </a:p>
        </p:txBody>
      </p:sp>
      <p:sp>
        <p:nvSpPr>
          <p:cNvPr id="14" name="tt_375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Talked about your day: get up, have a shower…</a:t>
            </a:r>
            <a:endParaRPr lang="en-US" sz="1350" dirty="0"/>
          </a:p>
        </p:txBody>
      </p:sp>
      <p:sp>
        <p:nvSpPr>
          <p:cNvPr id="15" name="R1_tk376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cd_377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te_378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8" name="tt_379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Used at, in, on: at 7.00, in the morning, on Monday</a:t>
            </a:r>
            <a:endParaRPr lang="en-US" sz="1350" dirty="0"/>
          </a:p>
        </p:txBody>
      </p:sp>
      <p:sp>
        <p:nvSpPr>
          <p:cNvPr id="19" name="R2_tk380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cd_381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te_382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2" name="tt_383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link words: I get_up_at seven</a:t>
            </a:r>
            <a:endParaRPr lang="en-US" sz="1350" dirty="0"/>
          </a:p>
        </p:txBody>
      </p:sp>
      <p:sp>
        <p:nvSpPr>
          <p:cNvPr id="23" name="R3_tk384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cd_385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te_386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26" name="tt_387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about a busy surgeon</a:t>
            </a:r>
            <a:endParaRPr lang="en-US" sz="1350" dirty="0"/>
          </a:p>
        </p:txBody>
      </p:sp>
      <p:sp>
        <p:nvSpPr>
          <p:cNvPr id="27" name="R4_tk388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cd_389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te_390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🎧</a:t>
            </a:r>
            <a:endParaRPr lang="en-US" sz="1800" dirty="0"/>
          </a:p>
        </p:txBody>
      </p:sp>
      <p:sp>
        <p:nvSpPr>
          <p:cNvPr id="30" name="tt_391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Listened to her son's day</a:t>
            </a:r>
            <a:endParaRPr lang="en-US" sz="1350" dirty="0"/>
          </a:p>
        </p:txBody>
      </p:sp>
      <p:sp>
        <p:nvSpPr>
          <p:cNvPr id="31" name="R5_tk392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2" name="st_393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4B From morning to night</dc:title>
  <dc:subject>PptxGenJS Presentation</dc:subject>
  <dc:creator>PptxGenJS</dc:creator>
  <cp:lastModifiedBy>PptxGenJS</cp:lastModifiedBy>
  <cp:revision>1</cp:revision>
  <dcterms:created xsi:type="dcterms:W3CDTF">2026-10-23T08:34:36Z</dcterms:created>
  <dcterms:modified xsi:type="dcterms:W3CDTF">2026-10-23T08:34:36Z</dcterms:modified>
</cp:coreProperties>
</file>