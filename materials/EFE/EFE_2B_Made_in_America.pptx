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TG optional lead-in: books closed, ask what is typically American; write the ideas on the board (Hollywood films, hamburgers, yellow taxis, jeans…). Click: example answer. Keep the list – some of the words come back in the American icons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2A (3 min)
REVISION (3 min). Pairs ask the two questions with their real bags (2–3 things each). Quick check of /ɪz/: glasses, watches, pieces. Leads in: today we DESCRIBE things – colours and adjectives.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colours (3 min)
VOCABULARY (3 min). SB 1a: What colour is the American flag? (red, white, blue). Play 2.6 – students listen and repeat. Then point at each circle: the class says the colour, click once per colour for the Italian. Drill orange /ˈɒrɪndʒ/ (TG note), purple /ˈpɜːpl/, silver, gold. Answers 1b (TG): black, yellow, grey, orange, brown, pink, green, purple, silver,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Speaking · colours (3 min)
SPEAKING (3 min). SB 1c: model and drill the two questions (What colour is…? / What colour are…?). Pairs ask and answer; click once per line for a model answer. Point out: is + one thing → It's…, are + plural → They're… (like 2A). TG extra support: other flags – What colour is the French / Polish flag?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Vocabulary · opposite adjectives (4 min)
OPPOSITES (4 min). Max 8 pairs today (A1–A2); the Vocabulary Bank has 21 – play 2.7 for the whole list if the class is strong. For each tile: students say the opposite, click 1 = an English example, click 2 = the Italian. TG vocabulary note: old, right and short have TWO opposites (Watch out box). Pairs test each other: A says an adjective, B says the opposite (TG 1c).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· American icons (4 min)
GRAMMAR IN CONTEXT (4 min). SB 2a: label the photos with an adjective (American, French, blue, hot, fast, White, yellow, New) + a noun (football, fries, jeans, dog, food, House, taxis, York). Pairs, 2 minutes, then click once per number. Answers (SB key): 1 American football (example) · 2 yellow taxis · 3 fast food · 4 French fries · 5 White House · 6 blue jeans · 7 hot dog · 8 New York (the city photo – ask it last). SB 2b: Can I have a hot dog / dog hot? (hot dog) · The taxis are yellow / yellows (yellow) → adjectives go BEFORE the noun and don't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Pop-up grammar · adjectives (4 min)
POP-UP GRAMMAR (4 min). Point back to the icons: yellow taxis – not 'taxis yellow', not 'yellows'. Elicit each column before clicking. Play 2.8 (Grammar Bank sentences: The White House is in Washington DC. It's a beautiful picture… He's strong. We aren't rich. Is your car new? She's quite famous. It's a very big city. We're really tired.) – listen and repeat. TG grammar note: one form only; with be, the adjective comes after: Is your car fast? Italian speakers say 'a car red' – correct it every time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Speaking · class story (TPRS) (5 min)
TPRS CLASS STORY (5 min) – the adjectives, colours and very / quite from today, heard many times before the practice. Click once per line. For each line: 1) say it, 2) ask the questions round the class (yes/no → either/or → what/where), 3) let the CLASS change details (accept their idea and use it in later lines): 'Is the woman's bag purple? No? What colour is it?' Students answer with one word or a short phrase – that's fine; repeat the full sentence yourself. Recycles: adjective before the noun (an old taxi, a big bag), be + adjective (the taxi is slow), very / really / quite, opposites. Finish: 'What happens next?' (the White House is in Washington DC!).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· practice (4 min)
CONTROLLED PRACTICE (4 min). Grammar Bank 2B exercise a (the book's answers). Pairs say each sentence, then click to check. Highlight: an expensive / an easy (vowel sound, from 2A); questions with be: Is Louis French? (not 'Louis is French?').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long and short vowels (4 min)
PRONUNCIATION (4 min). Play 2.9: the 8 sound pictures – listen, then listen and repeat. The two dots /ː/ = a LONG sound (tree, car, horse, boot). Pairs say each adjective (the vowel is highlighted) and match it to a picture; play 2.10 to check (it has two adjectives per sound); click once per word. Answers (TG 2.10): fish rich, big · tree easy, cheap · cat black, bad · car fast, dark · clock hot, wrong · horse small, short · bull full, good · boot blue, new. TG note: exaggerate the long sounds – Italian has one i and one 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Pronunciation game (3 min)
GAME (3 min). SB 3c as a team race (TG extra idea: race with a time limit). Teams say the phrase with a / an; click once per line, then play 2.11 to check and drill. Answers (TG 2.11): a big city · a black bag · cheap jeans · dark glasses · a good book · a grey day · new boots · an old photo · a short story. Extra challenge (TG): phrases about the classroom – a dirty board, big windows, a brown bag.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8 things you have (4 min)
SPEAKING (4 min). Give students 1 minute to think of 8 things (TG extra support: write them). Prompts appear one per click – model each. Pairs tell each other; the partner asks one question (What colour is it? Is it new?). TG extra idea: before feedback, can you remember your partner's 8 things? 'You have a…'. Note 3–4 word-order errors (a car red) for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Speaking game (4 min)
GAME (4 min) – replaces the Communication pair-work (SB p.103/109). Model: 'It's yellow, it's quite long and it's cheap. You eat it.' → a banana. Words appear one per click, alternating A (pink) and B (blue). Accept any correct description with adjective + noun or be + adjective. ICQ: 'Can you say the word?' (no).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Reading · British and American English (5 min)
READING (5 min). The article is ON THE SLIDE (shortened from the book, facts unchanged). Pre-teach only: different = diverso, the same = uguale. Pairs choose headings 2–4 from the box (Food and Music don't fit), then play 2.12 to check; click once per heading. Answers (SB key): 2 Spelling · 3 Grammar · 4 Pronunciation. Link to 2A: purse = borsellino in the UK, but a bag in the US!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Reading · detail (3 min)
DETAIL (3 min). SB 5c. Pairs answer T/F and correct the false ones (TG: elicit WHY each F is false). Click once per sentence. 5d / TG extra challenge: more American words – movie, cookie, apartment, soccer, elevator. UK / US: cell phone = mobile phone · color = colour · purse = handbag · vacation = holiday · ZIP code = postcode.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Exit · what can you remember? (2 min)
RETRIEVAL EXIT (2 min). Books closed. Pairs: 3 pairs of opposites, 2 American icons (adjective + noun), 1 sentence about Frank's taxi (a very old yellow taxi…). Set homework: Workbook 2B pp.14–15 – 1a–c, 2a–e, 3a (3b needs the Workbook audio, optional) + write 5 things you have with an adjective (a red car, a very old phone…).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Book audio · 2B (0 min)
EXTRA. 2.7 has all 21 pairs from the Vocabulary Bank (too many for one A1/A2 lesson): use it for a fast class or as revision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audio" Target="../media/media-3-5.mp3"/><Relationship Id="rId6" Type="http://schemas.microsoft.com/office/2007/relationships/media" Target="../media/media-3-5.mp3"/><Relationship Id="rId7" Type="http://schemas.openxmlformats.org/officeDocument/2006/relationships/image" Target="../media/image-3-7.png"/><Relationship Id="rId8" Type="http://schemas.openxmlformats.org/officeDocument/2006/relationships/audio" Target="../media/media-3-8.mp3"/><Relationship Id="rId9" Type="http://schemas.microsoft.com/office/2007/relationships/media" Target="../media/media-3-8.mp3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audio" Target="../media/media-5-5.mp3"/><Relationship Id="rId6" Type="http://schemas.microsoft.com/office/2007/relationships/media" Target="../media/media-5-5.mp3"/><Relationship Id="rId7" Type="http://schemas.openxmlformats.org/officeDocument/2006/relationships/image" Target="../media/image-5-7.png"/><Relationship Id="rId8" Type="http://schemas.openxmlformats.org/officeDocument/2006/relationships/audio" Target="../media/media-5-8.mp3"/><Relationship Id="rId9" Type="http://schemas.microsoft.com/office/2007/relationships/media" Target="../media/media-5-8.mp3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audio" Target="../media/media-7-5.mp3"/><Relationship Id="rId6" Type="http://schemas.microsoft.com/office/2007/relationships/media" Target="../media/media-7-5.mp3"/><Relationship Id="rId7" Type="http://schemas.openxmlformats.org/officeDocument/2006/relationships/image" Target="../media/image-7-7.png"/><Relationship Id="rId8" Type="http://schemas.openxmlformats.org/officeDocument/2006/relationships/audio" Target="../media/media-7-8.mp3"/><Relationship Id="rId9" Type="http://schemas.microsoft.com/office/2007/relationships/media" Target="../media/media-7-8.mp3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audio" Target="../media/media-10-5.mp3"/><Relationship Id="rId6" Type="http://schemas.microsoft.com/office/2007/relationships/media" Target="../media/media-10-5.mp3"/><Relationship Id="rId7" Type="http://schemas.openxmlformats.org/officeDocument/2006/relationships/image" Target="../media/image-10-7.png"/><Relationship Id="rId8" Type="http://schemas.openxmlformats.org/officeDocument/2006/relationships/audio" Target="../media/media-10-8.mp3"/><Relationship Id="rId9" Type="http://schemas.microsoft.com/office/2007/relationships/media" Target="../media/media-10-8.mp3"/><Relationship Id="rId10" Type="http://schemas.openxmlformats.org/officeDocument/2006/relationships/image" Target="../media/image-10-10.png"/><Relationship Id="rId11" Type="http://schemas.openxmlformats.org/officeDocument/2006/relationships/audio" Target="../media/media-10-11.mp3"/><Relationship Id="rId12" Type="http://schemas.microsoft.com/office/2007/relationships/media" Target="../media/media-10-11.mp3"/><Relationship Id="rId13" Type="http://schemas.openxmlformats.org/officeDocument/2006/relationships/image" Target="../media/image-10-13.png"/><Relationship Id="rId14" Type="http://schemas.openxmlformats.org/officeDocument/2006/relationships/audio" Target="../media/media-10-14.mp3"/><Relationship Id="rId15" Type="http://schemas.microsoft.com/office/2007/relationships/media" Target="../media/media-10-14.mp3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audio" Target="../media/media-11-5.mp3"/><Relationship Id="rId6" Type="http://schemas.microsoft.com/office/2007/relationships/media" Target="../media/media-11-5.mp3"/><Relationship Id="rId7" Type="http://schemas.openxmlformats.org/officeDocument/2006/relationships/image" Target="../media/image-11-7.png"/><Relationship Id="rId8" Type="http://schemas.openxmlformats.org/officeDocument/2006/relationships/audio" Target="../media/media-11-8.mp3"/><Relationship Id="rId9" Type="http://schemas.microsoft.com/office/2007/relationships/media" Target="../media/media-11-8.mp3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audio" Target="../media/media-14-5.mp3"/><Relationship Id="rId6" Type="http://schemas.microsoft.com/office/2007/relationships/media" Target="../media/media-14-5.mp3"/><Relationship Id="rId7" Type="http://schemas.openxmlformats.org/officeDocument/2006/relationships/image" Target="../media/image-14-7.png"/><Relationship Id="rId8" Type="http://schemas.openxmlformats.org/officeDocument/2006/relationships/audio" Target="../media/media-14-8.mp3"/><Relationship Id="rId9" Type="http://schemas.microsoft.com/office/2007/relationships/media" Target="../media/media-14-8.mp3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audio" Target="../media/media-18-6.mp3"/><Relationship Id="rId7" Type="http://schemas.microsoft.com/office/2007/relationships/media" Target="../media/media-18-6.mp3"/><Relationship Id="rId8" Type="http://schemas.openxmlformats.org/officeDocument/2006/relationships/image" Target="../media/image-18-8.png"/><Relationship Id="rId9" Type="http://schemas.openxmlformats.org/officeDocument/2006/relationships/audio" Target="../media/media-18-9.mp3"/><Relationship Id="rId10" Type="http://schemas.microsoft.com/office/2007/relationships/media" Target="../media/media-18-9.mp3"/><Relationship Id="rId11" Type="http://schemas.openxmlformats.org/officeDocument/2006/relationships/image" Target="../media/image-18-11.png"/><Relationship Id="rId12" Type="http://schemas.openxmlformats.org/officeDocument/2006/relationships/audio" Target="../media/media-18-12.mp3"/><Relationship Id="rId13" Type="http://schemas.microsoft.com/office/2007/relationships/media" Target="../media/media-18-12.mp3"/><Relationship Id="rId14" Type="http://schemas.openxmlformats.org/officeDocument/2006/relationships/image" Target="../media/image-1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pp.16–17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Made in America</a:t>
            </a:r>
            <a:endParaRPr lang="en-US" sz="22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Colours, adjectives, very / quite</a:t>
            </a:r>
            <a:endParaRPr lang="en-US" sz="12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24328"/>
            <a:ext cx="3547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 learn colours and adjectives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  name American icons: a hot dog, yellow taxis…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 listen to a class story and answer questions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🔊  hear long and short sounds: cheap, rich</a:t>
            </a:r>
            <a:endParaRPr lang="en-US" sz="1000" dirty="0"/>
          </a:p>
          <a:p>
            <a:pPr indent="0" marL="0">
              <a:spcBef>
                <a:spcPts val="5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👀  read about British and American English</a:t>
            </a:r>
            <a:endParaRPr lang="en-US" sz="100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19050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Hamburgers, yellow taxis and Hollywood films!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2b_newyork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typically American? Name 3 things!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2A?</a:t>
            </a:r>
            <a:endParaRPr lang="en-US" sz="225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partner: What's in your bag? Where are your keys?</a:t>
            </a:r>
            <a:endParaRPr lang="en-US" sz="120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al compagno: Cosa c'è nella tua borsa? Dove sono le tue chiavi?</a:t>
            </a:r>
            <a:endParaRPr lang="en-US" sz="950" dirty="0"/>
          </a:p>
        </p:txBody>
      </p:sp>
      <p:sp>
        <p:nvSpPr>
          <p:cNvPr id="9" name="cmd_2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2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2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2" name="logo_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Revision · last lesson 2A</a:t>
            </a:r>
            <a:endParaRPr lang="en-US" sz="800" dirty="0"/>
          </a:p>
        </p:txBody>
      </p:sp>
      <p:sp>
        <p:nvSpPr>
          <p:cNvPr id="14" name="pf_28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29" descr="/home/claude/lls-course/v2/cache/red_2a_untidy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30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31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ih_32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9" name="il_33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2A: things in your bag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plurals: keys, glasses</a:t>
            </a:r>
            <a:endParaRPr lang="en-US" sz="11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in, on, under</a:t>
            </a:r>
            <a:endParaRPr lang="en-US" sz="1100" dirty="0"/>
          </a:p>
        </p:txBody>
      </p:sp>
      <p:sp>
        <p:nvSpPr>
          <p:cNvPr id="20" name="cd_34"/>
          <p:cNvSpPr/>
          <p:nvPr/>
        </p:nvSpPr>
        <p:spPr>
          <a:xfrm>
            <a:off x="324612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h_35"/>
          <p:cNvSpPr/>
          <p:nvPr/>
        </p:nvSpPr>
        <p:spPr>
          <a:xfrm>
            <a:off x="335584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Things</a:t>
            </a:r>
            <a:endParaRPr lang="en-US" sz="1200" dirty="0"/>
          </a:p>
        </p:txBody>
      </p:sp>
      <p:sp>
        <p:nvSpPr>
          <p:cNvPr id="22" name="rl_36"/>
          <p:cNvSpPr/>
          <p:nvPr/>
        </p:nvSpPr>
        <p:spPr>
          <a:xfrm>
            <a:off x="338328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is it? –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a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wallet.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they? –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sunglasses.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watch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· two key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</a:t>
            </a:r>
            <a:endParaRPr lang="en-US" sz="1150" dirty="0"/>
          </a:p>
        </p:txBody>
      </p:sp>
      <p:sp>
        <p:nvSpPr>
          <p:cNvPr id="23" name="cd_37"/>
          <p:cNvSpPr/>
          <p:nvPr/>
        </p:nvSpPr>
        <p:spPr>
          <a:xfrm>
            <a:off x="6126480" y="1417320"/>
            <a:ext cx="278892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rh_38"/>
          <p:cNvSpPr/>
          <p:nvPr/>
        </p:nvSpPr>
        <p:spPr>
          <a:xfrm>
            <a:off x="6236208" y="1508760"/>
            <a:ext cx="2569464" cy="347472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Where?</a:t>
            </a:r>
            <a:endParaRPr lang="en-US" sz="1200" dirty="0"/>
          </a:p>
        </p:txBody>
      </p:sp>
      <p:sp>
        <p:nvSpPr>
          <p:cNvPr id="25" name="rl_39"/>
          <p:cNvSpPr/>
          <p:nvPr/>
        </p:nvSpPr>
        <p:spPr>
          <a:xfrm>
            <a:off x="6263640" y="1920240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phone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in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my bag.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keys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on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table.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cat </a:t>
            </a:r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under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the sofa.</a:t>
            </a:r>
            <a:endParaRPr lang="en-US" sz="1150" dirty="0"/>
          </a:p>
        </p:txBody>
      </p:sp>
      <p:sp>
        <p:nvSpPr>
          <p:cNvPr id="26" name="kw_40"/>
          <p:cNvSpPr/>
          <p:nvPr/>
        </p:nvSpPr>
        <p:spPr>
          <a:xfrm>
            <a:off x="32461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KEY WORDS</a:t>
            </a:r>
            <a:endParaRPr lang="en-US" sz="1100" dirty="0"/>
          </a:p>
        </p:txBody>
      </p:sp>
      <p:sp>
        <p:nvSpPr>
          <p:cNvPr id="27" name="w_41"/>
          <p:cNvSpPr/>
          <p:nvPr/>
        </p:nvSpPr>
        <p:spPr>
          <a:xfrm>
            <a:off x="3246120" y="4178808"/>
            <a:ext cx="786384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wallet</a:t>
            </a:r>
            <a:endParaRPr lang="en-US" sz="1050" dirty="0"/>
          </a:p>
        </p:txBody>
      </p:sp>
      <p:sp>
        <p:nvSpPr>
          <p:cNvPr id="28" name="w_42"/>
          <p:cNvSpPr/>
          <p:nvPr/>
        </p:nvSpPr>
        <p:spPr>
          <a:xfrm>
            <a:off x="4105656" y="4178808"/>
            <a:ext cx="708660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purse</a:t>
            </a:r>
            <a:endParaRPr lang="en-US" sz="1050" dirty="0"/>
          </a:p>
        </p:txBody>
      </p:sp>
      <p:sp>
        <p:nvSpPr>
          <p:cNvPr id="29" name="w_43"/>
          <p:cNvSpPr/>
          <p:nvPr/>
        </p:nvSpPr>
        <p:spPr>
          <a:xfrm>
            <a:off x="4887468" y="4178808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keys</a:t>
            </a:r>
            <a:endParaRPr lang="en-US" sz="1050" dirty="0"/>
          </a:p>
        </p:txBody>
      </p:sp>
      <p:sp>
        <p:nvSpPr>
          <p:cNvPr id="30" name="w_44"/>
          <p:cNvSpPr/>
          <p:nvPr/>
        </p:nvSpPr>
        <p:spPr>
          <a:xfrm>
            <a:off x="5591556" y="417880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sunglasses</a:t>
            </a:r>
            <a:endParaRPr lang="en-US" sz="1050" dirty="0"/>
          </a:p>
        </p:txBody>
      </p:sp>
      <p:sp>
        <p:nvSpPr>
          <p:cNvPr id="31" name="w_45"/>
          <p:cNvSpPr/>
          <p:nvPr/>
        </p:nvSpPr>
        <p:spPr>
          <a:xfrm>
            <a:off x="6761988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tissues</a:t>
            </a:r>
            <a:endParaRPr lang="en-US" sz="1050" dirty="0"/>
          </a:p>
        </p:txBody>
      </p:sp>
      <p:sp>
        <p:nvSpPr>
          <p:cNvPr id="32" name="w_46"/>
          <p:cNvSpPr/>
          <p:nvPr/>
        </p:nvSpPr>
        <p:spPr>
          <a:xfrm>
            <a:off x="7699248" y="4178808"/>
            <a:ext cx="864108" cy="31089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charger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49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it?</a:t>
            </a:r>
            <a:endParaRPr lang="en-US" sz="2500" dirty="0"/>
          </a:p>
        </p:txBody>
      </p:sp>
      <p:pic>
        <p:nvPicPr>
          <p:cNvPr id="6" name="brP_5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727448" cy="402336"/>
          </a:xfrm>
          <a:prstGeom prst="rect">
            <a:avLst/>
          </a:prstGeom>
        </p:spPr>
      </p:pic>
      <p:sp>
        <p:nvSpPr>
          <p:cNvPr id="7" name="ins_51"/>
          <p:cNvSpPr/>
          <p:nvPr/>
        </p:nvSpPr>
        <p:spPr>
          <a:xfrm>
            <a:off x="1353312" y="731520"/>
            <a:ext cx="4471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colour in English. Click: the Italian.</a:t>
            </a:r>
            <a:endParaRPr lang="en-US" sz="1250" dirty="0"/>
          </a:p>
        </p:txBody>
      </p:sp>
      <p:sp>
        <p:nvSpPr>
          <p:cNvPr id="8" name="insIT_5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il colore in inglese. Clicca: l'italiano.</a:t>
            </a:r>
            <a:endParaRPr lang="en-US" sz="950" dirty="0"/>
          </a:p>
        </p:txBody>
      </p:sp>
      <p:sp>
        <p:nvSpPr>
          <p:cNvPr id="9" name="cmd_5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cmd_54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55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950" dirty="0"/>
          </a:p>
        </p:txBody>
      </p:sp>
      <p:sp>
        <p:nvSpPr>
          <p:cNvPr id="12" name="tag_56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meaning</a:t>
            </a:r>
            <a:endParaRPr lang="en-US" sz="700" dirty="0"/>
          </a:p>
        </p:txBody>
      </p:sp>
      <p:pic>
        <p:nvPicPr>
          <p:cNvPr id="13" name="logo_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Vocabulary · colours   ·   📖 SB p.16 · 1a, 1b · audio 2.6</a:t>
            </a:r>
            <a:endParaRPr lang="en-US" sz="800" dirty="0"/>
          </a:p>
        </p:txBody>
      </p:sp>
      <p:sp>
        <p:nvSpPr>
          <p:cNvPr id="15" name="cd_59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e_60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⚫</a:t>
            </a:r>
            <a:endParaRPr lang="en-US" sz="2000" dirty="0"/>
          </a:p>
        </p:txBody>
      </p:sp>
      <p:sp>
        <p:nvSpPr>
          <p:cNvPr id="17" name="en_61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black</a:t>
            </a:r>
            <a:endParaRPr lang="en-US" sz="1200" dirty="0"/>
          </a:p>
        </p:txBody>
      </p:sp>
      <p:sp>
        <p:nvSpPr>
          <p:cNvPr id="18" name="R1_it62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nero</a:t>
            </a:r>
            <a:endParaRPr lang="en-US" sz="1000" dirty="0"/>
          </a:p>
        </p:txBody>
      </p:sp>
      <p:sp>
        <p:nvSpPr>
          <p:cNvPr id="19" name="cd_63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e_64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🟡</a:t>
            </a:r>
            <a:endParaRPr lang="en-US" sz="2000" dirty="0"/>
          </a:p>
        </p:txBody>
      </p:sp>
      <p:sp>
        <p:nvSpPr>
          <p:cNvPr id="21" name="en_65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yellow</a:t>
            </a:r>
            <a:endParaRPr lang="en-US" sz="1200" dirty="0"/>
          </a:p>
        </p:txBody>
      </p:sp>
      <p:sp>
        <p:nvSpPr>
          <p:cNvPr id="22" name="R2_it66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giallo</a:t>
            </a:r>
            <a:endParaRPr lang="en-US" sz="1000" dirty="0"/>
          </a:p>
        </p:txBody>
      </p:sp>
      <p:sp>
        <p:nvSpPr>
          <p:cNvPr id="23" name="cd_67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4" name="e_68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25" name="en_69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grey</a:t>
            </a:r>
            <a:endParaRPr lang="en-US" sz="1200" dirty="0"/>
          </a:p>
        </p:txBody>
      </p:sp>
      <p:sp>
        <p:nvSpPr>
          <p:cNvPr id="26" name="R3_it70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grigio</a:t>
            </a:r>
            <a:endParaRPr lang="en-US" sz="1000" dirty="0"/>
          </a:p>
        </p:txBody>
      </p:sp>
      <p:sp>
        <p:nvSpPr>
          <p:cNvPr id="27" name="cd_71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e_72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🟠</a:t>
            </a:r>
            <a:endParaRPr lang="en-US" sz="2000" dirty="0"/>
          </a:p>
        </p:txBody>
      </p:sp>
      <p:sp>
        <p:nvSpPr>
          <p:cNvPr id="29" name="en_73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orange</a:t>
            </a:r>
            <a:endParaRPr lang="en-US" sz="1200" dirty="0"/>
          </a:p>
        </p:txBody>
      </p:sp>
      <p:sp>
        <p:nvSpPr>
          <p:cNvPr id="30" name="R4_it74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arancione</a:t>
            </a:r>
            <a:endParaRPr lang="en-US" sz="1000" dirty="0"/>
          </a:p>
        </p:txBody>
      </p:sp>
      <p:sp>
        <p:nvSpPr>
          <p:cNvPr id="31" name="cd_75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2" name="e_76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🟤</a:t>
            </a:r>
            <a:endParaRPr lang="en-US" sz="2000" dirty="0"/>
          </a:p>
        </p:txBody>
      </p:sp>
      <p:sp>
        <p:nvSpPr>
          <p:cNvPr id="33" name="en_77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brown</a:t>
            </a:r>
            <a:endParaRPr lang="en-US" sz="1200" dirty="0"/>
          </a:p>
        </p:txBody>
      </p:sp>
      <p:sp>
        <p:nvSpPr>
          <p:cNvPr id="34" name="R5_it78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marrone</a:t>
            </a:r>
            <a:endParaRPr lang="en-US" sz="1000" dirty="0"/>
          </a:p>
        </p:txBody>
      </p:sp>
      <p:sp>
        <p:nvSpPr>
          <p:cNvPr id="35" name="cd_79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e_80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🌸</a:t>
            </a:r>
            <a:endParaRPr lang="en-US" sz="2000" dirty="0"/>
          </a:p>
        </p:txBody>
      </p:sp>
      <p:sp>
        <p:nvSpPr>
          <p:cNvPr id="37" name="en_81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pink</a:t>
            </a:r>
            <a:endParaRPr lang="en-US" sz="1200" dirty="0"/>
          </a:p>
        </p:txBody>
      </p:sp>
      <p:sp>
        <p:nvSpPr>
          <p:cNvPr id="38" name="R6_it82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rosa</a:t>
            </a:r>
            <a:endParaRPr lang="en-US" sz="1000" dirty="0"/>
          </a:p>
        </p:txBody>
      </p:sp>
      <p:sp>
        <p:nvSpPr>
          <p:cNvPr id="39" name="cd_83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0" name="e_84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🟢</a:t>
            </a:r>
            <a:endParaRPr lang="en-US" sz="2000" dirty="0"/>
          </a:p>
        </p:txBody>
      </p:sp>
      <p:sp>
        <p:nvSpPr>
          <p:cNvPr id="41" name="en_85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green</a:t>
            </a:r>
            <a:endParaRPr lang="en-US" sz="1200" dirty="0"/>
          </a:p>
        </p:txBody>
      </p:sp>
      <p:sp>
        <p:nvSpPr>
          <p:cNvPr id="42" name="R7_it86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verde</a:t>
            </a:r>
            <a:endParaRPr lang="en-US" sz="1000" dirty="0"/>
          </a:p>
        </p:txBody>
      </p:sp>
      <p:sp>
        <p:nvSpPr>
          <p:cNvPr id="43" name="cd_87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4" name="e_88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🟣</a:t>
            </a:r>
            <a:endParaRPr lang="en-US" sz="2000" dirty="0"/>
          </a:p>
        </p:txBody>
      </p:sp>
      <p:sp>
        <p:nvSpPr>
          <p:cNvPr id="45" name="en_89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purple</a:t>
            </a:r>
            <a:endParaRPr lang="en-US" sz="1200" dirty="0"/>
          </a:p>
        </p:txBody>
      </p:sp>
      <p:sp>
        <p:nvSpPr>
          <p:cNvPr id="46" name="R8_it90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viola</a:t>
            </a:r>
            <a:endParaRPr lang="en-US" sz="1000" dirty="0"/>
          </a:p>
        </p:txBody>
      </p:sp>
      <p:sp>
        <p:nvSpPr>
          <p:cNvPr id="47" name="cd_91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8" name="e_92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🥈</a:t>
            </a:r>
            <a:endParaRPr lang="en-US" sz="2000" dirty="0"/>
          </a:p>
        </p:txBody>
      </p:sp>
      <p:sp>
        <p:nvSpPr>
          <p:cNvPr id="49" name="en_93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silver</a:t>
            </a:r>
            <a:endParaRPr lang="en-US" sz="1200" dirty="0"/>
          </a:p>
        </p:txBody>
      </p:sp>
      <p:sp>
        <p:nvSpPr>
          <p:cNvPr id="50" name="R9_it94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argento</a:t>
            </a:r>
            <a:endParaRPr lang="en-US" sz="1000" dirty="0"/>
          </a:p>
        </p:txBody>
      </p:sp>
      <p:sp>
        <p:nvSpPr>
          <p:cNvPr id="51" name="cd_95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2" name="e_96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🥇</a:t>
            </a:r>
            <a:endParaRPr lang="en-US" sz="2000" dirty="0"/>
          </a:p>
        </p:txBody>
      </p:sp>
      <p:sp>
        <p:nvSpPr>
          <p:cNvPr id="53" name="en_97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gold</a:t>
            </a:r>
            <a:endParaRPr lang="en-US" sz="1200" dirty="0"/>
          </a:p>
        </p:txBody>
      </p:sp>
      <p:sp>
        <p:nvSpPr>
          <p:cNvPr id="54" name="R10_it98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oro</a:t>
            </a:r>
            <a:endParaRPr lang="en-US" sz="1000" dirty="0"/>
          </a:p>
        </p:txBody>
      </p:sp>
      <p:sp>
        <p:nvSpPr>
          <p:cNvPr id="55" name="cd_99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6" name="e_100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🔴</a:t>
            </a:r>
            <a:endParaRPr lang="en-US" sz="2000" dirty="0"/>
          </a:p>
        </p:txBody>
      </p:sp>
      <p:sp>
        <p:nvSpPr>
          <p:cNvPr id="57" name="en_101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red</a:t>
            </a:r>
            <a:endParaRPr lang="en-US" sz="1200" dirty="0"/>
          </a:p>
        </p:txBody>
      </p:sp>
      <p:sp>
        <p:nvSpPr>
          <p:cNvPr id="58" name="R11_it102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rosso</a:t>
            </a:r>
            <a:endParaRPr lang="en-US" sz="1000" dirty="0"/>
          </a:p>
        </p:txBody>
      </p:sp>
      <p:sp>
        <p:nvSpPr>
          <p:cNvPr id="59" name="cd_103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0" name="e_104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🔵</a:t>
            </a:r>
            <a:endParaRPr lang="en-US" sz="2000" dirty="0"/>
          </a:p>
        </p:txBody>
      </p:sp>
      <p:sp>
        <p:nvSpPr>
          <p:cNvPr id="61" name="en_105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blue</a:t>
            </a:r>
            <a:endParaRPr lang="en-US" sz="1200" dirty="0"/>
          </a:p>
        </p:txBody>
      </p:sp>
      <p:sp>
        <p:nvSpPr>
          <p:cNvPr id="62" name="R12_it106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 / azzurro</a:t>
            </a:r>
            <a:endParaRPr lang="en-US" sz="1000" dirty="0"/>
          </a:p>
        </p:txBody>
      </p:sp>
      <p:sp>
        <p:nvSpPr>
          <p:cNvPr id="63" name="ap_107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2.6</a:t>
            </a:r>
            <a:endParaRPr lang="en-US" sz="1100" dirty="0"/>
          </a:p>
        </p:txBody>
      </p:sp>
      <p:sp>
        <p:nvSpPr>
          <p:cNvPr id="64" name="ah_108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65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6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67" name="R13_wc109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8" name="R13_w110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grey (UK) = gray (US)  ·  orange /ˈɒrɪndʒ/  ·  the American flag is red, white and blue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1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" fill="hold">
                      <p:stCondLst>
                        <p:cond delay="0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5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80" dur="1" fill="hold"/>
                                        <p:tgtEl>
                                          <p:spTgt spid="6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audio>
              <p:cMediaNode vol="80000">
                <p:cTn id="8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audio>
              <p:cMediaNode vol="80000">
                <p:cTn id="8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1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506163" cy="621792"/>
          </a:xfrm>
          <a:prstGeom prst="rect">
            <a:avLst/>
          </a:prstGeom>
        </p:spPr>
      </p:pic>
      <p:sp>
        <p:nvSpPr>
          <p:cNvPr id="5" name="title_113"/>
          <p:cNvSpPr/>
          <p:nvPr/>
        </p:nvSpPr>
        <p:spPr>
          <a:xfrm>
            <a:off x="1261872" y="164592"/>
            <a:ext cx="4231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colour is your bag?</a:t>
            </a:r>
            <a:endParaRPr lang="en-US" sz="2500" dirty="0"/>
          </a:p>
        </p:txBody>
      </p:sp>
      <p:pic>
        <p:nvPicPr>
          <p:cNvPr id="6" name="brP_1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115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partner. Answer: It's… / They're…</a:t>
            </a:r>
            <a:endParaRPr lang="en-US" sz="1250" dirty="0"/>
          </a:p>
        </p:txBody>
      </p:sp>
      <p:sp>
        <p:nvSpPr>
          <p:cNvPr id="8" name="insIT_1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Chiedi al compagno. Rispondi: It's… / They're…</a:t>
            </a:r>
            <a:endParaRPr lang="en-US" sz="950" dirty="0"/>
          </a:p>
        </p:txBody>
      </p:sp>
      <p:sp>
        <p:nvSpPr>
          <p:cNvPr id="9" name="cmd_117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118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1" name="tag_119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2" name="logo_12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12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Speaking · colours   ·   📖 SB p.16 · 1c</a:t>
            </a:r>
            <a:endParaRPr lang="en-US" sz="800" dirty="0"/>
          </a:p>
        </p:txBody>
      </p:sp>
      <p:sp>
        <p:nvSpPr>
          <p:cNvPr id="14" name="cd_122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12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ih_12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7" name="il_125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colour is the American flag? → It's red, white and blue.</a:t>
            </a:r>
            <a:endParaRPr lang="en-US" sz="1050" dirty="0"/>
          </a:p>
        </p:txBody>
      </p:sp>
      <p:sp>
        <p:nvSpPr>
          <p:cNvPr id="18" name="pf_126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127" descr="/home/claude/lls-course/v2/cache/red_2b_flag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0" name="bd_128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q_129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is the Italian flag?</a:t>
            </a:r>
            <a:endParaRPr lang="en-US" sz="1150" dirty="0"/>
          </a:p>
        </p:txBody>
      </p:sp>
      <p:sp>
        <p:nvSpPr>
          <p:cNvPr id="22" name="R1_chip130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green, white and red.</a:t>
            </a:r>
            <a:endParaRPr lang="en-US" sz="1000" dirty="0"/>
          </a:p>
        </p:txBody>
      </p:sp>
      <p:sp>
        <p:nvSpPr>
          <p:cNvPr id="23" name="bd_131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q_132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are New York taxis?</a:t>
            </a:r>
            <a:endParaRPr lang="en-US" sz="1150" dirty="0"/>
          </a:p>
        </p:txBody>
      </p:sp>
      <p:sp>
        <p:nvSpPr>
          <p:cNvPr id="25" name="R2_chip133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 yellow.</a:t>
            </a:r>
            <a:endParaRPr lang="en-US" sz="1000" dirty="0"/>
          </a:p>
        </p:txBody>
      </p:sp>
      <p:sp>
        <p:nvSpPr>
          <p:cNvPr id="26" name="bd_134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q_135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is your bag?</a:t>
            </a:r>
            <a:endParaRPr lang="en-US" sz="1150" dirty="0"/>
          </a:p>
        </p:txBody>
      </p:sp>
      <p:sp>
        <p:nvSpPr>
          <p:cNvPr id="28" name="R3_chip136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black. / It's brown…</a:t>
            </a:r>
            <a:endParaRPr lang="en-US" sz="1000" dirty="0"/>
          </a:p>
        </p:txBody>
      </p:sp>
      <p:sp>
        <p:nvSpPr>
          <p:cNvPr id="29" name="bd_137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q_138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are your shoes?</a:t>
            </a:r>
            <a:endParaRPr lang="en-US" sz="1150" dirty="0"/>
          </a:p>
        </p:txBody>
      </p:sp>
      <p:sp>
        <p:nvSpPr>
          <p:cNvPr id="31" name="R4_chip139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 white…</a:t>
            </a:r>
            <a:endParaRPr lang="en-US" sz="1000" dirty="0"/>
          </a:p>
        </p:txBody>
      </p:sp>
      <p:sp>
        <p:nvSpPr>
          <p:cNvPr id="32" name="bd_140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q_141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is a Sicilian lemon?</a:t>
            </a:r>
            <a:endParaRPr lang="en-US" sz="1150" dirty="0"/>
          </a:p>
        </p:txBody>
      </p:sp>
      <p:sp>
        <p:nvSpPr>
          <p:cNvPr id="34" name="R5_chip142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yellow (and green)!</a:t>
            </a:r>
            <a:endParaRPr lang="en-US" sz="1000" dirty="0"/>
          </a:p>
        </p:txBody>
      </p:sp>
      <p:sp>
        <p:nvSpPr>
          <p:cNvPr id="35" name="bd_143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q_144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colour is that? (point!)</a:t>
            </a:r>
            <a:endParaRPr lang="en-US" sz="1150" dirty="0"/>
          </a:p>
        </p:txBody>
      </p:sp>
      <p:sp>
        <p:nvSpPr>
          <p:cNvPr id="37" name="R6_chip145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grey. / It's blue…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4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148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Big or small?</a:t>
            </a:r>
            <a:endParaRPr lang="en-US" sz="2500" dirty="0"/>
          </a:p>
        </p:txBody>
      </p:sp>
      <p:pic>
        <p:nvPicPr>
          <p:cNvPr id="6" name="brP_14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5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opposite. Click 1: example. Click 2: Italian.</a:t>
            </a:r>
            <a:endParaRPr lang="en-US" sz="1250" dirty="0"/>
          </a:p>
        </p:txBody>
      </p:sp>
      <p:sp>
        <p:nvSpPr>
          <p:cNvPr id="8" name="insIT_15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il contrario. Clic 1: esempio. Clic 2: italiano.</a:t>
            </a:r>
            <a:endParaRPr lang="en-US" sz="950" dirty="0"/>
          </a:p>
        </p:txBody>
      </p:sp>
      <p:sp>
        <p:nvSpPr>
          <p:cNvPr id="9" name="cmd_15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cmd_153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154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155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meaning</a:t>
            </a:r>
            <a:endParaRPr lang="en-US" sz="700" dirty="0"/>
          </a:p>
        </p:txBody>
      </p:sp>
      <p:pic>
        <p:nvPicPr>
          <p:cNvPr id="13" name="logo_15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15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Vocabulary · opposite adjectives   ·   📖 Vocabulary Bank Adjectives p.152 · audio 2.7</a:t>
            </a:r>
            <a:endParaRPr lang="en-US" sz="800" dirty="0"/>
          </a:p>
        </p:txBody>
      </p:sp>
      <p:sp>
        <p:nvSpPr>
          <p:cNvPr id="15" name="cd_158"/>
          <p:cNvSpPr/>
          <p:nvPr/>
        </p:nvSpPr>
        <p:spPr>
          <a:xfrm>
            <a:off x="320040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e_159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🐘</a:t>
            </a:r>
            <a:endParaRPr lang="en-US" sz="2000" dirty="0"/>
          </a:p>
        </p:txBody>
      </p:sp>
      <p:sp>
        <p:nvSpPr>
          <p:cNvPr id="17" name="en_160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big ≠ small</a:t>
            </a:r>
            <a:endParaRPr lang="en-US" sz="1200" dirty="0"/>
          </a:p>
        </p:txBody>
      </p:sp>
      <p:sp>
        <p:nvSpPr>
          <p:cNvPr id="18" name="R1_def161"/>
          <p:cNvSpPr/>
          <p:nvPr/>
        </p:nvSpPr>
        <p:spPr>
          <a:xfrm>
            <a:off x="978408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elephant ≠ a mouse</a:t>
            </a:r>
            <a:endParaRPr lang="en-US" sz="850" dirty="0"/>
          </a:p>
        </p:txBody>
      </p:sp>
      <p:sp>
        <p:nvSpPr>
          <p:cNvPr id="19" name="R2_it162"/>
          <p:cNvSpPr/>
          <p:nvPr/>
        </p:nvSpPr>
        <p:spPr>
          <a:xfrm>
            <a:off x="978408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grande ≠ piccolo</a:t>
            </a:r>
            <a:endParaRPr lang="en-US" sz="900" dirty="0"/>
          </a:p>
        </p:txBody>
      </p:sp>
      <p:sp>
        <p:nvSpPr>
          <p:cNvPr id="20" name="cd_163"/>
          <p:cNvSpPr/>
          <p:nvPr/>
        </p:nvSpPr>
        <p:spPr>
          <a:xfrm>
            <a:off x="2487168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164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💶</a:t>
            </a:r>
            <a:endParaRPr lang="en-US" sz="2000" dirty="0"/>
          </a:p>
        </p:txBody>
      </p:sp>
      <p:sp>
        <p:nvSpPr>
          <p:cNvPr id="22" name="en_165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cheap ≠ expensive</a:t>
            </a:r>
            <a:endParaRPr lang="en-US" sz="1100" dirty="0"/>
          </a:p>
        </p:txBody>
      </p:sp>
      <p:sp>
        <p:nvSpPr>
          <p:cNvPr id="23" name="R3_def166"/>
          <p:cNvSpPr/>
          <p:nvPr/>
        </p:nvSpPr>
        <p:spPr>
          <a:xfrm>
            <a:off x="3145536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pizza ≠ a Ferrari</a:t>
            </a:r>
            <a:endParaRPr lang="en-US" sz="850" dirty="0"/>
          </a:p>
        </p:txBody>
      </p:sp>
      <p:sp>
        <p:nvSpPr>
          <p:cNvPr id="24" name="R4_it167"/>
          <p:cNvSpPr/>
          <p:nvPr/>
        </p:nvSpPr>
        <p:spPr>
          <a:xfrm>
            <a:off x="3145536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economico ≠ caro</a:t>
            </a:r>
            <a:endParaRPr lang="en-US" sz="900" dirty="0"/>
          </a:p>
        </p:txBody>
      </p:sp>
      <p:sp>
        <p:nvSpPr>
          <p:cNvPr id="25" name="cd_168"/>
          <p:cNvSpPr/>
          <p:nvPr/>
        </p:nvSpPr>
        <p:spPr>
          <a:xfrm>
            <a:off x="4654296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6" name="e_169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🏎️</a:t>
            </a:r>
            <a:endParaRPr lang="en-US" sz="2000" dirty="0"/>
          </a:p>
        </p:txBody>
      </p:sp>
      <p:sp>
        <p:nvSpPr>
          <p:cNvPr id="27" name="en_170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fast ≠ slow</a:t>
            </a:r>
            <a:endParaRPr lang="en-US" sz="1200" dirty="0"/>
          </a:p>
        </p:txBody>
      </p:sp>
      <p:sp>
        <p:nvSpPr>
          <p:cNvPr id="28" name="R5_def171"/>
          <p:cNvSpPr/>
          <p:nvPr/>
        </p:nvSpPr>
        <p:spPr>
          <a:xfrm>
            <a:off x="5312664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train ≠ a bus in traffic</a:t>
            </a:r>
            <a:endParaRPr lang="en-US" sz="850" dirty="0"/>
          </a:p>
        </p:txBody>
      </p:sp>
      <p:sp>
        <p:nvSpPr>
          <p:cNvPr id="29" name="R6_it172"/>
          <p:cNvSpPr/>
          <p:nvPr/>
        </p:nvSpPr>
        <p:spPr>
          <a:xfrm>
            <a:off x="5312664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veloce ≠ lento</a:t>
            </a:r>
            <a:endParaRPr lang="en-US" sz="900" dirty="0"/>
          </a:p>
        </p:txBody>
      </p:sp>
      <p:sp>
        <p:nvSpPr>
          <p:cNvPr id="30" name="cd_173"/>
          <p:cNvSpPr/>
          <p:nvPr/>
        </p:nvSpPr>
        <p:spPr>
          <a:xfrm>
            <a:off x="6821424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e_174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32" name="en_175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hot ≠ cold</a:t>
            </a:r>
            <a:endParaRPr lang="en-US" sz="1200" dirty="0"/>
          </a:p>
        </p:txBody>
      </p:sp>
      <p:sp>
        <p:nvSpPr>
          <p:cNvPr id="33" name="R7_def176"/>
          <p:cNvSpPr/>
          <p:nvPr/>
        </p:nvSpPr>
        <p:spPr>
          <a:xfrm>
            <a:off x="7479792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Sicily in July ≠ London in January</a:t>
            </a:r>
            <a:endParaRPr lang="en-US" sz="850" dirty="0"/>
          </a:p>
        </p:txBody>
      </p:sp>
      <p:sp>
        <p:nvSpPr>
          <p:cNvPr id="34" name="R8_it177"/>
          <p:cNvSpPr/>
          <p:nvPr/>
        </p:nvSpPr>
        <p:spPr>
          <a:xfrm>
            <a:off x="7479792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caldo ≠ freddo</a:t>
            </a:r>
            <a:endParaRPr lang="en-US" sz="900" dirty="0"/>
          </a:p>
        </p:txBody>
      </p:sp>
      <p:sp>
        <p:nvSpPr>
          <p:cNvPr id="35" name="cd_178"/>
          <p:cNvSpPr/>
          <p:nvPr/>
        </p:nvSpPr>
        <p:spPr>
          <a:xfrm>
            <a:off x="320040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6" name="e_179"/>
          <p:cNvSpPr/>
          <p:nvPr/>
        </p:nvSpPr>
        <p:spPr>
          <a:xfrm>
            <a:off x="393192" y="253288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37" name="en_180"/>
          <p:cNvSpPr/>
          <p:nvPr/>
        </p:nvSpPr>
        <p:spPr>
          <a:xfrm>
            <a:off x="978408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good ≠ bad</a:t>
            </a:r>
            <a:endParaRPr lang="en-US" sz="1200" dirty="0"/>
          </a:p>
        </p:txBody>
      </p:sp>
      <p:sp>
        <p:nvSpPr>
          <p:cNvPr id="38" name="R9_def181"/>
          <p:cNvSpPr/>
          <p:nvPr/>
        </p:nvSpPr>
        <p:spPr>
          <a:xfrm>
            <a:off x="978408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good film ≠ a bad film</a:t>
            </a:r>
            <a:endParaRPr lang="en-US" sz="850" dirty="0"/>
          </a:p>
        </p:txBody>
      </p:sp>
      <p:sp>
        <p:nvSpPr>
          <p:cNvPr id="39" name="R10_it182"/>
          <p:cNvSpPr/>
          <p:nvPr/>
        </p:nvSpPr>
        <p:spPr>
          <a:xfrm>
            <a:off x="978408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buono ≠ cattivo</a:t>
            </a:r>
            <a:endParaRPr lang="en-US" sz="900" dirty="0"/>
          </a:p>
        </p:txBody>
      </p:sp>
      <p:sp>
        <p:nvSpPr>
          <p:cNvPr id="40" name="cd_183"/>
          <p:cNvSpPr/>
          <p:nvPr/>
        </p:nvSpPr>
        <p:spPr>
          <a:xfrm>
            <a:off x="2487168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184"/>
          <p:cNvSpPr/>
          <p:nvPr/>
        </p:nvSpPr>
        <p:spPr>
          <a:xfrm>
            <a:off x="2560320" y="253288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2" name="en_185"/>
          <p:cNvSpPr/>
          <p:nvPr/>
        </p:nvSpPr>
        <p:spPr>
          <a:xfrm>
            <a:off x="3145536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easy ≠ difficult</a:t>
            </a:r>
            <a:endParaRPr lang="en-US" sz="1200" dirty="0"/>
          </a:p>
        </p:txBody>
      </p:sp>
      <p:sp>
        <p:nvSpPr>
          <p:cNvPr id="43" name="R11_def186"/>
          <p:cNvSpPr/>
          <p:nvPr/>
        </p:nvSpPr>
        <p:spPr>
          <a:xfrm>
            <a:off x="3145536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+ 2 ≠ Chinese</a:t>
            </a:r>
            <a:endParaRPr lang="en-US" sz="850" dirty="0"/>
          </a:p>
        </p:txBody>
      </p:sp>
      <p:sp>
        <p:nvSpPr>
          <p:cNvPr id="44" name="R12_it187"/>
          <p:cNvSpPr/>
          <p:nvPr/>
        </p:nvSpPr>
        <p:spPr>
          <a:xfrm>
            <a:off x="3145536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facile ≠ difficile</a:t>
            </a:r>
            <a:endParaRPr lang="en-US" sz="900" dirty="0"/>
          </a:p>
        </p:txBody>
      </p:sp>
      <p:sp>
        <p:nvSpPr>
          <p:cNvPr id="45" name="cd_188"/>
          <p:cNvSpPr/>
          <p:nvPr/>
        </p:nvSpPr>
        <p:spPr>
          <a:xfrm>
            <a:off x="4654296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6" name="e_189"/>
          <p:cNvSpPr/>
          <p:nvPr/>
        </p:nvSpPr>
        <p:spPr>
          <a:xfrm>
            <a:off x="4727448" y="253288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7" name="en_190"/>
          <p:cNvSpPr/>
          <p:nvPr/>
        </p:nvSpPr>
        <p:spPr>
          <a:xfrm>
            <a:off x="5312664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rich ≠ poor</a:t>
            </a:r>
            <a:endParaRPr lang="en-US" sz="1200" dirty="0"/>
          </a:p>
        </p:txBody>
      </p:sp>
      <p:sp>
        <p:nvSpPr>
          <p:cNvPr id="48" name="R13_def191"/>
          <p:cNvSpPr/>
          <p:nvPr/>
        </p:nvSpPr>
        <p:spPr>
          <a:xfrm>
            <a:off x="5312664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millionaire ≠ no money</a:t>
            </a:r>
            <a:endParaRPr lang="en-US" sz="850" dirty="0"/>
          </a:p>
        </p:txBody>
      </p:sp>
      <p:sp>
        <p:nvSpPr>
          <p:cNvPr id="49" name="R14_it192"/>
          <p:cNvSpPr/>
          <p:nvPr/>
        </p:nvSpPr>
        <p:spPr>
          <a:xfrm>
            <a:off x="5312664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ricco ≠ povero</a:t>
            </a:r>
            <a:endParaRPr lang="en-US" sz="900" dirty="0"/>
          </a:p>
        </p:txBody>
      </p:sp>
      <p:sp>
        <p:nvSpPr>
          <p:cNvPr id="50" name="cd_193"/>
          <p:cNvSpPr/>
          <p:nvPr/>
        </p:nvSpPr>
        <p:spPr>
          <a:xfrm>
            <a:off x="6821424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1" name="e_194"/>
          <p:cNvSpPr/>
          <p:nvPr/>
        </p:nvSpPr>
        <p:spPr>
          <a:xfrm>
            <a:off x="6894576" y="253288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🧓</a:t>
            </a:r>
            <a:endParaRPr lang="en-US" sz="2000" dirty="0"/>
          </a:p>
        </p:txBody>
      </p:sp>
      <p:sp>
        <p:nvSpPr>
          <p:cNvPr id="52" name="en_195"/>
          <p:cNvSpPr/>
          <p:nvPr/>
        </p:nvSpPr>
        <p:spPr>
          <a:xfrm>
            <a:off x="7479792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old ≠ new / young</a:t>
            </a:r>
            <a:endParaRPr lang="en-US" sz="1150" dirty="0"/>
          </a:p>
        </p:txBody>
      </p:sp>
      <p:sp>
        <p:nvSpPr>
          <p:cNvPr id="53" name="R15_def196"/>
          <p:cNvSpPr/>
          <p:nvPr/>
        </p:nvSpPr>
        <p:spPr>
          <a:xfrm>
            <a:off x="7479792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old car ≠ a new car · an old man ≠ a young man</a:t>
            </a:r>
            <a:endParaRPr lang="en-US" sz="800" dirty="0"/>
          </a:p>
        </p:txBody>
      </p:sp>
      <p:sp>
        <p:nvSpPr>
          <p:cNvPr id="54" name="R16_it197"/>
          <p:cNvSpPr/>
          <p:nvPr/>
        </p:nvSpPr>
        <p:spPr>
          <a:xfrm>
            <a:off x="7479792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vecchio ≠ nuovo / giovane</a:t>
            </a:r>
            <a:endParaRPr lang="en-US" sz="700" dirty="0"/>
          </a:p>
        </p:txBody>
      </p:sp>
      <p:sp>
        <p:nvSpPr>
          <p:cNvPr id="55" name="ap_198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2.7</a:t>
            </a:r>
            <a:endParaRPr lang="en-US" sz="1100" dirty="0"/>
          </a:p>
        </p:txBody>
      </p:sp>
      <p:sp>
        <p:nvSpPr>
          <p:cNvPr id="56" name="ah_199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57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58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59" name="R17_wc200"/>
          <p:cNvSpPr/>
          <p:nvPr/>
        </p:nvSpPr>
        <p:spPr>
          <a:xfrm>
            <a:off x="320040" y="34747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0" name="R17_w201"/>
          <p:cNvSpPr/>
          <p:nvPr/>
        </p:nvSpPr>
        <p:spPr>
          <a:xfrm>
            <a:off x="457200" y="3474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old ≠ new (things) · old ≠ young (people)  ·  right ≠ wrong (answers) · right ≠ left (hands)  ·  short ≠ long / tall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95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96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" fill="hold">
                      <p:stCondLst>
                        <p:cond delay="0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00" dur="1" fill="hold"/>
                                        <p:tgtEl>
                                          <p:spTgt spid="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audio>
              <p:cMediaNode vol="8000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  <p:audio>
              <p:cMediaNode vol="80000">
                <p:cTn id="10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20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204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American icons</a:t>
            </a:r>
            <a:endParaRPr lang="en-US" sz="2500" dirty="0"/>
          </a:p>
        </p:txBody>
      </p:sp>
      <p:pic>
        <p:nvPicPr>
          <p:cNvPr id="6" name="brP_20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424428" cy="402336"/>
          </a:xfrm>
          <a:prstGeom prst="rect">
            <a:avLst/>
          </a:prstGeom>
        </p:spPr>
      </p:pic>
      <p:sp>
        <p:nvSpPr>
          <p:cNvPr id="7" name="ins_206"/>
          <p:cNvSpPr/>
          <p:nvPr/>
        </p:nvSpPr>
        <p:spPr>
          <a:xfrm>
            <a:off x="1353312" y="731520"/>
            <a:ext cx="31683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Adjective + noun: what are 1–7?</a:t>
            </a:r>
            <a:endParaRPr lang="en-US" sz="1250" dirty="0"/>
          </a:p>
        </p:txBody>
      </p:sp>
      <p:sp>
        <p:nvSpPr>
          <p:cNvPr id="8" name="insIT_20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Aggettivo + nome: cosa sono 1–7?</a:t>
            </a:r>
            <a:endParaRPr lang="en-US" sz="950" dirty="0"/>
          </a:p>
        </p:txBody>
      </p:sp>
      <p:sp>
        <p:nvSpPr>
          <p:cNvPr id="9" name="cmd_20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cmd_20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210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211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3" name="logo_21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1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Grammar · American icons   ·   📖 SB p.16 · 2a (answers: SB key) · 8 = New York</a:t>
            </a:r>
            <a:endParaRPr lang="en-US" sz="800" dirty="0"/>
          </a:p>
        </p:txBody>
      </p:sp>
      <p:sp>
        <p:nvSpPr>
          <p:cNvPr id="15" name="pf_214"/>
          <p:cNvSpPr/>
          <p:nvPr/>
        </p:nvSpPr>
        <p:spPr>
          <a:xfrm rot="-60000">
            <a:off x="365760" y="1417320"/>
            <a:ext cx="4937760" cy="2971800"/>
          </a:xfrm>
          <a:prstGeom prst="roundRect">
            <a:avLst>
              <a:gd name="adj" fmla="val 5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6" name="ph_215" descr="/home/claude/lls-course/v2/cache/red_2b_icons_jpg_1166x69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60000">
            <a:off x="411480" y="1463040"/>
            <a:ext cx="4846320" cy="2880360"/>
          </a:xfrm>
          <a:prstGeom prst="rect">
            <a:avLst/>
          </a:prstGeom>
        </p:spPr>
      </p:pic>
      <p:sp>
        <p:nvSpPr>
          <p:cNvPr id="17" name="bd_216"/>
          <p:cNvSpPr/>
          <p:nvPr/>
        </p:nvSpPr>
        <p:spPr>
          <a:xfrm>
            <a:off x="655625" y="2855214"/>
            <a:ext cx="384048" cy="3840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d_217"/>
          <p:cNvSpPr/>
          <p:nvPr/>
        </p:nvSpPr>
        <p:spPr>
          <a:xfrm>
            <a:off x="1818742" y="1904695"/>
            <a:ext cx="384048" cy="3840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d_218"/>
          <p:cNvSpPr/>
          <p:nvPr/>
        </p:nvSpPr>
        <p:spPr>
          <a:xfrm>
            <a:off x="3127248" y="1904695"/>
            <a:ext cx="384048" cy="3840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d_219"/>
          <p:cNvSpPr/>
          <p:nvPr/>
        </p:nvSpPr>
        <p:spPr>
          <a:xfrm>
            <a:off x="4435754" y="1904695"/>
            <a:ext cx="384048" cy="3840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d_220"/>
          <p:cNvSpPr/>
          <p:nvPr/>
        </p:nvSpPr>
        <p:spPr>
          <a:xfrm>
            <a:off x="1818742" y="3632911"/>
            <a:ext cx="384048" cy="3840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bd_221"/>
          <p:cNvSpPr/>
          <p:nvPr/>
        </p:nvSpPr>
        <p:spPr>
          <a:xfrm>
            <a:off x="3127248" y="3632911"/>
            <a:ext cx="384048" cy="3840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bd_222"/>
          <p:cNvSpPr/>
          <p:nvPr/>
        </p:nvSpPr>
        <p:spPr>
          <a:xfrm>
            <a:off x="4435754" y="3632911"/>
            <a:ext cx="384048" cy="3840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bd_223"/>
          <p:cNvSpPr/>
          <p:nvPr/>
        </p:nvSpPr>
        <p:spPr>
          <a:xfrm>
            <a:off x="5532120" y="1435608"/>
            <a:ext cx="292608" cy="29260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q_224"/>
          <p:cNvSpPr/>
          <p:nvPr/>
        </p:nvSpPr>
        <p:spPr>
          <a:xfrm>
            <a:off x="5897880" y="141732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sport (1 = example)</a:t>
            </a:r>
            <a:endParaRPr lang="en-US" sz="1100" dirty="0"/>
          </a:p>
        </p:txBody>
      </p:sp>
      <p:sp>
        <p:nvSpPr>
          <p:cNvPr id="26" name="R1_chip225"/>
          <p:cNvSpPr/>
          <p:nvPr/>
        </p:nvSpPr>
        <p:spPr>
          <a:xfrm>
            <a:off x="5897880" y="1682496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American football</a:t>
            </a:r>
            <a:endParaRPr lang="en-US" sz="1000" dirty="0"/>
          </a:p>
        </p:txBody>
      </p:sp>
      <p:sp>
        <p:nvSpPr>
          <p:cNvPr id="27" name="bd_226"/>
          <p:cNvSpPr/>
          <p:nvPr/>
        </p:nvSpPr>
        <p:spPr>
          <a:xfrm>
            <a:off x="5532120" y="1918934"/>
            <a:ext cx="292608" cy="29260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q_227"/>
          <p:cNvSpPr/>
          <p:nvPr/>
        </p:nvSpPr>
        <p:spPr>
          <a:xfrm>
            <a:off x="5897880" y="190064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Cars in New York</a:t>
            </a:r>
            <a:endParaRPr lang="en-US" sz="1100" dirty="0"/>
          </a:p>
        </p:txBody>
      </p:sp>
      <p:sp>
        <p:nvSpPr>
          <p:cNvPr id="29" name="R2_chip228"/>
          <p:cNvSpPr/>
          <p:nvPr/>
        </p:nvSpPr>
        <p:spPr>
          <a:xfrm>
            <a:off x="5897880" y="2165822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yellow taxis</a:t>
            </a:r>
            <a:endParaRPr lang="en-US" sz="1000" dirty="0"/>
          </a:p>
        </p:txBody>
      </p:sp>
      <p:sp>
        <p:nvSpPr>
          <p:cNvPr id="30" name="bd_229"/>
          <p:cNvSpPr/>
          <p:nvPr/>
        </p:nvSpPr>
        <p:spPr>
          <a:xfrm>
            <a:off x="5532120" y="2402259"/>
            <a:ext cx="292608" cy="29260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q_230"/>
          <p:cNvSpPr/>
          <p:nvPr/>
        </p:nvSpPr>
        <p:spPr>
          <a:xfrm>
            <a:off x="5897880" y="2383971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Quick food: burgers, chicken</a:t>
            </a:r>
            <a:endParaRPr lang="en-US" sz="1100" dirty="0"/>
          </a:p>
        </p:txBody>
      </p:sp>
      <p:sp>
        <p:nvSpPr>
          <p:cNvPr id="32" name="R3_chip231"/>
          <p:cNvSpPr/>
          <p:nvPr/>
        </p:nvSpPr>
        <p:spPr>
          <a:xfrm>
            <a:off x="5897880" y="2649147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fast food</a:t>
            </a:r>
            <a:endParaRPr lang="en-US" sz="1000" dirty="0"/>
          </a:p>
        </p:txBody>
      </p:sp>
      <p:sp>
        <p:nvSpPr>
          <p:cNvPr id="33" name="bd_232"/>
          <p:cNvSpPr/>
          <p:nvPr/>
        </p:nvSpPr>
        <p:spPr>
          <a:xfrm>
            <a:off x="5532120" y="2885585"/>
            <a:ext cx="292608" cy="29260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q_233"/>
          <p:cNvSpPr/>
          <p:nvPr/>
        </p:nvSpPr>
        <p:spPr>
          <a:xfrm>
            <a:off x="5897880" y="2867297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Patatine fritte</a:t>
            </a:r>
            <a:endParaRPr lang="en-US" sz="1100" dirty="0"/>
          </a:p>
        </p:txBody>
      </p:sp>
      <p:sp>
        <p:nvSpPr>
          <p:cNvPr id="35" name="R4_chip234"/>
          <p:cNvSpPr/>
          <p:nvPr/>
        </p:nvSpPr>
        <p:spPr>
          <a:xfrm>
            <a:off x="5897880" y="3132473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French fries</a:t>
            </a:r>
            <a:endParaRPr lang="en-US" sz="1000" dirty="0"/>
          </a:p>
        </p:txBody>
      </p:sp>
      <p:sp>
        <p:nvSpPr>
          <p:cNvPr id="36" name="bd_235"/>
          <p:cNvSpPr/>
          <p:nvPr/>
        </p:nvSpPr>
        <p:spPr>
          <a:xfrm>
            <a:off x="5532120" y="3368911"/>
            <a:ext cx="292608" cy="29260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q_236"/>
          <p:cNvSpPr/>
          <p:nvPr/>
        </p:nvSpPr>
        <p:spPr>
          <a:xfrm>
            <a:off x="5897880" y="3350623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President's house</a:t>
            </a:r>
            <a:endParaRPr lang="en-US" sz="1100" dirty="0"/>
          </a:p>
        </p:txBody>
      </p:sp>
      <p:sp>
        <p:nvSpPr>
          <p:cNvPr id="38" name="R5_chip237"/>
          <p:cNvSpPr/>
          <p:nvPr/>
        </p:nvSpPr>
        <p:spPr>
          <a:xfrm>
            <a:off x="5897880" y="3615799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White House</a:t>
            </a:r>
            <a:endParaRPr lang="en-US" sz="1000" dirty="0"/>
          </a:p>
        </p:txBody>
      </p:sp>
      <p:sp>
        <p:nvSpPr>
          <p:cNvPr id="39" name="bd_238"/>
          <p:cNvSpPr/>
          <p:nvPr/>
        </p:nvSpPr>
        <p:spPr>
          <a:xfrm>
            <a:off x="5532120" y="3852237"/>
            <a:ext cx="292608" cy="29260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q_239"/>
          <p:cNvSpPr/>
          <p:nvPr/>
        </p:nvSpPr>
        <p:spPr>
          <a:xfrm>
            <a:off x="5897880" y="3833949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Trousers</a:t>
            </a:r>
            <a:endParaRPr lang="en-US" sz="1100" dirty="0"/>
          </a:p>
        </p:txBody>
      </p:sp>
      <p:sp>
        <p:nvSpPr>
          <p:cNvPr id="41" name="R6_chip240"/>
          <p:cNvSpPr/>
          <p:nvPr/>
        </p:nvSpPr>
        <p:spPr>
          <a:xfrm>
            <a:off x="5897880" y="4099125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blue jeans</a:t>
            </a:r>
            <a:endParaRPr lang="en-US" sz="1000" dirty="0"/>
          </a:p>
        </p:txBody>
      </p:sp>
      <p:sp>
        <p:nvSpPr>
          <p:cNvPr id="42" name="bd_241"/>
          <p:cNvSpPr/>
          <p:nvPr/>
        </p:nvSpPr>
        <p:spPr>
          <a:xfrm>
            <a:off x="5532120" y="4335562"/>
            <a:ext cx="292608" cy="29260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q_242"/>
          <p:cNvSpPr/>
          <p:nvPr/>
        </p:nvSpPr>
        <p:spPr>
          <a:xfrm>
            <a:off x="5897880" y="431727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sausage in bread</a:t>
            </a:r>
            <a:endParaRPr lang="en-US" sz="1100" dirty="0"/>
          </a:p>
        </p:txBody>
      </p:sp>
      <p:sp>
        <p:nvSpPr>
          <p:cNvPr id="44" name="R7_chip243"/>
          <p:cNvSpPr/>
          <p:nvPr/>
        </p:nvSpPr>
        <p:spPr>
          <a:xfrm>
            <a:off x="5897880" y="4582450"/>
            <a:ext cx="2377440" cy="292608"/>
          </a:xfrm>
          <a:prstGeom prst="roundRect">
            <a:avLst>
              <a:gd name="adj" fmla="val 3125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hot dog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24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46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yellow taxi</a:t>
            </a:r>
            <a:endParaRPr lang="en-US" sz="2500" dirty="0"/>
          </a:p>
        </p:txBody>
      </p:sp>
      <p:pic>
        <p:nvPicPr>
          <p:cNvPr id="6" name="brP_24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4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coloured words. What's the rule?</a:t>
            </a:r>
            <a:endParaRPr lang="en-US" sz="1250" dirty="0"/>
          </a:p>
        </p:txBody>
      </p:sp>
      <p:sp>
        <p:nvSpPr>
          <p:cNvPr id="8" name="insIT_24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le parole colorate. Qual è la regola?</a:t>
            </a:r>
            <a:endParaRPr lang="en-US" sz="950" dirty="0"/>
          </a:p>
        </p:txBody>
      </p:sp>
      <p:sp>
        <p:nvSpPr>
          <p:cNvPr id="9" name="cmd_25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GUARDA</a:t>
            </a:r>
            <a:endParaRPr lang="en-US" sz="1100" dirty="0"/>
          </a:p>
        </p:txBody>
      </p:sp>
      <p:sp>
        <p:nvSpPr>
          <p:cNvPr id="10" name="meta_251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950" dirty="0"/>
          </a:p>
        </p:txBody>
      </p:sp>
      <p:sp>
        <p:nvSpPr>
          <p:cNvPr id="11" name="tag_252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00" dirty="0"/>
          </a:p>
        </p:txBody>
      </p:sp>
      <p:pic>
        <p:nvPicPr>
          <p:cNvPr id="12" name="logo_2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2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Pop-up grammar · adjectives   ·   📖 Grammar Bank 2B p.126 · audio 2.8</a:t>
            </a:r>
            <a:endParaRPr lang="en-US" sz="800" dirty="0"/>
          </a:p>
        </p:txBody>
      </p:sp>
      <p:sp>
        <p:nvSpPr>
          <p:cNvPr id="14" name="ah_255"/>
          <p:cNvSpPr/>
          <p:nvPr/>
        </p:nvSpPr>
        <p:spPr>
          <a:xfrm>
            <a:off x="5376672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2.8  ▶ normal · 🐢 slower</a:t>
            </a:r>
            <a:endParaRPr lang="en-US" sz="950" dirty="0"/>
          </a:p>
        </p:txBody>
      </p:sp>
      <p:pic>
        <p:nvPicPr>
          <p:cNvPr id="15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16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17" name="cd_256"/>
          <p:cNvSpPr/>
          <p:nvPr/>
        </p:nvSpPr>
        <p:spPr>
          <a:xfrm>
            <a:off x="3200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rh_257"/>
          <p:cNvSpPr/>
          <p:nvPr/>
        </p:nvSpPr>
        <p:spPr>
          <a:xfrm>
            <a:off x="4297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before the noun</a:t>
            </a:r>
            <a:endParaRPr lang="en-US" sz="1250" dirty="0"/>
          </a:p>
        </p:txBody>
      </p:sp>
      <p:sp>
        <p:nvSpPr>
          <p:cNvPr id="19" name="pf_258"/>
          <p:cNvSpPr/>
          <p:nvPr/>
        </p:nvSpPr>
        <p:spPr>
          <a:xfrm>
            <a:off x="4297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259" descr="/home/claude/lls-course/v2/cache/red_2b_taxis_jpg_415x209_3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" y="1984248"/>
            <a:ext cx="1723644" cy="868680"/>
          </a:xfrm>
          <a:prstGeom prst="rect">
            <a:avLst/>
          </a:prstGeom>
        </p:spPr>
      </p:pic>
      <p:sp>
        <p:nvSpPr>
          <p:cNvPr id="21" name="ru_260"/>
          <p:cNvSpPr/>
          <p:nvPr/>
        </p:nvSpPr>
        <p:spPr>
          <a:xfrm>
            <a:off x="4114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adjective + noun</a:t>
            </a:r>
            <a:endParaRPr lang="en-US" sz="1050" dirty="0"/>
          </a:p>
        </p:txBody>
      </p:sp>
      <p:sp>
        <p:nvSpPr>
          <p:cNvPr id="22" name="R1_rx261"/>
          <p:cNvSpPr/>
          <p:nvPr/>
        </p:nvSpPr>
        <p:spPr>
          <a:xfrm>
            <a:off x="4114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yellow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taxi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</a:t>
            </a:r>
            <a:pPr algn="ctr" indent="0" marL="0">
              <a:buNone/>
            </a:pPr>
            <a:r>
              <a:rPr lang="en-US" sz="10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hot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dog</a:t>
            </a:r>
            <a:endParaRPr lang="en-US" sz="1050" dirty="0"/>
          </a:p>
        </p:txBody>
      </p:sp>
      <p:sp>
        <p:nvSpPr>
          <p:cNvPr id="23" name="R1_ri262"/>
          <p:cNvSpPr/>
          <p:nvPr/>
        </p:nvSpPr>
        <p:spPr>
          <a:xfrm>
            <a:off x="4114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 del nome (≠ italiano!)</a:t>
            </a:r>
            <a:endParaRPr lang="en-US" sz="900" dirty="0"/>
          </a:p>
        </p:txBody>
      </p:sp>
      <p:sp>
        <p:nvSpPr>
          <p:cNvPr id="24" name="cd_263"/>
          <p:cNvSpPr/>
          <p:nvPr/>
        </p:nvSpPr>
        <p:spPr>
          <a:xfrm>
            <a:off x="24917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rh_264"/>
          <p:cNvSpPr/>
          <p:nvPr/>
        </p:nvSpPr>
        <p:spPr>
          <a:xfrm>
            <a:off x="26014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never + s</a:t>
            </a:r>
            <a:endParaRPr lang="en-US" sz="1250" dirty="0"/>
          </a:p>
        </p:txBody>
      </p:sp>
      <p:sp>
        <p:nvSpPr>
          <p:cNvPr id="26" name="pf_265"/>
          <p:cNvSpPr/>
          <p:nvPr/>
        </p:nvSpPr>
        <p:spPr>
          <a:xfrm>
            <a:off x="26014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7" name="ph_266" descr="/home/claude/lls-course/v2/cache/red_2b_jeans_jpg_415x209_31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7188" y="1984248"/>
            <a:ext cx="1723644" cy="868680"/>
          </a:xfrm>
          <a:prstGeom prst="rect">
            <a:avLst/>
          </a:prstGeom>
        </p:spPr>
      </p:pic>
      <p:sp>
        <p:nvSpPr>
          <p:cNvPr id="28" name="ru_267"/>
          <p:cNvSpPr/>
          <p:nvPr/>
        </p:nvSpPr>
        <p:spPr>
          <a:xfrm>
            <a:off x="25831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plural adjectives</a:t>
            </a:r>
            <a:endParaRPr lang="en-US" sz="1050" dirty="0"/>
          </a:p>
        </p:txBody>
      </p:sp>
      <p:sp>
        <p:nvSpPr>
          <p:cNvPr id="29" name="R2_rx268"/>
          <p:cNvSpPr/>
          <p:nvPr/>
        </p:nvSpPr>
        <p:spPr>
          <a:xfrm>
            <a:off x="25831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blue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jeans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F8DE4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yellow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taxis</a:t>
            </a:r>
            <a:endParaRPr lang="en-US" sz="1050" dirty="0"/>
          </a:p>
        </p:txBody>
      </p:sp>
      <p:sp>
        <p:nvSpPr>
          <p:cNvPr id="30" name="R2_ri269"/>
          <p:cNvSpPr/>
          <p:nvPr/>
        </p:nvSpPr>
        <p:spPr>
          <a:xfrm>
            <a:off x="25831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l'aggettivo non cambia</a:t>
            </a:r>
            <a:endParaRPr lang="en-US" sz="900" dirty="0"/>
          </a:p>
        </p:txBody>
      </p:sp>
      <p:sp>
        <p:nvSpPr>
          <p:cNvPr id="31" name="cd_270"/>
          <p:cNvSpPr/>
          <p:nvPr/>
        </p:nvSpPr>
        <p:spPr>
          <a:xfrm>
            <a:off x="46634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2" name="rh_271"/>
          <p:cNvSpPr/>
          <p:nvPr/>
        </p:nvSpPr>
        <p:spPr>
          <a:xfrm>
            <a:off x="47731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2EB8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+ adjective</a:t>
            </a:r>
            <a:endParaRPr lang="en-US" sz="1250" dirty="0"/>
          </a:p>
        </p:txBody>
      </p:sp>
      <p:sp>
        <p:nvSpPr>
          <p:cNvPr id="33" name="pf_272"/>
          <p:cNvSpPr/>
          <p:nvPr/>
        </p:nvSpPr>
        <p:spPr>
          <a:xfrm>
            <a:off x="47731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34" name="ph_273" descr="/home/claude/lls-course/v2/cache/red_2b_hotdog_jpg_415x209_3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8888" y="1984248"/>
            <a:ext cx="1723644" cy="868680"/>
          </a:xfrm>
          <a:prstGeom prst="rect">
            <a:avLst/>
          </a:prstGeom>
        </p:spPr>
      </p:pic>
      <p:sp>
        <p:nvSpPr>
          <p:cNvPr id="35" name="ru_274"/>
          <p:cNvSpPr/>
          <p:nvPr/>
        </p:nvSpPr>
        <p:spPr>
          <a:xfrm>
            <a:off x="47548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after be</a:t>
            </a:r>
            <a:endParaRPr lang="en-US" sz="1050" dirty="0"/>
          </a:p>
        </p:txBody>
      </p:sp>
      <p:sp>
        <p:nvSpPr>
          <p:cNvPr id="36" name="R3_rx275"/>
          <p:cNvSpPr/>
          <p:nvPr/>
        </p:nvSpPr>
        <p:spPr>
          <a:xfrm>
            <a:off x="47548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taxis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yellow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it </a:t>
            </a:r>
            <a:pPr algn="ctr" indent="0" marL="0">
              <a:buNone/>
            </a:pPr>
            <a:r>
              <a:rPr lang="en-US" sz="1050" b="1" dirty="0">
                <a:solidFill>
                  <a:srgbClr val="2EB872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cheap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?</a:t>
            </a:r>
            <a:endParaRPr lang="en-US" sz="1050" dirty="0"/>
          </a:p>
        </p:txBody>
      </p:sp>
      <p:sp>
        <p:nvSpPr>
          <p:cNvPr id="37" name="R3_ri276"/>
          <p:cNvSpPr/>
          <p:nvPr/>
        </p:nvSpPr>
        <p:spPr>
          <a:xfrm>
            <a:off x="47548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dopo il verbo essere</a:t>
            </a:r>
            <a:endParaRPr lang="en-US" sz="900" dirty="0"/>
          </a:p>
        </p:txBody>
      </p:sp>
      <p:sp>
        <p:nvSpPr>
          <p:cNvPr id="38" name="cd_277"/>
          <p:cNvSpPr/>
          <p:nvPr/>
        </p:nvSpPr>
        <p:spPr>
          <a:xfrm>
            <a:off x="6835140" y="1417320"/>
            <a:ext cx="2034540" cy="3017520"/>
          </a:xfrm>
          <a:prstGeom prst="roundRect">
            <a:avLst>
              <a:gd name="adj" fmla="val 6292"/>
            </a:avLst>
          </a:prstGeom>
          <a:solidFill>
            <a:srgbClr val="FFFFFF"/>
          </a:solidFill>
          <a:ln w="2540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9" name="rh_278"/>
          <p:cNvSpPr/>
          <p:nvPr/>
        </p:nvSpPr>
        <p:spPr>
          <a:xfrm>
            <a:off x="6944868" y="1508760"/>
            <a:ext cx="1815084" cy="36576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very / quite</a:t>
            </a:r>
            <a:endParaRPr lang="en-US" sz="1250" dirty="0"/>
          </a:p>
        </p:txBody>
      </p:sp>
      <p:sp>
        <p:nvSpPr>
          <p:cNvPr id="40" name="pf_279"/>
          <p:cNvSpPr/>
          <p:nvPr/>
        </p:nvSpPr>
        <p:spPr>
          <a:xfrm>
            <a:off x="6944868" y="1938528"/>
            <a:ext cx="1815084" cy="960120"/>
          </a:xfrm>
          <a:prstGeom prst="roundRect">
            <a:avLst>
              <a:gd name="adj" fmla="val 161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41" name="ph_280" descr="/home/claude/lls-course/v2/cache/red_2b_newyork_jpg_415x209_31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90588" y="1984248"/>
            <a:ext cx="1723644" cy="868680"/>
          </a:xfrm>
          <a:prstGeom prst="rect">
            <a:avLst/>
          </a:prstGeom>
        </p:spPr>
      </p:pic>
      <p:sp>
        <p:nvSpPr>
          <p:cNvPr id="42" name="ru_281"/>
          <p:cNvSpPr/>
          <p:nvPr/>
        </p:nvSpPr>
        <p:spPr>
          <a:xfrm>
            <a:off x="6926580" y="2926080"/>
            <a:ext cx="18516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much?</a:t>
            </a:r>
            <a:endParaRPr lang="en-US" sz="1050" dirty="0"/>
          </a:p>
        </p:txBody>
      </p:sp>
      <p:sp>
        <p:nvSpPr>
          <p:cNvPr id="43" name="R4_rx282"/>
          <p:cNvSpPr/>
          <p:nvPr/>
        </p:nvSpPr>
        <p:spPr>
          <a:xfrm>
            <a:off x="6926580" y="3319272"/>
            <a:ext cx="18516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big.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</a:t>
            </a:r>
            <a:pPr algn="ctr" indent="0" marL="0">
              <a:buNone/>
            </a:pPr>
            <a:r>
              <a:rPr lang="en-US" sz="1050" b="1" dirty="0">
                <a:solidFill>
                  <a:srgbClr val="F2B705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quite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cheap.</a:t>
            </a:r>
            <a:endParaRPr lang="en-US" sz="1050" dirty="0"/>
          </a:p>
        </p:txBody>
      </p:sp>
      <p:sp>
        <p:nvSpPr>
          <p:cNvPr id="44" name="R4_ri283"/>
          <p:cNvSpPr/>
          <p:nvPr/>
        </p:nvSpPr>
        <p:spPr>
          <a:xfrm>
            <a:off x="6926580" y="4087368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very / really = molto · quite = abbastanza</a:t>
            </a:r>
            <a:endParaRPr lang="en-US" sz="750" dirty="0"/>
          </a:p>
        </p:txBody>
      </p:sp>
      <p:sp>
        <p:nvSpPr>
          <p:cNvPr id="45" name="R5_wc284"/>
          <p:cNvSpPr/>
          <p:nvPr/>
        </p:nvSpPr>
        <p:spPr>
          <a:xfrm>
            <a:off x="320040" y="4544568"/>
            <a:ext cx="4828032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6" name="R5_w285"/>
          <p:cNvSpPr/>
          <p:nvPr/>
        </p:nvSpPr>
        <p:spPr>
          <a:xfrm>
            <a:off x="457200" y="4544568"/>
            <a:ext cx="4599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a car red → ✓ a red car   ·   ✗ yellows taxis → ✓ yellow taxis   ·   ✗ It's a very car fast → ✓ It's a very fast car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5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>
                <p:cTn id="5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7B5CD6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288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Frank's yellow taxi</a:t>
            </a:r>
            <a:endParaRPr lang="en-US" sz="2500" dirty="0"/>
          </a:p>
        </p:txBody>
      </p:sp>
      <p:pic>
        <p:nvPicPr>
          <p:cNvPr id="6" name="brP_2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290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story. Answer the questions!</a:t>
            </a:r>
            <a:endParaRPr lang="en-US" sz="1250" dirty="0"/>
          </a:p>
        </p:txBody>
      </p:sp>
      <p:sp>
        <p:nvSpPr>
          <p:cNvPr id="8" name="insIT_29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Ascolta la storia. Rispondi alle domande!</a:t>
            </a:r>
            <a:endParaRPr lang="en-US" sz="950" dirty="0"/>
          </a:p>
        </p:txBody>
      </p:sp>
      <p:sp>
        <p:nvSpPr>
          <p:cNvPr id="9" name="cmd_292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cmd_293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294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950" dirty="0"/>
          </a:p>
        </p:txBody>
      </p:sp>
      <p:sp>
        <p:nvSpPr>
          <p:cNvPr id="12" name="tag_295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story</a:t>
            </a:r>
            <a:endParaRPr lang="en-US" sz="850" dirty="0"/>
          </a:p>
        </p:txBody>
      </p:sp>
      <p:pic>
        <p:nvPicPr>
          <p:cNvPr id="13" name="logo_29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29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Speaking · class story (TPRS)</a:t>
            </a:r>
            <a:endParaRPr lang="en-US" sz="800" dirty="0"/>
          </a:p>
        </p:txBody>
      </p:sp>
      <p:sp>
        <p:nvSpPr>
          <p:cNvPr id="15" name="cd_298"/>
          <p:cNvSpPr/>
          <p:nvPr/>
        </p:nvSpPr>
        <p:spPr>
          <a:xfrm>
            <a:off x="320040" y="1417320"/>
            <a:ext cx="2697480" cy="2852928"/>
          </a:xfrm>
          <a:prstGeom prst="roundRect">
            <a:avLst>
              <a:gd name="adj" fmla="val 4746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29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7" name="ih_30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Story phrases</a:t>
            </a:r>
            <a:endParaRPr lang="en-US" sz="1300" dirty="0"/>
          </a:p>
        </p:txBody>
      </p:sp>
      <p:sp>
        <p:nvSpPr>
          <p:cNvPr id="18" name="il_301"/>
          <p:cNvSpPr/>
          <p:nvPr/>
        </p:nvSpPr>
        <p:spPr>
          <a:xfrm>
            <a:off x="886968" y="1892808"/>
            <a:ext cx="20391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very old taxi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taxi molto vecchio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quite slow ≠ fast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abbastanza lento ≠ veloce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really late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molto in ritardo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≠ poor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ricco ≠ povero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≠ short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lungo ≠ corto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 ≠ expensive</a:t>
            </a:r>
            <a:endParaRPr lang="en-US" sz="1000" dirty="0"/>
          </a:p>
          <a:p>
            <a:pPr marL="152400" indent="-152400">
              <a:spcAft>
                <a:spcPts val="200"/>
              </a:spcAft>
              <a:buSzPct val="100000"/>
              <a:buChar char=" "/>
            </a:pPr>
            <a:r>
              <a:rPr lang="en-US" sz="8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economico ≠ caro</a:t>
            </a:r>
            <a:endParaRPr lang="en-US" sz="1000" dirty="0"/>
          </a:p>
        </p:txBody>
      </p:sp>
      <p:sp>
        <p:nvSpPr>
          <p:cNvPr id="19" name="R1_sb302"/>
          <p:cNvSpPr/>
          <p:nvPr/>
        </p:nvSpPr>
        <p:spPr>
          <a:xfrm>
            <a:off x="3200400" y="145389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R1_sl303"/>
          <p:cNvSpPr/>
          <p:nvPr/>
        </p:nvSpPr>
        <p:spPr>
          <a:xfrm>
            <a:off x="3584448" y="14173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is Frank. He's from New York. He has a </a:t>
            </a:r>
            <a:pPr indent="0" marL="0"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old yellow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taxi.</a:t>
            </a:r>
            <a:endParaRPr lang="en-US" sz="1100" dirty="0"/>
          </a:p>
          <a:p>
            <a:pPr indent="0" marL="0">
              <a:buNone/>
            </a:pPr>
            <a:r>
              <a:rPr lang="en-US" sz="8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Frank from New York or London? · Is his taxi new or old? · What colour is it?</a:t>
            </a:r>
            <a:endParaRPr lang="en-US" sz="1100" dirty="0"/>
          </a:p>
        </p:txBody>
      </p:sp>
      <p:sp>
        <p:nvSpPr>
          <p:cNvPr id="21" name="R2_sb304"/>
          <p:cNvSpPr/>
          <p:nvPr/>
        </p:nvSpPr>
        <p:spPr>
          <a:xfrm>
            <a:off x="3200400" y="201777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R2_sl305"/>
          <p:cNvSpPr/>
          <p:nvPr/>
        </p:nvSpPr>
        <p:spPr>
          <a:xfrm>
            <a:off x="3584448" y="198120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Frank's taxi is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quite slow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, but it's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clean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the taxi fast? · Is it clean or dirty?</a:t>
            </a:r>
            <a:endParaRPr lang="en-US" sz="1250" dirty="0"/>
          </a:p>
        </p:txBody>
      </p:sp>
      <p:sp>
        <p:nvSpPr>
          <p:cNvPr id="23" name="R3_sb306"/>
          <p:cNvSpPr/>
          <p:nvPr/>
        </p:nvSpPr>
        <p:spPr>
          <a:xfrm>
            <a:off x="3200400" y="2581656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R3_sl307"/>
          <p:cNvSpPr/>
          <p:nvPr/>
        </p:nvSpPr>
        <p:spPr>
          <a:xfrm>
            <a:off x="3584448" y="254508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day 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rich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woman gets in. She has 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big purple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bag.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she rich or poor? · What colour is her bag?</a:t>
            </a:r>
            <a:endParaRPr lang="en-US" sz="1250" dirty="0"/>
          </a:p>
        </p:txBody>
      </p:sp>
      <p:sp>
        <p:nvSpPr>
          <p:cNvPr id="25" name="R4_sb308"/>
          <p:cNvSpPr/>
          <p:nvPr/>
        </p:nvSpPr>
        <p:spPr>
          <a:xfrm>
            <a:off x="3200400" y="3145536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R4_sl309"/>
          <p:cNvSpPr/>
          <p:nvPr/>
        </p:nvSpPr>
        <p:spPr>
          <a:xfrm>
            <a:off x="3584448" y="310896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'The White House, please! I'm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 late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!'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Where does she want to go? · Is she late?</a:t>
            </a:r>
            <a:endParaRPr lang="en-US" sz="1250" dirty="0"/>
          </a:p>
        </p:txBody>
      </p:sp>
      <p:sp>
        <p:nvSpPr>
          <p:cNvPr id="27" name="R5_sb310"/>
          <p:cNvSpPr/>
          <p:nvPr/>
        </p:nvSpPr>
        <p:spPr>
          <a:xfrm>
            <a:off x="3200400" y="3709416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R5_sl311"/>
          <p:cNvSpPr/>
          <p:nvPr/>
        </p:nvSpPr>
        <p:spPr>
          <a:xfrm>
            <a:off x="3584448" y="367284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But the White House isn't in New York! It's 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long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trip.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the White House in New York? · Is the trip short?</a:t>
            </a:r>
            <a:endParaRPr lang="en-US" sz="1250" dirty="0"/>
          </a:p>
        </p:txBody>
      </p:sp>
      <p:sp>
        <p:nvSpPr>
          <p:cNvPr id="29" name="R6_sb312"/>
          <p:cNvSpPr/>
          <p:nvPr/>
        </p:nvSpPr>
        <p:spPr>
          <a:xfrm>
            <a:off x="3200400" y="4273296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R6_sl313"/>
          <p:cNvSpPr/>
          <p:nvPr/>
        </p:nvSpPr>
        <p:spPr>
          <a:xfrm>
            <a:off x="3584448" y="4236720"/>
            <a:ext cx="5303520" cy="499872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Frank is very happy. It's a </a:t>
            </a:r>
            <a:pPr indent="0" marL="0">
              <a:buNone/>
            </a:pPr>
            <a:r>
              <a:rPr lang="en-US" sz="1250" b="1" dirty="0">
                <a:solidFill>
                  <a:srgbClr val="7B5CD6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 expensive</a:t>
            </a:r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trip! 💵</a:t>
            </a:r>
            <a:endParaRPr lang="en-US" sz="125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❓ Is Frank happy or sad? · And you – is your car old or new?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3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31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Word order</a:t>
            </a:r>
            <a:endParaRPr lang="en-US" sz="2500" dirty="0"/>
          </a:p>
        </p:txBody>
      </p:sp>
      <p:pic>
        <p:nvPicPr>
          <p:cNvPr id="6" name="brP_3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93108" cy="402336"/>
          </a:xfrm>
          <a:prstGeom prst="rect">
            <a:avLst/>
          </a:prstGeom>
        </p:spPr>
      </p:pic>
      <p:sp>
        <p:nvSpPr>
          <p:cNvPr id="7" name="ins_318"/>
          <p:cNvSpPr/>
          <p:nvPr/>
        </p:nvSpPr>
        <p:spPr>
          <a:xfrm>
            <a:off x="1353312" y="731520"/>
            <a:ext cx="4037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Put the words in order. Say the sentence.</a:t>
            </a:r>
            <a:endParaRPr lang="en-US" sz="1250" dirty="0"/>
          </a:p>
        </p:txBody>
      </p:sp>
      <p:sp>
        <p:nvSpPr>
          <p:cNvPr id="8" name="insIT_3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Metti le parole in ordine. Di' la frase.</a:t>
            </a:r>
            <a:endParaRPr lang="en-US" sz="950" dirty="0"/>
          </a:p>
        </p:txBody>
      </p:sp>
      <p:sp>
        <p:nvSpPr>
          <p:cNvPr id="9" name="cmd_32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🔀 </a:t>
            </a:r>
            <a:pPr indent="0" marL="0">
              <a:buNone/>
            </a:pPr>
            <a:r>
              <a:rPr lang="en-US" sz="115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REORDER</a:t>
            </a:r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RIORDINA</a:t>
            </a:r>
            <a:endParaRPr lang="en-US" sz="1050" dirty="0"/>
          </a:p>
        </p:txBody>
      </p:sp>
      <p:sp>
        <p:nvSpPr>
          <p:cNvPr id="10" name="cmd_32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1" name="meta_322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323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3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Grammar · practice   ·   📖 Grammar Bank 2B p.127 · a (answers: SB key)</a:t>
            </a:r>
            <a:endParaRPr lang="en-US" sz="800" dirty="0"/>
          </a:p>
        </p:txBody>
      </p:sp>
      <p:sp>
        <p:nvSpPr>
          <p:cNvPr id="15" name="cd_32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3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32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 / It's / a / house / very → It's a very big house.</a:t>
            </a:r>
            <a:endParaRPr lang="en-US" sz="1050" dirty="0"/>
          </a:p>
        </p:txBody>
      </p:sp>
      <p:sp>
        <p:nvSpPr>
          <p:cNvPr id="19" name="pf_33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331" descr="/home/claude/lls-course/v2/cache/red_2b_whitehouse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33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33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Louis / French / Is ?</a:t>
            </a:r>
            <a:endParaRPr lang="en-US" sz="1150" dirty="0"/>
          </a:p>
        </p:txBody>
      </p:sp>
      <p:sp>
        <p:nvSpPr>
          <p:cNvPr id="23" name="R1_chip33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Louis French?</a:t>
            </a:r>
            <a:endParaRPr lang="en-US" sz="1000" dirty="0"/>
          </a:p>
        </p:txBody>
      </p:sp>
      <p:sp>
        <p:nvSpPr>
          <p:cNvPr id="24" name="bd_33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33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/ an / It's / expensive</a:t>
            </a:r>
            <a:endParaRPr lang="en-US" sz="1150" dirty="0"/>
          </a:p>
        </p:txBody>
      </p:sp>
      <p:sp>
        <p:nvSpPr>
          <p:cNvPr id="26" name="R2_chip33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an expensive watch.</a:t>
            </a:r>
            <a:endParaRPr lang="en-US" sz="1000" dirty="0"/>
          </a:p>
        </p:txBody>
      </p:sp>
      <p:sp>
        <p:nvSpPr>
          <p:cNvPr id="27" name="bd_33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33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easy / it / an / exercise / Is ?</a:t>
            </a:r>
            <a:endParaRPr lang="en-US" sz="1150" dirty="0"/>
          </a:p>
        </p:txBody>
      </p:sp>
      <p:sp>
        <p:nvSpPr>
          <p:cNvPr id="29" name="R3_chip34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an easy exercise?</a:t>
            </a:r>
            <a:endParaRPr lang="en-US" sz="1000" dirty="0"/>
          </a:p>
        </p:txBody>
      </p:sp>
      <p:sp>
        <p:nvSpPr>
          <p:cNvPr id="30" name="bd_34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34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girlfriend / Spanish / your / Is ?</a:t>
            </a:r>
            <a:endParaRPr lang="en-US" sz="1150" dirty="0"/>
          </a:p>
        </p:txBody>
      </p:sp>
      <p:sp>
        <p:nvSpPr>
          <p:cNvPr id="32" name="R4_chip34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your girlfriend Spanish?</a:t>
            </a:r>
            <a:endParaRPr lang="en-US" sz="1000" dirty="0"/>
          </a:p>
        </p:txBody>
      </p:sp>
      <p:sp>
        <p:nvSpPr>
          <p:cNvPr id="33" name="bd_34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34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difficult / very / questions / are / These</a:t>
            </a:r>
            <a:endParaRPr lang="en-US" sz="1150" dirty="0"/>
          </a:p>
        </p:txBody>
      </p:sp>
      <p:sp>
        <p:nvSpPr>
          <p:cNvPr id="35" name="R5_chip34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These questions are very difficult.</a:t>
            </a:r>
            <a:endParaRPr lang="en-US" sz="1000" dirty="0"/>
          </a:p>
        </p:txBody>
      </p:sp>
      <p:sp>
        <p:nvSpPr>
          <p:cNvPr id="36" name="bd_347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348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tickets / they / Are / cheap ?</a:t>
            </a:r>
            <a:endParaRPr lang="en-US" sz="1150" dirty="0"/>
          </a:p>
        </p:txBody>
      </p:sp>
      <p:sp>
        <p:nvSpPr>
          <p:cNvPr id="38" name="R6_chip349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they cheap tickets?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3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352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Fish or tree?</a:t>
            </a:r>
            <a:endParaRPr lang="en-US" sz="2500" dirty="0"/>
          </a:p>
        </p:txBody>
      </p:sp>
      <p:pic>
        <p:nvPicPr>
          <p:cNvPr id="6" name="brP_3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354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word. Which sound picture?</a:t>
            </a:r>
            <a:endParaRPr lang="en-US" sz="1250" dirty="0"/>
          </a:p>
        </p:txBody>
      </p:sp>
      <p:sp>
        <p:nvSpPr>
          <p:cNvPr id="8" name="insIT_35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Di' la parola. Quale immagine-suono?</a:t>
            </a:r>
            <a:endParaRPr lang="en-US" sz="950" dirty="0"/>
          </a:p>
        </p:txBody>
      </p:sp>
      <p:sp>
        <p:nvSpPr>
          <p:cNvPr id="9" name="cmd_35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0" name="cmd_357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1" name="meta_358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2" name="tag_359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Guided discovery</a:t>
            </a:r>
            <a:endParaRPr lang="en-US" sz="700" dirty="0"/>
          </a:p>
        </p:txBody>
      </p:sp>
      <p:pic>
        <p:nvPicPr>
          <p:cNvPr id="13" name="logo_36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36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Pronunciation · long and short vowels   ·   📖 SB p.17 · 3a, 3b · audio 2.9, 2.10</a:t>
            </a:r>
            <a:endParaRPr lang="en-US" sz="800" dirty="0"/>
          </a:p>
        </p:txBody>
      </p:sp>
      <p:sp>
        <p:nvSpPr>
          <p:cNvPr id="15" name="cd_362"/>
          <p:cNvSpPr/>
          <p:nvPr/>
        </p:nvSpPr>
        <p:spPr>
          <a:xfrm>
            <a:off x="320040" y="1417320"/>
            <a:ext cx="2697480" cy="2679192"/>
          </a:xfrm>
          <a:prstGeom prst="roundRect">
            <a:avLst>
              <a:gd name="adj" fmla="val 4778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6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7" name="ih_36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colours</a:t>
            </a:r>
            <a:endParaRPr lang="en-US" sz="1300" dirty="0"/>
          </a:p>
        </p:txBody>
      </p:sp>
      <p:sp>
        <p:nvSpPr>
          <p:cNvPr id="18" name="il_365"/>
          <p:cNvSpPr/>
          <p:nvPr/>
        </p:nvSpPr>
        <p:spPr>
          <a:xfrm>
            <a:off x="886968" y="1892808"/>
            <a:ext cx="2039112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</p:txBody>
      </p:sp>
      <p:sp>
        <p:nvSpPr>
          <p:cNvPr id="19" name="ap_366"/>
          <p:cNvSpPr/>
          <p:nvPr/>
        </p:nvSpPr>
        <p:spPr>
          <a:xfrm>
            <a:off x="365760" y="4233672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2.9 + 2.10</a:t>
            </a:r>
            <a:endParaRPr lang="en-US" sz="1100" dirty="0"/>
          </a:p>
        </p:txBody>
      </p:sp>
      <p:sp>
        <p:nvSpPr>
          <p:cNvPr id="20" name="ah_367"/>
          <p:cNvSpPr/>
          <p:nvPr/>
        </p:nvSpPr>
        <p:spPr>
          <a:xfrm>
            <a:off x="4974336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1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74536" y="4553712"/>
            <a:ext cx="411480" cy="411480"/>
          </a:xfrm>
          <a:prstGeom prst="rect">
            <a:avLst/>
          </a:prstGeom>
        </p:spPr>
      </p:pic>
      <p:pic>
        <p:nvPicPr>
          <p:cNvPr id="22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050024" y="4553712"/>
            <a:ext cx="411480" cy="411480"/>
          </a:xfrm>
          <a:prstGeom prst="rect">
            <a:avLst/>
          </a:prstGeom>
        </p:spPr>
      </p:pic>
      <p:pic>
        <p:nvPicPr>
          <p:cNvPr id="23" name="Media 2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4" name="Media 3">
            <a:hlinkClick r:id="" action="ppaction://media"/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5" name="lg_368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🐟 fish /ɪ/</a:t>
            </a:r>
            <a:endParaRPr lang="en-US" sz="1050" dirty="0"/>
          </a:p>
        </p:txBody>
      </p:sp>
      <p:sp>
        <p:nvSpPr>
          <p:cNvPr id="26" name="lg_369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🌳 tree /iː/</a:t>
            </a:r>
            <a:endParaRPr lang="en-US" sz="1050" dirty="0"/>
          </a:p>
        </p:txBody>
      </p:sp>
      <p:sp>
        <p:nvSpPr>
          <p:cNvPr id="27" name="lg_370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🐱 cat /æ/</a:t>
            </a:r>
            <a:endParaRPr lang="en-US" sz="1050" dirty="0"/>
          </a:p>
        </p:txBody>
      </p:sp>
      <p:sp>
        <p:nvSpPr>
          <p:cNvPr id="28" name="lg_371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🚗 car /ɑː/</a:t>
            </a:r>
            <a:endParaRPr lang="en-US" sz="1050" dirty="0"/>
          </a:p>
        </p:txBody>
      </p:sp>
      <p:sp>
        <p:nvSpPr>
          <p:cNvPr id="29" name="lg_372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30" name="lg_373"/>
          <p:cNvSpPr/>
          <p:nvPr/>
        </p:nvSpPr>
        <p:spPr>
          <a:xfrm>
            <a:off x="1719072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9F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🐴 horse /ɔː/</a:t>
            </a:r>
            <a:endParaRPr lang="en-US" sz="1050" dirty="0"/>
          </a:p>
        </p:txBody>
      </p:sp>
      <p:sp>
        <p:nvSpPr>
          <p:cNvPr id="31" name="lg_374"/>
          <p:cNvSpPr/>
          <p:nvPr/>
        </p:nvSpPr>
        <p:spPr>
          <a:xfrm>
            <a:off x="457200" y="31363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🐂 bull /ʊ/</a:t>
            </a:r>
            <a:endParaRPr lang="en-US" sz="1050" dirty="0"/>
          </a:p>
        </p:txBody>
      </p:sp>
      <p:sp>
        <p:nvSpPr>
          <p:cNvPr id="32" name="lg_375"/>
          <p:cNvSpPr/>
          <p:nvPr/>
        </p:nvSpPr>
        <p:spPr>
          <a:xfrm>
            <a:off x="1719072" y="313639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0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👢 boot /uː/</a:t>
            </a:r>
            <a:endParaRPr lang="en-US" sz="1050" dirty="0"/>
          </a:p>
        </p:txBody>
      </p:sp>
      <p:sp>
        <p:nvSpPr>
          <p:cNvPr id="33" name="sq_376"/>
          <p:cNvSpPr/>
          <p:nvPr/>
        </p:nvSpPr>
        <p:spPr>
          <a:xfrm>
            <a:off x="3246120" y="14173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</a:t>
            </a:r>
            <a:endParaRPr lang="en-US" sz="1200" dirty="0"/>
          </a:p>
        </p:txBody>
      </p:sp>
      <p:sp>
        <p:nvSpPr>
          <p:cNvPr id="34" name="R1_tag377"/>
          <p:cNvSpPr/>
          <p:nvPr/>
        </p:nvSpPr>
        <p:spPr>
          <a:xfrm>
            <a:off x="7178040" y="14173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🌳 tree /iː/</a:t>
            </a:r>
            <a:endParaRPr lang="en-US" sz="1150" dirty="0"/>
          </a:p>
        </p:txBody>
      </p:sp>
      <p:sp>
        <p:nvSpPr>
          <p:cNvPr id="35" name="sq_378"/>
          <p:cNvSpPr/>
          <p:nvPr/>
        </p:nvSpPr>
        <p:spPr>
          <a:xfrm>
            <a:off x="3246120" y="18288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200" dirty="0"/>
          </a:p>
        </p:txBody>
      </p:sp>
      <p:sp>
        <p:nvSpPr>
          <p:cNvPr id="36" name="R2_tag379"/>
          <p:cNvSpPr/>
          <p:nvPr/>
        </p:nvSpPr>
        <p:spPr>
          <a:xfrm>
            <a:off x="7178040" y="18288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150" dirty="0"/>
          </a:p>
        </p:txBody>
      </p:sp>
      <p:sp>
        <p:nvSpPr>
          <p:cNvPr id="37" name="sq_380"/>
          <p:cNvSpPr/>
          <p:nvPr/>
        </p:nvSpPr>
        <p:spPr>
          <a:xfrm>
            <a:off x="3246120" y="22402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</a:t>
            </a:r>
            <a:endParaRPr lang="en-US" sz="1200" dirty="0"/>
          </a:p>
        </p:txBody>
      </p:sp>
      <p:sp>
        <p:nvSpPr>
          <p:cNvPr id="38" name="R3_tag381"/>
          <p:cNvSpPr/>
          <p:nvPr/>
        </p:nvSpPr>
        <p:spPr>
          <a:xfrm>
            <a:off x="7178040" y="22402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🐟 fish /ɪ/</a:t>
            </a:r>
            <a:endParaRPr lang="en-US" sz="1150" dirty="0"/>
          </a:p>
        </p:txBody>
      </p:sp>
      <p:sp>
        <p:nvSpPr>
          <p:cNvPr id="39" name="sq_382"/>
          <p:cNvSpPr/>
          <p:nvPr/>
        </p:nvSpPr>
        <p:spPr>
          <a:xfrm>
            <a:off x="3246120" y="265176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</a:t>
            </a:r>
            <a:endParaRPr lang="en-US" sz="1200" dirty="0"/>
          </a:p>
        </p:txBody>
      </p:sp>
      <p:sp>
        <p:nvSpPr>
          <p:cNvPr id="40" name="R4_tag383"/>
          <p:cNvSpPr/>
          <p:nvPr/>
        </p:nvSpPr>
        <p:spPr>
          <a:xfrm>
            <a:off x="7178040" y="265176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🚗 car /ɑː/</a:t>
            </a:r>
            <a:endParaRPr lang="en-US" sz="1150" dirty="0"/>
          </a:p>
        </p:txBody>
      </p:sp>
      <p:sp>
        <p:nvSpPr>
          <p:cNvPr id="41" name="sq_384"/>
          <p:cNvSpPr/>
          <p:nvPr/>
        </p:nvSpPr>
        <p:spPr>
          <a:xfrm>
            <a:off x="3246120" y="30632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ew</a:t>
            </a:r>
            <a:endParaRPr lang="en-US" sz="1200" dirty="0"/>
          </a:p>
        </p:txBody>
      </p:sp>
      <p:sp>
        <p:nvSpPr>
          <p:cNvPr id="42" name="R5_tag385"/>
          <p:cNvSpPr/>
          <p:nvPr/>
        </p:nvSpPr>
        <p:spPr>
          <a:xfrm>
            <a:off x="7178040" y="306324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F0B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👢 boot /uː/</a:t>
            </a:r>
            <a:endParaRPr lang="en-US" sz="1150" dirty="0"/>
          </a:p>
        </p:txBody>
      </p:sp>
      <p:sp>
        <p:nvSpPr>
          <p:cNvPr id="43" name="sq_386"/>
          <p:cNvSpPr/>
          <p:nvPr/>
        </p:nvSpPr>
        <p:spPr>
          <a:xfrm>
            <a:off x="3246120" y="34747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ck</a:t>
            </a:r>
            <a:endParaRPr lang="en-US" sz="1200" dirty="0"/>
          </a:p>
        </p:txBody>
      </p:sp>
      <p:sp>
        <p:nvSpPr>
          <p:cNvPr id="44" name="R6_tag387"/>
          <p:cNvSpPr/>
          <p:nvPr/>
        </p:nvSpPr>
        <p:spPr>
          <a:xfrm>
            <a:off x="7178040" y="34747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🐱 cat /æ/</a:t>
            </a:r>
            <a:endParaRPr lang="en-US" sz="1150" dirty="0"/>
          </a:p>
        </p:txBody>
      </p:sp>
      <p:sp>
        <p:nvSpPr>
          <p:cNvPr id="45" name="sq_388"/>
          <p:cNvSpPr/>
          <p:nvPr/>
        </p:nvSpPr>
        <p:spPr>
          <a:xfrm>
            <a:off x="3246120" y="38862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oo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1200" dirty="0"/>
          </a:p>
        </p:txBody>
      </p:sp>
      <p:sp>
        <p:nvSpPr>
          <p:cNvPr id="46" name="R7_tag389"/>
          <p:cNvSpPr/>
          <p:nvPr/>
        </p:nvSpPr>
        <p:spPr>
          <a:xfrm>
            <a:off x="7178040" y="38862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FD96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🐂 bull /ʊ/</a:t>
            </a:r>
            <a:endParaRPr lang="en-US" sz="1150" dirty="0"/>
          </a:p>
        </p:txBody>
      </p:sp>
      <p:sp>
        <p:nvSpPr>
          <p:cNvPr id="47" name="sq_390"/>
          <p:cNvSpPr/>
          <p:nvPr/>
        </p:nvSpPr>
        <p:spPr>
          <a:xfrm>
            <a:off x="3246120" y="42976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sm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ll</a:t>
            </a:r>
            <a:endParaRPr lang="en-US" sz="1200" dirty="0"/>
          </a:p>
        </p:txBody>
      </p:sp>
      <p:sp>
        <p:nvSpPr>
          <p:cNvPr id="48" name="R8_tag391"/>
          <p:cNvSpPr/>
          <p:nvPr/>
        </p:nvSpPr>
        <p:spPr>
          <a:xfrm>
            <a:off x="7178040" y="42976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C9F0D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🐴 horse /ɔː/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7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2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9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394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Same sound!</a:t>
            </a:r>
            <a:endParaRPr lang="en-US" sz="2500" dirty="0"/>
          </a:p>
        </p:txBody>
      </p:sp>
      <p:pic>
        <p:nvPicPr>
          <p:cNvPr id="6" name="brP_39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396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sound! Choose the noun. Be quick!</a:t>
            </a:r>
            <a:endParaRPr lang="en-US" sz="1250" dirty="0"/>
          </a:p>
        </p:txBody>
      </p:sp>
      <p:sp>
        <p:nvSpPr>
          <p:cNvPr id="8" name="insIT_39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Stesso suono! Scegli il nome. Veloci!</a:t>
            </a:r>
            <a:endParaRPr lang="en-US" sz="950" dirty="0"/>
          </a:p>
        </p:txBody>
      </p:sp>
      <p:sp>
        <p:nvSpPr>
          <p:cNvPr id="9" name="cmd_398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cmd_399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🔊 </a:t>
            </a:r>
            <a:pPr indent="0" marL="0">
              <a:buNone/>
            </a:pPr>
            <a:r>
              <a:rPr lang="en-US" sz="120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SAY IT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PRONUNCIA</a:t>
            </a:r>
            <a:endParaRPr lang="en-US" sz="1100" dirty="0"/>
          </a:p>
        </p:txBody>
      </p:sp>
      <p:sp>
        <p:nvSpPr>
          <p:cNvPr id="11" name="meta_400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950" dirty="0"/>
          </a:p>
        </p:txBody>
      </p:sp>
      <p:sp>
        <p:nvSpPr>
          <p:cNvPr id="12" name="tag_401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00" dirty="0"/>
          </a:p>
        </p:txBody>
      </p:sp>
      <p:pic>
        <p:nvPicPr>
          <p:cNvPr id="13" name="logo_40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0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Pronunciation game   ·   📖 SB p.17 · 3c, 3d · audio 2.11</a:t>
            </a:r>
            <a:endParaRPr lang="en-US" sz="800" dirty="0"/>
          </a:p>
        </p:txBody>
      </p:sp>
      <p:sp>
        <p:nvSpPr>
          <p:cNvPr id="15" name="cd_404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40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7" name="ih_40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8" name="il_407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adjective and the 3 nouns.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l'aggettivo e i 3 nomi.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the noun with the SAME vowel sound.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Trova il nome con lo STESSO suono vocalico.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 the phrase first = 1 point.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 dice prima la frase = 1 punto.</a:t>
            </a:r>
            <a:endParaRPr lang="en-US" sz="1000" dirty="0"/>
          </a:p>
        </p:txBody>
      </p:sp>
      <p:sp>
        <p:nvSpPr>
          <p:cNvPr id="19" name="ap_408"/>
          <p:cNvSpPr/>
          <p:nvPr/>
        </p:nvSpPr>
        <p:spPr>
          <a:xfrm>
            <a:off x="365760" y="370332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2.11</a:t>
            </a:r>
            <a:endParaRPr lang="en-US" sz="1100" dirty="0"/>
          </a:p>
        </p:txBody>
      </p:sp>
      <p:sp>
        <p:nvSpPr>
          <p:cNvPr id="20" name="ah_409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1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2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3" name="bd_410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gq_411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 … (city · car · cat)</a:t>
            </a:r>
            <a:endParaRPr lang="en-US" sz="1100" dirty="0"/>
          </a:p>
        </p:txBody>
      </p:sp>
      <p:sp>
        <p:nvSpPr>
          <p:cNvPr id="25" name="R1_chip412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big city /ɪ/</a:t>
            </a:r>
            <a:endParaRPr lang="en-US" sz="1100" dirty="0"/>
          </a:p>
        </p:txBody>
      </p:sp>
      <p:sp>
        <p:nvSpPr>
          <p:cNvPr id="26" name="bd_413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gq_414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bl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ck … (bag · book · boot)</a:t>
            </a:r>
            <a:endParaRPr lang="en-US" sz="1100" dirty="0"/>
          </a:p>
        </p:txBody>
      </p:sp>
      <p:sp>
        <p:nvSpPr>
          <p:cNvPr id="28" name="R2_chip415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black bag /æ/</a:t>
            </a:r>
            <a:endParaRPr lang="en-US" sz="1100" dirty="0"/>
          </a:p>
        </p:txBody>
      </p:sp>
      <p:sp>
        <p:nvSpPr>
          <p:cNvPr id="29" name="bd_416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gq_417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 … (jeans · shoes · bags)</a:t>
            </a:r>
            <a:endParaRPr lang="en-US" sz="1100" dirty="0"/>
          </a:p>
        </p:txBody>
      </p:sp>
      <p:sp>
        <p:nvSpPr>
          <p:cNvPr id="31" name="R3_chip418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cheap jeans /iː/</a:t>
            </a:r>
            <a:endParaRPr lang="en-US" sz="1100" dirty="0"/>
          </a:p>
        </p:txBody>
      </p:sp>
      <p:sp>
        <p:nvSpPr>
          <p:cNvPr id="32" name="bd_419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gq_420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 … (glasses · dogs · books)</a:t>
            </a:r>
            <a:endParaRPr lang="en-US" sz="1100" dirty="0"/>
          </a:p>
        </p:txBody>
      </p:sp>
      <p:sp>
        <p:nvSpPr>
          <p:cNvPr id="34" name="R4_chip421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dark glasses /ɑː/</a:t>
            </a:r>
            <a:endParaRPr lang="en-US" sz="1100" dirty="0"/>
          </a:p>
        </p:txBody>
      </p:sp>
      <p:sp>
        <p:nvSpPr>
          <p:cNvPr id="35" name="bd_422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gq_423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g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oo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 … (book · day · cat)</a:t>
            </a:r>
            <a:endParaRPr lang="en-US" sz="1100" dirty="0"/>
          </a:p>
        </p:txBody>
      </p:sp>
      <p:sp>
        <p:nvSpPr>
          <p:cNvPr id="37" name="R5_chip424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good book /ʊ/</a:t>
            </a:r>
            <a:endParaRPr lang="en-US" sz="1100" dirty="0"/>
          </a:p>
        </p:txBody>
      </p:sp>
      <p:sp>
        <p:nvSpPr>
          <p:cNvPr id="38" name="bd_425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gq_426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</a:t>
            </a:r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ew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… (boots · bags · jeans)</a:t>
            </a:r>
            <a:endParaRPr lang="en-US" sz="1100" dirty="0"/>
          </a:p>
        </p:txBody>
      </p:sp>
      <p:sp>
        <p:nvSpPr>
          <p:cNvPr id="40" name="R6_chip427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19050">
            <a:solidFill>
              <a:srgbClr val="E8508F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new boots /uː/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2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4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42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430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have a red car!</a:t>
            </a:r>
            <a:endParaRPr lang="en-US" sz="2500" dirty="0"/>
          </a:p>
        </p:txBody>
      </p:sp>
      <p:pic>
        <p:nvPicPr>
          <p:cNvPr id="6" name="brP_43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3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your partner about 8 things you have. Use a colour or an adjective.</a:t>
            </a:r>
            <a:endParaRPr lang="en-US" sz="1100" dirty="0"/>
          </a:p>
        </p:txBody>
      </p:sp>
      <p:sp>
        <p:nvSpPr>
          <p:cNvPr id="8" name="insIT_43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Parla al compagno di 8 cose che hai. Usa un colore o un aggettivo.</a:t>
            </a:r>
            <a:endParaRPr lang="en-US" sz="950" dirty="0"/>
          </a:p>
        </p:txBody>
      </p:sp>
      <p:sp>
        <p:nvSpPr>
          <p:cNvPr id="9" name="cmd_434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💬 </a:t>
            </a:r>
            <a:pPr indent="0" marL="0">
              <a:buNone/>
            </a:pPr>
            <a:r>
              <a:rPr lang="en-US" sz="12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TALK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PARLA</a:t>
            </a:r>
            <a:endParaRPr lang="en-US" sz="1100" dirty="0"/>
          </a:p>
        </p:txBody>
      </p:sp>
      <p:sp>
        <p:nvSpPr>
          <p:cNvPr id="10" name="meta_435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436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8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</a:t>
            </a:r>
            <a:endParaRPr lang="en-US" sz="800" dirty="0"/>
          </a:p>
        </p:txBody>
      </p:sp>
      <p:pic>
        <p:nvPicPr>
          <p:cNvPr id="12" name="logo_4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Speaking · 8 things you have   ·   📖 SB p.17 · 4a</a:t>
            </a:r>
            <a:endParaRPr lang="en-US" sz="800" dirty="0"/>
          </a:p>
        </p:txBody>
      </p:sp>
      <p:sp>
        <p:nvSpPr>
          <p:cNvPr id="14" name="pf_439"/>
          <p:cNvSpPr/>
          <p:nvPr/>
        </p:nvSpPr>
        <p:spPr>
          <a:xfrm rot="-120000">
            <a:off x="320040" y="1371600"/>
            <a:ext cx="2788920" cy="1874520"/>
          </a:xfrm>
          <a:prstGeom prst="roundRect">
            <a:avLst>
              <a:gd name="adj" fmla="val 8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440" descr="/home/claude/lls-course/v2/cache/red_2b_taxis_jpg_649x429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783080"/>
          </a:xfrm>
          <a:prstGeom prst="rect">
            <a:avLst/>
          </a:prstGeom>
        </p:spPr>
      </p:pic>
      <p:sp>
        <p:nvSpPr>
          <p:cNvPr id="16" name="cd_441"/>
          <p:cNvSpPr/>
          <p:nvPr/>
        </p:nvSpPr>
        <p:spPr>
          <a:xfrm>
            <a:off x="320040" y="3429000"/>
            <a:ext cx="2788920" cy="1325880"/>
          </a:xfrm>
          <a:prstGeom prst="roundRect">
            <a:avLst>
              <a:gd name="adj" fmla="val 9655"/>
            </a:avLst>
          </a:prstGeom>
          <a:solidFill>
            <a:srgbClr val="EEE8FB"/>
          </a:solidFill>
          <a:ln w="19050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442"/>
          <p:cNvSpPr/>
          <p:nvPr/>
        </p:nvSpPr>
        <p:spPr>
          <a:xfrm>
            <a:off x="41148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ih_443"/>
          <p:cNvSpPr/>
          <p:nvPr/>
        </p:nvSpPr>
        <p:spPr>
          <a:xfrm>
            <a:off x="886968" y="3520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9" name="il_444"/>
          <p:cNvSpPr/>
          <p:nvPr/>
        </p:nvSpPr>
        <p:spPr>
          <a:xfrm>
            <a:off x="886968" y="3904488"/>
            <a:ext cx="2130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have a very old… · a new…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quite big / really small.</a:t>
            </a:r>
            <a:endParaRPr lang="en-US" sz="100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Really? Me too! / What colour is it?</a:t>
            </a:r>
            <a:endParaRPr lang="en-US" sz="1000" dirty="0"/>
          </a:p>
        </p:txBody>
      </p:sp>
      <p:sp>
        <p:nvSpPr>
          <p:cNvPr id="20" name="R1_qb445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R1_sq446"/>
          <p:cNvSpPr/>
          <p:nvPr/>
        </p:nvSpPr>
        <p:spPr>
          <a:xfrm>
            <a:off x="3675888" y="14173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phone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have a new black phone.</a:t>
            </a:r>
            <a:endParaRPr lang="en-US" sz="1250" dirty="0"/>
          </a:p>
        </p:txBody>
      </p:sp>
      <p:sp>
        <p:nvSpPr>
          <p:cNvPr id="22" name="R2_qb447"/>
          <p:cNvSpPr/>
          <p:nvPr/>
        </p:nvSpPr>
        <p:spPr>
          <a:xfrm>
            <a:off x="3273552" y="201015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R2_sq448"/>
          <p:cNvSpPr/>
          <p:nvPr/>
        </p:nvSpPr>
        <p:spPr>
          <a:xfrm>
            <a:off x="3675888" y="197358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car / bike / scooter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have a very old red car.</a:t>
            </a:r>
            <a:endParaRPr lang="en-US" sz="1250" dirty="0"/>
          </a:p>
        </p:txBody>
      </p:sp>
      <p:sp>
        <p:nvSpPr>
          <p:cNvPr id="24" name="R3_qb449"/>
          <p:cNvSpPr/>
          <p:nvPr/>
        </p:nvSpPr>
        <p:spPr>
          <a:xfrm>
            <a:off x="3273552" y="2566416"/>
            <a:ext cx="329184" cy="329184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R3_sq450"/>
          <p:cNvSpPr/>
          <p:nvPr/>
        </p:nvSpPr>
        <p:spPr>
          <a:xfrm>
            <a:off x="3675888" y="252984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bag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My bag is quite big and brown.</a:t>
            </a:r>
            <a:endParaRPr lang="en-US" sz="1250" dirty="0"/>
          </a:p>
        </p:txBody>
      </p:sp>
      <p:sp>
        <p:nvSpPr>
          <p:cNvPr id="26" name="R4_qb451"/>
          <p:cNvSpPr/>
          <p:nvPr/>
        </p:nvSpPr>
        <p:spPr>
          <a:xfrm>
            <a:off x="3273552" y="3122676"/>
            <a:ext cx="329184" cy="32918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R4_sq452"/>
          <p:cNvSpPr/>
          <p:nvPr/>
        </p:nvSpPr>
        <p:spPr>
          <a:xfrm>
            <a:off x="3675888" y="308610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house or flat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have a small flat – it's really nice.</a:t>
            </a:r>
            <a:endParaRPr lang="en-US" sz="1250" dirty="0"/>
          </a:p>
        </p:txBody>
      </p:sp>
      <p:sp>
        <p:nvSpPr>
          <p:cNvPr id="28" name="R5_qb453"/>
          <p:cNvSpPr/>
          <p:nvPr/>
        </p:nvSpPr>
        <p:spPr>
          <a:xfrm>
            <a:off x="3273552" y="3678936"/>
            <a:ext cx="329184" cy="329184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R5_sq454"/>
          <p:cNvSpPr/>
          <p:nvPr/>
        </p:nvSpPr>
        <p:spPr>
          <a:xfrm>
            <a:off x="3675888" y="364236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Something in your fridge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have some very good cheese!</a:t>
            </a:r>
            <a:endParaRPr lang="en-US" sz="1250" dirty="0"/>
          </a:p>
        </p:txBody>
      </p:sp>
      <p:sp>
        <p:nvSpPr>
          <p:cNvPr id="30" name="R6_qb455"/>
          <p:cNvSpPr/>
          <p:nvPr/>
        </p:nvSpPr>
        <p:spPr>
          <a:xfrm>
            <a:off x="3273552" y="4235196"/>
            <a:ext cx="329184" cy="329184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R6_sq456"/>
          <p:cNvSpPr/>
          <p:nvPr/>
        </p:nvSpPr>
        <p:spPr>
          <a:xfrm>
            <a:off x="3675888" y="4198620"/>
            <a:ext cx="5193792" cy="483108"/>
          </a:xfrm>
          <a:prstGeom prst="roundRect">
            <a:avLst>
              <a:gd name="adj" fmla="val 22713"/>
            </a:avLst>
          </a:prstGeom>
          <a:solidFill>
            <a:srgbClr val="FFFFFF"/>
          </a:solidFill>
          <a:ln w="2222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Extension: something you DON'T want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I have a really ugly jumper – it's a present from my aunt! 😄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45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459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is it?</a:t>
            </a:r>
            <a:endParaRPr lang="en-US" sz="2500" dirty="0"/>
          </a:p>
        </p:txBody>
      </p:sp>
      <p:pic>
        <p:nvPicPr>
          <p:cNvPr id="6" name="brP_46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685032" cy="402336"/>
          </a:xfrm>
          <a:prstGeom prst="rect">
            <a:avLst/>
          </a:prstGeom>
        </p:spPr>
      </p:pic>
      <p:sp>
        <p:nvSpPr>
          <p:cNvPr id="7" name="ins_461"/>
          <p:cNvSpPr/>
          <p:nvPr/>
        </p:nvSpPr>
        <p:spPr>
          <a:xfrm>
            <a:off x="1353312" y="73152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Describe it! Your partner guesses.</a:t>
            </a:r>
            <a:endParaRPr lang="en-US" sz="1250" dirty="0"/>
          </a:p>
        </p:txBody>
      </p:sp>
      <p:sp>
        <p:nvSpPr>
          <p:cNvPr id="8" name="insIT_46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Descrivilo! Il compagno indovina.</a:t>
            </a:r>
            <a:endParaRPr lang="en-US" sz="950" dirty="0"/>
          </a:p>
        </p:txBody>
      </p:sp>
      <p:sp>
        <p:nvSpPr>
          <p:cNvPr id="9" name="cmd_463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🎲 </a:t>
            </a:r>
            <a:pPr indent="0" marL="0">
              <a:buNone/>
            </a:pPr>
            <a:r>
              <a:rPr lang="en-US" sz="12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PLAY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GIOCA</a:t>
            </a:r>
            <a:endParaRPr lang="en-US" sz="1100" dirty="0"/>
          </a:p>
        </p:txBody>
      </p:sp>
      <p:sp>
        <p:nvSpPr>
          <p:cNvPr id="10" name="meta_464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950" dirty="0"/>
          </a:p>
        </p:txBody>
      </p:sp>
      <p:sp>
        <p:nvSpPr>
          <p:cNvPr id="11" name="tag_465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Communicative game</a:t>
            </a:r>
            <a:endParaRPr lang="en-US" sz="700" dirty="0"/>
          </a:p>
        </p:txBody>
      </p:sp>
      <p:pic>
        <p:nvPicPr>
          <p:cNvPr id="12" name="logo_46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46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Speaking game</a:t>
            </a:r>
            <a:endParaRPr lang="en-US" sz="800" dirty="0"/>
          </a:p>
        </p:txBody>
      </p:sp>
      <p:sp>
        <p:nvSpPr>
          <p:cNvPr id="14" name="cd_468"/>
          <p:cNvSpPr/>
          <p:nvPr/>
        </p:nvSpPr>
        <p:spPr>
          <a:xfrm>
            <a:off x="320040" y="1417320"/>
            <a:ext cx="2697480" cy="2194560"/>
          </a:xfrm>
          <a:prstGeom prst="roundRect">
            <a:avLst>
              <a:gd name="adj" fmla="val 5833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69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6" name="ih_470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7" name="il_471"/>
          <p:cNvSpPr/>
          <p:nvPr/>
        </p:nvSpPr>
        <p:spPr>
          <a:xfrm>
            <a:off x="886968" y="1892808"/>
            <a:ext cx="20391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0500" indent="-190500">
              <a:spcAft>
                <a:spcPts val="200"/>
              </a:spcAft>
              <a:buSzPct val="100000"/>
              <a:buChar char="1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looks at the screen. B doesn't look.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guarda lo schermo. B non guarda.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2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describes it: colour + 2 adjectives.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lo descrive: colore + 2 aggettivi.</a:t>
            </a:r>
            <a:endParaRPr lang="en-US" sz="1000" dirty="0"/>
          </a:p>
          <a:p>
            <a:pPr marL="190500" indent="-190500">
              <a:spcBef>
                <a:spcPts val="500"/>
              </a:spcBef>
              <a:spcAft>
                <a:spcPts val="200"/>
              </a:spcAft>
              <a:buSzPct val="100000"/>
              <a:buChar char="3"/>
            </a:pPr>
            <a:r>
              <a:rPr lang="en-US" sz="100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guesses. Then swap.</a:t>
            </a:r>
            <a:endParaRPr lang="en-US" sz="1000" dirty="0"/>
          </a:p>
          <a:p>
            <a:pPr marL="190500" indent="-190500">
              <a:spcAft>
                <a:spcPts val="200"/>
              </a:spcAft>
              <a:buSzPct val="100000"/>
              <a:buChar char=" "/>
            </a:pPr>
            <a:r>
              <a:rPr lang="en-US" sz="90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indovina. Poi scambiatevi.</a:t>
            </a:r>
            <a:endParaRPr lang="en-US" sz="1000" dirty="0"/>
          </a:p>
        </p:txBody>
      </p:sp>
      <p:sp>
        <p:nvSpPr>
          <p:cNvPr id="18" name="pf_472"/>
          <p:cNvSpPr/>
          <p:nvPr/>
        </p:nvSpPr>
        <p:spPr>
          <a:xfrm rot="-120000">
            <a:off x="411480" y="36118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9" name="ph_473" descr="/home/claude/lls-course/v2/cache/red_2b_icons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3657600"/>
            <a:ext cx="2377440" cy="1051560"/>
          </a:xfrm>
          <a:prstGeom prst="rect">
            <a:avLst/>
          </a:prstGeom>
        </p:spPr>
      </p:pic>
      <p:sp>
        <p:nvSpPr>
          <p:cNvPr id="20" name="rl_474"/>
          <p:cNvSpPr/>
          <p:nvPr/>
        </p:nvSpPr>
        <p:spPr>
          <a:xfrm>
            <a:off x="324612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describes</a:t>
            </a:r>
            <a:endParaRPr lang="en-US" sz="1100" dirty="0"/>
          </a:p>
        </p:txBody>
      </p:sp>
      <p:sp>
        <p:nvSpPr>
          <p:cNvPr id="21" name="R1_w475"/>
          <p:cNvSpPr/>
          <p:nvPr/>
        </p:nvSpPr>
        <p:spPr>
          <a:xfrm>
            <a:off x="324612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banana</a:t>
            </a:r>
            <a:endParaRPr lang="en-US" sz="1700" dirty="0"/>
          </a:p>
        </p:txBody>
      </p:sp>
      <p:sp>
        <p:nvSpPr>
          <p:cNvPr id="22" name="R3_w476"/>
          <p:cNvSpPr/>
          <p:nvPr/>
        </p:nvSpPr>
        <p:spPr>
          <a:xfrm>
            <a:off x="324612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New York taxi</a:t>
            </a:r>
            <a:endParaRPr lang="en-US" sz="1700" dirty="0"/>
          </a:p>
        </p:txBody>
      </p:sp>
      <p:sp>
        <p:nvSpPr>
          <p:cNvPr id="23" name="R5_w477"/>
          <p:cNvSpPr/>
          <p:nvPr/>
        </p:nvSpPr>
        <p:spPr>
          <a:xfrm>
            <a:off x="324612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an elephant</a:t>
            </a:r>
            <a:endParaRPr lang="en-US" sz="1700" dirty="0"/>
          </a:p>
        </p:txBody>
      </p:sp>
      <p:sp>
        <p:nvSpPr>
          <p:cNvPr id="24" name="R7_w478"/>
          <p:cNvSpPr/>
          <p:nvPr/>
        </p:nvSpPr>
        <p:spPr>
          <a:xfrm>
            <a:off x="324612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Colosseum</a:t>
            </a:r>
            <a:endParaRPr lang="en-US" sz="1700" dirty="0"/>
          </a:p>
        </p:txBody>
      </p:sp>
      <p:sp>
        <p:nvSpPr>
          <p:cNvPr id="25" name="rl_479"/>
          <p:cNvSpPr/>
          <p:nvPr/>
        </p:nvSpPr>
        <p:spPr>
          <a:xfrm>
            <a:off x="6080760" y="141732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 describes</a:t>
            </a:r>
            <a:endParaRPr lang="en-US" sz="1100" dirty="0"/>
          </a:p>
        </p:txBody>
      </p:sp>
      <p:sp>
        <p:nvSpPr>
          <p:cNvPr id="26" name="R2_w480"/>
          <p:cNvSpPr/>
          <p:nvPr/>
        </p:nvSpPr>
        <p:spPr>
          <a:xfrm>
            <a:off x="6080760" y="185623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Ferrari</a:t>
            </a:r>
            <a:endParaRPr lang="en-US" sz="1700" dirty="0"/>
          </a:p>
        </p:txBody>
      </p:sp>
      <p:sp>
        <p:nvSpPr>
          <p:cNvPr id="27" name="R4_w481"/>
          <p:cNvSpPr/>
          <p:nvPr/>
        </p:nvSpPr>
        <p:spPr>
          <a:xfrm>
            <a:off x="6080760" y="258775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snow</a:t>
            </a:r>
            <a:endParaRPr lang="en-US" sz="1700" dirty="0"/>
          </a:p>
        </p:txBody>
      </p:sp>
      <p:sp>
        <p:nvSpPr>
          <p:cNvPr id="28" name="R6_w482"/>
          <p:cNvSpPr/>
          <p:nvPr/>
        </p:nvSpPr>
        <p:spPr>
          <a:xfrm>
            <a:off x="6080760" y="331927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lemon</a:t>
            </a:r>
            <a:endParaRPr lang="en-US" sz="1700" dirty="0"/>
          </a:p>
        </p:txBody>
      </p:sp>
      <p:sp>
        <p:nvSpPr>
          <p:cNvPr id="29" name="R8_w483"/>
          <p:cNvSpPr/>
          <p:nvPr/>
        </p:nvSpPr>
        <p:spPr>
          <a:xfrm>
            <a:off x="6080760" y="4050792"/>
            <a:ext cx="265176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3175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hot dog</a:t>
            </a:r>
            <a:endParaRPr lang="en-US" sz="17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8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486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same, but different</a:t>
            </a:r>
            <a:endParaRPr lang="en-US" sz="2500" dirty="0"/>
          </a:p>
        </p:txBody>
      </p:sp>
      <p:pic>
        <p:nvPicPr>
          <p:cNvPr id="6" name="brP_48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8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Choose a heading from the box for 2–4.</a:t>
            </a:r>
            <a:endParaRPr lang="en-US" sz="1250" dirty="0"/>
          </a:p>
        </p:txBody>
      </p:sp>
      <p:sp>
        <p:nvSpPr>
          <p:cNvPr id="8" name="insIT_48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Leggi l'articolo. Scegli un titolo dal riquadro per 2–4.</a:t>
            </a:r>
            <a:endParaRPr lang="en-US" sz="950" dirty="0"/>
          </a:p>
        </p:txBody>
      </p:sp>
      <p:sp>
        <p:nvSpPr>
          <p:cNvPr id="9" name="cmd_49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49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✏️ </a:t>
            </a:r>
            <a:pPr indent="0" marL="0">
              <a:buNone/>
            </a:pPr>
            <a:r>
              <a:rPr lang="en-US" sz="900" dirty="0">
                <a:solidFill>
                  <a:srgbClr val="F2B70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FILL THE GAPS</a:t>
            </a:r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COMPLETA</a:t>
            </a:r>
            <a:endParaRPr lang="en-US" sz="800" dirty="0"/>
          </a:p>
        </p:txBody>
      </p:sp>
      <p:sp>
        <p:nvSpPr>
          <p:cNvPr id="11" name="meta_492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950" dirty="0"/>
          </a:p>
        </p:txBody>
      </p:sp>
      <p:sp>
        <p:nvSpPr>
          <p:cNvPr id="12" name="tag_493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TPRS · reading</a:t>
            </a:r>
            <a:endParaRPr lang="en-US" sz="850" dirty="0"/>
          </a:p>
        </p:txBody>
      </p:sp>
      <p:pic>
        <p:nvPicPr>
          <p:cNvPr id="13" name="logo_49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49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Reading · British and American English   ·   📖 SB p.17 · 5a, 5b · audio 2.12 · article shortened</a:t>
            </a:r>
            <a:endParaRPr lang="en-US" sz="800" dirty="0"/>
          </a:p>
        </p:txBody>
      </p:sp>
      <p:sp>
        <p:nvSpPr>
          <p:cNvPr id="15" name="cd_496"/>
          <p:cNvSpPr/>
          <p:nvPr/>
        </p:nvSpPr>
        <p:spPr>
          <a:xfrm>
            <a:off x="320040" y="1417320"/>
            <a:ext cx="5715000" cy="333756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sh_497"/>
          <p:cNvSpPr/>
          <p:nvPr/>
        </p:nvSpPr>
        <p:spPr>
          <a:xfrm>
            <a:off x="320040" y="1417320"/>
            <a:ext cx="5715000" cy="438912"/>
          </a:xfrm>
          <a:prstGeom prst="rect">
            <a:avLst/>
          </a:prstGeom>
          <a:solidFill>
            <a:srgbClr val="E3F7EA"/>
          </a:solidFill>
          <a:ln/>
        </p:spPr>
        <p:txBody>
          <a:bodyPr wrap="square" lIns="203200" tIns="0" rIns="20320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📰 British and American English</a:t>
            </a:r>
            <a:endParaRPr lang="en-US" sz="1700" dirty="0"/>
          </a:p>
        </p:txBody>
      </p:sp>
      <p:sp>
        <p:nvSpPr>
          <p:cNvPr id="17" name="ln_498"/>
          <p:cNvSpPr/>
          <p:nvPr/>
        </p:nvSpPr>
        <p:spPr>
          <a:xfrm>
            <a:off x="548640" y="19202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Vocabulary – Some words are different. Americans say ZIP code (not postcode), vacation (not holiday) and cell phone (not mobile phone). In American English a purse is a woman's bag!</a:t>
            </a:r>
            <a:endParaRPr lang="en-US" sz="1050" dirty="0"/>
          </a:p>
        </p:txBody>
      </p:sp>
      <p:sp>
        <p:nvSpPr>
          <p:cNvPr id="18" name="ln_499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Words with -our in British English end in -or in American English: colour → color. Centre and theatre → center and theater.</a:t>
            </a:r>
            <a:endParaRPr lang="en-US" sz="1050" dirty="0"/>
          </a:p>
        </p:txBody>
      </p:sp>
      <p:sp>
        <p:nvSpPr>
          <p:cNvPr id="19" name="R1_lnA500"/>
          <p:cNvSpPr/>
          <p:nvPr/>
        </p:nvSpPr>
        <p:spPr>
          <a:xfrm>
            <a:off x="548640" y="246888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Spelling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Words with -our in British English end in -or in American English: colour → color. Centre and theatre → center and theater.</a:t>
            </a:r>
            <a:endParaRPr lang="en-US" sz="1050" dirty="0"/>
          </a:p>
        </p:txBody>
      </p:sp>
      <p:sp>
        <p:nvSpPr>
          <p:cNvPr id="20" name="ln_501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There are small differences, especially prepositions. Americans say See you Friday. British people say See you on Friday.</a:t>
            </a:r>
            <a:endParaRPr lang="en-US" sz="1050" dirty="0"/>
          </a:p>
        </p:txBody>
      </p:sp>
      <p:sp>
        <p:nvSpPr>
          <p:cNvPr id="21" name="R2_lnA502"/>
          <p:cNvSpPr/>
          <p:nvPr/>
        </p:nvSpPr>
        <p:spPr>
          <a:xfrm>
            <a:off x="548640" y="301752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Grammar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There are small differences, especially prepositions. Americans say See you Friday. British people say See you on Friday.</a:t>
            </a:r>
            <a:endParaRPr lang="en-US" sz="1050" dirty="0"/>
          </a:p>
        </p:txBody>
      </p:sp>
      <p:sp>
        <p:nvSpPr>
          <p:cNvPr id="22" name="ln_503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</a:t>
            </a:r>
            <a:pPr indent="0" marL="0">
              <a:buNone/>
            </a:pPr>
            <a:r>
              <a:rPr lang="en-US" sz="10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This is the really important difference. When an American starts speaking, British people know he or she is American.</a:t>
            </a:r>
            <a:endParaRPr lang="en-US" sz="1050" dirty="0"/>
          </a:p>
        </p:txBody>
      </p:sp>
      <p:sp>
        <p:nvSpPr>
          <p:cNvPr id="23" name="R3_lnA504"/>
          <p:cNvSpPr/>
          <p:nvPr/>
        </p:nvSpPr>
        <p:spPr>
          <a:xfrm>
            <a:off x="548640" y="3566160"/>
            <a:ext cx="53492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</a:t>
            </a:r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Pronunciation</a:t>
            </a:r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This is the really important difference. When an American starts speaking, British people know he or she is American.</a:t>
            </a:r>
            <a:endParaRPr lang="en-US" sz="1050" dirty="0"/>
          </a:p>
        </p:txBody>
      </p:sp>
      <p:sp>
        <p:nvSpPr>
          <p:cNvPr id="24" name="ap_505"/>
          <p:cNvSpPr/>
          <p:nvPr/>
        </p:nvSpPr>
        <p:spPr>
          <a:xfrm>
            <a:off x="6263640" y="141732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19050">
            <a:solidFill>
              <a:srgbClr val="2F8DE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2.12</a:t>
            </a:r>
            <a:endParaRPr lang="en-US" sz="1100" dirty="0"/>
          </a:p>
        </p:txBody>
      </p:sp>
      <p:sp>
        <p:nvSpPr>
          <p:cNvPr id="25" name="ah_506"/>
          <p:cNvSpPr/>
          <p:nvPr/>
        </p:nvSpPr>
        <p:spPr>
          <a:xfrm>
            <a:off x="5925312" y="4572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F8DE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normal · 🐢 slower</a:t>
            </a:r>
            <a:endParaRPr lang="en-US" sz="950" dirty="0"/>
          </a:p>
        </p:txBody>
      </p:sp>
      <p:pic>
        <p:nvPicPr>
          <p:cNvPr id="26" name="Media 0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525512" y="4553712"/>
            <a:ext cx="411480" cy="411480"/>
          </a:xfrm>
          <a:prstGeom prst="rect">
            <a:avLst/>
          </a:prstGeom>
        </p:spPr>
      </p:pic>
      <p:pic>
        <p:nvPicPr>
          <p:cNvPr id="27" name="Media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001000" y="4553712"/>
            <a:ext cx="411480" cy="411480"/>
          </a:xfrm>
          <a:prstGeom prst="rect">
            <a:avLst/>
          </a:prstGeom>
        </p:spPr>
      </p:pic>
      <p:sp>
        <p:nvSpPr>
          <p:cNvPr id="28" name="cd_507"/>
          <p:cNvSpPr/>
          <p:nvPr/>
        </p:nvSpPr>
        <p:spPr>
          <a:xfrm>
            <a:off x="6263640" y="1965960"/>
            <a:ext cx="2651760" cy="1444752"/>
          </a:xfrm>
          <a:prstGeom prst="roundRect">
            <a:avLst>
              <a:gd name="adj" fmla="val 8861"/>
            </a:avLst>
          </a:prstGeom>
          <a:solidFill>
            <a:srgbClr val="E3F1FD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bkh_508"/>
          <p:cNvSpPr/>
          <p:nvPr/>
        </p:nvSpPr>
        <p:spPr>
          <a:xfrm>
            <a:off x="6373368" y="20208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🧺 Headings · two don't fit!</a:t>
            </a:r>
            <a:endParaRPr lang="en-US" sz="1100" dirty="0"/>
          </a:p>
        </p:txBody>
      </p:sp>
      <p:sp>
        <p:nvSpPr>
          <p:cNvPr id="30" name="bk_509"/>
          <p:cNvSpPr/>
          <p:nvPr/>
        </p:nvSpPr>
        <p:spPr>
          <a:xfrm>
            <a:off x="6373368" y="2368296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Food</a:t>
            </a:r>
            <a:endParaRPr lang="en-US" sz="1050" dirty="0"/>
          </a:p>
        </p:txBody>
      </p:sp>
      <p:sp>
        <p:nvSpPr>
          <p:cNvPr id="31" name="bk_510"/>
          <p:cNvSpPr/>
          <p:nvPr/>
        </p:nvSpPr>
        <p:spPr>
          <a:xfrm>
            <a:off x="7626096" y="2368296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</a:t>
            </a:r>
            <a:endParaRPr lang="en-US" sz="1050" dirty="0"/>
          </a:p>
        </p:txBody>
      </p:sp>
      <p:sp>
        <p:nvSpPr>
          <p:cNvPr id="32" name="bk_511"/>
          <p:cNvSpPr/>
          <p:nvPr/>
        </p:nvSpPr>
        <p:spPr>
          <a:xfrm>
            <a:off x="6373368" y="269748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Music</a:t>
            </a:r>
            <a:endParaRPr lang="en-US" sz="1050" dirty="0"/>
          </a:p>
        </p:txBody>
      </p:sp>
      <p:sp>
        <p:nvSpPr>
          <p:cNvPr id="33" name="bk_512"/>
          <p:cNvSpPr/>
          <p:nvPr/>
        </p:nvSpPr>
        <p:spPr>
          <a:xfrm>
            <a:off x="7626096" y="269748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Pronunciation</a:t>
            </a:r>
            <a:endParaRPr lang="en-US" sz="1050" dirty="0"/>
          </a:p>
        </p:txBody>
      </p:sp>
      <p:sp>
        <p:nvSpPr>
          <p:cNvPr id="34" name="bk_513"/>
          <p:cNvSpPr/>
          <p:nvPr/>
        </p:nvSpPr>
        <p:spPr>
          <a:xfrm>
            <a:off x="6373368" y="3026664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Spelling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1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51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516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True or false?</a:t>
            </a:r>
            <a:endParaRPr lang="en-US" sz="2500" dirty="0"/>
          </a:p>
        </p:txBody>
      </p:sp>
      <p:pic>
        <p:nvPicPr>
          <p:cNvPr id="6" name="brP_51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032504" cy="402336"/>
          </a:xfrm>
          <a:prstGeom prst="rect">
            <a:avLst/>
          </a:prstGeom>
        </p:spPr>
      </p:pic>
      <p:sp>
        <p:nvSpPr>
          <p:cNvPr id="7" name="ins_518"/>
          <p:cNvSpPr/>
          <p:nvPr/>
        </p:nvSpPr>
        <p:spPr>
          <a:xfrm>
            <a:off x="1353312" y="731520"/>
            <a:ext cx="3776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True or false? Correct the false ones.</a:t>
            </a:r>
            <a:endParaRPr lang="en-US" sz="1250" dirty="0"/>
          </a:p>
        </p:txBody>
      </p:sp>
      <p:sp>
        <p:nvSpPr>
          <p:cNvPr id="8" name="insIT_51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Vero o falso? Correggi quelle false.</a:t>
            </a:r>
            <a:endParaRPr lang="en-US" sz="950" dirty="0"/>
          </a:p>
        </p:txBody>
      </p:sp>
      <p:sp>
        <p:nvSpPr>
          <p:cNvPr id="9" name="cmd_520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👀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READ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LEGGI</a:t>
            </a:r>
            <a:endParaRPr lang="en-US" sz="1100" dirty="0"/>
          </a:p>
        </p:txBody>
      </p:sp>
      <p:sp>
        <p:nvSpPr>
          <p:cNvPr id="10" name="cmd_521"/>
          <p:cNvSpPr/>
          <p:nvPr/>
        </p:nvSpPr>
        <p:spPr>
          <a:xfrm>
            <a:off x="6510528" y="566928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✅ </a:t>
            </a:r>
            <a:pPr indent="0" marL="0">
              <a:buNone/>
            </a:pPr>
            <a:r>
              <a:rPr lang="en-US" sz="12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CHECK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CONTROLLA</a:t>
            </a:r>
            <a:endParaRPr lang="en-US" sz="1100" dirty="0"/>
          </a:p>
        </p:txBody>
      </p:sp>
      <p:sp>
        <p:nvSpPr>
          <p:cNvPr id="11" name="meta_522"/>
          <p:cNvSpPr/>
          <p:nvPr/>
        </p:nvSpPr>
        <p:spPr>
          <a:xfrm>
            <a:off x="6510528" y="950976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950" dirty="0"/>
          </a:p>
        </p:txBody>
      </p:sp>
      <p:sp>
        <p:nvSpPr>
          <p:cNvPr id="12" name="tag_523"/>
          <p:cNvSpPr/>
          <p:nvPr/>
        </p:nvSpPr>
        <p:spPr>
          <a:xfrm>
            <a:off x="6510528" y="1188720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</a:t>
            </a:r>
            <a:pPr algn="ctr" indent="0" marL="0">
              <a:buNone/>
            </a:pPr>
            <a:r>
              <a:rPr lang="en-US" sz="70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Controlled practice</a:t>
            </a:r>
            <a:endParaRPr lang="en-US" sz="700" dirty="0"/>
          </a:p>
        </p:txBody>
      </p:sp>
      <p:pic>
        <p:nvPicPr>
          <p:cNvPr id="13" name="logo_5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4" name="foot_5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Reading · detail   ·   📖 SB p.17 · 5c (answers: TG)</a:t>
            </a:r>
            <a:endParaRPr lang="en-US" sz="800" dirty="0"/>
          </a:p>
        </p:txBody>
      </p:sp>
      <p:sp>
        <p:nvSpPr>
          <p:cNvPr id="15" name="cd_526"/>
          <p:cNvSpPr/>
          <p:nvPr/>
        </p:nvSpPr>
        <p:spPr>
          <a:xfrm>
            <a:off x="320040" y="1417320"/>
            <a:ext cx="2697480" cy="1097280"/>
          </a:xfrm>
          <a:prstGeom prst="roundRect">
            <a:avLst>
              <a:gd name="adj" fmla="val 11667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5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7" name="ih_5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8" name="il_529"/>
          <p:cNvSpPr/>
          <p:nvPr/>
        </p:nvSpPr>
        <p:spPr>
          <a:xfrm>
            <a:off x="886968" y="1892808"/>
            <a:ext cx="2039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📰 The article is on the last slide. Go back if you need to!</a:t>
            </a:r>
            <a:endParaRPr lang="en-US" sz="1050" dirty="0"/>
          </a:p>
        </p:txBody>
      </p:sp>
      <p:sp>
        <p:nvSpPr>
          <p:cNvPr id="19" name="pf_530"/>
          <p:cNvSpPr/>
          <p:nvPr/>
        </p:nvSpPr>
        <p:spPr>
          <a:xfrm rot="-90000">
            <a:off x="365760" y="2697480"/>
            <a:ext cx="2606040" cy="1965960"/>
          </a:xfrm>
          <a:prstGeom prst="roundRect">
            <a:avLst>
              <a:gd name="adj" fmla="val 79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20" name="ph_531" descr="/home/claude/lls-course/v2/cache/red_2b_newyork_jpg_605x4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2743200"/>
            <a:ext cx="2514600" cy="1874520"/>
          </a:xfrm>
          <a:prstGeom prst="rect">
            <a:avLst/>
          </a:prstGeom>
        </p:spPr>
      </p:pic>
      <p:sp>
        <p:nvSpPr>
          <p:cNvPr id="21" name="bd_53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q_53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British and American English are very different.</a:t>
            </a:r>
            <a:endParaRPr lang="en-US" sz="1050" dirty="0"/>
          </a:p>
        </p:txBody>
      </p:sp>
      <p:sp>
        <p:nvSpPr>
          <p:cNvPr id="23" name="R1_chip53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the differences are small.</a:t>
            </a:r>
            <a:endParaRPr lang="en-US" sz="1000" dirty="0"/>
          </a:p>
        </p:txBody>
      </p:sp>
      <p:sp>
        <p:nvSpPr>
          <p:cNvPr id="24" name="bd_53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q_53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 Holiday and postcode are the same in the US.</a:t>
            </a:r>
            <a:endParaRPr lang="en-US" sz="1150" dirty="0"/>
          </a:p>
        </p:txBody>
      </p:sp>
      <p:sp>
        <p:nvSpPr>
          <p:cNvPr id="26" name="R2_chip53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vacation, ZIP code.</a:t>
            </a:r>
            <a:endParaRPr lang="en-US" sz="1000" dirty="0"/>
          </a:p>
        </p:txBody>
      </p:sp>
      <p:sp>
        <p:nvSpPr>
          <p:cNvPr id="27" name="bd_53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q_53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 Purse has a different meaning in the US.</a:t>
            </a:r>
            <a:endParaRPr lang="en-US" sz="1150" dirty="0"/>
          </a:p>
        </p:txBody>
      </p:sp>
      <p:sp>
        <p:nvSpPr>
          <p:cNvPr id="29" name="R3_chip54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000" dirty="0"/>
          </a:p>
        </p:txBody>
      </p:sp>
      <p:sp>
        <p:nvSpPr>
          <p:cNvPr id="30" name="bd_54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q_54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 Kilometer is the British spelling.</a:t>
            </a:r>
            <a:endParaRPr lang="en-US" sz="1150" dirty="0"/>
          </a:p>
        </p:txBody>
      </p:sp>
      <p:sp>
        <p:nvSpPr>
          <p:cNvPr id="32" name="R4_chip54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it's American (UK: kilometre).</a:t>
            </a:r>
            <a:endParaRPr lang="en-US" sz="1000" dirty="0"/>
          </a:p>
        </p:txBody>
      </p:sp>
      <p:sp>
        <p:nvSpPr>
          <p:cNvPr id="33" name="bd_54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q_54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 The grammar is not very different.</a:t>
            </a:r>
            <a:endParaRPr lang="en-US" sz="1150" dirty="0"/>
          </a:p>
        </p:txBody>
      </p:sp>
      <p:sp>
        <p:nvSpPr>
          <p:cNvPr id="35" name="R5_chip54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000" dirty="0"/>
          </a:p>
        </p:txBody>
      </p:sp>
      <p:sp>
        <p:nvSpPr>
          <p:cNvPr id="36" name="bd_547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q_548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 It's difficult to know if a person is American.</a:t>
            </a:r>
            <a:endParaRPr lang="en-US" sz="1150" dirty="0"/>
          </a:p>
        </p:txBody>
      </p:sp>
      <p:sp>
        <p:nvSpPr>
          <p:cNvPr id="38" name="R6_chip549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19050">
            <a:solidFill>
              <a:srgbClr val="2EB872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it's easy (the accent).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5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552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5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554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55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cmd_556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THINK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PENSA</a:t>
            </a:r>
            <a:endParaRPr lang="en-US" sz="1100" dirty="0"/>
          </a:p>
        </p:txBody>
      </p:sp>
      <p:sp>
        <p:nvSpPr>
          <p:cNvPr id="10" name="meta_557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950" dirty="0"/>
          </a:p>
        </p:txBody>
      </p:sp>
      <p:sp>
        <p:nvSpPr>
          <p:cNvPr id="11" name="tag_558"/>
          <p:cNvSpPr/>
          <p:nvPr/>
        </p:nvSpPr>
        <p:spPr>
          <a:xfrm>
            <a:off x="6510528" y="804672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Reflection</a:t>
            </a:r>
            <a:endParaRPr lang="en-US" sz="850" dirty="0"/>
          </a:p>
        </p:txBody>
      </p:sp>
      <p:pic>
        <p:nvPicPr>
          <p:cNvPr id="12" name="logo_5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3" name="foot_5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Review · what did you do today?</a:t>
            </a:r>
            <a:endParaRPr lang="en-US" sz="800" dirty="0"/>
          </a:p>
        </p:txBody>
      </p:sp>
      <p:sp>
        <p:nvSpPr>
          <p:cNvPr id="14" name="cd_561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te_562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16" name="tt_563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colours and adjectives</a:t>
            </a:r>
            <a:endParaRPr lang="en-US" sz="1350" dirty="0"/>
          </a:p>
        </p:txBody>
      </p:sp>
      <p:sp>
        <p:nvSpPr>
          <p:cNvPr id="17" name="R1_tk564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cd_565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te_56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🇺🇸</a:t>
            </a:r>
            <a:endParaRPr lang="en-US" sz="1800" dirty="0"/>
          </a:p>
        </p:txBody>
      </p:sp>
      <p:sp>
        <p:nvSpPr>
          <p:cNvPr id="20" name="tt_567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Named American icons: a hot dog, yellow taxis…</a:t>
            </a:r>
            <a:endParaRPr lang="en-US" sz="1350" dirty="0"/>
          </a:p>
        </p:txBody>
      </p:sp>
      <p:sp>
        <p:nvSpPr>
          <p:cNvPr id="21" name="R2_tk568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cd_569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te_570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4" name="tt_571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a class story and answered questions</a:t>
            </a:r>
            <a:endParaRPr lang="en-US" sz="1350" dirty="0"/>
          </a:p>
        </p:txBody>
      </p:sp>
      <p:sp>
        <p:nvSpPr>
          <p:cNvPr id="25" name="R3_tk572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6" name="cd_573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7" name="te_574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8" name="tt_575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Heard long and short sounds: cheap, rich</a:t>
            </a:r>
            <a:endParaRPr lang="en-US" sz="1350" dirty="0"/>
          </a:p>
        </p:txBody>
      </p:sp>
      <p:sp>
        <p:nvSpPr>
          <p:cNvPr id="29" name="R4_tk576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0" name="cd_577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9050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te_578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👀</a:t>
            </a:r>
            <a:endParaRPr lang="en-US" sz="1800" dirty="0"/>
          </a:p>
        </p:txBody>
      </p:sp>
      <p:sp>
        <p:nvSpPr>
          <p:cNvPr id="32" name="tt_579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British and American English</a:t>
            </a:r>
            <a:endParaRPr lang="en-US" sz="1350" dirty="0"/>
          </a:p>
        </p:txBody>
      </p:sp>
      <p:sp>
        <p:nvSpPr>
          <p:cNvPr id="33" name="R5_tk580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4" name="st_581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8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58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58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58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858768" cy="402336"/>
          </a:xfrm>
          <a:prstGeom prst="rect">
            <a:avLst/>
          </a:prstGeom>
        </p:spPr>
      </p:pic>
      <p:sp>
        <p:nvSpPr>
          <p:cNvPr id="7" name="ins_586"/>
          <p:cNvSpPr/>
          <p:nvPr/>
        </p:nvSpPr>
        <p:spPr>
          <a:xfrm>
            <a:off x="1353312" y="731520"/>
            <a:ext cx="3602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What can you remember?</a:t>
            </a:r>
            <a:endParaRPr lang="en-US" sz="1250" dirty="0"/>
          </a:p>
        </p:txBody>
      </p:sp>
      <p:sp>
        <p:nvSpPr>
          <p:cNvPr id="8" name="insIT_58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Libri chiusi! Cosa ricordi?</a:t>
            </a:r>
            <a:endParaRPr lang="en-US" sz="950" dirty="0"/>
          </a:p>
        </p:txBody>
      </p:sp>
      <p:sp>
        <p:nvSpPr>
          <p:cNvPr id="9" name="meta_588"/>
          <p:cNvSpPr/>
          <p:nvPr/>
        </p:nvSpPr>
        <p:spPr>
          <a:xfrm>
            <a:off x="6510528" y="182880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950" dirty="0"/>
          </a:p>
        </p:txBody>
      </p:sp>
      <p:sp>
        <p:nvSpPr>
          <p:cNvPr id="10" name="tag_589"/>
          <p:cNvSpPr/>
          <p:nvPr/>
        </p:nvSpPr>
        <p:spPr>
          <a:xfrm>
            <a:off x="6510528" y="420624"/>
            <a:ext cx="1901952" cy="219456"/>
          </a:xfrm>
          <a:prstGeom prst="roundRect">
            <a:avLst>
              <a:gd name="adj" fmla="val 58333"/>
            </a:avLst>
          </a:prstGeom>
          <a:solidFill>
            <a:srgbClr val="F3EEFF"/>
          </a:solidFill>
          <a:ln w="12700">
            <a:solidFill>
              <a:srgbClr val="D9CC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</a:t>
            </a:r>
            <a:pPr algn="ctr" indent="0" marL="0">
              <a:buNone/>
            </a:pPr>
            <a:r>
              <a:rPr lang="en-US" sz="850" dirty="0">
                <a:solidFill>
                  <a:srgbClr val="7B5CD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·  Retrieval</a:t>
            </a:r>
            <a:endParaRPr lang="en-US" sz="850" dirty="0"/>
          </a:p>
        </p:txBody>
      </p:sp>
      <p:pic>
        <p:nvPicPr>
          <p:cNvPr id="11" name="logo_59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59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Exit · what can you remember?</a:t>
            </a:r>
            <a:endParaRPr lang="en-US" sz="800" dirty="0"/>
          </a:p>
        </p:txBody>
      </p:sp>
      <p:sp>
        <p:nvSpPr>
          <p:cNvPr id="13" name="bd_592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rt_593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pairs of opposites (big ≠ small…)</a:t>
            </a:r>
            <a:endParaRPr lang="en-US" sz="1400" dirty="0"/>
          </a:p>
        </p:txBody>
      </p:sp>
      <p:sp>
        <p:nvSpPr>
          <p:cNvPr id="15" name="bd_594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rt_595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American icons (a hot dog…)</a:t>
            </a:r>
            <a:endParaRPr lang="en-US" sz="1400" dirty="0"/>
          </a:p>
        </p:txBody>
      </p:sp>
      <p:sp>
        <p:nvSpPr>
          <p:cNvPr id="17" name="bd_596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rt_597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sentence about Frank's taxi</a:t>
            </a:r>
            <a:endParaRPr lang="en-US" sz="1400" dirty="0"/>
          </a:p>
        </p:txBody>
      </p:sp>
      <p:sp>
        <p:nvSpPr>
          <p:cNvPr id="19" name="cd_598"/>
          <p:cNvSpPr/>
          <p:nvPr/>
        </p:nvSpPr>
        <p:spPr>
          <a:xfrm>
            <a:off x="5669280" y="1417320"/>
            <a:ext cx="3200400" cy="2286000"/>
          </a:xfrm>
          <a:prstGeom prst="roundRect">
            <a:avLst>
              <a:gd name="adj" fmla="val 5600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599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1" name="ih_600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2" name="il_601"/>
          <p:cNvSpPr/>
          <p:nvPr/>
        </p:nvSpPr>
        <p:spPr>
          <a:xfrm>
            <a:off x="6236208" y="1892808"/>
            <a:ext cx="2542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2B: 1a, 1b, 1c (colours, opposites)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2B: 2a–2e (adjectives)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Workbook 2B: 3a (long and short sounds)</a:t>
            </a:r>
            <a:endParaRPr lang="en-US" sz="11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Write: 5 things you have + an adjective</a:t>
            </a:r>
            <a:endParaRPr lang="en-US" sz="1150" dirty="0"/>
          </a:p>
        </p:txBody>
      </p:sp>
      <p:sp>
        <p:nvSpPr>
          <p:cNvPr id="23" name="st_602"/>
          <p:cNvSpPr/>
          <p:nvPr/>
        </p:nvSpPr>
        <p:spPr>
          <a:xfrm rot="-180000">
            <a:off x="5806440" y="3931920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2C · Slow down! · feelings, imperatives, let's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0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5400">
            <a:solidFill>
              <a:srgbClr val="FFFFFF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60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663440" cy="621792"/>
          </a:xfrm>
          <a:prstGeom prst="rect">
            <a:avLst/>
          </a:prstGeom>
        </p:spPr>
      </p:pic>
      <p:sp>
        <p:nvSpPr>
          <p:cNvPr id="5" name="title_605"/>
          <p:cNvSpPr/>
          <p:nvPr/>
        </p:nvSpPr>
        <p:spPr>
          <a:xfrm>
            <a:off x="1261872" y="1645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Extra: all the adjectives</a:t>
            </a:r>
            <a:endParaRPr lang="en-US" sz="2500" dirty="0"/>
          </a:p>
        </p:txBody>
      </p:sp>
      <p:pic>
        <p:nvPicPr>
          <p:cNvPr id="6" name="brP_60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607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Click a speaker to play the book audio.</a:t>
            </a:r>
            <a:endParaRPr lang="en-US" sz="1250" dirty="0"/>
          </a:p>
        </p:txBody>
      </p:sp>
      <p:sp>
        <p:nvSpPr>
          <p:cNvPr id="8" name="insIT_60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Clicca un altoparlante per l'audio del libro.</a:t>
            </a:r>
            <a:endParaRPr lang="en-US" sz="950" dirty="0"/>
          </a:p>
        </p:txBody>
      </p:sp>
      <p:sp>
        <p:nvSpPr>
          <p:cNvPr id="9" name="cmd_609"/>
          <p:cNvSpPr/>
          <p:nvPr/>
        </p:nvSpPr>
        <p:spPr>
          <a:xfrm>
            <a:off x="6510528" y="182880"/>
            <a:ext cx="190195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🎧 </a:t>
            </a:r>
            <a:pPr indent="0" marL="0">
              <a:buNone/>
            </a:pPr>
            <a:r>
              <a:rPr lang="en-US" sz="12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</a:t>
            </a:r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 ASCOLTA</a:t>
            </a:r>
            <a:endParaRPr lang="en-US" sz="1100" dirty="0"/>
          </a:p>
        </p:txBody>
      </p:sp>
      <p:sp>
        <p:nvSpPr>
          <p:cNvPr id="10" name="meta_610"/>
          <p:cNvSpPr/>
          <p:nvPr/>
        </p:nvSpPr>
        <p:spPr>
          <a:xfrm>
            <a:off x="6510528" y="566928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🙋 whole class</a:t>
            </a:r>
            <a:endParaRPr lang="en-US" sz="950" dirty="0"/>
          </a:p>
        </p:txBody>
      </p:sp>
      <p:pic>
        <p:nvPicPr>
          <p:cNvPr id="11" name="logo_61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2" name="foot_61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2B · Book audio · 2B</a:t>
            </a:r>
            <a:endParaRPr lang="en-US" sz="800" dirty="0"/>
          </a:p>
        </p:txBody>
      </p:sp>
      <p:sp>
        <p:nvSpPr>
          <p:cNvPr id="13" name="st_613"/>
          <p:cNvSpPr/>
          <p:nvPr/>
        </p:nvSpPr>
        <p:spPr>
          <a:xfrm rot="-180000">
            <a:off x="7315200" y="4773168"/>
            <a:ext cx="1600200" cy="292608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EXTRA · if there's time</a:t>
            </a:r>
            <a:endParaRPr lang="en-US" sz="900" dirty="0"/>
          </a:p>
        </p:txBody>
      </p:sp>
      <p:sp>
        <p:nvSpPr>
          <p:cNvPr id="14" name="pf_614"/>
          <p:cNvSpPr/>
          <p:nvPr/>
        </p:nvSpPr>
        <p:spPr>
          <a:xfrm rot="-120000">
            <a:off x="365760" y="1371600"/>
            <a:ext cx="2651760" cy="1828800"/>
          </a:xfrm>
          <a:prstGeom prst="roundRect">
            <a:avLst>
              <a:gd name="adj" fmla="val 8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615" descr="/home/claude/lls-course/v2/cache/red_2b_icons_jpg_616x418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737360"/>
          </a:xfrm>
          <a:prstGeom prst="rect">
            <a:avLst/>
          </a:prstGeom>
        </p:spPr>
      </p:pic>
      <p:sp>
        <p:nvSpPr>
          <p:cNvPr id="16" name="cd_616"/>
          <p:cNvSpPr/>
          <p:nvPr/>
        </p:nvSpPr>
        <p:spPr>
          <a:xfrm>
            <a:off x="320040" y="3383280"/>
            <a:ext cx="2743200" cy="1325880"/>
          </a:xfrm>
          <a:prstGeom prst="roundRect">
            <a:avLst>
              <a:gd name="adj" fmla="val 9655"/>
            </a:avLst>
          </a:prstGeom>
          <a:solidFill>
            <a:srgbClr val="FFF6CC"/>
          </a:solidFill>
          <a:ln w="19050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617"/>
          <p:cNvSpPr/>
          <p:nvPr/>
        </p:nvSpPr>
        <p:spPr>
          <a:xfrm>
            <a:off x="4114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ih_618"/>
          <p:cNvSpPr/>
          <p:nvPr/>
        </p:nvSpPr>
        <p:spPr>
          <a:xfrm>
            <a:off x="886968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</a:t>
            </a:r>
            <a:endParaRPr lang="en-US" sz="1300" dirty="0"/>
          </a:p>
        </p:txBody>
      </p:sp>
      <p:sp>
        <p:nvSpPr>
          <p:cNvPr id="19" name="il_619"/>
          <p:cNvSpPr/>
          <p:nvPr/>
        </p:nvSpPr>
        <p:spPr>
          <a:xfrm>
            <a:off x="886968" y="3858768"/>
            <a:ext cx="2084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2.7 = all 21 pairs of opposites (Vocabulary Bank p.152)</a:t>
            </a:r>
            <a:endParaRPr lang="en-US" sz="1050" dirty="0"/>
          </a:p>
          <a:p>
            <a:pPr marL="152400" indent="-152400">
              <a:spcBef>
                <a:spcPts val="5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speaker: play / pause</a:t>
            </a:r>
            <a:endParaRPr lang="en-US" sz="1050" dirty="0"/>
          </a:p>
        </p:txBody>
      </p:sp>
      <p:sp>
        <p:nvSpPr>
          <p:cNvPr id="20" name="ab_620"/>
          <p:cNvSpPr/>
          <p:nvPr/>
        </p:nvSpPr>
        <p:spPr>
          <a:xfrm>
            <a:off x="3246120" y="1417320"/>
            <a:ext cx="4983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F7A6C4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2.6  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Colours – listen and repeat</a:t>
            </a:r>
            <a:endParaRPr lang="en-US" sz="1300" dirty="0"/>
          </a:p>
        </p:txBody>
      </p:sp>
      <p:pic>
        <p:nvPicPr>
          <p:cNvPr id="21" name="Media 0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321040" y="1453896"/>
            <a:ext cx="384048" cy="384048"/>
          </a:xfrm>
          <a:prstGeom prst="rect">
            <a:avLst/>
          </a:prstGeom>
        </p:spPr>
      </p:pic>
      <p:sp>
        <p:nvSpPr>
          <p:cNvPr id="22" name="ab_621"/>
          <p:cNvSpPr/>
          <p:nvPr/>
        </p:nvSpPr>
        <p:spPr>
          <a:xfrm>
            <a:off x="3246120" y="1947672"/>
            <a:ext cx="4983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2.7  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 Adjectives – 21 opposites</a:t>
            </a:r>
            <a:endParaRPr lang="en-US" sz="1300" dirty="0"/>
          </a:p>
        </p:txBody>
      </p:sp>
      <p:pic>
        <p:nvPicPr>
          <p:cNvPr id="23" name="Media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321040" y="1984248"/>
            <a:ext cx="384048" cy="384048"/>
          </a:xfrm>
          <a:prstGeom prst="rect">
            <a:avLst/>
          </a:prstGeom>
        </p:spPr>
      </p:pic>
      <p:sp>
        <p:nvSpPr>
          <p:cNvPr id="24" name="ab_622"/>
          <p:cNvSpPr/>
          <p:nvPr/>
        </p:nvSpPr>
        <p:spPr>
          <a:xfrm>
            <a:off x="3246120" y="2478024"/>
            <a:ext cx="4983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A8E5BE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B87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2.11   </a:t>
            </a:r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Same-sound phrases</a:t>
            </a:r>
            <a:endParaRPr lang="en-US" sz="1300" dirty="0"/>
          </a:p>
        </p:txBody>
      </p:sp>
      <p:pic>
        <p:nvPicPr>
          <p:cNvPr id="25" name="Media 2">
            <a:hlinkClick r:id="" action="ppaction://media"/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8321040" y="2514600"/>
            <a:ext cx="384048" cy="384048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Made in America</dc:title>
  <dc:subject>PptxGenJS Presentation</dc:subject>
  <dc:creator>PptxGenJS</dc:creator>
  <cp:lastModifiedBy>PptxGenJS</cp:lastModifiedBy>
  <cp:revision>1</cp:revision>
  <dcterms:created xsi:type="dcterms:W3CDTF">2026-10-12T12:41:35Z</dcterms:created>
  <dcterms:modified xsi:type="dcterms:W3CDTF">2026-10-12T12:41:35Z</dcterms:modified>
</cp:coreProperties>
</file>