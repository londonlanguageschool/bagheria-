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lead-in: books closed, ask what is typically American; write the ideas on the board (Hollywood films, hamburgers, yellow taxis, jeans…). Click: example answer. Keep the list – some of the words come back in the American icons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2A (3 min)
REVISION (3 min). Pairs ask the two questions with their real bags (2–3 things each). Quick check of /ɪz/: glasses, watches, pieces. Leads in: today we DESCRIBE things – colours and adjectives.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colours (3 min)
VOCABULARY (3 min). SB 1a: What colour is the American flag? (red, white, blue). Play 2.6 – students listen and repeat. Then point at each circle: the class says the colour, click once per colour for the Italian. Drill orange /ˈɒrɪndʒ/ (TG note), purple /ˈpɜːpl/, silver, gold. Answers 1b (TG): black, yellow, grey, orange, brown, pink, green, purple, silver, gold.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colours (3 min)
SPEAKING (3 min). SB 1c: model and drill the two questions (What colour is…? / What colour are…?). Pairs ask and answer; click once per line for a model answer. Point out: is + one thing → It's…, are + plural → They're… (like 2A). TG extra support: other flags – What colour is the French / Polish flag?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opposite adjectives (4 min)
OPPOSITES (4 min). Max 8 pairs today (A1–A2); the Vocabulary Bank has 21 – play 2.7 for the whole list if the class is strong. For each tile: students say the opposite, click 1 = an English example, click 2 = the Italian. TG vocabulary note: old, right and short have TWO opposites (Watch out box). Pairs test each other: A says an adjective, B says the opposite (TG 1c).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American icons (4 min)
GRAMMAR IN CONTEXT (4 min). SB 2a: label the photos with an adjective (American, French, blue, hot, fast, White, yellow, New) + a noun (football, fries, jeans, dog, food, House, taxis, York). Pairs, 2 minutes, then click once per number. Answers (SB key): 1 American football (example) · 2 yellow taxis · 3 fast food · 4 French fries · 5 White House · 6 blue jeans · 7 hot dog · 8 New York (the city photo – ask it last). SB 2b: Can I have a hot dog / dog hot? (hot dog) · The taxis are yellow / yellows (yellow) → adjectives go BEFORE the noun and don't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Pop-up grammar · adjectives (4 min)
POP-UP GRAMMAR (4 min). Point back to the icons: yellow taxis – not 'taxis yellow', not 'yellows'. Elicit each column before clicking. Play 2.8 (Grammar Bank sentences: The White House is in Washington DC. It's a beautiful picture… He's strong. We aren't rich. Is your car new? She's quite famous. It's a very big city. We're really tired.) – listen and repeat. TG grammar note: one form only; with be, the adjective comes after: Is your car fast? Italian speakers say 'a car red' – correct it every time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class story (TPRS) (5 min)
TPRS CLASS STORY (5 min) – the adjectives, colours and very / quite from today, heard many times before the practice. Click once per line. For each line: 1) say it, 2) ask the questions round the class (yes/no → either/or → what/where), 3) let the CLASS change details (accept their idea and use it in later lines): 'Is the woman's bag purple? No? What colour is it?' Students answer with one word or a short phrase – that's fine; repeat the full sentence yourself. Recycles: adjective before the noun (an old taxi, a big bag), be + adjective (the taxi is slow), very / really / quite, opposites. Finish: 'What happens next?' (the White House is in Washington DC!).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(4 min)
CONTROLLED PRACTICE (4 min). Grammar Bank 2B exercise a (the book's answers). Pairs say each sentence, then click to check. Highlight: an expensive / an easy (vowel sound, from 2A); questions with be: Is Louis French? (not 'Louis is French?').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long and short vowels (4 min)
PRONUNCIATION (4 min). Play 2.9: the 8 sound pictures – listen, then listen and repeat. The two dots /ː/ = a LONG sound (tree, car, horse, boot). Pairs say each adjective (the vowel is highlighted) and match it to a picture; play 2.10 to check (it has two adjectives per sound); click once per word. Answers (TG 2.10): fish rich, big · tree easy, cheap · cat black, bad · car fast, dark · clock hot, wrong · horse small, short · bull full, good · boot blue, new. TG note: exaggerate the long sounds – Italian has one i and one 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game (3 min)
GAME (3 min). SB 3c as a team race (TG extra idea: race with a time limit). Teams say the phrase with a / an; click once per line, then play 2.11 to check and drill. Answers (TG 2.11): a big city · a black bag · cheap jeans · dark glasses · a good book · a grey day · new boots · an old photo · a short story. Extra challenge (TG): phrases about the classroom – a dirty board, big windows, a brown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8 things you have (4 min)
SPEAKING (4 min). Give students 1 minute to think of 8 things (TG extra support: write them). Prompts appear one per click – model each. Pairs tell each other; the partner asks one question (What colour is it? Is it new?). TG extra idea: before feedback, can you remember your partner's 8 things? 'You have a…'. Note 3–4 word-order errors (a car red) for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game (4 min)
GAME (4 min) – replaces the Communication pair-work (SB p.103/109). Model: 'It's yellow, it's quite long and it's cheap. You eat it.' → a banana. Words appear one per click, alternating A (pink) and B (blue). Accept any correct description with adjective + noun or be + adjective. ICQ: 'Can you say the word?'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British and American English (5 min)
READING (5 min). The article is ON THE SLIDE (shortened from the book, facts unchanged). Pre-teach only: different = diverso, the same = uguale. Pairs choose headings 2–4 from the box (Food and Music don't fit), then play 2.12 to check; click once per heading. Answers (SB key): 2 Spelling · 3 Grammar · 4 Pronunciation. Link to 2A: purse = borsellino in the UK, but a bag in the US!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detail (3 min)
DETAIL (3 min). SB 5c. Pairs answer T/F and correct the false ones (TG: elicit WHY each F is false). Click once per sentence. 5d / TG extra challenge: more American words – movie, cookie, apartment, soccer, elevator. UK / US: cell phone = mobile phone · color = colour · purse = handbag · vacation = holiday · ZIP code = postcode.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Books closed. Pairs: 3 pairs of opposites, 2 American icons (adjective + noun), 1 sentence about Frank's taxi (a very old yellow taxi…). Set homework: Workbook 2B pp.14–15 – 1a–c, 2a–e, 3a (3b needs the Workbook audio, optional) + write 5 things you have with an adjective (a red car, a very old phone…).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Book audio · 2B (0 min)
EXTRA. 2.7 has all 21 pairs from the Vocabulary Bank (too many for one A1/A2 lesson): use it for a fast class or as revision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audio" Target="../media/media-3-5.mp3"/><Relationship Id="rId6" Type="http://schemas.microsoft.com/office/2007/relationships/media" Target="../media/media-3-5.mp3"/><Relationship Id="rId7" Type="http://schemas.openxmlformats.org/officeDocument/2006/relationships/image" Target="../media/image-3-7.png"/><Relationship Id="rId8" Type="http://schemas.openxmlformats.org/officeDocument/2006/relationships/audio" Target="../media/media-3-8.mp3"/><Relationship Id="rId9" Type="http://schemas.microsoft.com/office/2007/relationships/media" Target="../media/media-3-8.mp3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audio" Target="../media/media-10-11.mp3"/><Relationship Id="rId12" Type="http://schemas.microsoft.com/office/2007/relationships/media" Target="../media/media-10-11.mp3"/><Relationship Id="rId13" Type="http://schemas.openxmlformats.org/officeDocument/2006/relationships/image" Target="../media/image-10-13.png"/><Relationship Id="rId14" Type="http://schemas.openxmlformats.org/officeDocument/2006/relationships/audio" Target="../media/media-10-14.mp3"/><Relationship Id="rId15" Type="http://schemas.microsoft.com/office/2007/relationships/media" Target="../media/media-10-14.mp3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audio" Target="../media/media-18-6.mp3"/><Relationship Id="rId7" Type="http://schemas.microsoft.com/office/2007/relationships/media" Target="../media/media-18-6.mp3"/><Relationship Id="rId8" Type="http://schemas.openxmlformats.org/officeDocument/2006/relationships/image" Target="../media/image-18-8.png"/><Relationship Id="rId9" Type="http://schemas.openxmlformats.org/officeDocument/2006/relationships/audio" Target="../media/media-18-9.mp3"/><Relationship Id="rId10" Type="http://schemas.microsoft.com/office/2007/relationships/media" Target="../media/media-18-9.mp3"/><Relationship Id="rId11" Type="http://schemas.openxmlformats.org/officeDocument/2006/relationships/image" Target="../media/image-18-11.png"/><Relationship Id="rId12" Type="http://schemas.openxmlformats.org/officeDocument/2006/relationships/audio" Target="../media/media-18-12.mp3"/><Relationship Id="rId13" Type="http://schemas.microsoft.com/office/2007/relationships/media" Target="../media/media-18-12.mp3"/><Relationship Id="rId14" Type="http://schemas.openxmlformats.org/officeDocument/2006/relationships/image" Target="../media/image-1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Made in America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Colours, adjectives, very / quite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🎨  learn colours and adjectives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🇺🇸  name American icons: a hot dog, yellow taxis…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hear long and short sounds: cheap, rich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British and American English</a:t>
            </a:r>
            <a:endParaRPr lang="en-US" sz="9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Hamburgers, yellow taxis and Hollywood films!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2b_newyork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typically American? Name 3 things!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2A?</a:t>
            </a:r>
            <a:endParaRPr lang="en-US" sz="225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partner: What's in your bag? Where are your keys?</a:t>
            </a:r>
            <a:endParaRPr lang="en-US" sz="120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compagno: Cosa c'è nella tua borsa? Dove sono le tue chiavi?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 2A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red_2a_untidy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things in your bag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plurals: keys, glasses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in, on, under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it? –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wallet.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they? –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sunglasses.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watch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two key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phone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bag.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keys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on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table.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cat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under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sofa.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purse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keys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91556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sunglasses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76198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tissues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69924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it?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colour in English. Click: the Italian.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colore in inglese. Clicca: l'italiano.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5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5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colours   ·   📖 SB p.16 · 1a, 1b · audio 2.6</a:t>
            </a:r>
            <a:endParaRPr lang="en-US" sz="800" dirty="0"/>
          </a:p>
        </p:txBody>
      </p:sp>
      <p:sp>
        <p:nvSpPr>
          <p:cNvPr id="15" name="cd_5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6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⚫</a:t>
            </a:r>
            <a:endParaRPr lang="en-US" sz="2000" dirty="0"/>
          </a:p>
        </p:txBody>
      </p:sp>
      <p:sp>
        <p:nvSpPr>
          <p:cNvPr id="17" name="en_6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black</a:t>
            </a:r>
            <a:endParaRPr lang="en-US" sz="1200" dirty="0"/>
          </a:p>
        </p:txBody>
      </p:sp>
      <p:sp>
        <p:nvSpPr>
          <p:cNvPr id="18" name="R1_it6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nero</a:t>
            </a:r>
            <a:endParaRPr lang="en-US" sz="1000" dirty="0"/>
          </a:p>
        </p:txBody>
      </p:sp>
      <p:sp>
        <p:nvSpPr>
          <p:cNvPr id="19" name="cd_6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6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🟡</a:t>
            </a:r>
            <a:endParaRPr lang="en-US" sz="2000" dirty="0"/>
          </a:p>
        </p:txBody>
      </p:sp>
      <p:sp>
        <p:nvSpPr>
          <p:cNvPr id="21" name="en_6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yellow</a:t>
            </a:r>
            <a:endParaRPr lang="en-US" sz="1200" dirty="0"/>
          </a:p>
        </p:txBody>
      </p:sp>
      <p:sp>
        <p:nvSpPr>
          <p:cNvPr id="22" name="R2_it6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giallo</a:t>
            </a:r>
            <a:endParaRPr lang="en-US" sz="1000" dirty="0"/>
          </a:p>
        </p:txBody>
      </p:sp>
      <p:sp>
        <p:nvSpPr>
          <p:cNvPr id="23" name="cd_6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e_6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25" name="en_6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grey</a:t>
            </a:r>
            <a:endParaRPr lang="en-US" sz="1200" dirty="0"/>
          </a:p>
        </p:txBody>
      </p:sp>
      <p:sp>
        <p:nvSpPr>
          <p:cNvPr id="26" name="R3_it7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grigio</a:t>
            </a:r>
            <a:endParaRPr lang="en-US" sz="1000" dirty="0"/>
          </a:p>
        </p:txBody>
      </p:sp>
      <p:sp>
        <p:nvSpPr>
          <p:cNvPr id="27" name="cd_7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e_7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🟠</a:t>
            </a:r>
            <a:endParaRPr lang="en-US" sz="2000" dirty="0"/>
          </a:p>
        </p:txBody>
      </p:sp>
      <p:sp>
        <p:nvSpPr>
          <p:cNvPr id="29" name="en_7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orange</a:t>
            </a:r>
            <a:endParaRPr lang="en-US" sz="1200" dirty="0"/>
          </a:p>
        </p:txBody>
      </p:sp>
      <p:sp>
        <p:nvSpPr>
          <p:cNvPr id="30" name="R4_it7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arancione</a:t>
            </a:r>
            <a:endParaRPr lang="en-US" sz="1000" dirty="0"/>
          </a:p>
        </p:txBody>
      </p:sp>
      <p:sp>
        <p:nvSpPr>
          <p:cNvPr id="31" name="cd_7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e_7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🟤</a:t>
            </a:r>
            <a:endParaRPr lang="en-US" sz="2000" dirty="0"/>
          </a:p>
        </p:txBody>
      </p:sp>
      <p:sp>
        <p:nvSpPr>
          <p:cNvPr id="33" name="en_7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brown</a:t>
            </a:r>
            <a:endParaRPr lang="en-US" sz="1200" dirty="0"/>
          </a:p>
        </p:txBody>
      </p:sp>
      <p:sp>
        <p:nvSpPr>
          <p:cNvPr id="34" name="R5_it7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marrone</a:t>
            </a:r>
            <a:endParaRPr lang="en-US" sz="1000" dirty="0"/>
          </a:p>
        </p:txBody>
      </p:sp>
      <p:sp>
        <p:nvSpPr>
          <p:cNvPr id="35" name="cd_7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8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🌸</a:t>
            </a:r>
            <a:endParaRPr lang="en-US" sz="2000" dirty="0"/>
          </a:p>
        </p:txBody>
      </p:sp>
      <p:sp>
        <p:nvSpPr>
          <p:cNvPr id="37" name="en_8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pink</a:t>
            </a:r>
            <a:endParaRPr lang="en-US" sz="1200" dirty="0"/>
          </a:p>
        </p:txBody>
      </p:sp>
      <p:sp>
        <p:nvSpPr>
          <p:cNvPr id="38" name="R6_it8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rosa</a:t>
            </a:r>
            <a:endParaRPr lang="en-US" sz="1000" dirty="0"/>
          </a:p>
        </p:txBody>
      </p:sp>
      <p:sp>
        <p:nvSpPr>
          <p:cNvPr id="39" name="cd_8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8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🟢</a:t>
            </a:r>
            <a:endParaRPr lang="en-US" sz="2000" dirty="0"/>
          </a:p>
        </p:txBody>
      </p:sp>
      <p:sp>
        <p:nvSpPr>
          <p:cNvPr id="41" name="en_8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green</a:t>
            </a:r>
            <a:endParaRPr lang="en-US" sz="1200" dirty="0"/>
          </a:p>
        </p:txBody>
      </p:sp>
      <p:sp>
        <p:nvSpPr>
          <p:cNvPr id="42" name="R7_it8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verde</a:t>
            </a:r>
            <a:endParaRPr lang="en-US" sz="1000" dirty="0"/>
          </a:p>
        </p:txBody>
      </p:sp>
      <p:sp>
        <p:nvSpPr>
          <p:cNvPr id="43" name="cd_8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4" name="e_8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🟣</a:t>
            </a:r>
            <a:endParaRPr lang="en-US" sz="2000" dirty="0"/>
          </a:p>
        </p:txBody>
      </p:sp>
      <p:sp>
        <p:nvSpPr>
          <p:cNvPr id="45" name="en_8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purple</a:t>
            </a:r>
            <a:endParaRPr lang="en-US" sz="1200" dirty="0"/>
          </a:p>
        </p:txBody>
      </p:sp>
      <p:sp>
        <p:nvSpPr>
          <p:cNvPr id="46" name="R8_it9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viola</a:t>
            </a:r>
            <a:endParaRPr lang="en-US" sz="1000" dirty="0"/>
          </a:p>
        </p:txBody>
      </p:sp>
      <p:sp>
        <p:nvSpPr>
          <p:cNvPr id="47" name="cd_9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e_9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🥈</a:t>
            </a:r>
            <a:endParaRPr lang="en-US" sz="2000" dirty="0"/>
          </a:p>
        </p:txBody>
      </p:sp>
      <p:sp>
        <p:nvSpPr>
          <p:cNvPr id="49" name="en_9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silver</a:t>
            </a:r>
            <a:endParaRPr lang="en-US" sz="1200" dirty="0"/>
          </a:p>
        </p:txBody>
      </p:sp>
      <p:sp>
        <p:nvSpPr>
          <p:cNvPr id="50" name="R9_it9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argento</a:t>
            </a:r>
            <a:endParaRPr lang="en-US" sz="1000" dirty="0"/>
          </a:p>
        </p:txBody>
      </p:sp>
      <p:sp>
        <p:nvSpPr>
          <p:cNvPr id="51" name="cd_9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2" name="e_9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53" name="en_9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</a:t>
            </a:r>
            <a:endParaRPr lang="en-US" sz="1200" dirty="0"/>
          </a:p>
        </p:txBody>
      </p:sp>
      <p:sp>
        <p:nvSpPr>
          <p:cNvPr id="54" name="R10_it9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oro</a:t>
            </a:r>
            <a:endParaRPr lang="en-US" sz="1000" dirty="0"/>
          </a:p>
        </p:txBody>
      </p:sp>
      <p:sp>
        <p:nvSpPr>
          <p:cNvPr id="55" name="cd_9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6" name="e_10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🔴</a:t>
            </a:r>
            <a:endParaRPr lang="en-US" sz="2000" dirty="0"/>
          </a:p>
        </p:txBody>
      </p:sp>
      <p:sp>
        <p:nvSpPr>
          <p:cNvPr id="57" name="en_10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red</a:t>
            </a:r>
            <a:endParaRPr lang="en-US" sz="1200" dirty="0"/>
          </a:p>
        </p:txBody>
      </p:sp>
      <p:sp>
        <p:nvSpPr>
          <p:cNvPr id="58" name="R11_it10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rosso</a:t>
            </a:r>
            <a:endParaRPr lang="en-US" sz="1000" dirty="0"/>
          </a:p>
        </p:txBody>
      </p:sp>
      <p:sp>
        <p:nvSpPr>
          <p:cNvPr id="59" name="cd_10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10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🔵</a:t>
            </a:r>
            <a:endParaRPr lang="en-US" sz="2000" dirty="0"/>
          </a:p>
        </p:txBody>
      </p:sp>
      <p:sp>
        <p:nvSpPr>
          <p:cNvPr id="61" name="en_10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blue</a:t>
            </a:r>
            <a:endParaRPr lang="en-US" sz="1200" dirty="0"/>
          </a:p>
        </p:txBody>
      </p:sp>
      <p:sp>
        <p:nvSpPr>
          <p:cNvPr id="62" name="R12_it10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 / azzurro</a:t>
            </a:r>
            <a:endParaRPr lang="en-US" sz="1000" dirty="0"/>
          </a:p>
        </p:txBody>
      </p:sp>
      <p:sp>
        <p:nvSpPr>
          <p:cNvPr id="63" name="ap_107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2.6</a:t>
            </a:r>
            <a:endParaRPr lang="en-US" sz="1100" dirty="0"/>
          </a:p>
        </p:txBody>
      </p:sp>
      <p:sp>
        <p:nvSpPr>
          <p:cNvPr id="64" name="ah_10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6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66" name="ah_10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6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8" name="R13_wc110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R13_w111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grey (UK) = gray (US)  ·  orange /ˈɒrɪndʒ/  ·  the American flag is red, white and blue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1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5" dur="1" fill="hold"/>
                                        <p:tgtEl>
                                          <p:spTgt spid="6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76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" fill="hold">
                      <p:stCondLst>
                        <p:cond delay="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80" dur="1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audio>
              <p:cMediaNode vol="80000">
                <p:cTn id="8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5"/>
                </p:tgtEl>
              </p:cMediaNode>
            </p:audio>
            <p:audio>
              <p:cMediaNode vol="80000">
                <p:cTn id="8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7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14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your bag?</a:t>
            </a:r>
            <a:endParaRPr lang="en-US" sz="2500" dirty="0"/>
          </a:p>
        </p:txBody>
      </p:sp>
      <p:pic>
        <p:nvPicPr>
          <p:cNvPr id="6" name="brP_1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1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Answer: It's… / They're…</a:t>
            </a:r>
            <a:endParaRPr lang="en-US" sz="1250" dirty="0"/>
          </a:p>
        </p:txBody>
      </p:sp>
      <p:sp>
        <p:nvSpPr>
          <p:cNvPr id="8" name="insIT_1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Rispondi: It's… / They're…</a:t>
            </a:r>
            <a:endParaRPr lang="en-US" sz="950" dirty="0"/>
          </a:p>
        </p:txBody>
      </p:sp>
      <p:sp>
        <p:nvSpPr>
          <p:cNvPr id="9" name="cmd_11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1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2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colours   ·   📖 SB p.16 · 1c</a:t>
            </a:r>
            <a:endParaRPr lang="en-US" sz="800" dirty="0"/>
          </a:p>
        </p:txBody>
      </p:sp>
      <p:sp>
        <p:nvSpPr>
          <p:cNvPr id="14" name="cd_12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2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American flag? → It's red, white and blue.</a:t>
            </a:r>
            <a:endParaRPr lang="en-US" sz="1050" dirty="0"/>
          </a:p>
        </p:txBody>
      </p:sp>
      <p:sp>
        <p:nvSpPr>
          <p:cNvPr id="18" name="pf_12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28" descr="/home/claude/lls-course/v2/cache/red_2b_fla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2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Italian flag?</a:t>
            </a:r>
            <a:endParaRPr lang="en-US" sz="1150" dirty="0"/>
          </a:p>
        </p:txBody>
      </p:sp>
      <p:sp>
        <p:nvSpPr>
          <p:cNvPr id="22" name="R1_chip13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green, white and red.</a:t>
            </a:r>
            <a:endParaRPr lang="en-US" sz="1000" dirty="0"/>
          </a:p>
        </p:txBody>
      </p:sp>
      <p:sp>
        <p:nvSpPr>
          <p:cNvPr id="23" name="bd_13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3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New York taxis?</a:t>
            </a:r>
            <a:endParaRPr lang="en-US" sz="1150" dirty="0"/>
          </a:p>
        </p:txBody>
      </p:sp>
      <p:sp>
        <p:nvSpPr>
          <p:cNvPr id="25" name="R2_chip13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yellow.</a:t>
            </a:r>
            <a:endParaRPr lang="en-US" sz="1000" dirty="0"/>
          </a:p>
        </p:txBody>
      </p:sp>
      <p:sp>
        <p:nvSpPr>
          <p:cNvPr id="26" name="bd_13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3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your bag?</a:t>
            </a:r>
            <a:endParaRPr lang="en-US" sz="1150" dirty="0"/>
          </a:p>
        </p:txBody>
      </p:sp>
      <p:sp>
        <p:nvSpPr>
          <p:cNvPr id="28" name="R3_chip13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black. / It's brown…</a:t>
            </a:r>
            <a:endParaRPr lang="en-US" sz="1000" dirty="0"/>
          </a:p>
        </p:txBody>
      </p:sp>
      <p:sp>
        <p:nvSpPr>
          <p:cNvPr id="29" name="bd_13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3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your shoes?</a:t>
            </a:r>
            <a:endParaRPr lang="en-US" sz="1150" dirty="0"/>
          </a:p>
        </p:txBody>
      </p:sp>
      <p:sp>
        <p:nvSpPr>
          <p:cNvPr id="31" name="R4_chip14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white…</a:t>
            </a:r>
            <a:endParaRPr lang="en-US" sz="1000" dirty="0"/>
          </a:p>
        </p:txBody>
      </p:sp>
      <p:sp>
        <p:nvSpPr>
          <p:cNvPr id="32" name="bd_14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4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a Sicilian lemon?</a:t>
            </a:r>
            <a:endParaRPr lang="en-US" sz="1150" dirty="0"/>
          </a:p>
        </p:txBody>
      </p:sp>
      <p:sp>
        <p:nvSpPr>
          <p:cNvPr id="34" name="R5_chip14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yellow (and green)!</a:t>
            </a:r>
            <a:endParaRPr lang="en-US" sz="1000" dirty="0"/>
          </a:p>
        </p:txBody>
      </p:sp>
      <p:sp>
        <p:nvSpPr>
          <p:cNvPr id="35" name="bd_14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4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that? (point!)</a:t>
            </a:r>
            <a:endParaRPr lang="en-US" sz="1150" dirty="0"/>
          </a:p>
        </p:txBody>
      </p:sp>
      <p:sp>
        <p:nvSpPr>
          <p:cNvPr id="37" name="R6_chip14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grey. / It's blue…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or small?</a:t>
            </a:r>
            <a:endParaRPr lang="en-US" sz="25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opposite. Click 1: example. Click 2: Italian.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contrario. Clic 1: esempio. Clic 2: italiano.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opposite adjectives   ·   📖 Vocabulary Bank Adjectives p.152 · audio 2.7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16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17" name="en_16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≠ small</a:t>
            </a:r>
            <a:endParaRPr lang="en-US" sz="1200" dirty="0"/>
          </a:p>
        </p:txBody>
      </p:sp>
      <p:sp>
        <p:nvSpPr>
          <p:cNvPr id="18" name="R1_def162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elephant ≠ a mouse</a:t>
            </a:r>
            <a:endParaRPr lang="en-US" sz="850" dirty="0"/>
          </a:p>
        </p:txBody>
      </p:sp>
      <p:sp>
        <p:nvSpPr>
          <p:cNvPr id="19" name="R2_it163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≠ piccolo</a:t>
            </a:r>
            <a:endParaRPr lang="en-US" sz="900" dirty="0"/>
          </a:p>
        </p:txBody>
      </p:sp>
      <p:sp>
        <p:nvSpPr>
          <p:cNvPr id="20" name="cd_164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6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2" name="en_16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cheap ≠ expensive</a:t>
            </a:r>
            <a:endParaRPr lang="en-US" sz="1100" dirty="0"/>
          </a:p>
        </p:txBody>
      </p:sp>
      <p:sp>
        <p:nvSpPr>
          <p:cNvPr id="23" name="R3_def167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pizza ≠ a Ferrari</a:t>
            </a:r>
            <a:endParaRPr lang="en-US" sz="850" dirty="0"/>
          </a:p>
        </p:txBody>
      </p:sp>
      <p:sp>
        <p:nvSpPr>
          <p:cNvPr id="24" name="R4_it168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economico ≠ caro</a:t>
            </a:r>
            <a:endParaRPr lang="en-US" sz="900" dirty="0"/>
          </a:p>
        </p:txBody>
      </p:sp>
      <p:sp>
        <p:nvSpPr>
          <p:cNvPr id="25" name="cd_169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70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🏎️</a:t>
            </a:r>
            <a:endParaRPr lang="en-US" sz="2000" dirty="0"/>
          </a:p>
        </p:txBody>
      </p:sp>
      <p:sp>
        <p:nvSpPr>
          <p:cNvPr id="27" name="en_171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fast ≠ slow</a:t>
            </a:r>
            <a:endParaRPr lang="en-US" sz="1200" dirty="0"/>
          </a:p>
        </p:txBody>
      </p:sp>
      <p:sp>
        <p:nvSpPr>
          <p:cNvPr id="28" name="R5_def172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train ≠ a bus in traffic</a:t>
            </a:r>
            <a:endParaRPr lang="en-US" sz="850" dirty="0"/>
          </a:p>
        </p:txBody>
      </p:sp>
      <p:sp>
        <p:nvSpPr>
          <p:cNvPr id="29" name="R6_it173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veloce ≠ lento</a:t>
            </a:r>
            <a:endParaRPr lang="en-US" sz="900" dirty="0"/>
          </a:p>
        </p:txBody>
      </p:sp>
      <p:sp>
        <p:nvSpPr>
          <p:cNvPr id="30" name="cd_174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7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32" name="en_17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hot ≠ cold</a:t>
            </a:r>
            <a:endParaRPr lang="en-US" sz="1200" dirty="0"/>
          </a:p>
        </p:txBody>
      </p:sp>
      <p:sp>
        <p:nvSpPr>
          <p:cNvPr id="33" name="R7_def177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Sicily in July ≠ London in January</a:t>
            </a:r>
            <a:endParaRPr lang="en-US" sz="850" dirty="0"/>
          </a:p>
        </p:txBody>
      </p:sp>
      <p:sp>
        <p:nvSpPr>
          <p:cNvPr id="34" name="R8_it178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caldo ≠ freddo</a:t>
            </a:r>
            <a:endParaRPr lang="en-US" sz="900" dirty="0"/>
          </a:p>
        </p:txBody>
      </p:sp>
      <p:sp>
        <p:nvSpPr>
          <p:cNvPr id="35" name="cd_179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80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7" name="en_181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good ≠ bad</a:t>
            </a:r>
            <a:endParaRPr lang="en-US" sz="1200" dirty="0"/>
          </a:p>
        </p:txBody>
      </p:sp>
      <p:sp>
        <p:nvSpPr>
          <p:cNvPr id="38" name="R9_def182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film ≠ a bad film</a:t>
            </a:r>
            <a:endParaRPr lang="en-US" sz="850" dirty="0"/>
          </a:p>
        </p:txBody>
      </p:sp>
      <p:sp>
        <p:nvSpPr>
          <p:cNvPr id="39" name="R10_it183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buono ≠ cattivo</a:t>
            </a:r>
            <a:endParaRPr lang="en-US" sz="900" dirty="0"/>
          </a:p>
        </p:txBody>
      </p:sp>
      <p:sp>
        <p:nvSpPr>
          <p:cNvPr id="40" name="cd_184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85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42" name="en_186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easy ≠ difficult</a:t>
            </a:r>
            <a:endParaRPr lang="en-US" sz="1200" dirty="0"/>
          </a:p>
        </p:txBody>
      </p:sp>
      <p:sp>
        <p:nvSpPr>
          <p:cNvPr id="43" name="R11_def187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+ 2 ≠ Chinese</a:t>
            </a:r>
            <a:endParaRPr lang="en-US" sz="850" dirty="0"/>
          </a:p>
        </p:txBody>
      </p:sp>
      <p:sp>
        <p:nvSpPr>
          <p:cNvPr id="44" name="R12_it188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facile ≠ difficile</a:t>
            </a:r>
            <a:endParaRPr lang="en-US" sz="900" dirty="0"/>
          </a:p>
        </p:txBody>
      </p:sp>
      <p:sp>
        <p:nvSpPr>
          <p:cNvPr id="45" name="cd_189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90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47" name="en_191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rich ≠ poor</a:t>
            </a:r>
            <a:endParaRPr lang="en-US" sz="1200" dirty="0"/>
          </a:p>
        </p:txBody>
      </p:sp>
      <p:sp>
        <p:nvSpPr>
          <p:cNvPr id="48" name="R13_def192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millionaire ≠ no money</a:t>
            </a:r>
            <a:endParaRPr lang="en-US" sz="850" dirty="0"/>
          </a:p>
        </p:txBody>
      </p:sp>
      <p:sp>
        <p:nvSpPr>
          <p:cNvPr id="49" name="R14_it193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ricco ≠ povero</a:t>
            </a:r>
            <a:endParaRPr lang="en-US" sz="900" dirty="0"/>
          </a:p>
        </p:txBody>
      </p:sp>
      <p:sp>
        <p:nvSpPr>
          <p:cNvPr id="50" name="cd_194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95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🧓</a:t>
            </a:r>
            <a:endParaRPr lang="en-US" sz="2000" dirty="0"/>
          </a:p>
        </p:txBody>
      </p:sp>
      <p:sp>
        <p:nvSpPr>
          <p:cNvPr id="52" name="en_196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old ≠ new / young</a:t>
            </a:r>
            <a:endParaRPr lang="en-US" sz="1150" dirty="0"/>
          </a:p>
        </p:txBody>
      </p:sp>
      <p:sp>
        <p:nvSpPr>
          <p:cNvPr id="53" name="R15_def197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old car ≠ a new car · an old man ≠ a young man</a:t>
            </a:r>
            <a:endParaRPr lang="en-US" sz="700" dirty="0"/>
          </a:p>
        </p:txBody>
      </p:sp>
      <p:sp>
        <p:nvSpPr>
          <p:cNvPr id="54" name="R16_it198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vecchio ≠ nuovo / giovane</a:t>
            </a:r>
            <a:endParaRPr lang="en-US" sz="700" dirty="0"/>
          </a:p>
        </p:txBody>
      </p:sp>
      <p:sp>
        <p:nvSpPr>
          <p:cNvPr id="55" name="ap_199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</a:t>
            </a:r>
            <a:endParaRPr lang="en-US" sz="1100" dirty="0"/>
          </a:p>
        </p:txBody>
      </p:sp>
      <p:sp>
        <p:nvSpPr>
          <p:cNvPr id="56" name="ah_20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20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202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203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old ≠ new (things) · old ≠ young (people)  ·  right ≠ wrong (answers) · right ≠ left (hands)  ·  short ≠ long / tall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American icons</a:t>
            </a:r>
            <a:endParaRPr lang="en-US" sz="2500" dirty="0"/>
          </a:p>
        </p:txBody>
      </p:sp>
      <p:pic>
        <p:nvPicPr>
          <p:cNvPr id="6" name="brP_2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0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Adjective + noun: what are 1–7?</a:t>
            </a:r>
            <a:endParaRPr lang="en-US" sz="1250" dirty="0"/>
          </a:p>
        </p:txBody>
      </p:sp>
      <p:sp>
        <p:nvSpPr>
          <p:cNvPr id="8" name="insIT_2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Aggettivo + nome: cosa sono 1–7?</a:t>
            </a:r>
            <a:endParaRPr lang="en-US" sz="950" dirty="0"/>
          </a:p>
        </p:txBody>
      </p:sp>
      <p:sp>
        <p:nvSpPr>
          <p:cNvPr id="9" name="cmd_2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2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2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2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2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American icons   ·   📖 SB p.16 · 2a (answers: SB key) · 8 = New York</a:t>
            </a:r>
            <a:endParaRPr lang="en-US" sz="800" dirty="0"/>
          </a:p>
        </p:txBody>
      </p:sp>
      <p:sp>
        <p:nvSpPr>
          <p:cNvPr id="15" name="pf_216"/>
          <p:cNvSpPr/>
          <p:nvPr/>
        </p:nvSpPr>
        <p:spPr>
          <a:xfrm rot="-60000">
            <a:off x="365760" y="1417320"/>
            <a:ext cx="4937760" cy="2971800"/>
          </a:xfrm>
          <a:prstGeom prst="roundRect">
            <a:avLst>
              <a:gd name="adj" fmla="val 5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17" descr="/home/claude/lls-course/v2/cache/red_2b_icons_jpg_1166x69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2880360"/>
          </a:xfrm>
          <a:prstGeom prst="rect">
            <a:avLst/>
          </a:prstGeom>
        </p:spPr>
      </p:pic>
      <p:sp>
        <p:nvSpPr>
          <p:cNvPr id="17" name="bd_218"/>
          <p:cNvSpPr/>
          <p:nvPr/>
        </p:nvSpPr>
        <p:spPr>
          <a:xfrm>
            <a:off x="655625" y="285521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bd_219"/>
          <p:cNvSpPr/>
          <p:nvPr/>
        </p:nvSpPr>
        <p:spPr>
          <a:xfrm>
            <a:off x="1818742" y="1904695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bd_220"/>
          <p:cNvSpPr/>
          <p:nvPr/>
        </p:nvSpPr>
        <p:spPr>
          <a:xfrm>
            <a:off x="3127248" y="1904695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bd_221"/>
          <p:cNvSpPr/>
          <p:nvPr/>
        </p:nvSpPr>
        <p:spPr>
          <a:xfrm>
            <a:off x="4435754" y="1904695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bd_222"/>
          <p:cNvSpPr/>
          <p:nvPr/>
        </p:nvSpPr>
        <p:spPr>
          <a:xfrm>
            <a:off x="1818742" y="3632911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bd_223"/>
          <p:cNvSpPr/>
          <p:nvPr/>
        </p:nvSpPr>
        <p:spPr>
          <a:xfrm>
            <a:off x="3127248" y="3632911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bd_224"/>
          <p:cNvSpPr/>
          <p:nvPr/>
        </p:nvSpPr>
        <p:spPr>
          <a:xfrm>
            <a:off x="4435754" y="3632911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bd_225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226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sport (1 = example)</a:t>
            </a:r>
            <a:endParaRPr lang="en-US" sz="1100" dirty="0"/>
          </a:p>
        </p:txBody>
      </p:sp>
      <p:sp>
        <p:nvSpPr>
          <p:cNvPr id="26" name="R1_chip227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American football</a:t>
            </a:r>
            <a:endParaRPr lang="en-US" sz="1000" dirty="0"/>
          </a:p>
        </p:txBody>
      </p:sp>
      <p:sp>
        <p:nvSpPr>
          <p:cNvPr id="27" name="bd_228"/>
          <p:cNvSpPr/>
          <p:nvPr/>
        </p:nvSpPr>
        <p:spPr>
          <a:xfrm>
            <a:off x="5532120" y="1918934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229"/>
          <p:cNvSpPr/>
          <p:nvPr/>
        </p:nvSpPr>
        <p:spPr>
          <a:xfrm>
            <a:off x="5897880" y="190064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Cars in New York</a:t>
            </a:r>
            <a:endParaRPr lang="en-US" sz="1100" dirty="0"/>
          </a:p>
        </p:txBody>
      </p:sp>
      <p:sp>
        <p:nvSpPr>
          <p:cNvPr id="29" name="R2_chip230"/>
          <p:cNvSpPr/>
          <p:nvPr/>
        </p:nvSpPr>
        <p:spPr>
          <a:xfrm>
            <a:off x="5897880" y="2165822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 taxis</a:t>
            </a:r>
            <a:endParaRPr lang="en-US" sz="1000" dirty="0"/>
          </a:p>
        </p:txBody>
      </p:sp>
      <p:sp>
        <p:nvSpPr>
          <p:cNvPr id="30" name="bd_231"/>
          <p:cNvSpPr/>
          <p:nvPr/>
        </p:nvSpPr>
        <p:spPr>
          <a:xfrm>
            <a:off x="5532120" y="2402259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232"/>
          <p:cNvSpPr/>
          <p:nvPr/>
        </p:nvSpPr>
        <p:spPr>
          <a:xfrm>
            <a:off x="5897880" y="2383971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Quick food: burgers, chicken</a:t>
            </a:r>
            <a:endParaRPr lang="en-US" sz="1100" dirty="0"/>
          </a:p>
        </p:txBody>
      </p:sp>
      <p:sp>
        <p:nvSpPr>
          <p:cNvPr id="32" name="R3_chip233"/>
          <p:cNvSpPr/>
          <p:nvPr/>
        </p:nvSpPr>
        <p:spPr>
          <a:xfrm>
            <a:off x="5897880" y="2649147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food</a:t>
            </a:r>
            <a:endParaRPr lang="en-US" sz="1000" dirty="0"/>
          </a:p>
        </p:txBody>
      </p:sp>
      <p:sp>
        <p:nvSpPr>
          <p:cNvPr id="33" name="bd_234"/>
          <p:cNvSpPr/>
          <p:nvPr/>
        </p:nvSpPr>
        <p:spPr>
          <a:xfrm>
            <a:off x="5532120" y="2885585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235"/>
          <p:cNvSpPr/>
          <p:nvPr/>
        </p:nvSpPr>
        <p:spPr>
          <a:xfrm>
            <a:off x="5897880" y="2867297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Patatine fritte</a:t>
            </a:r>
            <a:endParaRPr lang="en-US" sz="1100" dirty="0"/>
          </a:p>
        </p:txBody>
      </p:sp>
      <p:sp>
        <p:nvSpPr>
          <p:cNvPr id="35" name="R4_chip236"/>
          <p:cNvSpPr/>
          <p:nvPr/>
        </p:nvSpPr>
        <p:spPr>
          <a:xfrm>
            <a:off x="5897880" y="3132473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French fries</a:t>
            </a:r>
            <a:endParaRPr lang="en-US" sz="1000" dirty="0"/>
          </a:p>
        </p:txBody>
      </p:sp>
      <p:sp>
        <p:nvSpPr>
          <p:cNvPr id="36" name="bd_237"/>
          <p:cNvSpPr/>
          <p:nvPr/>
        </p:nvSpPr>
        <p:spPr>
          <a:xfrm>
            <a:off x="5532120" y="3368911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238"/>
          <p:cNvSpPr/>
          <p:nvPr/>
        </p:nvSpPr>
        <p:spPr>
          <a:xfrm>
            <a:off x="5897880" y="3350623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President's house</a:t>
            </a:r>
            <a:endParaRPr lang="en-US" sz="1100" dirty="0"/>
          </a:p>
        </p:txBody>
      </p:sp>
      <p:sp>
        <p:nvSpPr>
          <p:cNvPr id="38" name="R5_chip239"/>
          <p:cNvSpPr/>
          <p:nvPr/>
        </p:nvSpPr>
        <p:spPr>
          <a:xfrm>
            <a:off x="5897880" y="3615799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White House</a:t>
            </a:r>
            <a:endParaRPr lang="en-US" sz="1000" dirty="0"/>
          </a:p>
        </p:txBody>
      </p:sp>
      <p:sp>
        <p:nvSpPr>
          <p:cNvPr id="39" name="bd_240"/>
          <p:cNvSpPr/>
          <p:nvPr/>
        </p:nvSpPr>
        <p:spPr>
          <a:xfrm>
            <a:off x="5532120" y="3852237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241"/>
          <p:cNvSpPr/>
          <p:nvPr/>
        </p:nvSpPr>
        <p:spPr>
          <a:xfrm>
            <a:off x="5897880" y="3833949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Trousers</a:t>
            </a:r>
            <a:endParaRPr lang="en-US" sz="1100" dirty="0"/>
          </a:p>
        </p:txBody>
      </p:sp>
      <p:sp>
        <p:nvSpPr>
          <p:cNvPr id="41" name="R6_chip242"/>
          <p:cNvSpPr/>
          <p:nvPr/>
        </p:nvSpPr>
        <p:spPr>
          <a:xfrm>
            <a:off x="5897880" y="4099125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 jeans</a:t>
            </a:r>
            <a:endParaRPr lang="en-US" sz="1000" dirty="0"/>
          </a:p>
        </p:txBody>
      </p:sp>
      <p:sp>
        <p:nvSpPr>
          <p:cNvPr id="42" name="bd_243"/>
          <p:cNvSpPr/>
          <p:nvPr/>
        </p:nvSpPr>
        <p:spPr>
          <a:xfrm>
            <a:off x="5532120" y="4335562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244"/>
          <p:cNvSpPr/>
          <p:nvPr/>
        </p:nvSpPr>
        <p:spPr>
          <a:xfrm>
            <a:off x="5897880" y="431727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sausage in bread</a:t>
            </a:r>
            <a:endParaRPr lang="en-US" sz="1100" dirty="0"/>
          </a:p>
        </p:txBody>
      </p:sp>
      <p:sp>
        <p:nvSpPr>
          <p:cNvPr id="44" name="R7_chip245"/>
          <p:cNvSpPr/>
          <p:nvPr/>
        </p:nvSpPr>
        <p:spPr>
          <a:xfrm>
            <a:off x="5897880" y="458245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hot dog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4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yellow taxi</a:t>
            </a:r>
            <a:endParaRPr lang="en-US" sz="2500" dirty="0"/>
          </a:p>
        </p:txBody>
      </p:sp>
      <p:pic>
        <p:nvPicPr>
          <p:cNvPr id="6" name="brP_2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50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coloured words. What's the rule?</a:t>
            </a:r>
            <a:endParaRPr lang="en-US" sz="1250" dirty="0"/>
          </a:p>
        </p:txBody>
      </p:sp>
      <p:sp>
        <p:nvSpPr>
          <p:cNvPr id="8" name="insIT_2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parole colorate. Qual è la regola?</a:t>
            </a:r>
            <a:endParaRPr lang="en-US" sz="950" dirty="0"/>
          </a:p>
        </p:txBody>
      </p:sp>
      <p:sp>
        <p:nvSpPr>
          <p:cNvPr id="9" name="cmd_2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5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5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Pop-up grammar · adjectives   ·   📖 Grammar Bank 2B p.126 · audio 2.8</a:t>
            </a:r>
            <a:endParaRPr lang="en-US" sz="800" dirty="0"/>
          </a:p>
        </p:txBody>
      </p:sp>
      <p:sp>
        <p:nvSpPr>
          <p:cNvPr id="14" name="ah_257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6" name="ah_25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259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260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before the noun</a:t>
            </a:r>
            <a:endParaRPr lang="en-US" sz="1250" dirty="0"/>
          </a:p>
        </p:txBody>
      </p:sp>
      <p:sp>
        <p:nvSpPr>
          <p:cNvPr id="20" name="pf_261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62" descr="/home/claude/lls-course/v2/cache/red_2b_taxis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2" name="ru_263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adjective + noun</a:t>
            </a:r>
            <a:endParaRPr lang="en-US" sz="1050" dirty="0"/>
          </a:p>
        </p:txBody>
      </p:sp>
      <p:sp>
        <p:nvSpPr>
          <p:cNvPr id="23" name="R1_rx264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dog</a:t>
            </a:r>
            <a:endParaRPr lang="en-US" sz="1050" dirty="0"/>
          </a:p>
        </p:txBody>
      </p:sp>
      <p:sp>
        <p:nvSpPr>
          <p:cNvPr id="24" name="R1_ri265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del nome (≠ italiano!)</a:t>
            </a:r>
            <a:endParaRPr lang="en-US" sz="900" dirty="0"/>
          </a:p>
        </p:txBody>
      </p:sp>
      <p:sp>
        <p:nvSpPr>
          <p:cNvPr id="25" name="cd_266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267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never + s</a:t>
            </a:r>
            <a:endParaRPr lang="en-US" sz="1250" dirty="0"/>
          </a:p>
        </p:txBody>
      </p:sp>
      <p:sp>
        <p:nvSpPr>
          <p:cNvPr id="27" name="pf_268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69" descr="/home/claude/lls-course/v2/cache/red_2b_jeans_jpg_415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9" name="ru_270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plural adjectives</a:t>
            </a:r>
            <a:endParaRPr lang="en-US" sz="1050" dirty="0"/>
          </a:p>
        </p:txBody>
      </p:sp>
      <p:sp>
        <p:nvSpPr>
          <p:cNvPr id="30" name="R2_rx271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jeans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taxis</a:t>
            </a:r>
            <a:endParaRPr lang="en-US" sz="1050" dirty="0"/>
          </a:p>
        </p:txBody>
      </p:sp>
      <p:sp>
        <p:nvSpPr>
          <p:cNvPr id="31" name="R2_ri272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l'aggettivo non cambia</a:t>
            </a:r>
            <a:endParaRPr lang="en-US" sz="900" dirty="0"/>
          </a:p>
        </p:txBody>
      </p:sp>
      <p:sp>
        <p:nvSpPr>
          <p:cNvPr id="32" name="cd_273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74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+ adjective</a:t>
            </a:r>
            <a:endParaRPr lang="en-US" sz="1250" dirty="0"/>
          </a:p>
        </p:txBody>
      </p:sp>
      <p:sp>
        <p:nvSpPr>
          <p:cNvPr id="34" name="pf_275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76" descr="/home/claude/lls-course/v2/cache/red_2b_hotdog_jpg_415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6" name="ru_277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be</a:t>
            </a:r>
            <a:endParaRPr lang="en-US" sz="1050" dirty="0"/>
          </a:p>
        </p:txBody>
      </p:sp>
      <p:sp>
        <p:nvSpPr>
          <p:cNvPr id="37" name="R3_rx278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taxis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</p:txBody>
      </p:sp>
      <p:sp>
        <p:nvSpPr>
          <p:cNvPr id="38" name="R3_ri279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il verbo essere</a:t>
            </a:r>
            <a:endParaRPr lang="en-US" sz="900" dirty="0"/>
          </a:p>
        </p:txBody>
      </p:sp>
      <p:sp>
        <p:nvSpPr>
          <p:cNvPr id="39" name="cd_280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h_281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very / quite</a:t>
            </a:r>
            <a:endParaRPr lang="en-US" sz="1250" dirty="0"/>
          </a:p>
        </p:txBody>
      </p:sp>
      <p:sp>
        <p:nvSpPr>
          <p:cNvPr id="41" name="pf_282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2" name="ph_283" descr="/home/claude/lls-course/v2/cache/red_2b_newyork_jpg_415x209_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3" name="ru_284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much?</a:t>
            </a:r>
            <a:endParaRPr lang="en-US" sz="1050" dirty="0"/>
          </a:p>
        </p:txBody>
      </p:sp>
      <p:sp>
        <p:nvSpPr>
          <p:cNvPr id="44" name="R4_rx285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big.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cheap.</a:t>
            </a:r>
            <a:endParaRPr lang="en-US" sz="1050" dirty="0"/>
          </a:p>
        </p:txBody>
      </p:sp>
      <p:sp>
        <p:nvSpPr>
          <p:cNvPr id="45" name="R4_ri286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/ really = molto · quite = abbastanza</a:t>
            </a:r>
            <a:endParaRPr lang="en-US" sz="750" dirty="0"/>
          </a:p>
        </p:txBody>
      </p:sp>
      <p:sp>
        <p:nvSpPr>
          <p:cNvPr id="46" name="R5_wc287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R5_w288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a car red → ✓ a red car   ·   ✗ yellows taxis → ✓ yellow taxis   ·   ✗ It's a very car fast → ✓ It's a very fast car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9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Frank's yellow taxi</a:t>
            </a:r>
            <a:endParaRPr lang="en-US" sz="2500" dirty="0"/>
          </a:p>
        </p:txBody>
      </p:sp>
      <p:pic>
        <p:nvPicPr>
          <p:cNvPr id="6" name="brP_2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9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2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29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9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29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29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2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5" name="cd_301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0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04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very old taxi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taxi molto vecchio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 ≠ fast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abbastanza lento ≠ veloce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molto in ritardo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 ≠ poor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ricco ≠ povero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long ≠ short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lungo ≠ corto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 ≠ expensive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economico ≠ caro</a:t>
            </a:r>
            <a:endParaRPr lang="en-US" sz="1000" dirty="0"/>
          </a:p>
        </p:txBody>
      </p:sp>
      <p:sp>
        <p:nvSpPr>
          <p:cNvPr id="19" name="R1_sb305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06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Frank. He's from New York. He has a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old yellow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from New York or London? · Is his taxi new or old? · What colour is it?</a:t>
            </a:r>
            <a:endParaRPr lang="en-US" sz="1100" dirty="0"/>
          </a:p>
        </p:txBody>
      </p:sp>
      <p:sp>
        <p:nvSpPr>
          <p:cNvPr id="21" name="R2_sb307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08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Frank's taxi is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it's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clean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taxi fast? · Is it clean or dirty?</a:t>
            </a:r>
            <a:endParaRPr lang="en-US" sz="1250" dirty="0"/>
          </a:p>
        </p:txBody>
      </p:sp>
      <p:sp>
        <p:nvSpPr>
          <p:cNvPr id="23" name="R3_sb309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10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woman gets in. She has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purple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bag.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she rich or poor? · What colour is her bag?</a:t>
            </a:r>
            <a:endParaRPr lang="en-US" sz="1250" dirty="0"/>
          </a:p>
        </p:txBody>
      </p:sp>
      <p:sp>
        <p:nvSpPr>
          <p:cNvPr id="25" name="R4_sb311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12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'The White House, please! I'm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Where does she want to go? · Is she late?</a:t>
            </a:r>
            <a:endParaRPr lang="en-US" sz="1250" dirty="0"/>
          </a:p>
        </p:txBody>
      </p:sp>
      <p:sp>
        <p:nvSpPr>
          <p:cNvPr id="27" name="R5_sb313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14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the White House isn't in New York! It's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long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White House in New York? · Is the trip short?</a:t>
            </a:r>
            <a:endParaRPr lang="en-US" sz="1250" dirty="0"/>
          </a:p>
        </p:txBody>
      </p:sp>
      <p:sp>
        <p:nvSpPr>
          <p:cNvPr id="29" name="R6_sb315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16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 is very happy. It's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expensive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trip! 💵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happy or sad? · And you – is your car old or new?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1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order</a:t>
            </a:r>
            <a:endParaRPr lang="en-US" sz="2500" dirty="0"/>
          </a:p>
        </p:txBody>
      </p:sp>
      <p:pic>
        <p:nvPicPr>
          <p:cNvPr id="6" name="brP_3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2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words in order. Say the sentence.</a:t>
            </a:r>
            <a:endParaRPr lang="en-US" sz="1250" dirty="0"/>
          </a:p>
        </p:txBody>
      </p:sp>
      <p:sp>
        <p:nvSpPr>
          <p:cNvPr id="8" name="insIT_3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le parole in ordine. Di' la frase.</a:t>
            </a:r>
            <a:endParaRPr lang="en-US" sz="950" dirty="0"/>
          </a:p>
        </p:txBody>
      </p:sp>
      <p:sp>
        <p:nvSpPr>
          <p:cNvPr id="9" name="cmd_3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🔀 </a:t>
            </a:r>
            <a:pPr indent="0" marL="0">
              <a:buNone/>
            </a:pPr>
            <a:r>
              <a:rPr lang="en-US" sz="11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REORDER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RIORDINA</a:t>
            </a:r>
            <a:endParaRPr lang="en-US" sz="1050" dirty="0"/>
          </a:p>
        </p:txBody>
      </p:sp>
      <p:sp>
        <p:nvSpPr>
          <p:cNvPr id="10" name="cmd_3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p.127 · a (answers: SB key)</a:t>
            </a:r>
            <a:endParaRPr lang="en-US" sz="800" dirty="0"/>
          </a:p>
        </p:txBody>
      </p:sp>
      <p:sp>
        <p:nvSpPr>
          <p:cNvPr id="15" name="cd_32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3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/ It's / a / house / very → It's a very big house.</a:t>
            </a:r>
            <a:endParaRPr lang="en-US" sz="1050" dirty="0"/>
          </a:p>
        </p:txBody>
      </p:sp>
      <p:sp>
        <p:nvSpPr>
          <p:cNvPr id="19" name="pf_33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34" descr="/home/claude/lls-course/v2/cache/red_2b_whitehous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3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3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Louis / French / Is ?</a:t>
            </a:r>
            <a:endParaRPr lang="en-US" sz="1150" dirty="0"/>
          </a:p>
        </p:txBody>
      </p:sp>
      <p:sp>
        <p:nvSpPr>
          <p:cNvPr id="23" name="R1_chip33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Louis French?</a:t>
            </a:r>
            <a:endParaRPr lang="en-US" sz="1000" dirty="0"/>
          </a:p>
        </p:txBody>
      </p:sp>
      <p:sp>
        <p:nvSpPr>
          <p:cNvPr id="24" name="bd_33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3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/ an / It's / expensive</a:t>
            </a:r>
            <a:endParaRPr lang="en-US" sz="1150" dirty="0"/>
          </a:p>
        </p:txBody>
      </p:sp>
      <p:sp>
        <p:nvSpPr>
          <p:cNvPr id="26" name="R2_chip34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an expensive watch.</a:t>
            </a:r>
            <a:endParaRPr lang="en-US" sz="1000" dirty="0"/>
          </a:p>
        </p:txBody>
      </p:sp>
      <p:sp>
        <p:nvSpPr>
          <p:cNvPr id="27" name="bd_34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4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/ it / an / exercise / Is ?</a:t>
            </a:r>
            <a:endParaRPr lang="en-US" sz="1150" dirty="0"/>
          </a:p>
        </p:txBody>
      </p:sp>
      <p:sp>
        <p:nvSpPr>
          <p:cNvPr id="29" name="R3_chip34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an easy exercise?</a:t>
            </a:r>
            <a:endParaRPr lang="en-US" sz="1000" dirty="0"/>
          </a:p>
        </p:txBody>
      </p:sp>
      <p:sp>
        <p:nvSpPr>
          <p:cNvPr id="30" name="bd_34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4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girlfriend / Spanish / your / Is ?</a:t>
            </a:r>
            <a:endParaRPr lang="en-US" sz="1150" dirty="0"/>
          </a:p>
        </p:txBody>
      </p:sp>
      <p:sp>
        <p:nvSpPr>
          <p:cNvPr id="32" name="R4_chip34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your girlfriend Spanish?</a:t>
            </a:r>
            <a:endParaRPr lang="en-US" sz="1000" dirty="0"/>
          </a:p>
        </p:txBody>
      </p:sp>
      <p:sp>
        <p:nvSpPr>
          <p:cNvPr id="33" name="bd_34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34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difficult / very / questions / are / These</a:t>
            </a:r>
            <a:endParaRPr lang="en-US" sz="1150" dirty="0"/>
          </a:p>
        </p:txBody>
      </p:sp>
      <p:sp>
        <p:nvSpPr>
          <p:cNvPr id="35" name="R5_chip34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questions are very difficult.</a:t>
            </a:r>
            <a:endParaRPr lang="en-US" sz="1000" dirty="0"/>
          </a:p>
        </p:txBody>
      </p:sp>
      <p:sp>
        <p:nvSpPr>
          <p:cNvPr id="36" name="bd_35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35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tickets / they / Are / cheap ?</a:t>
            </a:r>
            <a:endParaRPr lang="en-US" sz="1150" dirty="0"/>
          </a:p>
        </p:txBody>
      </p:sp>
      <p:sp>
        <p:nvSpPr>
          <p:cNvPr id="38" name="R6_chip35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they cheap tickets?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5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 or tree?</a:t>
            </a:r>
            <a:endParaRPr lang="en-US" sz="2500" dirty="0"/>
          </a:p>
        </p:txBody>
      </p:sp>
      <p:pic>
        <p:nvPicPr>
          <p:cNvPr id="6" name="brP_3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57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picture?</a:t>
            </a:r>
            <a:endParaRPr lang="en-US" sz="1250" dirty="0"/>
          </a:p>
        </p:txBody>
      </p:sp>
      <p:sp>
        <p:nvSpPr>
          <p:cNvPr id="8" name="insIT_3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immagine-suono?</a:t>
            </a:r>
            <a:endParaRPr lang="en-US" sz="950" dirty="0"/>
          </a:p>
        </p:txBody>
      </p:sp>
      <p:sp>
        <p:nvSpPr>
          <p:cNvPr id="9" name="cmd_3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3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36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6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3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long and short vowels   ·   📖 SB p.17 · 3a, 3b · audio 2.9, 2.10</a:t>
            </a:r>
            <a:endParaRPr lang="en-US" sz="800" dirty="0"/>
          </a:p>
        </p:txBody>
      </p:sp>
      <p:sp>
        <p:nvSpPr>
          <p:cNvPr id="15" name="cd_365"/>
          <p:cNvSpPr/>
          <p:nvPr/>
        </p:nvSpPr>
        <p:spPr>
          <a:xfrm>
            <a:off x="320040" y="1417320"/>
            <a:ext cx="2697480" cy="2679192"/>
          </a:xfrm>
          <a:prstGeom prst="roundRect">
            <a:avLst>
              <a:gd name="adj" fmla="val 47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3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8" name="il_368"/>
          <p:cNvSpPr/>
          <p:nvPr/>
        </p:nvSpPr>
        <p:spPr>
          <a:xfrm>
            <a:off x="886968" y="1892808"/>
            <a:ext cx="203911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369"/>
          <p:cNvSpPr/>
          <p:nvPr/>
        </p:nvSpPr>
        <p:spPr>
          <a:xfrm>
            <a:off x="365760" y="4233672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2.9 + 2.10</a:t>
            </a:r>
            <a:endParaRPr lang="en-US" sz="1100" dirty="0"/>
          </a:p>
        </p:txBody>
      </p:sp>
      <p:sp>
        <p:nvSpPr>
          <p:cNvPr id="20" name="ah_370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3" name="ah_371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5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lg_37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050" dirty="0"/>
          </a:p>
        </p:txBody>
      </p:sp>
      <p:sp>
        <p:nvSpPr>
          <p:cNvPr id="27" name="lg_37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050" dirty="0"/>
          </a:p>
        </p:txBody>
      </p:sp>
      <p:sp>
        <p:nvSpPr>
          <p:cNvPr id="28" name="lg_37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050" dirty="0"/>
          </a:p>
        </p:txBody>
      </p:sp>
      <p:sp>
        <p:nvSpPr>
          <p:cNvPr id="29" name="lg_37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050" dirty="0"/>
          </a:p>
        </p:txBody>
      </p:sp>
      <p:sp>
        <p:nvSpPr>
          <p:cNvPr id="30" name="lg_37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050" dirty="0"/>
          </a:p>
        </p:txBody>
      </p:sp>
      <p:sp>
        <p:nvSpPr>
          <p:cNvPr id="31" name="lg_377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050" dirty="0"/>
          </a:p>
        </p:txBody>
      </p:sp>
      <p:sp>
        <p:nvSpPr>
          <p:cNvPr id="32" name="lg_378"/>
          <p:cNvSpPr/>
          <p:nvPr/>
        </p:nvSpPr>
        <p:spPr>
          <a:xfrm>
            <a:off x="457200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050" dirty="0"/>
          </a:p>
        </p:txBody>
      </p:sp>
      <p:sp>
        <p:nvSpPr>
          <p:cNvPr id="33" name="lg_379"/>
          <p:cNvSpPr/>
          <p:nvPr/>
        </p:nvSpPr>
        <p:spPr>
          <a:xfrm>
            <a:off x="1719072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050" dirty="0"/>
          </a:p>
        </p:txBody>
      </p:sp>
      <p:sp>
        <p:nvSpPr>
          <p:cNvPr id="34" name="sq_380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</a:t>
            </a:r>
            <a:endParaRPr lang="en-US" sz="1200" dirty="0"/>
          </a:p>
        </p:txBody>
      </p:sp>
      <p:sp>
        <p:nvSpPr>
          <p:cNvPr id="35" name="R1_tag381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150" dirty="0"/>
          </a:p>
        </p:txBody>
      </p:sp>
      <p:sp>
        <p:nvSpPr>
          <p:cNvPr id="36" name="sq_382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200" dirty="0"/>
          </a:p>
        </p:txBody>
      </p:sp>
      <p:sp>
        <p:nvSpPr>
          <p:cNvPr id="37" name="R2_tag383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150" dirty="0"/>
          </a:p>
        </p:txBody>
      </p:sp>
      <p:sp>
        <p:nvSpPr>
          <p:cNvPr id="38" name="sq_384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endParaRPr lang="en-US" sz="1200" dirty="0"/>
          </a:p>
        </p:txBody>
      </p:sp>
      <p:sp>
        <p:nvSpPr>
          <p:cNvPr id="39" name="R3_tag385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150" dirty="0"/>
          </a:p>
        </p:txBody>
      </p:sp>
      <p:sp>
        <p:nvSpPr>
          <p:cNvPr id="40" name="sq_386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</a:t>
            </a:r>
            <a:endParaRPr lang="en-US" sz="1200" dirty="0"/>
          </a:p>
        </p:txBody>
      </p:sp>
      <p:sp>
        <p:nvSpPr>
          <p:cNvPr id="41" name="R4_tag387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150" dirty="0"/>
          </a:p>
        </p:txBody>
      </p:sp>
      <p:sp>
        <p:nvSpPr>
          <p:cNvPr id="42" name="sq_388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endParaRPr lang="en-US" sz="1200" dirty="0"/>
          </a:p>
        </p:txBody>
      </p:sp>
      <p:sp>
        <p:nvSpPr>
          <p:cNvPr id="43" name="R5_tag389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150" dirty="0"/>
          </a:p>
        </p:txBody>
      </p:sp>
      <p:sp>
        <p:nvSpPr>
          <p:cNvPr id="44" name="sq_390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</a:t>
            </a:r>
            <a:endParaRPr lang="en-US" sz="1200" dirty="0"/>
          </a:p>
        </p:txBody>
      </p:sp>
      <p:sp>
        <p:nvSpPr>
          <p:cNvPr id="45" name="R6_tag391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150" dirty="0"/>
          </a:p>
        </p:txBody>
      </p:sp>
      <p:sp>
        <p:nvSpPr>
          <p:cNvPr id="46" name="sq_392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endParaRPr lang="en-US" sz="1200" dirty="0"/>
          </a:p>
        </p:txBody>
      </p:sp>
      <p:sp>
        <p:nvSpPr>
          <p:cNvPr id="47" name="R7_tag393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150" dirty="0"/>
          </a:p>
        </p:txBody>
      </p:sp>
      <p:sp>
        <p:nvSpPr>
          <p:cNvPr id="48" name="sq_394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ll</a:t>
            </a:r>
            <a:endParaRPr lang="en-US" sz="1200" dirty="0"/>
          </a:p>
        </p:txBody>
      </p:sp>
      <p:sp>
        <p:nvSpPr>
          <p:cNvPr id="49" name="R8_tag395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6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6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98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sound!</a:t>
            </a:r>
            <a:endParaRPr lang="en-US" sz="2500" dirty="0"/>
          </a:p>
        </p:txBody>
      </p:sp>
      <p:pic>
        <p:nvPicPr>
          <p:cNvPr id="6" name="brP_3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00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sound! Choose the noun. Be quick!</a:t>
            </a:r>
            <a:endParaRPr lang="en-US" sz="1250" dirty="0"/>
          </a:p>
        </p:txBody>
      </p:sp>
      <p:sp>
        <p:nvSpPr>
          <p:cNvPr id="8" name="insIT_4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Stesso suono! Scegli il nome. Veloci!</a:t>
            </a:r>
            <a:endParaRPr lang="en-US" sz="950" dirty="0"/>
          </a:p>
        </p:txBody>
      </p:sp>
      <p:sp>
        <p:nvSpPr>
          <p:cNvPr id="9" name="cmd_4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4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4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4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game   ·   📖 SB p.17 · 3c, 3d · audio 2.11</a:t>
            </a:r>
            <a:endParaRPr lang="en-US" sz="800" dirty="0"/>
          </a:p>
        </p:txBody>
      </p:sp>
      <p:sp>
        <p:nvSpPr>
          <p:cNvPr id="15" name="cd_40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41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41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adjective and the 3 nouns.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l'aggettivo e i 3 nomi.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noun with the SAME vowel sound.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il nome con lo STESSO suono vocalico.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 first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 dice prima la frase = 1 punto.</a:t>
            </a:r>
            <a:endParaRPr lang="en-US" sz="1000" dirty="0"/>
          </a:p>
        </p:txBody>
      </p:sp>
      <p:sp>
        <p:nvSpPr>
          <p:cNvPr id="19" name="ap_412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2.11</a:t>
            </a:r>
            <a:endParaRPr lang="en-US" sz="1100" dirty="0"/>
          </a:p>
        </p:txBody>
      </p:sp>
      <p:sp>
        <p:nvSpPr>
          <p:cNvPr id="20" name="ah_41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41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41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41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… (city · car · cat)</a:t>
            </a:r>
            <a:endParaRPr lang="en-US" sz="1100" dirty="0"/>
          </a:p>
        </p:txBody>
      </p:sp>
      <p:sp>
        <p:nvSpPr>
          <p:cNvPr id="26" name="R1_chip41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big city /ɪ/</a:t>
            </a:r>
            <a:endParaRPr lang="en-US" sz="1100" dirty="0"/>
          </a:p>
        </p:txBody>
      </p:sp>
      <p:sp>
        <p:nvSpPr>
          <p:cNvPr id="27" name="bd_41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41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bl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 … (bag · book · boot)</a:t>
            </a:r>
            <a:endParaRPr lang="en-US" sz="1100" dirty="0"/>
          </a:p>
        </p:txBody>
      </p:sp>
      <p:sp>
        <p:nvSpPr>
          <p:cNvPr id="29" name="R2_chip42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black bag /æ/</a:t>
            </a:r>
            <a:endParaRPr lang="en-US" sz="1100" dirty="0"/>
          </a:p>
        </p:txBody>
      </p:sp>
      <p:sp>
        <p:nvSpPr>
          <p:cNvPr id="30" name="bd_42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42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 … (jeans · shoes · bags)</a:t>
            </a:r>
            <a:endParaRPr lang="en-US" sz="1100" dirty="0"/>
          </a:p>
        </p:txBody>
      </p:sp>
      <p:sp>
        <p:nvSpPr>
          <p:cNvPr id="32" name="R3_chip42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cheap jeans /iː/</a:t>
            </a:r>
            <a:endParaRPr lang="en-US" sz="1100" dirty="0"/>
          </a:p>
        </p:txBody>
      </p:sp>
      <p:sp>
        <p:nvSpPr>
          <p:cNvPr id="33" name="bd_42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42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 … (glasses · dogs · books)</a:t>
            </a:r>
            <a:endParaRPr lang="en-US" sz="1100" dirty="0"/>
          </a:p>
        </p:txBody>
      </p:sp>
      <p:sp>
        <p:nvSpPr>
          <p:cNvPr id="35" name="R4_chip42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dark glasses /ɑː/</a:t>
            </a:r>
            <a:endParaRPr lang="en-US" sz="1100" dirty="0"/>
          </a:p>
        </p:txBody>
      </p:sp>
      <p:sp>
        <p:nvSpPr>
          <p:cNvPr id="36" name="bd_42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42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… (book · day · cat)</a:t>
            </a:r>
            <a:endParaRPr lang="en-US" sz="1100" dirty="0"/>
          </a:p>
        </p:txBody>
      </p:sp>
      <p:sp>
        <p:nvSpPr>
          <p:cNvPr id="38" name="R5_chip42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good book /ʊ/</a:t>
            </a:r>
            <a:endParaRPr lang="en-US" sz="1100" dirty="0"/>
          </a:p>
        </p:txBody>
      </p:sp>
      <p:sp>
        <p:nvSpPr>
          <p:cNvPr id="39" name="bd_43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43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… (boots · bags · jeans)</a:t>
            </a:r>
            <a:endParaRPr lang="en-US" sz="1100" dirty="0"/>
          </a:p>
        </p:txBody>
      </p:sp>
      <p:sp>
        <p:nvSpPr>
          <p:cNvPr id="41" name="R6_chip43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new boots /uː/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3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have a red car!</a:t>
            </a:r>
            <a:endParaRPr lang="en-US" sz="2500" dirty="0"/>
          </a:p>
        </p:txBody>
      </p:sp>
      <p:pic>
        <p:nvPicPr>
          <p:cNvPr id="6" name="brP_4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3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about 8 things you have. Use a colour or an adjective.</a:t>
            </a:r>
            <a:endParaRPr lang="en-US" sz="1100" dirty="0"/>
          </a:p>
        </p:txBody>
      </p:sp>
      <p:sp>
        <p:nvSpPr>
          <p:cNvPr id="8" name="insIT_4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al compagno di 8 cose che hai. Usa un colore o un aggettivo.</a:t>
            </a:r>
            <a:endParaRPr lang="en-US" sz="950" dirty="0"/>
          </a:p>
        </p:txBody>
      </p:sp>
      <p:sp>
        <p:nvSpPr>
          <p:cNvPr id="9" name="cmd_4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8 things you have   ·   📖 SB p.17 · 4a</a:t>
            </a:r>
            <a:endParaRPr lang="en-US" sz="800" dirty="0"/>
          </a:p>
        </p:txBody>
      </p:sp>
      <p:sp>
        <p:nvSpPr>
          <p:cNvPr id="14" name="pf_44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5" descr="/home/claude/lls-course/v2/cache/red_2b_taxi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 a very old… · a new…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quite big / really small.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Me too! / What colour is it?</a:t>
            </a:r>
            <a:endParaRPr lang="en-US" sz="900" dirty="0"/>
          </a:p>
        </p:txBody>
      </p:sp>
      <p:sp>
        <p:nvSpPr>
          <p:cNvPr id="20" name="R1_qb45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1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new black phone.</a:t>
            </a:r>
            <a:endParaRPr lang="en-US" sz="1250" dirty="0"/>
          </a:p>
        </p:txBody>
      </p:sp>
      <p:sp>
        <p:nvSpPr>
          <p:cNvPr id="22" name="R2_qb452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3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car / bike / scooter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very old red car.</a:t>
            </a:r>
            <a:endParaRPr lang="en-US" sz="1250" dirty="0"/>
          </a:p>
        </p:txBody>
      </p:sp>
      <p:sp>
        <p:nvSpPr>
          <p:cNvPr id="24" name="R3_qb454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5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bag is quite big and brown.</a:t>
            </a:r>
            <a:endParaRPr lang="en-US" sz="1250" dirty="0"/>
          </a:p>
        </p:txBody>
      </p:sp>
      <p:sp>
        <p:nvSpPr>
          <p:cNvPr id="26" name="R4_qb456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7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house or flat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small flat – it's really nice.</a:t>
            </a:r>
            <a:endParaRPr lang="en-US" sz="1250" dirty="0"/>
          </a:p>
        </p:txBody>
      </p:sp>
      <p:sp>
        <p:nvSpPr>
          <p:cNvPr id="28" name="R5_qb45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5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in your fridge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some very good cheese!</a:t>
            </a:r>
            <a:endParaRPr lang="en-US" sz="1250" dirty="0"/>
          </a:p>
        </p:txBody>
      </p:sp>
      <p:sp>
        <p:nvSpPr>
          <p:cNvPr id="30" name="R6_qb46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6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something you DON'T want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really ugly jumper – it's a present from my aunt! 😄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is it?</a:t>
            </a:r>
            <a:endParaRPr lang="en-US" sz="25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it! Your partner guesses.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Descrivilo! Il compagno indovina.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6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7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game</a:t>
            </a:r>
            <a:endParaRPr lang="en-US" sz="800" dirty="0"/>
          </a:p>
        </p:txBody>
      </p:sp>
      <p:sp>
        <p:nvSpPr>
          <p:cNvPr id="14" name="cd_473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76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doesn't look.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non guarda.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it: colour + 2 adjectives.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descrive: colore + 2 aggettivi.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950" dirty="0"/>
          </a:p>
        </p:txBody>
      </p:sp>
      <p:sp>
        <p:nvSpPr>
          <p:cNvPr id="18" name="pf_477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8" descr="/home/claude/lls-course/v2/cache/red_2b_ico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rl_479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describes</a:t>
            </a:r>
            <a:endParaRPr lang="en-US" sz="1100" dirty="0"/>
          </a:p>
        </p:txBody>
      </p:sp>
      <p:sp>
        <p:nvSpPr>
          <p:cNvPr id="21" name="R1_w480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banana</a:t>
            </a:r>
            <a:endParaRPr lang="en-US" sz="1700" dirty="0"/>
          </a:p>
        </p:txBody>
      </p:sp>
      <p:sp>
        <p:nvSpPr>
          <p:cNvPr id="22" name="R3_w481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New York taxi</a:t>
            </a:r>
            <a:endParaRPr lang="en-US" sz="1700" dirty="0"/>
          </a:p>
        </p:txBody>
      </p:sp>
      <p:sp>
        <p:nvSpPr>
          <p:cNvPr id="23" name="R5_w482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elephant</a:t>
            </a:r>
            <a:endParaRPr lang="en-US" sz="1700" dirty="0"/>
          </a:p>
        </p:txBody>
      </p:sp>
      <p:sp>
        <p:nvSpPr>
          <p:cNvPr id="24" name="R7_w483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Colosseum</a:t>
            </a:r>
            <a:endParaRPr lang="en-US" sz="1700" dirty="0"/>
          </a:p>
        </p:txBody>
      </p:sp>
      <p:sp>
        <p:nvSpPr>
          <p:cNvPr id="25" name="rl_484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describes</a:t>
            </a:r>
            <a:endParaRPr lang="en-US" sz="1100" dirty="0"/>
          </a:p>
        </p:txBody>
      </p:sp>
      <p:sp>
        <p:nvSpPr>
          <p:cNvPr id="26" name="R2_w485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Ferrari</a:t>
            </a:r>
            <a:endParaRPr lang="en-US" sz="1700" dirty="0"/>
          </a:p>
        </p:txBody>
      </p:sp>
      <p:sp>
        <p:nvSpPr>
          <p:cNvPr id="27" name="R4_w486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snow</a:t>
            </a:r>
            <a:endParaRPr lang="en-US" sz="1700" dirty="0"/>
          </a:p>
        </p:txBody>
      </p:sp>
      <p:sp>
        <p:nvSpPr>
          <p:cNvPr id="28" name="R6_w487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lemon</a:t>
            </a:r>
            <a:endParaRPr lang="en-US" sz="1700" dirty="0"/>
          </a:p>
        </p:txBody>
      </p:sp>
      <p:sp>
        <p:nvSpPr>
          <p:cNvPr id="29" name="R8_w488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hot dog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91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same, but different</a:t>
            </a:r>
            <a:endParaRPr lang="en-US" sz="2500" dirty="0"/>
          </a:p>
        </p:txBody>
      </p:sp>
      <p:pic>
        <p:nvPicPr>
          <p:cNvPr id="6" name="brP_4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9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Choose a heading from the box for 2–4.</a:t>
            </a:r>
            <a:endParaRPr lang="en-US" sz="1250" dirty="0"/>
          </a:p>
        </p:txBody>
      </p:sp>
      <p:sp>
        <p:nvSpPr>
          <p:cNvPr id="8" name="insIT_4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Scegli un titolo dal riquadro per 2–4.</a:t>
            </a:r>
            <a:endParaRPr lang="en-US" sz="950" dirty="0"/>
          </a:p>
        </p:txBody>
      </p:sp>
      <p:sp>
        <p:nvSpPr>
          <p:cNvPr id="9" name="cmd_49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9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49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9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British and American English   ·   📖 SB p.17 · 5a, 5b · audio 2.12 · article shortened</a:t>
            </a:r>
            <a:endParaRPr lang="en-US" sz="800" dirty="0"/>
          </a:p>
        </p:txBody>
      </p:sp>
      <p:sp>
        <p:nvSpPr>
          <p:cNvPr id="15" name="cd_50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0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British and American English</a:t>
            </a:r>
            <a:endParaRPr lang="en-US" sz="1700" dirty="0"/>
          </a:p>
        </p:txBody>
      </p:sp>
      <p:sp>
        <p:nvSpPr>
          <p:cNvPr id="17" name="ln_50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Vocabulary – Some words are different. Americans say ZIP code (not postcode), vacation (not holiday) and cell phone (not mobile phone). In American English a purse is a woman's bag!</a:t>
            </a:r>
            <a:endParaRPr lang="en-US" sz="1050" dirty="0"/>
          </a:p>
        </p:txBody>
      </p:sp>
      <p:sp>
        <p:nvSpPr>
          <p:cNvPr id="18" name="ln_50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050" dirty="0"/>
          </a:p>
        </p:txBody>
      </p:sp>
      <p:sp>
        <p:nvSpPr>
          <p:cNvPr id="19" name="R1_lnA505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Spelling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050" dirty="0"/>
          </a:p>
        </p:txBody>
      </p:sp>
      <p:sp>
        <p:nvSpPr>
          <p:cNvPr id="20" name="ln_50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050" dirty="0"/>
          </a:p>
        </p:txBody>
      </p:sp>
      <p:sp>
        <p:nvSpPr>
          <p:cNvPr id="21" name="R2_lnA50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Grammar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050" dirty="0"/>
          </a:p>
        </p:txBody>
      </p:sp>
      <p:sp>
        <p:nvSpPr>
          <p:cNvPr id="22" name="ln_50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050" dirty="0"/>
          </a:p>
        </p:txBody>
      </p:sp>
      <p:sp>
        <p:nvSpPr>
          <p:cNvPr id="23" name="R3_lnA509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Pronunciation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050" dirty="0"/>
          </a:p>
        </p:txBody>
      </p:sp>
      <p:sp>
        <p:nvSpPr>
          <p:cNvPr id="24" name="ap_510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</a:t>
            </a:r>
            <a:endParaRPr lang="en-US" sz="1100" dirty="0"/>
          </a:p>
        </p:txBody>
      </p:sp>
      <p:sp>
        <p:nvSpPr>
          <p:cNvPr id="25" name="ah_51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7" name="ah_51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9" name="cd_513"/>
          <p:cNvSpPr/>
          <p:nvPr/>
        </p:nvSpPr>
        <p:spPr>
          <a:xfrm>
            <a:off x="6263640" y="1965960"/>
            <a:ext cx="2651760" cy="1444752"/>
          </a:xfrm>
          <a:prstGeom prst="roundRect">
            <a:avLst>
              <a:gd name="adj" fmla="val 8861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bkh_514"/>
          <p:cNvSpPr/>
          <p:nvPr/>
        </p:nvSpPr>
        <p:spPr>
          <a:xfrm>
            <a:off x="6373368" y="20208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🧺 Headings · two don't fit!</a:t>
            </a:r>
            <a:endParaRPr lang="en-US" sz="1100" dirty="0"/>
          </a:p>
        </p:txBody>
      </p:sp>
      <p:sp>
        <p:nvSpPr>
          <p:cNvPr id="31" name="bk_515"/>
          <p:cNvSpPr/>
          <p:nvPr/>
        </p:nvSpPr>
        <p:spPr>
          <a:xfrm>
            <a:off x="6373368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</a:t>
            </a:r>
            <a:endParaRPr lang="en-US" sz="1050" dirty="0"/>
          </a:p>
        </p:txBody>
      </p:sp>
      <p:sp>
        <p:nvSpPr>
          <p:cNvPr id="32" name="bk_516"/>
          <p:cNvSpPr/>
          <p:nvPr/>
        </p:nvSpPr>
        <p:spPr>
          <a:xfrm>
            <a:off x="7626096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endParaRPr lang="en-US" sz="1050" dirty="0"/>
          </a:p>
        </p:txBody>
      </p:sp>
      <p:sp>
        <p:nvSpPr>
          <p:cNvPr id="33" name="bk_517"/>
          <p:cNvSpPr/>
          <p:nvPr/>
        </p:nvSpPr>
        <p:spPr>
          <a:xfrm>
            <a:off x="6373368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</a:t>
            </a:r>
            <a:endParaRPr lang="en-US" sz="1050" dirty="0"/>
          </a:p>
        </p:txBody>
      </p:sp>
      <p:sp>
        <p:nvSpPr>
          <p:cNvPr id="34" name="bk_518"/>
          <p:cNvSpPr/>
          <p:nvPr/>
        </p:nvSpPr>
        <p:spPr>
          <a:xfrm>
            <a:off x="7626096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endParaRPr lang="en-US" sz="1050" dirty="0"/>
          </a:p>
        </p:txBody>
      </p:sp>
      <p:sp>
        <p:nvSpPr>
          <p:cNvPr id="35" name="bk_519"/>
          <p:cNvSpPr/>
          <p:nvPr/>
        </p:nvSpPr>
        <p:spPr>
          <a:xfrm>
            <a:off x="6373368" y="3026664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Spelling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5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2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4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or false? Correct the false ones.</a:t>
            </a:r>
            <a:endParaRPr lang="en-US" sz="1250" dirty="0"/>
          </a:p>
        </p:txBody>
      </p:sp>
      <p:sp>
        <p:nvSpPr>
          <p:cNvPr id="8" name="insIT_5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Vero o falso? Correggi quelle false.</a:t>
            </a:r>
            <a:endParaRPr lang="en-US" sz="950" dirty="0"/>
          </a:p>
        </p:txBody>
      </p:sp>
      <p:sp>
        <p:nvSpPr>
          <p:cNvPr id="9" name="cmd_5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2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2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2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p.17 · 5c (answers: TG)</a:t>
            </a:r>
            <a:endParaRPr lang="en-US" sz="800" dirty="0"/>
          </a:p>
        </p:txBody>
      </p:sp>
      <p:sp>
        <p:nvSpPr>
          <p:cNvPr id="15" name="cd_5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📰 The article is on the last slide. Go back if you need to!</a:t>
            </a:r>
            <a:endParaRPr lang="en-US" sz="1050" dirty="0"/>
          </a:p>
        </p:txBody>
      </p:sp>
      <p:sp>
        <p:nvSpPr>
          <p:cNvPr id="19" name="pf_5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37" descr="/home/claude/lls-course/v2/cache/red_2b_newyork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5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British and American English are very different.</a:t>
            </a:r>
            <a:endParaRPr lang="en-US" sz="1050" dirty="0"/>
          </a:p>
        </p:txBody>
      </p:sp>
      <p:sp>
        <p:nvSpPr>
          <p:cNvPr id="23" name="R1_chip5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the differences are small.</a:t>
            </a:r>
            <a:endParaRPr lang="en-US" sz="1000" dirty="0"/>
          </a:p>
        </p:txBody>
      </p:sp>
      <p:sp>
        <p:nvSpPr>
          <p:cNvPr id="24" name="bd_5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Holiday and postcode are the same in the US.</a:t>
            </a:r>
            <a:endParaRPr lang="en-US" sz="1150" dirty="0"/>
          </a:p>
        </p:txBody>
      </p:sp>
      <p:sp>
        <p:nvSpPr>
          <p:cNvPr id="26" name="R2_chip5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vacation, ZIP code.</a:t>
            </a:r>
            <a:endParaRPr lang="en-US" sz="1000" dirty="0"/>
          </a:p>
        </p:txBody>
      </p:sp>
      <p:sp>
        <p:nvSpPr>
          <p:cNvPr id="27" name="bd_5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Purse has a different meaning in the US.</a:t>
            </a:r>
            <a:endParaRPr lang="en-US" sz="1150" dirty="0"/>
          </a:p>
        </p:txBody>
      </p:sp>
      <p:sp>
        <p:nvSpPr>
          <p:cNvPr id="29" name="R3_chip5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00" dirty="0"/>
          </a:p>
        </p:txBody>
      </p:sp>
      <p:sp>
        <p:nvSpPr>
          <p:cNvPr id="30" name="bd_5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Kilometer is the British spelling.</a:t>
            </a:r>
            <a:endParaRPr lang="en-US" sz="1150" dirty="0"/>
          </a:p>
        </p:txBody>
      </p:sp>
      <p:sp>
        <p:nvSpPr>
          <p:cNvPr id="32" name="R4_chip5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American (UK: kilometre).</a:t>
            </a:r>
            <a:endParaRPr lang="en-US" sz="1000" dirty="0"/>
          </a:p>
        </p:txBody>
      </p:sp>
      <p:sp>
        <p:nvSpPr>
          <p:cNvPr id="33" name="bd_5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grammar is not very different.</a:t>
            </a:r>
            <a:endParaRPr lang="en-US" sz="1150" dirty="0"/>
          </a:p>
        </p:txBody>
      </p:sp>
      <p:sp>
        <p:nvSpPr>
          <p:cNvPr id="35" name="R5_chip5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00" dirty="0"/>
          </a:p>
        </p:txBody>
      </p:sp>
      <p:sp>
        <p:nvSpPr>
          <p:cNvPr id="36" name="bd_5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5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difficult to know if a person is American.</a:t>
            </a:r>
            <a:endParaRPr lang="en-US" sz="1150" dirty="0"/>
          </a:p>
        </p:txBody>
      </p:sp>
      <p:sp>
        <p:nvSpPr>
          <p:cNvPr id="38" name="R6_chip5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easy (the accent).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5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6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6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6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6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6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pairs of opposites (big ≠ small…)</a:t>
            </a:r>
            <a:endParaRPr lang="en-US" sz="1400" dirty="0"/>
          </a:p>
        </p:txBody>
      </p:sp>
      <p:sp>
        <p:nvSpPr>
          <p:cNvPr id="15" name="bd_56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6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American icons (a hot dog…)</a:t>
            </a:r>
            <a:endParaRPr lang="en-US" sz="1400" dirty="0"/>
          </a:p>
        </p:txBody>
      </p:sp>
      <p:sp>
        <p:nvSpPr>
          <p:cNvPr id="17" name="bd_57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7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about Frank's taxi</a:t>
            </a:r>
            <a:endParaRPr lang="en-US" sz="1400" dirty="0"/>
          </a:p>
        </p:txBody>
      </p:sp>
      <p:sp>
        <p:nvSpPr>
          <p:cNvPr id="19" name="cd_57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7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7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7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1a, 1b, 1c (colours, opposites)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2a–2e (adjectives)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3a (long and short sounds)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5 things you have + an adjective</a:t>
            </a:r>
            <a:endParaRPr lang="en-US" sz="1100" dirty="0"/>
          </a:p>
        </p:txBody>
      </p:sp>
      <p:sp>
        <p:nvSpPr>
          <p:cNvPr id="23" name="st_57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Slow down! · feelings, imperatives, let's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7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8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8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8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8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8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8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6" name="tt_59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colours and adjectives</a:t>
            </a:r>
            <a:endParaRPr lang="en-US" sz="1350" dirty="0"/>
          </a:p>
        </p:txBody>
      </p:sp>
      <p:sp>
        <p:nvSpPr>
          <p:cNvPr id="17" name="R1_tk59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9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9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20" name="tt_59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Named American icons: a hot dog, yellow taxis…</a:t>
            </a:r>
            <a:endParaRPr lang="en-US" sz="1350" dirty="0"/>
          </a:p>
        </p:txBody>
      </p:sp>
      <p:sp>
        <p:nvSpPr>
          <p:cNvPr id="21" name="R2_tk59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9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9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59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5" name="R3_tk59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0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0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8" name="tt_60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long and short sounds: cheap, rich</a:t>
            </a:r>
            <a:endParaRPr lang="en-US" sz="1350" dirty="0"/>
          </a:p>
        </p:txBody>
      </p:sp>
      <p:sp>
        <p:nvSpPr>
          <p:cNvPr id="29" name="R4_tk60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0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0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2" name="tt_60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British and American English</a:t>
            </a:r>
            <a:endParaRPr lang="en-US" sz="1350" dirty="0"/>
          </a:p>
        </p:txBody>
      </p:sp>
      <p:sp>
        <p:nvSpPr>
          <p:cNvPr id="33" name="R5_tk60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0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6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611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adjectives</a:t>
            </a:r>
            <a:endParaRPr lang="en-US" sz="2500" dirty="0"/>
          </a:p>
        </p:txBody>
      </p:sp>
      <p:pic>
        <p:nvPicPr>
          <p:cNvPr id="6" name="brP_6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61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6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cmd_6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61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950" dirty="0"/>
          </a:p>
        </p:txBody>
      </p:sp>
      <p:pic>
        <p:nvPicPr>
          <p:cNvPr id="11" name="logo_6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3" name="st_61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620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21" descr="/home/claude/lls-course/v2/cache/red_2b_icons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622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23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624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625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2.7 = all 21 pairs of opposites (Vocabulary Bank p.152)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the speaker: play / pause</a:t>
            </a:r>
            <a:endParaRPr lang="en-US" sz="1050" dirty="0"/>
          </a:p>
        </p:txBody>
      </p:sp>
      <p:sp>
        <p:nvSpPr>
          <p:cNvPr id="20" name="ab_626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2.6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 – listen and repeat</a:t>
            </a:r>
            <a:endParaRPr lang="en-US" sz="13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  <p:sp>
        <p:nvSpPr>
          <p:cNvPr id="22" name="ab_627"/>
          <p:cNvSpPr/>
          <p:nvPr/>
        </p:nvSpPr>
        <p:spPr>
          <a:xfrm>
            <a:off x="3246120" y="1947672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2.7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Adjectives – 21 opposites</a:t>
            </a:r>
            <a:endParaRPr lang="en-US" sz="13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321040" y="1984248"/>
            <a:ext cx="384048" cy="384048"/>
          </a:xfrm>
          <a:prstGeom prst="rect">
            <a:avLst/>
          </a:prstGeom>
        </p:spPr>
      </p:pic>
      <p:sp>
        <p:nvSpPr>
          <p:cNvPr id="24" name="ab_628"/>
          <p:cNvSpPr/>
          <p:nvPr/>
        </p:nvSpPr>
        <p:spPr>
          <a:xfrm>
            <a:off x="3246120" y="2478024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2.11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Same-sound phrases</a:t>
            </a:r>
            <a:endParaRPr lang="en-US" sz="1300" dirty="0"/>
          </a:p>
        </p:txBody>
      </p:sp>
      <p:pic>
        <p:nvPicPr>
          <p:cNvPr id="25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8321040" y="2514600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Made in America</dc:title>
  <dc:subject>PptxGenJS Presentation</dc:subject>
  <dc:creator>PptxGenJS</dc:creator>
  <cp:lastModifiedBy>PptxGenJS</cp:lastModifiedBy>
  <cp:revision>1</cp:revision>
  <dcterms:created xsi:type="dcterms:W3CDTF">2026-10-15T08:42:34Z</dcterms:created>
  <dcterms:modified xsi:type="dcterms:W3CDTF">2026-10-15T08:42:34Z</dcterms:modified>
</cp:coreProperties>
</file>