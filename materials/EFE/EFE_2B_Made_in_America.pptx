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TG optional lead-in: books closed, ask what is typically American; write the ideas on the board (Hollywood films, hamburgers, yellow taxis, jeans…). Click: example answer. Keep the list – some of the words come back in the American icons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2A (3 min)
REVISION (3 min). Pairs ask the two questions with their real bags (2–3 things each). Quick check of /ɪz/: glasses, watches, pieces. Leads in: today we DESCRIBE things – colours and adjectives.
HOW TO RUN IT (active recap): pairs. Words: A points at a word, B says what it means (⭐); then a sentence with it (⭐⭐); strong students make it negative or a question (⭐⭐⭐). Grammar: pairs make their own example for each use (offer, plan…) BEFORE you click – then click to show the model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Vocabulary · colours (3 min)
VOCABULARY (3 min). SB 1a: What colour is the American flag? (red, white, blue). Play 2.6 – students listen and repeat. Then point at each circle: the class says the colour, click once per colour for the Italian. Drill orange /ˈɒrɪndʒ/ (TG note), purple /ˈpɜːpl/, silver, gold. Answers 1b (TG): black, yellow, grey, orange, brown, pink, green, purple, silver, gold.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Speaking · colours (3 min)
SPEAKING (3 min). SB 1c: model and drill the two questions (What colour is…? / What colour are…?). Pairs ask and answer; click once per line for a model answer. Point out: is + one thing → It's…, are + plural → They're… (like 2A). TG extra support: other flags – What colour is the French / Polish flag?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opposite adjectives (4 min)
OPPOSITES (4 min). Max 8 pairs today (A1–A2); the Vocabulary Bank has 21 – play 2.7 for the whole list if the class is strong. For each tile: students say the opposite, click 1 = an English example, click 2 = the Italian. TG vocabulary note: old, right and short have TWO opposites (Watch out box). Pairs test each other: A says an adjective, B says the opposite (TG 1c).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American icons (4 min)
GRAMMAR IN CONTEXT (4 min). SB 2a: label the photos with an adjective (American, French, blue, hot, fast, White, yellow, New) + a noun (football, fries, jeans, dog, food, House, taxis, York). Pairs, 2 minutes, then click once per number. Answers (SB key): 1 American football (example) · 2 yellow taxis · 3 fast food · 4 French fries · 5 White House · 6 blue jeans · 7 hot dog · 8 New York (the city photo – ask it last). SB 2b: Can I have a hot dog / dog hot? (hot dog) · The taxis are yellow / yellows (yellow) → adjectives go BEFORE the noun and don't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Pop-up grammar · adjectives (4 min)
POP-UP GRAMMAR (4 min). Point back to the icons: yellow taxis – not 'taxis yellow', not 'yellows'. Elicit each column before clicking. Play 2.8 (Grammar Bank sentences: The White House is in Washington DC. It's a beautiful picture… He's strong. We aren't rich. Is your car new? She's quite famous. It's a very big city. We're really tired.) – listen and repeat. TG grammar note: one form only; with be, the adjective comes after: Is your car fast? Italian speakers say 'a car red' – correct it every time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Speaking · class story (TPRS) (5 min)
TPRS CLASS STORY (5 min) – the adjectives, colours and very / quite from today, heard many times before the practice. Click once per line. For each line: 1) say it, 2) ask the questions round the class (yes/no → either/or → what/where), 3) let the CLASS change details (accept their idea and use it in later lines): 'Is the woman's bag purple? No? What colour is it?' Students answer with one word or a short phrase – that's fine; repeat the full sentence yourself. Recycles: adjective before the noun (an old taxi, a big bag), be + adjective (the taxi is slow), very / really / quite, opposites. Finish: 'What happens next?' (the White House is in Washington DC!).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· practice (4 min)
CONTROLLED PRACTICE (4 min). Grammar Bank 2B exercise a (the book's answers). Pairs say each sentence, then click to check. Highlight: an expensive / an easy (vowel sound, from 2A); questions with be: Is Louis French? (not 'Louis is French?').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Pronunciation · long and short vowels (4 min)
PRONUNCIATION (4 min). Play 2.9: the 8 sound pictures – listen, then listen and repeat. The two dots /ː/ = a LONG sound (tree, car, horse, boot). Pairs say each adjective (the vowel is highlighted) and match it to a picture; play 2.10 to check (it has two adjectives per sound); click once per word. Answers (TG 2.10): fish rich, big · tree easy, cheap · cat black, bad · car fast, dark · clock hot, wrong · horse small, short · bull full, good · boot blue, new. TG note: exaggerate the long sounds – Italian has one i and one 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Pronunciation game (3 min)
GAME (3 min). SB 3c as a team race (TG extra idea: race with a time limit). Teams say the phrase with a / an; click once per line, then play 2.11 to check and drill. Answers (TG 2.11): a big city · a black bag · cheap jeans · dark glasses · a good book · a grey day · new boots · an old photo · a short story. Extra challenge (TG): phrases about the classroom – a dirty board, big windows, a brown bag.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· 8 things you have (4 min)
SPEAKING (4 min). Give students 1 minute to think of 8 things (TG extra support: write them). Prompts appear one per click – model each. Pairs tell each other; the partner asks one question (What colour is it? Is it new?). TG extra idea: before feedback, can you remember your partner's 8 things? 'You have a…'. Note 3–4 word-order errors (a car red) for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Speaking game (4 min)
GAME (4 min) – replaces the Communication pair-work (SB p.103/109). Model: 'It's yellow, it's quite long and it's cheap. You eat it.' → a banana. Words appear one per click, alternating A (pink) and B (blue). Accept any correct description with adjective + noun or be + adjective. ICQ: 'Can you say the word?' (no).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Reading · British and American English (5 min)
READING (5 min). The article is ON THE SLIDE (shortened from the book, facts unchanged). Pre-teach only: different = diverso, the same = uguale. Pairs choose headings 2–4 from the box (Food and Music don't fit), then play 2.12 to check; click once per heading. Answers (SB key): 2 Spelling · 3 Grammar · 4 Pronunciation. Link to 2A: purse = borsellino in the UK, but a bag in the US!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Reading · detail (3 min)
DETAIL (3 min). SB 5c. Pairs answer T/F and correct the false ones (TG: elicit WHY each F is false). Click once per sentence. 5d / TG extra challenge: more American words – movie, cookie, apartment, soccer, elevator. UK / US: cell phone = mobile phone · color = colour · purse = handbag · vacation = holiday · ZIP code = postcode.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Exit · what can you remember? (2 min)
RETRIEVAL EXIT (2 min). Books closed. Pairs: 3 pairs of opposites, 2 American icons (adjective + noun), 1 sentence about Frank's taxi (a very old yellow taxi…). Set homework: Workbook 2B pp.14–15 – 1a–c, 2a–e, 3a (3b needs the Workbook audio, optional) + write 5 things you have with an adjective (a red car, a very old phone…).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Book audio · 2B (0 min)
EXTRA. 2.7 has all 21 pairs from the Vocabulary Bank (too many for one A1/A2 lesson): use it for a fast class or as revision next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audio" Target="../media/media-3-5.mp3"/><Relationship Id="rId6" Type="http://schemas.microsoft.com/office/2007/relationships/media" Target="../media/media-3-5.mp3"/><Relationship Id="rId7" Type="http://schemas.openxmlformats.org/officeDocument/2006/relationships/image" Target="../media/image-3-7.png"/><Relationship Id="rId8" Type="http://schemas.openxmlformats.org/officeDocument/2006/relationships/audio" Target="../media/media-3-8.mp3"/><Relationship Id="rId9" Type="http://schemas.microsoft.com/office/2007/relationships/media" Target="../media/media-3-8.mp3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audio" Target="../media/media-5-5.mp3"/><Relationship Id="rId6" Type="http://schemas.microsoft.com/office/2007/relationships/media" Target="../media/media-5-5.mp3"/><Relationship Id="rId7" Type="http://schemas.openxmlformats.org/officeDocument/2006/relationships/image" Target="../media/image-5-7.png"/><Relationship Id="rId8" Type="http://schemas.openxmlformats.org/officeDocument/2006/relationships/audio" Target="../media/media-5-8.mp3"/><Relationship Id="rId9" Type="http://schemas.microsoft.com/office/2007/relationships/media" Target="../media/media-5-8.mp3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audio" Target="../media/media-10-5.mp3"/><Relationship Id="rId6" Type="http://schemas.microsoft.com/office/2007/relationships/media" Target="../media/media-10-5.mp3"/><Relationship Id="rId7" Type="http://schemas.openxmlformats.org/officeDocument/2006/relationships/image" Target="../media/image-10-7.png"/><Relationship Id="rId8" Type="http://schemas.openxmlformats.org/officeDocument/2006/relationships/audio" Target="../media/media-10-8.mp3"/><Relationship Id="rId9" Type="http://schemas.microsoft.com/office/2007/relationships/media" Target="../media/media-10-8.mp3"/><Relationship Id="rId10" Type="http://schemas.openxmlformats.org/officeDocument/2006/relationships/image" Target="../media/image-10-10.png"/><Relationship Id="rId11" Type="http://schemas.openxmlformats.org/officeDocument/2006/relationships/audio" Target="../media/media-10-11.mp3"/><Relationship Id="rId12" Type="http://schemas.microsoft.com/office/2007/relationships/media" Target="../media/media-10-11.mp3"/><Relationship Id="rId13" Type="http://schemas.openxmlformats.org/officeDocument/2006/relationships/image" Target="../media/image-10-13.png"/><Relationship Id="rId14" Type="http://schemas.openxmlformats.org/officeDocument/2006/relationships/audio" Target="../media/media-10-14.mp3"/><Relationship Id="rId15" Type="http://schemas.microsoft.com/office/2007/relationships/media" Target="../media/media-10-14.mp3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audio" Target="../media/media-11-5.mp3"/><Relationship Id="rId6" Type="http://schemas.microsoft.com/office/2007/relationships/media" Target="../media/media-11-5.mp3"/><Relationship Id="rId7" Type="http://schemas.openxmlformats.org/officeDocument/2006/relationships/image" Target="../media/image-11-7.png"/><Relationship Id="rId8" Type="http://schemas.openxmlformats.org/officeDocument/2006/relationships/audio" Target="../media/media-11-8.mp3"/><Relationship Id="rId9" Type="http://schemas.microsoft.com/office/2007/relationships/media" Target="../media/media-11-8.mp3"/><Relationship Id="rId10" Type="http://schemas.openxmlformats.org/officeDocument/2006/relationships/image" Target="../media/image-11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audio" Target="../media/media-14-5.mp3"/><Relationship Id="rId6" Type="http://schemas.microsoft.com/office/2007/relationships/media" Target="../media/media-14-5.mp3"/><Relationship Id="rId7" Type="http://schemas.openxmlformats.org/officeDocument/2006/relationships/image" Target="../media/image-14-7.png"/><Relationship Id="rId8" Type="http://schemas.openxmlformats.org/officeDocument/2006/relationships/audio" Target="../media/media-14-8.mp3"/><Relationship Id="rId9" Type="http://schemas.microsoft.com/office/2007/relationships/media" Target="../media/media-14-8.mp3"/><Relationship Id="rId10" Type="http://schemas.openxmlformats.org/officeDocument/2006/relationships/image" Target="../media/image-1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audio" Target="../media/media-19-6.mp3"/><Relationship Id="rId7" Type="http://schemas.microsoft.com/office/2007/relationships/media" Target="../media/media-19-6.mp3"/><Relationship Id="rId8" Type="http://schemas.openxmlformats.org/officeDocument/2006/relationships/image" Target="../media/image-19-8.png"/><Relationship Id="rId9" Type="http://schemas.openxmlformats.org/officeDocument/2006/relationships/audio" Target="../media/media-19-9.mp3"/><Relationship Id="rId10" Type="http://schemas.microsoft.com/office/2007/relationships/media" Target="../media/media-19-9.mp3"/><Relationship Id="rId11" Type="http://schemas.openxmlformats.org/officeDocument/2006/relationships/image" Target="../media/image-19-11.png"/><Relationship Id="rId12" Type="http://schemas.openxmlformats.org/officeDocument/2006/relationships/audio" Target="../media/media-19-12.mp3"/><Relationship Id="rId13" Type="http://schemas.microsoft.com/office/2007/relationships/media" Target="../media/media-19-12.mp3"/><Relationship Id="rId14" Type="http://schemas.openxmlformats.org/officeDocument/2006/relationships/image" Target="../media/image-19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Elementary · SB pp.16–17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2B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Made in America</a:t>
            </a:r>
            <a:endParaRPr lang="en-US" sz="22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Colours, adjectives, very / quite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🎨  learn colours and adjectives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🇺🇸  name American icons: a hot dog, yellow taxis…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🔊  hear long and short sounds: cheap, rich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👀  read about British and American English</a:t>
            </a:r>
            <a:endParaRPr lang="en-US" sz="8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Hamburgers, yellow taxis and Hollywood films!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5308644" y="777240"/>
            <a:ext cx="3052992" cy="3200400"/>
          </a:xfrm>
          <a:prstGeom prst="roundRect">
            <a:avLst>
              <a:gd name="adj" fmla="val 50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red_2b_newyork_jpg_713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5354364" y="822960"/>
            <a:ext cx="2961552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typically American? Name 3 things!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2A?</a:t>
            </a:r>
            <a:endParaRPr lang="en-US" sz="225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remember? Say it – then use it in a sentence!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ricordi? Dillo – poi usalo in una frase!</a:t>
            </a:r>
            <a:endParaRPr lang="en-US" sz="950" dirty="0"/>
          </a:p>
        </p:txBody>
      </p:sp>
      <p:sp>
        <p:nvSpPr>
          <p:cNvPr id="9" name="note_2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50" dirty="0"/>
          </a:p>
        </p:txBody>
      </p:sp>
      <p:pic>
        <p:nvPicPr>
          <p:cNvPr id="10" name="logo_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Revision · last lesson 2A</a:t>
            </a:r>
            <a:endParaRPr lang="en-US" sz="800" dirty="0"/>
          </a:p>
        </p:txBody>
      </p:sp>
      <p:sp>
        <p:nvSpPr>
          <p:cNvPr id="12" name="pf_26"/>
          <p:cNvSpPr/>
          <p:nvPr/>
        </p:nvSpPr>
        <p:spPr>
          <a:xfrm rot="-120000">
            <a:off x="365760" y="1371600"/>
            <a:ext cx="2651760" cy="1645920"/>
          </a:xfrm>
          <a:prstGeom prst="roundRect">
            <a:avLst>
              <a:gd name="adj" fmla="val 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27" descr="/home/claude/lls-course/v2/cache/red_2a_untidy_jpg_616x374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554480"/>
          </a:xfrm>
          <a:prstGeom prst="rect">
            <a:avLst/>
          </a:prstGeom>
        </p:spPr>
      </p:pic>
      <p:sp>
        <p:nvSpPr>
          <p:cNvPr id="14" name="cd_28"/>
          <p:cNvSpPr/>
          <p:nvPr/>
        </p:nvSpPr>
        <p:spPr>
          <a:xfrm>
            <a:off x="320040" y="3200400"/>
            <a:ext cx="2743200" cy="1478280"/>
          </a:xfrm>
          <a:prstGeom prst="roundRect">
            <a:avLst>
              <a:gd name="adj" fmla="val 866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9"/>
          <p:cNvSpPr/>
          <p:nvPr/>
        </p:nvSpPr>
        <p:spPr>
          <a:xfrm>
            <a:off x="41148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6" name="ih_30"/>
          <p:cNvSpPr/>
          <p:nvPr/>
        </p:nvSpPr>
        <p:spPr>
          <a:xfrm>
            <a:off x="886968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7" name="il_31"/>
          <p:cNvSpPr/>
          <p:nvPr/>
        </p:nvSpPr>
        <p:spPr>
          <a:xfrm>
            <a:off x="886968" y="3694176"/>
            <a:ext cx="2084832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2A: things in your bag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plurals: keys, glasses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in, on, under</a:t>
            </a:r>
            <a:endParaRPr lang="en-US" sz="1100" dirty="0"/>
          </a:p>
        </p:txBody>
      </p:sp>
      <p:sp>
        <p:nvSpPr>
          <p:cNvPr id="18" name="kw_32"/>
          <p:cNvSpPr/>
          <p:nvPr/>
        </p:nvSpPr>
        <p:spPr>
          <a:xfrm>
            <a:off x="3246120" y="1417320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Can you remember these words? What do they mean?</a:t>
            </a:r>
            <a:endParaRPr lang="en-US" sz="1200" dirty="0"/>
          </a:p>
        </p:txBody>
      </p:sp>
      <p:sp>
        <p:nvSpPr>
          <p:cNvPr id="19" name="w_33"/>
          <p:cNvSpPr/>
          <p:nvPr/>
        </p:nvSpPr>
        <p:spPr>
          <a:xfrm>
            <a:off x="3246120" y="1783080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wallet</a:t>
            </a:r>
            <a:endParaRPr lang="en-US" sz="1200" dirty="0"/>
          </a:p>
        </p:txBody>
      </p:sp>
      <p:sp>
        <p:nvSpPr>
          <p:cNvPr id="20" name="w_34"/>
          <p:cNvSpPr/>
          <p:nvPr/>
        </p:nvSpPr>
        <p:spPr>
          <a:xfrm>
            <a:off x="4270248" y="1783080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purse</a:t>
            </a:r>
            <a:endParaRPr lang="en-US" sz="1200" dirty="0"/>
          </a:p>
        </p:txBody>
      </p:sp>
      <p:sp>
        <p:nvSpPr>
          <p:cNvPr id="21" name="w_35"/>
          <p:cNvSpPr/>
          <p:nvPr/>
        </p:nvSpPr>
        <p:spPr>
          <a:xfrm>
            <a:off x="5207508" y="1783080"/>
            <a:ext cx="758952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keys</a:t>
            </a:r>
            <a:endParaRPr lang="en-US" sz="1200" dirty="0"/>
          </a:p>
        </p:txBody>
      </p:sp>
      <p:sp>
        <p:nvSpPr>
          <p:cNvPr id="22" name="w_36"/>
          <p:cNvSpPr/>
          <p:nvPr/>
        </p:nvSpPr>
        <p:spPr>
          <a:xfrm>
            <a:off x="6057900" y="17830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sunglasses</a:t>
            </a:r>
            <a:endParaRPr lang="en-US" sz="1200" dirty="0"/>
          </a:p>
        </p:txBody>
      </p:sp>
      <p:sp>
        <p:nvSpPr>
          <p:cNvPr id="23" name="w_37"/>
          <p:cNvSpPr/>
          <p:nvPr/>
        </p:nvSpPr>
        <p:spPr>
          <a:xfrm>
            <a:off x="7429500" y="1783080"/>
            <a:ext cx="1019556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tissues</a:t>
            </a:r>
            <a:endParaRPr lang="en-US" sz="1200" dirty="0"/>
          </a:p>
        </p:txBody>
      </p:sp>
      <p:sp>
        <p:nvSpPr>
          <p:cNvPr id="24" name="w_38"/>
          <p:cNvSpPr/>
          <p:nvPr/>
        </p:nvSpPr>
        <p:spPr>
          <a:xfrm>
            <a:off x="3246120" y="2185416"/>
            <a:ext cx="1019556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charger</a:t>
            </a:r>
            <a:endParaRPr lang="en-US" sz="1200" dirty="0"/>
          </a:p>
        </p:txBody>
      </p:sp>
      <p:sp>
        <p:nvSpPr>
          <p:cNvPr id="25" name="lv_39"/>
          <p:cNvSpPr/>
          <p:nvPr/>
        </p:nvSpPr>
        <p:spPr>
          <a:xfrm>
            <a:off x="324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it mean?</a:t>
            </a:r>
            <a:endParaRPr lang="en-US" sz="1000" dirty="0"/>
          </a:p>
        </p:txBody>
      </p:sp>
      <p:sp>
        <p:nvSpPr>
          <p:cNvPr id="26" name="lv_40"/>
          <p:cNvSpPr/>
          <p:nvPr/>
        </p:nvSpPr>
        <p:spPr>
          <a:xfrm>
            <a:off x="5151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it in a sentence.</a:t>
            </a:r>
            <a:endParaRPr lang="en-US" sz="1000" dirty="0"/>
          </a:p>
        </p:txBody>
      </p:sp>
      <p:sp>
        <p:nvSpPr>
          <p:cNvPr id="27" name="lv_41"/>
          <p:cNvSpPr/>
          <p:nvPr/>
        </p:nvSpPr>
        <p:spPr>
          <a:xfrm>
            <a:off x="705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⭐⭐⭐ 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negative or a question!</a:t>
            </a:r>
            <a:endParaRPr lang="en-US" sz="950" dirty="0"/>
          </a:p>
        </p:txBody>
      </p:sp>
      <p:sp>
        <p:nvSpPr>
          <p:cNvPr id="28" name="cd_42"/>
          <p:cNvSpPr/>
          <p:nvPr/>
        </p:nvSpPr>
        <p:spPr>
          <a:xfrm>
            <a:off x="3246120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rh_43"/>
          <p:cNvSpPr/>
          <p:nvPr/>
        </p:nvSpPr>
        <p:spPr>
          <a:xfrm>
            <a:off x="3337560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Things</a:t>
            </a:r>
            <a:endParaRPr lang="en-US" sz="1100" dirty="0"/>
          </a:p>
        </p:txBody>
      </p:sp>
      <p:sp>
        <p:nvSpPr>
          <p:cNvPr id="30" name="R1_rl44"/>
          <p:cNvSpPr/>
          <p:nvPr/>
        </p:nvSpPr>
        <p:spPr>
          <a:xfrm>
            <a:off x="3383280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is it? –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a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wallet.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are they? –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They're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sunglasses.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watch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two key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</a:t>
            </a:r>
            <a:endParaRPr lang="en-US" sz="1100" dirty="0"/>
          </a:p>
        </p:txBody>
      </p:sp>
      <p:sp>
        <p:nvSpPr>
          <p:cNvPr id="31" name="cd_45"/>
          <p:cNvSpPr/>
          <p:nvPr/>
        </p:nvSpPr>
        <p:spPr>
          <a:xfrm>
            <a:off x="6112764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2" name="rh_46"/>
          <p:cNvSpPr/>
          <p:nvPr/>
        </p:nvSpPr>
        <p:spPr>
          <a:xfrm>
            <a:off x="6204204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Where?</a:t>
            </a:r>
            <a:endParaRPr lang="en-US" sz="1100" dirty="0"/>
          </a:p>
        </p:txBody>
      </p:sp>
      <p:sp>
        <p:nvSpPr>
          <p:cNvPr id="33" name="R2_rl47"/>
          <p:cNvSpPr/>
          <p:nvPr/>
        </p:nvSpPr>
        <p:spPr>
          <a:xfrm>
            <a:off x="6249924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phone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in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my bag.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keys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on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table.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cat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under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sofa.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50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colour is it?</a:t>
            </a:r>
            <a:endParaRPr lang="en-US" sz="2500" dirty="0"/>
          </a:p>
        </p:txBody>
      </p:sp>
      <p:pic>
        <p:nvPicPr>
          <p:cNvPr id="6" name="brP_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52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colour in English. Click: the Italian.</a:t>
            </a:r>
            <a:endParaRPr lang="en-US" sz="1250" dirty="0"/>
          </a:p>
        </p:txBody>
      </p:sp>
      <p:sp>
        <p:nvSpPr>
          <p:cNvPr id="8" name="insIT_5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il colore in inglese. Clicca: l'italiano.</a:t>
            </a:r>
            <a:endParaRPr lang="en-US" sz="950" dirty="0"/>
          </a:p>
        </p:txBody>
      </p:sp>
      <p:sp>
        <p:nvSpPr>
          <p:cNvPr id="9" name="note_5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TPRS · meaning</a:t>
            </a:r>
            <a:endParaRPr lang="en-US" sz="1150" dirty="0"/>
          </a:p>
        </p:txBody>
      </p:sp>
      <p:pic>
        <p:nvPicPr>
          <p:cNvPr id="10" name="logo_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Vocabulary · colours   ·   📖 SB p.16 · 1a, 1b · audio 2.6</a:t>
            </a:r>
            <a:endParaRPr lang="en-US" sz="800" dirty="0"/>
          </a:p>
        </p:txBody>
      </p:sp>
      <p:sp>
        <p:nvSpPr>
          <p:cNvPr id="12" name="cd_57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e_58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⚫</a:t>
            </a:r>
            <a:endParaRPr lang="en-US" sz="2000" dirty="0"/>
          </a:p>
        </p:txBody>
      </p:sp>
      <p:sp>
        <p:nvSpPr>
          <p:cNvPr id="14" name="en_59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black</a:t>
            </a:r>
            <a:endParaRPr lang="en-US" sz="1200" dirty="0"/>
          </a:p>
        </p:txBody>
      </p:sp>
      <p:sp>
        <p:nvSpPr>
          <p:cNvPr id="15" name="R1_it60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nero</a:t>
            </a:r>
            <a:endParaRPr lang="en-US" sz="1000" dirty="0"/>
          </a:p>
        </p:txBody>
      </p:sp>
      <p:sp>
        <p:nvSpPr>
          <p:cNvPr id="16" name="cd_61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e_62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🟡</a:t>
            </a:r>
            <a:endParaRPr lang="en-US" sz="2000" dirty="0"/>
          </a:p>
        </p:txBody>
      </p:sp>
      <p:sp>
        <p:nvSpPr>
          <p:cNvPr id="18" name="en_63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yellow</a:t>
            </a:r>
            <a:endParaRPr lang="en-US" sz="1200" dirty="0"/>
          </a:p>
        </p:txBody>
      </p:sp>
      <p:sp>
        <p:nvSpPr>
          <p:cNvPr id="19" name="R2_it64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giallo</a:t>
            </a:r>
            <a:endParaRPr lang="en-US" sz="1000" dirty="0"/>
          </a:p>
        </p:txBody>
      </p:sp>
      <p:sp>
        <p:nvSpPr>
          <p:cNvPr id="20" name="cd_65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e_66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🐘</a:t>
            </a:r>
            <a:endParaRPr lang="en-US" sz="2000" dirty="0"/>
          </a:p>
        </p:txBody>
      </p:sp>
      <p:sp>
        <p:nvSpPr>
          <p:cNvPr id="22" name="en_67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grey</a:t>
            </a:r>
            <a:endParaRPr lang="en-US" sz="1200" dirty="0"/>
          </a:p>
        </p:txBody>
      </p:sp>
      <p:sp>
        <p:nvSpPr>
          <p:cNvPr id="23" name="R3_it68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grigio</a:t>
            </a:r>
            <a:endParaRPr lang="en-US" sz="1000" dirty="0"/>
          </a:p>
        </p:txBody>
      </p:sp>
      <p:sp>
        <p:nvSpPr>
          <p:cNvPr id="24" name="cd_69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e_70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🟠</a:t>
            </a:r>
            <a:endParaRPr lang="en-US" sz="2000" dirty="0"/>
          </a:p>
        </p:txBody>
      </p:sp>
      <p:sp>
        <p:nvSpPr>
          <p:cNvPr id="26" name="en_71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orange</a:t>
            </a:r>
            <a:endParaRPr lang="en-US" sz="1200" dirty="0"/>
          </a:p>
        </p:txBody>
      </p:sp>
      <p:sp>
        <p:nvSpPr>
          <p:cNvPr id="27" name="R4_it72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arancione</a:t>
            </a:r>
            <a:endParaRPr lang="en-US" sz="1000" dirty="0"/>
          </a:p>
        </p:txBody>
      </p:sp>
      <p:sp>
        <p:nvSpPr>
          <p:cNvPr id="28" name="cd_73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e_74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🟤</a:t>
            </a:r>
            <a:endParaRPr lang="en-US" sz="2000" dirty="0"/>
          </a:p>
        </p:txBody>
      </p:sp>
      <p:sp>
        <p:nvSpPr>
          <p:cNvPr id="30" name="en_75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brown</a:t>
            </a:r>
            <a:endParaRPr lang="en-US" sz="1200" dirty="0"/>
          </a:p>
        </p:txBody>
      </p:sp>
      <p:sp>
        <p:nvSpPr>
          <p:cNvPr id="31" name="R5_it76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marrone</a:t>
            </a:r>
            <a:endParaRPr lang="en-US" sz="1000" dirty="0"/>
          </a:p>
        </p:txBody>
      </p:sp>
      <p:sp>
        <p:nvSpPr>
          <p:cNvPr id="32" name="cd_77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e_78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🌸</a:t>
            </a:r>
            <a:endParaRPr lang="en-US" sz="2000" dirty="0"/>
          </a:p>
        </p:txBody>
      </p:sp>
      <p:sp>
        <p:nvSpPr>
          <p:cNvPr id="34" name="en_79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pink</a:t>
            </a:r>
            <a:endParaRPr lang="en-US" sz="1200" dirty="0"/>
          </a:p>
        </p:txBody>
      </p:sp>
      <p:sp>
        <p:nvSpPr>
          <p:cNvPr id="35" name="R6_it80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rosa</a:t>
            </a:r>
            <a:endParaRPr lang="en-US" sz="1000" dirty="0"/>
          </a:p>
        </p:txBody>
      </p:sp>
      <p:sp>
        <p:nvSpPr>
          <p:cNvPr id="36" name="cd_81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7" name="e_82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🟢</a:t>
            </a:r>
            <a:endParaRPr lang="en-US" sz="2000" dirty="0"/>
          </a:p>
        </p:txBody>
      </p:sp>
      <p:sp>
        <p:nvSpPr>
          <p:cNvPr id="38" name="en_83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green</a:t>
            </a:r>
            <a:endParaRPr lang="en-US" sz="1200" dirty="0"/>
          </a:p>
        </p:txBody>
      </p:sp>
      <p:sp>
        <p:nvSpPr>
          <p:cNvPr id="39" name="R7_it84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verde</a:t>
            </a:r>
            <a:endParaRPr lang="en-US" sz="1000" dirty="0"/>
          </a:p>
        </p:txBody>
      </p:sp>
      <p:sp>
        <p:nvSpPr>
          <p:cNvPr id="40" name="cd_85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e_86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🟣</a:t>
            </a:r>
            <a:endParaRPr lang="en-US" sz="2000" dirty="0"/>
          </a:p>
        </p:txBody>
      </p:sp>
      <p:sp>
        <p:nvSpPr>
          <p:cNvPr id="42" name="en_87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purple</a:t>
            </a:r>
            <a:endParaRPr lang="en-US" sz="1200" dirty="0"/>
          </a:p>
        </p:txBody>
      </p:sp>
      <p:sp>
        <p:nvSpPr>
          <p:cNvPr id="43" name="R8_it88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viola</a:t>
            </a:r>
            <a:endParaRPr lang="en-US" sz="1000" dirty="0"/>
          </a:p>
        </p:txBody>
      </p:sp>
      <p:sp>
        <p:nvSpPr>
          <p:cNvPr id="44" name="cd_89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5" name="e_90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🥈</a:t>
            </a:r>
            <a:endParaRPr lang="en-US" sz="2000" dirty="0"/>
          </a:p>
        </p:txBody>
      </p:sp>
      <p:sp>
        <p:nvSpPr>
          <p:cNvPr id="46" name="en_91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silver</a:t>
            </a:r>
            <a:endParaRPr lang="en-US" sz="1200" dirty="0"/>
          </a:p>
        </p:txBody>
      </p:sp>
      <p:sp>
        <p:nvSpPr>
          <p:cNvPr id="47" name="R9_it92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argento</a:t>
            </a:r>
            <a:endParaRPr lang="en-US" sz="1000" dirty="0"/>
          </a:p>
        </p:txBody>
      </p:sp>
      <p:sp>
        <p:nvSpPr>
          <p:cNvPr id="48" name="cd_93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9" name="e_94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🥇</a:t>
            </a:r>
            <a:endParaRPr lang="en-US" sz="2000" dirty="0"/>
          </a:p>
        </p:txBody>
      </p:sp>
      <p:sp>
        <p:nvSpPr>
          <p:cNvPr id="50" name="en_95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gold</a:t>
            </a:r>
            <a:endParaRPr lang="en-US" sz="1200" dirty="0"/>
          </a:p>
        </p:txBody>
      </p:sp>
      <p:sp>
        <p:nvSpPr>
          <p:cNvPr id="51" name="R10_it96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oro</a:t>
            </a:r>
            <a:endParaRPr lang="en-US" sz="1000" dirty="0"/>
          </a:p>
        </p:txBody>
      </p:sp>
      <p:sp>
        <p:nvSpPr>
          <p:cNvPr id="52" name="cd_97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3" name="e_98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🔴</a:t>
            </a:r>
            <a:endParaRPr lang="en-US" sz="2000" dirty="0"/>
          </a:p>
        </p:txBody>
      </p:sp>
      <p:sp>
        <p:nvSpPr>
          <p:cNvPr id="54" name="en_99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red</a:t>
            </a:r>
            <a:endParaRPr lang="en-US" sz="1200" dirty="0"/>
          </a:p>
        </p:txBody>
      </p:sp>
      <p:sp>
        <p:nvSpPr>
          <p:cNvPr id="55" name="R11_it100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rosso</a:t>
            </a:r>
            <a:endParaRPr lang="en-US" sz="1000" dirty="0"/>
          </a:p>
        </p:txBody>
      </p:sp>
      <p:sp>
        <p:nvSpPr>
          <p:cNvPr id="56" name="cd_101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7" name="e_102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🔵</a:t>
            </a:r>
            <a:endParaRPr lang="en-US" sz="2000" dirty="0"/>
          </a:p>
        </p:txBody>
      </p:sp>
      <p:sp>
        <p:nvSpPr>
          <p:cNvPr id="58" name="en_103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blue</a:t>
            </a:r>
            <a:endParaRPr lang="en-US" sz="1200" dirty="0"/>
          </a:p>
        </p:txBody>
      </p:sp>
      <p:sp>
        <p:nvSpPr>
          <p:cNvPr id="59" name="R12_it104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blu / azzurro</a:t>
            </a:r>
            <a:endParaRPr lang="en-US" sz="1000" dirty="0"/>
          </a:p>
        </p:txBody>
      </p:sp>
      <p:sp>
        <p:nvSpPr>
          <p:cNvPr id="60" name="ap_105"/>
          <p:cNvSpPr/>
          <p:nvPr/>
        </p:nvSpPr>
        <p:spPr>
          <a:xfrm>
            <a:off x="320040" y="448056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2.6</a:t>
            </a:r>
            <a:endParaRPr lang="en-US" sz="1100" dirty="0"/>
          </a:p>
        </p:txBody>
      </p:sp>
      <p:sp>
        <p:nvSpPr>
          <p:cNvPr id="61" name="ah_106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62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63" name="ah_107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64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65" name="R13_wc108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6" name="R13_w109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grey (UK) = gray (US)  ·  orange /ˈɒrɪndʒ/  ·  the American flag is red, white and blue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1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2" fill="hold">
                      <p:stCondLst>
                        <p:cond delay="0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75" dur="1" fill="hold"/>
                                        <p:tgtEl>
                                          <p:spTgt spid="6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76" restart="whenNotActive" fill="hold" evtFilter="cancelBubble" nodeType="interactiveSeq">
                <p:stCondLst>
                  <p:cond evt="onClick" delay="0">
                    <p:tgtEl>
                      <p:spTgt spid="6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7" fill="hold">
                      <p:stCondLst>
                        <p:cond delay="0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80" dur="1" fill="hold"/>
                                        <p:tgtEl>
                                          <p:spTgt spid="6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4"/>
                  </p:tgtEl>
                </p:cond>
              </p:nextCondLst>
            </p:seq>
            <p:audio>
              <p:cMediaNode vol="80000">
                <p:cTn id="8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2"/>
                </p:tgtEl>
              </p:cMediaNode>
            </p:audio>
            <p:audio>
              <p:cMediaNode vol="80000">
                <p:cTn id="8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4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1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11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112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colour is your bag?</a:t>
            </a:r>
            <a:endParaRPr lang="en-US" sz="2500" dirty="0"/>
          </a:p>
        </p:txBody>
      </p:sp>
      <p:pic>
        <p:nvPicPr>
          <p:cNvPr id="6" name="brP_11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114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partner. Answer: It's… / They're…</a:t>
            </a:r>
            <a:endParaRPr lang="en-US" sz="1250" dirty="0"/>
          </a:p>
        </p:txBody>
      </p:sp>
      <p:sp>
        <p:nvSpPr>
          <p:cNvPr id="8" name="insIT_11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al compagno. Rispondi: It's… / They're…</a:t>
            </a:r>
            <a:endParaRPr lang="en-US" sz="950" dirty="0"/>
          </a:p>
        </p:txBody>
      </p:sp>
      <p:sp>
        <p:nvSpPr>
          <p:cNvPr id="9" name="note_11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Controlled practice</a:t>
            </a:r>
            <a:endParaRPr lang="en-US" sz="1250" dirty="0"/>
          </a:p>
        </p:txBody>
      </p:sp>
      <p:pic>
        <p:nvPicPr>
          <p:cNvPr id="10" name="logo_11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1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Speaking · colours   ·   📖 SB p.16 · 1c</a:t>
            </a:r>
            <a:endParaRPr lang="en-US" sz="800" dirty="0"/>
          </a:p>
        </p:txBody>
      </p:sp>
      <p:sp>
        <p:nvSpPr>
          <p:cNvPr id="12" name="cd_119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12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12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122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colour is the American flag? → It's red, white and blue.</a:t>
            </a:r>
            <a:endParaRPr lang="en-US" sz="950" dirty="0"/>
          </a:p>
        </p:txBody>
      </p:sp>
      <p:sp>
        <p:nvSpPr>
          <p:cNvPr id="16" name="pf_123"/>
          <p:cNvSpPr/>
          <p:nvPr/>
        </p:nvSpPr>
        <p:spPr>
          <a:xfrm rot="-90000">
            <a:off x="365760" y="2569464"/>
            <a:ext cx="2606040" cy="2093976"/>
          </a:xfrm>
          <a:prstGeom prst="roundRect">
            <a:avLst>
              <a:gd name="adj" fmla="val 74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124" descr="/home/claude/lls-course/v2/cache/red_2b_flag_jpg_605x48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615184"/>
            <a:ext cx="2514600" cy="2002536"/>
          </a:xfrm>
          <a:prstGeom prst="rect">
            <a:avLst/>
          </a:prstGeom>
        </p:spPr>
      </p:pic>
      <p:sp>
        <p:nvSpPr>
          <p:cNvPr id="18" name="bd_125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126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colour is the Italian flag?</a:t>
            </a:r>
            <a:endParaRPr lang="en-US" sz="1150" dirty="0"/>
          </a:p>
        </p:txBody>
      </p:sp>
      <p:sp>
        <p:nvSpPr>
          <p:cNvPr id="20" name="R1_chip127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green, white and red.</a:t>
            </a:r>
            <a:endParaRPr lang="en-US" sz="1050" dirty="0"/>
          </a:p>
        </p:txBody>
      </p:sp>
      <p:sp>
        <p:nvSpPr>
          <p:cNvPr id="21" name="bd_128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129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colour are New York taxis?</a:t>
            </a:r>
            <a:endParaRPr lang="en-US" sz="1150" dirty="0"/>
          </a:p>
        </p:txBody>
      </p:sp>
      <p:sp>
        <p:nvSpPr>
          <p:cNvPr id="23" name="R2_chip130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They're yellow.</a:t>
            </a:r>
            <a:endParaRPr lang="en-US" sz="1050" dirty="0"/>
          </a:p>
        </p:txBody>
      </p:sp>
      <p:sp>
        <p:nvSpPr>
          <p:cNvPr id="24" name="bd_131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132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colour is your bag?</a:t>
            </a:r>
            <a:endParaRPr lang="en-US" sz="1150" dirty="0"/>
          </a:p>
        </p:txBody>
      </p:sp>
      <p:sp>
        <p:nvSpPr>
          <p:cNvPr id="26" name="R3_chip133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black. / It's brown…</a:t>
            </a:r>
            <a:endParaRPr lang="en-US" sz="1050" dirty="0"/>
          </a:p>
        </p:txBody>
      </p:sp>
      <p:sp>
        <p:nvSpPr>
          <p:cNvPr id="27" name="bd_134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135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colour are your shoes?</a:t>
            </a:r>
            <a:endParaRPr lang="en-US" sz="1150" dirty="0"/>
          </a:p>
        </p:txBody>
      </p:sp>
      <p:sp>
        <p:nvSpPr>
          <p:cNvPr id="29" name="R4_chip136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They're white…</a:t>
            </a:r>
            <a:endParaRPr lang="en-US" sz="1050" dirty="0"/>
          </a:p>
        </p:txBody>
      </p:sp>
      <p:sp>
        <p:nvSpPr>
          <p:cNvPr id="30" name="bd_13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138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colour is a Sicilian lemon?</a:t>
            </a:r>
            <a:endParaRPr lang="en-US" sz="1150" dirty="0"/>
          </a:p>
        </p:txBody>
      </p:sp>
      <p:sp>
        <p:nvSpPr>
          <p:cNvPr id="32" name="R5_chip139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yellow (and green)!</a:t>
            </a:r>
            <a:endParaRPr lang="en-US" sz="1050" dirty="0"/>
          </a:p>
        </p:txBody>
      </p:sp>
      <p:sp>
        <p:nvSpPr>
          <p:cNvPr id="33" name="bd_140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141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colour is that? (point!)</a:t>
            </a:r>
            <a:endParaRPr lang="en-US" sz="1150" dirty="0"/>
          </a:p>
        </p:txBody>
      </p:sp>
      <p:sp>
        <p:nvSpPr>
          <p:cNvPr id="35" name="R6_chip142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grey. / It's blue…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145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Big or small?</a:t>
            </a:r>
            <a:endParaRPr lang="en-US" sz="2500" dirty="0"/>
          </a:p>
        </p:txBody>
      </p:sp>
      <p:pic>
        <p:nvPicPr>
          <p:cNvPr id="6" name="brP_1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47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opposite. Click 1: example. Click 2: Italian.</a:t>
            </a:r>
            <a:endParaRPr lang="en-US" sz="1250" dirty="0"/>
          </a:p>
        </p:txBody>
      </p:sp>
      <p:sp>
        <p:nvSpPr>
          <p:cNvPr id="8" name="insIT_14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il contrario. Clic 1: esempio. Clic 2: italiano.</a:t>
            </a:r>
            <a:endParaRPr lang="en-US" sz="950" dirty="0"/>
          </a:p>
        </p:txBody>
      </p:sp>
      <p:sp>
        <p:nvSpPr>
          <p:cNvPr id="9" name="note_14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TPRS · meaning</a:t>
            </a:r>
            <a:endParaRPr lang="en-US" sz="1150" dirty="0"/>
          </a:p>
        </p:txBody>
      </p:sp>
      <p:pic>
        <p:nvPicPr>
          <p:cNvPr id="10" name="logo_15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5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Vocabulary · opposite adjectives   ·   📖 Vocabulary Bank Adjectives p.152 · audio 2.7</a:t>
            </a:r>
            <a:endParaRPr lang="en-US" sz="800" dirty="0"/>
          </a:p>
        </p:txBody>
      </p:sp>
      <p:sp>
        <p:nvSpPr>
          <p:cNvPr id="12" name="cd_152"/>
          <p:cNvSpPr/>
          <p:nvPr/>
        </p:nvSpPr>
        <p:spPr>
          <a:xfrm>
            <a:off x="320040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e_153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🐘</a:t>
            </a:r>
            <a:endParaRPr lang="en-US" sz="2000" dirty="0"/>
          </a:p>
        </p:txBody>
      </p:sp>
      <p:sp>
        <p:nvSpPr>
          <p:cNvPr id="14" name="en_154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big ≠ small</a:t>
            </a:r>
            <a:endParaRPr lang="en-US" sz="1200" dirty="0"/>
          </a:p>
        </p:txBody>
      </p:sp>
      <p:sp>
        <p:nvSpPr>
          <p:cNvPr id="15" name="R1_def155"/>
          <p:cNvSpPr/>
          <p:nvPr/>
        </p:nvSpPr>
        <p:spPr>
          <a:xfrm>
            <a:off x="978408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elephant ≠ a mouse</a:t>
            </a:r>
            <a:endParaRPr lang="en-US" sz="850" dirty="0"/>
          </a:p>
        </p:txBody>
      </p:sp>
      <p:sp>
        <p:nvSpPr>
          <p:cNvPr id="16" name="R2_it156"/>
          <p:cNvSpPr/>
          <p:nvPr/>
        </p:nvSpPr>
        <p:spPr>
          <a:xfrm>
            <a:off x="978408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grande ≠ piccolo</a:t>
            </a:r>
            <a:endParaRPr lang="en-US" sz="900" dirty="0"/>
          </a:p>
        </p:txBody>
      </p:sp>
      <p:sp>
        <p:nvSpPr>
          <p:cNvPr id="17" name="cd_157"/>
          <p:cNvSpPr/>
          <p:nvPr/>
        </p:nvSpPr>
        <p:spPr>
          <a:xfrm>
            <a:off x="2487168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e_158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💶</a:t>
            </a:r>
            <a:endParaRPr lang="en-US" sz="2000" dirty="0"/>
          </a:p>
        </p:txBody>
      </p:sp>
      <p:sp>
        <p:nvSpPr>
          <p:cNvPr id="19" name="en_159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cheap ≠ expensive</a:t>
            </a:r>
            <a:endParaRPr lang="en-US" sz="1100" dirty="0"/>
          </a:p>
        </p:txBody>
      </p:sp>
      <p:sp>
        <p:nvSpPr>
          <p:cNvPr id="20" name="R3_def160"/>
          <p:cNvSpPr/>
          <p:nvPr/>
        </p:nvSpPr>
        <p:spPr>
          <a:xfrm>
            <a:off x="3145536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pizza ≠ a Ferrari</a:t>
            </a:r>
            <a:endParaRPr lang="en-US" sz="850" dirty="0"/>
          </a:p>
        </p:txBody>
      </p:sp>
      <p:sp>
        <p:nvSpPr>
          <p:cNvPr id="21" name="R4_it161"/>
          <p:cNvSpPr/>
          <p:nvPr/>
        </p:nvSpPr>
        <p:spPr>
          <a:xfrm>
            <a:off x="3145536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economico ≠ caro</a:t>
            </a:r>
            <a:endParaRPr lang="en-US" sz="900" dirty="0"/>
          </a:p>
        </p:txBody>
      </p:sp>
      <p:sp>
        <p:nvSpPr>
          <p:cNvPr id="22" name="cd_162"/>
          <p:cNvSpPr/>
          <p:nvPr/>
        </p:nvSpPr>
        <p:spPr>
          <a:xfrm>
            <a:off x="4654296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e_163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🏎️</a:t>
            </a:r>
            <a:endParaRPr lang="en-US" sz="2000" dirty="0"/>
          </a:p>
        </p:txBody>
      </p:sp>
      <p:sp>
        <p:nvSpPr>
          <p:cNvPr id="24" name="en_164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fast ≠ slow</a:t>
            </a:r>
            <a:endParaRPr lang="en-US" sz="1200" dirty="0"/>
          </a:p>
        </p:txBody>
      </p:sp>
      <p:sp>
        <p:nvSpPr>
          <p:cNvPr id="25" name="R5_def165"/>
          <p:cNvSpPr/>
          <p:nvPr/>
        </p:nvSpPr>
        <p:spPr>
          <a:xfrm>
            <a:off x="5312664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train ≠ a bus in traffic</a:t>
            </a:r>
            <a:endParaRPr lang="en-US" sz="850" dirty="0"/>
          </a:p>
        </p:txBody>
      </p:sp>
      <p:sp>
        <p:nvSpPr>
          <p:cNvPr id="26" name="R6_it166"/>
          <p:cNvSpPr/>
          <p:nvPr/>
        </p:nvSpPr>
        <p:spPr>
          <a:xfrm>
            <a:off x="5312664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veloce ≠ lento</a:t>
            </a:r>
            <a:endParaRPr lang="en-US" sz="900" dirty="0"/>
          </a:p>
        </p:txBody>
      </p:sp>
      <p:sp>
        <p:nvSpPr>
          <p:cNvPr id="27" name="cd_167"/>
          <p:cNvSpPr/>
          <p:nvPr/>
        </p:nvSpPr>
        <p:spPr>
          <a:xfrm>
            <a:off x="6821424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8" name="e_168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🔥</a:t>
            </a:r>
            <a:endParaRPr lang="en-US" sz="2000" dirty="0"/>
          </a:p>
        </p:txBody>
      </p:sp>
      <p:sp>
        <p:nvSpPr>
          <p:cNvPr id="29" name="en_169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hot ≠ cold</a:t>
            </a:r>
            <a:endParaRPr lang="en-US" sz="1200" dirty="0"/>
          </a:p>
        </p:txBody>
      </p:sp>
      <p:sp>
        <p:nvSpPr>
          <p:cNvPr id="30" name="R7_def170"/>
          <p:cNvSpPr/>
          <p:nvPr/>
        </p:nvSpPr>
        <p:spPr>
          <a:xfrm>
            <a:off x="7479792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Sicily in July ≠ London in January</a:t>
            </a:r>
            <a:endParaRPr lang="en-US" sz="850" dirty="0"/>
          </a:p>
        </p:txBody>
      </p:sp>
      <p:sp>
        <p:nvSpPr>
          <p:cNvPr id="31" name="R8_it171"/>
          <p:cNvSpPr/>
          <p:nvPr/>
        </p:nvSpPr>
        <p:spPr>
          <a:xfrm>
            <a:off x="7479792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caldo ≠ freddo</a:t>
            </a:r>
            <a:endParaRPr lang="en-US" sz="900" dirty="0"/>
          </a:p>
        </p:txBody>
      </p:sp>
      <p:sp>
        <p:nvSpPr>
          <p:cNvPr id="32" name="cd_172"/>
          <p:cNvSpPr/>
          <p:nvPr/>
        </p:nvSpPr>
        <p:spPr>
          <a:xfrm>
            <a:off x="320040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e_173"/>
          <p:cNvSpPr/>
          <p:nvPr/>
        </p:nvSpPr>
        <p:spPr>
          <a:xfrm>
            <a:off x="393192" y="253288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👍</a:t>
            </a:r>
            <a:endParaRPr lang="en-US" sz="2000" dirty="0"/>
          </a:p>
        </p:txBody>
      </p:sp>
      <p:sp>
        <p:nvSpPr>
          <p:cNvPr id="34" name="en_174"/>
          <p:cNvSpPr/>
          <p:nvPr/>
        </p:nvSpPr>
        <p:spPr>
          <a:xfrm>
            <a:off x="978408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good ≠ bad</a:t>
            </a:r>
            <a:endParaRPr lang="en-US" sz="1200" dirty="0"/>
          </a:p>
        </p:txBody>
      </p:sp>
      <p:sp>
        <p:nvSpPr>
          <p:cNvPr id="35" name="R9_def175"/>
          <p:cNvSpPr/>
          <p:nvPr/>
        </p:nvSpPr>
        <p:spPr>
          <a:xfrm>
            <a:off x="978408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good film ≠ a bad film</a:t>
            </a:r>
            <a:endParaRPr lang="en-US" sz="850" dirty="0"/>
          </a:p>
        </p:txBody>
      </p:sp>
      <p:sp>
        <p:nvSpPr>
          <p:cNvPr id="36" name="R10_it176"/>
          <p:cNvSpPr/>
          <p:nvPr/>
        </p:nvSpPr>
        <p:spPr>
          <a:xfrm>
            <a:off x="978408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buono ≠ cattivo</a:t>
            </a:r>
            <a:endParaRPr lang="en-US" sz="900" dirty="0"/>
          </a:p>
        </p:txBody>
      </p:sp>
      <p:sp>
        <p:nvSpPr>
          <p:cNvPr id="37" name="cd_177"/>
          <p:cNvSpPr/>
          <p:nvPr/>
        </p:nvSpPr>
        <p:spPr>
          <a:xfrm>
            <a:off x="2487168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8" name="e_178"/>
          <p:cNvSpPr/>
          <p:nvPr/>
        </p:nvSpPr>
        <p:spPr>
          <a:xfrm>
            <a:off x="2560320" y="253288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39" name="en_179"/>
          <p:cNvSpPr/>
          <p:nvPr/>
        </p:nvSpPr>
        <p:spPr>
          <a:xfrm>
            <a:off x="3145536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easy ≠ difficult</a:t>
            </a:r>
            <a:endParaRPr lang="en-US" sz="1200" dirty="0"/>
          </a:p>
        </p:txBody>
      </p:sp>
      <p:sp>
        <p:nvSpPr>
          <p:cNvPr id="40" name="R11_def180"/>
          <p:cNvSpPr/>
          <p:nvPr/>
        </p:nvSpPr>
        <p:spPr>
          <a:xfrm>
            <a:off x="3145536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+ 2 ≠ Chinese</a:t>
            </a:r>
            <a:endParaRPr lang="en-US" sz="850" dirty="0"/>
          </a:p>
        </p:txBody>
      </p:sp>
      <p:sp>
        <p:nvSpPr>
          <p:cNvPr id="41" name="R12_it181"/>
          <p:cNvSpPr/>
          <p:nvPr/>
        </p:nvSpPr>
        <p:spPr>
          <a:xfrm>
            <a:off x="3145536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facile ≠ difficile</a:t>
            </a:r>
            <a:endParaRPr lang="en-US" sz="900" dirty="0"/>
          </a:p>
        </p:txBody>
      </p:sp>
      <p:sp>
        <p:nvSpPr>
          <p:cNvPr id="42" name="cd_182"/>
          <p:cNvSpPr/>
          <p:nvPr/>
        </p:nvSpPr>
        <p:spPr>
          <a:xfrm>
            <a:off x="4654296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e_183"/>
          <p:cNvSpPr/>
          <p:nvPr/>
        </p:nvSpPr>
        <p:spPr>
          <a:xfrm>
            <a:off x="4727448" y="253288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💰</a:t>
            </a:r>
            <a:endParaRPr lang="en-US" sz="2000" dirty="0"/>
          </a:p>
        </p:txBody>
      </p:sp>
      <p:sp>
        <p:nvSpPr>
          <p:cNvPr id="44" name="en_184"/>
          <p:cNvSpPr/>
          <p:nvPr/>
        </p:nvSpPr>
        <p:spPr>
          <a:xfrm>
            <a:off x="5312664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rich ≠ poor</a:t>
            </a:r>
            <a:endParaRPr lang="en-US" sz="1200" dirty="0"/>
          </a:p>
        </p:txBody>
      </p:sp>
      <p:sp>
        <p:nvSpPr>
          <p:cNvPr id="45" name="R13_def185"/>
          <p:cNvSpPr/>
          <p:nvPr/>
        </p:nvSpPr>
        <p:spPr>
          <a:xfrm>
            <a:off x="5312664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millionaire ≠ no money</a:t>
            </a:r>
            <a:endParaRPr lang="en-US" sz="850" dirty="0"/>
          </a:p>
        </p:txBody>
      </p:sp>
      <p:sp>
        <p:nvSpPr>
          <p:cNvPr id="46" name="R14_it186"/>
          <p:cNvSpPr/>
          <p:nvPr/>
        </p:nvSpPr>
        <p:spPr>
          <a:xfrm>
            <a:off x="5312664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ricco ≠ povero</a:t>
            </a:r>
            <a:endParaRPr lang="en-US" sz="900" dirty="0"/>
          </a:p>
        </p:txBody>
      </p:sp>
      <p:sp>
        <p:nvSpPr>
          <p:cNvPr id="47" name="cd_187"/>
          <p:cNvSpPr/>
          <p:nvPr/>
        </p:nvSpPr>
        <p:spPr>
          <a:xfrm>
            <a:off x="6821424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8" name="e_188"/>
          <p:cNvSpPr/>
          <p:nvPr/>
        </p:nvSpPr>
        <p:spPr>
          <a:xfrm>
            <a:off x="6894576" y="253288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🧓</a:t>
            </a:r>
            <a:endParaRPr lang="en-US" sz="2000" dirty="0"/>
          </a:p>
        </p:txBody>
      </p:sp>
      <p:sp>
        <p:nvSpPr>
          <p:cNvPr id="49" name="en_189"/>
          <p:cNvSpPr/>
          <p:nvPr/>
        </p:nvSpPr>
        <p:spPr>
          <a:xfrm>
            <a:off x="7479792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old ≠ new / young</a:t>
            </a:r>
            <a:endParaRPr lang="en-US" sz="1150" dirty="0"/>
          </a:p>
        </p:txBody>
      </p:sp>
      <p:sp>
        <p:nvSpPr>
          <p:cNvPr id="50" name="R15_def190"/>
          <p:cNvSpPr/>
          <p:nvPr/>
        </p:nvSpPr>
        <p:spPr>
          <a:xfrm>
            <a:off x="7479792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old car ≠ a new car · an old man ≠ a young man</a:t>
            </a:r>
            <a:endParaRPr lang="en-US" sz="700" dirty="0"/>
          </a:p>
        </p:txBody>
      </p:sp>
      <p:sp>
        <p:nvSpPr>
          <p:cNvPr id="51" name="R16_it191"/>
          <p:cNvSpPr/>
          <p:nvPr/>
        </p:nvSpPr>
        <p:spPr>
          <a:xfrm>
            <a:off x="7479792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vecchio ≠ nuovo / giovane</a:t>
            </a:r>
            <a:endParaRPr lang="en-US" sz="700" dirty="0"/>
          </a:p>
        </p:txBody>
      </p:sp>
      <p:sp>
        <p:nvSpPr>
          <p:cNvPr id="52" name="ap_192"/>
          <p:cNvSpPr/>
          <p:nvPr/>
        </p:nvSpPr>
        <p:spPr>
          <a:xfrm>
            <a:off x="320040" y="448056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2.7</a:t>
            </a:r>
            <a:endParaRPr lang="en-US" sz="1100" dirty="0"/>
          </a:p>
        </p:txBody>
      </p:sp>
      <p:sp>
        <p:nvSpPr>
          <p:cNvPr id="53" name="ah_193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54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55" name="ah_194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56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57" name="R17_wc195"/>
          <p:cNvSpPr/>
          <p:nvPr/>
        </p:nvSpPr>
        <p:spPr>
          <a:xfrm>
            <a:off x="320040" y="34747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8" name="R17_w196"/>
          <p:cNvSpPr/>
          <p:nvPr/>
        </p:nvSpPr>
        <p:spPr>
          <a:xfrm>
            <a:off x="457200" y="34747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old ≠ new (things) · old ≠ young (people)  ·  right ≠ wrong (answers) · right ≠ left (hands)  ·  short ≠ long / tall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1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95" dur="1" fill="hold"/>
                                        <p:tgtEl>
                                          <p:spTgt spid="5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4"/>
                  </p:tgtEl>
                </p:cond>
              </p:nextCondLst>
            </p:seq>
            <p:seq concurrent="1" nextAc="seek">
              <p:cTn id="96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7" fill="hold">
                      <p:stCondLst>
                        <p:cond delay="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00" dur="1" fill="hold"/>
                                        <p:tgtEl>
                                          <p:spTgt spid="5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audio>
              <p:cMediaNode vol="80000">
                <p:cTn id="10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4"/>
                </p:tgtEl>
              </p:cMediaNode>
            </p:audio>
            <p:audio>
              <p:cMediaNode vol="80000">
                <p:cTn id="10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9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199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American icons</a:t>
            </a:r>
            <a:endParaRPr lang="en-US" sz="2500" dirty="0"/>
          </a:p>
        </p:txBody>
      </p:sp>
      <p:pic>
        <p:nvPicPr>
          <p:cNvPr id="6" name="brP_20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201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Adjective + noun: what are 1–7?</a:t>
            </a:r>
            <a:endParaRPr lang="en-US" sz="1250" dirty="0"/>
          </a:p>
        </p:txBody>
      </p:sp>
      <p:sp>
        <p:nvSpPr>
          <p:cNvPr id="8" name="insIT_20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Aggettivo + nome: cosa sono 1–7?</a:t>
            </a:r>
            <a:endParaRPr lang="en-US" sz="950" dirty="0"/>
          </a:p>
        </p:txBody>
      </p:sp>
      <p:sp>
        <p:nvSpPr>
          <p:cNvPr id="9" name="note_20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Communicative</a:t>
            </a:r>
            <a:endParaRPr lang="en-US" sz="1150" dirty="0"/>
          </a:p>
        </p:txBody>
      </p:sp>
      <p:pic>
        <p:nvPicPr>
          <p:cNvPr id="10" name="logo_20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0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Grammar · American icons   ·   📖 SB p.16 · 2a (answers: SB key) · 8 = New York</a:t>
            </a:r>
            <a:endParaRPr lang="en-US" sz="800" dirty="0"/>
          </a:p>
        </p:txBody>
      </p:sp>
      <p:sp>
        <p:nvSpPr>
          <p:cNvPr id="12" name="pf_206"/>
          <p:cNvSpPr/>
          <p:nvPr/>
        </p:nvSpPr>
        <p:spPr>
          <a:xfrm rot="-60000">
            <a:off x="365760" y="1417320"/>
            <a:ext cx="4937760" cy="2971800"/>
          </a:xfrm>
          <a:prstGeom prst="roundRect">
            <a:avLst>
              <a:gd name="adj" fmla="val 5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207" descr="/home/claude/lls-course/v2/cache/red_2b_icons_jpg_1166x69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60000">
            <a:off x="411480" y="1463040"/>
            <a:ext cx="4846320" cy="2880360"/>
          </a:xfrm>
          <a:prstGeom prst="rect">
            <a:avLst/>
          </a:prstGeom>
        </p:spPr>
      </p:pic>
      <p:sp>
        <p:nvSpPr>
          <p:cNvPr id="14" name="bd_208"/>
          <p:cNvSpPr/>
          <p:nvPr/>
        </p:nvSpPr>
        <p:spPr>
          <a:xfrm>
            <a:off x="655625" y="2855214"/>
            <a:ext cx="384048" cy="3840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bd_209"/>
          <p:cNvSpPr/>
          <p:nvPr/>
        </p:nvSpPr>
        <p:spPr>
          <a:xfrm>
            <a:off x="1818742" y="1904695"/>
            <a:ext cx="384048" cy="3840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bd_210"/>
          <p:cNvSpPr/>
          <p:nvPr/>
        </p:nvSpPr>
        <p:spPr>
          <a:xfrm>
            <a:off x="3127248" y="1904695"/>
            <a:ext cx="384048" cy="3840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bd_211"/>
          <p:cNvSpPr/>
          <p:nvPr/>
        </p:nvSpPr>
        <p:spPr>
          <a:xfrm>
            <a:off x="4435754" y="1904695"/>
            <a:ext cx="384048" cy="3840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bd_212"/>
          <p:cNvSpPr/>
          <p:nvPr/>
        </p:nvSpPr>
        <p:spPr>
          <a:xfrm>
            <a:off x="1818742" y="3632911"/>
            <a:ext cx="384048" cy="3840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bd_213"/>
          <p:cNvSpPr/>
          <p:nvPr/>
        </p:nvSpPr>
        <p:spPr>
          <a:xfrm>
            <a:off x="3127248" y="3632911"/>
            <a:ext cx="384048" cy="3840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300" dirty="0"/>
          </a:p>
        </p:txBody>
      </p:sp>
      <p:sp>
        <p:nvSpPr>
          <p:cNvPr id="20" name="bd_214"/>
          <p:cNvSpPr/>
          <p:nvPr/>
        </p:nvSpPr>
        <p:spPr>
          <a:xfrm>
            <a:off x="4435754" y="3632911"/>
            <a:ext cx="384048" cy="3840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300" dirty="0"/>
          </a:p>
        </p:txBody>
      </p:sp>
      <p:sp>
        <p:nvSpPr>
          <p:cNvPr id="21" name="bd_215"/>
          <p:cNvSpPr/>
          <p:nvPr/>
        </p:nvSpPr>
        <p:spPr>
          <a:xfrm>
            <a:off x="5532120" y="1435608"/>
            <a:ext cx="292608" cy="29260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216"/>
          <p:cNvSpPr/>
          <p:nvPr/>
        </p:nvSpPr>
        <p:spPr>
          <a:xfrm>
            <a:off x="5897880" y="141732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sport (1 = example)</a:t>
            </a:r>
            <a:endParaRPr lang="en-US" sz="1100" dirty="0"/>
          </a:p>
        </p:txBody>
      </p:sp>
      <p:sp>
        <p:nvSpPr>
          <p:cNvPr id="23" name="R1_chip217"/>
          <p:cNvSpPr/>
          <p:nvPr/>
        </p:nvSpPr>
        <p:spPr>
          <a:xfrm>
            <a:off x="5897880" y="1682496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American football</a:t>
            </a:r>
            <a:endParaRPr lang="en-US" sz="1000" dirty="0"/>
          </a:p>
        </p:txBody>
      </p:sp>
      <p:sp>
        <p:nvSpPr>
          <p:cNvPr id="24" name="bd_218"/>
          <p:cNvSpPr/>
          <p:nvPr/>
        </p:nvSpPr>
        <p:spPr>
          <a:xfrm>
            <a:off x="5532120" y="1918934"/>
            <a:ext cx="292608" cy="29260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219"/>
          <p:cNvSpPr/>
          <p:nvPr/>
        </p:nvSpPr>
        <p:spPr>
          <a:xfrm>
            <a:off x="5897880" y="1900646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Cars in New York</a:t>
            </a:r>
            <a:endParaRPr lang="en-US" sz="1100" dirty="0"/>
          </a:p>
        </p:txBody>
      </p:sp>
      <p:sp>
        <p:nvSpPr>
          <p:cNvPr id="26" name="R2_chip220"/>
          <p:cNvSpPr/>
          <p:nvPr/>
        </p:nvSpPr>
        <p:spPr>
          <a:xfrm>
            <a:off x="5897880" y="2165822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yellow taxis</a:t>
            </a:r>
            <a:endParaRPr lang="en-US" sz="1000" dirty="0"/>
          </a:p>
        </p:txBody>
      </p:sp>
      <p:sp>
        <p:nvSpPr>
          <p:cNvPr id="27" name="bd_221"/>
          <p:cNvSpPr/>
          <p:nvPr/>
        </p:nvSpPr>
        <p:spPr>
          <a:xfrm>
            <a:off x="5532120" y="2402259"/>
            <a:ext cx="292608" cy="29260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222"/>
          <p:cNvSpPr/>
          <p:nvPr/>
        </p:nvSpPr>
        <p:spPr>
          <a:xfrm>
            <a:off x="5897880" y="2383971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Quick food: burgers, chicken</a:t>
            </a:r>
            <a:endParaRPr lang="en-US" sz="1100" dirty="0"/>
          </a:p>
        </p:txBody>
      </p:sp>
      <p:sp>
        <p:nvSpPr>
          <p:cNvPr id="29" name="R3_chip223"/>
          <p:cNvSpPr/>
          <p:nvPr/>
        </p:nvSpPr>
        <p:spPr>
          <a:xfrm>
            <a:off x="5897880" y="2649147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 food</a:t>
            </a:r>
            <a:endParaRPr lang="en-US" sz="1000" dirty="0"/>
          </a:p>
        </p:txBody>
      </p:sp>
      <p:sp>
        <p:nvSpPr>
          <p:cNvPr id="30" name="bd_224"/>
          <p:cNvSpPr/>
          <p:nvPr/>
        </p:nvSpPr>
        <p:spPr>
          <a:xfrm>
            <a:off x="5532120" y="2885585"/>
            <a:ext cx="292608" cy="29260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225"/>
          <p:cNvSpPr/>
          <p:nvPr/>
        </p:nvSpPr>
        <p:spPr>
          <a:xfrm>
            <a:off x="5897880" y="2867297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Patatine fritte</a:t>
            </a:r>
            <a:endParaRPr lang="en-US" sz="1100" dirty="0"/>
          </a:p>
        </p:txBody>
      </p:sp>
      <p:sp>
        <p:nvSpPr>
          <p:cNvPr id="32" name="R4_chip226"/>
          <p:cNvSpPr/>
          <p:nvPr/>
        </p:nvSpPr>
        <p:spPr>
          <a:xfrm>
            <a:off x="5897880" y="3132473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French fries</a:t>
            </a:r>
            <a:endParaRPr lang="en-US" sz="1000" dirty="0"/>
          </a:p>
        </p:txBody>
      </p:sp>
      <p:sp>
        <p:nvSpPr>
          <p:cNvPr id="33" name="bd_227"/>
          <p:cNvSpPr/>
          <p:nvPr/>
        </p:nvSpPr>
        <p:spPr>
          <a:xfrm>
            <a:off x="5532120" y="3368911"/>
            <a:ext cx="292608" cy="29260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228"/>
          <p:cNvSpPr/>
          <p:nvPr/>
        </p:nvSpPr>
        <p:spPr>
          <a:xfrm>
            <a:off x="5897880" y="3350623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President's house</a:t>
            </a:r>
            <a:endParaRPr lang="en-US" sz="1100" dirty="0"/>
          </a:p>
        </p:txBody>
      </p:sp>
      <p:sp>
        <p:nvSpPr>
          <p:cNvPr id="35" name="R5_chip229"/>
          <p:cNvSpPr/>
          <p:nvPr/>
        </p:nvSpPr>
        <p:spPr>
          <a:xfrm>
            <a:off x="5897880" y="3615799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White House</a:t>
            </a:r>
            <a:endParaRPr lang="en-US" sz="1000" dirty="0"/>
          </a:p>
        </p:txBody>
      </p:sp>
      <p:sp>
        <p:nvSpPr>
          <p:cNvPr id="36" name="bd_230"/>
          <p:cNvSpPr/>
          <p:nvPr/>
        </p:nvSpPr>
        <p:spPr>
          <a:xfrm>
            <a:off x="5532120" y="3852237"/>
            <a:ext cx="292608" cy="29260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231"/>
          <p:cNvSpPr/>
          <p:nvPr/>
        </p:nvSpPr>
        <p:spPr>
          <a:xfrm>
            <a:off x="5897880" y="3833949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Trousers</a:t>
            </a:r>
            <a:endParaRPr lang="en-US" sz="1100" dirty="0"/>
          </a:p>
        </p:txBody>
      </p:sp>
      <p:sp>
        <p:nvSpPr>
          <p:cNvPr id="38" name="R6_chip232"/>
          <p:cNvSpPr/>
          <p:nvPr/>
        </p:nvSpPr>
        <p:spPr>
          <a:xfrm>
            <a:off x="5897880" y="4099125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blue jeans</a:t>
            </a:r>
            <a:endParaRPr lang="en-US" sz="1000" dirty="0"/>
          </a:p>
        </p:txBody>
      </p:sp>
      <p:sp>
        <p:nvSpPr>
          <p:cNvPr id="39" name="bd_233"/>
          <p:cNvSpPr/>
          <p:nvPr/>
        </p:nvSpPr>
        <p:spPr>
          <a:xfrm>
            <a:off x="5532120" y="4335562"/>
            <a:ext cx="292608" cy="29260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q_234"/>
          <p:cNvSpPr/>
          <p:nvPr/>
        </p:nvSpPr>
        <p:spPr>
          <a:xfrm>
            <a:off x="5897880" y="431727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sausage in bread</a:t>
            </a:r>
            <a:endParaRPr lang="en-US" sz="1100" dirty="0"/>
          </a:p>
        </p:txBody>
      </p:sp>
      <p:sp>
        <p:nvSpPr>
          <p:cNvPr id="41" name="R7_chip235"/>
          <p:cNvSpPr/>
          <p:nvPr/>
        </p:nvSpPr>
        <p:spPr>
          <a:xfrm>
            <a:off x="5897880" y="4582450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hot dog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3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3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238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yellow taxi</a:t>
            </a:r>
            <a:endParaRPr lang="en-US" sz="2500" dirty="0"/>
          </a:p>
        </p:txBody>
      </p:sp>
      <p:pic>
        <p:nvPicPr>
          <p:cNvPr id="6" name="brP_23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240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coloured words. What's the rule?</a:t>
            </a:r>
            <a:endParaRPr lang="en-US" sz="1250" dirty="0"/>
          </a:p>
        </p:txBody>
      </p:sp>
      <p:sp>
        <p:nvSpPr>
          <p:cNvPr id="8" name="insIT_24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le parole colorate. Qual è la regola?</a:t>
            </a:r>
            <a:endParaRPr lang="en-US" sz="950" dirty="0"/>
          </a:p>
        </p:txBody>
      </p:sp>
      <p:sp>
        <p:nvSpPr>
          <p:cNvPr id="9" name="note_242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GUARDA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250" dirty="0"/>
          </a:p>
        </p:txBody>
      </p:sp>
      <p:pic>
        <p:nvPicPr>
          <p:cNvPr id="10" name="logo_24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4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Pop-up grammar · adjectives   ·   📖 Grammar Bank 2B p.126 · audio 2.8</a:t>
            </a:r>
            <a:endParaRPr lang="en-US" sz="800" dirty="0"/>
          </a:p>
        </p:txBody>
      </p:sp>
      <p:sp>
        <p:nvSpPr>
          <p:cNvPr id="12" name="ah_245"/>
          <p:cNvSpPr/>
          <p:nvPr/>
        </p:nvSpPr>
        <p:spPr>
          <a:xfrm>
            <a:off x="3675888" y="457200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2.8   ▶ normal</a:t>
            </a:r>
            <a:endParaRPr lang="en-US" sz="1000" dirty="0"/>
          </a:p>
        </p:txBody>
      </p:sp>
      <p:pic>
        <p:nvPicPr>
          <p:cNvPr id="13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4" name="ah_246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5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6" name="cd_247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rh_248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before the noun</a:t>
            </a:r>
            <a:endParaRPr lang="en-US" sz="1250" dirty="0"/>
          </a:p>
        </p:txBody>
      </p:sp>
      <p:sp>
        <p:nvSpPr>
          <p:cNvPr id="18" name="pf_249"/>
          <p:cNvSpPr/>
          <p:nvPr/>
        </p:nvSpPr>
        <p:spPr>
          <a:xfrm>
            <a:off x="4297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250" descr="/home/claude/lls-course/v2/cache/red_2b_taxis_jpg_415x209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5488" y="1984248"/>
            <a:ext cx="1723644" cy="868680"/>
          </a:xfrm>
          <a:prstGeom prst="rect">
            <a:avLst/>
          </a:prstGeom>
        </p:spPr>
      </p:pic>
      <p:sp>
        <p:nvSpPr>
          <p:cNvPr id="20" name="ru_251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adjective + noun</a:t>
            </a:r>
            <a:endParaRPr lang="en-US" sz="1050" dirty="0"/>
          </a:p>
        </p:txBody>
      </p:sp>
      <p:sp>
        <p:nvSpPr>
          <p:cNvPr id="21" name="R1_rx252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yellow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taxi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dog</a:t>
            </a:r>
            <a:endParaRPr lang="en-US" sz="1050" dirty="0"/>
          </a:p>
        </p:txBody>
      </p:sp>
      <p:sp>
        <p:nvSpPr>
          <p:cNvPr id="22" name="R1_ri253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PRIMA del nome (≠ italiano!)</a:t>
            </a:r>
            <a:endParaRPr lang="en-US" sz="900" dirty="0"/>
          </a:p>
        </p:txBody>
      </p:sp>
      <p:sp>
        <p:nvSpPr>
          <p:cNvPr id="23" name="cd_254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255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never + s</a:t>
            </a:r>
            <a:endParaRPr lang="en-US" sz="1250" dirty="0"/>
          </a:p>
        </p:txBody>
      </p:sp>
      <p:sp>
        <p:nvSpPr>
          <p:cNvPr id="25" name="pf_256"/>
          <p:cNvSpPr/>
          <p:nvPr/>
        </p:nvSpPr>
        <p:spPr>
          <a:xfrm>
            <a:off x="2953413" y="1938528"/>
            <a:ext cx="1111195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6" name="ph_257" descr="/home/claude/lls-course/v2/cache/red_2b_jeans_jpg_245x209_3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99133" y="1984248"/>
            <a:ext cx="1019755" cy="868680"/>
          </a:xfrm>
          <a:prstGeom prst="rect">
            <a:avLst/>
          </a:prstGeom>
        </p:spPr>
      </p:pic>
      <p:sp>
        <p:nvSpPr>
          <p:cNvPr id="27" name="ru_258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plural adjectives</a:t>
            </a:r>
            <a:endParaRPr lang="en-US" sz="1050" dirty="0"/>
          </a:p>
        </p:txBody>
      </p:sp>
      <p:sp>
        <p:nvSpPr>
          <p:cNvPr id="28" name="R2_rx259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blue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jeans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yellow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taxis</a:t>
            </a:r>
            <a:endParaRPr lang="en-US" sz="1050" dirty="0"/>
          </a:p>
        </p:txBody>
      </p:sp>
      <p:sp>
        <p:nvSpPr>
          <p:cNvPr id="29" name="R2_ri260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l'aggettivo non cambia</a:t>
            </a:r>
            <a:endParaRPr lang="en-US" sz="900" dirty="0"/>
          </a:p>
        </p:txBody>
      </p:sp>
      <p:sp>
        <p:nvSpPr>
          <p:cNvPr id="30" name="cd_261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rh_262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+ adjective</a:t>
            </a:r>
            <a:endParaRPr lang="en-US" sz="1250" dirty="0"/>
          </a:p>
        </p:txBody>
      </p:sp>
      <p:sp>
        <p:nvSpPr>
          <p:cNvPr id="32" name="pf_263"/>
          <p:cNvSpPr/>
          <p:nvPr/>
        </p:nvSpPr>
        <p:spPr>
          <a:xfrm>
            <a:off x="5115098" y="1938528"/>
            <a:ext cx="113122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3" name="ph_264" descr="/home/claude/lls-course/v2/cache/red_2b_hotdog_jpg_250x209_3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60818" y="1984248"/>
            <a:ext cx="1039784" cy="868680"/>
          </a:xfrm>
          <a:prstGeom prst="rect">
            <a:avLst/>
          </a:prstGeom>
        </p:spPr>
      </p:pic>
      <p:sp>
        <p:nvSpPr>
          <p:cNvPr id="34" name="ru_265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be</a:t>
            </a:r>
            <a:endParaRPr lang="en-US" sz="1050" dirty="0"/>
          </a:p>
        </p:txBody>
      </p:sp>
      <p:sp>
        <p:nvSpPr>
          <p:cNvPr id="35" name="R3_rx266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taxis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yellow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cheap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?</a:t>
            </a:r>
            <a:endParaRPr lang="en-US" sz="1050" dirty="0"/>
          </a:p>
        </p:txBody>
      </p:sp>
      <p:sp>
        <p:nvSpPr>
          <p:cNvPr id="36" name="R3_ri267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dopo il verbo essere</a:t>
            </a:r>
            <a:endParaRPr lang="en-US" sz="900" dirty="0"/>
          </a:p>
        </p:txBody>
      </p:sp>
      <p:sp>
        <p:nvSpPr>
          <p:cNvPr id="37" name="cd_268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8" name="rh_269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very / quite</a:t>
            </a:r>
            <a:endParaRPr lang="en-US" sz="1250" dirty="0"/>
          </a:p>
        </p:txBody>
      </p:sp>
      <p:sp>
        <p:nvSpPr>
          <p:cNvPr id="39" name="pf_270"/>
          <p:cNvSpPr/>
          <p:nvPr/>
        </p:nvSpPr>
        <p:spPr>
          <a:xfrm>
            <a:off x="7392944" y="1938528"/>
            <a:ext cx="918933" cy="960120"/>
          </a:xfrm>
          <a:prstGeom prst="roundRect">
            <a:avLst>
              <a:gd name="adj" fmla="val 169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40" name="ph_271" descr="/home/claude/lls-course/v2/cache/red_2b_newyork_jpg_199x209_31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38664" y="1984248"/>
            <a:ext cx="827493" cy="868680"/>
          </a:xfrm>
          <a:prstGeom prst="rect">
            <a:avLst/>
          </a:prstGeom>
        </p:spPr>
      </p:pic>
      <p:sp>
        <p:nvSpPr>
          <p:cNvPr id="41" name="ru_272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much?</a:t>
            </a:r>
            <a:endParaRPr lang="en-US" sz="1050" dirty="0"/>
          </a:p>
        </p:txBody>
      </p:sp>
      <p:sp>
        <p:nvSpPr>
          <p:cNvPr id="42" name="R4_rx273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big.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quite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cheap.</a:t>
            </a:r>
            <a:endParaRPr lang="en-US" sz="1050" dirty="0"/>
          </a:p>
        </p:txBody>
      </p:sp>
      <p:sp>
        <p:nvSpPr>
          <p:cNvPr id="43" name="R4_ri274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very / really = molto · quite = abbastanza</a:t>
            </a:r>
            <a:endParaRPr lang="en-US" sz="750" dirty="0"/>
          </a:p>
        </p:txBody>
      </p:sp>
      <p:sp>
        <p:nvSpPr>
          <p:cNvPr id="44" name="R5_wc275"/>
          <p:cNvSpPr/>
          <p:nvPr/>
        </p:nvSpPr>
        <p:spPr>
          <a:xfrm>
            <a:off x="320040" y="4544568"/>
            <a:ext cx="3172968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5" name="R5_w276"/>
          <p:cNvSpPr/>
          <p:nvPr/>
        </p:nvSpPr>
        <p:spPr>
          <a:xfrm>
            <a:off x="457200" y="4544568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a car red → ✓ a red car   ·   ✗ yellows taxis → ✓ yellow taxis   ·   ✗ It's a very car fast → ✓ It's a very fast car</a:t>
            </a:r>
            <a:endParaRPr lang="en-US" sz="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3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7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7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79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Frank's yellow taxi</a:t>
            </a:r>
            <a:endParaRPr lang="en-US" sz="2500" dirty="0"/>
          </a:p>
        </p:txBody>
      </p:sp>
      <p:pic>
        <p:nvPicPr>
          <p:cNvPr id="6" name="brP_28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281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28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note_28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TPRS · story</a:t>
            </a:r>
            <a:endParaRPr lang="en-US" sz="1150" dirty="0"/>
          </a:p>
        </p:txBody>
      </p:sp>
      <p:pic>
        <p:nvPicPr>
          <p:cNvPr id="10" name="logo_28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8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Speaking · class story (TPRS)</a:t>
            </a:r>
            <a:endParaRPr lang="en-US" sz="800" dirty="0"/>
          </a:p>
        </p:txBody>
      </p:sp>
      <p:sp>
        <p:nvSpPr>
          <p:cNvPr id="12" name="pf_286"/>
          <p:cNvSpPr/>
          <p:nvPr/>
        </p:nvSpPr>
        <p:spPr>
          <a:xfrm rot="-90000">
            <a:off x="411480" y="1417320"/>
            <a:ext cx="2560320" cy="1280160"/>
          </a:xfrm>
          <a:prstGeom prst="roundRect">
            <a:avLst>
              <a:gd name="adj" fmla="val 12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287" descr="/home/claude/lls-course/v2/cache/red_2b_taxis_jpg_594x286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57200" y="1463040"/>
            <a:ext cx="2468880" cy="1188720"/>
          </a:xfrm>
          <a:prstGeom prst="rect">
            <a:avLst/>
          </a:prstGeom>
        </p:spPr>
      </p:pic>
      <p:sp>
        <p:nvSpPr>
          <p:cNvPr id="14" name="cd_288"/>
          <p:cNvSpPr/>
          <p:nvPr/>
        </p:nvSpPr>
        <p:spPr>
          <a:xfrm>
            <a:off x="320040" y="2834640"/>
            <a:ext cx="2697480" cy="1920240"/>
          </a:xfrm>
          <a:prstGeom prst="roundRect">
            <a:avLst>
              <a:gd name="adj" fmla="val 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89"/>
          <p:cNvSpPr/>
          <p:nvPr/>
        </p:nvSpPr>
        <p:spPr>
          <a:xfrm>
            <a:off x="41148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6" name="ih_290"/>
          <p:cNvSpPr/>
          <p:nvPr/>
        </p:nvSpPr>
        <p:spPr>
          <a:xfrm>
            <a:off x="886968" y="2926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7" name="il_291"/>
          <p:cNvSpPr/>
          <p:nvPr/>
        </p:nvSpPr>
        <p:spPr>
          <a:xfrm>
            <a:off x="886968" y="3328416"/>
            <a:ext cx="203911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very old taxi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un taxi molto vecchio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quite slow ≠ fast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abbastanza lento ≠ veloce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really late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molto in ritardo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rich ≠ poor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ricco ≠ povero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long ≠ short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lungo ≠ corto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cheap ≠ expensive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economico ≠ caro</a:t>
            </a:r>
            <a:endParaRPr lang="en-US" sz="750" dirty="0"/>
          </a:p>
        </p:txBody>
      </p:sp>
      <p:sp>
        <p:nvSpPr>
          <p:cNvPr id="18" name="R1_sb292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R1_sl293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is Frank. He's from New York. He has a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very old yellow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taxi.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Frank from New York or London? · Is his taxi new or old? · What colour is it?</a:t>
            </a:r>
            <a:endParaRPr lang="en-US" sz="1150" dirty="0"/>
          </a:p>
        </p:txBody>
      </p:sp>
      <p:sp>
        <p:nvSpPr>
          <p:cNvPr id="20" name="R2_sb294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R2_sl295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Frank's taxi is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quite slow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but it's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very clean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the taxi fast? · Is it clean or dirty?</a:t>
            </a:r>
            <a:endParaRPr lang="en-US" sz="1150" dirty="0"/>
          </a:p>
        </p:txBody>
      </p:sp>
      <p:sp>
        <p:nvSpPr>
          <p:cNvPr id="22" name="R3_sb296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R3_sl297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day a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rich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woman gets in. She has a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big purple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bag.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she rich or poor? · What colour is her bag?</a:t>
            </a:r>
            <a:endParaRPr lang="en-US" sz="1150" dirty="0"/>
          </a:p>
        </p:txBody>
      </p:sp>
      <p:sp>
        <p:nvSpPr>
          <p:cNvPr id="24" name="R4_sb298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R4_sl299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'The White House, please! I'm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really late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!'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Where does she want to go? · Is she late?</a:t>
            </a:r>
            <a:endParaRPr lang="en-US" sz="1150" dirty="0"/>
          </a:p>
        </p:txBody>
      </p:sp>
      <p:sp>
        <p:nvSpPr>
          <p:cNvPr id="26" name="R5_sb300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R5_sl301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But the White House isn't in New York! It's a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very long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trip.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the White House in New York? · Is the trip short?</a:t>
            </a:r>
            <a:endParaRPr lang="en-US" sz="1150" dirty="0"/>
          </a:p>
        </p:txBody>
      </p:sp>
      <p:sp>
        <p:nvSpPr>
          <p:cNvPr id="28" name="R6_sb302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R6_sl303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Frank is very happy. It's a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really expensive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trip! 💵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Frank happy or sad? · And you – is your car old or new?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0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30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306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Word order</a:t>
            </a:r>
            <a:endParaRPr lang="en-US" sz="2500" dirty="0"/>
          </a:p>
        </p:txBody>
      </p:sp>
      <p:pic>
        <p:nvPicPr>
          <p:cNvPr id="6" name="brP_30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308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the words in order. Say the sentence.</a:t>
            </a:r>
            <a:endParaRPr lang="en-US" sz="1250" dirty="0"/>
          </a:p>
        </p:txBody>
      </p:sp>
      <p:sp>
        <p:nvSpPr>
          <p:cNvPr id="8" name="insIT_30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Metti le parole in ordine. Di' la frase.</a:t>
            </a:r>
            <a:endParaRPr lang="en-US" sz="950" dirty="0"/>
          </a:p>
        </p:txBody>
      </p:sp>
      <p:sp>
        <p:nvSpPr>
          <p:cNvPr id="9" name="note_31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🔀 REORDER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Controlled practice</a:t>
            </a:r>
            <a:endParaRPr lang="en-US" sz="1150" dirty="0"/>
          </a:p>
        </p:txBody>
      </p:sp>
      <p:pic>
        <p:nvPicPr>
          <p:cNvPr id="10" name="logo_31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1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Grammar · practice   ·   📖 Grammar Bank 2B p.127 · a (answers: SB key)</a:t>
            </a:r>
            <a:endParaRPr lang="en-US" sz="800" dirty="0"/>
          </a:p>
        </p:txBody>
      </p:sp>
      <p:sp>
        <p:nvSpPr>
          <p:cNvPr id="12" name="cd_313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31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31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316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big / It's / a / house / very → It's a very big house.</a:t>
            </a:r>
            <a:endParaRPr lang="en-US" sz="1050" dirty="0"/>
          </a:p>
        </p:txBody>
      </p:sp>
      <p:sp>
        <p:nvSpPr>
          <p:cNvPr id="16" name="pf_317"/>
          <p:cNvSpPr/>
          <p:nvPr/>
        </p:nvSpPr>
        <p:spPr>
          <a:xfrm rot="-90000">
            <a:off x="365760" y="2569464"/>
            <a:ext cx="2606040" cy="2093976"/>
          </a:xfrm>
          <a:prstGeom prst="roundRect">
            <a:avLst>
              <a:gd name="adj" fmla="val 74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318" descr="/home/claude/lls-course/v2/cache/red_2b_whitehouse_jpg_605x48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615184"/>
            <a:ext cx="2514600" cy="2002536"/>
          </a:xfrm>
          <a:prstGeom prst="rect">
            <a:avLst/>
          </a:prstGeom>
        </p:spPr>
      </p:pic>
      <p:sp>
        <p:nvSpPr>
          <p:cNvPr id="18" name="bd_319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320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Louis / French / Is ?</a:t>
            </a:r>
            <a:endParaRPr lang="en-US" sz="1150" dirty="0"/>
          </a:p>
        </p:txBody>
      </p:sp>
      <p:sp>
        <p:nvSpPr>
          <p:cNvPr id="20" name="R1_chip321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Louis French?</a:t>
            </a:r>
            <a:endParaRPr lang="en-US" sz="1050" dirty="0"/>
          </a:p>
        </p:txBody>
      </p:sp>
      <p:sp>
        <p:nvSpPr>
          <p:cNvPr id="21" name="bd_322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323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/ an / It's / expensive</a:t>
            </a:r>
            <a:endParaRPr lang="en-US" sz="1150" dirty="0"/>
          </a:p>
        </p:txBody>
      </p:sp>
      <p:sp>
        <p:nvSpPr>
          <p:cNvPr id="23" name="R2_chip324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an expensive watch.</a:t>
            </a:r>
            <a:endParaRPr lang="en-US" sz="1050" dirty="0"/>
          </a:p>
        </p:txBody>
      </p:sp>
      <p:sp>
        <p:nvSpPr>
          <p:cNvPr id="24" name="bd_325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326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easy / it / an / exercise / Is ?</a:t>
            </a:r>
            <a:endParaRPr lang="en-US" sz="1150" dirty="0"/>
          </a:p>
        </p:txBody>
      </p:sp>
      <p:sp>
        <p:nvSpPr>
          <p:cNvPr id="26" name="R3_chip327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an easy exercise?</a:t>
            </a:r>
            <a:endParaRPr lang="en-US" sz="1050" dirty="0"/>
          </a:p>
        </p:txBody>
      </p:sp>
      <p:sp>
        <p:nvSpPr>
          <p:cNvPr id="27" name="bd_328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329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girlfriend / Spanish / your / Is ?</a:t>
            </a:r>
            <a:endParaRPr lang="en-US" sz="1150" dirty="0"/>
          </a:p>
        </p:txBody>
      </p:sp>
      <p:sp>
        <p:nvSpPr>
          <p:cNvPr id="29" name="R4_chip330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your girlfriend Spanish?</a:t>
            </a:r>
            <a:endParaRPr lang="en-US" sz="1050" dirty="0"/>
          </a:p>
        </p:txBody>
      </p:sp>
      <p:sp>
        <p:nvSpPr>
          <p:cNvPr id="30" name="bd_331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332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difficult / very / questions / are / These</a:t>
            </a:r>
            <a:endParaRPr lang="en-US" sz="1150" dirty="0"/>
          </a:p>
        </p:txBody>
      </p:sp>
      <p:sp>
        <p:nvSpPr>
          <p:cNvPr id="32" name="R5_chip333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These questions are very difficult.</a:t>
            </a:r>
            <a:endParaRPr lang="en-US" sz="1050" dirty="0"/>
          </a:p>
        </p:txBody>
      </p:sp>
      <p:sp>
        <p:nvSpPr>
          <p:cNvPr id="33" name="bd_334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335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tickets / they / Are / cheap ?</a:t>
            </a:r>
            <a:endParaRPr lang="en-US" sz="1150" dirty="0"/>
          </a:p>
        </p:txBody>
      </p:sp>
      <p:sp>
        <p:nvSpPr>
          <p:cNvPr id="35" name="R6_chip336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they cheap tickets?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3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3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339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Fish or tree?</a:t>
            </a:r>
            <a:endParaRPr lang="en-US" sz="2500" dirty="0"/>
          </a:p>
        </p:txBody>
      </p:sp>
      <p:pic>
        <p:nvPicPr>
          <p:cNvPr id="6" name="brP_34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341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word. Which sound picture?</a:t>
            </a:r>
            <a:endParaRPr lang="en-US" sz="1250" dirty="0"/>
          </a:p>
        </p:txBody>
      </p:sp>
      <p:sp>
        <p:nvSpPr>
          <p:cNvPr id="8" name="insIT_34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parola. Quale immagine-suono?</a:t>
            </a:r>
            <a:endParaRPr lang="en-US" sz="950" dirty="0"/>
          </a:p>
        </p:txBody>
      </p:sp>
      <p:sp>
        <p:nvSpPr>
          <p:cNvPr id="9" name="note_34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 · Guided discovery</a:t>
            </a:r>
            <a:endParaRPr lang="en-US" sz="1150" dirty="0"/>
          </a:p>
        </p:txBody>
      </p:sp>
      <p:pic>
        <p:nvPicPr>
          <p:cNvPr id="10" name="logo_34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4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Pronunciation · long and short vowels   ·   📖 SB p.17 · 3a, 3b · audio 2.9, 2.10</a:t>
            </a:r>
            <a:endParaRPr lang="en-US" sz="800" dirty="0"/>
          </a:p>
        </p:txBody>
      </p:sp>
      <p:sp>
        <p:nvSpPr>
          <p:cNvPr id="12" name="cd_346"/>
          <p:cNvSpPr/>
          <p:nvPr/>
        </p:nvSpPr>
        <p:spPr>
          <a:xfrm>
            <a:off x="320040" y="1417320"/>
            <a:ext cx="2697480" cy="2679192"/>
          </a:xfrm>
          <a:prstGeom prst="roundRect">
            <a:avLst>
              <a:gd name="adj" fmla="val 477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34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4" name="ih_34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5" name="ap_349"/>
          <p:cNvSpPr/>
          <p:nvPr/>
        </p:nvSpPr>
        <p:spPr>
          <a:xfrm>
            <a:off x="365760" y="4233672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2.9 + 2.10</a:t>
            </a:r>
            <a:endParaRPr lang="en-US" sz="1100" dirty="0"/>
          </a:p>
        </p:txBody>
      </p:sp>
      <p:sp>
        <p:nvSpPr>
          <p:cNvPr id="16" name="ah_350"/>
          <p:cNvSpPr/>
          <p:nvPr/>
        </p:nvSpPr>
        <p:spPr>
          <a:xfrm>
            <a:off x="363016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681728" y="4553712"/>
            <a:ext cx="411480" cy="411480"/>
          </a:xfrm>
          <a:prstGeom prst="rect">
            <a:avLst/>
          </a:prstGeom>
        </p:spPr>
      </p:pic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5184648" y="4553712"/>
            <a:ext cx="411480" cy="411480"/>
          </a:xfrm>
          <a:prstGeom prst="rect">
            <a:avLst/>
          </a:prstGeom>
        </p:spPr>
      </p:pic>
      <p:sp>
        <p:nvSpPr>
          <p:cNvPr id="19" name="ah_351"/>
          <p:cNvSpPr/>
          <p:nvPr/>
        </p:nvSpPr>
        <p:spPr>
          <a:xfrm>
            <a:off x="696772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0" name="Media 2">
            <a:hlinkClick r:id="" action="ppaction://media"/>
          </p:cNvPr>
          <p:cNvPicPr>
            <a:picLocks noChangeAspect="1"/>
          </p:cNvPicPr>
          <p:nvPr>
            <a:audi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pic>
        <p:nvPicPr>
          <p:cNvPr id="21" name="Media 3">
            <a:hlinkClick r:id="" action="ppaction://media"/>
          </p:cNvPr>
          <p:cNvPicPr>
            <a:picLocks noChangeAspect="1"/>
          </p:cNvPicPr>
          <p:nvPr>
            <a:audioFile r:link="rId14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2" name="lg_352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🐟 fish /ɪ/</a:t>
            </a:r>
            <a:endParaRPr lang="en-US" sz="1050" dirty="0"/>
          </a:p>
        </p:txBody>
      </p:sp>
      <p:sp>
        <p:nvSpPr>
          <p:cNvPr id="23" name="lg_353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C2D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🌳 tree /iː/</a:t>
            </a:r>
            <a:endParaRPr lang="en-US" sz="1050" dirty="0"/>
          </a:p>
        </p:txBody>
      </p:sp>
      <p:sp>
        <p:nvSpPr>
          <p:cNvPr id="24" name="lg_354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🐱 cat /æ/</a:t>
            </a:r>
            <a:endParaRPr lang="en-US" sz="1050" dirty="0"/>
          </a:p>
        </p:txBody>
      </p:sp>
      <p:sp>
        <p:nvSpPr>
          <p:cNvPr id="25" name="lg_355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8E6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🚗 car /ɑː/</a:t>
            </a:r>
            <a:endParaRPr lang="en-US" sz="1050" dirty="0"/>
          </a:p>
        </p:txBody>
      </p:sp>
      <p:sp>
        <p:nvSpPr>
          <p:cNvPr id="26" name="lg_356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⏰ clock /ɒ/</a:t>
            </a:r>
            <a:endParaRPr lang="en-US" sz="1050" dirty="0"/>
          </a:p>
        </p:txBody>
      </p:sp>
      <p:sp>
        <p:nvSpPr>
          <p:cNvPr id="27" name="lg_357"/>
          <p:cNvSpPr/>
          <p:nvPr/>
        </p:nvSpPr>
        <p:spPr>
          <a:xfrm>
            <a:off x="1719072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9F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🐴 horse /ɔː/</a:t>
            </a:r>
            <a:endParaRPr lang="en-US" sz="1050" dirty="0"/>
          </a:p>
        </p:txBody>
      </p:sp>
      <p:sp>
        <p:nvSpPr>
          <p:cNvPr id="28" name="lg_358"/>
          <p:cNvSpPr/>
          <p:nvPr/>
        </p:nvSpPr>
        <p:spPr>
          <a:xfrm>
            <a:off x="457200" y="313639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🐂 bull /ʊ/</a:t>
            </a:r>
            <a:endParaRPr lang="en-US" sz="1050" dirty="0"/>
          </a:p>
        </p:txBody>
      </p:sp>
      <p:sp>
        <p:nvSpPr>
          <p:cNvPr id="29" name="lg_359"/>
          <p:cNvSpPr/>
          <p:nvPr/>
        </p:nvSpPr>
        <p:spPr>
          <a:xfrm>
            <a:off x="1719072" y="313639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B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👢 boot /uː/</a:t>
            </a:r>
            <a:endParaRPr lang="en-US" sz="1050" dirty="0"/>
          </a:p>
        </p:txBody>
      </p:sp>
      <p:sp>
        <p:nvSpPr>
          <p:cNvPr id="30" name="sq_360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</a:t>
            </a:r>
            <a:endParaRPr lang="en-US" sz="1200" dirty="0"/>
          </a:p>
        </p:txBody>
      </p:sp>
      <p:sp>
        <p:nvSpPr>
          <p:cNvPr id="31" name="R1_tag361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C2D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🌳 tree /iː/</a:t>
            </a:r>
            <a:endParaRPr lang="en-US" sz="1150" dirty="0"/>
          </a:p>
        </p:txBody>
      </p:sp>
      <p:sp>
        <p:nvSpPr>
          <p:cNvPr id="32" name="sq_362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</a:t>
            </a:r>
            <a:endParaRPr lang="en-US" sz="1200" dirty="0"/>
          </a:p>
        </p:txBody>
      </p:sp>
      <p:sp>
        <p:nvSpPr>
          <p:cNvPr id="33" name="R2_tag363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⏰ clock /ɒ/</a:t>
            </a:r>
            <a:endParaRPr lang="en-US" sz="1150" dirty="0"/>
          </a:p>
        </p:txBody>
      </p:sp>
      <p:sp>
        <p:nvSpPr>
          <p:cNvPr id="34" name="sq_364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</a:t>
            </a:r>
            <a:endParaRPr lang="en-US" sz="1200" dirty="0"/>
          </a:p>
        </p:txBody>
      </p:sp>
      <p:sp>
        <p:nvSpPr>
          <p:cNvPr id="35" name="R3_tag365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🐟 fish /ɪ/</a:t>
            </a:r>
            <a:endParaRPr lang="en-US" sz="1150" dirty="0"/>
          </a:p>
        </p:txBody>
      </p:sp>
      <p:sp>
        <p:nvSpPr>
          <p:cNvPr id="36" name="sq_366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</a:t>
            </a:r>
            <a:endParaRPr lang="en-US" sz="1200" dirty="0"/>
          </a:p>
        </p:txBody>
      </p:sp>
      <p:sp>
        <p:nvSpPr>
          <p:cNvPr id="37" name="R4_tag367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C8E6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🚗 car /ɑː/</a:t>
            </a:r>
            <a:endParaRPr lang="en-US" sz="1150" dirty="0"/>
          </a:p>
        </p:txBody>
      </p:sp>
      <p:sp>
        <p:nvSpPr>
          <p:cNvPr id="38" name="sq_368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ew</a:t>
            </a:r>
            <a:endParaRPr lang="en-US" sz="1200" dirty="0"/>
          </a:p>
        </p:txBody>
      </p:sp>
      <p:sp>
        <p:nvSpPr>
          <p:cNvPr id="39" name="R5_tag369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F0B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👢 boot /uː/</a:t>
            </a:r>
            <a:endParaRPr lang="en-US" sz="1150" dirty="0"/>
          </a:p>
        </p:txBody>
      </p:sp>
      <p:sp>
        <p:nvSpPr>
          <p:cNvPr id="40" name="sq_370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bl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ck</a:t>
            </a:r>
            <a:endParaRPr lang="en-US" sz="1200" dirty="0"/>
          </a:p>
        </p:txBody>
      </p:sp>
      <p:sp>
        <p:nvSpPr>
          <p:cNvPr id="41" name="R6_tag371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🐱 cat /æ/</a:t>
            </a:r>
            <a:endParaRPr lang="en-US" sz="1150" dirty="0"/>
          </a:p>
        </p:txBody>
      </p:sp>
      <p:sp>
        <p:nvSpPr>
          <p:cNvPr id="42" name="sq_372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oo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</a:t>
            </a:r>
            <a:endParaRPr lang="en-US" sz="1200" dirty="0"/>
          </a:p>
        </p:txBody>
      </p:sp>
      <p:sp>
        <p:nvSpPr>
          <p:cNvPr id="43" name="R7_tag373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🐂 bull /ʊ/</a:t>
            </a:r>
            <a:endParaRPr lang="en-US" sz="1150" dirty="0"/>
          </a:p>
        </p:txBody>
      </p:sp>
      <p:sp>
        <p:nvSpPr>
          <p:cNvPr id="44" name="sq_374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ll</a:t>
            </a:r>
            <a:endParaRPr lang="en-US" sz="1200" dirty="0"/>
          </a:p>
        </p:txBody>
      </p:sp>
      <p:sp>
        <p:nvSpPr>
          <p:cNvPr id="45" name="R8_tag375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C9F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🐴 horse /ɔː/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7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2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6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  <p:audio>
              <p:cMediaNode vol="80000">
                <p:cTn id="6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6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7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378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Same sound!</a:t>
            </a:r>
            <a:endParaRPr lang="en-US" sz="2500" dirty="0"/>
          </a:p>
        </p:txBody>
      </p:sp>
      <p:pic>
        <p:nvPicPr>
          <p:cNvPr id="6" name="brP_37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380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sound! Choose the noun. Be quick!</a:t>
            </a:r>
            <a:endParaRPr lang="en-US" sz="1250" dirty="0"/>
          </a:p>
        </p:txBody>
      </p:sp>
      <p:sp>
        <p:nvSpPr>
          <p:cNvPr id="8" name="insIT_38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Stesso suono! Scegli il nome. Veloci!</a:t>
            </a:r>
            <a:endParaRPr lang="en-US" sz="950" dirty="0"/>
          </a:p>
        </p:txBody>
      </p:sp>
      <p:sp>
        <p:nvSpPr>
          <p:cNvPr id="9" name="note_382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 · Communicative game</a:t>
            </a:r>
            <a:endParaRPr lang="en-US" sz="1150" dirty="0"/>
          </a:p>
        </p:txBody>
      </p:sp>
      <p:pic>
        <p:nvPicPr>
          <p:cNvPr id="10" name="logo_38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8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Pronunciation game   ·   📖 SB p.17 · 3c, 3d · audio 2.11</a:t>
            </a:r>
            <a:endParaRPr lang="en-US" sz="800" dirty="0"/>
          </a:p>
        </p:txBody>
      </p:sp>
      <p:sp>
        <p:nvSpPr>
          <p:cNvPr id="12" name="cd_385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38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38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388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adjective and the 3 nouns.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l'aggettivo e i 3 nomi.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noun with the SAME vowel sound.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Trova il nome con lo STESSO suono vocalico.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phrase first = 1 point.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 dice prima la frase = 1 punto.</a:t>
            </a:r>
            <a:endParaRPr lang="en-US" sz="1000" dirty="0"/>
          </a:p>
        </p:txBody>
      </p:sp>
      <p:sp>
        <p:nvSpPr>
          <p:cNvPr id="16" name="ap_389"/>
          <p:cNvSpPr/>
          <p:nvPr/>
        </p:nvSpPr>
        <p:spPr>
          <a:xfrm>
            <a:off x="365760" y="411480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2.11</a:t>
            </a:r>
            <a:endParaRPr lang="en-US" sz="1100" dirty="0"/>
          </a:p>
        </p:txBody>
      </p:sp>
      <p:sp>
        <p:nvSpPr>
          <p:cNvPr id="17" name="ah_390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8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9" name="ah_391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0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1" name="bd_392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22" name="gq_393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 … (city · car · cat)</a:t>
            </a:r>
            <a:endParaRPr lang="en-US" sz="1250" dirty="0"/>
          </a:p>
        </p:txBody>
      </p:sp>
      <p:sp>
        <p:nvSpPr>
          <p:cNvPr id="23" name="chip_394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big city /ɪ/</a:t>
            </a:r>
            <a:endParaRPr lang="en-US" sz="1200" dirty="0"/>
          </a:p>
        </p:txBody>
      </p:sp>
      <p:sp>
        <p:nvSpPr>
          <p:cNvPr id="24" name="bd_395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gq_396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bl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ck … (bag · book · boot)</a:t>
            </a:r>
            <a:endParaRPr lang="en-US" sz="1250" dirty="0"/>
          </a:p>
        </p:txBody>
      </p:sp>
      <p:sp>
        <p:nvSpPr>
          <p:cNvPr id="26" name="R1_chip397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black bag /æ/</a:t>
            </a:r>
            <a:endParaRPr lang="en-US" sz="1200" dirty="0"/>
          </a:p>
        </p:txBody>
      </p:sp>
      <p:sp>
        <p:nvSpPr>
          <p:cNvPr id="27" name="bd_398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gq_399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 … (jeans · shoes · bags)</a:t>
            </a:r>
            <a:endParaRPr lang="en-US" sz="1250" dirty="0"/>
          </a:p>
        </p:txBody>
      </p:sp>
      <p:sp>
        <p:nvSpPr>
          <p:cNvPr id="29" name="R2_chip400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cheap jeans /iː/</a:t>
            </a:r>
            <a:endParaRPr lang="en-US" sz="1200" dirty="0"/>
          </a:p>
        </p:txBody>
      </p:sp>
      <p:sp>
        <p:nvSpPr>
          <p:cNvPr id="30" name="bd_401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gq_402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 … (glasses · dogs · books)</a:t>
            </a:r>
            <a:endParaRPr lang="en-US" sz="1250" dirty="0"/>
          </a:p>
        </p:txBody>
      </p:sp>
      <p:sp>
        <p:nvSpPr>
          <p:cNvPr id="32" name="R3_chip403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dark glasses /ɑː/</a:t>
            </a:r>
            <a:endParaRPr lang="en-US" sz="1200" dirty="0"/>
          </a:p>
        </p:txBody>
      </p:sp>
      <p:sp>
        <p:nvSpPr>
          <p:cNvPr id="33" name="bd_404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gq_405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oo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… (book · day · cat)</a:t>
            </a:r>
            <a:endParaRPr lang="en-US" sz="1250" dirty="0"/>
          </a:p>
        </p:txBody>
      </p:sp>
      <p:sp>
        <p:nvSpPr>
          <p:cNvPr id="35" name="R4_chip406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good book /ʊ/</a:t>
            </a:r>
            <a:endParaRPr lang="en-US" sz="1200" dirty="0"/>
          </a:p>
        </p:txBody>
      </p:sp>
      <p:sp>
        <p:nvSpPr>
          <p:cNvPr id="36" name="bd_407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7" name="gq_408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ew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… (boots · bags · jeans)</a:t>
            </a:r>
            <a:endParaRPr lang="en-US" sz="1250" dirty="0"/>
          </a:p>
        </p:txBody>
      </p:sp>
      <p:sp>
        <p:nvSpPr>
          <p:cNvPr id="38" name="R5_chip409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new boots /uː/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audio>
              <p:cMediaNode vol="80000">
                <p:cTn id="3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  <p:audio>
              <p:cMediaNode vol="80000">
                <p:cTn id="3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1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41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412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have a red car!</a:t>
            </a:r>
            <a:endParaRPr lang="en-US" sz="2500" dirty="0"/>
          </a:p>
        </p:txBody>
      </p:sp>
      <p:pic>
        <p:nvPicPr>
          <p:cNvPr id="6" name="brP_41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14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 about 8 things you have. Use a colour or an adjective.</a:t>
            </a:r>
            <a:endParaRPr lang="en-US" sz="1100" dirty="0"/>
          </a:p>
        </p:txBody>
      </p:sp>
      <p:sp>
        <p:nvSpPr>
          <p:cNvPr id="8" name="insIT_41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Parla al compagno di 8 cose che hai. Usa un colore o un aggettivo.</a:t>
            </a:r>
            <a:endParaRPr lang="en-US" sz="950" dirty="0"/>
          </a:p>
        </p:txBody>
      </p:sp>
      <p:sp>
        <p:nvSpPr>
          <p:cNvPr id="9" name="note_41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41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1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Speaking · 8 things you have   ·   📖 SB p.17 · 4a</a:t>
            </a:r>
            <a:endParaRPr lang="en-US" sz="800" dirty="0"/>
          </a:p>
        </p:txBody>
      </p:sp>
      <p:sp>
        <p:nvSpPr>
          <p:cNvPr id="12" name="pf_419"/>
          <p:cNvSpPr/>
          <p:nvPr/>
        </p:nvSpPr>
        <p:spPr>
          <a:xfrm rot="-120000">
            <a:off x="320040" y="1371600"/>
            <a:ext cx="278892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420" descr="/home/claude/lls-course/v2/cache/red_2b_taxis_jpg_649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234440"/>
          </a:xfrm>
          <a:prstGeom prst="rect">
            <a:avLst/>
          </a:prstGeom>
        </p:spPr>
      </p:pic>
      <p:sp>
        <p:nvSpPr>
          <p:cNvPr id="14" name="cd_421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22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ih_423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7" name="il_424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have a very old… · a new…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quite big / really small.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Really? Me too! / What colour is it?</a:t>
            </a:r>
            <a:endParaRPr lang="en-US" sz="1150" dirty="0"/>
          </a:p>
        </p:txBody>
      </p:sp>
      <p:sp>
        <p:nvSpPr>
          <p:cNvPr id="18" name="R1_qb425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R1_sq426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phone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have a new black phone.</a:t>
            </a:r>
            <a:endParaRPr lang="en-US" sz="1200" dirty="0"/>
          </a:p>
        </p:txBody>
      </p:sp>
      <p:sp>
        <p:nvSpPr>
          <p:cNvPr id="20" name="R2_qb427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R2_sq428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car / bike / scooter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have a very old red car.</a:t>
            </a:r>
            <a:endParaRPr lang="en-US" sz="1200" dirty="0"/>
          </a:p>
        </p:txBody>
      </p:sp>
      <p:sp>
        <p:nvSpPr>
          <p:cNvPr id="22" name="R3_qb429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R3_sq430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bag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bag is quite big and brown.</a:t>
            </a:r>
            <a:endParaRPr lang="en-US" sz="1200" dirty="0"/>
          </a:p>
        </p:txBody>
      </p:sp>
      <p:sp>
        <p:nvSpPr>
          <p:cNvPr id="24" name="R4_qb431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R4_sq432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house or flat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have a small flat – it's really nice.</a:t>
            </a:r>
            <a:endParaRPr lang="en-US" sz="1200" dirty="0"/>
          </a:p>
        </p:txBody>
      </p:sp>
      <p:sp>
        <p:nvSpPr>
          <p:cNvPr id="26" name="R5_qb433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R5_sq434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in your fridge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have some very good cheese!</a:t>
            </a:r>
            <a:endParaRPr lang="en-US" sz="1200" dirty="0"/>
          </a:p>
        </p:txBody>
      </p:sp>
      <p:sp>
        <p:nvSpPr>
          <p:cNvPr id="28" name="R6_qb435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29" name="R6_sq436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Extension: something you DON'T want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have a really ugly jumper – it's a present from my aunt! 😄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3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3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439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is it?</a:t>
            </a:r>
            <a:endParaRPr lang="en-US" sz="2500" dirty="0"/>
          </a:p>
        </p:txBody>
      </p:sp>
      <p:pic>
        <p:nvPicPr>
          <p:cNvPr id="6" name="brP_44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441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it! Your partner guesses.</a:t>
            </a:r>
            <a:endParaRPr lang="en-US" sz="1250" dirty="0"/>
          </a:p>
        </p:txBody>
      </p:sp>
      <p:sp>
        <p:nvSpPr>
          <p:cNvPr id="8" name="insIT_44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Descrivilo! Il compagno indovina.</a:t>
            </a:r>
            <a:endParaRPr lang="en-US" sz="950" dirty="0"/>
          </a:p>
        </p:txBody>
      </p:sp>
      <p:sp>
        <p:nvSpPr>
          <p:cNvPr id="9" name="note_44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 game</a:t>
            </a:r>
            <a:endParaRPr lang="en-US" sz="1250" dirty="0"/>
          </a:p>
        </p:txBody>
      </p:sp>
      <p:pic>
        <p:nvPicPr>
          <p:cNvPr id="10" name="logo_44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4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Speaking game</a:t>
            </a:r>
            <a:endParaRPr lang="en-US" sz="800" dirty="0"/>
          </a:p>
        </p:txBody>
      </p:sp>
      <p:sp>
        <p:nvSpPr>
          <p:cNvPr id="12" name="cd_446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44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44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449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looks at the screen. B doesn't look.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guarda lo schermo. B non guarda.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describes it: colour + 2 adjectives.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 descrive: colore + 2 aggettivi.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guesses. Then swap.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indovina. Poi scambiatevi.</a:t>
            </a:r>
            <a:endParaRPr lang="en-US" sz="1000" dirty="0"/>
          </a:p>
        </p:txBody>
      </p:sp>
      <p:sp>
        <p:nvSpPr>
          <p:cNvPr id="16" name="pf_450"/>
          <p:cNvSpPr/>
          <p:nvPr/>
        </p:nvSpPr>
        <p:spPr>
          <a:xfrm rot="-120000">
            <a:off x="717482" y="4069080"/>
            <a:ext cx="1856876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451" descr="/home/claude/lls-course/v2/cache/red_2b_icons_jpg_425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763202" y="4114800"/>
            <a:ext cx="1765436" cy="1051560"/>
          </a:xfrm>
          <a:prstGeom prst="rect">
            <a:avLst/>
          </a:prstGeom>
        </p:spPr>
      </p:pic>
      <p:sp>
        <p:nvSpPr>
          <p:cNvPr id="18" name="rl_452"/>
          <p:cNvSpPr/>
          <p:nvPr/>
        </p:nvSpPr>
        <p:spPr>
          <a:xfrm>
            <a:off x="324612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describes</a:t>
            </a:r>
            <a:endParaRPr lang="en-US" sz="1100" dirty="0"/>
          </a:p>
        </p:txBody>
      </p:sp>
      <p:sp>
        <p:nvSpPr>
          <p:cNvPr id="19" name="R1_w453"/>
          <p:cNvSpPr/>
          <p:nvPr/>
        </p:nvSpPr>
        <p:spPr>
          <a:xfrm>
            <a:off x="324612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banana</a:t>
            </a:r>
            <a:endParaRPr lang="en-US" sz="1700" dirty="0"/>
          </a:p>
        </p:txBody>
      </p:sp>
      <p:sp>
        <p:nvSpPr>
          <p:cNvPr id="20" name="R3_w454"/>
          <p:cNvSpPr/>
          <p:nvPr/>
        </p:nvSpPr>
        <p:spPr>
          <a:xfrm>
            <a:off x="324612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New York taxi</a:t>
            </a:r>
            <a:endParaRPr lang="en-US" sz="1700" dirty="0"/>
          </a:p>
        </p:txBody>
      </p:sp>
      <p:sp>
        <p:nvSpPr>
          <p:cNvPr id="21" name="R5_w455"/>
          <p:cNvSpPr/>
          <p:nvPr/>
        </p:nvSpPr>
        <p:spPr>
          <a:xfrm>
            <a:off x="324612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 elephant</a:t>
            </a:r>
            <a:endParaRPr lang="en-US" sz="1700" dirty="0"/>
          </a:p>
        </p:txBody>
      </p:sp>
      <p:sp>
        <p:nvSpPr>
          <p:cNvPr id="22" name="R7_w456"/>
          <p:cNvSpPr/>
          <p:nvPr/>
        </p:nvSpPr>
        <p:spPr>
          <a:xfrm>
            <a:off x="324612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Colosseum</a:t>
            </a:r>
            <a:endParaRPr lang="en-US" sz="1700" dirty="0"/>
          </a:p>
        </p:txBody>
      </p:sp>
      <p:sp>
        <p:nvSpPr>
          <p:cNvPr id="23" name="rl_457"/>
          <p:cNvSpPr/>
          <p:nvPr/>
        </p:nvSpPr>
        <p:spPr>
          <a:xfrm>
            <a:off x="608076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describes</a:t>
            </a:r>
            <a:endParaRPr lang="en-US" sz="1100" dirty="0"/>
          </a:p>
        </p:txBody>
      </p:sp>
      <p:sp>
        <p:nvSpPr>
          <p:cNvPr id="24" name="R2_w458"/>
          <p:cNvSpPr/>
          <p:nvPr/>
        </p:nvSpPr>
        <p:spPr>
          <a:xfrm>
            <a:off x="608076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Ferrari</a:t>
            </a:r>
            <a:endParaRPr lang="en-US" sz="1700" dirty="0"/>
          </a:p>
        </p:txBody>
      </p:sp>
      <p:sp>
        <p:nvSpPr>
          <p:cNvPr id="25" name="R4_w459"/>
          <p:cNvSpPr/>
          <p:nvPr/>
        </p:nvSpPr>
        <p:spPr>
          <a:xfrm>
            <a:off x="608076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snow</a:t>
            </a:r>
            <a:endParaRPr lang="en-US" sz="1700" dirty="0"/>
          </a:p>
        </p:txBody>
      </p:sp>
      <p:sp>
        <p:nvSpPr>
          <p:cNvPr id="26" name="R6_w460"/>
          <p:cNvSpPr/>
          <p:nvPr/>
        </p:nvSpPr>
        <p:spPr>
          <a:xfrm>
            <a:off x="608076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lemon</a:t>
            </a:r>
            <a:endParaRPr lang="en-US" sz="1700" dirty="0"/>
          </a:p>
        </p:txBody>
      </p:sp>
      <p:sp>
        <p:nvSpPr>
          <p:cNvPr id="27" name="R8_w461"/>
          <p:cNvSpPr/>
          <p:nvPr/>
        </p:nvSpPr>
        <p:spPr>
          <a:xfrm>
            <a:off x="608076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hot dog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6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464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same, but different</a:t>
            </a:r>
            <a:endParaRPr lang="en-US" sz="2500" dirty="0"/>
          </a:p>
        </p:txBody>
      </p:sp>
      <p:pic>
        <p:nvPicPr>
          <p:cNvPr id="6" name="brP_46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66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article. Choose a heading from the box for 2–4.</a:t>
            </a:r>
            <a:endParaRPr lang="en-US" sz="1250" dirty="0"/>
          </a:p>
        </p:txBody>
      </p:sp>
      <p:sp>
        <p:nvSpPr>
          <p:cNvPr id="8" name="insIT_46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l'articolo. Scegli un titolo dal riquadro per 2–4.</a:t>
            </a:r>
            <a:endParaRPr lang="en-US" sz="950" dirty="0"/>
          </a:p>
        </p:txBody>
      </p:sp>
      <p:sp>
        <p:nvSpPr>
          <p:cNvPr id="9" name="note_46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TPRS · reading</a:t>
            </a:r>
            <a:endParaRPr lang="en-US" sz="1150" dirty="0"/>
          </a:p>
        </p:txBody>
      </p:sp>
      <p:pic>
        <p:nvPicPr>
          <p:cNvPr id="10" name="logo_46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7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Reading · British and American English   ·   📖 SB p.17 · 5a, 5b · audio 2.12 · article shortened</a:t>
            </a:r>
            <a:endParaRPr lang="en-US" sz="800" dirty="0"/>
          </a:p>
        </p:txBody>
      </p:sp>
      <p:sp>
        <p:nvSpPr>
          <p:cNvPr id="12" name="cd_471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472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📰 British and American English</a:t>
            </a:r>
            <a:endParaRPr lang="en-US" sz="1700" dirty="0"/>
          </a:p>
        </p:txBody>
      </p:sp>
      <p:sp>
        <p:nvSpPr>
          <p:cNvPr id="14" name="ln_473"/>
          <p:cNvSpPr/>
          <p:nvPr/>
        </p:nvSpPr>
        <p:spPr>
          <a:xfrm>
            <a:off x="548640" y="1920240"/>
            <a:ext cx="5349240" cy="84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Vocabulary – Some words are different. Americans say ZIP code (not postcode), vacation (not holiday) and cell phone (not mobile phone). In American English a purse is a woman's bag!</a:t>
            </a:r>
            <a:endParaRPr lang="en-US" sz="1300" dirty="0"/>
          </a:p>
        </p:txBody>
      </p:sp>
      <p:sp>
        <p:nvSpPr>
          <p:cNvPr id="15" name="ln_474"/>
          <p:cNvSpPr/>
          <p:nvPr/>
        </p:nvSpPr>
        <p:spPr>
          <a:xfrm>
            <a:off x="548640" y="2763831"/>
            <a:ext cx="5349240" cy="6545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Words with -our in British English end in -or in American English: colour → color. Centre and theatre → center and theater.</a:t>
            </a:r>
            <a:endParaRPr lang="en-US" sz="1300" dirty="0"/>
          </a:p>
        </p:txBody>
      </p:sp>
      <p:sp>
        <p:nvSpPr>
          <p:cNvPr id="16" name="R1_lnA475"/>
          <p:cNvSpPr/>
          <p:nvPr/>
        </p:nvSpPr>
        <p:spPr>
          <a:xfrm>
            <a:off x="548640" y="2763831"/>
            <a:ext cx="5349240" cy="654589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Spelling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Words with -our in British English end in -or in American English: colour → color. Centre and theatre → center and theater.</a:t>
            </a:r>
            <a:endParaRPr lang="en-US" sz="1300" dirty="0"/>
          </a:p>
        </p:txBody>
      </p:sp>
      <p:sp>
        <p:nvSpPr>
          <p:cNvPr id="17" name="ln_476"/>
          <p:cNvSpPr/>
          <p:nvPr/>
        </p:nvSpPr>
        <p:spPr>
          <a:xfrm>
            <a:off x="548640" y="3418420"/>
            <a:ext cx="5349240" cy="640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There are small differences, especially prepositions. Americans say See you Friday. British people say See you on Friday.</a:t>
            </a:r>
            <a:endParaRPr lang="en-US" sz="1300" dirty="0"/>
          </a:p>
        </p:txBody>
      </p:sp>
      <p:sp>
        <p:nvSpPr>
          <p:cNvPr id="18" name="R2_lnA477"/>
          <p:cNvSpPr/>
          <p:nvPr/>
        </p:nvSpPr>
        <p:spPr>
          <a:xfrm>
            <a:off x="548640" y="3418420"/>
            <a:ext cx="5349240" cy="640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Grammar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There are small differences, especially prepositions. Americans say See you Friday. British people say See you on Friday.</a:t>
            </a:r>
            <a:endParaRPr lang="en-US" sz="1300" dirty="0"/>
          </a:p>
        </p:txBody>
      </p:sp>
      <p:sp>
        <p:nvSpPr>
          <p:cNvPr id="19" name="ln_478"/>
          <p:cNvSpPr/>
          <p:nvPr/>
        </p:nvSpPr>
        <p:spPr>
          <a:xfrm>
            <a:off x="548640" y="4059180"/>
            <a:ext cx="5349240" cy="64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This is the really important difference. When an American starts speaking, British people know he or she is American.</a:t>
            </a:r>
            <a:endParaRPr lang="en-US" sz="1300" dirty="0"/>
          </a:p>
        </p:txBody>
      </p:sp>
      <p:sp>
        <p:nvSpPr>
          <p:cNvPr id="20" name="R3_lnA479"/>
          <p:cNvSpPr/>
          <p:nvPr/>
        </p:nvSpPr>
        <p:spPr>
          <a:xfrm>
            <a:off x="548640" y="4059180"/>
            <a:ext cx="5349240" cy="6499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Pronunciation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This is the really important difference. When an American starts speaking, British people know he or she is American.</a:t>
            </a:r>
            <a:endParaRPr lang="en-US" sz="1300" dirty="0"/>
          </a:p>
        </p:txBody>
      </p:sp>
      <p:sp>
        <p:nvSpPr>
          <p:cNvPr id="21" name="ap_480"/>
          <p:cNvSpPr/>
          <p:nvPr/>
        </p:nvSpPr>
        <p:spPr>
          <a:xfrm>
            <a:off x="6263640" y="141732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2.12</a:t>
            </a:r>
            <a:endParaRPr lang="en-US" sz="1100" dirty="0"/>
          </a:p>
        </p:txBody>
      </p:sp>
      <p:sp>
        <p:nvSpPr>
          <p:cNvPr id="22" name="ah_481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3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4" name="ah_482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5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6" name="cd_483"/>
          <p:cNvSpPr/>
          <p:nvPr/>
        </p:nvSpPr>
        <p:spPr>
          <a:xfrm>
            <a:off x="6263640" y="1965960"/>
            <a:ext cx="2651760" cy="1444752"/>
          </a:xfrm>
          <a:prstGeom prst="roundRect">
            <a:avLst>
              <a:gd name="adj" fmla="val 8861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bkh_484"/>
          <p:cNvSpPr/>
          <p:nvPr/>
        </p:nvSpPr>
        <p:spPr>
          <a:xfrm>
            <a:off x="6373368" y="202082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🧺 Headings · two don't fit!</a:t>
            </a:r>
            <a:endParaRPr lang="en-US" sz="1100" dirty="0"/>
          </a:p>
        </p:txBody>
      </p:sp>
      <p:sp>
        <p:nvSpPr>
          <p:cNvPr id="28" name="bk_485"/>
          <p:cNvSpPr/>
          <p:nvPr/>
        </p:nvSpPr>
        <p:spPr>
          <a:xfrm>
            <a:off x="6373368" y="2368296"/>
            <a:ext cx="1179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Food</a:t>
            </a:r>
            <a:endParaRPr lang="en-US" sz="1050" dirty="0"/>
          </a:p>
        </p:txBody>
      </p:sp>
      <p:sp>
        <p:nvSpPr>
          <p:cNvPr id="29" name="bk_486"/>
          <p:cNvSpPr/>
          <p:nvPr/>
        </p:nvSpPr>
        <p:spPr>
          <a:xfrm>
            <a:off x="7626096" y="2368296"/>
            <a:ext cx="1179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endParaRPr lang="en-US" sz="1050" dirty="0"/>
          </a:p>
        </p:txBody>
      </p:sp>
      <p:sp>
        <p:nvSpPr>
          <p:cNvPr id="30" name="bk_487"/>
          <p:cNvSpPr/>
          <p:nvPr/>
        </p:nvSpPr>
        <p:spPr>
          <a:xfrm>
            <a:off x="6373368" y="2697480"/>
            <a:ext cx="1179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</a:t>
            </a:r>
            <a:endParaRPr lang="en-US" sz="1050" dirty="0"/>
          </a:p>
        </p:txBody>
      </p:sp>
      <p:sp>
        <p:nvSpPr>
          <p:cNvPr id="31" name="bk_488"/>
          <p:cNvSpPr/>
          <p:nvPr/>
        </p:nvSpPr>
        <p:spPr>
          <a:xfrm>
            <a:off x="7626096" y="2697480"/>
            <a:ext cx="1179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Pronunciation</a:t>
            </a:r>
            <a:endParaRPr lang="en-US" sz="1050" dirty="0"/>
          </a:p>
        </p:txBody>
      </p:sp>
      <p:sp>
        <p:nvSpPr>
          <p:cNvPr id="32" name="bk_489"/>
          <p:cNvSpPr/>
          <p:nvPr/>
        </p:nvSpPr>
        <p:spPr>
          <a:xfrm>
            <a:off x="6373368" y="3026664"/>
            <a:ext cx="1179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Spelling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9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92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True or false?</a:t>
            </a:r>
            <a:endParaRPr lang="en-US" sz="2500" dirty="0"/>
          </a:p>
        </p:txBody>
      </p:sp>
      <p:pic>
        <p:nvPicPr>
          <p:cNvPr id="6" name="brP_49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494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True or false? Correct the false ones.</a:t>
            </a:r>
            <a:endParaRPr lang="en-US" sz="1250" dirty="0"/>
          </a:p>
        </p:txBody>
      </p:sp>
      <p:sp>
        <p:nvSpPr>
          <p:cNvPr id="8" name="insIT_49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Vero o falso? Correggi quelle false.</a:t>
            </a:r>
            <a:endParaRPr lang="en-US" sz="950" dirty="0"/>
          </a:p>
        </p:txBody>
      </p:sp>
      <p:sp>
        <p:nvSpPr>
          <p:cNvPr id="9" name="note_49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Controlled practice</a:t>
            </a:r>
            <a:endParaRPr lang="en-US" sz="1150" dirty="0"/>
          </a:p>
        </p:txBody>
      </p:sp>
      <p:pic>
        <p:nvPicPr>
          <p:cNvPr id="10" name="logo_49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9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Reading · detail   ·   📖 SB p.17 · 5c (answers: TG)</a:t>
            </a:r>
            <a:endParaRPr lang="en-US" sz="800" dirty="0"/>
          </a:p>
        </p:txBody>
      </p:sp>
      <p:sp>
        <p:nvSpPr>
          <p:cNvPr id="12" name="cd_499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50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50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502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📰 The article is on the last slide. Go back if you need to!</a:t>
            </a:r>
            <a:endParaRPr lang="en-US" sz="1000" dirty="0"/>
          </a:p>
        </p:txBody>
      </p:sp>
      <p:sp>
        <p:nvSpPr>
          <p:cNvPr id="16" name="pf_503"/>
          <p:cNvSpPr/>
          <p:nvPr/>
        </p:nvSpPr>
        <p:spPr>
          <a:xfrm rot="-90000">
            <a:off x="669266" y="2569464"/>
            <a:ext cx="1999028" cy="2093976"/>
          </a:xfrm>
          <a:prstGeom prst="roundRect">
            <a:avLst>
              <a:gd name="adj" fmla="val 77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504" descr="/home/claude/lls-course/v2/cache/red_2b_newyork_jpg_459x48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714986" y="2615184"/>
            <a:ext cx="1907588" cy="2002536"/>
          </a:xfrm>
          <a:prstGeom prst="rect">
            <a:avLst/>
          </a:prstGeom>
        </p:spPr>
      </p:pic>
      <p:sp>
        <p:nvSpPr>
          <p:cNvPr id="18" name="bd_505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506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British and American English are very different.</a:t>
            </a:r>
            <a:endParaRPr lang="en-US" sz="1050" dirty="0"/>
          </a:p>
        </p:txBody>
      </p:sp>
      <p:sp>
        <p:nvSpPr>
          <p:cNvPr id="20" name="R1_chip507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– the differences are small.</a:t>
            </a:r>
            <a:endParaRPr lang="en-US" sz="1050" dirty="0"/>
          </a:p>
        </p:txBody>
      </p:sp>
      <p:sp>
        <p:nvSpPr>
          <p:cNvPr id="21" name="bd_508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509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Holiday and postcode are the same in the US.</a:t>
            </a:r>
            <a:endParaRPr lang="en-US" sz="1100" dirty="0"/>
          </a:p>
        </p:txBody>
      </p:sp>
      <p:sp>
        <p:nvSpPr>
          <p:cNvPr id="23" name="R2_chip510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– vacation, ZIP code.</a:t>
            </a:r>
            <a:endParaRPr lang="en-US" sz="1050" dirty="0"/>
          </a:p>
        </p:txBody>
      </p:sp>
      <p:sp>
        <p:nvSpPr>
          <p:cNvPr id="24" name="bd_511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512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Purse has a different meaning in the US.</a:t>
            </a:r>
            <a:endParaRPr lang="en-US" sz="1100" dirty="0"/>
          </a:p>
        </p:txBody>
      </p:sp>
      <p:sp>
        <p:nvSpPr>
          <p:cNvPr id="26" name="R3_chip513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</a:t>
            </a:r>
            <a:endParaRPr lang="en-US" sz="1050" dirty="0"/>
          </a:p>
        </p:txBody>
      </p:sp>
      <p:sp>
        <p:nvSpPr>
          <p:cNvPr id="27" name="bd_514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515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Kilometer is the British spelling.</a:t>
            </a:r>
            <a:endParaRPr lang="en-US" sz="1100" dirty="0"/>
          </a:p>
        </p:txBody>
      </p:sp>
      <p:sp>
        <p:nvSpPr>
          <p:cNvPr id="29" name="R4_chip516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– it's American (UK: kilometre).</a:t>
            </a:r>
            <a:endParaRPr lang="en-US" sz="1050" dirty="0"/>
          </a:p>
        </p:txBody>
      </p:sp>
      <p:sp>
        <p:nvSpPr>
          <p:cNvPr id="30" name="bd_51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518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grammar is not very different.</a:t>
            </a:r>
            <a:endParaRPr lang="en-US" sz="1100" dirty="0"/>
          </a:p>
        </p:txBody>
      </p:sp>
      <p:sp>
        <p:nvSpPr>
          <p:cNvPr id="32" name="R5_chip519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</a:t>
            </a:r>
            <a:endParaRPr lang="en-US" sz="1050" dirty="0"/>
          </a:p>
        </p:txBody>
      </p:sp>
      <p:sp>
        <p:nvSpPr>
          <p:cNvPr id="33" name="bd_520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521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difficult to know if a person is American.</a:t>
            </a:r>
            <a:endParaRPr lang="en-US" sz="1100" dirty="0"/>
          </a:p>
        </p:txBody>
      </p:sp>
      <p:sp>
        <p:nvSpPr>
          <p:cNvPr id="35" name="R6_chip522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– it's easy (the accent).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2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52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25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2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27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2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note_529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00" dirty="0"/>
          </a:p>
        </p:txBody>
      </p:sp>
      <p:pic>
        <p:nvPicPr>
          <p:cNvPr id="10" name="logo_53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3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Exit · what can you remember?</a:t>
            </a:r>
            <a:endParaRPr lang="en-US" sz="800" dirty="0"/>
          </a:p>
        </p:txBody>
      </p:sp>
      <p:sp>
        <p:nvSpPr>
          <p:cNvPr id="12" name="bd_532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533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pairs of opposites (big ≠ small…)</a:t>
            </a:r>
            <a:endParaRPr lang="en-US" sz="1400" dirty="0"/>
          </a:p>
        </p:txBody>
      </p:sp>
      <p:sp>
        <p:nvSpPr>
          <p:cNvPr id="14" name="bd_534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535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American icons (a hot dog…)</a:t>
            </a:r>
            <a:endParaRPr lang="en-US" sz="1400" dirty="0"/>
          </a:p>
        </p:txBody>
      </p:sp>
      <p:sp>
        <p:nvSpPr>
          <p:cNvPr id="16" name="bd_536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537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sentence about Frank's taxi</a:t>
            </a:r>
            <a:endParaRPr lang="en-US" sz="1400" dirty="0"/>
          </a:p>
        </p:txBody>
      </p:sp>
      <p:sp>
        <p:nvSpPr>
          <p:cNvPr id="18" name="cd_538"/>
          <p:cNvSpPr/>
          <p:nvPr/>
        </p:nvSpPr>
        <p:spPr>
          <a:xfrm>
            <a:off x="5669280" y="1417320"/>
            <a:ext cx="3200400" cy="2221992"/>
          </a:xfrm>
          <a:prstGeom prst="roundRect">
            <a:avLst>
              <a:gd name="adj" fmla="val 576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539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540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541"/>
          <p:cNvSpPr/>
          <p:nvPr/>
        </p:nvSpPr>
        <p:spPr>
          <a:xfrm>
            <a:off x="6236208" y="1911096"/>
            <a:ext cx="2542032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2B: 1a, 1b, 1c (colours, opposites)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2B: 2a–2e (adjectives)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2B: 3a (long and short sounds)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Write: 5 things you have + an adjective</a:t>
            </a:r>
            <a:endParaRPr lang="en-US" sz="1100" dirty="0"/>
          </a:p>
        </p:txBody>
      </p:sp>
      <p:sp>
        <p:nvSpPr>
          <p:cNvPr id="22" name="st_542"/>
          <p:cNvSpPr/>
          <p:nvPr/>
        </p:nvSpPr>
        <p:spPr>
          <a:xfrm rot="-180000">
            <a:off x="5806440" y="3867912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2C · Slow down! · feelings, imperatives, let's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45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5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547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54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note_54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Reflection</a:t>
            </a:r>
            <a:endParaRPr lang="en-US" sz="1250" dirty="0"/>
          </a:p>
        </p:txBody>
      </p:sp>
      <p:pic>
        <p:nvPicPr>
          <p:cNvPr id="10" name="logo_55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5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Review · what did you do today?</a:t>
            </a:r>
            <a:endParaRPr lang="en-US" sz="800" dirty="0"/>
          </a:p>
        </p:txBody>
      </p:sp>
      <p:sp>
        <p:nvSpPr>
          <p:cNvPr id="12" name="cd_552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te_553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14" name="tt_554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colours and adjectives</a:t>
            </a:r>
            <a:endParaRPr lang="en-US" sz="1350" dirty="0"/>
          </a:p>
        </p:txBody>
      </p:sp>
      <p:sp>
        <p:nvSpPr>
          <p:cNvPr id="15" name="R1_tk555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6" name="cd_556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te_557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🇺🇸</a:t>
            </a:r>
            <a:endParaRPr lang="en-US" sz="1800" dirty="0"/>
          </a:p>
        </p:txBody>
      </p:sp>
      <p:sp>
        <p:nvSpPr>
          <p:cNvPr id="18" name="tt_558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Named American icons: a hot dog, yellow taxis…</a:t>
            </a:r>
            <a:endParaRPr lang="en-US" sz="1350" dirty="0"/>
          </a:p>
        </p:txBody>
      </p:sp>
      <p:sp>
        <p:nvSpPr>
          <p:cNvPr id="19" name="R2_tk559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0" name="cd_560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te_561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2" name="tt_562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3" name="R3_tk563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cd_564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te_565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26" name="tt_566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Heard long and short sounds: cheap, rich</a:t>
            </a:r>
            <a:endParaRPr lang="en-US" sz="1350" dirty="0"/>
          </a:p>
        </p:txBody>
      </p:sp>
      <p:sp>
        <p:nvSpPr>
          <p:cNvPr id="27" name="R4_tk567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8" name="cd_568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te_569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👀</a:t>
            </a:r>
            <a:endParaRPr lang="en-US" sz="1800" dirty="0"/>
          </a:p>
        </p:txBody>
      </p:sp>
      <p:sp>
        <p:nvSpPr>
          <p:cNvPr id="30" name="tt_570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about British and American English</a:t>
            </a:r>
            <a:endParaRPr lang="en-US" sz="1350" dirty="0"/>
          </a:p>
        </p:txBody>
      </p:sp>
      <p:sp>
        <p:nvSpPr>
          <p:cNvPr id="31" name="R5_tk571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2" name="st_572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573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574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575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576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7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7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579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Extra: all the adjectives</a:t>
            </a:r>
            <a:endParaRPr lang="en-US" sz="2500" dirty="0"/>
          </a:p>
        </p:txBody>
      </p:sp>
      <p:pic>
        <p:nvPicPr>
          <p:cNvPr id="6" name="brP_58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581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Click a speaker to play the book audio.</a:t>
            </a:r>
            <a:endParaRPr lang="en-US" sz="1250" dirty="0"/>
          </a:p>
        </p:txBody>
      </p:sp>
      <p:sp>
        <p:nvSpPr>
          <p:cNvPr id="8" name="insIT_58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Clicca un altoparlante per l'audio del libro.</a:t>
            </a:r>
            <a:endParaRPr lang="en-US" sz="950" dirty="0"/>
          </a:p>
        </p:txBody>
      </p:sp>
      <p:sp>
        <p:nvSpPr>
          <p:cNvPr id="9" name="note_583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ASCOLTA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🙋 whole class</a:t>
            </a:r>
            <a:endParaRPr lang="en-US" sz="1250" dirty="0"/>
          </a:p>
        </p:txBody>
      </p:sp>
      <p:pic>
        <p:nvPicPr>
          <p:cNvPr id="10" name="logo_58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8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Book audio · 2B</a:t>
            </a:r>
            <a:endParaRPr lang="en-US" sz="800" dirty="0"/>
          </a:p>
        </p:txBody>
      </p:sp>
      <p:sp>
        <p:nvSpPr>
          <p:cNvPr id="12" name="ext_586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pf_587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588" descr="/home/claude/lls-course/v2/cache/red_2b_icons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5" name="cd_589"/>
          <p:cNvSpPr/>
          <p:nvPr/>
        </p:nvSpPr>
        <p:spPr>
          <a:xfrm>
            <a:off x="320040" y="3383280"/>
            <a:ext cx="2743200" cy="1130808"/>
          </a:xfrm>
          <a:prstGeom prst="roundRect">
            <a:avLst>
              <a:gd name="adj" fmla="val 1132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590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17" name="ih_591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300" dirty="0"/>
          </a:p>
        </p:txBody>
      </p:sp>
      <p:sp>
        <p:nvSpPr>
          <p:cNvPr id="18" name="il_592"/>
          <p:cNvSpPr/>
          <p:nvPr/>
        </p:nvSpPr>
        <p:spPr>
          <a:xfrm>
            <a:off x="886968" y="3877056"/>
            <a:ext cx="2084832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2.7 = all 21 pairs of opposites (Vocabulary Bank p.152)</a:t>
            </a:r>
            <a:endParaRPr lang="en-US" sz="1050" dirty="0"/>
          </a:p>
        </p:txBody>
      </p:sp>
      <p:sp>
        <p:nvSpPr>
          <p:cNvPr id="19" name="ab_593"/>
          <p:cNvSpPr/>
          <p:nvPr/>
        </p:nvSpPr>
        <p:spPr>
          <a:xfrm>
            <a:off x="3246120" y="1417320"/>
            <a:ext cx="49834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2.6  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Colours – listen and repeat</a:t>
            </a:r>
            <a:endParaRPr lang="en-US" sz="1300" dirty="0"/>
          </a:p>
        </p:txBody>
      </p:sp>
      <p:pic>
        <p:nvPicPr>
          <p:cNvPr id="20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321040" y="1453896"/>
            <a:ext cx="384048" cy="384048"/>
          </a:xfrm>
          <a:prstGeom prst="rect">
            <a:avLst/>
          </a:prstGeom>
        </p:spPr>
      </p:pic>
      <p:sp>
        <p:nvSpPr>
          <p:cNvPr id="21" name="ab_594"/>
          <p:cNvSpPr/>
          <p:nvPr/>
        </p:nvSpPr>
        <p:spPr>
          <a:xfrm>
            <a:off x="3246120" y="1947672"/>
            <a:ext cx="49834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2.7  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 Bank Adjectives – 21 opposites</a:t>
            </a:r>
            <a:endParaRPr lang="en-US" sz="1300" dirty="0"/>
          </a:p>
        </p:txBody>
      </p:sp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321040" y="1984248"/>
            <a:ext cx="384048" cy="384048"/>
          </a:xfrm>
          <a:prstGeom prst="rect">
            <a:avLst/>
          </a:prstGeom>
        </p:spPr>
      </p:pic>
      <p:sp>
        <p:nvSpPr>
          <p:cNvPr id="23" name="ab_595"/>
          <p:cNvSpPr/>
          <p:nvPr/>
        </p:nvSpPr>
        <p:spPr>
          <a:xfrm>
            <a:off x="3246120" y="2478024"/>
            <a:ext cx="49834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2.11  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Same-sound phrases</a:t>
            </a:r>
            <a:endParaRPr lang="en-US" sz="1300" dirty="0"/>
          </a:p>
        </p:txBody>
      </p:sp>
      <p:pic>
        <p:nvPicPr>
          <p:cNvPr id="24" name="Media 2">
            <a:hlinkClick r:id="" action="ppaction://media"/>
          </p:cNvPr>
          <p:cNvPicPr>
            <a:picLocks noChangeAspect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3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8321040" y="2514600"/>
            <a:ext cx="384048" cy="384048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7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7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  <p:audio>
              <p:cMediaNode vol="8000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2B Made in America</dc:title>
  <dc:subject>PptxGenJS Presentation</dc:subject>
  <dc:creator>PptxGenJS</dc:creator>
  <cp:lastModifiedBy>PptxGenJS</cp:lastModifiedBy>
  <cp:revision>1</cp:revision>
  <dcterms:created xsi:type="dcterms:W3CDTF">2026-10-21T09:56:29Z</dcterms:created>
  <dcterms:modified xsi:type="dcterms:W3CDTF">2026-10-21T09:56:29Z</dcterms:modified>
</cp:coreProperties>
</file>