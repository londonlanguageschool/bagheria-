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TG lead-in: write LONDON (/ˈlʌndən/) – 3 things you associate with London? Have you visited London?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last lesson (3 min)
ACTIVE RECAP (3 min). Pairs: what are 3 people in this room doing now?
HOW TO RUN IT (active recap): pairs. Words: A points at a word, B says what it means (⭐); then a sentence with it (⭐⭐); strong students make it negative or a question (⭐⭐⭐). Grammar: pairs make their own example for each use (offer, plan…) BEFORE you click – then click to show the model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Vocabulary Bank p.159 · the weather and seasons (4 min)
WEATHER (4 min). TG notes: like here is a preposition. Rain and snow = verbs in the present continuous. VB c: pairs ask What's the weather like? about the pictures. Seasons 5.18.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Listening · the weather in London (5 min)
LONDON WEATHER (5 min). 1a key (TG): max 21°, min 10°; probably summer; typical – very changeable. Then 5.19: T / F + why. Tip from the script: take your sunglasses AND your umbrella!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Grammar · present simple or continuous? (4 min)
MESSAGES (4 min). Messages transcribed from the SB. EXTRA SUPPORT (TG): two columns on the board – simple / continuous – sort the highlighted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Grammar Bank 5C · the rule (4 min)
RULE (4 min). Examples = 5.20. TG notes: simple = habits / always true; continuous = now / around now. Stative verbs (want, like, need, have = possess, know) – not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Grammar Bank 5C p.133 (5 min)
GRAMMAR BANK (5 min). Short conversations built around the TG key for b (1 are…doing, 'm waiting 2 Do…like, don't eat 3 are having, have 4 does…do, works). a key (TG): 1 He's playing 2 Do your parents live, have 3 do you go, needs 4 is sleeping, doesn't usually sleep.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Speaking · simple or continuous? (6 min)
SIMPLE OR CONTINUOUS (4 min). Same aim as the Communication activity: B listens for the tense in A's question and answers with it. These are our own questions (the Communication pages aren't in our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Reading · What to do in London (1) (6 min)
LONDON 1 (5 min). Set a time limit (TG). Key on the side – reveal after slide 2. Find present simple verbs (takes, run, cancel) and can (you can watch, you can buy).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Reading · What to do in London (2) (5 min)
LONDON 2 (5 min). 3b key (TG). 3c: which of the four would you like to do? What are good things to do in different seasons where you live? (Bagheria: Villa Palagonia in winter, the beach at Aspra in summer…)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Pronunciation · places in London (3 min)
PLACES (3 min). Stress from the SB / TG. 4b: what can you see and do there? (TG suggestions: crown jewels at the Tower, Big Ben = the clock, Covent Garden = old market, now shops and street entertainers…)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Speaking · in a London taxi (6 min)
TAXI (5 min). Practise the place names – the driver pretends not to understand bad pronunciation: 'Sorry? Lie-ses-ter?'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Exit · what can you remember? (2 min)
EXIT (2 min). Show Writing p.115 before they go: 4 posts, about 30 words each – present continuous for now, present simple for habits.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Elementary · SB pp.42–43 · VB p.159</a:t>
            </a:r>
            <a:endParaRPr lang="en-US" sz="1000" dirty="0"/>
          </a:p>
        </p:txBody>
      </p:sp>
      <p:sp>
        <p:nvSpPr>
          <p:cNvPr id="4" name="bd_2"/>
          <p:cNvSpPr/>
          <p:nvPr/>
        </p:nvSpPr>
        <p:spPr>
          <a:xfrm>
            <a:off x="365760" y="640080"/>
            <a:ext cx="1051560" cy="105156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5C</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A city for all seasons</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050" i="1" dirty="0">
                <a:solidFill>
                  <a:srgbClr val="1B2559"/>
                </a:solidFill>
                <a:latin typeface="Segoe UI Semibold" pitchFamily="34" charset="0"/>
                <a:ea typeface="Segoe UI Semibold" pitchFamily="34" charset="-122"/>
                <a:cs typeface="Segoe UI Semibold" pitchFamily="34" charset="-120"/>
              </a:rPr>
              <a:t>Present simple or continuous? · the weather</a:t>
            </a:r>
            <a:endParaRPr lang="en-US" sz="1050" dirty="0"/>
          </a:p>
        </p:txBody>
      </p:sp>
      <p:sp>
        <p:nvSpPr>
          <p:cNvPr id="9" name="cd_7"/>
          <p:cNvSpPr/>
          <p:nvPr/>
        </p:nvSpPr>
        <p:spPr>
          <a:xfrm>
            <a:off x="365760" y="2148840"/>
            <a:ext cx="4206240" cy="1691640"/>
          </a:xfrm>
          <a:prstGeom prst="roundRect">
            <a:avLst>
              <a:gd name="adj" fmla="val 7568"/>
            </a:avLst>
          </a:prstGeom>
          <a:solidFill>
            <a:srgbClr val="E3F1FD"/>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42616"/>
            <a:ext cx="3547872" cy="1124712"/>
          </a:xfrm>
          <a:prstGeom prst="rect">
            <a:avLst/>
          </a:prstGeom>
          <a:noFill/>
          <a:ln/>
        </p:spPr>
        <p:txBody>
          <a:bodyPr wrap="square" lIns="0" tIns="0" rIns="0" bIns="0" rtlCol="0" anchor="t">
            <a:normAutofit/>
          </a:bodyPr>
          <a:lstStyle/>
          <a:p>
            <a:pPr indent="0" marL="0">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talk about the weather: It's raining, it's windy</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the seasons: spring, summer, autumn, winter</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choose: It snows / It's snowing</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read what to do in London</a:t>
            </a:r>
            <a:endParaRPr lang="en-US" sz="850" dirty="0"/>
          </a:p>
          <a:p>
            <a:pPr indent="0" marL="0">
              <a:spcBef>
                <a:spcPts val="600"/>
              </a:spcBef>
              <a:spcAft>
                <a:spcPts val="200"/>
              </a:spcAft>
              <a:buNone/>
            </a:pPr>
            <a:r>
              <a:rPr lang="en-US" sz="850" dirty="0">
                <a:solidFill>
                  <a:srgbClr val="1B2559"/>
                </a:solidFill>
                <a:latin typeface="Segoe UI Semibold" pitchFamily="34" charset="0"/>
                <a:ea typeface="Segoe UI Semibold" pitchFamily="34" charset="-122"/>
                <a:cs typeface="Segoe UI Semibold" pitchFamily="34" charset="-120"/>
              </a:rPr>
              <a:t>🚕  say London places: Leicester Square!</a:t>
            </a:r>
            <a:endParaRPr lang="en-US" sz="850" dirty="0"/>
          </a:p>
        </p:txBody>
      </p:sp>
      <p:sp>
        <p:nvSpPr>
          <p:cNvPr id="13" name="R1_ex11"/>
          <p:cNvSpPr/>
          <p:nvPr/>
        </p:nvSpPr>
        <p:spPr>
          <a:xfrm>
            <a:off x="365760" y="3950208"/>
            <a:ext cx="4206240" cy="603504"/>
          </a:xfrm>
          <a:prstGeom prst="roundRect">
            <a:avLst>
              <a:gd name="adj" fmla="val 18182"/>
            </a:avLst>
          </a:prstGeom>
          <a:solidFill>
            <a:srgbClr val="FFF6CC"/>
          </a:solidFill>
          <a:ln w="28575">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It's sunny and quite hot. I love the autumn in Sicily!</a:t>
            </a:r>
            <a:endParaRPr lang="en-US" sz="1000" dirty="0"/>
          </a:p>
        </p:txBody>
      </p:sp>
      <p:sp>
        <p:nvSpPr>
          <p:cNvPr id="14" name="pf_12"/>
          <p:cNvSpPr/>
          <p:nvPr/>
        </p:nvSpPr>
        <p:spPr>
          <a:xfrm rot="90000">
            <a:off x="5791962" y="777240"/>
            <a:ext cx="2086356" cy="3200400"/>
          </a:xfrm>
          <a:prstGeom prst="roundRect">
            <a:avLst>
              <a:gd name="adj" fmla="val 7451"/>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red_5c_snow_jpg_480x748_31.png">    </p:cNvPr>
          <p:cNvPicPr>
            <a:picLocks noChangeAspect="1"/>
          </p:cNvPicPr>
          <p:nvPr/>
        </p:nvPicPr>
        <p:blipFill>
          <a:blip r:embed="rId4"/>
          <a:stretch>
            <a:fillRect/>
          </a:stretch>
        </p:blipFill>
        <p:spPr>
          <a:xfrm rot="90000">
            <a:off x="5837682" y="822960"/>
            <a:ext cx="1994916"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8575">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What's the weather like today? What's your favourite season?</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Remember last lesson?</a:t>
            </a:r>
            <a:endParaRPr lang="en-US" sz="24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remember? Say it – then use it in a sentence!</a:t>
            </a:r>
            <a:endParaRPr lang="en-US" sz="1250" dirty="0"/>
          </a:p>
        </p:txBody>
      </p:sp>
      <p:sp>
        <p:nvSpPr>
          <p:cNvPr id="8" name="insIT_2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Ti ricordi? Dillo – poi usalo in una frase!</a:t>
            </a:r>
            <a:endParaRPr lang="en-US" sz="950" dirty="0"/>
          </a:p>
        </p:txBody>
      </p:sp>
      <p:sp>
        <p:nvSpPr>
          <p:cNvPr id="9" name="note_2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50" dirty="0"/>
          </a:p>
        </p:txBody>
      </p:sp>
      <p:pic>
        <p:nvPicPr>
          <p:cNvPr id="10" name="logo_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Revision · last lesson</a:t>
            </a:r>
            <a:endParaRPr lang="en-US" sz="800" dirty="0"/>
          </a:p>
        </p:txBody>
      </p:sp>
      <p:sp>
        <p:nvSpPr>
          <p:cNvPr id="12" name="pf_26"/>
          <p:cNvSpPr/>
          <p:nvPr/>
        </p:nvSpPr>
        <p:spPr>
          <a:xfrm rot="-120000">
            <a:off x="1147883" y="1371600"/>
            <a:ext cx="1087515" cy="1645920"/>
          </a:xfrm>
          <a:prstGeom prst="roundRect">
            <a:avLst>
              <a:gd name="adj" fmla="val 1429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7" descr="/home/claude/lls-course/v2/cache/red_5b_house_jpg_240x374_31.png">    </p:cNvPr>
          <p:cNvPicPr>
            <a:picLocks noChangeAspect="1"/>
          </p:cNvPicPr>
          <p:nvPr/>
        </p:nvPicPr>
        <p:blipFill>
          <a:blip r:embed="rId5"/>
          <a:stretch>
            <a:fillRect/>
          </a:stretch>
        </p:blipFill>
        <p:spPr>
          <a:xfrm rot="-120000">
            <a:off x="1193603" y="1417320"/>
            <a:ext cx="996075" cy="1554480"/>
          </a:xfrm>
          <a:prstGeom prst="rect">
            <a:avLst/>
          </a:prstGeom>
        </p:spPr>
      </p:pic>
      <p:sp>
        <p:nvSpPr>
          <p:cNvPr id="14" name="cd_28"/>
          <p:cNvSpPr/>
          <p:nvPr/>
        </p:nvSpPr>
        <p:spPr>
          <a:xfrm>
            <a:off x="320040" y="3200400"/>
            <a:ext cx="2743200" cy="1223264"/>
          </a:xfrm>
          <a:prstGeom prst="roundRect">
            <a:avLst>
              <a:gd name="adj" fmla="val 1046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9"/>
          <p:cNvSpPr/>
          <p:nvPr/>
        </p:nvSpPr>
        <p:spPr>
          <a:xfrm>
            <a:off x="411480" y="32735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0"/>
          <p:cNvSpPr/>
          <p:nvPr/>
        </p:nvSpPr>
        <p:spPr>
          <a:xfrm>
            <a:off x="886968" y="329184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7" name="il_31"/>
          <p:cNvSpPr/>
          <p:nvPr/>
        </p:nvSpPr>
        <p:spPr>
          <a:xfrm>
            <a:off x="886968" y="3694176"/>
            <a:ext cx="2084832" cy="6563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5B: A quiet life?</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present continuous · noise</a:t>
            </a:r>
            <a:endParaRPr lang="en-US" sz="1100" dirty="0"/>
          </a:p>
        </p:txBody>
      </p:sp>
      <p:sp>
        <p:nvSpPr>
          <p:cNvPr id="18" name="kw_32"/>
          <p:cNvSpPr/>
          <p:nvPr/>
        </p:nvSpPr>
        <p:spPr>
          <a:xfrm>
            <a:off x="3246120" y="1417320"/>
            <a:ext cx="5623560" cy="292608"/>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 Can you remember these words? What do they mean?</a:t>
            </a:r>
            <a:endParaRPr lang="en-US" sz="1200" dirty="0"/>
          </a:p>
        </p:txBody>
      </p:sp>
      <p:sp>
        <p:nvSpPr>
          <p:cNvPr id="19" name="w_33"/>
          <p:cNvSpPr/>
          <p:nvPr/>
        </p:nvSpPr>
        <p:spPr>
          <a:xfrm>
            <a:off x="3246120" y="1783080"/>
            <a:ext cx="758952"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bark</a:t>
            </a:r>
            <a:endParaRPr lang="en-US" sz="1200" dirty="0"/>
          </a:p>
        </p:txBody>
      </p:sp>
      <p:sp>
        <p:nvSpPr>
          <p:cNvPr id="20" name="w_34"/>
          <p:cNvSpPr/>
          <p:nvPr/>
        </p:nvSpPr>
        <p:spPr>
          <a:xfrm>
            <a:off x="4096512" y="1783080"/>
            <a:ext cx="672084"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cry</a:t>
            </a:r>
            <a:endParaRPr lang="en-US" sz="1200" dirty="0"/>
          </a:p>
        </p:txBody>
      </p:sp>
      <p:sp>
        <p:nvSpPr>
          <p:cNvPr id="21" name="w_35"/>
          <p:cNvSpPr/>
          <p:nvPr/>
        </p:nvSpPr>
        <p:spPr>
          <a:xfrm>
            <a:off x="4860036" y="1783080"/>
            <a:ext cx="845820"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argue</a:t>
            </a:r>
            <a:endParaRPr lang="en-US" sz="1200" dirty="0"/>
          </a:p>
        </p:txBody>
      </p:sp>
      <p:sp>
        <p:nvSpPr>
          <p:cNvPr id="22" name="w_36"/>
          <p:cNvSpPr/>
          <p:nvPr/>
        </p:nvSpPr>
        <p:spPr>
          <a:xfrm>
            <a:off x="5797296" y="1783080"/>
            <a:ext cx="1453896"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make a noise</a:t>
            </a:r>
            <a:endParaRPr lang="en-US" sz="1200" dirty="0"/>
          </a:p>
        </p:txBody>
      </p:sp>
      <p:sp>
        <p:nvSpPr>
          <p:cNvPr id="23" name="w_37"/>
          <p:cNvSpPr/>
          <p:nvPr/>
        </p:nvSpPr>
        <p:spPr>
          <a:xfrm>
            <a:off x="3246120" y="2185416"/>
            <a:ext cx="1975104" cy="347472"/>
          </a:xfrm>
          <a:prstGeom prst="roundRect">
            <a:avLst>
              <a:gd name="adj" fmla="val 50000"/>
            </a:avLst>
          </a:prstGeom>
          <a:solidFill>
            <a:srgbClr val="FFE3EE"/>
          </a:solidFill>
          <a:ln w="28575">
            <a:solidFill>
              <a:srgbClr val="F7A6C4"/>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have noisy parties</a:t>
            </a:r>
            <a:endParaRPr lang="en-US" sz="1200" dirty="0"/>
          </a:p>
        </p:txBody>
      </p:sp>
      <p:sp>
        <p:nvSpPr>
          <p:cNvPr id="24" name="w_38"/>
          <p:cNvSpPr/>
          <p:nvPr/>
        </p:nvSpPr>
        <p:spPr>
          <a:xfrm>
            <a:off x="5312664" y="2185416"/>
            <a:ext cx="1975104" cy="347472"/>
          </a:xfrm>
          <a:prstGeom prst="roundRect">
            <a:avLst>
              <a:gd name="adj" fmla="val 50000"/>
            </a:avLst>
          </a:prstGeom>
          <a:solidFill>
            <a:srgbClr val="E3F1FD"/>
          </a:solidFill>
          <a:ln w="28575">
            <a:solidFill>
              <a:srgbClr val="A9D3F5"/>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practise the piano</a:t>
            </a:r>
            <a:endParaRPr lang="en-US" sz="1200" dirty="0"/>
          </a:p>
        </p:txBody>
      </p:sp>
      <p:sp>
        <p:nvSpPr>
          <p:cNvPr id="25" name="w_39"/>
          <p:cNvSpPr/>
          <p:nvPr/>
        </p:nvSpPr>
        <p:spPr>
          <a:xfrm>
            <a:off x="7379208" y="2185416"/>
            <a:ext cx="1280160" cy="347472"/>
          </a:xfrm>
          <a:prstGeom prst="roundRect">
            <a:avLst>
              <a:gd name="adj" fmla="val 50000"/>
            </a:avLst>
          </a:prstGeom>
          <a:solidFill>
            <a:srgbClr val="E3F7EA"/>
          </a:solidFill>
          <a:ln w="28575">
            <a:solidFill>
              <a:srgbClr val="A8E5BE"/>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neighbours</a:t>
            </a:r>
            <a:endParaRPr lang="en-US" sz="1200" dirty="0"/>
          </a:p>
        </p:txBody>
      </p:sp>
      <p:sp>
        <p:nvSpPr>
          <p:cNvPr id="26" name="w_40"/>
          <p:cNvSpPr/>
          <p:nvPr/>
        </p:nvSpPr>
        <p:spPr>
          <a:xfrm>
            <a:off x="3246120" y="2587752"/>
            <a:ext cx="1193292" cy="347472"/>
          </a:xfrm>
          <a:prstGeom prst="roundRect">
            <a:avLst>
              <a:gd name="adj" fmla="val 50000"/>
            </a:avLst>
          </a:prstGeom>
          <a:solidFill>
            <a:srgbClr val="FFF6CC"/>
          </a:solidFill>
          <a:ln w="28575">
            <a:solidFill>
              <a:srgbClr val="FFE07A"/>
            </a:solidFill>
          </a:ln>
        </p:spPr>
        <p:txBody>
          <a:bodyPr wrap="square" lIns="0" tIns="0" rIns="0" bIns="0" rtlCol="0" anchor="ctr"/>
          <a:lstStyle/>
          <a:p>
            <a:pPr algn="ctr" indent="0" marL="0">
              <a:buNone/>
            </a:pPr>
            <a:r>
              <a:rPr lang="en-US" sz="1200" dirty="0">
                <a:solidFill>
                  <a:srgbClr val="1B2559"/>
                </a:solidFill>
                <a:latin typeface="Segoe UI Semibold" pitchFamily="34" charset="0"/>
                <a:ea typeface="Segoe UI Semibold" pitchFamily="34" charset="-122"/>
                <a:cs typeface="Segoe UI Semibold" pitchFamily="34" charset="-120"/>
              </a:rPr>
              <a:t>next door</a:t>
            </a:r>
            <a:endParaRPr lang="en-US" sz="1200" dirty="0"/>
          </a:p>
        </p:txBody>
      </p:sp>
      <p:sp>
        <p:nvSpPr>
          <p:cNvPr id="27" name="lv_41"/>
          <p:cNvSpPr/>
          <p:nvPr/>
        </p:nvSpPr>
        <p:spPr>
          <a:xfrm>
            <a:off x="324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What does it mean?</a:t>
            </a:r>
            <a:endParaRPr lang="en-US" sz="1000" dirty="0"/>
          </a:p>
        </p:txBody>
      </p:sp>
      <p:sp>
        <p:nvSpPr>
          <p:cNvPr id="28" name="lv_42"/>
          <p:cNvSpPr/>
          <p:nvPr/>
        </p:nvSpPr>
        <p:spPr>
          <a:xfrm>
            <a:off x="5151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1000" dirty="0">
                <a:solidFill>
                  <a:srgbClr val="000000"/>
                </a:solidFill>
              </a:rPr>
              <a:t>⭐⭐ </a:t>
            </a:r>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Use it in a sentence.</a:t>
            </a:r>
            <a:endParaRPr lang="en-US" sz="1000" dirty="0"/>
          </a:p>
        </p:txBody>
      </p:sp>
      <p:sp>
        <p:nvSpPr>
          <p:cNvPr id="29" name="lv_43"/>
          <p:cNvSpPr/>
          <p:nvPr/>
        </p:nvSpPr>
        <p:spPr>
          <a:xfrm>
            <a:off x="7056120" y="3044952"/>
            <a:ext cx="1813560" cy="384048"/>
          </a:xfrm>
          <a:prstGeom prst="roundRect">
            <a:avLst>
              <a:gd name="adj" fmla="val 28571"/>
            </a:avLst>
          </a:prstGeom>
          <a:solidFill>
            <a:srgbClr val="FFFFFF"/>
          </a:solidFill>
          <a:ln w="28575">
            <a:solidFill>
              <a:srgbClr val="CDBFF3"/>
            </a:solidFill>
          </a:ln>
        </p:spPr>
        <p:txBody>
          <a:bodyPr wrap="square" lIns="50800" tIns="0" rIns="50800" bIns="0" rtlCol="0" anchor="ctr">
            <a:normAutofit/>
          </a:bodyPr>
          <a:lstStyle/>
          <a:p>
            <a:pPr algn="ctr" indent="0" marL="0">
              <a:buNone/>
            </a:pPr>
            <a:r>
              <a:rPr lang="en-US" sz="950" dirty="0">
                <a:solidFill>
                  <a:srgbClr val="000000"/>
                </a:solidFill>
              </a:rPr>
              <a:t>⭐⭐⭐ </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Make it negative or a question!</a:t>
            </a:r>
            <a:endParaRPr lang="en-US" sz="950" dirty="0"/>
          </a:p>
        </p:txBody>
      </p:sp>
      <p:sp>
        <p:nvSpPr>
          <p:cNvPr id="30" name="cd_44"/>
          <p:cNvSpPr/>
          <p:nvPr/>
        </p:nvSpPr>
        <p:spPr>
          <a:xfrm>
            <a:off x="3246120" y="3575304"/>
            <a:ext cx="5623560" cy="1179576"/>
          </a:xfrm>
          <a:prstGeom prst="roundRect">
            <a:avLst>
              <a:gd name="adj" fmla="val 10853"/>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31" name="rh_45"/>
          <p:cNvSpPr/>
          <p:nvPr/>
        </p:nvSpPr>
        <p:spPr>
          <a:xfrm>
            <a:off x="3337560" y="3648456"/>
            <a:ext cx="5440680" cy="310896"/>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Your turn: </a:t>
            </a:r>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present continuous</a:t>
            </a:r>
            <a:endParaRPr lang="en-US" sz="1100" dirty="0"/>
          </a:p>
        </p:txBody>
      </p:sp>
      <p:sp>
        <p:nvSpPr>
          <p:cNvPr id="32" name="R1_rl46"/>
          <p:cNvSpPr/>
          <p:nvPr/>
        </p:nvSpPr>
        <p:spPr>
          <a:xfrm>
            <a:off x="3383280" y="4032504"/>
            <a:ext cx="5349240" cy="649224"/>
          </a:xfrm>
          <a:prstGeom prst="rect">
            <a:avLst/>
          </a:prstGeom>
          <a:solidFill>
            <a:srgbClr val="FFFFFF"/>
          </a:solidFill>
          <a:ln/>
        </p:spPr>
        <p:txBody>
          <a:bodyPr wrap="square" lIns="0" tIns="0" rIns="0" bIns="0" rtlCol="0" anchor="t">
            <a:normAutofit/>
          </a:bodyPr>
          <a:lstStyle/>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She</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's playing</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the piano.</a:t>
            </a:r>
            <a:endParaRPr lang="en-US" sz="1100" dirty="0"/>
          </a:p>
          <a:p>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Are</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they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having</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a party?</a:t>
            </a:r>
            <a:endParaRPr lang="en-US" sz="1100" dirty="0"/>
          </a:p>
          <a:p>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No, they </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aren't</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 They</a:t>
            </a:r>
            <a:pPr indent="0" marL="0">
              <a:spcAft>
                <a:spcPts val="300"/>
              </a:spcAft>
              <a:buNone/>
            </a:pPr>
            <a:r>
              <a:rPr lang="en-US" sz="1100" b="1" dirty="0">
                <a:solidFill>
                  <a:srgbClr val="E8508F"/>
                </a:solidFill>
                <a:highlight>
                  <a:srgbClr val="FFF1A8"/>
                </a:highlight>
                <a:latin typeface="Segoe UI Semibold" pitchFamily="34" charset="0"/>
                <a:ea typeface="Segoe UI Semibold" pitchFamily="34" charset="-122"/>
                <a:cs typeface="Segoe UI Semibold" pitchFamily="34" charset="-120"/>
              </a:rPr>
              <a:t>'re talking</a:t>
            </a:r>
            <a:pPr indent="0" marL="0">
              <a:spcAft>
                <a:spcPts val="300"/>
              </a:spcAft>
              <a:buNone/>
            </a:pPr>
            <a:r>
              <a:rPr lang="en-US" sz="1100" dirty="0">
                <a:solidFill>
                  <a:srgbClr val="1B2559"/>
                </a:solidFill>
                <a:latin typeface="Segoe UI Semibold" pitchFamily="34" charset="0"/>
                <a:ea typeface="Segoe UI Semibold" pitchFamily="34" charset="-122"/>
                <a:cs typeface="Segoe UI Semibold" pitchFamily="34" charset="-120"/>
              </a:rPr>
              <a:t>.</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8"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49"/>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What's the weather like?</a:t>
            </a:r>
            <a:endParaRPr lang="en-US" sz="2500" dirty="0"/>
          </a:p>
        </p:txBody>
      </p:sp>
      <p:pic>
        <p:nvPicPr>
          <p:cNvPr id="6" name="brP_50"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51"/>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Vocabulary Bank: the weather. Say it, then click!</a:t>
            </a:r>
            <a:endParaRPr lang="en-US" sz="1250" dirty="0"/>
          </a:p>
        </p:txBody>
      </p:sp>
      <p:sp>
        <p:nvSpPr>
          <p:cNvPr id="8" name="insIT_5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Vocabulary Bank: il tempo. Dillo, poi clicca!</a:t>
            </a:r>
            <a:endParaRPr lang="en-US" sz="950" dirty="0"/>
          </a:p>
        </p:txBody>
      </p:sp>
      <p:sp>
        <p:nvSpPr>
          <p:cNvPr id="9" name="note_5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CHECK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CONTROLLA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Vocabulary · TPRS · meaning</a:t>
            </a:r>
            <a:endParaRPr lang="en-US" sz="1250" dirty="0"/>
          </a:p>
        </p:txBody>
      </p:sp>
      <p:pic>
        <p:nvPicPr>
          <p:cNvPr id="10" name="logo_5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5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Vocabulary Bank p.159 · the weather and seasons   ·   📖 VB p.159 · Part 1 a–d · audio 5.17, 5.18 (TG notes)</a:t>
            </a:r>
            <a:endParaRPr lang="en-US" sz="800" dirty="0"/>
          </a:p>
        </p:txBody>
      </p:sp>
      <p:sp>
        <p:nvSpPr>
          <p:cNvPr id="12" name="cd_56"/>
          <p:cNvSpPr/>
          <p:nvPr/>
        </p:nvSpPr>
        <p:spPr>
          <a:xfrm>
            <a:off x="320040" y="141732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e_57"/>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4" name="en_58"/>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sunny.</a:t>
            </a:r>
            <a:endParaRPr lang="en-US" sz="1200" dirty="0"/>
          </a:p>
        </p:txBody>
      </p:sp>
      <p:sp>
        <p:nvSpPr>
          <p:cNvPr id="15" name="R1_it59"/>
          <p:cNvSpPr/>
          <p:nvPr/>
        </p:nvSpPr>
        <p:spPr>
          <a:xfrm>
            <a:off x="978408"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c'è il sole</a:t>
            </a:r>
            <a:endParaRPr lang="en-US" sz="1000" dirty="0"/>
          </a:p>
        </p:txBody>
      </p:sp>
      <p:sp>
        <p:nvSpPr>
          <p:cNvPr id="16" name="cd_60"/>
          <p:cNvSpPr/>
          <p:nvPr/>
        </p:nvSpPr>
        <p:spPr>
          <a:xfrm>
            <a:off x="2487168" y="141732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e_61"/>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8" name="en_62"/>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hot.</a:t>
            </a:r>
            <a:endParaRPr lang="en-US" sz="1200" dirty="0"/>
          </a:p>
        </p:txBody>
      </p:sp>
      <p:sp>
        <p:nvSpPr>
          <p:cNvPr id="19" name="R2_it63"/>
          <p:cNvSpPr/>
          <p:nvPr/>
        </p:nvSpPr>
        <p:spPr>
          <a:xfrm>
            <a:off x="3145536"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fa caldo</a:t>
            </a:r>
            <a:endParaRPr lang="en-US" sz="1000" dirty="0"/>
          </a:p>
        </p:txBody>
      </p:sp>
      <p:sp>
        <p:nvSpPr>
          <p:cNvPr id="20" name="cd_64"/>
          <p:cNvSpPr/>
          <p:nvPr/>
        </p:nvSpPr>
        <p:spPr>
          <a:xfrm>
            <a:off x="4654296" y="141732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e_65"/>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2" name="en_66"/>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cloudy.</a:t>
            </a:r>
            <a:endParaRPr lang="en-US" sz="1200" dirty="0"/>
          </a:p>
        </p:txBody>
      </p:sp>
      <p:sp>
        <p:nvSpPr>
          <p:cNvPr id="23" name="R3_it67"/>
          <p:cNvSpPr/>
          <p:nvPr/>
        </p:nvSpPr>
        <p:spPr>
          <a:xfrm>
            <a:off x="5312664"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è nuvoloso</a:t>
            </a:r>
            <a:endParaRPr lang="en-US" sz="1000" dirty="0"/>
          </a:p>
        </p:txBody>
      </p:sp>
      <p:sp>
        <p:nvSpPr>
          <p:cNvPr id="24" name="cd_68"/>
          <p:cNvSpPr/>
          <p:nvPr/>
        </p:nvSpPr>
        <p:spPr>
          <a:xfrm>
            <a:off x="6821424" y="141732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e_69"/>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70"/>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raining.</a:t>
            </a:r>
            <a:endParaRPr lang="en-US" sz="1200" dirty="0"/>
          </a:p>
        </p:txBody>
      </p:sp>
      <p:sp>
        <p:nvSpPr>
          <p:cNvPr id="27" name="R4_it71"/>
          <p:cNvSpPr/>
          <p:nvPr/>
        </p:nvSpPr>
        <p:spPr>
          <a:xfrm>
            <a:off x="7479792" y="180136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piove</a:t>
            </a:r>
            <a:endParaRPr lang="en-US" sz="1000" dirty="0"/>
          </a:p>
        </p:txBody>
      </p:sp>
      <p:sp>
        <p:nvSpPr>
          <p:cNvPr id="28" name="cd_72"/>
          <p:cNvSpPr/>
          <p:nvPr/>
        </p:nvSpPr>
        <p:spPr>
          <a:xfrm>
            <a:off x="320040" y="224028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e_73"/>
          <p:cNvSpPr/>
          <p:nvPr/>
        </p:nvSpPr>
        <p:spPr>
          <a:xfrm>
            <a:off x="393192" y="235000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0" name="en_74"/>
          <p:cNvSpPr/>
          <p:nvPr/>
        </p:nvSpPr>
        <p:spPr>
          <a:xfrm>
            <a:off x="978408"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windy.</a:t>
            </a:r>
            <a:endParaRPr lang="en-US" sz="1200" dirty="0"/>
          </a:p>
        </p:txBody>
      </p:sp>
      <p:sp>
        <p:nvSpPr>
          <p:cNvPr id="31" name="R5_it75"/>
          <p:cNvSpPr/>
          <p:nvPr/>
        </p:nvSpPr>
        <p:spPr>
          <a:xfrm>
            <a:off x="978408"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c'è vento</a:t>
            </a:r>
            <a:endParaRPr lang="en-US" sz="1000" dirty="0"/>
          </a:p>
        </p:txBody>
      </p:sp>
      <p:sp>
        <p:nvSpPr>
          <p:cNvPr id="32" name="cd_76"/>
          <p:cNvSpPr/>
          <p:nvPr/>
        </p:nvSpPr>
        <p:spPr>
          <a:xfrm>
            <a:off x="2487168" y="224028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33" name="e_77"/>
          <p:cNvSpPr/>
          <p:nvPr/>
        </p:nvSpPr>
        <p:spPr>
          <a:xfrm>
            <a:off x="2560320" y="235000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4" name="en_78"/>
          <p:cNvSpPr/>
          <p:nvPr/>
        </p:nvSpPr>
        <p:spPr>
          <a:xfrm>
            <a:off x="3145536"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foggy.</a:t>
            </a:r>
            <a:endParaRPr lang="en-US" sz="1200" dirty="0"/>
          </a:p>
        </p:txBody>
      </p:sp>
      <p:sp>
        <p:nvSpPr>
          <p:cNvPr id="35" name="R6_it79"/>
          <p:cNvSpPr/>
          <p:nvPr/>
        </p:nvSpPr>
        <p:spPr>
          <a:xfrm>
            <a:off x="3145536"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c'è nebbia</a:t>
            </a:r>
            <a:endParaRPr lang="en-US" sz="1000" dirty="0"/>
          </a:p>
        </p:txBody>
      </p:sp>
      <p:sp>
        <p:nvSpPr>
          <p:cNvPr id="36" name="cd_80"/>
          <p:cNvSpPr/>
          <p:nvPr/>
        </p:nvSpPr>
        <p:spPr>
          <a:xfrm>
            <a:off x="4654296" y="224028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37" name="e_81"/>
          <p:cNvSpPr/>
          <p:nvPr/>
        </p:nvSpPr>
        <p:spPr>
          <a:xfrm>
            <a:off x="4727448" y="235000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8" name="en_82"/>
          <p:cNvSpPr/>
          <p:nvPr/>
        </p:nvSpPr>
        <p:spPr>
          <a:xfrm>
            <a:off x="5312664"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cold.</a:t>
            </a:r>
            <a:endParaRPr lang="en-US" sz="1200" dirty="0"/>
          </a:p>
        </p:txBody>
      </p:sp>
      <p:sp>
        <p:nvSpPr>
          <p:cNvPr id="39" name="R7_it83"/>
          <p:cNvSpPr/>
          <p:nvPr/>
        </p:nvSpPr>
        <p:spPr>
          <a:xfrm>
            <a:off x="5312664"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fa freddo</a:t>
            </a:r>
            <a:endParaRPr lang="en-US" sz="1000" dirty="0"/>
          </a:p>
        </p:txBody>
      </p:sp>
      <p:sp>
        <p:nvSpPr>
          <p:cNvPr id="40" name="cd_84"/>
          <p:cNvSpPr/>
          <p:nvPr/>
        </p:nvSpPr>
        <p:spPr>
          <a:xfrm>
            <a:off x="6821424" y="224028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41" name="e_85"/>
          <p:cNvSpPr/>
          <p:nvPr/>
        </p:nvSpPr>
        <p:spPr>
          <a:xfrm>
            <a:off x="6894576" y="235000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2" name="en_86"/>
          <p:cNvSpPr/>
          <p:nvPr/>
        </p:nvSpPr>
        <p:spPr>
          <a:xfrm>
            <a:off x="7479792" y="229514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It's snowing.</a:t>
            </a:r>
            <a:endParaRPr lang="en-US" sz="1200" dirty="0"/>
          </a:p>
        </p:txBody>
      </p:sp>
      <p:sp>
        <p:nvSpPr>
          <p:cNvPr id="43" name="R8_it87"/>
          <p:cNvSpPr/>
          <p:nvPr/>
        </p:nvSpPr>
        <p:spPr>
          <a:xfrm>
            <a:off x="7479792" y="262432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nevica</a:t>
            </a:r>
            <a:endParaRPr lang="en-US" sz="1000" dirty="0"/>
          </a:p>
        </p:txBody>
      </p:sp>
      <p:sp>
        <p:nvSpPr>
          <p:cNvPr id="44" name="cd_88"/>
          <p:cNvSpPr/>
          <p:nvPr/>
        </p:nvSpPr>
        <p:spPr>
          <a:xfrm>
            <a:off x="320040" y="3063240"/>
            <a:ext cx="2075688" cy="731520"/>
          </a:xfrm>
          <a:prstGeom prst="roundRect">
            <a:avLst>
              <a:gd name="adj" fmla="val 17500"/>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45" name="e_89"/>
          <p:cNvSpPr/>
          <p:nvPr/>
        </p:nvSpPr>
        <p:spPr>
          <a:xfrm>
            <a:off x="393192" y="317296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6" name="en_90"/>
          <p:cNvSpPr/>
          <p:nvPr/>
        </p:nvSpPr>
        <p:spPr>
          <a:xfrm>
            <a:off x="978408"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spring</a:t>
            </a:r>
            <a:endParaRPr lang="en-US" sz="1200" dirty="0"/>
          </a:p>
        </p:txBody>
      </p:sp>
      <p:sp>
        <p:nvSpPr>
          <p:cNvPr id="47" name="R9_it91"/>
          <p:cNvSpPr/>
          <p:nvPr/>
        </p:nvSpPr>
        <p:spPr>
          <a:xfrm>
            <a:off x="978408"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primavera</a:t>
            </a:r>
            <a:endParaRPr lang="en-US" sz="1000" dirty="0"/>
          </a:p>
        </p:txBody>
      </p:sp>
      <p:sp>
        <p:nvSpPr>
          <p:cNvPr id="48" name="cd_92"/>
          <p:cNvSpPr/>
          <p:nvPr/>
        </p:nvSpPr>
        <p:spPr>
          <a:xfrm>
            <a:off x="2487168" y="3063240"/>
            <a:ext cx="2075688" cy="731520"/>
          </a:xfrm>
          <a:prstGeom prst="roundRect">
            <a:avLst>
              <a:gd name="adj" fmla="val 17500"/>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49" name="e_93"/>
          <p:cNvSpPr/>
          <p:nvPr/>
        </p:nvSpPr>
        <p:spPr>
          <a:xfrm>
            <a:off x="2560320" y="317296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0" name="en_94"/>
          <p:cNvSpPr/>
          <p:nvPr/>
        </p:nvSpPr>
        <p:spPr>
          <a:xfrm>
            <a:off x="3145536"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summer</a:t>
            </a:r>
            <a:endParaRPr lang="en-US" sz="1200" dirty="0"/>
          </a:p>
        </p:txBody>
      </p:sp>
      <p:sp>
        <p:nvSpPr>
          <p:cNvPr id="51" name="R10_it95"/>
          <p:cNvSpPr/>
          <p:nvPr/>
        </p:nvSpPr>
        <p:spPr>
          <a:xfrm>
            <a:off x="3145536"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estate</a:t>
            </a:r>
            <a:endParaRPr lang="en-US" sz="1000" dirty="0"/>
          </a:p>
        </p:txBody>
      </p:sp>
      <p:sp>
        <p:nvSpPr>
          <p:cNvPr id="52" name="cd_96"/>
          <p:cNvSpPr/>
          <p:nvPr/>
        </p:nvSpPr>
        <p:spPr>
          <a:xfrm>
            <a:off x="4654296" y="3063240"/>
            <a:ext cx="2075688" cy="731520"/>
          </a:xfrm>
          <a:prstGeom prst="roundRect">
            <a:avLst>
              <a:gd name="adj" fmla="val 17500"/>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53" name="e_97"/>
          <p:cNvSpPr/>
          <p:nvPr/>
        </p:nvSpPr>
        <p:spPr>
          <a:xfrm>
            <a:off x="4727448" y="317296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4" name="en_98"/>
          <p:cNvSpPr/>
          <p:nvPr/>
        </p:nvSpPr>
        <p:spPr>
          <a:xfrm>
            <a:off x="5312664"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autumn</a:t>
            </a:r>
            <a:endParaRPr lang="en-US" sz="1200" dirty="0"/>
          </a:p>
        </p:txBody>
      </p:sp>
      <p:sp>
        <p:nvSpPr>
          <p:cNvPr id="55" name="R11_it99"/>
          <p:cNvSpPr/>
          <p:nvPr/>
        </p:nvSpPr>
        <p:spPr>
          <a:xfrm>
            <a:off x="5312664"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autunno</a:t>
            </a:r>
            <a:endParaRPr lang="en-US" sz="1000" dirty="0"/>
          </a:p>
        </p:txBody>
      </p:sp>
      <p:sp>
        <p:nvSpPr>
          <p:cNvPr id="56" name="cd_100"/>
          <p:cNvSpPr/>
          <p:nvPr/>
        </p:nvSpPr>
        <p:spPr>
          <a:xfrm>
            <a:off x="6821424" y="3063240"/>
            <a:ext cx="2075688" cy="731520"/>
          </a:xfrm>
          <a:prstGeom prst="roundRect">
            <a:avLst>
              <a:gd name="adj" fmla="val 17500"/>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57" name="e_101"/>
          <p:cNvSpPr/>
          <p:nvPr/>
        </p:nvSpPr>
        <p:spPr>
          <a:xfrm>
            <a:off x="6894576" y="317296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58" name="en_102"/>
          <p:cNvSpPr/>
          <p:nvPr/>
        </p:nvSpPr>
        <p:spPr>
          <a:xfrm>
            <a:off x="7479792" y="311810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winter</a:t>
            </a:r>
            <a:endParaRPr lang="en-US" sz="1200" dirty="0"/>
          </a:p>
        </p:txBody>
      </p:sp>
      <p:sp>
        <p:nvSpPr>
          <p:cNvPr id="59" name="R12_it103"/>
          <p:cNvSpPr/>
          <p:nvPr/>
        </p:nvSpPr>
        <p:spPr>
          <a:xfrm>
            <a:off x="7479792" y="3447288"/>
            <a:ext cx="1362456" cy="292608"/>
          </a:xfrm>
          <a:prstGeom prst="rect">
            <a:avLst/>
          </a:prstGeom>
          <a:noFill/>
          <a:ln/>
        </p:spPr>
        <p:txBody>
          <a:bodyPr wrap="square" lIns="0" tIns="0" rIns="0" bIns="0" rtlCol="0" anchor="ctr">
            <a:normAutofit/>
          </a:bodyPr>
          <a:lstStyle/>
          <a:p>
            <a:pPr indent="0" marL="0">
              <a:buNone/>
            </a:pPr>
            <a:r>
              <a:rPr lang="en-US" sz="1000" i="1" dirty="0">
                <a:solidFill>
                  <a:srgbClr val="2EB872"/>
                </a:solidFill>
                <a:latin typeface="Segoe UI Semibold" pitchFamily="34" charset="0"/>
                <a:ea typeface="Segoe UI Semibold" pitchFamily="34" charset="-122"/>
                <a:cs typeface="Segoe UI Semibold" pitchFamily="34" charset="-120"/>
              </a:rPr>
              <a:t>inverno</a:t>
            </a:r>
            <a:endParaRPr lang="en-US" sz="1000" dirty="0"/>
          </a:p>
        </p:txBody>
      </p:sp>
      <p:sp>
        <p:nvSpPr>
          <p:cNvPr id="60" name="ap_104"/>
          <p:cNvSpPr/>
          <p:nvPr/>
        </p:nvSpPr>
        <p:spPr>
          <a:xfrm>
            <a:off x="320040" y="4480560"/>
            <a:ext cx="201168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5.17</a:t>
            </a:r>
            <a:endParaRPr lang="en-US" sz="1100" dirty="0"/>
          </a:p>
        </p:txBody>
      </p:sp>
      <p:sp>
        <p:nvSpPr>
          <p:cNvPr id="61" name="R13_wc105"/>
          <p:cNvSpPr/>
          <p:nvPr/>
        </p:nvSpPr>
        <p:spPr>
          <a:xfrm>
            <a:off x="320040" y="3931920"/>
            <a:ext cx="8549640" cy="457200"/>
          </a:xfrm>
          <a:prstGeom prst="roundRect">
            <a:avLst>
              <a:gd name="adj" fmla="val 28000"/>
            </a:avLst>
          </a:prstGeom>
          <a:solidFill>
            <a:srgbClr val="FFE3EE"/>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62" name="R13_w106"/>
          <p:cNvSpPr/>
          <p:nvPr/>
        </p:nvSpPr>
        <p:spPr>
          <a:xfrm>
            <a:off x="457200" y="39319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What's the weather like? = How is the weather? (like = come, not 'piacere')   ·   It's raining / It's snowing (verbs, -ing) – but It's sunny / windy (adjectives)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fade">
                                      <p:cBhvr>
                                        <p:cTn id="32" dur="400"/>
                                        <p:tgtEl>
                                          <p:spTgt spid="35"/>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4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fade">
                                      <p:cBhvr>
                                        <p:cTn id="42" dur="4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7"/>
                                        </p:tgtEl>
                                        <p:attrNameLst>
                                          <p:attrName>style.visibility</p:attrName>
                                        </p:attrNameLst>
                                      </p:cBhvr>
                                      <p:to>
                                        <p:strVal val="visible"/>
                                      </p:to>
                                    </p:set>
                                    <p:animEffect transition="in" filter="fade">
                                      <p:cBhvr>
                                        <p:cTn id="47" dur="400"/>
                                        <p:tgtEl>
                                          <p:spTgt spid="4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1"/>
                                        </p:tgtEl>
                                        <p:attrNameLst>
                                          <p:attrName>style.visibility</p:attrName>
                                        </p:attrNameLst>
                                      </p:cBhvr>
                                      <p:to>
                                        <p:strVal val="visible"/>
                                      </p:to>
                                    </p:set>
                                    <p:animEffect transition="in" filter="fade">
                                      <p:cBhvr>
                                        <p:cTn id="52" dur="400"/>
                                        <p:tgtEl>
                                          <p:spTgt spid="51"/>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5"/>
                                        </p:tgtEl>
                                        <p:attrNameLst>
                                          <p:attrName>style.visibility</p:attrName>
                                        </p:attrNameLst>
                                      </p:cBhvr>
                                      <p:to>
                                        <p:strVal val="visible"/>
                                      </p:to>
                                    </p:set>
                                    <p:animEffect transition="in" filter="fade">
                                      <p:cBhvr>
                                        <p:cTn id="57" dur="400"/>
                                        <p:tgtEl>
                                          <p:spTgt spid="55"/>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59"/>
                                        </p:tgtEl>
                                        <p:attrNameLst>
                                          <p:attrName>style.visibility</p:attrName>
                                        </p:attrNameLst>
                                      </p:cBhvr>
                                      <p:to>
                                        <p:strVal val="visible"/>
                                      </p:to>
                                    </p:set>
                                    <p:animEffect transition="in" filter="fade">
                                      <p:cBhvr>
                                        <p:cTn id="62" dur="400"/>
                                        <p:tgtEl>
                                          <p:spTgt spid="59"/>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61"/>
                                        </p:tgtEl>
                                        <p:attrNameLst>
                                          <p:attrName>style.visibility</p:attrName>
                                        </p:attrNameLst>
                                      </p:cBhvr>
                                      <p:to>
                                        <p:strVal val="visible"/>
                                      </p:to>
                                    </p:set>
                                    <p:animEffect transition="in" filter="fade">
                                      <p:cBhvr>
                                        <p:cTn id="67" dur="400"/>
                                        <p:tgtEl>
                                          <p:spTgt spid="61"/>
                                        </p:tgtEl>
                                      </p:cBhvr>
                                    </p:animEffect>
                                  </p:childTnLst>
                                </p:cTn>
                              </p:par>
                              <p:par>
                                <p:cTn id="68" presetID="10" presetClass="entr" presetSubtype="0" fill="hold" nodeType="withEffect">
                                  <p:stCondLst>
                                    <p:cond delay="0"/>
                                  </p:stCondLst>
                                  <p:childTnLst>
                                    <p:set>
                                      <p:cBhvr>
                                        <p:cTn id="69" dur="1" fill="hold">
                                          <p:stCondLst>
                                            <p:cond delay="0"/>
                                          </p:stCondLst>
                                        </p:cTn>
                                        <p:tgtEl>
                                          <p:spTgt spid="62"/>
                                        </p:tgtEl>
                                        <p:attrNameLst>
                                          <p:attrName>style.visibility</p:attrName>
                                        </p:attrNameLst>
                                      </p:cBhvr>
                                      <p:to>
                                        <p:strVal val="visible"/>
                                      </p:to>
                                    </p:set>
                                    <p:animEffect transition="in" filter="fade">
                                      <p:cBhvr>
                                        <p:cTn id="70" dur="4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07"/>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108"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109"/>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London weather</a:t>
            </a:r>
            <a:endParaRPr lang="en-US" sz="2500" dirty="0"/>
          </a:p>
        </p:txBody>
      </p:sp>
      <p:pic>
        <p:nvPicPr>
          <p:cNvPr id="6" name="brP_11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1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Look at the forecast. Then listen to a travel guide: true or false? Say why.</a:t>
            </a:r>
            <a:endParaRPr lang="en-US" sz="1100" dirty="0"/>
          </a:p>
        </p:txBody>
      </p:sp>
      <p:sp>
        <p:nvSpPr>
          <p:cNvPr id="8" name="insIT_11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Guarda le previsioni. Poi ascolta una guida: vero o falso? Perché?</a:t>
            </a:r>
            <a:endParaRPr lang="en-US" sz="950" dirty="0"/>
          </a:p>
        </p:txBody>
      </p:sp>
      <p:sp>
        <p:nvSpPr>
          <p:cNvPr id="9" name="note_11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Listening · Controlled practice</a:t>
            </a:r>
            <a:endParaRPr lang="en-US" sz="1150" dirty="0"/>
          </a:p>
        </p:txBody>
      </p:sp>
      <p:pic>
        <p:nvPicPr>
          <p:cNvPr id="10" name="logo_11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1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Listening · the weather in London   ·   📖 SB p.42 · 1a, 1c, 1d · audio 5.19 (TG key + script p.120)</a:t>
            </a:r>
            <a:endParaRPr lang="en-US" sz="800" dirty="0"/>
          </a:p>
        </p:txBody>
      </p:sp>
      <p:sp>
        <p:nvSpPr>
          <p:cNvPr id="12" name="cd_116"/>
          <p:cNvSpPr/>
          <p:nvPr/>
        </p:nvSpPr>
        <p:spPr>
          <a:xfrm>
            <a:off x="320040" y="1417320"/>
            <a:ext cx="2697480" cy="1371600"/>
          </a:xfrm>
          <a:prstGeom prst="roundRect">
            <a:avLst>
              <a:gd name="adj" fmla="val 9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11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11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119"/>
          <p:cNvSpPr/>
          <p:nvPr/>
        </p:nvSpPr>
        <p:spPr>
          <a:xfrm>
            <a:off x="886968" y="1911096"/>
            <a:ext cx="2039112" cy="804672"/>
          </a:xfrm>
          <a:prstGeom prst="rect">
            <a:avLst/>
          </a:prstGeom>
          <a:noFill/>
          <a:ln/>
        </p:spPr>
        <p:txBody>
          <a:bodyPr wrap="square" lIns="0" tIns="0" rIns="0" bIns="0" rtlCol="0" anchor="t">
            <a:normAutofit/>
          </a:bodyPr>
          <a:lstStyle/>
          <a:p>
            <a:pPr indent="0" marL="0">
              <a:spcAft>
                <a:spcPts val="200"/>
              </a:spcAft>
              <a:buNone/>
            </a:pPr>
            <a:r>
              <a:rPr lang="en-US" sz="900" dirty="0">
                <a:solidFill>
                  <a:srgbClr val="1B2559"/>
                </a:solidFill>
                <a:latin typeface="Segoe UI Semibold" pitchFamily="34" charset="0"/>
                <a:ea typeface="Segoe UI Semibold" pitchFamily="34" charset="-122"/>
                <a:cs typeface="Segoe UI Semibold" pitchFamily="34" charset="-120"/>
              </a:rPr>
              <a:t>Forecast: max 21°, min 10° – probably summer (May–September). Typical: British weather is very changeable!</a:t>
            </a:r>
            <a:endParaRPr lang="en-US" sz="900" dirty="0"/>
          </a:p>
        </p:txBody>
      </p:sp>
      <p:sp>
        <p:nvSpPr>
          <p:cNvPr id="16" name="pf_120"/>
          <p:cNvSpPr/>
          <p:nvPr/>
        </p:nvSpPr>
        <p:spPr>
          <a:xfrm rot="-90000">
            <a:off x="1353758" y="2971800"/>
            <a:ext cx="630044" cy="1143000"/>
          </a:xfrm>
          <a:prstGeom prst="roundRect">
            <a:avLst>
              <a:gd name="adj" fmla="val 2467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121" descr="/home/claude/lls-course/v2/cache/red_5c_kew_jpg_130x253_31.png">    </p:cNvPr>
          <p:cNvPicPr>
            <a:picLocks noChangeAspect="1"/>
          </p:cNvPicPr>
          <p:nvPr/>
        </p:nvPicPr>
        <p:blipFill>
          <a:blip r:embed="rId5"/>
          <a:stretch>
            <a:fillRect/>
          </a:stretch>
        </p:blipFill>
        <p:spPr>
          <a:xfrm rot="-90000">
            <a:off x="1399478" y="3017520"/>
            <a:ext cx="538604" cy="1051560"/>
          </a:xfrm>
          <a:prstGeom prst="rect">
            <a:avLst/>
          </a:prstGeom>
        </p:spPr>
      </p:pic>
      <p:sp>
        <p:nvSpPr>
          <p:cNvPr id="18" name="ap_122"/>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5.19</a:t>
            </a:r>
            <a:endParaRPr lang="en-US" sz="1100" dirty="0"/>
          </a:p>
        </p:txBody>
      </p:sp>
      <p:sp>
        <p:nvSpPr>
          <p:cNvPr id="19" name="bd_123"/>
          <p:cNvSpPr/>
          <p:nvPr/>
        </p:nvSpPr>
        <p:spPr>
          <a:xfrm>
            <a:off x="3246120" y="14904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0" name="q_124"/>
          <p:cNvSpPr/>
          <p:nvPr/>
        </p:nvSpPr>
        <p:spPr>
          <a:xfrm>
            <a:off x="3630168" y="141732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It's often very hot or very cold.</a:t>
            </a:r>
            <a:endParaRPr lang="en-US" sz="900" dirty="0"/>
          </a:p>
        </p:txBody>
      </p:sp>
      <p:sp>
        <p:nvSpPr>
          <p:cNvPr id="21" name="R1_chip125"/>
          <p:cNvSpPr/>
          <p:nvPr/>
        </p:nvSpPr>
        <p:spPr>
          <a:xfrm>
            <a:off x="5806440" y="14173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'It isn't usually very hot or very cold.'</a:t>
            </a:r>
            <a:endParaRPr lang="en-US" sz="1050" dirty="0"/>
          </a:p>
        </p:txBody>
      </p:sp>
      <p:sp>
        <p:nvSpPr>
          <p:cNvPr id="22" name="bd_126"/>
          <p:cNvSpPr/>
          <p:nvPr/>
        </p:nvSpPr>
        <p:spPr>
          <a:xfrm>
            <a:off x="3246120" y="199339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3" name="q_127"/>
          <p:cNvSpPr/>
          <p:nvPr/>
        </p:nvSpPr>
        <p:spPr>
          <a:xfrm>
            <a:off x="3630168" y="192024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The normal temperature in the summer is 22°C.</a:t>
            </a:r>
            <a:endParaRPr lang="en-US" sz="900" dirty="0"/>
          </a:p>
        </p:txBody>
      </p:sp>
      <p:sp>
        <p:nvSpPr>
          <p:cNvPr id="24" name="R2_chip128"/>
          <p:cNvSpPr/>
          <p:nvPr/>
        </p:nvSpPr>
        <p:spPr>
          <a:xfrm>
            <a:off x="5806440" y="192024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a:t>
            </a:r>
            <a:endParaRPr lang="en-US" sz="1050" dirty="0"/>
          </a:p>
        </p:txBody>
      </p:sp>
      <p:sp>
        <p:nvSpPr>
          <p:cNvPr id="25" name="bd_129"/>
          <p:cNvSpPr/>
          <p:nvPr/>
        </p:nvSpPr>
        <p:spPr>
          <a:xfrm>
            <a:off x="3246120" y="24963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6" name="q_130"/>
          <p:cNvSpPr/>
          <p:nvPr/>
        </p:nvSpPr>
        <p:spPr>
          <a:xfrm>
            <a:off x="3630168" y="2423160"/>
            <a:ext cx="2103120" cy="457200"/>
          </a:xfrm>
          <a:prstGeom prst="roundRect">
            <a:avLst>
              <a:gd name="adj" fmla="val 20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It often snows in the winter.</a:t>
            </a:r>
            <a:endParaRPr lang="en-US" sz="900" dirty="0"/>
          </a:p>
        </p:txBody>
      </p:sp>
      <p:sp>
        <p:nvSpPr>
          <p:cNvPr id="27" name="R3_chip131"/>
          <p:cNvSpPr/>
          <p:nvPr/>
        </p:nvSpPr>
        <p:spPr>
          <a:xfrm>
            <a:off x="5806440" y="242316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'It hardly ever snows.'</a:t>
            </a:r>
            <a:endParaRPr lang="en-US" sz="1050" dirty="0"/>
          </a:p>
        </p:txBody>
      </p:sp>
      <p:sp>
        <p:nvSpPr>
          <p:cNvPr id="28" name="bd_132"/>
          <p:cNvSpPr/>
          <p:nvPr/>
        </p:nvSpPr>
        <p:spPr>
          <a:xfrm>
            <a:off x="3246120" y="299923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9" name="q_133"/>
          <p:cNvSpPr/>
          <p:nvPr/>
        </p:nvSpPr>
        <p:spPr>
          <a:xfrm>
            <a:off x="3630168" y="2926080"/>
            <a:ext cx="2103120" cy="457200"/>
          </a:xfrm>
          <a:prstGeom prst="roundRect">
            <a:avLst>
              <a:gd name="adj" fmla="val 20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In spring and autumn the weather changes a lot.</a:t>
            </a:r>
            <a:endParaRPr lang="en-US" sz="900" dirty="0"/>
          </a:p>
        </p:txBody>
      </p:sp>
      <p:sp>
        <p:nvSpPr>
          <p:cNvPr id="30" name="R4_chip134"/>
          <p:cNvSpPr/>
          <p:nvPr/>
        </p:nvSpPr>
        <p:spPr>
          <a:xfrm>
            <a:off x="5806440" y="292608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T – 'all the four seasons in one day!'</a:t>
            </a:r>
            <a:endParaRPr lang="en-US" sz="1050" dirty="0"/>
          </a:p>
        </p:txBody>
      </p:sp>
      <p:sp>
        <p:nvSpPr>
          <p:cNvPr id="31" name="bd_135"/>
          <p:cNvSpPr/>
          <p:nvPr/>
        </p:nvSpPr>
        <p:spPr>
          <a:xfrm>
            <a:off x="3246120" y="35021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2" name="q_136"/>
          <p:cNvSpPr/>
          <p:nvPr/>
        </p:nvSpPr>
        <p:spPr>
          <a:xfrm>
            <a:off x="3630168" y="3429000"/>
            <a:ext cx="2103120" cy="457200"/>
          </a:xfrm>
          <a:prstGeom prst="roundRect">
            <a:avLst>
              <a:gd name="adj" fmla="val 20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It's often grey and foggy in the city centre.</a:t>
            </a:r>
            <a:endParaRPr lang="en-US" sz="900" dirty="0"/>
          </a:p>
        </p:txBody>
      </p:sp>
      <p:sp>
        <p:nvSpPr>
          <p:cNvPr id="33" name="R5_chip137"/>
          <p:cNvSpPr/>
          <p:nvPr/>
        </p:nvSpPr>
        <p:spPr>
          <a:xfrm>
            <a:off x="5806440" y="342900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F – 'Today the air is clean and it's hardly ever foggy.'</a:t>
            </a:r>
            <a:endParaRPr lang="en-US" sz="1050" dirty="0"/>
          </a:p>
        </p:txBody>
      </p:sp>
      <p:sp>
        <p:nvSpPr>
          <p:cNvPr id="34" name="bd_138"/>
          <p:cNvSpPr/>
          <p:nvPr/>
        </p:nvSpPr>
        <p:spPr>
          <a:xfrm>
            <a:off x="3246120" y="400507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5" name="q_139"/>
          <p:cNvSpPr/>
          <p:nvPr/>
        </p:nvSpPr>
        <p:spPr>
          <a:xfrm>
            <a:off x="3630168" y="3931920"/>
            <a:ext cx="2103120" cy="457200"/>
          </a:xfrm>
          <a:prstGeom prst="roundRect">
            <a:avLst>
              <a:gd name="adj" fmla="val 20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00" b="1" dirty="0">
                <a:solidFill>
                  <a:srgbClr val="1B2559"/>
                </a:solidFill>
                <a:latin typeface="Segoe UI Semibold" pitchFamily="34" charset="0"/>
                <a:ea typeface="Segoe UI Semibold" pitchFamily="34" charset="-122"/>
                <a:cs typeface="Segoe UI Semibold" pitchFamily="34" charset="-120"/>
              </a:rPr>
              <a:t>What's the weather like where you live in different seasons?</a:t>
            </a:r>
            <a:endParaRPr lang="en-US" sz="900" dirty="0"/>
          </a:p>
        </p:txBody>
      </p:sp>
      <p:sp>
        <p:nvSpPr>
          <p:cNvPr id="36" name="R6_chip140"/>
          <p:cNvSpPr/>
          <p:nvPr/>
        </p:nvSpPr>
        <p:spPr>
          <a:xfrm>
            <a:off x="5806440" y="3931920"/>
            <a:ext cx="3063240" cy="457200"/>
          </a:xfrm>
          <a:prstGeom prst="roundRect">
            <a:avLst>
              <a:gd name="adj" fmla="val 20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In Bagheria it's very hot in summer and it hardly ever snows!</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4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6"/>
                                        </p:tgtEl>
                                        <p:attrNameLst>
                                          <p:attrName>style.visibility</p:attrName>
                                        </p:attrNameLst>
                                      </p:cBhvr>
                                      <p:to>
                                        <p:strVal val="visible"/>
                                      </p:to>
                                    </p:set>
                                    <p:animEffect transition="in" filter="fade">
                                      <p:cBhvr>
                                        <p:cTn id="32"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41"/>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42"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143"/>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It never snows here!</a:t>
            </a:r>
            <a:endParaRPr lang="en-US" sz="2500" dirty="0"/>
          </a:p>
        </p:txBody>
      </p:sp>
      <p:pic>
        <p:nvPicPr>
          <p:cNvPr id="6" name="brP_14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14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the messages. Why are Tim and Jane sad? Then look at the verbs: simple or continuous – why?</a:t>
            </a:r>
            <a:endParaRPr lang="en-US" sz="1100" dirty="0"/>
          </a:p>
        </p:txBody>
      </p:sp>
      <p:sp>
        <p:nvSpPr>
          <p:cNvPr id="8" name="insIT_14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 messaggi. Perché Tim e Jane sono tristi? Poi guarda i verbi.</a:t>
            </a:r>
            <a:endParaRPr lang="en-US" sz="950" dirty="0"/>
          </a:p>
        </p:txBody>
      </p:sp>
      <p:sp>
        <p:nvSpPr>
          <p:cNvPr id="9" name="note_14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THINK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4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4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Grammar · present simple or continuous?   ·   📖 SB p.42 · 2a, 2b (TG key)</a:t>
            </a:r>
            <a:endParaRPr lang="en-US" sz="800" dirty="0"/>
          </a:p>
        </p:txBody>
      </p:sp>
      <p:sp>
        <p:nvSpPr>
          <p:cNvPr id="12" name="pf_150"/>
          <p:cNvSpPr/>
          <p:nvPr/>
        </p:nvSpPr>
        <p:spPr>
          <a:xfrm rot="-120000">
            <a:off x="1272731" y="1371600"/>
            <a:ext cx="883539" cy="1325880"/>
          </a:xfrm>
          <a:prstGeom prst="roundRect">
            <a:avLst>
              <a:gd name="adj" fmla="val 1759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151" descr="/home/claude/lls-course/v2/cache/red_5c_snow_jpg_191x297_31.png">    </p:cNvPr>
          <p:cNvPicPr>
            <a:picLocks noChangeAspect="1"/>
          </p:cNvPicPr>
          <p:nvPr/>
        </p:nvPicPr>
        <p:blipFill>
          <a:blip r:embed="rId5"/>
          <a:stretch>
            <a:fillRect/>
          </a:stretch>
        </p:blipFill>
        <p:spPr>
          <a:xfrm rot="-120000">
            <a:off x="1318451" y="1417320"/>
            <a:ext cx="792099" cy="1234440"/>
          </a:xfrm>
          <a:prstGeom prst="rect">
            <a:avLst/>
          </a:prstGeom>
        </p:spPr>
      </p:pic>
      <p:sp>
        <p:nvSpPr>
          <p:cNvPr id="14" name="cd_152"/>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153"/>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54"/>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155"/>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MIKE: View from my window this morning. It's snowing. Hooray! I love winter!</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TIM: Lucky you! I love the snow. It never snows here in Valencia. ☹</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JANE: We're in Mexico – Cancún – but it's raining! ☹</a:t>
            </a:r>
            <a:endParaRPr lang="en-US" sz="700" dirty="0"/>
          </a:p>
          <a:p>
            <a:pPr marL="152400" indent="-152400">
              <a:spcBef>
                <a:spcPts val="600"/>
              </a:spcBef>
              <a:spcAft>
                <a:spcPts val="200"/>
              </a:spcAft>
              <a:buSzPct val="100000"/>
              <a:buChar char="•"/>
            </a:pPr>
            <a:r>
              <a:rPr lang="en-US" sz="700" dirty="0">
                <a:solidFill>
                  <a:srgbClr val="1B2559"/>
                </a:solidFill>
                <a:latin typeface="Segoe UI Semibold" pitchFamily="34" charset="0"/>
                <a:ea typeface="Segoe UI Semibold" pitchFamily="34" charset="-122"/>
                <a:cs typeface="Segoe UI Semibold" pitchFamily="34" charset="-120"/>
              </a:rPr>
              <a:t>LIZZIE: Poor you! Does it often rain there in March? I'm walking home, and it's a beautiful evening – the sun's shining. Sorry!</a:t>
            </a:r>
            <a:endParaRPr lang="en-US" sz="700" dirty="0"/>
          </a:p>
        </p:txBody>
      </p:sp>
      <p:sp>
        <p:nvSpPr>
          <p:cNvPr id="18" name="R1_qb156"/>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157"/>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Why is Tim sad?</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He loves snow, but he lives in Valencia and it never snows there.</a:t>
            </a:r>
            <a:endParaRPr lang="en-US" sz="1200" dirty="0"/>
          </a:p>
        </p:txBody>
      </p:sp>
      <p:sp>
        <p:nvSpPr>
          <p:cNvPr id="20" name="R2_qb158"/>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159"/>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Why is Jane sad?</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She's on holiday in Cancún, but it's raining.</a:t>
            </a:r>
            <a:endParaRPr lang="en-US" sz="1200" dirty="0"/>
          </a:p>
        </p:txBody>
      </p:sp>
      <p:sp>
        <p:nvSpPr>
          <p:cNvPr id="22" name="R3_qb160"/>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161"/>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When do we use the present simple?</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For things that are normally true: It never snows here.</a:t>
            </a:r>
            <a:endParaRPr lang="en-US" sz="1200" dirty="0"/>
          </a:p>
        </p:txBody>
      </p:sp>
      <p:sp>
        <p:nvSpPr>
          <p:cNvPr id="24" name="R4_qb162"/>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163"/>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When do we use the present continuous?</a:t>
            </a:r>
            <a:endParaRPr lang="en-US" sz="1200" dirty="0"/>
          </a:p>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e.g. For things happening now: It's snowing. I'm walking home.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64"/>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65"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166"/>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Usually… but now!</a:t>
            </a:r>
            <a:endParaRPr lang="en-US" sz="2500" dirty="0"/>
          </a:p>
        </p:txBody>
      </p:sp>
      <p:pic>
        <p:nvPicPr>
          <p:cNvPr id="6" name="brP_167"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168"/>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Every day or now? Say the sentence, then click!</a:t>
            </a:r>
            <a:endParaRPr lang="en-US" sz="1250" dirty="0"/>
          </a:p>
        </p:txBody>
      </p:sp>
      <p:sp>
        <p:nvSpPr>
          <p:cNvPr id="8" name="insIT_169"/>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Ogni giorno o adesso? Di' la frase, poi clicca!</a:t>
            </a:r>
            <a:endParaRPr lang="en-US" sz="950" dirty="0"/>
          </a:p>
        </p:txBody>
      </p:sp>
      <p:sp>
        <p:nvSpPr>
          <p:cNvPr id="9" name="note_170"/>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LOOK</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4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Communicative</a:t>
            </a:r>
            <a:endParaRPr lang="en-US" sz="1150" dirty="0"/>
          </a:p>
        </p:txBody>
      </p:sp>
      <p:pic>
        <p:nvPicPr>
          <p:cNvPr id="10" name="logo_17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17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Grammar Bank 5C · the rule   ·   📖 Grammar Bank 5C p.132 · audio 5.20 (TG grammar notes)</a:t>
            </a:r>
            <a:endParaRPr lang="en-US" sz="800" dirty="0"/>
          </a:p>
        </p:txBody>
      </p:sp>
      <p:sp>
        <p:nvSpPr>
          <p:cNvPr id="12" name="cvl_173"/>
          <p:cNvSpPr/>
          <p:nvPr/>
        </p:nvSpPr>
        <p:spPr>
          <a:xfrm>
            <a:off x="320040" y="14173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It / snow here in winter (always)</a:t>
            </a:r>
            <a:endParaRPr lang="en-US" sz="1250" dirty="0"/>
          </a:p>
        </p:txBody>
      </p:sp>
      <p:sp>
        <p:nvSpPr>
          <p:cNvPr id="13" name="cva_174"/>
          <p:cNvSpPr/>
          <p:nvPr/>
        </p:nvSpPr>
        <p:spPr>
          <a:xfrm>
            <a:off x="3364992" y="14173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usually</a:t>
            </a:r>
            <a:endParaRPr lang="en-US" sz="1000" dirty="0"/>
          </a:p>
        </p:txBody>
      </p:sp>
      <p:sp>
        <p:nvSpPr>
          <p:cNvPr id="14" name="R1_cvb175"/>
          <p:cNvSpPr/>
          <p:nvPr/>
        </p:nvSpPr>
        <p:spPr>
          <a:xfrm>
            <a:off x="4443984" y="14173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simple</a:t>
            </a:r>
            <a:endParaRPr lang="en-US" sz="1000" dirty="0"/>
          </a:p>
        </p:txBody>
      </p:sp>
      <p:sp>
        <p:nvSpPr>
          <p:cNvPr id="15" name="R1_cvr176"/>
          <p:cNvSpPr/>
          <p:nvPr/>
        </p:nvSpPr>
        <p:spPr>
          <a:xfrm>
            <a:off x="5541264" y="14173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It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always snows</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here in winter.</a:t>
            </a:r>
            <a:endParaRPr lang="en-US" sz="1250" dirty="0"/>
          </a:p>
        </p:txBody>
      </p:sp>
      <p:sp>
        <p:nvSpPr>
          <p:cNvPr id="16" name="cvl_177"/>
          <p:cNvSpPr/>
          <p:nvPr/>
        </p:nvSpPr>
        <p:spPr>
          <a:xfrm>
            <a:off x="320040" y="192024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Look! It / snow</a:t>
            </a:r>
            <a:endParaRPr lang="en-US" sz="1250" dirty="0"/>
          </a:p>
        </p:txBody>
      </p:sp>
      <p:sp>
        <p:nvSpPr>
          <p:cNvPr id="17" name="cva_178"/>
          <p:cNvSpPr/>
          <p:nvPr/>
        </p:nvSpPr>
        <p:spPr>
          <a:xfrm>
            <a:off x="3364992" y="192024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now</a:t>
            </a:r>
            <a:endParaRPr lang="en-US" sz="1000" dirty="0"/>
          </a:p>
        </p:txBody>
      </p:sp>
      <p:sp>
        <p:nvSpPr>
          <p:cNvPr id="18" name="R2_cvb179"/>
          <p:cNvSpPr/>
          <p:nvPr/>
        </p:nvSpPr>
        <p:spPr>
          <a:xfrm>
            <a:off x="4443984" y="192024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continuous</a:t>
            </a:r>
            <a:endParaRPr lang="en-US" sz="1000" dirty="0"/>
          </a:p>
        </p:txBody>
      </p:sp>
      <p:sp>
        <p:nvSpPr>
          <p:cNvPr id="19" name="R2_cvr180"/>
          <p:cNvSpPr/>
          <p:nvPr/>
        </p:nvSpPr>
        <p:spPr>
          <a:xfrm>
            <a:off x="5541264" y="192024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Look! It</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's snowing</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a:t>
            </a:r>
            <a:endParaRPr lang="en-US" sz="1250" dirty="0"/>
          </a:p>
        </p:txBody>
      </p:sp>
      <p:sp>
        <p:nvSpPr>
          <p:cNvPr id="20" name="cvl_181"/>
          <p:cNvSpPr/>
          <p:nvPr/>
        </p:nvSpPr>
        <p:spPr>
          <a:xfrm>
            <a:off x="320040" y="242316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What / you / usually do at work?</a:t>
            </a:r>
            <a:endParaRPr lang="en-US" sz="1250" dirty="0"/>
          </a:p>
        </p:txBody>
      </p:sp>
      <p:sp>
        <p:nvSpPr>
          <p:cNvPr id="21" name="cva_182"/>
          <p:cNvSpPr/>
          <p:nvPr/>
        </p:nvSpPr>
        <p:spPr>
          <a:xfrm>
            <a:off x="3364992" y="242316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usually</a:t>
            </a:r>
            <a:endParaRPr lang="en-US" sz="1000" dirty="0"/>
          </a:p>
        </p:txBody>
      </p:sp>
      <p:sp>
        <p:nvSpPr>
          <p:cNvPr id="22" name="R3_cvb183"/>
          <p:cNvSpPr/>
          <p:nvPr/>
        </p:nvSpPr>
        <p:spPr>
          <a:xfrm>
            <a:off x="4443984" y="242316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simple</a:t>
            </a:r>
            <a:endParaRPr lang="en-US" sz="1000" dirty="0"/>
          </a:p>
        </p:txBody>
      </p:sp>
      <p:sp>
        <p:nvSpPr>
          <p:cNvPr id="23" name="R3_cvr184"/>
          <p:cNvSpPr/>
          <p:nvPr/>
        </p:nvSpPr>
        <p:spPr>
          <a:xfrm>
            <a:off x="5541264" y="242316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What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do</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you usually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do</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at work?</a:t>
            </a:r>
            <a:endParaRPr lang="en-US" sz="1250" dirty="0"/>
          </a:p>
        </p:txBody>
      </p:sp>
      <p:sp>
        <p:nvSpPr>
          <p:cNvPr id="24" name="cvl_185"/>
          <p:cNvSpPr/>
          <p:nvPr/>
        </p:nvSpPr>
        <p:spPr>
          <a:xfrm>
            <a:off x="320040" y="292608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What / you / do now?</a:t>
            </a:r>
            <a:endParaRPr lang="en-US" sz="1250" dirty="0"/>
          </a:p>
        </p:txBody>
      </p:sp>
      <p:sp>
        <p:nvSpPr>
          <p:cNvPr id="25" name="cva_186"/>
          <p:cNvSpPr/>
          <p:nvPr/>
        </p:nvSpPr>
        <p:spPr>
          <a:xfrm>
            <a:off x="3364992" y="292608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now</a:t>
            </a:r>
            <a:endParaRPr lang="en-US" sz="1000" dirty="0"/>
          </a:p>
        </p:txBody>
      </p:sp>
      <p:sp>
        <p:nvSpPr>
          <p:cNvPr id="26" name="R4_cvb187"/>
          <p:cNvSpPr/>
          <p:nvPr/>
        </p:nvSpPr>
        <p:spPr>
          <a:xfrm>
            <a:off x="4443984" y="292608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continuous</a:t>
            </a:r>
            <a:endParaRPr lang="en-US" sz="1000" dirty="0"/>
          </a:p>
        </p:txBody>
      </p:sp>
      <p:sp>
        <p:nvSpPr>
          <p:cNvPr id="27" name="R4_cvr188"/>
          <p:cNvSpPr/>
          <p:nvPr/>
        </p:nvSpPr>
        <p:spPr>
          <a:xfrm>
            <a:off x="5541264" y="292608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What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are</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you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doing</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now?</a:t>
            </a:r>
            <a:endParaRPr lang="en-US" sz="1250" dirty="0"/>
          </a:p>
        </p:txBody>
      </p:sp>
      <p:sp>
        <p:nvSpPr>
          <p:cNvPr id="28" name="cvl_189"/>
          <p:cNvSpPr/>
          <p:nvPr/>
        </p:nvSpPr>
        <p:spPr>
          <a:xfrm>
            <a:off x="320040" y="342900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My sister / work in a bank</a:t>
            </a:r>
            <a:endParaRPr lang="en-US" sz="1250" dirty="0"/>
          </a:p>
        </p:txBody>
      </p:sp>
      <p:sp>
        <p:nvSpPr>
          <p:cNvPr id="29" name="cva_190"/>
          <p:cNvSpPr/>
          <p:nvPr/>
        </p:nvSpPr>
        <p:spPr>
          <a:xfrm>
            <a:off x="3364992" y="342900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usually</a:t>
            </a:r>
            <a:endParaRPr lang="en-US" sz="1000" dirty="0"/>
          </a:p>
        </p:txBody>
      </p:sp>
      <p:sp>
        <p:nvSpPr>
          <p:cNvPr id="30" name="R5_cvb191"/>
          <p:cNvSpPr/>
          <p:nvPr/>
        </p:nvSpPr>
        <p:spPr>
          <a:xfrm>
            <a:off x="4443984" y="342900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simple</a:t>
            </a:r>
            <a:endParaRPr lang="en-US" sz="1000" dirty="0"/>
          </a:p>
        </p:txBody>
      </p:sp>
      <p:sp>
        <p:nvSpPr>
          <p:cNvPr id="31" name="R5_cvr192"/>
          <p:cNvSpPr/>
          <p:nvPr/>
        </p:nvSpPr>
        <p:spPr>
          <a:xfrm>
            <a:off x="5541264" y="342900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My sister </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works</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in a bank.</a:t>
            </a:r>
            <a:endParaRPr lang="en-US" sz="1250" dirty="0"/>
          </a:p>
        </p:txBody>
      </p:sp>
      <p:sp>
        <p:nvSpPr>
          <p:cNvPr id="32" name="cvl_193"/>
          <p:cNvSpPr/>
          <p:nvPr/>
        </p:nvSpPr>
        <p:spPr>
          <a:xfrm>
            <a:off x="320040" y="3931920"/>
            <a:ext cx="2971800" cy="457200"/>
          </a:xfrm>
          <a:prstGeom prst="leftArrow">
            <a:avLst/>
          </a:prstGeom>
          <a:solidFill>
            <a:srgbClr val="E3F1FD"/>
          </a:solidFill>
          <a:ln w="28575">
            <a:solidFill>
              <a:srgbClr val="A9D3F5"/>
            </a:solidFill>
          </a:ln>
        </p:spPr>
        <p:txBody>
          <a:bodyPr wrap="square" lIns="177800" tIns="0" rIns="762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Today she / work at home</a:t>
            </a:r>
            <a:endParaRPr lang="en-US" sz="1250" dirty="0"/>
          </a:p>
        </p:txBody>
      </p:sp>
      <p:sp>
        <p:nvSpPr>
          <p:cNvPr id="33" name="cva_194"/>
          <p:cNvSpPr/>
          <p:nvPr/>
        </p:nvSpPr>
        <p:spPr>
          <a:xfrm>
            <a:off x="3364992" y="3931920"/>
            <a:ext cx="1024128" cy="457200"/>
          </a:xfrm>
          <a:prstGeom prst="roundRect">
            <a:avLst>
              <a:gd name="adj" fmla="val 12000"/>
            </a:avLst>
          </a:prstGeom>
          <a:solidFill>
            <a:srgbClr val="FFFFFF"/>
          </a:solidFill>
          <a:ln w="28575">
            <a:solidFill>
              <a:srgbClr val="A9D3F5"/>
            </a:solidFill>
          </a:ln>
        </p:spPr>
        <p:txBody>
          <a:bodyPr wrap="square" lIns="0" tIns="0" rIns="0" bIns="0" rtlCol="0" anchor="ctr">
            <a:normAutofit/>
          </a:bodyPr>
          <a:lstStyle/>
          <a:p>
            <a:pPr algn="ctr" indent="0" marL="0">
              <a:buNone/>
            </a:pPr>
            <a:r>
              <a:rPr lang="en-US" sz="1000" b="1" dirty="0">
                <a:solidFill>
                  <a:srgbClr val="2F8DE4"/>
                </a:solidFill>
                <a:latin typeface="Arial Rounded MT Bold" pitchFamily="34" charset="0"/>
                <a:ea typeface="Arial Rounded MT Bold" pitchFamily="34" charset="-122"/>
                <a:cs typeface="Arial Rounded MT Bold" pitchFamily="34" charset="-120"/>
              </a:rPr>
              <a:t>now / today</a:t>
            </a:r>
            <a:endParaRPr lang="en-US" sz="1000" dirty="0"/>
          </a:p>
        </p:txBody>
      </p:sp>
      <p:sp>
        <p:nvSpPr>
          <p:cNvPr id="34" name="R6_cvb195"/>
          <p:cNvSpPr/>
          <p:nvPr/>
        </p:nvSpPr>
        <p:spPr>
          <a:xfrm>
            <a:off x="4443984" y="3931920"/>
            <a:ext cx="1024128" cy="457200"/>
          </a:xfrm>
          <a:prstGeom prst="roundRect">
            <a:avLst>
              <a:gd name="adj" fmla="val 12000"/>
            </a:avLst>
          </a:prstGeom>
          <a:solidFill>
            <a:srgbClr val="FFFFFF"/>
          </a:solidFill>
          <a:ln w="28575">
            <a:solidFill>
              <a:srgbClr val="F7A6C4"/>
            </a:solidFill>
          </a:ln>
        </p:spPr>
        <p:txBody>
          <a:bodyPr wrap="square" lIns="0" tIns="0" rIns="0" bIns="0" rtlCol="0" anchor="ctr">
            <a:normAutofit/>
          </a:bodyPr>
          <a:lstStyle/>
          <a:p>
            <a:pPr algn="ctr" indent="0" marL="0">
              <a:buNone/>
            </a:pPr>
            <a:r>
              <a:rPr lang="en-US" sz="1000" b="1" dirty="0">
                <a:solidFill>
                  <a:srgbClr val="E8508F"/>
                </a:solidFill>
                <a:latin typeface="Arial Rounded MT Bold" pitchFamily="34" charset="0"/>
                <a:ea typeface="Arial Rounded MT Bold" pitchFamily="34" charset="-122"/>
                <a:cs typeface="Arial Rounded MT Bold" pitchFamily="34" charset="-120"/>
              </a:rPr>
              <a:t>continuous</a:t>
            </a:r>
            <a:endParaRPr lang="en-US" sz="1000" dirty="0"/>
          </a:p>
        </p:txBody>
      </p:sp>
      <p:sp>
        <p:nvSpPr>
          <p:cNvPr id="35" name="R6_cvr196"/>
          <p:cNvSpPr/>
          <p:nvPr/>
        </p:nvSpPr>
        <p:spPr>
          <a:xfrm>
            <a:off x="5541264" y="3931920"/>
            <a:ext cx="3328416" cy="457200"/>
          </a:xfrm>
          <a:prstGeom prst="rightArrow">
            <a:avLst/>
          </a:prstGeom>
          <a:solidFill>
            <a:srgbClr val="FFE3EE"/>
          </a:solidFill>
          <a:ln w="28575">
            <a:solidFill>
              <a:srgbClr val="F7A6C4"/>
            </a:solidFill>
          </a:ln>
        </p:spPr>
        <p:txBody>
          <a:bodyPr wrap="square" lIns="76200" tIns="0" rIns="177800" bIns="0" rtlCol="0" anchor="ctr">
            <a:normAutofit/>
          </a:bodyPr>
          <a:lstStyle/>
          <a:p>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Today she</a:t>
            </a:r>
            <a:pPr algn="ctr" indent="0" marL="0">
              <a:buNone/>
            </a:pPr>
            <a:r>
              <a:rPr lang="en-US" sz="1250" b="1" dirty="0">
                <a:solidFill>
                  <a:srgbClr val="E8508F"/>
                </a:solidFill>
                <a:highlight>
                  <a:srgbClr val="FFF1A8"/>
                </a:highlight>
                <a:latin typeface="Segoe UI Semibold" pitchFamily="34" charset="0"/>
                <a:ea typeface="Segoe UI Semibold" pitchFamily="34" charset="-122"/>
                <a:cs typeface="Segoe UI Semibold" pitchFamily="34" charset="-120"/>
              </a:rPr>
              <a:t>'s working</a:t>
            </a:r>
            <a:pPr algn="ctr" indent="0" marL="0">
              <a:buNone/>
            </a:pPr>
            <a:r>
              <a:rPr lang="en-US" sz="1250" dirty="0">
                <a:solidFill>
                  <a:srgbClr val="1B2559"/>
                </a:solidFill>
                <a:latin typeface="Segoe UI Semibold" pitchFamily="34" charset="0"/>
                <a:ea typeface="Segoe UI Semibold" pitchFamily="34" charset="-122"/>
                <a:cs typeface="Segoe UI Semibold" pitchFamily="34" charset="-120"/>
              </a:rPr>
              <a:t> at home.</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00"/>
                                        <p:tgtEl>
                                          <p:spTgt spid="1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400"/>
                                        <p:tgtEl>
                                          <p:spTgt spid="30"/>
                                        </p:tgtEl>
                                      </p:cBhvr>
                                    </p:animEffect>
                                  </p:childTnLst>
                                </p:cTn>
                              </p:par>
                              <p:par>
                                <p:cTn id="40" presetID="10" presetClass="entr" presetSubtype="0" fill="hold"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400"/>
                                        <p:tgtEl>
                                          <p:spTgt spid="3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400"/>
                                        <p:tgtEl>
                                          <p:spTgt spid="34"/>
                                        </p:tgtEl>
                                      </p:cBhvr>
                                    </p:animEffect>
                                  </p:childTnLst>
                                </p:cTn>
                              </p:par>
                              <p:par>
                                <p:cTn id="48" presetID="10" presetClass="entr" presetSubtype="0" fill="hold" nodeType="withEffect">
                                  <p:stCondLst>
                                    <p:cond delay="0"/>
                                  </p:stCondLst>
                                  <p:childTnLst>
                                    <p:set>
                                      <p:cBhvr>
                                        <p:cTn id="49" dur="1" fill="hold">
                                          <p:stCondLst>
                                            <p:cond delay="0"/>
                                          </p:stCondLst>
                                        </p:cTn>
                                        <p:tgtEl>
                                          <p:spTgt spid="35"/>
                                        </p:tgtEl>
                                        <p:attrNameLst>
                                          <p:attrName>style.visibility</p:attrName>
                                        </p:attrNameLst>
                                      </p:cBhvr>
                                      <p:to>
                                        <p:strVal val="visible"/>
                                      </p:to>
                                    </p:set>
                                    <p:animEffect transition="in" filter="fade">
                                      <p:cBhvr>
                                        <p:cTn id="50"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97"/>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98"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99"/>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Grammar Bank practice</a:t>
            </a:r>
            <a:endParaRPr lang="en-US" sz="2400" dirty="0"/>
          </a:p>
        </p:txBody>
      </p:sp>
      <p:pic>
        <p:nvPicPr>
          <p:cNvPr id="6" name="brP_200"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01"/>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Grammar Bank 5C b: present simple or continuous? Complete the conversations.</a:t>
            </a:r>
            <a:endParaRPr lang="en-US" sz="1100" dirty="0"/>
          </a:p>
        </p:txBody>
      </p:sp>
      <p:sp>
        <p:nvSpPr>
          <p:cNvPr id="8" name="insIT_202"/>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Grammar Bank 5C b: present simple o continuous? Completa.</a:t>
            </a:r>
            <a:endParaRPr lang="en-US" sz="950" dirty="0"/>
          </a:p>
        </p:txBody>
      </p:sp>
      <p:sp>
        <p:nvSpPr>
          <p:cNvPr id="9" name="note_203"/>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WRITE</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Grammar · TPRS · reading</a:t>
            </a:r>
            <a:endParaRPr lang="en-US" sz="1150" dirty="0"/>
          </a:p>
        </p:txBody>
      </p:sp>
      <p:pic>
        <p:nvPicPr>
          <p:cNvPr id="10" name="logo_20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0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Grammar Bank 5C p.133   ·   📖 Grammar Bank 5C p.133 · b (TG key)</a:t>
            </a:r>
            <a:endParaRPr lang="en-US" sz="800" dirty="0"/>
          </a:p>
        </p:txBody>
      </p:sp>
      <p:sp>
        <p:nvSpPr>
          <p:cNvPr id="12" name="cd_206"/>
          <p:cNvSpPr/>
          <p:nvPr/>
        </p:nvSpPr>
        <p:spPr>
          <a:xfrm>
            <a:off x="320040" y="1417320"/>
            <a:ext cx="5715000" cy="3337560"/>
          </a:xfrm>
          <a:prstGeom prst="roundRect">
            <a:avLst>
              <a:gd name="adj" fmla="val 3836"/>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sh_207"/>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Simple or continuous?</a:t>
            </a:r>
            <a:endParaRPr lang="en-US" sz="1700" dirty="0"/>
          </a:p>
        </p:txBody>
      </p:sp>
      <p:sp>
        <p:nvSpPr>
          <p:cNvPr id="14" name="ln_208"/>
          <p:cNvSpPr/>
          <p:nvPr/>
        </p:nvSpPr>
        <p:spPr>
          <a:xfrm>
            <a:off x="548640" y="1920240"/>
            <a:ext cx="5349240" cy="753762"/>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1  A What </a:t>
            </a:r>
            <a:pPr indent="0" marL="0">
              <a:buNone/>
            </a:pPr>
            <a:r>
              <a:rPr lang="en-US" sz="1300" b="1" dirty="0">
                <a:solidFill>
                  <a:srgbClr val="2EB872"/>
                </a:solidFill>
                <a:latin typeface="Georgia" pitchFamily="34" charset="0"/>
                <a:ea typeface="Georgia" pitchFamily="34" charset="-122"/>
                <a:cs typeface="Georgia" pitchFamily="34" charset="-120"/>
              </a:rPr>
              <a:t> (1) ________ </a:t>
            </a:r>
            <a:pPr indent="0" marL="0">
              <a:buNone/>
            </a:pPr>
            <a:r>
              <a:rPr lang="en-US" sz="1300" dirty="0">
                <a:solidFill>
                  <a:srgbClr val="1B2559"/>
                </a:solidFill>
                <a:latin typeface="Georgia" pitchFamily="34" charset="0"/>
                <a:ea typeface="Georgia" pitchFamily="34" charset="-122"/>
                <a:cs typeface="Georgia" pitchFamily="34" charset="-120"/>
              </a:rPr>
              <a:t> you </a:t>
            </a:r>
            <a:pPr indent="0" marL="0">
              <a:buNone/>
            </a:pPr>
            <a:r>
              <a:rPr lang="en-US" sz="1300" b="1" dirty="0">
                <a:solidFill>
                  <a:srgbClr val="2EB872"/>
                </a:solidFill>
                <a:latin typeface="Georgia" pitchFamily="34" charset="0"/>
                <a:ea typeface="Georgia" pitchFamily="34" charset="-122"/>
                <a:cs typeface="Georgia" pitchFamily="34" charset="-120"/>
              </a:rPr>
              <a:t> (1) ________ </a:t>
            </a:r>
            <a:pPr indent="0" marL="0">
              <a:buNone/>
            </a:pPr>
            <a:r>
              <a:rPr lang="en-US" sz="1300" dirty="0">
                <a:solidFill>
                  <a:srgbClr val="1B2559"/>
                </a:solidFill>
                <a:latin typeface="Georgia" pitchFamily="34" charset="0"/>
                <a:ea typeface="Georgia" pitchFamily="34" charset="-122"/>
                <a:cs typeface="Georgia" pitchFamily="34" charset="-120"/>
              </a:rPr>
              <a:t> here?  B I </a:t>
            </a:r>
            <a:pPr indent="0" marL="0">
              <a:buNone/>
            </a:pPr>
            <a:r>
              <a:rPr lang="en-US" sz="1300" b="1" dirty="0">
                <a:solidFill>
                  <a:srgbClr val="2EB872"/>
                </a:solidFill>
                <a:latin typeface="Georgia" pitchFamily="34" charset="0"/>
                <a:ea typeface="Georgia" pitchFamily="34" charset="-122"/>
                <a:cs typeface="Georgia" pitchFamily="34" charset="-120"/>
              </a:rPr>
              <a:t> (2) ________ </a:t>
            </a:r>
            <a:pPr indent="0" marL="0">
              <a:buNone/>
            </a:pPr>
            <a:r>
              <a:rPr lang="en-US" sz="1300" dirty="0">
                <a:solidFill>
                  <a:srgbClr val="1B2559"/>
                </a:solidFill>
                <a:latin typeface="Georgia" pitchFamily="34" charset="0"/>
                <a:ea typeface="Georgia" pitchFamily="34" charset="-122"/>
                <a:cs typeface="Georgia" pitchFamily="34" charset="-120"/>
              </a:rPr>
              <a:t> for a friend.  (do · wait)</a:t>
            </a:r>
            <a:endParaRPr lang="en-US" sz="1300" dirty="0"/>
          </a:p>
        </p:txBody>
      </p:sp>
      <p:sp>
        <p:nvSpPr>
          <p:cNvPr id="15" name="R1_lnA209"/>
          <p:cNvSpPr/>
          <p:nvPr/>
        </p:nvSpPr>
        <p:spPr>
          <a:xfrm>
            <a:off x="548640" y="1920240"/>
            <a:ext cx="5349240" cy="753762"/>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1  A What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are</a:t>
            </a:r>
            <a:pPr indent="0" marL="0">
              <a:buNone/>
            </a:pPr>
            <a:r>
              <a:rPr lang="en-US" sz="1300" dirty="0">
                <a:solidFill>
                  <a:srgbClr val="1B2559"/>
                </a:solidFill>
                <a:latin typeface="Georgia" pitchFamily="34" charset="0"/>
                <a:ea typeface="Georgia" pitchFamily="34" charset="-122"/>
                <a:cs typeface="Georgia" pitchFamily="34" charset="-120"/>
              </a:rPr>
              <a:t>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doing</a:t>
            </a:r>
            <a:pPr indent="0" marL="0">
              <a:buNone/>
            </a:pPr>
            <a:r>
              <a:rPr lang="en-US" sz="1300" dirty="0">
                <a:solidFill>
                  <a:srgbClr val="1B2559"/>
                </a:solidFill>
                <a:latin typeface="Georgia" pitchFamily="34" charset="0"/>
                <a:ea typeface="Georgia" pitchFamily="34" charset="-122"/>
                <a:cs typeface="Georgia" pitchFamily="34" charset="-120"/>
              </a:rPr>
              <a:t> here?  B I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'm waiting</a:t>
            </a:r>
            <a:pPr indent="0" marL="0">
              <a:buNone/>
            </a:pPr>
            <a:r>
              <a:rPr lang="en-US" sz="1300" dirty="0">
                <a:solidFill>
                  <a:srgbClr val="1B2559"/>
                </a:solidFill>
                <a:latin typeface="Georgia" pitchFamily="34" charset="0"/>
                <a:ea typeface="Georgia" pitchFamily="34" charset="-122"/>
                <a:cs typeface="Georgia" pitchFamily="34" charset="-120"/>
              </a:rPr>
              <a:t> for a friend.  (do · wait)</a:t>
            </a:r>
            <a:endParaRPr lang="en-US" sz="1300" dirty="0"/>
          </a:p>
        </p:txBody>
      </p:sp>
      <p:sp>
        <p:nvSpPr>
          <p:cNvPr id="16" name="ln_210"/>
          <p:cNvSpPr/>
          <p:nvPr/>
        </p:nvSpPr>
        <p:spPr>
          <a:xfrm>
            <a:off x="548640" y="2674002"/>
            <a:ext cx="5349240" cy="695136"/>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2  A </a:t>
            </a:r>
            <a:pPr indent="0" marL="0">
              <a:buNone/>
            </a:pPr>
            <a:r>
              <a:rPr lang="en-US" sz="1300" b="1" dirty="0">
                <a:solidFill>
                  <a:srgbClr val="2EB872"/>
                </a:solidFill>
                <a:latin typeface="Georgia" pitchFamily="34" charset="0"/>
                <a:ea typeface="Georgia" pitchFamily="34" charset="-122"/>
                <a:cs typeface="Georgia" pitchFamily="34" charset="-120"/>
              </a:rPr>
              <a:t> (3) ________ </a:t>
            </a:r>
            <a:pPr indent="0" marL="0">
              <a:buNone/>
            </a:pPr>
            <a:r>
              <a:rPr lang="en-US" sz="1300" dirty="0">
                <a:solidFill>
                  <a:srgbClr val="1B2559"/>
                </a:solidFill>
                <a:latin typeface="Georgia" pitchFamily="34" charset="0"/>
                <a:ea typeface="Georgia" pitchFamily="34" charset="-122"/>
                <a:cs typeface="Georgia" pitchFamily="34" charset="-120"/>
              </a:rPr>
              <a:t> you </a:t>
            </a:r>
            <a:pPr indent="0" marL="0">
              <a:buNone/>
            </a:pPr>
            <a:r>
              <a:rPr lang="en-US" sz="1300" b="1" dirty="0">
                <a:solidFill>
                  <a:srgbClr val="2EB872"/>
                </a:solidFill>
                <a:latin typeface="Georgia" pitchFamily="34" charset="0"/>
                <a:ea typeface="Georgia" pitchFamily="34" charset="-122"/>
                <a:cs typeface="Georgia" pitchFamily="34" charset="-120"/>
              </a:rPr>
              <a:t> (3) ________ </a:t>
            </a:r>
            <a:pPr indent="0" marL="0">
              <a:buNone/>
            </a:pPr>
            <a:r>
              <a:rPr lang="en-US" sz="1300" dirty="0">
                <a:solidFill>
                  <a:srgbClr val="1B2559"/>
                </a:solidFill>
                <a:latin typeface="Georgia" pitchFamily="34" charset="0"/>
                <a:ea typeface="Georgia" pitchFamily="34" charset="-122"/>
                <a:cs typeface="Georgia" pitchFamily="34" charset="-120"/>
              </a:rPr>
              <a:t> fish?  B No, I </a:t>
            </a:r>
            <a:pPr indent="0" marL="0">
              <a:buNone/>
            </a:pPr>
            <a:r>
              <a:rPr lang="en-US" sz="1300" b="1" dirty="0">
                <a:solidFill>
                  <a:srgbClr val="2EB872"/>
                </a:solidFill>
                <a:latin typeface="Georgia" pitchFamily="34" charset="0"/>
                <a:ea typeface="Georgia" pitchFamily="34" charset="-122"/>
                <a:cs typeface="Georgia" pitchFamily="34" charset="-120"/>
              </a:rPr>
              <a:t> (4) ________ </a:t>
            </a:r>
            <a:pPr indent="0" marL="0">
              <a:buNone/>
            </a:pPr>
            <a:r>
              <a:rPr lang="en-US" sz="1300" dirty="0">
                <a:solidFill>
                  <a:srgbClr val="1B2559"/>
                </a:solidFill>
                <a:latin typeface="Georgia" pitchFamily="34" charset="0"/>
                <a:ea typeface="Georgia" pitchFamily="34" charset="-122"/>
                <a:cs typeface="Georgia" pitchFamily="34" charset="-120"/>
              </a:rPr>
              <a:t> fish.  (like · not eat)</a:t>
            </a:r>
            <a:endParaRPr lang="en-US" sz="1300" dirty="0"/>
          </a:p>
        </p:txBody>
      </p:sp>
      <p:sp>
        <p:nvSpPr>
          <p:cNvPr id="17" name="R2_lnA211"/>
          <p:cNvSpPr/>
          <p:nvPr/>
        </p:nvSpPr>
        <p:spPr>
          <a:xfrm>
            <a:off x="548640" y="2674002"/>
            <a:ext cx="5349240" cy="695136"/>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2  A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a:t>
            </a:r>
            <a:pPr indent="0" marL="0">
              <a:buNone/>
            </a:pPr>
            <a:r>
              <a:rPr lang="en-US" sz="1300" dirty="0">
                <a:solidFill>
                  <a:srgbClr val="1B2559"/>
                </a:solidFill>
                <a:latin typeface="Georgia" pitchFamily="34" charset="0"/>
                <a:ea typeface="Georgia" pitchFamily="34" charset="-122"/>
                <a:cs typeface="Georgia" pitchFamily="34" charset="-120"/>
              </a:rPr>
              <a:t> you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like</a:t>
            </a:r>
            <a:pPr indent="0" marL="0">
              <a:buNone/>
            </a:pPr>
            <a:r>
              <a:rPr lang="en-US" sz="1300" dirty="0">
                <a:solidFill>
                  <a:srgbClr val="1B2559"/>
                </a:solidFill>
                <a:latin typeface="Georgia" pitchFamily="34" charset="0"/>
                <a:ea typeface="Georgia" pitchFamily="34" charset="-122"/>
                <a:cs typeface="Georgia" pitchFamily="34" charset="-120"/>
              </a:rPr>
              <a:t> fish?  B No, I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don't eat</a:t>
            </a:r>
            <a:pPr indent="0" marL="0">
              <a:buNone/>
            </a:pPr>
            <a:r>
              <a:rPr lang="en-US" sz="1300" dirty="0">
                <a:solidFill>
                  <a:srgbClr val="1B2559"/>
                </a:solidFill>
                <a:latin typeface="Georgia" pitchFamily="34" charset="0"/>
                <a:ea typeface="Georgia" pitchFamily="34" charset="-122"/>
                <a:cs typeface="Georgia" pitchFamily="34" charset="-120"/>
              </a:rPr>
              <a:t> fish.  (like · not eat)</a:t>
            </a:r>
            <a:endParaRPr lang="en-US" sz="1300" dirty="0"/>
          </a:p>
        </p:txBody>
      </p:sp>
      <p:sp>
        <p:nvSpPr>
          <p:cNvPr id="18" name="ln_212"/>
          <p:cNvSpPr/>
          <p:nvPr/>
        </p:nvSpPr>
        <p:spPr>
          <a:xfrm>
            <a:off x="548640" y="3369138"/>
            <a:ext cx="5349240" cy="636510"/>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3  We </a:t>
            </a:r>
            <a:pPr indent="0" marL="0">
              <a:buNone/>
            </a:pPr>
            <a:r>
              <a:rPr lang="en-US" sz="1300" b="1" dirty="0">
                <a:solidFill>
                  <a:srgbClr val="2EB872"/>
                </a:solidFill>
                <a:latin typeface="Georgia" pitchFamily="34" charset="0"/>
                <a:ea typeface="Georgia" pitchFamily="34" charset="-122"/>
                <a:cs typeface="Georgia" pitchFamily="34" charset="-120"/>
              </a:rPr>
              <a:t> (5) ________ </a:t>
            </a:r>
            <a:pPr indent="0" marL="0">
              <a:buNone/>
            </a:pPr>
            <a:r>
              <a:rPr lang="en-US" sz="1300" dirty="0">
                <a:solidFill>
                  <a:srgbClr val="1B2559"/>
                </a:solidFill>
                <a:latin typeface="Georgia" pitchFamily="34" charset="0"/>
                <a:ea typeface="Georgia" pitchFamily="34" charset="-122"/>
                <a:cs typeface="Georgia" pitchFamily="34" charset="-120"/>
              </a:rPr>
              <a:t> dinner now. We </a:t>
            </a:r>
            <a:pPr indent="0" marL="0">
              <a:buNone/>
            </a:pPr>
            <a:r>
              <a:rPr lang="en-US" sz="1300" b="1" u="sng" dirty="0">
                <a:solidFill>
                  <a:srgbClr val="7B5CD6"/>
                </a:solidFill>
                <a:latin typeface="Georgia" pitchFamily="34" charset="0"/>
                <a:ea typeface="Georgia" pitchFamily="34" charset="-122"/>
                <a:cs typeface="Georgia" pitchFamily="34" charset="-120"/>
              </a:rPr>
              <a:t>always</a:t>
            </a:r>
            <a:pPr indent="0" marL="0">
              <a:buNone/>
            </a:pPr>
            <a:r>
              <a:rPr lang="en-US" sz="1300" dirty="0">
                <a:solidFill>
                  <a:srgbClr val="1B2559"/>
                </a:solidFill>
                <a:latin typeface="Georgia" pitchFamily="34" charset="0"/>
                <a:ea typeface="Georgia" pitchFamily="34" charset="-122"/>
                <a:cs typeface="Georgia" pitchFamily="34" charset="-120"/>
              </a:rPr>
              <a:t> </a:t>
            </a:r>
            <a:pPr indent="0" marL="0">
              <a:buNone/>
            </a:pPr>
            <a:r>
              <a:rPr lang="en-US" sz="1300" b="1" dirty="0">
                <a:solidFill>
                  <a:srgbClr val="2EB872"/>
                </a:solidFill>
                <a:latin typeface="Georgia" pitchFamily="34" charset="0"/>
                <a:ea typeface="Georgia" pitchFamily="34" charset="-122"/>
                <a:cs typeface="Georgia" pitchFamily="34" charset="-120"/>
              </a:rPr>
              <a:t> (6) ________ </a:t>
            </a:r>
            <a:pPr indent="0" marL="0">
              <a:buNone/>
            </a:pPr>
            <a:r>
              <a:rPr lang="en-US" sz="1300" dirty="0">
                <a:solidFill>
                  <a:srgbClr val="1B2559"/>
                </a:solidFill>
                <a:latin typeface="Georgia" pitchFamily="34" charset="0"/>
                <a:ea typeface="Georgia" pitchFamily="34" charset="-122"/>
                <a:cs typeface="Georgia" pitchFamily="34" charset="-120"/>
              </a:rPr>
              <a:t> dinner at 8.  (have)</a:t>
            </a:r>
            <a:endParaRPr lang="en-US" sz="1300" dirty="0"/>
          </a:p>
        </p:txBody>
      </p:sp>
      <p:sp>
        <p:nvSpPr>
          <p:cNvPr id="19" name="R3_lnA213"/>
          <p:cNvSpPr/>
          <p:nvPr/>
        </p:nvSpPr>
        <p:spPr>
          <a:xfrm>
            <a:off x="548640" y="3369138"/>
            <a:ext cx="5349240" cy="636510"/>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3  We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are having</a:t>
            </a:r>
            <a:pPr indent="0" marL="0">
              <a:buNone/>
            </a:pPr>
            <a:r>
              <a:rPr lang="en-US" sz="1300" dirty="0">
                <a:solidFill>
                  <a:srgbClr val="1B2559"/>
                </a:solidFill>
                <a:latin typeface="Georgia" pitchFamily="34" charset="0"/>
                <a:ea typeface="Georgia" pitchFamily="34" charset="-122"/>
                <a:cs typeface="Georgia" pitchFamily="34" charset="-120"/>
              </a:rPr>
              <a:t> dinner now. We </a:t>
            </a:r>
            <a:pPr indent="0" marL="0">
              <a:buNone/>
            </a:pPr>
            <a:r>
              <a:rPr lang="en-US" sz="1300" b="1" u="sng" dirty="0">
                <a:solidFill>
                  <a:srgbClr val="7B5CD6"/>
                </a:solidFill>
                <a:latin typeface="Georgia" pitchFamily="34" charset="0"/>
                <a:ea typeface="Georgia" pitchFamily="34" charset="-122"/>
                <a:cs typeface="Georgia" pitchFamily="34" charset="-120"/>
              </a:rPr>
              <a:t>always</a:t>
            </a:r>
            <a:pPr indent="0" marL="0">
              <a:buNone/>
            </a:pPr>
            <a:r>
              <a:rPr lang="en-US" sz="1300" dirty="0">
                <a:solidFill>
                  <a:srgbClr val="1B2559"/>
                </a:solidFill>
                <a:latin typeface="Georgia" pitchFamily="34" charset="0"/>
                <a:ea typeface="Georgia" pitchFamily="34" charset="-122"/>
                <a:cs typeface="Georgia" pitchFamily="34" charset="-120"/>
              </a:rPr>
              <a: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have</a:t>
            </a:r>
            <a:pPr indent="0" marL="0">
              <a:buNone/>
            </a:pPr>
            <a:r>
              <a:rPr lang="en-US" sz="1300" dirty="0">
                <a:solidFill>
                  <a:srgbClr val="1B2559"/>
                </a:solidFill>
                <a:latin typeface="Georgia" pitchFamily="34" charset="0"/>
                <a:ea typeface="Georgia" pitchFamily="34" charset="-122"/>
                <a:cs typeface="Georgia" pitchFamily="34" charset="-120"/>
              </a:rPr>
              <a:t> dinner at 8.  (have)</a:t>
            </a:r>
            <a:endParaRPr lang="en-US" sz="1300" dirty="0"/>
          </a:p>
        </p:txBody>
      </p:sp>
      <p:sp>
        <p:nvSpPr>
          <p:cNvPr id="20" name="ln_214"/>
          <p:cNvSpPr/>
          <p:nvPr/>
        </p:nvSpPr>
        <p:spPr>
          <a:xfrm>
            <a:off x="548640" y="4005649"/>
            <a:ext cx="5349240" cy="703511"/>
          </a:xfrm>
          <a:prstGeom prst="rect">
            <a:avLst/>
          </a:prstGeom>
          <a:no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4  A What </a:t>
            </a:r>
            <a:pPr indent="0" marL="0">
              <a:buNone/>
            </a:pPr>
            <a:r>
              <a:rPr lang="en-US" sz="1300" b="1" dirty="0">
                <a:solidFill>
                  <a:srgbClr val="2EB872"/>
                </a:solidFill>
                <a:latin typeface="Georgia" pitchFamily="34" charset="0"/>
                <a:ea typeface="Georgia" pitchFamily="34" charset="-122"/>
                <a:cs typeface="Georgia" pitchFamily="34" charset="-120"/>
              </a:rPr>
              <a:t> (7) ________ </a:t>
            </a:r>
            <a:pPr indent="0" marL="0">
              <a:buNone/>
            </a:pPr>
            <a:r>
              <a:rPr lang="en-US" sz="1300" dirty="0">
                <a:solidFill>
                  <a:srgbClr val="1B2559"/>
                </a:solidFill>
                <a:latin typeface="Georgia" pitchFamily="34" charset="0"/>
                <a:ea typeface="Georgia" pitchFamily="34" charset="-122"/>
                <a:cs typeface="Georgia" pitchFamily="34" charset="-120"/>
              </a:rPr>
              <a:t> your father </a:t>
            </a:r>
            <a:pPr indent="0" marL="0">
              <a:buNone/>
            </a:pPr>
            <a:r>
              <a:rPr lang="en-US" sz="1300" b="1" dirty="0">
                <a:solidFill>
                  <a:srgbClr val="2EB872"/>
                </a:solidFill>
                <a:latin typeface="Georgia" pitchFamily="34" charset="0"/>
                <a:ea typeface="Georgia" pitchFamily="34" charset="-122"/>
                <a:cs typeface="Georgia" pitchFamily="34" charset="-120"/>
              </a:rPr>
              <a:t> (7) ________ </a:t>
            </a:r>
            <a:pPr indent="0" marL="0">
              <a:buNone/>
            </a:pPr>
            <a:r>
              <a:rPr lang="en-US" sz="1300" dirty="0">
                <a:solidFill>
                  <a:srgbClr val="1B2559"/>
                </a:solidFill>
                <a:latin typeface="Georgia" pitchFamily="34" charset="0"/>
                <a:ea typeface="Georgia" pitchFamily="34" charset="-122"/>
                <a:cs typeface="Georgia" pitchFamily="34" charset="-120"/>
              </a:rPr>
              <a:t>?  B He </a:t>
            </a:r>
            <a:pPr indent="0" marL="0">
              <a:buNone/>
            </a:pPr>
            <a:r>
              <a:rPr lang="en-US" sz="1300" b="1" dirty="0">
                <a:solidFill>
                  <a:srgbClr val="2EB872"/>
                </a:solidFill>
                <a:latin typeface="Georgia" pitchFamily="34" charset="0"/>
                <a:ea typeface="Georgia" pitchFamily="34" charset="-122"/>
                <a:cs typeface="Georgia" pitchFamily="34" charset="-120"/>
              </a:rPr>
              <a:t> (8) ________ </a:t>
            </a:r>
            <a:pPr indent="0" marL="0">
              <a:buNone/>
            </a:pPr>
            <a:r>
              <a:rPr lang="en-US" sz="1300" dirty="0">
                <a:solidFill>
                  <a:srgbClr val="1B2559"/>
                </a:solidFill>
                <a:latin typeface="Georgia" pitchFamily="34" charset="0"/>
                <a:ea typeface="Georgia" pitchFamily="34" charset="-122"/>
                <a:cs typeface="Georgia" pitchFamily="34" charset="-120"/>
              </a:rPr>
              <a:t> in a bank.  (do · work)</a:t>
            </a:r>
            <a:endParaRPr lang="en-US" sz="1300" dirty="0"/>
          </a:p>
        </p:txBody>
      </p:sp>
      <p:sp>
        <p:nvSpPr>
          <p:cNvPr id="21" name="R4_lnA215"/>
          <p:cNvSpPr/>
          <p:nvPr/>
        </p:nvSpPr>
        <p:spPr>
          <a:xfrm>
            <a:off x="548640" y="4005649"/>
            <a:ext cx="5349240" cy="703511"/>
          </a:xfrm>
          <a:prstGeom prst="rect">
            <a:avLst/>
          </a:prstGeom>
          <a:solidFill>
            <a:srgbClr val="FFFFFF"/>
          </a:solidFill>
          <a:ln/>
        </p:spPr>
        <p:txBody>
          <a:bodyPr wrap="square" lIns="0" tIns="0" rIns="0" bIns="0" rtlCol="0" anchor="t"/>
          <a:lstStyle/>
          <a:p>
            <a:pPr indent="0" marL="0">
              <a:buNone/>
            </a:pPr>
            <a:r>
              <a:rPr lang="en-US" sz="1300" dirty="0">
                <a:solidFill>
                  <a:srgbClr val="1B2559"/>
                </a:solidFill>
                <a:latin typeface="Georgia" pitchFamily="34" charset="0"/>
                <a:ea typeface="Georgia" pitchFamily="34" charset="-122"/>
                <a:cs typeface="Georgia" pitchFamily="34" charset="-120"/>
              </a:rPr>
              <a:t>4  A What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does</a:t>
            </a:r>
            <a:pPr indent="0" marL="0">
              <a:buNone/>
            </a:pPr>
            <a:r>
              <a:rPr lang="en-US" sz="1300" dirty="0">
                <a:solidFill>
                  <a:srgbClr val="1B2559"/>
                </a:solidFill>
                <a:latin typeface="Georgia" pitchFamily="34" charset="0"/>
                <a:ea typeface="Georgia" pitchFamily="34" charset="-122"/>
                <a:cs typeface="Georgia" pitchFamily="34" charset="-120"/>
              </a:rPr>
              <a:t> your father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do</a:t>
            </a:r>
            <a:pPr indent="0" marL="0">
              <a:buNone/>
            </a:pPr>
            <a:r>
              <a:rPr lang="en-US" sz="1300" dirty="0">
                <a:solidFill>
                  <a:srgbClr val="1B2559"/>
                </a:solidFill>
                <a:latin typeface="Georgia" pitchFamily="34" charset="0"/>
                <a:ea typeface="Georgia" pitchFamily="34" charset="-122"/>
                <a:cs typeface="Georgia" pitchFamily="34" charset="-120"/>
              </a:rPr>
              <a:t>?  B He </a:t>
            </a:r>
            <a:pPr indent="0" marL="0">
              <a:buNone/>
            </a:pPr>
            <a:r>
              <a:rPr lang="en-US" sz="1300" b="1" dirty="0">
                <a:solidFill>
                  <a:srgbClr val="1B2559"/>
                </a:solidFill>
                <a:highlight>
                  <a:srgbClr val="FFE066"/>
                </a:highlight>
                <a:latin typeface="Georgia" pitchFamily="34" charset="0"/>
                <a:ea typeface="Georgia" pitchFamily="34" charset="-122"/>
                <a:cs typeface="Georgia" pitchFamily="34" charset="-120"/>
              </a:rPr>
              <a:t>works</a:t>
            </a:r>
            <a:pPr indent="0" marL="0">
              <a:buNone/>
            </a:pPr>
            <a:r>
              <a:rPr lang="en-US" sz="1300" dirty="0">
                <a:solidFill>
                  <a:srgbClr val="1B2559"/>
                </a:solidFill>
                <a:latin typeface="Georgia" pitchFamily="34" charset="0"/>
                <a:ea typeface="Georgia" pitchFamily="34" charset="-122"/>
                <a:cs typeface="Georgia" pitchFamily="34" charset="-120"/>
              </a:rPr>
              <a:t> in a bank.  (do · work)</a:t>
            </a:r>
            <a:endParaRPr lang="en-US" sz="1300" dirty="0"/>
          </a:p>
        </p:txBody>
      </p:sp>
      <p:sp>
        <p:nvSpPr>
          <p:cNvPr id="22" name="pf_216"/>
          <p:cNvSpPr/>
          <p:nvPr/>
        </p:nvSpPr>
        <p:spPr>
          <a:xfrm rot="120000">
            <a:off x="7089077" y="1417320"/>
            <a:ext cx="1000887" cy="1508760"/>
          </a:xfrm>
          <a:prstGeom prst="roundRect">
            <a:avLst>
              <a:gd name="adj" fmla="val 15531"/>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3" name="ph_217" descr="/home/claude/lls-course/v2/cache/red_5c_snow_jpg_219x341_31.png">    </p:cNvPr>
          <p:cNvPicPr>
            <a:picLocks noChangeAspect="1"/>
          </p:cNvPicPr>
          <p:nvPr/>
        </p:nvPicPr>
        <p:blipFill>
          <a:blip r:embed="rId5"/>
          <a:stretch>
            <a:fillRect/>
          </a:stretch>
        </p:blipFill>
        <p:spPr>
          <a:xfrm rot="120000">
            <a:off x="7134797" y="1463040"/>
            <a:ext cx="909447" cy="1417320"/>
          </a:xfrm>
          <a:prstGeom prst="rect">
            <a:avLst/>
          </a:prstGeom>
        </p:spPr>
      </p:pic>
      <p:sp>
        <p:nvSpPr>
          <p:cNvPr id="24" name="cd_218"/>
          <p:cNvSpPr/>
          <p:nvPr/>
        </p:nvSpPr>
        <p:spPr>
          <a:xfrm>
            <a:off x="6263640" y="3794760"/>
            <a:ext cx="2651760" cy="960120"/>
          </a:xfrm>
          <a:prstGeom prst="roundRect">
            <a:avLst>
              <a:gd name="adj" fmla="val 13333"/>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25" name="ii_219"/>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ih_220"/>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7" name="il_221"/>
          <p:cNvSpPr/>
          <p:nvPr/>
        </p:nvSpPr>
        <p:spPr>
          <a:xfrm>
            <a:off x="6830568" y="4288536"/>
            <a:ext cx="1993392" cy="3931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every day → simple</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now → continuous</a:t>
            </a:r>
            <a:endParaRPr lang="en-US" sz="9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4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22"/>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23" descr="/home/claude/lls-course/v2/assets/brush-yellow.png">    </p:cNvPr>
          <p:cNvPicPr>
            <a:picLocks noChangeAspect="1"/>
          </p:cNvPicPr>
          <p:nvPr/>
        </p:nvPicPr>
        <p:blipFill>
          <a:blip r:embed="rId2"/>
          <a:stretch>
            <a:fillRect/>
          </a:stretch>
        </p:blipFill>
        <p:spPr>
          <a:xfrm>
            <a:off x="1097280" y="146304"/>
            <a:ext cx="5760720" cy="621792"/>
          </a:xfrm>
          <a:prstGeom prst="rect">
            <a:avLst/>
          </a:prstGeom>
        </p:spPr>
      </p:pic>
      <p:sp>
        <p:nvSpPr>
          <p:cNvPr id="5" name="title_224"/>
          <p:cNvSpPr/>
          <p:nvPr/>
        </p:nvSpPr>
        <p:spPr>
          <a:xfrm>
            <a:off x="1261872" y="164592"/>
            <a:ext cx="5486400" cy="566928"/>
          </a:xfrm>
          <a:prstGeom prst="rect">
            <a:avLst/>
          </a:prstGeom>
          <a:noFill/>
          <a:ln/>
        </p:spPr>
        <p:txBody>
          <a:bodyPr wrap="square" lIns="0" tIns="0" rIns="0" bIns="0" rtlCol="0" anchor="ctr">
            <a:normAutofit/>
          </a:bodyPr>
          <a:lstStyle/>
          <a:p>
            <a:pPr indent="0" marL="0">
              <a:buNone/>
            </a:pPr>
            <a:r>
              <a:rPr lang="en-US" sz="2100" dirty="0">
                <a:solidFill>
                  <a:srgbClr val="1B2559"/>
                </a:solidFill>
                <a:latin typeface="Arial Rounded MT Bold" pitchFamily="34" charset="0"/>
                <a:ea typeface="Arial Rounded MT Bold" pitchFamily="34" charset="-122"/>
                <a:cs typeface="Arial Rounded MT Bold" pitchFamily="34" charset="-120"/>
              </a:rPr>
              <a:t>What do you do? What are you doing?</a:t>
            </a:r>
            <a:endParaRPr lang="en-US" sz="2100" dirty="0"/>
          </a:p>
        </p:txBody>
      </p:sp>
      <p:pic>
        <p:nvPicPr>
          <p:cNvPr id="6" name="brP_225"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26"/>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What do you do? What are you doing now? Listen to the question – answer in the same tense!</a:t>
            </a:r>
            <a:endParaRPr lang="en-US" sz="1100" dirty="0"/>
          </a:p>
        </p:txBody>
      </p:sp>
      <p:sp>
        <p:nvSpPr>
          <p:cNvPr id="8" name="insIT_227"/>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What do you do? What are you doing now? Rispondi con lo stesso tempo!</a:t>
            </a:r>
            <a:endParaRPr lang="en-US" sz="950" dirty="0"/>
          </a:p>
        </p:txBody>
      </p:sp>
      <p:sp>
        <p:nvSpPr>
          <p:cNvPr id="9" name="note_228"/>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TALK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PARLA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a:t>
            </a:r>
            <a:endParaRPr lang="en-US" sz="1250" dirty="0"/>
          </a:p>
        </p:txBody>
      </p:sp>
      <p:pic>
        <p:nvPicPr>
          <p:cNvPr id="10" name="logo_22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3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Speaking · simple or continuous?   ·   📖 SB p.42 · 2d (Communication A p.105 · B p.111 – own questions here)</a:t>
            </a:r>
            <a:endParaRPr lang="en-US" sz="800" dirty="0"/>
          </a:p>
        </p:txBody>
      </p:sp>
      <p:sp>
        <p:nvSpPr>
          <p:cNvPr id="12" name="pf_231"/>
          <p:cNvSpPr/>
          <p:nvPr/>
        </p:nvSpPr>
        <p:spPr>
          <a:xfrm rot="-120000">
            <a:off x="1352643" y="1371600"/>
            <a:ext cx="723714" cy="1325880"/>
          </a:xfrm>
          <a:prstGeom prst="roundRect">
            <a:avLst>
              <a:gd name="adj" fmla="val 21479"/>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3" name="ph_232" descr="/home/claude/lls-course/v2/cache/red_5c_kew_jpg_152x297_31.png">    </p:cNvPr>
          <p:cNvPicPr>
            <a:picLocks noChangeAspect="1"/>
          </p:cNvPicPr>
          <p:nvPr/>
        </p:nvPicPr>
        <p:blipFill>
          <a:blip r:embed="rId5"/>
          <a:stretch>
            <a:fillRect/>
          </a:stretch>
        </p:blipFill>
        <p:spPr>
          <a:xfrm rot="-120000">
            <a:off x="1398363" y="1417320"/>
            <a:ext cx="632274" cy="1234440"/>
          </a:xfrm>
          <a:prstGeom prst="rect">
            <a:avLst/>
          </a:prstGeom>
        </p:spPr>
      </p:pic>
      <p:sp>
        <p:nvSpPr>
          <p:cNvPr id="14" name="cd_233"/>
          <p:cNvSpPr/>
          <p:nvPr/>
        </p:nvSpPr>
        <p:spPr>
          <a:xfrm>
            <a:off x="320040" y="2880360"/>
            <a:ext cx="2788920" cy="1874520"/>
          </a:xfrm>
          <a:prstGeom prst="roundRect">
            <a:avLst>
              <a:gd name="adj" fmla="val 6829"/>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5" name="ii_234"/>
          <p:cNvSpPr/>
          <p:nvPr/>
        </p:nvSpPr>
        <p:spPr>
          <a:xfrm>
            <a:off x="411480" y="2953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35"/>
          <p:cNvSpPr/>
          <p:nvPr/>
        </p:nvSpPr>
        <p:spPr>
          <a:xfrm>
            <a:off x="886968" y="297180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7" name="il_236"/>
          <p:cNvSpPr/>
          <p:nvPr/>
        </p:nvSpPr>
        <p:spPr>
          <a:xfrm>
            <a:off x="886968" y="3374136"/>
            <a:ext cx="2130552" cy="1307592"/>
          </a:xfrm>
          <a:prstGeom prst="rect">
            <a:avLst/>
          </a:prstGeom>
          <a:noFill/>
          <a:ln/>
        </p:spPr>
        <p:txBody>
          <a:bodyPr wrap="square" lIns="0" tIns="0" rIns="0" bIns="0" rtlCol="0" anchor="t">
            <a:normAutofit/>
          </a:bodyPr>
          <a:lstStyle/>
          <a:p>
            <a:pPr marL="152400" indent="-152400">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What do you usually do on Saturday? – I usually go shopping.</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What are you wearing today? – I'm wearing jeans.</a:t>
            </a:r>
            <a:endParaRPr lang="en-US" sz="900" dirty="0"/>
          </a:p>
          <a:p>
            <a:pPr marL="152400" indent="-152400">
              <a:spcBef>
                <a:spcPts val="600"/>
              </a:spcBef>
              <a:spcAft>
                <a:spcPts val="200"/>
              </a:spcAft>
              <a:buSzPct val="100000"/>
              <a:buChar char="•"/>
            </a:pPr>
            <a:r>
              <a:rPr lang="en-US" sz="900" dirty="0">
                <a:solidFill>
                  <a:srgbClr val="1B2559"/>
                </a:solidFill>
                <a:latin typeface="Segoe UI Semibold" pitchFamily="34" charset="0"/>
                <a:ea typeface="Segoe UI Semibold" pitchFamily="34" charset="-122"/>
                <a:cs typeface="Segoe UI Semibold" pitchFamily="34" charset="-120"/>
              </a:rPr>
              <a:t>Do you often…? / Are you…ing now?</a:t>
            </a:r>
            <a:endParaRPr lang="en-US" sz="900" dirty="0"/>
          </a:p>
        </p:txBody>
      </p:sp>
      <p:sp>
        <p:nvSpPr>
          <p:cNvPr id="18" name="R1_qb237"/>
          <p:cNvSpPr/>
          <p:nvPr/>
        </p:nvSpPr>
        <p:spPr>
          <a:xfrm>
            <a:off x="3273552" y="1453896"/>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R1_sq238"/>
          <p:cNvSpPr/>
          <p:nvPr/>
        </p:nvSpPr>
        <p:spPr>
          <a:xfrm>
            <a:off x="3675888" y="1417320"/>
            <a:ext cx="5193792" cy="530352"/>
          </a:xfrm>
          <a:prstGeom prst="roundRect">
            <a:avLst>
              <a:gd name="adj" fmla="val 2069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 do you usually wear at work? What are you wearing now?</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usually wear a suit, but today I'm wearing jeans.</a:t>
            </a:r>
            <a:endParaRPr lang="en-US" sz="950" dirty="0"/>
          </a:p>
        </p:txBody>
      </p:sp>
      <p:sp>
        <p:nvSpPr>
          <p:cNvPr id="20" name="R2_qb239"/>
          <p:cNvSpPr/>
          <p:nvPr/>
        </p:nvSpPr>
        <p:spPr>
          <a:xfrm>
            <a:off x="3273552" y="2057400"/>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1" name="R2_sq240"/>
          <p:cNvSpPr/>
          <p:nvPr/>
        </p:nvSpPr>
        <p:spPr>
          <a:xfrm>
            <a:off x="3675888" y="2020824"/>
            <a:ext cx="5193792" cy="530352"/>
          </a:xfrm>
          <a:prstGeom prst="roundRect">
            <a:avLst>
              <a:gd name="adj" fmla="val 2069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Do you read a lot? Are you reading a good book at the moment?</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Yes – I'm reading a crime novel.</a:t>
            </a:r>
            <a:endParaRPr lang="en-US" sz="950" dirty="0"/>
          </a:p>
        </p:txBody>
      </p:sp>
      <p:sp>
        <p:nvSpPr>
          <p:cNvPr id="22" name="R3_qb241"/>
          <p:cNvSpPr/>
          <p:nvPr/>
        </p:nvSpPr>
        <p:spPr>
          <a:xfrm>
            <a:off x="3273552" y="266090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3" name="R3_sq242"/>
          <p:cNvSpPr/>
          <p:nvPr/>
        </p:nvSpPr>
        <p:spPr>
          <a:xfrm>
            <a:off x="3675888" y="2624328"/>
            <a:ext cx="5193792" cy="530352"/>
          </a:xfrm>
          <a:prstGeom prst="roundRect">
            <a:avLst>
              <a:gd name="adj" fmla="val 2069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What do you do on Friday evenings? What are you doing this evening?</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I usually go out, but this evening I'm staying at home.</a:t>
            </a:r>
            <a:endParaRPr lang="en-US" sz="950" dirty="0"/>
          </a:p>
        </p:txBody>
      </p:sp>
      <p:sp>
        <p:nvSpPr>
          <p:cNvPr id="24" name="R4_qb243"/>
          <p:cNvSpPr/>
          <p:nvPr/>
        </p:nvSpPr>
        <p:spPr>
          <a:xfrm>
            <a:off x="3273552" y="3264408"/>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5" name="R4_sq244"/>
          <p:cNvSpPr/>
          <p:nvPr/>
        </p:nvSpPr>
        <p:spPr>
          <a:xfrm>
            <a:off x="3675888" y="3227832"/>
            <a:ext cx="5193792" cy="530352"/>
          </a:xfrm>
          <a:prstGeom prst="roundRect">
            <a:avLst>
              <a:gd name="adj" fmla="val 20690"/>
            </a:avLst>
          </a:prstGeom>
          <a:solidFill>
            <a:srgbClr val="FFFFFF"/>
          </a:solidFill>
          <a:ln w="2857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950" dirty="0">
                <a:solidFill>
                  <a:srgbClr val="1B2559"/>
                </a:solidFill>
                <a:latin typeface="Segoe UI Semibold" pitchFamily="34" charset="0"/>
                <a:ea typeface="Segoe UI Semibold" pitchFamily="34" charset="-122"/>
                <a:cs typeface="Segoe UI Semibold" pitchFamily="34" charset="-120"/>
              </a:rPr>
              <a:t>Where do your parents live? What are they doing now?</a:t>
            </a:r>
            <a:endParaRPr lang="en-US" sz="950" dirty="0"/>
          </a:p>
          <a:p>
            <a:pPr indent="0" marL="0">
              <a:buNone/>
            </a:pPr>
            <a:r>
              <a:rPr lang="en-US" sz="850" i="1" dirty="0">
                <a:solidFill>
                  <a:srgbClr val="5B6785"/>
                </a:solidFill>
                <a:latin typeface="Segoe UI Semibold" pitchFamily="34" charset="0"/>
                <a:ea typeface="Segoe UI Semibold" pitchFamily="34" charset="-122"/>
                <a:cs typeface="Segoe UI Semibold" pitchFamily="34" charset="-120"/>
              </a:rPr>
              <a:t>e.g. They live in Palermo. I think they're having lunch.</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4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4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4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21"/>
                                        </p:tgtEl>
                                        <p:attrNameLst>
                                          <p:attrName>style.visibility</p:attrName>
                                        </p:attrNameLst>
                                      </p:cBhvr>
                                      <p:to>
                                        <p:strVal val="visible"/>
                                      </p:to>
                                    </p:set>
                                    <p:animEffect transition="in" filter="fade">
                                      <p:cBhvr>
                                        <p:cTn id="18" dur="400"/>
                                        <p:tgtEl>
                                          <p:spTgt spid="2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400"/>
                                        <p:tgtEl>
                                          <p:spTgt spid="22"/>
                                        </p:tgtEl>
                                      </p:cBhvr>
                                    </p:animEffect>
                                  </p:childTnLst>
                                </p:cTn>
                              </p:par>
                              <p:par>
                                <p:cTn id="24" presetID="10" presetClass="entr" presetSubtype="0"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Effect transition="in" filter="fade">
                                      <p:cBhvr>
                                        <p:cTn id="26" dur="400"/>
                                        <p:tgtEl>
                                          <p:spTgt spid="2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400"/>
                                        <p:tgtEl>
                                          <p:spTgt spid="24"/>
                                        </p:tgtEl>
                                      </p:cBhvr>
                                    </p:animEffect>
                                  </p:childTnLst>
                                </p:cTn>
                              </p:par>
                              <p:par>
                                <p:cTn id="32" presetID="10" presetClass="entr" presetSubtype="0" fill="hold"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45"/>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46"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247"/>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300" dirty="0">
                <a:solidFill>
                  <a:srgbClr val="1B2559"/>
                </a:solidFill>
                <a:latin typeface="Arial Rounded MT Bold" pitchFamily="34" charset="0"/>
                <a:ea typeface="Arial Rounded MT Bold" pitchFamily="34" charset="-122"/>
                <a:cs typeface="Arial Rounded MT Bold" pitchFamily="34" charset="-120"/>
              </a:rPr>
              <a:t>London: spring &amp; summer</a:t>
            </a:r>
            <a:endParaRPr lang="en-US" sz="2300" dirty="0"/>
          </a:p>
        </p:txBody>
      </p:sp>
      <p:pic>
        <p:nvPicPr>
          <p:cNvPr id="6" name="brP_248" descr="/home/claude/lls-course/v2/assets/brush-pink.png">    </p:cNvPr>
          <p:cNvPicPr>
            <a:picLocks noChangeAspect="1"/>
          </p:cNvPicPr>
          <p:nvPr/>
        </p:nvPicPr>
        <p:blipFill>
          <a:blip r:embed="rId3"/>
          <a:stretch>
            <a:fillRect/>
          </a:stretch>
        </p:blipFill>
        <p:spPr>
          <a:xfrm>
            <a:off x="1207008" y="731520"/>
            <a:ext cx="5161788" cy="402336"/>
          </a:xfrm>
          <a:prstGeom prst="rect">
            <a:avLst/>
          </a:prstGeom>
        </p:spPr>
      </p:pic>
      <p:sp>
        <p:nvSpPr>
          <p:cNvPr id="7" name="ins_249"/>
          <p:cNvSpPr/>
          <p:nvPr/>
        </p:nvSpPr>
        <p:spPr>
          <a:xfrm>
            <a:off x="1353312" y="731520"/>
            <a:ext cx="490575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guide. Where can you…? LM, OAT, TW or V&amp;A?</a:t>
            </a:r>
            <a:endParaRPr lang="en-US" sz="1250" dirty="0"/>
          </a:p>
        </p:txBody>
      </p:sp>
      <p:sp>
        <p:nvSpPr>
          <p:cNvPr id="8" name="insIT_250"/>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la guida. Dove puoi…? LM, OAT, TW o V&amp;A?</a:t>
            </a:r>
            <a:endParaRPr lang="en-US" sz="950" dirty="0"/>
          </a:p>
        </p:txBody>
      </p:sp>
      <p:sp>
        <p:nvSpPr>
          <p:cNvPr id="9" name="note_251"/>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alone</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2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Reading · What to do in London (1)   ·   📖 SB pp.42–43 · 3a (TG key)</a:t>
            </a:r>
            <a:endParaRPr lang="en-US" sz="800" dirty="0"/>
          </a:p>
        </p:txBody>
      </p:sp>
      <p:sp>
        <p:nvSpPr>
          <p:cNvPr id="12" name="cd_254"/>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255"/>
          <p:cNvSpPr/>
          <p:nvPr/>
        </p:nvSpPr>
        <p:spPr>
          <a:xfrm>
            <a:off x="45720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In spring · Watch (or run!) the London Marathon (LM)</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One of Europe's biggest marathons takes place in spring </a:t>
            </a:r>
            <a:pPr indent="0" marL="0">
              <a:lnSpc>
                <a:spcPct val="105000"/>
              </a:lnSpc>
              <a:spcAft>
                <a:spcPts val="700"/>
              </a:spcAft>
              <a:buNone/>
            </a:pPr>
            <a:r>
              <a:rPr lang="en-US" sz="1100" b="1" u="sng" dirty="0">
                <a:solidFill>
                  <a:srgbClr val="7B5CD6"/>
                </a:solidFill>
                <a:latin typeface="Georgia" pitchFamily="34" charset="0"/>
                <a:ea typeface="Georgia" pitchFamily="34" charset="-122"/>
                <a:cs typeface="Georgia" pitchFamily="34" charset="-120"/>
              </a:rPr>
              <a:t>every year</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a:t>
            </a:r>
            <a:pPr indent="0" marL="0">
              <a:lnSpc>
                <a:spcPct val="105000"/>
              </a:lnSpc>
              <a:spcAft>
                <a:spcPts val="700"/>
              </a:spcAft>
              <a:buNone/>
            </a:pPr>
            <a:r>
              <a:rPr lang="en-US" sz="1100" b="1" u="sng" dirty="0">
                <a:solidFill>
                  <a:srgbClr val="7B5CD6"/>
                </a:solidFill>
                <a:latin typeface="Georgia" pitchFamily="34" charset="0"/>
                <a:ea typeface="Georgia" pitchFamily="34" charset="-122"/>
                <a:cs typeface="Georgia" pitchFamily="34" charset="-120"/>
              </a:rPr>
              <a:t>usually</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in April. About 40,000 people, including top runners and celebrities, run 26.2 miles through the city. It's a fantastic atmosphere. You can watch anywhere along the route, but the Tower of London and the finish, near Buckingham Palace, are my favourite places. April in London doesn't </a:t>
            </a:r>
            <a:pPr indent="0" marL="0">
              <a:lnSpc>
                <a:spcPct val="105000"/>
              </a:lnSpc>
              <a:spcAft>
                <a:spcPts val="700"/>
              </a:spcAft>
              <a:buNone/>
            </a:pPr>
            <a:r>
              <a:rPr lang="en-US" sz="1100" b="1" u="sng" dirty="0">
                <a:solidFill>
                  <a:srgbClr val="7B5CD6"/>
                </a:solidFill>
                <a:latin typeface="Georgia" pitchFamily="34" charset="0"/>
                <a:ea typeface="Georgia" pitchFamily="34" charset="-122"/>
                <a:cs typeface="Georgia" pitchFamily="34" charset="-120"/>
              </a:rPr>
              <a:t>always</a:t>
            </a:r>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 mean good weather – be prepared for sun, showers, and wind!</a:t>
            </a:r>
            <a:endParaRPr lang="en-US" sz="1100" dirty="0"/>
          </a:p>
        </p:txBody>
      </p:sp>
      <p:sp>
        <p:nvSpPr>
          <p:cNvPr id="14" name="rd_256"/>
          <p:cNvSpPr/>
          <p:nvPr/>
        </p:nvSpPr>
        <p:spPr>
          <a:xfrm>
            <a:off x="333756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200" b="1" dirty="0">
                <a:solidFill>
                  <a:srgbClr val="1F6F43"/>
                </a:solidFill>
                <a:latin typeface="Georgia" pitchFamily="34" charset="0"/>
                <a:ea typeface="Georgia" pitchFamily="34" charset="-122"/>
                <a:cs typeface="Georgia" pitchFamily="34" charset="-120"/>
              </a:rPr>
              <a:t>In summer · Go to the Open Air Theatre in Regent's Park (OAT)</a:t>
            </a:r>
            <a:endParaRPr lang="en-US" sz="1100" dirty="0"/>
          </a:p>
          <a:p>
            <a:pPr indent="0" marL="0">
              <a:lnSpc>
                <a:spcPct val="105000"/>
              </a:lnSpc>
              <a:spcAft>
                <a:spcPts val="700"/>
              </a:spcAft>
              <a:buNone/>
            </a:pPr>
            <a:r>
              <a:rPr lang="en-US" sz="1100" dirty="0">
                <a:solidFill>
                  <a:srgbClr val="1B2559"/>
                </a:solidFill>
                <a:latin typeface="Georgia" pitchFamily="34" charset="0"/>
                <a:ea typeface="Georgia" pitchFamily="34" charset="-122"/>
                <a:cs typeface="Georgia" pitchFamily="34" charset="-120"/>
              </a:rPr>
              <a:t>Open from May to September, this is a great place to see Shakespeare and other classics. Come prepared for all types of weather. If it rains – and it can – you can buy plastic raincoats at the theatre. In bad weather they sometimes cancel a performance, but you can use your tickets on a different day. You can buy a picnic or take your own, and you can buy dinner, too (quite expensive!).</a:t>
            </a:r>
            <a:endParaRPr lang="en-US" sz="1100" dirty="0"/>
          </a:p>
        </p:txBody>
      </p:sp>
      <p:sp>
        <p:nvSpPr>
          <p:cNvPr id="15" name="rdl_257"/>
          <p:cNvSpPr/>
          <p:nvPr/>
        </p:nvSpPr>
        <p:spPr>
          <a:xfrm>
            <a:off x="3200400" y="1600200"/>
            <a:ext cx="0" cy="2999232"/>
          </a:xfrm>
          <a:prstGeom prst="line">
            <a:avLst/>
          </a:prstGeom>
          <a:noFill/>
          <a:ln w="28575">
            <a:solidFill>
              <a:srgbClr val="A8E5BE"/>
            </a:solidFill>
            <a:prstDash val="solid"/>
          </a:ln>
        </p:spPr>
      </p:sp>
      <p:sp>
        <p:nvSpPr>
          <p:cNvPr id="16" name="cd_258"/>
          <p:cNvSpPr/>
          <p:nvPr/>
        </p:nvSpPr>
        <p:spPr>
          <a:xfrm>
            <a:off x="6263640" y="1417320"/>
            <a:ext cx="2606040" cy="2377440"/>
          </a:xfrm>
          <a:prstGeom prst="roundRect">
            <a:avLst>
              <a:gd name="adj" fmla="val 53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7" name="ii_259"/>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60"/>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Where can you…?</a:t>
            </a:r>
            <a:endParaRPr lang="en-US" sz="1300" dirty="0"/>
          </a:p>
        </p:txBody>
      </p:sp>
      <p:sp>
        <p:nvSpPr>
          <p:cNvPr id="19" name="il_261"/>
          <p:cNvSpPr/>
          <p:nvPr/>
        </p:nvSpPr>
        <p:spPr>
          <a:xfrm>
            <a:off x="6830568" y="1911096"/>
            <a:ext cx="1947672" cy="18105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1 learn about nature</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2 buy food to eat outside</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3 have a fantastic view</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4 see beautiful old tables and chairs</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5 watch what's happening from different places</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6 buy something to keep you dry</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7 see famous people doing sport</a:t>
            </a:r>
            <a:endParaRPr lang="en-US" sz="750" dirty="0"/>
          </a:p>
          <a:p>
            <a:pPr marL="152400" indent="-152400">
              <a:spcBef>
                <a:spcPts val="600"/>
              </a:spcBef>
              <a:spcAft>
                <a:spcPts val="200"/>
              </a:spcAft>
              <a:buSzPct val="100000"/>
              <a:buChar char="•"/>
            </a:pPr>
            <a:r>
              <a:rPr lang="en-US" sz="750" dirty="0">
                <a:solidFill>
                  <a:srgbClr val="1B2559"/>
                </a:solidFill>
                <a:latin typeface="Segoe UI Semibold" pitchFamily="34" charset="0"/>
                <a:ea typeface="Segoe UI Semibold" pitchFamily="34" charset="-122"/>
                <a:cs typeface="Segoe UI Semibold" pitchFamily="34" charset="-120"/>
              </a:rPr>
              <a:t>8 have lunch, but not dinner</a:t>
            </a:r>
            <a:endParaRPr lang="en-US" sz="750" dirty="0"/>
          </a:p>
        </p:txBody>
      </p:sp>
      <p:sp>
        <p:nvSpPr>
          <p:cNvPr id="20" name="R1_chip262"/>
          <p:cNvSpPr/>
          <p:nvPr/>
        </p:nvSpPr>
        <p:spPr>
          <a:xfrm>
            <a:off x="6263640" y="3904488"/>
            <a:ext cx="2606040" cy="850392"/>
          </a:xfrm>
          <a:prstGeom prst="roundRect">
            <a:avLst>
              <a:gd name="adj" fmla="val 1075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1 TW 2 OAT 3 TW 4 V&amp;A 5 LM 6 OAT 7 LM 8 V&amp;A</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63"/>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64" descr="/home/claude/lls-course/v2/assets/brush-yellow.png">    </p:cNvPr>
          <p:cNvPicPr>
            <a:picLocks noChangeAspect="1"/>
          </p:cNvPicPr>
          <p:nvPr/>
        </p:nvPicPr>
        <p:blipFill>
          <a:blip r:embed="rId2"/>
          <a:stretch>
            <a:fillRect/>
          </a:stretch>
        </p:blipFill>
        <p:spPr>
          <a:xfrm>
            <a:off x="1097280" y="146304"/>
            <a:ext cx="4348886" cy="621792"/>
          </a:xfrm>
          <a:prstGeom prst="rect">
            <a:avLst/>
          </a:prstGeom>
        </p:spPr>
      </p:pic>
      <p:sp>
        <p:nvSpPr>
          <p:cNvPr id="5" name="title_265"/>
          <p:cNvSpPr/>
          <p:nvPr/>
        </p:nvSpPr>
        <p:spPr>
          <a:xfrm>
            <a:off x="1261872" y="164592"/>
            <a:ext cx="407456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London: autumn &amp; winter</a:t>
            </a:r>
            <a:endParaRPr lang="en-US" sz="2400" dirty="0"/>
          </a:p>
        </p:txBody>
      </p:sp>
      <p:pic>
        <p:nvPicPr>
          <p:cNvPr id="6" name="brP_266"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67"/>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Read the rest of the guide. Then complete the nouns for the adjectives.</a:t>
            </a:r>
            <a:endParaRPr lang="en-US" sz="1100" dirty="0"/>
          </a:p>
        </p:txBody>
      </p:sp>
      <p:sp>
        <p:nvSpPr>
          <p:cNvPr id="8" name="insIT_268"/>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Leggi il resto. Poi completa i nomi per gli aggettivi.</a:t>
            </a:r>
            <a:endParaRPr lang="en-US" sz="950" dirty="0"/>
          </a:p>
        </p:txBody>
      </p:sp>
      <p:sp>
        <p:nvSpPr>
          <p:cNvPr id="9" name="note_269"/>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READ</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CHECK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5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Reading · for detail</a:t>
            </a:r>
            <a:endParaRPr lang="en-US" sz="1150" dirty="0"/>
          </a:p>
        </p:txBody>
      </p:sp>
      <p:pic>
        <p:nvPicPr>
          <p:cNvPr id="10" name="logo_270"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71"/>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Reading · What to do in London (2)   ·   📖 SB p.43 · 3b, 3c (TG key)</a:t>
            </a:r>
            <a:endParaRPr lang="en-US" sz="800" dirty="0"/>
          </a:p>
        </p:txBody>
      </p:sp>
      <p:sp>
        <p:nvSpPr>
          <p:cNvPr id="12" name="cd_272"/>
          <p:cNvSpPr/>
          <p:nvPr/>
        </p:nvSpPr>
        <p:spPr>
          <a:xfrm>
            <a:off x="320040" y="1417320"/>
            <a:ext cx="5760720" cy="3364992"/>
          </a:xfrm>
          <a:prstGeom prst="roundRect">
            <a:avLst>
              <a:gd name="adj" fmla="val 3804"/>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13" name="rd_273"/>
          <p:cNvSpPr/>
          <p:nvPr/>
        </p:nvSpPr>
        <p:spPr>
          <a:xfrm>
            <a:off x="45720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100" b="1" dirty="0">
                <a:solidFill>
                  <a:srgbClr val="1F6F43"/>
                </a:solidFill>
                <a:latin typeface="Georgia" pitchFamily="34" charset="0"/>
                <a:ea typeface="Georgia" pitchFamily="34" charset="-122"/>
                <a:cs typeface="Georgia" pitchFamily="34" charset="-120"/>
              </a:rPr>
              <a:t>In autumn · Go to the Treetop Walkway at Kew Gardens (TW)</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This is one of the highlights of Kew, London's botanical gardens. It's open all year round, and it's beautiful in autumn when the trees </a:t>
            </a:r>
            <a:pPr indent="0" marL="0">
              <a:lnSpc>
                <a:spcPct val="105000"/>
              </a:lnSpc>
              <a:spcAft>
                <a:spcPts val="700"/>
              </a:spcAft>
              <a:buNone/>
            </a:pPr>
            <a:r>
              <a:rPr lang="en-US" sz="1000" b="1" u="sng" dirty="0">
                <a:solidFill>
                  <a:srgbClr val="7B5CD6"/>
                </a:solidFill>
                <a:latin typeface="Georgia" pitchFamily="34" charset="0"/>
                <a:ea typeface="Georgia" pitchFamily="34" charset="-122"/>
                <a:cs typeface="Georgia" pitchFamily="34" charset="-120"/>
              </a:rPr>
              <a:t>are changing</a:t>
            </a:r>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 colour. The Walkway is 18 metres above the ground, and you can see all the gardens and a lot of famous buildings, including Wembley Stadium. You can also see birds and insects very close up, and find out all about the trees around you. But if the weather is very windy, the Walkway sometimes closes.</a:t>
            </a:r>
            <a:endParaRPr lang="en-US" sz="1000" dirty="0"/>
          </a:p>
        </p:txBody>
      </p:sp>
      <p:sp>
        <p:nvSpPr>
          <p:cNvPr id="14" name="rd_274"/>
          <p:cNvSpPr/>
          <p:nvPr/>
        </p:nvSpPr>
        <p:spPr>
          <a:xfrm>
            <a:off x="3337560" y="1527048"/>
            <a:ext cx="2606040" cy="3090672"/>
          </a:xfrm>
          <a:prstGeom prst="rect">
            <a:avLst/>
          </a:prstGeom>
          <a:noFill/>
          <a:ln/>
        </p:spPr>
        <p:txBody>
          <a:bodyPr wrap="square" lIns="0" tIns="0" rIns="0" bIns="0" rtlCol="0" anchor="t"/>
          <a:lstStyle/>
          <a:p>
            <a:pPr indent="0" marL="0">
              <a:lnSpc>
                <a:spcPct val="105000"/>
              </a:lnSpc>
              <a:spcAft>
                <a:spcPts val="400"/>
              </a:spcAft>
              <a:buNone/>
            </a:pPr>
            <a:r>
              <a:rPr lang="en-US" sz="1100" b="1" dirty="0">
                <a:solidFill>
                  <a:srgbClr val="1F6F43"/>
                </a:solidFill>
                <a:latin typeface="Georgia" pitchFamily="34" charset="0"/>
                <a:ea typeface="Georgia" pitchFamily="34" charset="-122"/>
                <a:cs typeface="Georgia" pitchFamily="34" charset="-120"/>
              </a:rPr>
              <a:t>In winter · Visit the V&amp;A</a:t>
            </a:r>
            <a:endParaRPr lang="en-US" sz="1000" dirty="0"/>
          </a:p>
          <a:p>
            <a:pPr indent="0" marL="0">
              <a:lnSpc>
                <a:spcPct val="105000"/>
              </a:lnSpc>
              <a:spcAft>
                <a:spcPts val="700"/>
              </a:spcAft>
              <a:buNone/>
            </a:pPr>
            <a:r>
              <a:rPr lang="en-US" sz="1000" dirty="0">
                <a:solidFill>
                  <a:srgbClr val="1B2559"/>
                </a:solidFill>
                <a:latin typeface="Georgia" pitchFamily="34" charset="0"/>
                <a:ea typeface="Georgia" pitchFamily="34" charset="-122"/>
                <a:cs typeface="Georgia" pitchFamily="34" charset="-120"/>
              </a:rPr>
              <a:t>London is full of wonderful museums, where you can happily spend a cold winter's day. My favourite, which not all tourists know about, is the Victoria and Albert Museum, or V&amp;A. It's the world's top museum for art and design, and has amazing collections of clothes, furniture, jewellery, clocks, and ceramics. Exhibitions include the clothes of fashion designer Alexander McQueen, and the career of David Bowie. It has special activities for children, and a great café open daily until 17.15. Entrance is free, but some exhibitions charge a fee.</a:t>
            </a:r>
            <a:endParaRPr lang="en-US" sz="1000" dirty="0"/>
          </a:p>
        </p:txBody>
      </p:sp>
      <p:sp>
        <p:nvSpPr>
          <p:cNvPr id="15" name="rdl_275"/>
          <p:cNvSpPr/>
          <p:nvPr/>
        </p:nvSpPr>
        <p:spPr>
          <a:xfrm>
            <a:off x="3200400" y="1600200"/>
            <a:ext cx="0" cy="2999232"/>
          </a:xfrm>
          <a:prstGeom prst="line">
            <a:avLst/>
          </a:prstGeom>
          <a:noFill/>
          <a:ln w="28575">
            <a:solidFill>
              <a:srgbClr val="A8E5BE"/>
            </a:solidFill>
            <a:prstDash val="solid"/>
          </a:ln>
        </p:spPr>
      </p:sp>
      <p:sp>
        <p:nvSpPr>
          <p:cNvPr id="16" name="cd_276"/>
          <p:cNvSpPr/>
          <p:nvPr/>
        </p:nvSpPr>
        <p:spPr>
          <a:xfrm>
            <a:off x="6263640" y="1417320"/>
            <a:ext cx="2606040" cy="2377440"/>
          </a:xfrm>
          <a:prstGeom prst="roundRect">
            <a:avLst>
              <a:gd name="adj" fmla="val 5385"/>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7" name="ii_277"/>
          <p:cNvSpPr/>
          <p:nvPr/>
        </p:nvSpPr>
        <p:spPr>
          <a:xfrm>
            <a:off x="63550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278"/>
          <p:cNvSpPr/>
          <p:nvPr/>
        </p:nvSpPr>
        <p:spPr>
          <a:xfrm>
            <a:off x="6830568" y="1508760"/>
            <a:ext cx="196596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Adjective + noun</a:t>
            </a:r>
            <a:endParaRPr lang="en-US" sz="1300" dirty="0"/>
          </a:p>
        </p:txBody>
      </p:sp>
      <p:sp>
        <p:nvSpPr>
          <p:cNvPr id="19" name="il_279"/>
          <p:cNvSpPr/>
          <p:nvPr/>
        </p:nvSpPr>
        <p:spPr>
          <a:xfrm>
            <a:off x="6830568" y="1911096"/>
            <a:ext cx="1947672" cy="1810512"/>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1 a fantastic atmosphere</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2 my favourite…</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3 good (or bad)…</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4 a great…</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5 famous…</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6 wonderful…</a:t>
            </a:r>
            <a:endParaRPr lang="en-US" sz="1100" dirty="0"/>
          </a:p>
          <a:p>
            <a:pPr marL="152400" indent="-152400">
              <a:spcBef>
                <a:spcPts val="600"/>
              </a:spcBef>
              <a:spcAft>
                <a:spcPts val="200"/>
              </a:spcAft>
              <a:buSzPct val="100000"/>
              <a:buChar char="•"/>
            </a:pPr>
            <a:r>
              <a:rPr lang="en-US" sz="1100" dirty="0">
                <a:solidFill>
                  <a:srgbClr val="1B2559"/>
                </a:solidFill>
                <a:latin typeface="Segoe UI Semibold" pitchFamily="34" charset="0"/>
                <a:ea typeface="Segoe UI Semibold" pitchFamily="34" charset="-122"/>
                <a:cs typeface="Segoe UI Semibold" pitchFamily="34" charset="-120"/>
              </a:rPr>
              <a:t>7 amazing…</a:t>
            </a:r>
            <a:endParaRPr lang="en-US" sz="1100" dirty="0"/>
          </a:p>
        </p:txBody>
      </p:sp>
      <p:sp>
        <p:nvSpPr>
          <p:cNvPr id="20" name="R1_chip280"/>
          <p:cNvSpPr/>
          <p:nvPr/>
        </p:nvSpPr>
        <p:spPr>
          <a:xfrm>
            <a:off x="6263640" y="3904488"/>
            <a:ext cx="2606040" cy="850392"/>
          </a:xfrm>
          <a:prstGeom prst="roundRect">
            <a:avLst>
              <a:gd name="adj" fmla="val 10753"/>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2 places 3 weather 4 place, café 5 buildings 6 museums 7 collections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1"/>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282"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83"/>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Leicester Square!</a:t>
            </a:r>
            <a:endParaRPr lang="en-US" sz="2500" dirty="0"/>
          </a:p>
        </p:txBody>
      </p:sp>
      <p:pic>
        <p:nvPicPr>
          <p:cNvPr id="6" name="brP_284"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285"/>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Underline the stressed syllable. Then repeat!</a:t>
            </a:r>
            <a:endParaRPr lang="en-US" sz="1250" dirty="0"/>
          </a:p>
        </p:txBody>
      </p:sp>
      <p:sp>
        <p:nvSpPr>
          <p:cNvPr id="8" name="insIT_286"/>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Ascolta. Sottolinea la sillaba accentata. Poi ripeti!</a:t>
            </a:r>
            <a:endParaRPr lang="en-US" sz="950" dirty="0"/>
          </a:p>
        </p:txBody>
      </p:sp>
      <p:sp>
        <p:nvSpPr>
          <p:cNvPr id="9" name="note_287"/>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LISTEN</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SAY IT</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3 min   🙋 whole class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Pronunciation · Controlled practice</a:t>
            </a:r>
            <a:endParaRPr lang="en-US" sz="1150" dirty="0"/>
          </a:p>
        </p:txBody>
      </p:sp>
      <p:pic>
        <p:nvPicPr>
          <p:cNvPr id="10" name="logo_288"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289"/>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Pronunciation · places in London   ·   📖 SB p.43 · 4a, 4b · audio 5.21 (TG key + notes)</a:t>
            </a:r>
            <a:endParaRPr lang="en-US" sz="800" dirty="0"/>
          </a:p>
        </p:txBody>
      </p:sp>
      <p:sp>
        <p:nvSpPr>
          <p:cNvPr id="12" name="cd_290"/>
          <p:cNvSpPr/>
          <p:nvPr/>
        </p:nvSpPr>
        <p:spPr>
          <a:xfrm>
            <a:off x="320040" y="1417320"/>
            <a:ext cx="2697480" cy="969264"/>
          </a:xfrm>
          <a:prstGeom prst="roundRect">
            <a:avLst>
              <a:gd name="adj" fmla="val 1320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291"/>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292"/>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5" name="il_293"/>
          <p:cNvSpPr/>
          <p:nvPr/>
        </p:nvSpPr>
        <p:spPr>
          <a:xfrm>
            <a:off x="886968" y="1911096"/>
            <a:ext cx="2039112" cy="402336"/>
          </a:xfrm>
          <a:prstGeom prst="rect">
            <a:avLst/>
          </a:prstGeom>
          <a:noFill/>
          <a:ln/>
        </p:spPr>
        <p:txBody>
          <a:bodyPr wrap="square" lIns="0" tIns="0" rIns="0" bIns="0" rtlCol="0" anchor="t">
            <a:normAutofit/>
          </a:bodyPr>
          <a:lstStyle/>
          <a:p>
            <a:pPr indent="0" marL="0">
              <a:spcAft>
                <a:spcPts val="200"/>
              </a:spcAft>
              <a:buNone/>
            </a:pPr>
            <a:r>
              <a:rPr lang="en-US" sz="1000" dirty="0">
                <a:solidFill>
                  <a:srgbClr val="1B2559"/>
                </a:solidFill>
                <a:latin typeface="Segoe UI Semibold" pitchFamily="34" charset="0"/>
                <a:ea typeface="Segoe UI Semibold" pitchFamily="34" charset="-122"/>
                <a:cs typeface="Segoe UI Semibold" pitchFamily="34" charset="-120"/>
              </a:rPr>
              <a:t>Leicester /ˈlestə/ · Parliament /ˈpɑːləmənt/ – surprise!</a:t>
            </a:r>
            <a:endParaRPr lang="en-US" sz="1000" dirty="0"/>
          </a:p>
        </p:txBody>
      </p:sp>
      <p:sp>
        <p:nvSpPr>
          <p:cNvPr id="16" name="ap_294"/>
          <p:cNvSpPr/>
          <p:nvPr/>
        </p:nvSpPr>
        <p:spPr>
          <a:xfrm>
            <a:off x="365760" y="4297680"/>
            <a:ext cx="2606040" cy="402336"/>
          </a:xfrm>
          <a:prstGeom prst="roundRect">
            <a:avLst>
              <a:gd name="adj" fmla="val 50000"/>
            </a:avLst>
          </a:prstGeom>
          <a:solidFill>
            <a:srgbClr val="E3F1FD"/>
          </a:solidFill>
          <a:ln w="28575">
            <a:solidFill>
              <a:srgbClr val="A9D3F5"/>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5.21</a:t>
            </a:r>
            <a:endParaRPr lang="en-US" sz="1100" dirty="0"/>
          </a:p>
        </p:txBody>
      </p:sp>
      <p:sp>
        <p:nvSpPr>
          <p:cNvPr id="17" name="bd_295"/>
          <p:cNvSpPr/>
          <p:nvPr/>
        </p:nvSpPr>
        <p:spPr>
          <a:xfrm>
            <a:off x="3246120" y="144475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18" name="q_296"/>
          <p:cNvSpPr/>
          <p:nvPr/>
        </p:nvSpPr>
        <p:spPr>
          <a:xfrm>
            <a:off x="3630168" y="141732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Buckingham Palace</a:t>
            </a:r>
            <a:endParaRPr lang="en-US" sz="950" dirty="0"/>
          </a:p>
        </p:txBody>
      </p:sp>
      <p:sp>
        <p:nvSpPr>
          <p:cNvPr id="19" name="R1_chip297"/>
          <p:cNvSpPr/>
          <p:nvPr/>
        </p:nvSpPr>
        <p:spPr>
          <a:xfrm>
            <a:off x="5806440" y="14173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BUCKingham PALace</a:t>
            </a:r>
            <a:endParaRPr lang="en-US" sz="950" dirty="0"/>
          </a:p>
        </p:txBody>
      </p:sp>
      <p:sp>
        <p:nvSpPr>
          <p:cNvPr id="20" name="bd_298"/>
          <p:cNvSpPr/>
          <p:nvPr/>
        </p:nvSpPr>
        <p:spPr>
          <a:xfrm>
            <a:off x="3246120" y="185623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1" name="q_299"/>
          <p:cNvSpPr/>
          <p:nvPr/>
        </p:nvSpPr>
        <p:spPr>
          <a:xfrm>
            <a:off x="3630168" y="182880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Wembley Stadium</a:t>
            </a:r>
            <a:endParaRPr lang="en-US" sz="950" dirty="0"/>
          </a:p>
        </p:txBody>
      </p:sp>
      <p:sp>
        <p:nvSpPr>
          <p:cNvPr id="22" name="R2_chip300"/>
          <p:cNvSpPr/>
          <p:nvPr/>
        </p:nvSpPr>
        <p:spPr>
          <a:xfrm>
            <a:off x="5806440" y="18288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WEMbley STAdium</a:t>
            </a:r>
            <a:endParaRPr lang="en-US" sz="950" dirty="0"/>
          </a:p>
        </p:txBody>
      </p:sp>
      <p:sp>
        <p:nvSpPr>
          <p:cNvPr id="23" name="bd_301"/>
          <p:cNvSpPr/>
          <p:nvPr/>
        </p:nvSpPr>
        <p:spPr>
          <a:xfrm>
            <a:off x="3246120" y="226771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4" name="q_302"/>
          <p:cNvSpPr/>
          <p:nvPr/>
        </p:nvSpPr>
        <p:spPr>
          <a:xfrm>
            <a:off x="3630168" y="224028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the Tower of London</a:t>
            </a:r>
            <a:endParaRPr lang="en-US" sz="950" dirty="0"/>
          </a:p>
        </p:txBody>
      </p:sp>
      <p:sp>
        <p:nvSpPr>
          <p:cNvPr id="25" name="R3_chip303"/>
          <p:cNvSpPr/>
          <p:nvPr/>
        </p:nvSpPr>
        <p:spPr>
          <a:xfrm>
            <a:off x="5806440" y="22402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the TOWer of LONdon</a:t>
            </a:r>
            <a:endParaRPr lang="en-US" sz="950" dirty="0"/>
          </a:p>
        </p:txBody>
      </p:sp>
      <p:sp>
        <p:nvSpPr>
          <p:cNvPr id="26" name="bd_304"/>
          <p:cNvSpPr/>
          <p:nvPr/>
        </p:nvSpPr>
        <p:spPr>
          <a:xfrm>
            <a:off x="3246120" y="267919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27" name="q_305"/>
          <p:cNvSpPr/>
          <p:nvPr/>
        </p:nvSpPr>
        <p:spPr>
          <a:xfrm>
            <a:off x="3630168" y="265176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Leicester Square</a:t>
            </a:r>
            <a:endParaRPr lang="en-US" sz="950" dirty="0"/>
          </a:p>
        </p:txBody>
      </p:sp>
      <p:sp>
        <p:nvSpPr>
          <p:cNvPr id="28" name="R4_chip306"/>
          <p:cNvSpPr/>
          <p:nvPr/>
        </p:nvSpPr>
        <p:spPr>
          <a:xfrm>
            <a:off x="5806440" y="265176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LEIcester (LES-ter) Square</a:t>
            </a:r>
            <a:endParaRPr lang="en-US" sz="950" dirty="0"/>
          </a:p>
        </p:txBody>
      </p:sp>
      <p:sp>
        <p:nvSpPr>
          <p:cNvPr id="29" name="bd_307"/>
          <p:cNvSpPr/>
          <p:nvPr/>
        </p:nvSpPr>
        <p:spPr>
          <a:xfrm>
            <a:off x="3246120" y="3090672"/>
            <a:ext cx="310896" cy="310896"/>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0" name="q_308"/>
          <p:cNvSpPr/>
          <p:nvPr/>
        </p:nvSpPr>
        <p:spPr>
          <a:xfrm>
            <a:off x="3630168" y="3063240"/>
            <a:ext cx="2103120" cy="365760"/>
          </a:xfrm>
          <a:prstGeom prst="roundRect">
            <a:avLst>
              <a:gd name="adj" fmla="val 25000"/>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Piccadilly Circus</a:t>
            </a:r>
            <a:endParaRPr lang="en-US" sz="950" dirty="0"/>
          </a:p>
        </p:txBody>
      </p:sp>
      <p:sp>
        <p:nvSpPr>
          <p:cNvPr id="31" name="R5_chip309"/>
          <p:cNvSpPr/>
          <p:nvPr/>
        </p:nvSpPr>
        <p:spPr>
          <a:xfrm>
            <a:off x="5806440" y="306324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piccaDILLy CIRcus</a:t>
            </a:r>
            <a:endParaRPr lang="en-US" sz="950" dirty="0"/>
          </a:p>
        </p:txBody>
      </p:sp>
      <p:sp>
        <p:nvSpPr>
          <p:cNvPr id="32" name="bd_310"/>
          <p:cNvSpPr/>
          <p:nvPr/>
        </p:nvSpPr>
        <p:spPr>
          <a:xfrm>
            <a:off x="3246120" y="3502152"/>
            <a:ext cx="310896" cy="310896"/>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3" name="q_311"/>
          <p:cNvSpPr/>
          <p:nvPr/>
        </p:nvSpPr>
        <p:spPr>
          <a:xfrm>
            <a:off x="3630168" y="3474720"/>
            <a:ext cx="2103120" cy="365760"/>
          </a:xfrm>
          <a:prstGeom prst="roundRect">
            <a:avLst>
              <a:gd name="adj" fmla="val 25000"/>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the Houses of Parliament</a:t>
            </a:r>
            <a:endParaRPr lang="en-US" sz="950" dirty="0"/>
          </a:p>
        </p:txBody>
      </p:sp>
      <p:sp>
        <p:nvSpPr>
          <p:cNvPr id="34" name="R6_chip312"/>
          <p:cNvSpPr/>
          <p:nvPr/>
        </p:nvSpPr>
        <p:spPr>
          <a:xfrm>
            <a:off x="5806440" y="347472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the HOUses of PARliament</a:t>
            </a:r>
            <a:endParaRPr lang="en-US" sz="950" dirty="0"/>
          </a:p>
        </p:txBody>
      </p:sp>
      <p:sp>
        <p:nvSpPr>
          <p:cNvPr id="35" name="bd_313"/>
          <p:cNvSpPr/>
          <p:nvPr/>
        </p:nvSpPr>
        <p:spPr>
          <a:xfrm>
            <a:off x="3246120" y="3913632"/>
            <a:ext cx="310896" cy="310896"/>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7</a:t>
            </a:r>
            <a:endParaRPr lang="en-US" sz="1000" dirty="0"/>
          </a:p>
        </p:txBody>
      </p:sp>
      <p:sp>
        <p:nvSpPr>
          <p:cNvPr id="36" name="q_314"/>
          <p:cNvSpPr/>
          <p:nvPr/>
        </p:nvSpPr>
        <p:spPr>
          <a:xfrm>
            <a:off x="3630168" y="3886200"/>
            <a:ext cx="2103120" cy="365760"/>
          </a:xfrm>
          <a:prstGeom prst="roundRect">
            <a:avLst>
              <a:gd name="adj" fmla="val 25000"/>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950" b="1" dirty="0">
                <a:solidFill>
                  <a:srgbClr val="1B2559"/>
                </a:solidFill>
                <a:latin typeface="Segoe UI Semibold" pitchFamily="34" charset="0"/>
                <a:ea typeface="Segoe UI Semibold" pitchFamily="34" charset="-122"/>
                <a:cs typeface="Segoe UI Semibold" pitchFamily="34" charset="-120"/>
              </a:rPr>
              <a:t>Trafalgar Square</a:t>
            </a:r>
            <a:endParaRPr lang="en-US" sz="950" dirty="0"/>
          </a:p>
        </p:txBody>
      </p:sp>
      <p:sp>
        <p:nvSpPr>
          <p:cNvPr id="37" name="R7_chip315"/>
          <p:cNvSpPr/>
          <p:nvPr/>
        </p:nvSpPr>
        <p:spPr>
          <a:xfrm>
            <a:off x="5806440" y="388620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traFALgar Square</a:t>
            </a:r>
            <a:endParaRPr lang="en-US" sz="950" dirty="0"/>
          </a:p>
        </p:txBody>
      </p:sp>
      <p:sp>
        <p:nvSpPr>
          <p:cNvPr id="38" name="bd_316"/>
          <p:cNvSpPr/>
          <p:nvPr/>
        </p:nvSpPr>
        <p:spPr>
          <a:xfrm>
            <a:off x="3246120" y="4325112"/>
            <a:ext cx="310896" cy="310896"/>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8</a:t>
            </a:r>
            <a:endParaRPr lang="en-US" sz="1000" dirty="0"/>
          </a:p>
        </p:txBody>
      </p:sp>
      <p:sp>
        <p:nvSpPr>
          <p:cNvPr id="39" name="q_317"/>
          <p:cNvSpPr/>
          <p:nvPr/>
        </p:nvSpPr>
        <p:spPr>
          <a:xfrm>
            <a:off x="3630168" y="4297680"/>
            <a:ext cx="2103120" cy="365760"/>
          </a:xfrm>
          <a:prstGeom prst="roundRect">
            <a:avLst>
              <a:gd name="adj" fmla="val 25000"/>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800" b="1" dirty="0">
                <a:solidFill>
                  <a:srgbClr val="1B2559"/>
                </a:solidFill>
                <a:latin typeface="Segoe UI Semibold" pitchFamily="34" charset="0"/>
                <a:ea typeface="Segoe UI Semibold" pitchFamily="34" charset="-122"/>
                <a:cs typeface="Segoe UI Semibold" pitchFamily="34" charset="-120"/>
              </a:rPr>
              <a:t>St Paul's Cathedral · Westminster Abbey · Covent Garden</a:t>
            </a:r>
            <a:endParaRPr lang="en-US" sz="800" dirty="0"/>
          </a:p>
        </p:txBody>
      </p:sp>
      <p:sp>
        <p:nvSpPr>
          <p:cNvPr id="40" name="R8_chip318"/>
          <p:cNvSpPr/>
          <p:nvPr/>
        </p:nvSpPr>
        <p:spPr>
          <a:xfrm>
            <a:off x="5806440" y="4297680"/>
            <a:ext cx="3063240" cy="365760"/>
          </a:xfrm>
          <a:prstGeom prst="roundRect">
            <a:avLst>
              <a:gd name="adj" fmla="val 25000"/>
            </a:avLst>
          </a:prstGeom>
          <a:solidFill>
            <a:srgbClr val="E3F7EA"/>
          </a:solidFill>
          <a:ln w="28575">
            <a:solidFill>
              <a:srgbClr val="A8E5BE"/>
            </a:solidFill>
          </a:ln>
        </p:spPr>
        <p:txBody>
          <a:bodyPr wrap="square" lIns="101600" tIns="0" rIns="101600" bIns="0" rtlCol="0" anchor="ctr">
            <a:normAutofit/>
          </a:bodyPr>
          <a:lstStyle/>
          <a:p>
            <a:pPr algn="l" indent="0" marL="0">
              <a:buNone/>
            </a:pPr>
            <a:r>
              <a:rPr lang="en-US" sz="950" b="1" dirty="0">
                <a:solidFill>
                  <a:srgbClr val="1B2559"/>
                </a:solidFill>
                <a:latin typeface="Segoe UI Semibold" pitchFamily="34" charset="0"/>
                <a:ea typeface="Segoe UI Semibold" pitchFamily="34" charset="-122"/>
                <a:cs typeface="Segoe UI Semibold" pitchFamily="34" charset="-120"/>
              </a:rPr>
              <a:t>St Paul's caTHEdral · WESTminster ABbey · COvent GARden</a:t>
            </a:r>
            <a:endParaRPr lang="en-US" sz="9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4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4"/>
                                        </p:tgtEl>
                                        <p:attrNameLst>
                                          <p:attrName>style.visibility</p:attrName>
                                        </p:attrNameLst>
                                      </p:cBhvr>
                                      <p:to>
                                        <p:strVal val="visible"/>
                                      </p:to>
                                    </p:set>
                                    <p:animEffect transition="in" filter="fade">
                                      <p:cBhvr>
                                        <p:cTn id="32" dur="400"/>
                                        <p:tgtEl>
                                          <p:spTgt spid="3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7"/>
                                        </p:tgtEl>
                                        <p:attrNameLst>
                                          <p:attrName>style.visibility</p:attrName>
                                        </p:attrNameLst>
                                      </p:cBhvr>
                                      <p:to>
                                        <p:strVal val="visible"/>
                                      </p:to>
                                    </p:set>
                                    <p:animEffect transition="in" filter="fade">
                                      <p:cBhvr>
                                        <p:cTn id="37" dur="400"/>
                                        <p:tgtEl>
                                          <p:spTgt spid="37"/>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0"/>
                                        </p:tgtEl>
                                        <p:attrNameLst>
                                          <p:attrName>style.visibility</p:attrName>
                                        </p:attrNameLst>
                                      </p:cBhvr>
                                      <p:to>
                                        <p:strVal val="visible"/>
                                      </p:to>
                                    </p:set>
                                    <p:animEffect transition="in" filter="fade">
                                      <p:cBhvr>
                                        <p:cTn id="42"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9"/>
          <p:cNvSpPr/>
          <p:nvPr/>
        </p:nvSpPr>
        <p:spPr>
          <a:xfrm>
            <a:off x="201168" y="164592"/>
            <a:ext cx="841248" cy="841248"/>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20" descr="/home/claude/lls-course/v2/assets/brush-yellow.png">    </p:cNvPr>
          <p:cNvPicPr>
            <a:picLocks noChangeAspect="1"/>
          </p:cNvPicPr>
          <p:nvPr/>
        </p:nvPicPr>
        <p:blipFill>
          <a:blip r:embed="rId2"/>
          <a:stretch>
            <a:fillRect/>
          </a:stretch>
        </p:blipFill>
        <p:spPr>
          <a:xfrm>
            <a:off x="1097280" y="146304"/>
            <a:ext cx="4506163" cy="621792"/>
          </a:xfrm>
          <a:prstGeom prst="rect">
            <a:avLst/>
          </a:prstGeom>
        </p:spPr>
      </p:pic>
      <p:sp>
        <p:nvSpPr>
          <p:cNvPr id="5" name="title_321"/>
          <p:cNvSpPr/>
          <p:nvPr/>
        </p:nvSpPr>
        <p:spPr>
          <a:xfrm>
            <a:off x="1261872" y="164592"/>
            <a:ext cx="423184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Where do you want to go?</a:t>
            </a:r>
            <a:endParaRPr lang="en-US" sz="2400" dirty="0"/>
          </a:p>
        </p:txBody>
      </p:sp>
      <p:pic>
        <p:nvPicPr>
          <p:cNvPr id="6" name="brP_322" descr="/home/claude/lls-course/v2/assets/brush-pink.png">    </p:cNvPr>
          <p:cNvPicPr>
            <a:picLocks noChangeAspect="1"/>
          </p:cNvPicPr>
          <p:nvPr/>
        </p:nvPicPr>
        <p:blipFill>
          <a:blip r:embed="rId3"/>
          <a:stretch>
            <a:fillRect/>
          </a:stretch>
        </p:blipFill>
        <p:spPr>
          <a:xfrm>
            <a:off x="1207008" y="731520"/>
            <a:ext cx="5257800" cy="402336"/>
          </a:xfrm>
          <a:prstGeom prst="rect">
            <a:avLst/>
          </a:prstGeom>
        </p:spPr>
      </p:pic>
      <p:sp>
        <p:nvSpPr>
          <p:cNvPr id="7" name="ins_323"/>
          <p:cNvSpPr/>
          <p:nvPr/>
        </p:nvSpPr>
        <p:spPr>
          <a:xfrm>
            <a:off x="1353312" y="731520"/>
            <a:ext cx="5001768" cy="402336"/>
          </a:xfrm>
          <a:prstGeom prst="rect">
            <a:avLst/>
          </a:prstGeom>
          <a:noFill/>
          <a:ln/>
        </p:spPr>
        <p:txBody>
          <a:bodyPr wrap="square" lIns="0" tIns="0" rIns="0" bIns="0" rtlCol="0" anchor="ctr">
            <a:normAutofit/>
          </a:bodyPr>
          <a:lstStyle/>
          <a:p>
            <a:pPr indent="0" marL="0">
              <a:buNone/>
            </a:pPr>
            <a:r>
              <a:rPr lang="en-US" sz="1100" i="1" dirty="0">
                <a:solidFill>
                  <a:srgbClr val="1B2559"/>
                </a:solidFill>
                <a:latin typeface="Segoe UI Semibold" pitchFamily="34" charset="0"/>
                <a:ea typeface="Segoe UI Semibold" pitchFamily="34" charset="-122"/>
                <a:cs typeface="Segoe UI Semibold" pitchFamily="34" charset="-120"/>
              </a:rPr>
              <a:t>Taxi! A is the driver, B is the passenger. Have a short conversation – then swap!</a:t>
            </a:r>
            <a:endParaRPr lang="en-US" sz="1100" dirty="0"/>
          </a:p>
        </p:txBody>
      </p:sp>
      <p:sp>
        <p:nvSpPr>
          <p:cNvPr id="8" name="insIT_324"/>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Taxi! A è il tassista, B il passeggero. Fate un breve dialogo – poi scambiatevi!</a:t>
            </a:r>
            <a:endParaRPr lang="en-US" sz="950" dirty="0"/>
          </a:p>
        </p:txBody>
      </p:sp>
      <p:sp>
        <p:nvSpPr>
          <p:cNvPr id="9" name="note_325"/>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PLAY</a:t>
            </a:r>
            <a:pPr algn="ctr" indent="0" marL="0">
              <a:buNone/>
            </a:pPr>
            <a:r>
              <a:rPr lang="en-US" sz="1200" dirty="0">
                <a:solidFill>
                  <a:srgbClr val="5B6785"/>
                </a:solidFill>
              </a:rPr>
              <a:t> → </a:t>
            </a:r>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 TALK</a:t>
            </a:r>
            <a:endParaRPr lang="en-US" sz="11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6 min   👥 pairs</a:t>
            </a:r>
            <a:endParaRPr lang="en-US" sz="11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Speaking · Communicative game</a:t>
            </a:r>
            <a:endParaRPr lang="en-US" sz="1150" dirty="0"/>
          </a:p>
        </p:txBody>
      </p:sp>
      <p:pic>
        <p:nvPicPr>
          <p:cNvPr id="10" name="logo_3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Speaking · in a London taxi   ·   📖 SB p.43 · 4c</a:t>
            </a:r>
            <a:endParaRPr lang="en-US" sz="800" dirty="0"/>
          </a:p>
        </p:txBody>
      </p:sp>
      <p:sp>
        <p:nvSpPr>
          <p:cNvPr id="12" name="cd_328"/>
          <p:cNvSpPr/>
          <p:nvPr/>
        </p:nvSpPr>
        <p:spPr>
          <a:xfrm>
            <a:off x="320040" y="1417320"/>
            <a:ext cx="2697480" cy="2307336"/>
          </a:xfrm>
          <a:prstGeom prst="roundRect">
            <a:avLst>
              <a:gd name="adj" fmla="val 5548"/>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3" name="ii_329"/>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ih_330"/>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5" name="il_331"/>
          <p:cNvSpPr/>
          <p:nvPr/>
        </p:nvSpPr>
        <p:spPr>
          <a:xfrm>
            <a:off x="886968" y="1911096"/>
            <a:ext cx="2039112" cy="1740408"/>
          </a:xfrm>
          <a:prstGeom prst="rect">
            <a:avLst/>
          </a:prstGeom>
          <a:noFill/>
          <a:ln/>
        </p:spPr>
        <p:txBody>
          <a:bodyPr wrap="square" lIns="0" tIns="0" rIns="0" bIns="0" rtlCol="0" anchor="t">
            <a:normAutofit/>
          </a:bodyPr>
          <a:lstStyle/>
          <a:p>
            <a:pPr marL="152400" indent="-152400">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A = taxi driver · B = passenger (choose a London place!).</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Use the questions below – and the weather!</a:t>
            </a:r>
            <a:endParaRPr lang="en-US" sz="1200" dirty="0"/>
          </a:p>
          <a:p>
            <a:pPr marL="152400" indent="-152400">
              <a:spcBef>
                <a:spcPts val="600"/>
              </a:spcBef>
              <a:spcAft>
                <a:spcPts val="200"/>
              </a:spcAft>
              <a:buSzPct val="100000"/>
              <a:buChar char="•"/>
            </a:pPr>
            <a:r>
              <a:rPr lang="en-US" sz="1200" dirty="0">
                <a:solidFill>
                  <a:srgbClr val="1B2559"/>
                </a:solidFill>
                <a:latin typeface="Segoe UI Semibold" pitchFamily="34" charset="0"/>
                <a:ea typeface="Segoe UI Semibold" pitchFamily="34" charset="-122"/>
                <a:cs typeface="Segoe UI Semibold" pitchFamily="34" charset="-120"/>
              </a:rPr>
              <a:t>Swap roles. Best pair performs for the class.</a:t>
            </a:r>
            <a:endParaRPr lang="en-US" sz="1200" dirty="0"/>
          </a:p>
        </p:txBody>
      </p:sp>
      <p:sp>
        <p:nvSpPr>
          <p:cNvPr id="16" name="pf_332"/>
          <p:cNvSpPr/>
          <p:nvPr/>
        </p:nvSpPr>
        <p:spPr>
          <a:xfrm rot="-120000">
            <a:off x="1322705" y="3861816"/>
            <a:ext cx="646430" cy="1143000"/>
          </a:xfrm>
          <a:prstGeom prst="roundRect">
            <a:avLst>
              <a:gd name="adj" fmla="val 2404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7" name="ph_333" descr="/home/claude/lls-course/v2/cache/red_5c_marathon_jpg_134x253_31.png">    </p:cNvPr>
          <p:cNvPicPr>
            <a:picLocks noChangeAspect="1"/>
          </p:cNvPicPr>
          <p:nvPr/>
        </p:nvPicPr>
        <p:blipFill>
          <a:blip r:embed="rId5"/>
          <a:stretch>
            <a:fillRect/>
          </a:stretch>
        </p:blipFill>
        <p:spPr>
          <a:xfrm rot="-120000">
            <a:off x="1368425" y="3907536"/>
            <a:ext cx="554990" cy="1051560"/>
          </a:xfrm>
          <a:prstGeom prst="rect">
            <a:avLst/>
          </a:prstGeom>
        </p:spPr>
      </p:pic>
      <p:sp>
        <p:nvSpPr>
          <p:cNvPr id="18" name="bd_334"/>
          <p:cNvSpPr/>
          <p:nvPr/>
        </p:nvSpPr>
        <p:spPr>
          <a:xfrm>
            <a:off x="3246120" y="1572768"/>
            <a:ext cx="329184" cy="329184"/>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19" name="gq_335"/>
          <p:cNvSpPr/>
          <p:nvPr/>
        </p:nvSpPr>
        <p:spPr>
          <a:xfrm>
            <a:off x="3657600" y="1417320"/>
            <a:ext cx="2514600" cy="640080"/>
          </a:xfrm>
          <a:prstGeom prst="roundRect">
            <a:avLst>
              <a:gd name="adj" fmla="val 14286"/>
            </a:avLst>
          </a:prstGeom>
          <a:solidFill>
            <a:srgbClr val="FFFFFF"/>
          </a:solidFill>
          <a:ln w="28575">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Where do you want to go?</a:t>
            </a:r>
            <a:endParaRPr lang="en-US" sz="1200" dirty="0"/>
          </a:p>
        </p:txBody>
      </p:sp>
      <p:sp>
        <p:nvSpPr>
          <p:cNvPr id="20" name="R1_chip336"/>
          <p:cNvSpPr/>
          <p:nvPr/>
        </p:nvSpPr>
        <p:spPr>
          <a:xfrm>
            <a:off x="6263640" y="1417320"/>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B: Trafalgar Square, please. Is it far?</a:t>
            </a:r>
            <a:endParaRPr lang="en-US" sz="1200" dirty="0"/>
          </a:p>
        </p:txBody>
      </p:sp>
      <p:sp>
        <p:nvSpPr>
          <p:cNvPr id="21" name="bd_337"/>
          <p:cNvSpPr/>
          <p:nvPr/>
        </p:nvSpPr>
        <p:spPr>
          <a:xfrm>
            <a:off x="3246120" y="2276856"/>
            <a:ext cx="329184" cy="329184"/>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2" name="gq_338"/>
          <p:cNvSpPr/>
          <p:nvPr/>
        </p:nvSpPr>
        <p:spPr>
          <a:xfrm>
            <a:off x="3657600" y="2121408"/>
            <a:ext cx="2514600" cy="640080"/>
          </a:xfrm>
          <a:prstGeom prst="roundRect">
            <a:avLst>
              <a:gd name="adj" fmla="val 14286"/>
            </a:avLst>
          </a:prstGeom>
          <a:solidFill>
            <a:srgbClr val="FFFFFF"/>
          </a:solidFill>
          <a:ln w="28575">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Where are you from? · Are you on holiday?</a:t>
            </a:r>
            <a:endParaRPr lang="en-US" sz="1200" dirty="0"/>
          </a:p>
        </p:txBody>
      </p:sp>
      <p:sp>
        <p:nvSpPr>
          <p:cNvPr id="23" name="R2_chip339"/>
          <p:cNvSpPr/>
          <p:nvPr/>
        </p:nvSpPr>
        <p:spPr>
          <a:xfrm>
            <a:off x="6263640" y="2121408"/>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B: I'm from Italy. Yes, I'm visiting my cousin.</a:t>
            </a:r>
            <a:endParaRPr lang="en-US" sz="1200" dirty="0"/>
          </a:p>
        </p:txBody>
      </p:sp>
      <p:sp>
        <p:nvSpPr>
          <p:cNvPr id="24" name="bd_340"/>
          <p:cNvSpPr/>
          <p:nvPr/>
        </p:nvSpPr>
        <p:spPr>
          <a:xfrm>
            <a:off x="3246120" y="2980944"/>
            <a:ext cx="329184" cy="329184"/>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gq_341"/>
          <p:cNvSpPr/>
          <p:nvPr/>
        </p:nvSpPr>
        <p:spPr>
          <a:xfrm>
            <a:off x="3657600" y="2825496"/>
            <a:ext cx="2514600" cy="640080"/>
          </a:xfrm>
          <a:prstGeom prst="roundRect">
            <a:avLst>
              <a:gd name="adj" fmla="val 14286"/>
            </a:avLst>
          </a:prstGeom>
          <a:solidFill>
            <a:srgbClr val="FFFFFF"/>
          </a:solidFill>
          <a:ln w="28575">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A: Do you like London?</a:t>
            </a:r>
            <a:endParaRPr lang="en-US" sz="1200" dirty="0"/>
          </a:p>
        </p:txBody>
      </p:sp>
      <p:sp>
        <p:nvSpPr>
          <p:cNvPr id="26" name="R3_chip342"/>
          <p:cNvSpPr/>
          <p:nvPr/>
        </p:nvSpPr>
        <p:spPr>
          <a:xfrm>
            <a:off x="6263640" y="2825496"/>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B: Yes, but it's raining today!</a:t>
            </a:r>
            <a:endParaRPr lang="en-US" sz="1200" dirty="0"/>
          </a:p>
        </p:txBody>
      </p:sp>
      <p:sp>
        <p:nvSpPr>
          <p:cNvPr id="27" name="bd_343"/>
          <p:cNvSpPr/>
          <p:nvPr/>
        </p:nvSpPr>
        <p:spPr>
          <a:xfrm>
            <a:off x="3246120" y="3685032"/>
            <a:ext cx="329184" cy="329184"/>
          </a:xfrm>
          <a:prstGeom prst="ellipse">
            <a:avLst/>
          </a:prstGeom>
          <a:solidFill>
            <a:srgbClr val="F2B705"/>
          </a:solidFill>
          <a:ln w="28575">
            <a:solidFill>
              <a:srgbClr val="FFE07A"/>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8" name="gq_344"/>
          <p:cNvSpPr/>
          <p:nvPr/>
        </p:nvSpPr>
        <p:spPr>
          <a:xfrm>
            <a:off x="3657600" y="3529584"/>
            <a:ext cx="2514600" cy="640080"/>
          </a:xfrm>
          <a:prstGeom prst="roundRect">
            <a:avLst>
              <a:gd name="adj" fmla="val 14286"/>
            </a:avLst>
          </a:prstGeom>
          <a:solidFill>
            <a:srgbClr val="FFFFFF"/>
          </a:solidFill>
          <a:ln w="28575">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 Can you stop here, please? · How much is it? · Can I pay by credit card?</a:t>
            </a:r>
            <a:endParaRPr lang="en-US" sz="1200" dirty="0"/>
          </a:p>
        </p:txBody>
      </p:sp>
      <p:sp>
        <p:nvSpPr>
          <p:cNvPr id="29" name="R4_chip345"/>
          <p:cNvSpPr/>
          <p:nvPr/>
        </p:nvSpPr>
        <p:spPr>
          <a:xfrm>
            <a:off x="6263640" y="3529584"/>
            <a:ext cx="2560320" cy="640080"/>
          </a:xfrm>
          <a:prstGeom prst="roundRect">
            <a:avLst>
              <a:gd name="adj" fmla="val 14286"/>
            </a:avLst>
          </a:prstGeom>
          <a:solidFill>
            <a:srgbClr val="FFE3EE"/>
          </a:solidFill>
          <a:ln w="28575">
            <a:solidFill>
              <a:srgbClr val="F7A6C4"/>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 A: That's £15, please. Yes, of course.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fade">
                                      <p:cBhvr>
                                        <p:cTn id="12" dur="4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4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6"/>
          <p:cNvSpPr/>
          <p:nvPr/>
        </p:nvSpPr>
        <p:spPr>
          <a:xfrm>
            <a:off x="201168" y="164592"/>
            <a:ext cx="841248" cy="841248"/>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47"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348"/>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349" descr="/home/claude/lls-course/v2/assets/brush-pink.png">    </p:cNvPr>
          <p:cNvPicPr>
            <a:picLocks noChangeAspect="1"/>
          </p:cNvPicPr>
          <p:nvPr/>
        </p:nvPicPr>
        <p:blipFill>
          <a:blip r:embed="rId3"/>
          <a:stretch>
            <a:fillRect/>
          </a:stretch>
        </p:blipFill>
        <p:spPr>
          <a:xfrm>
            <a:off x="1207008" y="731520"/>
            <a:ext cx="3511296" cy="402336"/>
          </a:xfrm>
          <a:prstGeom prst="rect">
            <a:avLst/>
          </a:prstGeom>
        </p:spPr>
      </p:pic>
      <p:sp>
        <p:nvSpPr>
          <p:cNvPr id="7" name="ins_350"/>
          <p:cNvSpPr/>
          <p:nvPr/>
        </p:nvSpPr>
        <p:spPr>
          <a:xfrm>
            <a:off x="1353312" y="731520"/>
            <a:ext cx="325526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Tell your partner…</a:t>
            </a:r>
            <a:endParaRPr lang="en-US" sz="1250" dirty="0"/>
          </a:p>
        </p:txBody>
      </p:sp>
      <p:sp>
        <p:nvSpPr>
          <p:cNvPr id="8" name="insIT_35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Libri chiusi! Di' al compagno…</a:t>
            </a:r>
            <a:endParaRPr lang="en-US" sz="950" dirty="0"/>
          </a:p>
        </p:txBody>
      </p:sp>
      <p:sp>
        <p:nvSpPr>
          <p:cNvPr id="9" name="note_352"/>
          <p:cNvSpPr/>
          <p:nvPr/>
        </p:nvSpPr>
        <p:spPr>
          <a:xfrm rot="180000">
            <a:off x="6382512" y="128016"/>
            <a:ext cx="2029968" cy="74980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2 min   👥 pairs</a:t>
            </a:r>
            <a:endParaRPr lang="en-US" sz="110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Retrieval</a:t>
            </a:r>
            <a:endParaRPr lang="en-US" sz="1100" dirty="0"/>
          </a:p>
        </p:txBody>
      </p:sp>
      <p:pic>
        <p:nvPicPr>
          <p:cNvPr id="10" name="logo_35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5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Exit · what can you remember?</a:t>
            </a:r>
            <a:endParaRPr lang="en-US" sz="800" dirty="0"/>
          </a:p>
        </p:txBody>
      </p:sp>
      <p:sp>
        <p:nvSpPr>
          <p:cNvPr id="12" name="bd_355"/>
          <p:cNvSpPr/>
          <p:nvPr/>
        </p:nvSpPr>
        <p:spPr>
          <a:xfrm>
            <a:off x="457200" y="1508760"/>
            <a:ext cx="777240" cy="777240"/>
          </a:xfrm>
          <a:prstGeom prst="ellipse">
            <a:avLst/>
          </a:prstGeom>
          <a:solidFill>
            <a:srgbClr val="E8508F"/>
          </a:solidFill>
          <a:ln w="28575">
            <a:solidFill>
              <a:srgbClr val="F7A6C4"/>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3" name="rt_356"/>
          <p:cNvSpPr/>
          <p:nvPr/>
        </p:nvSpPr>
        <p:spPr>
          <a:xfrm>
            <a:off x="1417320" y="1581912"/>
            <a:ext cx="3931920" cy="640080"/>
          </a:xfrm>
          <a:prstGeom prst="roundRect">
            <a:avLst>
              <a:gd name="adj" fmla="val 20000"/>
            </a:avLst>
          </a:prstGeom>
          <a:solidFill>
            <a:srgbClr val="FFFFFF"/>
          </a:solidFill>
          <a:ln w="28575">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3 weather words and the 4 seasons.</a:t>
            </a:r>
            <a:endParaRPr lang="en-US" sz="1400" dirty="0"/>
          </a:p>
        </p:txBody>
      </p:sp>
      <p:sp>
        <p:nvSpPr>
          <p:cNvPr id="14" name="bd_357"/>
          <p:cNvSpPr/>
          <p:nvPr/>
        </p:nvSpPr>
        <p:spPr>
          <a:xfrm>
            <a:off x="457200" y="2468880"/>
            <a:ext cx="777240" cy="777240"/>
          </a:xfrm>
          <a:prstGeom prst="ellipse">
            <a:avLst/>
          </a:prstGeom>
          <a:solidFill>
            <a:srgbClr val="2F8DE4"/>
          </a:solidFill>
          <a:ln w="28575">
            <a:solidFill>
              <a:srgbClr val="A9D3F5"/>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5" name="rt_358"/>
          <p:cNvSpPr/>
          <p:nvPr/>
        </p:nvSpPr>
        <p:spPr>
          <a:xfrm>
            <a:off x="1417320" y="2542032"/>
            <a:ext cx="3931920" cy="640080"/>
          </a:xfrm>
          <a:prstGeom prst="roundRect">
            <a:avLst>
              <a:gd name="adj" fmla="val 20000"/>
            </a:avLst>
          </a:prstGeom>
          <a:solidFill>
            <a:srgbClr val="FFFFFF"/>
          </a:solidFill>
          <a:ln w="28575">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2 sentences: It usually… / Today it's…ing.</a:t>
            </a:r>
            <a:endParaRPr lang="en-US" sz="1400" dirty="0"/>
          </a:p>
        </p:txBody>
      </p:sp>
      <p:sp>
        <p:nvSpPr>
          <p:cNvPr id="16" name="bd_359"/>
          <p:cNvSpPr/>
          <p:nvPr/>
        </p:nvSpPr>
        <p:spPr>
          <a:xfrm>
            <a:off x="457200" y="3429000"/>
            <a:ext cx="777240" cy="777240"/>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7" name="rt_360"/>
          <p:cNvSpPr/>
          <p:nvPr/>
        </p:nvSpPr>
        <p:spPr>
          <a:xfrm>
            <a:off x="1417320" y="3502152"/>
            <a:ext cx="3931920" cy="640080"/>
          </a:xfrm>
          <a:prstGeom prst="roundRect">
            <a:avLst>
              <a:gd name="adj" fmla="val 20000"/>
            </a:avLst>
          </a:prstGeom>
          <a:solidFill>
            <a:srgbClr val="FFFFFF"/>
          </a:solidFill>
          <a:ln w="28575">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Tell me 1 thing to do in London – and when.</a:t>
            </a:r>
            <a:endParaRPr lang="en-US" sz="1400" dirty="0"/>
          </a:p>
        </p:txBody>
      </p:sp>
      <p:sp>
        <p:nvSpPr>
          <p:cNvPr id="18" name="cd_361"/>
          <p:cNvSpPr/>
          <p:nvPr/>
        </p:nvSpPr>
        <p:spPr>
          <a:xfrm>
            <a:off x="5669280" y="1417320"/>
            <a:ext cx="3200400" cy="1426464"/>
          </a:xfrm>
          <a:prstGeom prst="roundRect">
            <a:avLst>
              <a:gd name="adj" fmla="val 8974"/>
            </a:avLst>
          </a:prstGeom>
          <a:solidFill>
            <a:srgbClr val="EEE8FB"/>
          </a:solidFill>
          <a:ln w="28575">
            <a:solidFill>
              <a:srgbClr val="CDBFF3"/>
            </a:solidFill>
            <a:prstDash val="solid"/>
          </a:ln>
          <a:effectLst>
            <a:outerShdw sx="100000" sy="100000" kx="0" ky="0" algn="bl" rotWithShape="0" blurRad="88900" dist="31750" dir="5400000">
              <a:srgbClr val="1B2559">
                <a:alpha val="12000"/>
              </a:srgbClr>
            </a:outerShdw>
          </a:effectLst>
        </p:spPr>
      </p:sp>
      <p:sp>
        <p:nvSpPr>
          <p:cNvPr id="19" name="ii_362"/>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0" name="ih_363"/>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1" name="il_364"/>
          <p:cNvSpPr/>
          <p:nvPr/>
        </p:nvSpPr>
        <p:spPr>
          <a:xfrm>
            <a:off x="6236208" y="1911096"/>
            <a:ext cx="2542032" cy="859536"/>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Workbook 5C pp.36–37</a:t>
            </a:r>
            <a:endParaRPr lang="en-US" sz="1150" dirty="0"/>
          </a:p>
          <a:p>
            <a:pPr marL="152400" indent="-152400">
              <a:spcBef>
                <a:spcPts val="600"/>
              </a:spcBef>
              <a:spcAft>
                <a:spcPts val="200"/>
              </a:spcAft>
              <a:buSzPct val="100000"/>
              <a:buChar char="•"/>
            </a:pPr>
            <a:r>
              <a:rPr lang="en-US" sz="1150" dirty="0">
                <a:solidFill>
                  <a:srgbClr val="1B2559"/>
                </a:solidFill>
                <a:latin typeface="Segoe UI Semibold" pitchFamily="34" charset="0"/>
                <a:ea typeface="Segoe UI Semibold" pitchFamily="34" charset="-122"/>
                <a:cs typeface="Segoe UI Semibold" pitchFamily="34" charset="-120"/>
              </a:rPr>
              <a:t>Writing p.115: posts on social media</a:t>
            </a:r>
            <a:endParaRPr lang="en-US" sz="1150" dirty="0"/>
          </a:p>
        </p:txBody>
      </p:sp>
      <p:sp>
        <p:nvSpPr>
          <p:cNvPr id="22" name="st_365"/>
          <p:cNvSpPr/>
          <p:nvPr/>
        </p:nvSpPr>
        <p:spPr>
          <a:xfrm rot="-180000">
            <a:off x="5806440" y="3099816"/>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Practical English 3 – In a clothes shop (SB p.44)</a:t>
            </a:r>
            <a:endParaRPr lang="en-US" sz="1100" dirty="0"/>
          </a:p>
        </p:txBody>
      </p:sp>
    </p:spTree>
  </p:cSld>
  <p:clrMapOvr>
    <a:masterClrMapping/>
  </p:clrMapOvr>
  <p:transition spd="med">
    <p:push dir="l"/>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6"/>
          <p:cNvSpPr/>
          <p:nvPr/>
        </p:nvSpPr>
        <p:spPr>
          <a:xfrm>
            <a:off x="201168" y="164592"/>
            <a:ext cx="841248" cy="841248"/>
          </a:xfrm>
          <a:prstGeom prst="ellipse">
            <a:avLst/>
          </a:prstGeom>
          <a:solidFill>
            <a:srgbClr val="2EB872"/>
          </a:solidFill>
          <a:ln w="28575">
            <a:solidFill>
              <a:srgbClr val="A8E5BE"/>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67"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368"/>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369"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370"/>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371"/>
          <p:cNvSpPr/>
          <p:nvPr/>
        </p:nvSpPr>
        <p:spPr>
          <a:xfrm>
            <a:off x="1371600" y="1115568"/>
            <a:ext cx="507492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Semibold" pitchFamily="34" charset="0"/>
                <a:ea typeface="Segoe UI Semibold" pitchFamily="34" charset="-122"/>
                <a:cs typeface="Segoe UI Semibold" pitchFamily="34" charset="-120"/>
              </a:rPr>
              <a:t>Ora sai farlo? Pollice su o pollice giù!</a:t>
            </a:r>
            <a:endParaRPr lang="en-US" sz="950" dirty="0"/>
          </a:p>
        </p:txBody>
      </p:sp>
      <p:sp>
        <p:nvSpPr>
          <p:cNvPr id="9" name="note_372"/>
          <p:cNvSpPr/>
          <p:nvPr/>
        </p:nvSpPr>
        <p:spPr>
          <a:xfrm rot="180000">
            <a:off x="6382512" y="128016"/>
            <a:ext cx="2029968" cy="102412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THINK</a:t>
            </a:r>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 · PENSA</a:t>
            </a:r>
            <a:endParaRPr lang="en-US" sz="1250" dirty="0"/>
          </a:p>
          <a:p>
            <a:pPr algn="ctr" indent="0" marL="0">
              <a:buNone/>
            </a:pPr>
            <a:r>
              <a:rPr lang="en-US" sz="1100" dirty="0">
                <a:solidFill>
                  <a:srgbClr val="1B2559"/>
                </a:solidFill>
                <a:latin typeface="Segoe UI Semibold" pitchFamily="34" charset="0"/>
                <a:ea typeface="Segoe UI Semibold" pitchFamily="34" charset="-122"/>
                <a:cs typeface="Segoe UI Semibold" pitchFamily="34" charset="-120"/>
              </a:rPr>
              <a:t>⏱ 1 min   🙋 whole class</a:t>
            </a:r>
            <a:endParaRPr lang="en-US" sz="1250" dirty="0"/>
          </a:p>
          <a:p>
            <a:pPr algn="ctr" indent="0" marL="0">
              <a:buNone/>
            </a:pPr>
            <a:r>
              <a:rPr lang="en-US" sz="900" dirty="0">
                <a:solidFill>
                  <a:srgbClr val="5B6785"/>
                </a:solidFill>
                <a:latin typeface="Segoe UI Semibold" pitchFamily="34" charset="0"/>
                <a:ea typeface="Segoe UI Semibold" pitchFamily="34" charset="-122"/>
                <a:cs typeface="Segoe UI Semibold" pitchFamily="34" charset="-120"/>
              </a:rPr>
              <a:t>🎯 Revision · Reflection</a:t>
            </a:r>
            <a:endParaRPr lang="en-US" sz="1250" dirty="0"/>
          </a:p>
        </p:txBody>
      </p:sp>
      <p:pic>
        <p:nvPicPr>
          <p:cNvPr id="10" name="logo_373"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1" name="foot_374"/>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Semibold" pitchFamily="34" charset="0"/>
                <a:ea typeface="Segoe UI Semibold" pitchFamily="34" charset="-122"/>
                <a:cs typeface="Segoe UI Semibold" pitchFamily="34" charset="-120"/>
              </a:rPr>
              <a:t>5C · Review · what did you do today?</a:t>
            </a:r>
            <a:endParaRPr lang="en-US" sz="800" dirty="0"/>
          </a:p>
        </p:txBody>
      </p:sp>
      <p:sp>
        <p:nvSpPr>
          <p:cNvPr id="12" name="cd_375"/>
          <p:cNvSpPr/>
          <p:nvPr/>
        </p:nvSpPr>
        <p:spPr>
          <a:xfrm>
            <a:off x="548640" y="1417320"/>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13" name="te_376"/>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4" name="tt_377"/>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Talked about the weather: It's raining, it's windy</a:t>
            </a:r>
            <a:endParaRPr lang="en-US" sz="1350" dirty="0"/>
          </a:p>
        </p:txBody>
      </p:sp>
      <p:sp>
        <p:nvSpPr>
          <p:cNvPr id="15" name="R1_tk378"/>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cd_379"/>
          <p:cNvSpPr/>
          <p:nvPr/>
        </p:nvSpPr>
        <p:spPr>
          <a:xfrm>
            <a:off x="548640" y="2020824"/>
            <a:ext cx="6035040" cy="530352"/>
          </a:xfrm>
          <a:prstGeom prst="roundRect">
            <a:avLst>
              <a:gd name="adj" fmla="val 24138"/>
            </a:avLst>
          </a:prstGeom>
          <a:solidFill>
            <a:srgbClr val="FFFFFF"/>
          </a:solidFill>
          <a:ln w="28575">
            <a:solidFill>
              <a:srgbClr val="A9D3F5"/>
            </a:solidFill>
            <a:prstDash val="solid"/>
          </a:ln>
          <a:effectLst>
            <a:outerShdw sx="100000" sy="100000" kx="0" ky="0" algn="bl" rotWithShape="0" blurRad="88900" dist="31750" dir="5400000">
              <a:srgbClr val="1B2559">
                <a:alpha val="12000"/>
              </a:srgbClr>
            </a:outerShdw>
          </a:effectLst>
        </p:spPr>
      </p:sp>
      <p:sp>
        <p:nvSpPr>
          <p:cNvPr id="17" name="te_380"/>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tt_381"/>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the seasons: spring, summer, autumn, winter</a:t>
            </a:r>
            <a:endParaRPr lang="en-US" sz="1350" dirty="0"/>
          </a:p>
        </p:txBody>
      </p:sp>
      <p:sp>
        <p:nvSpPr>
          <p:cNvPr id="19" name="R2_tk382"/>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cd_383"/>
          <p:cNvSpPr/>
          <p:nvPr/>
        </p:nvSpPr>
        <p:spPr>
          <a:xfrm>
            <a:off x="548640" y="2624328"/>
            <a:ext cx="6035040" cy="530352"/>
          </a:xfrm>
          <a:prstGeom prst="roundRect">
            <a:avLst>
              <a:gd name="adj" fmla="val 24138"/>
            </a:avLst>
          </a:prstGeom>
          <a:solidFill>
            <a:srgbClr val="FFFFFF"/>
          </a:solidFill>
          <a:ln w="28575">
            <a:solidFill>
              <a:srgbClr val="A8E5BE"/>
            </a:solidFill>
            <a:prstDash val="solid"/>
          </a:ln>
          <a:effectLst>
            <a:outerShdw sx="100000" sy="100000" kx="0" ky="0" algn="bl" rotWithShape="0" blurRad="88900" dist="31750" dir="5400000">
              <a:srgbClr val="1B2559">
                <a:alpha val="12000"/>
              </a:srgbClr>
            </a:outerShdw>
          </a:effectLst>
        </p:spPr>
      </p:sp>
      <p:sp>
        <p:nvSpPr>
          <p:cNvPr id="21" name="te_384"/>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tt_385"/>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Chose: It snows / It's snowing</a:t>
            </a:r>
            <a:endParaRPr lang="en-US" sz="1350" dirty="0"/>
          </a:p>
        </p:txBody>
      </p:sp>
      <p:sp>
        <p:nvSpPr>
          <p:cNvPr id="23" name="R3_tk386"/>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cd_387"/>
          <p:cNvSpPr/>
          <p:nvPr/>
        </p:nvSpPr>
        <p:spPr>
          <a:xfrm>
            <a:off x="548640" y="3227832"/>
            <a:ext cx="6035040" cy="530352"/>
          </a:xfrm>
          <a:prstGeom prst="roundRect">
            <a:avLst>
              <a:gd name="adj" fmla="val 24138"/>
            </a:avLst>
          </a:prstGeom>
          <a:solidFill>
            <a:srgbClr val="FFFFFF"/>
          </a:solidFill>
          <a:ln w="28575">
            <a:solidFill>
              <a:srgbClr val="FFE07A"/>
            </a:solidFill>
            <a:prstDash val="solid"/>
          </a:ln>
          <a:effectLst>
            <a:outerShdw sx="100000" sy="100000" kx="0" ky="0" algn="bl" rotWithShape="0" blurRad="88900" dist="31750" dir="5400000">
              <a:srgbClr val="1B2559">
                <a:alpha val="12000"/>
              </a:srgbClr>
            </a:outerShdw>
          </a:effectLst>
        </p:spPr>
      </p:sp>
      <p:sp>
        <p:nvSpPr>
          <p:cNvPr id="25" name="te_388"/>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tt_389"/>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Read what to do in London</a:t>
            </a:r>
            <a:endParaRPr lang="en-US" sz="1350" dirty="0"/>
          </a:p>
        </p:txBody>
      </p:sp>
      <p:sp>
        <p:nvSpPr>
          <p:cNvPr id="27" name="R4_tk390"/>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cd_391"/>
          <p:cNvSpPr/>
          <p:nvPr/>
        </p:nvSpPr>
        <p:spPr>
          <a:xfrm>
            <a:off x="548640" y="3831336"/>
            <a:ext cx="6035040" cy="530352"/>
          </a:xfrm>
          <a:prstGeom prst="roundRect">
            <a:avLst>
              <a:gd name="adj" fmla="val 24138"/>
            </a:avLst>
          </a:prstGeom>
          <a:solidFill>
            <a:srgbClr val="FFFFFF"/>
          </a:solidFill>
          <a:ln w="28575">
            <a:solidFill>
              <a:srgbClr val="F7A6C4"/>
            </a:solidFill>
            <a:prstDash val="solid"/>
          </a:ln>
          <a:effectLst>
            <a:outerShdw sx="100000" sy="100000" kx="0" ky="0" algn="bl" rotWithShape="0" blurRad="88900" dist="31750" dir="5400000">
              <a:srgbClr val="1B2559">
                <a:alpha val="12000"/>
              </a:srgbClr>
            </a:outerShdw>
          </a:effectLst>
        </p:spPr>
      </p:sp>
      <p:sp>
        <p:nvSpPr>
          <p:cNvPr id="29" name="te_392"/>
          <p:cNvSpPr/>
          <p:nvPr/>
        </p:nvSpPr>
        <p:spPr>
          <a:xfrm>
            <a:off x="640080" y="3867912"/>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tt_393"/>
          <p:cNvSpPr/>
          <p:nvPr/>
        </p:nvSpPr>
        <p:spPr>
          <a:xfrm>
            <a:off x="1188720" y="3831336"/>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London places: Leicester Square!</a:t>
            </a:r>
            <a:endParaRPr lang="en-US" sz="1350" dirty="0"/>
          </a:p>
        </p:txBody>
      </p:sp>
      <p:sp>
        <p:nvSpPr>
          <p:cNvPr id="31" name="R5_tk394"/>
          <p:cNvSpPr/>
          <p:nvPr/>
        </p:nvSpPr>
        <p:spPr>
          <a:xfrm>
            <a:off x="5989320" y="3867912"/>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2" name="st_395"/>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4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4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4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0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fade">
                                      <p:cBhvr>
                                        <p:cTn id="2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5C A city for all seasons</dc:title>
  <dc:subject>PptxGenJS Presentation</dc:subject>
  <dc:creator>PptxGenJS</dc:creator>
  <cp:lastModifiedBy>PptxGenJS</cp:lastModifiedBy>
  <cp:revision>1</cp:revision>
  <dcterms:created xsi:type="dcterms:W3CDTF">2026-10-23T08:45:33Z</dcterms:created>
  <dcterms:modified xsi:type="dcterms:W3CDTF">2026-10-23T08:45:33Z</dcterms:modified>
</cp:coreProperties>
</file>