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Personalise: show a (non-student) family photo of your own if you like.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(3 min)
ACTIVE RECAP (3 min). Pairs: one orders a coffee, the other is the barista – 30 seconds each.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Reading · I'm not famous… but my brother is (6 min)
ARTICLE (6 min). 1a: guess from the photo. 1b: read; click for the gaps (Brad Pitt). Key: His brother is the actor Brad Pitt. Yes, he does (like it). Ask: good things? bad things? Would you like a famous brother?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Grammar · possessive 's (4 min)
FAMOUS FAMILIES (4 min). Pairs choose, then play 4.1 (audio to come – read the answers if it isn't in yet). Key from the SB answer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Grammar Bank 4A · the rule (4 min)
RULE (4 min). Students say the 's version, click to check. Note for Italians: 'il fratello di Brad' → Brad's brother (no 'of' for people). For things: the end of the film. Whose? vs Who's? – same sound!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Grammar practice · Whose…? (4 min)
WHOSE (4 min). Items 3–6 = SB key for 1f. Then the real thing: collect 5 objects from the students (pen, phone, keys…), hold one up: Whose is this? – It's Marco's!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Vocabulary Bank p.155 · the family (5 min)
FAMILY (5 min). Key from VB a: John = grandfather, Jennifer = grandmother, Sue = aunt, Nick = uncle, Hugh / Sarah = cousins, Emma = wife, Ruby = niece, Oliver = nephew. VB b: parents, parents-in-law, grandparents, children, a couple. Classic Italian error: nipote!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Vocabulary · family riddles (3 min)
RIDDLES (3 min). Key (SB): 2 uncle 3 niece 4 cousin 5 brother-in-law 6 nephew. Fast finishers write 2 riddles for the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Pronunciation · /ʌ/ and the letter o (4 min)
LETTER O (4 min). 3a: /ʌ/ up – mother, brother, son, husband, uncle, couple, cousin (4.4). 3b–c key (SB). Remember box: the same vowel can have different sounds.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Pronunciation · practice (3 min)
CONVERSATIONS (3 min). Listen for the o sounds: mother, young, doctor, son, London, model,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Listening · Grace's photos (6 min)
GRACE (6 min). 4a: first row of the chart. 4b: listen again for more information. Key from the SB answer key. If the audio isn't in yet: two students read the script (SB p.120) as Anna and Grace.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Speaking · my family (7 min)
MY FAMILY (7 min). Phones or names on paper – students choose (privacy: no need to show real photos). Extra: B asks a follow-up question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Game · Whose is it? (5 min)
GAME (5 min). Real objects = real Whose…? practice. Round 2: students make riddles for each other (my father's father = my grandfather).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Exit · what can you remember? (2 min)
EXIT (2 min). Pairs, books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Elementary · SB pp.30–31 · VB p.155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4A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Family photos</a:t>
            </a:r>
            <a:endParaRPr lang="en-US" sz="25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Possessive 's · Whose…? · family</a:t>
            </a:r>
            <a:endParaRPr lang="en-US" sz="120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👪  say who's who: my brother's wife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❓  ask Whose is it? – It's Maria's.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🌳  learn family words: aunt, cousin, nephew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🔤  say the letter o: doctor, phone, mother, do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 listen to Grace showing her photos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Yes! That's my sister's son. He's three.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red_4a_friends_jp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you have family photos on your phone? Who's in them?</a:t>
            </a:r>
            <a:endParaRPr lang="en-US" sz="16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4A · Revision · last lesson</a:t>
            </a:r>
            <a:endParaRPr lang="en-US" sz="800" dirty="0"/>
          </a:p>
        </p:txBody>
      </p:sp>
      <p:sp>
        <p:nvSpPr>
          <p:cNvPr id="12" name="pf_26"/>
          <p:cNvSpPr/>
          <p:nvPr/>
        </p:nvSpPr>
        <p:spPr>
          <a:xfrm rot="-120000">
            <a:off x="365760" y="1371600"/>
            <a:ext cx="2651760" cy="1645920"/>
          </a:xfrm>
          <a:prstGeom prst="roundRect">
            <a:avLst>
              <a:gd name="adj" fmla="val 9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7" descr="/home/claude/lls-course/v2/cache/red_pe2_coffee_jpg_616x374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417320"/>
            <a:ext cx="2560320" cy="1554480"/>
          </a:xfrm>
          <a:prstGeom prst="rect">
            <a:avLst/>
          </a:prstGeom>
        </p:spPr>
      </p:pic>
      <p:sp>
        <p:nvSpPr>
          <p:cNvPr id="14" name="cd_28"/>
          <p:cNvSpPr/>
          <p:nvPr/>
        </p:nvSpPr>
        <p:spPr>
          <a:xfrm>
            <a:off x="320040" y="3200400"/>
            <a:ext cx="2743200" cy="1402080"/>
          </a:xfrm>
          <a:prstGeom prst="roundRect">
            <a:avLst>
              <a:gd name="adj" fmla="val 913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30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31"/>
          <p:cNvSpPr/>
          <p:nvPr/>
        </p:nvSpPr>
        <p:spPr>
          <a:xfrm>
            <a:off x="886968" y="3694176"/>
            <a:ext cx="208483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PE2: Coffee to take away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telling the time · buying a coffee</a:t>
            </a:r>
            <a:endParaRPr lang="en-US" sz="1100" dirty="0"/>
          </a:p>
        </p:txBody>
      </p:sp>
      <p:sp>
        <p:nvSpPr>
          <p:cNvPr id="18" name="kw_32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33"/>
          <p:cNvSpPr/>
          <p:nvPr/>
        </p:nvSpPr>
        <p:spPr>
          <a:xfrm>
            <a:off x="3246120" y="1783080"/>
            <a:ext cx="1453896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quarter past</a:t>
            </a:r>
            <a:endParaRPr lang="en-US" sz="1200" dirty="0"/>
          </a:p>
        </p:txBody>
      </p:sp>
      <p:sp>
        <p:nvSpPr>
          <p:cNvPr id="20" name="w_34"/>
          <p:cNvSpPr/>
          <p:nvPr/>
        </p:nvSpPr>
        <p:spPr>
          <a:xfrm>
            <a:off x="4791456" y="1783080"/>
            <a:ext cx="1193292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half past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6076188" y="1783080"/>
            <a:ext cx="1193292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twenty to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7360920" y="1783080"/>
            <a:ext cx="1019556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o'clock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3246120" y="2185416"/>
            <a:ext cx="1714500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I help you?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5052060" y="2185416"/>
            <a:ext cx="1888236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Regular or large?</a:t>
            </a:r>
            <a:endParaRPr lang="en-US" sz="1200" dirty="0"/>
          </a:p>
        </p:txBody>
      </p:sp>
      <p:sp>
        <p:nvSpPr>
          <p:cNvPr id="25" name="w_39"/>
          <p:cNvSpPr/>
          <p:nvPr/>
        </p:nvSpPr>
        <p:spPr>
          <a:xfrm>
            <a:off x="7031736" y="2185416"/>
            <a:ext cx="1453896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 take away</a:t>
            </a:r>
            <a:endParaRPr lang="en-US" sz="1200" dirty="0"/>
          </a:p>
        </p:txBody>
      </p:sp>
      <p:sp>
        <p:nvSpPr>
          <p:cNvPr id="26" name="w_40"/>
          <p:cNvSpPr/>
          <p:nvPr/>
        </p:nvSpPr>
        <p:spPr>
          <a:xfrm>
            <a:off x="3246120" y="2587752"/>
            <a:ext cx="1888236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much is that?</a:t>
            </a:r>
            <a:endParaRPr lang="en-US" sz="1200" dirty="0"/>
          </a:p>
        </p:txBody>
      </p:sp>
      <p:sp>
        <p:nvSpPr>
          <p:cNvPr id="27" name="lv_41"/>
          <p:cNvSpPr/>
          <p:nvPr/>
        </p:nvSpPr>
        <p:spPr>
          <a:xfrm>
            <a:off x="324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28" name="lv_42"/>
          <p:cNvSpPr/>
          <p:nvPr/>
        </p:nvSpPr>
        <p:spPr>
          <a:xfrm>
            <a:off x="5151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29" name="lv_43"/>
          <p:cNvSpPr/>
          <p:nvPr/>
        </p:nvSpPr>
        <p:spPr>
          <a:xfrm>
            <a:off x="705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  <p:sp>
        <p:nvSpPr>
          <p:cNvPr id="30" name="cd_44"/>
          <p:cNvSpPr/>
          <p:nvPr/>
        </p:nvSpPr>
        <p:spPr>
          <a:xfrm>
            <a:off x="3246120" y="3575304"/>
            <a:ext cx="5623560" cy="1179576"/>
          </a:xfrm>
          <a:prstGeom prst="roundRect">
            <a:avLst>
              <a:gd name="adj" fmla="val 10853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1" name="rh_45"/>
          <p:cNvSpPr/>
          <p:nvPr/>
        </p:nvSpPr>
        <p:spPr>
          <a:xfrm>
            <a:off x="3337560" y="3648456"/>
            <a:ext cx="5440680" cy="310896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Your turn: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time is it?</a:t>
            </a:r>
            <a:endParaRPr lang="en-US" sz="1100" dirty="0"/>
          </a:p>
        </p:txBody>
      </p:sp>
      <p:sp>
        <p:nvSpPr>
          <p:cNvPr id="32" name="rf_46"/>
          <p:cNvSpPr/>
          <p:nvPr/>
        </p:nvSpPr>
        <p:spPr>
          <a:xfrm>
            <a:off x="3383280" y="399592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a past (right side) · a to (left side)</a:t>
            </a:r>
            <a:endParaRPr lang="en-US" sz="1050" dirty="0"/>
          </a:p>
        </p:txBody>
      </p:sp>
      <p:sp>
        <p:nvSpPr>
          <p:cNvPr id="33" name="R1_rl47"/>
          <p:cNvSpPr/>
          <p:nvPr/>
        </p:nvSpPr>
        <p:spPr>
          <a:xfrm>
            <a:off x="3383280" y="4325112"/>
            <a:ext cx="5349240" cy="3566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7.15 → It's 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quarter past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seven.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8.40 → It's </a:t>
            </a:r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twenty to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nine.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50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I'm not famous…</a:t>
            </a:r>
            <a:endParaRPr lang="en-US" sz="2500" dirty="0"/>
          </a:p>
        </p:txBody>
      </p:sp>
      <p:pic>
        <p:nvPicPr>
          <p:cNvPr id="6" name="brP_5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52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article. Who is Doug's brother? Does Doug like having a famous brother?</a:t>
            </a:r>
            <a:endParaRPr lang="en-US" sz="1100" dirty="0"/>
          </a:p>
        </p:txBody>
      </p:sp>
      <p:sp>
        <p:nvSpPr>
          <p:cNvPr id="8" name="insIT_5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l'articolo. Chi è il fratello di Doug? Gli piace avere un fratello famoso?</a:t>
            </a:r>
            <a:endParaRPr lang="en-US" sz="950" dirty="0"/>
          </a:p>
        </p:txBody>
      </p:sp>
      <p:sp>
        <p:nvSpPr>
          <p:cNvPr id="9" name="note_5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→ grammar</a:t>
            </a:r>
            <a:endParaRPr lang="en-US" sz="1150" dirty="0"/>
          </a:p>
        </p:txBody>
      </p:sp>
      <p:pic>
        <p:nvPicPr>
          <p:cNvPr id="10" name="logo_5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4A · Reading · I'm not famous… but my brother is   ·   📖 SB p.30 · 1a, 1b (SB key)</a:t>
            </a:r>
            <a:endParaRPr lang="en-US" sz="800" dirty="0"/>
          </a:p>
        </p:txBody>
      </p:sp>
      <p:sp>
        <p:nvSpPr>
          <p:cNvPr id="12" name="cd_57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5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not famous… but my brother is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Doug is a businessman, and a photographer. He is also the founder of Care to Learn, an organization which helps poor children in the USA to do well at school.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married with three children, and he and his family have a normal life. But for many people, he is always '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's brother'.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Doug's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life can be difficult. People follow him in the street. They ask him questions about his brother,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brother's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ex-wife, who is also very famous, and their six children. The paparazzi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Doug's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children and take photographs.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it also has advantages. 'I go to film premieres and I meet famous actors. And when I phone people and ask for money for Care to Learn, it helps when I say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's brother.'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Doug is not jealous of his older brother. He is happy with his life. 'I see the world of famous people from the outside. I can leave it, but my brother can't.'</a:t>
            </a:r>
            <a:endParaRPr lang="en-US" sz="1000" dirty="0"/>
          </a:p>
        </p:txBody>
      </p:sp>
      <p:sp>
        <p:nvSpPr>
          <p:cNvPr id="14" name="R2_rdA5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not famous… but my brother is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Doug is a businessman, and a photographer. He is also the founder of Care to Learn, an organization which helps poor children in the USA to do well at school.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married with three children, and he and his family have a normal life. But for many people, he is always '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Brad Pitt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's brother'.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Doug's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life can be difficult. People follow him in the street. They ask him questions about his brother,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brother's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ex-wife, who is also very famous, and their six children. The paparazzi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Doug's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children and take photographs.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it also has advantages. 'I go to film premieres and I meet famous actors. And when I phone people and ask for money for Care to Learn, it helps when I say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's brother.'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Doug is not jealous of his older brother. He is happy with his life. 'I see the world of famous people from the outside. I can leave it, but my brother can't.'</a:t>
            </a:r>
            <a:endParaRPr lang="en-US" sz="1000" dirty="0"/>
          </a:p>
        </p:txBody>
      </p:sp>
      <p:sp>
        <p:nvSpPr>
          <p:cNvPr id="15" name="R3_rdA6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not famous… but my brother is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Doug is a businessman, and a photographer. He is also the founder of Care to Learn, an organization which helps poor children in the USA to do well at school.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married with three children, and he and his family have a normal life. But for many people, he is always '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Brad Pitt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's brother'.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Doug's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life can be difficult. People follow him in the street. They ask him questions about his brother,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brother's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ex-wife, who is also very famous, and their six children. The paparazzi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u="sng" dirty="0">
                <a:solidFill>
                  <a:srgbClr val="7B5C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Doug's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children and take photographs.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it also has advantages. 'I go to film premieres and I meet famous actors. And when I phone people and ask for money for Care to Learn, it helps when I say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Brad Pitt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's brother.'</a:t>
            </a:r>
            <a:endParaRPr lang="en-US" sz="10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Doug is not jealous of his older brother. He is happy with his life. 'I see the world of famous people from the outside. I can leave it, but my brother can't.'</a:t>
            </a:r>
            <a:endParaRPr lang="en-US" sz="1000" dirty="0"/>
          </a:p>
        </p:txBody>
      </p:sp>
      <p:sp>
        <p:nvSpPr>
          <p:cNvPr id="16" name="cd_61"/>
          <p:cNvSpPr/>
          <p:nvPr/>
        </p:nvSpPr>
        <p:spPr>
          <a:xfrm>
            <a:off x="6263640" y="1417320"/>
            <a:ext cx="2606040" cy="2250440"/>
          </a:xfrm>
          <a:prstGeom prst="roundRect">
            <a:avLst>
              <a:gd name="adj" fmla="val 568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ii_62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🕶️</a:t>
            </a:r>
            <a:endParaRPr lang="en-US" sz="2200" dirty="0"/>
          </a:p>
        </p:txBody>
      </p:sp>
      <p:sp>
        <p:nvSpPr>
          <p:cNvPr id="18" name="ih_63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Before you read</a:t>
            </a:r>
            <a:endParaRPr lang="en-US" sz="1300" dirty="0"/>
          </a:p>
        </p:txBody>
      </p:sp>
      <p:sp>
        <p:nvSpPr>
          <p:cNvPr id="19" name="il_64"/>
          <p:cNvSpPr/>
          <p:nvPr/>
        </p:nvSpPr>
        <p:spPr>
          <a:xfrm>
            <a:off x="6830568" y="1911096"/>
            <a:ext cx="1947672" cy="168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the photo of Doug.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do you think his brother is?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it good or bad to have a famous person in your family?</a:t>
            </a:r>
            <a:endParaRPr lang="en-US" sz="1150" dirty="0"/>
          </a:p>
        </p:txBody>
      </p:sp>
      <p:sp>
        <p:nvSpPr>
          <p:cNvPr id="20" name="R1_chip65"/>
          <p:cNvSpPr/>
          <p:nvPr/>
        </p:nvSpPr>
        <p:spPr>
          <a:xfrm>
            <a:off x="6263640" y="3777488"/>
            <a:ext cx="2606040" cy="977392"/>
          </a:xfrm>
          <a:prstGeom prst="roundRect">
            <a:avLst>
              <a:gd name="adj" fmla="val 935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His brother is Brad Pitt. Yes – Doug likes it.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6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6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68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Famous families</a:t>
            </a:r>
            <a:endParaRPr lang="en-US" sz="2500" dirty="0"/>
          </a:p>
        </p:txBody>
      </p:sp>
      <p:pic>
        <p:nvPicPr>
          <p:cNvPr id="6" name="brP_6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70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the photos. Choose a or b. Then listen and check.</a:t>
            </a:r>
            <a:endParaRPr lang="en-US" sz="1250" dirty="0"/>
          </a:p>
        </p:txBody>
      </p:sp>
      <p:sp>
        <p:nvSpPr>
          <p:cNvPr id="8" name="insIT_7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Guarda le foto. Scegli a o b. Poi ascolta.</a:t>
            </a:r>
            <a:endParaRPr lang="en-US" sz="950" dirty="0"/>
          </a:p>
        </p:txBody>
      </p:sp>
      <p:sp>
        <p:nvSpPr>
          <p:cNvPr id="9" name="note_7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Controlled practice</a:t>
            </a:r>
            <a:endParaRPr lang="en-US" sz="1150" dirty="0"/>
          </a:p>
        </p:txBody>
      </p:sp>
      <p:pic>
        <p:nvPicPr>
          <p:cNvPr id="10" name="logo_7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7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4A · Grammar · possessive 's   ·   📖 SB p.30 · 1c, 1d · audio 4.1 (SB key)</a:t>
            </a:r>
            <a:endParaRPr lang="en-US" sz="800" dirty="0"/>
          </a:p>
        </p:txBody>
      </p:sp>
      <p:sp>
        <p:nvSpPr>
          <p:cNvPr id="12" name="cd_75"/>
          <p:cNvSpPr/>
          <p:nvPr/>
        </p:nvSpPr>
        <p:spPr>
          <a:xfrm>
            <a:off x="320040" y="1417320"/>
            <a:ext cx="2697480" cy="969264"/>
          </a:xfrm>
          <a:prstGeom prst="roundRect">
            <a:avLst>
              <a:gd name="adj" fmla="val 1320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76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77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78"/>
          <p:cNvSpPr/>
          <p:nvPr/>
        </p:nvSpPr>
        <p:spPr>
          <a:xfrm>
            <a:off x="886968" y="1911096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Carey Mulligan's … a husband / b brother?</a:t>
            </a:r>
            <a:endParaRPr lang="en-US" sz="1050" dirty="0"/>
          </a:p>
        </p:txBody>
      </p:sp>
      <p:sp>
        <p:nvSpPr>
          <p:cNvPr id="16" name="pf_79"/>
          <p:cNvSpPr/>
          <p:nvPr/>
        </p:nvSpPr>
        <p:spPr>
          <a:xfrm rot="-90000">
            <a:off x="1133768" y="2569464"/>
            <a:ext cx="1070024" cy="1545336"/>
          </a:xfrm>
          <a:prstGeom prst="roundRect">
            <a:avLst>
              <a:gd name="adj" fmla="val 145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80" descr="/home/claude/lls-course/v2/cache/red_4a_actors_jpg_235x350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1179488" y="2615184"/>
            <a:ext cx="978584" cy="1453896"/>
          </a:xfrm>
          <a:prstGeom prst="rect">
            <a:avLst/>
          </a:prstGeom>
        </p:spPr>
      </p:pic>
      <p:sp>
        <p:nvSpPr>
          <p:cNvPr id="18" name="ap_81"/>
          <p:cNvSpPr/>
          <p:nvPr/>
        </p:nvSpPr>
        <p:spPr>
          <a:xfrm>
            <a:off x="365760" y="4297680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4.1</a:t>
            </a:r>
            <a:endParaRPr lang="en-US" sz="1100" dirty="0"/>
          </a:p>
        </p:txBody>
      </p:sp>
      <p:sp>
        <p:nvSpPr>
          <p:cNvPr id="19" name="bd_82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q_83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Carey Mulligan's … husband / brother</a:t>
            </a:r>
            <a:endParaRPr lang="en-US" sz="1150" dirty="0"/>
          </a:p>
        </p:txBody>
      </p:sp>
      <p:sp>
        <p:nvSpPr>
          <p:cNvPr id="21" name="R1_chip84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Carey Mulligan's husband.</a:t>
            </a:r>
            <a:endParaRPr lang="en-US" sz="1050" dirty="0"/>
          </a:p>
        </p:txBody>
      </p:sp>
      <p:sp>
        <p:nvSpPr>
          <p:cNvPr id="22" name="bd_85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q_86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Meryl Streep's … sister / daughter</a:t>
            </a:r>
            <a:endParaRPr lang="en-US" sz="1150" dirty="0"/>
          </a:p>
        </p:txBody>
      </p:sp>
      <p:sp>
        <p:nvSpPr>
          <p:cNvPr id="24" name="R2_chip87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Meryl Streep's daughter.</a:t>
            </a:r>
            <a:endParaRPr lang="en-US" sz="1050" dirty="0"/>
          </a:p>
        </p:txBody>
      </p:sp>
      <p:sp>
        <p:nvSpPr>
          <p:cNvPr id="25" name="bd_88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q_89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Jake Gyllenhaal's … wife / sister</a:t>
            </a:r>
            <a:endParaRPr lang="en-US" sz="1150" dirty="0"/>
          </a:p>
        </p:txBody>
      </p:sp>
      <p:sp>
        <p:nvSpPr>
          <p:cNvPr id="27" name="R3_chip90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Jake Gyllenhaal's sister.</a:t>
            </a:r>
            <a:endParaRPr lang="en-US" sz="1050" dirty="0"/>
          </a:p>
        </p:txBody>
      </p:sp>
      <p:sp>
        <p:nvSpPr>
          <p:cNvPr id="28" name="bd_91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q_92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Morgan Freeman's … son / brother</a:t>
            </a:r>
            <a:endParaRPr lang="en-US" sz="1150" dirty="0"/>
          </a:p>
        </p:txBody>
      </p:sp>
      <p:sp>
        <p:nvSpPr>
          <p:cNvPr id="30" name="R4_chip93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Morgan Freeman's son.</a:t>
            </a:r>
            <a:endParaRPr lang="en-US" sz="1050" dirty="0"/>
          </a:p>
        </p:txBody>
      </p:sp>
      <p:sp>
        <p:nvSpPr>
          <p:cNvPr id="31" name="bd_94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q_95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Mary-Kate Olsen's … father / husband</a:t>
            </a:r>
            <a:endParaRPr lang="en-US" sz="1150" dirty="0"/>
          </a:p>
        </p:txBody>
      </p:sp>
      <p:sp>
        <p:nvSpPr>
          <p:cNvPr id="33" name="R5_chip96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Mary-Kate Olsen's husband.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9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9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99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Whose is it?</a:t>
            </a:r>
            <a:endParaRPr lang="en-US" sz="2500" dirty="0"/>
          </a:p>
        </p:txBody>
      </p:sp>
      <p:pic>
        <p:nvPicPr>
          <p:cNvPr id="6" name="brP_10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076956" cy="402336"/>
          </a:xfrm>
          <a:prstGeom prst="rect">
            <a:avLst/>
          </a:prstGeom>
        </p:spPr>
      </p:pic>
      <p:sp>
        <p:nvSpPr>
          <p:cNvPr id="7" name="ins_101"/>
          <p:cNvSpPr/>
          <p:nvPr/>
        </p:nvSpPr>
        <p:spPr>
          <a:xfrm>
            <a:off x="1353312" y="731520"/>
            <a:ext cx="28209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it with 's. Then click!</a:t>
            </a:r>
            <a:endParaRPr lang="en-US" sz="1250" dirty="0"/>
          </a:p>
        </p:txBody>
      </p:sp>
      <p:sp>
        <p:nvSpPr>
          <p:cNvPr id="8" name="insIT_10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Dillo con 's. Poi clicca!</a:t>
            </a:r>
            <a:endParaRPr lang="en-US" sz="950" dirty="0"/>
          </a:p>
        </p:txBody>
      </p:sp>
      <p:sp>
        <p:nvSpPr>
          <p:cNvPr id="9" name="note_10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Communicative</a:t>
            </a:r>
            <a:endParaRPr lang="en-US" sz="1150" dirty="0"/>
          </a:p>
        </p:txBody>
      </p:sp>
      <p:pic>
        <p:nvPicPr>
          <p:cNvPr id="10" name="logo_10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0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4A · Grammar Bank 4A · the rule   ·   📖 Grammar Bank 4A p.130 · audio 4.2 (SB script)</a:t>
            </a:r>
            <a:endParaRPr lang="en-US" sz="800" dirty="0"/>
          </a:p>
        </p:txBody>
      </p:sp>
      <p:sp>
        <p:nvSpPr>
          <p:cNvPr id="12" name="cvl_106"/>
          <p:cNvSpPr/>
          <p:nvPr/>
        </p:nvSpPr>
        <p:spPr>
          <a:xfrm>
            <a:off x="320040" y="141732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brother of Brad Pitt</a:t>
            </a:r>
            <a:endParaRPr lang="en-US" sz="1250" dirty="0"/>
          </a:p>
        </p:txBody>
      </p:sp>
      <p:sp>
        <p:nvSpPr>
          <p:cNvPr id="13" name="cva_107"/>
          <p:cNvSpPr/>
          <p:nvPr/>
        </p:nvSpPr>
        <p:spPr>
          <a:xfrm>
            <a:off x="3364992" y="14173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person</a:t>
            </a:r>
            <a:endParaRPr lang="en-US" sz="1000" dirty="0"/>
          </a:p>
        </p:txBody>
      </p:sp>
      <p:sp>
        <p:nvSpPr>
          <p:cNvPr id="14" name="R1_cvb108"/>
          <p:cNvSpPr/>
          <p:nvPr/>
        </p:nvSpPr>
        <p:spPr>
          <a:xfrm>
            <a:off x="4443984" y="14173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's</a:t>
            </a:r>
            <a:endParaRPr lang="en-US" sz="1000" dirty="0"/>
          </a:p>
        </p:txBody>
      </p:sp>
      <p:sp>
        <p:nvSpPr>
          <p:cNvPr id="15" name="R1_cvr109"/>
          <p:cNvSpPr/>
          <p:nvPr/>
        </p:nvSpPr>
        <p:spPr>
          <a:xfrm>
            <a:off x="5541264" y="141732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Brad Pitt's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brother.</a:t>
            </a:r>
            <a:endParaRPr lang="en-US" sz="1250" dirty="0"/>
          </a:p>
        </p:txBody>
      </p:sp>
      <p:sp>
        <p:nvSpPr>
          <p:cNvPr id="16" name="cvl_110"/>
          <p:cNvSpPr/>
          <p:nvPr/>
        </p:nvSpPr>
        <p:spPr>
          <a:xfrm>
            <a:off x="320040" y="192024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laptop of James</a:t>
            </a:r>
            <a:endParaRPr lang="en-US" sz="1250" dirty="0"/>
          </a:p>
        </p:txBody>
      </p:sp>
      <p:sp>
        <p:nvSpPr>
          <p:cNvPr id="17" name="cva_111"/>
          <p:cNvSpPr/>
          <p:nvPr/>
        </p:nvSpPr>
        <p:spPr>
          <a:xfrm>
            <a:off x="3364992" y="192024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name in -s</a:t>
            </a:r>
            <a:endParaRPr lang="en-US" sz="1000" dirty="0"/>
          </a:p>
        </p:txBody>
      </p:sp>
      <p:sp>
        <p:nvSpPr>
          <p:cNvPr id="18" name="R2_cvb112"/>
          <p:cNvSpPr/>
          <p:nvPr/>
        </p:nvSpPr>
        <p:spPr>
          <a:xfrm>
            <a:off x="4443984" y="192024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's</a:t>
            </a:r>
            <a:endParaRPr lang="en-US" sz="1000" dirty="0"/>
          </a:p>
        </p:txBody>
      </p:sp>
      <p:sp>
        <p:nvSpPr>
          <p:cNvPr id="19" name="R2_cvr113"/>
          <p:cNvSpPr/>
          <p:nvPr/>
        </p:nvSpPr>
        <p:spPr>
          <a:xfrm>
            <a:off x="5541264" y="192024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James's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laptop.</a:t>
            </a:r>
            <a:endParaRPr lang="en-US" sz="1250" dirty="0"/>
          </a:p>
        </p:txBody>
      </p:sp>
      <p:sp>
        <p:nvSpPr>
          <p:cNvPr id="20" name="cvl_114"/>
          <p:cNvSpPr/>
          <p:nvPr/>
        </p:nvSpPr>
        <p:spPr>
          <a:xfrm>
            <a:off x="320040" y="242316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car of my parents</a:t>
            </a:r>
            <a:endParaRPr lang="en-US" sz="1250" dirty="0"/>
          </a:p>
        </p:txBody>
      </p:sp>
      <p:sp>
        <p:nvSpPr>
          <p:cNvPr id="21" name="cva_115"/>
          <p:cNvSpPr/>
          <p:nvPr/>
        </p:nvSpPr>
        <p:spPr>
          <a:xfrm>
            <a:off x="3364992" y="24231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plural in -s</a:t>
            </a:r>
            <a:endParaRPr lang="en-US" sz="1000" dirty="0"/>
          </a:p>
        </p:txBody>
      </p:sp>
      <p:sp>
        <p:nvSpPr>
          <p:cNvPr id="22" name="R3_cvb116"/>
          <p:cNvSpPr/>
          <p:nvPr/>
        </p:nvSpPr>
        <p:spPr>
          <a:xfrm>
            <a:off x="4443984" y="242316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+ '</a:t>
            </a:r>
            <a:endParaRPr lang="en-US" sz="1000" dirty="0"/>
          </a:p>
        </p:txBody>
      </p:sp>
      <p:sp>
        <p:nvSpPr>
          <p:cNvPr id="23" name="R3_cvr117"/>
          <p:cNvSpPr/>
          <p:nvPr/>
        </p:nvSpPr>
        <p:spPr>
          <a:xfrm>
            <a:off x="5541264" y="242316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my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parents'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car.</a:t>
            </a:r>
            <a:endParaRPr lang="en-US" sz="1250" dirty="0"/>
          </a:p>
        </p:txBody>
      </p:sp>
      <p:sp>
        <p:nvSpPr>
          <p:cNvPr id="24" name="cvl_118"/>
          <p:cNvSpPr/>
          <p:nvPr/>
        </p:nvSpPr>
        <p:spPr>
          <a:xfrm>
            <a:off x="320040" y="292608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bag – Maria?</a:t>
            </a:r>
            <a:endParaRPr lang="en-US" sz="1250" dirty="0"/>
          </a:p>
        </p:txBody>
      </p:sp>
      <p:sp>
        <p:nvSpPr>
          <p:cNvPr id="25" name="cva_119"/>
          <p:cNvSpPr/>
          <p:nvPr/>
        </p:nvSpPr>
        <p:spPr>
          <a:xfrm>
            <a:off x="3364992" y="292608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Whose…?</a:t>
            </a:r>
            <a:endParaRPr lang="en-US" sz="1000" dirty="0"/>
          </a:p>
        </p:txBody>
      </p:sp>
      <p:sp>
        <p:nvSpPr>
          <p:cNvPr id="26" name="R4_cvb120"/>
          <p:cNvSpPr/>
          <p:nvPr/>
        </p:nvSpPr>
        <p:spPr>
          <a:xfrm>
            <a:off x="4443984" y="292608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It's…'s</a:t>
            </a:r>
            <a:endParaRPr lang="en-US" sz="1000" dirty="0"/>
          </a:p>
        </p:txBody>
      </p:sp>
      <p:sp>
        <p:nvSpPr>
          <p:cNvPr id="27" name="R4_cvr121"/>
          <p:cNvSpPr/>
          <p:nvPr/>
        </p:nvSpPr>
        <p:spPr>
          <a:xfrm>
            <a:off x="5541264" y="292608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Whose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is this bag? – It's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Maria's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250" dirty="0"/>
          </a:p>
        </p:txBody>
      </p:sp>
      <p:sp>
        <p:nvSpPr>
          <p:cNvPr id="28" name="cvl_122"/>
          <p:cNvSpPr/>
          <p:nvPr/>
        </p:nvSpPr>
        <p:spPr>
          <a:xfrm>
            <a:off x="320040" y="342900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film – the end</a:t>
            </a:r>
            <a:endParaRPr lang="en-US" sz="1250" dirty="0"/>
          </a:p>
        </p:txBody>
      </p:sp>
      <p:sp>
        <p:nvSpPr>
          <p:cNvPr id="29" name="cva_123"/>
          <p:cNvSpPr/>
          <p:nvPr/>
        </p:nvSpPr>
        <p:spPr>
          <a:xfrm>
            <a:off x="3364992" y="342900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thing</a:t>
            </a:r>
            <a:endParaRPr lang="en-US" sz="1000" dirty="0"/>
          </a:p>
        </p:txBody>
      </p:sp>
      <p:sp>
        <p:nvSpPr>
          <p:cNvPr id="30" name="R5_cvb124"/>
          <p:cNvSpPr/>
          <p:nvPr/>
        </p:nvSpPr>
        <p:spPr>
          <a:xfrm>
            <a:off x="4443984" y="342900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of</a:t>
            </a:r>
            <a:endParaRPr lang="en-US" sz="1000" dirty="0"/>
          </a:p>
        </p:txBody>
      </p:sp>
      <p:sp>
        <p:nvSpPr>
          <p:cNvPr id="31" name="R5_cvr125"/>
          <p:cNvSpPr/>
          <p:nvPr/>
        </p:nvSpPr>
        <p:spPr>
          <a:xfrm>
            <a:off x="5541264" y="342900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end of the film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is fantastic.</a:t>
            </a:r>
            <a:endParaRPr lang="en-US" sz="1250" dirty="0"/>
          </a:p>
        </p:txBody>
      </p:sp>
      <p:sp>
        <p:nvSpPr>
          <p:cNvPr id="32" name="cvl_126"/>
          <p:cNvSpPr/>
          <p:nvPr/>
        </p:nvSpPr>
        <p:spPr>
          <a:xfrm>
            <a:off x="320040" y="3931920"/>
            <a:ext cx="2971800" cy="457200"/>
          </a:xfrm>
          <a:prstGeom prst="leftArrow">
            <a:avLst/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77800" tIns="0" rIns="762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city – the centre</a:t>
            </a:r>
            <a:endParaRPr lang="en-US" sz="1250" dirty="0"/>
          </a:p>
        </p:txBody>
      </p:sp>
      <p:sp>
        <p:nvSpPr>
          <p:cNvPr id="33" name="cva_127"/>
          <p:cNvSpPr/>
          <p:nvPr/>
        </p:nvSpPr>
        <p:spPr>
          <a:xfrm>
            <a:off x="3364992" y="39319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DE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place</a:t>
            </a:r>
            <a:endParaRPr lang="en-US" sz="1000" dirty="0"/>
          </a:p>
        </p:txBody>
      </p:sp>
      <p:sp>
        <p:nvSpPr>
          <p:cNvPr id="34" name="R6_cvb128"/>
          <p:cNvSpPr/>
          <p:nvPr/>
        </p:nvSpPr>
        <p:spPr>
          <a:xfrm>
            <a:off x="4443984" y="3931920"/>
            <a:ext cx="102412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508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of / noun</a:t>
            </a:r>
            <a:endParaRPr lang="en-US" sz="1000" dirty="0"/>
          </a:p>
        </p:txBody>
      </p:sp>
      <p:sp>
        <p:nvSpPr>
          <p:cNvPr id="35" name="R6_cvr129"/>
          <p:cNvSpPr/>
          <p:nvPr/>
        </p:nvSpPr>
        <p:spPr>
          <a:xfrm>
            <a:off x="5541264" y="3931920"/>
            <a:ext cx="3328416" cy="457200"/>
          </a:xfrm>
          <a:prstGeom prst="rightArrow">
            <a:avLst/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76200" tIns="0" rIns="177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live in </a:t>
            </a:r>
            <a:pPr algn="ctr" indent="0" marL="0">
              <a:buNone/>
            </a:pPr>
            <a:r>
              <a:rPr lang="en-US" sz="1250" b="1" dirty="0">
                <a:solidFill>
                  <a:srgbClr val="E8508F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city centre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3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3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132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Whose bow tie is it?</a:t>
            </a:r>
            <a:endParaRPr lang="en-US" sz="2500" dirty="0"/>
          </a:p>
        </p:txBody>
      </p:sp>
      <p:pic>
        <p:nvPicPr>
          <p:cNvPr id="6" name="brP_13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34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4A c: Whose or Who's? Then f: whose are the things?</a:t>
            </a:r>
            <a:endParaRPr lang="en-US" sz="1100" dirty="0"/>
          </a:p>
        </p:txBody>
      </p:sp>
      <p:sp>
        <p:nvSpPr>
          <p:cNvPr id="8" name="insIT_13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Grammar Bank 4A c: Whose o Who's? Poi f: di chi sono le cose?</a:t>
            </a:r>
            <a:endParaRPr lang="en-US" sz="950" dirty="0"/>
          </a:p>
        </p:txBody>
      </p:sp>
      <p:sp>
        <p:nvSpPr>
          <p:cNvPr id="9" name="note_13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Controlled practice</a:t>
            </a:r>
            <a:endParaRPr lang="en-US" sz="1150" dirty="0"/>
          </a:p>
        </p:txBody>
      </p:sp>
      <p:pic>
        <p:nvPicPr>
          <p:cNvPr id="10" name="logo_13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3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4A · Grammar practice · Whose…?   ·   📖 SB p.30 · 1f · Grammar Bank 4A c (SB key)</a:t>
            </a:r>
            <a:endParaRPr lang="en-US" sz="800" dirty="0"/>
          </a:p>
        </p:txBody>
      </p:sp>
      <p:sp>
        <p:nvSpPr>
          <p:cNvPr id="12" name="cd_139"/>
          <p:cNvSpPr/>
          <p:nvPr/>
        </p:nvSpPr>
        <p:spPr>
          <a:xfrm>
            <a:off x="320040" y="1417320"/>
            <a:ext cx="2697480" cy="969264"/>
          </a:xfrm>
          <a:prstGeom prst="roundRect">
            <a:avLst>
              <a:gd name="adj" fmla="val 1320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4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141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142"/>
          <p:cNvSpPr/>
          <p:nvPr/>
        </p:nvSpPr>
        <p:spPr>
          <a:xfrm>
            <a:off x="886968" y="1911096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A: Whose bow tie is it?  B: It's Morgan Freeman's bow tie.</a:t>
            </a:r>
            <a:endParaRPr lang="en-US" sz="1000" dirty="0"/>
          </a:p>
        </p:txBody>
      </p:sp>
      <p:sp>
        <p:nvSpPr>
          <p:cNvPr id="16" name="pf_143"/>
          <p:cNvSpPr/>
          <p:nvPr/>
        </p:nvSpPr>
        <p:spPr>
          <a:xfrm rot="-90000">
            <a:off x="365760" y="3049185"/>
            <a:ext cx="2606040" cy="1134533"/>
          </a:xfrm>
          <a:prstGeom prst="roundRect">
            <a:avLst>
              <a:gd name="adj" fmla="val 1370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144" descr="/home/claude/lls-course/v2/cache/red_4a_things_jpg_605x251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11480" y="3094905"/>
            <a:ext cx="2514600" cy="1043093"/>
          </a:xfrm>
          <a:prstGeom prst="rect">
            <a:avLst/>
          </a:prstGeom>
        </p:spPr>
      </p:pic>
      <p:sp>
        <p:nvSpPr>
          <p:cNvPr id="18" name="bd_145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q_146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is this coat? (= di chi?)</a:t>
            </a:r>
            <a:endParaRPr lang="en-US" sz="1150" dirty="0"/>
          </a:p>
        </p:txBody>
      </p:sp>
      <p:sp>
        <p:nvSpPr>
          <p:cNvPr id="20" name="R1_chip147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Whose</a:t>
            </a:r>
            <a:endParaRPr lang="en-US" sz="1050" dirty="0"/>
          </a:p>
        </p:txBody>
      </p:sp>
      <p:sp>
        <p:nvSpPr>
          <p:cNvPr id="21" name="bd_148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q_149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___ that man? (= Who is)</a:t>
            </a:r>
            <a:endParaRPr lang="en-US" sz="1150" dirty="0"/>
          </a:p>
        </p:txBody>
      </p:sp>
      <p:sp>
        <p:nvSpPr>
          <p:cNvPr id="23" name="R2_chip150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Who's</a:t>
            </a:r>
            <a:endParaRPr lang="en-US" sz="1050" dirty="0"/>
          </a:p>
        </p:txBody>
      </p:sp>
      <p:sp>
        <p:nvSpPr>
          <p:cNvPr id="24" name="bd_151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q_152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Whose watch is it?</a:t>
            </a:r>
            <a:endParaRPr lang="en-US" sz="1150" dirty="0"/>
          </a:p>
        </p:txBody>
      </p:sp>
      <p:sp>
        <p:nvSpPr>
          <p:cNvPr id="26" name="R3_chip153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Jake Gyllenhaal's watch.</a:t>
            </a:r>
            <a:endParaRPr lang="en-US" sz="1050" dirty="0"/>
          </a:p>
        </p:txBody>
      </p:sp>
      <p:sp>
        <p:nvSpPr>
          <p:cNvPr id="27" name="bd_154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q_155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Whose bag is it?</a:t>
            </a:r>
            <a:endParaRPr lang="en-US" sz="1150" dirty="0"/>
          </a:p>
        </p:txBody>
      </p:sp>
      <p:sp>
        <p:nvSpPr>
          <p:cNvPr id="29" name="R4_chip156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Carey Mulligan's bag.</a:t>
            </a:r>
            <a:endParaRPr lang="en-US" sz="1050" dirty="0"/>
          </a:p>
        </p:txBody>
      </p:sp>
      <p:sp>
        <p:nvSpPr>
          <p:cNvPr id="30" name="bd_157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q_158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Whose glasses are they?</a:t>
            </a:r>
            <a:endParaRPr lang="en-US" sz="1150" dirty="0"/>
          </a:p>
        </p:txBody>
      </p:sp>
      <p:sp>
        <p:nvSpPr>
          <p:cNvPr id="32" name="R5_chip159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They're Meryl Streep's glasses.</a:t>
            </a:r>
            <a:endParaRPr lang="en-US" sz="1050" dirty="0"/>
          </a:p>
        </p:txBody>
      </p:sp>
      <p:sp>
        <p:nvSpPr>
          <p:cNvPr id="33" name="bd_160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q_161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Whose ring is it?</a:t>
            </a:r>
            <a:endParaRPr lang="en-US" sz="1150" dirty="0"/>
          </a:p>
        </p:txBody>
      </p:sp>
      <p:sp>
        <p:nvSpPr>
          <p:cNvPr id="35" name="R6_chip162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Mary-Kate Olsen's ring.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6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6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165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family</a:t>
            </a:r>
            <a:endParaRPr lang="en-US" sz="2500" dirty="0"/>
          </a:p>
        </p:txBody>
      </p:sp>
      <p:pic>
        <p:nvPicPr>
          <p:cNvPr id="6" name="brP_16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67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 Bank: who's who in Richard's family? Say it, then click!</a:t>
            </a:r>
            <a:endParaRPr lang="en-US" sz="1100" dirty="0"/>
          </a:p>
        </p:txBody>
      </p:sp>
      <p:sp>
        <p:nvSpPr>
          <p:cNvPr id="8" name="insIT_16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Vocabulary Bank: chi è chi nella famiglia di Richard? Dillo, poi clicca!</a:t>
            </a:r>
            <a:endParaRPr lang="en-US" sz="950" dirty="0"/>
          </a:p>
        </p:txBody>
      </p:sp>
      <p:sp>
        <p:nvSpPr>
          <p:cNvPr id="9" name="note_16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CONTROLLA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TPRS · meaning</a:t>
            </a:r>
            <a:endParaRPr lang="en-US" sz="1250" dirty="0"/>
          </a:p>
        </p:txBody>
      </p:sp>
      <p:pic>
        <p:nvPicPr>
          <p:cNvPr id="10" name="logo_17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7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4A · Vocabulary Bank p.155 · the family   ·   📖 VB p.155 · The family a, b · audio 4.3 (SB key)</a:t>
            </a:r>
            <a:endParaRPr lang="en-US" sz="800" dirty="0"/>
          </a:p>
        </p:txBody>
      </p:sp>
      <p:sp>
        <p:nvSpPr>
          <p:cNvPr id="12" name="cd_172"/>
          <p:cNvSpPr/>
          <p:nvPr/>
        </p:nvSpPr>
        <p:spPr>
          <a:xfrm>
            <a:off x="320040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e_173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👴</a:t>
            </a:r>
            <a:endParaRPr lang="en-US" sz="2000" dirty="0"/>
          </a:p>
        </p:txBody>
      </p:sp>
      <p:sp>
        <p:nvSpPr>
          <p:cNvPr id="14" name="en_174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grandfather</a:t>
            </a:r>
            <a:endParaRPr lang="en-US" sz="1200" dirty="0"/>
          </a:p>
        </p:txBody>
      </p:sp>
      <p:sp>
        <p:nvSpPr>
          <p:cNvPr id="15" name="R1_it175"/>
          <p:cNvSpPr/>
          <p:nvPr/>
        </p:nvSpPr>
        <p:spPr>
          <a:xfrm>
            <a:off x="978408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nonno</a:t>
            </a:r>
            <a:endParaRPr lang="en-US" sz="1000" dirty="0"/>
          </a:p>
        </p:txBody>
      </p:sp>
      <p:sp>
        <p:nvSpPr>
          <p:cNvPr id="16" name="cd_176"/>
          <p:cNvSpPr/>
          <p:nvPr/>
        </p:nvSpPr>
        <p:spPr>
          <a:xfrm>
            <a:off x="2487168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e_177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👵</a:t>
            </a:r>
            <a:endParaRPr lang="en-US" sz="2000" dirty="0"/>
          </a:p>
        </p:txBody>
      </p:sp>
      <p:sp>
        <p:nvSpPr>
          <p:cNvPr id="18" name="en_178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grandmother</a:t>
            </a:r>
            <a:endParaRPr lang="en-US" sz="1200" dirty="0"/>
          </a:p>
        </p:txBody>
      </p:sp>
      <p:sp>
        <p:nvSpPr>
          <p:cNvPr id="19" name="R2_it179"/>
          <p:cNvSpPr/>
          <p:nvPr/>
        </p:nvSpPr>
        <p:spPr>
          <a:xfrm>
            <a:off x="3145536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nonna</a:t>
            </a:r>
            <a:endParaRPr lang="en-US" sz="1000" dirty="0"/>
          </a:p>
        </p:txBody>
      </p:sp>
      <p:sp>
        <p:nvSpPr>
          <p:cNvPr id="20" name="cd_180"/>
          <p:cNvSpPr/>
          <p:nvPr/>
        </p:nvSpPr>
        <p:spPr>
          <a:xfrm>
            <a:off x="4654296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e_181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👩</a:t>
            </a:r>
            <a:endParaRPr lang="en-US" sz="2000" dirty="0"/>
          </a:p>
        </p:txBody>
      </p:sp>
      <p:sp>
        <p:nvSpPr>
          <p:cNvPr id="22" name="en_182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aunt</a:t>
            </a:r>
            <a:endParaRPr lang="en-US" sz="1200" dirty="0"/>
          </a:p>
        </p:txBody>
      </p:sp>
      <p:sp>
        <p:nvSpPr>
          <p:cNvPr id="23" name="R3_it183"/>
          <p:cNvSpPr/>
          <p:nvPr/>
        </p:nvSpPr>
        <p:spPr>
          <a:xfrm>
            <a:off x="5312664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zia</a:t>
            </a:r>
            <a:endParaRPr lang="en-US" sz="1000" dirty="0"/>
          </a:p>
        </p:txBody>
      </p:sp>
      <p:sp>
        <p:nvSpPr>
          <p:cNvPr id="24" name="cd_184"/>
          <p:cNvSpPr/>
          <p:nvPr/>
        </p:nvSpPr>
        <p:spPr>
          <a:xfrm>
            <a:off x="6821424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e_185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👨</a:t>
            </a:r>
            <a:endParaRPr lang="en-US" sz="2000" dirty="0"/>
          </a:p>
        </p:txBody>
      </p:sp>
      <p:sp>
        <p:nvSpPr>
          <p:cNvPr id="26" name="en_186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uncle</a:t>
            </a:r>
            <a:endParaRPr lang="en-US" sz="1200" dirty="0"/>
          </a:p>
        </p:txBody>
      </p:sp>
      <p:sp>
        <p:nvSpPr>
          <p:cNvPr id="27" name="R4_it187"/>
          <p:cNvSpPr/>
          <p:nvPr/>
        </p:nvSpPr>
        <p:spPr>
          <a:xfrm>
            <a:off x="7479792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zio</a:t>
            </a:r>
            <a:endParaRPr lang="en-US" sz="1000" dirty="0"/>
          </a:p>
        </p:txBody>
      </p:sp>
      <p:sp>
        <p:nvSpPr>
          <p:cNvPr id="28" name="cd_188"/>
          <p:cNvSpPr/>
          <p:nvPr/>
        </p:nvSpPr>
        <p:spPr>
          <a:xfrm>
            <a:off x="320040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e_189"/>
          <p:cNvSpPr/>
          <p:nvPr/>
        </p:nvSpPr>
        <p:spPr>
          <a:xfrm>
            <a:off x="393192" y="235000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🧒</a:t>
            </a:r>
            <a:endParaRPr lang="en-US" sz="2000" dirty="0"/>
          </a:p>
        </p:txBody>
      </p:sp>
      <p:sp>
        <p:nvSpPr>
          <p:cNvPr id="30" name="en_190"/>
          <p:cNvSpPr/>
          <p:nvPr/>
        </p:nvSpPr>
        <p:spPr>
          <a:xfrm>
            <a:off x="978408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cousin</a:t>
            </a:r>
            <a:endParaRPr lang="en-US" sz="1200" dirty="0"/>
          </a:p>
        </p:txBody>
      </p:sp>
      <p:sp>
        <p:nvSpPr>
          <p:cNvPr id="31" name="R5_it191"/>
          <p:cNvSpPr/>
          <p:nvPr/>
        </p:nvSpPr>
        <p:spPr>
          <a:xfrm>
            <a:off x="978408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cugino / cugina</a:t>
            </a:r>
            <a:endParaRPr lang="en-US" sz="1000" dirty="0"/>
          </a:p>
        </p:txBody>
      </p:sp>
      <p:sp>
        <p:nvSpPr>
          <p:cNvPr id="32" name="cd_192"/>
          <p:cNvSpPr/>
          <p:nvPr/>
        </p:nvSpPr>
        <p:spPr>
          <a:xfrm>
            <a:off x="2487168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3" name="e_193"/>
          <p:cNvSpPr/>
          <p:nvPr/>
        </p:nvSpPr>
        <p:spPr>
          <a:xfrm>
            <a:off x="2560320" y="235000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👰</a:t>
            </a:r>
            <a:endParaRPr lang="en-US" sz="2000" dirty="0"/>
          </a:p>
        </p:txBody>
      </p:sp>
      <p:sp>
        <p:nvSpPr>
          <p:cNvPr id="34" name="en_194"/>
          <p:cNvSpPr/>
          <p:nvPr/>
        </p:nvSpPr>
        <p:spPr>
          <a:xfrm>
            <a:off x="3145536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wife</a:t>
            </a:r>
            <a:endParaRPr lang="en-US" sz="1200" dirty="0"/>
          </a:p>
        </p:txBody>
      </p:sp>
      <p:sp>
        <p:nvSpPr>
          <p:cNvPr id="35" name="R6_it195"/>
          <p:cNvSpPr/>
          <p:nvPr/>
        </p:nvSpPr>
        <p:spPr>
          <a:xfrm>
            <a:off x="3145536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moglie</a:t>
            </a:r>
            <a:endParaRPr lang="en-US" sz="1000" dirty="0"/>
          </a:p>
        </p:txBody>
      </p:sp>
      <p:sp>
        <p:nvSpPr>
          <p:cNvPr id="36" name="cd_196"/>
          <p:cNvSpPr/>
          <p:nvPr/>
        </p:nvSpPr>
        <p:spPr>
          <a:xfrm>
            <a:off x="4654296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7" name="e_197"/>
          <p:cNvSpPr/>
          <p:nvPr/>
        </p:nvSpPr>
        <p:spPr>
          <a:xfrm>
            <a:off x="4727448" y="235000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👧</a:t>
            </a:r>
            <a:endParaRPr lang="en-US" sz="2000" dirty="0"/>
          </a:p>
        </p:txBody>
      </p:sp>
      <p:sp>
        <p:nvSpPr>
          <p:cNvPr id="38" name="en_198"/>
          <p:cNvSpPr/>
          <p:nvPr/>
        </p:nvSpPr>
        <p:spPr>
          <a:xfrm>
            <a:off x="5312664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niece</a:t>
            </a:r>
            <a:endParaRPr lang="en-US" sz="1200" dirty="0"/>
          </a:p>
        </p:txBody>
      </p:sp>
      <p:sp>
        <p:nvSpPr>
          <p:cNvPr id="39" name="R7_it199"/>
          <p:cNvSpPr/>
          <p:nvPr/>
        </p:nvSpPr>
        <p:spPr>
          <a:xfrm>
            <a:off x="5312664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nipote (della zia)</a:t>
            </a:r>
            <a:endParaRPr lang="en-US" sz="1000" dirty="0"/>
          </a:p>
        </p:txBody>
      </p:sp>
      <p:sp>
        <p:nvSpPr>
          <p:cNvPr id="40" name="cd_200"/>
          <p:cNvSpPr/>
          <p:nvPr/>
        </p:nvSpPr>
        <p:spPr>
          <a:xfrm>
            <a:off x="6821424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1" name="e_201"/>
          <p:cNvSpPr/>
          <p:nvPr/>
        </p:nvSpPr>
        <p:spPr>
          <a:xfrm>
            <a:off x="6894576" y="235000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👦</a:t>
            </a:r>
            <a:endParaRPr lang="en-US" sz="2000" dirty="0"/>
          </a:p>
        </p:txBody>
      </p:sp>
      <p:sp>
        <p:nvSpPr>
          <p:cNvPr id="42" name="en_202"/>
          <p:cNvSpPr/>
          <p:nvPr/>
        </p:nvSpPr>
        <p:spPr>
          <a:xfrm>
            <a:off x="7479792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nephew</a:t>
            </a:r>
            <a:endParaRPr lang="en-US" sz="1200" dirty="0"/>
          </a:p>
        </p:txBody>
      </p:sp>
      <p:sp>
        <p:nvSpPr>
          <p:cNvPr id="43" name="R8_it203"/>
          <p:cNvSpPr/>
          <p:nvPr/>
        </p:nvSpPr>
        <p:spPr>
          <a:xfrm>
            <a:off x="7479792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nipote (dello zio)</a:t>
            </a:r>
            <a:endParaRPr lang="en-US" sz="1000" dirty="0"/>
          </a:p>
        </p:txBody>
      </p:sp>
      <p:sp>
        <p:nvSpPr>
          <p:cNvPr id="44" name="cd_204"/>
          <p:cNvSpPr/>
          <p:nvPr/>
        </p:nvSpPr>
        <p:spPr>
          <a:xfrm>
            <a:off x="320040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5" name="e_205"/>
          <p:cNvSpPr/>
          <p:nvPr/>
        </p:nvSpPr>
        <p:spPr>
          <a:xfrm>
            <a:off x="393192" y="317296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👫</a:t>
            </a:r>
            <a:endParaRPr lang="en-US" sz="2000" dirty="0"/>
          </a:p>
        </p:txBody>
      </p:sp>
      <p:sp>
        <p:nvSpPr>
          <p:cNvPr id="46" name="en_206"/>
          <p:cNvSpPr/>
          <p:nvPr/>
        </p:nvSpPr>
        <p:spPr>
          <a:xfrm>
            <a:off x="978408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parents</a:t>
            </a:r>
            <a:endParaRPr lang="en-US" sz="1200" dirty="0"/>
          </a:p>
        </p:txBody>
      </p:sp>
      <p:sp>
        <p:nvSpPr>
          <p:cNvPr id="47" name="R9_it207"/>
          <p:cNvSpPr/>
          <p:nvPr/>
        </p:nvSpPr>
        <p:spPr>
          <a:xfrm>
            <a:off x="978408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genitori</a:t>
            </a:r>
            <a:endParaRPr lang="en-US" sz="1000" dirty="0"/>
          </a:p>
        </p:txBody>
      </p:sp>
      <p:sp>
        <p:nvSpPr>
          <p:cNvPr id="48" name="cd_208"/>
          <p:cNvSpPr/>
          <p:nvPr/>
        </p:nvSpPr>
        <p:spPr>
          <a:xfrm>
            <a:off x="2487168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9" name="e_209"/>
          <p:cNvSpPr/>
          <p:nvPr/>
        </p:nvSpPr>
        <p:spPr>
          <a:xfrm>
            <a:off x="2560320" y="317296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50" name="en_210"/>
          <p:cNvSpPr/>
          <p:nvPr/>
        </p:nvSpPr>
        <p:spPr>
          <a:xfrm>
            <a:off x="3145536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parents-in-law</a:t>
            </a:r>
            <a:endParaRPr lang="en-US" sz="1200" dirty="0"/>
          </a:p>
        </p:txBody>
      </p:sp>
      <p:sp>
        <p:nvSpPr>
          <p:cNvPr id="51" name="R10_it211"/>
          <p:cNvSpPr/>
          <p:nvPr/>
        </p:nvSpPr>
        <p:spPr>
          <a:xfrm>
            <a:off x="3145536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suoceri</a:t>
            </a:r>
            <a:endParaRPr lang="en-US" sz="1000" dirty="0"/>
          </a:p>
        </p:txBody>
      </p:sp>
      <p:sp>
        <p:nvSpPr>
          <p:cNvPr id="52" name="cd_212"/>
          <p:cNvSpPr/>
          <p:nvPr/>
        </p:nvSpPr>
        <p:spPr>
          <a:xfrm>
            <a:off x="4654296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3" name="e_213"/>
          <p:cNvSpPr/>
          <p:nvPr/>
        </p:nvSpPr>
        <p:spPr>
          <a:xfrm>
            <a:off x="4727448" y="317296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👨‍👩‍👧</a:t>
            </a:r>
            <a:endParaRPr lang="en-US" sz="2000" dirty="0"/>
          </a:p>
        </p:txBody>
      </p:sp>
      <p:sp>
        <p:nvSpPr>
          <p:cNvPr id="54" name="en_214"/>
          <p:cNvSpPr/>
          <p:nvPr/>
        </p:nvSpPr>
        <p:spPr>
          <a:xfrm>
            <a:off x="5312664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grandparents</a:t>
            </a:r>
            <a:endParaRPr lang="en-US" sz="1200" dirty="0"/>
          </a:p>
        </p:txBody>
      </p:sp>
      <p:sp>
        <p:nvSpPr>
          <p:cNvPr id="55" name="R11_it215"/>
          <p:cNvSpPr/>
          <p:nvPr/>
        </p:nvSpPr>
        <p:spPr>
          <a:xfrm>
            <a:off x="5312664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nonni</a:t>
            </a:r>
            <a:endParaRPr lang="en-US" sz="1000" dirty="0"/>
          </a:p>
        </p:txBody>
      </p:sp>
      <p:sp>
        <p:nvSpPr>
          <p:cNvPr id="56" name="cd_216"/>
          <p:cNvSpPr/>
          <p:nvPr/>
        </p:nvSpPr>
        <p:spPr>
          <a:xfrm>
            <a:off x="6821424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7" name="e_217"/>
          <p:cNvSpPr/>
          <p:nvPr/>
        </p:nvSpPr>
        <p:spPr>
          <a:xfrm>
            <a:off x="6894576" y="317296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💑</a:t>
            </a:r>
            <a:endParaRPr lang="en-US" sz="2000" dirty="0"/>
          </a:p>
        </p:txBody>
      </p:sp>
      <p:sp>
        <p:nvSpPr>
          <p:cNvPr id="58" name="en_218"/>
          <p:cNvSpPr/>
          <p:nvPr/>
        </p:nvSpPr>
        <p:spPr>
          <a:xfrm>
            <a:off x="7479792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 couple</a:t>
            </a:r>
            <a:endParaRPr lang="en-US" sz="1200" dirty="0"/>
          </a:p>
        </p:txBody>
      </p:sp>
      <p:sp>
        <p:nvSpPr>
          <p:cNvPr id="59" name="R12_it219"/>
          <p:cNvSpPr/>
          <p:nvPr/>
        </p:nvSpPr>
        <p:spPr>
          <a:xfrm>
            <a:off x="7479792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una coppia</a:t>
            </a:r>
            <a:endParaRPr lang="en-US" sz="1000" dirty="0"/>
          </a:p>
        </p:txBody>
      </p:sp>
      <p:sp>
        <p:nvSpPr>
          <p:cNvPr id="60" name="ap_220"/>
          <p:cNvSpPr/>
          <p:nvPr/>
        </p:nvSpPr>
        <p:spPr>
          <a:xfrm>
            <a:off x="320040" y="4480560"/>
            <a:ext cx="201168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4.3</a:t>
            </a:r>
            <a:endParaRPr lang="en-US" sz="1100" dirty="0"/>
          </a:p>
        </p:txBody>
      </p:sp>
      <p:sp>
        <p:nvSpPr>
          <p:cNvPr id="61" name="R13_wc221"/>
          <p:cNvSpPr/>
          <p:nvPr/>
        </p:nvSpPr>
        <p:spPr>
          <a:xfrm>
            <a:off x="320040" y="3931920"/>
            <a:ext cx="8549640" cy="457200"/>
          </a:xfrm>
          <a:prstGeom prst="roundRect">
            <a:avLst>
              <a:gd name="adj" fmla="val 28000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62" name="R13_w222"/>
          <p:cNvSpPr/>
          <p:nvPr/>
        </p:nvSpPr>
        <p:spPr>
          <a:xfrm>
            <a:off x="457200" y="39319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Watch out!  Italian 'nipote' = niece / nephew (of an aunt / uncle) BUT grandson / granddaughter (of a grandparent)!   ·   cousin = male or female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2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2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1832458" cy="621792"/>
          </a:xfrm>
          <a:prstGeom prst="rect">
            <a:avLst/>
          </a:prstGeom>
        </p:spPr>
      </p:pic>
      <p:sp>
        <p:nvSpPr>
          <p:cNvPr id="5" name="title_225"/>
          <p:cNvSpPr/>
          <p:nvPr/>
        </p:nvSpPr>
        <p:spPr>
          <a:xfrm>
            <a:off x="1261872" y="164592"/>
            <a:ext cx="1558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Who's…?</a:t>
            </a:r>
            <a:endParaRPr lang="en-US" sz="2500" dirty="0"/>
          </a:p>
        </p:txBody>
      </p:sp>
      <p:pic>
        <p:nvPicPr>
          <p:cNvPr id="6" name="brP_22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227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Answer the questions with a partner. Who's…?</a:t>
            </a:r>
            <a:endParaRPr lang="en-US" sz="1250" dirty="0"/>
          </a:p>
        </p:txBody>
      </p:sp>
      <p:sp>
        <p:nvSpPr>
          <p:cNvPr id="8" name="insIT_22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Rispondi con un compagno. Who's…?</a:t>
            </a:r>
            <a:endParaRPr lang="en-US" sz="950" dirty="0"/>
          </a:p>
        </p:txBody>
      </p:sp>
      <p:sp>
        <p:nvSpPr>
          <p:cNvPr id="9" name="note_22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23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3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4A · Vocabulary · family riddles   ·   📖 SB p.31 · 2b (SB key)</a:t>
            </a:r>
            <a:endParaRPr lang="en-US" sz="800" dirty="0"/>
          </a:p>
        </p:txBody>
      </p:sp>
      <p:sp>
        <p:nvSpPr>
          <p:cNvPr id="12" name="cd_232"/>
          <p:cNvSpPr/>
          <p:nvPr/>
        </p:nvSpPr>
        <p:spPr>
          <a:xfrm>
            <a:off x="320040" y="1417320"/>
            <a:ext cx="2697480" cy="969264"/>
          </a:xfrm>
          <a:prstGeom prst="roundRect">
            <a:avLst>
              <a:gd name="adj" fmla="val 1320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3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234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235"/>
          <p:cNvSpPr/>
          <p:nvPr/>
        </p:nvSpPr>
        <p:spPr>
          <a:xfrm>
            <a:off x="886968" y="1911096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mother's mother → my grandmother</a:t>
            </a:r>
            <a:endParaRPr lang="en-US" sz="1050" dirty="0"/>
          </a:p>
        </p:txBody>
      </p:sp>
      <p:sp>
        <p:nvSpPr>
          <p:cNvPr id="16" name="bd_236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q_237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father's brother</a:t>
            </a:r>
            <a:endParaRPr lang="en-US" sz="1150" dirty="0"/>
          </a:p>
        </p:txBody>
      </p:sp>
      <p:sp>
        <p:nvSpPr>
          <p:cNvPr id="18" name="R1_chip238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uncle</a:t>
            </a:r>
            <a:endParaRPr lang="en-US" sz="1050" dirty="0"/>
          </a:p>
        </p:txBody>
      </p:sp>
      <p:sp>
        <p:nvSpPr>
          <p:cNvPr id="19" name="bd_239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q_240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brother's / sister's daughter</a:t>
            </a:r>
            <a:endParaRPr lang="en-US" sz="1150" dirty="0"/>
          </a:p>
        </p:txBody>
      </p:sp>
      <p:sp>
        <p:nvSpPr>
          <p:cNvPr id="21" name="R2_chip241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niece</a:t>
            </a:r>
            <a:endParaRPr lang="en-US" sz="1050" dirty="0"/>
          </a:p>
        </p:txBody>
      </p:sp>
      <p:sp>
        <p:nvSpPr>
          <p:cNvPr id="22" name="bd_242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q_243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aunt's child</a:t>
            </a:r>
            <a:endParaRPr lang="en-US" sz="1150" dirty="0"/>
          </a:p>
        </p:txBody>
      </p:sp>
      <p:sp>
        <p:nvSpPr>
          <p:cNvPr id="24" name="R3_chip244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cousin</a:t>
            </a:r>
            <a:endParaRPr lang="en-US" sz="1050" dirty="0"/>
          </a:p>
        </p:txBody>
      </p:sp>
      <p:sp>
        <p:nvSpPr>
          <p:cNvPr id="25" name="bd_245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q_246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husband's / wife's brother</a:t>
            </a:r>
            <a:endParaRPr lang="en-US" sz="1150" dirty="0"/>
          </a:p>
        </p:txBody>
      </p:sp>
      <p:sp>
        <p:nvSpPr>
          <p:cNvPr id="27" name="R4_chip247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brother-in-law</a:t>
            </a:r>
            <a:endParaRPr lang="en-US" sz="1050" dirty="0"/>
          </a:p>
        </p:txBody>
      </p:sp>
      <p:sp>
        <p:nvSpPr>
          <p:cNvPr id="28" name="bd_248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q_249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niece's brother</a:t>
            </a:r>
            <a:endParaRPr lang="en-US" sz="1150" dirty="0"/>
          </a:p>
        </p:txBody>
      </p:sp>
      <p:sp>
        <p:nvSpPr>
          <p:cNvPr id="30" name="R5_chip250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nephew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5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5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253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letter o</a:t>
            </a:r>
            <a:endParaRPr lang="en-US" sz="2500" dirty="0"/>
          </a:p>
        </p:txBody>
      </p:sp>
      <p:pic>
        <p:nvPicPr>
          <p:cNvPr id="6" name="brP_25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5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is the letter o pronounced? clock, phone, up or boot?</a:t>
            </a:r>
            <a:endParaRPr lang="en-US" sz="1250" dirty="0"/>
          </a:p>
        </p:txBody>
      </p:sp>
      <p:sp>
        <p:nvSpPr>
          <p:cNvPr id="8" name="insIT_25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Come si pronuncia la o? clock, phone, up o boot?</a:t>
            </a:r>
            <a:endParaRPr lang="en-US" sz="950" dirty="0"/>
          </a:p>
        </p:txBody>
      </p:sp>
      <p:sp>
        <p:nvSpPr>
          <p:cNvPr id="9" name="note_25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🔗 MATCH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Guided discovery</a:t>
            </a:r>
            <a:endParaRPr lang="en-US" sz="1150" dirty="0"/>
          </a:p>
        </p:txBody>
      </p:sp>
      <p:pic>
        <p:nvPicPr>
          <p:cNvPr id="10" name="logo_25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4A · Pronunciation · /ʌ/ and the letter o   ·   📖 SB p.31 · 3a–3c · audio 4.4, 4.5 (SB key)</a:t>
            </a:r>
            <a:endParaRPr lang="en-US" sz="800" dirty="0"/>
          </a:p>
        </p:txBody>
      </p:sp>
      <p:sp>
        <p:nvSpPr>
          <p:cNvPr id="12" name="cd_260"/>
          <p:cNvSpPr/>
          <p:nvPr/>
        </p:nvSpPr>
        <p:spPr>
          <a:xfrm>
            <a:off x="320040" y="1417320"/>
            <a:ext cx="2697480" cy="1911096"/>
          </a:xfrm>
          <a:prstGeom prst="roundRect">
            <a:avLst>
              <a:gd name="adj" fmla="val 669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61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ih_262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sounds</a:t>
            </a:r>
            <a:endParaRPr lang="en-US" sz="1300" dirty="0"/>
          </a:p>
        </p:txBody>
      </p:sp>
      <p:sp>
        <p:nvSpPr>
          <p:cNvPr id="15" name="ap_263"/>
          <p:cNvSpPr/>
          <p:nvPr/>
        </p:nvSpPr>
        <p:spPr>
          <a:xfrm>
            <a:off x="365760" y="3465576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4.5</a:t>
            </a:r>
            <a:endParaRPr lang="en-US" sz="1100" dirty="0"/>
          </a:p>
        </p:txBody>
      </p:sp>
      <p:sp>
        <p:nvSpPr>
          <p:cNvPr id="16" name="lg_264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⏰ clock /ɒ/</a:t>
            </a:r>
            <a:endParaRPr lang="en-US" sz="1050" dirty="0"/>
          </a:p>
        </p:txBody>
      </p:sp>
      <p:sp>
        <p:nvSpPr>
          <p:cNvPr id="17" name="lg_265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📱 phone /əʊ/</a:t>
            </a:r>
            <a:endParaRPr lang="en-US" sz="1050" dirty="0"/>
          </a:p>
        </p:txBody>
      </p:sp>
      <p:sp>
        <p:nvSpPr>
          <p:cNvPr id="18" name="lg_266"/>
          <p:cNvSpPr/>
          <p:nvPr/>
        </p:nvSpPr>
        <p:spPr>
          <a:xfrm>
            <a:off x="457200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D3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⬆️ up /ʌ/</a:t>
            </a:r>
            <a:endParaRPr lang="en-US" sz="1050" dirty="0"/>
          </a:p>
        </p:txBody>
      </p:sp>
      <p:sp>
        <p:nvSpPr>
          <p:cNvPr id="19" name="lg_267"/>
          <p:cNvSpPr/>
          <p:nvPr/>
        </p:nvSpPr>
        <p:spPr>
          <a:xfrm>
            <a:off x="1719072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A8E6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👢 boot /uː/</a:t>
            </a:r>
            <a:endParaRPr lang="en-US" sz="1050" dirty="0"/>
          </a:p>
        </p:txBody>
      </p:sp>
      <p:sp>
        <p:nvSpPr>
          <p:cNvPr id="20" name="sq_268"/>
          <p:cNvSpPr/>
          <p:nvPr/>
        </p:nvSpPr>
        <p:spPr>
          <a:xfrm>
            <a:off x="3246120" y="1417320"/>
            <a:ext cx="3840480" cy="171123"/>
          </a:xfrm>
          <a:prstGeom prst="roundRect">
            <a:avLst>
              <a:gd name="adj" fmla="val 53435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</a:t>
            </a:r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ctor</a:t>
            </a:r>
            <a:endParaRPr lang="en-US" sz="950" dirty="0"/>
          </a:p>
        </p:txBody>
      </p:sp>
      <p:sp>
        <p:nvSpPr>
          <p:cNvPr id="21" name="R1_tag269"/>
          <p:cNvSpPr/>
          <p:nvPr/>
        </p:nvSpPr>
        <p:spPr>
          <a:xfrm>
            <a:off x="7178040" y="1417320"/>
            <a:ext cx="1691640" cy="171123"/>
          </a:xfrm>
          <a:prstGeom prst="roundRect">
            <a:avLst>
              <a:gd name="adj" fmla="val 133588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⏰ clock /ɒ/</a:t>
            </a:r>
            <a:endParaRPr lang="en-US" sz="1050" dirty="0"/>
          </a:p>
        </p:txBody>
      </p:sp>
      <p:sp>
        <p:nvSpPr>
          <p:cNvPr id="22" name="sq_270"/>
          <p:cNvSpPr/>
          <p:nvPr/>
        </p:nvSpPr>
        <p:spPr>
          <a:xfrm>
            <a:off x="3246120" y="1652451"/>
            <a:ext cx="3840480" cy="171123"/>
          </a:xfrm>
          <a:prstGeom prst="roundRect">
            <a:avLst>
              <a:gd name="adj" fmla="val 53435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</a:t>
            </a:r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</a:t>
            </a:r>
            <a:endParaRPr lang="en-US" sz="950" dirty="0"/>
          </a:p>
        </p:txBody>
      </p:sp>
      <p:sp>
        <p:nvSpPr>
          <p:cNvPr id="23" name="R2_tag271"/>
          <p:cNvSpPr/>
          <p:nvPr/>
        </p:nvSpPr>
        <p:spPr>
          <a:xfrm>
            <a:off x="7178040" y="1652451"/>
            <a:ext cx="1691640" cy="171123"/>
          </a:xfrm>
          <a:prstGeom prst="roundRect">
            <a:avLst>
              <a:gd name="adj" fmla="val 133588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⏰ clock /ɒ/</a:t>
            </a:r>
            <a:endParaRPr lang="en-US" sz="1050" dirty="0"/>
          </a:p>
        </p:txBody>
      </p:sp>
      <p:sp>
        <p:nvSpPr>
          <p:cNvPr id="24" name="sq_272"/>
          <p:cNvSpPr/>
          <p:nvPr/>
        </p:nvSpPr>
        <p:spPr>
          <a:xfrm>
            <a:off x="3246120" y="1887583"/>
            <a:ext cx="3840480" cy="171123"/>
          </a:xfrm>
          <a:prstGeom prst="roundRect">
            <a:avLst>
              <a:gd name="adj" fmla="val 53435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</a:t>
            </a:r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del</a:t>
            </a:r>
            <a:endParaRPr lang="en-US" sz="950" dirty="0"/>
          </a:p>
        </p:txBody>
      </p:sp>
      <p:sp>
        <p:nvSpPr>
          <p:cNvPr id="25" name="R3_tag273"/>
          <p:cNvSpPr/>
          <p:nvPr/>
        </p:nvSpPr>
        <p:spPr>
          <a:xfrm>
            <a:off x="7178040" y="1887583"/>
            <a:ext cx="1691640" cy="171123"/>
          </a:xfrm>
          <a:prstGeom prst="roundRect">
            <a:avLst>
              <a:gd name="adj" fmla="val 133588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⏰ clock /ɒ/</a:t>
            </a:r>
            <a:endParaRPr lang="en-US" sz="1050" dirty="0"/>
          </a:p>
        </p:txBody>
      </p:sp>
      <p:sp>
        <p:nvSpPr>
          <p:cNvPr id="26" name="sq_274"/>
          <p:cNvSpPr/>
          <p:nvPr/>
        </p:nvSpPr>
        <p:spPr>
          <a:xfrm>
            <a:off x="3246120" y="2122714"/>
            <a:ext cx="3840480" cy="171123"/>
          </a:xfrm>
          <a:prstGeom prst="roundRect">
            <a:avLst>
              <a:gd name="adj" fmla="val 53435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</a:t>
            </a:r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tland</a:t>
            </a:r>
            <a:endParaRPr lang="en-US" sz="950" dirty="0"/>
          </a:p>
        </p:txBody>
      </p:sp>
      <p:sp>
        <p:nvSpPr>
          <p:cNvPr id="27" name="R4_tag275"/>
          <p:cNvSpPr/>
          <p:nvPr/>
        </p:nvSpPr>
        <p:spPr>
          <a:xfrm>
            <a:off x="7178040" y="2122714"/>
            <a:ext cx="1691640" cy="171123"/>
          </a:xfrm>
          <a:prstGeom prst="roundRect">
            <a:avLst>
              <a:gd name="adj" fmla="val 133588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⏰ clock /ɒ/</a:t>
            </a:r>
            <a:endParaRPr lang="en-US" sz="1050" dirty="0"/>
          </a:p>
        </p:txBody>
      </p:sp>
      <p:sp>
        <p:nvSpPr>
          <p:cNvPr id="28" name="sq_276"/>
          <p:cNvSpPr/>
          <p:nvPr/>
        </p:nvSpPr>
        <p:spPr>
          <a:xfrm>
            <a:off x="3246120" y="2357846"/>
            <a:ext cx="3840480" cy="171123"/>
          </a:xfrm>
          <a:prstGeom prst="roundRect">
            <a:avLst>
              <a:gd name="adj" fmla="val 53435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</a:t>
            </a:r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n't</a:t>
            </a:r>
            <a:endParaRPr lang="en-US" sz="950" dirty="0"/>
          </a:p>
        </p:txBody>
      </p:sp>
      <p:sp>
        <p:nvSpPr>
          <p:cNvPr id="29" name="R5_tag277"/>
          <p:cNvSpPr/>
          <p:nvPr/>
        </p:nvSpPr>
        <p:spPr>
          <a:xfrm>
            <a:off x="7178040" y="2357846"/>
            <a:ext cx="1691640" cy="171123"/>
          </a:xfrm>
          <a:prstGeom prst="roundRect">
            <a:avLst>
              <a:gd name="adj" fmla="val 133588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📱 phone /əʊ/</a:t>
            </a:r>
            <a:endParaRPr lang="en-US" sz="1050" dirty="0"/>
          </a:p>
        </p:txBody>
      </p:sp>
      <p:sp>
        <p:nvSpPr>
          <p:cNvPr id="30" name="sq_278"/>
          <p:cNvSpPr/>
          <p:nvPr/>
        </p:nvSpPr>
        <p:spPr>
          <a:xfrm>
            <a:off x="3246120" y="2592977"/>
            <a:ext cx="3840480" cy="171123"/>
          </a:xfrm>
          <a:prstGeom prst="roundRect">
            <a:avLst>
              <a:gd name="adj" fmla="val 53435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endParaRPr lang="en-US" sz="950" dirty="0"/>
          </a:p>
        </p:txBody>
      </p:sp>
      <p:sp>
        <p:nvSpPr>
          <p:cNvPr id="31" name="R6_tag279"/>
          <p:cNvSpPr/>
          <p:nvPr/>
        </p:nvSpPr>
        <p:spPr>
          <a:xfrm>
            <a:off x="7178040" y="2592977"/>
            <a:ext cx="1691640" cy="171123"/>
          </a:xfrm>
          <a:prstGeom prst="roundRect">
            <a:avLst>
              <a:gd name="adj" fmla="val 133588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📱 phone /əʊ/</a:t>
            </a:r>
            <a:endParaRPr lang="en-US" sz="1050" dirty="0"/>
          </a:p>
        </p:txBody>
      </p:sp>
      <p:sp>
        <p:nvSpPr>
          <p:cNvPr id="32" name="sq_280"/>
          <p:cNvSpPr/>
          <p:nvPr/>
        </p:nvSpPr>
        <p:spPr>
          <a:xfrm>
            <a:off x="3246120" y="2828109"/>
            <a:ext cx="3840480" cy="171123"/>
          </a:xfrm>
          <a:prstGeom prst="roundRect">
            <a:avLst>
              <a:gd name="adj" fmla="val 53435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</a:t>
            </a:r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</a:t>
            </a:r>
            <a:endParaRPr lang="en-US" sz="950" dirty="0"/>
          </a:p>
        </p:txBody>
      </p:sp>
      <p:sp>
        <p:nvSpPr>
          <p:cNvPr id="33" name="R7_tag281"/>
          <p:cNvSpPr/>
          <p:nvPr/>
        </p:nvSpPr>
        <p:spPr>
          <a:xfrm>
            <a:off x="7178040" y="2828109"/>
            <a:ext cx="1691640" cy="171123"/>
          </a:xfrm>
          <a:prstGeom prst="roundRect">
            <a:avLst>
              <a:gd name="adj" fmla="val 133588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📱 phone /əʊ/</a:t>
            </a:r>
            <a:endParaRPr lang="en-US" sz="1050" dirty="0"/>
          </a:p>
        </p:txBody>
      </p:sp>
      <p:sp>
        <p:nvSpPr>
          <p:cNvPr id="34" name="sq_282"/>
          <p:cNvSpPr/>
          <p:nvPr/>
        </p:nvSpPr>
        <p:spPr>
          <a:xfrm>
            <a:off x="3246120" y="3063240"/>
            <a:ext cx="3840480" cy="171123"/>
          </a:xfrm>
          <a:prstGeom prst="roundRect">
            <a:avLst>
              <a:gd name="adj" fmla="val 53435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</a:t>
            </a:r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endParaRPr lang="en-US" sz="950" dirty="0"/>
          </a:p>
        </p:txBody>
      </p:sp>
      <p:sp>
        <p:nvSpPr>
          <p:cNvPr id="35" name="R8_tag283"/>
          <p:cNvSpPr/>
          <p:nvPr/>
        </p:nvSpPr>
        <p:spPr>
          <a:xfrm>
            <a:off x="7178040" y="3063240"/>
            <a:ext cx="1691640" cy="171123"/>
          </a:xfrm>
          <a:prstGeom prst="roundRect">
            <a:avLst>
              <a:gd name="adj" fmla="val 133588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📱 phone /əʊ/</a:t>
            </a:r>
            <a:endParaRPr lang="en-US" sz="1050" dirty="0"/>
          </a:p>
        </p:txBody>
      </p:sp>
      <p:sp>
        <p:nvSpPr>
          <p:cNvPr id="36" name="sq_284"/>
          <p:cNvSpPr/>
          <p:nvPr/>
        </p:nvSpPr>
        <p:spPr>
          <a:xfrm>
            <a:off x="3246120" y="3298371"/>
            <a:ext cx="3840480" cy="171123"/>
          </a:xfrm>
          <a:prstGeom prst="roundRect">
            <a:avLst>
              <a:gd name="adj" fmla="val 53435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</a:t>
            </a:r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</a:t>
            </a:r>
            <a:endParaRPr lang="en-US" sz="950" dirty="0"/>
          </a:p>
        </p:txBody>
      </p:sp>
      <p:sp>
        <p:nvSpPr>
          <p:cNvPr id="37" name="R9_tag285"/>
          <p:cNvSpPr/>
          <p:nvPr/>
        </p:nvSpPr>
        <p:spPr>
          <a:xfrm>
            <a:off x="7178040" y="3298371"/>
            <a:ext cx="1691640" cy="171123"/>
          </a:xfrm>
          <a:prstGeom prst="roundRect">
            <a:avLst>
              <a:gd name="adj" fmla="val 133588"/>
            </a:avLst>
          </a:prstGeom>
          <a:solidFill>
            <a:srgbClr val="FFD3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⬆️ up /ʌ/</a:t>
            </a:r>
            <a:endParaRPr lang="en-US" sz="1050" dirty="0"/>
          </a:p>
        </p:txBody>
      </p:sp>
      <p:sp>
        <p:nvSpPr>
          <p:cNvPr id="38" name="sq_286"/>
          <p:cNvSpPr/>
          <p:nvPr/>
        </p:nvSpPr>
        <p:spPr>
          <a:xfrm>
            <a:off x="3246120" y="3533503"/>
            <a:ext cx="3840480" cy="171123"/>
          </a:xfrm>
          <a:prstGeom prst="roundRect">
            <a:avLst>
              <a:gd name="adj" fmla="val 53435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</a:t>
            </a:r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ndon</a:t>
            </a:r>
            <a:endParaRPr lang="en-US" sz="950" dirty="0"/>
          </a:p>
        </p:txBody>
      </p:sp>
      <p:sp>
        <p:nvSpPr>
          <p:cNvPr id="39" name="R10_tag287"/>
          <p:cNvSpPr/>
          <p:nvPr/>
        </p:nvSpPr>
        <p:spPr>
          <a:xfrm>
            <a:off x="7178040" y="3533503"/>
            <a:ext cx="1691640" cy="171123"/>
          </a:xfrm>
          <a:prstGeom prst="roundRect">
            <a:avLst>
              <a:gd name="adj" fmla="val 133588"/>
            </a:avLst>
          </a:prstGeom>
          <a:solidFill>
            <a:srgbClr val="FFD3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⬆️ up /ʌ/</a:t>
            </a:r>
            <a:endParaRPr lang="en-US" sz="1050" dirty="0"/>
          </a:p>
        </p:txBody>
      </p:sp>
      <p:sp>
        <p:nvSpPr>
          <p:cNvPr id="40" name="sq_288"/>
          <p:cNvSpPr/>
          <p:nvPr/>
        </p:nvSpPr>
        <p:spPr>
          <a:xfrm>
            <a:off x="3246120" y="3768634"/>
            <a:ext cx="3840480" cy="171123"/>
          </a:xfrm>
          <a:prstGeom prst="roundRect">
            <a:avLst>
              <a:gd name="adj" fmla="val 53435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</a:t>
            </a:r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ney</a:t>
            </a:r>
            <a:endParaRPr lang="en-US" sz="950" dirty="0"/>
          </a:p>
        </p:txBody>
      </p:sp>
      <p:sp>
        <p:nvSpPr>
          <p:cNvPr id="41" name="R11_tag289"/>
          <p:cNvSpPr/>
          <p:nvPr/>
        </p:nvSpPr>
        <p:spPr>
          <a:xfrm>
            <a:off x="7178040" y="3768634"/>
            <a:ext cx="1691640" cy="171123"/>
          </a:xfrm>
          <a:prstGeom prst="roundRect">
            <a:avLst>
              <a:gd name="adj" fmla="val 133588"/>
            </a:avLst>
          </a:prstGeom>
          <a:solidFill>
            <a:srgbClr val="FFD3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⬆️ up /ʌ/</a:t>
            </a:r>
            <a:endParaRPr lang="en-US" sz="1050" dirty="0"/>
          </a:p>
        </p:txBody>
      </p:sp>
      <p:sp>
        <p:nvSpPr>
          <p:cNvPr id="42" name="sq_290"/>
          <p:cNvSpPr/>
          <p:nvPr/>
        </p:nvSpPr>
        <p:spPr>
          <a:xfrm>
            <a:off x="3246120" y="4003766"/>
            <a:ext cx="3840480" cy="171123"/>
          </a:xfrm>
          <a:prstGeom prst="roundRect">
            <a:avLst>
              <a:gd name="adj" fmla="val 53435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</a:t>
            </a:r>
            <a:endParaRPr lang="en-US" sz="950" dirty="0"/>
          </a:p>
        </p:txBody>
      </p:sp>
      <p:sp>
        <p:nvSpPr>
          <p:cNvPr id="43" name="R12_tag291"/>
          <p:cNvSpPr/>
          <p:nvPr/>
        </p:nvSpPr>
        <p:spPr>
          <a:xfrm>
            <a:off x="7178040" y="4003766"/>
            <a:ext cx="1691640" cy="171123"/>
          </a:xfrm>
          <a:prstGeom prst="roundRect">
            <a:avLst>
              <a:gd name="adj" fmla="val 133588"/>
            </a:avLst>
          </a:prstGeom>
          <a:solidFill>
            <a:srgbClr val="FFD3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⬆️ up /ʌ/</a:t>
            </a:r>
            <a:endParaRPr lang="en-US" sz="1050" dirty="0"/>
          </a:p>
        </p:txBody>
      </p:sp>
      <p:sp>
        <p:nvSpPr>
          <p:cNvPr id="44" name="sq_292"/>
          <p:cNvSpPr/>
          <p:nvPr/>
        </p:nvSpPr>
        <p:spPr>
          <a:xfrm>
            <a:off x="3246120" y="4238897"/>
            <a:ext cx="3840480" cy="171123"/>
          </a:xfrm>
          <a:prstGeom prst="roundRect">
            <a:avLst>
              <a:gd name="adj" fmla="val 53435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</a:t>
            </a:r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endParaRPr lang="en-US" sz="950" dirty="0"/>
          </a:p>
        </p:txBody>
      </p:sp>
      <p:sp>
        <p:nvSpPr>
          <p:cNvPr id="45" name="R13_tag293"/>
          <p:cNvSpPr/>
          <p:nvPr/>
        </p:nvSpPr>
        <p:spPr>
          <a:xfrm>
            <a:off x="7178040" y="4238897"/>
            <a:ext cx="1691640" cy="171123"/>
          </a:xfrm>
          <a:prstGeom prst="roundRect">
            <a:avLst>
              <a:gd name="adj" fmla="val 133588"/>
            </a:avLst>
          </a:prstGeom>
          <a:solidFill>
            <a:srgbClr val="A8E6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👢 boot /uː/</a:t>
            </a:r>
            <a:endParaRPr lang="en-US" sz="1050" dirty="0"/>
          </a:p>
        </p:txBody>
      </p:sp>
      <p:sp>
        <p:nvSpPr>
          <p:cNvPr id="46" name="sq_294"/>
          <p:cNvSpPr/>
          <p:nvPr/>
        </p:nvSpPr>
        <p:spPr>
          <a:xfrm>
            <a:off x="3246120" y="4474029"/>
            <a:ext cx="3840480" cy="171123"/>
          </a:xfrm>
          <a:prstGeom prst="roundRect">
            <a:avLst>
              <a:gd name="adj" fmla="val 53435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</a:t>
            </a:r>
            <a:pPr indent="0" marL="0">
              <a:buNone/>
            </a:pPr>
            <a:r>
              <a:rPr lang="en-US" sz="9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</a:t>
            </a:r>
            <a:endParaRPr lang="en-US" sz="950" dirty="0"/>
          </a:p>
        </p:txBody>
      </p:sp>
      <p:sp>
        <p:nvSpPr>
          <p:cNvPr id="47" name="R14_tag295"/>
          <p:cNvSpPr/>
          <p:nvPr/>
        </p:nvSpPr>
        <p:spPr>
          <a:xfrm>
            <a:off x="7178040" y="4474029"/>
            <a:ext cx="1691640" cy="171123"/>
          </a:xfrm>
          <a:prstGeom prst="roundRect">
            <a:avLst>
              <a:gd name="adj" fmla="val 133588"/>
            </a:avLst>
          </a:prstGeom>
          <a:solidFill>
            <a:srgbClr val="A8E6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👢 boot /uː/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9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9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298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that?</a:t>
            </a:r>
            <a:endParaRPr lang="en-US" sz="2500" dirty="0"/>
          </a:p>
        </p:txBody>
      </p:sp>
      <p:pic>
        <p:nvPicPr>
          <p:cNvPr id="6" name="brP_29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161788" cy="402336"/>
          </a:xfrm>
          <a:prstGeom prst="rect">
            <a:avLst/>
          </a:prstGeom>
        </p:spPr>
      </p:pic>
      <p:sp>
        <p:nvSpPr>
          <p:cNvPr id="7" name="ins_300"/>
          <p:cNvSpPr/>
          <p:nvPr/>
        </p:nvSpPr>
        <p:spPr>
          <a:xfrm>
            <a:off x="1353312" y="731520"/>
            <a:ext cx="4905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 the conversations. Then change the people!</a:t>
            </a:r>
            <a:endParaRPr lang="en-US" sz="1250" dirty="0"/>
          </a:p>
        </p:txBody>
      </p:sp>
      <p:sp>
        <p:nvSpPr>
          <p:cNvPr id="8" name="insIT_30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Esercitati con i dialoghi. Poi cambia le persone!</a:t>
            </a:r>
            <a:endParaRPr lang="en-US" sz="950" dirty="0"/>
          </a:p>
        </p:txBody>
      </p:sp>
      <p:sp>
        <p:nvSpPr>
          <p:cNvPr id="9" name="note_30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Communicative</a:t>
            </a:r>
            <a:endParaRPr lang="en-US" sz="1250" dirty="0"/>
          </a:p>
        </p:txBody>
      </p:sp>
      <p:pic>
        <p:nvPicPr>
          <p:cNvPr id="10" name="logo_30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0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4A · Pronunciation · practice   ·   📖 SB p.31 · 3d</a:t>
            </a:r>
            <a:endParaRPr lang="en-US" sz="800" dirty="0"/>
          </a:p>
        </p:txBody>
      </p:sp>
      <p:sp>
        <p:nvSpPr>
          <p:cNvPr id="12" name="pf_305"/>
          <p:cNvSpPr/>
          <p:nvPr/>
        </p:nvSpPr>
        <p:spPr>
          <a:xfrm rot="-120000">
            <a:off x="908020" y="1371600"/>
            <a:ext cx="1612959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306" descr="/home/claude/lls-course/v2/cache/red_4a_friends_jpg_366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953740" y="1417320"/>
            <a:ext cx="1521519" cy="1234440"/>
          </a:xfrm>
          <a:prstGeom prst="rect">
            <a:avLst/>
          </a:prstGeom>
        </p:spPr>
      </p:pic>
      <p:sp>
        <p:nvSpPr>
          <p:cNvPr id="14" name="cd_307"/>
          <p:cNvSpPr/>
          <p:nvPr/>
        </p:nvSpPr>
        <p:spPr>
          <a:xfrm>
            <a:off x="320040" y="2880360"/>
            <a:ext cx="2788920" cy="1765808"/>
          </a:xfrm>
          <a:prstGeom prst="roundRect">
            <a:avLst>
              <a:gd name="adj" fmla="val 725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08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309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310"/>
          <p:cNvSpPr/>
          <p:nvPr/>
        </p:nvSpPr>
        <p:spPr>
          <a:xfrm>
            <a:off x="886968" y="3374136"/>
            <a:ext cx="2130552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Who's that? – My mother.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are they?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What's her job?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very young!</a:t>
            </a:r>
            <a:endParaRPr lang="en-US" sz="1150" dirty="0"/>
          </a:p>
        </p:txBody>
      </p:sp>
      <p:sp>
        <p:nvSpPr>
          <p:cNvPr id="18" name="R1_qb311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312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Who's that?  B My mother.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 She's very young!  B No, she's sixty-one. She's a doctor.</a:t>
            </a:r>
            <a:endParaRPr lang="en-US" sz="1050" dirty="0"/>
          </a:p>
        </p:txBody>
      </p:sp>
      <p:sp>
        <p:nvSpPr>
          <p:cNvPr id="20" name="R2_qb313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314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Who are they?  B My brother and his son.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 Do they live in Scotland?  B No, they don't. They live in London.</a:t>
            </a:r>
            <a:endParaRPr lang="en-US" sz="1050" dirty="0"/>
          </a:p>
        </p:txBody>
      </p:sp>
      <p:sp>
        <p:nvSpPr>
          <p:cNvPr id="22" name="R3_qb315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316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What's her job?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B She's a model. She earns a lot of money.</a:t>
            </a:r>
            <a:endParaRPr lang="en-US" sz="1050" dirty="0"/>
          </a:p>
        </p:txBody>
      </p:sp>
      <p:sp>
        <p:nvSpPr>
          <p:cNvPr id="24" name="R4_qb317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318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Now change the people and places!</a:t>
            </a:r>
            <a:endParaRPr lang="en-US" sz="105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Who's that? – My cousin. He lives in Palermo.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1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32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321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Grace's photos</a:t>
            </a:r>
            <a:endParaRPr lang="en-US" sz="2500" dirty="0"/>
          </a:p>
        </p:txBody>
      </p:sp>
      <p:pic>
        <p:nvPicPr>
          <p:cNvPr id="6" name="brP_32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2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Grace showing a friend photos. Who are Mark, Celia and Miriam?</a:t>
            </a:r>
            <a:endParaRPr lang="en-US" sz="1100" dirty="0"/>
          </a:p>
        </p:txBody>
      </p:sp>
      <p:sp>
        <p:nvSpPr>
          <p:cNvPr id="8" name="insIT_32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Grace che mostra le foto. Chi sono Mark, Celia e Miriam?</a:t>
            </a:r>
            <a:endParaRPr lang="en-US" sz="950" dirty="0"/>
          </a:p>
        </p:txBody>
      </p:sp>
      <p:sp>
        <p:nvSpPr>
          <p:cNvPr id="9" name="note_32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6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for detail</a:t>
            </a:r>
            <a:endParaRPr lang="en-US" sz="1150" dirty="0"/>
          </a:p>
        </p:txBody>
      </p:sp>
      <p:pic>
        <p:nvPicPr>
          <p:cNvPr id="10" name="logo_32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2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4A · Listening · Grace's photos   ·   📖 SB p.31 · 4a, 4b · audio 4.6 (SB key + script)</a:t>
            </a:r>
            <a:endParaRPr lang="en-US" sz="800" dirty="0"/>
          </a:p>
        </p:txBody>
      </p:sp>
      <p:sp>
        <p:nvSpPr>
          <p:cNvPr id="12" name="ap_328"/>
          <p:cNvSpPr/>
          <p:nvPr/>
        </p:nvSpPr>
        <p:spPr>
          <a:xfrm>
            <a:off x="365760" y="1417320"/>
            <a:ext cx="2194560" cy="402336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127000" tIns="0" rIns="12700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🎧 4.6  ·  play twice</a:t>
            </a:r>
            <a:endParaRPr lang="en-US" sz="1100" dirty="0"/>
          </a:p>
        </p:txBody>
      </p:sp>
      <p:sp>
        <p:nvSpPr>
          <p:cNvPr id="13" name="pf_329"/>
          <p:cNvSpPr/>
          <p:nvPr/>
        </p:nvSpPr>
        <p:spPr>
          <a:xfrm rot="-90000">
            <a:off x="411480" y="2057400"/>
            <a:ext cx="2697480" cy="1783080"/>
          </a:xfrm>
          <a:prstGeom prst="roundRect">
            <a:avLst>
              <a:gd name="adj" fmla="val 87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4" name="ph_330" descr="/home/claude/lls-course/v2/cache/red_4a_phone_jpg_627x40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457200" y="2103120"/>
            <a:ext cx="2606040" cy="1691640"/>
          </a:xfrm>
          <a:prstGeom prst="rect">
            <a:avLst/>
          </a:prstGeom>
        </p:spPr>
      </p:pic>
      <p:sp>
        <p:nvSpPr>
          <p:cNvPr id="15" name="cd_331"/>
          <p:cNvSpPr/>
          <p:nvPr/>
        </p:nvSpPr>
        <p:spPr>
          <a:xfrm>
            <a:off x="320040" y="4023360"/>
            <a:ext cx="2788920" cy="731520"/>
          </a:xfrm>
          <a:prstGeom prst="roundRect">
            <a:avLst>
              <a:gd name="adj" fmla="val 1750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6" name="ii_332"/>
          <p:cNvSpPr/>
          <p:nvPr/>
        </p:nvSpPr>
        <p:spPr>
          <a:xfrm>
            <a:off x="4114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17" name="ih_333"/>
          <p:cNvSpPr/>
          <p:nvPr/>
        </p:nvSpPr>
        <p:spPr>
          <a:xfrm>
            <a:off x="886968" y="4114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again: ages, jobs, where they live…</a:t>
            </a:r>
            <a:endParaRPr lang="en-US" sz="1200" dirty="0"/>
          </a:p>
        </p:txBody>
      </p:sp>
      <p:sp>
        <p:nvSpPr>
          <p:cNvPr id="18" name="gq_334"/>
          <p:cNvSpPr/>
          <p:nvPr/>
        </p:nvSpPr>
        <p:spPr>
          <a:xfrm>
            <a:off x="3383280" y="1417320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 is Grace's…</a:t>
            </a:r>
            <a:endParaRPr lang="en-US" sz="1200" dirty="0"/>
          </a:p>
        </p:txBody>
      </p:sp>
      <p:sp>
        <p:nvSpPr>
          <p:cNvPr id="19" name="R1_chip335"/>
          <p:cNvSpPr/>
          <p:nvPr/>
        </p:nvSpPr>
        <p:spPr>
          <a:xfrm>
            <a:off x="6812280" y="1417320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boyfriend (example)</a:t>
            </a:r>
            <a:endParaRPr lang="en-US" sz="1200" dirty="0"/>
          </a:p>
        </p:txBody>
      </p:sp>
      <p:sp>
        <p:nvSpPr>
          <p:cNvPr id="20" name="gq_336"/>
          <p:cNvSpPr/>
          <p:nvPr/>
        </p:nvSpPr>
        <p:spPr>
          <a:xfrm>
            <a:off x="3383280" y="1887583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Celia is Grace's…</a:t>
            </a:r>
            <a:endParaRPr lang="en-US" sz="1200" dirty="0"/>
          </a:p>
        </p:txBody>
      </p:sp>
      <p:sp>
        <p:nvSpPr>
          <p:cNvPr id="21" name="R2_chip337"/>
          <p:cNvSpPr/>
          <p:nvPr/>
        </p:nvSpPr>
        <p:spPr>
          <a:xfrm>
            <a:off x="6812280" y="1887583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sister</a:t>
            </a:r>
            <a:endParaRPr lang="en-US" sz="1200" dirty="0"/>
          </a:p>
        </p:txBody>
      </p:sp>
      <p:sp>
        <p:nvSpPr>
          <p:cNvPr id="22" name="gq_338"/>
          <p:cNvSpPr/>
          <p:nvPr/>
        </p:nvSpPr>
        <p:spPr>
          <a:xfrm>
            <a:off x="3383280" y="2357846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Miriam is Grace's…</a:t>
            </a:r>
            <a:endParaRPr lang="en-US" sz="1200" dirty="0"/>
          </a:p>
        </p:txBody>
      </p:sp>
      <p:sp>
        <p:nvSpPr>
          <p:cNvPr id="23" name="R3_chip339"/>
          <p:cNvSpPr/>
          <p:nvPr/>
        </p:nvSpPr>
        <p:spPr>
          <a:xfrm>
            <a:off x="6812280" y="2357846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sister-in-law</a:t>
            </a:r>
            <a:endParaRPr lang="en-US" sz="1200" dirty="0"/>
          </a:p>
        </p:txBody>
      </p:sp>
      <p:sp>
        <p:nvSpPr>
          <p:cNvPr id="24" name="gq_340"/>
          <p:cNvSpPr/>
          <p:nvPr/>
        </p:nvSpPr>
        <p:spPr>
          <a:xfrm>
            <a:off x="3383280" y="2828109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Mark: more information</a:t>
            </a:r>
            <a:endParaRPr lang="en-US" sz="1200" dirty="0"/>
          </a:p>
        </p:txBody>
      </p:sp>
      <p:sp>
        <p:nvSpPr>
          <p:cNvPr id="25" name="R4_chip341"/>
          <p:cNvSpPr/>
          <p:nvPr/>
        </p:nvSpPr>
        <p:spPr>
          <a:xfrm>
            <a:off x="6812280" y="2828109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good-looking · 26 · medical student at University College London · loves it</a:t>
            </a:r>
            <a:endParaRPr lang="en-US" sz="800" dirty="0"/>
          </a:p>
        </p:txBody>
      </p:sp>
      <p:sp>
        <p:nvSpPr>
          <p:cNvPr id="26" name="gq_342"/>
          <p:cNvSpPr/>
          <p:nvPr/>
        </p:nvSpPr>
        <p:spPr>
          <a:xfrm>
            <a:off x="3383280" y="3298371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Celia: more information</a:t>
            </a:r>
            <a:endParaRPr lang="en-US" sz="1200" dirty="0"/>
          </a:p>
        </p:txBody>
      </p:sp>
      <p:sp>
        <p:nvSpPr>
          <p:cNvPr id="27" name="R5_chip343"/>
          <p:cNvSpPr/>
          <p:nvPr/>
        </p:nvSpPr>
        <p:spPr>
          <a:xfrm>
            <a:off x="6812280" y="3298371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looks like Grace · 35 · two sons: Carlos (2), Daniel (6) · live in Chile</a:t>
            </a:r>
            <a:endParaRPr lang="en-US" sz="800" dirty="0"/>
          </a:p>
        </p:txBody>
      </p:sp>
      <p:sp>
        <p:nvSpPr>
          <p:cNvPr id="28" name="gq_344"/>
          <p:cNvSpPr/>
          <p:nvPr/>
        </p:nvSpPr>
        <p:spPr>
          <a:xfrm>
            <a:off x="3383280" y="3768634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Miriam: more information</a:t>
            </a:r>
            <a:endParaRPr lang="en-US" sz="1200" dirty="0"/>
          </a:p>
        </p:txBody>
      </p:sp>
      <p:sp>
        <p:nvSpPr>
          <p:cNvPr id="29" name="R6_chip345"/>
          <p:cNvSpPr/>
          <p:nvPr/>
        </p:nvSpPr>
        <p:spPr>
          <a:xfrm>
            <a:off x="6812280" y="3768634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married to Tim (Grace's brother) · Tim = lawyer, Miriam = teacher · Helen 13 months, Alex 4</a:t>
            </a:r>
            <a:endParaRPr lang="en-US" sz="800" dirty="0"/>
          </a:p>
        </p:txBody>
      </p:sp>
      <p:sp>
        <p:nvSpPr>
          <p:cNvPr id="30" name="gq_346"/>
          <p:cNvSpPr/>
          <p:nvPr/>
        </p:nvSpPr>
        <p:spPr>
          <a:xfrm>
            <a:off x="3383280" y="4238897"/>
            <a:ext cx="333756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When's the wedding?</a:t>
            </a:r>
            <a:endParaRPr lang="en-US" sz="1200" dirty="0"/>
          </a:p>
        </p:txBody>
      </p:sp>
      <p:sp>
        <p:nvSpPr>
          <p:cNvPr id="31" name="R7_chip347"/>
          <p:cNvSpPr/>
          <p:nvPr/>
        </p:nvSpPr>
        <p:spPr>
          <a:xfrm>
            <a:off x="6812280" y="4238897"/>
            <a:ext cx="2057400" cy="406255"/>
          </a:xfrm>
          <a:prstGeom prst="roundRect">
            <a:avLst>
              <a:gd name="adj" fmla="val 22508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'Wedding! No, thanks! I'm too young!'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4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4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350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that?</a:t>
            </a:r>
            <a:endParaRPr lang="en-US" sz="2500" dirty="0"/>
          </a:p>
        </p:txBody>
      </p:sp>
      <p:pic>
        <p:nvPicPr>
          <p:cNvPr id="6" name="brP_35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52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Show your partner photos of family or friends – or write their names. B asks 3 questions about each person.</a:t>
            </a:r>
            <a:endParaRPr lang="en-US" sz="1100" dirty="0"/>
          </a:p>
        </p:txBody>
      </p:sp>
      <p:sp>
        <p:nvSpPr>
          <p:cNvPr id="8" name="insIT_35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Mostra al compagno foto di famiglia o amici – o scrivi i nomi. B fa 3 domande su ogni persona.</a:t>
            </a:r>
            <a:endParaRPr lang="en-US" sz="750" dirty="0"/>
          </a:p>
        </p:txBody>
      </p:sp>
      <p:sp>
        <p:nvSpPr>
          <p:cNvPr id="9" name="note_35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7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35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5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4A · Speaking · my family   ·   📖 SB p.31 · 4c</a:t>
            </a:r>
            <a:endParaRPr lang="en-US" sz="800" dirty="0"/>
          </a:p>
        </p:txBody>
      </p:sp>
      <p:sp>
        <p:nvSpPr>
          <p:cNvPr id="12" name="pf_357"/>
          <p:cNvSpPr/>
          <p:nvPr/>
        </p:nvSpPr>
        <p:spPr>
          <a:xfrm rot="-120000">
            <a:off x="320040" y="1371600"/>
            <a:ext cx="2788920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358" descr="/home/claude/lls-course/v2/cache/red_4a_phone_jpg_649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234440"/>
          </a:xfrm>
          <a:prstGeom prst="rect">
            <a:avLst/>
          </a:prstGeom>
        </p:spPr>
      </p:pic>
      <p:sp>
        <p:nvSpPr>
          <p:cNvPr id="14" name="cd_359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60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361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362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Who's that?</a:t>
            </a:r>
            <a:endParaRPr lang="en-US" sz="8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That's Yolanda. She's my sister.</a:t>
            </a:r>
            <a:endParaRPr lang="en-US" sz="8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old is she?</a:t>
            </a:r>
            <a:endParaRPr lang="en-US" sz="8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she do?</a:t>
            </a:r>
            <a:endParaRPr lang="en-US" sz="8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does she live?</a:t>
            </a:r>
            <a:endParaRPr lang="en-US" sz="8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 looks like you!</a:t>
            </a:r>
            <a:endParaRPr lang="en-US" sz="850" dirty="0"/>
          </a:p>
        </p:txBody>
      </p:sp>
      <p:sp>
        <p:nvSpPr>
          <p:cNvPr id="18" name="R1_qb363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364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Who's that?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That's Yolanda. She's my sister.</a:t>
            </a:r>
            <a:endParaRPr lang="en-US" sz="1400" dirty="0"/>
          </a:p>
        </p:txBody>
      </p:sp>
      <p:sp>
        <p:nvSpPr>
          <p:cNvPr id="20" name="R2_qb365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366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old is she? · What does she do?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She's 30. She's a nurse.</a:t>
            </a:r>
            <a:endParaRPr lang="en-US" sz="1400" dirty="0"/>
          </a:p>
        </p:txBody>
      </p:sp>
      <p:sp>
        <p:nvSpPr>
          <p:cNvPr id="22" name="R3_qb367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368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does she live? · Do you see her a lot?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In Bagheria. I see her every Sunday.</a:t>
            </a:r>
            <a:endParaRPr lang="en-US" sz="1400" dirty="0"/>
          </a:p>
        </p:txBody>
      </p:sp>
      <p:sp>
        <p:nvSpPr>
          <p:cNvPr id="24" name="R4_qb369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370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Tell the class about your partner's family!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Maria's brother is a chef in London.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7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7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618842" cy="621792"/>
          </a:xfrm>
          <a:prstGeom prst="rect">
            <a:avLst/>
          </a:prstGeom>
        </p:spPr>
      </p:pic>
      <p:sp>
        <p:nvSpPr>
          <p:cNvPr id="5" name="title_373"/>
          <p:cNvSpPr/>
          <p:nvPr/>
        </p:nvSpPr>
        <p:spPr>
          <a:xfrm>
            <a:off x="1261872" y="164592"/>
            <a:ext cx="23445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Whose is it?</a:t>
            </a:r>
            <a:endParaRPr lang="en-US" sz="2500" dirty="0"/>
          </a:p>
        </p:txBody>
      </p:sp>
      <p:pic>
        <p:nvPicPr>
          <p:cNvPr id="6" name="brP_37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7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Whose is it? Put one thing each in a bag. Pick one – guess whose it is!</a:t>
            </a:r>
            <a:endParaRPr lang="en-US" sz="1100" dirty="0"/>
          </a:p>
        </p:txBody>
      </p:sp>
      <p:sp>
        <p:nvSpPr>
          <p:cNvPr id="8" name="insIT_37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 chi è? Mettete un oggetto a testa in una borsa. Pescane uno – indovina di chi è!</a:t>
            </a:r>
            <a:endParaRPr lang="en-US" sz="900" dirty="0"/>
          </a:p>
        </p:txBody>
      </p:sp>
      <p:sp>
        <p:nvSpPr>
          <p:cNvPr id="9" name="note_37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👨‍👩‍👧 groups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150" dirty="0"/>
          </a:p>
        </p:txBody>
      </p:sp>
      <p:pic>
        <p:nvPicPr>
          <p:cNvPr id="10" name="logo_37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7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4A · Game · Whose is it?   ·   📖 Extra · zero-prep game</a:t>
            </a:r>
            <a:endParaRPr lang="en-US" sz="800" dirty="0"/>
          </a:p>
        </p:txBody>
      </p:sp>
      <p:sp>
        <p:nvSpPr>
          <p:cNvPr id="12" name="cd_380"/>
          <p:cNvSpPr/>
          <p:nvPr/>
        </p:nvSpPr>
        <p:spPr>
          <a:xfrm>
            <a:off x="320040" y="1417320"/>
            <a:ext cx="2697480" cy="2514600"/>
          </a:xfrm>
          <a:prstGeom prst="roundRect">
            <a:avLst>
              <a:gd name="adj" fmla="val 509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81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382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383"/>
          <p:cNvSpPr/>
          <p:nvPr/>
        </p:nvSpPr>
        <p:spPr>
          <a:xfrm>
            <a:off x="886968" y="1911096"/>
            <a:ext cx="2039112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Groups of 4–5. Everyone secretly puts one small thing in a bag (pen, keys, ring…).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student picks a thing: Whose is this pen? – The group guesses: I think it's Marco's.</a:t>
            </a:r>
            <a:endParaRPr lang="en-US" sz="10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owner says: Yes, it's mine! / No, it isn't mine. 1 point for a correct guess.</a:t>
            </a:r>
            <a:endParaRPr lang="en-US" sz="1000" dirty="0"/>
          </a:p>
        </p:txBody>
      </p:sp>
      <p:sp>
        <p:nvSpPr>
          <p:cNvPr id="16" name="pf_384"/>
          <p:cNvSpPr/>
          <p:nvPr/>
        </p:nvSpPr>
        <p:spPr>
          <a:xfrm rot="-120000">
            <a:off x="411480" y="4069080"/>
            <a:ext cx="2468880" cy="1143000"/>
          </a:xfrm>
          <a:prstGeom prst="roundRect">
            <a:avLst>
              <a:gd name="adj" fmla="val 13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385" descr="/home/claude/lls-course/v2/cache/red_4a_things_jpg_572x253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57200" y="4114800"/>
            <a:ext cx="2377440" cy="1051560"/>
          </a:xfrm>
          <a:prstGeom prst="rect">
            <a:avLst/>
          </a:prstGeom>
        </p:spPr>
      </p:pic>
      <p:sp>
        <p:nvSpPr>
          <p:cNvPr id="18" name="bd_386"/>
          <p:cNvSpPr/>
          <p:nvPr/>
        </p:nvSpPr>
        <p:spPr>
          <a:xfrm>
            <a:off x="3246120" y="1572768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gq_387"/>
          <p:cNvSpPr/>
          <p:nvPr/>
        </p:nvSpPr>
        <p:spPr>
          <a:xfrm>
            <a:off x="3657600" y="141732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Whose is this pen?</a:t>
            </a:r>
            <a:endParaRPr lang="en-US" sz="1200" dirty="0"/>
          </a:p>
        </p:txBody>
      </p:sp>
      <p:sp>
        <p:nvSpPr>
          <p:cNvPr id="20" name="R1_chip388"/>
          <p:cNvSpPr/>
          <p:nvPr/>
        </p:nvSpPr>
        <p:spPr>
          <a:xfrm>
            <a:off x="6263640" y="14173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 think it's Anna's.</a:t>
            </a:r>
            <a:endParaRPr lang="en-US" sz="1200" dirty="0"/>
          </a:p>
        </p:txBody>
      </p:sp>
      <p:sp>
        <p:nvSpPr>
          <p:cNvPr id="21" name="bd_389"/>
          <p:cNvSpPr/>
          <p:nvPr/>
        </p:nvSpPr>
        <p:spPr>
          <a:xfrm>
            <a:off x="3246120" y="2276856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gq_390"/>
          <p:cNvSpPr/>
          <p:nvPr/>
        </p:nvSpPr>
        <p:spPr>
          <a:xfrm>
            <a:off x="3657600" y="2121408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Whose keys are these?</a:t>
            </a:r>
            <a:endParaRPr lang="en-US" sz="1200" dirty="0"/>
          </a:p>
        </p:txBody>
      </p:sp>
      <p:sp>
        <p:nvSpPr>
          <p:cNvPr id="23" name="R2_chip391"/>
          <p:cNvSpPr/>
          <p:nvPr/>
        </p:nvSpPr>
        <p:spPr>
          <a:xfrm>
            <a:off x="6263640" y="2121408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They're Luca's!</a:t>
            </a:r>
            <a:endParaRPr lang="en-US" sz="1200" dirty="0"/>
          </a:p>
        </p:txBody>
      </p:sp>
      <p:sp>
        <p:nvSpPr>
          <p:cNvPr id="24" name="bd_392"/>
          <p:cNvSpPr/>
          <p:nvPr/>
        </p:nvSpPr>
        <p:spPr>
          <a:xfrm>
            <a:off x="3246120" y="298094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gq_393"/>
          <p:cNvSpPr/>
          <p:nvPr/>
        </p:nvSpPr>
        <p:spPr>
          <a:xfrm>
            <a:off x="3657600" y="2825496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 it your mother's ring?</a:t>
            </a:r>
            <a:endParaRPr lang="en-US" sz="1200" dirty="0"/>
          </a:p>
        </p:txBody>
      </p:sp>
      <p:sp>
        <p:nvSpPr>
          <p:cNvPr id="26" name="R3_chip394"/>
          <p:cNvSpPr/>
          <p:nvPr/>
        </p:nvSpPr>
        <p:spPr>
          <a:xfrm>
            <a:off x="6263640" y="2825496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No, it's my grandmother's.</a:t>
            </a:r>
            <a:endParaRPr lang="en-US" sz="1200" dirty="0"/>
          </a:p>
        </p:txBody>
      </p:sp>
      <p:sp>
        <p:nvSpPr>
          <p:cNvPr id="27" name="bd_395"/>
          <p:cNvSpPr/>
          <p:nvPr/>
        </p:nvSpPr>
        <p:spPr>
          <a:xfrm>
            <a:off x="3246120" y="3685032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gq_396"/>
          <p:cNvSpPr/>
          <p:nvPr/>
        </p:nvSpPr>
        <p:spPr>
          <a:xfrm>
            <a:off x="3657600" y="3529584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Round 2: family riddles! My mother's sister's son is…</a:t>
            </a:r>
            <a:endParaRPr lang="en-US" sz="1200" dirty="0"/>
          </a:p>
        </p:txBody>
      </p:sp>
      <p:sp>
        <p:nvSpPr>
          <p:cNvPr id="29" name="R4_chip397"/>
          <p:cNvSpPr/>
          <p:nvPr/>
        </p:nvSpPr>
        <p:spPr>
          <a:xfrm>
            <a:off x="6263640" y="3529584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your cousin!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9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9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400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40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402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Tell your partner…</a:t>
            </a:r>
            <a:endParaRPr lang="en-US" sz="1250" dirty="0"/>
          </a:p>
        </p:txBody>
      </p:sp>
      <p:sp>
        <p:nvSpPr>
          <p:cNvPr id="8" name="insIT_40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Di' al compagno…</a:t>
            </a:r>
            <a:endParaRPr lang="en-US" sz="950" dirty="0"/>
          </a:p>
        </p:txBody>
      </p:sp>
      <p:sp>
        <p:nvSpPr>
          <p:cNvPr id="9" name="note_404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40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0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4A · Exit · what can you remember?</a:t>
            </a:r>
            <a:endParaRPr lang="en-US" sz="800" dirty="0"/>
          </a:p>
        </p:txBody>
      </p:sp>
      <p:sp>
        <p:nvSpPr>
          <p:cNvPr id="12" name="bd_407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408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family words – and the Italian 'nipote' problem!</a:t>
            </a:r>
            <a:endParaRPr lang="en-US" sz="1400" dirty="0"/>
          </a:p>
        </p:txBody>
      </p:sp>
      <p:sp>
        <p:nvSpPr>
          <p:cNvPr id="14" name="bd_409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410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sentences with 's: my brother's car…</a:t>
            </a:r>
            <a:endParaRPr lang="en-US" sz="1400" dirty="0"/>
          </a:p>
        </p:txBody>
      </p:sp>
      <p:sp>
        <p:nvSpPr>
          <p:cNvPr id="16" name="bd_411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412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Ask me 1 question with Whose…?</a:t>
            </a:r>
            <a:endParaRPr lang="en-US" sz="1400" dirty="0"/>
          </a:p>
        </p:txBody>
      </p:sp>
      <p:sp>
        <p:nvSpPr>
          <p:cNvPr id="18" name="cd_413"/>
          <p:cNvSpPr/>
          <p:nvPr/>
        </p:nvSpPr>
        <p:spPr>
          <a:xfrm>
            <a:off x="5669280" y="1417320"/>
            <a:ext cx="3200400" cy="976376"/>
          </a:xfrm>
          <a:prstGeom prst="roundRect">
            <a:avLst>
              <a:gd name="adj" fmla="val 1311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414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415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416"/>
          <p:cNvSpPr/>
          <p:nvPr/>
        </p:nvSpPr>
        <p:spPr>
          <a:xfrm>
            <a:off x="6236208" y="1911096"/>
            <a:ext cx="2542032" cy="409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4A pp.26–27</a:t>
            </a:r>
            <a:endParaRPr lang="en-US" sz="1150" dirty="0"/>
          </a:p>
        </p:txBody>
      </p:sp>
      <p:sp>
        <p:nvSpPr>
          <p:cNvPr id="22" name="st_417"/>
          <p:cNvSpPr/>
          <p:nvPr/>
        </p:nvSpPr>
        <p:spPr>
          <a:xfrm rot="-180000">
            <a:off x="5806440" y="2715768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4B From morning to night – present simple, adverbs of frequency (SB p.32)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1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41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420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42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422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42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42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42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2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4A · Review · what did you do today?</a:t>
            </a:r>
            <a:endParaRPr lang="en-US" sz="800" dirty="0"/>
          </a:p>
        </p:txBody>
      </p:sp>
      <p:sp>
        <p:nvSpPr>
          <p:cNvPr id="12" name="cd_427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428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👪</a:t>
            </a:r>
            <a:endParaRPr lang="en-US" sz="1800" dirty="0"/>
          </a:p>
        </p:txBody>
      </p:sp>
      <p:sp>
        <p:nvSpPr>
          <p:cNvPr id="14" name="tt_429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Said who's who: my brother's wife</a:t>
            </a:r>
            <a:endParaRPr lang="en-US" sz="1350" dirty="0"/>
          </a:p>
        </p:txBody>
      </p:sp>
      <p:sp>
        <p:nvSpPr>
          <p:cNvPr id="15" name="R1_tk430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431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432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18" name="tt_433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Asked Whose is it? – It's Maria's.</a:t>
            </a:r>
            <a:endParaRPr lang="en-US" sz="1350" dirty="0"/>
          </a:p>
        </p:txBody>
      </p:sp>
      <p:sp>
        <p:nvSpPr>
          <p:cNvPr id="19" name="R2_tk434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435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436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🌳</a:t>
            </a:r>
            <a:endParaRPr lang="en-US" sz="1800" dirty="0"/>
          </a:p>
        </p:txBody>
      </p:sp>
      <p:sp>
        <p:nvSpPr>
          <p:cNvPr id="22" name="tt_437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Learnt family words: aunt, cousin, nephew</a:t>
            </a:r>
            <a:endParaRPr lang="en-US" sz="1350" dirty="0"/>
          </a:p>
        </p:txBody>
      </p:sp>
      <p:sp>
        <p:nvSpPr>
          <p:cNvPr id="23" name="R3_tk438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439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440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26" name="tt_441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Said the letter o: doctor, phone, mother, do</a:t>
            </a:r>
            <a:endParaRPr lang="en-US" sz="1350" dirty="0"/>
          </a:p>
        </p:txBody>
      </p:sp>
      <p:sp>
        <p:nvSpPr>
          <p:cNvPr id="27" name="R4_tk442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443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444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🎧</a:t>
            </a:r>
            <a:endParaRPr lang="en-US" sz="1800" dirty="0"/>
          </a:p>
        </p:txBody>
      </p:sp>
      <p:sp>
        <p:nvSpPr>
          <p:cNvPr id="30" name="tt_445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Listened to Grace showing her photos</a:t>
            </a:r>
            <a:endParaRPr lang="en-US" sz="1350" dirty="0"/>
          </a:p>
        </p:txBody>
      </p:sp>
      <p:sp>
        <p:nvSpPr>
          <p:cNvPr id="31" name="R5_tk446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447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4A Family photos</dc:title>
  <dc:subject>PptxGenJS Presentation</dc:subject>
  <dc:creator>PptxGenJS</dc:creator>
  <cp:lastModifiedBy>PptxGenJS</cp:lastModifiedBy>
  <cp:revision>1</cp:revision>
  <dcterms:created xsi:type="dcterms:W3CDTF">2026-10-23T08:31:51Z</dcterms:created>
  <dcterms:modified xsi:type="dcterms:W3CDTF">2026-10-23T08:31:51Z</dcterms:modified>
</cp:coreProperties>
</file>