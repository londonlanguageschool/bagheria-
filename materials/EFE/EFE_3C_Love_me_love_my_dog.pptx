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TG lead-in: who has a dog? What kind of dog? Who usually takes it for a walk?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Words: a or an? Then each student asks a partner 2 questions about a friend's job (Does he / she…?) before you click.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Listening · identifying who's who (4 min)
WHO'S WHO (4 min). TG key: Barry is her dog, Dave is the man, Dolly is his dog. Dogs: Barry = Labrador, two years old; Dolly = fox terrier, two years old (Dave hesitates – remember that for later!).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Listening · at the café (4 min)
CAFÉ part 1 (3 min). 1b: cover the text, play 3.18 once – what happens in the end? (click: Dave invites Becca to lunch). 1c: play again; one click per gap. TG key: 2 What…want? 3 Where…live? 4 What…do 5 work 6 What 7 want. EXTRA CHALLENGE: pairs guess the words before they 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Listening · at the café (3 min)
CAFÉ part 2 (3 min). 1b: cover the text, play 3.18 once – what happens in the end? (click: Dave invites Becca to lunch). 1c: play again; one click per gap. TG key: 2 What…want? 3 Where…live? 4 What…do 5 work 6 What 7 want. EXTRA CHALLENGE: pairs guess the words before they 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Showing interest (4 min)
SHOWING INTEREST (4 min). Play 3.19: students repeat only the interest phrases – copy the intonation (big voice range on How interesting!). Then 1e: pairs read the conversation, swap roles. They use these phrases again in Speaking.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Listening · lunch at Dave's flat (5 min)
DAVE'S FLAT (5 min). TG key 1 D 2 B 3 D 4 D 5 B 6 D. The twist: Dolly is his friend's dog and Barry is Becca's sister's dog! 1g: whole class – is the lunch a success? Do you prefer cats or dogs?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Speaking · retell (3 min)
RETELL (3 min). A tells lines 1–3, B the rest, then swap. Prompts only – no reading. Listen for questions: Where do you live? What do you 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· word order in questions (4 min)
WORD ORDER (4 min). 2a: students say the question first, click to check (3.21 for 1–4). TG grammar notes: ASI (auxiliary, subject, infinitive) and QuASI (question word, auxiliary, subject, infinitive) – use them as a quick reminder when students make mistakes. Play 3.22 / 3.23 for listen and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Grammar Bank 3C p.129 · a (5 min)
GRAMMAR BANK a (5 min). Jumbled prompts made from the TG answers. Alone, then click once per question. Fast finishers: Grammar Bank b (key: 1 does…do 2 does she work 3 Does…like 4 does…do 5 Is he 6 Does…do 7 do you 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Vocabulary · question words (5 min)
QUESTION WORDS (5 min). Then 3b (TG): 1 Who – wh = /h/ 2 the others – wh = /w/ 3 What…? = many possibilities; Which…? = a small number, often two. Pairs ask each other the 8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Pronunciation · sentence stress (3 min)
STRESS (3 min). TG notes: stressed = information words; unstressed = pronouns, articles, prepositions, auxiliaries – that gives English its rhythm. Play 3.25: listen, then repeat. 4b: A asks, B answers (work → study if needed). EXTRA CHALLENGE: B closes the book, A asks in a different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Speaking · interview (8 min)
INTERVIEW (8 min). 5a (TG): groups 1–3 add do you; group 4 add is / 's after Who / What. Elicit a few questions. 5b: pairs, preferably someone they don't usually work with. Model with a strong student. Extra questions + extra information. Feedback: what do you have in common?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Exit · what can you remember? (2 min)
EXIT (2 min). Pairs, books closed. Show the writing model (Fiona's profile, p.113) before they leave: occupation, interests, and / but / 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Game · famous interview (6 min)
GAME (6 min). Zero-prep version of the TG communicative 'Famous people'. Rule: if the word order is wrong, the 'famous person' says 'Sorry?' and doesn't answer – fun QuASI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Writing · p.113 (extra) (10 min)
WRITING (extra or homework). Fiona's profile on p.113 is the model. Check: capital letters (I, names, nationalities, languages) and and / but / 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audio" Target="../media/media-3-5.mp3"/><Relationship Id="rId6" Type="http://schemas.microsoft.com/office/2007/relationships/media" Target="../media/media-3-5.mp3"/><Relationship Id="rId7" Type="http://schemas.openxmlformats.org/officeDocument/2006/relationships/image" Target="../media/image-3-7.png"/><Relationship Id="rId8" Type="http://schemas.openxmlformats.org/officeDocument/2006/relationships/audio" Target="../media/media-3-8.mp3"/><Relationship Id="rId9" Type="http://schemas.microsoft.com/office/2007/relationships/media" Target="../media/media-3-8.mp3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audio" Target="../media/media-7-5.mp3"/><Relationship Id="rId6" Type="http://schemas.microsoft.com/office/2007/relationships/media" Target="../media/media-7-5.mp3"/><Relationship Id="rId7" Type="http://schemas.openxmlformats.org/officeDocument/2006/relationships/image" Target="../media/image-7-7.png"/><Relationship Id="rId8" Type="http://schemas.openxmlformats.org/officeDocument/2006/relationships/audio" Target="../media/media-7-8.mp3"/><Relationship Id="rId9" Type="http://schemas.microsoft.com/office/2007/relationships/media" Target="../media/media-7-8.mp3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audio" Target="../media/media-11-5.mp3"/><Relationship Id="rId6" Type="http://schemas.microsoft.com/office/2007/relationships/media" Target="../media/media-11-5.mp3"/><Relationship Id="rId7" Type="http://schemas.openxmlformats.org/officeDocument/2006/relationships/image" Target="../media/image-11-7.png"/><Relationship Id="rId8" Type="http://schemas.openxmlformats.org/officeDocument/2006/relationships/audio" Target="../media/media-11-8.mp3"/><Relationship Id="rId9" Type="http://schemas.microsoft.com/office/2007/relationships/media" Target="../media/media-11-8.mp3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audio" Target="../media/media-12-5.mp3"/><Relationship Id="rId6" Type="http://schemas.microsoft.com/office/2007/relationships/media" Target="../media/media-12-5.mp3"/><Relationship Id="rId7" Type="http://schemas.openxmlformats.org/officeDocument/2006/relationships/image" Target="../media/image-12-7.png"/><Relationship Id="rId8" Type="http://schemas.openxmlformats.org/officeDocument/2006/relationships/audio" Target="../media/media-12-8.mp3"/><Relationship Id="rId9" Type="http://schemas.microsoft.com/office/2007/relationships/media" Target="../media/media-12-8.mp3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pp.26–27 · Writing p.113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3C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Love me, love my dog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Word order in questions · question words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 put questions in the right order: What kind of music do you like?</a:t>
            </a:r>
            <a:endParaRPr lang="en-US" sz="8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🔤  use question words: who, which, why…</a:t>
            </a:r>
            <a:endParaRPr lang="en-US" sz="8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🎵  say questions with the right rhythm</a:t>
            </a:r>
            <a:endParaRPr lang="en-US" sz="8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 listen to Becca and Dave meet in the park</a:t>
            </a:r>
            <a:endParaRPr lang="en-US" sz="8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✍️  write a personal profile</a:t>
            </a:r>
            <a:endParaRPr lang="en-US" sz="80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I do. She's a Labrador. Her name's Luna.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1302263"/>
            <a:ext cx="3977640" cy="215035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3c_park_jpg_935x495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1347983"/>
            <a:ext cx="3886200" cy="2058914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have a dog? What kind of dog is it?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365760" y="1371600"/>
            <a:ext cx="2651760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red_3b_jobs_jpg_616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223264"/>
          </a:xfrm>
          <a:prstGeom prst="roundRect">
            <a:avLst>
              <a:gd name="adj" fmla="val 1046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65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3B: 9 to 5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simple ? · jobs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019556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nurse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357116" y="1783080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engineer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5815584" y="17830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lawyer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7013448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vet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3246120" y="2185416"/>
            <a:ext cx="1540764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hairdresser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4878324" y="2185416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builder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6163056" y="2185416"/>
            <a:ext cx="1975104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flight attendant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3246120" y="2587752"/>
            <a:ext cx="1540764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accountant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0" name="cd_44"/>
          <p:cNvSpPr/>
          <p:nvPr/>
        </p:nvSpPr>
        <p:spPr>
          <a:xfrm>
            <a:off x="3246120" y="3575304"/>
            <a:ext cx="5623560" cy="1179576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rh_45"/>
          <p:cNvSpPr/>
          <p:nvPr/>
        </p:nvSpPr>
        <p:spPr>
          <a:xfrm>
            <a:off x="3337560" y="3648456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or does?</a:t>
            </a:r>
            <a:endParaRPr lang="en-US" sz="1100" dirty="0"/>
          </a:p>
        </p:txBody>
      </p:sp>
      <p:sp>
        <p:nvSpPr>
          <p:cNvPr id="32" name="rf_46"/>
          <p:cNvSpPr/>
          <p:nvPr/>
        </p:nvSpPr>
        <p:spPr>
          <a:xfrm>
            <a:off x="3383280" y="399592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 Yes, I do. / No, he doesn't.</a:t>
            </a:r>
            <a:endParaRPr lang="en-US" sz="1050" dirty="0"/>
          </a:p>
        </p:txBody>
      </p:sp>
      <p:sp>
        <p:nvSpPr>
          <p:cNvPr id="33" name="R1_rl47"/>
          <p:cNvSpPr/>
          <p:nvPr/>
        </p:nvSpPr>
        <p:spPr>
          <a:xfrm>
            <a:off x="3383280" y="4325112"/>
            <a:ext cx="53492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at night?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 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free weekends?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50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who?</a:t>
            </a:r>
            <a:endParaRPr lang="en-US" sz="2500" dirty="0"/>
          </a:p>
        </p:txBody>
      </p:sp>
      <p:pic>
        <p:nvPicPr>
          <p:cNvPr id="6" name="brP_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A man and a woman meet in the park. Match the names to the people or the dogs.</a:t>
            </a:r>
            <a:endParaRPr lang="en-US" sz="1100" dirty="0"/>
          </a:p>
        </p:txBody>
      </p:sp>
      <p:sp>
        <p:nvSpPr>
          <p:cNvPr id="8" name="insIT_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Ascolta. Un uomo e una donna si incontrano al parco. Abbina i nomi.</a:t>
            </a:r>
            <a:endParaRPr lang="en-US" sz="950" dirty="0"/>
          </a:p>
        </p:txBody>
      </p:sp>
      <p:sp>
        <p:nvSpPr>
          <p:cNvPr id="9" name="note_5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Listening · identifying who's who   ·   📖 SB p.26 · 1a · audio 3.17 (script p.119 · TG key)</a:t>
            </a:r>
            <a:endParaRPr lang="en-US" sz="800" dirty="0"/>
          </a:p>
        </p:txBody>
      </p:sp>
      <p:sp>
        <p:nvSpPr>
          <p:cNvPr id="12" name="ap_57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3.17  ·  play twice</a:t>
            </a:r>
            <a:endParaRPr lang="en-US" sz="1100" dirty="0"/>
          </a:p>
        </p:txBody>
      </p:sp>
      <p:sp>
        <p:nvSpPr>
          <p:cNvPr id="13" name="ah_58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59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pf_60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61" descr="/home/claude/lls-course/v2/cache/red_3c_park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19" name="cd_62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63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ih_64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Then: what do you find out about the dogs?</a:t>
            </a:r>
            <a:endParaRPr lang="en-US" sz="1200" dirty="0"/>
          </a:p>
        </p:txBody>
      </p:sp>
      <p:sp>
        <p:nvSpPr>
          <p:cNvPr id="22" name="gq_65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Becca</a:t>
            </a:r>
            <a:endParaRPr lang="en-US" sz="1200" dirty="0"/>
          </a:p>
        </p:txBody>
      </p:sp>
      <p:sp>
        <p:nvSpPr>
          <p:cNvPr id="23" name="R1_chip66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woman (example)</a:t>
            </a:r>
            <a:endParaRPr lang="en-US" sz="1200" dirty="0"/>
          </a:p>
        </p:txBody>
      </p:sp>
      <p:sp>
        <p:nvSpPr>
          <p:cNvPr id="24" name="gq_67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Barry</a:t>
            </a:r>
            <a:endParaRPr lang="en-US" sz="1200" dirty="0"/>
          </a:p>
        </p:txBody>
      </p:sp>
      <p:sp>
        <p:nvSpPr>
          <p:cNvPr id="25" name="R2_chip68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 dog</a:t>
            </a:r>
            <a:endParaRPr lang="en-US" sz="1200" dirty="0"/>
          </a:p>
        </p:txBody>
      </p:sp>
      <p:sp>
        <p:nvSpPr>
          <p:cNvPr id="26" name="gq_69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Dave</a:t>
            </a:r>
            <a:endParaRPr lang="en-US" sz="1200" dirty="0"/>
          </a:p>
        </p:txBody>
      </p:sp>
      <p:sp>
        <p:nvSpPr>
          <p:cNvPr id="27" name="R3_chip70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man</a:t>
            </a:r>
            <a:endParaRPr lang="en-US" sz="1200" dirty="0"/>
          </a:p>
        </p:txBody>
      </p:sp>
      <p:sp>
        <p:nvSpPr>
          <p:cNvPr id="28" name="gq_71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Dolly</a:t>
            </a:r>
            <a:endParaRPr lang="en-US" sz="1200" dirty="0"/>
          </a:p>
        </p:txBody>
      </p:sp>
      <p:sp>
        <p:nvSpPr>
          <p:cNvPr id="29" name="R4_chip72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 dog</a:t>
            </a:r>
            <a:endParaRPr lang="en-US" sz="1200" dirty="0"/>
          </a:p>
        </p:txBody>
      </p:sp>
      <p:sp>
        <p:nvSpPr>
          <p:cNvPr id="30" name="gq_73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dog is Barry?</a:t>
            </a:r>
            <a:endParaRPr lang="en-US" sz="1200" dirty="0"/>
          </a:p>
        </p:txBody>
      </p:sp>
      <p:sp>
        <p:nvSpPr>
          <p:cNvPr id="31" name="R5_chip74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Labrador – he's two</a:t>
            </a:r>
            <a:endParaRPr lang="en-US" sz="1200" dirty="0"/>
          </a:p>
        </p:txBody>
      </p:sp>
      <p:sp>
        <p:nvSpPr>
          <p:cNvPr id="32" name="gq_75"/>
          <p:cNvSpPr/>
          <p:nvPr/>
        </p:nvSpPr>
        <p:spPr>
          <a:xfrm>
            <a:off x="3383280" y="40233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dog is Dolly?</a:t>
            </a:r>
            <a:endParaRPr lang="en-US" sz="1200" dirty="0"/>
          </a:p>
        </p:txBody>
      </p:sp>
      <p:sp>
        <p:nvSpPr>
          <p:cNvPr id="33" name="R6_chip76"/>
          <p:cNvSpPr/>
          <p:nvPr/>
        </p:nvSpPr>
        <p:spPr>
          <a:xfrm>
            <a:off x="6812280" y="402336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fox terrier – the same age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79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 the café</a:t>
            </a:r>
            <a:endParaRPr lang="en-US" sz="2500" dirty="0"/>
          </a:p>
        </p:txBody>
      </p:sp>
      <p:pic>
        <p:nvPicPr>
          <p:cNvPr id="6" name="brP_8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8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What happens in the end? Then listen again and complete the questions.</a:t>
            </a:r>
            <a:endParaRPr lang="en-US" sz="1100" dirty="0"/>
          </a:p>
        </p:txBody>
      </p:sp>
      <p:sp>
        <p:nvSpPr>
          <p:cNvPr id="8" name="insIT_8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Ascolta. Cosa succede alla fine? Poi ascolta di nuovo e completa le domande.</a:t>
            </a:r>
            <a:endParaRPr lang="en-US" sz="950" dirty="0"/>
          </a:p>
        </p:txBody>
      </p:sp>
      <p:sp>
        <p:nvSpPr>
          <p:cNvPr id="9" name="note_8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→ grammar</a:t>
            </a:r>
            <a:endParaRPr lang="en-US" sz="1150" dirty="0"/>
          </a:p>
        </p:txBody>
      </p:sp>
      <p:pic>
        <p:nvPicPr>
          <p:cNvPr id="10" name="logo_8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8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Listening · at the café   ·   📖 SB p.26 · 1b, 1c · audio 3.18 (TG key)</a:t>
            </a:r>
            <a:endParaRPr lang="en-US" sz="800" dirty="0"/>
          </a:p>
        </p:txBody>
      </p:sp>
      <p:sp>
        <p:nvSpPr>
          <p:cNvPr id="12" name="cd_86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8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It's really hot. Would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drink? Or an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Yes, why not? Let's go to the café.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kind of ice cream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Er, a Magnum if they have it. … Thanks, Dave.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Very near here, in Park Road. And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 live quite near, in Queen's Road.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Becca?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I'm a journalist.</a:t>
            </a:r>
            <a:endParaRPr lang="en-US" sz="1000" dirty="0"/>
          </a:p>
        </p:txBody>
      </p:sp>
      <p:sp>
        <p:nvSpPr>
          <p:cNvPr id="14" name="R2_rdA8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It's really hot. Would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drink? Or an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Yes, why not? Let's go to the café.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kind of ice cream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want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Er, a Magnum if they have it. … Thanks, Dave.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Very near here, in Park Road. And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 live quite near, in Queen's Road.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Becca?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I'm a journalist.</a:t>
            </a:r>
            <a:endParaRPr lang="en-US" sz="1000" dirty="0"/>
          </a:p>
        </p:txBody>
      </p:sp>
      <p:sp>
        <p:nvSpPr>
          <p:cNvPr id="15" name="R2_rdA8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It's really hot. Would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drink? Or an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Yes, why not? Let's go to the café.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kind of ice cream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want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Er, a Magnum if they have it. … Thanks, Dave.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Very near here, in Park Road. And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 live quite near, in Queen's Road.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Becca?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I'm a journalist.</a:t>
            </a:r>
            <a:endParaRPr lang="en-US" sz="1000" dirty="0"/>
          </a:p>
        </p:txBody>
      </p:sp>
      <p:sp>
        <p:nvSpPr>
          <p:cNvPr id="16" name="R4_rdA9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It's really hot. Would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drink? Or an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Yes, why not? Let's go to the café.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kind of ice cream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want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Er, a Magnum if they have it. … Thanks, Dave.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Where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Very near here, in Park Road. And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 live quite near, in Queen's Road.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Becca?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I'm a journalist.</a:t>
            </a:r>
            <a:endParaRPr lang="en-US" sz="1000" dirty="0"/>
          </a:p>
        </p:txBody>
      </p:sp>
      <p:sp>
        <p:nvSpPr>
          <p:cNvPr id="17" name="R4_rdA9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It's really hot. Would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drink? Or an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Yes, why not? Let's go to the café.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kind of ice cream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want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Er, a Magnum if they have it. … Thanks, Dave.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Where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Very near here, in Park Road. And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 live quite near, in Queen's Road.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Becca?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I'm a journalist.</a:t>
            </a:r>
            <a:endParaRPr lang="en-US" sz="1000" dirty="0"/>
          </a:p>
        </p:txBody>
      </p:sp>
      <p:sp>
        <p:nvSpPr>
          <p:cNvPr id="18" name="R6_rdA9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It's really hot. Would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drink? Or an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Yes, why not? Let's go to the café.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kind of ice cream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want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Er, a Magnum if they have it. … Thanks, Dave.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Where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Very near here, in Park Road. And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 live quite near, in Queen's Road.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Becca?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I'm a journalist.</a:t>
            </a:r>
            <a:endParaRPr lang="en-US" sz="1000" dirty="0"/>
          </a:p>
        </p:txBody>
      </p:sp>
      <p:sp>
        <p:nvSpPr>
          <p:cNvPr id="19" name="R6_rdA9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It's really hot. Would you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drink? Or an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Yes, why not? Let's go to the café.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kind of ice cream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want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Er, a Magnum if they have it. … Thanks, Dave.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Where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Very near here, in Park Road. And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 live quite near, in Queen's Road.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Becca?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I'm a journalist.</a:t>
            </a:r>
            <a:endParaRPr lang="en-US" sz="1000" dirty="0"/>
          </a:p>
        </p:txBody>
      </p:sp>
      <p:sp>
        <p:nvSpPr>
          <p:cNvPr id="20" name="cd_94"/>
          <p:cNvSpPr/>
          <p:nvPr/>
        </p:nvSpPr>
        <p:spPr>
          <a:xfrm>
            <a:off x="6263640" y="1417320"/>
            <a:ext cx="2606040" cy="1163320"/>
          </a:xfrm>
          <a:prstGeom prst="roundRect">
            <a:avLst>
              <a:gd name="adj" fmla="val 1100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ii_95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🍦</a:t>
            </a:r>
            <a:endParaRPr lang="en-US" sz="2200" dirty="0"/>
          </a:p>
        </p:txBody>
      </p:sp>
      <p:sp>
        <p:nvSpPr>
          <p:cNvPr id="22" name="ih_96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happens in the end?</a:t>
            </a:r>
            <a:endParaRPr lang="en-US" sz="1100" dirty="0"/>
          </a:p>
        </p:txBody>
      </p:sp>
      <p:sp>
        <p:nvSpPr>
          <p:cNvPr id="23" name="il_97"/>
          <p:cNvSpPr/>
          <p:nvPr/>
        </p:nvSpPr>
        <p:spPr>
          <a:xfrm>
            <a:off x="6830568" y="1911096"/>
            <a:ext cx="1947672" cy="596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once – books closed.</a:t>
            </a:r>
            <a:endParaRPr lang="en-US" sz="1150" dirty="0"/>
          </a:p>
        </p:txBody>
      </p:sp>
      <p:sp>
        <p:nvSpPr>
          <p:cNvPr id="24" name="R1_chip98"/>
          <p:cNvSpPr/>
          <p:nvPr/>
        </p:nvSpPr>
        <p:spPr>
          <a:xfrm>
            <a:off x="6263640" y="2690368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Dave invites Becca to lunch on Saturday.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9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0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101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 the café (2)</a:t>
            </a:r>
            <a:endParaRPr lang="en-US" sz="2500" dirty="0"/>
          </a:p>
        </p:txBody>
      </p:sp>
      <p:pic>
        <p:nvPicPr>
          <p:cNvPr id="6" name="brP_10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103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Complete the questions 5–7.</a:t>
            </a:r>
            <a:endParaRPr lang="en-US" sz="1250" dirty="0"/>
          </a:p>
        </p:txBody>
      </p:sp>
      <p:sp>
        <p:nvSpPr>
          <p:cNvPr id="8" name="insIT_10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Ascolta. Cosa succede alla fine? Completa le domande 5–7.</a:t>
            </a:r>
            <a:endParaRPr lang="en-US" sz="950" dirty="0"/>
          </a:p>
        </p:txBody>
      </p:sp>
      <p:sp>
        <p:nvSpPr>
          <p:cNvPr id="9" name="note_10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→ grammar</a:t>
            </a:r>
            <a:endParaRPr lang="en-US" sz="1150" dirty="0"/>
          </a:p>
        </p:txBody>
      </p:sp>
      <p:pic>
        <p:nvPicPr>
          <p:cNvPr id="10" name="logo_10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0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Listening · at the café   ·   📖 SB p.26 · 1b, 1c · audio 3.18 (TG key)</a:t>
            </a:r>
            <a:endParaRPr lang="en-US" sz="800" dirty="0"/>
          </a:p>
        </p:txBody>
      </p:sp>
      <p:sp>
        <p:nvSpPr>
          <p:cNvPr id="12" name="cd_108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0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Really? How interesting!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a newspaper?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No, for TV.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I'm a teacher. I'm on holiday now.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Me too. Oh! My ice cream.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Dolly! Bad dog! I'm really sorry.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another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No, thanks.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sure? I'm really sorry. Look, let's have lunch one day.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free on Saturday?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Oh, well, OK, then. Yes. Thanks very much.</a:t>
            </a:r>
            <a:endParaRPr lang="en-US" sz="1000" dirty="0"/>
          </a:p>
        </p:txBody>
      </p:sp>
      <p:sp>
        <p:nvSpPr>
          <p:cNvPr id="14" name="R2_rdA11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Really? How interesting!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work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a newspaper?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No, for TV.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I'm a teacher. I'm on holiday now.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Me too. Oh! My ice cream.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Dolly! Bad dog! I'm really sorry.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another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No, thanks.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sure? I'm really sorry. Look, let's have lunch one day.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free on Saturday?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Oh, well, OK, then. Yes. Thanks very much.</a:t>
            </a:r>
            <a:endParaRPr lang="en-US" sz="1000" dirty="0"/>
          </a:p>
        </p:txBody>
      </p:sp>
      <p:sp>
        <p:nvSpPr>
          <p:cNvPr id="15" name="R3_rdA11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Really? How interesting!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work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a newspaper?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No, for TV.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I'm a teacher. I'm on holiday now.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Me too. Oh! My ice cream.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Dolly! Bad dog! I'm really sorry.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another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No, thanks.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sure? I'm really sorry. Look, let's have lunch one day.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free on Saturday?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Oh, well, OK, then. Yes. Thanks very much.</a:t>
            </a:r>
            <a:endParaRPr lang="en-US" sz="1000" dirty="0"/>
          </a:p>
        </p:txBody>
      </p:sp>
      <p:sp>
        <p:nvSpPr>
          <p:cNvPr id="16" name="R4_rdA11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Becca and Dave at the café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Really? How interesting!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work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a newspaper?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No, for TV.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you?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I'm a teacher. I'm on holiday now.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Me too. Oh! My ice cream.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Dolly! Bad dog! I'm really sorry.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want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another ice cream?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No, thanks.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sure? I'm really sorry. Look, let's have lunch one day.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free on Saturday?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Oh, well, OK, then. Yes. Thanks very much.</a:t>
            </a:r>
            <a:endParaRPr lang="en-US" sz="1000" dirty="0"/>
          </a:p>
        </p:txBody>
      </p:sp>
      <p:sp>
        <p:nvSpPr>
          <p:cNvPr id="17" name="cd_113"/>
          <p:cNvSpPr/>
          <p:nvPr/>
        </p:nvSpPr>
        <p:spPr>
          <a:xfrm>
            <a:off x="6263640" y="1417320"/>
            <a:ext cx="2606040" cy="1613408"/>
          </a:xfrm>
          <a:prstGeom prst="roundRect">
            <a:avLst>
              <a:gd name="adj" fmla="val 793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8" name="ii_114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🍦</a:t>
            </a:r>
            <a:endParaRPr lang="en-US" sz="2200" dirty="0"/>
          </a:p>
        </p:txBody>
      </p:sp>
      <p:sp>
        <p:nvSpPr>
          <p:cNvPr id="19" name="ih_115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happens in the end?</a:t>
            </a:r>
            <a:endParaRPr lang="en-US" sz="1100" dirty="0"/>
          </a:p>
        </p:txBody>
      </p:sp>
      <p:sp>
        <p:nvSpPr>
          <p:cNvPr id="20" name="il_116"/>
          <p:cNvSpPr/>
          <p:nvPr/>
        </p:nvSpPr>
        <p:spPr>
          <a:xfrm>
            <a:off x="6830568" y="1911096"/>
            <a:ext cx="194767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once – books closed.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listen again and fill the gaps.</a:t>
            </a:r>
            <a:endParaRPr lang="en-US" sz="1150" dirty="0"/>
          </a:p>
        </p:txBody>
      </p:sp>
      <p:sp>
        <p:nvSpPr>
          <p:cNvPr id="21" name="R1_chip117"/>
          <p:cNvSpPr/>
          <p:nvPr/>
        </p:nvSpPr>
        <p:spPr>
          <a:xfrm>
            <a:off x="6263640" y="3140456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Dave invites Becca to lunch on Saturday.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1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1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120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Really? How interesting!</a:t>
            </a:r>
            <a:endParaRPr lang="en-US" sz="2500" dirty="0"/>
          </a:p>
        </p:txBody>
      </p:sp>
      <p:pic>
        <p:nvPicPr>
          <p:cNvPr id="6" name="brP_12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2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and repeat the phrases for showing interest. Then practise the conversation.</a:t>
            </a:r>
            <a:endParaRPr lang="en-US" sz="1100" dirty="0"/>
          </a:p>
        </p:txBody>
      </p:sp>
      <p:sp>
        <p:nvSpPr>
          <p:cNvPr id="8" name="insIT_12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e ripeti le frasi per mostrare interesse. Poi esercitati con il dialogo.</a:t>
            </a:r>
            <a:endParaRPr lang="en-US" sz="950" dirty="0"/>
          </a:p>
        </p:txBody>
      </p:sp>
      <p:sp>
        <p:nvSpPr>
          <p:cNvPr id="9" name="note_12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12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2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Showing interest   ·   📖 SB p.26 · 1d, 1e · audio 3.19 (Showing interest box)</a:t>
            </a:r>
            <a:endParaRPr lang="en-US" sz="800" dirty="0"/>
          </a:p>
        </p:txBody>
      </p:sp>
      <p:sp>
        <p:nvSpPr>
          <p:cNvPr id="12" name="pf_127"/>
          <p:cNvSpPr/>
          <p:nvPr/>
        </p:nvSpPr>
        <p:spPr>
          <a:xfrm rot="-120000">
            <a:off x="1171319" y="1371600"/>
            <a:ext cx="1086362" cy="1325880"/>
          </a:xfrm>
          <a:prstGeom prst="roundRect">
            <a:avLst>
              <a:gd name="adj" fmla="val 143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128" descr="/home/claude/lls-course/v2/cache/red_3c_cafe_jpg_23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217039" y="1417320"/>
            <a:ext cx="994922" cy="1234440"/>
          </a:xfrm>
          <a:prstGeom prst="rect">
            <a:avLst/>
          </a:prstGeom>
        </p:spPr>
      </p:pic>
      <p:sp>
        <p:nvSpPr>
          <p:cNvPr id="14" name="cd_129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30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131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132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Really?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interesting!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about you?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 too.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you?</a:t>
            </a:r>
            <a:endParaRPr lang="en-US" sz="1150" dirty="0"/>
          </a:p>
        </p:txBody>
      </p:sp>
      <p:sp>
        <p:nvSpPr>
          <p:cNvPr id="18" name="R1_qb133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134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a journalist.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Really? How interesting!</a:t>
            </a:r>
            <a:endParaRPr lang="en-US" sz="1300" dirty="0"/>
          </a:p>
        </p:txBody>
      </p:sp>
      <p:sp>
        <p:nvSpPr>
          <p:cNvPr id="20" name="R2_qb135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136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for a newspaper? – No, for TV.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What about you?</a:t>
            </a:r>
            <a:endParaRPr lang="en-US" sz="1300" dirty="0"/>
          </a:p>
        </p:txBody>
      </p:sp>
      <p:sp>
        <p:nvSpPr>
          <p:cNvPr id="22" name="R3_qb137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138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on holiday now.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Me too.</a:t>
            </a:r>
            <a:endParaRPr lang="en-US" sz="1300" dirty="0"/>
          </a:p>
        </p:txBody>
      </p:sp>
      <p:sp>
        <p:nvSpPr>
          <p:cNvPr id="24" name="R4_qb139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140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 read the café conversation with a partner. Then swap roles!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 = Dave · B = Becca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4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143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Lunch at Dave's</a:t>
            </a:r>
            <a:endParaRPr lang="en-US" sz="2500" dirty="0"/>
          </a:p>
        </p:txBody>
      </p:sp>
      <p:pic>
        <p:nvPicPr>
          <p:cNvPr id="6" name="brP_14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4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Becca goes to Dave's flat. Listen. Becca (B) or Dave (D)?</a:t>
            </a:r>
            <a:endParaRPr lang="en-US" sz="1250" dirty="0"/>
          </a:p>
        </p:txBody>
      </p:sp>
      <p:sp>
        <p:nvSpPr>
          <p:cNvPr id="8" name="insIT_14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Becca va a casa di Dave. Ascolta. Becca (B) o Dave (D)?</a:t>
            </a:r>
            <a:endParaRPr lang="en-US" sz="950" dirty="0"/>
          </a:p>
        </p:txBody>
      </p:sp>
      <p:sp>
        <p:nvSpPr>
          <p:cNvPr id="9" name="note_14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14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4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Listening · lunch at Dave's flat   ·   📖 SB p.26 · 1f, 1g · audio 3.20 (script p.119 · TG key)</a:t>
            </a:r>
            <a:endParaRPr lang="en-US" sz="800" dirty="0"/>
          </a:p>
        </p:txBody>
      </p:sp>
      <p:sp>
        <p:nvSpPr>
          <p:cNvPr id="12" name="ap_150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3.20  ·  play twice</a:t>
            </a:r>
            <a:endParaRPr lang="en-US" sz="1100" dirty="0"/>
          </a:p>
        </p:txBody>
      </p:sp>
      <p:sp>
        <p:nvSpPr>
          <p:cNvPr id="13" name="ah_15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15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pf_153"/>
          <p:cNvSpPr/>
          <p:nvPr/>
        </p:nvSpPr>
        <p:spPr>
          <a:xfrm rot="-90000">
            <a:off x="411480" y="2348230"/>
            <a:ext cx="2697480" cy="1201420"/>
          </a:xfrm>
          <a:prstGeom prst="roundRect">
            <a:avLst>
              <a:gd name="adj" fmla="val 129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154" descr="/home/claude/lls-course/v2/cache/red_3c_dogs_jpg_627x26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393950"/>
            <a:ext cx="2606040" cy="1109980"/>
          </a:xfrm>
          <a:prstGeom prst="rect">
            <a:avLst/>
          </a:prstGeom>
        </p:spPr>
      </p:pic>
      <p:sp>
        <p:nvSpPr>
          <p:cNvPr id="19" name="cd_155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156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ih_157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Then: is the lunch a success?</a:t>
            </a:r>
            <a:endParaRPr lang="en-US" sz="1200" dirty="0"/>
          </a:p>
        </p:txBody>
      </p:sp>
      <p:sp>
        <p:nvSpPr>
          <p:cNvPr id="22" name="gq_158"/>
          <p:cNvSpPr/>
          <p:nvPr/>
        </p:nvSpPr>
        <p:spPr>
          <a:xfrm>
            <a:off x="3383280" y="1417320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lives on the first floor.</a:t>
            </a:r>
            <a:endParaRPr lang="en-US" sz="1200" dirty="0"/>
          </a:p>
        </p:txBody>
      </p:sp>
      <p:sp>
        <p:nvSpPr>
          <p:cNvPr id="23" name="R1_chip159"/>
          <p:cNvSpPr/>
          <p:nvPr/>
        </p:nvSpPr>
        <p:spPr>
          <a:xfrm>
            <a:off x="6812280" y="1417320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Dave</a:t>
            </a:r>
            <a:endParaRPr lang="en-US" sz="1200" dirty="0"/>
          </a:p>
        </p:txBody>
      </p:sp>
      <p:sp>
        <p:nvSpPr>
          <p:cNvPr id="24" name="gq_160"/>
          <p:cNvSpPr/>
          <p:nvPr/>
        </p:nvSpPr>
        <p:spPr>
          <a:xfrm>
            <a:off x="3383280" y="1887583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likes the flat.</a:t>
            </a:r>
            <a:endParaRPr lang="en-US" sz="1200" dirty="0"/>
          </a:p>
        </p:txBody>
      </p:sp>
      <p:sp>
        <p:nvSpPr>
          <p:cNvPr id="25" name="R2_chip161"/>
          <p:cNvSpPr/>
          <p:nvPr/>
        </p:nvSpPr>
        <p:spPr>
          <a:xfrm>
            <a:off x="6812280" y="1887583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– Becca</a:t>
            </a:r>
            <a:endParaRPr lang="en-US" sz="1200" dirty="0"/>
          </a:p>
        </p:txBody>
      </p:sp>
      <p:sp>
        <p:nvSpPr>
          <p:cNvPr id="26" name="gq_162"/>
          <p:cNvSpPr/>
          <p:nvPr/>
        </p:nvSpPr>
        <p:spPr>
          <a:xfrm>
            <a:off x="3383280" y="2357846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doesn't really like dogs.</a:t>
            </a:r>
            <a:endParaRPr lang="en-US" sz="1200" dirty="0"/>
          </a:p>
        </p:txBody>
      </p:sp>
      <p:sp>
        <p:nvSpPr>
          <p:cNvPr id="27" name="R3_chip163"/>
          <p:cNvSpPr/>
          <p:nvPr/>
        </p:nvSpPr>
        <p:spPr>
          <a:xfrm>
            <a:off x="6812280" y="2357846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Dave</a:t>
            </a:r>
            <a:endParaRPr lang="en-US" sz="1200" dirty="0"/>
          </a:p>
        </p:txBody>
      </p:sp>
      <p:sp>
        <p:nvSpPr>
          <p:cNvPr id="28" name="gq_164"/>
          <p:cNvSpPr/>
          <p:nvPr/>
        </p:nvSpPr>
        <p:spPr>
          <a:xfrm>
            <a:off x="3383280" y="2828109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doesn't have a big flat.</a:t>
            </a:r>
            <a:endParaRPr lang="en-US" sz="1200" dirty="0"/>
          </a:p>
        </p:txBody>
      </p:sp>
      <p:sp>
        <p:nvSpPr>
          <p:cNvPr id="29" name="R4_chip165"/>
          <p:cNvSpPr/>
          <p:nvPr/>
        </p:nvSpPr>
        <p:spPr>
          <a:xfrm>
            <a:off x="6812280" y="2828109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Dave</a:t>
            </a:r>
            <a:endParaRPr lang="en-US" sz="1200" dirty="0"/>
          </a:p>
        </p:txBody>
      </p:sp>
      <p:sp>
        <p:nvSpPr>
          <p:cNvPr id="30" name="gq_166"/>
          <p:cNvSpPr/>
          <p:nvPr/>
        </p:nvSpPr>
        <p:spPr>
          <a:xfrm>
            <a:off x="3383280" y="3298371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has two cats.</a:t>
            </a:r>
            <a:endParaRPr lang="en-US" sz="1200" dirty="0"/>
          </a:p>
        </p:txBody>
      </p:sp>
      <p:sp>
        <p:nvSpPr>
          <p:cNvPr id="31" name="R5_chip167"/>
          <p:cNvSpPr/>
          <p:nvPr/>
        </p:nvSpPr>
        <p:spPr>
          <a:xfrm>
            <a:off x="6812280" y="3298371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– Becca</a:t>
            </a:r>
            <a:endParaRPr lang="en-US" sz="1200" dirty="0"/>
          </a:p>
        </p:txBody>
      </p:sp>
      <p:sp>
        <p:nvSpPr>
          <p:cNvPr id="32" name="gq_168"/>
          <p:cNvSpPr/>
          <p:nvPr/>
        </p:nvSpPr>
        <p:spPr>
          <a:xfrm>
            <a:off x="3383280" y="3768634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makes pasta and ice cream for lunch.</a:t>
            </a:r>
            <a:endParaRPr lang="en-US" sz="1200" dirty="0"/>
          </a:p>
        </p:txBody>
      </p:sp>
      <p:sp>
        <p:nvSpPr>
          <p:cNvPr id="33" name="R6_chip169"/>
          <p:cNvSpPr/>
          <p:nvPr/>
        </p:nvSpPr>
        <p:spPr>
          <a:xfrm>
            <a:off x="6812280" y="3768634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Dave</a:t>
            </a:r>
            <a:endParaRPr lang="en-US" sz="1200" dirty="0"/>
          </a:p>
        </p:txBody>
      </p:sp>
      <p:sp>
        <p:nvSpPr>
          <p:cNvPr id="34" name="gq_170"/>
          <p:cNvSpPr/>
          <p:nvPr/>
        </p:nvSpPr>
        <p:spPr>
          <a:xfrm>
            <a:off x="3383280" y="4238897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the lunch a success? Why?</a:t>
            </a:r>
            <a:endParaRPr lang="en-US" sz="1200" dirty="0"/>
          </a:p>
        </p:txBody>
      </p:sp>
      <p:sp>
        <p:nvSpPr>
          <p:cNvPr id="35" name="R7_chip171"/>
          <p:cNvSpPr/>
          <p:nvPr/>
        </p:nvSpPr>
        <p:spPr>
          <a:xfrm>
            <a:off x="6812280" y="4238897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Yes! Neither dog is theirs – and they both love cats.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7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174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Retell it!</a:t>
            </a:r>
            <a:endParaRPr lang="en-US" sz="2500" dirty="0"/>
          </a:p>
        </p:txBody>
      </p:sp>
      <p:pic>
        <p:nvPicPr>
          <p:cNvPr id="6" name="brP_17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176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Retell the story to your partner. Use the prompts!</a:t>
            </a:r>
            <a:endParaRPr lang="en-US" sz="1250" dirty="0"/>
          </a:p>
        </p:txBody>
      </p:sp>
      <p:sp>
        <p:nvSpPr>
          <p:cNvPr id="8" name="insIT_17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Racconta di nuovo la storia al compagno. Usa gli spunti!</a:t>
            </a:r>
            <a:endParaRPr lang="en-US" sz="950" dirty="0"/>
          </a:p>
        </p:txBody>
      </p:sp>
      <p:sp>
        <p:nvSpPr>
          <p:cNvPr id="9" name="note_17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TPRS · retell</a:t>
            </a:r>
            <a:endParaRPr lang="en-US" sz="1250" dirty="0"/>
          </a:p>
        </p:txBody>
      </p:sp>
      <p:pic>
        <p:nvPicPr>
          <p:cNvPr id="10" name="logo_17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8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Speaking · retell</a:t>
            </a:r>
            <a:endParaRPr lang="en-US" sz="800" dirty="0"/>
          </a:p>
        </p:txBody>
      </p:sp>
      <p:sp>
        <p:nvSpPr>
          <p:cNvPr id="12" name="pf_181"/>
          <p:cNvSpPr/>
          <p:nvPr/>
        </p:nvSpPr>
        <p:spPr>
          <a:xfrm rot="-90000">
            <a:off x="761545" y="1417320"/>
            <a:ext cx="1860190" cy="2286000"/>
          </a:xfrm>
          <a:prstGeom prst="roundRect">
            <a:avLst>
              <a:gd name="adj" fmla="val 8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182" descr="/home/claude/lls-course/v2/cache/red_3c_cafe_jpg_426x52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807265" y="1463040"/>
            <a:ext cx="1768750" cy="2194560"/>
          </a:xfrm>
          <a:prstGeom prst="rect">
            <a:avLst/>
          </a:prstGeom>
        </p:spPr>
      </p:pic>
      <p:sp>
        <p:nvSpPr>
          <p:cNvPr id="14" name="R1_sb183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R1_sl184"/>
          <p:cNvSpPr/>
          <p:nvPr/>
        </p:nvSpPr>
        <p:spPr>
          <a:xfrm>
            <a:off x="3584448" y="1417320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park ·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Becca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Barry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(Labrador)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Becca is in the park with…</a:t>
            </a:r>
            <a:endParaRPr lang="en-US" sz="1250" dirty="0"/>
          </a:p>
        </p:txBody>
      </p:sp>
      <p:sp>
        <p:nvSpPr>
          <p:cNvPr id="16" name="R2_sb185"/>
          <p:cNvSpPr/>
          <p:nvPr/>
        </p:nvSpPr>
        <p:spPr>
          <a:xfrm>
            <a:off x="3200400" y="193722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R2_sl186"/>
          <p:cNvSpPr/>
          <p:nvPr/>
        </p:nvSpPr>
        <p:spPr>
          <a:xfrm>
            <a:off x="3584448" y="1900646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Dave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Dolly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(fox terrier)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Dave has a…</a:t>
            </a:r>
            <a:endParaRPr lang="en-US" sz="1250" dirty="0"/>
          </a:p>
        </p:txBody>
      </p:sp>
      <p:sp>
        <p:nvSpPr>
          <p:cNvPr id="18" name="R3_sb187"/>
          <p:cNvSpPr/>
          <p:nvPr/>
        </p:nvSpPr>
        <p:spPr>
          <a:xfrm>
            <a:off x="3200400" y="2420547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R3_sl188"/>
          <p:cNvSpPr/>
          <p:nvPr/>
        </p:nvSpPr>
        <p:spPr>
          <a:xfrm>
            <a:off x="3584448" y="2383971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café · Magnum · journalist · teacher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They go to…</a:t>
            </a:r>
            <a:endParaRPr lang="en-US" sz="1250" dirty="0"/>
          </a:p>
        </p:txBody>
      </p:sp>
      <p:sp>
        <p:nvSpPr>
          <p:cNvPr id="20" name="R4_sb189"/>
          <p:cNvSpPr/>
          <p:nvPr/>
        </p:nvSpPr>
        <p:spPr>
          <a:xfrm>
            <a:off x="3200400" y="2903873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R4_sl190"/>
          <p:cNvSpPr/>
          <p:nvPr/>
        </p:nvSpPr>
        <p:spPr>
          <a:xfrm>
            <a:off x="3584448" y="2867297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ice cream · bad dog · lunch on Saturday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Dolly eats…</a:t>
            </a:r>
            <a:endParaRPr lang="en-US" sz="1250" dirty="0"/>
          </a:p>
        </p:txBody>
      </p:sp>
      <p:sp>
        <p:nvSpPr>
          <p:cNvPr id="22" name="R5_sb191"/>
          <p:cNvSpPr/>
          <p:nvPr/>
        </p:nvSpPr>
        <p:spPr>
          <a:xfrm>
            <a:off x="3200400" y="3387199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R5_sl192"/>
          <p:cNvSpPr/>
          <p:nvPr/>
        </p:nvSpPr>
        <p:spPr>
          <a:xfrm>
            <a:off x="3584448" y="3350623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Dave's flat · not his dog · sister's dog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At the flat, Dave says…</a:t>
            </a:r>
            <a:endParaRPr lang="en-US" sz="1250" dirty="0"/>
          </a:p>
        </p:txBody>
      </p:sp>
      <p:sp>
        <p:nvSpPr>
          <p:cNvPr id="24" name="R6_sb193"/>
          <p:cNvSpPr/>
          <p:nvPr/>
        </p:nvSpPr>
        <p:spPr>
          <a:xfrm>
            <a:off x="3200400" y="3870525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R6_sl194"/>
          <p:cNvSpPr/>
          <p:nvPr/>
        </p:nvSpPr>
        <p:spPr>
          <a:xfrm>
            <a:off x="3584448" y="3833949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cats · spaghetti carbonara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In the end…</a:t>
            </a:r>
            <a:endParaRPr lang="en-US" sz="1250" dirty="0"/>
          </a:p>
        </p:txBody>
      </p:sp>
      <p:sp>
        <p:nvSpPr>
          <p:cNvPr id="26" name="R7_sb195"/>
          <p:cNvSpPr/>
          <p:nvPr/>
        </p:nvSpPr>
        <p:spPr>
          <a:xfrm>
            <a:off x="3200400" y="43538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R7_sl196"/>
          <p:cNvSpPr/>
          <p:nvPr/>
        </p:nvSpPr>
        <p:spPr>
          <a:xfrm>
            <a:off x="3584448" y="4317274"/>
            <a:ext cx="5303520" cy="419318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2 things in the story!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In my story…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9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19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675181" cy="621792"/>
          </a:xfrm>
          <a:prstGeom prst="rect">
            <a:avLst/>
          </a:prstGeom>
        </p:spPr>
      </p:pic>
      <p:sp>
        <p:nvSpPr>
          <p:cNvPr id="5" name="title_199"/>
          <p:cNvSpPr/>
          <p:nvPr/>
        </p:nvSpPr>
        <p:spPr>
          <a:xfrm>
            <a:off x="1261872" y="164592"/>
            <a:ext cx="14008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QuASI!</a:t>
            </a:r>
            <a:endParaRPr lang="en-US" sz="2500" dirty="0"/>
          </a:p>
        </p:txBody>
      </p:sp>
      <p:pic>
        <p:nvPicPr>
          <p:cNvPr id="6" name="brP_20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0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Put the words in order. Say the question, then click!</a:t>
            </a:r>
            <a:endParaRPr lang="en-US" sz="1250" dirty="0"/>
          </a:p>
        </p:txBody>
      </p:sp>
      <p:sp>
        <p:nvSpPr>
          <p:cNvPr id="8" name="insIT_20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Metti le parole in ordine. Di' la domanda, poi clicca!</a:t>
            </a:r>
            <a:endParaRPr lang="en-US" sz="950" dirty="0"/>
          </a:p>
        </p:txBody>
      </p:sp>
      <p:sp>
        <p:nvSpPr>
          <p:cNvPr id="9" name="note_20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</a:t>
            </a:r>
            <a:endParaRPr lang="en-US" sz="1150" dirty="0"/>
          </a:p>
        </p:txBody>
      </p:sp>
      <p:pic>
        <p:nvPicPr>
          <p:cNvPr id="10" name="logo_20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0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Grammar · word order in questions   ·   📖 SB p.27 · 2a, 2b · audio 3.21 · Grammar Bank 3C p.128 (3.22, 3.23 · TG notes)</a:t>
            </a:r>
            <a:endParaRPr lang="en-US" sz="800" dirty="0"/>
          </a:p>
        </p:txBody>
      </p:sp>
      <p:sp>
        <p:nvSpPr>
          <p:cNvPr id="12" name="cvl_206"/>
          <p:cNvSpPr/>
          <p:nvPr/>
        </p:nvSpPr>
        <p:spPr>
          <a:xfrm>
            <a:off x="320040" y="141732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Barry is old how</a:t>
            </a:r>
            <a:endParaRPr lang="en-US" sz="1250" dirty="0"/>
          </a:p>
        </p:txBody>
      </p:sp>
      <p:sp>
        <p:nvSpPr>
          <p:cNvPr id="13" name="cva_207"/>
          <p:cNvSpPr/>
          <p:nvPr/>
        </p:nvSpPr>
        <p:spPr>
          <a:xfrm>
            <a:off x="3364992" y="14173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 + be</a:t>
            </a:r>
            <a:endParaRPr lang="en-US" sz="1000" dirty="0"/>
          </a:p>
        </p:txBody>
      </p:sp>
      <p:sp>
        <p:nvSpPr>
          <p:cNvPr id="14" name="R1_cvb208"/>
          <p:cNvSpPr/>
          <p:nvPr/>
        </p:nvSpPr>
        <p:spPr>
          <a:xfrm>
            <a:off x="4443984" y="14173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?</a:t>
            </a:r>
            <a:endParaRPr lang="en-US" sz="1000" dirty="0"/>
          </a:p>
        </p:txBody>
      </p:sp>
      <p:sp>
        <p:nvSpPr>
          <p:cNvPr id="15" name="R1_cvr209"/>
          <p:cNvSpPr/>
          <p:nvPr/>
        </p:nvSpPr>
        <p:spPr>
          <a:xfrm>
            <a:off x="5541264" y="141732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old is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Barry?</a:t>
            </a:r>
            <a:endParaRPr lang="en-US" sz="1250" dirty="0"/>
          </a:p>
        </p:txBody>
      </p:sp>
      <p:sp>
        <p:nvSpPr>
          <p:cNvPr id="16" name="cvl_210"/>
          <p:cNvSpPr/>
          <p:nvPr/>
        </p:nvSpPr>
        <p:spPr>
          <a:xfrm>
            <a:off x="320040" y="192024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 name what's</a:t>
            </a:r>
            <a:endParaRPr lang="en-US" sz="1250" dirty="0"/>
          </a:p>
        </p:txBody>
      </p:sp>
      <p:sp>
        <p:nvSpPr>
          <p:cNvPr id="17" name="cva_211"/>
          <p:cNvSpPr/>
          <p:nvPr/>
        </p:nvSpPr>
        <p:spPr>
          <a:xfrm>
            <a:off x="3364992" y="192024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 + 's</a:t>
            </a:r>
            <a:endParaRPr lang="en-US" sz="1000" dirty="0"/>
          </a:p>
        </p:txBody>
      </p:sp>
      <p:sp>
        <p:nvSpPr>
          <p:cNvPr id="18" name="R2_cvb212"/>
          <p:cNvSpPr/>
          <p:nvPr/>
        </p:nvSpPr>
        <p:spPr>
          <a:xfrm>
            <a:off x="4443984" y="192024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?</a:t>
            </a:r>
            <a:endParaRPr lang="en-US" sz="1000" dirty="0"/>
          </a:p>
        </p:txBody>
      </p:sp>
      <p:sp>
        <p:nvSpPr>
          <p:cNvPr id="19" name="R2_cvr213"/>
          <p:cNvSpPr/>
          <p:nvPr/>
        </p:nvSpPr>
        <p:spPr>
          <a:xfrm>
            <a:off x="5541264" y="192024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his name?</a:t>
            </a:r>
            <a:endParaRPr lang="en-US" sz="1250" dirty="0"/>
          </a:p>
        </p:txBody>
      </p:sp>
      <p:sp>
        <p:nvSpPr>
          <p:cNvPr id="20" name="cvl_214"/>
          <p:cNvSpPr/>
          <p:nvPr/>
        </p:nvSpPr>
        <p:spPr>
          <a:xfrm>
            <a:off x="320040" y="242316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like do it you</a:t>
            </a:r>
            <a:endParaRPr lang="en-US" sz="1250" dirty="0"/>
          </a:p>
        </p:txBody>
      </p:sp>
      <p:sp>
        <p:nvSpPr>
          <p:cNvPr id="21" name="cva_215"/>
          <p:cNvSpPr/>
          <p:nvPr/>
        </p:nvSpPr>
        <p:spPr>
          <a:xfrm>
            <a:off x="3364992" y="24231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S I</a:t>
            </a:r>
            <a:endParaRPr lang="en-US" sz="1000" dirty="0"/>
          </a:p>
        </p:txBody>
      </p:sp>
      <p:sp>
        <p:nvSpPr>
          <p:cNvPr id="22" name="R3_cvb216"/>
          <p:cNvSpPr/>
          <p:nvPr/>
        </p:nvSpPr>
        <p:spPr>
          <a:xfrm>
            <a:off x="4443984" y="24231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?</a:t>
            </a:r>
            <a:endParaRPr lang="en-US" sz="1000" dirty="0"/>
          </a:p>
        </p:txBody>
      </p:sp>
      <p:sp>
        <p:nvSpPr>
          <p:cNvPr id="23" name="R3_cvr217"/>
          <p:cNvSpPr/>
          <p:nvPr/>
        </p:nvSpPr>
        <p:spPr>
          <a:xfrm>
            <a:off x="5541264" y="242316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like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it?</a:t>
            </a:r>
            <a:endParaRPr lang="en-US" sz="1250" dirty="0"/>
          </a:p>
        </p:txBody>
      </p:sp>
      <p:sp>
        <p:nvSpPr>
          <p:cNvPr id="24" name="cvl_218"/>
          <p:cNvSpPr/>
          <p:nvPr/>
        </p:nvSpPr>
        <p:spPr>
          <a:xfrm>
            <a:off x="320040" y="292608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 feel do cats you how</a:t>
            </a:r>
            <a:endParaRPr lang="en-US" sz="1250" dirty="0"/>
          </a:p>
        </p:txBody>
      </p:sp>
      <p:sp>
        <p:nvSpPr>
          <p:cNvPr id="25" name="cva_219"/>
          <p:cNvSpPr/>
          <p:nvPr/>
        </p:nvSpPr>
        <p:spPr>
          <a:xfrm>
            <a:off x="3364992" y="292608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 A S I</a:t>
            </a:r>
            <a:endParaRPr lang="en-US" sz="1000" dirty="0"/>
          </a:p>
        </p:txBody>
      </p:sp>
      <p:sp>
        <p:nvSpPr>
          <p:cNvPr id="26" name="R4_cvb220"/>
          <p:cNvSpPr/>
          <p:nvPr/>
        </p:nvSpPr>
        <p:spPr>
          <a:xfrm>
            <a:off x="4443984" y="292608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?</a:t>
            </a:r>
            <a:endParaRPr lang="en-US" sz="1000" dirty="0"/>
          </a:p>
        </p:txBody>
      </p:sp>
      <p:sp>
        <p:nvSpPr>
          <p:cNvPr id="27" name="R4_cvr221"/>
          <p:cNvSpPr/>
          <p:nvPr/>
        </p:nvSpPr>
        <p:spPr>
          <a:xfrm>
            <a:off x="5541264" y="292608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you feel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about cats?</a:t>
            </a:r>
            <a:endParaRPr lang="en-US" sz="1250" dirty="0"/>
          </a:p>
        </p:txBody>
      </p:sp>
      <p:sp>
        <p:nvSpPr>
          <p:cNvPr id="28" name="cvl_222"/>
          <p:cNvSpPr/>
          <p:nvPr/>
        </p:nvSpPr>
        <p:spPr>
          <a:xfrm>
            <a:off x="320040" y="342900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 you where do</a:t>
            </a:r>
            <a:endParaRPr lang="en-US" sz="1250" dirty="0"/>
          </a:p>
        </p:txBody>
      </p:sp>
      <p:sp>
        <p:nvSpPr>
          <p:cNvPr id="29" name="cva_223"/>
          <p:cNvSpPr/>
          <p:nvPr/>
        </p:nvSpPr>
        <p:spPr>
          <a:xfrm>
            <a:off x="3364992" y="342900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 A S I</a:t>
            </a:r>
            <a:endParaRPr lang="en-US" sz="1000" dirty="0"/>
          </a:p>
        </p:txBody>
      </p:sp>
      <p:sp>
        <p:nvSpPr>
          <p:cNvPr id="30" name="R5_cvb224"/>
          <p:cNvSpPr/>
          <p:nvPr/>
        </p:nvSpPr>
        <p:spPr>
          <a:xfrm>
            <a:off x="4443984" y="342900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?</a:t>
            </a:r>
            <a:endParaRPr lang="en-US" sz="1000" dirty="0"/>
          </a:p>
        </p:txBody>
      </p:sp>
      <p:sp>
        <p:nvSpPr>
          <p:cNvPr id="31" name="R5_cvr225"/>
          <p:cNvSpPr/>
          <p:nvPr/>
        </p:nvSpPr>
        <p:spPr>
          <a:xfrm>
            <a:off x="5541264" y="342900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 you work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250" dirty="0"/>
          </a:p>
        </p:txBody>
      </p:sp>
      <p:sp>
        <p:nvSpPr>
          <p:cNvPr id="32" name="cvl_226"/>
          <p:cNvSpPr/>
          <p:nvPr/>
        </p:nvSpPr>
        <p:spPr>
          <a:xfrm>
            <a:off x="320040" y="393192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music kind of do like what you</a:t>
            </a:r>
            <a:endParaRPr lang="en-US" sz="1250" dirty="0"/>
          </a:p>
        </p:txBody>
      </p:sp>
      <p:sp>
        <p:nvSpPr>
          <p:cNvPr id="33" name="cva_227"/>
          <p:cNvSpPr/>
          <p:nvPr/>
        </p:nvSpPr>
        <p:spPr>
          <a:xfrm>
            <a:off x="3364992" y="39319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 A S I</a:t>
            </a:r>
            <a:endParaRPr lang="en-US" sz="1000" dirty="0"/>
          </a:p>
        </p:txBody>
      </p:sp>
      <p:sp>
        <p:nvSpPr>
          <p:cNvPr id="34" name="R6_cvb228"/>
          <p:cNvSpPr/>
          <p:nvPr/>
        </p:nvSpPr>
        <p:spPr>
          <a:xfrm>
            <a:off x="4443984" y="39319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?</a:t>
            </a:r>
            <a:endParaRPr lang="en-US" sz="1000" dirty="0"/>
          </a:p>
        </p:txBody>
      </p:sp>
      <p:sp>
        <p:nvSpPr>
          <p:cNvPr id="35" name="R6_cvr229"/>
          <p:cNvSpPr/>
          <p:nvPr/>
        </p:nvSpPr>
        <p:spPr>
          <a:xfrm>
            <a:off x="5541264" y="393192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music do you like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3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232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Bank practice</a:t>
            </a:r>
            <a:endParaRPr lang="en-US" sz="2400" dirty="0"/>
          </a:p>
        </p:txBody>
      </p:sp>
      <p:pic>
        <p:nvPicPr>
          <p:cNvPr id="6" name="brP_23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234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3C a: put the words in order.</a:t>
            </a:r>
            <a:endParaRPr lang="en-US" sz="1250" dirty="0"/>
          </a:p>
        </p:txBody>
      </p:sp>
      <p:sp>
        <p:nvSpPr>
          <p:cNvPr id="8" name="insIT_23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3C a: metti le parole in ordine.</a:t>
            </a:r>
            <a:endParaRPr lang="en-US" sz="950" dirty="0"/>
          </a:p>
        </p:txBody>
      </p:sp>
      <p:sp>
        <p:nvSpPr>
          <p:cNvPr id="9" name="note_23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23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3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Grammar Bank 3C p.129 · a   ·   📖 Grammar Bank 3C p.129 · a (TG key)</a:t>
            </a:r>
            <a:endParaRPr lang="en-US" sz="800" dirty="0"/>
          </a:p>
        </p:txBody>
      </p:sp>
      <p:sp>
        <p:nvSpPr>
          <p:cNvPr id="12" name="cd_239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240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question</a:t>
            </a:r>
            <a:endParaRPr lang="en-US" sz="1700" dirty="0"/>
          </a:p>
        </p:txBody>
      </p:sp>
      <p:sp>
        <p:nvSpPr>
          <p:cNvPr id="14" name="ln_241"/>
          <p:cNvSpPr/>
          <p:nvPr/>
        </p:nvSpPr>
        <p:spPr>
          <a:xfrm>
            <a:off x="548640" y="1920240"/>
            <a:ext cx="5349240" cy="289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children / have / how many / you / do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endParaRPr lang="en-US" sz="950" dirty="0"/>
          </a:p>
        </p:txBody>
      </p:sp>
      <p:sp>
        <p:nvSpPr>
          <p:cNvPr id="15" name="R1_lnA242"/>
          <p:cNvSpPr/>
          <p:nvPr/>
        </p:nvSpPr>
        <p:spPr>
          <a:xfrm>
            <a:off x="548640" y="1920240"/>
            <a:ext cx="5349240" cy="2899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children / have / how many / you / do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How many children do you have?</a:t>
            </a:r>
            <a:endParaRPr lang="en-US" sz="950" dirty="0"/>
          </a:p>
        </p:txBody>
      </p:sp>
      <p:sp>
        <p:nvSpPr>
          <p:cNvPr id="16" name="ln_243"/>
          <p:cNvSpPr/>
          <p:nvPr/>
        </p:nvSpPr>
        <p:spPr>
          <a:xfrm>
            <a:off x="548640" y="2210141"/>
            <a:ext cx="5349240" cy="238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job / is / interesting / your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endParaRPr lang="en-US" sz="950" dirty="0"/>
          </a:p>
        </p:txBody>
      </p:sp>
      <p:sp>
        <p:nvSpPr>
          <p:cNvPr id="17" name="R2_lnA244"/>
          <p:cNvSpPr/>
          <p:nvPr/>
        </p:nvSpPr>
        <p:spPr>
          <a:xfrm>
            <a:off x="548640" y="2210141"/>
            <a:ext cx="5349240" cy="23852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job / is / interesting / your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Is your job interesting?</a:t>
            </a:r>
            <a:endParaRPr lang="en-US" sz="950" dirty="0"/>
          </a:p>
        </p:txBody>
      </p:sp>
      <p:sp>
        <p:nvSpPr>
          <p:cNvPr id="18" name="ln_245"/>
          <p:cNvSpPr/>
          <p:nvPr/>
        </p:nvSpPr>
        <p:spPr>
          <a:xfrm>
            <a:off x="548640" y="2448667"/>
            <a:ext cx="5349240" cy="238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car / colour / is / what / his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endParaRPr lang="en-US" sz="950" dirty="0"/>
          </a:p>
        </p:txBody>
      </p:sp>
      <p:sp>
        <p:nvSpPr>
          <p:cNvPr id="19" name="R3_lnA246"/>
          <p:cNvSpPr/>
          <p:nvPr/>
        </p:nvSpPr>
        <p:spPr>
          <a:xfrm>
            <a:off x="548640" y="2448667"/>
            <a:ext cx="5349240" cy="23852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car / colour / is / what / his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What colour is his car?</a:t>
            </a:r>
            <a:endParaRPr lang="en-US" sz="950" dirty="0"/>
          </a:p>
        </p:txBody>
      </p:sp>
      <p:sp>
        <p:nvSpPr>
          <p:cNvPr id="20" name="ln_247"/>
          <p:cNvSpPr/>
          <p:nvPr/>
        </p:nvSpPr>
        <p:spPr>
          <a:xfrm>
            <a:off x="548640" y="2687193"/>
            <a:ext cx="5349240" cy="27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work / your brother / does / where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endParaRPr lang="en-US" sz="950" dirty="0"/>
          </a:p>
        </p:txBody>
      </p:sp>
      <p:sp>
        <p:nvSpPr>
          <p:cNvPr id="21" name="R4_lnA248"/>
          <p:cNvSpPr/>
          <p:nvPr/>
        </p:nvSpPr>
        <p:spPr>
          <a:xfrm>
            <a:off x="548640" y="2687193"/>
            <a:ext cx="5349240" cy="27522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work / your brother / does / where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your brother work?</a:t>
            </a:r>
            <a:endParaRPr lang="en-US" sz="950" dirty="0"/>
          </a:p>
        </p:txBody>
      </p:sp>
      <p:sp>
        <p:nvSpPr>
          <p:cNvPr id="22" name="ln_249"/>
          <p:cNvSpPr/>
          <p:nvPr/>
        </p:nvSpPr>
        <p:spPr>
          <a:xfrm>
            <a:off x="548640" y="2962415"/>
            <a:ext cx="5349240" cy="267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computers / work / you / do / with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endParaRPr lang="en-US" sz="950" dirty="0"/>
          </a:p>
        </p:txBody>
      </p:sp>
      <p:sp>
        <p:nvSpPr>
          <p:cNvPr id="23" name="R5_lnA250"/>
          <p:cNvSpPr/>
          <p:nvPr/>
        </p:nvSpPr>
        <p:spPr>
          <a:xfrm>
            <a:off x="548640" y="2962415"/>
            <a:ext cx="5349240" cy="26788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computers / work / you / do / with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 you work with computers?</a:t>
            </a:r>
            <a:endParaRPr lang="en-US" sz="950" dirty="0"/>
          </a:p>
        </p:txBody>
      </p:sp>
      <p:sp>
        <p:nvSpPr>
          <p:cNvPr id="24" name="ln_251"/>
          <p:cNvSpPr/>
          <p:nvPr/>
        </p:nvSpPr>
        <p:spPr>
          <a:xfrm>
            <a:off x="548640" y="3230298"/>
            <a:ext cx="5349240" cy="32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magazines / you / what kind of / read / do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endParaRPr lang="en-US" sz="950" dirty="0"/>
          </a:p>
        </p:txBody>
      </p:sp>
      <p:sp>
        <p:nvSpPr>
          <p:cNvPr id="25" name="R6_lnA252"/>
          <p:cNvSpPr/>
          <p:nvPr/>
        </p:nvSpPr>
        <p:spPr>
          <a:xfrm>
            <a:off x="548640" y="3230298"/>
            <a:ext cx="5349240" cy="3265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magazines / you / what kind of / read / do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What kind of magazines do you read?</a:t>
            </a:r>
            <a:endParaRPr lang="en-US" sz="950" dirty="0"/>
          </a:p>
        </p:txBody>
      </p:sp>
      <p:sp>
        <p:nvSpPr>
          <p:cNvPr id="26" name="ln_253"/>
          <p:cNvSpPr/>
          <p:nvPr/>
        </p:nvSpPr>
        <p:spPr>
          <a:xfrm>
            <a:off x="548640" y="3556896"/>
            <a:ext cx="5349240" cy="29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at the weekend / he / does / do / what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endParaRPr lang="en-US" sz="950" dirty="0"/>
          </a:p>
        </p:txBody>
      </p:sp>
      <p:sp>
        <p:nvSpPr>
          <p:cNvPr id="27" name="R7_lnA254"/>
          <p:cNvSpPr/>
          <p:nvPr/>
        </p:nvSpPr>
        <p:spPr>
          <a:xfrm>
            <a:off x="548640" y="3556896"/>
            <a:ext cx="5349240" cy="2972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at the weekend / he / does / do / what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What does he do at the weekend?</a:t>
            </a:r>
            <a:endParaRPr lang="en-US" sz="950" dirty="0"/>
          </a:p>
        </p:txBody>
      </p:sp>
      <p:sp>
        <p:nvSpPr>
          <p:cNvPr id="28" name="ln_255"/>
          <p:cNvSpPr/>
          <p:nvPr/>
        </p:nvSpPr>
        <p:spPr>
          <a:xfrm>
            <a:off x="548640" y="3854136"/>
            <a:ext cx="5349240" cy="27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in your job / you / are / stressed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endParaRPr lang="en-US" sz="950" dirty="0"/>
          </a:p>
        </p:txBody>
      </p:sp>
      <p:sp>
        <p:nvSpPr>
          <p:cNvPr id="29" name="R8_lnA256"/>
          <p:cNvSpPr/>
          <p:nvPr/>
        </p:nvSpPr>
        <p:spPr>
          <a:xfrm>
            <a:off x="548640" y="3854136"/>
            <a:ext cx="5349240" cy="27522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in your job / you / are / stressed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Are you stressed in your job?</a:t>
            </a:r>
            <a:endParaRPr lang="en-US" sz="950" dirty="0"/>
          </a:p>
        </p:txBody>
      </p:sp>
      <p:sp>
        <p:nvSpPr>
          <p:cNvPr id="30" name="ln_257"/>
          <p:cNvSpPr/>
          <p:nvPr/>
        </p:nvSpPr>
        <p:spPr>
          <a:xfrm>
            <a:off x="548640" y="4129358"/>
            <a:ext cx="5349240" cy="267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live / your sister / where / does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endParaRPr lang="en-US" sz="950" dirty="0"/>
          </a:p>
        </p:txBody>
      </p:sp>
      <p:sp>
        <p:nvSpPr>
          <p:cNvPr id="31" name="R9_lnA258"/>
          <p:cNvSpPr/>
          <p:nvPr/>
        </p:nvSpPr>
        <p:spPr>
          <a:xfrm>
            <a:off x="548640" y="4129358"/>
            <a:ext cx="5349240" cy="26788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live / your sister / where / does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your sister live?</a:t>
            </a:r>
            <a:endParaRPr lang="en-US" sz="950" dirty="0"/>
          </a:p>
        </p:txBody>
      </p:sp>
      <p:sp>
        <p:nvSpPr>
          <p:cNvPr id="32" name="ln_259"/>
          <p:cNvSpPr/>
          <p:nvPr/>
        </p:nvSpPr>
        <p:spPr>
          <a:xfrm>
            <a:off x="548640" y="4397241"/>
            <a:ext cx="5349240" cy="311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in English / say / do / how / you / that →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endParaRPr lang="en-US" sz="950" dirty="0"/>
          </a:p>
        </p:txBody>
      </p:sp>
      <p:sp>
        <p:nvSpPr>
          <p:cNvPr id="33" name="R10_lnA260"/>
          <p:cNvSpPr/>
          <p:nvPr/>
        </p:nvSpPr>
        <p:spPr>
          <a:xfrm>
            <a:off x="548640" y="4397241"/>
            <a:ext cx="5349240" cy="31191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in English / say / do / how / you / that →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say that in English?</a:t>
            </a:r>
            <a:endParaRPr lang="en-US" sz="950" dirty="0"/>
          </a:p>
        </p:txBody>
      </p:sp>
      <p:sp>
        <p:nvSpPr>
          <p:cNvPr id="34" name="pf_261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5" name="ph_262" descr="/home/claude/lls-course/v2/cache/red_3c_park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36" name="cd_263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ii_264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8" name="ih_265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9" name="il_266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 + A + S + I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be: Qu + be + S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6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6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269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Question words</a:t>
            </a:r>
            <a:endParaRPr lang="en-US" sz="2500" dirty="0"/>
          </a:p>
        </p:txBody>
      </p:sp>
      <p:pic>
        <p:nvPicPr>
          <p:cNvPr id="6" name="brP_27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7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questions with a question word. Then listen and check.</a:t>
            </a:r>
            <a:endParaRPr lang="en-US" sz="1100" dirty="0"/>
          </a:p>
        </p:txBody>
      </p:sp>
      <p:sp>
        <p:nvSpPr>
          <p:cNvPr id="8" name="insIT_27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le domande con una parola interrogativa. Poi ascolta.</a:t>
            </a:r>
            <a:endParaRPr lang="en-US" sz="950" dirty="0"/>
          </a:p>
        </p:txBody>
      </p:sp>
      <p:sp>
        <p:nvSpPr>
          <p:cNvPr id="9" name="note_27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27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7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Vocabulary · question words   ·   📖 SB p.27 · 3a, 3b · audio 3.24 (TG key)</a:t>
            </a:r>
            <a:endParaRPr lang="en-US" sz="800" dirty="0"/>
          </a:p>
        </p:txBody>
      </p:sp>
      <p:sp>
        <p:nvSpPr>
          <p:cNvPr id="12" name="cd_276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7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7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79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many · What · What kind of · When · Where · Which · Who · Why</a:t>
            </a:r>
            <a:endParaRPr lang="en-US" sz="850" dirty="0"/>
          </a:p>
        </p:txBody>
      </p:sp>
      <p:sp>
        <p:nvSpPr>
          <p:cNvPr id="16" name="ap_280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3.24</a:t>
            </a:r>
            <a:endParaRPr lang="en-US" sz="1100" dirty="0"/>
          </a:p>
        </p:txBody>
      </p:sp>
      <p:sp>
        <p:nvSpPr>
          <p:cNvPr id="17" name="ah_28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8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9" name="ah_28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0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1" name="bd_283"/>
          <p:cNvSpPr/>
          <p:nvPr/>
        </p:nvSpPr>
        <p:spPr>
          <a:xfrm>
            <a:off x="3246120" y="14447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284"/>
          <p:cNvSpPr/>
          <p:nvPr/>
        </p:nvSpPr>
        <p:spPr>
          <a:xfrm>
            <a:off x="3630168" y="14173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phone do you have? – I have a Samsung.</a:t>
            </a:r>
            <a:endParaRPr lang="en-US" sz="900" dirty="0"/>
          </a:p>
        </p:txBody>
      </p:sp>
      <p:sp>
        <p:nvSpPr>
          <p:cNvPr id="23" name="R1_chip285"/>
          <p:cNvSpPr/>
          <p:nvPr/>
        </p:nvSpPr>
        <p:spPr>
          <a:xfrm>
            <a:off x="5806440" y="14173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(example)</a:t>
            </a:r>
            <a:endParaRPr lang="en-US" sz="1050" dirty="0"/>
          </a:p>
        </p:txBody>
      </p:sp>
      <p:sp>
        <p:nvSpPr>
          <p:cNvPr id="24" name="bd_286"/>
          <p:cNvSpPr/>
          <p:nvPr/>
        </p:nvSpPr>
        <p:spPr>
          <a:xfrm>
            <a:off x="3246120" y="18562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287"/>
          <p:cNvSpPr/>
          <p:nvPr/>
        </p:nvSpPr>
        <p:spPr>
          <a:xfrm>
            <a:off x="3630168" y="1828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brothers and sisters do you have? – I have two sisters.</a:t>
            </a:r>
            <a:endParaRPr lang="en-US" sz="900" dirty="0"/>
          </a:p>
        </p:txBody>
      </p:sp>
      <p:sp>
        <p:nvSpPr>
          <p:cNvPr id="26" name="R2_chip288"/>
          <p:cNvSpPr/>
          <p:nvPr/>
        </p:nvSpPr>
        <p:spPr>
          <a:xfrm>
            <a:off x="5806440" y="18288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many</a:t>
            </a:r>
            <a:endParaRPr lang="en-US" sz="1050" dirty="0"/>
          </a:p>
        </p:txBody>
      </p:sp>
      <p:sp>
        <p:nvSpPr>
          <p:cNvPr id="27" name="bd_289"/>
          <p:cNvSpPr/>
          <p:nvPr/>
        </p:nvSpPr>
        <p:spPr>
          <a:xfrm>
            <a:off x="3246120" y="22677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290"/>
          <p:cNvSpPr/>
          <p:nvPr/>
        </p:nvSpPr>
        <p:spPr>
          <a:xfrm>
            <a:off x="3630168" y="22402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 you prefer, cats or dogs? – Cats, I think.</a:t>
            </a:r>
            <a:endParaRPr lang="en-US" sz="900" dirty="0"/>
          </a:p>
        </p:txBody>
      </p:sp>
      <p:sp>
        <p:nvSpPr>
          <p:cNvPr id="29" name="R3_chip291"/>
          <p:cNvSpPr/>
          <p:nvPr/>
        </p:nvSpPr>
        <p:spPr>
          <a:xfrm>
            <a:off x="5806440" y="22402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</a:t>
            </a:r>
            <a:endParaRPr lang="en-US" sz="1050" dirty="0"/>
          </a:p>
        </p:txBody>
      </p:sp>
      <p:sp>
        <p:nvSpPr>
          <p:cNvPr id="30" name="bd_292"/>
          <p:cNvSpPr/>
          <p:nvPr/>
        </p:nvSpPr>
        <p:spPr>
          <a:xfrm>
            <a:off x="3246120" y="267919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293"/>
          <p:cNvSpPr/>
          <p:nvPr/>
        </p:nvSpPr>
        <p:spPr>
          <a:xfrm>
            <a:off x="3630168" y="265176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 you work? – In a restaurant in the city centre.</a:t>
            </a:r>
            <a:endParaRPr lang="en-US" sz="900" dirty="0"/>
          </a:p>
        </p:txBody>
      </p:sp>
      <p:sp>
        <p:nvSpPr>
          <p:cNvPr id="32" name="R4_chip294"/>
          <p:cNvSpPr/>
          <p:nvPr/>
        </p:nvSpPr>
        <p:spPr>
          <a:xfrm>
            <a:off x="5806440" y="265176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</a:t>
            </a:r>
            <a:endParaRPr lang="en-US" sz="1050" dirty="0"/>
          </a:p>
        </p:txBody>
      </p:sp>
      <p:sp>
        <p:nvSpPr>
          <p:cNvPr id="33" name="bd_295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296"/>
          <p:cNvSpPr/>
          <p:nvPr/>
        </p:nvSpPr>
        <p:spPr>
          <a:xfrm>
            <a:off x="3630168" y="30632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 you have language classes? – On Mondays and Wednesdays.</a:t>
            </a:r>
            <a:endParaRPr lang="en-US" sz="750" dirty="0"/>
          </a:p>
        </p:txBody>
      </p:sp>
      <p:sp>
        <p:nvSpPr>
          <p:cNvPr id="35" name="R5_chip297"/>
          <p:cNvSpPr/>
          <p:nvPr/>
        </p:nvSpPr>
        <p:spPr>
          <a:xfrm>
            <a:off x="5806440" y="306324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</a:t>
            </a:r>
            <a:endParaRPr lang="en-US" sz="1050" dirty="0"/>
          </a:p>
        </p:txBody>
      </p:sp>
      <p:sp>
        <p:nvSpPr>
          <p:cNvPr id="36" name="bd_298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299"/>
          <p:cNvSpPr/>
          <p:nvPr/>
        </p:nvSpPr>
        <p:spPr>
          <a:xfrm>
            <a:off x="3630168" y="34747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music do you like? – I like pop and reggae.</a:t>
            </a:r>
            <a:endParaRPr lang="en-US" sz="900" dirty="0"/>
          </a:p>
        </p:txBody>
      </p:sp>
      <p:sp>
        <p:nvSpPr>
          <p:cNvPr id="38" name="R6_chip300"/>
          <p:cNvSpPr/>
          <p:nvPr/>
        </p:nvSpPr>
        <p:spPr>
          <a:xfrm>
            <a:off x="5806440" y="34747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</a:t>
            </a:r>
            <a:endParaRPr lang="en-US" sz="1050" dirty="0"/>
          </a:p>
        </p:txBody>
      </p:sp>
      <p:sp>
        <p:nvSpPr>
          <p:cNvPr id="39" name="bd_301"/>
          <p:cNvSpPr/>
          <p:nvPr/>
        </p:nvSpPr>
        <p:spPr>
          <a:xfrm>
            <a:off x="3246120" y="3913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q_302"/>
          <p:cNvSpPr/>
          <p:nvPr/>
        </p:nvSpPr>
        <p:spPr>
          <a:xfrm>
            <a:off x="3630168" y="38862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___'s your favourite actor? – Benedict Cumberbatch.</a:t>
            </a:r>
            <a:endParaRPr lang="en-US" sz="900" dirty="0"/>
          </a:p>
        </p:txBody>
      </p:sp>
      <p:sp>
        <p:nvSpPr>
          <p:cNvPr id="41" name="R7_chip303"/>
          <p:cNvSpPr/>
          <p:nvPr/>
        </p:nvSpPr>
        <p:spPr>
          <a:xfrm>
            <a:off x="5806440" y="38862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</a:t>
            </a:r>
            <a:endParaRPr lang="en-US" sz="1050" dirty="0"/>
          </a:p>
        </p:txBody>
      </p:sp>
      <p:sp>
        <p:nvSpPr>
          <p:cNvPr id="42" name="bd_304"/>
          <p:cNvSpPr/>
          <p:nvPr/>
        </p:nvSpPr>
        <p:spPr>
          <a:xfrm>
            <a:off x="3246120" y="432511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q_305"/>
          <p:cNvSpPr/>
          <p:nvPr/>
        </p:nvSpPr>
        <p:spPr>
          <a:xfrm>
            <a:off x="3630168" y="42976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 you like him? – Because he's a fantastic actor.</a:t>
            </a:r>
            <a:endParaRPr lang="en-US" sz="900" dirty="0"/>
          </a:p>
        </p:txBody>
      </p:sp>
      <p:sp>
        <p:nvSpPr>
          <p:cNvPr id="44" name="R8_chip306"/>
          <p:cNvSpPr/>
          <p:nvPr/>
        </p:nvSpPr>
        <p:spPr>
          <a:xfrm>
            <a:off x="5806440" y="42976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0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0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309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Copy the rhythm</a:t>
            </a:r>
            <a:endParaRPr lang="en-US" sz="2500" dirty="0"/>
          </a:p>
        </p:txBody>
      </p:sp>
      <p:pic>
        <p:nvPicPr>
          <p:cNvPr id="6" name="brP_31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1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Copy the rhythm. Then A asks, B answers – swap!</a:t>
            </a:r>
            <a:endParaRPr lang="en-US" sz="1250" dirty="0"/>
          </a:p>
        </p:txBody>
      </p:sp>
      <p:sp>
        <p:nvSpPr>
          <p:cNvPr id="8" name="insIT_31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Ascolta. Copia il ritmo. Poi A chiede, B risponde – scambiatevi!</a:t>
            </a:r>
            <a:endParaRPr lang="en-US" sz="950" dirty="0"/>
          </a:p>
        </p:txBody>
      </p:sp>
      <p:sp>
        <p:nvSpPr>
          <p:cNvPr id="9" name="note_31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Controlled practice</a:t>
            </a:r>
            <a:endParaRPr lang="en-US" sz="1150" dirty="0"/>
          </a:p>
        </p:txBody>
      </p:sp>
      <p:pic>
        <p:nvPicPr>
          <p:cNvPr id="10" name="logo_31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1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Pronunciation · sentence stress   ·   📖 SB p.27 · 4a, 4b · audio 3.25</a:t>
            </a:r>
            <a:endParaRPr lang="en-US" sz="800" dirty="0"/>
          </a:p>
        </p:txBody>
      </p:sp>
      <p:sp>
        <p:nvSpPr>
          <p:cNvPr id="12" name="cd_316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1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1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319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BIG words = stressed (nouns, verbs, adjectives) · small words = quick (do, you, your)</a:t>
            </a:r>
            <a:endParaRPr lang="en-US" sz="1000" dirty="0"/>
          </a:p>
        </p:txBody>
      </p:sp>
      <p:sp>
        <p:nvSpPr>
          <p:cNvPr id="16" name="ap_320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3.25</a:t>
            </a:r>
            <a:endParaRPr lang="en-US" sz="1100" dirty="0"/>
          </a:p>
        </p:txBody>
      </p:sp>
      <p:sp>
        <p:nvSpPr>
          <p:cNvPr id="17" name="ah_32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8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9" name="ah_32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0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1" name="bd_323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324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R1_chip325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 you WORK?</a:t>
            </a:r>
            <a:endParaRPr lang="en-US" sz="1050" dirty="0"/>
          </a:p>
        </p:txBody>
      </p:sp>
      <p:sp>
        <p:nvSpPr>
          <p:cNvPr id="24" name="bd_326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327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R2_chip328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PHONE do you HAVE?</a:t>
            </a:r>
            <a:endParaRPr lang="en-US" sz="1050" dirty="0"/>
          </a:p>
        </p:txBody>
      </p:sp>
      <p:sp>
        <p:nvSpPr>
          <p:cNvPr id="27" name="bd_329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330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R3_chip331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MUSIC do you LIKE?</a:t>
            </a:r>
            <a:endParaRPr lang="en-US" sz="1050" dirty="0"/>
          </a:p>
        </p:txBody>
      </p:sp>
      <p:sp>
        <p:nvSpPr>
          <p:cNvPr id="30" name="bd_332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333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32" name="R4_chip334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 your FAVOURITE ACTOR?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3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337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Get to know you</a:t>
            </a:r>
            <a:endParaRPr lang="en-US" sz="2500" dirty="0"/>
          </a:p>
        </p:txBody>
      </p:sp>
      <p:pic>
        <p:nvPicPr>
          <p:cNvPr id="6" name="brP_33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39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the questions. Then interview a partner – show interest!</a:t>
            </a:r>
            <a:endParaRPr lang="en-US" sz="1200" dirty="0"/>
          </a:p>
        </p:txBody>
      </p:sp>
      <p:sp>
        <p:nvSpPr>
          <p:cNvPr id="8" name="insIT_34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le domande. Poi intervista un compagno – mostra interesse!</a:t>
            </a:r>
            <a:endParaRPr lang="en-US" sz="950" dirty="0"/>
          </a:p>
        </p:txBody>
      </p:sp>
      <p:sp>
        <p:nvSpPr>
          <p:cNvPr id="9" name="note_34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34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Speaking · interview   ·   📖 SB p.27 · 5a, 5b</a:t>
            </a:r>
            <a:endParaRPr lang="en-US" sz="800" dirty="0"/>
          </a:p>
        </p:txBody>
      </p:sp>
      <p:sp>
        <p:nvSpPr>
          <p:cNvPr id="12" name="pf_344"/>
          <p:cNvSpPr/>
          <p:nvPr/>
        </p:nvSpPr>
        <p:spPr>
          <a:xfrm rot="-120000">
            <a:off x="1171319" y="1371600"/>
            <a:ext cx="1086362" cy="1325880"/>
          </a:xfrm>
          <a:prstGeom prst="roundRect">
            <a:avLst>
              <a:gd name="adj" fmla="val 143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45" descr="/home/claude/lls-course/v2/cache/red_3c_cafe_jpg_23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217039" y="1417320"/>
            <a:ext cx="994922" cy="1234440"/>
          </a:xfrm>
          <a:prstGeom prst="rect">
            <a:avLst/>
          </a:prstGeom>
        </p:spPr>
      </p:pic>
      <p:sp>
        <p:nvSpPr>
          <p:cNvPr id="14" name="cd_346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47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48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349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 you live / work / study?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films / food do you like?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sports / music do you play?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car do you have?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 your favourite singer?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Really? How interesting! Me too.</a:t>
            </a:r>
            <a:endParaRPr lang="en-US" sz="800" dirty="0"/>
          </a:p>
        </p:txBody>
      </p:sp>
      <p:sp>
        <p:nvSpPr>
          <p:cNvPr id="18" name="R1_qb350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351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words are missing? Where ___ live?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Where do you live? – add do you</a:t>
            </a:r>
            <a:endParaRPr lang="en-US" sz="1300" dirty="0"/>
          </a:p>
        </p:txBody>
      </p:sp>
      <p:sp>
        <p:nvSpPr>
          <p:cNvPr id="20" name="R2_qb352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353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/ What ___ your favourite…?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Who's your favourite actress? – add is / 's</a:t>
            </a:r>
            <a:endParaRPr lang="en-US" sz="1300" dirty="0"/>
          </a:p>
        </p:txBody>
      </p:sp>
      <p:sp>
        <p:nvSpPr>
          <p:cNvPr id="22" name="R3_qb354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355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A: Where do you live?  B: In the centre of town, near the station.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A: Really? Me too.</a:t>
            </a:r>
            <a:endParaRPr lang="en-US" sz="1100" dirty="0"/>
          </a:p>
        </p:txBody>
      </p:sp>
      <p:sp>
        <p:nvSpPr>
          <p:cNvPr id="24" name="R4_qb356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357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an extra question!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What colour is it? Do you like it?</a:t>
            </a:r>
            <a:endParaRPr lang="en-US" sz="1300" dirty="0"/>
          </a:p>
        </p:txBody>
      </p:sp>
      <p:sp>
        <p:nvSpPr>
          <p:cNvPr id="26" name="R5_qb358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R5_sq359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have in common?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We both like pizza and we both play tennis!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6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62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36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364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36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366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36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6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Exit · what can you remember?</a:t>
            </a:r>
            <a:endParaRPr lang="en-US" sz="800" dirty="0"/>
          </a:p>
        </p:txBody>
      </p:sp>
      <p:sp>
        <p:nvSpPr>
          <p:cNvPr id="12" name="bd_369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370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question words.</a:t>
            </a:r>
            <a:endParaRPr lang="en-US" sz="1400" dirty="0"/>
          </a:p>
        </p:txBody>
      </p:sp>
      <p:sp>
        <p:nvSpPr>
          <p:cNvPr id="14" name="bd_371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372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Ask me 2 questions: one with do you, one with does he / she.</a:t>
            </a:r>
            <a:endParaRPr lang="en-US" sz="1400" dirty="0"/>
          </a:p>
        </p:txBody>
      </p:sp>
      <p:sp>
        <p:nvSpPr>
          <p:cNvPr id="16" name="bd_373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374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about Becca or Dave.</a:t>
            </a:r>
            <a:endParaRPr lang="en-US" sz="1400" dirty="0"/>
          </a:p>
        </p:txBody>
      </p:sp>
      <p:sp>
        <p:nvSpPr>
          <p:cNvPr id="18" name="cd_375"/>
          <p:cNvSpPr/>
          <p:nvPr/>
        </p:nvSpPr>
        <p:spPr>
          <a:xfrm>
            <a:off x="5669280" y="1417320"/>
            <a:ext cx="3200400" cy="1426464"/>
          </a:xfrm>
          <a:prstGeom prst="roundRect">
            <a:avLst>
              <a:gd name="adj" fmla="val 897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376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377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378"/>
          <p:cNvSpPr/>
          <p:nvPr/>
        </p:nvSpPr>
        <p:spPr>
          <a:xfrm>
            <a:off x="6236208" y="1911096"/>
            <a:ext cx="2542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3C pp.22–23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Writing p.113: a personal profile</a:t>
            </a:r>
            <a:endParaRPr lang="en-US" sz="1150" dirty="0"/>
          </a:p>
        </p:txBody>
      </p:sp>
      <p:sp>
        <p:nvSpPr>
          <p:cNvPr id="22" name="st_379"/>
          <p:cNvSpPr/>
          <p:nvPr/>
        </p:nvSpPr>
        <p:spPr>
          <a:xfrm rot="-180000">
            <a:off x="5806440" y="3099816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Practical English 2 – Coffee to take away: telling the time (SB p.28)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8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8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382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38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384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38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38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38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8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Review · what did you do today?</a:t>
            </a:r>
            <a:endParaRPr lang="en-US" sz="800" dirty="0"/>
          </a:p>
        </p:txBody>
      </p:sp>
      <p:sp>
        <p:nvSpPr>
          <p:cNvPr id="12" name="cd_389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390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4" name="tt_391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put questions in the right order: What kind of music do you like?</a:t>
            </a:r>
            <a:endParaRPr lang="en-US" sz="1350" dirty="0"/>
          </a:p>
        </p:txBody>
      </p:sp>
      <p:sp>
        <p:nvSpPr>
          <p:cNvPr id="15" name="R1_tk392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393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39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8" name="tt_395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question words: who, which, why…</a:t>
            </a:r>
            <a:endParaRPr lang="en-US" sz="1350" dirty="0"/>
          </a:p>
        </p:txBody>
      </p:sp>
      <p:sp>
        <p:nvSpPr>
          <p:cNvPr id="19" name="R2_tk396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397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398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22" name="tt_399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questions with the right rhythm</a:t>
            </a:r>
            <a:endParaRPr lang="en-US" sz="1350" dirty="0"/>
          </a:p>
        </p:txBody>
      </p:sp>
      <p:sp>
        <p:nvSpPr>
          <p:cNvPr id="23" name="R3_tk400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01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02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26" name="tt_403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Becca and Dave meet in the park</a:t>
            </a:r>
            <a:endParaRPr lang="en-US" sz="1350" dirty="0"/>
          </a:p>
        </p:txBody>
      </p:sp>
      <p:sp>
        <p:nvSpPr>
          <p:cNvPr id="27" name="R4_tk404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05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06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30" name="tt_407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Wrote a personal profile</a:t>
            </a:r>
            <a:endParaRPr lang="en-US" sz="1350" dirty="0"/>
          </a:p>
        </p:txBody>
      </p:sp>
      <p:sp>
        <p:nvSpPr>
          <p:cNvPr id="31" name="R5_tk408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09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410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41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412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413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1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416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are you?</a:t>
            </a:r>
            <a:endParaRPr lang="en-US" sz="2500" dirty="0"/>
          </a:p>
        </p:txBody>
      </p:sp>
      <p:pic>
        <p:nvPicPr>
          <p:cNvPr id="6" name="brP_41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1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Famous people! One student is a famous person. The others ask questions – correct word order!</a:t>
            </a:r>
            <a:endParaRPr lang="en-US" sz="1100" dirty="0"/>
          </a:p>
        </p:txBody>
      </p:sp>
      <p:sp>
        <p:nvSpPr>
          <p:cNvPr id="8" name="insIT_41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Personaggi famosi! Uno è un personaggio famoso. Gli altri fanno domande!</a:t>
            </a:r>
            <a:endParaRPr lang="en-US" sz="950" dirty="0"/>
          </a:p>
        </p:txBody>
      </p:sp>
      <p:sp>
        <p:nvSpPr>
          <p:cNvPr id="9" name="note_42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👨‍👩‍👧 groups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42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2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Game · famous interview   ·   📖 Communicative photocopiable Famous people p.222 (TG p.206) – optional</a:t>
            </a:r>
            <a:endParaRPr lang="en-US" sz="800" dirty="0"/>
          </a:p>
        </p:txBody>
      </p:sp>
      <p:sp>
        <p:nvSpPr>
          <p:cNvPr id="12" name="ext_423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3" name="cd_424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ii_42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5" name="ih_42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6" name="il_427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Groups of 4. One student secretly chooses a famous person.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group asks real questions: Where do you live? What do you do?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in 10 questions! A wrong word order = no answer.</a:t>
            </a:r>
            <a:endParaRPr lang="en-US" sz="1150" dirty="0"/>
          </a:p>
        </p:txBody>
      </p:sp>
      <p:sp>
        <p:nvSpPr>
          <p:cNvPr id="17" name="bd_428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gq_429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are you from? · Where do you live?</a:t>
            </a:r>
            <a:endParaRPr lang="en-US" sz="1250" dirty="0"/>
          </a:p>
        </p:txBody>
      </p:sp>
      <p:sp>
        <p:nvSpPr>
          <p:cNvPr id="19" name="R1_chip430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I'm from Italy. I live in Rome.</a:t>
            </a:r>
            <a:endParaRPr lang="en-US" sz="1200" dirty="0"/>
          </a:p>
        </p:txBody>
      </p:sp>
      <p:sp>
        <p:nvSpPr>
          <p:cNvPr id="20" name="bd_431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gq_432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do? · Do you work in a team?</a:t>
            </a:r>
            <a:endParaRPr lang="en-US" sz="1250" dirty="0"/>
          </a:p>
        </p:txBody>
      </p:sp>
      <p:sp>
        <p:nvSpPr>
          <p:cNvPr id="22" name="R2_chip433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Are you a footballer?</a:t>
            </a:r>
            <a:endParaRPr lang="en-US" sz="1200" dirty="0"/>
          </a:p>
        </p:txBody>
      </p:sp>
      <p:sp>
        <p:nvSpPr>
          <p:cNvPr id="23" name="bd_434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gq_435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old are you? · Are you married?</a:t>
            </a:r>
            <a:endParaRPr lang="en-US" sz="1250" dirty="0"/>
          </a:p>
        </p:txBody>
      </p:sp>
      <p:sp>
        <p:nvSpPr>
          <p:cNvPr id="25" name="R3_chip436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Do you have children?</a:t>
            </a:r>
            <a:endParaRPr lang="en-US" sz="1200" dirty="0"/>
          </a:p>
        </p:txBody>
      </p:sp>
      <p:sp>
        <p:nvSpPr>
          <p:cNvPr id="26" name="bd_437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gq_438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music do you like?</a:t>
            </a:r>
            <a:endParaRPr lang="en-US" sz="1250" dirty="0"/>
          </a:p>
        </p:txBody>
      </p:sp>
      <p:sp>
        <p:nvSpPr>
          <p:cNvPr id="28" name="R4_chip439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Who's your favourite…?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4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44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442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personal profile</a:t>
            </a:r>
            <a:endParaRPr lang="en-US" sz="2500" dirty="0"/>
          </a:p>
        </p:txBody>
      </p:sp>
      <p:pic>
        <p:nvPicPr>
          <p:cNvPr id="6" name="brP_44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444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your personal profile. Use and, but, or.</a:t>
            </a:r>
            <a:endParaRPr lang="en-US" sz="1250" dirty="0"/>
          </a:p>
        </p:txBody>
      </p:sp>
      <p:sp>
        <p:nvSpPr>
          <p:cNvPr id="8" name="insIT_44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il tuo profilo personale. Usa and, but, or.</a:t>
            </a:r>
            <a:endParaRPr lang="en-US" sz="950" dirty="0"/>
          </a:p>
        </p:txBody>
      </p:sp>
      <p:sp>
        <p:nvSpPr>
          <p:cNvPr id="9" name="note_44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SCRIVI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10 min   👤 alone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Writing · TPRS · reading</a:t>
            </a:r>
            <a:endParaRPr lang="en-US" sz="1250" dirty="0"/>
          </a:p>
        </p:txBody>
      </p:sp>
      <p:pic>
        <p:nvPicPr>
          <p:cNvPr id="10" name="logo_44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4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 · Writing · p.113 (extra)   ·   📖 Writing p.113 · a, b, c</a:t>
            </a:r>
            <a:endParaRPr lang="en-US" sz="800" dirty="0"/>
          </a:p>
        </p:txBody>
      </p:sp>
      <p:sp>
        <p:nvSpPr>
          <p:cNvPr id="12" name="ext_449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3" name="cd_450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sh_451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700" dirty="0"/>
          </a:p>
        </p:txBody>
      </p:sp>
      <p:sp>
        <p:nvSpPr>
          <p:cNvPr id="15" name="ln_452"/>
          <p:cNvSpPr/>
          <p:nvPr/>
        </p:nvSpPr>
        <p:spPr>
          <a:xfrm>
            <a:off x="548640" y="1920240"/>
            <a:ext cx="5349240" cy="30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Name: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endParaRPr lang="en-US" sz="1300" dirty="0"/>
          </a:p>
        </p:txBody>
      </p:sp>
      <p:sp>
        <p:nvSpPr>
          <p:cNvPr id="16" name="R1_lnA453"/>
          <p:cNvSpPr/>
          <p:nvPr/>
        </p:nvSpPr>
        <p:spPr>
          <a:xfrm>
            <a:off x="548640" y="1920240"/>
            <a:ext cx="5349240" cy="30731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Name: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your name</a:t>
            </a:r>
            <a:endParaRPr lang="en-US" sz="1300" dirty="0"/>
          </a:p>
        </p:txBody>
      </p:sp>
      <p:sp>
        <p:nvSpPr>
          <p:cNvPr id="17" name="ln_454"/>
          <p:cNvSpPr/>
          <p:nvPr/>
        </p:nvSpPr>
        <p:spPr>
          <a:xfrm>
            <a:off x="548640" y="2227559"/>
            <a:ext cx="5349240" cy="30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From: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endParaRPr lang="en-US" sz="1300" dirty="0"/>
          </a:p>
        </p:txBody>
      </p:sp>
      <p:sp>
        <p:nvSpPr>
          <p:cNvPr id="18" name="R2_lnA455"/>
          <p:cNvSpPr/>
          <p:nvPr/>
        </p:nvSpPr>
        <p:spPr>
          <a:xfrm>
            <a:off x="548640" y="2227559"/>
            <a:ext cx="5349240" cy="30731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From: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town, country</a:t>
            </a:r>
            <a:endParaRPr lang="en-US" sz="1300" dirty="0"/>
          </a:p>
        </p:txBody>
      </p:sp>
      <p:sp>
        <p:nvSpPr>
          <p:cNvPr id="19" name="ln_456"/>
          <p:cNvSpPr/>
          <p:nvPr/>
        </p:nvSpPr>
        <p:spPr>
          <a:xfrm>
            <a:off x="548640" y="2534878"/>
            <a:ext cx="5349240" cy="560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Occupation: I'm a… / I work in…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endParaRPr lang="en-US" sz="1300" dirty="0"/>
          </a:p>
        </p:txBody>
      </p:sp>
      <p:sp>
        <p:nvSpPr>
          <p:cNvPr id="20" name="R3_lnA457"/>
          <p:cNvSpPr/>
          <p:nvPr/>
        </p:nvSpPr>
        <p:spPr>
          <a:xfrm>
            <a:off x="548640" y="2534878"/>
            <a:ext cx="5349240" cy="5608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Occupation: I'm a… / I work in…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I'm a nurse and I work in Bagheria.</a:t>
            </a:r>
            <a:endParaRPr lang="en-US" sz="1300" dirty="0"/>
          </a:p>
        </p:txBody>
      </p:sp>
      <p:sp>
        <p:nvSpPr>
          <p:cNvPr id="21" name="ln_458"/>
          <p:cNvSpPr/>
          <p:nvPr/>
        </p:nvSpPr>
        <p:spPr>
          <a:xfrm>
            <a:off x="548640" y="3095735"/>
            <a:ext cx="5349240" cy="484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Languages: I speak…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endParaRPr lang="en-US" sz="1300" dirty="0"/>
          </a:p>
        </p:txBody>
      </p:sp>
      <p:sp>
        <p:nvSpPr>
          <p:cNvPr id="22" name="R4_lnA459"/>
          <p:cNvSpPr/>
          <p:nvPr/>
        </p:nvSpPr>
        <p:spPr>
          <a:xfrm>
            <a:off x="548640" y="3095735"/>
            <a:ext cx="5349240" cy="4840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Languages: I speak…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speak Italian and a little English.</a:t>
            </a:r>
            <a:endParaRPr lang="en-US" sz="1300" dirty="0"/>
          </a:p>
        </p:txBody>
      </p:sp>
      <p:sp>
        <p:nvSpPr>
          <p:cNvPr id="23" name="ln_460"/>
          <p:cNvSpPr/>
          <p:nvPr/>
        </p:nvSpPr>
        <p:spPr>
          <a:xfrm>
            <a:off x="548640" y="3579763"/>
            <a:ext cx="5349240" cy="63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Interests: I like… but I don't like…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endParaRPr lang="en-US" sz="1300" dirty="0"/>
          </a:p>
        </p:txBody>
      </p:sp>
      <p:sp>
        <p:nvSpPr>
          <p:cNvPr id="24" name="R5_lnA461"/>
          <p:cNvSpPr/>
          <p:nvPr/>
        </p:nvSpPr>
        <p:spPr>
          <a:xfrm>
            <a:off x="548640" y="3579763"/>
            <a:ext cx="5349240" cy="63768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Interests: I like… but I don't like…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like music, but I don't like football.</a:t>
            </a:r>
            <a:endParaRPr lang="en-US" sz="1300" dirty="0"/>
          </a:p>
        </p:txBody>
      </p:sp>
      <p:sp>
        <p:nvSpPr>
          <p:cNvPr id="25" name="ln_462"/>
          <p:cNvSpPr/>
          <p:nvPr/>
        </p:nvSpPr>
        <p:spPr>
          <a:xfrm>
            <a:off x="548640" y="4217450"/>
            <a:ext cx="5349240" cy="491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 food / music / films: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endParaRPr lang="en-US" sz="1300" dirty="0"/>
          </a:p>
        </p:txBody>
      </p:sp>
      <p:sp>
        <p:nvSpPr>
          <p:cNvPr id="26" name="R6_lnA463"/>
          <p:cNvSpPr/>
          <p:nvPr/>
        </p:nvSpPr>
        <p:spPr>
          <a:xfrm>
            <a:off x="548640" y="4217450"/>
            <a:ext cx="5349240" cy="4917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 food / music / films: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pizza or pasta, pop music…</a:t>
            </a:r>
            <a:endParaRPr lang="en-US" sz="1300" dirty="0"/>
          </a:p>
        </p:txBody>
      </p:sp>
      <p:sp>
        <p:nvSpPr>
          <p:cNvPr id="27" name="pf_464"/>
          <p:cNvSpPr/>
          <p:nvPr/>
        </p:nvSpPr>
        <p:spPr>
          <a:xfrm rot="120000">
            <a:off x="6309360" y="1600200"/>
            <a:ext cx="256032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8" name="ph_465" descr="/home/claude/lls-course/v2/cache/red_3c_dogs_jpg_594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645920"/>
            <a:ext cx="2468880" cy="1051560"/>
          </a:xfrm>
          <a:prstGeom prst="rect">
            <a:avLst/>
          </a:prstGeom>
        </p:spPr>
      </p:pic>
      <p:sp>
        <p:nvSpPr>
          <p:cNvPr id="29" name="cd_466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0" name="ii_467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1" name="ih_468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2" name="il_469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= + more</a:t>
            </a:r>
            <a:endParaRPr lang="en-US" sz="7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but = a contrast</a:t>
            </a:r>
            <a:endParaRPr lang="en-US" sz="7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 = ? / − choice</a:t>
            </a:r>
            <a:endParaRPr lang="en-US" sz="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3C Love me, love my dog</dc:title>
  <dc:subject>PptxGenJS Presentation</dc:subject>
  <dc:creator>PptxGenJS</dc:creator>
  <cp:lastModifiedBy>PptxGenJS</cp:lastModifiedBy>
  <cp:revision>1</cp:revision>
  <dcterms:created xsi:type="dcterms:W3CDTF">2026-10-23T08:25:17Z</dcterms:created>
  <dcterms:modified xsi:type="dcterms:W3CDTF">2026-10-23T08:25:17Z</dcterms:modified>
</cp:coreProperties>
</file>