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lead-in on the next slide revises can for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Warm-up · can for asking (3 min)
WARM-UP (3 min). From the TG lead-in. Today: other uses of can (ability, possibility, permission).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Revision · last lesson (2 min)
RECAP (2 min). SB 1a: match the verbs and words (TG key: go to the gym, play the guitar, do exercise, watch TV, have a coffee, listen to music). How often do you…?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Bank p.158 · more verb phrases (5 min)
VERB PHRASES (5 min). 12 of the 25 phrases (5.1 has them all). TG notes: remember complete phrases (meet a friend, not just meet); forget vs leave. Activation: cover the verbs, test your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Listening · Amy's audition (1) (5 min)
AUDITION 1 (5 min). 2a: do you watch shows like this? Pre-teach audition, nervous, It's your turn (TG). Play 5.2, pause after each answer. Key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Listening · Amy's audition (2) (4 min)
AUDITION 2 (4 min). Key (TG). From the script: 'You can't take your bag into the audition.' · 'We can't hear you.' · 'Can you hear me now?'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Speaking · retell (3 min)
RETELL (3 min). A tells lines 1–3, B the rest, then swap. Prompts only. Listen for can / can't.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Listening · vote for me! (4 min)
VOTE (4 min). 5.3: pause after each singer – pairs give a score out of 10. Show of hands, scores on the board. 5.4: do the judges agree with the class? Key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can / can't – meanings (3 min)
MEANINGS (3 min). TG notes: Italian uses saper fare for ability (so cantare) and potere for possibility / permission – English uses can for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Grammar Bank 5A · the rule (3 min)
RULE (3 min). TG notes: modal verb – no s, no do / does, no to. Play 5.5 for listen and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Grammar Bank 5A p.133 · b (4 min)
GRAMMAR BANK b (4 min). Prompts made from the TG answers. Grammar Bank a key (TG): 1 can speak 2 Can…help 3 can't see 4 Can…close 5 Can…repeat 6 can't park 7 can't swim 8 Can…use.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Pronunciation · sentence stress (4 min)
CAN / CAN'T (4 min). 5.6: practise the 3 conversations (Can you play a musical instrument? – Yes, I can…). 5.7: hear the difference. 5.8: circle a or b – TG key 1b 2a 3a 4b 5b 6a. TG: unstressed can /kən/ – stress it and people think can't! EXTRA: pairs say 4 jumbled sentences, partner says positive or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· What's your talent? (8 min)
TALENT (8 min). Mark the PARTNER's answers. 5b: what's their talent – any competitions or TV shows? 5c: new partners report: He / She can… (no s!).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Game · prove it! (5 min)
PROVE IT (5 min). Ask with Can you…? – answer with short answers. Silly challenges are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Exit · what can you remember? (2 min)
EXIT (2 min). Pairs, books closed. Listen for can /kən/ vs can't /kɑːnt/.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pp.38–39 · VB p.158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5A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Vote for me!</a:t>
            </a:r>
            <a:endParaRPr lang="en-US" sz="28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/ can't · verb phrases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🎤  say what you can and can't do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learn 25 verb phrases: meet a friend, take a photo…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Amy's audition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🔊  hear the difference: can /kən/ – can't /kɑːnt/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🌟  find your partner's talent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but I can't dance! I sometimes watch X Factor.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5a_audition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sing? Can you dance? Do you watch TV talent shows?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I…? Can you…?</a:t>
            </a:r>
            <a:endParaRPr lang="en-US" sz="225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say? Start with Can…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Cosa dici? Inizia con Can…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Warm-up · can for asking   ·   📖 TG optional lead-in (TG key)</a:t>
            </a:r>
            <a:endParaRPr lang="en-US" sz="800" dirty="0"/>
          </a:p>
        </p:txBody>
      </p:sp>
      <p:sp>
        <p:nvSpPr>
          <p:cNvPr id="12" name="cd_26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9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have…? = ask for something · Can you…? = ask a person to do something</a:t>
            </a:r>
            <a:endParaRPr lang="en-US" sz="1000" dirty="0"/>
          </a:p>
        </p:txBody>
      </p:sp>
      <p:sp>
        <p:nvSpPr>
          <p:cNvPr id="16" name="bd_30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31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want a photocopy.</a:t>
            </a:r>
            <a:endParaRPr lang="en-US" sz="1150" dirty="0"/>
          </a:p>
        </p:txBody>
      </p:sp>
      <p:sp>
        <p:nvSpPr>
          <p:cNvPr id="18" name="R1_chip32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have a photocopy, please?</a:t>
            </a:r>
            <a:endParaRPr lang="en-US" sz="1050" dirty="0"/>
          </a:p>
        </p:txBody>
      </p:sp>
      <p:sp>
        <p:nvSpPr>
          <p:cNvPr id="19" name="bd_33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34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You're in a café and you want a Coke.</a:t>
            </a:r>
            <a:endParaRPr lang="en-US" sz="1150" dirty="0"/>
          </a:p>
        </p:txBody>
      </p:sp>
      <p:sp>
        <p:nvSpPr>
          <p:cNvPr id="21" name="R2_chip35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have a Coke, please?</a:t>
            </a:r>
            <a:endParaRPr lang="en-US" sz="1050" dirty="0"/>
          </a:p>
        </p:txBody>
      </p:sp>
      <p:sp>
        <p:nvSpPr>
          <p:cNvPr id="22" name="bd_36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37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want another person to sign something.</a:t>
            </a:r>
            <a:endParaRPr lang="en-US" sz="1100" dirty="0"/>
          </a:p>
        </p:txBody>
      </p:sp>
      <p:sp>
        <p:nvSpPr>
          <p:cNvPr id="24" name="R3_chip38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sign this, please?</a:t>
            </a:r>
            <a:endParaRPr lang="en-US" sz="1050" dirty="0"/>
          </a:p>
        </p:txBody>
      </p:sp>
      <p:sp>
        <p:nvSpPr>
          <p:cNvPr id="25" name="bd_39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40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want another person to open the window.</a:t>
            </a:r>
            <a:endParaRPr lang="en-US" sz="1100" dirty="0"/>
          </a:p>
        </p:txBody>
      </p:sp>
      <p:sp>
        <p:nvSpPr>
          <p:cNvPr id="27" name="R4_chip41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open the window, please?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4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Remember?</a:t>
            </a:r>
            <a:endParaRPr lang="en-US" sz="2500" dirty="0"/>
          </a:p>
        </p:txBody>
      </p:sp>
      <p:pic>
        <p:nvPicPr>
          <p:cNvPr id="6" name="brP_4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4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4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4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Revision · last lesson</a:t>
            </a:r>
            <a:endParaRPr lang="en-US" sz="800" dirty="0"/>
          </a:p>
        </p:txBody>
      </p:sp>
      <p:sp>
        <p:nvSpPr>
          <p:cNvPr id="12" name="pf_51"/>
          <p:cNvSpPr/>
          <p:nvPr/>
        </p:nvSpPr>
        <p:spPr>
          <a:xfrm rot="-120000">
            <a:off x="731307" y="1371600"/>
            <a:ext cx="1920665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52" descr="/home/claude/lls-course/v2/cache/red_r34_dj_jpg_440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77027" y="1417320"/>
            <a:ext cx="1829225" cy="1554480"/>
          </a:xfrm>
          <a:prstGeom prst="rect">
            <a:avLst/>
          </a:prstGeom>
        </p:spPr>
      </p:pic>
      <p:sp>
        <p:nvSpPr>
          <p:cNvPr id="14" name="cd_53"/>
          <p:cNvSpPr/>
          <p:nvPr/>
        </p:nvSpPr>
        <p:spPr>
          <a:xfrm>
            <a:off x="320040" y="3200400"/>
            <a:ext cx="2743200" cy="1223264"/>
          </a:xfrm>
          <a:prstGeom prst="roundRect">
            <a:avLst>
              <a:gd name="adj" fmla="val 1046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54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55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56"/>
          <p:cNvSpPr/>
          <p:nvPr/>
        </p:nvSpPr>
        <p:spPr>
          <a:xfrm>
            <a:off x="886968" y="3694176"/>
            <a:ext cx="2084832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R3-4: Revise and Check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Files 3–4</a:t>
            </a:r>
            <a:endParaRPr lang="en-US" sz="1100" dirty="0"/>
          </a:p>
        </p:txBody>
      </p:sp>
      <p:sp>
        <p:nvSpPr>
          <p:cNvPr id="18" name="kw_57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58"/>
          <p:cNvSpPr/>
          <p:nvPr/>
        </p:nvSpPr>
        <p:spPr>
          <a:xfrm>
            <a:off x="3246120" y="1783080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to the gym</a:t>
            </a:r>
            <a:endParaRPr lang="en-US" sz="1200" dirty="0"/>
          </a:p>
        </p:txBody>
      </p:sp>
      <p:sp>
        <p:nvSpPr>
          <p:cNvPr id="20" name="w_59"/>
          <p:cNvSpPr/>
          <p:nvPr/>
        </p:nvSpPr>
        <p:spPr>
          <a:xfrm>
            <a:off x="4878324" y="1783080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the guitar</a:t>
            </a:r>
            <a:endParaRPr lang="en-US" sz="1200" dirty="0"/>
          </a:p>
        </p:txBody>
      </p:sp>
      <p:sp>
        <p:nvSpPr>
          <p:cNvPr id="21" name="w_60"/>
          <p:cNvSpPr/>
          <p:nvPr/>
        </p:nvSpPr>
        <p:spPr>
          <a:xfrm>
            <a:off x="6684264" y="1783080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exercise</a:t>
            </a:r>
            <a:endParaRPr lang="en-US" sz="1200" dirty="0"/>
          </a:p>
        </p:txBody>
      </p:sp>
      <p:sp>
        <p:nvSpPr>
          <p:cNvPr id="22" name="w_61"/>
          <p:cNvSpPr/>
          <p:nvPr/>
        </p:nvSpPr>
        <p:spPr>
          <a:xfrm>
            <a:off x="3246120" y="2185416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TV</a:t>
            </a:r>
            <a:endParaRPr lang="en-US" sz="1200" dirty="0"/>
          </a:p>
        </p:txBody>
      </p:sp>
      <p:sp>
        <p:nvSpPr>
          <p:cNvPr id="23" name="w_62"/>
          <p:cNvSpPr/>
          <p:nvPr/>
        </p:nvSpPr>
        <p:spPr>
          <a:xfrm>
            <a:off x="4443984" y="2185416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a coffee</a:t>
            </a:r>
            <a:endParaRPr lang="en-US" sz="1200" dirty="0"/>
          </a:p>
        </p:txBody>
      </p:sp>
      <p:sp>
        <p:nvSpPr>
          <p:cNvPr id="24" name="w_63"/>
          <p:cNvSpPr/>
          <p:nvPr/>
        </p:nvSpPr>
        <p:spPr>
          <a:xfrm>
            <a:off x="6076188" y="2185416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music</a:t>
            </a:r>
            <a:endParaRPr lang="en-US" sz="1200" dirty="0"/>
          </a:p>
        </p:txBody>
      </p:sp>
      <p:sp>
        <p:nvSpPr>
          <p:cNvPr id="25" name="w_64"/>
          <p:cNvSpPr/>
          <p:nvPr/>
        </p:nvSpPr>
        <p:spPr>
          <a:xfrm>
            <a:off x="3246120" y="2587752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hardly ever</a:t>
            </a:r>
            <a:endParaRPr lang="en-US" sz="1200" dirty="0"/>
          </a:p>
        </p:txBody>
      </p:sp>
      <p:sp>
        <p:nvSpPr>
          <p:cNvPr id="26" name="w_65"/>
          <p:cNvSpPr/>
          <p:nvPr/>
        </p:nvSpPr>
        <p:spPr>
          <a:xfrm>
            <a:off x="4704588" y="2587752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twice a week</a:t>
            </a:r>
            <a:endParaRPr lang="en-US" sz="1200" dirty="0"/>
          </a:p>
        </p:txBody>
      </p:sp>
      <p:sp>
        <p:nvSpPr>
          <p:cNvPr id="27" name="lv_66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67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68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71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More verb phrases</a:t>
            </a:r>
            <a:endParaRPr lang="en-US" sz="2500" dirty="0"/>
          </a:p>
        </p:txBody>
      </p:sp>
      <p:pic>
        <p:nvPicPr>
          <p:cNvPr id="6" name="brP_7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7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more verb phrases. Say the phrase, then click!</a:t>
            </a:r>
            <a:endParaRPr lang="en-US" sz="1100" dirty="0"/>
          </a:p>
        </p:txBody>
      </p:sp>
      <p:sp>
        <p:nvSpPr>
          <p:cNvPr id="8" name="insIT_7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altre espressioni. Di' la frase, poi clicca!</a:t>
            </a:r>
            <a:endParaRPr lang="en-US" sz="950" dirty="0"/>
          </a:p>
        </p:txBody>
      </p:sp>
      <p:sp>
        <p:nvSpPr>
          <p:cNvPr id="9" name="note_7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CONTROLLA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TPRS · meaning</a:t>
            </a:r>
            <a:endParaRPr lang="en-US" sz="1250" dirty="0"/>
          </a:p>
        </p:txBody>
      </p:sp>
      <p:pic>
        <p:nvPicPr>
          <p:cNvPr id="10" name="logo_7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7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Vocabulary Bank p.158 · more verb phrases   ·   📖 VB p.158 · a, b · audio 5.1 (TG list + notes)</a:t>
            </a:r>
            <a:endParaRPr lang="en-US" sz="800" dirty="0"/>
          </a:p>
        </p:txBody>
      </p:sp>
      <p:sp>
        <p:nvSpPr>
          <p:cNvPr id="12" name="cd_78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79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🚕</a:t>
            </a:r>
            <a:endParaRPr lang="en-US" sz="2000" dirty="0"/>
          </a:p>
        </p:txBody>
      </p:sp>
      <p:sp>
        <p:nvSpPr>
          <p:cNvPr id="14" name="en_80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call a taxi</a:t>
            </a:r>
            <a:endParaRPr lang="en-US" sz="1200" dirty="0"/>
          </a:p>
        </p:txBody>
      </p:sp>
      <p:sp>
        <p:nvSpPr>
          <p:cNvPr id="15" name="R1_it81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chiamare un taxi</a:t>
            </a:r>
            <a:endParaRPr lang="en-US" sz="1000" dirty="0"/>
          </a:p>
        </p:txBody>
      </p:sp>
      <p:sp>
        <p:nvSpPr>
          <p:cNvPr id="16" name="cd_82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e_83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🅿️</a:t>
            </a:r>
            <a:endParaRPr lang="en-US" sz="2000" dirty="0"/>
          </a:p>
        </p:txBody>
      </p:sp>
      <p:sp>
        <p:nvSpPr>
          <p:cNvPr id="18" name="en_84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 a parking space</a:t>
            </a:r>
            <a:endParaRPr lang="en-US" sz="1000" dirty="0"/>
          </a:p>
        </p:txBody>
      </p:sp>
      <p:sp>
        <p:nvSpPr>
          <p:cNvPr id="19" name="R2_it85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trovare parcheggio</a:t>
            </a:r>
            <a:endParaRPr lang="en-US" sz="1000" dirty="0"/>
          </a:p>
        </p:txBody>
      </p:sp>
      <p:sp>
        <p:nvSpPr>
          <p:cNvPr id="20" name="cd_86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e_87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22" name="en_88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forget somebody's name</a:t>
            </a:r>
            <a:endParaRPr lang="en-US" sz="1000" dirty="0"/>
          </a:p>
        </p:txBody>
      </p:sp>
      <p:sp>
        <p:nvSpPr>
          <p:cNvPr id="23" name="R3_it89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dimenticare il nome di qualcuno</a:t>
            </a:r>
            <a:endParaRPr lang="en-US" sz="800" dirty="0"/>
          </a:p>
        </p:txBody>
      </p:sp>
      <p:sp>
        <p:nvSpPr>
          <p:cNvPr id="24" name="cd_90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91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💐</a:t>
            </a:r>
            <a:endParaRPr lang="en-US" sz="2000" dirty="0"/>
          </a:p>
        </p:txBody>
      </p:sp>
      <p:sp>
        <p:nvSpPr>
          <p:cNvPr id="26" name="en_92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give somebody flowers</a:t>
            </a:r>
            <a:endParaRPr lang="en-US" sz="1000" dirty="0"/>
          </a:p>
        </p:txBody>
      </p:sp>
      <p:sp>
        <p:nvSpPr>
          <p:cNvPr id="27" name="R4_it93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regalare fiori</a:t>
            </a:r>
            <a:endParaRPr lang="en-US" sz="1000" dirty="0"/>
          </a:p>
        </p:txBody>
      </p:sp>
      <p:sp>
        <p:nvSpPr>
          <p:cNvPr id="28" name="cd_94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e_95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30" name="en_96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hear a noise</a:t>
            </a:r>
            <a:endParaRPr lang="en-US" sz="1200" dirty="0"/>
          </a:p>
        </p:txBody>
      </p:sp>
      <p:sp>
        <p:nvSpPr>
          <p:cNvPr id="31" name="R5_it97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sentire un rumore</a:t>
            </a:r>
            <a:endParaRPr lang="en-US" sz="1000" dirty="0"/>
          </a:p>
        </p:txBody>
      </p:sp>
      <p:sp>
        <p:nvSpPr>
          <p:cNvPr id="32" name="cd_98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99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👜</a:t>
            </a:r>
            <a:endParaRPr lang="en-US" sz="2000" dirty="0"/>
          </a:p>
        </p:txBody>
      </p:sp>
      <p:sp>
        <p:nvSpPr>
          <p:cNvPr id="34" name="en_100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leave your bag on a train</a:t>
            </a:r>
            <a:endParaRPr lang="en-US" sz="1000" dirty="0"/>
          </a:p>
        </p:txBody>
      </p:sp>
      <p:sp>
        <p:nvSpPr>
          <p:cNvPr id="35" name="R6_it101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lasciare la borsa sul treno</a:t>
            </a:r>
            <a:endParaRPr lang="en-US" sz="800" dirty="0"/>
          </a:p>
        </p:txBody>
      </p:sp>
      <p:sp>
        <p:nvSpPr>
          <p:cNvPr id="36" name="cd_102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e_103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38" name="en_104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for your keys</a:t>
            </a:r>
            <a:endParaRPr lang="en-US" sz="1150" dirty="0"/>
          </a:p>
        </p:txBody>
      </p:sp>
      <p:sp>
        <p:nvSpPr>
          <p:cNvPr id="39" name="R7_it105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cercare le chiavi</a:t>
            </a:r>
            <a:endParaRPr lang="en-US" sz="1000" dirty="0"/>
          </a:p>
        </p:txBody>
      </p:sp>
      <p:sp>
        <p:nvSpPr>
          <p:cNvPr id="40" name="cd_106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1" name="e_107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42" name="en_108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run a race</a:t>
            </a:r>
            <a:endParaRPr lang="en-US" sz="1200" dirty="0"/>
          </a:p>
        </p:txBody>
      </p:sp>
      <p:sp>
        <p:nvSpPr>
          <p:cNvPr id="43" name="R8_it109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una gara di corsa</a:t>
            </a:r>
            <a:endParaRPr lang="en-US" sz="900" dirty="0"/>
          </a:p>
        </p:txBody>
      </p:sp>
      <p:sp>
        <p:nvSpPr>
          <p:cNvPr id="44" name="cd_110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111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6" name="en_112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send a text message</a:t>
            </a:r>
            <a:endParaRPr lang="en-US" sz="1000" dirty="0"/>
          </a:p>
        </p:txBody>
      </p:sp>
      <p:sp>
        <p:nvSpPr>
          <p:cNvPr id="47" name="R9_it113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mandare un messaggio</a:t>
            </a:r>
            <a:endParaRPr lang="en-US" sz="850" dirty="0"/>
          </a:p>
        </p:txBody>
      </p:sp>
      <p:sp>
        <p:nvSpPr>
          <p:cNvPr id="48" name="cd_114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9" name="e_115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🤫</a:t>
            </a:r>
            <a:endParaRPr lang="en-US" sz="2000" dirty="0"/>
          </a:p>
        </p:txBody>
      </p:sp>
      <p:sp>
        <p:nvSpPr>
          <p:cNvPr id="50" name="en_116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somebody a secret</a:t>
            </a:r>
            <a:endParaRPr lang="en-US" sz="1000" dirty="0"/>
          </a:p>
        </p:txBody>
      </p:sp>
      <p:sp>
        <p:nvSpPr>
          <p:cNvPr id="51" name="R10_it117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 un segreto</a:t>
            </a:r>
            <a:endParaRPr lang="en-US" sz="1000" dirty="0"/>
          </a:p>
        </p:txBody>
      </p:sp>
      <p:sp>
        <p:nvSpPr>
          <p:cNvPr id="52" name="cd_118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3" name="e_119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💪</a:t>
            </a:r>
            <a:endParaRPr lang="en-US" sz="2000" dirty="0"/>
          </a:p>
        </p:txBody>
      </p:sp>
      <p:sp>
        <p:nvSpPr>
          <p:cNvPr id="54" name="en_120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try to do something difficult</a:t>
            </a:r>
            <a:endParaRPr lang="en-US" sz="1000" dirty="0"/>
          </a:p>
        </p:txBody>
      </p:sp>
      <p:sp>
        <p:nvSpPr>
          <p:cNvPr id="55" name="R11_it121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provare a fare qualcosa di difficile</a:t>
            </a:r>
            <a:endParaRPr lang="en-US" sz="800" dirty="0"/>
          </a:p>
        </p:txBody>
      </p:sp>
      <p:sp>
        <p:nvSpPr>
          <p:cNvPr id="56" name="cd_122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7" name="e_123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🚏</a:t>
            </a:r>
            <a:endParaRPr lang="en-US" sz="2000" dirty="0"/>
          </a:p>
        </p:txBody>
      </p:sp>
      <p:sp>
        <p:nvSpPr>
          <p:cNvPr id="58" name="en_124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wait for a bus</a:t>
            </a:r>
            <a:endParaRPr lang="en-US" sz="1200" dirty="0"/>
          </a:p>
        </p:txBody>
      </p:sp>
      <p:sp>
        <p:nvSpPr>
          <p:cNvPr id="59" name="R12_it125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aspettare l'autobus</a:t>
            </a:r>
            <a:endParaRPr lang="en-US" sz="1000" dirty="0"/>
          </a:p>
        </p:txBody>
      </p:sp>
      <p:sp>
        <p:nvSpPr>
          <p:cNvPr id="60" name="ap_126"/>
          <p:cNvSpPr/>
          <p:nvPr/>
        </p:nvSpPr>
        <p:spPr>
          <a:xfrm>
            <a:off x="320040" y="44805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5.1</a:t>
            </a:r>
            <a:endParaRPr lang="en-US" sz="1100" dirty="0"/>
          </a:p>
        </p:txBody>
      </p:sp>
      <p:sp>
        <p:nvSpPr>
          <p:cNvPr id="61" name="R13_wc127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2" name="R13_w128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Don't forget your bag (no place) · Don't leave your bag in class (+ place)   ·   look for = cercare · wait for = aspettare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3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3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audition (1)</a:t>
            </a:r>
            <a:endParaRPr lang="en-US" sz="2500" dirty="0"/>
          </a:p>
        </p:txBody>
      </p:sp>
      <p:pic>
        <p:nvPicPr>
          <p:cNvPr id="6" name="brP_13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3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Amy goes to an audition for a TV singing competition. Listen and answer 1–5.</a:t>
            </a:r>
            <a:endParaRPr lang="en-US" sz="1100" dirty="0"/>
          </a:p>
        </p:txBody>
      </p:sp>
      <p:sp>
        <p:nvSpPr>
          <p:cNvPr id="8" name="insIT_13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Amy va a un'audizione per un talent show. Ascolta e rispondi 1–5.</a:t>
            </a:r>
            <a:endParaRPr lang="en-US" sz="950" dirty="0"/>
          </a:p>
        </p:txBody>
      </p:sp>
      <p:sp>
        <p:nvSpPr>
          <p:cNvPr id="9" name="note_13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13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3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Listening · Amy's audition (1)   ·   📖 SB p.38 · 2a, 2b · audio 5.2 (TG key + script p.119)</a:t>
            </a:r>
            <a:endParaRPr lang="en-US" sz="800" dirty="0"/>
          </a:p>
        </p:txBody>
      </p:sp>
      <p:sp>
        <p:nvSpPr>
          <p:cNvPr id="12" name="ap_138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5.2  ·  play twice</a:t>
            </a:r>
            <a:endParaRPr lang="en-US" sz="1100" dirty="0"/>
          </a:p>
        </p:txBody>
      </p:sp>
      <p:sp>
        <p:nvSpPr>
          <p:cNvPr id="13" name="pf_139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4" name="ph_140" descr="/home/claude/lls-course/v2/cache/red_5a_queue_jpg_627x40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5" name="cd_141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142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ih_143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audition = a short performance · nervous · It's your turn</a:t>
            </a:r>
            <a:endParaRPr lang="en-US" sz="1000" dirty="0"/>
          </a:p>
        </p:txBody>
      </p:sp>
      <p:sp>
        <p:nvSpPr>
          <p:cNvPr id="18" name="gq_144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What does Amy need to go into the Conference Centre?</a:t>
            </a:r>
            <a:endParaRPr lang="en-US" sz="1200" dirty="0"/>
          </a:p>
        </p:txBody>
      </p:sp>
      <p:sp>
        <p:nvSpPr>
          <p:cNvPr id="19" name="R1_chip145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needs ID.</a:t>
            </a:r>
            <a:endParaRPr lang="en-US" sz="1200" dirty="0"/>
          </a:p>
        </p:txBody>
      </p:sp>
      <p:sp>
        <p:nvSpPr>
          <p:cNvPr id="20" name="gq_146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What does she show the man?</a:t>
            </a:r>
            <a:endParaRPr lang="en-US" sz="1200" dirty="0"/>
          </a:p>
        </p:txBody>
      </p:sp>
      <p:sp>
        <p:nvSpPr>
          <p:cNvPr id="21" name="R2_chip147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passport.</a:t>
            </a:r>
            <a:endParaRPr lang="en-US" sz="1200" dirty="0"/>
          </a:p>
        </p:txBody>
      </p:sp>
      <p:sp>
        <p:nvSpPr>
          <p:cNvPr id="22" name="gq_148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Where does Amy's friend wait?</a:t>
            </a:r>
            <a:endParaRPr lang="en-US" sz="1200" dirty="0"/>
          </a:p>
        </p:txBody>
      </p:sp>
      <p:sp>
        <p:nvSpPr>
          <p:cNvPr id="23" name="R3_chip149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waits with Amy.</a:t>
            </a:r>
            <a:endParaRPr lang="en-US" sz="1200" dirty="0"/>
          </a:p>
        </p:txBody>
      </p:sp>
      <p:sp>
        <p:nvSpPr>
          <p:cNvPr id="24" name="gq_150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How many people does the woman call?</a:t>
            </a:r>
            <a:endParaRPr lang="en-US" sz="1200" dirty="0"/>
          </a:p>
        </p:txBody>
      </p:sp>
      <p:sp>
        <p:nvSpPr>
          <p:cNvPr id="25" name="R4_chip151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Three.</a:t>
            </a:r>
            <a:endParaRPr lang="en-US" sz="1200" dirty="0"/>
          </a:p>
        </p:txBody>
      </p:sp>
      <p:sp>
        <p:nvSpPr>
          <p:cNvPr id="26" name="gq_152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What does Amy's friend say before she goes to the audition?</a:t>
            </a:r>
            <a:endParaRPr lang="en-US" sz="1200" dirty="0"/>
          </a:p>
        </p:txBody>
      </p:sp>
      <p:sp>
        <p:nvSpPr>
          <p:cNvPr id="27" name="R5_chip153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'Good luck, Amy! You can do it!'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5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56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audition (2)</a:t>
            </a:r>
            <a:endParaRPr lang="en-US" sz="2500" dirty="0"/>
          </a:p>
        </p:txBody>
      </p:sp>
      <p:pic>
        <p:nvPicPr>
          <p:cNvPr id="6" name="brP_15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903220" cy="402336"/>
          </a:xfrm>
          <a:prstGeom prst="rect">
            <a:avLst/>
          </a:prstGeom>
        </p:spPr>
      </p:pic>
      <p:sp>
        <p:nvSpPr>
          <p:cNvPr id="7" name="ins_158"/>
          <p:cNvSpPr/>
          <p:nvPr/>
        </p:nvSpPr>
        <p:spPr>
          <a:xfrm>
            <a:off x="1353312" y="731520"/>
            <a:ext cx="2647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again. Answer 6–9.</a:t>
            </a:r>
            <a:endParaRPr lang="en-US" sz="1250" dirty="0"/>
          </a:p>
        </p:txBody>
      </p:sp>
      <p:sp>
        <p:nvSpPr>
          <p:cNvPr id="8" name="insIT_15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di nuovo. Rispondi 6–9.</a:t>
            </a:r>
            <a:endParaRPr lang="en-US" sz="950" dirty="0"/>
          </a:p>
        </p:txBody>
      </p:sp>
      <p:sp>
        <p:nvSpPr>
          <p:cNvPr id="9" name="note_16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16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6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Listening · Amy's audition (2)   ·   📖 SB p.38 · 2b · audio 5.2 (TG key)</a:t>
            </a:r>
            <a:endParaRPr lang="en-US" sz="800" dirty="0"/>
          </a:p>
        </p:txBody>
      </p:sp>
      <p:sp>
        <p:nvSpPr>
          <p:cNvPr id="12" name="ap_163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5.2  ·  play again</a:t>
            </a:r>
            <a:endParaRPr lang="en-US" sz="1100" dirty="0"/>
          </a:p>
        </p:txBody>
      </p:sp>
      <p:sp>
        <p:nvSpPr>
          <p:cNvPr id="13" name="pf_164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4" name="ph_165" descr="/home/claude/lls-course/v2/cache/red_5a_audition_jpg_627x40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5" name="cd_166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167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ih_168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for can and can't!</a:t>
            </a:r>
            <a:endParaRPr lang="en-US" sz="1200" dirty="0"/>
          </a:p>
        </p:txBody>
      </p:sp>
      <p:sp>
        <p:nvSpPr>
          <p:cNvPr id="18" name="gq_169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What does Amy do with her bag?</a:t>
            </a:r>
            <a:endParaRPr lang="en-US" sz="1200" dirty="0"/>
          </a:p>
        </p:txBody>
      </p:sp>
      <p:sp>
        <p:nvSpPr>
          <p:cNvPr id="19" name="R1_chip170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leaves it with her friend.</a:t>
            </a:r>
            <a:endParaRPr lang="en-US" sz="1200" dirty="0"/>
          </a:p>
        </p:txBody>
      </p:sp>
      <p:sp>
        <p:nvSpPr>
          <p:cNvPr id="20" name="gq_171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What's Amy's song?</a:t>
            </a:r>
            <a:endParaRPr lang="en-US" sz="1200" dirty="0"/>
          </a:p>
        </p:txBody>
      </p:sp>
      <p:sp>
        <p:nvSpPr>
          <p:cNvPr id="21" name="R2_chip172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Day.</a:t>
            </a:r>
            <a:endParaRPr lang="en-US" sz="1200" dirty="0"/>
          </a:p>
        </p:txBody>
      </p:sp>
      <p:sp>
        <p:nvSpPr>
          <p:cNvPr id="22" name="gq_173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What's her problem with the microphone?</a:t>
            </a:r>
            <a:endParaRPr lang="en-US" sz="1200" dirty="0"/>
          </a:p>
        </p:txBody>
      </p:sp>
      <p:sp>
        <p:nvSpPr>
          <p:cNvPr id="23" name="R3_chip174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isn't on.</a:t>
            </a:r>
            <a:endParaRPr lang="en-US" sz="1200" dirty="0"/>
          </a:p>
        </p:txBody>
      </p:sp>
      <p:sp>
        <p:nvSpPr>
          <p:cNvPr id="24" name="gq_175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 What does Amy say when they ask her to start her song?</a:t>
            </a:r>
            <a:endParaRPr lang="en-US" sz="1200" dirty="0"/>
          </a:p>
        </p:txBody>
      </p:sp>
      <p:sp>
        <p:nvSpPr>
          <p:cNvPr id="25" name="R4_chip176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'Oh no! I can't remember the first line.'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179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Retell it!</a:t>
            </a:r>
            <a:endParaRPr lang="en-US" sz="2500" dirty="0"/>
          </a:p>
        </p:txBody>
      </p:sp>
      <p:pic>
        <p:nvPicPr>
          <p:cNvPr id="6" name="brP_1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181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Retell Amy's story to your partner. Use the prompts!</a:t>
            </a:r>
            <a:endParaRPr lang="en-US" sz="1250" dirty="0"/>
          </a:p>
        </p:txBody>
      </p:sp>
      <p:sp>
        <p:nvSpPr>
          <p:cNvPr id="8" name="insIT_18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Racconta di nuovo la storia di Amy. Usa gli spunti!</a:t>
            </a:r>
            <a:endParaRPr lang="en-US" sz="950" dirty="0"/>
          </a:p>
        </p:txBody>
      </p:sp>
      <p:sp>
        <p:nvSpPr>
          <p:cNvPr id="9" name="note_18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TPRS · retell</a:t>
            </a:r>
            <a:endParaRPr lang="en-US" sz="1250" dirty="0"/>
          </a:p>
        </p:txBody>
      </p:sp>
      <p:pic>
        <p:nvPicPr>
          <p:cNvPr id="10" name="logo_1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Speaking · retell</a:t>
            </a:r>
            <a:endParaRPr lang="en-US" sz="800" dirty="0"/>
          </a:p>
        </p:txBody>
      </p:sp>
      <p:sp>
        <p:nvSpPr>
          <p:cNvPr id="12" name="pf_186"/>
          <p:cNvSpPr/>
          <p:nvPr/>
        </p:nvSpPr>
        <p:spPr>
          <a:xfrm rot="-90000">
            <a:off x="411480" y="1417320"/>
            <a:ext cx="2560320" cy="2286000"/>
          </a:xfrm>
          <a:prstGeom prst="roundRect">
            <a:avLst>
              <a:gd name="adj" fmla="val 6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87" descr="/home/claude/lls-course/v2/cache/red_5a_waiting_jpg_594x52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1463040"/>
            <a:ext cx="2468880" cy="2194560"/>
          </a:xfrm>
          <a:prstGeom prst="rect">
            <a:avLst/>
          </a:prstGeom>
        </p:spPr>
      </p:pic>
      <p:sp>
        <p:nvSpPr>
          <p:cNvPr id="14" name="R1_sb188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R1_sl189"/>
          <p:cNvSpPr/>
          <p:nvPr/>
        </p:nvSpPr>
        <p:spPr>
          <a:xfrm>
            <a:off x="3584448" y="1417320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12.30 · long queue ·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 ID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passport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At half past twelve Amy is…</a:t>
            </a:r>
            <a:endParaRPr lang="en-US" sz="1250" dirty="0"/>
          </a:p>
        </p:txBody>
      </p:sp>
      <p:sp>
        <p:nvSpPr>
          <p:cNvPr id="16" name="R2_sb190"/>
          <p:cNvSpPr/>
          <p:nvPr/>
        </p:nvSpPr>
        <p:spPr>
          <a:xfrm>
            <a:off x="3200400" y="193722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R2_sl191"/>
          <p:cNvSpPr/>
          <p:nvPr/>
        </p:nvSpPr>
        <p:spPr>
          <a:xfrm>
            <a:off x="3584448" y="1900646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12.45 ·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350 other singers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her friend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In the waiting area…</a:t>
            </a:r>
            <a:endParaRPr lang="en-US" sz="1250" dirty="0"/>
          </a:p>
        </p:txBody>
      </p:sp>
      <p:sp>
        <p:nvSpPr>
          <p:cNvPr id="18" name="R3_sb192"/>
          <p:cNvSpPr/>
          <p:nvPr/>
        </p:nvSpPr>
        <p:spPr>
          <a:xfrm>
            <a:off x="3200400" y="242054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R3_sl193"/>
          <p:cNvSpPr/>
          <p:nvPr/>
        </p:nvSpPr>
        <p:spPr>
          <a:xfrm>
            <a:off x="3584448" y="2383971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4.00 ·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turn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Good luck!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Three hours later…</a:t>
            </a:r>
            <a:endParaRPr lang="en-US" sz="1250" dirty="0"/>
          </a:p>
        </p:txBody>
      </p:sp>
      <p:sp>
        <p:nvSpPr>
          <p:cNvPr id="20" name="R4_sb194"/>
          <p:cNvSpPr/>
          <p:nvPr/>
        </p:nvSpPr>
        <p:spPr>
          <a:xfrm>
            <a:off x="3200400" y="2903873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R4_sl195"/>
          <p:cNvSpPr/>
          <p:nvPr/>
        </p:nvSpPr>
        <p:spPr>
          <a:xfrm>
            <a:off x="3584448" y="2867297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 take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her bag · leaves it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The organizer says…</a:t>
            </a:r>
            <a:endParaRPr lang="en-US" sz="1250" dirty="0"/>
          </a:p>
        </p:txBody>
      </p:sp>
      <p:sp>
        <p:nvSpPr>
          <p:cNvPr id="22" name="R5_sb196"/>
          <p:cNvSpPr/>
          <p:nvPr/>
        </p:nvSpPr>
        <p:spPr>
          <a:xfrm>
            <a:off x="3200400" y="338719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R5_sl197"/>
          <p:cNvSpPr/>
          <p:nvPr/>
        </p:nvSpPr>
        <p:spPr>
          <a:xfrm>
            <a:off x="3584448" y="3350623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4.15 · One Day · microphone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isn't on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In the audition…</a:t>
            </a:r>
            <a:endParaRPr lang="en-US" sz="1250" dirty="0"/>
          </a:p>
        </p:txBody>
      </p:sp>
      <p:sp>
        <p:nvSpPr>
          <p:cNvPr id="24" name="R6_sb198"/>
          <p:cNvSpPr/>
          <p:nvPr/>
        </p:nvSpPr>
        <p:spPr>
          <a:xfrm>
            <a:off x="3200400" y="3870525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R6_sl199"/>
          <p:cNvSpPr/>
          <p:nvPr/>
        </p:nvSpPr>
        <p:spPr>
          <a:xfrm>
            <a:off x="3584448" y="3833949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 remember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first line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Oh no!</a:t>
            </a:r>
            <a:endParaRPr lang="en-US" sz="1250" dirty="0"/>
          </a:p>
        </p:txBody>
      </p:sp>
      <p:sp>
        <p:nvSpPr>
          <p:cNvPr id="26" name="R7_sb200"/>
          <p:cNvSpPr/>
          <p:nvPr/>
        </p:nvSpPr>
        <p:spPr>
          <a:xfrm>
            <a:off x="3200400" y="43538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R7_sl201"/>
          <p:cNvSpPr/>
          <p:nvPr/>
        </p:nvSpPr>
        <p:spPr>
          <a:xfrm>
            <a:off x="3584448" y="4317274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2 things in the story!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In my story…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0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204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Vote for me!</a:t>
            </a:r>
            <a:endParaRPr lang="en-US" sz="2500" dirty="0"/>
          </a:p>
        </p:txBody>
      </p:sp>
      <p:pic>
        <p:nvPicPr>
          <p:cNvPr id="6" name="brP_20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0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Amy, Justin and Naomi sing. Give a score out of 10. Then: what do the judges say?</a:t>
            </a:r>
            <a:endParaRPr lang="en-US" sz="1100" dirty="0"/>
          </a:p>
        </p:txBody>
      </p:sp>
      <p:sp>
        <p:nvSpPr>
          <p:cNvPr id="8" name="insIT_20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Amy, Justin e Naomi. Dai un voto su 10. Poi: cosa dicono i giudici?</a:t>
            </a:r>
            <a:endParaRPr lang="en-US" sz="950" dirty="0"/>
          </a:p>
        </p:txBody>
      </p:sp>
      <p:sp>
        <p:nvSpPr>
          <p:cNvPr id="9" name="note_20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20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Listening · vote for me!   ·   📖 SB p.38 · 2c, 2d · audio 5.3, 5.4 (TG key + script)</a:t>
            </a:r>
            <a:endParaRPr lang="en-US" sz="800" dirty="0"/>
          </a:p>
        </p:txBody>
      </p:sp>
      <p:sp>
        <p:nvSpPr>
          <p:cNvPr id="12" name="cd_211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1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1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14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5.3 (the songs) → vote with a show of hands → play 5.4 (the judges)</a:t>
            </a:r>
            <a:endParaRPr lang="en-US" sz="1050" dirty="0"/>
          </a:p>
        </p:txBody>
      </p:sp>
      <p:sp>
        <p:nvSpPr>
          <p:cNvPr id="16" name="pf_215"/>
          <p:cNvSpPr/>
          <p:nvPr/>
        </p:nvSpPr>
        <p:spPr>
          <a:xfrm rot="-90000">
            <a:off x="787056" y="2770632"/>
            <a:ext cx="1763448" cy="1344168"/>
          </a:xfrm>
          <a:prstGeom prst="roundRect">
            <a:avLst>
              <a:gd name="adj" fmla="val 11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216" descr="/home/claude/lls-course/v2/cache/red_5a_audition_jpg_402x30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832776" y="2816352"/>
            <a:ext cx="1672008" cy="1252728"/>
          </a:xfrm>
          <a:prstGeom prst="rect">
            <a:avLst/>
          </a:prstGeom>
        </p:spPr>
      </p:pic>
      <p:sp>
        <p:nvSpPr>
          <p:cNvPr id="18" name="ap_217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5.4</a:t>
            </a:r>
            <a:endParaRPr lang="en-US" sz="1100" dirty="0"/>
          </a:p>
        </p:txBody>
      </p:sp>
      <p:sp>
        <p:nvSpPr>
          <p:cNvPr id="19" name="bd_21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q_21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Amy</a:t>
            </a:r>
            <a:endParaRPr lang="en-US" sz="1100" dirty="0"/>
          </a:p>
        </p:txBody>
      </p:sp>
      <p:sp>
        <p:nvSpPr>
          <p:cNvPr id="21" name="R1_chip22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 nervous at the beginning, but in the end very good – a great performance</a:t>
            </a:r>
            <a:endParaRPr lang="en-US" sz="900" dirty="0"/>
          </a:p>
        </p:txBody>
      </p:sp>
      <p:sp>
        <p:nvSpPr>
          <p:cNvPr id="22" name="bd_22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q_22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Justin</a:t>
            </a:r>
            <a:endParaRPr lang="en-US" sz="1100" dirty="0"/>
          </a:p>
        </p:txBody>
      </p:sp>
      <p:sp>
        <p:nvSpPr>
          <p:cNvPr id="24" name="R2_chip22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terrible – good-looking, moves well, but he can't sing!</a:t>
            </a:r>
            <a:endParaRPr lang="en-US" sz="900" dirty="0"/>
          </a:p>
        </p:txBody>
      </p:sp>
      <p:sp>
        <p:nvSpPr>
          <p:cNvPr id="25" name="bd_22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q_22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Naomi</a:t>
            </a:r>
            <a:endParaRPr lang="en-US" sz="1100" dirty="0"/>
          </a:p>
        </p:txBody>
      </p:sp>
      <p:sp>
        <p:nvSpPr>
          <p:cNvPr id="27" name="R3_chip22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quite good, a nice voice – but 'I can't hear the feeling'</a:t>
            </a:r>
            <a:endParaRPr lang="en-US" sz="900" dirty="0"/>
          </a:p>
        </p:txBody>
      </p:sp>
      <p:sp>
        <p:nvSpPr>
          <p:cNvPr id="28" name="bd_227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q_228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on the show next week? How does Amy feel?</a:t>
            </a:r>
            <a:endParaRPr lang="en-US" sz="1000" dirty="0"/>
          </a:p>
        </p:txBody>
      </p:sp>
      <p:sp>
        <p:nvSpPr>
          <p:cNvPr id="30" name="R4_chip229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Amy – she feels very happy: 'Fantastic!'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32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can mean?</a:t>
            </a:r>
            <a:endParaRPr lang="en-US" sz="2300" dirty="0"/>
          </a:p>
        </p:txBody>
      </p:sp>
      <p:pic>
        <p:nvPicPr>
          <p:cNvPr id="6" name="brP_2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3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 the sentences from Amy's story to their meanings.</a:t>
            </a:r>
            <a:endParaRPr lang="en-US" sz="1250" dirty="0"/>
          </a:p>
        </p:txBody>
      </p:sp>
      <p:sp>
        <p:nvSpPr>
          <p:cNvPr id="8" name="insIT_23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 le frasi della storia ai significati.</a:t>
            </a:r>
            <a:endParaRPr lang="en-US" sz="950" dirty="0"/>
          </a:p>
        </p:txBody>
      </p:sp>
      <p:sp>
        <p:nvSpPr>
          <p:cNvPr id="9" name="note_23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2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Grammar · can / can't – meanings   ·   📖 SB p.39 · 3a (TG key 1d 2a 3c 4b)</a:t>
            </a:r>
            <a:endParaRPr lang="en-US" sz="800" dirty="0"/>
          </a:p>
        </p:txBody>
      </p:sp>
      <p:sp>
        <p:nvSpPr>
          <p:cNvPr id="12" name="cd_239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4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4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42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It isn't OK. · b It's possible. · c Please do it. · d You don't know how.</a:t>
            </a:r>
            <a:endParaRPr lang="en-US" sz="1050" dirty="0"/>
          </a:p>
        </p:txBody>
      </p:sp>
      <p:sp>
        <p:nvSpPr>
          <p:cNvPr id="16" name="bd_243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244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can't sing!</a:t>
            </a:r>
            <a:endParaRPr lang="en-US" sz="1150" dirty="0"/>
          </a:p>
        </p:txBody>
      </p:sp>
      <p:sp>
        <p:nvSpPr>
          <p:cNvPr id="18" name="R1_chip245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you don't know how</a:t>
            </a:r>
            <a:endParaRPr lang="en-US" sz="1050" dirty="0"/>
          </a:p>
        </p:txBody>
      </p:sp>
      <p:sp>
        <p:nvSpPr>
          <p:cNvPr id="19" name="bd_246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247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can't come in if you don't have ID.</a:t>
            </a:r>
            <a:endParaRPr lang="en-US" sz="1150" dirty="0"/>
          </a:p>
        </p:txBody>
      </p:sp>
      <p:sp>
        <p:nvSpPr>
          <p:cNvPr id="21" name="R2_chip248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– it isn't OK</a:t>
            </a:r>
            <a:endParaRPr lang="en-US" sz="1050" dirty="0"/>
          </a:p>
        </p:txBody>
      </p:sp>
      <p:sp>
        <p:nvSpPr>
          <p:cNvPr id="22" name="bd_249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250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come with me, please?</a:t>
            </a:r>
            <a:endParaRPr lang="en-US" sz="1150" dirty="0"/>
          </a:p>
        </p:txBody>
      </p:sp>
      <p:sp>
        <p:nvSpPr>
          <p:cNvPr id="24" name="R3_chip251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– please do it</a:t>
            </a:r>
            <a:endParaRPr lang="en-US" sz="1050" dirty="0"/>
          </a:p>
        </p:txBody>
      </p:sp>
      <p:sp>
        <p:nvSpPr>
          <p:cNvPr id="25" name="bd_252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253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can wait there.</a:t>
            </a:r>
            <a:endParaRPr lang="en-US" sz="1150" dirty="0"/>
          </a:p>
        </p:txBody>
      </p:sp>
      <p:sp>
        <p:nvSpPr>
          <p:cNvPr id="27" name="R4_chip254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– it's possible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5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257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/ can't</a:t>
            </a:r>
            <a:endParaRPr lang="en-US" sz="2500" dirty="0"/>
          </a:p>
        </p:txBody>
      </p:sp>
      <p:pic>
        <p:nvPicPr>
          <p:cNvPr id="6" name="brP_25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259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examples. Then click!</a:t>
            </a:r>
            <a:endParaRPr lang="en-US" sz="1250" dirty="0"/>
          </a:p>
        </p:txBody>
      </p:sp>
      <p:sp>
        <p:nvSpPr>
          <p:cNvPr id="8" name="insIT_26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gli esempi. Poi clicca!</a:t>
            </a:r>
            <a:endParaRPr lang="en-US" sz="950" dirty="0"/>
          </a:p>
        </p:txBody>
      </p:sp>
      <p:sp>
        <p:nvSpPr>
          <p:cNvPr id="9" name="note_26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26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Grammar Bank 5A · the rule   ·   📖 Grammar Bank 5A p.132 · audio 5.5 (TG grammar notes)</a:t>
            </a:r>
            <a:endParaRPr lang="en-US" sz="800" dirty="0"/>
          </a:p>
        </p:txBody>
      </p:sp>
      <p:sp>
        <p:nvSpPr>
          <p:cNvPr id="12" name="cd_264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h_265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and −</a:t>
            </a:r>
            <a:endParaRPr lang="en-US" sz="1250" dirty="0"/>
          </a:p>
        </p:txBody>
      </p:sp>
      <p:sp>
        <p:nvSpPr>
          <p:cNvPr id="14" name="R1_rx266"/>
          <p:cNvSpPr/>
          <p:nvPr/>
        </p:nvSpPr>
        <p:spPr>
          <a:xfrm>
            <a:off x="4572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/ you / he / she / we / they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sing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dance.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(✗ he cans · ✗ I don't can)</a:t>
            </a:r>
            <a:endParaRPr lang="en-US" sz="1400" dirty="0"/>
          </a:p>
        </p:txBody>
      </p:sp>
      <p:sp>
        <p:nvSpPr>
          <p:cNvPr id="15" name="R1_ri267"/>
          <p:cNvSpPr/>
          <p:nvPr/>
        </p:nvSpPr>
        <p:spPr>
          <a:xfrm>
            <a:off x="411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= stesso per tutti · can't = cannot</a:t>
            </a:r>
            <a:endParaRPr lang="en-US" sz="1100" dirty="0"/>
          </a:p>
        </p:txBody>
      </p:sp>
      <p:sp>
        <p:nvSpPr>
          <p:cNvPr id="16" name="cd_268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269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250" dirty="0"/>
          </a:p>
        </p:txBody>
      </p:sp>
      <p:sp>
        <p:nvSpPr>
          <p:cNvPr id="18" name="R2_rx270"/>
          <p:cNvSpPr/>
          <p:nvPr/>
        </p:nvSpPr>
        <p:spPr>
          <a:xfrm>
            <a:off x="48006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swim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 – Yes, I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/ No, I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park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here?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(✗ Do you can…? · ✗ can to swim)</a:t>
            </a:r>
            <a:endParaRPr lang="en-US" sz="1400" dirty="0"/>
          </a:p>
        </p:txBody>
      </p:sp>
      <p:sp>
        <p:nvSpPr>
          <p:cNvPr id="19" name="R2_ri271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+ soggetto + verbo (senza to)</a:t>
            </a:r>
            <a:endParaRPr lang="en-US" sz="1100" dirty="0"/>
          </a:p>
        </p:txBody>
      </p:sp>
      <p:sp>
        <p:nvSpPr>
          <p:cNvPr id="20" name="R3_wc272"/>
          <p:cNvSpPr/>
          <p:nvPr/>
        </p:nvSpPr>
        <p:spPr>
          <a:xfrm>
            <a:off x="320040" y="4544568"/>
            <a:ext cx="841248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3_w273"/>
          <p:cNvSpPr/>
          <p:nvPr/>
        </p:nvSpPr>
        <p:spPr>
          <a:xfrm>
            <a:off x="457200" y="454456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She cans play → ✓ She can play   ·   ✗ I can to swim → ✓ I can swim   ·   ✗ Do you can…? → ✓ Can you…?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7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276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Bank practice</a:t>
            </a:r>
            <a:endParaRPr lang="en-US" sz="2400" dirty="0"/>
          </a:p>
        </p:txBody>
      </p:sp>
      <p:pic>
        <p:nvPicPr>
          <p:cNvPr id="6" name="brP_27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278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5A b: make sentences with can or can't.</a:t>
            </a:r>
            <a:endParaRPr lang="en-US" sz="1250" dirty="0"/>
          </a:p>
        </p:txBody>
      </p:sp>
      <p:sp>
        <p:nvSpPr>
          <p:cNvPr id="8" name="insIT_27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5A b: fai frasi con can o can't.</a:t>
            </a:r>
            <a:endParaRPr lang="en-US" sz="950" dirty="0"/>
          </a:p>
        </p:txBody>
      </p:sp>
      <p:sp>
        <p:nvSpPr>
          <p:cNvPr id="9" name="note_28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28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8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Grammar Bank 5A p.133 · b   ·   📖 Grammar Bank 5A p.133 · b (TG key)</a:t>
            </a:r>
            <a:endParaRPr lang="en-US" sz="800" dirty="0"/>
          </a:p>
        </p:txBody>
      </p:sp>
      <p:sp>
        <p:nvSpPr>
          <p:cNvPr id="12" name="cd_283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284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sentence</a:t>
            </a:r>
            <a:endParaRPr lang="en-US" sz="1700" dirty="0"/>
          </a:p>
        </p:txBody>
      </p:sp>
      <p:sp>
        <p:nvSpPr>
          <p:cNvPr id="14" name="ln_285"/>
          <p:cNvSpPr/>
          <p:nvPr/>
        </p:nvSpPr>
        <p:spPr>
          <a:xfrm>
            <a:off x="548640" y="1920240"/>
            <a:ext cx="5349240" cy="59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she / meet me after work (+)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endParaRPr lang="en-US" sz="1300" dirty="0"/>
          </a:p>
        </p:txBody>
      </p:sp>
      <p:sp>
        <p:nvSpPr>
          <p:cNvPr id="15" name="R1_lnA286"/>
          <p:cNvSpPr/>
          <p:nvPr/>
        </p:nvSpPr>
        <p:spPr>
          <a:xfrm>
            <a:off x="548640" y="1920240"/>
            <a:ext cx="5349240" cy="59698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she / meet me after work (+)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She can meet me after work.</a:t>
            </a:r>
            <a:endParaRPr lang="en-US" sz="1300" dirty="0"/>
          </a:p>
        </p:txBody>
      </p:sp>
      <p:sp>
        <p:nvSpPr>
          <p:cNvPr id="16" name="ln_287"/>
          <p:cNvSpPr/>
          <p:nvPr/>
        </p:nvSpPr>
        <p:spPr>
          <a:xfrm>
            <a:off x="548640" y="2517229"/>
            <a:ext cx="5349240" cy="650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you / open the door, please (?)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endParaRPr lang="en-US" sz="1300" dirty="0"/>
          </a:p>
        </p:txBody>
      </p:sp>
      <p:sp>
        <p:nvSpPr>
          <p:cNvPr id="17" name="R2_lnA288"/>
          <p:cNvSpPr/>
          <p:nvPr/>
        </p:nvSpPr>
        <p:spPr>
          <a:xfrm>
            <a:off x="548640" y="2517229"/>
            <a:ext cx="5349240" cy="6504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you / open the door, please (?)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Can you open the door, please?</a:t>
            </a:r>
            <a:endParaRPr lang="en-US" sz="1300" dirty="0"/>
          </a:p>
        </p:txBody>
      </p:sp>
      <p:sp>
        <p:nvSpPr>
          <p:cNvPr id="18" name="ln_289"/>
          <p:cNvSpPr/>
          <p:nvPr/>
        </p:nvSpPr>
        <p:spPr>
          <a:xfrm>
            <a:off x="548640" y="3167680"/>
            <a:ext cx="5349240" cy="50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my boyfriend / ski (−)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endParaRPr lang="en-US" sz="1300" dirty="0"/>
          </a:p>
        </p:txBody>
      </p:sp>
      <p:sp>
        <p:nvSpPr>
          <p:cNvPr id="19" name="R3_lnA290"/>
          <p:cNvSpPr/>
          <p:nvPr/>
        </p:nvSpPr>
        <p:spPr>
          <a:xfrm>
            <a:off x="548640" y="3167680"/>
            <a:ext cx="5349240" cy="5078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my boyfriend / ski (−)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boyfriend can't ski.</a:t>
            </a:r>
            <a:endParaRPr lang="en-US" sz="1300" dirty="0"/>
          </a:p>
        </p:txBody>
      </p:sp>
      <p:sp>
        <p:nvSpPr>
          <p:cNvPr id="20" name="ln_291"/>
          <p:cNvSpPr/>
          <p:nvPr/>
        </p:nvSpPr>
        <p:spPr>
          <a:xfrm>
            <a:off x="548640" y="3675567"/>
            <a:ext cx="5349240" cy="45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I / use your car (?)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endParaRPr lang="en-US" sz="1300" dirty="0"/>
          </a:p>
        </p:txBody>
      </p:sp>
      <p:sp>
        <p:nvSpPr>
          <p:cNvPr id="21" name="R4_lnA292"/>
          <p:cNvSpPr/>
          <p:nvPr/>
        </p:nvSpPr>
        <p:spPr>
          <a:xfrm>
            <a:off x="548640" y="3675567"/>
            <a:ext cx="5349240" cy="454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I / use your car (?)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Can I use your car?</a:t>
            </a:r>
            <a:endParaRPr lang="en-US" sz="1300" dirty="0"/>
          </a:p>
        </p:txBody>
      </p:sp>
      <p:sp>
        <p:nvSpPr>
          <p:cNvPr id="22" name="ln_293"/>
          <p:cNvSpPr/>
          <p:nvPr/>
        </p:nvSpPr>
        <p:spPr>
          <a:xfrm>
            <a:off x="548640" y="4129991"/>
            <a:ext cx="5349240" cy="5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you / take photos here (−)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endParaRPr lang="en-US" sz="1300" dirty="0"/>
          </a:p>
        </p:txBody>
      </p:sp>
      <p:sp>
        <p:nvSpPr>
          <p:cNvPr id="23" name="R5_lnA294"/>
          <p:cNvSpPr/>
          <p:nvPr/>
        </p:nvSpPr>
        <p:spPr>
          <a:xfrm>
            <a:off x="548640" y="4129991"/>
            <a:ext cx="5349240" cy="57916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you / take photos here (−)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You can't take photos here.</a:t>
            </a:r>
            <a:endParaRPr lang="en-US" sz="1300" dirty="0"/>
          </a:p>
        </p:txBody>
      </p:sp>
      <p:sp>
        <p:nvSpPr>
          <p:cNvPr id="24" name="pf_295"/>
          <p:cNvSpPr/>
          <p:nvPr/>
        </p:nvSpPr>
        <p:spPr>
          <a:xfrm rot="120000">
            <a:off x="6791753" y="1417320"/>
            <a:ext cx="1595535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5" name="ph_296" descr="/home/claude/lls-course/v2/cache/red_5a_turn_jpg_362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837473" y="1463040"/>
            <a:ext cx="1504095" cy="1417320"/>
          </a:xfrm>
          <a:prstGeom prst="rect">
            <a:avLst/>
          </a:prstGeom>
        </p:spPr>
      </p:pic>
      <p:sp>
        <p:nvSpPr>
          <p:cNvPr id="26" name="cd_297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ii_298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8" name="ih_299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9" name="il_300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/ can't + verb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+ subject + verb?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0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303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/kən/ – can't /kɑːnt/</a:t>
            </a:r>
            <a:endParaRPr lang="en-US" sz="2500" dirty="0"/>
          </a:p>
        </p:txBody>
      </p:sp>
      <p:pic>
        <p:nvPicPr>
          <p:cNvPr id="6" name="brP_30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0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and repeat. Copy the rhythm. Then: can or can't?</a:t>
            </a:r>
            <a:endParaRPr lang="en-US" sz="1250" dirty="0"/>
          </a:p>
        </p:txBody>
      </p:sp>
      <p:sp>
        <p:nvSpPr>
          <p:cNvPr id="8" name="insIT_30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e ripeti. Copia il ritmo. Poi: can o can't?</a:t>
            </a:r>
            <a:endParaRPr lang="en-US" sz="950" dirty="0"/>
          </a:p>
        </p:txBody>
      </p:sp>
      <p:sp>
        <p:nvSpPr>
          <p:cNvPr id="9" name="note_30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Controlled practice</a:t>
            </a:r>
            <a:endParaRPr lang="en-US" sz="1150" dirty="0"/>
          </a:p>
        </p:txBody>
      </p:sp>
      <p:pic>
        <p:nvPicPr>
          <p:cNvPr id="10" name="logo_3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Pronunciation · sentence stress   ·   📖 SB p.39 · 4a–4c · audio 5.6, 5.7, 5.8 (TG key)</a:t>
            </a:r>
            <a:endParaRPr lang="en-US" sz="800" dirty="0"/>
          </a:p>
        </p:txBody>
      </p:sp>
      <p:sp>
        <p:nvSpPr>
          <p:cNvPr id="12" name="cd_310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1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1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13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can SING. (can = short, quick) · I CAN'T sing. (can't = long, stressed!)</a:t>
            </a:r>
            <a:endParaRPr lang="en-US" sz="1050" dirty="0"/>
          </a:p>
        </p:txBody>
      </p:sp>
      <p:sp>
        <p:nvSpPr>
          <p:cNvPr id="16" name="ap_314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5.8</a:t>
            </a:r>
            <a:endParaRPr lang="en-US" sz="1100" dirty="0"/>
          </a:p>
        </p:txBody>
      </p:sp>
      <p:sp>
        <p:nvSpPr>
          <p:cNvPr id="17" name="bd_315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316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 can sing. b I can't sing.</a:t>
            </a:r>
            <a:endParaRPr lang="en-US" sz="1150" dirty="0"/>
          </a:p>
        </p:txBody>
      </p:sp>
      <p:sp>
        <p:nvSpPr>
          <p:cNvPr id="19" name="R1_chip317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– I can't sing.</a:t>
            </a:r>
            <a:endParaRPr lang="en-US" sz="1050" dirty="0"/>
          </a:p>
        </p:txBody>
      </p:sp>
      <p:sp>
        <p:nvSpPr>
          <p:cNvPr id="20" name="bd_318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319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She can dance very well. b She can't…</a:t>
            </a:r>
            <a:endParaRPr lang="en-US" sz="1150" dirty="0"/>
          </a:p>
        </p:txBody>
      </p:sp>
      <p:sp>
        <p:nvSpPr>
          <p:cNvPr id="22" name="R2_chip320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– She can dance very well.</a:t>
            </a:r>
            <a:endParaRPr lang="en-US" sz="1050" dirty="0"/>
          </a:p>
        </p:txBody>
      </p:sp>
      <p:sp>
        <p:nvSpPr>
          <p:cNvPr id="23" name="bd_321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322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He can cook. b He can't cook.</a:t>
            </a:r>
            <a:endParaRPr lang="en-US" sz="1150" dirty="0"/>
          </a:p>
        </p:txBody>
      </p:sp>
      <p:sp>
        <p:nvSpPr>
          <p:cNvPr id="25" name="R3_chip323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– He can cook.</a:t>
            </a:r>
            <a:endParaRPr lang="en-US" sz="1050" dirty="0"/>
          </a:p>
        </p:txBody>
      </p:sp>
      <p:sp>
        <p:nvSpPr>
          <p:cNvPr id="26" name="bd_324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325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 can come to the meeting. b I can't…</a:t>
            </a:r>
            <a:endParaRPr lang="en-US" sz="1150" dirty="0"/>
          </a:p>
        </p:txBody>
      </p:sp>
      <p:sp>
        <p:nvSpPr>
          <p:cNvPr id="28" name="R4_chip326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– I can't come to the meeting.</a:t>
            </a:r>
            <a:endParaRPr lang="en-US" sz="1050" dirty="0"/>
          </a:p>
        </p:txBody>
      </p:sp>
      <p:sp>
        <p:nvSpPr>
          <p:cNvPr id="29" name="bd_32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328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You can park here. b You can't…</a:t>
            </a:r>
            <a:endParaRPr lang="en-US" sz="1150" dirty="0"/>
          </a:p>
        </p:txBody>
      </p:sp>
      <p:sp>
        <p:nvSpPr>
          <p:cNvPr id="31" name="R5_chip329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– You can't park here.</a:t>
            </a:r>
            <a:endParaRPr lang="en-US" sz="1050" dirty="0"/>
          </a:p>
        </p:txBody>
      </p:sp>
      <p:sp>
        <p:nvSpPr>
          <p:cNvPr id="32" name="bd_330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331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 can drive. b I can't drive.</a:t>
            </a:r>
            <a:endParaRPr lang="en-US" sz="1150" dirty="0"/>
          </a:p>
        </p:txBody>
      </p:sp>
      <p:sp>
        <p:nvSpPr>
          <p:cNvPr id="34" name="R6_chip332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– I can drive.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3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335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your talent?</a:t>
            </a:r>
            <a:endParaRPr lang="en-US" sz="2500" dirty="0"/>
          </a:p>
        </p:txBody>
      </p:sp>
      <p:pic>
        <p:nvPicPr>
          <p:cNvPr id="6" name="brP_33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3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your talent? Interview your partner: Can you…? How well? 1, 2 or 3.</a:t>
            </a:r>
            <a:endParaRPr lang="en-US" sz="1100" dirty="0"/>
          </a:p>
        </p:txBody>
      </p:sp>
      <p:sp>
        <p:nvSpPr>
          <p:cNvPr id="8" name="insIT_33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 è il tuo talento? Intervista il compagno: Can you…? Quanto bene? 1, 2 o 3.</a:t>
            </a:r>
            <a:endParaRPr lang="en-US" sz="900" dirty="0"/>
          </a:p>
        </p:txBody>
      </p:sp>
      <p:sp>
        <p:nvSpPr>
          <p:cNvPr id="9" name="note_33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34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Speaking · What's your talent?   ·   📖 SB p.39 · 5a–5c</a:t>
            </a:r>
            <a:endParaRPr lang="en-US" sz="800" dirty="0"/>
          </a:p>
        </p:txBody>
      </p:sp>
      <p:sp>
        <p:nvSpPr>
          <p:cNvPr id="12" name="pf_342"/>
          <p:cNvSpPr/>
          <p:nvPr/>
        </p:nvSpPr>
        <p:spPr>
          <a:xfrm rot="-120000">
            <a:off x="1309122" y="1371600"/>
            <a:ext cx="810757" cy="1325880"/>
          </a:xfrm>
          <a:prstGeom prst="roundRect">
            <a:avLst>
              <a:gd name="adj" fmla="val 19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43" descr="/home/claude/lls-course/v2/cache/red_5a_talent_jpg_173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354842" y="1417320"/>
            <a:ext cx="719317" cy="1234440"/>
          </a:xfrm>
          <a:prstGeom prst="rect">
            <a:avLst/>
          </a:prstGeom>
        </p:spPr>
      </p:pic>
      <p:sp>
        <p:nvSpPr>
          <p:cNvPr id="14" name="cd_344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45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46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47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sing?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I can. / No, I can't.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well? 1 = not very well · 2 = quite well · 3 = very well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talent = a natural ability</a:t>
            </a:r>
            <a:endParaRPr lang="en-US" sz="1100" dirty="0"/>
          </a:p>
        </p:txBody>
      </p:sp>
      <p:sp>
        <p:nvSpPr>
          <p:cNvPr id="18" name="R1_qb348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49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Music: sing · play an instrument · dance · read or write music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Can you play an instrument? – Yes, the guitar. Quite well.</a:t>
            </a:r>
            <a:endParaRPr lang="en-US" sz="1000" dirty="0"/>
          </a:p>
        </p:txBody>
      </p:sp>
      <p:sp>
        <p:nvSpPr>
          <p:cNvPr id="20" name="R2_qb350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51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Art: take artistic photos · draw cartoons · paint pictures · design websites</a:t>
            </a: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Can you draw cartoons? – No, I can't!</a:t>
            </a:r>
            <a:endParaRPr lang="en-US" sz="950" dirty="0"/>
          </a:p>
        </p:txBody>
      </p:sp>
      <p:sp>
        <p:nvSpPr>
          <p:cNvPr id="22" name="R3_qb352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53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Sport: run a half-marathon · play a team sport · do a water sport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Can you run a half-marathon?</a:t>
            </a:r>
            <a:endParaRPr lang="en-US" sz="1000" dirty="0"/>
          </a:p>
        </p:txBody>
      </p:sp>
      <p:sp>
        <p:nvSpPr>
          <p:cNvPr id="24" name="R4_qb354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355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Words: write stories · write poems · speak foreign languages · speak in public</a:t>
            </a: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Can you speak in public?</a:t>
            </a:r>
            <a:endParaRPr lang="en-US" sz="950" dirty="0"/>
          </a:p>
        </p:txBody>
      </p:sp>
      <p:sp>
        <p:nvSpPr>
          <p:cNvPr id="26" name="R5_qb356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R5_sq357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your partner's talent? Tell a new partner!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Marco can sing very well – he can enter X Factor!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5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5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60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Prove it!</a:t>
            </a:r>
            <a:endParaRPr lang="en-US" sz="2500" dirty="0"/>
          </a:p>
        </p:txBody>
      </p:sp>
      <p:pic>
        <p:nvPicPr>
          <p:cNvPr id="6" name="brP_36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362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you…? Do it now! Teams challenge each other.</a:t>
            </a:r>
            <a:endParaRPr lang="en-US" sz="1250" dirty="0"/>
          </a:p>
        </p:txBody>
      </p:sp>
      <p:sp>
        <p:nvSpPr>
          <p:cNvPr id="8" name="insIT_36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you…? Fallo adesso! Le squadre si sfidano.</a:t>
            </a:r>
            <a:endParaRPr lang="en-US" sz="950" dirty="0"/>
          </a:p>
        </p:txBody>
      </p:sp>
      <p:sp>
        <p:nvSpPr>
          <p:cNvPr id="9" name="note_36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36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6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Game · prove it!   ·   📖 Extra · zero-prep game</a:t>
            </a:r>
            <a:endParaRPr lang="en-US" sz="800" dirty="0"/>
          </a:p>
        </p:txBody>
      </p:sp>
      <p:sp>
        <p:nvSpPr>
          <p:cNvPr id="12" name="cd_367"/>
          <p:cNvSpPr/>
          <p:nvPr/>
        </p:nvSpPr>
        <p:spPr>
          <a:xfrm>
            <a:off x="320040" y="1417320"/>
            <a:ext cx="2697480" cy="2307336"/>
          </a:xfrm>
          <a:prstGeom prst="roundRect">
            <a:avLst>
              <a:gd name="adj" fmla="val 554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6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36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370"/>
          <p:cNvSpPr/>
          <p:nvPr/>
        </p:nvSpPr>
        <p:spPr>
          <a:xfrm>
            <a:off x="886968" y="1911096"/>
            <a:ext cx="2039112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A asks: Can you say the alphabet backwards?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B says Yes, we can! – and does it in 30 seconds.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 + do it = 2 points. No, we can't = 0. Swap!</a:t>
            </a:r>
            <a:endParaRPr lang="en-US" sz="1100" dirty="0"/>
          </a:p>
        </p:txBody>
      </p:sp>
      <p:sp>
        <p:nvSpPr>
          <p:cNvPr id="16" name="st_371"/>
          <p:cNvSpPr/>
          <p:nvPr/>
        </p:nvSpPr>
        <p:spPr>
          <a:xfrm rot="-180000">
            <a:off x="502920" y="3907536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372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gq_373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say the months in 10 seconds?</a:t>
            </a:r>
            <a:endParaRPr lang="en-US" sz="1250" dirty="0"/>
          </a:p>
        </p:txBody>
      </p:sp>
      <p:sp>
        <p:nvSpPr>
          <p:cNvPr id="19" name="R1_chip374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Yes, we can! January, February…</a:t>
            </a:r>
            <a:endParaRPr lang="en-US" sz="1200" dirty="0"/>
          </a:p>
        </p:txBody>
      </p:sp>
      <p:sp>
        <p:nvSpPr>
          <p:cNvPr id="20" name="bd_375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gq_376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spell 'nephew'?</a:t>
            </a:r>
            <a:endParaRPr lang="en-US" sz="1250" dirty="0"/>
          </a:p>
        </p:txBody>
      </p:sp>
      <p:sp>
        <p:nvSpPr>
          <p:cNvPr id="22" name="R2_chip377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N-E-P-H-E-W</a:t>
            </a:r>
            <a:endParaRPr lang="en-US" sz="1200" dirty="0"/>
          </a:p>
        </p:txBody>
      </p:sp>
      <p:sp>
        <p:nvSpPr>
          <p:cNvPr id="23" name="bd_378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gq_379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sing a song in English?</a:t>
            </a:r>
            <a:endParaRPr lang="en-US" sz="1250" dirty="0"/>
          </a:p>
        </p:txBody>
      </p:sp>
      <p:sp>
        <p:nvSpPr>
          <p:cNvPr id="25" name="R3_chip380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Yes, we can!</a:t>
            </a:r>
            <a:endParaRPr lang="en-US" sz="1200" dirty="0"/>
          </a:p>
        </p:txBody>
      </p:sp>
      <p:sp>
        <p:nvSpPr>
          <p:cNvPr id="26" name="bd_381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gq_382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name 10 jobs in 30 seconds?</a:t>
            </a:r>
            <a:endParaRPr lang="en-US" sz="1250" dirty="0"/>
          </a:p>
        </p:txBody>
      </p:sp>
      <p:sp>
        <p:nvSpPr>
          <p:cNvPr id="28" name="R4_chip383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nurse, lawyer, vet…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8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86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8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88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38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390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39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9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Exit · what can you remember?</a:t>
            </a:r>
            <a:endParaRPr lang="en-US" sz="800" dirty="0"/>
          </a:p>
        </p:txBody>
      </p:sp>
      <p:sp>
        <p:nvSpPr>
          <p:cNvPr id="12" name="bd_393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394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new verb phrases.</a:t>
            </a:r>
            <a:endParaRPr lang="en-US" sz="1400" dirty="0"/>
          </a:p>
        </p:txBody>
      </p:sp>
      <p:sp>
        <p:nvSpPr>
          <p:cNvPr id="14" name="bd_395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396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things you can do and 1 you can't.</a:t>
            </a:r>
            <a:endParaRPr lang="en-US" sz="1400" dirty="0"/>
          </a:p>
        </p:txBody>
      </p:sp>
      <p:sp>
        <p:nvSpPr>
          <p:cNvPr id="16" name="bd_397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398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about Amy's audition.</a:t>
            </a:r>
            <a:endParaRPr lang="en-US" sz="1400" dirty="0"/>
          </a:p>
        </p:txBody>
      </p:sp>
      <p:sp>
        <p:nvSpPr>
          <p:cNvPr id="18" name="cd_399"/>
          <p:cNvSpPr/>
          <p:nvPr/>
        </p:nvSpPr>
        <p:spPr>
          <a:xfrm>
            <a:off x="5669280" y="1417320"/>
            <a:ext cx="3200400" cy="976376"/>
          </a:xfrm>
          <a:prstGeom prst="roundRect">
            <a:avLst>
              <a:gd name="adj" fmla="val 1311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00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01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02"/>
          <p:cNvSpPr/>
          <p:nvPr/>
        </p:nvSpPr>
        <p:spPr>
          <a:xfrm>
            <a:off x="6236208" y="1911096"/>
            <a:ext cx="25420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5A pp.32–33</a:t>
            </a:r>
            <a:endParaRPr lang="en-US" sz="1150" dirty="0"/>
          </a:p>
        </p:txBody>
      </p:sp>
      <p:sp>
        <p:nvSpPr>
          <p:cNvPr id="22" name="st_403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5B A quiet life? – present continuous (SB p.40)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0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0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0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08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0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1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1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1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 · Review · what did you do today?</a:t>
            </a:r>
            <a:endParaRPr lang="en-US" sz="800" dirty="0"/>
          </a:p>
        </p:txBody>
      </p:sp>
      <p:sp>
        <p:nvSpPr>
          <p:cNvPr id="12" name="cd_413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14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14" name="tt_415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what you can and can't do</a:t>
            </a:r>
            <a:endParaRPr lang="en-US" sz="1350" dirty="0"/>
          </a:p>
        </p:txBody>
      </p:sp>
      <p:sp>
        <p:nvSpPr>
          <p:cNvPr id="15" name="R1_tk416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17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1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8" name="tt_419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25 verb phrases: meet a friend, take a photo…</a:t>
            </a:r>
            <a:endParaRPr lang="en-US" sz="1350" dirty="0"/>
          </a:p>
        </p:txBody>
      </p:sp>
      <p:sp>
        <p:nvSpPr>
          <p:cNvPr id="19" name="R2_tk420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21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22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22" name="tt_423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Amy's audition</a:t>
            </a:r>
            <a:endParaRPr lang="en-US" sz="1350" dirty="0"/>
          </a:p>
        </p:txBody>
      </p:sp>
      <p:sp>
        <p:nvSpPr>
          <p:cNvPr id="23" name="R3_tk424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25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26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6" name="tt_427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Heard the difference: can /kən/ – can't /kɑːnt/</a:t>
            </a:r>
            <a:endParaRPr lang="en-US" sz="1350" dirty="0"/>
          </a:p>
        </p:txBody>
      </p:sp>
      <p:sp>
        <p:nvSpPr>
          <p:cNvPr id="27" name="R4_tk428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29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30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30" name="tt_431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 your partner's talent</a:t>
            </a:r>
            <a:endParaRPr lang="en-US" sz="1350" dirty="0"/>
          </a:p>
        </p:txBody>
      </p:sp>
      <p:sp>
        <p:nvSpPr>
          <p:cNvPr id="31" name="R5_tk432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33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5A Vote for me!</dc:title>
  <dc:subject>PptxGenJS Presentation</dc:subject>
  <dc:creator>PptxGenJS</dc:creator>
  <cp:lastModifiedBy>PptxGenJS</cp:lastModifiedBy>
  <cp:revision>1</cp:revision>
  <dcterms:created xsi:type="dcterms:W3CDTF">2026-10-23T08:40:51Z</dcterms:created>
  <dcterms:modified xsi:type="dcterms:W3CDTF">2026-10-23T08:40:51Z</dcterms:modified>
</cp:coreProperties>
</file>