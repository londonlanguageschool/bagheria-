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mp3" ContentType="audio/mpeg"/>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OPENING (2 min)
OPENING (2 min). Room A = tidy (Virginia Woolf's room), room B = untidy (Ian Rankin's room). Teach tidy (= everything in the right place) and untidy with gestures. Ask the question; hands up for A or B. Click: example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Revision · File 1 (2 min)
REVISION (2 min). Pairs ask the 3 pink questions (real answers, spell the surname letter by letter). Then point at things in the room: 'What's this?' – 'It's a desk.' Leads into today: more THINGS.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Warm-up · your bag (PQA) (5 min)
PQA – Personalised Questions and Answers (5 min). Teacher-led, books closed, with REAL bags: hold up your own bag, take out things one by one ('What's this? It's my wallet!'). Ask the questions one per click, to several students; circle the answers ('So Marco has keys? Does Anna have keys? Who has keys – Marco or Anna?'). Write the 6 new words on the board as they come up: wallet, purse, keys, sunglasses, tissues, charger.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Vocabulary · 6 new words (4 min)
ESTABLISH MEANING (4 min). Max 6 new words (A1–A2 rule). For each: students say the word if they know it; click 1 shows an English explanation, click 2 shows the Italian. Drill each word. Key problems: purse = borsellino (false friend 'borsa'); sunglasses = plural. (Audio 2.1 = the whole Vocabulary Bank list of 30 things – on the extra slide at the end if you want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Practice · It's a… / They're… (4 min)
CONTROLLED PRACTICE (4 min). A asks 'What is it?' or 'What are they?' (singular or plural!), B answers; click once per line to check. Highlight: an umbrella (vowel sound). Extension: hold up real objects from students' bags.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Story (TPRS) · ask and answer (6 min)
STORY ASKING (6 min, TPRS). Tell the story line by line (students listen first, then look at the slide). After EVERY line, circle with questions: 'Is Tom tidy? (No!) Is Tom tidy or untidy? (Untidy.) Where are his keys? Are they in his bag? (No.) Are they on the table? (No.) Where is his wallet? Is his wallet under the chair? (No – on the table.)' Accept one-word answers; repeat full sentences yourself. Add details from the class: 'What's his cat's name? Where's Tom from?' and use them. Act it out with a volunteer as Tom.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Reading · the class story (3 min)
READ THE CLASS VERSION (3 min). Pairs answer T/F and correct the false ones with is/are + in/on/under. Click once per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Pop-up grammar · plurals (4 min)
POP-UP GRAMMAR (4 min). Point to the story: 'his keys ARE…, his wallet IS…' – why? Then elicit each column before clicking. Play 2.2 (Grammar Bank, listen and repeat). Book chart answers (TG): (two) umbrellas · a watch · a diary; an umbrella because it begins with a vowel sound.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Pronunciation · final -s and -es (5 min)
PRONUNCIATION (5 min). RULE first (standing rule 13): -es / -s is an EXTRA syllable /ɪz/ only after the sounds s, z, sh, ch, j (written ce, ge, se, sh, ch, x): glasses, watches, boxes, pages, pieces, classes. All the others: NO extra syllable – files = ONE syllable /faɪlz/, phones /fəʊnz/. /s/ after p, t, k, f (books, lamps); /z/ after other sounds (keys, pens). Play 2.3 (snake /s/, zebra /z/, /ɪz/), then pairs decide 1–8, play 2.4 to check. Book answers (TG): /ɪz/ = classes, boxes, pieces, pages. Italians add /ɪz/ everywhere ('file-es') – that's the error to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Vocabulary · in, on, under (3 min)
PRACTICE (3 min). Photos 1–3 are in the book (p.15); the slide shows photo 1. Click once per answer. Answers (TG): 1 on · 2 in · 3 under.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Listening · three people (3 min)
GIST (3 min). Play 2.5 once (🐢 = slower copy for weaker students). The places are the task; the speaker numbers appear on click AFTER listening. Answers (TG): 1 on his desk · 2 in her study · 3 in her bag.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Listening · detail (4 min)
DETAIL (4 min). Play again, pause after each speaker. Click once per speaker. FOLLOW-ALONG for weaker students – read the script (SB p.118): 1 'On my desk I have my computer. I have some pens and pieces of paper. I have a lamp, and a photo of my family. Oh, and a phone. It's very tidy.' 2 'In my study I have a desk, a table, and two chairs. I have a lot of books and a big dictionary on the desk – it isn't very tidy! And I have a map of Europe on the wall.' 3 'I have a lot of things in my bag. I have my phone. I have the charger for my phone. I have my sunglasses, tissues. And I have my house keys and my purse.'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Game · in, on, under (5 min)
GAME (5 min). Model with a strong student first (one line per click). Round 1: phone (Is it…?). Round 2: plural things – keys, sunglasses (Are they…?). Points on the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Transform · your story (5 min)
TRANSFORM AND OUTPUT (5 min, TPRS). Pairs retell the story with a new character and new things (he/his → she/her!). Two pairs tell their story to the class; the class answers your circling questions. Watch is/are with plurals.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Speaking + writing · your bag (5 min)
SPEAKING + WRITE (5 min). Questions one per click; model each. Then each student WRITES 3 sentences about their bag/desk (in/on/under + is/are) – read 2–3 aloud (Write and Discuss). Note errors for 1 minute of correction.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Review · what did you do today? (1 min)
TODAY YOU… (1 min). Read each line (one per click: the tick appears). Students show thumbs up / middle / down: can they do it now? Note any thumbs down for the next lesson's recap.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Exit · what can you remember? (2 min)
RETRIEVAL EXIT (2 min). Today's vocabulary list: wallet, purse, keys, sunglasses, tissues, charger + in, on, under. Set homework (Workbook 2A).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Book audio · 2A (0 min)
EXTRA. Only if the class wants more vocabulary – it has 30 words (too many for one A1/A2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jpe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jpe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jpe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jpe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audio" Target="../media/media-8-5.mp3"/><Relationship Id="rId6" Type="http://schemas.microsoft.com/office/2007/relationships/media" Target="../media/media-8-5.mp3"/><Relationship Id="rId7" Type="http://schemas.openxmlformats.org/officeDocument/2006/relationships/image" Target="../media/image-8-7.png"/><Relationship Id="rId8" Type="http://schemas.openxmlformats.org/officeDocument/2006/relationships/audio" Target="../media/media-8-8.mp3"/><Relationship Id="rId9" Type="http://schemas.microsoft.com/office/2007/relationships/media" Target="../media/media-8-8.mp3"/><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image" Target="../media/image-8-12.png"/><Relationship Id="rId13" Type="http://schemas.openxmlformats.org/officeDocument/2006/relationships/image" Target="../media/image-8-13.png"/><Relationship Id="rId14" Type="http://schemas.openxmlformats.org/officeDocument/2006/relationships/image" Target="../media/image-8-14.png"/><Relationship Id="rId15" Type="http://schemas.openxmlformats.org/officeDocument/2006/relationships/slideLayout" Target="../slideLayouts/slideLayout1.xml"/><Relationship Id="rId1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jpe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audio" Target="../media/media-9-5.mp3"/><Relationship Id="rId6" Type="http://schemas.microsoft.com/office/2007/relationships/media" Target="../media/media-9-5.mp3"/><Relationship Id="rId7" Type="http://schemas.openxmlformats.org/officeDocument/2006/relationships/image" Target="../media/image-9-7.png"/><Relationship Id="rId8" Type="http://schemas.openxmlformats.org/officeDocument/2006/relationships/audio" Target="../media/media-9-8.mp3"/><Relationship Id="rId9" Type="http://schemas.microsoft.com/office/2007/relationships/media" Target="../media/media-9-8.mp3"/><Relationship Id="rId10" Type="http://schemas.openxmlformats.org/officeDocument/2006/relationships/image" Target="../media/image-9-10.png"/><Relationship Id="rId11" Type="http://schemas.openxmlformats.org/officeDocument/2006/relationships/audio" Target="../media/media-9-11.mp3"/><Relationship Id="rId12" Type="http://schemas.microsoft.com/office/2007/relationships/media" Target="../media/media-9-11.mp3"/><Relationship Id="rId13" Type="http://schemas.openxmlformats.org/officeDocument/2006/relationships/image" Target="../media/image-9-13.png"/><Relationship Id="rId14" Type="http://schemas.openxmlformats.org/officeDocument/2006/relationships/audio" Target="../media/media-9-14.mp3"/><Relationship Id="rId15" Type="http://schemas.microsoft.com/office/2007/relationships/media" Target="../media/media-9-14.mp3"/><Relationship Id="rId16" Type="http://schemas.openxmlformats.org/officeDocument/2006/relationships/image" Target="../media/image-9-16.png"/><Relationship Id="rId17" Type="http://schemas.openxmlformats.org/officeDocument/2006/relationships/slideLayout" Target="../slideLayouts/slideLayout1.xml"/><Relationship Id="rId1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jpe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audio" Target="../media/media-11-5.mp3"/><Relationship Id="rId6" Type="http://schemas.microsoft.com/office/2007/relationships/media" Target="../media/media-11-5.mp3"/><Relationship Id="rId7" Type="http://schemas.openxmlformats.org/officeDocument/2006/relationships/image" Target="../media/image-11-7.png"/><Relationship Id="rId8" Type="http://schemas.openxmlformats.org/officeDocument/2006/relationships/audio" Target="../media/media-11-8.mp3"/><Relationship Id="rId9" Type="http://schemas.microsoft.com/office/2007/relationships/media" Target="../media/media-11-8.mp3"/><Relationship Id="rId10" Type="http://schemas.openxmlformats.org/officeDocument/2006/relationships/image" Target="../media/image-11-10.png"/><Relationship Id="rId11" Type="http://schemas.openxmlformats.org/officeDocument/2006/relationships/image" Target="../media/image-11-11.png"/><Relationship Id="rId12" Type="http://schemas.openxmlformats.org/officeDocument/2006/relationships/slideLayout" Target="../slideLayouts/slideLayout1.xml"/><Relationship Id="rId1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jpe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audio" Target="../media/media-12-5.mp3"/><Relationship Id="rId6" Type="http://schemas.microsoft.com/office/2007/relationships/media" Target="../media/media-12-5.mp3"/><Relationship Id="rId7" Type="http://schemas.openxmlformats.org/officeDocument/2006/relationships/image" Target="../media/image-12-7.png"/><Relationship Id="rId8" Type="http://schemas.openxmlformats.org/officeDocument/2006/relationships/audio" Target="../media/media-12-8.mp3"/><Relationship Id="rId9" Type="http://schemas.microsoft.com/office/2007/relationships/media" Target="../media/media-12-8.mp3"/><Relationship Id="rId10" Type="http://schemas.openxmlformats.org/officeDocument/2006/relationships/image" Target="../media/image-12-10.png"/><Relationship Id="rId11" Type="http://schemas.openxmlformats.org/officeDocument/2006/relationships/image" Target="../media/image-12-11.png"/><Relationship Id="rId12" Type="http://schemas.openxmlformats.org/officeDocument/2006/relationships/slideLayout" Target="../slideLayouts/slideLayout1.xml"/><Relationship Id="rId1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jpe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jpe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1.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jpe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1.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jpe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jpe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slideLayout" Target="../slideLayouts/slideLayout1.xml"/><Relationship Id="rId6"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jpe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audio" Target="../media/media-18-6.mp3"/><Relationship Id="rId7" Type="http://schemas.microsoft.com/office/2007/relationships/media" Target="../media/media-18-6.mp3"/><Relationship Id="rId8" Type="http://schemas.openxmlformats.org/officeDocument/2006/relationships/image" Target="../media/image-18-8.png"/><Relationship Id="rId9" Type="http://schemas.openxmlformats.org/officeDocument/2006/relationships/slideLayout" Target="../slideLayouts/slideLayout1.xml"/><Relationship Id="rId10"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crs_1"/>
          <p:cNvSpPr/>
          <p:nvPr/>
        </p:nvSpPr>
        <p:spPr>
          <a:xfrm>
            <a:off x="411480" y="292608"/>
            <a:ext cx="4114800" cy="274320"/>
          </a:xfrm>
          <a:prstGeom prst="rect">
            <a:avLst/>
          </a:prstGeom>
          <a:noFill/>
          <a:ln/>
        </p:spPr>
        <p:txBody>
          <a:bodyPr wrap="square" lIns="0" tIns="0" rIns="0" bIns="0" rtlCol="0" anchor="ctr"/>
          <a:lstStyle/>
          <a:p>
            <a:pPr indent="0" marL="0">
              <a:buNone/>
            </a:pPr>
            <a:r>
              <a:rPr lang="en-US" sz="1000" spc="100" kern="0" dirty="0">
                <a:solidFill>
                  <a:srgbClr val="5B6785"/>
                </a:solidFill>
                <a:latin typeface="Segoe UI Semibold" pitchFamily="34" charset="0"/>
                <a:ea typeface="Segoe UI Semibold" pitchFamily="34" charset="-122"/>
                <a:cs typeface="Segoe UI Semibold" pitchFamily="34" charset="-120"/>
              </a:rPr>
              <a:t>English File Elementary · SB pp.14–15</a:t>
            </a:r>
            <a:endParaRPr lang="en-US" sz="1000" dirty="0"/>
          </a:p>
        </p:txBody>
      </p:sp>
      <p:sp>
        <p:nvSpPr>
          <p:cNvPr id="4" name="bd_2"/>
          <p:cNvSpPr/>
          <p:nvPr/>
        </p:nvSpPr>
        <p:spPr>
          <a:xfrm>
            <a:off x="365760" y="640080"/>
            <a:ext cx="1051560" cy="1051560"/>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2A</a:t>
            </a:r>
            <a:endParaRPr lang="en-US" sz="2800" dirty="0"/>
          </a:p>
        </p:txBody>
      </p:sp>
      <p:pic>
        <p:nvPicPr>
          <p:cNvPr id="5" name="bry_3" descr="/home/claude/lls-course/v2/assets/brush-yellow.png">    </p:cNvPr>
          <p:cNvPicPr>
            <a:picLocks noChangeAspect="1"/>
          </p:cNvPicPr>
          <p:nvPr/>
        </p:nvPicPr>
        <p:blipFill>
          <a:blip r:embed="rId2"/>
          <a:stretch>
            <a:fillRect/>
          </a:stretch>
        </p:blipFill>
        <p:spPr>
          <a:xfrm>
            <a:off x="1463040" y="713232"/>
            <a:ext cx="3566160" cy="868680"/>
          </a:xfrm>
          <a:prstGeom prst="rect">
            <a:avLst/>
          </a:prstGeom>
        </p:spPr>
      </p:pic>
      <p:sp>
        <p:nvSpPr>
          <p:cNvPr id="6" name="t_4"/>
          <p:cNvSpPr/>
          <p:nvPr/>
        </p:nvSpPr>
        <p:spPr>
          <a:xfrm>
            <a:off x="1645920" y="731520"/>
            <a:ext cx="3108960" cy="822960"/>
          </a:xfrm>
          <a:prstGeom prst="rect">
            <a:avLst/>
          </a:prstGeom>
          <a:noFill/>
          <a:ln/>
        </p:spPr>
        <p:txBody>
          <a:bodyPr wrap="square" lIns="0" tIns="0" rIns="0" bIns="0" rtlCol="0" anchor="ctr">
            <a:normAutofit/>
          </a:bodyPr>
          <a:lstStyle/>
          <a:p>
            <a:pPr indent="0" marL="0">
              <a:buNone/>
            </a:pPr>
            <a:r>
              <a:rPr lang="en-US" sz="1900" dirty="0">
                <a:solidFill>
                  <a:srgbClr val="1B2559"/>
                </a:solidFill>
                <a:latin typeface="Arial Rounded MT Bold" pitchFamily="34" charset="0"/>
                <a:ea typeface="Arial Rounded MT Bold" pitchFamily="34" charset="-122"/>
                <a:cs typeface="Arial Rounded MT Bold" pitchFamily="34" charset="-120"/>
              </a:rPr>
              <a:t>Are you tidy or untidy?</a:t>
            </a:r>
            <a:endParaRPr lang="en-US" sz="1900" dirty="0"/>
          </a:p>
        </p:txBody>
      </p:sp>
      <p:pic>
        <p:nvPicPr>
          <p:cNvPr id="7" name="brp_5" descr="/home/claude/lls-course/v2/assets/brush-pink.png">    </p:cNvPr>
          <p:cNvPicPr>
            <a:picLocks noChangeAspect="1"/>
          </p:cNvPicPr>
          <p:nvPr/>
        </p:nvPicPr>
        <p:blipFill>
          <a:blip r:embed="rId3"/>
          <a:stretch>
            <a:fillRect/>
          </a:stretch>
        </p:blipFill>
        <p:spPr>
          <a:xfrm>
            <a:off x="1554480" y="1517904"/>
            <a:ext cx="3017520" cy="384048"/>
          </a:xfrm>
          <a:prstGeom prst="rect">
            <a:avLst/>
          </a:prstGeom>
        </p:spPr>
      </p:pic>
      <p:sp>
        <p:nvSpPr>
          <p:cNvPr id="8" name="st_6"/>
          <p:cNvSpPr/>
          <p:nvPr/>
        </p:nvSpPr>
        <p:spPr>
          <a:xfrm>
            <a:off x="1691640" y="1517904"/>
            <a:ext cx="2834640" cy="384048"/>
          </a:xfrm>
          <a:prstGeom prst="rect">
            <a:avLst/>
          </a:prstGeom>
          <a:noFill/>
          <a:ln/>
        </p:spPr>
        <p:txBody>
          <a:bodyPr wrap="square" lIns="0" tIns="0" rIns="0" bIns="0" rtlCol="0" anchor="ct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Things, plurals, in/on/under</a:t>
            </a:r>
            <a:endParaRPr lang="en-US" sz="1250" dirty="0"/>
          </a:p>
        </p:txBody>
      </p:sp>
      <p:sp>
        <p:nvSpPr>
          <p:cNvPr id="9" name="cd_7"/>
          <p:cNvSpPr/>
          <p:nvPr/>
        </p:nvSpPr>
        <p:spPr>
          <a:xfrm>
            <a:off x="365760" y="2148840"/>
            <a:ext cx="4206240" cy="1691640"/>
          </a:xfrm>
          <a:prstGeom prst="roundRect">
            <a:avLst>
              <a:gd name="adj" fmla="val 7568"/>
            </a:avLst>
          </a:prstGeom>
          <a:solidFill>
            <a:srgbClr val="E3F1FD"/>
          </a:solidFill>
          <a:ln w="19050">
            <a:solidFill>
              <a:srgbClr val="A9D3F5"/>
            </a:solidFill>
            <a:prstDash val="solid"/>
          </a:ln>
          <a:effectLst>
            <a:outerShdw sx="100000" sy="100000" kx="0" ky="0" algn="bl" rotWithShape="0" blurRad="88900" dist="31750" dir="5400000">
              <a:srgbClr val="1B2559">
                <a:alpha val="12000"/>
              </a:srgbClr>
            </a:outerShdw>
          </a:effectLst>
        </p:spPr>
      </p:sp>
      <p:sp>
        <p:nvSpPr>
          <p:cNvPr id="10" name="ii_8"/>
          <p:cNvSpPr/>
          <p:nvPr/>
        </p:nvSpPr>
        <p:spPr>
          <a:xfrm>
            <a:off x="457200" y="222199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1" name="ih_9"/>
          <p:cNvSpPr/>
          <p:nvPr/>
        </p:nvSpPr>
        <p:spPr>
          <a:xfrm>
            <a:off x="932688" y="2240280"/>
            <a:ext cx="3566160" cy="365760"/>
          </a:xfrm>
          <a:prstGeom prst="rect">
            <a:avLst/>
          </a:prstGeom>
          <a:noFill/>
          <a:ln/>
        </p:spPr>
        <p:txBody>
          <a:bodyPr wrap="square" lIns="0" tIns="0" rIns="0" bIns="0" rtlCol="0" anchor="ctr"/>
          <a:lstStyle/>
          <a:p>
            <a:pPr indent="0" marL="0">
              <a:buNone/>
            </a:pPr>
            <a:r>
              <a:rPr lang="en-US" sz="1600" dirty="0">
                <a:solidFill>
                  <a:srgbClr val="1B2559"/>
                </a:solidFill>
                <a:latin typeface="Arial Rounded MT Bold" pitchFamily="34" charset="0"/>
                <a:ea typeface="Arial Rounded MT Bold" pitchFamily="34" charset="-122"/>
                <a:cs typeface="Arial Rounded MT Bold" pitchFamily="34" charset="-120"/>
              </a:rPr>
              <a:t>Today you're going to…</a:t>
            </a:r>
            <a:endParaRPr lang="en-US" sz="1600" dirty="0"/>
          </a:p>
        </p:txBody>
      </p:sp>
      <p:sp>
        <p:nvSpPr>
          <p:cNvPr id="12" name="il_10"/>
          <p:cNvSpPr/>
          <p:nvPr/>
        </p:nvSpPr>
        <p:spPr>
          <a:xfrm>
            <a:off x="932688" y="2624328"/>
            <a:ext cx="3547872" cy="1143000"/>
          </a:xfrm>
          <a:prstGeom prst="rect">
            <a:avLst/>
          </a:prstGeom>
          <a:noFill/>
          <a:ln/>
        </p:spPr>
        <p:txBody>
          <a:bodyPr wrap="square" lIns="0" tIns="0" rIns="0" bIns="0" rtlCol="0" anchor="t">
            <a:normAutofit/>
          </a:bodyPr>
          <a:lstStyle/>
          <a:p>
            <a:pPr indent="0" marL="0">
              <a:spcAft>
                <a:spcPts val="200"/>
              </a:spcAft>
              <a:buNone/>
            </a:pPr>
            <a:r>
              <a:rPr lang="en-US" sz="1250" dirty="0">
                <a:solidFill>
                  <a:srgbClr val="1B2559"/>
                </a:solidFill>
                <a:latin typeface="Segoe UI" pitchFamily="34" charset="0"/>
                <a:ea typeface="Segoe UI" pitchFamily="34" charset="-122"/>
                <a:cs typeface="Segoe UI" pitchFamily="34" charset="-120"/>
              </a:rPr>
              <a:t>🔑  learn 6 everyday things</a:t>
            </a:r>
            <a:endParaRPr lang="en-US" sz="1250" dirty="0"/>
          </a:p>
          <a:p>
            <a:pPr indent="0" marL="0">
              <a:spcBef>
                <a:spcPts val="500"/>
              </a:spcBef>
              <a:spcAft>
                <a:spcPts val="200"/>
              </a:spcAft>
              <a:buNone/>
            </a:pPr>
            <a:r>
              <a:rPr lang="en-US" sz="1250" dirty="0">
                <a:solidFill>
                  <a:srgbClr val="1B2559"/>
                </a:solidFill>
                <a:latin typeface="Segoe UI" pitchFamily="34" charset="0"/>
                <a:ea typeface="Segoe UI" pitchFamily="34" charset="-122"/>
                <a:cs typeface="Segoe UI" pitchFamily="34" charset="-120"/>
              </a:rPr>
              <a:t>📖  tell a funny story: Where are Tom's keys?</a:t>
            </a:r>
            <a:endParaRPr lang="en-US" sz="1250" dirty="0"/>
          </a:p>
          <a:p>
            <a:pPr indent="0" marL="0">
              <a:spcBef>
                <a:spcPts val="500"/>
              </a:spcBef>
              <a:spcAft>
                <a:spcPts val="200"/>
              </a:spcAft>
              <a:buNone/>
            </a:pPr>
            <a:r>
              <a:rPr lang="en-US" sz="1250" dirty="0">
                <a:solidFill>
                  <a:srgbClr val="1B2559"/>
                </a:solidFill>
                <a:latin typeface="Segoe UI" pitchFamily="34" charset="0"/>
                <a:ea typeface="Segoe UI" pitchFamily="34" charset="-122"/>
                <a:cs typeface="Segoe UI" pitchFamily="34" charset="-120"/>
              </a:rPr>
              <a:t>🔊  say plurals: keys, glasses, watches</a:t>
            </a:r>
            <a:endParaRPr lang="en-US" sz="1250" dirty="0"/>
          </a:p>
          <a:p>
            <a:pPr indent="0" marL="0">
              <a:spcBef>
                <a:spcPts val="500"/>
              </a:spcBef>
              <a:spcAft>
                <a:spcPts val="200"/>
              </a:spcAft>
              <a:buNone/>
            </a:pPr>
            <a:r>
              <a:rPr lang="en-US" sz="1250" dirty="0">
                <a:solidFill>
                  <a:srgbClr val="1B2559"/>
                </a:solidFill>
                <a:latin typeface="Segoe UI" pitchFamily="34" charset="0"/>
                <a:ea typeface="Segoe UI" pitchFamily="34" charset="-122"/>
                <a:cs typeface="Segoe UI" pitchFamily="34" charset="-120"/>
              </a:rPr>
              <a:t>📍  say where things are: in, on, under</a:t>
            </a:r>
            <a:endParaRPr lang="en-US" sz="1250" dirty="0"/>
          </a:p>
        </p:txBody>
      </p:sp>
      <p:sp>
        <p:nvSpPr>
          <p:cNvPr id="13" name="R1_ex11"/>
          <p:cNvSpPr/>
          <p:nvPr/>
        </p:nvSpPr>
        <p:spPr>
          <a:xfrm>
            <a:off x="365760" y="3950208"/>
            <a:ext cx="4206240" cy="603504"/>
          </a:xfrm>
          <a:prstGeom prst="roundRect">
            <a:avLst>
              <a:gd name="adj" fmla="val 18182"/>
            </a:avLst>
          </a:prstGeom>
          <a:solidFill>
            <a:srgbClr val="FFF6CC"/>
          </a:solidFill>
          <a:ln w="19050">
            <a:solidFill>
              <a:srgbClr val="FFE07A"/>
            </a:solidFill>
          </a:ln>
        </p:spPr>
        <p:txBody>
          <a:bodyPr wrap="square" lIns="152400" tIns="25400" rIns="152400" bIns="25400" rtlCol="0" anchor="ctr">
            <a:normAutofit/>
          </a:bodyPr>
          <a:lstStyle/>
          <a:p>
            <a:pPr indent="0" marL="0">
              <a:buNone/>
            </a:pPr>
            <a:r>
              <a:rPr lang="en-US" sz="1000" dirty="0">
                <a:solidFill>
                  <a:srgbClr val="E8508F"/>
                </a:solidFill>
                <a:latin typeface="Segoe UI Black" pitchFamily="34" charset="0"/>
                <a:ea typeface="Segoe UI Black" pitchFamily="34" charset="-122"/>
                <a:cs typeface="Segoe UI Black" pitchFamily="34" charset="-120"/>
              </a:rPr>
              <a:t>EXAMPLE  </a:t>
            </a:r>
            <a:pPr indent="0" marL="0">
              <a:buNone/>
            </a:pPr>
            <a:r>
              <a:rPr lang="en-US" sz="1300" i="1" dirty="0">
                <a:solidFill>
                  <a:srgbClr val="1B2559"/>
                </a:solidFill>
                <a:latin typeface="Segoe UI Semibold" pitchFamily="34" charset="0"/>
                <a:ea typeface="Segoe UI Semibold" pitchFamily="34" charset="-122"/>
                <a:cs typeface="Segoe UI Semibold" pitchFamily="34" charset="-120"/>
              </a:rPr>
              <a:t>Room B! My desk is very untidy – there are papers everywhere.</a:t>
            </a:r>
            <a:endParaRPr lang="en-US" sz="1000" dirty="0"/>
          </a:p>
        </p:txBody>
      </p:sp>
      <p:sp>
        <p:nvSpPr>
          <p:cNvPr id="14" name="pf_12"/>
          <p:cNvSpPr/>
          <p:nvPr/>
        </p:nvSpPr>
        <p:spPr>
          <a:xfrm rot="90000">
            <a:off x="4846320" y="777240"/>
            <a:ext cx="3977640" cy="3200400"/>
          </a:xfrm>
          <a:prstGeom prst="roundRect">
            <a:avLst>
              <a:gd name="adj" fmla="val 4857"/>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5" name="ph_13" descr="/home/claude/lls-course/v2/cache/red_2a_rooms_jpg_935x748_31.png">    </p:cNvPr>
          <p:cNvPicPr>
            <a:picLocks noChangeAspect="1"/>
          </p:cNvPicPr>
          <p:nvPr/>
        </p:nvPicPr>
        <p:blipFill>
          <a:blip r:embed="rId4"/>
          <a:stretch>
            <a:fillRect/>
          </a:stretch>
        </p:blipFill>
        <p:spPr>
          <a:xfrm rot="90000">
            <a:off x="4892040" y="822960"/>
            <a:ext cx="3886200" cy="3108960"/>
          </a:xfrm>
          <a:prstGeom prst="rect">
            <a:avLst/>
          </a:prstGeom>
        </p:spPr>
      </p:pic>
      <p:sp>
        <p:nvSpPr>
          <p:cNvPr id="16" name="bb_14"/>
          <p:cNvSpPr/>
          <p:nvPr/>
        </p:nvSpPr>
        <p:spPr>
          <a:xfrm>
            <a:off x="5120640" y="3611880"/>
            <a:ext cx="3566160" cy="822960"/>
          </a:xfrm>
          <a:prstGeom prst="wedgeRoundRectCallout">
            <a:avLst/>
          </a:prstGeom>
          <a:solidFill>
            <a:srgbClr val="FFFFFF"/>
          </a:solidFill>
          <a:ln w="25400">
            <a:solidFill>
              <a:srgbClr val="F7A6C4"/>
            </a:solidFill>
          </a:ln>
          <a:effectLst>
            <a:outerShdw sx="100000" sy="100000" kx="0" ky="0" algn="bl" rotWithShape="0" blurRad="88900" dist="31750" dir="5400000">
              <a:srgbClr val="1B2559">
                <a:alpha val="10000"/>
              </a:srgbClr>
            </a:outerShdw>
          </a:effectLst>
        </p:spPr>
        <p:txBody>
          <a:bodyPr wrap="square" lIns="127000" tIns="50800" rIns="127000" bIns="50800" rtlCol="0" anchor="ctr">
            <a:normAutofit/>
          </a:bodyPr>
          <a:lstStyle/>
          <a:p>
            <a:pPr algn="ctr" indent="0" marL="0">
              <a:buNone/>
            </a:pPr>
            <a:r>
              <a:rPr lang="en-US" sz="1600" dirty="0">
                <a:solidFill>
                  <a:srgbClr val="1B2559"/>
                </a:solidFill>
                <a:latin typeface="Arial Rounded MT Bold" pitchFamily="34" charset="0"/>
                <a:ea typeface="Arial Rounded MT Bold" pitchFamily="34" charset="-122"/>
                <a:cs typeface="Arial Rounded MT Bold" pitchFamily="34" charset="-120"/>
              </a:rPr>
              <a:t>Room A or room B: which is more like YOUR desk?</a:t>
            </a:r>
            <a:endParaRPr lang="en-US" sz="1600" dirty="0"/>
          </a:p>
        </p:txBody>
      </p:sp>
      <p:sp>
        <p:nvSpPr>
          <p:cNvPr id="17" name="st_15"/>
          <p:cNvSpPr/>
          <p:nvPr/>
        </p:nvSpPr>
        <p:spPr>
          <a:xfrm rot="360000">
            <a:off x="7543800" y="502920"/>
            <a:ext cx="1325880" cy="384048"/>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950" dirty="0">
                <a:solidFill>
                  <a:srgbClr val="1B2559"/>
                </a:solidFill>
                <a:latin typeface="Arial Rounded MT Bold" pitchFamily="34" charset="0"/>
                <a:ea typeface="Arial Rounded MT Bold" pitchFamily="34" charset="-122"/>
                <a:cs typeface="Arial Rounded MT Bold" pitchFamily="34" charset="-120"/>
              </a:rPr>
              <a:t>💡 THINK · PENSA</a:t>
            </a:r>
            <a:endParaRPr lang="en-US" sz="950" dirty="0"/>
          </a:p>
        </p:txBody>
      </p:sp>
      <p:pic>
        <p:nvPicPr>
          <p:cNvPr id="18" name="logo_16" descr="/home/claude/lls-course/v2/img/logo.png">    </p:cNvPr>
          <p:cNvPicPr>
            <a:picLocks noChangeAspect="1"/>
          </p:cNvPicPr>
          <p:nvPr/>
        </p:nvPicPr>
        <p:blipFill>
          <a:blip r:embed="rId5"/>
          <a:stretch>
            <a:fillRect/>
          </a:stretch>
        </p:blipFill>
        <p:spPr>
          <a:xfrm>
            <a:off x="8485632" y="4526280"/>
            <a:ext cx="502920" cy="502920"/>
          </a:xfrm>
          <a:prstGeom prst="rect">
            <a:avLst/>
          </a:prstGeom>
        </p:spPr>
      </p:pic>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7"/>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2</a:t>
            </a:r>
            <a:endParaRPr lang="en-US" sz="2800" dirty="0"/>
          </a:p>
        </p:txBody>
      </p:sp>
      <p:pic>
        <p:nvPicPr>
          <p:cNvPr id="4" name="brY_18" descr="/home/claude/lls-course/v2/assets/brush-yellow.png">    </p:cNvPr>
          <p:cNvPicPr>
            <a:picLocks noChangeAspect="1"/>
          </p:cNvPicPr>
          <p:nvPr/>
        </p:nvPicPr>
        <p:blipFill>
          <a:blip r:embed="rId2"/>
          <a:stretch>
            <a:fillRect/>
          </a:stretch>
        </p:blipFill>
        <p:spPr>
          <a:xfrm>
            <a:off x="1097280" y="146304"/>
            <a:ext cx="3247949" cy="621792"/>
          </a:xfrm>
          <a:prstGeom prst="rect">
            <a:avLst/>
          </a:prstGeom>
        </p:spPr>
      </p:pic>
      <p:sp>
        <p:nvSpPr>
          <p:cNvPr id="5" name="title_19"/>
          <p:cNvSpPr/>
          <p:nvPr/>
        </p:nvSpPr>
        <p:spPr>
          <a:xfrm>
            <a:off x="1261872" y="164592"/>
            <a:ext cx="2973629"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Remember File 1?</a:t>
            </a:r>
            <a:endParaRPr lang="en-US" sz="2500" dirty="0"/>
          </a:p>
        </p:txBody>
      </p:sp>
      <p:pic>
        <p:nvPicPr>
          <p:cNvPr id="6" name="brP_20" descr="/home/claude/lls-course/v2/assets/brush-pink.png">    </p:cNvPr>
          <p:cNvPicPr>
            <a:picLocks noChangeAspect="1"/>
          </p:cNvPicPr>
          <p:nvPr/>
        </p:nvPicPr>
        <p:blipFill>
          <a:blip r:embed="rId3"/>
          <a:stretch>
            <a:fillRect/>
          </a:stretch>
        </p:blipFill>
        <p:spPr>
          <a:xfrm>
            <a:off x="1207008" y="731520"/>
            <a:ext cx="4988052" cy="402336"/>
          </a:xfrm>
          <a:prstGeom prst="rect">
            <a:avLst/>
          </a:prstGeom>
        </p:spPr>
      </p:pic>
      <p:sp>
        <p:nvSpPr>
          <p:cNvPr id="7" name="ins_21"/>
          <p:cNvSpPr/>
          <p:nvPr/>
        </p:nvSpPr>
        <p:spPr>
          <a:xfrm>
            <a:off x="1353312" y="731520"/>
            <a:ext cx="4732020"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Ask your partner the 3 questions in the pink box.</a:t>
            </a:r>
            <a:endParaRPr lang="en-US" sz="1250" dirty="0"/>
          </a:p>
        </p:txBody>
      </p:sp>
      <p:sp>
        <p:nvSpPr>
          <p:cNvPr id="8" name="insIT_22"/>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Fai al compagno le 3 domande del riquadro rosa.</a:t>
            </a:r>
            <a:endParaRPr lang="en-US" sz="950" dirty="0"/>
          </a:p>
        </p:txBody>
      </p:sp>
      <p:sp>
        <p:nvSpPr>
          <p:cNvPr id="9" name="cmd_23"/>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THINK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PENSA</a:t>
            </a:r>
            <a:endParaRPr lang="en-US" sz="1100" dirty="0"/>
          </a:p>
        </p:txBody>
      </p:sp>
      <p:sp>
        <p:nvSpPr>
          <p:cNvPr id="10" name="meta_24"/>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2 min   👥 pairs</a:t>
            </a:r>
            <a:endParaRPr lang="en-US" sz="950" dirty="0"/>
          </a:p>
        </p:txBody>
      </p:sp>
      <p:sp>
        <p:nvSpPr>
          <p:cNvPr id="11" name="tag_25"/>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Revision</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Retrieval</a:t>
            </a:r>
            <a:endParaRPr lang="en-US" sz="850" dirty="0"/>
          </a:p>
        </p:txBody>
      </p:sp>
      <p:pic>
        <p:nvPicPr>
          <p:cNvPr id="12" name="logo_26"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27"/>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2A · Revision · File 1</a:t>
            </a:r>
            <a:endParaRPr lang="en-US" sz="800" dirty="0"/>
          </a:p>
        </p:txBody>
      </p:sp>
      <p:sp>
        <p:nvSpPr>
          <p:cNvPr id="14" name="pf_28"/>
          <p:cNvSpPr/>
          <p:nvPr/>
        </p:nvSpPr>
        <p:spPr>
          <a:xfrm rot="-120000">
            <a:off x="365760" y="1371600"/>
            <a:ext cx="2651760" cy="1828800"/>
          </a:xfrm>
          <a:prstGeom prst="roundRect">
            <a:avLst>
              <a:gd name="adj" fmla="val 850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5" name="ph_29" descr="/home/claude/lls-course/v2/cache/red_2a_tidy_jpg_616x418_31.png">    </p:cNvPr>
          <p:cNvPicPr>
            <a:picLocks noChangeAspect="1"/>
          </p:cNvPicPr>
          <p:nvPr/>
        </p:nvPicPr>
        <p:blipFill>
          <a:blip r:embed="rId5"/>
          <a:stretch>
            <a:fillRect/>
          </a:stretch>
        </p:blipFill>
        <p:spPr>
          <a:xfrm rot="-120000">
            <a:off x="411480" y="1417320"/>
            <a:ext cx="2560320" cy="1737360"/>
          </a:xfrm>
          <a:prstGeom prst="rect">
            <a:avLst/>
          </a:prstGeom>
        </p:spPr>
      </p:pic>
      <p:sp>
        <p:nvSpPr>
          <p:cNvPr id="16" name="cd_30"/>
          <p:cNvSpPr/>
          <p:nvPr/>
        </p:nvSpPr>
        <p:spPr>
          <a:xfrm>
            <a:off x="320040" y="3383280"/>
            <a:ext cx="2743200" cy="1325880"/>
          </a:xfrm>
          <a:prstGeom prst="roundRect">
            <a:avLst>
              <a:gd name="adj" fmla="val 9655"/>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7" name="ii_31"/>
          <p:cNvSpPr/>
          <p:nvPr/>
        </p:nvSpPr>
        <p:spPr>
          <a:xfrm>
            <a:off x="411480" y="345643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8" name="ih_32"/>
          <p:cNvSpPr/>
          <p:nvPr/>
        </p:nvSpPr>
        <p:spPr>
          <a:xfrm>
            <a:off x="886968" y="3474720"/>
            <a:ext cx="210312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Last lesson…</a:t>
            </a:r>
            <a:endParaRPr lang="en-US" sz="1300" dirty="0"/>
          </a:p>
        </p:txBody>
      </p:sp>
      <p:sp>
        <p:nvSpPr>
          <p:cNvPr id="19" name="il_33"/>
          <p:cNvSpPr/>
          <p:nvPr/>
        </p:nvSpPr>
        <p:spPr>
          <a:xfrm>
            <a:off x="886968" y="3858768"/>
            <a:ext cx="2084832" cy="77724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100" dirty="0">
                <a:solidFill>
                  <a:srgbClr val="1B2559"/>
                </a:solidFill>
                <a:latin typeface="Segoe UI" pitchFamily="34" charset="0"/>
                <a:ea typeface="Segoe UI" pitchFamily="34" charset="-122"/>
                <a:cs typeface="Segoe UI" pitchFamily="34" charset="-120"/>
              </a:rPr>
              <a:t>File 1: be, questions, the alphabet</a:t>
            </a:r>
            <a:endParaRPr lang="en-US" sz="1100" dirty="0"/>
          </a:p>
          <a:p>
            <a:pPr marL="152400" indent="-152400">
              <a:spcBef>
                <a:spcPts val="500"/>
              </a:spcBef>
              <a:spcAft>
                <a:spcPts val="200"/>
              </a:spcAft>
              <a:buSzPct val="100000"/>
              <a:buChar char="•"/>
            </a:pPr>
            <a:r>
              <a:rPr lang="en-US" sz="1100" dirty="0">
                <a:solidFill>
                  <a:srgbClr val="1B2559"/>
                </a:solidFill>
                <a:latin typeface="Segoe UI" pitchFamily="34" charset="0"/>
                <a:ea typeface="Segoe UI" pitchFamily="34" charset="-122"/>
                <a:cs typeface="Segoe UI" pitchFamily="34" charset="-120"/>
              </a:rPr>
              <a:t>classroom language</a:t>
            </a:r>
            <a:endParaRPr lang="en-US" sz="1100" dirty="0"/>
          </a:p>
        </p:txBody>
      </p:sp>
      <p:sp>
        <p:nvSpPr>
          <p:cNvPr id="20" name="cd_34"/>
          <p:cNvSpPr/>
          <p:nvPr/>
        </p:nvSpPr>
        <p:spPr>
          <a:xfrm>
            <a:off x="3246120" y="1417320"/>
            <a:ext cx="2788920" cy="2331720"/>
          </a:xfrm>
          <a:prstGeom prst="roundRect">
            <a:avLst>
              <a:gd name="adj" fmla="val 5490"/>
            </a:avLst>
          </a:prstGeom>
          <a:solidFill>
            <a:srgbClr val="FFFFFF"/>
          </a:solidFill>
          <a:ln w="25400">
            <a:solidFill>
              <a:srgbClr val="F7A6C4"/>
            </a:solidFill>
            <a:prstDash val="solid"/>
          </a:ln>
          <a:effectLst>
            <a:outerShdw sx="100000" sy="100000" kx="0" ky="0" algn="bl" rotWithShape="0" blurRad="88900" dist="31750" dir="5400000">
              <a:srgbClr val="1B2559">
                <a:alpha val="12000"/>
              </a:srgbClr>
            </a:outerShdw>
          </a:effectLst>
        </p:spPr>
      </p:sp>
      <p:sp>
        <p:nvSpPr>
          <p:cNvPr id="21" name="rh_35"/>
          <p:cNvSpPr/>
          <p:nvPr/>
        </p:nvSpPr>
        <p:spPr>
          <a:xfrm>
            <a:off x="3355848" y="1508760"/>
            <a:ext cx="2569464" cy="347472"/>
          </a:xfrm>
          <a:prstGeom prst="roundRect">
            <a:avLst>
              <a:gd name="adj" fmla="val 50000"/>
            </a:avLst>
          </a:prstGeom>
          <a:solidFill>
            <a:srgbClr val="E8508F"/>
          </a:solidFill>
          <a:ln/>
        </p:spPr>
        <p:txBody>
          <a:bodyPr wrap="square" lIns="0" tIns="0" rIns="0" bIns="0" rtlCol="0" anchor="ctr">
            <a:normAutofit/>
          </a:bodyPr>
          <a:lstStyle/>
          <a:p>
            <a:pPr algn="ctr" indent="0" marL="0">
              <a:buNone/>
            </a:pPr>
            <a:r>
              <a:rPr lang="en-US" sz="1200" dirty="0">
                <a:solidFill>
                  <a:srgbClr val="FFFFFF"/>
                </a:solidFill>
                <a:latin typeface="Arial Rounded MT Bold" pitchFamily="34" charset="0"/>
                <a:ea typeface="Arial Rounded MT Bold" pitchFamily="34" charset="-122"/>
                <a:cs typeface="Arial Rounded MT Bold" pitchFamily="34" charset="-120"/>
              </a:rPr>
              <a:t>Ask your partner</a:t>
            </a:r>
            <a:endParaRPr lang="en-US" sz="1200" dirty="0"/>
          </a:p>
        </p:txBody>
      </p:sp>
      <p:sp>
        <p:nvSpPr>
          <p:cNvPr id="22" name="rl_36"/>
          <p:cNvSpPr/>
          <p:nvPr/>
        </p:nvSpPr>
        <p:spPr>
          <a:xfrm>
            <a:off x="3383280" y="1920240"/>
            <a:ext cx="2514600" cy="1737360"/>
          </a:xfrm>
          <a:prstGeom prst="rect">
            <a:avLst/>
          </a:prstGeom>
          <a:noFill/>
          <a:ln/>
        </p:spPr>
        <p:txBody>
          <a:bodyPr wrap="square" lIns="0" tIns="0" rIns="0" bIns="0" rtlCol="0" anchor="t">
            <a:normAutofit/>
          </a:bodyPr>
          <a:lstStyle/>
          <a:p>
            <a:pPr indent="0" marL="0">
              <a:spcAft>
                <a:spcPts val="400"/>
              </a:spcAft>
              <a:buNone/>
            </a:pPr>
            <a:r>
              <a:rPr lang="en-US" sz="1150" dirty="0">
                <a:solidFill>
                  <a:srgbClr val="1B2559"/>
                </a:solidFill>
                <a:latin typeface="Segoe UI Semibold" pitchFamily="34" charset="0"/>
                <a:ea typeface="Segoe UI Semibold" pitchFamily="34" charset="-122"/>
                <a:cs typeface="Segoe UI Semibold" pitchFamily="34" charset="-120"/>
              </a:rPr>
              <a:t>What's your name? – </a:t>
            </a:r>
            <a:pPr indent="0" marL="0">
              <a:spcAft>
                <a:spcPts val="400"/>
              </a:spcAft>
              <a:buNone/>
            </a:pPr>
            <a:r>
              <a:rPr lang="en-US" sz="1150" b="1" dirty="0">
                <a:solidFill>
                  <a:srgbClr val="E8508F"/>
                </a:solidFill>
                <a:highlight>
                  <a:srgbClr val="FFF1A8"/>
                </a:highlight>
                <a:latin typeface="Segoe UI Semibold" pitchFamily="34" charset="0"/>
                <a:ea typeface="Segoe UI Semibold" pitchFamily="34" charset="-122"/>
                <a:cs typeface="Segoe UI Semibold" pitchFamily="34" charset="-120"/>
              </a:rPr>
              <a:t>My name's</a:t>
            </a:r>
            <a:pPr indent="0" marL="0">
              <a:spcAft>
                <a:spcPts val="400"/>
              </a:spcAft>
              <a:buNone/>
            </a:pPr>
            <a:r>
              <a:rPr lang="en-US" sz="1150" dirty="0">
                <a:solidFill>
                  <a:srgbClr val="1B2559"/>
                </a:solidFill>
                <a:latin typeface="Segoe UI Semibold" pitchFamily="34" charset="0"/>
                <a:ea typeface="Segoe UI Semibold" pitchFamily="34" charset="-122"/>
                <a:cs typeface="Segoe UI Semibold" pitchFamily="34" charset="-120"/>
              </a:rPr>
              <a:t> Anna.</a:t>
            </a:r>
            <a:endParaRPr lang="en-US" sz="1150" dirty="0"/>
          </a:p>
          <a:p>
            <a:pPr indent="0" marL="0">
              <a:spcAft>
                <a:spcPts val="400"/>
              </a:spcAft>
              <a:buNone/>
            </a:pPr>
            <a:r>
              <a:rPr lang="en-US" sz="1150" dirty="0">
                <a:solidFill>
                  <a:srgbClr val="1B2559"/>
                </a:solidFill>
                <a:latin typeface="Segoe UI Semibold" pitchFamily="34" charset="0"/>
                <a:ea typeface="Segoe UI Semibold" pitchFamily="34" charset="-122"/>
                <a:cs typeface="Segoe UI Semibold" pitchFamily="34" charset="-120"/>
              </a:rPr>
              <a:t>Where </a:t>
            </a:r>
            <a:pPr indent="0" marL="0">
              <a:spcAft>
                <a:spcPts val="400"/>
              </a:spcAft>
              <a:buNone/>
            </a:pPr>
            <a:r>
              <a:rPr lang="en-US" sz="1150" b="1" dirty="0">
                <a:solidFill>
                  <a:srgbClr val="E8508F"/>
                </a:solidFill>
                <a:highlight>
                  <a:srgbClr val="FFF1A8"/>
                </a:highlight>
                <a:latin typeface="Segoe UI Semibold" pitchFamily="34" charset="0"/>
                <a:ea typeface="Segoe UI Semibold" pitchFamily="34" charset="-122"/>
                <a:cs typeface="Segoe UI Semibold" pitchFamily="34" charset="-120"/>
              </a:rPr>
              <a:t>are</a:t>
            </a:r>
            <a:pPr indent="0" marL="0">
              <a:spcAft>
                <a:spcPts val="400"/>
              </a:spcAft>
              <a:buNone/>
            </a:pPr>
            <a:r>
              <a:rPr lang="en-US" sz="1150" dirty="0">
                <a:solidFill>
                  <a:srgbClr val="1B2559"/>
                </a:solidFill>
                <a:latin typeface="Segoe UI Semibold" pitchFamily="34" charset="0"/>
                <a:ea typeface="Segoe UI Semibold" pitchFamily="34" charset="-122"/>
                <a:cs typeface="Segoe UI Semibold" pitchFamily="34" charset="-120"/>
              </a:rPr>
              <a:t> you from? – </a:t>
            </a:r>
            <a:pPr indent="0" marL="0">
              <a:spcAft>
                <a:spcPts val="400"/>
              </a:spcAft>
              <a:buNone/>
            </a:pPr>
            <a:r>
              <a:rPr lang="en-US" sz="1150" b="1" dirty="0">
                <a:solidFill>
                  <a:srgbClr val="E8508F"/>
                </a:solidFill>
                <a:highlight>
                  <a:srgbClr val="FFF1A8"/>
                </a:highlight>
                <a:latin typeface="Segoe UI Semibold" pitchFamily="34" charset="0"/>
                <a:ea typeface="Segoe UI Semibold" pitchFamily="34" charset="-122"/>
                <a:cs typeface="Segoe UI Semibold" pitchFamily="34" charset="-120"/>
              </a:rPr>
              <a:t>I'm</a:t>
            </a:r>
            <a:pPr indent="0" marL="0">
              <a:spcAft>
                <a:spcPts val="400"/>
              </a:spcAft>
              <a:buNone/>
            </a:pPr>
            <a:r>
              <a:rPr lang="en-US" sz="1150" dirty="0">
                <a:solidFill>
                  <a:srgbClr val="1B2559"/>
                </a:solidFill>
                <a:latin typeface="Segoe UI Semibold" pitchFamily="34" charset="0"/>
                <a:ea typeface="Segoe UI Semibold" pitchFamily="34" charset="-122"/>
                <a:cs typeface="Segoe UI Semibold" pitchFamily="34" charset="-120"/>
              </a:rPr>
              <a:t> from Bagheria.</a:t>
            </a:r>
            <a:endParaRPr lang="en-US" sz="1150" dirty="0"/>
          </a:p>
          <a:p>
            <a:pPr indent="0" marL="0">
              <a:spcAft>
                <a:spcPts val="400"/>
              </a:spcAft>
              <a:buNone/>
            </a:pPr>
            <a:r>
              <a:rPr lang="en-US" sz="1150" dirty="0">
                <a:solidFill>
                  <a:srgbClr val="1B2559"/>
                </a:solidFill>
                <a:latin typeface="Segoe UI Semibold" pitchFamily="34" charset="0"/>
                <a:ea typeface="Segoe UI Semibold" pitchFamily="34" charset="-122"/>
                <a:cs typeface="Segoe UI Semibold" pitchFamily="34" charset="-120"/>
              </a:rPr>
              <a:t>How do you spell your surname? – B-I-…</a:t>
            </a:r>
            <a:endParaRPr lang="en-US" sz="1150" dirty="0"/>
          </a:p>
        </p:txBody>
      </p:sp>
      <p:sp>
        <p:nvSpPr>
          <p:cNvPr id="23" name="cd_37"/>
          <p:cNvSpPr/>
          <p:nvPr/>
        </p:nvSpPr>
        <p:spPr>
          <a:xfrm>
            <a:off x="6126480" y="1417320"/>
            <a:ext cx="2788920" cy="2331720"/>
          </a:xfrm>
          <a:prstGeom prst="roundRect">
            <a:avLst>
              <a:gd name="adj" fmla="val 5490"/>
            </a:avLst>
          </a:prstGeom>
          <a:solidFill>
            <a:srgbClr val="FFFFFF"/>
          </a:solidFill>
          <a:ln w="25400">
            <a:solidFill>
              <a:srgbClr val="A9D3F5"/>
            </a:solidFill>
            <a:prstDash val="solid"/>
          </a:ln>
          <a:effectLst>
            <a:outerShdw sx="100000" sy="100000" kx="0" ky="0" algn="bl" rotWithShape="0" blurRad="88900" dist="31750" dir="5400000">
              <a:srgbClr val="1B2559">
                <a:alpha val="12000"/>
              </a:srgbClr>
            </a:outerShdw>
          </a:effectLst>
        </p:spPr>
      </p:sp>
      <p:sp>
        <p:nvSpPr>
          <p:cNvPr id="24" name="rh_38"/>
          <p:cNvSpPr/>
          <p:nvPr/>
        </p:nvSpPr>
        <p:spPr>
          <a:xfrm>
            <a:off x="6236208" y="1508760"/>
            <a:ext cx="2569464" cy="347472"/>
          </a:xfrm>
          <a:prstGeom prst="roundRect">
            <a:avLst>
              <a:gd name="adj" fmla="val 50000"/>
            </a:avLst>
          </a:prstGeom>
          <a:solidFill>
            <a:srgbClr val="2F8DE4"/>
          </a:solidFill>
          <a:ln/>
        </p:spPr>
        <p:txBody>
          <a:bodyPr wrap="square" lIns="0" tIns="0" rIns="0" bIns="0" rtlCol="0" anchor="ctr">
            <a:normAutofit/>
          </a:bodyPr>
          <a:lstStyle/>
          <a:p>
            <a:pPr algn="ctr" indent="0" marL="0">
              <a:buNone/>
            </a:pPr>
            <a:r>
              <a:rPr lang="en-US" sz="1200" dirty="0">
                <a:solidFill>
                  <a:srgbClr val="FFFFFF"/>
                </a:solidFill>
                <a:latin typeface="Arial Rounded MT Bold" pitchFamily="34" charset="0"/>
                <a:ea typeface="Arial Rounded MT Bold" pitchFamily="34" charset="-122"/>
                <a:cs typeface="Arial Rounded MT Bold" pitchFamily="34" charset="-120"/>
              </a:rPr>
              <a:t>In the classroom</a:t>
            </a:r>
            <a:endParaRPr lang="en-US" sz="1200" dirty="0"/>
          </a:p>
        </p:txBody>
      </p:sp>
      <p:sp>
        <p:nvSpPr>
          <p:cNvPr id="25" name="rl_39"/>
          <p:cNvSpPr/>
          <p:nvPr/>
        </p:nvSpPr>
        <p:spPr>
          <a:xfrm>
            <a:off x="6263640" y="1920240"/>
            <a:ext cx="2514600" cy="1737360"/>
          </a:xfrm>
          <a:prstGeom prst="rect">
            <a:avLst/>
          </a:prstGeom>
          <a:noFill/>
          <a:ln/>
        </p:spPr>
        <p:txBody>
          <a:bodyPr wrap="square" lIns="0" tIns="0" rIns="0" bIns="0" rtlCol="0" anchor="t">
            <a:normAutofit/>
          </a:bodyPr>
          <a:lstStyle/>
          <a:p>
            <a:pPr indent="0" marL="0">
              <a:spcAft>
                <a:spcPts val="400"/>
              </a:spcAft>
              <a:buNone/>
            </a:pPr>
            <a:r>
              <a:rPr lang="en-US" sz="1150" dirty="0">
                <a:solidFill>
                  <a:srgbClr val="1B2559"/>
                </a:solidFill>
                <a:latin typeface="Segoe UI Semibold" pitchFamily="34" charset="0"/>
                <a:ea typeface="Segoe UI Semibold" pitchFamily="34" charset="-122"/>
                <a:cs typeface="Segoe UI Semibold" pitchFamily="34" charset="-120"/>
              </a:rPr>
              <a:t>What's </a:t>
            </a:r>
            <a:pPr indent="0" marL="0">
              <a:spcAft>
                <a:spcPts val="400"/>
              </a:spcAft>
              <a:buNone/>
            </a:pPr>
            <a:r>
              <a:rPr lang="en-US" sz="1150" b="1" dirty="0">
                <a:solidFill>
                  <a:srgbClr val="2F8DE4"/>
                </a:solidFill>
                <a:highlight>
                  <a:srgbClr val="FFF1A8"/>
                </a:highlight>
                <a:latin typeface="Segoe UI Semibold" pitchFamily="34" charset="0"/>
                <a:ea typeface="Segoe UI Semibold" pitchFamily="34" charset="-122"/>
                <a:cs typeface="Segoe UI Semibold" pitchFamily="34" charset="-120"/>
              </a:rPr>
              <a:t>this</a:t>
            </a:r>
            <a:pPr indent="0" marL="0">
              <a:spcAft>
                <a:spcPts val="400"/>
              </a:spcAft>
              <a:buNone/>
            </a:pPr>
            <a:r>
              <a:rPr lang="en-US" sz="1150" dirty="0">
                <a:solidFill>
                  <a:srgbClr val="1B2559"/>
                </a:solidFill>
                <a:latin typeface="Segoe UI Semibold" pitchFamily="34" charset="0"/>
                <a:ea typeface="Segoe UI Semibold" pitchFamily="34" charset="-122"/>
                <a:cs typeface="Segoe UI Semibold" pitchFamily="34" charset="-120"/>
              </a:rPr>
              <a:t>? – It's a chair.</a:t>
            </a:r>
            <a:endParaRPr lang="en-US" sz="1150" dirty="0"/>
          </a:p>
          <a:p>
            <a:pPr indent="0" marL="0">
              <a:spcAft>
                <a:spcPts val="400"/>
              </a:spcAft>
              <a:buNone/>
            </a:pPr>
            <a:r>
              <a:rPr lang="en-US" sz="1150" dirty="0">
                <a:solidFill>
                  <a:srgbClr val="1B2559"/>
                </a:solidFill>
                <a:latin typeface="Segoe UI Semibold" pitchFamily="34" charset="0"/>
                <a:ea typeface="Segoe UI Semibold" pitchFamily="34" charset="-122"/>
                <a:cs typeface="Segoe UI Semibold" pitchFamily="34" charset="-120"/>
              </a:rPr>
              <a:t>What's </a:t>
            </a:r>
            <a:pPr indent="0" marL="0">
              <a:spcAft>
                <a:spcPts val="400"/>
              </a:spcAft>
              <a:buNone/>
            </a:pPr>
            <a:r>
              <a:rPr lang="en-US" sz="1150" b="1" dirty="0">
                <a:solidFill>
                  <a:srgbClr val="2F8DE4"/>
                </a:solidFill>
                <a:highlight>
                  <a:srgbClr val="FFF1A8"/>
                </a:highlight>
                <a:latin typeface="Segoe UI Semibold" pitchFamily="34" charset="0"/>
                <a:ea typeface="Segoe UI Semibold" pitchFamily="34" charset="-122"/>
                <a:cs typeface="Segoe UI Semibold" pitchFamily="34" charset="-120"/>
              </a:rPr>
              <a:t>that</a:t>
            </a:r>
            <a:pPr indent="0" marL="0">
              <a:spcAft>
                <a:spcPts val="400"/>
              </a:spcAft>
              <a:buNone/>
            </a:pPr>
            <a:r>
              <a:rPr lang="en-US" sz="1150" dirty="0">
                <a:solidFill>
                  <a:srgbClr val="1B2559"/>
                </a:solidFill>
                <a:latin typeface="Segoe UI Semibold" pitchFamily="34" charset="0"/>
                <a:ea typeface="Segoe UI Semibold" pitchFamily="34" charset="-122"/>
                <a:cs typeface="Segoe UI Semibold" pitchFamily="34" charset="-120"/>
              </a:rPr>
              <a:t>? – It's a window.</a:t>
            </a:r>
            <a:endParaRPr lang="en-US" sz="1150" dirty="0"/>
          </a:p>
          <a:p>
            <a:pPr indent="0" marL="0">
              <a:spcAft>
                <a:spcPts val="400"/>
              </a:spcAft>
              <a:buNone/>
            </a:pPr>
            <a:r>
              <a:rPr lang="en-US" sz="1150" dirty="0">
                <a:solidFill>
                  <a:srgbClr val="1B2559"/>
                </a:solidFill>
                <a:latin typeface="Segoe UI Semibold" pitchFamily="34" charset="0"/>
                <a:ea typeface="Segoe UI Semibold" pitchFamily="34" charset="-122"/>
                <a:cs typeface="Segoe UI Semibold" pitchFamily="34" charset="-120"/>
              </a:rPr>
              <a:t>Sorry I'm late. · What page is it?</a:t>
            </a:r>
            <a:endParaRPr lang="en-US" sz="1150" dirty="0"/>
          </a:p>
        </p:txBody>
      </p:sp>
      <p:sp>
        <p:nvSpPr>
          <p:cNvPr id="26" name="kw_40"/>
          <p:cNvSpPr/>
          <p:nvPr/>
        </p:nvSpPr>
        <p:spPr>
          <a:xfrm>
            <a:off x="3246120" y="3867912"/>
            <a:ext cx="2743200" cy="274320"/>
          </a:xfrm>
          <a:prstGeom prst="rect">
            <a:avLst/>
          </a:prstGeom>
          <a:noFill/>
          <a:ln/>
        </p:spPr>
        <p:txBody>
          <a:bodyPr wrap="square" lIns="0" tIns="0" rIns="0" bIns="0" rtlCol="0" anchor="ctr"/>
          <a:lstStyle/>
          <a:p>
            <a:pPr indent="0" marL="0">
              <a:buNone/>
            </a:pPr>
            <a:r>
              <a:rPr lang="en-US" sz="1100" dirty="0">
                <a:solidFill>
                  <a:srgbClr val="1B2559"/>
                </a:solidFill>
                <a:latin typeface="Arial Rounded MT Bold" pitchFamily="34" charset="0"/>
                <a:ea typeface="Arial Rounded MT Bold" pitchFamily="34" charset="-122"/>
                <a:cs typeface="Arial Rounded MT Bold" pitchFamily="34" charset="-120"/>
              </a:rPr>
              <a:t>🔤 KEY WORDS</a:t>
            </a:r>
            <a:endParaRPr lang="en-US" sz="1100" dirty="0"/>
          </a:p>
        </p:txBody>
      </p:sp>
      <p:sp>
        <p:nvSpPr>
          <p:cNvPr id="27" name="w_41"/>
          <p:cNvSpPr/>
          <p:nvPr/>
        </p:nvSpPr>
        <p:spPr>
          <a:xfrm>
            <a:off x="3246120" y="4178808"/>
            <a:ext cx="708660" cy="310896"/>
          </a:xfrm>
          <a:prstGeom prst="roundRect">
            <a:avLst>
              <a:gd name="adj" fmla="val 50000"/>
            </a:avLst>
          </a:prstGeom>
          <a:solidFill>
            <a:srgbClr val="FFE3EE"/>
          </a:solidFill>
          <a:ln>
            <a:solidFill>
              <a:srgbClr val="F7A6C4"/>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board</a:t>
            </a:r>
            <a:endParaRPr lang="en-US" sz="1050" dirty="0"/>
          </a:p>
        </p:txBody>
      </p:sp>
      <p:sp>
        <p:nvSpPr>
          <p:cNvPr id="28" name="w_42"/>
          <p:cNvSpPr/>
          <p:nvPr/>
        </p:nvSpPr>
        <p:spPr>
          <a:xfrm>
            <a:off x="4027932" y="4178808"/>
            <a:ext cx="708660" cy="310896"/>
          </a:xfrm>
          <a:prstGeom prst="roundRect">
            <a:avLst>
              <a:gd name="adj" fmla="val 50000"/>
            </a:avLst>
          </a:prstGeom>
          <a:solidFill>
            <a:srgbClr val="E3F1FD"/>
          </a:solidFill>
          <a:ln>
            <a:solidFill>
              <a:srgbClr val="A9D3F5"/>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chair</a:t>
            </a:r>
            <a:endParaRPr lang="en-US" sz="1050" dirty="0"/>
          </a:p>
        </p:txBody>
      </p:sp>
      <p:sp>
        <p:nvSpPr>
          <p:cNvPr id="29" name="w_43"/>
          <p:cNvSpPr/>
          <p:nvPr/>
        </p:nvSpPr>
        <p:spPr>
          <a:xfrm>
            <a:off x="4809744" y="4178808"/>
            <a:ext cx="630936" cy="310896"/>
          </a:xfrm>
          <a:prstGeom prst="roundRect">
            <a:avLst>
              <a:gd name="adj" fmla="val 50000"/>
            </a:avLst>
          </a:prstGeom>
          <a:solidFill>
            <a:srgbClr val="E3F7EA"/>
          </a:solidFill>
          <a:ln>
            <a:solidFill>
              <a:srgbClr val="A8E5BE"/>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desk</a:t>
            </a:r>
            <a:endParaRPr lang="en-US" sz="1050" dirty="0"/>
          </a:p>
        </p:txBody>
      </p:sp>
      <p:sp>
        <p:nvSpPr>
          <p:cNvPr id="30" name="w_44"/>
          <p:cNvSpPr/>
          <p:nvPr/>
        </p:nvSpPr>
        <p:spPr>
          <a:xfrm>
            <a:off x="5513832" y="4178808"/>
            <a:ext cx="630936" cy="310896"/>
          </a:xfrm>
          <a:prstGeom prst="roundRect">
            <a:avLst>
              <a:gd name="adj" fmla="val 50000"/>
            </a:avLst>
          </a:prstGeom>
          <a:solidFill>
            <a:srgbClr val="FFF6CC"/>
          </a:solidFill>
          <a:ln>
            <a:solidFill>
              <a:srgbClr val="FFE07A"/>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door</a:t>
            </a:r>
            <a:endParaRPr lang="en-US" sz="1050" dirty="0"/>
          </a:p>
        </p:txBody>
      </p:sp>
      <p:sp>
        <p:nvSpPr>
          <p:cNvPr id="31" name="w_45"/>
          <p:cNvSpPr/>
          <p:nvPr/>
        </p:nvSpPr>
        <p:spPr>
          <a:xfrm>
            <a:off x="6217920" y="4178808"/>
            <a:ext cx="786384" cy="310896"/>
          </a:xfrm>
          <a:prstGeom prst="roundRect">
            <a:avLst>
              <a:gd name="adj" fmla="val 50000"/>
            </a:avLst>
          </a:prstGeom>
          <a:solidFill>
            <a:srgbClr val="FFE3EE"/>
          </a:solidFill>
          <a:ln>
            <a:solidFill>
              <a:srgbClr val="F7A6C4"/>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window</a:t>
            </a:r>
            <a:endParaRPr lang="en-US" sz="1050" dirty="0"/>
          </a:p>
        </p:txBody>
      </p:sp>
      <p:sp>
        <p:nvSpPr>
          <p:cNvPr id="32" name="w_46"/>
          <p:cNvSpPr/>
          <p:nvPr/>
        </p:nvSpPr>
        <p:spPr>
          <a:xfrm>
            <a:off x="7077456" y="4178808"/>
            <a:ext cx="708660" cy="310896"/>
          </a:xfrm>
          <a:prstGeom prst="roundRect">
            <a:avLst>
              <a:gd name="adj" fmla="val 50000"/>
            </a:avLst>
          </a:prstGeom>
          <a:solidFill>
            <a:srgbClr val="E3F1FD"/>
          </a:solidFill>
          <a:ln>
            <a:solidFill>
              <a:srgbClr val="A9D3F5"/>
            </a:solidFill>
          </a:ln>
        </p:spPr>
        <p:txBody>
          <a:bodyPr wrap="square" lIns="0" tIns="0" rIns="0" bIns="0" rtlCol="0" anchor="ct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table</a:t>
            </a:r>
            <a:endParaRPr lang="en-US" sz="1050" dirty="0"/>
          </a:p>
        </p:txBody>
      </p:sp>
    </p:spTree>
  </p:cSld>
  <p:clrMapOvr>
    <a:masterClrMapping/>
  </p:clrMapOvr>
  <p:transition spd="med">
    <p:push dir="l"/>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47"/>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3</a:t>
            </a:r>
            <a:endParaRPr lang="en-US" sz="2800" dirty="0"/>
          </a:p>
        </p:txBody>
      </p:sp>
      <p:pic>
        <p:nvPicPr>
          <p:cNvPr id="4" name="brY_48" descr="/home/claude/lls-course/v2/assets/brush-yellow.png">    </p:cNvPr>
          <p:cNvPicPr>
            <a:picLocks noChangeAspect="1"/>
          </p:cNvPicPr>
          <p:nvPr/>
        </p:nvPicPr>
        <p:blipFill>
          <a:blip r:embed="rId2"/>
          <a:stretch>
            <a:fillRect/>
          </a:stretch>
        </p:blipFill>
        <p:spPr>
          <a:xfrm>
            <a:off x="1097280" y="146304"/>
            <a:ext cx="3719779" cy="621792"/>
          </a:xfrm>
          <a:prstGeom prst="rect">
            <a:avLst/>
          </a:prstGeom>
        </p:spPr>
      </p:pic>
      <p:sp>
        <p:nvSpPr>
          <p:cNvPr id="5" name="title_49"/>
          <p:cNvSpPr/>
          <p:nvPr/>
        </p:nvSpPr>
        <p:spPr>
          <a:xfrm>
            <a:off x="1261872" y="164592"/>
            <a:ext cx="3445459"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What's in YOUR bag?</a:t>
            </a:r>
            <a:endParaRPr lang="en-US" sz="2400" dirty="0"/>
          </a:p>
        </p:txBody>
      </p:sp>
      <p:pic>
        <p:nvPicPr>
          <p:cNvPr id="6" name="brP_50" descr="/home/claude/lls-course/v2/assets/brush-pink.png">    </p:cNvPr>
          <p:cNvPicPr>
            <a:picLocks noChangeAspect="1"/>
          </p:cNvPicPr>
          <p:nvPr/>
        </p:nvPicPr>
        <p:blipFill>
          <a:blip r:embed="rId3"/>
          <a:stretch>
            <a:fillRect/>
          </a:stretch>
        </p:blipFill>
        <p:spPr>
          <a:xfrm>
            <a:off x="1207008" y="731520"/>
            <a:ext cx="4293108" cy="402336"/>
          </a:xfrm>
          <a:prstGeom prst="rect">
            <a:avLst/>
          </a:prstGeom>
        </p:spPr>
      </p:pic>
      <p:sp>
        <p:nvSpPr>
          <p:cNvPr id="7" name="ins_51"/>
          <p:cNvSpPr/>
          <p:nvPr/>
        </p:nvSpPr>
        <p:spPr>
          <a:xfrm>
            <a:off x="1353312" y="731520"/>
            <a:ext cx="4037076"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Answer the teacher: yes or no + one word.</a:t>
            </a:r>
            <a:endParaRPr lang="en-US" sz="1250" dirty="0"/>
          </a:p>
        </p:txBody>
      </p:sp>
      <p:sp>
        <p:nvSpPr>
          <p:cNvPr id="8" name="insIT_52"/>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Rispondi all'insegnante: sì o no + una parola.</a:t>
            </a:r>
            <a:endParaRPr lang="en-US" sz="950" dirty="0"/>
          </a:p>
        </p:txBody>
      </p:sp>
      <p:sp>
        <p:nvSpPr>
          <p:cNvPr id="9" name="cmd_53"/>
          <p:cNvSpPr/>
          <p:nvPr/>
        </p:nvSpPr>
        <p:spPr>
          <a:xfrm>
            <a:off x="6510528" y="182880"/>
            <a:ext cx="1901952" cy="329184"/>
          </a:xfrm>
          <a:prstGeom prst="roundRect">
            <a:avLst>
              <a:gd name="adj" fmla="val 50000"/>
            </a:avLst>
          </a:prstGeom>
          <a:solidFill>
            <a:srgbClr val="FFFFFF"/>
          </a:solidFill>
          <a:ln w="25400">
            <a:solidFill>
              <a:srgbClr val="F7A6C4"/>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E8508F"/>
                </a:solidFill>
                <a:latin typeface="Arial Rounded MT Bold" pitchFamily="34" charset="0"/>
                <a:ea typeface="Arial Rounded MT Bold" pitchFamily="34" charset="-122"/>
                <a:cs typeface="Arial Rounded MT Bold" pitchFamily="34" charset="-120"/>
              </a:rPr>
              <a:t>TALK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PARLA</a:t>
            </a:r>
            <a:endParaRPr lang="en-US" sz="1100" dirty="0"/>
          </a:p>
        </p:txBody>
      </p:sp>
      <p:sp>
        <p:nvSpPr>
          <p:cNvPr id="10" name="meta_54"/>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5 min   🙋 whole class</a:t>
            </a:r>
            <a:endParaRPr lang="en-US" sz="950" dirty="0"/>
          </a:p>
        </p:txBody>
      </p:sp>
      <p:sp>
        <p:nvSpPr>
          <p:cNvPr id="11" name="tag_55"/>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Speaking</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Communicative</a:t>
            </a:r>
            <a:endParaRPr lang="en-US" sz="850" dirty="0"/>
          </a:p>
        </p:txBody>
      </p:sp>
      <p:pic>
        <p:nvPicPr>
          <p:cNvPr id="12" name="logo_56"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57"/>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2A · Warm-up · your bag (PQA)</a:t>
            </a:r>
            <a:endParaRPr lang="en-US" sz="800" dirty="0"/>
          </a:p>
        </p:txBody>
      </p:sp>
      <p:sp>
        <p:nvSpPr>
          <p:cNvPr id="14" name="pf_58"/>
          <p:cNvSpPr/>
          <p:nvPr/>
        </p:nvSpPr>
        <p:spPr>
          <a:xfrm rot="-120000">
            <a:off x="320040" y="1371600"/>
            <a:ext cx="2788920" cy="1874520"/>
          </a:xfrm>
          <a:prstGeom prst="roundRect">
            <a:avLst>
              <a:gd name="adj" fmla="val 8293"/>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5" name="ph_59" descr="/home/claude/lls-course/v2/cache/red_2a_deskbag_jpg_649x429_31.png">    </p:cNvPr>
          <p:cNvPicPr>
            <a:picLocks noChangeAspect="1"/>
          </p:cNvPicPr>
          <p:nvPr/>
        </p:nvPicPr>
        <p:blipFill>
          <a:blip r:embed="rId5"/>
          <a:stretch>
            <a:fillRect/>
          </a:stretch>
        </p:blipFill>
        <p:spPr>
          <a:xfrm rot="-120000">
            <a:off x="365760" y="1417320"/>
            <a:ext cx="2697480" cy="1783080"/>
          </a:xfrm>
          <a:prstGeom prst="rect">
            <a:avLst/>
          </a:prstGeom>
        </p:spPr>
      </p:pic>
      <p:sp>
        <p:nvSpPr>
          <p:cNvPr id="16" name="cd_60"/>
          <p:cNvSpPr/>
          <p:nvPr/>
        </p:nvSpPr>
        <p:spPr>
          <a:xfrm>
            <a:off x="320040" y="3429000"/>
            <a:ext cx="2788920" cy="1325880"/>
          </a:xfrm>
          <a:prstGeom prst="roundRect">
            <a:avLst>
              <a:gd name="adj" fmla="val 9655"/>
            </a:avLst>
          </a:prstGeom>
          <a:solidFill>
            <a:srgbClr val="EEE8FB"/>
          </a:solidFill>
          <a:ln w="19050">
            <a:solidFill>
              <a:srgbClr val="CDBFF3"/>
            </a:solidFill>
            <a:prstDash val="solid"/>
          </a:ln>
          <a:effectLst>
            <a:outerShdw sx="100000" sy="100000" kx="0" ky="0" algn="bl" rotWithShape="0" blurRad="88900" dist="31750" dir="5400000">
              <a:srgbClr val="1B2559">
                <a:alpha val="12000"/>
              </a:srgbClr>
            </a:outerShdw>
          </a:effectLst>
        </p:spPr>
      </p:sp>
      <p:sp>
        <p:nvSpPr>
          <p:cNvPr id="17" name="ii_61"/>
          <p:cNvSpPr/>
          <p:nvPr/>
        </p:nvSpPr>
        <p:spPr>
          <a:xfrm>
            <a:off x="411480" y="350215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8" name="ih_62"/>
          <p:cNvSpPr/>
          <p:nvPr/>
        </p:nvSpPr>
        <p:spPr>
          <a:xfrm>
            <a:off x="886968" y="3520440"/>
            <a:ext cx="214884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Useful phrases</a:t>
            </a:r>
            <a:endParaRPr lang="en-US" sz="1300" dirty="0"/>
          </a:p>
        </p:txBody>
      </p:sp>
      <p:sp>
        <p:nvSpPr>
          <p:cNvPr id="19" name="il_63"/>
          <p:cNvSpPr/>
          <p:nvPr/>
        </p:nvSpPr>
        <p:spPr>
          <a:xfrm>
            <a:off x="886968" y="3904488"/>
            <a:ext cx="2130552" cy="77724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050" dirty="0">
                <a:solidFill>
                  <a:srgbClr val="1B2559"/>
                </a:solidFill>
                <a:latin typeface="Segoe UI" pitchFamily="34" charset="0"/>
                <a:ea typeface="Segoe UI" pitchFamily="34" charset="-122"/>
                <a:cs typeface="Segoe UI" pitchFamily="34" charset="-120"/>
              </a:rPr>
              <a:t>Yes, I do. / No, I don't.</a:t>
            </a:r>
            <a:endParaRPr lang="en-US" sz="1050" dirty="0"/>
          </a:p>
          <a:p>
            <a:pPr marL="152400" indent="-152400">
              <a:spcBef>
                <a:spcPts val="500"/>
              </a:spcBef>
              <a:spcAft>
                <a:spcPts val="200"/>
              </a:spcAft>
              <a:buSzPct val="100000"/>
              <a:buChar char="•"/>
            </a:pPr>
            <a:r>
              <a:rPr lang="en-US" sz="1050" dirty="0">
                <a:solidFill>
                  <a:srgbClr val="1B2559"/>
                </a:solidFill>
                <a:latin typeface="Segoe UI" pitchFamily="34" charset="0"/>
                <a:ea typeface="Segoe UI" pitchFamily="34" charset="-122"/>
                <a:cs typeface="Segoe UI" pitchFamily="34" charset="-120"/>
              </a:rPr>
              <a:t>It's in my bag / in my pocket.</a:t>
            </a:r>
            <a:endParaRPr lang="en-US" sz="1050" dirty="0"/>
          </a:p>
          <a:p>
            <a:pPr marL="152400" indent="-152400">
              <a:spcBef>
                <a:spcPts val="500"/>
              </a:spcBef>
              <a:spcAft>
                <a:spcPts val="200"/>
              </a:spcAft>
              <a:buSzPct val="100000"/>
              <a:buChar char="•"/>
            </a:pPr>
            <a:r>
              <a:rPr lang="en-US" sz="1050" dirty="0">
                <a:solidFill>
                  <a:srgbClr val="1B2559"/>
                </a:solidFill>
                <a:latin typeface="Segoe UI" pitchFamily="34" charset="0"/>
                <a:ea typeface="Segoe UI" pitchFamily="34" charset="-122"/>
                <a:cs typeface="Segoe UI" pitchFamily="34" charset="-120"/>
              </a:rPr>
              <a:t>Really? Me too!</a:t>
            </a:r>
            <a:endParaRPr lang="en-US" sz="1050" dirty="0"/>
          </a:p>
        </p:txBody>
      </p:sp>
      <p:sp>
        <p:nvSpPr>
          <p:cNvPr id="20" name="R1_qb64"/>
          <p:cNvSpPr/>
          <p:nvPr/>
        </p:nvSpPr>
        <p:spPr>
          <a:xfrm>
            <a:off x="3273552" y="1453896"/>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1" name="R1_sq65"/>
          <p:cNvSpPr/>
          <p:nvPr/>
        </p:nvSpPr>
        <p:spPr>
          <a:xfrm>
            <a:off x="3675888" y="1417320"/>
            <a:ext cx="5193792" cy="530352"/>
          </a:xfrm>
          <a:prstGeom prst="roundRect">
            <a:avLst>
              <a:gd name="adj" fmla="val 20690"/>
            </a:avLst>
          </a:prstGeom>
          <a:solidFill>
            <a:srgbClr val="FFFFFF"/>
          </a:solidFill>
          <a:ln w="2222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Do you have a phone in your bag?</a:t>
            </a:r>
            <a:endParaRPr lang="en-US" sz="1250" dirty="0"/>
          </a:p>
          <a:p>
            <a:pPr indent="0" marL="0">
              <a:buNone/>
            </a:pPr>
            <a:r>
              <a:rPr lang="en-US" sz="1000" i="1" dirty="0">
                <a:solidFill>
                  <a:srgbClr val="5B6785"/>
                </a:solidFill>
                <a:latin typeface="Segoe UI" pitchFamily="34" charset="0"/>
                <a:ea typeface="Segoe UI" pitchFamily="34" charset="-122"/>
                <a:cs typeface="Segoe UI" pitchFamily="34" charset="-120"/>
              </a:rPr>
              <a:t>e.g. Yes – it's in my bag. / No – it's in my pocket.</a:t>
            </a:r>
            <a:endParaRPr lang="en-US" sz="1250" dirty="0"/>
          </a:p>
        </p:txBody>
      </p:sp>
      <p:sp>
        <p:nvSpPr>
          <p:cNvPr id="22" name="R2_qb66"/>
          <p:cNvSpPr/>
          <p:nvPr/>
        </p:nvSpPr>
        <p:spPr>
          <a:xfrm>
            <a:off x="3273552" y="2057400"/>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3" name="R2_sq67"/>
          <p:cNvSpPr/>
          <p:nvPr/>
        </p:nvSpPr>
        <p:spPr>
          <a:xfrm>
            <a:off x="3675888" y="2020824"/>
            <a:ext cx="5193792" cy="530352"/>
          </a:xfrm>
          <a:prstGeom prst="roundRect">
            <a:avLst>
              <a:gd name="adj" fmla="val 20690"/>
            </a:avLst>
          </a:prstGeom>
          <a:solidFill>
            <a:srgbClr val="FFFFFF"/>
          </a:solidFill>
          <a:ln w="22225">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Do you have keys? House keys, car keys?</a:t>
            </a:r>
            <a:endParaRPr lang="en-US" sz="1250" dirty="0"/>
          </a:p>
          <a:p>
            <a:pPr indent="0" marL="0">
              <a:buNone/>
            </a:pPr>
            <a:r>
              <a:rPr lang="en-US" sz="1000" i="1" dirty="0">
                <a:solidFill>
                  <a:srgbClr val="5B6785"/>
                </a:solidFill>
                <a:latin typeface="Segoe UI" pitchFamily="34" charset="0"/>
                <a:ea typeface="Segoe UI" pitchFamily="34" charset="-122"/>
                <a:cs typeface="Segoe UI" pitchFamily="34" charset="-120"/>
              </a:rPr>
              <a:t>e.g. Yes, I have two keys.</a:t>
            </a:r>
            <a:endParaRPr lang="en-US" sz="1250" dirty="0"/>
          </a:p>
        </p:txBody>
      </p:sp>
      <p:sp>
        <p:nvSpPr>
          <p:cNvPr id="24" name="R3_qb68"/>
          <p:cNvSpPr/>
          <p:nvPr/>
        </p:nvSpPr>
        <p:spPr>
          <a:xfrm>
            <a:off x="3273552" y="2660904"/>
            <a:ext cx="329184" cy="329184"/>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5" name="R3_sq69"/>
          <p:cNvSpPr/>
          <p:nvPr/>
        </p:nvSpPr>
        <p:spPr>
          <a:xfrm>
            <a:off x="3675888" y="2624328"/>
            <a:ext cx="5193792" cy="530352"/>
          </a:xfrm>
          <a:prstGeom prst="roundRect">
            <a:avLst>
              <a:gd name="adj" fmla="val 20690"/>
            </a:avLst>
          </a:prstGeom>
          <a:solidFill>
            <a:srgbClr val="FFFFFF"/>
          </a:solidFill>
          <a:ln w="22225">
            <a:solidFill>
              <a:srgbClr val="A8E5BE"/>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Is your bag tidy or untidy?</a:t>
            </a:r>
            <a:endParaRPr lang="en-US" sz="1250" dirty="0"/>
          </a:p>
          <a:p>
            <a:pPr indent="0" marL="0">
              <a:buNone/>
            </a:pPr>
            <a:r>
              <a:rPr lang="en-US" sz="1000" i="1" dirty="0">
                <a:solidFill>
                  <a:srgbClr val="5B6785"/>
                </a:solidFill>
                <a:latin typeface="Segoe UI" pitchFamily="34" charset="0"/>
                <a:ea typeface="Segoe UI" pitchFamily="34" charset="-122"/>
                <a:cs typeface="Segoe UI" pitchFamily="34" charset="-120"/>
              </a:rPr>
              <a:t>e.g. It's very untidy!</a:t>
            </a:r>
            <a:endParaRPr lang="en-US" sz="1250" dirty="0"/>
          </a:p>
        </p:txBody>
      </p:sp>
      <p:sp>
        <p:nvSpPr>
          <p:cNvPr id="26" name="R4_qb70"/>
          <p:cNvSpPr/>
          <p:nvPr/>
        </p:nvSpPr>
        <p:spPr>
          <a:xfrm>
            <a:off x="3273552" y="3264408"/>
            <a:ext cx="329184" cy="329184"/>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27" name="R4_sq71"/>
          <p:cNvSpPr/>
          <p:nvPr/>
        </p:nvSpPr>
        <p:spPr>
          <a:xfrm>
            <a:off x="3675888" y="3227832"/>
            <a:ext cx="5193792" cy="530352"/>
          </a:xfrm>
          <a:prstGeom prst="roundRect">
            <a:avLst>
              <a:gd name="adj" fmla="val 20690"/>
            </a:avLst>
          </a:prstGeom>
          <a:solidFill>
            <a:srgbClr val="FFFFFF"/>
          </a:solidFill>
          <a:ln w="22225">
            <a:solidFill>
              <a:srgbClr val="FFE07A"/>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Who has a VERY untidy bag in this class?</a:t>
            </a:r>
            <a:endParaRPr lang="en-US" sz="1250" dirty="0"/>
          </a:p>
          <a:p>
            <a:pPr indent="0" marL="0">
              <a:buNone/>
            </a:pPr>
            <a:r>
              <a:rPr lang="en-US" sz="1000" i="1" dirty="0">
                <a:solidFill>
                  <a:srgbClr val="5B6785"/>
                </a:solidFill>
                <a:latin typeface="Segoe UI" pitchFamily="34" charset="0"/>
                <a:ea typeface="Segoe UI" pitchFamily="34" charset="-122"/>
                <a:cs typeface="Segoe UI" pitchFamily="34" charset="-120"/>
              </a:rPr>
              <a:t>e.g. Marco! His bag is a disaster!</a:t>
            </a:r>
            <a:endParaRPr lang="en-US" sz="12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400"/>
                                        <p:tgtEl>
                                          <p:spTgt spid="22"/>
                                        </p:tgtEl>
                                      </p:cBhvr>
                                    </p:animEffect>
                                  </p:childTnLst>
                                </p:cTn>
                              </p:par>
                              <p:par>
                                <p:cTn id="16" presetID="10" presetClass="entr" presetSubtype="0" fill="hold" nodeType="withEffect">
                                  <p:stCondLst>
                                    <p:cond delay="0"/>
                                  </p:stCondLst>
                                  <p:childTnLst>
                                    <p:set>
                                      <p:cBhvr>
                                        <p:cTn id="17" dur="1" fill="hold">
                                          <p:stCondLst>
                                            <p:cond delay="0"/>
                                          </p:stCondLst>
                                        </p:cTn>
                                        <p:tgtEl>
                                          <p:spTgt spid="23"/>
                                        </p:tgtEl>
                                        <p:attrNameLst>
                                          <p:attrName>style.visibility</p:attrName>
                                        </p:attrNameLst>
                                      </p:cBhvr>
                                      <p:to>
                                        <p:strVal val="visible"/>
                                      </p:to>
                                    </p:set>
                                    <p:animEffect transition="in" filter="fade">
                                      <p:cBhvr>
                                        <p:cTn id="18" dur="400"/>
                                        <p:tgtEl>
                                          <p:spTgt spid="2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4"/>
                                        </p:tgtEl>
                                        <p:attrNameLst>
                                          <p:attrName>style.visibility</p:attrName>
                                        </p:attrNameLst>
                                      </p:cBhvr>
                                      <p:to>
                                        <p:strVal val="visible"/>
                                      </p:to>
                                    </p:set>
                                    <p:animEffect transition="in" filter="fade">
                                      <p:cBhvr>
                                        <p:cTn id="23" dur="400"/>
                                        <p:tgtEl>
                                          <p:spTgt spid="24"/>
                                        </p:tgtEl>
                                      </p:cBhvr>
                                    </p:animEffect>
                                  </p:childTnLst>
                                </p:cTn>
                              </p:par>
                              <p:par>
                                <p:cTn id="24" presetID="10" presetClass="entr" presetSubtype="0" fill="hold"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400"/>
                                        <p:tgtEl>
                                          <p:spTgt spid="25"/>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400"/>
                                        <p:tgtEl>
                                          <p:spTgt spid="26"/>
                                        </p:tgtEl>
                                      </p:cBhvr>
                                    </p:animEffect>
                                  </p:childTnLst>
                                </p:cTn>
                              </p:par>
                              <p:par>
                                <p:cTn id="32" presetID="10" presetClass="entr" presetSubtype="0" fill="hold" nodeType="withEffect">
                                  <p:stCondLst>
                                    <p:cond delay="0"/>
                                  </p:stCondLst>
                                  <p:childTnLst>
                                    <p:set>
                                      <p:cBhvr>
                                        <p:cTn id="33" dur="1" fill="hold">
                                          <p:stCondLst>
                                            <p:cond delay="0"/>
                                          </p:stCondLst>
                                        </p:cTn>
                                        <p:tgtEl>
                                          <p:spTgt spid="27"/>
                                        </p:tgtEl>
                                        <p:attrNameLst>
                                          <p:attrName>style.visibility</p:attrName>
                                        </p:attrNameLst>
                                      </p:cBhvr>
                                      <p:to>
                                        <p:strVal val="visible"/>
                                      </p:to>
                                    </p:set>
                                    <p:animEffect transition="in" filter="fade">
                                      <p:cBhvr>
                                        <p:cTn id="34" dur="4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72"/>
          <p:cNvSpPr/>
          <p:nvPr/>
        </p:nvSpPr>
        <p:spPr>
          <a:xfrm>
            <a:off x="201168" y="164592"/>
            <a:ext cx="841248" cy="841248"/>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4</a:t>
            </a:r>
            <a:endParaRPr lang="en-US" sz="2800" dirty="0"/>
          </a:p>
        </p:txBody>
      </p:sp>
      <p:pic>
        <p:nvPicPr>
          <p:cNvPr id="4" name="brY_73" descr="/home/claude/lls-course/v2/assets/brush-yellow.png">    </p:cNvPr>
          <p:cNvPicPr>
            <a:picLocks noChangeAspect="1"/>
          </p:cNvPicPr>
          <p:nvPr/>
        </p:nvPicPr>
        <p:blipFill>
          <a:blip r:embed="rId2"/>
          <a:stretch>
            <a:fillRect/>
          </a:stretch>
        </p:blipFill>
        <p:spPr>
          <a:xfrm>
            <a:off x="1097280" y="146304"/>
            <a:ext cx="3562502" cy="621792"/>
          </a:xfrm>
          <a:prstGeom prst="rect">
            <a:avLst/>
          </a:prstGeom>
        </p:spPr>
      </p:pic>
      <p:sp>
        <p:nvSpPr>
          <p:cNvPr id="5" name="title_74"/>
          <p:cNvSpPr/>
          <p:nvPr/>
        </p:nvSpPr>
        <p:spPr>
          <a:xfrm>
            <a:off x="1261872" y="164592"/>
            <a:ext cx="3288182"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6 things in my bag</a:t>
            </a:r>
            <a:endParaRPr lang="en-US" sz="2500" dirty="0"/>
          </a:p>
        </p:txBody>
      </p:sp>
      <p:pic>
        <p:nvPicPr>
          <p:cNvPr id="6" name="brP_75" descr="/home/claude/lls-course/v2/assets/brush-pink.png">    </p:cNvPr>
          <p:cNvPicPr>
            <a:picLocks noChangeAspect="1"/>
          </p:cNvPicPr>
          <p:nvPr/>
        </p:nvPicPr>
        <p:blipFill>
          <a:blip r:embed="rId3"/>
          <a:stretch>
            <a:fillRect/>
          </a:stretch>
        </p:blipFill>
        <p:spPr>
          <a:xfrm>
            <a:off x="1207008" y="731520"/>
            <a:ext cx="6035040" cy="402336"/>
          </a:xfrm>
          <a:prstGeom prst="rect">
            <a:avLst/>
          </a:prstGeom>
        </p:spPr>
      </p:pic>
      <p:sp>
        <p:nvSpPr>
          <p:cNvPr id="7" name="ins_76"/>
          <p:cNvSpPr/>
          <p:nvPr/>
        </p:nvSpPr>
        <p:spPr>
          <a:xfrm>
            <a:off x="1353312" y="731520"/>
            <a:ext cx="577900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Say what it is in English. Click 1: meaning. Click 2: Italian.</a:t>
            </a:r>
            <a:endParaRPr lang="en-US" sz="1250" dirty="0"/>
          </a:p>
        </p:txBody>
      </p:sp>
      <p:sp>
        <p:nvSpPr>
          <p:cNvPr id="8" name="insIT_77"/>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Di' cos'è in inglese. Clic 1: significato. Clic 2: italiano.</a:t>
            </a:r>
            <a:endParaRPr lang="en-US" sz="950" dirty="0"/>
          </a:p>
        </p:txBody>
      </p:sp>
      <p:sp>
        <p:nvSpPr>
          <p:cNvPr id="9" name="cmd_78"/>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LOOK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GUARDA</a:t>
            </a:r>
            <a:endParaRPr lang="en-US" sz="1100" dirty="0"/>
          </a:p>
        </p:txBody>
      </p:sp>
      <p:sp>
        <p:nvSpPr>
          <p:cNvPr id="10" name="meta_79"/>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4 min   🙋 whole class</a:t>
            </a:r>
            <a:endParaRPr lang="en-US" sz="950" dirty="0"/>
          </a:p>
        </p:txBody>
      </p:sp>
      <p:sp>
        <p:nvSpPr>
          <p:cNvPr id="11" name="tag_80"/>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Vocabulary</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TPRS · meaning</a:t>
            </a:r>
            <a:endParaRPr lang="en-US" sz="850" dirty="0"/>
          </a:p>
        </p:txBody>
      </p:sp>
      <p:pic>
        <p:nvPicPr>
          <p:cNvPr id="12" name="logo_81"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82"/>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2A · Vocabulary · 6 new words   ·   📖 Vocabulary Bank Things p.151</a:t>
            </a:r>
            <a:endParaRPr lang="en-US" sz="800" dirty="0"/>
          </a:p>
        </p:txBody>
      </p:sp>
      <p:sp>
        <p:nvSpPr>
          <p:cNvPr id="14" name="cd_83"/>
          <p:cNvSpPr/>
          <p:nvPr/>
        </p:nvSpPr>
        <p:spPr>
          <a:xfrm>
            <a:off x="320040" y="1417320"/>
            <a:ext cx="2075688" cy="914400"/>
          </a:xfrm>
          <a:prstGeom prst="roundRect">
            <a:avLst>
              <a:gd name="adj" fmla="val 14000"/>
            </a:avLst>
          </a:prstGeom>
          <a:solidFill>
            <a:srgbClr val="FFFFFF"/>
          </a:solidFill>
          <a:ln w="19050">
            <a:solidFill>
              <a:srgbClr val="F7A6C4"/>
            </a:solidFill>
            <a:prstDash val="solid"/>
          </a:ln>
          <a:effectLst>
            <a:outerShdw sx="100000" sy="100000" kx="0" ky="0" algn="bl" rotWithShape="0" blurRad="88900" dist="31750" dir="5400000">
              <a:srgbClr val="1B2559">
                <a:alpha val="12000"/>
              </a:srgbClr>
            </a:outerShdw>
          </a:effectLst>
        </p:spPr>
      </p:sp>
      <p:sp>
        <p:nvSpPr>
          <p:cNvPr id="15" name="e_84"/>
          <p:cNvSpPr/>
          <p:nvPr/>
        </p:nvSpPr>
        <p:spPr>
          <a:xfrm>
            <a:off x="393192" y="1527048"/>
            <a:ext cx="512064" cy="512064"/>
          </a:xfrm>
          <a:prstGeom prst="ellipse">
            <a:avLst/>
          </a:prstGeom>
          <a:solidFill>
            <a:srgbClr val="FFE3EE"/>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16" name="en_85"/>
          <p:cNvSpPr/>
          <p:nvPr/>
        </p:nvSpPr>
        <p:spPr>
          <a:xfrm>
            <a:off x="978408" y="147218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a wallet</a:t>
            </a:r>
            <a:endParaRPr lang="en-US" sz="1200" dirty="0"/>
          </a:p>
        </p:txBody>
      </p:sp>
      <p:sp>
        <p:nvSpPr>
          <p:cNvPr id="17" name="R1_def86"/>
          <p:cNvSpPr/>
          <p:nvPr/>
        </p:nvSpPr>
        <p:spPr>
          <a:xfrm>
            <a:off x="978408" y="1783080"/>
            <a:ext cx="1362456" cy="329184"/>
          </a:xfrm>
          <a:prstGeom prst="rect">
            <a:avLst/>
          </a:prstGeom>
          <a:noFill/>
          <a:ln/>
        </p:spPr>
        <p:txBody>
          <a:bodyPr wrap="square" lIns="0" tIns="0" rIns="0" bIns="0" rtlCol="0" anchor="ctr">
            <a:normAutofit/>
          </a:bodyPr>
          <a:lstStyle/>
          <a:p>
            <a:pPr indent="0" marL="0">
              <a:buNone/>
            </a:pPr>
            <a:r>
              <a:rPr lang="en-US" sz="850" dirty="0">
                <a:solidFill>
                  <a:srgbClr val="5B6785"/>
                </a:solidFill>
                <a:latin typeface="Segoe UI" pitchFamily="34" charset="0"/>
                <a:ea typeface="Segoe UI" pitchFamily="34" charset="-122"/>
                <a:cs typeface="Segoe UI" pitchFamily="34" charset="-120"/>
              </a:rPr>
              <a:t>for money and cards – usually men</a:t>
            </a:r>
            <a:endParaRPr lang="en-US" sz="850" dirty="0"/>
          </a:p>
        </p:txBody>
      </p:sp>
      <p:sp>
        <p:nvSpPr>
          <p:cNvPr id="18" name="R2_it87"/>
          <p:cNvSpPr/>
          <p:nvPr/>
        </p:nvSpPr>
        <p:spPr>
          <a:xfrm>
            <a:off x="978408" y="2121408"/>
            <a:ext cx="1362456" cy="182880"/>
          </a:xfrm>
          <a:prstGeom prst="rect">
            <a:avLst/>
          </a:prstGeom>
          <a:noFill/>
          <a:ln/>
        </p:spPr>
        <p:txBody>
          <a:bodyPr wrap="square" lIns="0" tIns="0" rIns="0" bIns="0" rtlCol="0" anchor="ctr">
            <a:normAutofit/>
          </a:bodyPr>
          <a:lstStyle/>
          <a:p>
            <a:pPr indent="0" marL="0">
              <a:buNone/>
            </a:pPr>
            <a:r>
              <a:rPr lang="en-US" sz="900" i="1" dirty="0">
                <a:solidFill>
                  <a:srgbClr val="2EB872"/>
                </a:solidFill>
                <a:latin typeface="Segoe UI Semibold" pitchFamily="34" charset="0"/>
                <a:ea typeface="Segoe UI Semibold" pitchFamily="34" charset="-122"/>
                <a:cs typeface="Segoe UI Semibold" pitchFamily="34" charset="-120"/>
              </a:rPr>
              <a:t>portafoglio</a:t>
            </a:r>
            <a:endParaRPr lang="en-US" sz="900" dirty="0"/>
          </a:p>
        </p:txBody>
      </p:sp>
      <p:sp>
        <p:nvSpPr>
          <p:cNvPr id="19" name="cd_88"/>
          <p:cNvSpPr/>
          <p:nvPr/>
        </p:nvSpPr>
        <p:spPr>
          <a:xfrm>
            <a:off x="2487168" y="1417320"/>
            <a:ext cx="2075688" cy="914400"/>
          </a:xfrm>
          <a:prstGeom prst="roundRect">
            <a:avLst>
              <a:gd name="adj" fmla="val 14000"/>
            </a:avLst>
          </a:prstGeom>
          <a:solidFill>
            <a:srgbClr val="FFFFFF"/>
          </a:solidFill>
          <a:ln w="19050">
            <a:solidFill>
              <a:srgbClr val="A9D3F5"/>
            </a:solidFill>
            <a:prstDash val="solid"/>
          </a:ln>
          <a:effectLst>
            <a:outerShdw sx="100000" sy="100000" kx="0" ky="0" algn="bl" rotWithShape="0" blurRad="88900" dist="31750" dir="5400000">
              <a:srgbClr val="1B2559">
                <a:alpha val="12000"/>
              </a:srgbClr>
            </a:outerShdw>
          </a:effectLst>
        </p:spPr>
      </p:sp>
      <p:sp>
        <p:nvSpPr>
          <p:cNvPr id="20" name="e_89"/>
          <p:cNvSpPr/>
          <p:nvPr/>
        </p:nvSpPr>
        <p:spPr>
          <a:xfrm>
            <a:off x="2560320" y="1527048"/>
            <a:ext cx="512064" cy="512064"/>
          </a:xfrm>
          <a:prstGeom prst="ellipse">
            <a:avLst/>
          </a:prstGeom>
          <a:solidFill>
            <a:srgbClr val="E3F1FD"/>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1" name="en_90"/>
          <p:cNvSpPr/>
          <p:nvPr/>
        </p:nvSpPr>
        <p:spPr>
          <a:xfrm>
            <a:off x="3145536" y="147218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a purse</a:t>
            </a:r>
            <a:endParaRPr lang="en-US" sz="1200" dirty="0"/>
          </a:p>
        </p:txBody>
      </p:sp>
      <p:sp>
        <p:nvSpPr>
          <p:cNvPr id="22" name="R3_def91"/>
          <p:cNvSpPr/>
          <p:nvPr/>
        </p:nvSpPr>
        <p:spPr>
          <a:xfrm>
            <a:off x="3145536" y="1783080"/>
            <a:ext cx="1362456" cy="329184"/>
          </a:xfrm>
          <a:prstGeom prst="rect">
            <a:avLst/>
          </a:prstGeom>
          <a:noFill/>
          <a:ln/>
        </p:spPr>
        <p:txBody>
          <a:bodyPr wrap="square" lIns="0" tIns="0" rIns="0" bIns="0" rtlCol="0" anchor="ctr">
            <a:normAutofit/>
          </a:bodyPr>
          <a:lstStyle/>
          <a:p>
            <a:pPr indent="0" marL="0">
              <a:buNone/>
            </a:pPr>
            <a:r>
              <a:rPr lang="en-US" sz="850" dirty="0">
                <a:solidFill>
                  <a:srgbClr val="5B6785"/>
                </a:solidFill>
                <a:latin typeface="Segoe UI" pitchFamily="34" charset="0"/>
                <a:ea typeface="Segoe UI" pitchFamily="34" charset="-122"/>
                <a:cs typeface="Segoe UI" pitchFamily="34" charset="-120"/>
              </a:rPr>
              <a:t>a small bag for money – usually women</a:t>
            </a:r>
            <a:endParaRPr lang="en-US" sz="850" dirty="0"/>
          </a:p>
        </p:txBody>
      </p:sp>
      <p:sp>
        <p:nvSpPr>
          <p:cNvPr id="23" name="R4_it92"/>
          <p:cNvSpPr/>
          <p:nvPr/>
        </p:nvSpPr>
        <p:spPr>
          <a:xfrm>
            <a:off x="3145536" y="2121408"/>
            <a:ext cx="1362456" cy="182880"/>
          </a:xfrm>
          <a:prstGeom prst="rect">
            <a:avLst/>
          </a:prstGeom>
          <a:noFill/>
          <a:ln/>
        </p:spPr>
        <p:txBody>
          <a:bodyPr wrap="square" lIns="0" tIns="0" rIns="0" bIns="0" rtlCol="0" anchor="ctr">
            <a:normAutofit/>
          </a:bodyPr>
          <a:lstStyle/>
          <a:p>
            <a:pPr indent="0" marL="0">
              <a:buNone/>
            </a:pPr>
            <a:r>
              <a:rPr lang="en-US" sz="800" i="1" dirty="0">
                <a:solidFill>
                  <a:srgbClr val="2EB872"/>
                </a:solidFill>
                <a:latin typeface="Segoe UI Semibold" pitchFamily="34" charset="0"/>
                <a:ea typeface="Segoe UI Semibold" pitchFamily="34" charset="-122"/>
                <a:cs typeface="Segoe UI Semibold" pitchFamily="34" charset="-120"/>
              </a:rPr>
              <a:t>borsellino (NON borsa!)</a:t>
            </a:r>
            <a:endParaRPr lang="en-US" sz="800" dirty="0"/>
          </a:p>
        </p:txBody>
      </p:sp>
      <p:sp>
        <p:nvSpPr>
          <p:cNvPr id="24" name="cd_93"/>
          <p:cNvSpPr/>
          <p:nvPr/>
        </p:nvSpPr>
        <p:spPr>
          <a:xfrm>
            <a:off x="4654296" y="1417320"/>
            <a:ext cx="2075688" cy="914400"/>
          </a:xfrm>
          <a:prstGeom prst="roundRect">
            <a:avLst>
              <a:gd name="adj" fmla="val 14000"/>
            </a:avLst>
          </a:prstGeom>
          <a:solidFill>
            <a:srgbClr val="FFFFFF"/>
          </a:solidFill>
          <a:ln w="19050">
            <a:solidFill>
              <a:srgbClr val="A8E5BE"/>
            </a:solidFill>
            <a:prstDash val="solid"/>
          </a:ln>
          <a:effectLst>
            <a:outerShdw sx="100000" sy="100000" kx="0" ky="0" algn="bl" rotWithShape="0" blurRad="88900" dist="31750" dir="5400000">
              <a:srgbClr val="1B2559">
                <a:alpha val="12000"/>
              </a:srgbClr>
            </a:outerShdw>
          </a:effectLst>
        </p:spPr>
      </p:sp>
      <p:sp>
        <p:nvSpPr>
          <p:cNvPr id="25" name="e_94"/>
          <p:cNvSpPr/>
          <p:nvPr/>
        </p:nvSpPr>
        <p:spPr>
          <a:xfrm>
            <a:off x="4727448" y="1527048"/>
            <a:ext cx="512064" cy="512064"/>
          </a:xfrm>
          <a:prstGeom prst="ellipse">
            <a:avLst/>
          </a:prstGeom>
          <a:solidFill>
            <a:srgbClr val="E3F7EA"/>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26" name="en_95"/>
          <p:cNvSpPr/>
          <p:nvPr/>
        </p:nvSpPr>
        <p:spPr>
          <a:xfrm>
            <a:off x="5312664" y="147218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keys</a:t>
            </a:r>
            <a:endParaRPr lang="en-US" sz="1200" dirty="0"/>
          </a:p>
        </p:txBody>
      </p:sp>
      <p:sp>
        <p:nvSpPr>
          <p:cNvPr id="27" name="R5_def96"/>
          <p:cNvSpPr/>
          <p:nvPr/>
        </p:nvSpPr>
        <p:spPr>
          <a:xfrm>
            <a:off x="5312664" y="1783080"/>
            <a:ext cx="1362456" cy="329184"/>
          </a:xfrm>
          <a:prstGeom prst="rect">
            <a:avLst/>
          </a:prstGeom>
          <a:noFill/>
          <a:ln/>
        </p:spPr>
        <p:txBody>
          <a:bodyPr wrap="square" lIns="0" tIns="0" rIns="0" bIns="0" rtlCol="0" anchor="ctr">
            <a:normAutofit/>
          </a:bodyPr>
          <a:lstStyle/>
          <a:p>
            <a:pPr indent="0" marL="0">
              <a:buNone/>
            </a:pPr>
            <a:r>
              <a:rPr lang="en-US" sz="850" dirty="0">
                <a:solidFill>
                  <a:srgbClr val="5B6785"/>
                </a:solidFill>
                <a:latin typeface="Segoe UI" pitchFamily="34" charset="0"/>
                <a:ea typeface="Segoe UI" pitchFamily="34" charset="-122"/>
                <a:cs typeface="Segoe UI" pitchFamily="34" charset="-120"/>
              </a:rPr>
              <a:t>you open the door with them</a:t>
            </a:r>
            <a:endParaRPr lang="en-US" sz="850" dirty="0"/>
          </a:p>
        </p:txBody>
      </p:sp>
      <p:sp>
        <p:nvSpPr>
          <p:cNvPr id="28" name="R6_it97"/>
          <p:cNvSpPr/>
          <p:nvPr/>
        </p:nvSpPr>
        <p:spPr>
          <a:xfrm>
            <a:off x="5312664" y="2121408"/>
            <a:ext cx="1362456" cy="182880"/>
          </a:xfrm>
          <a:prstGeom prst="rect">
            <a:avLst/>
          </a:prstGeom>
          <a:noFill/>
          <a:ln/>
        </p:spPr>
        <p:txBody>
          <a:bodyPr wrap="square" lIns="0" tIns="0" rIns="0" bIns="0" rtlCol="0" anchor="ctr">
            <a:normAutofit/>
          </a:bodyPr>
          <a:lstStyle/>
          <a:p>
            <a:pPr indent="0" marL="0">
              <a:buNone/>
            </a:pPr>
            <a:r>
              <a:rPr lang="en-US" sz="900" i="1" dirty="0">
                <a:solidFill>
                  <a:srgbClr val="2EB872"/>
                </a:solidFill>
                <a:latin typeface="Segoe UI Semibold" pitchFamily="34" charset="0"/>
                <a:ea typeface="Segoe UI Semibold" pitchFamily="34" charset="-122"/>
                <a:cs typeface="Segoe UI Semibold" pitchFamily="34" charset="-120"/>
              </a:rPr>
              <a:t>chiavi</a:t>
            </a:r>
            <a:endParaRPr lang="en-US" sz="900" dirty="0"/>
          </a:p>
        </p:txBody>
      </p:sp>
      <p:sp>
        <p:nvSpPr>
          <p:cNvPr id="29" name="cd_98"/>
          <p:cNvSpPr/>
          <p:nvPr/>
        </p:nvSpPr>
        <p:spPr>
          <a:xfrm>
            <a:off x="6821424" y="1417320"/>
            <a:ext cx="2075688" cy="914400"/>
          </a:xfrm>
          <a:prstGeom prst="roundRect">
            <a:avLst>
              <a:gd name="adj" fmla="val 14000"/>
            </a:avLst>
          </a:prstGeom>
          <a:solidFill>
            <a:srgbClr val="FFFFFF"/>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30" name="e_99"/>
          <p:cNvSpPr/>
          <p:nvPr/>
        </p:nvSpPr>
        <p:spPr>
          <a:xfrm>
            <a:off x="6894576" y="1527048"/>
            <a:ext cx="512064" cy="512064"/>
          </a:xfrm>
          <a:prstGeom prst="ellipse">
            <a:avLst/>
          </a:prstGeom>
          <a:solidFill>
            <a:srgbClr val="FFF6CC"/>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31" name="en_100"/>
          <p:cNvSpPr/>
          <p:nvPr/>
        </p:nvSpPr>
        <p:spPr>
          <a:xfrm>
            <a:off x="7479792" y="147218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sunglasses</a:t>
            </a:r>
            <a:endParaRPr lang="en-US" sz="1200" dirty="0"/>
          </a:p>
        </p:txBody>
      </p:sp>
      <p:sp>
        <p:nvSpPr>
          <p:cNvPr id="32" name="R7_def101"/>
          <p:cNvSpPr/>
          <p:nvPr/>
        </p:nvSpPr>
        <p:spPr>
          <a:xfrm>
            <a:off x="7479792" y="1783080"/>
            <a:ext cx="1362456" cy="329184"/>
          </a:xfrm>
          <a:prstGeom prst="rect">
            <a:avLst/>
          </a:prstGeom>
          <a:noFill/>
          <a:ln/>
        </p:spPr>
        <p:txBody>
          <a:bodyPr wrap="square" lIns="0" tIns="0" rIns="0" bIns="0" rtlCol="0" anchor="ctr">
            <a:normAutofit/>
          </a:bodyPr>
          <a:lstStyle/>
          <a:p>
            <a:pPr indent="0" marL="0">
              <a:buNone/>
            </a:pPr>
            <a:r>
              <a:rPr lang="en-US" sz="850" dirty="0">
                <a:solidFill>
                  <a:srgbClr val="5B6785"/>
                </a:solidFill>
                <a:latin typeface="Segoe UI" pitchFamily="34" charset="0"/>
                <a:ea typeface="Segoe UI" pitchFamily="34" charset="-122"/>
                <a:cs typeface="Segoe UI" pitchFamily="34" charset="-120"/>
              </a:rPr>
              <a:t>you wear them in the sun</a:t>
            </a:r>
            <a:endParaRPr lang="en-US" sz="850" dirty="0"/>
          </a:p>
        </p:txBody>
      </p:sp>
      <p:sp>
        <p:nvSpPr>
          <p:cNvPr id="33" name="R8_it102"/>
          <p:cNvSpPr/>
          <p:nvPr/>
        </p:nvSpPr>
        <p:spPr>
          <a:xfrm>
            <a:off x="7479792" y="2121408"/>
            <a:ext cx="1362456" cy="182880"/>
          </a:xfrm>
          <a:prstGeom prst="rect">
            <a:avLst/>
          </a:prstGeom>
          <a:noFill/>
          <a:ln/>
        </p:spPr>
        <p:txBody>
          <a:bodyPr wrap="square" lIns="0" tIns="0" rIns="0" bIns="0" rtlCol="0" anchor="ctr">
            <a:normAutofit/>
          </a:bodyPr>
          <a:lstStyle/>
          <a:p>
            <a:pPr indent="0" marL="0">
              <a:buNone/>
            </a:pPr>
            <a:r>
              <a:rPr lang="en-US" sz="900" i="1" dirty="0">
                <a:solidFill>
                  <a:srgbClr val="2EB872"/>
                </a:solidFill>
                <a:latin typeface="Segoe UI Semibold" pitchFamily="34" charset="0"/>
                <a:ea typeface="Segoe UI Semibold" pitchFamily="34" charset="-122"/>
                <a:cs typeface="Segoe UI Semibold" pitchFamily="34" charset="-120"/>
              </a:rPr>
              <a:t>occhiali da sole</a:t>
            </a:r>
            <a:endParaRPr lang="en-US" sz="900" dirty="0"/>
          </a:p>
        </p:txBody>
      </p:sp>
      <p:sp>
        <p:nvSpPr>
          <p:cNvPr id="34" name="cd_103"/>
          <p:cNvSpPr/>
          <p:nvPr/>
        </p:nvSpPr>
        <p:spPr>
          <a:xfrm>
            <a:off x="320040" y="2423160"/>
            <a:ext cx="2075688" cy="914400"/>
          </a:xfrm>
          <a:prstGeom prst="roundRect">
            <a:avLst>
              <a:gd name="adj" fmla="val 14000"/>
            </a:avLst>
          </a:prstGeom>
          <a:solidFill>
            <a:srgbClr val="FFFFFF"/>
          </a:solidFill>
          <a:ln w="19050">
            <a:solidFill>
              <a:srgbClr val="F7A6C4"/>
            </a:solidFill>
            <a:prstDash val="solid"/>
          </a:ln>
          <a:effectLst>
            <a:outerShdw sx="100000" sy="100000" kx="0" ky="0" algn="bl" rotWithShape="0" blurRad="88900" dist="31750" dir="5400000">
              <a:srgbClr val="1B2559">
                <a:alpha val="12000"/>
              </a:srgbClr>
            </a:outerShdw>
          </a:effectLst>
        </p:spPr>
      </p:sp>
      <p:sp>
        <p:nvSpPr>
          <p:cNvPr id="35" name="e_104"/>
          <p:cNvSpPr/>
          <p:nvPr/>
        </p:nvSpPr>
        <p:spPr>
          <a:xfrm>
            <a:off x="393192" y="2532888"/>
            <a:ext cx="512064" cy="512064"/>
          </a:xfrm>
          <a:prstGeom prst="ellipse">
            <a:avLst/>
          </a:prstGeom>
          <a:solidFill>
            <a:srgbClr val="FFE3EE"/>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36" name="en_105"/>
          <p:cNvSpPr/>
          <p:nvPr/>
        </p:nvSpPr>
        <p:spPr>
          <a:xfrm>
            <a:off x="978408" y="247802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tissues</a:t>
            </a:r>
            <a:endParaRPr lang="en-US" sz="1200" dirty="0"/>
          </a:p>
        </p:txBody>
      </p:sp>
      <p:sp>
        <p:nvSpPr>
          <p:cNvPr id="37" name="R9_def106"/>
          <p:cNvSpPr/>
          <p:nvPr/>
        </p:nvSpPr>
        <p:spPr>
          <a:xfrm>
            <a:off x="978408" y="2788920"/>
            <a:ext cx="1362456" cy="329184"/>
          </a:xfrm>
          <a:prstGeom prst="rect">
            <a:avLst/>
          </a:prstGeom>
          <a:noFill/>
          <a:ln/>
        </p:spPr>
        <p:txBody>
          <a:bodyPr wrap="square" lIns="0" tIns="0" rIns="0" bIns="0" rtlCol="0" anchor="ctr">
            <a:normAutofit/>
          </a:bodyPr>
          <a:lstStyle/>
          <a:p>
            <a:pPr indent="0" marL="0">
              <a:buNone/>
            </a:pPr>
            <a:r>
              <a:rPr lang="en-US" sz="850" dirty="0">
                <a:solidFill>
                  <a:srgbClr val="5B6785"/>
                </a:solidFill>
                <a:latin typeface="Segoe UI" pitchFamily="34" charset="0"/>
                <a:ea typeface="Segoe UI" pitchFamily="34" charset="-122"/>
                <a:cs typeface="Segoe UI" pitchFamily="34" charset="-120"/>
              </a:rPr>
              <a:t>for your nose</a:t>
            </a:r>
            <a:endParaRPr lang="en-US" sz="850" dirty="0"/>
          </a:p>
        </p:txBody>
      </p:sp>
      <p:sp>
        <p:nvSpPr>
          <p:cNvPr id="38" name="R10_it107"/>
          <p:cNvSpPr/>
          <p:nvPr/>
        </p:nvSpPr>
        <p:spPr>
          <a:xfrm>
            <a:off x="978408" y="3127248"/>
            <a:ext cx="1362456" cy="182880"/>
          </a:xfrm>
          <a:prstGeom prst="rect">
            <a:avLst/>
          </a:prstGeom>
          <a:noFill/>
          <a:ln/>
        </p:spPr>
        <p:txBody>
          <a:bodyPr wrap="square" lIns="0" tIns="0" rIns="0" bIns="0" rtlCol="0" anchor="ctr">
            <a:normAutofit/>
          </a:bodyPr>
          <a:lstStyle/>
          <a:p>
            <a:pPr indent="0" marL="0">
              <a:buNone/>
            </a:pPr>
            <a:r>
              <a:rPr lang="en-US" sz="900" i="1" dirty="0">
                <a:solidFill>
                  <a:srgbClr val="2EB872"/>
                </a:solidFill>
                <a:latin typeface="Segoe UI Semibold" pitchFamily="34" charset="0"/>
                <a:ea typeface="Segoe UI Semibold" pitchFamily="34" charset="-122"/>
                <a:cs typeface="Segoe UI Semibold" pitchFamily="34" charset="-120"/>
              </a:rPr>
              <a:t>fazzoletti di carta</a:t>
            </a:r>
            <a:endParaRPr lang="en-US" sz="900" dirty="0"/>
          </a:p>
        </p:txBody>
      </p:sp>
      <p:sp>
        <p:nvSpPr>
          <p:cNvPr id="39" name="cd_108"/>
          <p:cNvSpPr/>
          <p:nvPr/>
        </p:nvSpPr>
        <p:spPr>
          <a:xfrm>
            <a:off x="2487168" y="2423160"/>
            <a:ext cx="2075688" cy="914400"/>
          </a:xfrm>
          <a:prstGeom prst="roundRect">
            <a:avLst>
              <a:gd name="adj" fmla="val 14000"/>
            </a:avLst>
          </a:prstGeom>
          <a:solidFill>
            <a:srgbClr val="FFFFFF"/>
          </a:solidFill>
          <a:ln w="19050">
            <a:solidFill>
              <a:srgbClr val="A9D3F5"/>
            </a:solidFill>
            <a:prstDash val="solid"/>
          </a:ln>
          <a:effectLst>
            <a:outerShdw sx="100000" sy="100000" kx="0" ky="0" algn="bl" rotWithShape="0" blurRad="88900" dist="31750" dir="5400000">
              <a:srgbClr val="1B2559">
                <a:alpha val="12000"/>
              </a:srgbClr>
            </a:outerShdw>
          </a:effectLst>
        </p:spPr>
      </p:sp>
      <p:sp>
        <p:nvSpPr>
          <p:cNvPr id="40" name="e_109"/>
          <p:cNvSpPr/>
          <p:nvPr/>
        </p:nvSpPr>
        <p:spPr>
          <a:xfrm>
            <a:off x="2560320" y="2532888"/>
            <a:ext cx="512064" cy="512064"/>
          </a:xfrm>
          <a:prstGeom prst="ellipse">
            <a:avLst/>
          </a:prstGeom>
          <a:solidFill>
            <a:srgbClr val="E3F1FD"/>
          </a:solidFill>
          <a:ln/>
        </p:spPr>
        <p:txBody>
          <a:bodyPr wrap="square" lIns="0" tIns="0" rIns="0" bIns="0" rtlCol="0" anchor="ctr"/>
          <a:lstStyle/>
          <a:p>
            <a:pPr algn="ctr" indent="0" marL="0">
              <a:buNone/>
            </a:pPr>
            <a:r>
              <a:rPr lang="en-US" sz="2000" dirty="0">
                <a:solidFill>
                  <a:srgbClr val="000000"/>
                </a:solidFill>
              </a:rPr>
              <a:t>🔌</a:t>
            </a:r>
            <a:endParaRPr lang="en-US" sz="2000" dirty="0"/>
          </a:p>
        </p:txBody>
      </p:sp>
      <p:sp>
        <p:nvSpPr>
          <p:cNvPr id="41" name="en_110"/>
          <p:cNvSpPr/>
          <p:nvPr/>
        </p:nvSpPr>
        <p:spPr>
          <a:xfrm>
            <a:off x="3145536" y="2478024"/>
            <a:ext cx="1362456" cy="329184"/>
          </a:xfrm>
          <a:prstGeom prst="rect">
            <a:avLst/>
          </a:prstGeom>
          <a:noFill/>
          <a:ln/>
        </p:spPr>
        <p:txBody>
          <a:bodyPr wrap="square" lIns="0" tIns="0" rIns="0" bIns="0" rtlCol="0" anchor="ctr">
            <a:normAutofit/>
          </a:bodyP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a charger</a:t>
            </a:r>
            <a:endParaRPr lang="en-US" sz="1200" dirty="0"/>
          </a:p>
        </p:txBody>
      </p:sp>
      <p:sp>
        <p:nvSpPr>
          <p:cNvPr id="42" name="R11_def111"/>
          <p:cNvSpPr/>
          <p:nvPr/>
        </p:nvSpPr>
        <p:spPr>
          <a:xfrm>
            <a:off x="3145536" y="2788920"/>
            <a:ext cx="1362456" cy="329184"/>
          </a:xfrm>
          <a:prstGeom prst="rect">
            <a:avLst/>
          </a:prstGeom>
          <a:noFill/>
          <a:ln/>
        </p:spPr>
        <p:txBody>
          <a:bodyPr wrap="square" lIns="0" tIns="0" rIns="0" bIns="0" rtlCol="0" anchor="ctr">
            <a:normAutofit/>
          </a:bodyPr>
          <a:lstStyle/>
          <a:p>
            <a:pPr indent="0" marL="0">
              <a:buNone/>
            </a:pPr>
            <a:r>
              <a:rPr lang="en-US" sz="850" dirty="0">
                <a:solidFill>
                  <a:srgbClr val="5B6785"/>
                </a:solidFill>
                <a:latin typeface="Segoe UI" pitchFamily="34" charset="0"/>
                <a:ea typeface="Segoe UI" pitchFamily="34" charset="-122"/>
                <a:cs typeface="Segoe UI" pitchFamily="34" charset="-120"/>
              </a:rPr>
              <a:t>for your phone</a:t>
            </a:r>
            <a:endParaRPr lang="en-US" sz="850" dirty="0"/>
          </a:p>
        </p:txBody>
      </p:sp>
      <p:sp>
        <p:nvSpPr>
          <p:cNvPr id="43" name="R12_it112"/>
          <p:cNvSpPr/>
          <p:nvPr/>
        </p:nvSpPr>
        <p:spPr>
          <a:xfrm>
            <a:off x="3145536" y="3127248"/>
            <a:ext cx="1362456" cy="182880"/>
          </a:xfrm>
          <a:prstGeom prst="rect">
            <a:avLst/>
          </a:prstGeom>
          <a:noFill/>
          <a:ln/>
        </p:spPr>
        <p:txBody>
          <a:bodyPr wrap="square" lIns="0" tIns="0" rIns="0" bIns="0" rtlCol="0" anchor="ctr">
            <a:normAutofit/>
          </a:bodyPr>
          <a:lstStyle/>
          <a:p>
            <a:pPr indent="0" marL="0">
              <a:buNone/>
            </a:pPr>
            <a:r>
              <a:rPr lang="en-US" sz="900" i="1" dirty="0">
                <a:solidFill>
                  <a:srgbClr val="2EB872"/>
                </a:solidFill>
                <a:latin typeface="Segoe UI Semibold" pitchFamily="34" charset="0"/>
                <a:ea typeface="Segoe UI Semibold" pitchFamily="34" charset="-122"/>
                <a:cs typeface="Segoe UI Semibold" pitchFamily="34" charset="-120"/>
              </a:rPr>
              <a:t>caricabatterie</a:t>
            </a:r>
            <a:endParaRPr lang="en-US" sz="900" dirty="0"/>
          </a:p>
        </p:txBody>
      </p:sp>
      <p:sp>
        <p:nvSpPr>
          <p:cNvPr id="44" name="R13_wc113"/>
          <p:cNvSpPr/>
          <p:nvPr/>
        </p:nvSpPr>
        <p:spPr>
          <a:xfrm>
            <a:off x="320040" y="3474720"/>
            <a:ext cx="8549640" cy="457200"/>
          </a:xfrm>
          <a:prstGeom prst="roundRect">
            <a:avLst>
              <a:gd name="adj" fmla="val 28000"/>
            </a:avLst>
          </a:prstGeom>
          <a:solidFill>
            <a:srgbClr val="FFE3EE"/>
          </a:solidFill>
          <a:ln w="19050">
            <a:solidFill>
              <a:srgbClr val="F7A6C4"/>
            </a:solidFill>
            <a:prstDash val="solid"/>
          </a:ln>
          <a:effectLst>
            <a:outerShdw sx="100000" sy="100000" kx="0" ky="0" algn="bl" rotWithShape="0" blurRad="88900" dist="31750" dir="5400000">
              <a:srgbClr val="1B2559">
                <a:alpha val="12000"/>
              </a:srgbClr>
            </a:outerShdw>
          </a:effectLst>
        </p:spPr>
      </p:sp>
      <p:sp>
        <p:nvSpPr>
          <p:cNvPr id="45" name="R13_w114"/>
          <p:cNvSpPr/>
          <p:nvPr/>
        </p:nvSpPr>
        <p:spPr>
          <a:xfrm>
            <a:off x="457200" y="3474720"/>
            <a:ext cx="8321040" cy="457200"/>
          </a:xfrm>
          <a:prstGeom prst="rect">
            <a:avLst/>
          </a:prstGeom>
          <a:noFill/>
          <a:ln/>
        </p:spPr>
        <p:txBody>
          <a:bodyPr wrap="square" lIns="0" tIns="0" rIns="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 Watch out!  purse ≠ borsa (= bag)  ·  sunglasses / glasses = ALWAYS plural: They're my sunglasses.</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4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fade">
                                      <p:cBhvr>
                                        <p:cTn id="12" dur="400"/>
                                        <p:tgtEl>
                                          <p:spTgt spid="1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fade">
                                      <p:cBhvr>
                                        <p:cTn id="17" dur="400"/>
                                        <p:tgtEl>
                                          <p:spTgt spid="2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3"/>
                                        </p:tgtEl>
                                        <p:attrNameLst>
                                          <p:attrName>style.visibility</p:attrName>
                                        </p:attrNameLst>
                                      </p:cBhvr>
                                      <p:to>
                                        <p:strVal val="visible"/>
                                      </p:to>
                                    </p:set>
                                    <p:animEffect transition="in" filter="fade">
                                      <p:cBhvr>
                                        <p:cTn id="22" dur="400"/>
                                        <p:tgtEl>
                                          <p:spTgt spid="23"/>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7"/>
                                        </p:tgtEl>
                                        <p:attrNameLst>
                                          <p:attrName>style.visibility</p:attrName>
                                        </p:attrNameLst>
                                      </p:cBhvr>
                                      <p:to>
                                        <p:strVal val="visible"/>
                                      </p:to>
                                    </p:set>
                                    <p:animEffect transition="in" filter="fade">
                                      <p:cBhvr>
                                        <p:cTn id="27" dur="400"/>
                                        <p:tgtEl>
                                          <p:spTgt spid="27"/>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8"/>
                                        </p:tgtEl>
                                        <p:attrNameLst>
                                          <p:attrName>style.visibility</p:attrName>
                                        </p:attrNameLst>
                                      </p:cBhvr>
                                      <p:to>
                                        <p:strVal val="visible"/>
                                      </p:to>
                                    </p:set>
                                    <p:animEffect transition="in" filter="fade">
                                      <p:cBhvr>
                                        <p:cTn id="32" dur="400"/>
                                        <p:tgtEl>
                                          <p:spTgt spid="2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32"/>
                                        </p:tgtEl>
                                        <p:attrNameLst>
                                          <p:attrName>style.visibility</p:attrName>
                                        </p:attrNameLst>
                                      </p:cBhvr>
                                      <p:to>
                                        <p:strVal val="visible"/>
                                      </p:to>
                                    </p:set>
                                    <p:animEffect transition="in" filter="fade">
                                      <p:cBhvr>
                                        <p:cTn id="37" dur="400"/>
                                        <p:tgtEl>
                                          <p:spTgt spid="32"/>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33"/>
                                        </p:tgtEl>
                                        <p:attrNameLst>
                                          <p:attrName>style.visibility</p:attrName>
                                        </p:attrNameLst>
                                      </p:cBhvr>
                                      <p:to>
                                        <p:strVal val="visible"/>
                                      </p:to>
                                    </p:set>
                                    <p:animEffect transition="in" filter="fade">
                                      <p:cBhvr>
                                        <p:cTn id="42" dur="400"/>
                                        <p:tgtEl>
                                          <p:spTgt spid="33"/>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37"/>
                                        </p:tgtEl>
                                        <p:attrNameLst>
                                          <p:attrName>style.visibility</p:attrName>
                                        </p:attrNameLst>
                                      </p:cBhvr>
                                      <p:to>
                                        <p:strVal val="visible"/>
                                      </p:to>
                                    </p:set>
                                    <p:animEffect transition="in" filter="fade">
                                      <p:cBhvr>
                                        <p:cTn id="47" dur="400"/>
                                        <p:tgtEl>
                                          <p:spTgt spid="37"/>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38"/>
                                        </p:tgtEl>
                                        <p:attrNameLst>
                                          <p:attrName>style.visibility</p:attrName>
                                        </p:attrNameLst>
                                      </p:cBhvr>
                                      <p:to>
                                        <p:strVal val="visible"/>
                                      </p:to>
                                    </p:set>
                                    <p:animEffect transition="in" filter="fade">
                                      <p:cBhvr>
                                        <p:cTn id="52" dur="400"/>
                                        <p:tgtEl>
                                          <p:spTgt spid="38"/>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42"/>
                                        </p:tgtEl>
                                        <p:attrNameLst>
                                          <p:attrName>style.visibility</p:attrName>
                                        </p:attrNameLst>
                                      </p:cBhvr>
                                      <p:to>
                                        <p:strVal val="visible"/>
                                      </p:to>
                                    </p:set>
                                    <p:animEffect transition="in" filter="fade">
                                      <p:cBhvr>
                                        <p:cTn id="57" dur="400"/>
                                        <p:tgtEl>
                                          <p:spTgt spid="42"/>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43"/>
                                        </p:tgtEl>
                                        <p:attrNameLst>
                                          <p:attrName>style.visibility</p:attrName>
                                        </p:attrNameLst>
                                      </p:cBhvr>
                                      <p:to>
                                        <p:strVal val="visible"/>
                                      </p:to>
                                    </p:set>
                                    <p:animEffect transition="in" filter="fade">
                                      <p:cBhvr>
                                        <p:cTn id="62" dur="400"/>
                                        <p:tgtEl>
                                          <p:spTgt spid="43"/>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44"/>
                                        </p:tgtEl>
                                        <p:attrNameLst>
                                          <p:attrName>style.visibility</p:attrName>
                                        </p:attrNameLst>
                                      </p:cBhvr>
                                      <p:to>
                                        <p:strVal val="visible"/>
                                      </p:to>
                                    </p:set>
                                    <p:animEffect transition="in" filter="fade">
                                      <p:cBhvr>
                                        <p:cTn id="67" dur="400"/>
                                        <p:tgtEl>
                                          <p:spTgt spid="44"/>
                                        </p:tgtEl>
                                      </p:cBhvr>
                                    </p:animEffect>
                                  </p:childTnLst>
                                </p:cTn>
                              </p:par>
                              <p:par>
                                <p:cTn id="68" presetID="10" presetClass="entr" presetSubtype="0" fill="hold" nodeType="withEffect">
                                  <p:stCondLst>
                                    <p:cond delay="0"/>
                                  </p:stCondLst>
                                  <p:childTnLst>
                                    <p:set>
                                      <p:cBhvr>
                                        <p:cTn id="69" dur="1" fill="hold">
                                          <p:stCondLst>
                                            <p:cond delay="0"/>
                                          </p:stCondLst>
                                        </p:cTn>
                                        <p:tgtEl>
                                          <p:spTgt spid="45"/>
                                        </p:tgtEl>
                                        <p:attrNameLst>
                                          <p:attrName>style.visibility</p:attrName>
                                        </p:attrNameLst>
                                      </p:cBhvr>
                                      <p:to>
                                        <p:strVal val="visible"/>
                                      </p:to>
                                    </p:set>
                                    <p:animEffect transition="in" filter="fade">
                                      <p:cBhvr>
                                        <p:cTn id="70" dur="4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15"/>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5</a:t>
            </a:r>
            <a:endParaRPr lang="en-US" sz="2800" dirty="0"/>
          </a:p>
        </p:txBody>
      </p:sp>
      <p:pic>
        <p:nvPicPr>
          <p:cNvPr id="4" name="brY_116" descr="/home/claude/lls-course/v2/assets/brush-yellow.png">    </p:cNvPr>
          <p:cNvPicPr>
            <a:picLocks noChangeAspect="1"/>
          </p:cNvPicPr>
          <p:nvPr/>
        </p:nvPicPr>
        <p:blipFill>
          <a:blip r:embed="rId2"/>
          <a:stretch>
            <a:fillRect/>
          </a:stretch>
        </p:blipFill>
        <p:spPr>
          <a:xfrm>
            <a:off x="1097280" y="146304"/>
            <a:ext cx="4820717" cy="621792"/>
          </a:xfrm>
          <a:prstGeom prst="rect">
            <a:avLst/>
          </a:prstGeom>
        </p:spPr>
      </p:pic>
      <p:sp>
        <p:nvSpPr>
          <p:cNvPr id="5" name="title_117"/>
          <p:cNvSpPr/>
          <p:nvPr/>
        </p:nvSpPr>
        <p:spPr>
          <a:xfrm>
            <a:off x="1261872" y="164592"/>
            <a:ext cx="4546397"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What is it? What are they?</a:t>
            </a:r>
            <a:endParaRPr lang="en-US" sz="2500" dirty="0"/>
          </a:p>
        </p:txBody>
      </p:sp>
      <p:pic>
        <p:nvPicPr>
          <p:cNvPr id="6" name="brP_118" descr="/home/claude/lls-course/v2/assets/brush-pink.png">    </p:cNvPr>
          <p:cNvPicPr>
            <a:picLocks noChangeAspect="1"/>
          </p:cNvPicPr>
          <p:nvPr/>
        </p:nvPicPr>
        <p:blipFill>
          <a:blip r:embed="rId3"/>
          <a:stretch>
            <a:fillRect/>
          </a:stretch>
        </p:blipFill>
        <p:spPr>
          <a:xfrm>
            <a:off x="1207008" y="731520"/>
            <a:ext cx="4640580" cy="402336"/>
          </a:xfrm>
          <a:prstGeom prst="rect">
            <a:avLst/>
          </a:prstGeom>
        </p:spPr>
      </p:pic>
      <p:sp>
        <p:nvSpPr>
          <p:cNvPr id="7" name="ins_119"/>
          <p:cNvSpPr/>
          <p:nvPr/>
        </p:nvSpPr>
        <p:spPr>
          <a:xfrm>
            <a:off x="1353312" y="731520"/>
            <a:ext cx="438454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Look at the picture. Say: It's a… or They're…</a:t>
            </a:r>
            <a:endParaRPr lang="en-US" sz="1250" dirty="0"/>
          </a:p>
        </p:txBody>
      </p:sp>
      <p:sp>
        <p:nvSpPr>
          <p:cNvPr id="8" name="insIT_120"/>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Guarda l'immagine. Di': It's a… o They're…</a:t>
            </a:r>
            <a:endParaRPr lang="en-US" sz="950" dirty="0"/>
          </a:p>
        </p:txBody>
      </p:sp>
      <p:sp>
        <p:nvSpPr>
          <p:cNvPr id="9" name="cmd_121"/>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LOOK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GUARDA</a:t>
            </a:r>
            <a:endParaRPr lang="en-US" sz="1100" dirty="0"/>
          </a:p>
        </p:txBody>
      </p:sp>
      <p:sp>
        <p:nvSpPr>
          <p:cNvPr id="10" name="cmd_122"/>
          <p:cNvSpPr/>
          <p:nvPr/>
        </p:nvSpPr>
        <p:spPr>
          <a:xfrm>
            <a:off x="6510528" y="566928"/>
            <a:ext cx="1901952" cy="329184"/>
          </a:xfrm>
          <a:prstGeom prst="roundRect">
            <a:avLst>
              <a:gd name="adj" fmla="val 50000"/>
            </a:avLst>
          </a:prstGeom>
          <a:solidFill>
            <a:srgbClr val="FFFFFF"/>
          </a:solidFill>
          <a:ln w="25400">
            <a:solidFill>
              <a:srgbClr val="F7A6C4"/>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E8508F"/>
                </a:solidFill>
                <a:latin typeface="Arial Rounded MT Bold" pitchFamily="34" charset="0"/>
                <a:ea typeface="Arial Rounded MT Bold" pitchFamily="34" charset="-122"/>
                <a:cs typeface="Arial Rounded MT Bold" pitchFamily="34" charset="-120"/>
              </a:rPr>
              <a:t>TALK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PARLA</a:t>
            </a:r>
            <a:endParaRPr lang="en-US" sz="1100" dirty="0"/>
          </a:p>
        </p:txBody>
      </p:sp>
      <p:sp>
        <p:nvSpPr>
          <p:cNvPr id="11" name="meta_123"/>
          <p:cNvSpPr/>
          <p:nvPr/>
        </p:nvSpPr>
        <p:spPr>
          <a:xfrm>
            <a:off x="6583680" y="950976"/>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4 min   👥 pairs</a:t>
            </a:r>
            <a:endParaRPr lang="en-US" sz="950" dirty="0"/>
          </a:p>
        </p:txBody>
      </p:sp>
      <p:pic>
        <p:nvPicPr>
          <p:cNvPr id="12" name="logo_124"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125"/>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2A · Practice · It's a… / They're…   ·   📖 SB p.14 · Vocabulary Bank activation (What is it? / What are they?)</a:t>
            </a:r>
            <a:endParaRPr lang="en-US" sz="800" dirty="0"/>
          </a:p>
        </p:txBody>
      </p:sp>
      <p:sp>
        <p:nvSpPr>
          <p:cNvPr id="14" name="cd_126"/>
          <p:cNvSpPr/>
          <p:nvPr/>
        </p:nvSpPr>
        <p:spPr>
          <a:xfrm>
            <a:off x="320040" y="1417320"/>
            <a:ext cx="2697480" cy="1097280"/>
          </a:xfrm>
          <a:prstGeom prst="roundRect">
            <a:avLst>
              <a:gd name="adj" fmla="val 11667"/>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5" name="ii_127"/>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6" name="ih_128"/>
          <p:cNvSpPr/>
          <p:nvPr/>
        </p:nvSpPr>
        <p:spPr>
          <a:xfrm>
            <a:off x="886968" y="1508760"/>
            <a:ext cx="205740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Example</a:t>
            </a:r>
            <a:endParaRPr lang="en-US" sz="1300" dirty="0"/>
          </a:p>
        </p:txBody>
      </p:sp>
      <p:sp>
        <p:nvSpPr>
          <p:cNvPr id="17" name="il_129"/>
          <p:cNvSpPr/>
          <p:nvPr/>
        </p:nvSpPr>
        <p:spPr>
          <a:xfrm>
            <a:off x="886968" y="1892808"/>
            <a:ext cx="2039112" cy="54864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050" dirty="0">
                <a:solidFill>
                  <a:srgbClr val="1B2559"/>
                </a:solidFill>
                <a:latin typeface="Segoe UI" pitchFamily="34" charset="0"/>
                <a:ea typeface="Segoe UI" pitchFamily="34" charset="-122"/>
                <a:cs typeface="Segoe UI" pitchFamily="34" charset="-120"/>
              </a:rPr>
              <a:t>0  🔑🔑 → They're keys.   ·   📱 → It's a phone.</a:t>
            </a:r>
            <a:endParaRPr lang="en-US" sz="1050" dirty="0"/>
          </a:p>
        </p:txBody>
      </p:sp>
      <p:sp>
        <p:nvSpPr>
          <p:cNvPr id="18" name="pf_130"/>
          <p:cNvSpPr/>
          <p:nvPr/>
        </p:nvSpPr>
        <p:spPr>
          <a:xfrm rot="-90000">
            <a:off x="365760" y="2697480"/>
            <a:ext cx="2606040" cy="1965960"/>
          </a:xfrm>
          <a:prstGeom prst="roundRect">
            <a:avLst>
              <a:gd name="adj" fmla="val 7907"/>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9" name="ph_131" descr="/home/claude/lls-course/v2/cache/red_2a_things_jpg_605x451_31.png">    </p:cNvPr>
          <p:cNvPicPr>
            <a:picLocks noChangeAspect="1"/>
          </p:cNvPicPr>
          <p:nvPr/>
        </p:nvPicPr>
        <p:blipFill>
          <a:blip r:embed="rId5"/>
          <a:stretch>
            <a:fillRect/>
          </a:stretch>
        </p:blipFill>
        <p:spPr>
          <a:xfrm rot="-90000">
            <a:off x="411480" y="2743200"/>
            <a:ext cx="2514600" cy="1874520"/>
          </a:xfrm>
          <a:prstGeom prst="rect">
            <a:avLst/>
          </a:prstGeom>
        </p:spPr>
      </p:pic>
      <p:sp>
        <p:nvSpPr>
          <p:cNvPr id="20" name="bd_132"/>
          <p:cNvSpPr/>
          <p:nvPr/>
        </p:nvSpPr>
        <p:spPr>
          <a:xfrm>
            <a:off x="3246120" y="1490472"/>
            <a:ext cx="310896" cy="310896"/>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1</a:t>
            </a:r>
            <a:endParaRPr lang="en-US" sz="1000" dirty="0"/>
          </a:p>
        </p:txBody>
      </p:sp>
      <p:sp>
        <p:nvSpPr>
          <p:cNvPr id="21" name="q_133"/>
          <p:cNvSpPr/>
          <p:nvPr/>
        </p:nvSpPr>
        <p:spPr>
          <a:xfrm>
            <a:off x="3630168" y="1417320"/>
            <a:ext cx="2103120" cy="457200"/>
          </a:xfrm>
          <a:prstGeom prst="roundRect">
            <a:avLst>
              <a:gd name="adj" fmla="val 20000"/>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a:t>
            </a:r>
            <a:endParaRPr lang="en-US" sz="1150" dirty="0"/>
          </a:p>
        </p:txBody>
      </p:sp>
      <p:sp>
        <p:nvSpPr>
          <p:cNvPr id="22" name="R1_chip134"/>
          <p:cNvSpPr/>
          <p:nvPr/>
        </p:nvSpPr>
        <p:spPr>
          <a:xfrm>
            <a:off x="5806440" y="1417320"/>
            <a:ext cx="3063240" cy="457200"/>
          </a:xfrm>
          <a:prstGeom prst="roundRect">
            <a:avLst>
              <a:gd name="adj" fmla="val 20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They're sunglasses.</a:t>
            </a:r>
            <a:endParaRPr lang="en-US" sz="1000" dirty="0"/>
          </a:p>
        </p:txBody>
      </p:sp>
      <p:sp>
        <p:nvSpPr>
          <p:cNvPr id="23" name="bd_135"/>
          <p:cNvSpPr/>
          <p:nvPr/>
        </p:nvSpPr>
        <p:spPr>
          <a:xfrm>
            <a:off x="3246120" y="1993392"/>
            <a:ext cx="310896" cy="310896"/>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2</a:t>
            </a:r>
            <a:endParaRPr lang="en-US" sz="1000" dirty="0"/>
          </a:p>
        </p:txBody>
      </p:sp>
      <p:sp>
        <p:nvSpPr>
          <p:cNvPr id="24" name="q_136"/>
          <p:cNvSpPr/>
          <p:nvPr/>
        </p:nvSpPr>
        <p:spPr>
          <a:xfrm>
            <a:off x="3630168" y="1920240"/>
            <a:ext cx="2103120" cy="457200"/>
          </a:xfrm>
          <a:prstGeom prst="roundRect">
            <a:avLst>
              <a:gd name="adj" fmla="val 20000"/>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a:t>
            </a:r>
            <a:endParaRPr lang="en-US" sz="1150" dirty="0"/>
          </a:p>
        </p:txBody>
      </p:sp>
      <p:sp>
        <p:nvSpPr>
          <p:cNvPr id="25" name="R2_chip137"/>
          <p:cNvSpPr/>
          <p:nvPr/>
        </p:nvSpPr>
        <p:spPr>
          <a:xfrm>
            <a:off x="5806440" y="1920240"/>
            <a:ext cx="3063240" cy="457200"/>
          </a:xfrm>
          <a:prstGeom prst="roundRect">
            <a:avLst>
              <a:gd name="adj" fmla="val 20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It's a purse.</a:t>
            </a:r>
            <a:endParaRPr lang="en-US" sz="1000" dirty="0"/>
          </a:p>
        </p:txBody>
      </p:sp>
      <p:sp>
        <p:nvSpPr>
          <p:cNvPr id="26" name="bd_138"/>
          <p:cNvSpPr/>
          <p:nvPr/>
        </p:nvSpPr>
        <p:spPr>
          <a:xfrm>
            <a:off x="3246120" y="2496312"/>
            <a:ext cx="310896" cy="310896"/>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3</a:t>
            </a:r>
            <a:endParaRPr lang="en-US" sz="1000" dirty="0"/>
          </a:p>
        </p:txBody>
      </p:sp>
      <p:sp>
        <p:nvSpPr>
          <p:cNvPr id="27" name="q_139"/>
          <p:cNvSpPr/>
          <p:nvPr/>
        </p:nvSpPr>
        <p:spPr>
          <a:xfrm>
            <a:off x="3630168" y="2423160"/>
            <a:ext cx="2103120" cy="457200"/>
          </a:xfrm>
          <a:prstGeom prst="roundRect">
            <a:avLst>
              <a:gd name="adj" fmla="val 20000"/>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a:t>
            </a:r>
            <a:endParaRPr lang="en-US" sz="1150" dirty="0"/>
          </a:p>
        </p:txBody>
      </p:sp>
      <p:sp>
        <p:nvSpPr>
          <p:cNvPr id="28" name="R3_chip140"/>
          <p:cNvSpPr/>
          <p:nvPr/>
        </p:nvSpPr>
        <p:spPr>
          <a:xfrm>
            <a:off x="5806440" y="2423160"/>
            <a:ext cx="3063240" cy="457200"/>
          </a:xfrm>
          <a:prstGeom prst="roundRect">
            <a:avLst>
              <a:gd name="adj" fmla="val 20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It's a charger.</a:t>
            </a:r>
            <a:endParaRPr lang="en-US" sz="1000" dirty="0"/>
          </a:p>
        </p:txBody>
      </p:sp>
      <p:sp>
        <p:nvSpPr>
          <p:cNvPr id="29" name="bd_141"/>
          <p:cNvSpPr/>
          <p:nvPr/>
        </p:nvSpPr>
        <p:spPr>
          <a:xfrm>
            <a:off x="3246120" y="2999232"/>
            <a:ext cx="310896" cy="310896"/>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4</a:t>
            </a:r>
            <a:endParaRPr lang="en-US" sz="1000" dirty="0"/>
          </a:p>
        </p:txBody>
      </p:sp>
      <p:sp>
        <p:nvSpPr>
          <p:cNvPr id="30" name="q_142"/>
          <p:cNvSpPr/>
          <p:nvPr/>
        </p:nvSpPr>
        <p:spPr>
          <a:xfrm>
            <a:off x="3630168" y="2926080"/>
            <a:ext cx="2103120" cy="457200"/>
          </a:xfrm>
          <a:prstGeom prst="roundRect">
            <a:avLst>
              <a:gd name="adj" fmla="val 20000"/>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a:t>
            </a:r>
            <a:endParaRPr lang="en-US" sz="1150" dirty="0"/>
          </a:p>
        </p:txBody>
      </p:sp>
      <p:sp>
        <p:nvSpPr>
          <p:cNvPr id="31" name="R4_chip143"/>
          <p:cNvSpPr/>
          <p:nvPr/>
        </p:nvSpPr>
        <p:spPr>
          <a:xfrm>
            <a:off x="5806440" y="2926080"/>
            <a:ext cx="3063240" cy="457200"/>
          </a:xfrm>
          <a:prstGeom prst="roundRect">
            <a:avLst>
              <a:gd name="adj" fmla="val 20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They're tissues.</a:t>
            </a:r>
            <a:endParaRPr lang="en-US" sz="1000" dirty="0"/>
          </a:p>
        </p:txBody>
      </p:sp>
      <p:sp>
        <p:nvSpPr>
          <p:cNvPr id="32" name="bd_144"/>
          <p:cNvSpPr/>
          <p:nvPr/>
        </p:nvSpPr>
        <p:spPr>
          <a:xfrm>
            <a:off x="3246120" y="3502152"/>
            <a:ext cx="310896" cy="310896"/>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5</a:t>
            </a:r>
            <a:endParaRPr lang="en-US" sz="1000" dirty="0"/>
          </a:p>
        </p:txBody>
      </p:sp>
      <p:sp>
        <p:nvSpPr>
          <p:cNvPr id="33" name="q_145"/>
          <p:cNvSpPr/>
          <p:nvPr/>
        </p:nvSpPr>
        <p:spPr>
          <a:xfrm>
            <a:off x="3630168" y="3429000"/>
            <a:ext cx="2103120" cy="457200"/>
          </a:xfrm>
          <a:prstGeom prst="roundRect">
            <a:avLst>
              <a:gd name="adj" fmla="val 20000"/>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a:t>
            </a:r>
            <a:endParaRPr lang="en-US" sz="1150" dirty="0"/>
          </a:p>
        </p:txBody>
      </p:sp>
      <p:sp>
        <p:nvSpPr>
          <p:cNvPr id="34" name="R5_chip146"/>
          <p:cNvSpPr/>
          <p:nvPr/>
        </p:nvSpPr>
        <p:spPr>
          <a:xfrm>
            <a:off x="5806440" y="3429000"/>
            <a:ext cx="3063240" cy="457200"/>
          </a:xfrm>
          <a:prstGeom prst="roundRect">
            <a:avLst>
              <a:gd name="adj" fmla="val 20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It's a wallet.</a:t>
            </a:r>
            <a:endParaRPr lang="en-US" sz="1000" dirty="0"/>
          </a:p>
        </p:txBody>
      </p:sp>
      <p:sp>
        <p:nvSpPr>
          <p:cNvPr id="35" name="bd_147"/>
          <p:cNvSpPr/>
          <p:nvPr/>
        </p:nvSpPr>
        <p:spPr>
          <a:xfrm>
            <a:off x="3246120" y="4005072"/>
            <a:ext cx="310896" cy="310896"/>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6</a:t>
            </a:r>
            <a:endParaRPr lang="en-US" sz="1000" dirty="0"/>
          </a:p>
        </p:txBody>
      </p:sp>
      <p:sp>
        <p:nvSpPr>
          <p:cNvPr id="36" name="q_148"/>
          <p:cNvSpPr/>
          <p:nvPr/>
        </p:nvSpPr>
        <p:spPr>
          <a:xfrm>
            <a:off x="3630168" y="3931920"/>
            <a:ext cx="2103120" cy="457200"/>
          </a:xfrm>
          <a:prstGeom prst="roundRect">
            <a:avLst>
              <a:gd name="adj" fmla="val 20000"/>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a:t>
            </a:r>
            <a:endParaRPr lang="en-US" sz="1150" dirty="0"/>
          </a:p>
        </p:txBody>
      </p:sp>
      <p:sp>
        <p:nvSpPr>
          <p:cNvPr id="37" name="R6_chip149"/>
          <p:cNvSpPr/>
          <p:nvPr/>
        </p:nvSpPr>
        <p:spPr>
          <a:xfrm>
            <a:off x="5806440" y="3931920"/>
            <a:ext cx="3063240" cy="457200"/>
          </a:xfrm>
          <a:prstGeom prst="roundRect">
            <a:avLst>
              <a:gd name="adj" fmla="val 20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It's an umbrella. (an + a, e, i, o, u)</a:t>
            </a:r>
            <a:endParaRPr lang="en-US" sz="10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4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fade">
                                      <p:cBhvr>
                                        <p:cTn id="12" dur="4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fade">
                                      <p:cBhvr>
                                        <p:cTn id="17" dur="4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400"/>
                                        <p:tgtEl>
                                          <p:spTgt spid="31"/>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4"/>
                                        </p:tgtEl>
                                        <p:attrNameLst>
                                          <p:attrName>style.visibility</p:attrName>
                                        </p:attrNameLst>
                                      </p:cBhvr>
                                      <p:to>
                                        <p:strVal val="visible"/>
                                      </p:to>
                                    </p:set>
                                    <p:animEffect transition="in" filter="fade">
                                      <p:cBhvr>
                                        <p:cTn id="27" dur="400"/>
                                        <p:tgtEl>
                                          <p:spTgt spid="34"/>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7"/>
                                        </p:tgtEl>
                                        <p:attrNameLst>
                                          <p:attrName>style.visibility</p:attrName>
                                        </p:attrNameLst>
                                      </p:cBhvr>
                                      <p:to>
                                        <p:strVal val="visible"/>
                                      </p:to>
                                    </p:set>
                                    <p:animEffect transition="in" filter="fade">
                                      <p:cBhvr>
                                        <p:cTn id="32" dur="4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50"/>
          <p:cNvSpPr/>
          <p:nvPr/>
        </p:nvSpPr>
        <p:spPr>
          <a:xfrm>
            <a:off x="201168" y="164592"/>
            <a:ext cx="841248" cy="841248"/>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6</a:t>
            </a:r>
            <a:endParaRPr lang="en-US" sz="2800" dirty="0"/>
          </a:p>
        </p:txBody>
      </p:sp>
      <p:pic>
        <p:nvPicPr>
          <p:cNvPr id="4" name="brY_151" descr="/home/claude/lls-course/v2/assets/brush-yellow.png">    </p:cNvPr>
          <p:cNvPicPr>
            <a:picLocks noChangeAspect="1"/>
          </p:cNvPicPr>
          <p:nvPr/>
        </p:nvPicPr>
        <p:blipFill>
          <a:blip r:embed="rId2"/>
          <a:stretch>
            <a:fillRect/>
          </a:stretch>
        </p:blipFill>
        <p:spPr>
          <a:xfrm>
            <a:off x="1097280" y="146304"/>
            <a:ext cx="4034333" cy="621792"/>
          </a:xfrm>
          <a:prstGeom prst="rect">
            <a:avLst/>
          </a:prstGeom>
        </p:spPr>
      </p:pic>
      <p:sp>
        <p:nvSpPr>
          <p:cNvPr id="5" name="title_152"/>
          <p:cNvSpPr/>
          <p:nvPr/>
        </p:nvSpPr>
        <p:spPr>
          <a:xfrm>
            <a:off x="1261872" y="164592"/>
            <a:ext cx="3760013"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Where are Tom's keys?</a:t>
            </a:r>
            <a:endParaRPr lang="en-US" sz="2400" dirty="0"/>
          </a:p>
        </p:txBody>
      </p:sp>
      <p:pic>
        <p:nvPicPr>
          <p:cNvPr id="6" name="brP_153" descr="/home/claude/lls-course/v2/assets/brush-pink.png">    </p:cNvPr>
          <p:cNvPicPr>
            <a:picLocks noChangeAspect="1"/>
          </p:cNvPicPr>
          <p:nvPr/>
        </p:nvPicPr>
        <p:blipFill>
          <a:blip r:embed="rId3"/>
          <a:stretch>
            <a:fillRect/>
          </a:stretch>
        </p:blipFill>
        <p:spPr>
          <a:xfrm>
            <a:off x="1207008" y="731520"/>
            <a:ext cx="5248656" cy="402336"/>
          </a:xfrm>
          <a:prstGeom prst="rect">
            <a:avLst/>
          </a:prstGeom>
        </p:spPr>
      </p:pic>
      <p:sp>
        <p:nvSpPr>
          <p:cNvPr id="7" name="ins_154"/>
          <p:cNvSpPr/>
          <p:nvPr/>
        </p:nvSpPr>
        <p:spPr>
          <a:xfrm>
            <a:off x="1353312" y="731520"/>
            <a:ext cx="4992624"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Listen to the story. Answer the teacher's questions.</a:t>
            </a:r>
            <a:endParaRPr lang="en-US" sz="1250" dirty="0"/>
          </a:p>
        </p:txBody>
      </p:sp>
      <p:sp>
        <p:nvSpPr>
          <p:cNvPr id="8" name="insIT_155"/>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Ascolta la storia. Rispondi alle domande dell'insegnante.</a:t>
            </a:r>
            <a:endParaRPr lang="en-US" sz="950" dirty="0"/>
          </a:p>
        </p:txBody>
      </p:sp>
      <p:sp>
        <p:nvSpPr>
          <p:cNvPr id="9" name="cmd_156"/>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LISTEN</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ASCOLTA</a:t>
            </a:r>
            <a:endParaRPr lang="en-US" sz="1100" dirty="0"/>
          </a:p>
        </p:txBody>
      </p:sp>
      <p:sp>
        <p:nvSpPr>
          <p:cNvPr id="10" name="cmd_157"/>
          <p:cNvSpPr/>
          <p:nvPr/>
        </p:nvSpPr>
        <p:spPr>
          <a:xfrm>
            <a:off x="6510528" y="566928"/>
            <a:ext cx="1901952" cy="329184"/>
          </a:xfrm>
          <a:prstGeom prst="roundRect">
            <a:avLst>
              <a:gd name="adj" fmla="val 50000"/>
            </a:avLst>
          </a:prstGeom>
          <a:solidFill>
            <a:srgbClr val="FFFFFF"/>
          </a:solidFill>
          <a:ln w="25400">
            <a:solidFill>
              <a:srgbClr val="F7A6C4"/>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E8508F"/>
                </a:solidFill>
                <a:latin typeface="Arial Rounded MT Bold" pitchFamily="34" charset="0"/>
                <a:ea typeface="Arial Rounded MT Bold" pitchFamily="34" charset="-122"/>
                <a:cs typeface="Arial Rounded MT Bold" pitchFamily="34" charset="-120"/>
              </a:rPr>
              <a:t>TALK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PARLA</a:t>
            </a:r>
            <a:endParaRPr lang="en-US" sz="1100" dirty="0"/>
          </a:p>
        </p:txBody>
      </p:sp>
      <p:sp>
        <p:nvSpPr>
          <p:cNvPr id="11" name="meta_158"/>
          <p:cNvSpPr/>
          <p:nvPr/>
        </p:nvSpPr>
        <p:spPr>
          <a:xfrm>
            <a:off x="6583680" y="950976"/>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6 min   🙋 whole class</a:t>
            </a:r>
            <a:endParaRPr lang="en-US" sz="950" dirty="0"/>
          </a:p>
        </p:txBody>
      </p:sp>
      <p:pic>
        <p:nvPicPr>
          <p:cNvPr id="12" name="logo_159"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160"/>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2A · Story (TPRS) · ask and answer   ·   📖 Our story (TPRS) · today's 6 words + in, on, under</a:t>
            </a:r>
            <a:endParaRPr lang="en-US" sz="800" dirty="0"/>
          </a:p>
        </p:txBody>
      </p:sp>
      <p:sp>
        <p:nvSpPr>
          <p:cNvPr id="14" name="cd_161"/>
          <p:cNvSpPr/>
          <p:nvPr/>
        </p:nvSpPr>
        <p:spPr>
          <a:xfrm>
            <a:off x="320040" y="1417320"/>
            <a:ext cx="5715000" cy="3337560"/>
          </a:xfrm>
          <a:prstGeom prst="roundRect">
            <a:avLst>
              <a:gd name="adj" fmla="val 3836"/>
            </a:avLst>
          </a:prstGeom>
          <a:solidFill>
            <a:srgbClr val="FFFFFF"/>
          </a:solidFill>
          <a:ln w="19050">
            <a:solidFill>
              <a:srgbClr val="A8E5BE"/>
            </a:solidFill>
            <a:prstDash val="solid"/>
          </a:ln>
          <a:effectLst>
            <a:outerShdw sx="100000" sy="100000" kx="0" ky="0" algn="bl" rotWithShape="0" blurRad="88900" dist="31750" dir="5400000">
              <a:srgbClr val="1B2559">
                <a:alpha val="12000"/>
              </a:srgbClr>
            </a:outerShdw>
          </a:effectLst>
        </p:spPr>
      </p:sp>
      <p:sp>
        <p:nvSpPr>
          <p:cNvPr id="15" name="sh_162"/>
          <p:cNvSpPr/>
          <p:nvPr/>
        </p:nvSpPr>
        <p:spPr>
          <a:xfrm>
            <a:off x="320040" y="1417320"/>
            <a:ext cx="5715000" cy="438912"/>
          </a:xfrm>
          <a:prstGeom prst="rect">
            <a:avLst/>
          </a:prstGeom>
          <a:solidFill>
            <a:srgbClr val="E3F7EA"/>
          </a:solidFill>
          <a:ln/>
        </p:spPr>
        <p:txBody>
          <a:bodyPr wrap="square" lIns="203200" tIns="0" rIns="203200" bIns="0" rtlCol="0" anchor="ctr"/>
          <a:lstStyle/>
          <a:p>
            <a:pPr indent="0" marL="0">
              <a:buNone/>
            </a:pPr>
            <a:r>
              <a:rPr lang="en-US" sz="1700" b="1" dirty="0">
                <a:solidFill>
                  <a:srgbClr val="1F6F43"/>
                </a:solidFill>
                <a:latin typeface="Georgia" pitchFamily="34" charset="0"/>
                <a:ea typeface="Georgia" pitchFamily="34" charset="-122"/>
                <a:cs typeface="Georgia" pitchFamily="34" charset="-120"/>
              </a:rPr>
              <a:t>Tom is very untidy</a:t>
            </a:r>
            <a:endParaRPr lang="en-US" sz="1700" dirty="0"/>
          </a:p>
        </p:txBody>
      </p:sp>
      <p:sp>
        <p:nvSpPr>
          <p:cNvPr id="16" name="ln_163"/>
          <p:cNvSpPr/>
          <p:nvPr/>
        </p:nvSpPr>
        <p:spPr>
          <a:xfrm>
            <a:off x="548640" y="1920240"/>
            <a:ext cx="5349240" cy="548640"/>
          </a:xfrm>
          <a:prstGeom prst="rect">
            <a:avLst/>
          </a:prstGeom>
          <a:noFill/>
          <a:ln/>
        </p:spPr>
        <p:txBody>
          <a:bodyPr wrap="square" lIns="0" tIns="0" rIns="0" bIns="0" rtlCol="0" anchor="ctr">
            <a:normAutofit/>
          </a:bodyPr>
          <a:lstStyle/>
          <a:p>
            <a:pPr indent="0" marL="0">
              <a:buNone/>
            </a:pPr>
            <a:r>
              <a:rPr lang="en-US" sz="1400" dirty="0">
                <a:solidFill>
                  <a:srgbClr val="1B2559"/>
                </a:solidFill>
                <a:latin typeface="Georgia" pitchFamily="34" charset="0"/>
                <a:ea typeface="Georgia" pitchFamily="34" charset="-122"/>
                <a:cs typeface="Georgia" pitchFamily="34" charset="-120"/>
              </a:rPr>
              <a:t>Tom is very untidy. It's 8 o'clock and Tom is late.</a:t>
            </a:r>
            <a:endParaRPr lang="en-US" sz="1400" dirty="0"/>
          </a:p>
        </p:txBody>
      </p:sp>
      <p:sp>
        <p:nvSpPr>
          <p:cNvPr id="17" name="ln_164"/>
          <p:cNvSpPr/>
          <p:nvPr/>
        </p:nvSpPr>
        <p:spPr>
          <a:xfrm>
            <a:off x="548640" y="2468880"/>
            <a:ext cx="5349240" cy="548640"/>
          </a:xfrm>
          <a:prstGeom prst="rect">
            <a:avLst/>
          </a:prstGeom>
          <a:noFill/>
          <a:ln/>
        </p:spPr>
        <p:txBody>
          <a:bodyPr wrap="square" lIns="0" tIns="0" rIns="0" bIns="0" rtlCol="0" anchor="ctr">
            <a:normAutofit/>
          </a:bodyPr>
          <a:lstStyle/>
          <a:p>
            <a:pPr indent="0" marL="0">
              <a:buNone/>
            </a:pPr>
            <a:r>
              <a:rPr lang="en-US" sz="1400" dirty="0">
                <a:solidFill>
                  <a:srgbClr val="1B2559"/>
                </a:solidFill>
                <a:latin typeface="Georgia" pitchFamily="34" charset="0"/>
                <a:ea typeface="Georgia" pitchFamily="34" charset="-122"/>
                <a:cs typeface="Georgia" pitchFamily="34" charset="-120"/>
              </a:rPr>
              <a:t>Where are his keys? 🔑 They aren't in his bag.</a:t>
            </a:r>
            <a:endParaRPr lang="en-US" sz="1400" dirty="0"/>
          </a:p>
        </p:txBody>
      </p:sp>
      <p:sp>
        <p:nvSpPr>
          <p:cNvPr id="18" name="ln_165"/>
          <p:cNvSpPr/>
          <p:nvPr/>
        </p:nvSpPr>
        <p:spPr>
          <a:xfrm>
            <a:off x="548640" y="3017520"/>
            <a:ext cx="5349240" cy="548640"/>
          </a:xfrm>
          <a:prstGeom prst="rect">
            <a:avLst/>
          </a:prstGeom>
          <a:noFill/>
          <a:ln/>
        </p:spPr>
        <p:txBody>
          <a:bodyPr wrap="square" lIns="0" tIns="0" rIns="0" bIns="0" rtlCol="0" anchor="ctr">
            <a:normAutofit/>
          </a:bodyPr>
          <a:lstStyle/>
          <a:p>
            <a:pPr indent="0" marL="0">
              <a:buNone/>
            </a:pPr>
            <a:r>
              <a:rPr lang="en-US" sz="1400" dirty="0">
                <a:solidFill>
                  <a:srgbClr val="1B2559"/>
                </a:solidFill>
                <a:latin typeface="Georgia" pitchFamily="34" charset="0"/>
                <a:ea typeface="Georgia" pitchFamily="34" charset="-122"/>
                <a:cs typeface="Georgia" pitchFamily="34" charset="-120"/>
              </a:rPr>
              <a:t>His wallet is on the table. His sunglasses are under the chair.</a:t>
            </a:r>
            <a:endParaRPr lang="en-US" sz="1400" dirty="0"/>
          </a:p>
        </p:txBody>
      </p:sp>
      <p:sp>
        <p:nvSpPr>
          <p:cNvPr id="19" name="ln_166"/>
          <p:cNvSpPr/>
          <p:nvPr/>
        </p:nvSpPr>
        <p:spPr>
          <a:xfrm>
            <a:off x="548640" y="3566160"/>
            <a:ext cx="5349240" cy="548640"/>
          </a:xfrm>
          <a:prstGeom prst="rect">
            <a:avLst/>
          </a:prstGeom>
          <a:noFill/>
          <a:ln/>
        </p:spPr>
        <p:txBody>
          <a:bodyPr wrap="square" lIns="0" tIns="0" rIns="0" bIns="0" rtlCol="0" anchor="ctr">
            <a:normAutofit/>
          </a:bodyPr>
          <a:lstStyle/>
          <a:p>
            <a:pPr indent="0" marL="0">
              <a:buNone/>
            </a:pPr>
            <a:r>
              <a:rPr lang="en-US" sz="1400" dirty="0">
                <a:solidFill>
                  <a:srgbClr val="1B2559"/>
                </a:solidFill>
                <a:latin typeface="Georgia" pitchFamily="34" charset="0"/>
                <a:ea typeface="Georgia" pitchFamily="34" charset="-122"/>
                <a:cs typeface="Georgia" pitchFamily="34" charset="-120"/>
              </a:rPr>
              <a:t>His charger is on the floor. But where are his keys?</a:t>
            </a:r>
            <a:endParaRPr lang="en-US" sz="1400" dirty="0"/>
          </a:p>
        </p:txBody>
      </p:sp>
      <p:sp>
        <p:nvSpPr>
          <p:cNvPr id="20" name="ln_167"/>
          <p:cNvSpPr/>
          <p:nvPr/>
        </p:nvSpPr>
        <p:spPr>
          <a:xfrm>
            <a:off x="548640" y="4114800"/>
            <a:ext cx="5349240" cy="548640"/>
          </a:xfrm>
          <a:prstGeom prst="rect">
            <a:avLst/>
          </a:prstGeom>
          <a:noFill/>
          <a:ln/>
        </p:spPr>
        <p:txBody>
          <a:bodyPr wrap="square" lIns="0" tIns="0" rIns="0" bIns="0" rtlCol="0" anchor="ctr">
            <a:normAutofit/>
          </a:bodyPr>
          <a:lstStyle/>
          <a:p>
            <a:pPr indent="0" marL="0">
              <a:buNone/>
            </a:pPr>
            <a:r>
              <a:rPr lang="en-US" sz="1400" dirty="0">
                <a:solidFill>
                  <a:srgbClr val="1B2559"/>
                </a:solidFill>
                <a:latin typeface="Georgia" pitchFamily="34" charset="0"/>
                <a:ea typeface="Georgia" pitchFamily="34" charset="-122"/>
                <a:cs typeface="Georgia" pitchFamily="34" charset="-120"/>
              </a:rPr>
              <a:t>Tom's cat is on the sofa. And the keys? They're under the cat! 🐈</a:t>
            </a:r>
            <a:endParaRPr lang="en-US" sz="1400" dirty="0"/>
          </a:p>
        </p:txBody>
      </p:sp>
      <p:sp>
        <p:nvSpPr>
          <p:cNvPr id="21" name="pf_168"/>
          <p:cNvSpPr/>
          <p:nvPr/>
        </p:nvSpPr>
        <p:spPr>
          <a:xfrm rot="120000">
            <a:off x="6309360" y="1417320"/>
            <a:ext cx="2560320" cy="1508760"/>
          </a:xfrm>
          <a:prstGeom prst="roundRect">
            <a:avLst>
              <a:gd name="adj" fmla="val 10303"/>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2" name="ph_169" descr="/home/claude/lls-course/v2/cache/red_2a_untidy_jpg_594x341_31.png">    </p:cNvPr>
          <p:cNvPicPr>
            <a:picLocks noChangeAspect="1"/>
          </p:cNvPicPr>
          <p:nvPr/>
        </p:nvPicPr>
        <p:blipFill>
          <a:blip r:embed="rId5"/>
          <a:stretch>
            <a:fillRect/>
          </a:stretch>
        </p:blipFill>
        <p:spPr>
          <a:xfrm rot="120000">
            <a:off x="6355080" y="1463040"/>
            <a:ext cx="2468880" cy="1417320"/>
          </a:xfrm>
          <a:prstGeom prst="rect">
            <a:avLst/>
          </a:prstGeom>
        </p:spPr>
      </p:pic>
      <p:sp>
        <p:nvSpPr>
          <p:cNvPr id="23" name="cd_170"/>
          <p:cNvSpPr/>
          <p:nvPr/>
        </p:nvSpPr>
        <p:spPr>
          <a:xfrm>
            <a:off x="6263640" y="3794760"/>
            <a:ext cx="2651760" cy="960120"/>
          </a:xfrm>
          <a:prstGeom prst="roundRect">
            <a:avLst>
              <a:gd name="adj" fmla="val 13333"/>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24" name="ii_171"/>
          <p:cNvSpPr/>
          <p:nvPr/>
        </p:nvSpPr>
        <p:spPr>
          <a:xfrm>
            <a:off x="6355080" y="38679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5" name="ih_172"/>
          <p:cNvSpPr/>
          <p:nvPr/>
        </p:nvSpPr>
        <p:spPr>
          <a:xfrm>
            <a:off x="6830568" y="3886200"/>
            <a:ext cx="2011680" cy="365760"/>
          </a:xfrm>
          <a:prstGeom prst="rect">
            <a:avLst/>
          </a:prstGeom>
          <a:noFill/>
          <a:ln/>
        </p:spPr>
        <p:txBody>
          <a:bodyPr wrap="square" lIns="0" tIns="0" rIns="0" bIns="0" rtlCol="0" anchor="ct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Remember</a:t>
            </a:r>
            <a:endParaRPr lang="en-US" sz="1200" dirty="0"/>
          </a:p>
        </p:txBody>
      </p:sp>
      <p:sp>
        <p:nvSpPr>
          <p:cNvPr id="26" name="il_173"/>
          <p:cNvSpPr/>
          <p:nvPr/>
        </p:nvSpPr>
        <p:spPr>
          <a:xfrm>
            <a:off x="6830568" y="4270248"/>
            <a:ext cx="1993392" cy="411480"/>
          </a:xfrm>
          <a:prstGeom prst="rect">
            <a:avLst/>
          </a:prstGeom>
          <a:noFill/>
          <a:ln/>
        </p:spPr>
        <p:txBody>
          <a:bodyPr wrap="square" lIns="0" tIns="0" rIns="0" bIns="0" rtlCol="0" anchor="t">
            <a:normAutofit/>
          </a:bodyPr>
          <a:lstStyle/>
          <a:p>
            <a:pPr marL="152400" indent="-152400">
              <a:spcAft>
                <a:spcPts val="200"/>
              </a:spcAft>
              <a:buSzPct val="100000"/>
              <a:buChar char="•"/>
            </a:pPr>
            <a:r>
              <a:rPr lang="en-US" sz="950" dirty="0">
                <a:solidFill>
                  <a:srgbClr val="1B2559"/>
                </a:solidFill>
                <a:latin typeface="Segoe UI" pitchFamily="34" charset="0"/>
                <a:ea typeface="Segoe UI" pitchFamily="34" charset="-122"/>
                <a:cs typeface="Segoe UI" pitchFamily="34" charset="-120"/>
              </a:rPr>
              <a:t>is = one thing · are = two or more</a:t>
            </a:r>
            <a:endParaRPr lang="en-US" sz="950" dirty="0"/>
          </a:p>
          <a:p>
            <a:pPr marL="152400" indent="-152400">
              <a:spcBef>
                <a:spcPts val="500"/>
              </a:spcBef>
              <a:spcAft>
                <a:spcPts val="200"/>
              </a:spcAft>
              <a:buSzPct val="100000"/>
              <a:buChar char="•"/>
            </a:pPr>
            <a:r>
              <a:rPr lang="en-US" sz="950" dirty="0">
                <a:solidFill>
                  <a:srgbClr val="1B2559"/>
                </a:solidFill>
                <a:latin typeface="Segoe UI" pitchFamily="34" charset="0"/>
                <a:ea typeface="Segoe UI" pitchFamily="34" charset="-122"/>
                <a:cs typeface="Segoe UI" pitchFamily="34" charset="-120"/>
              </a:rPr>
              <a:t>in · on · under</a:t>
            </a:r>
            <a:endParaRPr lang="en-US" sz="950" dirty="0"/>
          </a:p>
        </p:txBody>
      </p:sp>
    </p:spTree>
  </p:cSld>
  <p:clrMapOvr>
    <a:masterClrMapping/>
  </p:clrMapOvr>
  <p:transition spd="med">
    <p:push dir="l"/>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174"/>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7</a:t>
            </a:r>
            <a:endParaRPr lang="en-US" sz="2800" dirty="0"/>
          </a:p>
        </p:txBody>
      </p:sp>
      <p:pic>
        <p:nvPicPr>
          <p:cNvPr id="4" name="brY_175" descr="/home/claude/lls-course/v2/assets/brush-yellow.png">    </p:cNvPr>
          <p:cNvPicPr>
            <a:picLocks noChangeAspect="1"/>
          </p:cNvPicPr>
          <p:nvPr/>
        </p:nvPicPr>
        <p:blipFill>
          <a:blip r:embed="rId2"/>
          <a:stretch>
            <a:fillRect/>
          </a:stretch>
        </p:blipFill>
        <p:spPr>
          <a:xfrm>
            <a:off x="1097280" y="146304"/>
            <a:ext cx="2933395" cy="621792"/>
          </a:xfrm>
          <a:prstGeom prst="rect">
            <a:avLst/>
          </a:prstGeom>
        </p:spPr>
      </p:pic>
      <p:sp>
        <p:nvSpPr>
          <p:cNvPr id="5" name="title_176"/>
          <p:cNvSpPr/>
          <p:nvPr/>
        </p:nvSpPr>
        <p:spPr>
          <a:xfrm>
            <a:off x="1261872" y="164592"/>
            <a:ext cx="2659075"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True or false?</a:t>
            </a:r>
            <a:endParaRPr lang="en-US" sz="2500" dirty="0"/>
          </a:p>
        </p:txBody>
      </p:sp>
      <p:pic>
        <p:nvPicPr>
          <p:cNvPr id="6" name="brP_177" descr="/home/claude/lls-course/v2/assets/brush-pink.png">    </p:cNvPr>
          <p:cNvPicPr>
            <a:picLocks noChangeAspect="1"/>
          </p:cNvPicPr>
          <p:nvPr/>
        </p:nvPicPr>
        <p:blipFill>
          <a:blip r:embed="rId3"/>
          <a:stretch>
            <a:fillRect/>
          </a:stretch>
        </p:blipFill>
        <p:spPr>
          <a:xfrm>
            <a:off x="1207008" y="731520"/>
            <a:ext cx="5943600" cy="402336"/>
          </a:xfrm>
          <a:prstGeom prst="rect">
            <a:avLst/>
          </a:prstGeom>
        </p:spPr>
      </p:pic>
      <p:sp>
        <p:nvSpPr>
          <p:cNvPr id="7" name="ins_178"/>
          <p:cNvSpPr/>
          <p:nvPr/>
        </p:nvSpPr>
        <p:spPr>
          <a:xfrm>
            <a:off x="1353312" y="731520"/>
            <a:ext cx="568756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Read the story again. True or false? Correct the false ones.</a:t>
            </a:r>
            <a:endParaRPr lang="en-US" sz="1250" dirty="0"/>
          </a:p>
        </p:txBody>
      </p:sp>
      <p:sp>
        <p:nvSpPr>
          <p:cNvPr id="8" name="insIT_179"/>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Rileggi la storia. Vero o falso? Correggi quelle false.</a:t>
            </a:r>
            <a:endParaRPr lang="en-US" sz="950" dirty="0"/>
          </a:p>
        </p:txBody>
      </p:sp>
      <p:sp>
        <p:nvSpPr>
          <p:cNvPr id="9" name="cmd_180"/>
          <p:cNvSpPr/>
          <p:nvPr/>
        </p:nvSpPr>
        <p:spPr>
          <a:xfrm>
            <a:off x="6510528" y="182880"/>
            <a:ext cx="1901952" cy="329184"/>
          </a:xfrm>
          <a:prstGeom prst="roundRect">
            <a:avLst>
              <a:gd name="adj" fmla="val 50000"/>
            </a:avLst>
          </a:prstGeom>
          <a:solidFill>
            <a:srgbClr val="FFFFFF"/>
          </a:solidFill>
          <a:ln w="25400">
            <a:solidFill>
              <a:srgbClr val="A8E5BE"/>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EB872"/>
                </a:solidFill>
                <a:latin typeface="Arial Rounded MT Bold" pitchFamily="34" charset="0"/>
                <a:ea typeface="Arial Rounded MT Bold" pitchFamily="34" charset="-122"/>
                <a:cs typeface="Arial Rounded MT Bold" pitchFamily="34" charset="-120"/>
              </a:rPr>
              <a:t>READ</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LEGGI</a:t>
            </a:r>
            <a:endParaRPr lang="en-US" sz="1100" dirty="0"/>
          </a:p>
        </p:txBody>
      </p:sp>
      <p:sp>
        <p:nvSpPr>
          <p:cNvPr id="10" name="cmd_181"/>
          <p:cNvSpPr/>
          <p:nvPr/>
        </p:nvSpPr>
        <p:spPr>
          <a:xfrm>
            <a:off x="6510528" y="566928"/>
            <a:ext cx="1901952" cy="329184"/>
          </a:xfrm>
          <a:prstGeom prst="roundRect">
            <a:avLst>
              <a:gd name="adj" fmla="val 50000"/>
            </a:avLst>
          </a:prstGeom>
          <a:solidFill>
            <a:srgbClr val="FFFFFF"/>
          </a:solidFill>
          <a:ln w="25400">
            <a:solidFill>
              <a:srgbClr val="A8E5BE"/>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EB872"/>
                </a:solidFill>
                <a:latin typeface="Arial Rounded MT Bold" pitchFamily="34" charset="0"/>
                <a:ea typeface="Arial Rounded MT Bold" pitchFamily="34" charset="-122"/>
                <a:cs typeface="Arial Rounded MT Bold" pitchFamily="34" charset="-120"/>
              </a:rPr>
              <a:t>CHECK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CONTROLLA</a:t>
            </a:r>
            <a:endParaRPr lang="en-US" sz="1100" dirty="0"/>
          </a:p>
        </p:txBody>
      </p:sp>
      <p:sp>
        <p:nvSpPr>
          <p:cNvPr id="11" name="meta_182"/>
          <p:cNvSpPr/>
          <p:nvPr/>
        </p:nvSpPr>
        <p:spPr>
          <a:xfrm>
            <a:off x="6583680" y="950976"/>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pairs</a:t>
            </a:r>
            <a:endParaRPr lang="en-US" sz="950" dirty="0"/>
          </a:p>
        </p:txBody>
      </p:sp>
      <p:sp>
        <p:nvSpPr>
          <p:cNvPr id="12" name="tag_183"/>
          <p:cNvSpPr/>
          <p:nvPr/>
        </p:nvSpPr>
        <p:spPr>
          <a:xfrm>
            <a:off x="6510528" y="1188720"/>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Reading</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Controlled practice</a:t>
            </a:r>
            <a:endParaRPr lang="en-US" sz="850" dirty="0"/>
          </a:p>
        </p:txBody>
      </p:sp>
      <p:pic>
        <p:nvPicPr>
          <p:cNvPr id="13" name="logo_184"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4" name="foot_185"/>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2A · Reading · the class story</a:t>
            </a:r>
            <a:endParaRPr lang="en-US" sz="800" dirty="0"/>
          </a:p>
        </p:txBody>
      </p:sp>
      <p:sp>
        <p:nvSpPr>
          <p:cNvPr id="15" name="cd_186"/>
          <p:cNvSpPr/>
          <p:nvPr/>
        </p:nvSpPr>
        <p:spPr>
          <a:xfrm>
            <a:off x="320040" y="1417320"/>
            <a:ext cx="2697480" cy="1097280"/>
          </a:xfrm>
          <a:prstGeom prst="roundRect">
            <a:avLst>
              <a:gd name="adj" fmla="val 11667"/>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6" name="ii_187"/>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7" name="ih_188"/>
          <p:cNvSpPr/>
          <p:nvPr/>
        </p:nvSpPr>
        <p:spPr>
          <a:xfrm>
            <a:off x="886968" y="1508760"/>
            <a:ext cx="205740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Example</a:t>
            </a:r>
            <a:endParaRPr lang="en-US" sz="1300" dirty="0"/>
          </a:p>
        </p:txBody>
      </p:sp>
      <p:sp>
        <p:nvSpPr>
          <p:cNvPr id="18" name="il_189"/>
          <p:cNvSpPr/>
          <p:nvPr/>
        </p:nvSpPr>
        <p:spPr>
          <a:xfrm>
            <a:off x="886968" y="1892808"/>
            <a:ext cx="2039112" cy="54864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050" dirty="0">
                <a:solidFill>
                  <a:srgbClr val="1B2559"/>
                </a:solidFill>
                <a:latin typeface="Segoe UI" pitchFamily="34" charset="0"/>
                <a:ea typeface="Segoe UI" pitchFamily="34" charset="-122"/>
                <a:cs typeface="Segoe UI" pitchFamily="34" charset="-120"/>
              </a:rPr>
              <a:t>0  Tom is very tidy. → F – he's very untidy.</a:t>
            </a:r>
            <a:endParaRPr lang="en-US" sz="1050" dirty="0"/>
          </a:p>
        </p:txBody>
      </p:sp>
      <p:sp>
        <p:nvSpPr>
          <p:cNvPr id="19" name="pf_190"/>
          <p:cNvSpPr/>
          <p:nvPr/>
        </p:nvSpPr>
        <p:spPr>
          <a:xfrm rot="-90000">
            <a:off x="365760" y="2697480"/>
            <a:ext cx="2606040" cy="1965960"/>
          </a:xfrm>
          <a:prstGeom prst="roundRect">
            <a:avLst>
              <a:gd name="adj" fmla="val 7907"/>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0" name="ph_191" descr="/home/claude/lls-course/v2/cache/red_2a_rooms_jpg_605x451_31.png">    </p:cNvPr>
          <p:cNvPicPr>
            <a:picLocks noChangeAspect="1"/>
          </p:cNvPicPr>
          <p:nvPr/>
        </p:nvPicPr>
        <p:blipFill>
          <a:blip r:embed="rId5"/>
          <a:stretch>
            <a:fillRect/>
          </a:stretch>
        </p:blipFill>
        <p:spPr>
          <a:xfrm rot="-90000">
            <a:off x="411480" y="2743200"/>
            <a:ext cx="2514600" cy="1874520"/>
          </a:xfrm>
          <a:prstGeom prst="rect">
            <a:avLst/>
          </a:prstGeom>
        </p:spPr>
      </p:pic>
      <p:sp>
        <p:nvSpPr>
          <p:cNvPr id="21" name="bd_192"/>
          <p:cNvSpPr/>
          <p:nvPr/>
        </p:nvSpPr>
        <p:spPr>
          <a:xfrm>
            <a:off x="3246120" y="1490472"/>
            <a:ext cx="310896" cy="310896"/>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1</a:t>
            </a:r>
            <a:endParaRPr lang="en-US" sz="1000" dirty="0"/>
          </a:p>
        </p:txBody>
      </p:sp>
      <p:sp>
        <p:nvSpPr>
          <p:cNvPr id="22" name="q_193"/>
          <p:cNvSpPr/>
          <p:nvPr/>
        </p:nvSpPr>
        <p:spPr>
          <a:xfrm>
            <a:off x="3630168" y="1417320"/>
            <a:ext cx="2103120" cy="457200"/>
          </a:xfrm>
          <a:prstGeom prst="roundRect">
            <a:avLst>
              <a:gd name="adj" fmla="val 20000"/>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1  Tom's keys are in his bag.</a:t>
            </a:r>
            <a:endParaRPr lang="en-US" sz="1150" dirty="0"/>
          </a:p>
        </p:txBody>
      </p:sp>
      <p:sp>
        <p:nvSpPr>
          <p:cNvPr id="23" name="R1_chip194"/>
          <p:cNvSpPr/>
          <p:nvPr/>
        </p:nvSpPr>
        <p:spPr>
          <a:xfrm>
            <a:off x="5806440" y="1417320"/>
            <a:ext cx="3063240" cy="457200"/>
          </a:xfrm>
          <a:prstGeom prst="roundRect">
            <a:avLst>
              <a:gd name="adj" fmla="val 20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F – they aren't in his bag.</a:t>
            </a:r>
            <a:endParaRPr lang="en-US" sz="1000" dirty="0"/>
          </a:p>
        </p:txBody>
      </p:sp>
      <p:sp>
        <p:nvSpPr>
          <p:cNvPr id="24" name="bd_195"/>
          <p:cNvSpPr/>
          <p:nvPr/>
        </p:nvSpPr>
        <p:spPr>
          <a:xfrm>
            <a:off x="3246120" y="1993392"/>
            <a:ext cx="310896" cy="310896"/>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2</a:t>
            </a:r>
            <a:endParaRPr lang="en-US" sz="1000" dirty="0"/>
          </a:p>
        </p:txBody>
      </p:sp>
      <p:sp>
        <p:nvSpPr>
          <p:cNvPr id="25" name="q_196"/>
          <p:cNvSpPr/>
          <p:nvPr/>
        </p:nvSpPr>
        <p:spPr>
          <a:xfrm>
            <a:off x="3630168" y="1920240"/>
            <a:ext cx="2103120" cy="457200"/>
          </a:xfrm>
          <a:prstGeom prst="roundRect">
            <a:avLst>
              <a:gd name="adj" fmla="val 20000"/>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2  His wallet is on the table.</a:t>
            </a:r>
            <a:endParaRPr lang="en-US" sz="1150" dirty="0"/>
          </a:p>
        </p:txBody>
      </p:sp>
      <p:sp>
        <p:nvSpPr>
          <p:cNvPr id="26" name="R2_chip197"/>
          <p:cNvSpPr/>
          <p:nvPr/>
        </p:nvSpPr>
        <p:spPr>
          <a:xfrm>
            <a:off x="5806440" y="1920240"/>
            <a:ext cx="3063240" cy="457200"/>
          </a:xfrm>
          <a:prstGeom prst="roundRect">
            <a:avLst>
              <a:gd name="adj" fmla="val 20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T</a:t>
            </a:r>
            <a:endParaRPr lang="en-US" sz="1000" dirty="0"/>
          </a:p>
        </p:txBody>
      </p:sp>
      <p:sp>
        <p:nvSpPr>
          <p:cNvPr id="27" name="bd_198"/>
          <p:cNvSpPr/>
          <p:nvPr/>
        </p:nvSpPr>
        <p:spPr>
          <a:xfrm>
            <a:off x="3246120" y="2496312"/>
            <a:ext cx="310896" cy="310896"/>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3</a:t>
            </a:r>
            <a:endParaRPr lang="en-US" sz="1000" dirty="0"/>
          </a:p>
        </p:txBody>
      </p:sp>
      <p:sp>
        <p:nvSpPr>
          <p:cNvPr id="28" name="q_199"/>
          <p:cNvSpPr/>
          <p:nvPr/>
        </p:nvSpPr>
        <p:spPr>
          <a:xfrm>
            <a:off x="3630168" y="2423160"/>
            <a:ext cx="2103120" cy="457200"/>
          </a:xfrm>
          <a:prstGeom prst="roundRect">
            <a:avLst>
              <a:gd name="adj" fmla="val 20000"/>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3  His sunglasses are on the chair.</a:t>
            </a:r>
            <a:endParaRPr lang="en-US" sz="1150" dirty="0"/>
          </a:p>
        </p:txBody>
      </p:sp>
      <p:sp>
        <p:nvSpPr>
          <p:cNvPr id="29" name="R3_chip200"/>
          <p:cNvSpPr/>
          <p:nvPr/>
        </p:nvSpPr>
        <p:spPr>
          <a:xfrm>
            <a:off x="5806440" y="2423160"/>
            <a:ext cx="3063240" cy="457200"/>
          </a:xfrm>
          <a:prstGeom prst="roundRect">
            <a:avLst>
              <a:gd name="adj" fmla="val 20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F – they're under the chair.</a:t>
            </a:r>
            <a:endParaRPr lang="en-US" sz="1000" dirty="0"/>
          </a:p>
        </p:txBody>
      </p:sp>
      <p:sp>
        <p:nvSpPr>
          <p:cNvPr id="30" name="bd_201"/>
          <p:cNvSpPr/>
          <p:nvPr/>
        </p:nvSpPr>
        <p:spPr>
          <a:xfrm>
            <a:off x="3246120" y="2999232"/>
            <a:ext cx="310896" cy="310896"/>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4</a:t>
            </a:r>
            <a:endParaRPr lang="en-US" sz="1000" dirty="0"/>
          </a:p>
        </p:txBody>
      </p:sp>
      <p:sp>
        <p:nvSpPr>
          <p:cNvPr id="31" name="q_202"/>
          <p:cNvSpPr/>
          <p:nvPr/>
        </p:nvSpPr>
        <p:spPr>
          <a:xfrm>
            <a:off x="3630168" y="2926080"/>
            <a:ext cx="2103120" cy="457200"/>
          </a:xfrm>
          <a:prstGeom prst="roundRect">
            <a:avLst>
              <a:gd name="adj" fmla="val 20000"/>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4  His charger is on the floor.</a:t>
            </a:r>
            <a:endParaRPr lang="en-US" sz="1150" dirty="0"/>
          </a:p>
        </p:txBody>
      </p:sp>
      <p:sp>
        <p:nvSpPr>
          <p:cNvPr id="32" name="R4_chip203"/>
          <p:cNvSpPr/>
          <p:nvPr/>
        </p:nvSpPr>
        <p:spPr>
          <a:xfrm>
            <a:off x="5806440" y="2926080"/>
            <a:ext cx="3063240" cy="457200"/>
          </a:xfrm>
          <a:prstGeom prst="roundRect">
            <a:avLst>
              <a:gd name="adj" fmla="val 20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T</a:t>
            </a:r>
            <a:endParaRPr lang="en-US" sz="1000" dirty="0"/>
          </a:p>
        </p:txBody>
      </p:sp>
      <p:sp>
        <p:nvSpPr>
          <p:cNvPr id="33" name="bd_204"/>
          <p:cNvSpPr/>
          <p:nvPr/>
        </p:nvSpPr>
        <p:spPr>
          <a:xfrm>
            <a:off x="3246120" y="3502152"/>
            <a:ext cx="310896" cy="310896"/>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5</a:t>
            </a:r>
            <a:endParaRPr lang="en-US" sz="1000" dirty="0"/>
          </a:p>
        </p:txBody>
      </p:sp>
      <p:sp>
        <p:nvSpPr>
          <p:cNvPr id="34" name="q_205"/>
          <p:cNvSpPr/>
          <p:nvPr/>
        </p:nvSpPr>
        <p:spPr>
          <a:xfrm>
            <a:off x="3630168" y="3429000"/>
            <a:ext cx="2103120" cy="457200"/>
          </a:xfrm>
          <a:prstGeom prst="roundRect">
            <a:avLst>
              <a:gd name="adj" fmla="val 20000"/>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5  The keys are under the cat.</a:t>
            </a:r>
            <a:endParaRPr lang="en-US" sz="1150" dirty="0"/>
          </a:p>
        </p:txBody>
      </p:sp>
      <p:sp>
        <p:nvSpPr>
          <p:cNvPr id="35" name="R5_chip206"/>
          <p:cNvSpPr/>
          <p:nvPr/>
        </p:nvSpPr>
        <p:spPr>
          <a:xfrm>
            <a:off x="5806440" y="3429000"/>
            <a:ext cx="3063240" cy="457200"/>
          </a:xfrm>
          <a:prstGeom prst="roundRect">
            <a:avLst>
              <a:gd name="adj" fmla="val 20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T 😄</a:t>
            </a:r>
            <a:endParaRPr lang="en-US" sz="10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4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fade">
                                      <p:cBhvr>
                                        <p:cTn id="12" dur="400"/>
                                        <p:tgtEl>
                                          <p:spTgt spid="2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animEffect transition="in" filter="fade">
                                      <p:cBhvr>
                                        <p:cTn id="17" dur="400"/>
                                        <p:tgtEl>
                                          <p:spTgt spid="2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fade">
                                      <p:cBhvr>
                                        <p:cTn id="22" dur="400"/>
                                        <p:tgtEl>
                                          <p:spTgt spid="3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5"/>
                                        </p:tgtEl>
                                        <p:attrNameLst>
                                          <p:attrName>style.visibility</p:attrName>
                                        </p:attrNameLst>
                                      </p:cBhvr>
                                      <p:to>
                                        <p:strVal val="visible"/>
                                      </p:to>
                                    </p:set>
                                    <p:animEffect transition="in" filter="fade">
                                      <p:cBhvr>
                                        <p:cTn id="27"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207"/>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8</a:t>
            </a:r>
            <a:endParaRPr lang="en-US" sz="2800" dirty="0"/>
          </a:p>
        </p:txBody>
      </p:sp>
      <p:pic>
        <p:nvPicPr>
          <p:cNvPr id="4" name="brY_208" descr="/home/claude/lls-course/v2/assets/brush-yellow.png">    </p:cNvPr>
          <p:cNvPicPr>
            <a:picLocks noChangeAspect="1"/>
          </p:cNvPicPr>
          <p:nvPr/>
        </p:nvPicPr>
        <p:blipFill>
          <a:blip r:embed="rId2"/>
          <a:stretch>
            <a:fillRect/>
          </a:stretch>
        </p:blipFill>
        <p:spPr>
          <a:xfrm>
            <a:off x="1097280" y="146304"/>
            <a:ext cx="3405226" cy="621792"/>
          </a:xfrm>
          <a:prstGeom prst="rect">
            <a:avLst/>
          </a:prstGeom>
        </p:spPr>
      </p:pic>
      <p:sp>
        <p:nvSpPr>
          <p:cNvPr id="5" name="title_209"/>
          <p:cNvSpPr/>
          <p:nvPr/>
        </p:nvSpPr>
        <p:spPr>
          <a:xfrm>
            <a:off x="1261872" y="164592"/>
            <a:ext cx="3130906"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One key, two keys</a:t>
            </a:r>
            <a:endParaRPr lang="en-US" sz="2500" dirty="0"/>
          </a:p>
        </p:txBody>
      </p:sp>
      <p:pic>
        <p:nvPicPr>
          <p:cNvPr id="6" name="brP_210" descr="/home/claude/lls-course/v2/assets/brush-pink.png">    </p:cNvPr>
          <p:cNvPicPr>
            <a:picLocks noChangeAspect="1"/>
          </p:cNvPicPr>
          <p:nvPr/>
        </p:nvPicPr>
        <p:blipFill>
          <a:blip r:embed="rId3"/>
          <a:stretch>
            <a:fillRect/>
          </a:stretch>
        </p:blipFill>
        <p:spPr>
          <a:xfrm>
            <a:off x="1207008" y="731520"/>
            <a:ext cx="4727448" cy="402336"/>
          </a:xfrm>
          <a:prstGeom prst="rect">
            <a:avLst/>
          </a:prstGeom>
        </p:spPr>
      </p:pic>
      <p:sp>
        <p:nvSpPr>
          <p:cNvPr id="7" name="ins_211"/>
          <p:cNvSpPr/>
          <p:nvPr/>
        </p:nvSpPr>
        <p:spPr>
          <a:xfrm>
            <a:off x="1353312" y="731520"/>
            <a:ext cx="4471416"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Look at the coloured endings. What's the rule?</a:t>
            </a:r>
            <a:endParaRPr lang="en-US" sz="1250" dirty="0"/>
          </a:p>
        </p:txBody>
      </p:sp>
      <p:sp>
        <p:nvSpPr>
          <p:cNvPr id="8" name="insIT_212"/>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Guarda le desinenze colorate. Qual è la regola?</a:t>
            </a:r>
            <a:endParaRPr lang="en-US" sz="950" dirty="0"/>
          </a:p>
        </p:txBody>
      </p:sp>
      <p:sp>
        <p:nvSpPr>
          <p:cNvPr id="9" name="cmd_213"/>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LOOK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GUARDA</a:t>
            </a:r>
            <a:endParaRPr lang="en-US" sz="1100" dirty="0"/>
          </a:p>
        </p:txBody>
      </p:sp>
      <p:sp>
        <p:nvSpPr>
          <p:cNvPr id="10" name="meta_214"/>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4 min   🙋 whole class</a:t>
            </a:r>
            <a:endParaRPr lang="en-US" sz="950" dirty="0"/>
          </a:p>
        </p:txBody>
      </p:sp>
      <p:sp>
        <p:nvSpPr>
          <p:cNvPr id="11" name="tag_215"/>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Grammar</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Guided discovery</a:t>
            </a:r>
            <a:endParaRPr lang="en-US" sz="850" dirty="0"/>
          </a:p>
        </p:txBody>
      </p:sp>
      <p:pic>
        <p:nvPicPr>
          <p:cNvPr id="12" name="logo_216"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217"/>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2A · Pop-up grammar · plurals   ·   📖 Grammar Bank 2A p.126 · audio 2.2</a:t>
            </a:r>
            <a:endParaRPr lang="en-US" sz="800" dirty="0"/>
          </a:p>
        </p:txBody>
      </p:sp>
      <p:sp>
        <p:nvSpPr>
          <p:cNvPr id="14" name="ap_218"/>
          <p:cNvSpPr/>
          <p:nvPr/>
        </p:nvSpPr>
        <p:spPr>
          <a:xfrm>
            <a:off x="6583680" y="914400"/>
            <a:ext cx="1188720" cy="402336"/>
          </a:xfrm>
          <a:prstGeom prst="roundRect">
            <a:avLst>
              <a:gd name="adj" fmla="val 50000"/>
            </a:avLst>
          </a:prstGeom>
          <a:solidFill>
            <a:srgbClr val="E3F1FD"/>
          </a:solidFill>
          <a:ln w="19050">
            <a:solidFill>
              <a:srgbClr val="2F8DE4"/>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2.2</a:t>
            </a:r>
            <a:endParaRPr lang="en-US" sz="1100" dirty="0"/>
          </a:p>
        </p:txBody>
      </p:sp>
      <p:sp>
        <p:nvSpPr>
          <p:cNvPr id="15" name="ah_219"/>
          <p:cNvSpPr/>
          <p:nvPr/>
        </p:nvSpPr>
        <p:spPr>
          <a:xfrm>
            <a:off x="5925312" y="4572000"/>
            <a:ext cx="1554480" cy="365760"/>
          </a:xfrm>
          <a:prstGeom prst="rect">
            <a:avLst/>
          </a:prstGeom>
          <a:noFill/>
          <a:ln/>
        </p:spPr>
        <p:txBody>
          <a:bodyPr wrap="square" lIns="0" tIns="0" rIns="0" bIns="0" rtlCol="0" anchor="ctr"/>
          <a:lstStyle/>
          <a:p>
            <a:pPr algn="r" indent="0" marL="0">
              <a:buNone/>
            </a:pPr>
            <a:r>
              <a:rPr lang="en-US" sz="950" b="1" dirty="0">
                <a:solidFill>
                  <a:srgbClr val="2F8DE4"/>
                </a:solidFill>
                <a:latin typeface="Segoe UI Semibold" pitchFamily="34" charset="0"/>
                <a:ea typeface="Segoe UI Semibold" pitchFamily="34" charset="-122"/>
                <a:cs typeface="Segoe UI Semibold" pitchFamily="34" charset="-120"/>
              </a:rPr>
              <a:t>▶ normal · 🐢 slower</a:t>
            </a:r>
            <a:endParaRPr lang="en-US" sz="950" dirty="0"/>
          </a:p>
        </p:txBody>
      </p:sp>
      <p:pic>
        <p:nvPicPr>
          <p:cNvPr id="16" name="Media 0">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7525512" y="4553712"/>
            <a:ext cx="411480" cy="411480"/>
          </a:xfrm>
          <a:prstGeom prst="rect">
            <a:avLst/>
          </a:prstGeom>
        </p:spPr>
      </p:pic>
      <p:pic>
        <p:nvPicPr>
          <p:cNvPr id="17" name="Media 1">
            <a:hlinkClick r:id="" action="ppaction://media"/>
          </p:cNvPr>
          <p:cNvPicPr>
            <a:picLocks noChangeAspect="1"/>
          </p:cNvPicPr>
          <p:nvPr>
            <a:audioFile r:link="rId8"/>
            <p:extLst>
              <p:ext uri="{DAA4B4D4-6D71-4841-9C94-3DE7FCFB9230}">
                <p14:media xmlns:p14="http://schemas.microsoft.com/office/powerpoint/2010/main" r:embed="rId9"/>
              </p:ext>
            </p:extLst>
          </p:nvPr>
        </p:nvPicPr>
        <p:blipFill>
          <a:blip r:embed="rId10"/>
          <a:stretch>
            <a:fillRect/>
          </a:stretch>
        </p:blipFill>
        <p:spPr>
          <a:xfrm>
            <a:off x="8001000" y="4553712"/>
            <a:ext cx="411480" cy="411480"/>
          </a:xfrm>
          <a:prstGeom prst="rect">
            <a:avLst/>
          </a:prstGeom>
        </p:spPr>
      </p:pic>
      <p:sp>
        <p:nvSpPr>
          <p:cNvPr id="18" name="cd_220"/>
          <p:cNvSpPr/>
          <p:nvPr/>
        </p:nvSpPr>
        <p:spPr>
          <a:xfrm>
            <a:off x="320040" y="1417320"/>
            <a:ext cx="2034540" cy="3017520"/>
          </a:xfrm>
          <a:prstGeom prst="roundRect">
            <a:avLst>
              <a:gd name="adj" fmla="val 6292"/>
            </a:avLst>
          </a:prstGeom>
          <a:solidFill>
            <a:srgbClr val="FFFFFF"/>
          </a:solidFill>
          <a:ln w="25400">
            <a:solidFill>
              <a:srgbClr val="F7A6C4"/>
            </a:solidFill>
            <a:prstDash val="solid"/>
          </a:ln>
          <a:effectLst>
            <a:outerShdw sx="100000" sy="100000" kx="0" ky="0" algn="bl" rotWithShape="0" blurRad="88900" dist="31750" dir="5400000">
              <a:srgbClr val="1B2559">
                <a:alpha val="12000"/>
              </a:srgbClr>
            </a:outerShdw>
          </a:effectLst>
        </p:spPr>
      </p:sp>
      <p:sp>
        <p:nvSpPr>
          <p:cNvPr id="19" name="rh_221"/>
          <p:cNvSpPr/>
          <p:nvPr/>
        </p:nvSpPr>
        <p:spPr>
          <a:xfrm>
            <a:off x="429768" y="1508760"/>
            <a:ext cx="1815084" cy="365760"/>
          </a:xfrm>
          <a:prstGeom prst="roundRect">
            <a:avLst>
              <a:gd name="adj" fmla="val 50000"/>
            </a:avLst>
          </a:prstGeom>
          <a:solidFill>
            <a:srgbClr val="E8508F"/>
          </a:solidFill>
          <a:ln/>
        </p:spPr>
        <p:txBody>
          <a:bodyPr wrap="square" lIns="0" tIns="0" rIns="0" bIns="0" rtlCol="0" anchor="ctr">
            <a:normAutofit/>
          </a:bodyPr>
          <a:lstStyle/>
          <a:p>
            <a:pPr algn="ctr" indent="0" marL="0">
              <a:buNone/>
            </a:pPr>
            <a:r>
              <a:rPr lang="en-US" sz="1250" dirty="0">
                <a:solidFill>
                  <a:srgbClr val="FFFFFF"/>
                </a:solidFill>
                <a:latin typeface="Arial Rounded MT Bold" pitchFamily="34" charset="0"/>
                <a:ea typeface="Arial Rounded MT Bold" pitchFamily="34" charset="-122"/>
                <a:cs typeface="Arial Rounded MT Bold" pitchFamily="34" charset="-120"/>
              </a:rPr>
              <a:t>a / an</a:t>
            </a:r>
            <a:endParaRPr lang="en-US" sz="1250" dirty="0"/>
          </a:p>
        </p:txBody>
      </p:sp>
      <p:sp>
        <p:nvSpPr>
          <p:cNvPr id="20" name="pf_222"/>
          <p:cNvSpPr/>
          <p:nvPr/>
        </p:nvSpPr>
        <p:spPr>
          <a:xfrm>
            <a:off x="429768" y="1938528"/>
            <a:ext cx="1815084" cy="960120"/>
          </a:xfrm>
          <a:prstGeom prst="roundRect">
            <a:avLst>
              <a:gd name="adj" fmla="val 1619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1" name="ph_223" descr="/home/claude/lls-course/v2/cache/red_2a_wallet_jpg_415x209_31.png">    </p:cNvPr>
          <p:cNvPicPr>
            <a:picLocks noChangeAspect="1"/>
          </p:cNvPicPr>
          <p:nvPr/>
        </p:nvPicPr>
        <p:blipFill>
          <a:blip r:embed="rId11"/>
          <a:stretch>
            <a:fillRect/>
          </a:stretch>
        </p:blipFill>
        <p:spPr>
          <a:xfrm>
            <a:off x="475488" y="1984248"/>
            <a:ext cx="1723644" cy="868680"/>
          </a:xfrm>
          <a:prstGeom prst="rect">
            <a:avLst/>
          </a:prstGeom>
        </p:spPr>
      </p:pic>
      <p:sp>
        <p:nvSpPr>
          <p:cNvPr id="22" name="ru_224"/>
          <p:cNvSpPr/>
          <p:nvPr/>
        </p:nvSpPr>
        <p:spPr>
          <a:xfrm>
            <a:off x="411480" y="2926080"/>
            <a:ext cx="1851660" cy="384048"/>
          </a:xfrm>
          <a:prstGeom prst="rect">
            <a:avLst/>
          </a:prstGeom>
          <a:noFill/>
          <a:ln/>
        </p:spPr>
        <p:txBody>
          <a:bodyPr wrap="square" lIns="0" tIns="0" rIns="0" bIns="0" rtlCol="0" anchor="ctr">
            <a:normAutofit/>
          </a:bodyPr>
          <a:lstStyle/>
          <a:p>
            <a:pPr algn="ctr" indent="0" marL="0">
              <a:buNone/>
            </a:pPr>
            <a:r>
              <a:rPr lang="en-US" sz="1050" dirty="0">
                <a:solidFill>
                  <a:srgbClr val="E8508F"/>
                </a:solidFill>
                <a:latin typeface="Arial Rounded MT Bold" pitchFamily="34" charset="0"/>
                <a:ea typeface="Arial Rounded MT Bold" pitchFamily="34" charset="-122"/>
                <a:cs typeface="Arial Rounded MT Bold" pitchFamily="34" charset="-120"/>
              </a:rPr>
              <a:t>one thing</a:t>
            </a:r>
            <a:endParaRPr lang="en-US" sz="1050" dirty="0"/>
          </a:p>
        </p:txBody>
      </p:sp>
      <p:sp>
        <p:nvSpPr>
          <p:cNvPr id="23" name="R1_rx225"/>
          <p:cNvSpPr/>
          <p:nvPr/>
        </p:nvSpPr>
        <p:spPr>
          <a:xfrm>
            <a:off x="411480" y="3319272"/>
            <a:ext cx="1851660" cy="749808"/>
          </a:xfrm>
          <a:prstGeom prst="rect">
            <a:avLst/>
          </a:prstGeom>
          <a:noFill/>
          <a:ln/>
        </p:spPr>
        <p:txBody>
          <a:bodyPr wrap="square" lIns="0" tIns="0" rIns="0" bIns="0" rtlCol="0" anchor="ctr">
            <a:normAutofit/>
          </a:bodyPr>
          <a:lstStyle/>
          <a:p>
            <a:pPr algn="ctr" indent="0" marL="0">
              <a:buNone/>
            </a:pPr>
            <a:r>
              <a:rPr lang="en-US" sz="1050" b="1" dirty="0">
                <a:solidFill>
                  <a:srgbClr val="E8508F"/>
                </a:solidFill>
                <a:highlight>
                  <a:srgbClr val="FFF1A8"/>
                </a:highlight>
                <a:latin typeface="Segoe UI Semibold" pitchFamily="34" charset="0"/>
                <a:ea typeface="Segoe UI Semibold" pitchFamily="34" charset="-122"/>
                <a:cs typeface="Segoe UI Semibold" pitchFamily="34" charset="-120"/>
              </a:rPr>
              <a:t>a</a:t>
            </a:r>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 wallet · </a:t>
            </a:r>
            <a:pPr algn="ctr" indent="0" marL="0">
              <a:buNone/>
            </a:pPr>
            <a:r>
              <a:rPr lang="en-US" sz="1050" b="1" dirty="0">
                <a:solidFill>
                  <a:srgbClr val="E8508F"/>
                </a:solidFill>
                <a:highlight>
                  <a:srgbClr val="FFF1A8"/>
                </a:highlight>
                <a:latin typeface="Segoe UI Semibold" pitchFamily="34" charset="0"/>
                <a:ea typeface="Segoe UI Semibold" pitchFamily="34" charset="-122"/>
                <a:cs typeface="Segoe UI Semibold" pitchFamily="34" charset="-120"/>
              </a:rPr>
              <a:t>a</a:t>
            </a:r>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 key</a:t>
            </a:r>
            <a:endParaRPr lang="en-US" sz="1050" dirty="0"/>
          </a:p>
          <a:p>
            <a:pPr algn="ctr" indent="0" marL="0">
              <a:buNone/>
            </a:pPr>
            <a:r>
              <a:rPr lang="en-US" sz="1050" b="1" dirty="0">
                <a:solidFill>
                  <a:srgbClr val="E8508F"/>
                </a:solidFill>
                <a:highlight>
                  <a:srgbClr val="FFF1A8"/>
                </a:highlight>
                <a:latin typeface="Segoe UI Semibold" pitchFamily="34" charset="0"/>
                <a:ea typeface="Segoe UI Semibold" pitchFamily="34" charset="-122"/>
                <a:cs typeface="Segoe UI Semibold" pitchFamily="34" charset="-120"/>
              </a:rPr>
              <a:t>an</a:t>
            </a:r>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 umbrella · </a:t>
            </a:r>
            <a:pPr algn="ctr" indent="0" marL="0">
              <a:buNone/>
            </a:pPr>
            <a:r>
              <a:rPr lang="en-US" sz="1050" b="1" dirty="0">
                <a:solidFill>
                  <a:srgbClr val="E8508F"/>
                </a:solidFill>
                <a:highlight>
                  <a:srgbClr val="FFF1A8"/>
                </a:highlight>
                <a:latin typeface="Segoe UI Semibold" pitchFamily="34" charset="0"/>
                <a:ea typeface="Segoe UI Semibold" pitchFamily="34" charset="-122"/>
                <a:cs typeface="Segoe UI Semibold" pitchFamily="34" charset="-120"/>
              </a:rPr>
              <a:t>an</a:t>
            </a:r>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 ID card</a:t>
            </a:r>
            <a:endParaRPr lang="en-US" sz="1050" dirty="0"/>
          </a:p>
        </p:txBody>
      </p:sp>
      <p:sp>
        <p:nvSpPr>
          <p:cNvPr id="24" name="R1_ri226"/>
          <p:cNvSpPr/>
          <p:nvPr/>
        </p:nvSpPr>
        <p:spPr>
          <a:xfrm>
            <a:off x="411480" y="4087368"/>
            <a:ext cx="1851660" cy="274320"/>
          </a:xfrm>
          <a:prstGeom prst="rect">
            <a:avLst/>
          </a:prstGeom>
          <a:noFill/>
          <a:ln/>
        </p:spPr>
        <p:txBody>
          <a:bodyPr wrap="square" lIns="0" tIns="0" rIns="0" bIns="0" rtlCol="0" anchor="ctr">
            <a:normAutofit/>
          </a:bodyPr>
          <a:lstStyle/>
          <a:p>
            <a:pPr algn="ctr" indent="0" marL="0">
              <a:buNone/>
            </a:pPr>
            <a:r>
              <a:rPr lang="en-US" sz="900" i="1" dirty="0">
                <a:solidFill>
                  <a:srgbClr val="5B6785"/>
                </a:solidFill>
                <a:latin typeface="Segoe UI" pitchFamily="34" charset="0"/>
                <a:ea typeface="Segoe UI" pitchFamily="34" charset="-122"/>
                <a:cs typeface="Segoe UI" pitchFamily="34" charset="-120"/>
              </a:rPr>
              <a:t>an + a, e, i, o, u (suono)</a:t>
            </a:r>
            <a:endParaRPr lang="en-US" sz="900" dirty="0"/>
          </a:p>
        </p:txBody>
      </p:sp>
      <p:sp>
        <p:nvSpPr>
          <p:cNvPr id="25" name="cd_227"/>
          <p:cNvSpPr/>
          <p:nvPr/>
        </p:nvSpPr>
        <p:spPr>
          <a:xfrm>
            <a:off x="2491740" y="1417320"/>
            <a:ext cx="2034540" cy="3017520"/>
          </a:xfrm>
          <a:prstGeom prst="roundRect">
            <a:avLst>
              <a:gd name="adj" fmla="val 6292"/>
            </a:avLst>
          </a:prstGeom>
          <a:solidFill>
            <a:srgbClr val="FFFFFF"/>
          </a:solidFill>
          <a:ln w="25400">
            <a:solidFill>
              <a:srgbClr val="A9D3F5"/>
            </a:solidFill>
            <a:prstDash val="solid"/>
          </a:ln>
          <a:effectLst>
            <a:outerShdw sx="100000" sy="100000" kx="0" ky="0" algn="bl" rotWithShape="0" blurRad="88900" dist="31750" dir="5400000">
              <a:srgbClr val="1B2559">
                <a:alpha val="12000"/>
              </a:srgbClr>
            </a:outerShdw>
          </a:effectLst>
        </p:spPr>
      </p:sp>
      <p:sp>
        <p:nvSpPr>
          <p:cNvPr id="26" name="rh_228"/>
          <p:cNvSpPr/>
          <p:nvPr/>
        </p:nvSpPr>
        <p:spPr>
          <a:xfrm>
            <a:off x="2601468" y="1508760"/>
            <a:ext cx="1815084" cy="365760"/>
          </a:xfrm>
          <a:prstGeom prst="roundRect">
            <a:avLst>
              <a:gd name="adj" fmla="val 50000"/>
            </a:avLst>
          </a:prstGeom>
          <a:solidFill>
            <a:srgbClr val="2F8DE4"/>
          </a:solidFill>
          <a:ln/>
        </p:spPr>
        <p:txBody>
          <a:bodyPr wrap="square" lIns="0" tIns="0" rIns="0" bIns="0" rtlCol="0" anchor="ctr">
            <a:normAutofit/>
          </a:bodyPr>
          <a:lstStyle/>
          <a:p>
            <a:pPr algn="ctr" indent="0" marL="0">
              <a:buNone/>
            </a:pPr>
            <a:r>
              <a:rPr lang="en-US" sz="1250" dirty="0">
                <a:solidFill>
                  <a:srgbClr val="FFFFFF"/>
                </a:solidFill>
                <a:latin typeface="Arial Rounded MT Bold" pitchFamily="34" charset="0"/>
                <a:ea typeface="Arial Rounded MT Bold" pitchFamily="34" charset="-122"/>
                <a:cs typeface="Arial Rounded MT Bold" pitchFamily="34" charset="-120"/>
              </a:rPr>
              <a:t>+ s</a:t>
            </a:r>
            <a:endParaRPr lang="en-US" sz="1250" dirty="0"/>
          </a:p>
        </p:txBody>
      </p:sp>
      <p:sp>
        <p:nvSpPr>
          <p:cNvPr id="27" name="pf_229"/>
          <p:cNvSpPr/>
          <p:nvPr/>
        </p:nvSpPr>
        <p:spPr>
          <a:xfrm>
            <a:off x="2601468" y="1938528"/>
            <a:ext cx="1815084" cy="960120"/>
          </a:xfrm>
          <a:prstGeom prst="roundRect">
            <a:avLst>
              <a:gd name="adj" fmla="val 1619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8" name="ph_230" descr="/home/claude/lls-course/v2/cache/red_2a_things_jpg_415x209_31.png">    </p:cNvPr>
          <p:cNvPicPr>
            <a:picLocks noChangeAspect="1"/>
          </p:cNvPicPr>
          <p:nvPr/>
        </p:nvPicPr>
        <p:blipFill>
          <a:blip r:embed="rId12"/>
          <a:stretch>
            <a:fillRect/>
          </a:stretch>
        </p:blipFill>
        <p:spPr>
          <a:xfrm>
            <a:off x="2647188" y="1984248"/>
            <a:ext cx="1723644" cy="868680"/>
          </a:xfrm>
          <a:prstGeom prst="rect">
            <a:avLst/>
          </a:prstGeom>
        </p:spPr>
      </p:pic>
      <p:sp>
        <p:nvSpPr>
          <p:cNvPr id="29" name="ru_231"/>
          <p:cNvSpPr/>
          <p:nvPr/>
        </p:nvSpPr>
        <p:spPr>
          <a:xfrm>
            <a:off x="2583180" y="2926080"/>
            <a:ext cx="1851660" cy="384048"/>
          </a:xfrm>
          <a:prstGeom prst="rect">
            <a:avLst/>
          </a:prstGeom>
          <a:noFill/>
          <a:ln/>
        </p:spPr>
        <p:txBody>
          <a:bodyPr wrap="square" lIns="0" tIns="0" rIns="0" bIns="0" rtlCol="0" anchor="ctr">
            <a:normAutofit/>
          </a:bodyPr>
          <a:lstStyle/>
          <a:p>
            <a:pPr algn="ctr" indent="0" marL="0">
              <a:buNone/>
            </a:pPr>
            <a:r>
              <a:rPr lang="en-US" sz="1050" dirty="0">
                <a:solidFill>
                  <a:srgbClr val="2F8DE4"/>
                </a:solidFill>
                <a:latin typeface="Arial Rounded MT Bold" pitchFamily="34" charset="0"/>
                <a:ea typeface="Arial Rounded MT Bold" pitchFamily="34" charset="-122"/>
                <a:cs typeface="Arial Rounded MT Bold" pitchFamily="34" charset="-120"/>
              </a:rPr>
              <a:t>most words</a:t>
            </a:r>
            <a:endParaRPr lang="en-US" sz="1050" dirty="0"/>
          </a:p>
        </p:txBody>
      </p:sp>
      <p:sp>
        <p:nvSpPr>
          <p:cNvPr id="30" name="R2_rx232"/>
          <p:cNvSpPr/>
          <p:nvPr/>
        </p:nvSpPr>
        <p:spPr>
          <a:xfrm>
            <a:off x="2583180" y="3319272"/>
            <a:ext cx="1851660" cy="749808"/>
          </a:xfrm>
          <a:prstGeom prst="rect">
            <a:avLst/>
          </a:prstGeom>
          <a:noFill/>
          <a:ln/>
        </p:spPr>
        <p:txBody>
          <a:bodyPr wrap="square" lIns="0" tIns="0" rIns="0" bIns="0" rtlCol="0" anchor="ctr">
            <a:normAutofit/>
          </a:bodyP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two key</a:t>
            </a:r>
            <a:pPr algn="ctr" indent="0" marL="0">
              <a:buNone/>
            </a:pPr>
            <a:r>
              <a:rPr lang="en-US" sz="1050" b="1" dirty="0">
                <a:solidFill>
                  <a:srgbClr val="2F8DE4"/>
                </a:solidFill>
                <a:highlight>
                  <a:srgbClr val="FFF1A8"/>
                </a:highlight>
                <a:latin typeface="Segoe UI Semibold" pitchFamily="34" charset="0"/>
                <a:ea typeface="Segoe UI Semibold" pitchFamily="34" charset="-122"/>
                <a:cs typeface="Segoe UI Semibold" pitchFamily="34" charset="-120"/>
              </a:rPr>
              <a:t>s</a:t>
            </a:r>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 · three pen</a:t>
            </a:r>
            <a:pPr algn="ctr" indent="0" marL="0">
              <a:buNone/>
            </a:pPr>
            <a:r>
              <a:rPr lang="en-US" sz="1050" b="1" dirty="0">
                <a:solidFill>
                  <a:srgbClr val="2F8DE4"/>
                </a:solidFill>
                <a:highlight>
                  <a:srgbClr val="FFF1A8"/>
                </a:highlight>
                <a:latin typeface="Segoe UI Semibold" pitchFamily="34" charset="0"/>
                <a:ea typeface="Segoe UI Semibold" pitchFamily="34" charset="-122"/>
                <a:cs typeface="Segoe UI Semibold" pitchFamily="34" charset="-120"/>
              </a:rPr>
              <a:t>s</a:t>
            </a:r>
            <a:endParaRPr lang="en-US" sz="1050" dirty="0"/>
          </a:p>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sunglasse</a:t>
            </a:r>
            <a:pPr algn="ctr" indent="0" marL="0">
              <a:buNone/>
            </a:pPr>
            <a:r>
              <a:rPr lang="en-US" sz="1050" b="1" dirty="0">
                <a:solidFill>
                  <a:srgbClr val="2F8DE4"/>
                </a:solidFill>
                <a:highlight>
                  <a:srgbClr val="FFF1A8"/>
                </a:highlight>
                <a:latin typeface="Segoe UI Semibold" pitchFamily="34" charset="0"/>
                <a:ea typeface="Segoe UI Semibold" pitchFamily="34" charset="-122"/>
                <a:cs typeface="Segoe UI Semibold" pitchFamily="34" charset="-120"/>
              </a:rPr>
              <a:t>s</a:t>
            </a:r>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 · tissue</a:t>
            </a:r>
            <a:pPr algn="ctr" indent="0" marL="0">
              <a:buNone/>
            </a:pPr>
            <a:r>
              <a:rPr lang="en-US" sz="1050" b="1" dirty="0">
                <a:solidFill>
                  <a:srgbClr val="2F8DE4"/>
                </a:solidFill>
                <a:highlight>
                  <a:srgbClr val="FFF1A8"/>
                </a:highlight>
                <a:latin typeface="Segoe UI Semibold" pitchFamily="34" charset="0"/>
                <a:ea typeface="Segoe UI Semibold" pitchFamily="34" charset="-122"/>
                <a:cs typeface="Segoe UI Semibold" pitchFamily="34" charset="-120"/>
              </a:rPr>
              <a:t>s</a:t>
            </a:r>
            <a:endParaRPr lang="en-US" sz="1050" dirty="0"/>
          </a:p>
        </p:txBody>
      </p:sp>
      <p:sp>
        <p:nvSpPr>
          <p:cNvPr id="31" name="R2_ri233"/>
          <p:cNvSpPr/>
          <p:nvPr/>
        </p:nvSpPr>
        <p:spPr>
          <a:xfrm>
            <a:off x="2583180" y="4087368"/>
            <a:ext cx="1851660" cy="274320"/>
          </a:xfrm>
          <a:prstGeom prst="rect">
            <a:avLst/>
          </a:prstGeom>
          <a:noFill/>
          <a:ln/>
        </p:spPr>
        <p:txBody>
          <a:bodyPr wrap="square" lIns="0" tIns="0" rIns="0" bIns="0" rtlCol="0" anchor="ctr">
            <a:normAutofit/>
          </a:bodyPr>
          <a:lstStyle/>
          <a:p>
            <a:pPr algn="ctr" indent="0" marL="0">
              <a:buNone/>
            </a:pPr>
            <a:r>
              <a:rPr lang="en-US" sz="900" i="1" dirty="0">
                <a:solidFill>
                  <a:srgbClr val="5B6785"/>
                </a:solidFill>
                <a:latin typeface="Segoe UI" pitchFamily="34" charset="0"/>
                <a:ea typeface="Segoe UI" pitchFamily="34" charset="-122"/>
                <a:cs typeface="Segoe UI" pitchFamily="34" charset="-120"/>
              </a:rPr>
              <a:t>quasi sempre</a:t>
            </a:r>
            <a:endParaRPr lang="en-US" sz="900" dirty="0"/>
          </a:p>
        </p:txBody>
      </p:sp>
      <p:sp>
        <p:nvSpPr>
          <p:cNvPr id="32" name="cd_234"/>
          <p:cNvSpPr/>
          <p:nvPr/>
        </p:nvSpPr>
        <p:spPr>
          <a:xfrm>
            <a:off x="4663440" y="1417320"/>
            <a:ext cx="2034540" cy="3017520"/>
          </a:xfrm>
          <a:prstGeom prst="roundRect">
            <a:avLst>
              <a:gd name="adj" fmla="val 6292"/>
            </a:avLst>
          </a:prstGeom>
          <a:solidFill>
            <a:srgbClr val="FFFFFF"/>
          </a:solidFill>
          <a:ln w="25400">
            <a:solidFill>
              <a:srgbClr val="A8E5BE"/>
            </a:solidFill>
            <a:prstDash val="solid"/>
          </a:ln>
          <a:effectLst>
            <a:outerShdw sx="100000" sy="100000" kx="0" ky="0" algn="bl" rotWithShape="0" blurRad="88900" dist="31750" dir="5400000">
              <a:srgbClr val="1B2559">
                <a:alpha val="12000"/>
              </a:srgbClr>
            </a:outerShdw>
          </a:effectLst>
        </p:spPr>
      </p:sp>
      <p:sp>
        <p:nvSpPr>
          <p:cNvPr id="33" name="rh_235"/>
          <p:cNvSpPr/>
          <p:nvPr/>
        </p:nvSpPr>
        <p:spPr>
          <a:xfrm>
            <a:off x="4773168" y="1508760"/>
            <a:ext cx="1815084" cy="365760"/>
          </a:xfrm>
          <a:prstGeom prst="roundRect">
            <a:avLst>
              <a:gd name="adj" fmla="val 50000"/>
            </a:avLst>
          </a:prstGeom>
          <a:solidFill>
            <a:srgbClr val="2EB872"/>
          </a:solidFill>
          <a:ln/>
        </p:spPr>
        <p:txBody>
          <a:bodyPr wrap="square" lIns="0" tIns="0" rIns="0" bIns="0" rtlCol="0" anchor="ctr">
            <a:normAutofit/>
          </a:bodyPr>
          <a:lstStyle/>
          <a:p>
            <a:pPr algn="ctr" indent="0" marL="0">
              <a:buNone/>
            </a:pPr>
            <a:r>
              <a:rPr lang="en-US" sz="1250" dirty="0">
                <a:solidFill>
                  <a:srgbClr val="FFFFFF"/>
                </a:solidFill>
                <a:latin typeface="Arial Rounded MT Bold" pitchFamily="34" charset="0"/>
                <a:ea typeface="Arial Rounded MT Bold" pitchFamily="34" charset="-122"/>
                <a:cs typeface="Arial Rounded MT Bold" pitchFamily="34" charset="-120"/>
              </a:rPr>
              <a:t>+ es / ies</a:t>
            </a:r>
            <a:endParaRPr lang="en-US" sz="1250" dirty="0"/>
          </a:p>
        </p:txBody>
      </p:sp>
      <p:sp>
        <p:nvSpPr>
          <p:cNvPr id="34" name="pf_236"/>
          <p:cNvSpPr/>
          <p:nvPr/>
        </p:nvSpPr>
        <p:spPr>
          <a:xfrm>
            <a:off x="4773168" y="1938528"/>
            <a:ext cx="1815084" cy="960120"/>
          </a:xfrm>
          <a:prstGeom prst="roundRect">
            <a:avLst>
              <a:gd name="adj" fmla="val 1619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35" name="ph_237" descr="/home/claude/lls-course/v2/cache/red_2a_notebook_jpg_415x209_31.png">    </p:cNvPr>
          <p:cNvPicPr>
            <a:picLocks noChangeAspect="1"/>
          </p:cNvPicPr>
          <p:nvPr/>
        </p:nvPicPr>
        <p:blipFill>
          <a:blip r:embed="rId13"/>
          <a:stretch>
            <a:fillRect/>
          </a:stretch>
        </p:blipFill>
        <p:spPr>
          <a:xfrm>
            <a:off x="4818888" y="1984248"/>
            <a:ext cx="1723644" cy="868680"/>
          </a:xfrm>
          <a:prstGeom prst="rect">
            <a:avLst/>
          </a:prstGeom>
        </p:spPr>
      </p:pic>
      <p:sp>
        <p:nvSpPr>
          <p:cNvPr id="36" name="ru_238"/>
          <p:cNvSpPr/>
          <p:nvPr/>
        </p:nvSpPr>
        <p:spPr>
          <a:xfrm>
            <a:off x="4754880" y="2926080"/>
            <a:ext cx="1851660" cy="384048"/>
          </a:xfrm>
          <a:prstGeom prst="rect">
            <a:avLst/>
          </a:prstGeom>
          <a:noFill/>
          <a:ln/>
        </p:spPr>
        <p:txBody>
          <a:bodyPr wrap="square" lIns="0" tIns="0" rIns="0" bIns="0" rtlCol="0" anchor="ctr">
            <a:normAutofit/>
          </a:bodyPr>
          <a:lstStyle/>
          <a:p>
            <a:pPr algn="ctr" indent="0" marL="0">
              <a:buNone/>
            </a:pPr>
            <a:r>
              <a:rPr lang="en-US" sz="1050" dirty="0">
                <a:solidFill>
                  <a:srgbClr val="2EB872"/>
                </a:solidFill>
                <a:latin typeface="Arial Rounded MT Bold" pitchFamily="34" charset="0"/>
                <a:ea typeface="Arial Rounded MT Bold" pitchFamily="34" charset="-122"/>
                <a:cs typeface="Arial Rounded MT Bold" pitchFamily="34" charset="-120"/>
              </a:rPr>
              <a:t>s, sh, ch, x · y → ies</a:t>
            </a:r>
            <a:endParaRPr lang="en-US" sz="1050" dirty="0"/>
          </a:p>
        </p:txBody>
      </p:sp>
      <p:sp>
        <p:nvSpPr>
          <p:cNvPr id="37" name="R3_rx239"/>
          <p:cNvSpPr/>
          <p:nvPr/>
        </p:nvSpPr>
        <p:spPr>
          <a:xfrm>
            <a:off x="4754880" y="3319272"/>
            <a:ext cx="1851660" cy="749808"/>
          </a:xfrm>
          <a:prstGeom prst="rect">
            <a:avLst/>
          </a:prstGeom>
          <a:noFill/>
          <a:ln/>
        </p:spPr>
        <p:txBody>
          <a:bodyPr wrap="square" lIns="0" tIns="0" rIns="0" bIns="0" rtlCol="0" anchor="ctr">
            <a:normAutofit/>
          </a:bodyP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two watch</a:t>
            </a:r>
            <a:pPr algn="ctr" indent="0" marL="0">
              <a:buNone/>
            </a:pPr>
            <a:r>
              <a:rPr lang="en-US" sz="1050" b="1" dirty="0">
                <a:solidFill>
                  <a:srgbClr val="2EB872"/>
                </a:solidFill>
                <a:highlight>
                  <a:srgbClr val="FFF1A8"/>
                </a:highlight>
                <a:latin typeface="Segoe UI Semibold" pitchFamily="34" charset="0"/>
                <a:ea typeface="Segoe UI Semibold" pitchFamily="34" charset="-122"/>
                <a:cs typeface="Segoe UI Semibold" pitchFamily="34" charset="-120"/>
              </a:rPr>
              <a:t>es</a:t>
            </a:r>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 · box</a:t>
            </a:r>
            <a:pPr algn="ctr" indent="0" marL="0">
              <a:buNone/>
            </a:pPr>
            <a:r>
              <a:rPr lang="en-US" sz="1050" b="1" dirty="0">
                <a:solidFill>
                  <a:srgbClr val="2EB872"/>
                </a:solidFill>
                <a:highlight>
                  <a:srgbClr val="FFF1A8"/>
                </a:highlight>
                <a:latin typeface="Segoe UI Semibold" pitchFamily="34" charset="0"/>
                <a:ea typeface="Segoe UI Semibold" pitchFamily="34" charset="-122"/>
                <a:cs typeface="Segoe UI Semibold" pitchFamily="34" charset="-120"/>
              </a:rPr>
              <a:t>es</a:t>
            </a:r>
            <a:endParaRPr lang="en-US" sz="1050" dirty="0"/>
          </a:p>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diar</a:t>
            </a:r>
            <a:pPr algn="ctr" indent="0" marL="0">
              <a:buNone/>
            </a:pPr>
            <a:r>
              <a:rPr lang="en-US" sz="1050" b="1" dirty="0">
                <a:solidFill>
                  <a:srgbClr val="2EB872"/>
                </a:solidFill>
                <a:highlight>
                  <a:srgbClr val="FFF1A8"/>
                </a:highlight>
                <a:latin typeface="Segoe UI Semibold" pitchFamily="34" charset="0"/>
                <a:ea typeface="Segoe UI Semibold" pitchFamily="34" charset="-122"/>
                <a:cs typeface="Segoe UI Semibold" pitchFamily="34" charset="-120"/>
              </a:rPr>
              <a:t>y</a:t>
            </a:r>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 → diar</a:t>
            </a:r>
            <a:pPr algn="ctr" indent="0" marL="0">
              <a:buNone/>
            </a:pPr>
            <a:r>
              <a:rPr lang="en-US" sz="1050" b="1" dirty="0">
                <a:solidFill>
                  <a:srgbClr val="2EB872"/>
                </a:solidFill>
                <a:highlight>
                  <a:srgbClr val="FFF1A8"/>
                </a:highlight>
                <a:latin typeface="Segoe UI Semibold" pitchFamily="34" charset="0"/>
                <a:ea typeface="Segoe UI Semibold" pitchFamily="34" charset="-122"/>
                <a:cs typeface="Segoe UI Semibold" pitchFamily="34" charset="-120"/>
              </a:rPr>
              <a:t>ies</a:t>
            </a:r>
            <a:endParaRPr lang="en-US" sz="1050" dirty="0"/>
          </a:p>
        </p:txBody>
      </p:sp>
      <p:sp>
        <p:nvSpPr>
          <p:cNvPr id="38" name="R3_ri240"/>
          <p:cNvSpPr/>
          <p:nvPr/>
        </p:nvSpPr>
        <p:spPr>
          <a:xfrm>
            <a:off x="4754880" y="4087368"/>
            <a:ext cx="1851660" cy="274320"/>
          </a:xfrm>
          <a:prstGeom prst="rect">
            <a:avLst/>
          </a:prstGeom>
          <a:noFill/>
          <a:ln/>
        </p:spPr>
        <p:txBody>
          <a:bodyPr wrap="square" lIns="0" tIns="0" rIns="0" bIns="0" rtlCol="0" anchor="ctr">
            <a:normAutofit/>
          </a:bodyPr>
          <a:lstStyle/>
          <a:p>
            <a:pPr algn="ctr" indent="0" marL="0">
              <a:buNone/>
            </a:pPr>
            <a:r>
              <a:rPr lang="en-US" sz="900" i="1" dirty="0">
                <a:solidFill>
                  <a:srgbClr val="5B6785"/>
                </a:solidFill>
                <a:latin typeface="Segoe UI" pitchFamily="34" charset="0"/>
                <a:ea typeface="Segoe UI" pitchFamily="34" charset="-122"/>
                <a:cs typeface="Segoe UI" pitchFamily="34" charset="-120"/>
              </a:rPr>
              <a:t>ma: key → keys</a:t>
            </a:r>
            <a:endParaRPr lang="en-US" sz="900" dirty="0"/>
          </a:p>
        </p:txBody>
      </p:sp>
      <p:sp>
        <p:nvSpPr>
          <p:cNvPr id="39" name="cd_241"/>
          <p:cNvSpPr/>
          <p:nvPr/>
        </p:nvSpPr>
        <p:spPr>
          <a:xfrm>
            <a:off x="6835140" y="1417320"/>
            <a:ext cx="2034540" cy="3017520"/>
          </a:xfrm>
          <a:prstGeom prst="roundRect">
            <a:avLst>
              <a:gd name="adj" fmla="val 6292"/>
            </a:avLst>
          </a:prstGeom>
          <a:solidFill>
            <a:srgbClr val="FFFFFF"/>
          </a:solidFill>
          <a:ln w="25400">
            <a:solidFill>
              <a:srgbClr val="FFE07A"/>
            </a:solidFill>
            <a:prstDash val="solid"/>
          </a:ln>
          <a:effectLst>
            <a:outerShdw sx="100000" sy="100000" kx="0" ky="0" algn="bl" rotWithShape="0" blurRad="88900" dist="31750" dir="5400000">
              <a:srgbClr val="1B2559">
                <a:alpha val="12000"/>
              </a:srgbClr>
            </a:outerShdw>
          </a:effectLst>
        </p:spPr>
      </p:sp>
      <p:sp>
        <p:nvSpPr>
          <p:cNvPr id="40" name="rh_242"/>
          <p:cNvSpPr/>
          <p:nvPr/>
        </p:nvSpPr>
        <p:spPr>
          <a:xfrm>
            <a:off x="6944868" y="1508760"/>
            <a:ext cx="1815084" cy="365760"/>
          </a:xfrm>
          <a:prstGeom prst="roundRect">
            <a:avLst>
              <a:gd name="adj" fmla="val 50000"/>
            </a:avLst>
          </a:prstGeom>
          <a:solidFill>
            <a:srgbClr val="F2B705"/>
          </a:solidFill>
          <a:ln/>
        </p:spPr>
        <p:txBody>
          <a:bodyPr wrap="square" lIns="0" tIns="0" rIns="0" bIns="0" rtlCol="0" anchor="ctr">
            <a:normAutofit/>
          </a:bodyPr>
          <a:lstStyle/>
          <a:p>
            <a:pPr algn="ctr" indent="0" marL="0">
              <a:buNone/>
            </a:pPr>
            <a:r>
              <a:rPr lang="en-US" sz="1250" dirty="0">
                <a:solidFill>
                  <a:srgbClr val="FFFFFF"/>
                </a:solidFill>
                <a:latin typeface="Arial Rounded MT Bold" pitchFamily="34" charset="0"/>
                <a:ea typeface="Arial Rounded MT Bold" pitchFamily="34" charset="-122"/>
                <a:cs typeface="Arial Rounded MT Bold" pitchFamily="34" charset="-120"/>
              </a:rPr>
              <a:t>irregular</a:t>
            </a:r>
            <a:endParaRPr lang="en-US" sz="1250" dirty="0"/>
          </a:p>
        </p:txBody>
      </p:sp>
      <p:sp>
        <p:nvSpPr>
          <p:cNvPr id="41" name="pf_243"/>
          <p:cNvSpPr/>
          <p:nvPr/>
        </p:nvSpPr>
        <p:spPr>
          <a:xfrm>
            <a:off x="6944868" y="1938528"/>
            <a:ext cx="1815084" cy="960120"/>
          </a:xfrm>
          <a:prstGeom prst="roundRect">
            <a:avLst>
              <a:gd name="adj" fmla="val 1619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42" name="ph_244" descr="/home/claude/lls-course/v2/cache/red_2a_untidy_jpg_415x209_31.png">    </p:cNvPr>
          <p:cNvPicPr>
            <a:picLocks noChangeAspect="1"/>
          </p:cNvPicPr>
          <p:nvPr/>
        </p:nvPicPr>
        <p:blipFill>
          <a:blip r:embed="rId14"/>
          <a:stretch>
            <a:fillRect/>
          </a:stretch>
        </p:blipFill>
        <p:spPr>
          <a:xfrm>
            <a:off x="6990588" y="1984248"/>
            <a:ext cx="1723644" cy="868680"/>
          </a:xfrm>
          <a:prstGeom prst="rect">
            <a:avLst/>
          </a:prstGeom>
        </p:spPr>
      </p:pic>
      <p:sp>
        <p:nvSpPr>
          <p:cNvPr id="43" name="ru_245"/>
          <p:cNvSpPr/>
          <p:nvPr/>
        </p:nvSpPr>
        <p:spPr>
          <a:xfrm>
            <a:off x="6926580" y="2926080"/>
            <a:ext cx="1851660" cy="384048"/>
          </a:xfrm>
          <a:prstGeom prst="rect">
            <a:avLst/>
          </a:prstGeom>
          <a:noFill/>
          <a:ln/>
        </p:spPr>
        <p:txBody>
          <a:bodyPr wrap="square" lIns="0" tIns="0" rIns="0" bIns="0" rtlCol="0" anchor="ctr">
            <a:normAutofit/>
          </a:bodyPr>
          <a:lstStyle/>
          <a:p>
            <a:pPr algn="ctr" indent="0" marL="0">
              <a:buNone/>
            </a:pPr>
            <a:r>
              <a:rPr lang="en-US" sz="1050" dirty="0">
                <a:solidFill>
                  <a:srgbClr val="F2B705"/>
                </a:solidFill>
                <a:latin typeface="Arial Rounded MT Bold" pitchFamily="34" charset="0"/>
                <a:ea typeface="Arial Rounded MT Bold" pitchFamily="34" charset="-122"/>
                <a:cs typeface="Arial Rounded MT Bold" pitchFamily="34" charset="-120"/>
              </a:rPr>
              <a:t>learn them!</a:t>
            </a:r>
            <a:endParaRPr lang="en-US" sz="1050" dirty="0"/>
          </a:p>
        </p:txBody>
      </p:sp>
      <p:sp>
        <p:nvSpPr>
          <p:cNvPr id="44" name="R4_rx246"/>
          <p:cNvSpPr/>
          <p:nvPr/>
        </p:nvSpPr>
        <p:spPr>
          <a:xfrm>
            <a:off x="6926580" y="3319272"/>
            <a:ext cx="1851660" cy="749808"/>
          </a:xfrm>
          <a:prstGeom prst="rect">
            <a:avLst/>
          </a:prstGeom>
          <a:noFill/>
          <a:ln/>
        </p:spPr>
        <p:txBody>
          <a:bodyPr wrap="square" lIns="0" tIns="0" rIns="0" bIns="0" rtlCol="0" anchor="ctr">
            <a:normAutofit/>
          </a:bodyPr>
          <a:lstStyle/>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man → </a:t>
            </a:r>
            <a:pPr algn="ctr" indent="0" marL="0">
              <a:buNone/>
            </a:pPr>
            <a:r>
              <a:rPr lang="en-US" sz="1050" b="1" dirty="0">
                <a:solidFill>
                  <a:srgbClr val="F2B705"/>
                </a:solidFill>
                <a:highlight>
                  <a:srgbClr val="FFF1A8"/>
                </a:highlight>
                <a:latin typeface="Segoe UI Semibold" pitchFamily="34" charset="0"/>
                <a:ea typeface="Segoe UI Semibold" pitchFamily="34" charset="-122"/>
                <a:cs typeface="Segoe UI Semibold" pitchFamily="34" charset="-120"/>
              </a:rPr>
              <a:t>men</a:t>
            </a:r>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 · woman → </a:t>
            </a:r>
            <a:pPr algn="ctr" indent="0" marL="0">
              <a:buNone/>
            </a:pPr>
            <a:r>
              <a:rPr lang="en-US" sz="1050" b="1" dirty="0">
                <a:solidFill>
                  <a:srgbClr val="F2B705"/>
                </a:solidFill>
                <a:highlight>
                  <a:srgbClr val="FFF1A8"/>
                </a:highlight>
                <a:latin typeface="Segoe UI Semibold" pitchFamily="34" charset="0"/>
                <a:ea typeface="Segoe UI Semibold" pitchFamily="34" charset="-122"/>
                <a:cs typeface="Segoe UI Semibold" pitchFamily="34" charset="-120"/>
              </a:rPr>
              <a:t>women</a:t>
            </a:r>
            <a:endParaRPr lang="en-US" sz="1050" dirty="0"/>
          </a:p>
          <a:p>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person → </a:t>
            </a:r>
            <a:pPr algn="ctr" indent="0" marL="0">
              <a:buNone/>
            </a:pPr>
            <a:r>
              <a:rPr lang="en-US" sz="1050" b="1" dirty="0">
                <a:solidFill>
                  <a:srgbClr val="F2B705"/>
                </a:solidFill>
                <a:highlight>
                  <a:srgbClr val="FFF1A8"/>
                </a:highlight>
                <a:latin typeface="Segoe UI Semibold" pitchFamily="34" charset="0"/>
                <a:ea typeface="Segoe UI Semibold" pitchFamily="34" charset="-122"/>
                <a:cs typeface="Segoe UI Semibold" pitchFamily="34" charset="-120"/>
              </a:rPr>
              <a:t>people</a:t>
            </a:r>
            <a:pPr algn="ctr" indent="0" marL="0">
              <a:buNone/>
            </a:pPr>
            <a:r>
              <a:rPr lang="en-US" sz="1050" dirty="0">
                <a:solidFill>
                  <a:srgbClr val="1B2559"/>
                </a:solidFill>
                <a:latin typeface="Segoe UI Semibold" pitchFamily="34" charset="0"/>
                <a:ea typeface="Segoe UI Semibold" pitchFamily="34" charset="-122"/>
                <a:cs typeface="Segoe UI Semibold" pitchFamily="34" charset="-120"/>
              </a:rPr>
              <a:t> · child → </a:t>
            </a:r>
            <a:pPr algn="ctr" indent="0" marL="0">
              <a:buNone/>
            </a:pPr>
            <a:r>
              <a:rPr lang="en-US" sz="1050" b="1" dirty="0">
                <a:solidFill>
                  <a:srgbClr val="F2B705"/>
                </a:solidFill>
                <a:highlight>
                  <a:srgbClr val="FFF1A8"/>
                </a:highlight>
                <a:latin typeface="Segoe UI Semibold" pitchFamily="34" charset="0"/>
                <a:ea typeface="Segoe UI Semibold" pitchFamily="34" charset="-122"/>
                <a:cs typeface="Segoe UI Semibold" pitchFamily="34" charset="-120"/>
              </a:rPr>
              <a:t>children</a:t>
            </a:r>
            <a:endParaRPr lang="en-US" sz="1050" dirty="0"/>
          </a:p>
        </p:txBody>
      </p:sp>
      <p:sp>
        <p:nvSpPr>
          <p:cNvPr id="45" name="R4_ri247"/>
          <p:cNvSpPr/>
          <p:nvPr/>
        </p:nvSpPr>
        <p:spPr>
          <a:xfrm>
            <a:off x="6926580" y="4087368"/>
            <a:ext cx="1851660" cy="274320"/>
          </a:xfrm>
          <a:prstGeom prst="rect">
            <a:avLst/>
          </a:prstGeom>
          <a:noFill/>
          <a:ln/>
        </p:spPr>
        <p:txBody>
          <a:bodyPr wrap="square" lIns="0" tIns="0" rIns="0" bIns="0" rtlCol="0" anchor="ctr">
            <a:normAutofit/>
          </a:bodyPr>
          <a:lstStyle/>
          <a:p>
            <a:pPr algn="ctr" indent="0" marL="0">
              <a:buNone/>
            </a:pPr>
            <a:r>
              <a:rPr lang="en-US" sz="900" i="1" dirty="0">
                <a:solidFill>
                  <a:srgbClr val="5B6785"/>
                </a:solidFill>
                <a:latin typeface="Segoe UI" pitchFamily="34" charset="0"/>
                <a:ea typeface="Segoe UI" pitchFamily="34" charset="-122"/>
                <a:cs typeface="Segoe UI" pitchFamily="34" charset="-120"/>
              </a:rPr>
              <a:t>people = persone</a:t>
            </a:r>
            <a:endParaRPr lang="en-US" sz="900" dirty="0"/>
          </a:p>
        </p:txBody>
      </p:sp>
      <p:sp>
        <p:nvSpPr>
          <p:cNvPr id="46" name="R5_wc248"/>
          <p:cNvSpPr/>
          <p:nvPr/>
        </p:nvSpPr>
        <p:spPr>
          <a:xfrm>
            <a:off x="320040" y="4544568"/>
            <a:ext cx="8549640" cy="329184"/>
          </a:xfrm>
          <a:prstGeom prst="roundRect">
            <a:avLst>
              <a:gd name="adj" fmla="val 38889"/>
            </a:avLst>
          </a:prstGeom>
          <a:solidFill>
            <a:srgbClr val="FFE3EE"/>
          </a:solidFill>
          <a:ln w="19050">
            <a:solidFill>
              <a:srgbClr val="F7A6C4"/>
            </a:solidFill>
            <a:prstDash val="solid"/>
          </a:ln>
          <a:effectLst>
            <a:outerShdw sx="100000" sy="100000" kx="0" ky="0" algn="bl" rotWithShape="0" blurRad="88900" dist="31750" dir="5400000">
              <a:srgbClr val="1B2559">
                <a:alpha val="12000"/>
              </a:srgbClr>
            </a:outerShdw>
          </a:effectLst>
        </p:spPr>
      </p:sp>
      <p:sp>
        <p:nvSpPr>
          <p:cNvPr id="47" name="R5_w249"/>
          <p:cNvSpPr/>
          <p:nvPr/>
        </p:nvSpPr>
        <p:spPr>
          <a:xfrm>
            <a:off x="457200" y="4544568"/>
            <a:ext cx="8321040" cy="329184"/>
          </a:xfrm>
          <a:prstGeom prst="rect">
            <a:avLst/>
          </a:prstGeom>
          <a:noFill/>
          <a:ln/>
        </p:spPr>
        <p:txBody>
          <a:bodyPr wrap="square" lIns="0" tIns="0" rIns="0" bIns="0" rtlCol="0" anchor="ctr">
            <a:normAutofit/>
          </a:bodyPr>
          <a:lstStyle/>
          <a:p>
            <a:pPr indent="0" marL="0">
              <a:buNone/>
            </a:pPr>
            <a:r>
              <a:rPr lang="en-US" sz="1000" dirty="0">
                <a:solidFill>
                  <a:srgbClr val="1B2559"/>
                </a:solidFill>
                <a:latin typeface="Segoe UI Semibold" pitchFamily="34" charset="0"/>
                <a:ea typeface="Segoe UI Semibold" pitchFamily="34" charset="-122"/>
                <a:cs typeface="Segoe UI Semibold" pitchFamily="34" charset="-120"/>
              </a:rPr>
              <a:t>⚠ is = one · are = more: The key is under the cat. → The keys are under the cat.   ✗ a sunglasses → ✓ sunglasses</a:t>
            </a:r>
            <a:endParaRPr lang="en-US" sz="10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fade">
                                      <p:cBhvr>
                                        <p:cTn id="7" dur="400"/>
                                        <p:tgtEl>
                                          <p:spTgt spid="23"/>
                                        </p:tgtEl>
                                      </p:cBhvr>
                                    </p:animEffect>
                                  </p:childTnLst>
                                </p:cTn>
                              </p:par>
                              <p:par>
                                <p:cTn id="8" presetID="10" presetClass="entr" presetSubtype="0" fill="hold" nodeType="withEffect">
                                  <p:stCondLst>
                                    <p:cond delay="0"/>
                                  </p:stCondLst>
                                  <p:childTnLst>
                                    <p:set>
                                      <p:cBhvr>
                                        <p:cTn id="9" dur="1" fill="hold">
                                          <p:stCondLst>
                                            <p:cond delay="0"/>
                                          </p:stCondLst>
                                        </p:cTn>
                                        <p:tgtEl>
                                          <p:spTgt spid="24"/>
                                        </p:tgtEl>
                                        <p:attrNameLst>
                                          <p:attrName>style.visibility</p:attrName>
                                        </p:attrNameLst>
                                      </p:cBhvr>
                                      <p:to>
                                        <p:strVal val="visible"/>
                                      </p:to>
                                    </p:set>
                                    <p:animEffect transition="in" filter="fade">
                                      <p:cBhvr>
                                        <p:cTn id="10" dur="400"/>
                                        <p:tgtEl>
                                          <p:spTgt spid="2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30"/>
                                        </p:tgtEl>
                                        <p:attrNameLst>
                                          <p:attrName>style.visibility</p:attrName>
                                        </p:attrNameLst>
                                      </p:cBhvr>
                                      <p:to>
                                        <p:strVal val="visible"/>
                                      </p:to>
                                    </p:set>
                                    <p:animEffect transition="in" filter="fade">
                                      <p:cBhvr>
                                        <p:cTn id="15" dur="400"/>
                                        <p:tgtEl>
                                          <p:spTgt spid="30"/>
                                        </p:tgtEl>
                                      </p:cBhvr>
                                    </p:animEffect>
                                  </p:childTnLst>
                                </p:cTn>
                              </p:par>
                              <p:par>
                                <p:cTn id="16" presetID="10" presetClass="entr" presetSubtype="0" fill="hold" nodeType="withEffect">
                                  <p:stCondLst>
                                    <p:cond delay="0"/>
                                  </p:stCondLst>
                                  <p:childTnLst>
                                    <p:set>
                                      <p:cBhvr>
                                        <p:cTn id="17" dur="1" fill="hold">
                                          <p:stCondLst>
                                            <p:cond delay="0"/>
                                          </p:stCondLst>
                                        </p:cTn>
                                        <p:tgtEl>
                                          <p:spTgt spid="31"/>
                                        </p:tgtEl>
                                        <p:attrNameLst>
                                          <p:attrName>style.visibility</p:attrName>
                                        </p:attrNameLst>
                                      </p:cBhvr>
                                      <p:to>
                                        <p:strVal val="visible"/>
                                      </p:to>
                                    </p:set>
                                    <p:animEffect transition="in" filter="fade">
                                      <p:cBhvr>
                                        <p:cTn id="18" dur="400"/>
                                        <p:tgtEl>
                                          <p:spTgt spid="31"/>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37"/>
                                        </p:tgtEl>
                                        <p:attrNameLst>
                                          <p:attrName>style.visibility</p:attrName>
                                        </p:attrNameLst>
                                      </p:cBhvr>
                                      <p:to>
                                        <p:strVal val="visible"/>
                                      </p:to>
                                    </p:set>
                                    <p:animEffect transition="in" filter="fade">
                                      <p:cBhvr>
                                        <p:cTn id="23" dur="400"/>
                                        <p:tgtEl>
                                          <p:spTgt spid="37"/>
                                        </p:tgtEl>
                                      </p:cBhvr>
                                    </p:animEffect>
                                  </p:childTnLst>
                                </p:cTn>
                              </p:par>
                              <p:par>
                                <p:cTn id="24" presetID="10" presetClass="entr" presetSubtype="0" fill="hold" nodeType="withEffect">
                                  <p:stCondLst>
                                    <p:cond delay="0"/>
                                  </p:stCondLst>
                                  <p:childTnLst>
                                    <p:set>
                                      <p:cBhvr>
                                        <p:cTn id="25" dur="1" fill="hold">
                                          <p:stCondLst>
                                            <p:cond delay="0"/>
                                          </p:stCondLst>
                                        </p:cTn>
                                        <p:tgtEl>
                                          <p:spTgt spid="38"/>
                                        </p:tgtEl>
                                        <p:attrNameLst>
                                          <p:attrName>style.visibility</p:attrName>
                                        </p:attrNameLst>
                                      </p:cBhvr>
                                      <p:to>
                                        <p:strVal val="visible"/>
                                      </p:to>
                                    </p:set>
                                    <p:animEffect transition="in" filter="fade">
                                      <p:cBhvr>
                                        <p:cTn id="26" dur="400"/>
                                        <p:tgtEl>
                                          <p:spTgt spid="38"/>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44"/>
                                        </p:tgtEl>
                                        <p:attrNameLst>
                                          <p:attrName>style.visibility</p:attrName>
                                        </p:attrNameLst>
                                      </p:cBhvr>
                                      <p:to>
                                        <p:strVal val="visible"/>
                                      </p:to>
                                    </p:set>
                                    <p:animEffect transition="in" filter="fade">
                                      <p:cBhvr>
                                        <p:cTn id="31" dur="400"/>
                                        <p:tgtEl>
                                          <p:spTgt spid="44"/>
                                        </p:tgtEl>
                                      </p:cBhvr>
                                    </p:animEffect>
                                  </p:childTnLst>
                                </p:cTn>
                              </p:par>
                              <p:par>
                                <p:cTn id="32" presetID="10" presetClass="entr" presetSubtype="0" fill="hold" nodeType="withEffect">
                                  <p:stCondLst>
                                    <p:cond delay="0"/>
                                  </p:stCondLst>
                                  <p:childTnLst>
                                    <p:set>
                                      <p:cBhvr>
                                        <p:cTn id="33" dur="1" fill="hold">
                                          <p:stCondLst>
                                            <p:cond delay="0"/>
                                          </p:stCondLst>
                                        </p:cTn>
                                        <p:tgtEl>
                                          <p:spTgt spid="45"/>
                                        </p:tgtEl>
                                        <p:attrNameLst>
                                          <p:attrName>style.visibility</p:attrName>
                                        </p:attrNameLst>
                                      </p:cBhvr>
                                      <p:to>
                                        <p:strVal val="visible"/>
                                      </p:to>
                                    </p:set>
                                    <p:animEffect transition="in" filter="fade">
                                      <p:cBhvr>
                                        <p:cTn id="34" dur="400"/>
                                        <p:tgtEl>
                                          <p:spTgt spid="45"/>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46"/>
                                        </p:tgtEl>
                                        <p:attrNameLst>
                                          <p:attrName>style.visibility</p:attrName>
                                        </p:attrNameLst>
                                      </p:cBhvr>
                                      <p:to>
                                        <p:strVal val="visible"/>
                                      </p:to>
                                    </p:set>
                                    <p:animEffect transition="in" filter="fade">
                                      <p:cBhvr>
                                        <p:cTn id="39" dur="400"/>
                                        <p:tgtEl>
                                          <p:spTgt spid="46"/>
                                        </p:tgtEl>
                                      </p:cBhvr>
                                    </p:animEffect>
                                  </p:childTnLst>
                                </p:cTn>
                              </p:par>
                              <p:par>
                                <p:cTn id="40" presetID="10" presetClass="entr" presetSubtype="0" fill="hold" nodeType="withEffect">
                                  <p:stCondLst>
                                    <p:cond delay="0"/>
                                  </p:stCondLst>
                                  <p:childTnLst>
                                    <p:set>
                                      <p:cBhvr>
                                        <p:cTn id="41" dur="1" fill="hold">
                                          <p:stCondLst>
                                            <p:cond delay="0"/>
                                          </p:stCondLst>
                                        </p:cTn>
                                        <p:tgtEl>
                                          <p:spTgt spid="47"/>
                                        </p:tgtEl>
                                        <p:attrNameLst>
                                          <p:attrName>style.visibility</p:attrName>
                                        </p:attrNameLst>
                                      </p:cBhvr>
                                      <p:to>
                                        <p:strVal val="visible"/>
                                      </p:to>
                                    </p:set>
                                    <p:animEffect transition="in" filter="fade">
                                      <p:cBhvr>
                                        <p:cTn id="42" dur="4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43" restart="whenNotActive" fill="hold" evtFilter="cancelBubble" nodeType="interactiveSeq">
                <p:stCondLst>
                  <p:cond evt="onClick" delay="0">
                    <p:tgtEl>
                      <p:spTgt spid="16"/>
                    </p:tgtEl>
                  </p:cond>
                </p:stCondLst>
                <p:endSync evt="end" delay="0">
                  <p:rtn val="all"/>
                </p:endSync>
                <p:childTnLst>
                  <p:par>
                    <p:cTn id="44" fill="hold">
                      <p:stCondLst>
                        <p:cond delay="0"/>
                      </p:stCondLst>
                      <p:childTnLst>
                        <p:par>
                          <p:cTn id="45" fill="hold">
                            <p:stCondLst>
                              <p:cond delay="0"/>
                            </p:stCondLst>
                            <p:childTnLst>
                              <p:par>
                                <p:cTn id="46" presetID="2" presetClass="mediacall" presetSubtype="0" fill="hold" nodeType="clickEffect">
                                  <p:stCondLst>
                                    <p:cond delay="0"/>
                                  </p:stCondLst>
                                  <p:childTnLst>
                                    <p:cmd type="call" cmd="togglePause">
                                      <p:cBhvr>
                                        <p:cTn id="47" dur="1" fill="hold"/>
                                        <p:tgtEl>
                                          <p:spTgt spid="16"/>
                                        </p:tgtEl>
                                      </p:cBhvr>
                                    </p:cmd>
                                  </p:childTnLst>
                                </p:cTn>
                              </p:par>
                            </p:childTnLst>
                          </p:cTn>
                        </p:par>
                      </p:childTnLst>
                    </p:cTn>
                  </p:par>
                </p:childTnLst>
              </p:cTn>
              <p:nextCondLst>
                <p:cond evt="onClick" delay="0">
                  <p:tgtEl>
                    <p:spTgt spid="16"/>
                  </p:tgtEl>
                </p:cond>
              </p:nextCondLst>
            </p:seq>
            <p:seq concurrent="1" nextAc="seek">
              <p:cTn id="48" restart="whenNotActive" fill="hold" evtFilter="cancelBubble" nodeType="interactiveSeq">
                <p:stCondLst>
                  <p:cond evt="onClick" delay="0">
                    <p:tgtEl>
                      <p:spTgt spid="17"/>
                    </p:tgtEl>
                  </p:cond>
                </p:stCondLst>
                <p:endSync evt="end" delay="0">
                  <p:rtn val="all"/>
                </p:endSync>
                <p:childTnLst>
                  <p:par>
                    <p:cTn id="49" fill="hold">
                      <p:stCondLst>
                        <p:cond delay="0"/>
                      </p:stCondLst>
                      <p:childTnLst>
                        <p:par>
                          <p:cTn id="50" fill="hold">
                            <p:stCondLst>
                              <p:cond delay="0"/>
                            </p:stCondLst>
                            <p:childTnLst>
                              <p:par>
                                <p:cTn id="51" presetID="2" presetClass="mediacall" presetSubtype="0" fill="hold" nodeType="clickEffect">
                                  <p:stCondLst>
                                    <p:cond delay="0"/>
                                  </p:stCondLst>
                                  <p:childTnLst>
                                    <p:cmd type="call" cmd="togglePause">
                                      <p:cBhvr>
                                        <p:cTn id="52" dur="1" fill="hold"/>
                                        <p:tgtEl>
                                          <p:spTgt spid="17"/>
                                        </p:tgtEl>
                                      </p:cBhvr>
                                    </p:cmd>
                                  </p:childTnLst>
                                </p:cTn>
                              </p:par>
                            </p:childTnLst>
                          </p:cTn>
                        </p:par>
                      </p:childTnLst>
                    </p:cTn>
                  </p:par>
                </p:childTnLst>
              </p:cTn>
              <p:nextCondLst>
                <p:cond evt="onClick" delay="0">
                  <p:tgtEl>
                    <p:spTgt spid="17"/>
                  </p:tgtEl>
                </p:cond>
              </p:nextCondLst>
            </p:seq>
            <p:audio>
              <p:cMediaNode vol="80000">
                <p:cTn id="53" fill="hold" display="0">
                  <p:stCondLst>
                    <p:cond delay="indefinite"/>
                  </p:stCondLst>
                  <p:endCondLst>
                    <p:cond evt="onStopAudio" delay="0">
                      <p:tgtEl>
                        <p:sldTgt/>
                      </p:tgtEl>
                    </p:cond>
                  </p:endCondLst>
                </p:cTn>
                <p:tgtEl>
                  <p:spTgt spid="16"/>
                </p:tgtEl>
              </p:cMediaNode>
            </p:audio>
            <p:audio>
              <p:cMediaNode vol="80000">
                <p:cTn id="54" fill="hold" display="0">
                  <p:stCondLst>
                    <p:cond delay="indefinite"/>
                  </p:stCondLst>
                  <p:endCondLst>
                    <p:cond evt="onStopAudio" delay="0">
                      <p:tgtEl>
                        <p:sldTgt/>
                      </p:tgtEl>
                    </p:cond>
                  </p:endCondLst>
                </p:cTn>
                <p:tgtEl>
                  <p:spTgt spid="17"/>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250"/>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800" dirty="0">
                <a:solidFill>
                  <a:srgbClr val="FFFFFF"/>
                </a:solidFill>
                <a:latin typeface="Arial Rounded MT Bold" pitchFamily="34" charset="0"/>
                <a:ea typeface="Arial Rounded MT Bold" pitchFamily="34" charset="-122"/>
                <a:cs typeface="Arial Rounded MT Bold" pitchFamily="34" charset="-120"/>
              </a:rPr>
              <a:t>9</a:t>
            </a:r>
            <a:endParaRPr lang="en-US" sz="2800" dirty="0"/>
          </a:p>
        </p:txBody>
      </p:sp>
      <p:pic>
        <p:nvPicPr>
          <p:cNvPr id="4" name="brY_251" descr="/home/claude/lls-course/v2/assets/brush-yellow.png">    </p:cNvPr>
          <p:cNvPicPr>
            <a:picLocks noChangeAspect="1"/>
          </p:cNvPicPr>
          <p:nvPr/>
        </p:nvPicPr>
        <p:blipFill>
          <a:blip r:embed="rId2"/>
          <a:stretch>
            <a:fillRect/>
          </a:stretch>
        </p:blipFill>
        <p:spPr>
          <a:xfrm>
            <a:off x="1097280" y="146304"/>
            <a:ext cx="3877056" cy="621792"/>
          </a:xfrm>
          <a:prstGeom prst="rect">
            <a:avLst/>
          </a:prstGeom>
        </p:spPr>
      </p:pic>
      <p:sp>
        <p:nvSpPr>
          <p:cNvPr id="5" name="title_252"/>
          <p:cNvSpPr/>
          <p:nvPr/>
        </p:nvSpPr>
        <p:spPr>
          <a:xfrm>
            <a:off x="1261872" y="164592"/>
            <a:ext cx="3602736"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keys, books, glasses</a:t>
            </a:r>
            <a:endParaRPr lang="en-US" sz="2500" dirty="0"/>
          </a:p>
        </p:txBody>
      </p:sp>
      <p:pic>
        <p:nvPicPr>
          <p:cNvPr id="6" name="brP_253" descr="/home/claude/lls-course/v2/assets/brush-pink.png">    </p:cNvPr>
          <p:cNvPicPr>
            <a:picLocks noChangeAspect="1"/>
          </p:cNvPicPr>
          <p:nvPr/>
        </p:nvPicPr>
        <p:blipFill>
          <a:blip r:embed="rId3"/>
          <a:stretch>
            <a:fillRect/>
          </a:stretch>
        </p:blipFill>
        <p:spPr>
          <a:xfrm>
            <a:off x="1207008" y="731520"/>
            <a:ext cx="4988052" cy="402336"/>
          </a:xfrm>
          <a:prstGeom prst="rect">
            <a:avLst/>
          </a:prstGeom>
        </p:spPr>
      </p:pic>
      <p:sp>
        <p:nvSpPr>
          <p:cNvPr id="7" name="ins_254"/>
          <p:cNvSpPr/>
          <p:nvPr/>
        </p:nvSpPr>
        <p:spPr>
          <a:xfrm>
            <a:off x="1353312" y="731520"/>
            <a:ext cx="4732020"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Rule first! Then say each word: /s/, /z/ or /ɪz/?</a:t>
            </a:r>
            <a:endParaRPr lang="en-US" sz="1250" dirty="0"/>
          </a:p>
        </p:txBody>
      </p:sp>
      <p:sp>
        <p:nvSpPr>
          <p:cNvPr id="8" name="insIT_255"/>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Prima la regola! Poi di' ogni parola: /s/, /z/ o /ɪz/?</a:t>
            </a:r>
            <a:endParaRPr lang="en-US" sz="950" dirty="0"/>
          </a:p>
        </p:txBody>
      </p:sp>
      <p:sp>
        <p:nvSpPr>
          <p:cNvPr id="9" name="cmd_256"/>
          <p:cNvSpPr/>
          <p:nvPr/>
        </p:nvSpPr>
        <p:spPr>
          <a:xfrm>
            <a:off x="6510528" y="182880"/>
            <a:ext cx="1901952" cy="329184"/>
          </a:xfrm>
          <a:prstGeom prst="roundRect">
            <a:avLst>
              <a:gd name="adj" fmla="val 50000"/>
            </a:avLst>
          </a:prstGeom>
          <a:solidFill>
            <a:srgbClr val="FFFFFF"/>
          </a:solidFill>
          <a:ln w="25400">
            <a:solidFill>
              <a:srgbClr val="CDBFF3"/>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7B5CD6"/>
                </a:solidFill>
                <a:latin typeface="Arial Rounded MT Bold" pitchFamily="34" charset="0"/>
                <a:ea typeface="Arial Rounded MT Bold" pitchFamily="34" charset="-122"/>
                <a:cs typeface="Arial Rounded MT Bold" pitchFamily="34" charset="-120"/>
              </a:rPr>
              <a:t>SAY IT</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PRONUNCIA</a:t>
            </a:r>
            <a:endParaRPr lang="en-US" sz="1100" dirty="0"/>
          </a:p>
        </p:txBody>
      </p:sp>
      <p:sp>
        <p:nvSpPr>
          <p:cNvPr id="10" name="meta_257"/>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5 min   👥 pairs</a:t>
            </a:r>
            <a:endParaRPr lang="en-US" sz="950" dirty="0"/>
          </a:p>
        </p:txBody>
      </p:sp>
      <p:sp>
        <p:nvSpPr>
          <p:cNvPr id="11" name="tag_258"/>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Pronunciation</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Guided discovery</a:t>
            </a:r>
            <a:endParaRPr lang="en-US" sz="850" dirty="0"/>
          </a:p>
        </p:txBody>
      </p:sp>
      <p:pic>
        <p:nvPicPr>
          <p:cNvPr id="12" name="logo_259"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260"/>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2A · Pronunciation · final -s and -es   ·   📖 SB p.15 · 3 Pronunciation · audio 2.3, 2.4</a:t>
            </a:r>
            <a:endParaRPr lang="en-US" sz="800" dirty="0"/>
          </a:p>
        </p:txBody>
      </p:sp>
      <p:sp>
        <p:nvSpPr>
          <p:cNvPr id="14" name="cd_261"/>
          <p:cNvSpPr/>
          <p:nvPr/>
        </p:nvSpPr>
        <p:spPr>
          <a:xfrm>
            <a:off x="320040" y="1417320"/>
            <a:ext cx="2697480" cy="1911096"/>
          </a:xfrm>
          <a:prstGeom prst="roundRect">
            <a:avLst>
              <a:gd name="adj" fmla="val 6699"/>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5" name="ii_262"/>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6" name="ih_263"/>
          <p:cNvSpPr/>
          <p:nvPr/>
        </p:nvSpPr>
        <p:spPr>
          <a:xfrm>
            <a:off x="886968" y="1508760"/>
            <a:ext cx="2057400" cy="365760"/>
          </a:xfrm>
          <a:prstGeom prst="rect">
            <a:avLst/>
          </a:prstGeom>
          <a:noFill/>
          <a:ln/>
        </p:spPr>
        <p:txBody>
          <a:bodyPr wrap="square" lIns="0" tIns="0" rIns="0" bIns="0" rtlCol="0" anchor="ctr"/>
          <a:lstStyle/>
          <a:p>
            <a:pPr indent="0" marL="0">
              <a:buNone/>
            </a:pPr>
            <a:r>
              <a:rPr lang="en-US" sz="1100" dirty="0">
                <a:solidFill>
                  <a:srgbClr val="1B2559"/>
                </a:solidFill>
                <a:latin typeface="Arial Rounded MT Bold" pitchFamily="34" charset="0"/>
                <a:ea typeface="Arial Rounded MT Bold" pitchFamily="34" charset="-122"/>
                <a:cs typeface="Arial Rounded MT Bold" pitchFamily="34" charset="-120"/>
              </a:rPr>
              <a:t>Extra syllable /ɪz/ ONLY after s, ce, ge, sh, ch, x</a:t>
            </a:r>
            <a:endParaRPr lang="en-US" sz="1100" dirty="0"/>
          </a:p>
        </p:txBody>
      </p:sp>
      <p:sp>
        <p:nvSpPr>
          <p:cNvPr id="17" name="il_264"/>
          <p:cNvSpPr/>
          <p:nvPr/>
        </p:nvSpPr>
        <p:spPr>
          <a:xfrm>
            <a:off x="886968" y="1892808"/>
            <a:ext cx="2039112" cy="1362456"/>
          </a:xfrm>
          <a:prstGeom prst="rect">
            <a:avLst/>
          </a:prstGeom>
          <a:noFill/>
          <a:ln/>
        </p:spPr>
        <p:txBody>
          <a:bodyPr wrap="square" lIns="0" tIns="0" rIns="0" bIns="0" rtlCol="0" anchor="t">
            <a:normAutofit/>
          </a:bodyPr>
          <a:lstStyle/>
          <a:p>
            <a:pPr indent="0" marL="0">
              <a:spcAft>
                <a:spcPts val="200"/>
              </a:spcAft>
              <a:buNone/>
            </a:pPr>
            <a:endParaRPr lang="en-US" sz="1100" dirty="0"/>
          </a:p>
        </p:txBody>
      </p:sp>
      <p:sp>
        <p:nvSpPr>
          <p:cNvPr id="18" name="ap_265"/>
          <p:cNvSpPr/>
          <p:nvPr/>
        </p:nvSpPr>
        <p:spPr>
          <a:xfrm>
            <a:off x="365760" y="3465576"/>
            <a:ext cx="2606040" cy="402336"/>
          </a:xfrm>
          <a:prstGeom prst="roundRect">
            <a:avLst>
              <a:gd name="adj" fmla="val 50000"/>
            </a:avLst>
          </a:prstGeom>
          <a:solidFill>
            <a:srgbClr val="E3F1FD"/>
          </a:solidFill>
          <a:ln w="19050">
            <a:solidFill>
              <a:srgbClr val="2F8DE4"/>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2.3 + 2.4</a:t>
            </a:r>
            <a:endParaRPr lang="en-US" sz="1100" dirty="0"/>
          </a:p>
        </p:txBody>
      </p:sp>
      <p:sp>
        <p:nvSpPr>
          <p:cNvPr id="19" name="ah_266"/>
          <p:cNvSpPr/>
          <p:nvPr/>
        </p:nvSpPr>
        <p:spPr>
          <a:xfrm>
            <a:off x="4974336" y="4572000"/>
            <a:ext cx="1554480" cy="365760"/>
          </a:xfrm>
          <a:prstGeom prst="rect">
            <a:avLst/>
          </a:prstGeom>
          <a:noFill/>
          <a:ln/>
        </p:spPr>
        <p:txBody>
          <a:bodyPr wrap="square" lIns="0" tIns="0" rIns="0" bIns="0" rtlCol="0" anchor="ctr"/>
          <a:lstStyle/>
          <a:p>
            <a:pPr algn="r" indent="0" marL="0">
              <a:buNone/>
            </a:pPr>
            <a:r>
              <a:rPr lang="en-US" sz="950" b="1" dirty="0">
                <a:solidFill>
                  <a:srgbClr val="2F8DE4"/>
                </a:solidFill>
                <a:latin typeface="Segoe UI Semibold" pitchFamily="34" charset="0"/>
                <a:ea typeface="Segoe UI Semibold" pitchFamily="34" charset="-122"/>
                <a:cs typeface="Segoe UI Semibold" pitchFamily="34" charset="-120"/>
              </a:rPr>
              <a:t>▶ normal · 🐢 slower</a:t>
            </a:r>
            <a:endParaRPr lang="en-US" sz="950" dirty="0"/>
          </a:p>
        </p:txBody>
      </p:sp>
      <p:pic>
        <p:nvPicPr>
          <p:cNvPr id="20" name="Media 0">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6574536" y="4553712"/>
            <a:ext cx="411480" cy="411480"/>
          </a:xfrm>
          <a:prstGeom prst="rect">
            <a:avLst/>
          </a:prstGeom>
        </p:spPr>
      </p:pic>
      <p:pic>
        <p:nvPicPr>
          <p:cNvPr id="21" name="Media 1">
            <a:hlinkClick r:id="" action="ppaction://media"/>
          </p:cNvPr>
          <p:cNvPicPr>
            <a:picLocks noChangeAspect="1"/>
          </p:cNvPicPr>
          <p:nvPr>
            <a:audioFile r:link="rId8"/>
            <p:extLst>
              <p:ext uri="{DAA4B4D4-6D71-4841-9C94-3DE7FCFB9230}">
                <p14:media xmlns:p14="http://schemas.microsoft.com/office/powerpoint/2010/main" r:embed="rId9"/>
              </p:ext>
            </p:extLst>
          </p:nvPr>
        </p:nvPicPr>
        <p:blipFill>
          <a:blip r:embed="rId10"/>
          <a:stretch>
            <a:fillRect/>
          </a:stretch>
        </p:blipFill>
        <p:spPr>
          <a:xfrm>
            <a:off x="7050024" y="4553712"/>
            <a:ext cx="411480" cy="411480"/>
          </a:xfrm>
          <a:prstGeom prst="rect">
            <a:avLst/>
          </a:prstGeom>
        </p:spPr>
      </p:pic>
      <p:pic>
        <p:nvPicPr>
          <p:cNvPr id="22" name="Media 2">
            <a:hlinkClick r:id="" action="ppaction://media"/>
          </p:cNvPr>
          <p:cNvPicPr>
            <a:picLocks noChangeAspect="1"/>
          </p:cNvPicPr>
          <p:nvPr>
            <a:audioFile r:link="rId11"/>
            <p:extLst>
              <p:ext uri="{DAA4B4D4-6D71-4841-9C94-3DE7FCFB9230}">
                <p14:media xmlns:p14="http://schemas.microsoft.com/office/powerpoint/2010/main" r:embed="rId12"/>
              </p:ext>
            </p:extLst>
          </p:nvPr>
        </p:nvPicPr>
        <p:blipFill>
          <a:blip r:embed="rId13"/>
          <a:stretch>
            <a:fillRect/>
          </a:stretch>
        </p:blipFill>
        <p:spPr>
          <a:xfrm>
            <a:off x="7525512" y="4553712"/>
            <a:ext cx="411480" cy="411480"/>
          </a:xfrm>
          <a:prstGeom prst="rect">
            <a:avLst/>
          </a:prstGeom>
        </p:spPr>
      </p:pic>
      <p:pic>
        <p:nvPicPr>
          <p:cNvPr id="23" name="Media 3">
            <a:hlinkClick r:id="" action="ppaction://media"/>
          </p:cNvPr>
          <p:cNvPicPr>
            <a:picLocks noChangeAspect="1"/>
          </p:cNvPicPr>
          <p:nvPr>
            <a:audioFile r:link="rId14"/>
            <p:extLst>
              <p:ext uri="{DAA4B4D4-6D71-4841-9C94-3DE7FCFB9230}">
                <p14:media xmlns:p14="http://schemas.microsoft.com/office/powerpoint/2010/main" r:embed="rId15"/>
              </p:ext>
            </p:extLst>
          </p:nvPr>
        </p:nvPicPr>
        <p:blipFill>
          <a:blip r:embed="rId16"/>
          <a:stretch>
            <a:fillRect/>
          </a:stretch>
        </p:blipFill>
        <p:spPr>
          <a:xfrm>
            <a:off x="8001000" y="4553712"/>
            <a:ext cx="411480" cy="411480"/>
          </a:xfrm>
          <a:prstGeom prst="rect">
            <a:avLst/>
          </a:prstGeom>
        </p:spPr>
      </p:pic>
      <p:sp>
        <p:nvSpPr>
          <p:cNvPr id="24" name="lg_267"/>
          <p:cNvSpPr/>
          <p:nvPr/>
        </p:nvSpPr>
        <p:spPr>
          <a:xfrm>
            <a:off x="457200" y="1984248"/>
            <a:ext cx="1188720" cy="310896"/>
          </a:xfrm>
          <a:prstGeom prst="roundRect">
            <a:avLst>
              <a:gd name="adj" fmla="val 50000"/>
            </a:avLst>
          </a:prstGeom>
          <a:solidFill>
            <a:srgbClr val="8FC9F2"/>
          </a:solidFill>
          <a:ln/>
        </p:spPr>
        <p:txBody>
          <a:bodyPr wrap="square" lIns="0" tIns="0" rIns="0" bIns="0" rtlCol="0" anchor="ctr"/>
          <a:lstStyle/>
          <a:p>
            <a:pPr algn="ctr" indent="0" marL="0">
              <a:buNone/>
            </a:pPr>
            <a:r>
              <a:rPr lang="en-US" sz="1050" dirty="0">
                <a:solidFill>
                  <a:srgbClr val="1B2559"/>
                </a:solidFill>
                <a:latin typeface="Arial Rounded MT Bold" pitchFamily="34" charset="0"/>
                <a:ea typeface="Arial Rounded MT Bold" pitchFamily="34" charset="-122"/>
                <a:cs typeface="Arial Rounded MT Bold" pitchFamily="34" charset="-120"/>
              </a:rPr>
              <a:t>/s/ books</a:t>
            </a:r>
            <a:endParaRPr lang="en-US" sz="1050" dirty="0"/>
          </a:p>
        </p:txBody>
      </p:sp>
      <p:sp>
        <p:nvSpPr>
          <p:cNvPr id="25" name="lg_268"/>
          <p:cNvSpPr/>
          <p:nvPr/>
        </p:nvSpPr>
        <p:spPr>
          <a:xfrm>
            <a:off x="1719072" y="1984248"/>
            <a:ext cx="1188720" cy="310896"/>
          </a:xfrm>
          <a:prstGeom prst="roundRect">
            <a:avLst>
              <a:gd name="adj" fmla="val 50000"/>
            </a:avLst>
          </a:prstGeom>
          <a:solidFill>
            <a:srgbClr val="8FD9A8"/>
          </a:solidFill>
          <a:ln/>
        </p:spPr>
        <p:txBody>
          <a:bodyPr wrap="square" lIns="0" tIns="0" rIns="0" bIns="0" rtlCol="0" anchor="ctr"/>
          <a:lstStyle/>
          <a:p>
            <a:pPr algn="ctr" indent="0" marL="0">
              <a:buNone/>
            </a:pPr>
            <a:r>
              <a:rPr lang="en-US" sz="1050" dirty="0">
                <a:solidFill>
                  <a:srgbClr val="1B2559"/>
                </a:solidFill>
                <a:latin typeface="Arial Rounded MT Bold" pitchFamily="34" charset="0"/>
                <a:ea typeface="Arial Rounded MT Bold" pitchFamily="34" charset="-122"/>
                <a:cs typeface="Arial Rounded MT Bold" pitchFamily="34" charset="-120"/>
              </a:rPr>
              <a:t>/z/ keys</a:t>
            </a:r>
            <a:endParaRPr lang="en-US" sz="1050" dirty="0"/>
          </a:p>
        </p:txBody>
      </p:sp>
      <p:sp>
        <p:nvSpPr>
          <p:cNvPr id="26" name="lg_269"/>
          <p:cNvSpPr/>
          <p:nvPr/>
        </p:nvSpPr>
        <p:spPr>
          <a:xfrm>
            <a:off x="457200" y="2368296"/>
            <a:ext cx="1188720" cy="310896"/>
          </a:xfrm>
          <a:prstGeom prst="roundRect">
            <a:avLst>
              <a:gd name="adj" fmla="val 50000"/>
            </a:avLst>
          </a:prstGeom>
          <a:solidFill>
            <a:srgbClr val="F7A6C4"/>
          </a:solidFill>
          <a:ln/>
        </p:spPr>
        <p:txBody>
          <a:bodyPr wrap="square" lIns="0" tIns="0" rIns="0" bIns="0" rtlCol="0" anchor="ctr"/>
          <a:lstStyle/>
          <a:p>
            <a:pPr algn="ctr" indent="0" marL="0">
              <a:buNone/>
            </a:pPr>
            <a:r>
              <a:rPr lang="en-US" sz="1050" dirty="0">
                <a:solidFill>
                  <a:srgbClr val="1B2559"/>
                </a:solidFill>
                <a:latin typeface="Arial Rounded MT Bold" pitchFamily="34" charset="0"/>
                <a:ea typeface="Arial Rounded MT Bold" pitchFamily="34" charset="-122"/>
                <a:cs typeface="Arial Rounded MT Bold" pitchFamily="34" charset="-120"/>
              </a:rPr>
              <a:t>/ɪz/ glasses</a:t>
            </a:r>
            <a:endParaRPr lang="en-US" sz="1050" dirty="0"/>
          </a:p>
        </p:txBody>
      </p:sp>
      <p:sp>
        <p:nvSpPr>
          <p:cNvPr id="27" name="sq_270"/>
          <p:cNvSpPr/>
          <p:nvPr/>
        </p:nvSpPr>
        <p:spPr>
          <a:xfrm>
            <a:off x="3246120" y="1417320"/>
            <a:ext cx="3840480" cy="347472"/>
          </a:xfrm>
          <a:prstGeom prst="roundRect">
            <a:avLst>
              <a:gd name="adj" fmla="val 26316"/>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classes</a:t>
            </a:r>
            <a:endParaRPr lang="en-US" sz="1200" dirty="0"/>
          </a:p>
        </p:txBody>
      </p:sp>
      <p:sp>
        <p:nvSpPr>
          <p:cNvPr id="28" name="R1_tag271"/>
          <p:cNvSpPr/>
          <p:nvPr/>
        </p:nvSpPr>
        <p:spPr>
          <a:xfrm>
            <a:off x="7178040" y="1417320"/>
            <a:ext cx="1691640" cy="347472"/>
          </a:xfrm>
          <a:prstGeom prst="roundRect">
            <a:avLst>
              <a:gd name="adj" fmla="val 65789"/>
            </a:avLst>
          </a:prstGeom>
          <a:solidFill>
            <a:srgbClr val="F7A6C4"/>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/ɪz/ glasses</a:t>
            </a:r>
            <a:endParaRPr lang="en-US" sz="1150" dirty="0"/>
          </a:p>
        </p:txBody>
      </p:sp>
      <p:sp>
        <p:nvSpPr>
          <p:cNvPr id="29" name="sq_272"/>
          <p:cNvSpPr/>
          <p:nvPr/>
        </p:nvSpPr>
        <p:spPr>
          <a:xfrm>
            <a:off x="3246120" y="1828800"/>
            <a:ext cx="3840480" cy="347472"/>
          </a:xfrm>
          <a:prstGeom prst="roundRect">
            <a:avLst>
              <a:gd name="adj" fmla="val 26316"/>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files</a:t>
            </a:r>
            <a:endParaRPr lang="en-US" sz="1200" dirty="0"/>
          </a:p>
        </p:txBody>
      </p:sp>
      <p:sp>
        <p:nvSpPr>
          <p:cNvPr id="30" name="R2_tag273"/>
          <p:cNvSpPr/>
          <p:nvPr/>
        </p:nvSpPr>
        <p:spPr>
          <a:xfrm>
            <a:off x="7178040" y="1828800"/>
            <a:ext cx="1691640" cy="347472"/>
          </a:xfrm>
          <a:prstGeom prst="roundRect">
            <a:avLst>
              <a:gd name="adj" fmla="val 65789"/>
            </a:avLst>
          </a:prstGeom>
          <a:solidFill>
            <a:srgbClr val="8FD9A8"/>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/z/ keys</a:t>
            </a:r>
            <a:endParaRPr lang="en-US" sz="1150" dirty="0"/>
          </a:p>
        </p:txBody>
      </p:sp>
      <p:sp>
        <p:nvSpPr>
          <p:cNvPr id="31" name="sq_274"/>
          <p:cNvSpPr/>
          <p:nvPr/>
        </p:nvSpPr>
        <p:spPr>
          <a:xfrm>
            <a:off x="3246120" y="2240280"/>
            <a:ext cx="3840480" cy="347472"/>
          </a:xfrm>
          <a:prstGeom prst="roundRect">
            <a:avLst>
              <a:gd name="adj" fmla="val 26316"/>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boxes</a:t>
            </a:r>
            <a:endParaRPr lang="en-US" sz="1200" dirty="0"/>
          </a:p>
        </p:txBody>
      </p:sp>
      <p:sp>
        <p:nvSpPr>
          <p:cNvPr id="32" name="R3_tag275"/>
          <p:cNvSpPr/>
          <p:nvPr/>
        </p:nvSpPr>
        <p:spPr>
          <a:xfrm>
            <a:off x="7178040" y="2240280"/>
            <a:ext cx="1691640" cy="347472"/>
          </a:xfrm>
          <a:prstGeom prst="roundRect">
            <a:avLst>
              <a:gd name="adj" fmla="val 65789"/>
            </a:avLst>
          </a:prstGeom>
          <a:solidFill>
            <a:srgbClr val="F7A6C4"/>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/ɪz/ glasses</a:t>
            </a:r>
            <a:endParaRPr lang="en-US" sz="1150" dirty="0"/>
          </a:p>
        </p:txBody>
      </p:sp>
      <p:sp>
        <p:nvSpPr>
          <p:cNvPr id="33" name="sq_276"/>
          <p:cNvSpPr/>
          <p:nvPr/>
        </p:nvSpPr>
        <p:spPr>
          <a:xfrm>
            <a:off x="3246120" y="2651760"/>
            <a:ext cx="3840480" cy="347472"/>
          </a:xfrm>
          <a:prstGeom prst="roundRect">
            <a:avLst>
              <a:gd name="adj" fmla="val 26316"/>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phones</a:t>
            </a:r>
            <a:endParaRPr lang="en-US" sz="1200" dirty="0"/>
          </a:p>
        </p:txBody>
      </p:sp>
      <p:sp>
        <p:nvSpPr>
          <p:cNvPr id="34" name="R4_tag277"/>
          <p:cNvSpPr/>
          <p:nvPr/>
        </p:nvSpPr>
        <p:spPr>
          <a:xfrm>
            <a:off x="7178040" y="2651760"/>
            <a:ext cx="1691640" cy="347472"/>
          </a:xfrm>
          <a:prstGeom prst="roundRect">
            <a:avLst>
              <a:gd name="adj" fmla="val 65789"/>
            </a:avLst>
          </a:prstGeom>
          <a:solidFill>
            <a:srgbClr val="8FD9A8"/>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/z/ keys</a:t>
            </a:r>
            <a:endParaRPr lang="en-US" sz="1150" dirty="0"/>
          </a:p>
        </p:txBody>
      </p:sp>
      <p:sp>
        <p:nvSpPr>
          <p:cNvPr id="35" name="sq_278"/>
          <p:cNvSpPr/>
          <p:nvPr/>
        </p:nvSpPr>
        <p:spPr>
          <a:xfrm>
            <a:off x="3246120" y="3063240"/>
            <a:ext cx="3840480" cy="347472"/>
          </a:xfrm>
          <a:prstGeom prst="roundRect">
            <a:avLst>
              <a:gd name="adj" fmla="val 26316"/>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pieces</a:t>
            </a:r>
            <a:endParaRPr lang="en-US" sz="1200" dirty="0"/>
          </a:p>
        </p:txBody>
      </p:sp>
      <p:sp>
        <p:nvSpPr>
          <p:cNvPr id="36" name="R5_tag279"/>
          <p:cNvSpPr/>
          <p:nvPr/>
        </p:nvSpPr>
        <p:spPr>
          <a:xfrm>
            <a:off x="7178040" y="3063240"/>
            <a:ext cx="1691640" cy="347472"/>
          </a:xfrm>
          <a:prstGeom prst="roundRect">
            <a:avLst>
              <a:gd name="adj" fmla="val 65789"/>
            </a:avLst>
          </a:prstGeom>
          <a:solidFill>
            <a:srgbClr val="F7A6C4"/>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/ɪz/ glasses</a:t>
            </a:r>
            <a:endParaRPr lang="en-US" sz="1150" dirty="0"/>
          </a:p>
        </p:txBody>
      </p:sp>
      <p:sp>
        <p:nvSpPr>
          <p:cNvPr id="37" name="sq_280"/>
          <p:cNvSpPr/>
          <p:nvPr/>
        </p:nvSpPr>
        <p:spPr>
          <a:xfrm>
            <a:off x="3246120" y="3474720"/>
            <a:ext cx="3840480" cy="347472"/>
          </a:xfrm>
          <a:prstGeom prst="roundRect">
            <a:avLst>
              <a:gd name="adj" fmla="val 26316"/>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tissues</a:t>
            </a:r>
            <a:endParaRPr lang="en-US" sz="1200" dirty="0"/>
          </a:p>
        </p:txBody>
      </p:sp>
      <p:sp>
        <p:nvSpPr>
          <p:cNvPr id="38" name="R6_tag281"/>
          <p:cNvSpPr/>
          <p:nvPr/>
        </p:nvSpPr>
        <p:spPr>
          <a:xfrm>
            <a:off x="7178040" y="3474720"/>
            <a:ext cx="1691640" cy="347472"/>
          </a:xfrm>
          <a:prstGeom prst="roundRect">
            <a:avLst>
              <a:gd name="adj" fmla="val 65789"/>
            </a:avLst>
          </a:prstGeom>
          <a:solidFill>
            <a:srgbClr val="8FD9A8"/>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/z/ keys</a:t>
            </a:r>
            <a:endParaRPr lang="en-US" sz="1150" dirty="0"/>
          </a:p>
        </p:txBody>
      </p:sp>
      <p:sp>
        <p:nvSpPr>
          <p:cNvPr id="39" name="sq_282"/>
          <p:cNvSpPr/>
          <p:nvPr/>
        </p:nvSpPr>
        <p:spPr>
          <a:xfrm>
            <a:off x="3246120" y="3886200"/>
            <a:ext cx="3840480" cy="347472"/>
          </a:xfrm>
          <a:prstGeom prst="roundRect">
            <a:avLst>
              <a:gd name="adj" fmla="val 26316"/>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pages</a:t>
            </a:r>
            <a:endParaRPr lang="en-US" sz="1200" dirty="0"/>
          </a:p>
        </p:txBody>
      </p:sp>
      <p:sp>
        <p:nvSpPr>
          <p:cNvPr id="40" name="R7_tag283"/>
          <p:cNvSpPr/>
          <p:nvPr/>
        </p:nvSpPr>
        <p:spPr>
          <a:xfrm>
            <a:off x="7178040" y="3886200"/>
            <a:ext cx="1691640" cy="347472"/>
          </a:xfrm>
          <a:prstGeom prst="roundRect">
            <a:avLst>
              <a:gd name="adj" fmla="val 65789"/>
            </a:avLst>
          </a:prstGeom>
          <a:solidFill>
            <a:srgbClr val="F7A6C4"/>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/ɪz/ glasses</a:t>
            </a:r>
            <a:endParaRPr lang="en-US" sz="1150" dirty="0"/>
          </a:p>
        </p:txBody>
      </p:sp>
      <p:sp>
        <p:nvSpPr>
          <p:cNvPr id="41" name="sq_284"/>
          <p:cNvSpPr/>
          <p:nvPr/>
        </p:nvSpPr>
        <p:spPr>
          <a:xfrm>
            <a:off x="3246120" y="4297680"/>
            <a:ext cx="3840480" cy="347472"/>
          </a:xfrm>
          <a:prstGeom prst="roundRect">
            <a:avLst>
              <a:gd name="adj" fmla="val 26316"/>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headphones</a:t>
            </a:r>
            <a:endParaRPr lang="en-US" sz="1200" dirty="0"/>
          </a:p>
        </p:txBody>
      </p:sp>
      <p:sp>
        <p:nvSpPr>
          <p:cNvPr id="42" name="R8_tag285"/>
          <p:cNvSpPr/>
          <p:nvPr/>
        </p:nvSpPr>
        <p:spPr>
          <a:xfrm>
            <a:off x="7178040" y="4297680"/>
            <a:ext cx="1691640" cy="347472"/>
          </a:xfrm>
          <a:prstGeom prst="roundRect">
            <a:avLst>
              <a:gd name="adj" fmla="val 65789"/>
            </a:avLst>
          </a:prstGeom>
          <a:solidFill>
            <a:srgbClr val="8FD9A8"/>
          </a:solidFill>
          <a:ln/>
        </p:spPr>
        <p:txBody>
          <a:bodyPr wrap="square" lIns="0" tIns="0" rIns="0" bIns="0" rtlCol="0" anchor="ctr"/>
          <a:lstStyle/>
          <a:p>
            <a:pPr algn="ctr" indent="0" marL="0">
              <a:buNone/>
            </a:pPr>
            <a:r>
              <a:rPr lang="en-US" sz="1150" dirty="0">
                <a:solidFill>
                  <a:srgbClr val="1B2559"/>
                </a:solidFill>
                <a:latin typeface="Arial Rounded MT Bold" pitchFamily="34" charset="0"/>
                <a:ea typeface="Arial Rounded MT Bold" pitchFamily="34" charset="-122"/>
                <a:cs typeface="Arial Rounded MT Bold" pitchFamily="34" charset="-120"/>
              </a:rPr>
              <a:t>/z/ keys</a:t>
            </a:r>
            <a:endParaRPr lang="en-US" sz="11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400"/>
                                        <p:tgtEl>
                                          <p:spTgt spid="2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fade">
                                      <p:cBhvr>
                                        <p:cTn id="12" dur="400"/>
                                        <p:tgtEl>
                                          <p:spTgt spid="3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2"/>
                                        </p:tgtEl>
                                        <p:attrNameLst>
                                          <p:attrName>style.visibility</p:attrName>
                                        </p:attrNameLst>
                                      </p:cBhvr>
                                      <p:to>
                                        <p:strVal val="visible"/>
                                      </p:to>
                                    </p:set>
                                    <p:animEffect transition="in" filter="fade">
                                      <p:cBhvr>
                                        <p:cTn id="17" dur="400"/>
                                        <p:tgtEl>
                                          <p:spTgt spid="3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4"/>
                                        </p:tgtEl>
                                        <p:attrNameLst>
                                          <p:attrName>style.visibility</p:attrName>
                                        </p:attrNameLst>
                                      </p:cBhvr>
                                      <p:to>
                                        <p:strVal val="visible"/>
                                      </p:to>
                                    </p:set>
                                    <p:animEffect transition="in" filter="fade">
                                      <p:cBhvr>
                                        <p:cTn id="22" dur="400"/>
                                        <p:tgtEl>
                                          <p:spTgt spid="3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6"/>
                                        </p:tgtEl>
                                        <p:attrNameLst>
                                          <p:attrName>style.visibility</p:attrName>
                                        </p:attrNameLst>
                                      </p:cBhvr>
                                      <p:to>
                                        <p:strVal val="visible"/>
                                      </p:to>
                                    </p:set>
                                    <p:animEffect transition="in" filter="fade">
                                      <p:cBhvr>
                                        <p:cTn id="27" dur="400"/>
                                        <p:tgtEl>
                                          <p:spTgt spid="3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8"/>
                                        </p:tgtEl>
                                        <p:attrNameLst>
                                          <p:attrName>style.visibility</p:attrName>
                                        </p:attrNameLst>
                                      </p:cBhvr>
                                      <p:to>
                                        <p:strVal val="visible"/>
                                      </p:to>
                                    </p:set>
                                    <p:animEffect transition="in" filter="fade">
                                      <p:cBhvr>
                                        <p:cTn id="32" dur="400"/>
                                        <p:tgtEl>
                                          <p:spTgt spid="38"/>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0"/>
                                        </p:tgtEl>
                                        <p:attrNameLst>
                                          <p:attrName>style.visibility</p:attrName>
                                        </p:attrNameLst>
                                      </p:cBhvr>
                                      <p:to>
                                        <p:strVal val="visible"/>
                                      </p:to>
                                    </p:set>
                                    <p:animEffect transition="in" filter="fade">
                                      <p:cBhvr>
                                        <p:cTn id="37" dur="400"/>
                                        <p:tgtEl>
                                          <p:spTgt spid="40"/>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2"/>
                                        </p:tgtEl>
                                        <p:attrNameLst>
                                          <p:attrName>style.visibility</p:attrName>
                                        </p:attrNameLst>
                                      </p:cBhvr>
                                      <p:to>
                                        <p:strVal val="visible"/>
                                      </p:to>
                                    </p:set>
                                    <p:animEffect transition="in" filter="fade">
                                      <p:cBhvr>
                                        <p:cTn id="42" dur="4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43" restart="whenNotActive" fill="hold" evtFilter="cancelBubble" nodeType="interactiveSeq">
                <p:stCondLst>
                  <p:cond evt="onClick" delay="0">
                    <p:tgtEl>
                      <p:spTgt spid="20"/>
                    </p:tgtEl>
                  </p:cond>
                </p:stCondLst>
                <p:endSync evt="end" delay="0">
                  <p:rtn val="all"/>
                </p:endSync>
                <p:childTnLst>
                  <p:par>
                    <p:cTn id="44" fill="hold">
                      <p:stCondLst>
                        <p:cond delay="0"/>
                      </p:stCondLst>
                      <p:childTnLst>
                        <p:par>
                          <p:cTn id="45" fill="hold">
                            <p:stCondLst>
                              <p:cond delay="0"/>
                            </p:stCondLst>
                            <p:childTnLst>
                              <p:par>
                                <p:cTn id="46" presetID="2" presetClass="mediacall" presetSubtype="0" fill="hold" nodeType="clickEffect">
                                  <p:stCondLst>
                                    <p:cond delay="0"/>
                                  </p:stCondLst>
                                  <p:childTnLst>
                                    <p:cmd type="call" cmd="togglePause">
                                      <p:cBhvr>
                                        <p:cTn id="47" dur="1" fill="hold"/>
                                        <p:tgtEl>
                                          <p:spTgt spid="20"/>
                                        </p:tgtEl>
                                      </p:cBhvr>
                                    </p:cmd>
                                  </p:childTnLst>
                                </p:cTn>
                              </p:par>
                            </p:childTnLst>
                          </p:cTn>
                        </p:par>
                      </p:childTnLst>
                    </p:cTn>
                  </p:par>
                </p:childTnLst>
              </p:cTn>
              <p:nextCondLst>
                <p:cond evt="onClick" delay="0">
                  <p:tgtEl>
                    <p:spTgt spid="20"/>
                  </p:tgtEl>
                </p:cond>
              </p:nextCondLst>
            </p:seq>
            <p:seq concurrent="1" nextAc="seek">
              <p:cTn id="48" restart="whenNotActive" fill="hold" evtFilter="cancelBubble" nodeType="interactiveSeq">
                <p:stCondLst>
                  <p:cond evt="onClick" delay="0">
                    <p:tgtEl>
                      <p:spTgt spid="21"/>
                    </p:tgtEl>
                  </p:cond>
                </p:stCondLst>
                <p:endSync evt="end" delay="0">
                  <p:rtn val="all"/>
                </p:endSync>
                <p:childTnLst>
                  <p:par>
                    <p:cTn id="49" fill="hold">
                      <p:stCondLst>
                        <p:cond delay="0"/>
                      </p:stCondLst>
                      <p:childTnLst>
                        <p:par>
                          <p:cTn id="50" fill="hold">
                            <p:stCondLst>
                              <p:cond delay="0"/>
                            </p:stCondLst>
                            <p:childTnLst>
                              <p:par>
                                <p:cTn id="51" presetID="2" presetClass="mediacall" presetSubtype="0" fill="hold" nodeType="clickEffect">
                                  <p:stCondLst>
                                    <p:cond delay="0"/>
                                  </p:stCondLst>
                                  <p:childTnLst>
                                    <p:cmd type="call" cmd="togglePause">
                                      <p:cBhvr>
                                        <p:cTn id="52" dur="1" fill="hold"/>
                                        <p:tgtEl>
                                          <p:spTgt spid="21"/>
                                        </p:tgtEl>
                                      </p:cBhvr>
                                    </p:cmd>
                                  </p:childTnLst>
                                </p:cTn>
                              </p:par>
                            </p:childTnLst>
                          </p:cTn>
                        </p:par>
                      </p:childTnLst>
                    </p:cTn>
                  </p:par>
                </p:childTnLst>
              </p:cTn>
              <p:nextCondLst>
                <p:cond evt="onClick" delay="0">
                  <p:tgtEl>
                    <p:spTgt spid="21"/>
                  </p:tgtEl>
                </p:cond>
              </p:nextCondLst>
            </p:seq>
            <p:seq concurrent="1" nextAc="seek">
              <p:cTn id="53" restart="whenNotActive" fill="hold" evtFilter="cancelBubble" nodeType="interactiveSeq">
                <p:stCondLst>
                  <p:cond evt="onClick" delay="0">
                    <p:tgtEl>
                      <p:spTgt spid="22"/>
                    </p:tgtEl>
                  </p:cond>
                </p:stCondLst>
                <p:endSync evt="end" delay="0">
                  <p:rtn val="all"/>
                </p:endSync>
                <p:childTnLst>
                  <p:par>
                    <p:cTn id="54" fill="hold">
                      <p:stCondLst>
                        <p:cond delay="0"/>
                      </p:stCondLst>
                      <p:childTnLst>
                        <p:par>
                          <p:cTn id="55" fill="hold">
                            <p:stCondLst>
                              <p:cond delay="0"/>
                            </p:stCondLst>
                            <p:childTnLst>
                              <p:par>
                                <p:cTn id="56" presetID="2" presetClass="mediacall" presetSubtype="0" fill="hold" nodeType="clickEffect">
                                  <p:stCondLst>
                                    <p:cond delay="0"/>
                                  </p:stCondLst>
                                  <p:childTnLst>
                                    <p:cmd type="call" cmd="togglePause">
                                      <p:cBhvr>
                                        <p:cTn id="57" dur="1" fill="hold"/>
                                        <p:tgtEl>
                                          <p:spTgt spid="22"/>
                                        </p:tgtEl>
                                      </p:cBhvr>
                                    </p:cmd>
                                  </p:childTnLst>
                                </p:cTn>
                              </p:par>
                            </p:childTnLst>
                          </p:cTn>
                        </p:par>
                      </p:childTnLst>
                    </p:cTn>
                  </p:par>
                </p:childTnLst>
              </p:cTn>
              <p:nextCondLst>
                <p:cond evt="onClick" delay="0">
                  <p:tgtEl>
                    <p:spTgt spid="22"/>
                  </p:tgtEl>
                </p:cond>
              </p:nextCondLst>
            </p:seq>
            <p:seq concurrent="1" nextAc="seek">
              <p:cTn id="58" restart="whenNotActive" fill="hold" evtFilter="cancelBubble" nodeType="interactiveSeq">
                <p:stCondLst>
                  <p:cond evt="onClick" delay="0">
                    <p:tgtEl>
                      <p:spTgt spid="23"/>
                    </p:tgtEl>
                  </p:cond>
                </p:stCondLst>
                <p:endSync evt="end" delay="0">
                  <p:rtn val="all"/>
                </p:endSync>
                <p:childTnLst>
                  <p:par>
                    <p:cTn id="59" fill="hold">
                      <p:stCondLst>
                        <p:cond delay="0"/>
                      </p:stCondLst>
                      <p:childTnLst>
                        <p:par>
                          <p:cTn id="60" fill="hold">
                            <p:stCondLst>
                              <p:cond delay="0"/>
                            </p:stCondLst>
                            <p:childTnLst>
                              <p:par>
                                <p:cTn id="61" presetID="2" presetClass="mediacall" presetSubtype="0" fill="hold" nodeType="clickEffect">
                                  <p:stCondLst>
                                    <p:cond delay="0"/>
                                  </p:stCondLst>
                                  <p:childTnLst>
                                    <p:cmd type="call" cmd="togglePause">
                                      <p:cBhvr>
                                        <p:cTn id="62" dur="1" fill="hold"/>
                                        <p:tgtEl>
                                          <p:spTgt spid="23"/>
                                        </p:tgtEl>
                                      </p:cBhvr>
                                    </p:cmd>
                                  </p:childTnLst>
                                </p:cTn>
                              </p:par>
                            </p:childTnLst>
                          </p:cTn>
                        </p:par>
                      </p:childTnLst>
                    </p:cTn>
                  </p:par>
                </p:childTnLst>
              </p:cTn>
              <p:nextCondLst>
                <p:cond evt="onClick" delay="0">
                  <p:tgtEl>
                    <p:spTgt spid="23"/>
                  </p:tgtEl>
                </p:cond>
              </p:nextCondLst>
            </p:seq>
            <p:audio>
              <p:cMediaNode vol="80000">
                <p:cTn id="63" fill="hold" display="0">
                  <p:stCondLst>
                    <p:cond delay="indefinite"/>
                  </p:stCondLst>
                  <p:endCondLst>
                    <p:cond evt="onStopAudio" delay="0">
                      <p:tgtEl>
                        <p:sldTgt/>
                      </p:tgtEl>
                    </p:cond>
                  </p:endCondLst>
                </p:cTn>
                <p:tgtEl>
                  <p:spTgt spid="20"/>
                </p:tgtEl>
              </p:cMediaNode>
            </p:audio>
            <p:audio>
              <p:cMediaNode vol="80000">
                <p:cTn id="64" fill="hold" display="0">
                  <p:stCondLst>
                    <p:cond delay="indefinite"/>
                  </p:stCondLst>
                  <p:endCondLst>
                    <p:cond evt="onStopAudio" delay="0">
                      <p:tgtEl>
                        <p:sldTgt/>
                      </p:tgtEl>
                    </p:cond>
                  </p:endCondLst>
                </p:cTn>
                <p:tgtEl>
                  <p:spTgt spid="21"/>
                </p:tgtEl>
              </p:cMediaNode>
            </p:audio>
            <p:audio>
              <p:cMediaNode vol="80000">
                <p:cTn id="65" fill="hold" display="0">
                  <p:stCondLst>
                    <p:cond delay="indefinite"/>
                  </p:stCondLst>
                  <p:endCondLst>
                    <p:cond evt="onStopAudio" delay="0">
                      <p:tgtEl>
                        <p:sldTgt/>
                      </p:tgtEl>
                    </p:cond>
                  </p:endCondLst>
                </p:cTn>
                <p:tgtEl>
                  <p:spTgt spid="22"/>
                </p:tgtEl>
              </p:cMediaNode>
            </p:audio>
            <p:audio>
              <p:cMediaNode vol="80000">
                <p:cTn id="66" fill="hold" display="0">
                  <p:stCondLst>
                    <p:cond delay="indefinite"/>
                  </p:stCondLst>
                  <p:endCondLst>
                    <p:cond evt="onStopAudio" delay="0">
                      <p:tgtEl>
                        <p:sldTgt/>
                      </p:tgtEl>
                    </p:cond>
                  </p:endCondLst>
                </p:cTn>
                <p:tgtEl>
                  <p:spTgt spid="23"/>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286"/>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10</a:t>
            </a:r>
            <a:endParaRPr lang="en-US" sz="2200" dirty="0"/>
          </a:p>
        </p:txBody>
      </p:sp>
      <p:pic>
        <p:nvPicPr>
          <p:cNvPr id="4" name="brY_287" descr="/home/claude/lls-course/v2/assets/brush-yellow.png">    </p:cNvPr>
          <p:cNvPicPr>
            <a:picLocks noChangeAspect="1"/>
          </p:cNvPicPr>
          <p:nvPr/>
        </p:nvPicPr>
        <p:blipFill>
          <a:blip r:embed="rId2"/>
          <a:stretch>
            <a:fillRect/>
          </a:stretch>
        </p:blipFill>
        <p:spPr>
          <a:xfrm>
            <a:off x="1097280" y="146304"/>
            <a:ext cx="4034333" cy="621792"/>
          </a:xfrm>
          <a:prstGeom prst="rect">
            <a:avLst/>
          </a:prstGeom>
        </p:spPr>
      </p:pic>
      <p:sp>
        <p:nvSpPr>
          <p:cNvPr id="5" name="title_288"/>
          <p:cNvSpPr/>
          <p:nvPr/>
        </p:nvSpPr>
        <p:spPr>
          <a:xfrm>
            <a:off x="1261872" y="164592"/>
            <a:ext cx="3760013"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Where are the things?</a:t>
            </a:r>
            <a:endParaRPr lang="en-US" sz="2500" dirty="0"/>
          </a:p>
        </p:txBody>
      </p:sp>
      <p:pic>
        <p:nvPicPr>
          <p:cNvPr id="6" name="brP_289" descr="/home/claude/lls-course/v2/assets/brush-pink.png">    </p:cNvPr>
          <p:cNvPicPr>
            <a:picLocks noChangeAspect="1"/>
          </p:cNvPicPr>
          <p:nvPr/>
        </p:nvPicPr>
        <p:blipFill>
          <a:blip r:embed="rId3"/>
          <a:stretch>
            <a:fillRect/>
          </a:stretch>
        </p:blipFill>
        <p:spPr>
          <a:xfrm>
            <a:off x="1207008" y="731520"/>
            <a:ext cx="4988052" cy="402336"/>
          </a:xfrm>
          <a:prstGeom prst="rect">
            <a:avLst/>
          </a:prstGeom>
        </p:spPr>
      </p:pic>
      <p:sp>
        <p:nvSpPr>
          <p:cNvPr id="7" name="ins_290"/>
          <p:cNvSpPr/>
          <p:nvPr/>
        </p:nvSpPr>
        <p:spPr>
          <a:xfrm>
            <a:off x="1353312" y="731520"/>
            <a:ext cx="4732020"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Look at the photo. Complete with in, on or under.</a:t>
            </a:r>
            <a:endParaRPr lang="en-US" sz="1250" dirty="0"/>
          </a:p>
        </p:txBody>
      </p:sp>
      <p:sp>
        <p:nvSpPr>
          <p:cNvPr id="8" name="insIT_291"/>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Guarda la foto. Completa con in, on o under.</a:t>
            </a:r>
            <a:endParaRPr lang="en-US" sz="950" dirty="0"/>
          </a:p>
        </p:txBody>
      </p:sp>
      <p:sp>
        <p:nvSpPr>
          <p:cNvPr id="9" name="cmd_292"/>
          <p:cNvSpPr/>
          <p:nvPr/>
        </p:nvSpPr>
        <p:spPr>
          <a:xfrm>
            <a:off x="6510528" y="182880"/>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800" dirty="0">
                <a:solidFill>
                  <a:srgbClr val="000000"/>
                </a:solidFill>
              </a:rPr>
              <a:t>✏️ </a:t>
            </a:r>
            <a:pPr indent="0" marL="0">
              <a:buNone/>
            </a:pPr>
            <a:r>
              <a:rPr lang="en-US" sz="900" dirty="0">
                <a:solidFill>
                  <a:srgbClr val="F2B705"/>
                </a:solidFill>
                <a:latin typeface="Arial Rounded MT Bold" pitchFamily="34" charset="0"/>
                <a:ea typeface="Arial Rounded MT Bold" pitchFamily="34" charset="-122"/>
                <a:cs typeface="Arial Rounded MT Bold" pitchFamily="34" charset="-120"/>
              </a:rPr>
              <a:t>FILL THE GAPS</a:t>
            </a:r>
            <a:pPr indent="0" marL="0">
              <a:buNone/>
            </a:pPr>
            <a:r>
              <a:rPr lang="en-US" sz="700" dirty="0">
                <a:solidFill>
                  <a:srgbClr val="5B6785"/>
                </a:solidFill>
                <a:latin typeface="Segoe UI Semibold" pitchFamily="34" charset="0"/>
                <a:ea typeface="Segoe UI Semibold" pitchFamily="34" charset="-122"/>
                <a:cs typeface="Segoe UI Semibold" pitchFamily="34" charset="-120"/>
              </a:rPr>
              <a:t>  COMPLETA</a:t>
            </a:r>
            <a:endParaRPr lang="en-US" sz="800" dirty="0"/>
          </a:p>
        </p:txBody>
      </p:sp>
      <p:sp>
        <p:nvSpPr>
          <p:cNvPr id="10" name="meta_293"/>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alone</a:t>
            </a:r>
            <a:endParaRPr lang="en-US" sz="950" dirty="0"/>
          </a:p>
        </p:txBody>
      </p:sp>
      <p:sp>
        <p:nvSpPr>
          <p:cNvPr id="11" name="tag_294"/>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Vocabulary</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Controlled practice</a:t>
            </a:r>
            <a:endParaRPr lang="en-US" sz="850" dirty="0"/>
          </a:p>
        </p:txBody>
      </p:sp>
      <p:pic>
        <p:nvPicPr>
          <p:cNvPr id="12" name="logo_295"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296"/>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2A · Vocabulary · in, on, under   ·   📖 SB p.15 · 4a (answers: TG)</a:t>
            </a:r>
            <a:endParaRPr lang="en-US" sz="800" dirty="0"/>
          </a:p>
        </p:txBody>
      </p:sp>
      <p:sp>
        <p:nvSpPr>
          <p:cNvPr id="14" name="cd_297"/>
          <p:cNvSpPr/>
          <p:nvPr/>
        </p:nvSpPr>
        <p:spPr>
          <a:xfrm>
            <a:off x="320040" y="1417320"/>
            <a:ext cx="2697480" cy="1097280"/>
          </a:xfrm>
          <a:prstGeom prst="roundRect">
            <a:avLst>
              <a:gd name="adj" fmla="val 11667"/>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5" name="ii_298"/>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6" name="ih_299"/>
          <p:cNvSpPr/>
          <p:nvPr/>
        </p:nvSpPr>
        <p:spPr>
          <a:xfrm>
            <a:off x="886968" y="1508760"/>
            <a:ext cx="205740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Example</a:t>
            </a:r>
            <a:endParaRPr lang="en-US" sz="1300" dirty="0"/>
          </a:p>
        </p:txBody>
      </p:sp>
      <p:sp>
        <p:nvSpPr>
          <p:cNvPr id="17" name="il_300"/>
          <p:cNvSpPr/>
          <p:nvPr/>
        </p:nvSpPr>
        <p:spPr>
          <a:xfrm>
            <a:off x="886968" y="1892808"/>
            <a:ext cx="2039112" cy="54864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050" dirty="0">
                <a:solidFill>
                  <a:srgbClr val="1B2559"/>
                </a:solidFill>
                <a:latin typeface="Segoe UI" pitchFamily="34" charset="0"/>
                <a:ea typeface="Segoe UI" pitchFamily="34" charset="-122"/>
                <a:cs typeface="Segoe UI" pitchFamily="34" charset="-120"/>
              </a:rPr>
              <a:t>0  The cat is ___ the sofa. → on</a:t>
            </a:r>
            <a:endParaRPr lang="en-US" sz="1050" dirty="0"/>
          </a:p>
        </p:txBody>
      </p:sp>
      <p:sp>
        <p:nvSpPr>
          <p:cNvPr id="18" name="pf_301"/>
          <p:cNvSpPr/>
          <p:nvPr/>
        </p:nvSpPr>
        <p:spPr>
          <a:xfrm rot="-90000">
            <a:off x="365760" y="2697480"/>
            <a:ext cx="2606040" cy="1965960"/>
          </a:xfrm>
          <a:prstGeom prst="roundRect">
            <a:avLst>
              <a:gd name="adj" fmla="val 7907"/>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9" name="ph_302" descr="/home/claude/lls-course/v2/cache/red_2a_notebook_jpg_605x451_31.png">    </p:cNvPr>
          <p:cNvPicPr>
            <a:picLocks noChangeAspect="1"/>
          </p:cNvPicPr>
          <p:nvPr/>
        </p:nvPicPr>
        <p:blipFill>
          <a:blip r:embed="rId5"/>
          <a:stretch>
            <a:fillRect/>
          </a:stretch>
        </p:blipFill>
        <p:spPr>
          <a:xfrm rot="-90000">
            <a:off x="411480" y="2743200"/>
            <a:ext cx="2514600" cy="1874520"/>
          </a:xfrm>
          <a:prstGeom prst="rect">
            <a:avLst/>
          </a:prstGeom>
        </p:spPr>
      </p:pic>
      <p:sp>
        <p:nvSpPr>
          <p:cNvPr id="20" name="bd_303"/>
          <p:cNvSpPr/>
          <p:nvPr/>
        </p:nvSpPr>
        <p:spPr>
          <a:xfrm>
            <a:off x="3246120" y="1490472"/>
            <a:ext cx="310896" cy="310896"/>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1</a:t>
            </a:r>
            <a:endParaRPr lang="en-US" sz="1000" dirty="0"/>
          </a:p>
        </p:txBody>
      </p:sp>
      <p:sp>
        <p:nvSpPr>
          <p:cNvPr id="21" name="q_304"/>
          <p:cNvSpPr/>
          <p:nvPr/>
        </p:nvSpPr>
        <p:spPr>
          <a:xfrm>
            <a:off x="3630168" y="1417320"/>
            <a:ext cx="2103120" cy="457200"/>
          </a:xfrm>
          <a:prstGeom prst="roundRect">
            <a:avLst>
              <a:gd name="adj" fmla="val 20000"/>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1  The glasses are ___ the notebook.</a:t>
            </a:r>
            <a:endParaRPr lang="en-US" sz="1150" dirty="0"/>
          </a:p>
        </p:txBody>
      </p:sp>
      <p:sp>
        <p:nvSpPr>
          <p:cNvPr id="22" name="R1_chip305"/>
          <p:cNvSpPr/>
          <p:nvPr/>
        </p:nvSpPr>
        <p:spPr>
          <a:xfrm>
            <a:off x="5806440" y="1417320"/>
            <a:ext cx="3063240" cy="457200"/>
          </a:xfrm>
          <a:prstGeom prst="roundRect">
            <a:avLst>
              <a:gd name="adj" fmla="val 20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on</a:t>
            </a:r>
            <a:endParaRPr lang="en-US" sz="1000" dirty="0"/>
          </a:p>
        </p:txBody>
      </p:sp>
      <p:sp>
        <p:nvSpPr>
          <p:cNvPr id="23" name="bd_306"/>
          <p:cNvSpPr/>
          <p:nvPr/>
        </p:nvSpPr>
        <p:spPr>
          <a:xfrm>
            <a:off x="3246120" y="1993392"/>
            <a:ext cx="310896" cy="310896"/>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2</a:t>
            </a:r>
            <a:endParaRPr lang="en-US" sz="1000" dirty="0"/>
          </a:p>
        </p:txBody>
      </p:sp>
      <p:sp>
        <p:nvSpPr>
          <p:cNvPr id="24" name="q_307"/>
          <p:cNvSpPr/>
          <p:nvPr/>
        </p:nvSpPr>
        <p:spPr>
          <a:xfrm>
            <a:off x="3630168" y="1920240"/>
            <a:ext cx="2103120" cy="457200"/>
          </a:xfrm>
          <a:prstGeom prst="roundRect">
            <a:avLst>
              <a:gd name="adj" fmla="val 20000"/>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2  The credit cards are ___ the wallet.</a:t>
            </a:r>
            <a:endParaRPr lang="en-US" sz="1150" dirty="0"/>
          </a:p>
        </p:txBody>
      </p:sp>
      <p:sp>
        <p:nvSpPr>
          <p:cNvPr id="25" name="R2_chip308"/>
          <p:cNvSpPr/>
          <p:nvPr/>
        </p:nvSpPr>
        <p:spPr>
          <a:xfrm>
            <a:off x="5806440" y="1920240"/>
            <a:ext cx="3063240" cy="457200"/>
          </a:xfrm>
          <a:prstGeom prst="roundRect">
            <a:avLst>
              <a:gd name="adj" fmla="val 20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in</a:t>
            </a:r>
            <a:endParaRPr lang="en-US" sz="1000" dirty="0"/>
          </a:p>
        </p:txBody>
      </p:sp>
      <p:sp>
        <p:nvSpPr>
          <p:cNvPr id="26" name="bd_309"/>
          <p:cNvSpPr/>
          <p:nvPr/>
        </p:nvSpPr>
        <p:spPr>
          <a:xfrm>
            <a:off x="3246120" y="2496312"/>
            <a:ext cx="310896" cy="310896"/>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3</a:t>
            </a:r>
            <a:endParaRPr lang="en-US" sz="1000" dirty="0"/>
          </a:p>
        </p:txBody>
      </p:sp>
      <p:sp>
        <p:nvSpPr>
          <p:cNvPr id="27" name="q_310"/>
          <p:cNvSpPr/>
          <p:nvPr/>
        </p:nvSpPr>
        <p:spPr>
          <a:xfrm>
            <a:off x="3630168" y="2423160"/>
            <a:ext cx="2103120" cy="457200"/>
          </a:xfrm>
          <a:prstGeom prst="roundRect">
            <a:avLst>
              <a:gd name="adj" fmla="val 20000"/>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3  The bag is ___ the desk.</a:t>
            </a:r>
            <a:endParaRPr lang="en-US" sz="1150" dirty="0"/>
          </a:p>
        </p:txBody>
      </p:sp>
      <p:sp>
        <p:nvSpPr>
          <p:cNvPr id="28" name="R3_chip311"/>
          <p:cNvSpPr/>
          <p:nvPr/>
        </p:nvSpPr>
        <p:spPr>
          <a:xfrm>
            <a:off x="5806440" y="2423160"/>
            <a:ext cx="3063240" cy="457200"/>
          </a:xfrm>
          <a:prstGeom prst="roundRect">
            <a:avLst>
              <a:gd name="adj" fmla="val 20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under</a:t>
            </a:r>
            <a:endParaRPr lang="en-US" sz="1000" dirty="0"/>
          </a:p>
        </p:txBody>
      </p:sp>
      <p:sp>
        <p:nvSpPr>
          <p:cNvPr id="29" name="bd_312"/>
          <p:cNvSpPr/>
          <p:nvPr/>
        </p:nvSpPr>
        <p:spPr>
          <a:xfrm>
            <a:off x="3246120" y="2999232"/>
            <a:ext cx="310896" cy="310896"/>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4</a:t>
            </a:r>
            <a:endParaRPr lang="en-US" sz="1000" dirty="0"/>
          </a:p>
        </p:txBody>
      </p:sp>
      <p:sp>
        <p:nvSpPr>
          <p:cNvPr id="30" name="q_313"/>
          <p:cNvSpPr/>
          <p:nvPr/>
        </p:nvSpPr>
        <p:spPr>
          <a:xfrm>
            <a:off x="3630168" y="2926080"/>
            <a:ext cx="2103120" cy="457200"/>
          </a:xfrm>
          <a:prstGeom prst="roundRect">
            <a:avLst>
              <a:gd name="adj" fmla="val 20000"/>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4  Tom's keys are ___ the cat!</a:t>
            </a:r>
            <a:endParaRPr lang="en-US" sz="1150" dirty="0"/>
          </a:p>
        </p:txBody>
      </p:sp>
      <p:sp>
        <p:nvSpPr>
          <p:cNvPr id="31" name="R4_chip314"/>
          <p:cNvSpPr/>
          <p:nvPr/>
        </p:nvSpPr>
        <p:spPr>
          <a:xfrm>
            <a:off x="5806440" y="2926080"/>
            <a:ext cx="3063240" cy="457200"/>
          </a:xfrm>
          <a:prstGeom prst="roundRect">
            <a:avLst>
              <a:gd name="adj" fmla="val 20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under</a:t>
            </a:r>
            <a:endParaRPr lang="en-US" sz="10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4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fade">
                                      <p:cBhvr>
                                        <p:cTn id="12" dur="4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fade">
                                      <p:cBhvr>
                                        <p:cTn id="17" dur="4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315"/>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11</a:t>
            </a:r>
            <a:endParaRPr lang="en-US" sz="2200" dirty="0"/>
          </a:p>
        </p:txBody>
      </p:sp>
      <p:pic>
        <p:nvPicPr>
          <p:cNvPr id="4" name="brY_316" descr="/home/claude/lls-course/v2/assets/brush-yellow.png">    </p:cNvPr>
          <p:cNvPicPr>
            <a:picLocks noChangeAspect="1"/>
          </p:cNvPicPr>
          <p:nvPr/>
        </p:nvPicPr>
        <p:blipFill>
          <a:blip r:embed="rId2"/>
          <a:stretch>
            <a:fillRect/>
          </a:stretch>
        </p:blipFill>
        <p:spPr>
          <a:xfrm>
            <a:off x="1097280" y="146304"/>
            <a:ext cx="4820717" cy="621792"/>
          </a:xfrm>
          <a:prstGeom prst="rect">
            <a:avLst/>
          </a:prstGeom>
        </p:spPr>
      </p:pic>
      <p:sp>
        <p:nvSpPr>
          <p:cNvPr id="5" name="title_317"/>
          <p:cNvSpPr/>
          <p:nvPr/>
        </p:nvSpPr>
        <p:spPr>
          <a:xfrm>
            <a:off x="1261872" y="164592"/>
            <a:ext cx="4546397"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Three people, three places</a:t>
            </a:r>
            <a:endParaRPr lang="en-US" sz="2500" dirty="0"/>
          </a:p>
        </p:txBody>
      </p:sp>
      <p:pic>
        <p:nvPicPr>
          <p:cNvPr id="6" name="brP_318" descr="/home/claude/lls-course/v2/assets/brush-pink.png">    </p:cNvPr>
          <p:cNvPicPr>
            <a:picLocks noChangeAspect="1"/>
          </p:cNvPicPr>
          <p:nvPr/>
        </p:nvPicPr>
        <p:blipFill>
          <a:blip r:embed="rId3"/>
          <a:stretch>
            <a:fillRect/>
          </a:stretch>
        </p:blipFill>
        <p:spPr>
          <a:xfrm>
            <a:off x="1207008" y="731520"/>
            <a:ext cx="5943600" cy="402336"/>
          </a:xfrm>
          <a:prstGeom prst="rect">
            <a:avLst/>
          </a:prstGeom>
        </p:spPr>
      </p:pic>
      <p:sp>
        <p:nvSpPr>
          <p:cNvPr id="7" name="ins_319"/>
          <p:cNvSpPr/>
          <p:nvPr/>
        </p:nvSpPr>
        <p:spPr>
          <a:xfrm>
            <a:off x="1353312" y="731520"/>
            <a:ext cx="568756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Listen. Three people. Who talks about each place: 1, 2 or 3?</a:t>
            </a:r>
            <a:endParaRPr lang="en-US" sz="1250" dirty="0"/>
          </a:p>
        </p:txBody>
      </p:sp>
      <p:sp>
        <p:nvSpPr>
          <p:cNvPr id="8" name="insIT_320"/>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Ascolta tre persone. Chi parla di ogni luogo: 1, 2 o 3?</a:t>
            </a:r>
            <a:endParaRPr lang="en-US" sz="950" dirty="0"/>
          </a:p>
        </p:txBody>
      </p:sp>
      <p:sp>
        <p:nvSpPr>
          <p:cNvPr id="9" name="cmd_321"/>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LISTEN</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ASCOLTA</a:t>
            </a:r>
            <a:endParaRPr lang="en-US" sz="1100" dirty="0"/>
          </a:p>
        </p:txBody>
      </p:sp>
      <p:sp>
        <p:nvSpPr>
          <p:cNvPr id="10" name="meta_322"/>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3 min   👤 alone</a:t>
            </a:r>
            <a:endParaRPr lang="en-US" sz="950" dirty="0"/>
          </a:p>
        </p:txBody>
      </p:sp>
      <p:sp>
        <p:nvSpPr>
          <p:cNvPr id="11" name="tag_323"/>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Listening</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Listening for gist</a:t>
            </a:r>
            <a:endParaRPr lang="en-US" sz="850" dirty="0"/>
          </a:p>
        </p:txBody>
      </p:sp>
      <p:pic>
        <p:nvPicPr>
          <p:cNvPr id="12" name="logo_324"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325"/>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2A · Listening · three people   ·   📖 SB p.15 · 5a · audio 2.5 (script SB p.118)</a:t>
            </a:r>
            <a:endParaRPr lang="en-US" sz="800" dirty="0"/>
          </a:p>
        </p:txBody>
      </p:sp>
      <p:sp>
        <p:nvSpPr>
          <p:cNvPr id="14" name="ap_326"/>
          <p:cNvSpPr/>
          <p:nvPr/>
        </p:nvSpPr>
        <p:spPr>
          <a:xfrm>
            <a:off x="365760" y="1417320"/>
            <a:ext cx="2651760" cy="402336"/>
          </a:xfrm>
          <a:prstGeom prst="roundRect">
            <a:avLst>
              <a:gd name="adj" fmla="val 50000"/>
            </a:avLst>
          </a:prstGeom>
          <a:solidFill>
            <a:srgbClr val="E3F1FD"/>
          </a:solidFill>
          <a:ln w="19050">
            <a:solidFill>
              <a:srgbClr val="2F8DE4"/>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2.5  ·  play once</a:t>
            </a:r>
            <a:endParaRPr lang="en-US" sz="1100" dirty="0"/>
          </a:p>
        </p:txBody>
      </p:sp>
      <p:sp>
        <p:nvSpPr>
          <p:cNvPr id="15" name="ah_327"/>
          <p:cNvSpPr/>
          <p:nvPr/>
        </p:nvSpPr>
        <p:spPr>
          <a:xfrm>
            <a:off x="5925312" y="4572000"/>
            <a:ext cx="1554480" cy="365760"/>
          </a:xfrm>
          <a:prstGeom prst="rect">
            <a:avLst/>
          </a:prstGeom>
          <a:noFill/>
          <a:ln/>
        </p:spPr>
        <p:txBody>
          <a:bodyPr wrap="square" lIns="0" tIns="0" rIns="0" bIns="0" rtlCol="0" anchor="ctr"/>
          <a:lstStyle/>
          <a:p>
            <a:pPr algn="r" indent="0" marL="0">
              <a:buNone/>
            </a:pPr>
            <a:r>
              <a:rPr lang="en-US" sz="950" b="1" dirty="0">
                <a:solidFill>
                  <a:srgbClr val="2F8DE4"/>
                </a:solidFill>
                <a:latin typeface="Segoe UI Semibold" pitchFamily="34" charset="0"/>
                <a:ea typeface="Segoe UI Semibold" pitchFamily="34" charset="-122"/>
                <a:cs typeface="Segoe UI Semibold" pitchFamily="34" charset="-120"/>
              </a:rPr>
              <a:t>▶ normal · 🐢 slower</a:t>
            </a:r>
            <a:endParaRPr lang="en-US" sz="950" dirty="0"/>
          </a:p>
        </p:txBody>
      </p:sp>
      <p:pic>
        <p:nvPicPr>
          <p:cNvPr id="16" name="Media 0">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7525512" y="4553712"/>
            <a:ext cx="411480" cy="411480"/>
          </a:xfrm>
          <a:prstGeom prst="rect">
            <a:avLst/>
          </a:prstGeom>
        </p:spPr>
      </p:pic>
      <p:pic>
        <p:nvPicPr>
          <p:cNvPr id="17" name="Media 1">
            <a:hlinkClick r:id="" action="ppaction://media"/>
          </p:cNvPr>
          <p:cNvPicPr>
            <a:picLocks noChangeAspect="1"/>
          </p:cNvPicPr>
          <p:nvPr>
            <a:audioFile r:link="rId8"/>
            <p:extLst>
              <p:ext uri="{DAA4B4D4-6D71-4841-9C94-3DE7FCFB9230}">
                <p14:media xmlns:p14="http://schemas.microsoft.com/office/powerpoint/2010/main" r:embed="rId9"/>
              </p:ext>
            </p:extLst>
          </p:nvPr>
        </p:nvPicPr>
        <p:blipFill>
          <a:blip r:embed="rId10"/>
          <a:stretch>
            <a:fillRect/>
          </a:stretch>
        </p:blipFill>
        <p:spPr>
          <a:xfrm>
            <a:off x="8001000" y="4553712"/>
            <a:ext cx="411480" cy="411480"/>
          </a:xfrm>
          <a:prstGeom prst="rect">
            <a:avLst/>
          </a:prstGeom>
        </p:spPr>
      </p:pic>
      <p:sp>
        <p:nvSpPr>
          <p:cNvPr id="18" name="ah2_328"/>
          <p:cNvSpPr/>
          <p:nvPr/>
        </p:nvSpPr>
        <p:spPr>
          <a:xfrm>
            <a:off x="3090672" y="1417320"/>
            <a:ext cx="1737360" cy="402336"/>
          </a:xfrm>
          <a:prstGeom prst="rect">
            <a:avLst/>
          </a:prstGeom>
          <a:noFill/>
          <a:ln/>
        </p:spPr>
        <p:txBody>
          <a:bodyPr wrap="square" lIns="0" tIns="0" rIns="0" bIns="0" rtlCol="0" anchor="ctr"/>
          <a:lstStyle/>
          <a:p>
            <a:pPr indent="0" marL="0">
              <a:buNone/>
            </a:pPr>
            <a:r>
              <a:rPr lang="en-US" sz="900" i="1" dirty="0">
                <a:solidFill>
                  <a:srgbClr val="5B6785"/>
                </a:solidFill>
                <a:latin typeface="Segoe UI" pitchFamily="34" charset="0"/>
                <a:ea typeface="Segoe UI" pitchFamily="34" charset="-122"/>
                <a:cs typeface="Segoe UI" pitchFamily="34" charset="-120"/>
              </a:rPr>
              <a:t>↘ speaker bottom right</a:t>
            </a:r>
            <a:endParaRPr lang="en-US" sz="900" dirty="0"/>
          </a:p>
        </p:txBody>
      </p:sp>
      <p:sp>
        <p:nvSpPr>
          <p:cNvPr id="19" name="pf_329"/>
          <p:cNvSpPr/>
          <p:nvPr/>
        </p:nvSpPr>
        <p:spPr>
          <a:xfrm rot="-90000">
            <a:off x="411480" y="2057400"/>
            <a:ext cx="1783080" cy="1325880"/>
          </a:xfrm>
          <a:prstGeom prst="roundRect">
            <a:avLst>
              <a:gd name="adj" fmla="val 11724"/>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0" name="ph_330" descr="/home/claude/lls-course/v2/cache/red_2a_rooms_jpg_407x297_31.png">    </p:cNvPr>
          <p:cNvPicPr>
            <a:picLocks noChangeAspect="1"/>
          </p:cNvPicPr>
          <p:nvPr/>
        </p:nvPicPr>
        <p:blipFill>
          <a:blip r:embed="rId11"/>
          <a:stretch>
            <a:fillRect/>
          </a:stretch>
        </p:blipFill>
        <p:spPr>
          <a:xfrm rot="-90000">
            <a:off x="457200" y="2103120"/>
            <a:ext cx="1691640" cy="1234440"/>
          </a:xfrm>
          <a:prstGeom prst="rect">
            <a:avLst/>
          </a:prstGeom>
        </p:spPr>
      </p:pic>
      <p:sp>
        <p:nvSpPr>
          <p:cNvPr id="21" name="bd_331"/>
          <p:cNvSpPr/>
          <p:nvPr/>
        </p:nvSpPr>
        <p:spPr>
          <a:xfrm>
            <a:off x="310896" y="1956816"/>
            <a:ext cx="420624" cy="42062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400" dirty="0">
                <a:solidFill>
                  <a:srgbClr val="FFFFFF"/>
                </a:solidFill>
                <a:latin typeface="Arial Rounded MT Bold" pitchFamily="34" charset="0"/>
                <a:ea typeface="Arial Rounded MT Bold" pitchFamily="34" charset="-122"/>
                <a:cs typeface="Arial Rounded MT Bold" pitchFamily="34" charset="-120"/>
              </a:rPr>
              <a:t>A</a:t>
            </a:r>
            <a:endParaRPr lang="en-US" sz="1400" dirty="0"/>
          </a:p>
        </p:txBody>
      </p:sp>
      <p:sp>
        <p:nvSpPr>
          <p:cNvPr id="22" name="cd_332"/>
          <p:cNvSpPr/>
          <p:nvPr/>
        </p:nvSpPr>
        <p:spPr>
          <a:xfrm>
            <a:off x="365760" y="3611880"/>
            <a:ext cx="5440680" cy="1097280"/>
          </a:xfrm>
          <a:prstGeom prst="roundRect">
            <a:avLst>
              <a:gd name="adj" fmla="val 11667"/>
            </a:avLst>
          </a:prstGeom>
          <a:solidFill>
            <a:srgbClr val="E3F1FD"/>
          </a:solidFill>
          <a:ln w="19050">
            <a:solidFill>
              <a:srgbClr val="A9D3F5"/>
            </a:solidFill>
            <a:prstDash val="solid"/>
          </a:ln>
          <a:effectLst>
            <a:outerShdw sx="100000" sy="100000" kx="0" ky="0" algn="bl" rotWithShape="0" blurRad="88900" dist="31750" dir="5400000">
              <a:srgbClr val="1B2559">
                <a:alpha val="12000"/>
              </a:srgbClr>
            </a:outerShdw>
          </a:effectLst>
        </p:spPr>
      </p:sp>
      <p:sp>
        <p:nvSpPr>
          <p:cNvPr id="23" name="ii_333"/>
          <p:cNvSpPr/>
          <p:nvPr/>
        </p:nvSpPr>
        <p:spPr>
          <a:xfrm>
            <a:off x="457200" y="368503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4" name="ih_334"/>
          <p:cNvSpPr/>
          <p:nvPr/>
        </p:nvSpPr>
        <p:spPr>
          <a:xfrm>
            <a:off x="932688" y="3703320"/>
            <a:ext cx="480060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While you listen</a:t>
            </a:r>
            <a:endParaRPr lang="en-US" sz="1300" dirty="0"/>
          </a:p>
        </p:txBody>
      </p:sp>
      <p:sp>
        <p:nvSpPr>
          <p:cNvPr id="25" name="il_335"/>
          <p:cNvSpPr/>
          <p:nvPr/>
        </p:nvSpPr>
        <p:spPr>
          <a:xfrm>
            <a:off x="932688" y="4087368"/>
            <a:ext cx="4782312" cy="548640"/>
          </a:xfrm>
          <a:prstGeom prst="rect">
            <a:avLst/>
          </a:prstGeom>
          <a:noFill/>
          <a:ln/>
        </p:spPr>
        <p:txBody>
          <a:bodyPr wrap="square" lIns="0" tIns="0" rIns="0" bIns="0" rtlCol="0" anchor="t">
            <a:normAutofit/>
          </a:bodyPr>
          <a:lstStyle/>
          <a:p>
            <a:pPr marL="152400" indent="-152400">
              <a:spcAft>
                <a:spcPts val="200"/>
              </a:spcAft>
              <a:buSzPct val="100000"/>
              <a:buChar char="•"/>
            </a:pPr>
            <a:r>
              <a:rPr lang="en-US" sz="700" dirty="0">
                <a:solidFill>
                  <a:srgbClr val="1B2559"/>
                </a:solidFill>
                <a:latin typeface="Segoe UI" pitchFamily="34" charset="0"/>
                <a:ea typeface="Segoe UI" pitchFamily="34" charset="-122"/>
                <a:cs typeface="Segoe UI" pitchFamily="34" charset="-120"/>
              </a:rPr>
              <a:t>Read the 3 places. A study = a room for work.</a:t>
            </a:r>
            <a:endParaRPr lang="en-US" sz="700" dirty="0"/>
          </a:p>
          <a:p>
            <a:pPr marL="152400" indent="-152400">
              <a:spcAft>
                <a:spcPts val="200"/>
              </a:spcAft>
              <a:buSzPct val="100000"/>
              <a:buChar char="​"/>
            </a:pPr>
            <a:r>
              <a:rPr lang="en-US" sz="700" i="1" dirty="0">
                <a:solidFill>
                  <a:srgbClr val="5B6785"/>
                </a:solidFill>
                <a:latin typeface="Segoe UI" pitchFamily="34" charset="0"/>
                <a:ea typeface="Segoe UI" pitchFamily="34" charset="-122"/>
                <a:cs typeface="Segoe UI" pitchFamily="34" charset="-120"/>
              </a:rPr>
              <a:t>Leggi i 3 luoghi. Study = studio.</a:t>
            </a:r>
            <a:endParaRPr lang="en-US" sz="700" dirty="0"/>
          </a:p>
          <a:p>
            <a:pPr marL="152400" indent="-152400">
              <a:spcBef>
                <a:spcPts val="500"/>
              </a:spcBef>
              <a:spcAft>
                <a:spcPts val="200"/>
              </a:spcAft>
              <a:buSzPct val="100000"/>
              <a:buChar char="•"/>
            </a:pPr>
            <a:r>
              <a:rPr lang="en-US" sz="700" dirty="0">
                <a:solidFill>
                  <a:srgbClr val="1B2559"/>
                </a:solidFill>
                <a:latin typeface="Segoe UI" pitchFamily="34" charset="0"/>
                <a:ea typeface="Segoe UI" pitchFamily="34" charset="-122"/>
                <a:cs typeface="Segoe UI" pitchFamily="34" charset="-120"/>
              </a:rPr>
              <a:t>Listen once. Write 1, 2 or 3.</a:t>
            </a:r>
            <a:endParaRPr lang="en-US" sz="700" dirty="0"/>
          </a:p>
          <a:p>
            <a:pPr marL="152400" indent="-152400">
              <a:spcAft>
                <a:spcPts val="200"/>
              </a:spcAft>
              <a:buSzPct val="100000"/>
              <a:buChar char="​"/>
            </a:pPr>
            <a:r>
              <a:rPr lang="en-US" sz="700" i="1" dirty="0">
                <a:solidFill>
                  <a:srgbClr val="5B6785"/>
                </a:solidFill>
                <a:latin typeface="Segoe UI" pitchFamily="34" charset="0"/>
                <a:ea typeface="Segoe UI" pitchFamily="34" charset="-122"/>
                <a:cs typeface="Segoe UI" pitchFamily="34" charset="-120"/>
              </a:rPr>
              <a:t>Ascolta una volta. Scrivi 1, 2 o 3.</a:t>
            </a:r>
            <a:endParaRPr lang="en-US" sz="700" dirty="0"/>
          </a:p>
        </p:txBody>
      </p:sp>
      <p:sp>
        <p:nvSpPr>
          <p:cNvPr id="26" name="lq_336"/>
          <p:cNvSpPr/>
          <p:nvPr/>
        </p:nvSpPr>
        <p:spPr>
          <a:xfrm>
            <a:off x="6035040" y="2103120"/>
            <a:ext cx="1234440" cy="566928"/>
          </a:xfrm>
          <a:prstGeom prst="roundRect">
            <a:avLst>
              <a:gd name="adj" fmla="val 16129"/>
            </a:avLst>
          </a:prstGeom>
          <a:solidFill>
            <a:srgbClr val="FFFFFF"/>
          </a:solidFill>
          <a:ln w="19050">
            <a:solidFill>
              <a:srgbClr val="F7A6C4"/>
            </a:solidFill>
          </a:ln>
        </p:spPr>
        <p:txBody>
          <a:bodyPr wrap="square" lIns="76200" tIns="0" rIns="762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in her bag</a:t>
            </a:r>
            <a:endParaRPr lang="en-US" sz="1100" dirty="0"/>
          </a:p>
        </p:txBody>
      </p:sp>
      <p:sp>
        <p:nvSpPr>
          <p:cNvPr id="27" name="R1_chip337"/>
          <p:cNvSpPr/>
          <p:nvPr/>
        </p:nvSpPr>
        <p:spPr>
          <a:xfrm>
            <a:off x="7315200" y="2103120"/>
            <a:ext cx="1554480" cy="566928"/>
          </a:xfrm>
          <a:prstGeom prst="roundRect">
            <a:avLst>
              <a:gd name="adj" fmla="val 16129"/>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speaker 3</a:t>
            </a:r>
            <a:endParaRPr lang="en-US" sz="1050" dirty="0"/>
          </a:p>
        </p:txBody>
      </p:sp>
      <p:sp>
        <p:nvSpPr>
          <p:cNvPr id="28" name="lq_338"/>
          <p:cNvSpPr/>
          <p:nvPr/>
        </p:nvSpPr>
        <p:spPr>
          <a:xfrm>
            <a:off x="6035040" y="2761488"/>
            <a:ext cx="1234440" cy="566928"/>
          </a:xfrm>
          <a:prstGeom prst="roundRect">
            <a:avLst>
              <a:gd name="adj" fmla="val 16129"/>
            </a:avLst>
          </a:prstGeom>
          <a:solidFill>
            <a:srgbClr val="FFFFFF"/>
          </a:solidFill>
          <a:ln w="19050">
            <a:solidFill>
              <a:srgbClr val="A9D3F5"/>
            </a:solidFill>
          </a:ln>
        </p:spPr>
        <p:txBody>
          <a:bodyPr wrap="square" lIns="76200" tIns="0" rIns="762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on his desk</a:t>
            </a:r>
            <a:endParaRPr lang="en-US" sz="1100" dirty="0"/>
          </a:p>
        </p:txBody>
      </p:sp>
      <p:sp>
        <p:nvSpPr>
          <p:cNvPr id="29" name="R2_chip339"/>
          <p:cNvSpPr/>
          <p:nvPr/>
        </p:nvSpPr>
        <p:spPr>
          <a:xfrm>
            <a:off x="7315200" y="2761488"/>
            <a:ext cx="1554480" cy="566928"/>
          </a:xfrm>
          <a:prstGeom prst="roundRect">
            <a:avLst>
              <a:gd name="adj" fmla="val 16129"/>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speaker 1</a:t>
            </a:r>
            <a:endParaRPr lang="en-US" sz="1050" dirty="0"/>
          </a:p>
        </p:txBody>
      </p:sp>
      <p:sp>
        <p:nvSpPr>
          <p:cNvPr id="30" name="lq_340"/>
          <p:cNvSpPr/>
          <p:nvPr/>
        </p:nvSpPr>
        <p:spPr>
          <a:xfrm>
            <a:off x="6035040" y="3419856"/>
            <a:ext cx="1234440" cy="566928"/>
          </a:xfrm>
          <a:prstGeom prst="roundRect">
            <a:avLst>
              <a:gd name="adj" fmla="val 16129"/>
            </a:avLst>
          </a:prstGeom>
          <a:solidFill>
            <a:srgbClr val="FFFFFF"/>
          </a:solidFill>
          <a:ln w="19050">
            <a:solidFill>
              <a:srgbClr val="A8E5BE"/>
            </a:solidFill>
          </a:ln>
        </p:spPr>
        <p:txBody>
          <a:bodyPr wrap="square" lIns="76200" tIns="0" rIns="762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in her study</a:t>
            </a:r>
            <a:endParaRPr lang="en-US" sz="1100" dirty="0"/>
          </a:p>
        </p:txBody>
      </p:sp>
      <p:sp>
        <p:nvSpPr>
          <p:cNvPr id="31" name="R3_chip341"/>
          <p:cNvSpPr/>
          <p:nvPr/>
        </p:nvSpPr>
        <p:spPr>
          <a:xfrm>
            <a:off x="7315200" y="3419856"/>
            <a:ext cx="1554480" cy="566928"/>
          </a:xfrm>
          <a:prstGeom prst="roundRect">
            <a:avLst>
              <a:gd name="adj" fmla="val 16129"/>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050" b="1" dirty="0">
                <a:solidFill>
                  <a:srgbClr val="1B2559"/>
                </a:solidFill>
                <a:latin typeface="Segoe UI Semibold" pitchFamily="34" charset="0"/>
                <a:ea typeface="Segoe UI Semibold" pitchFamily="34" charset="-122"/>
                <a:cs typeface="Segoe UI Semibold" pitchFamily="34" charset="-120"/>
              </a:rPr>
              <a:t>speaker 2</a:t>
            </a:r>
            <a:endParaRPr lang="en-US" sz="10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fade">
                                      <p:cBhvr>
                                        <p:cTn id="7" dur="400"/>
                                        <p:tgtEl>
                                          <p:spTgt spid="2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9"/>
                                        </p:tgtEl>
                                        <p:attrNameLst>
                                          <p:attrName>style.visibility</p:attrName>
                                        </p:attrNameLst>
                                      </p:cBhvr>
                                      <p:to>
                                        <p:strVal val="visible"/>
                                      </p:to>
                                    </p:set>
                                    <p:animEffect transition="in" filter="fade">
                                      <p:cBhvr>
                                        <p:cTn id="12" dur="400"/>
                                        <p:tgtEl>
                                          <p:spTgt spid="29"/>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1"/>
                                        </p:tgtEl>
                                        <p:attrNameLst>
                                          <p:attrName>style.visibility</p:attrName>
                                        </p:attrNameLst>
                                      </p:cBhvr>
                                      <p:to>
                                        <p:strVal val="visible"/>
                                      </p:to>
                                    </p:set>
                                    <p:animEffect transition="in" filter="fade">
                                      <p:cBhvr>
                                        <p:cTn id="17"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18" restart="whenNotActive" fill="hold" evtFilter="cancelBubble" nodeType="interactiveSeq">
                <p:stCondLst>
                  <p:cond evt="onClick" delay="0">
                    <p:tgtEl>
                      <p:spTgt spid="16"/>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16"/>
                                        </p:tgtEl>
                                      </p:cBhvr>
                                    </p:cmd>
                                  </p:childTnLst>
                                </p:cTn>
                              </p:par>
                            </p:childTnLst>
                          </p:cTn>
                        </p:par>
                      </p:childTnLst>
                    </p:cTn>
                  </p:par>
                </p:childTnLst>
              </p:cTn>
              <p:nextCondLst>
                <p:cond evt="onClick" delay="0">
                  <p:tgtEl>
                    <p:spTgt spid="16"/>
                  </p:tgtEl>
                </p:cond>
              </p:nextCondLst>
            </p:seq>
            <p:seq concurrent="1" nextAc="seek">
              <p:cTn id="23" restart="whenNotActive" fill="hold" evtFilter="cancelBubble" nodeType="interactiveSeq">
                <p:stCondLst>
                  <p:cond evt="onClick" delay="0">
                    <p:tgtEl>
                      <p:spTgt spid="17"/>
                    </p:tgtEl>
                  </p:cond>
                </p:stCondLst>
                <p:endSync evt="end" delay="0">
                  <p:rtn val="all"/>
                </p:endSync>
                <p:childTnLst>
                  <p:par>
                    <p:cTn id="24" fill="hold">
                      <p:stCondLst>
                        <p:cond delay="0"/>
                      </p:stCondLst>
                      <p:childTnLst>
                        <p:par>
                          <p:cTn id="25" fill="hold">
                            <p:stCondLst>
                              <p:cond delay="0"/>
                            </p:stCondLst>
                            <p:childTnLst>
                              <p:par>
                                <p:cTn id="26" presetID="2" presetClass="mediacall" presetSubtype="0" fill="hold" nodeType="clickEffect">
                                  <p:stCondLst>
                                    <p:cond delay="0"/>
                                  </p:stCondLst>
                                  <p:childTnLst>
                                    <p:cmd type="call" cmd="togglePause">
                                      <p:cBhvr>
                                        <p:cTn id="27" dur="1" fill="hold"/>
                                        <p:tgtEl>
                                          <p:spTgt spid="17"/>
                                        </p:tgtEl>
                                      </p:cBhvr>
                                    </p:cmd>
                                  </p:childTnLst>
                                </p:cTn>
                              </p:par>
                            </p:childTnLst>
                          </p:cTn>
                        </p:par>
                      </p:childTnLst>
                    </p:cTn>
                  </p:par>
                </p:childTnLst>
              </p:cTn>
              <p:nextCondLst>
                <p:cond evt="onClick" delay="0">
                  <p:tgtEl>
                    <p:spTgt spid="17"/>
                  </p:tgtEl>
                </p:cond>
              </p:nextCondLst>
            </p:seq>
            <p:audio>
              <p:cMediaNode vol="80000">
                <p:cTn id="28" fill="hold" display="0">
                  <p:stCondLst>
                    <p:cond delay="indefinite"/>
                  </p:stCondLst>
                  <p:endCondLst>
                    <p:cond evt="onStopAudio" delay="0">
                      <p:tgtEl>
                        <p:sldTgt/>
                      </p:tgtEl>
                    </p:cond>
                  </p:endCondLst>
                </p:cTn>
                <p:tgtEl>
                  <p:spTgt spid="16"/>
                </p:tgtEl>
              </p:cMediaNode>
            </p:audio>
            <p:audio>
              <p:cMediaNode vol="80000">
                <p:cTn id="29" fill="hold" display="0">
                  <p:stCondLst>
                    <p:cond delay="indefinite"/>
                  </p:stCondLst>
                  <p:endCondLst>
                    <p:cond evt="onStopAudio" delay="0">
                      <p:tgtEl>
                        <p:sldTgt/>
                      </p:tgtEl>
                    </p:cond>
                  </p:endCondLst>
                </p:cTn>
                <p:tgtEl>
                  <p:spTgt spid="17"/>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342"/>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12</a:t>
            </a:r>
            <a:endParaRPr lang="en-US" sz="2200" dirty="0"/>
          </a:p>
        </p:txBody>
      </p:sp>
      <p:pic>
        <p:nvPicPr>
          <p:cNvPr id="4" name="brY_343" descr="/home/claude/lls-course/v2/assets/brush-yellow.png">    </p:cNvPr>
          <p:cNvPicPr>
            <a:picLocks noChangeAspect="1"/>
          </p:cNvPicPr>
          <p:nvPr/>
        </p:nvPicPr>
        <p:blipFill>
          <a:blip r:embed="rId2"/>
          <a:stretch>
            <a:fillRect/>
          </a:stretch>
        </p:blipFill>
        <p:spPr>
          <a:xfrm>
            <a:off x="1097280" y="146304"/>
            <a:ext cx="3562502" cy="621792"/>
          </a:xfrm>
          <a:prstGeom prst="rect">
            <a:avLst/>
          </a:prstGeom>
        </p:spPr>
      </p:pic>
      <p:sp>
        <p:nvSpPr>
          <p:cNvPr id="5" name="title_344"/>
          <p:cNvSpPr/>
          <p:nvPr/>
        </p:nvSpPr>
        <p:spPr>
          <a:xfrm>
            <a:off x="1261872" y="164592"/>
            <a:ext cx="3288182"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What do they have?</a:t>
            </a:r>
            <a:endParaRPr lang="en-US" sz="2500" dirty="0"/>
          </a:p>
        </p:txBody>
      </p:sp>
      <p:pic>
        <p:nvPicPr>
          <p:cNvPr id="6" name="brP_345" descr="/home/claude/lls-course/v2/assets/brush-pink.png">    </p:cNvPr>
          <p:cNvPicPr>
            <a:picLocks noChangeAspect="1"/>
          </p:cNvPicPr>
          <p:nvPr/>
        </p:nvPicPr>
        <p:blipFill>
          <a:blip r:embed="rId3"/>
          <a:stretch>
            <a:fillRect/>
          </a:stretch>
        </p:blipFill>
        <p:spPr>
          <a:xfrm>
            <a:off x="1207008" y="731520"/>
            <a:ext cx="4814316" cy="402336"/>
          </a:xfrm>
          <a:prstGeom prst="rect">
            <a:avLst/>
          </a:prstGeom>
        </p:spPr>
      </p:pic>
      <p:sp>
        <p:nvSpPr>
          <p:cNvPr id="7" name="ins_346"/>
          <p:cNvSpPr/>
          <p:nvPr/>
        </p:nvSpPr>
        <p:spPr>
          <a:xfrm>
            <a:off x="1353312" y="731520"/>
            <a:ext cx="4558284"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Listen again. Write the things each person has.</a:t>
            </a:r>
            <a:endParaRPr lang="en-US" sz="1250" dirty="0"/>
          </a:p>
        </p:txBody>
      </p:sp>
      <p:sp>
        <p:nvSpPr>
          <p:cNvPr id="8" name="insIT_347"/>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Riascolta. Scrivi le cose di ogni persona.</a:t>
            </a:r>
            <a:endParaRPr lang="en-US" sz="950" dirty="0"/>
          </a:p>
        </p:txBody>
      </p:sp>
      <p:sp>
        <p:nvSpPr>
          <p:cNvPr id="9" name="cmd_348"/>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LISTEN</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ASCOLTA</a:t>
            </a:r>
            <a:endParaRPr lang="en-US" sz="1100" dirty="0"/>
          </a:p>
        </p:txBody>
      </p:sp>
      <p:sp>
        <p:nvSpPr>
          <p:cNvPr id="10" name="cmd_349"/>
          <p:cNvSpPr/>
          <p:nvPr/>
        </p:nvSpPr>
        <p:spPr>
          <a:xfrm>
            <a:off x="6510528" y="566928"/>
            <a:ext cx="1901952" cy="329184"/>
          </a:xfrm>
          <a:prstGeom prst="roundRect">
            <a:avLst>
              <a:gd name="adj" fmla="val 50000"/>
            </a:avLst>
          </a:prstGeom>
          <a:solidFill>
            <a:srgbClr val="FFFFFF"/>
          </a:solidFill>
          <a:ln w="25400">
            <a:solidFill>
              <a:srgbClr val="CDBFF3"/>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7B5CD6"/>
                </a:solidFill>
                <a:latin typeface="Arial Rounded MT Bold" pitchFamily="34" charset="0"/>
                <a:ea typeface="Arial Rounded MT Bold" pitchFamily="34" charset="-122"/>
                <a:cs typeface="Arial Rounded MT Bold" pitchFamily="34" charset="-120"/>
              </a:rPr>
              <a:t>WRITE</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SCRIVI</a:t>
            </a:r>
            <a:endParaRPr lang="en-US" sz="1100" dirty="0"/>
          </a:p>
        </p:txBody>
      </p:sp>
      <p:sp>
        <p:nvSpPr>
          <p:cNvPr id="11" name="meta_350"/>
          <p:cNvSpPr/>
          <p:nvPr/>
        </p:nvSpPr>
        <p:spPr>
          <a:xfrm>
            <a:off x="6583680" y="950976"/>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4 min   👥 pairs</a:t>
            </a:r>
            <a:endParaRPr lang="en-US" sz="950" dirty="0"/>
          </a:p>
        </p:txBody>
      </p:sp>
      <p:sp>
        <p:nvSpPr>
          <p:cNvPr id="12" name="tag_351"/>
          <p:cNvSpPr/>
          <p:nvPr/>
        </p:nvSpPr>
        <p:spPr>
          <a:xfrm>
            <a:off x="6510528" y="1188720"/>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Listening</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Listening for detail</a:t>
            </a:r>
            <a:endParaRPr lang="en-US" sz="850" dirty="0"/>
          </a:p>
        </p:txBody>
      </p:sp>
      <p:pic>
        <p:nvPicPr>
          <p:cNvPr id="13" name="logo_352"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4" name="foot_353"/>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2A · Listening · detail   ·   📖 SB p.15 · 5b · audio 2.5</a:t>
            </a:r>
            <a:endParaRPr lang="en-US" sz="800" dirty="0"/>
          </a:p>
        </p:txBody>
      </p:sp>
      <p:sp>
        <p:nvSpPr>
          <p:cNvPr id="15" name="ap_354"/>
          <p:cNvSpPr/>
          <p:nvPr/>
        </p:nvSpPr>
        <p:spPr>
          <a:xfrm>
            <a:off x="365760" y="1417320"/>
            <a:ext cx="2194560" cy="402336"/>
          </a:xfrm>
          <a:prstGeom prst="roundRect">
            <a:avLst>
              <a:gd name="adj" fmla="val 50000"/>
            </a:avLst>
          </a:prstGeom>
          <a:solidFill>
            <a:srgbClr val="E3F1FD"/>
          </a:solidFill>
          <a:ln w="19050">
            <a:solidFill>
              <a:srgbClr val="2F8DE4"/>
            </a:solidFill>
          </a:ln>
        </p:spPr>
        <p:txBody>
          <a:bodyPr wrap="square" lIns="127000" tIns="0" rIns="127000" bIns="0" rtlCol="0" anchor="ctr">
            <a:normAutofit/>
          </a:bodyPr>
          <a:lstStyle/>
          <a:p>
            <a:pPr indent="0" marL="0">
              <a:buNone/>
            </a:pPr>
            <a:r>
              <a:rPr lang="en-US" sz="1100" b="1" dirty="0">
                <a:solidFill>
                  <a:srgbClr val="1B2559"/>
                </a:solidFill>
                <a:latin typeface="Segoe UI Semibold" pitchFamily="34" charset="0"/>
                <a:ea typeface="Segoe UI Semibold" pitchFamily="34" charset="-122"/>
                <a:cs typeface="Segoe UI Semibold" pitchFamily="34" charset="-120"/>
              </a:rPr>
              <a:t>🎧 2.5  ·  play again</a:t>
            </a:r>
            <a:endParaRPr lang="en-US" sz="1100" dirty="0"/>
          </a:p>
        </p:txBody>
      </p:sp>
      <p:sp>
        <p:nvSpPr>
          <p:cNvPr id="16" name="ah_355"/>
          <p:cNvSpPr/>
          <p:nvPr/>
        </p:nvSpPr>
        <p:spPr>
          <a:xfrm>
            <a:off x="5925312" y="4572000"/>
            <a:ext cx="1554480" cy="365760"/>
          </a:xfrm>
          <a:prstGeom prst="rect">
            <a:avLst/>
          </a:prstGeom>
          <a:noFill/>
          <a:ln/>
        </p:spPr>
        <p:txBody>
          <a:bodyPr wrap="square" lIns="0" tIns="0" rIns="0" bIns="0" rtlCol="0" anchor="ctr"/>
          <a:lstStyle/>
          <a:p>
            <a:pPr algn="r" indent="0" marL="0">
              <a:buNone/>
            </a:pPr>
            <a:r>
              <a:rPr lang="en-US" sz="950" b="1" dirty="0">
                <a:solidFill>
                  <a:srgbClr val="2F8DE4"/>
                </a:solidFill>
                <a:latin typeface="Segoe UI Semibold" pitchFamily="34" charset="0"/>
                <a:ea typeface="Segoe UI Semibold" pitchFamily="34" charset="-122"/>
                <a:cs typeface="Segoe UI Semibold" pitchFamily="34" charset="-120"/>
              </a:rPr>
              <a:t>▶ normal · 🐢 slower</a:t>
            </a:r>
            <a:endParaRPr lang="en-US" sz="950" dirty="0"/>
          </a:p>
        </p:txBody>
      </p:sp>
      <p:pic>
        <p:nvPicPr>
          <p:cNvPr id="17" name="Media 0">
            <a:hlinkClick r:id="" action="ppaction://media"/>
          </p:cNvPr>
          <p:cNvPicPr>
            <a:picLocks noChangeAspect="1"/>
          </p:cNvPicPr>
          <p:nvPr>
            <a:audioFile r:link="rId5"/>
            <p:extLst>
              <p:ext uri="{DAA4B4D4-6D71-4841-9C94-3DE7FCFB9230}">
                <p14:media xmlns:p14="http://schemas.microsoft.com/office/powerpoint/2010/main" r:embed="rId6"/>
              </p:ext>
            </p:extLst>
          </p:nvPr>
        </p:nvPicPr>
        <p:blipFill>
          <a:blip r:embed="rId7"/>
          <a:stretch>
            <a:fillRect/>
          </a:stretch>
        </p:blipFill>
        <p:spPr>
          <a:xfrm>
            <a:off x="7525512" y="4553712"/>
            <a:ext cx="411480" cy="411480"/>
          </a:xfrm>
          <a:prstGeom prst="rect">
            <a:avLst/>
          </a:prstGeom>
        </p:spPr>
      </p:pic>
      <p:pic>
        <p:nvPicPr>
          <p:cNvPr id="18" name="Media 1">
            <a:hlinkClick r:id="" action="ppaction://media"/>
          </p:cNvPr>
          <p:cNvPicPr>
            <a:picLocks noChangeAspect="1"/>
          </p:cNvPicPr>
          <p:nvPr>
            <a:audioFile r:link="rId8"/>
            <p:extLst>
              <p:ext uri="{DAA4B4D4-6D71-4841-9C94-3DE7FCFB9230}">
                <p14:media xmlns:p14="http://schemas.microsoft.com/office/powerpoint/2010/main" r:embed="rId9"/>
              </p:ext>
            </p:extLst>
          </p:nvPr>
        </p:nvPicPr>
        <p:blipFill>
          <a:blip r:embed="rId10"/>
          <a:stretch>
            <a:fillRect/>
          </a:stretch>
        </p:blipFill>
        <p:spPr>
          <a:xfrm>
            <a:off x="8001000" y="4553712"/>
            <a:ext cx="411480" cy="411480"/>
          </a:xfrm>
          <a:prstGeom prst="rect">
            <a:avLst/>
          </a:prstGeom>
        </p:spPr>
      </p:pic>
      <p:sp>
        <p:nvSpPr>
          <p:cNvPr id="19" name="pf_356"/>
          <p:cNvSpPr/>
          <p:nvPr/>
        </p:nvSpPr>
        <p:spPr>
          <a:xfrm rot="-90000">
            <a:off x="411480" y="2057400"/>
            <a:ext cx="2697480" cy="1783080"/>
          </a:xfrm>
          <a:prstGeom prst="roundRect">
            <a:avLst>
              <a:gd name="adj" fmla="val 8718"/>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20" name="ph_357" descr="/home/claude/lls-course/v2/cache/red_2a_untidy_jpg_627x407_31.png">    </p:cNvPr>
          <p:cNvPicPr>
            <a:picLocks noChangeAspect="1"/>
          </p:cNvPicPr>
          <p:nvPr/>
        </p:nvPicPr>
        <p:blipFill>
          <a:blip r:embed="rId11"/>
          <a:stretch>
            <a:fillRect/>
          </a:stretch>
        </p:blipFill>
        <p:spPr>
          <a:xfrm rot="-90000">
            <a:off x="457200" y="2103120"/>
            <a:ext cx="2606040" cy="1691640"/>
          </a:xfrm>
          <a:prstGeom prst="rect">
            <a:avLst/>
          </a:prstGeom>
        </p:spPr>
      </p:pic>
      <p:sp>
        <p:nvSpPr>
          <p:cNvPr id="21" name="cd_358"/>
          <p:cNvSpPr/>
          <p:nvPr/>
        </p:nvSpPr>
        <p:spPr>
          <a:xfrm>
            <a:off x="320040" y="4023360"/>
            <a:ext cx="2788920" cy="731520"/>
          </a:xfrm>
          <a:prstGeom prst="roundRect">
            <a:avLst>
              <a:gd name="adj" fmla="val 17500"/>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22" name="ii_359"/>
          <p:cNvSpPr/>
          <p:nvPr/>
        </p:nvSpPr>
        <p:spPr>
          <a:xfrm>
            <a:off x="411480" y="409651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3" name="ih_360"/>
          <p:cNvSpPr/>
          <p:nvPr/>
        </p:nvSpPr>
        <p:spPr>
          <a:xfrm>
            <a:off x="886968" y="4114800"/>
            <a:ext cx="2148840" cy="365760"/>
          </a:xfrm>
          <a:prstGeom prst="rect">
            <a:avLst/>
          </a:prstGeom>
          <a:noFill/>
          <a:ln/>
        </p:spPr>
        <p:txBody>
          <a:bodyPr wrap="square" lIns="0" tIns="0" rIns="0" bIns="0" rtlCol="0" anchor="ctr"/>
          <a:lstStyle/>
          <a:p>
            <a:pPr indent="0" marL="0">
              <a:buNone/>
            </a:pPr>
            <a:r>
              <a:rPr lang="en-US" sz="1200" dirty="0">
                <a:solidFill>
                  <a:srgbClr val="1B2559"/>
                </a:solidFill>
                <a:latin typeface="Arial Rounded MT Bold" pitchFamily="34" charset="0"/>
                <a:ea typeface="Arial Rounded MT Bold" pitchFamily="34" charset="-122"/>
                <a:cs typeface="Arial Rounded MT Bold" pitchFamily="34" charset="-120"/>
              </a:rPr>
              <a:t>Guess first, then listen!</a:t>
            </a:r>
            <a:endParaRPr lang="en-US" sz="1200" dirty="0"/>
          </a:p>
        </p:txBody>
      </p:sp>
      <p:sp>
        <p:nvSpPr>
          <p:cNvPr id="24" name="il_361"/>
          <p:cNvSpPr/>
          <p:nvPr/>
        </p:nvSpPr>
        <p:spPr>
          <a:xfrm>
            <a:off x="886968" y="4498848"/>
            <a:ext cx="2130552" cy="182880"/>
          </a:xfrm>
          <a:prstGeom prst="rect">
            <a:avLst/>
          </a:prstGeom>
          <a:noFill/>
          <a:ln/>
        </p:spPr>
        <p:txBody>
          <a:bodyPr wrap="square" lIns="0" tIns="0" rIns="0" bIns="0" rtlCol="0" anchor="t">
            <a:normAutofit/>
          </a:bodyPr>
          <a:lstStyle/>
          <a:p>
            <a:pPr indent="0" marL="0">
              <a:spcAft>
                <a:spcPts val="200"/>
              </a:spcAft>
              <a:buNone/>
            </a:pPr>
            <a:endParaRPr lang="en-US" sz="1100" dirty="0"/>
          </a:p>
        </p:txBody>
      </p:sp>
      <p:sp>
        <p:nvSpPr>
          <p:cNvPr id="25" name="gq_362"/>
          <p:cNvSpPr/>
          <p:nvPr/>
        </p:nvSpPr>
        <p:spPr>
          <a:xfrm>
            <a:off x="3383280" y="1417320"/>
            <a:ext cx="3337560" cy="457200"/>
          </a:xfrm>
          <a:prstGeom prst="roundRect">
            <a:avLst>
              <a:gd name="adj" fmla="val 20000"/>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Speaker 1 (desk): a computer, …</a:t>
            </a:r>
            <a:endParaRPr lang="en-US" sz="1200" dirty="0"/>
          </a:p>
        </p:txBody>
      </p:sp>
      <p:sp>
        <p:nvSpPr>
          <p:cNvPr id="26" name="R1_chip363"/>
          <p:cNvSpPr/>
          <p:nvPr/>
        </p:nvSpPr>
        <p:spPr>
          <a:xfrm>
            <a:off x="6812280" y="1417320"/>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150" b="1" dirty="0">
                <a:solidFill>
                  <a:srgbClr val="1B2559"/>
                </a:solidFill>
                <a:latin typeface="Segoe UI Semibold" pitchFamily="34" charset="0"/>
                <a:ea typeface="Segoe UI Semibold" pitchFamily="34" charset="-122"/>
                <a:cs typeface="Segoe UI Semibold" pitchFamily="34" charset="-120"/>
              </a:rPr>
              <a:t>pens, pieces of paper, a lamp, a photo, a phone</a:t>
            </a:r>
            <a:endParaRPr lang="en-US" sz="1150" dirty="0"/>
          </a:p>
        </p:txBody>
      </p:sp>
      <p:sp>
        <p:nvSpPr>
          <p:cNvPr id="27" name="gq_364"/>
          <p:cNvSpPr/>
          <p:nvPr/>
        </p:nvSpPr>
        <p:spPr>
          <a:xfrm>
            <a:off x="3383280" y="1938528"/>
            <a:ext cx="3337560" cy="457200"/>
          </a:xfrm>
          <a:prstGeom prst="roundRect">
            <a:avLst>
              <a:gd name="adj" fmla="val 20000"/>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Speaker 2 (study): a desk, …</a:t>
            </a:r>
            <a:endParaRPr lang="en-US" sz="1200" dirty="0"/>
          </a:p>
        </p:txBody>
      </p:sp>
      <p:sp>
        <p:nvSpPr>
          <p:cNvPr id="28" name="R2_chip365"/>
          <p:cNvSpPr/>
          <p:nvPr/>
        </p:nvSpPr>
        <p:spPr>
          <a:xfrm>
            <a:off x="6812280" y="1938528"/>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a table, two chairs, books, a dictionary, a map</a:t>
            </a:r>
            <a:endParaRPr lang="en-US" sz="1000" dirty="0"/>
          </a:p>
        </p:txBody>
      </p:sp>
      <p:sp>
        <p:nvSpPr>
          <p:cNvPr id="29" name="gq_366"/>
          <p:cNvSpPr/>
          <p:nvPr/>
        </p:nvSpPr>
        <p:spPr>
          <a:xfrm>
            <a:off x="3383280" y="2459736"/>
            <a:ext cx="3337560" cy="457200"/>
          </a:xfrm>
          <a:prstGeom prst="roundRect">
            <a:avLst>
              <a:gd name="adj" fmla="val 20000"/>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200" dirty="0">
                <a:solidFill>
                  <a:srgbClr val="1B2559"/>
                </a:solidFill>
                <a:latin typeface="Segoe UI Semibold" pitchFamily="34" charset="0"/>
                <a:ea typeface="Segoe UI Semibold" pitchFamily="34" charset="-122"/>
                <a:cs typeface="Segoe UI Semibold" pitchFamily="34" charset="-120"/>
              </a:rPr>
              <a:t>Speaker 3 (bag): a phone, …</a:t>
            </a:r>
            <a:endParaRPr lang="en-US" sz="1200" dirty="0"/>
          </a:p>
        </p:txBody>
      </p:sp>
      <p:sp>
        <p:nvSpPr>
          <p:cNvPr id="30" name="R3_chip367"/>
          <p:cNvSpPr/>
          <p:nvPr/>
        </p:nvSpPr>
        <p:spPr>
          <a:xfrm>
            <a:off x="6812280" y="2459736"/>
            <a:ext cx="2057400" cy="457200"/>
          </a:xfrm>
          <a:prstGeom prst="roundRect">
            <a:avLst>
              <a:gd name="adj" fmla="val 20000"/>
            </a:avLst>
          </a:prstGeom>
          <a:solidFill>
            <a:srgbClr val="FFF6CC"/>
          </a:solidFill>
          <a:ln w="19050">
            <a:solidFill>
              <a:srgbClr val="F2B705"/>
            </a:solidFill>
          </a:ln>
        </p:spPr>
        <p:txBody>
          <a:bodyPr wrap="square" lIns="101600" tIns="0" rIns="101600" bIns="0" rtlCol="0" anchor="ctr">
            <a:normAutofit/>
          </a:bodyPr>
          <a:lstStyle/>
          <a:p>
            <a:pPr algn="l" indent="0" marL="0">
              <a:buNone/>
            </a:pPr>
            <a:r>
              <a:rPr lang="en-US" sz="1200" b="1" dirty="0">
                <a:solidFill>
                  <a:srgbClr val="1B2559"/>
                </a:solidFill>
                <a:latin typeface="Segoe UI Semibold" pitchFamily="34" charset="0"/>
                <a:ea typeface="Segoe UI Semibold" pitchFamily="34" charset="-122"/>
                <a:cs typeface="Segoe UI Semibold" pitchFamily="34" charset="-120"/>
              </a:rPr>
              <a:t>a charger, sunglasses, tissues, keys, a purse</a:t>
            </a:r>
            <a:endParaRPr lang="en-US" sz="12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fade">
                                      <p:cBhvr>
                                        <p:cTn id="7" dur="400"/>
                                        <p:tgtEl>
                                          <p:spTgt spid="2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400"/>
                                        <p:tgtEl>
                                          <p:spTgt spid="2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fade">
                                      <p:cBhvr>
                                        <p:cTn id="17"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seq concurrent="1" nextAc="seek">
              <p:cTn id="18" restart="whenNotActive" fill="hold" evtFilter="cancelBubble" nodeType="interactiveSeq">
                <p:stCondLst>
                  <p:cond evt="onClick" delay="0">
                    <p:tgtEl>
                      <p:spTgt spid="17"/>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17"/>
                                        </p:tgtEl>
                                      </p:cBhvr>
                                    </p:cmd>
                                  </p:childTnLst>
                                </p:cTn>
                              </p:par>
                            </p:childTnLst>
                          </p:cTn>
                        </p:par>
                      </p:childTnLst>
                    </p:cTn>
                  </p:par>
                </p:childTnLst>
              </p:cTn>
              <p:nextCondLst>
                <p:cond evt="onClick" delay="0">
                  <p:tgtEl>
                    <p:spTgt spid="17"/>
                  </p:tgtEl>
                </p:cond>
              </p:nextCondLst>
            </p:seq>
            <p:seq concurrent="1" nextAc="seek">
              <p:cTn id="23" restart="whenNotActive" fill="hold" evtFilter="cancelBubble" nodeType="interactiveSeq">
                <p:stCondLst>
                  <p:cond evt="onClick" delay="0">
                    <p:tgtEl>
                      <p:spTgt spid="18"/>
                    </p:tgtEl>
                  </p:cond>
                </p:stCondLst>
                <p:endSync evt="end" delay="0">
                  <p:rtn val="all"/>
                </p:endSync>
                <p:childTnLst>
                  <p:par>
                    <p:cTn id="24" fill="hold">
                      <p:stCondLst>
                        <p:cond delay="0"/>
                      </p:stCondLst>
                      <p:childTnLst>
                        <p:par>
                          <p:cTn id="25" fill="hold">
                            <p:stCondLst>
                              <p:cond delay="0"/>
                            </p:stCondLst>
                            <p:childTnLst>
                              <p:par>
                                <p:cTn id="26" presetID="2" presetClass="mediacall" presetSubtype="0" fill="hold" nodeType="clickEffect">
                                  <p:stCondLst>
                                    <p:cond delay="0"/>
                                  </p:stCondLst>
                                  <p:childTnLst>
                                    <p:cmd type="call" cmd="togglePause">
                                      <p:cBhvr>
                                        <p:cTn id="27" dur="1" fill="hold"/>
                                        <p:tgtEl>
                                          <p:spTgt spid="18"/>
                                        </p:tgtEl>
                                      </p:cBhvr>
                                    </p:cmd>
                                  </p:childTnLst>
                                </p:cTn>
                              </p:par>
                            </p:childTnLst>
                          </p:cTn>
                        </p:par>
                      </p:childTnLst>
                    </p:cTn>
                  </p:par>
                </p:childTnLst>
              </p:cTn>
              <p:nextCondLst>
                <p:cond evt="onClick" delay="0">
                  <p:tgtEl>
                    <p:spTgt spid="18"/>
                  </p:tgtEl>
                </p:cond>
              </p:nextCondLst>
            </p:seq>
            <p:audio>
              <p:cMediaNode vol="80000">
                <p:cTn id="28" fill="hold" display="0">
                  <p:stCondLst>
                    <p:cond delay="indefinite"/>
                  </p:stCondLst>
                  <p:endCondLst>
                    <p:cond evt="onStopAudio" delay="0">
                      <p:tgtEl>
                        <p:sldTgt/>
                      </p:tgtEl>
                    </p:cond>
                  </p:endCondLst>
                </p:cTn>
                <p:tgtEl>
                  <p:spTgt spid="17"/>
                </p:tgtEl>
              </p:cMediaNode>
            </p:audio>
            <p:audio>
              <p:cMediaNode vol="80000">
                <p:cTn id="29" fill="hold" display="0">
                  <p:stCondLst>
                    <p:cond delay="indefinite"/>
                  </p:stCondLst>
                  <p:endCondLst>
                    <p:cond evt="onStopAudio" delay="0">
                      <p:tgtEl>
                        <p:sldTgt/>
                      </p:tgtEl>
                    </p:cond>
                  </p:endCondLst>
                </p:cTn>
                <p:tgtEl>
                  <p:spTgt spid="18"/>
                </p:tgtEl>
              </p:cMediaNode>
            </p:audi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368"/>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13</a:t>
            </a:r>
            <a:endParaRPr lang="en-US" sz="2200" dirty="0"/>
          </a:p>
        </p:txBody>
      </p:sp>
      <p:pic>
        <p:nvPicPr>
          <p:cNvPr id="4" name="brY_369" descr="/home/claude/lls-course/v2/assets/brush-yellow.png">    </p:cNvPr>
          <p:cNvPicPr>
            <a:picLocks noChangeAspect="1"/>
          </p:cNvPicPr>
          <p:nvPr/>
        </p:nvPicPr>
        <p:blipFill>
          <a:blip r:embed="rId2"/>
          <a:stretch>
            <a:fillRect/>
          </a:stretch>
        </p:blipFill>
        <p:spPr>
          <a:xfrm>
            <a:off x="1097280" y="146304"/>
            <a:ext cx="3405226" cy="621792"/>
          </a:xfrm>
          <a:prstGeom prst="rect">
            <a:avLst/>
          </a:prstGeom>
        </p:spPr>
      </p:pic>
      <p:sp>
        <p:nvSpPr>
          <p:cNvPr id="5" name="title_370"/>
          <p:cNvSpPr/>
          <p:nvPr/>
        </p:nvSpPr>
        <p:spPr>
          <a:xfrm>
            <a:off x="1261872" y="164592"/>
            <a:ext cx="3130906"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Where's my phone?</a:t>
            </a:r>
            <a:endParaRPr lang="en-US" sz="2400" dirty="0"/>
          </a:p>
        </p:txBody>
      </p:sp>
      <p:pic>
        <p:nvPicPr>
          <p:cNvPr id="6" name="brP_371" descr="/home/claude/lls-course/v2/assets/brush-pink.png">    </p:cNvPr>
          <p:cNvPicPr>
            <a:picLocks noChangeAspect="1"/>
          </p:cNvPicPr>
          <p:nvPr/>
        </p:nvPicPr>
        <p:blipFill>
          <a:blip r:embed="rId3"/>
          <a:stretch>
            <a:fillRect/>
          </a:stretch>
        </p:blipFill>
        <p:spPr>
          <a:xfrm>
            <a:off x="1207008" y="731520"/>
            <a:ext cx="6035040" cy="402336"/>
          </a:xfrm>
          <a:prstGeom prst="rect">
            <a:avLst/>
          </a:prstGeom>
        </p:spPr>
      </p:pic>
      <p:sp>
        <p:nvSpPr>
          <p:cNvPr id="7" name="ins_372"/>
          <p:cNvSpPr/>
          <p:nvPr/>
        </p:nvSpPr>
        <p:spPr>
          <a:xfrm>
            <a:off x="1353312" y="731520"/>
            <a:ext cx="577900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Hide your phone (in your head!). Your partner asks max 5 questions.</a:t>
            </a:r>
            <a:endParaRPr lang="en-US" sz="1250" dirty="0"/>
          </a:p>
        </p:txBody>
      </p:sp>
      <p:sp>
        <p:nvSpPr>
          <p:cNvPr id="8" name="insIT_373"/>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Nascondi il telefono (nella tua testa!). Il compagno fa max 5 domande.</a:t>
            </a:r>
            <a:endParaRPr lang="en-US" sz="950" dirty="0"/>
          </a:p>
        </p:txBody>
      </p:sp>
      <p:sp>
        <p:nvSpPr>
          <p:cNvPr id="9" name="cmd_374"/>
          <p:cNvSpPr/>
          <p:nvPr/>
        </p:nvSpPr>
        <p:spPr>
          <a:xfrm>
            <a:off x="6510528" y="182880"/>
            <a:ext cx="1901952" cy="329184"/>
          </a:xfrm>
          <a:prstGeom prst="roundRect">
            <a:avLst>
              <a:gd name="adj" fmla="val 50000"/>
            </a:avLst>
          </a:prstGeom>
          <a:solidFill>
            <a:srgbClr val="FFFFFF"/>
          </a:solidFill>
          <a:ln w="25400">
            <a:solidFill>
              <a:srgbClr val="FFE07A"/>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F2B705"/>
                </a:solidFill>
                <a:latin typeface="Arial Rounded MT Bold" pitchFamily="34" charset="0"/>
                <a:ea typeface="Arial Rounded MT Bold" pitchFamily="34" charset="-122"/>
                <a:cs typeface="Arial Rounded MT Bold" pitchFamily="34" charset="-120"/>
              </a:rPr>
              <a:t>PLAY</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GIOCA</a:t>
            </a:r>
            <a:endParaRPr lang="en-US" sz="1100" dirty="0"/>
          </a:p>
        </p:txBody>
      </p:sp>
      <p:sp>
        <p:nvSpPr>
          <p:cNvPr id="10" name="meta_375"/>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5 min   👥 pairs</a:t>
            </a:r>
            <a:endParaRPr lang="en-US" sz="950" dirty="0"/>
          </a:p>
        </p:txBody>
      </p:sp>
      <p:sp>
        <p:nvSpPr>
          <p:cNvPr id="11" name="tag_376"/>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Speaking</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Communicative game</a:t>
            </a:r>
            <a:endParaRPr lang="en-US" sz="850" dirty="0"/>
          </a:p>
        </p:txBody>
      </p:sp>
      <p:pic>
        <p:nvPicPr>
          <p:cNvPr id="12" name="logo_377"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378"/>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2A · Game · in, on, under</a:t>
            </a:r>
            <a:endParaRPr lang="en-US" sz="800" dirty="0"/>
          </a:p>
        </p:txBody>
      </p:sp>
      <p:sp>
        <p:nvSpPr>
          <p:cNvPr id="14" name="cd_379"/>
          <p:cNvSpPr/>
          <p:nvPr/>
        </p:nvSpPr>
        <p:spPr>
          <a:xfrm>
            <a:off x="320040" y="1417320"/>
            <a:ext cx="2697480" cy="2194560"/>
          </a:xfrm>
          <a:prstGeom prst="roundRect">
            <a:avLst>
              <a:gd name="adj" fmla="val 5833"/>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5" name="ii_380"/>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6" name="ih_381"/>
          <p:cNvSpPr/>
          <p:nvPr/>
        </p:nvSpPr>
        <p:spPr>
          <a:xfrm>
            <a:off x="886968" y="1508760"/>
            <a:ext cx="2057400" cy="365760"/>
          </a:xfrm>
          <a:prstGeom prst="rect">
            <a:avLst/>
          </a:prstGeom>
          <a:noFill/>
          <a:ln/>
        </p:spPr>
        <p:txBody>
          <a:bodyPr wrap="square" lIns="0" tIns="0" rIns="0" bIns="0" rtlCol="0" anchor="ct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How to play</a:t>
            </a:r>
            <a:endParaRPr lang="en-US" sz="1400" dirty="0"/>
          </a:p>
        </p:txBody>
      </p:sp>
      <p:sp>
        <p:nvSpPr>
          <p:cNvPr id="17" name="il_382"/>
          <p:cNvSpPr/>
          <p:nvPr/>
        </p:nvSpPr>
        <p:spPr>
          <a:xfrm>
            <a:off x="886968" y="1892808"/>
            <a:ext cx="2039112" cy="1645920"/>
          </a:xfrm>
          <a:prstGeom prst="rect">
            <a:avLst/>
          </a:prstGeom>
          <a:noFill/>
          <a:ln/>
        </p:spPr>
        <p:txBody>
          <a:bodyPr wrap="square" lIns="0" tIns="0" rIns="0" bIns="0" rtlCol="0" anchor="t">
            <a:normAutofit/>
          </a:bodyPr>
          <a:lstStyle/>
          <a:p>
            <a:pPr marL="190500" indent="-190500">
              <a:spcAft>
                <a:spcPts val="200"/>
              </a:spcAft>
              <a:buSzPct val="100000"/>
              <a:buChar char="1"/>
            </a:pPr>
            <a:r>
              <a:rPr lang="en-US" sz="900" dirty="0">
                <a:solidFill>
                  <a:srgbClr val="1B2559"/>
                </a:solidFill>
                <a:latin typeface="Segoe UI" pitchFamily="34" charset="0"/>
                <a:ea typeface="Segoe UI" pitchFamily="34" charset="-122"/>
                <a:cs typeface="Segoe UI" pitchFamily="34" charset="-120"/>
              </a:rPr>
              <a:t>A: choose a place for your phone in the room.</a:t>
            </a:r>
            <a:endParaRPr lang="en-US" sz="900" dirty="0"/>
          </a:p>
          <a:p>
            <a:pPr marL="190500" indent="-190500">
              <a:spcAft>
                <a:spcPts val="200"/>
              </a:spcAft>
              <a:buSzPct val="100000"/>
              <a:buChar char="​"/>
            </a:pPr>
            <a:r>
              <a:rPr lang="en-US" sz="800" i="1" dirty="0">
                <a:solidFill>
                  <a:srgbClr val="5B6785"/>
                </a:solidFill>
                <a:latin typeface="Segoe UI" pitchFamily="34" charset="0"/>
                <a:ea typeface="Segoe UI" pitchFamily="34" charset="-122"/>
                <a:cs typeface="Segoe UI" pitchFamily="34" charset="-120"/>
              </a:rPr>
              <a:t>A: scegli un posto per il telefono nell'aula.</a:t>
            </a:r>
            <a:endParaRPr lang="en-US" sz="900" dirty="0"/>
          </a:p>
          <a:p>
            <a:pPr marL="190500" indent="-190500">
              <a:spcBef>
                <a:spcPts val="500"/>
              </a:spcBef>
              <a:spcAft>
                <a:spcPts val="200"/>
              </a:spcAft>
              <a:buSzPct val="100000"/>
              <a:buChar char="2"/>
            </a:pPr>
            <a:r>
              <a:rPr lang="en-US" sz="900" dirty="0">
                <a:solidFill>
                  <a:srgbClr val="1B2559"/>
                </a:solidFill>
                <a:latin typeface="Segoe UI" pitchFamily="34" charset="0"/>
                <a:ea typeface="Segoe UI" pitchFamily="34" charset="-122"/>
                <a:cs typeface="Segoe UI" pitchFamily="34" charset="-120"/>
              </a:rPr>
              <a:t>B asks: Is it on the table? Is it under the chair?</a:t>
            </a:r>
            <a:endParaRPr lang="en-US" sz="900" dirty="0"/>
          </a:p>
          <a:p>
            <a:pPr marL="190500" indent="-190500">
              <a:spcAft>
                <a:spcPts val="200"/>
              </a:spcAft>
              <a:buSzPct val="100000"/>
              <a:buChar char="​"/>
            </a:pPr>
            <a:r>
              <a:rPr lang="en-US" sz="800" i="1" dirty="0">
                <a:solidFill>
                  <a:srgbClr val="5B6785"/>
                </a:solidFill>
                <a:latin typeface="Segoe UI" pitchFamily="34" charset="0"/>
                <a:ea typeface="Segoe UI" pitchFamily="34" charset="-122"/>
                <a:cs typeface="Segoe UI" pitchFamily="34" charset="-120"/>
              </a:rPr>
              <a:t>B chiede: Is it on the table? Is it under the chair?</a:t>
            </a:r>
            <a:endParaRPr lang="en-US" sz="900" dirty="0"/>
          </a:p>
          <a:p>
            <a:pPr marL="190500" indent="-190500">
              <a:spcBef>
                <a:spcPts val="500"/>
              </a:spcBef>
              <a:spcAft>
                <a:spcPts val="200"/>
              </a:spcAft>
              <a:buSzPct val="100000"/>
              <a:buChar char="3"/>
            </a:pPr>
            <a:r>
              <a:rPr lang="en-US" sz="900" dirty="0">
                <a:solidFill>
                  <a:srgbClr val="1B2559"/>
                </a:solidFill>
                <a:latin typeface="Segoe UI" pitchFamily="34" charset="0"/>
                <a:ea typeface="Segoe UI" pitchFamily="34" charset="-122"/>
                <a:cs typeface="Segoe UI" pitchFamily="34" charset="-120"/>
              </a:rPr>
              <a:t>Found in 5 questions? B wins. Swap.</a:t>
            </a:r>
            <a:endParaRPr lang="en-US" sz="900" dirty="0"/>
          </a:p>
          <a:p>
            <a:pPr marL="190500" indent="-190500">
              <a:spcAft>
                <a:spcPts val="200"/>
              </a:spcAft>
              <a:buSzPct val="100000"/>
              <a:buChar char="​"/>
            </a:pPr>
            <a:r>
              <a:rPr lang="en-US" sz="800" i="1" dirty="0">
                <a:solidFill>
                  <a:srgbClr val="5B6785"/>
                </a:solidFill>
                <a:latin typeface="Segoe UI" pitchFamily="34" charset="0"/>
                <a:ea typeface="Segoe UI" pitchFamily="34" charset="-122"/>
                <a:cs typeface="Segoe UI" pitchFamily="34" charset="-120"/>
              </a:rPr>
              <a:t>Trovato in 5 domande? Vince B. Scambiatevi.</a:t>
            </a:r>
            <a:endParaRPr lang="en-US" sz="900" dirty="0"/>
          </a:p>
        </p:txBody>
      </p:sp>
      <p:sp>
        <p:nvSpPr>
          <p:cNvPr id="18" name="st_383"/>
          <p:cNvSpPr/>
          <p:nvPr/>
        </p:nvSpPr>
        <p:spPr>
          <a:xfrm rot="-180000">
            <a:off x="502920" y="3703320"/>
            <a:ext cx="2286000" cy="777240"/>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TEAM A  ☆☆☆☆☆</a:t>
            </a:r>
            <a:endParaRPr lang="en-US" sz="1250" dirty="0"/>
          </a:p>
          <a:p>
            <a:pPr algn="ctr" indent="0" marL="0">
              <a:buNone/>
            </a:pPr>
            <a:r>
              <a:rPr lang="en-US" sz="1250" dirty="0">
                <a:solidFill>
                  <a:srgbClr val="1B2559"/>
                </a:solidFill>
                <a:latin typeface="Arial Rounded MT Bold" pitchFamily="34" charset="0"/>
                <a:ea typeface="Arial Rounded MT Bold" pitchFamily="34" charset="-122"/>
                <a:cs typeface="Arial Rounded MT Bold" pitchFamily="34" charset="-120"/>
              </a:rPr>
              <a:t>TEAM B  ☆☆☆☆☆</a:t>
            </a:r>
            <a:endParaRPr lang="en-US" sz="1250" dirty="0"/>
          </a:p>
        </p:txBody>
      </p:sp>
      <p:sp>
        <p:nvSpPr>
          <p:cNvPr id="19" name="bd_384"/>
          <p:cNvSpPr/>
          <p:nvPr/>
        </p:nvSpPr>
        <p:spPr>
          <a:xfrm>
            <a:off x="3246120" y="1508760"/>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0" name="gq_385"/>
          <p:cNvSpPr/>
          <p:nvPr/>
        </p:nvSpPr>
        <p:spPr>
          <a:xfrm>
            <a:off x="3657600" y="1417320"/>
            <a:ext cx="2514600" cy="512064"/>
          </a:xfrm>
          <a:prstGeom prst="roundRect">
            <a:avLst>
              <a:gd name="adj" fmla="val 17857"/>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Is it on the table?</a:t>
            </a:r>
            <a:endParaRPr lang="en-US" sz="1100" dirty="0"/>
          </a:p>
        </p:txBody>
      </p:sp>
      <p:sp>
        <p:nvSpPr>
          <p:cNvPr id="21" name="R1_chip386"/>
          <p:cNvSpPr/>
          <p:nvPr/>
        </p:nvSpPr>
        <p:spPr>
          <a:xfrm>
            <a:off x="6263640" y="1417320"/>
            <a:ext cx="2560320" cy="512064"/>
          </a:xfrm>
          <a:prstGeom prst="roundRect">
            <a:avLst>
              <a:gd name="adj" fmla="val 17857"/>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No, it isn't.</a:t>
            </a:r>
            <a:endParaRPr lang="en-US" sz="1100" dirty="0"/>
          </a:p>
        </p:txBody>
      </p:sp>
      <p:sp>
        <p:nvSpPr>
          <p:cNvPr id="22" name="bd_387"/>
          <p:cNvSpPr/>
          <p:nvPr/>
        </p:nvSpPr>
        <p:spPr>
          <a:xfrm>
            <a:off x="3246120" y="2084832"/>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3" name="gq_388"/>
          <p:cNvSpPr/>
          <p:nvPr/>
        </p:nvSpPr>
        <p:spPr>
          <a:xfrm>
            <a:off x="3657600" y="1993392"/>
            <a:ext cx="2514600" cy="512064"/>
          </a:xfrm>
          <a:prstGeom prst="roundRect">
            <a:avLst>
              <a:gd name="adj" fmla="val 17857"/>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Is it under the chair?</a:t>
            </a:r>
            <a:endParaRPr lang="en-US" sz="1100" dirty="0"/>
          </a:p>
        </p:txBody>
      </p:sp>
      <p:sp>
        <p:nvSpPr>
          <p:cNvPr id="24" name="R2_chip389"/>
          <p:cNvSpPr/>
          <p:nvPr/>
        </p:nvSpPr>
        <p:spPr>
          <a:xfrm>
            <a:off x="6263640" y="1993392"/>
            <a:ext cx="2560320" cy="512064"/>
          </a:xfrm>
          <a:prstGeom prst="roundRect">
            <a:avLst>
              <a:gd name="adj" fmla="val 17857"/>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No, it isn't.</a:t>
            </a:r>
            <a:endParaRPr lang="en-US" sz="1100" dirty="0"/>
          </a:p>
        </p:txBody>
      </p:sp>
      <p:sp>
        <p:nvSpPr>
          <p:cNvPr id="25" name="bd_390"/>
          <p:cNvSpPr/>
          <p:nvPr/>
        </p:nvSpPr>
        <p:spPr>
          <a:xfrm>
            <a:off x="3246120" y="2660904"/>
            <a:ext cx="329184" cy="329184"/>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6" name="gq_391"/>
          <p:cNvSpPr/>
          <p:nvPr/>
        </p:nvSpPr>
        <p:spPr>
          <a:xfrm>
            <a:off x="3657600" y="2569464"/>
            <a:ext cx="2514600" cy="512064"/>
          </a:xfrm>
          <a:prstGeom prst="roundRect">
            <a:avLst>
              <a:gd name="adj" fmla="val 17857"/>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Is it in your bag?</a:t>
            </a:r>
            <a:endParaRPr lang="en-US" sz="1100" dirty="0"/>
          </a:p>
        </p:txBody>
      </p:sp>
      <p:sp>
        <p:nvSpPr>
          <p:cNvPr id="27" name="R3_chip392"/>
          <p:cNvSpPr/>
          <p:nvPr/>
        </p:nvSpPr>
        <p:spPr>
          <a:xfrm>
            <a:off x="6263640" y="2569464"/>
            <a:ext cx="2560320" cy="512064"/>
          </a:xfrm>
          <a:prstGeom prst="roundRect">
            <a:avLst>
              <a:gd name="adj" fmla="val 17857"/>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Yes, it is!</a:t>
            </a:r>
            <a:endParaRPr lang="en-US" sz="1100" dirty="0"/>
          </a:p>
        </p:txBody>
      </p:sp>
      <p:sp>
        <p:nvSpPr>
          <p:cNvPr id="28" name="bd_393"/>
          <p:cNvSpPr/>
          <p:nvPr/>
        </p:nvSpPr>
        <p:spPr>
          <a:xfrm>
            <a:off x="3246120" y="3236976"/>
            <a:ext cx="329184" cy="329184"/>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4</a:t>
            </a:r>
            <a:endParaRPr lang="en-US" sz="1100" dirty="0"/>
          </a:p>
        </p:txBody>
      </p:sp>
      <p:sp>
        <p:nvSpPr>
          <p:cNvPr id="29" name="gq_394"/>
          <p:cNvSpPr/>
          <p:nvPr/>
        </p:nvSpPr>
        <p:spPr>
          <a:xfrm>
            <a:off x="3657600" y="3145536"/>
            <a:ext cx="2514600" cy="512064"/>
          </a:xfrm>
          <a:prstGeom prst="roundRect">
            <a:avLst>
              <a:gd name="adj" fmla="val 17857"/>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100" dirty="0">
                <a:solidFill>
                  <a:srgbClr val="1B2559"/>
                </a:solidFill>
                <a:latin typeface="Segoe UI Semibold" pitchFamily="34" charset="0"/>
                <a:ea typeface="Segoe UI Semibold" pitchFamily="34" charset="-122"/>
                <a:cs typeface="Segoe UI Semibold" pitchFamily="34" charset="-120"/>
              </a:rPr>
              <a:t>Round 2: Where are my keys? Are they…?</a:t>
            </a:r>
            <a:endParaRPr lang="en-US" sz="1100" dirty="0"/>
          </a:p>
        </p:txBody>
      </p:sp>
      <p:sp>
        <p:nvSpPr>
          <p:cNvPr id="30" name="R4_chip395"/>
          <p:cNvSpPr/>
          <p:nvPr/>
        </p:nvSpPr>
        <p:spPr>
          <a:xfrm>
            <a:off x="6263640" y="3145536"/>
            <a:ext cx="2560320" cy="512064"/>
          </a:xfrm>
          <a:prstGeom prst="roundRect">
            <a:avLst>
              <a:gd name="adj" fmla="val 17857"/>
            </a:avLst>
          </a:prstGeom>
          <a:solidFill>
            <a:srgbClr val="FFE3EE"/>
          </a:solidFill>
          <a:ln w="19050">
            <a:solidFill>
              <a:srgbClr val="E8508F"/>
            </a:solidFill>
          </a:ln>
        </p:spPr>
        <p:txBody>
          <a:bodyPr wrap="square" lIns="101600" tIns="0" rIns="101600" bIns="0" rtlCol="0" anchor="ctr">
            <a:normAutofit/>
          </a:bodyPr>
          <a:lstStyle/>
          <a:p>
            <a:pPr algn="l" indent="0" marL="0">
              <a:buNone/>
            </a:pPr>
            <a:r>
              <a:rPr lang="en-US" sz="1100" b="1" dirty="0">
                <a:solidFill>
                  <a:srgbClr val="1B2559"/>
                </a:solidFill>
                <a:latin typeface="Segoe UI Semibold" pitchFamily="34" charset="0"/>
                <a:ea typeface="Segoe UI Semibold" pitchFamily="34" charset="-122"/>
                <a:cs typeface="Segoe UI Semibold" pitchFamily="34" charset="-120"/>
              </a:rPr>
              <a:t>→ No, they aren't. / Yes, they are!</a:t>
            </a:r>
            <a:endParaRPr lang="en-US" sz="11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4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fade">
                                      <p:cBhvr>
                                        <p:cTn id="12" dur="4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400"/>
                                        <p:tgtEl>
                                          <p:spTgt spid="2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0"/>
                                        </p:tgtEl>
                                        <p:attrNameLst>
                                          <p:attrName>style.visibility</p:attrName>
                                        </p:attrNameLst>
                                      </p:cBhvr>
                                      <p:to>
                                        <p:strVal val="visible"/>
                                      </p:to>
                                    </p:set>
                                    <p:animEffect transition="in" filter="fade">
                                      <p:cBhvr>
                                        <p:cTn id="22"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396"/>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14</a:t>
            </a:r>
            <a:endParaRPr lang="en-US" sz="2200" dirty="0"/>
          </a:p>
        </p:txBody>
      </p:sp>
      <p:pic>
        <p:nvPicPr>
          <p:cNvPr id="4" name="brY_397" descr="/home/claude/lls-course/v2/assets/brush-yellow.png">    </p:cNvPr>
          <p:cNvPicPr>
            <a:picLocks noChangeAspect="1"/>
          </p:cNvPicPr>
          <p:nvPr/>
        </p:nvPicPr>
        <p:blipFill>
          <a:blip r:embed="rId2"/>
          <a:stretch>
            <a:fillRect/>
          </a:stretch>
        </p:blipFill>
        <p:spPr>
          <a:xfrm>
            <a:off x="1097280" y="146304"/>
            <a:ext cx="5135270" cy="621792"/>
          </a:xfrm>
          <a:prstGeom prst="rect">
            <a:avLst/>
          </a:prstGeom>
        </p:spPr>
      </p:pic>
      <p:sp>
        <p:nvSpPr>
          <p:cNvPr id="5" name="title_398"/>
          <p:cNvSpPr/>
          <p:nvPr/>
        </p:nvSpPr>
        <p:spPr>
          <a:xfrm>
            <a:off x="1261872" y="164592"/>
            <a:ext cx="4860950"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Where are Anna's sunglasses?</a:t>
            </a:r>
            <a:endParaRPr lang="en-US" sz="2400" dirty="0"/>
          </a:p>
        </p:txBody>
      </p:sp>
      <p:pic>
        <p:nvPicPr>
          <p:cNvPr id="6" name="brP_399" descr="/home/claude/lls-course/v2/assets/brush-pink.png">    </p:cNvPr>
          <p:cNvPicPr>
            <a:picLocks noChangeAspect="1"/>
          </p:cNvPicPr>
          <p:nvPr/>
        </p:nvPicPr>
        <p:blipFill>
          <a:blip r:embed="rId3"/>
          <a:stretch>
            <a:fillRect/>
          </a:stretch>
        </p:blipFill>
        <p:spPr>
          <a:xfrm>
            <a:off x="1207008" y="731520"/>
            <a:ext cx="5943600" cy="402336"/>
          </a:xfrm>
          <a:prstGeom prst="rect">
            <a:avLst/>
          </a:prstGeom>
        </p:spPr>
      </p:pic>
      <p:sp>
        <p:nvSpPr>
          <p:cNvPr id="7" name="ins_400"/>
          <p:cNvSpPr/>
          <p:nvPr/>
        </p:nvSpPr>
        <p:spPr>
          <a:xfrm>
            <a:off x="1353312" y="731520"/>
            <a:ext cx="5687568"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Change the story! New person, new things. Tell your partner.</a:t>
            </a:r>
            <a:endParaRPr lang="en-US" sz="1250" dirty="0"/>
          </a:p>
        </p:txBody>
      </p:sp>
      <p:sp>
        <p:nvSpPr>
          <p:cNvPr id="8" name="insIT_401"/>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Cambia la storia! Nuova persona, nuove cose. Raccontala al compagno.</a:t>
            </a:r>
            <a:endParaRPr lang="en-US" sz="950" dirty="0"/>
          </a:p>
        </p:txBody>
      </p:sp>
      <p:sp>
        <p:nvSpPr>
          <p:cNvPr id="9" name="cmd_402"/>
          <p:cNvSpPr/>
          <p:nvPr/>
        </p:nvSpPr>
        <p:spPr>
          <a:xfrm>
            <a:off x="6510528" y="182880"/>
            <a:ext cx="1901952" cy="329184"/>
          </a:xfrm>
          <a:prstGeom prst="roundRect">
            <a:avLst>
              <a:gd name="adj" fmla="val 50000"/>
            </a:avLst>
          </a:prstGeom>
          <a:solidFill>
            <a:srgbClr val="FFFFFF"/>
          </a:solidFill>
          <a:ln w="25400">
            <a:solidFill>
              <a:srgbClr val="F7A6C4"/>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800" dirty="0">
                <a:solidFill>
                  <a:srgbClr val="000000"/>
                </a:solidFill>
              </a:rPr>
              <a:t>🔁 </a:t>
            </a:r>
            <a:pPr indent="0" marL="0">
              <a:buNone/>
            </a:pPr>
            <a:r>
              <a:rPr lang="en-US" sz="900" dirty="0">
                <a:solidFill>
                  <a:srgbClr val="E8508F"/>
                </a:solidFill>
                <a:latin typeface="Arial Rounded MT Bold" pitchFamily="34" charset="0"/>
                <a:ea typeface="Arial Rounded MT Bold" pitchFamily="34" charset="-122"/>
                <a:cs typeface="Arial Rounded MT Bold" pitchFamily="34" charset="-120"/>
              </a:rPr>
              <a:t>CHANGE THE WORD</a:t>
            </a:r>
            <a:pPr indent="0" marL="0">
              <a:buNone/>
            </a:pPr>
            <a:r>
              <a:rPr lang="en-US" sz="700" dirty="0">
                <a:solidFill>
                  <a:srgbClr val="5B6785"/>
                </a:solidFill>
                <a:latin typeface="Segoe UI Semibold" pitchFamily="34" charset="0"/>
                <a:ea typeface="Segoe UI Semibold" pitchFamily="34" charset="-122"/>
                <a:cs typeface="Segoe UI Semibold" pitchFamily="34" charset="-120"/>
              </a:rPr>
              <a:t>  CAMBIA</a:t>
            </a:r>
            <a:endParaRPr lang="en-US" sz="800" dirty="0"/>
          </a:p>
        </p:txBody>
      </p:sp>
      <p:sp>
        <p:nvSpPr>
          <p:cNvPr id="10" name="cmd_403"/>
          <p:cNvSpPr/>
          <p:nvPr/>
        </p:nvSpPr>
        <p:spPr>
          <a:xfrm>
            <a:off x="6510528" y="566928"/>
            <a:ext cx="1901952" cy="329184"/>
          </a:xfrm>
          <a:prstGeom prst="roundRect">
            <a:avLst>
              <a:gd name="adj" fmla="val 50000"/>
            </a:avLst>
          </a:prstGeom>
          <a:solidFill>
            <a:srgbClr val="FFFFFF"/>
          </a:solidFill>
          <a:ln w="25400">
            <a:solidFill>
              <a:srgbClr val="F7A6C4"/>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E8508F"/>
                </a:solidFill>
                <a:latin typeface="Arial Rounded MT Bold" pitchFamily="34" charset="0"/>
                <a:ea typeface="Arial Rounded MT Bold" pitchFamily="34" charset="-122"/>
                <a:cs typeface="Arial Rounded MT Bold" pitchFamily="34" charset="-120"/>
              </a:rPr>
              <a:t>TALK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PARLA</a:t>
            </a:r>
            <a:endParaRPr lang="en-US" sz="1100" dirty="0"/>
          </a:p>
        </p:txBody>
      </p:sp>
      <p:sp>
        <p:nvSpPr>
          <p:cNvPr id="11" name="meta_404"/>
          <p:cNvSpPr/>
          <p:nvPr/>
        </p:nvSpPr>
        <p:spPr>
          <a:xfrm>
            <a:off x="6583680" y="950976"/>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5 min   👥 pairs</a:t>
            </a:r>
            <a:endParaRPr lang="en-US" sz="950" dirty="0"/>
          </a:p>
        </p:txBody>
      </p:sp>
      <p:pic>
        <p:nvPicPr>
          <p:cNvPr id="12" name="logo_405"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406"/>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2A · Transform · your story</a:t>
            </a:r>
            <a:endParaRPr lang="en-US" sz="800" dirty="0"/>
          </a:p>
        </p:txBody>
      </p:sp>
      <p:sp>
        <p:nvSpPr>
          <p:cNvPr id="14" name="cd_407"/>
          <p:cNvSpPr/>
          <p:nvPr/>
        </p:nvSpPr>
        <p:spPr>
          <a:xfrm>
            <a:off x="320040" y="1417320"/>
            <a:ext cx="2697480" cy="1097280"/>
          </a:xfrm>
          <a:prstGeom prst="roundRect">
            <a:avLst>
              <a:gd name="adj" fmla="val 11667"/>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5" name="ii_408"/>
          <p:cNvSpPr/>
          <p:nvPr/>
        </p:nvSpPr>
        <p:spPr>
          <a:xfrm>
            <a:off x="41148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6" name="ih_409"/>
          <p:cNvSpPr/>
          <p:nvPr/>
        </p:nvSpPr>
        <p:spPr>
          <a:xfrm>
            <a:off x="886968" y="1508760"/>
            <a:ext cx="205740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Example</a:t>
            </a:r>
            <a:endParaRPr lang="en-US" sz="1300" dirty="0"/>
          </a:p>
        </p:txBody>
      </p:sp>
      <p:sp>
        <p:nvSpPr>
          <p:cNvPr id="17" name="il_410"/>
          <p:cNvSpPr/>
          <p:nvPr/>
        </p:nvSpPr>
        <p:spPr>
          <a:xfrm>
            <a:off x="886968" y="1892808"/>
            <a:ext cx="2039112" cy="54864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050" dirty="0">
                <a:solidFill>
                  <a:srgbClr val="1B2559"/>
                </a:solidFill>
                <a:latin typeface="Segoe UI" pitchFamily="34" charset="0"/>
                <a:ea typeface="Segoe UI" pitchFamily="34" charset="-122"/>
                <a:cs typeface="Segoe UI" pitchFamily="34" charset="-120"/>
              </a:rPr>
              <a:t>0  Anna is very untidy. Where are her sunglasses? They aren't in her bag…</a:t>
            </a:r>
            <a:endParaRPr lang="en-US" sz="1050" dirty="0"/>
          </a:p>
        </p:txBody>
      </p:sp>
      <p:sp>
        <p:nvSpPr>
          <p:cNvPr id="18" name="pf_411"/>
          <p:cNvSpPr/>
          <p:nvPr/>
        </p:nvSpPr>
        <p:spPr>
          <a:xfrm rot="-90000">
            <a:off x="365760" y="2697480"/>
            <a:ext cx="2606040" cy="1965960"/>
          </a:xfrm>
          <a:prstGeom prst="roundRect">
            <a:avLst>
              <a:gd name="adj" fmla="val 7907"/>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9" name="ph_412" descr="/home/claude/lls-course/v2/cache/red_2a_rooms_jpg_605x451_31.png">    </p:cNvPr>
          <p:cNvPicPr>
            <a:picLocks noChangeAspect="1"/>
          </p:cNvPicPr>
          <p:nvPr/>
        </p:nvPicPr>
        <p:blipFill>
          <a:blip r:embed="rId5"/>
          <a:stretch>
            <a:fillRect/>
          </a:stretch>
        </p:blipFill>
        <p:spPr>
          <a:xfrm rot="-90000">
            <a:off x="411480" y="2743200"/>
            <a:ext cx="2514600" cy="1874520"/>
          </a:xfrm>
          <a:prstGeom prst="rect">
            <a:avLst/>
          </a:prstGeom>
        </p:spPr>
      </p:pic>
      <p:sp>
        <p:nvSpPr>
          <p:cNvPr id="20" name="bd_413"/>
          <p:cNvSpPr/>
          <p:nvPr/>
        </p:nvSpPr>
        <p:spPr>
          <a:xfrm>
            <a:off x="3246120" y="1490472"/>
            <a:ext cx="310896" cy="310896"/>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1</a:t>
            </a:r>
            <a:endParaRPr lang="en-US" sz="1000" dirty="0"/>
          </a:p>
        </p:txBody>
      </p:sp>
      <p:sp>
        <p:nvSpPr>
          <p:cNvPr id="21" name="q_414"/>
          <p:cNvSpPr/>
          <p:nvPr/>
        </p:nvSpPr>
        <p:spPr>
          <a:xfrm>
            <a:off x="3630168" y="1417320"/>
            <a:ext cx="2103120" cy="457200"/>
          </a:xfrm>
          <a:prstGeom prst="roundRect">
            <a:avLst>
              <a:gd name="adj" fmla="val 20000"/>
            </a:avLst>
          </a:prstGeom>
          <a:solidFill>
            <a:srgbClr val="FFFFFF"/>
          </a:solidFill>
          <a:ln w="19050">
            <a:solidFill>
              <a:srgbClr val="F7A6C4"/>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Who? (Tom → ?)</a:t>
            </a:r>
            <a:endParaRPr lang="en-US" sz="1150" dirty="0"/>
          </a:p>
        </p:txBody>
      </p:sp>
      <p:sp>
        <p:nvSpPr>
          <p:cNvPr id="22" name="R1_chip415"/>
          <p:cNvSpPr/>
          <p:nvPr/>
        </p:nvSpPr>
        <p:spPr>
          <a:xfrm>
            <a:off x="5806440" y="1417320"/>
            <a:ext cx="3063240" cy="457200"/>
          </a:xfrm>
          <a:prstGeom prst="roundRect">
            <a:avLst>
              <a:gd name="adj" fmla="val 20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Anna / my brother / my teacher…</a:t>
            </a:r>
            <a:endParaRPr lang="en-US" sz="1000" dirty="0"/>
          </a:p>
        </p:txBody>
      </p:sp>
      <p:sp>
        <p:nvSpPr>
          <p:cNvPr id="23" name="bd_416"/>
          <p:cNvSpPr/>
          <p:nvPr/>
        </p:nvSpPr>
        <p:spPr>
          <a:xfrm>
            <a:off x="3246120" y="1993392"/>
            <a:ext cx="310896" cy="310896"/>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2</a:t>
            </a:r>
            <a:endParaRPr lang="en-US" sz="1000" dirty="0"/>
          </a:p>
        </p:txBody>
      </p:sp>
      <p:sp>
        <p:nvSpPr>
          <p:cNvPr id="24" name="q_417"/>
          <p:cNvSpPr/>
          <p:nvPr/>
        </p:nvSpPr>
        <p:spPr>
          <a:xfrm>
            <a:off x="3630168" y="1920240"/>
            <a:ext cx="2103120" cy="457200"/>
          </a:xfrm>
          <a:prstGeom prst="roundRect">
            <a:avLst>
              <a:gd name="adj" fmla="val 20000"/>
            </a:avLst>
          </a:prstGeom>
          <a:solidFill>
            <a:srgbClr val="FFFFFF"/>
          </a:solidFill>
          <a:ln w="19050">
            <a:solidFill>
              <a:srgbClr val="A9D3F5"/>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What is lost? (keys → ?)</a:t>
            </a:r>
            <a:endParaRPr lang="en-US" sz="1150" dirty="0"/>
          </a:p>
        </p:txBody>
      </p:sp>
      <p:sp>
        <p:nvSpPr>
          <p:cNvPr id="25" name="R2_chip418"/>
          <p:cNvSpPr/>
          <p:nvPr/>
        </p:nvSpPr>
        <p:spPr>
          <a:xfrm>
            <a:off x="5806440" y="1920240"/>
            <a:ext cx="3063240" cy="457200"/>
          </a:xfrm>
          <a:prstGeom prst="roundRect">
            <a:avLst>
              <a:gd name="adj" fmla="val 20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her sunglasses / his phone / my charger</a:t>
            </a:r>
            <a:endParaRPr lang="en-US" sz="1000" dirty="0"/>
          </a:p>
        </p:txBody>
      </p:sp>
      <p:sp>
        <p:nvSpPr>
          <p:cNvPr id="26" name="bd_419"/>
          <p:cNvSpPr/>
          <p:nvPr/>
        </p:nvSpPr>
        <p:spPr>
          <a:xfrm>
            <a:off x="3246120" y="2496312"/>
            <a:ext cx="310896" cy="310896"/>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3</a:t>
            </a:r>
            <a:endParaRPr lang="en-US" sz="1000" dirty="0"/>
          </a:p>
        </p:txBody>
      </p:sp>
      <p:sp>
        <p:nvSpPr>
          <p:cNvPr id="27" name="q_420"/>
          <p:cNvSpPr/>
          <p:nvPr/>
        </p:nvSpPr>
        <p:spPr>
          <a:xfrm>
            <a:off x="3630168" y="2423160"/>
            <a:ext cx="2103120" cy="457200"/>
          </a:xfrm>
          <a:prstGeom prst="roundRect">
            <a:avLst>
              <a:gd name="adj" fmla="val 20000"/>
            </a:avLst>
          </a:prstGeom>
          <a:solidFill>
            <a:srgbClr val="FFFFFF"/>
          </a:solidFill>
          <a:ln w="19050">
            <a:solidFill>
              <a:srgbClr val="A8E5BE"/>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3 places where it ISN'T</a:t>
            </a:r>
            <a:endParaRPr lang="en-US" sz="1150" dirty="0"/>
          </a:p>
        </p:txBody>
      </p:sp>
      <p:sp>
        <p:nvSpPr>
          <p:cNvPr id="28" name="R3_chip421"/>
          <p:cNvSpPr/>
          <p:nvPr/>
        </p:nvSpPr>
        <p:spPr>
          <a:xfrm>
            <a:off x="5806440" y="2423160"/>
            <a:ext cx="3063240" cy="457200"/>
          </a:xfrm>
          <a:prstGeom prst="roundRect">
            <a:avLst>
              <a:gd name="adj" fmla="val 20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It isn't in… / They aren't on…</a:t>
            </a:r>
            <a:endParaRPr lang="en-US" sz="1000" dirty="0"/>
          </a:p>
        </p:txBody>
      </p:sp>
      <p:sp>
        <p:nvSpPr>
          <p:cNvPr id="29" name="bd_422"/>
          <p:cNvSpPr/>
          <p:nvPr/>
        </p:nvSpPr>
        <p:spPr>
          <a:xfrm>
            <a:off x="3246120" y="2999232"/>
            <a:ext cx="310896" cy="310896"/>
          </a:xfrm>
          <a:prstGeom prst="ellipse">
            <a:avLst/>
          </a:prstGeom>
          <a:solidFill>
            <a:srgbClr val="F2B705"/>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000" dirty="0">
                <a:solidFill>
                  <a:srgbClr val="FFFFFF"/>
                </a:solidFill>
                <a:latin typeface="Arial Rounded MT Bold" pitchFamily="34" charset="0"/>
                <a:ea typeface="Arial Rounded MT Bold" pitchFamily="34" charset="-122"/>
                <a:cs typeface="Arial Rounded MT Bold" pitchFamily="34" charset="-120"/>
              </a:rPr>
              <a:t>4</a:t>
            </a:r>
            <a:endParaRPr lang="en-US" sz="1000" dirty="0"/>
          </a:p>
        </p:txBody>
      </p:sp>
      <p:sp>
        <p:nvSpPr>
          <p:cNvPr id="30" name="q_423"/>
          <p:cNvSpPr/>
          <p:nvPr/>
        </p:nvSpPr>
        <p:spPr>
          <a:xfrm>
            <a:off x="3630168" y="2926080"/>
            <a:ext cx="2103120" cy="457200"/>
          </a:xfrm>
          <a:prstGeom prst="roundRect">
            <a:avLst>
              <a:gd name="adj" fmla="val 20000"/>
            </a:avLst>
          </a:prstGeom>
          <a:solidFill>
            <a:srgbClr val="FFFFFF"/>
          </a:solidFill>
          <a:ln w="19050">
            <a:solidFill>
              <a:srgbClr val="FFE07A"/>
            </a:solidFill>
          </a:ln>
        </p:spPr>
        <p:txBody>
          <a:bodyPr wrap="square" lIns="101600" tIns="0" rIns="101600" bIns="0" rtlCol="0" anchor="ctr">
            <a:normAutofit/>
          </a:bodyPr>
          <a:lstStyle/>
          <a:p>
            <a:pPr indent="0" marL="0">
              <a:buNone/>
            </a:pPr>
            <a:r>
              <a:rPr lang="en-US" sz="1150" b="1" dirty="0">
                <a:solidFill>
                  <a:srgbClr val="1B2559"/>
                </a:solidFill>
                <a:latin typeface="Segoe UI Semibold" pitchFamily="34" charset="0"/>
                <a:ea typeface="Segoe UI Semibold" pitchFamily="34" charset="-122"/>
                <a:cs typeface="Segoe UI Semibold" pitchFamily="34" charset="-120"/>
              </a:rPr>
              <a:t>Where is it in the end?</a:t>
            </a:r>
            <a:endParaRPr lang="en-US" sz="1150" dirty="0"/>
          </a:p>
        </p:txBody>
      </p:sp>
      <p:sp>
        <p:nvSpPr>
          <p:cNvPr id="31" name="R4_chip424"/>
          <p:cNvSpPr/>
          <p:nvPr/>
        </p:nvSpPr>
        <p:spPr>
          <a:xfrm>
            <a:off x="5806440" y="2926080"/>
            <a:ext cx="3063240" cy="457200"/>
          </a:xfrm>
          <a:prstGeom prst="roundRect">
            <a:avLst>
              <a:gd name="adj" fmla="val 20000"/>
            </a:avLst>
          </a:prstGeom>
          <a:solidFill>
            <a:srgbClr val="E3F7EA"/>
          </a:solidFill>
          <a:ln w="19050">
            <a:solidFill>
              <a:srgbClr val="2EB872"/>
            </a:solidFill>
          </a:ln>
        </p:spPr>
        <p:txBody>
          <a:bodyPr wrap="square" lIns="101600" tIns="0" rIns="101600" bIns="0" rtlCol="0" anchor="ctr">
            <a:normAutofit/>
          </a:bodyPr>
          <a:lstStyle/>
          <a:p>
            <a:pPr algn="l" indent="0" marL="0">
              <a:buNone/>
            </a:pPr>
            <a:r>
              <a:rPr lang="en-US" sz="1000" b="1" dirty="0">
                <a:solidFill>
                  <a:srgbClr val="1B2559"/>
                </a:solidFill>
                <a:latin typeface="Segoe UI Semibold" pitchFamily="34" charset="0"/>
                <a:ea typeface="Segoe UI Semibold" pitchFamily="34" charset="-122"/>
                <a:cs typeface="Segoe UI Semibold" pitchFamily="34" charset="-120"/>
              </a:rPr>
              <a:t>They're under the dog! 🐕</a:t>
            </a:r>
            <a:endParaRPr lang="en-US" sz="10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4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fade">
                                      <p:cBhvr>
                                        <p:cTn id="12" dur="4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8"/>
                                        </p:tgtEl>
                                        <p:attrNameLst>
                                          <p:attrName>style.visibility</p:attrName>
                                        </p:attrNameLst>
                                      </p:cBhvr>
                                      <p:to>
                                        <p:strVal val="visible"/>
                                      </p:to>
                                    </p:set>
                                    <p:animEffect transition="in" filter="fade">
                                      <p:cBhvr>
                                        <p:cTn id="17" dur="400"/>
                                        <p:tgtEl>
                                          <p:spTgt spid="28"/>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fade">
                                      <p:cBhvr>
                                        <p:cTn id="22"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425"/>
          <p:cNvSpPr/>
          <p:nvPr/>
        </p:nvSpPr>
        <p:spPr>
          <a:xfrm>
            <a:off x="201168" y="164592"/>
            <a:ext cx="841248" cy="841248"/>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15</a:t>
            </a:r>
            <a:endParaRPr lang="en-US" sz="2200" dirty="0"/>
          </a:p>
        </p:txBody>
      </p:sp>
      <p:pic>
        <p:nvPicPr>
          <p:cNvPr id="4" name="brY_426" descr="/home/claude/lls-course/v2/assets/brush-yellow.png">    </p:cNvPr>
          <p:cNvPicPr>
            <a:picLocks noChangeAspect="1"/>
          </p:cNvPicPr>
          <p:nvPr/>
        </p:nvPicPr>
        <p:blipFill>
          <a:blip r:embed="rId2"/>
          <a:stretch>
            <a:fillRect/>
          </a:stretch>
        </p:blipFill>
        <p:spPr>
          <a:xfrm>
            <a:off x="1097280" y="146304"/>
            <a:ext cx="3090672" cy="621792"/>
          </a:xfrm>
          <a:prstGeom prst="rect">
            <a:avLst/>
          </a:prstGeom>
        </p:spPr>
      </p:pic>
      <p:sp>
        <p:nvSpPr>
          <p:cNvPr id="5" name="title_427"/>
          <p:cNvSpPr/>
          <p:nvPr/>
        </p:nvSpPr>
        <p:spPr>
          <a:xfrm>
            <a:off x="1261872" y="164592"/>
            <a:ext cx="2816352"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My bag, my desk</a:t>
            </a:r>
            <a:endParaRPr lang="en-US" sz="2500" dirty="0"/>
          </a:p>
        </p:txBody>
      </p:sp>
      <p:pic>
        <p:nvPicPr>
          <p:cNvPr id="6" name="brP_428" descr="/home/claude/lls-course/v2/assets/brush-pink.png">    </p:cNvPr>
          <p:cNvPicPr>
            <a:picLocks noChangeAspect="1"/>
          </p:cNvPicPr>
          <p:nvPr/>
        </p:nvPicPr>
        <p:blipFill>
          <a:blip r:embed="rId3"/>
          <a:stretch>
            <a:fillRect/>
          </a:stretch>
        </p:blipFill>
        <p:spPr>
          <a:xfrm>
            <a:off x="1207008" y="731520"/>
            <a:ext cx="5856732" cy="402336"/>
          </a:xfrm>
          <a:prstGeom prst="rect">
            <a:avLst/>
          </a:prstGeom>
        </p:spPr>
      </p:pic>
      <p:sp>
        <p:nvSpPr>
          <p:cNvPr id="7" name="ins_429"/>
          <p:cNvSpPr/>
          <p:nvPr/>
        </p:nvSpPr>
        <p:spPr>
          <a:xfrm>
            <a:off x="1353312" y="731520"/>
            <a:ext cx="5600700"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Tell your partner: 5 things in your bag and where they are.</a:t>
            </a:r>
            <a:endParaRPr lang="en-US" sz="1250" dirty="0"/>
          </a:p>
        </p:txBody>
      </p:sp>
      <p:sp>
        <p:nvSpPr>
          <p:cNvPr id="8" name="insIT_430"/>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Di' al compagno: 5 cose nella tua borsa e dove sono.</a:t>
            </a:r>
            <a:endParaRPr lang="en-US" sz="950" dirty="0"/>
          </a:p>
        </p:txBody>
      </p:sp>
      <p:sp>
        <p:nvSpPr>
          <p:cNvPr id="9" name="cmd_431"/>
          <p:cNvSpPr/>
          <p:nvPr/>
        </p:nvSpPr>
        <p:spPr>
          <a:xfrm>
            <a:off x="6510528" y="182880"/>
            <a:ext cx="1901952" cy="329184"/>
          </a:xfrm>
          <a:prstGeom prst="roundRect">
            <a:avLst>
              <a:gd name="adj" fmla="val 50000"/>
            </a:avLst>
          </a:prstGeom>
          <a:solidFill>
            <a:srgbClr val="FFFFFF"/>
          </a:solidFill>
          <a:ln w="25400">
            <a:solidFill>
              <a:srgbClr val="F7A6C4"/>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E8508F"/>
                </a:solidFill>
                <a:latin typeface="Arial Rounded MT Bold" pitchFamily="34" charset="0"/>
                <a:ea typeface="Arial Rounded MT Bold" pitchFamily="34" charset="-122"/>
                <a:cs typeface="Arial Rounded MT Bold" pitchFamily="34" charset="-120"/>
              </a:rPr>
              <a:t>TALK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PARLA</a:t>
            </a:r>
            <a:endParaRPr lang="en-US" sz="1100" dirty="0"/>
          </a:p>
        </p:txBody>
      </p:sp>
      <p:sp>
        <p:nvSpPr>
          <p:cNvPr id="10" name="meta_432"/>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5 min   👥 pairs</a:t>
            </a:r>
            <a:endParaRPr lang="en-US" sz="950" dirty="0"/>
          </a:p>
        </p:txBody>
      </p:sp>
      <p:sp>
        <p:nvSpPr>
          <p:cNvPr id="11" name="tag_433"/>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Writing</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Communicative</a:t>
            </a:r>
            <a:endParaRPr lang="en-US" sz="850" dirty="0"/>
          </a:p>
        </p:txBody>
      </p:sp>
      <p:pic>
        <p:nvPicPr>
          <p:cNvPr id="12" name="logo_434"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435"/>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2A · Speaking + writing · your bag</a:t>
            </a:r>
            <a:endParaRPr lang="en-US" sz="800" dirty="0"/>
          </a:p>
        </p:txBody>
      </p:sp>
      <p:sp>
        <p:nvSpPr>
          <p:cNvPr id="14" name="pf_436"/>
          <p:cNvSpPr/>
          <p:nvPr/>
        </p:nvSpPr>
        <p:spPr>
          <a:xfrm rot="-120000">
            <a:off x="320040" y="1371600"/>
            <a:ext cx="2788920" cy="1874520"/>
          </a:xfrm>
          <a:prstGeom prst="roundRect">
            <a:avLst>
              <a:gd name="adj" fmla="val 8293"/>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5" name="ph_437" descr="/home/claude/lls-course/v2/cache/red_2a_deskbag_jpg_649x429_31.png">    </p:cNvPr>
          <p:cNvPicPr>
            <a:picLocks noChangeAspect="1"/>
          </p:cNvPicPr>
          <p:nvPr/>
        </p:nvPicPr>
        <p:blipFill>
          <a:blip r:embed="rId5"/>
          <a:stretch>
            <a:fillRect/>
          </a:stretch>
        </p:blipFill>
        <p:spPr>
          <a:xfrm rot="-120000">
            <a:off x="365760" y="1417320"/>
            <a:ext cx="2697480" cy="1783080"/>
          </a:xfrm>
          <a:prstGeom prst="rect">
            <a:avLst/>
          </a:prstGeom>
        </p:spPr>
      </p:pic>
      <p:sp>
        <p:nvSpPr>
          <p:cNvPr id="16" name="cd_438"/>
          <p:cNvSpPr/>
          <p:nvPr/>
        </p:nvSpPr>
        <p:spPr>
          <a:xfrm>
            <a:off x="320040" y="3429000"/>
            <a:ext cx="2788920" cy="1325880"/>
          </a:xfrm>
          <a:prstGeom prst="roundRect">
            <a:avLst>
              <a:gd name="adj" fmla="val 9655"/>
            </a:avLst>
          </a:prstGeom>
          <a:solidFill>
            <a:srgbClr val="EEE8FB"/>
          </a:solidFill>
          <a:ln w="19050">
            <a:solidFill>
              <a:srgbClr val="CDBFF3"/>
            </a:solidFill>
            <a:prstDash val="solid"/>
          </a:ln>
          <a:effectLst>
            <a:outerShdw sx="100000" sy="100000" kx="0" ky="0" algn="bl" rotWithShape="0" blurRad="88900" dist="31750" dir="5400000">
              <a:srgbClr val="1B2559">
                <a:alpha val="12000"/>
              </a:srgbClr>
            </a:outerShdw>
          </a:effectLst>
        </p:spPr>
      </p:sp>
      <p:sp>
        <p:nvSpPr>
          <p:cNvPr id="17" name="ii_439"/>
          <p:cNvSpPr/>
          <p:nvPr/>
        </p:nvSpPr>
        <p:spPr>
          <a:xfrm>
            <a:off x="411480" y="350215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8" name="ih_440"/>
          <p:cNvSpPr/>
          <p:nvPr/>
        </p:nvSpPr>
        <p:spPr>
          <a:xfrm>
            <a:off x="886968" y="3520440"/>
            <a:ext cx="214884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Useful phrases</a:t>
            </a:r>
            <a:endParaRPr lang="en-US" sz="1300" dirty="0"/>
          </a:p>
        </p:txBody>
      </p:sp>
      <p:sp>
        <p:nvSpPr>
          <p:cNvPr id="19" name="il_441"/>
          <p:cNvSpPr/>
          <p:nvPr/>
        </p:nvSpPr>
        <p:spPr>
          <a:xfrm>
            <a:off x="886968" y="3904488"/>
            <a:ext cx="2130552" cy="777240"/>
          </a:xfrm>
          <a:prstGeom prst="rect">
            <a:avLst/>
          </a:prstGeom>
          <a:noFill/>
          <a:ln/>
        </p:spPr>
        <p:txBody>
          <a:bodyPr wrap="square" lIns="0" tIns="0" rIns="0" bIns="0" rtlCol="0" anchor="t">
            <a:normAutofit/>
          </a:bodyPr>
          <a:lstStyle/>
          <a:p>
            <a:pPr marL="152400" indent="-152400">
              <a:spcAft>
                <a:spcPts val="200"/>
              </a:spcAft>
              <a:buSzPct val="100000"/>
              <a:buChar char="•"/>
            </a:pPr>
            <a:r>
              <a:rPr lang="en-US" sz="950" dirty="0">
                <a:solidFill>
                  <a:srgbClr val="1B2559"/>
                </a:solidFill>
                <a:latin typeface="Segoe UI" pitchFamily="34" charset="0"/>
                <a:ea typeface="Segoe UI" pitchFamily="34" charset="-122"/>
                <a:cs typeface="Segoe UI" pitchFamily="34" charset="-120"/>
              </a:rPr>
              <a:t>In my bag I have a…, two…</a:t>
            </a:r>
            <a:endParaRPr lang="en-US" sz="950" dirty="0"/>
          </a:p>
          <a:p>
            <a:pPr marL="152400" indent="-152400">
              <a:spcBef>
                <a:spcPts val="500"/>
              </a:spcBef>
              <a:spcAft>
                <a:spcPts val="200"/>
              </a:spcAft>
              <a:buSzPct val="100000"/>
              <a:buChar char="•"/>
            </a:pPr>
            <a:r>
              <a:rPr lang="en-US" sz="950" dirty="0">
                <a:solidFill>
                  <a:srgbClr val="1B2559"/>
                </a:solidFill>
                <a:latin typeface="Segoe UI" pitchFamily="34" charset="0"/>
                <a:ea typeface="Segoe UI" pitchFamily="34" charset="-122"/>
                <a:cs typeface="Segoe UI" pitchFamily="34" charset="-120"/>
              </a:rPr>
              <a:t>My keys are in… · My phone is on…</a:t>
            </a:r>
            <a:endParaRPr lang="en-US" sz="950" dirty="0"/>
          </a:p>
          <a:p>
            <a:pPr marL="152400" indent="-152400">
              <a:spcBef>
                <a:spcPts val="500"/>
              </a:spcBef>
              <a:spcAft>
                <a:spcPts val="200"/>
              </a:spcAft>
              <a:buSzPct val="100000"/>
              <a:buChar char="•"/>
            </a:pPr>
            <a:r>
              <a:rPr lang="en-US" sz="950" dirty="0">
                <a:solidFill>
                  <a:srgbClr val="1B2559"/>
                </a:solidFill>
                <a:latin typeface="Segoe UI" pitchFamily="34" charset="0"/>
                <a:ea typeface="Segoe UI" pitchFamily="34" charset="-122"/>
                <a:cs typeface="Segoe UI" pitchFamily="34" charset="-120"/>
              </a:rPr>
              <a:t>I always lose my…!</a:t>
            </a:r>
            <a:endParaRPr lang="en-US" sz="950" dirty="0"/>
          </a:p>
        </p:txBody>
      </p:sp>
      <p:sp>
        <p:nvSpPr>
          <p:cNvPr id="20" name="R1_qb442"/>
          <p:cNvSpPr/>
          <p:nvPr/>
        </p:nvSpPr>
        <p:spPr>
          <a:xfrm>
            <a:off x="3273552" y="1453896"/>
            <a:ext cx="329184" cy="329184"/>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1</a:t>
            </a:r>
            <a:endParaRPr lang="en-US" sz="1100" dirty="0"/>
          </a:p>
        </p:txBody>
      </p:sp>
      <p:sp>
        <p:nvSpPr>
          <p:cNvPr id="21" name="R1_sq443"/>
          <p:cNvSpPr/>
          <p:nvPr/>
        </p:nvSpPr>
        <p:spPr>
          <a:xfrm>
            <a:off x="3675888" y="1417320"/>
            <a:ext cx="5193792" cy="530352"/>
          </a:xfrm>
          <a:prstGeom prst="roundRect">
            <a:avLst>
              <a:gd name="adj" fmla="val 20690"/>
            </a:avLst>
          </a:prstGeom>
          <a:solidFill>
            <a:srgbClr val="FFFFFF"/>
          </a:solidFill>
          <a:ln w="22225">
            <a:solidFill>
              <a:srgbClr val="F7A6C4"/>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What's in your bag? (5 things)</a:t>
            </a:r>
            <a:endParaRPr lang="en-US" sz="1250" dirty="0"/>
          </a:p>
          <a:p>
            <a:pPr indent="0" marL="0">
              <a:buNone/>
            </a:pPr>
            <a:r>
              <a:rPr lang="en-US" sz="1000" i="1" dirty="0">
                <a:solidFill>
                  <a:srgbClr val="5B6785"/>
                </a:solidFill>
                <a:latin typeface="Segoe UI" pitchFamily="34" charset="0"/>
                <a:ea typeface="Segoe UI" pitchFamily="34" charset="-122"/>
                <a:cs typeface="Segoe UI" pitchFamily="34" charset="-120"/>
              </a:rPr>
              <a:t>e.g. In my bag I have a purse, keys, my phone, tissues and a pen.</a:t>
            </a:r>
            <a:endParaRPr lang="en-US" sz="1250" dirty="0"/>
          </a:p>
        </p:txBody>
      </p:sp>
      <p:sp>
        <p:nvSpPr>
          <p:cNvPr id="22" name="R2_qb444"/>
          <p:cNvSpPr/>
          <p:nvPr/>
        </p:nvSpPr>
        <p:spPr>
          <a:xfrm>
            <a:off x="3273552" y="2057400"/>
            <a:ext cx="329184" cy="329184"/>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2</a:t>
            </a:r>
            <a:endParaRPr lang="en-US" sz="1100" dirty="0"/>
          </a:p>
        </p:txBody>
      </p:sp>
      <p:sp>
        <p:nvSpPr>
          <p:cNvPr id="23" name="R2_sq445"/>
          <p:cNvSpPr/>
          <p:nvPr/>
        </p:nvSpPr>
        <p:spPr>
          <a:xfrm>
            <a:off x="3675888" y="2020824"/>
            <a:ext cx="5193792" cy="530352"/>
          </a:xfrm>
          <a:prstGeom prst="roundRect">
            <a:avLst>
              <a:gd name="adj" fmla="val 20690"/>
            </a:avLst>
          </a:prstGeom>
          <a:solidFill>
            <a:srgbClr val="FFFFFF"/>
          </a:solidFill>
          <a:ln w="22225">
            <a:solidFill>
              <a:srgbClr val="A9D3F5"/>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Is your desk at home tidy or untidy?</a:t>
            </a:r>
            <a:endParaRPr lang="en-US" sz="1250" dirty="0"/>
          </a:p>
          <a:p>
            <a:pPr indent="0" marL="0">
              <a:buNone/>
            </a:pPr>
            <a:r>
              <a:rPr lang="en-US" sz="1000" i="1" dirty="0">
                <a:solidFill>
                  <a:srgbClr val="5B6785"/>
                </a:solidFill>
                <a:latin typeface="Segoe UI" pitchFamily="34" charset="0"/>
                <a:ea typeface="Segoe UI" pitchFamily="34" charset="-122"/>
                <a:cs typeface="Segoe UI" pitchFamily="34" charset="-120"/>
              </a:rPr>
              <a:t>e.g. It's untidy – my charger is always on the floor!</a:t>
            </a:r>
            <a:endParaRPr lang="en-US" sz="1250" dirty="0"/>
          </a:p>
        </p:txBody>
      </p:sp>
      <p:sp>
        <p:nvSpPr>
          <p:cNvPr id="24" name="R3_qb446"/>
          <p:cNvSpPr/>
          <p:nvPr/>
        </p:nvSpPr>
        <p:spPr>
          <a:xfrm>
            <a:off x="3273552" y="2660904"/>
            <a:ext cx="329184" cy="329184"/>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1100" dirty="0">
                <a:solidFill>
                  <a:srgbClr val="FFFFFF"/>
                </a:solidFill>
                <a:latin typeface="Arial Rounded MT Bold" pitchFamily="34" charset="0"/>
                <a:ea typeface="Arial Rounded MT Bold" pitchFamily="34" charset="-122"/>
                <a:cs typeface="Arial Rounded MT Bold" pitchFamily="34" charset="-120"/>
              </a:rPr>
              <a:t>3</a:t>
            </a:r>
            <a:endParaRPr lang="en-US" sz="1100" dirty="0"/>
          </a:p>
        </p:txBody>
      </p:sp>
      <p:sp>
        <p:nvSpPr>
          <p:cNvPr id="25" name="R3_sq447"/>
          <p:cNvSpPr/>
          <p:nvPr/>
        </p:nvSpPr>
        <p:spPr>
          <a:xfrm>
            <a:off x="3675888" y="2624328"/>
            <a:ext cx="5193792" cy="530352"/>
          </a:xfrm>
          <a:prstGeom prst="roundRect">
            <a:avLst>
              <a:gd name="adj" fmla="val 20690"/>
            </a:avLst>
          </a:prstGeom>
          <a:solidFill>
            <a:srgbClr val="FFFFFF"/>
          </a:solidFill>
          <a:ln w="22225">
            <a:solidFill>
              <a:srgbClr val="A8E5BE"/>
            </a:solidFill>
          </a:ln>
          <a:effectLst>
            <a:outerShdw sx="100000" sy="100000" kx="0" ky="0" algn="bl" rotWithShape="0" blurRad="88900" dist="31750" dir="5400000">
              <a:srgbClr val="1B2559">
                <a:alpha val="8000"/>
              </a:srgbClr>
            </a:outerShdw>
          </a:effectLst>
        </p:spPr>
        <p:txBody>
          <a:bodyPr wrap="square" lIns="127000" tIns="25400" rIns="127000" bIns="25400" rtlCol="0" anchor="ctr">
            <a:normAutofit/>
          </a:bodyPr>
          <a:lstStyle/>
          <a:p>
            <a:pPr indent="0" marL="0">
              <a:buNone/>
            </a:pPr>
            <a:r>
              <a:rPr lang="en-US" sz="1250" dirty="0">
                <a:solidFill>
                  <a:srgbClr val="1B2559"/>
                </a:solidFill>
                <a:latin typeface="Segoe UI Semibold" pitchFamily="34" charset="0"/>
                <a:ea typeface="Segoe UI Semibold" pitchFamily="34" charset="-122"/>
                <a:cs typeface="Segoe UI Semibold" pitchFamily="34" charset="-120"/>
              </a:rPr>
              <a:t>Extension: What do you always lose?</a:t>
            </a:r>
            <a:endParaRPr lang="en-US" sz="1250" dirty="0"/>
          </a:p>
          <a:p>
            <a:pPr indent="0" marL="0">
              <a:buNone/>
            </a:pPr>
            <a:r>
              <a:rPr lang="en-US" sz="1000" i="1" dirty="0">
                <a:solidFill>
                  <a:srgbClr val="5B6785"/>
                </a:solidFill>
                <a:latin typeface="Segoe UI" pitchFamily="34" charset="0"/>
                <a:ea typeface="Segoe UI" pitchFamily="34" charset="-122"/>
                <a:cs typeface="Segoe UI" pitchFamily="34" charset="-120"/>
              </a:rPr>
              <a:t>e.g. I always lose my sunglasses! They're usually on my head. 😄</a:t>
            </a:r>
            <a:endParaRPr lang="en-US" sz="125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400"/>
                                        <p:tgtEl>
                                          <p:spTgt spid="20"/>
                                        </p:tgtEl>
                                      </p:cBhvr>
                                    </p:animEffect>
                                  </p:childTnLst>
                                </p:cTn>
                              </p:par>
                              <p:par>
                                <p:cTn id="8" presetID="10" presetClass="entr" presetSubtype="0" fill="hold"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400"/>
                                        <p:tgtEl>
                                          <p:spTgt spid="22"/>
                                        </p:tgtEl>
                                      </p:cBhvr>
                                    </p:animEffect>
                                  </p:childTnLst>
                                </p:cTn>
                              </p:par>
                              <p:par>
                                <p:cTn id="16" presetID="10" presetClass="entr" presetSubtype="0" fill="hold" nodeType="withEffect">
                                  <p:stCondLst>
                                    <p:cond delay="0"/>
                                  </p:stCondLst>
                                  <p:childTnLst>
                                    <p:set>
                                      <p:cBhvr>
                                        <p:cTn id="17" dur="1" fill="hold">
                                          <p:stCondLst>
                                            <p:cond delay="0"/>
                                          </p:stCondLst>
                                        </p:cTn>
                                        <p:tgtEl>
                                          <p:spTgt spid="23"/>
                                        </p:tgtEl>
                                        <p:attrNameLst>
                                          <p:attrName>style.visibility</p:attrName>
                                        </p:attrNameLst>
                                      </p:cBhvr>
                                      <p:to>
                                        <p:strVal val="visible"/>
                                      </p:to>
                                    </p:set>
                                    <p:animEffect transition="in" filter="fade">
                                      <p:cBhvr>
                                        <p:cTn id="18" dur="400"/>
                                        <p:tgtEl>
                                          <p:spTgt spid="2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4"/>
                                        </p:tgtEl>
                                        <p:attrNameLst>
                                          <p:attrName>style.visibility</p:attrName>
                                        </p:attrNameLst>
                                      </p:cBhvr>
                                      <p:to>
                                        <p:strVal val="visible"/>
                                      </p:to>
                                    </p:set>
                                    <p:animEffect transition="in" filter="fade">
                                      <p:cBhvr>
                                        <p:cTn id="23" dur="400"/>
                                        <p:tgtEl>
                                          <p:spTgt spid="24"/>
                                        </p:tgtEl>
                                      </p:cBhvr>
                                    </p:animEffect>
                                  </p:childTnLst>
                                </p:cTn>
                              </p:par>
                              <p:par>
                                <p:cTn id="24" presetID="10" presetClass="entr" presetSubtype="0" fill="hold" nodeType="withEffect">
                                  <p:stCondLst>
                                    <p:cond delay="0"/>
                                  </p:stCondLst>
                                  <p:childTnLst>
                                    <p:set>
                                      <p:cBhvr>
                                        <p:cTn id="25" dur="1" fill="hold">
                                          <p:stCondLst>
                                            <p:cond delay="0"/>
                                          </p:stCondLst>
                                        </p:cTn>
                                        <p:tgtEl>
                                          <p:spTgt spid="25"/>
                                        </p:tgtEl>
                                        <p:attrNameLst>
                                          <p:attrName>style.visibility</p:attrName>
                                        </p:attrNameLst>
                                      </p:cBhvr>
                                      <p:to>
                                        <p:strVal val="visible"/>
                                      </p:to>
                                    </p:set>
                                    <p:animEffect transition="in" filter="fade">
                                      <p:cBhvr>
                                        <p:cTn id="26"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448"/>
          <p:cNvSpPr/>
          <p:nvPr/>
        </p:nvSpPr>
        <p:spPr>
          <a:xfrm>
            <a:off x="201168" y="164592"/>
            <a:ext cx="841248" cy="841248"/>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16</a:t>
            </a:r>
            <a:endParaRPr lang="en-US" sz="2200" dirty="0"/>
          </a:p>
        </p:txBody>
      </p:sp>
      <p:pic>
        <p:nvPicPr>
          <p:cNvPr id="4" name="brY_449" descr="/home/claude/lls-course/v2/assets/brush-yellow.png">    </p:cNvPr>
          <p:cNvPicPr>
            <a:picLocks noChangeAspect="1"/>
          </p:cNvPicPr>
          <p:nvPr/>
        </p:nvPicPr>
        <p:blipFill>
          <a:blip r:embed="rId2"/>
          <a:stretch>
            <a:fillRect/>
          </a:stretch>
        </p:blipFill>
        <p:spPr>
          <a:xfrm>
            <a:off x="1097280" y="146304"/>
            <a:ext cx="2304288" cy="621792"/>
          </a:xfrm>
          <a:prstGeom prst="rect">
            <a:avLst/>
          </a:prstGeom>
        </p:spPr>
      </p:pic>
      <p:sp>
        <p:nvSpPr>
          <p:cNvPr id="5" name="title_450"/>
          <p:cNvSpPr/>
          <p:nvPr/>
        </p:nvSpPr>
        <p:spPr>
          <a:xfrm>
            <a:off x="1261872" y="164592"/>
            <a:ext cx="2029968" cy="566928"/>
          </a:xfrm>
          <a:prstGeom prst="rect">
            <a:avLst/>
          </a:prstGeom>
          <a:noFill/>
          <a:ln/>
        </p:spPr>
        <p:txBody>
          <a:bodyPr wrap="square" lIns="0" tIns="0" rIns="0" bIns="0" rtlCol="0" anchor="ctr">
            <a:normAutofit/>
          </a:bodyPr>
          <a:lstStyle/>
          <a:p>
            <a:pPr indent="0" marL="0">
              <a:buNone/>
            </a:pPr>
            <a:r>
              <a:rPr lang="en-US" sz="2400" dirty="0">
                <a:solidFill>
                  <a:srgbClr val="1B2559"/>
                </a:solidFill>
                <a:latin typeface="Arial Rounded MT Bold" pitchFamily="34" charset="0"/>
                <a:ea typeface="Arial Rounded MT Bold" pitchFamily="34" charset="-122"/>
                <a:cs typeface="Arial Rounded MT Bold" pitchFamily="34" charset="-120"/>
              </a:rPr>
              <a:t>Today you…</a:t>
            </a:r>
            <a:endParaRPr lang="en-US" sz="2400" dirty="0"/>
          </a:p>
        </p:txBody>
      </p:sp>
      <p:pic>
        <p:nvPicPr>
          <p:cNvPr id="6" name="brP_451" descr="/home/claude/lls-course/v2/assets/brush-pink.png">    </p:cNvPr>
          <p:cNvPicPr>
            <a:picLocks noChangeAspect="1"/>
          </p:cNvPicPr>
          <p:nvPr/>
        </p:nvPicPr>
        <p:blipFill>
          <a:blip r:embed="rId3"/>
          <a:stretch>
            <a:fillRect/>
          </a:stretch>
        </p:blipFill>
        <p:spPr>
          <a:xfrm>
            <a:off x="1207008" y="731520"/>
            <a:ext cx="4553712" cy="402336"/>
          </a:xfrm>
          <a:prstGeom prst="rect">
            <a:avLst/>
          </a:prstGeom>
        </p:spPr>
      </p:pic>
      <p:sp>
        <p:nvSpPr>
          <p:cNvPr id="7" name="ins_452"/>
          <p:cNvSpPr/>
          <p:nvPr/>
        </p:nvSpPr>
        <p:spPr>
          <a:xfrm>
            <a:off x="1353312" y="731520"/>
            <a:ext cx="4297680"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Can you do it now? Thumbs up or thumbs down!</a:t>
            </a:r>
            <a:endParaRPr lang="en-US" sz="1250" dirty="0"/>
          </a:p>
        </p:txBody>
      </p:sp>
      <p:sp>
        <p:nvSpPr>
          <p:cNvPr id="8" name="insIT_453"/>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Ora sai farlo? Pollice su o pollice giù!</a:t>
            </a:r>
            <a:endParaRPr lang="en-US" sz="950" dirty="0"/>
          </a:p>
        </p:txBody>
      </p:sp>
      <p:sp>
        <p:nvSpPr>
          <p:cNvPr id="9" name="cmd_454"/>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THINK</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PENSA</a:t>
            </a:r>
            <a:endParaRPr lang="en-US" sz="1100" dirty="0"/>
          </a:p>
        </p:txBody>
      </p:sp>
      <p:sp>
        <p:nvSpPr>
          <p:cNvPr id="10" name="meta_455"/>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1 min   🙋 whole class</a:t>
            </a:r>
            <a:endParaRPr lang="en-US" sz="950" dirty="0"/>
          </a:p>
        </p:txBody>
      </p:sp>
      <p:sp>
        <p:nvSpPr>
          <p:cNvPr id="11" name="tag_456"/>
          <p:cNvSpPr/>
          <p:nvPr/>
        </p:nvSpPr>
        <p:spPr>
          <a:xfrm>
            <a:off x="6510528" y="804672"/>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Revision</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Reflection</a:t>
            </a:r>
            <a:endParaRPr lang="en-US" sz="850" dirty="0"/>
          </a:p>
        </p:txBody>
      </p:sp>
      <p:pic>
        <p:nvPicPr>
          <p:cNvPr id="12" name="logo_457"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3" name="foot_458"/>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2A · Review · what did you do today?</a:t>
            </a:r>
            <a:endParaRPr lang="en-US" sz="800" dirty="0"/>
          </a:p>
        </p:txBody>
      </p:sp>
      <p:sp>
        <p:nvSpPr>
          <p:cNvPr id="14" name="cd_459"/>
          <p:cNvSpPr/>
          <p:nvPr/>
        </p:nvSpPr>
        <p:spPr>
          <a:xfrm>
            <a:off x="548640" y="1417320"/>
            <a:ext cx="6035040" cy="530352"/>
          </a:xfrm>
          <a:prstGeom prst="roundRect">
            <a:avLst>
              <a:gd name="adj" fmla="val 24138"/>
            </a:avLst>
          </a:prstGeom>
          <a:solidFill>
            <a:srgbClr val="FFFFFF"/>
          </a:solidFill>
          <a:ln w="19050">
            <a:solidFill>
              <a:srgbClr val="F7A6C4"/>
            </a:solidFill>
            <a:prstDash val="solid"/>
          </a:ln>
          <a:effectLst>
            <a:outerShdw sx="100000" sy="100000" kx="0" ky="0" algn="bl" rotWithShape="0" blurRad="88900" dist="31750" dir="5400000">
              <a:srgbClr val="1B2559">
                <a:alpha val="12000"/>
              </a:srgbClr>
            </a:outerShdw>
          </a:effectLst>
        </p:spPr>
      </p:sp>
      <p:sp>
        <p:nvSpPr>
          <p:cNvPr id="15" name="te_460"/>
          <p:cNvSpPr/>
          <p:nvPr/>
        </p:nvSpPr>
        <p:spPr>
          <a:xfrm>
            <a:off x="640080" y="1453896"/>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6" name="tt_461"/>
          <p:cNvSpPr/>
          <p:nvPr/>
        </p:nvSpPr>
        <p:spPr>
          <a:xfrm>
            <a:off x="1188720" y="1417320"/>
            <a:ext cx="4754880" cy="530352"/>
          </a:xfrm>
          <a:prstGeom prst="rect">
            <a:avLst/>
          </a:prstGeom>
          <a:noFill/>
          <a:ln/>
        </p:spPr>
        <p:txBody>
          <a:bodyPr wrap="square" lIns="0" tIns="0" rIns="0" bIns="0" rtlCol="0" anchor="ctr">
            <a:normAutofit/>
          </a:bodyPr>
          <a:lstStyle/>
          <a:p>
            <a:pPr indent="0" marL="0">
              <a:buNone/>
            </a:pPr>
            <a:r>
              <a:rPr lang="en-US" sz="1350" dirty="0">
                <a:solidFill>
                  <a:srgbClr val="1B2559"/>
                </a:solidFill>
                <a:latin typeface="Segoe UI Semibold" pitchFamily="34" charset="0"/>
                <a:ea typeface="Segoe UI Semibold" pitchFamily="34" charset="-122"/>
                <a:cs typeface="Segoe UI Semibold" pitchFamily="34" charset="-120"/>
              </a:rPr>
              <a:t>Learnt 6 everyday things</a:t>
            </a:r>
            <a:endParaRPr lang="en-US" sz="1350" dirty="0"/>
          </a:p>
        </p:txBody>
      </p:sp>
      <p:sp>
        <p:nvSpPr>
          <p:cNvPr id="17" name="R1_tk462"/>
          <p:cNvSpPr/>
          <p:nvPr/>
        </p:nvSpPr>
        <p:spPr>
          <a:xfrm>
            <a:off x="5989320" y="1453896"/>
            <a:ext cx="50292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18" name="cd_463"/>
          <p:cNvSpPr/>
          <p:nvPr/>
        </p:nvSpPr>
        <p:spPr>
          <a:xfrm>
            <a:off x="548640" y="2020824"/>
            <a:ext cx="6035040" cy="530352"/>
          </a:xfrm>
          <a:prstGeom prst="roundRect">
            <a:avLst>
              <a:gd name="adj" fmla="val 24138"/>
            </a:avLst>
          </a:prstGeom>
          <a:solidFill>
            <a:srgbClr val="FFFFFF"/>
          </a:solidFill>
          <a:ln w="19050">
            <a:solidFill>
              <a:srgbClr val="A9D3F5"/>
            </a:solidFill>
            <a:prstDash val="solid"/>
          </a:ln>
          <a:effectLst>
            <a:outerShdw sx="100000" sy="100000" kx="0" ky="0" algn="bl" rotWithShape="0" blurRad="88900" dist="31750" dir="5400000">
              <a:srgbClr val="1B2559">
                <a:alpha val="12000"/>
              </a:srgbClr>
            </a:outerShdw>
          </a:effectLst>
        </p:spPr>
      </p:sp>
      <p:sp>
        <p:nvSpPr>
          <p:cNvPr id="19" name="te_464"/>
          <p:cNvSpPr/>
          <p:nvPr/>
        </p:nvSpPr>
        <p:spPr>
          <a:xfrm>
            <a:off x="640080" y="2057400"/>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0" name="tt_465"/>
          <p:cNvSpPr/>
          <p:nvPr/>
        </p:nvSpPr>
        <p:spPr>
          <a:xfrm>
            <a:off x="1188720" y="2020824"/>
            <a:ext cx="4754880" cy="530352"/>
          </a:xfrm>
          <a:prstGeom prst="rect">
            <a:avLst/>
          </a:prstGeom>
          <a:noFill/>
          <a:ln/>
        </p:spPr>
        <p:txBody>
          <a:bodyPr wrap="square" lIns="0" tIns="0" rIns="0" bIns="0" rtlCol="0" anchor="ctr">
            <a:normAutofit/>
          </a:bodyPr>
          <a:lstStyle/>
          <a:p>
            <a:pPr indent="0" marL="0">
              <a:buNone/>
            </a:pPr>
            <a:r>
              <a:rPr lang="en-US" sz="1350" dirty="0">
                <a:solidFill>
                  <a:srgbClr val="1B2559"/>
                </a:solidFill>
                <a:latin typeface="Segoe UI Semibold" pitchFamily="34" charset="0"/>
                <a:ea typeface="Segoe UI Semibold" pitchFamily="34" charset="-122"/>
                <a:cs typeface="Segoe UI Semibold" pitchFamily="34" charset="-120"/>
              </a:rPr>
              <a:t>Told a funny story: Where are Tom's keys?</a:t>
            </a:r>
            <a:endParaRPr lang="en-US" sz="1350" dirty="0"/>
          </a:p>
        </p:txBody>
      </p:sp>
      <p:sp>
        <p:nvSpPr>
          <p:cNvPr id="21" name="R2_tk466"/>
          <p:cNvSpPr/>
          <p:nvPr/>
        </p:nvSpPr>
        <p:spPr>
          <a:xfrm>
            <a:off x="5989320" y="2057400"/>
            <a:ext cx="50292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2" name="cd_467"/>
          <p:cNvSpPr/>
          <p:nvPr/>
        </p:nvSpPr>
        <p:spPr>
          <a:xfrm>
            <a:off x="548640" y="2624328"/>
            <a:ext cx="6035040" cy="530352"/>
          </a:xfrm>
          <a:prstGeom prst="roundRect">
            <a:avLst>
              <a:gd name="adj" fmla="val 24138"/>
            </a:avLst>
          </a:prstGeom>
          <a:solidFill>
            <a:srgbClr val="FFFFFF"/>
          </a:solidFill>
          <a:ln w="19050">
            <a:solidFill>
              <a:srgbClr val="A8E5BE"/>
            </a:solidFill>
            <a:prstDash val="solid"/>
          </a:ln>
          <a:effectLst>
            <a:outerShdw sx="100000" sy="100000" kx="0" ky="0" algn="bl" rotWithShape="0" blurRad="88900" dist="31750" dir="5400000">
              <a:srgbClr val="1B2559">
                <a:alpha val="12000"/>
              </a:srgbClr>
            </a:outerShdw>
          </a:effectLst>
        </p:spPr>
      </p:sp>
      <p:sp>
        <p:nvSpPr>
          <p:cNvPr id="23" name="te_468"/>
          <p:cNvSpPr/>
          <p:nvPr/>
        </p:nvSpPr>
        <p:spPr>
          <a:xfrm>
            <a:off x="640080" y="2660904"/>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4" name="tt_469"/>
          <p:cNvSpPr/>
          <p:nvPr/>
        </p:nvSpPr>
        <p:spPr>
          <a:xfrm>
            <a:off x="1188720" y="2624328"/>
            <a:ext cx="4754880" cy="530352"/>
          </a:xfrm>
          <a:prstGeom prst="rect">
            <a:avLst/>
          </a:prstGeom>
          <a:noFill/>
          <a:ln/>
        </p:spPr>
        <p:txBody>
          <a:bodyPr wrap="square" lIns="0" tIns="0" rIns="0" bIns="0" rtlCol="0" anchor="ctr">
            <a:normAutofit/>
          </a:bodyPr>
          <a:lstStyle/>
          <a:p>
            <a:pPr indent="0" marL="0">
              <a:buNone/>
            </a:pPr>
            <a:r>
              <a:rPr lang="en-US" sz="1350" dirty="0">
                <a:solidFill>
                  <a:srgbClr val="1B2559"/>
                </a:solidFill>
                <a:latin typeface="Segoe UI Semibold" pitchFamily="34" charset="0"/>
                <a:ea typeface="Segoe UI Semibold" pitchFamily="34" charset="-122"/>
                <a:cs typeface="Segoe UI Semibold" pitchFamily="34" charset="-120"/>
              </a:rPr>
              <a:t>Said plurals: keys, glasses, watches</a:t>
            </a:r>
            <a:endParaRPr lang="en-US" sz="1350" dirty="0"/>
          </a:p>
        </p:txBody>
      </p:sp>
      <p:sp>
        <p:nvSpPr>
          <p:cNvPr id="25" name="R3_tk470"/>
          <p:cNvSpPr/>
          <p:nvPr/>
        </p:nvSpPr>
        <p:spPr>
          <a:xfrm>
            <a:off x="5989320" y="2660904"/>
            <a:ext cx="50292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6" name="cd_471"/>
          <p:cNvSpPr/>
          <p:nvPr/>
        </p:nvSpPr>
        <p:spPr>
          <a:xfrm>
            <a:off x="548640" y="3227832"/>
            <a:ext cx="6035040" cy="530352"/>
          </a:xfrm>
          <a:prstGeom prst="roundRect">
            <a:avLst>
              <a:gd name="adj" fmla="val 24138"/>
            </a:avLst>
          </a:prstGeom>
          <a:solidFill>
            <a:srgbClr val="FFFFFF"/>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27" name="te_472"/>
          <p:cNvSpPr/>
          <p:nvPr/>
        </p:nvSpPr>
        <p:spPr>
          <a:xfrm>
            <a:off x="640080" y="3264408"/>
            <a:ext cx="45720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28" name="tt_473"/>
          <p:cNvSpPr/>
          <p:nvPr/>
        </p:nvSpPr>
        <p:spPr>
          <a:xfrm>
            <a:off x="1188720" y="3227832"/>
            <a:ext cx="4754880" cy="530352"/>
          </a:xfrm>
          <a:prstGeom prst="rect">
            <a:avLst/>
          </a:prstGeom>
          <a:noFill/>
          <a:ln/>
        </p:spPr>
        <p:txBody>
          <a:bodyPr wrap="square" lIns="0" tIns="0" rIns="0" bIns="0" rtlCol="0" anchor="ctr">
            <a:normAutofit/>
          </a:bodyPr>
          <a:lstStyle/>
          <a:p>
            <a:pPr indent="0" marL="0">
              <a:buNone/>
            </a:pPr>
            <a:r>
              <a:rPr lang="en-US" sz="1350" dirty="0">
                <a:solidFill>
                  <a:srgbClr val="1B2559"/>
                </a:solidFill>
                <a:latin typeface="Segoe UI Semibold" pitchFamily="34" charset="0"/>
                <a:ea typeface="Segoe UI Semibold" pitchFamily="34" charset="-122"/>
                <a:cs typeface="Segoe UI Semibold" pitchFamily="34" charset="-120"/>
              </a:rPr>
              <a:t>Said where things are: in, on, under</a:t>
            </a:r>
            <a:endParaRPr lang="en-US" sz="1350" dirty="0"/>
          </a:p>
        </p:txBody>
      </p:sp>
      <p:sp>
        <p:nvSpPr>
          <p:cNvPr id="29" name="R4_tk474"/>
          <p:cNvSpPr/>
          <p:nvPr/>
        </p:nvSpPr>
        <p:spPr>
          <a:xfrm>
            <a:off x="5989320" y="3264408"/>
            <a:ext cx="502920" cy="457200"/>
          </a:xfrm>
          <a:prstGeom prst="rect">
            <a:avLst/>
          </a:prstGeom>
          <a:noFill/>
          <a:ln/>
        </p:spPr>
        <p:txBody>
          <a:bodyPr wrap="square" lIns="0" tIns="0" rIns="0" bIns="0" rtlCol="0" anchor="ctr"/>
          <a:lstStyle/>
          <a:p>
            <a:pPr algn="ctr" indent="0" marL="0">
              <a:buNone/>
            </a:pPr>
            <a:r>
              <a:rPr lang="en-US" sz="1800" dirty="0">
                <a:solidFill>
                  <a:srgbClr val="000000"/>
                </a:solidFill>
              </a:rPr>
              <a:t>✅</a:t>
            </a:r>
            <a:endParaRPr lang="en-US" sz="1800" dirty="0"/>
          </a:p>
        </p:txBody>
      </p:sp>
      <p:sp>
        <p:nvSpPr>
          <p:cNvPr id="30" name="st_475"/>
          <p:cNvSpPr/>
          <p:nvPr/>
        </p:nvSpPr>
        <p:spPr>
          <a:xfrm rot="180000">
            <a:off x="6949440" y="1691640"/>
            <a:ext cx="1828800" cy="1188720"/>
          </a:xfrm>
          <a:prstGeom prst="rect">
            <a:avLst/>
          </a:prstGeom>
          <a:solidFill>
            <a:srgbClr val="FFE07A"/>
          </a:solidFill>
          <a:ln>
            <a:solidFill>
              <a:srgbClr val="FFE07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  👌  👎</a:t>
            </a:r>
            <a:endParaRPr lang="en-US" sz="1300" dirty="0"/>
          </a:p>
          <a:p>
            <a:pPr algn="ct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Can you do it now?</a:t>
            </a:r>
            <a:endParaRPr lang="en-US" sz="1300" dirty="0"/>
          </a:p>
          <a:p>
            <a:pPr algn="ct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Ora sai farlo?</a:t>
            </a:r>
            <a:endParaRPr lang="en-US" sz="1300" dirty="0"/>
          </a:p>
        </p:txBody>
      </p:sp>
    </p:spTree>
  </p:cSld>
  <p:clrMapOvr>
    <a:masterClrMapping/>
  </p:clrMapOvr>
  <p:transition spd="med">
    <p:push dir="l"/>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4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gtEl>
                                        <p:attrNameLst>
                                          <p:attrName>style.visibility</p:attrName>
                                        </p:attrNameLst>
                                      </p:cBhvr>
                                      <p:to>
                                        <p:strVal val="visible"/>
                                      </p:to>
                                    </p:set>
                                    <p:animEffect transition="in" filter="fade">
                                      <p:cBhvr>
                                        <p:cTn id="12" dur="400"/>
                                        <p:tgtEl>
                                          <p:spTgt spid="2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5"/>
                                        </p:tgtEl>
                                        <p:attrNameLst>
                                          <p:attrName>style.visibility</p:attrName>
                                        </p:attrNameLst>
                                      </p:cBhvr>
                                      <p:to>
                                        <p:strVal val="visible"/>
                                      </p:to>
                                    </p:set>
                                    <p:animEffect transition="in" filter="fade">
                                      <p:cBhvr>
                                        <p:cTn id="17" dur="400"/>
                                        <p:tgtEl>
                                          <p:spTgt spid="2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9"/>
                                        </p:tgtEl>
                                        <p:attrNameLst>
                                          <p:attrName>style.visibility</p:attrName>
                                        </p:attrNameLst>
                                      </p:cBhvr>
                                      <p:to>
                                        <p:strVal val="visible"/>
                                      </p:to>
                                    </p:set>
                                    <p:animEffect transition="in" filter="fade">
                                      <p:cBhvr>
                                        <p:cTn id="22" dur="4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476"/>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17</a:t>
            </a:r>
            <a:endParaRPr lang="en-US" sz="2200" dirty="0"/>
          </a:p>
        </p:txBody>
      </p:sp>
      <p:pic>
        <p:nvPicPr>
          <p:cNvPr id="4" name="brY_477" descr="/home/claude/lls-course/v2/assets/brush-yellow.png">    </p:cNvPr>
          <p:cNvPicPr>
            <a:picLocks noChangeAspect="1"/>
          </p:cNvPicPr>
          <p:nvPr/>
        </p:nvPicPr>
        <p:blipFill>
          <a:blip r:embed="rId2"/>
          <a:stretch>
            <a:fillRect/>
          </a:stretch>
        </p:blipFill>
        <p:spPr>
          <a:xfrm>
            <a:off x="1097280" y="146304"/>
            <a:ext cx="2147011" cy="621792"/>
          </a:xfrm>
          <a:prstGeom prst="rect">
            <a:avLst/>
          </a:prstGeom>
        </p:spPr>
      </p:pic>
      <p:sp>
        <p:nvSpPr>
          <p:cNvPr id="5" name="title_478"/>
          <p:cNvSpPr/>
          <p:nvPr/>
        </p:nvSpPr>
        <p:spPr>
          <a:xfrm>
            <a:off x="1261872" y="164592"/>
            <a:ext cx="1872691"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3 · 2 · 1</a:t>
            </a:r>
            <a:endParaRPr lang="en-US" sz="2500" dirty="0"/>
          </a:p>
        </p:txBody>
      </p:sp>
      <p:pic>
        <p:nvPicPr>
          <p:cNvPr id="6" name="brP_479" descr="/home/claude/lls-course/v2/assets/brush-pink.png">    </p:cNvPr>
          <p:cNvPicPr>
            <a:picLocks noChangeAspect="1"/>
          </p:cNvPicPr>
          <p:nvPr/>
        </p:nvPicPr>
        <p:blipFill>
          <a:blip r:embed="rId3"/>
          <a:stretch>
            <a:fillRect/>
          </a:stretch>
        </p:blipFill>
        <p:spPr>
          <a:xfrm>
            <a:off x="1207008" y="731520"/>
            <a:ext cx="3858768" cy="402336"/>
          </a:xfrm>
          <a:prstGeom prst="rect">
            <a:avLst/>
          </a:prstGeom>
        </p:spPr>
      </p:pic>
      <p:sp>
        <p:nvSpPr>
          <p:cNvPr id="7" name="ins_480"/>
          <p:cNvSpPr/>
          <p:nvPr/>
        </p:nvSpPr>
        <p:spPr>
          <a:xfrm>
            <a:off x="1353312" y="731520"/>
            <a:ext cx="3602736"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Books closed! What can you remember?</a:t>
            </a:r>
            <a:endParaRPr lang="en-US" sz="1250" dirty="0"/>
          </a:p>
        </p:txBody>
      </p:sp>
      <p:sp>
        <p:nvSpPr>
          <p:cNvPr id="8" name="insIT_481"/>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Libri chiusi! Cosa ricordi?</a:t>
            </a:r>
            <a:endParaRPr lang="en-US" sz="950" dirty="0"/>
          </a:p>
        </p:txBody>
      </p:sp>
      <p:sp>
        <p:nvSpPr>
          <p:cNvPr id="9" name="meta_482"/>
          <p:cNvSpPr/>
          <p:nvPr/>
        </p:nvSpPr>
        <p:spPr>
          <a:xfrm>
            <a:off x="6583680" y="182880"/>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2 min   👥 pairs</a:t>
            </a:r>
            <a:endParaRPr lang="en-US" sz="950" dirty="0"/>
          </a:p>
        </p:txBody>
      </p:sp>
      <p:sp>
        <p:nvSpPr>
          <p:cNvPr id="10" name="tag_483"/>
          <p:cNvSpPr/>
          <p:nvPr/>
        </p:nvSpPr>
        <p:spPr>
          <a:xfrm>
            <a:off x="6510528" y="420624"/>
            <a:ext cx="2514600" cy="237744"/>
          </a:xfrm>
          <a:prstGeom prst="rect">
            <a:avLst/>
          </a:prstGeom>
          <a:noFill/>
          <a:ln/>
        </p:spPr>
        <p:txBody>
          <a:bodyPr wrap="square" lIns="101600" tIns="0" rIns="50800" bIns="0" rtlCol="0" anchor="ctr"/>
          <a:lstStyle/>
          <a:p>
            <a:pPr indent="0" marL="0">
              <a:buNone/>
            </a:pPr>
            <a:r>
              <a:rPr lang="en-US" sz="850" b="1" dirty="0">
                <a:solidFill>
                  <a:srgbClr val="1B2559"/>
                </a:solidFill>
                <a:latin typeface="Segoe UI Semibold" pitchFamily="34" charset="0"/>
                <a:ea typeface="Segoe UI Semibold" pitchFamily="34" charset="-122"/>
                <a:cs typeface="Segoe UI Semibold" pitchFamily="34" charset="-120"/>
              </a:rPr>
              <a:t>Revision</a:t>
            </a:r>
            <a:pPr indent="0" marL="0">
              <a:buNone/>
            </a:pPr>
            <a:r>
              <a:rPr lang="en-US" sz="850" dirty="0">
                <a:solidFill>
                  <a:srgbClr val="7B5CD6"/>
                </a:solidFill>
                <a:latin typeface="Segoe UI Semibold" pitchFamily="34" charset="0"/>
                <a:ea typeface="Segoe UI Semibold" pitchFamily="34" charset="-122"/>
                <a:cs typeface="Segoe UI Semibold" pitchFamily="34" charset="-120"/>
              </a:rPr>
              <a:t> · Retrieval</a:t>
            </a:r>
            <a:endParaRPr lang="en-US" sz="850" dirty="0"/>
          </a:p>
        </p:txBody>
      </p:sp>
      <p:pic>
        <p:nvPicPr>
          <p:cNvPr id="11" name="logo_484"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2" name="foot_485"/>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2A · Exit · what can you remember?</a:t>
            </a:r>
            <a:endParaRPr lang="en-US" sz="800" dirty="0"/>
          </a:p>
        </p:txBody>
      </p:sp>
      <p:sp>
        <p:nvSpPr>
          <p:cNvPr id="13" name="bd_486"/>
          <p:cNvSpPr/>
          <p:nvPr/>
        </p:nvSpPr>
        <p:spPr>
          <a:xfrm>
            <a:off x="457200" y="1508760"/>
            <a:ext cx="777240" cy="777240"/>
          </a:xfrm>
          <a:prstGeom prst="ellipse">
            <a:avLst/>
          </a:prstGeom>
          <a:solidFill>
            <a:srgbClr val="E8508F"/>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600" dirty="0">
                <a:solidFill>
                  <a:srgbClr val="FFFFFF"/>
                </a:solidFill>
                <a:latin typeface="Arial Rounded MT Bold" pitchFamily="34" charset="0"/>
                <a:ea typeface="Arial Rounded MT Bold" pitchFamily="34" charset="-122"/>
                <a:cs typeface="Arial Rounded MT Bold" pitchFamily="34" charset="-120"/>
              </a:rPr>
              <a:t>3</a:t>
            </a:r>
            <a:endParaRPr lang="en-US" sz="2600" dirty="0"/>
          </a:p>
        </p:txBody>
      </p:sp>
      <p:sp>
        <p:nvSpPr>
          <p:cNvPr id="14" name="rt_487"/>
          <p:cNvSpPr/>
          <p:nvPr/>
        </p:nvSpPr>
        <p:spPr>
          <a:xfrm>
            <a:off x="1417320" y="1581912"/>
            <a:ext cx="3931920" cy="640080"/>
          </a:xfrm>
          <a:prstGeom prst="roundRect">
            <a:avLst>
              <a:gd name="adj" fmla="val 20000"/>
            </a:avLst>
          </a:prstGeom>
          <a:solidFill>
            <a:srgbClr val="FFFFFF"/>
          </a:solidFill>
          <a:ln w="25400">
            <a:solidFill>
              <a:srgbClr val="F7A6C4"/>
            </a:solidFill>
          </a:ln>
          <a:effectLst>
            <a:outerShdw sx="100000" sy="100000" kx="0" ky="0" algn="bl" rotWithShape="0" blurRad="88900" dist="31750" dir="5400000">
              <a:srgbClr val="1B2559">
                <a:alpha val="8000"/>
              </a:srgbClr>
            </a:outerShdw>
          </a:effectLst>
        </p:spPr>
        <p:txBody>
          <a:bodyPr wrap="square" lIns="152400" tIns="0" rIns="152400" bIns="0" rtlCol="0" anchor="ctr">
            <a:normAutofit/>
          </a:bodyP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of today's 6 things (wallet, purse…)</a:t>
            </a:r>
            <a:endParaRPr lang="en-US" sz="1400" dirty="0"/>
          </a:p>
        </p:txBody>
      </p:sp>
      <p:sp>
        <p:nvSpPr>
          <p:cNvPr id="15" name="bd_488"/>
          <p:cNvSpPr/>
          <p:nvPr/>
        </p:nvSpPr>
        <p:spPr>
          <a:xfrm>
            <a:off x="457200" y="2468880"/>
            <a:ext cx="777240" cy="777240"/>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600" dirty="0">
                <a:solidFill>
                  <a:srgbClr val="FFFFFF"/>
                </a:solidFill>
                <a:latin typeface="Arial Rounded MT Bold" pitchFamily="34" charset="0"/>
                <a:ea typeface="Arial Rounded MT Bold" pitchFamily="34" charset="-122"/>
                <a:cs typeface="Arial Rounded MT Bold" pitchFamily="34" charset="-120"/>
              </a:rPr>
              <a:t>2</a:t>
            </a:r>
            <a:endParaRPr lang="en-US" sz="2600" dirty="0"/>
          </a:p>
        </p:txBody>
      </p:sp>
      <p:sp>
        <p:nvSpPr>
          <p:cNvPr id="16" name="rt_489"/>
          <p:cNvSpPr/>
          <p:nvPr/>
        </p:nvSpPr>
        <p:spPr>
          <a:xfrm>
            <a:off x="1417320" y="2542032"/>
            <a:ext cx="3931920" cy="640080"/>
          </a:xfrm>
          <a:prstGeom prst="roundRect">
            <a:avLst>
              <a:gd name="adj" fmla="val 2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52400" tIns="0" rIns="152400" bIns="0" rtlCol="0" anchor="ctr">
            <a:normAutofit/>
          </a:bodyP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plurals with /ɪz/ (glasses…)</a:t>
            </a:r>
            <a:endParaRPr lang="en-US" sz="1400" dirty="0"/>
          </a:p>
        </p:txBody>
      </p:sp>
      <p:sp>
        <p:nvSpPr>
          <p:cNvPr id="17" name="bd_490"/>
          <p:cNvSpPr/>
          <p:nvPr/>
        </p:nvSpPr>
        <p:spPr>
          <a:xfrm>
            <a:off x="457200" y="3429000"/>
            <a:ext cx="777240" cy="777240"/>
          </a:xfrm>
          <a:prstGeom prst="ellipse">
            <a:avLst/>
          </a:prstGeom>
          <a:solidFill>
            <a:srgbClr val="2EB872"/>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600" dirty="0">
                <a:solidFill>
                  <a:srgbClr val="FFFFFF"/>
                </a:solidFill>
                <a:latin typeface="Arial Rounded MT Bold" pitchFamily="34" charset="0"/>
                <a:ea typeface="Arial Rounded MT Bold" pitchFamily="34" charset="-122"/>
                <a:cs typeface="Arial Rounded MT Bold" pitchFamily="34" charset="-120"/>
              </a:rPr>
              <a:t>1</a:t>
            </a:r>
            <a:endParaRPr lang="en-US" sz="2600" dirty="0"/>
          </a:p>
        </p:txBody>
      </p:sp>
      <p:sp>
        <p:nvSpPr>
          <p:cNvPr id="18" name="rt_491"/>
          <p:cNvSpPr/>
          <p:nvPr/>
        </p:nvSpPr>
        <p:spPr>
          <a:xfrm>
            <a:off x="1417320" y="3502152"/>
            <a:ext cx="3931920" cy="640080"/>
          </a:xfrm>
          <a:prstGeom prst="roundRect">
            <a:avLst>
              <a:gd name="adj" fmla="val 20000"/>
            </a:avLst>
          </a:prstGeom>
          <a:solidFill>
            <a:srgbClr val="FFFFFF"/>
          </a:solidFill>
          <a:ln w="25400">
            <a:solidFill>
              <a:srgbClr val="A8E5BE"/>
            </a:solidFill>
          </a:ln>
          <a:effectLst>
            <a:outerShdw sx="100000" sy="100000" kx="0" ky="0" algn="bl" rotWithShape="0" blurRad="88900" dist="31750" dir="5400000">
              <a:srgbClr val="1B2559">
                <a:alpha val="8000"/>
              </a:srgbClr>
            </a:outerShdw>
          </a:effectLst>
        </p:spPr>
        <p:txBody>
          <a:bodyPr wrap="square" lIns="152400" tIns="0" rIns="152400" bIns="0" rtlCol="0" anchor="ctr">
            <a:normAutofit/>
          </a:bodyP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sentence: Where are Tom's keys?</a:t>
            </a:r>
            <a:endParaRPr lang="en-US" sz="1400" dirty="0"/>
          </a:p>
        </p:txBody>
      </p:sp>
      <p:sp>
        <p:nvSpPr>
          <p:cNvPr id="19" name="cd_492"/>
          <p:cNvSpPr/>
          <p:nvPr/>
        </p:nvSpPr>
        <p:spPr>
          <a:xfrm>
            <a:off x="5669280" y="1417320"/>
            <a:ext cx="3200400" cy="2286000"/>
          </a:xfrm>
          <a:prstGeom prst="roundRect">
            <a:avLst>
              <a:gd name="adj" fmla="val 5600"/>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20" name="ii_493"/>
          <p:cNvSpPr/>
          <p:nvPr/>
        </p:nvSpPr>
        <p:spPr>
          <a:xfrm>
            <a:off x="5760720" y="149047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21" name="ih_494"/>
          <p:cNvSpPr/>
          <p:nvPr/>
        </p:nvSpPr>
        <p:spPr>
          <a:xfrm>
            <a:off x="6236208" y="1508760"/>
            <a:ext cx="2560320" cy="365760"/>
          </a:xfrm>
          <a:prstGeom prst="rect">
            <a:avLst/>
          </a:prstGeom>
          <a:noFill/>
          <a:ln/>
        </p:spPr>
        <p:txBody>
          <a:bodyPr wrap="square" lIns="0" tIns="0" rIns="0" bIns="0" rtlCol="0" anchor="ctr"/>
          <a:lstStyle/>
          <a:p>
            <a:pPr indent="0" marL="0">
              <a:buNone/>
            </a:pPr>
            <a:r>
              <a:rPr lang="en-US" sz="1400" dirty="0">
                <a:solidFill>
                  <a:srgbClr val="1B2559"/>
                </a:solidFill>
                <a:latin typeface="Arial Rounded MT Bold" pitchFamily="34" charset="0"/>
                <a:ea typeface="Arial Rounded MT Bold" pitchFamily="34" charset="-122"/>
                <a:cs typeface="Arial Rounded MT Bold" pitchFamily="34" charset="-120"/>
              </a:rPr>
              <a:t>Homework · Compiti</a:t>
            </a:r>
            <a:endParaRPr lang="en-US" sz="1400" dirty="0"/>
          </a:p>
        </p:txBody>
      </p:sp>
      <p:sp>
        <p:nvSpPr>
          <p:cNvPr id="22" name="il_495"/>
          <p:cNvSpPr/>
          <p:nvPr/>
        </p:nvSpPr>
        <p:spPr>
          <a:xfrm>
            <a:off x="6236208" y="1892808"/>
            <a:ext cx="2542032" cy="173736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150" dirty="0">
                <a:solidFill>
                  <a:srgbClr val="1B2559"/>
                </a:solidFill>
                <a:latin typeface="Segoe UI" pitchFamily="34" charset="0"/>
                <a:ea typeface="Segoe UI" pitchFamily="34" charset="-122"/>
                <a:cs typeface="Segoe UI" pitchFamily="34" charset="-120"/>
              </a:rPr>
              <a:t>Workbook 2A: 1a, 1b, 2a, 2b, 2c</a:t>
            </a:r>
            <a:endParaRPr lang="en-US" sz="1150" dirty="0"/>
          </a:p>
          <a:p>
            <a:pPr marL="152400" indent="-152400">
              <a:spcBef>
                <a:spcPts val="500"/>
              </a:spcBef>
              <a:spcAft>
                <a:spcPts val="200"/>
              </a:spcAft>
              <a:buSzPct val="100000"/>
              <a:buChar char="•"/>
            </a:pPr>
            <a:r>
              <a:rPr lang="en-US" sz="1150" dirty="0">
                <a:solidFill>
                  <a:srgbClr val="1B2559"/>
                </a:solidFill>
                <a:latin typeface="Segoe UI" pitchFamily="34" charset="0"/>
                <a:ea typeface="Segoe UI" pitchFamily="34" charset="-122"/>
                <a:cs typeface="Segoe UI" pitchFamily="34" charset="-120"/>
              </a:rPr>
              <a:t>Workbook 2A: 2e (where are the things?)</a:t>
            </a:r>
            <a:endParaRPr lang="en-US" sz="1150" dirty="0"/>
          </a:p>
          <a:p>
            <a:pPr marL="152400" indent="-152400">
              <a:spcBef>
                <a:spcPts val="500"/>
              </a:spcBef>
              <a:spcAft>
                <a:spcPts val="200"/>
              </a:spcAft>
              <a:buSzPct val="100000"/>
              <a:buChar char="•"/>
            </a:pPr>
            <a:r>
              <a:rPr lang="en-US" sz="1150" dirty="0">
                <a:solidFill>
                  <a:srgbClr val="1B2559"/>
                </a:solidFill>
                <a:latin typeface="Segoe UI" pitchFamily="34" charset="0"/>
                <a:ea typeface="Segoe UI" pitchFamily="34" charset="-122"/>
                <a:cs typeface="Segoe UI" pitchFamily="34" charset="-120"/>
              </a:rPr>
              <a:t>Write: 5 things in your bag and where they are</a:t>
            </a:r>
            <a:endParaRPr lang="en-US" sz="1150" dirty="0"/>
          </a:p>
        </p:txBody>
      </p:sp>
      <p:sp>
        <p:nvSpPr>
          <p:cNvPr id="23" name="st_496"/>
          <p:cNvSpPr/>
          <p:nvPr/>
        </p:nvSpPr>
        <p:spPr>
          <a:xfrm rot="-180000">
            <a:off x="5806440" y="3931920"/>
            <a:ext cx="2926080" cy="685800"/>
          </a:xfrm>
          <a:prstGeom prst="rect">
            <a:avLst/>
          </a:prstGeom>
          <a:solidFill>
            <a:srgbClr val="FFC2DA"/>
          </a:solidFill>
          <a:ln>
            <a:solidFill>
              <a:srgbClr val="FFC2D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1100" dirty="0">
                <a:solidFill>
                  <a:srgbClr val="1B2559"/>
                </a:solidFill>
                <a:latin typeface="Arial Rounded MT Bold" pitchFamily="34" charset="0"/>
                <a:ea typeface="Arial Rounded MT Bold" pitchFamily="34" charset="-122"/>
                <a:cs typeface="Arial Rounded MT Bold" pitchFamily="34" charset="-120"/>
              </a:rPr>
              <a:t>Next lesson: 2B · Made in America · colours and adjectives</a:t>
            </a:r>
            <a:endParaRPr lang="en-US" sz="1100" dirty="0"/>
          </a:p>
        </p:txBody>
      </p:sp>
    </p:spTree>
  </p:cSld>
  <p:clrMapOvr>
    <a:masterClrMapping/>
  </p:clrMapOvr>
  <p:transition spd="med">
    <p:push dir="l"/>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2" name=""/>
        <p:cNvGrpSpPr/>
        <p:nvPr/>
      </p:nvGrpSpPr>
      <p:grpSpPr>
        <a:xfrm>
          <a:off x="0" y="0"/>
          <a:ext cx="0" cy="0"/>
          <a:chOff x="0" y="0"/>
          <a:chExt cx="0" cy="0"/>
        </a:xfrm>
      </p:grpSpPr>
      <p:sp>
        <p:nvSpPr>
          <p:cNvPr id="3" name="bd_497"/>
          <p:cNvSpPr/>
          <p:nvPr/>
        </p:nvSpPr>
        <p:spPr>
          <a:xfrm>
            <a:off x="201168" y="164592"/>
            <a:ext cx="841248" cy="841248"/>
          </a:xfrm>
          <a:prstGeom prst="ellipse">
            <a:avLst/>
          </a:prstGeom>
          <a:solidFill>
            <a:srgbClr val="2F8DE4"/>
          </a:solidFill>
          <a:ln w="25400">
            <a:solidFill>
              <a:srgbClr val="FFFFFF"/>
            </a:solidFill>
          </a:ln>
          <a:effectLst>
            <a:outerShdw sx="100000" sy="100000" kx="0" ky="0" algn="bl" rotWithShape="0" blurRad="88900" dist="31750" dir="5400000">
              <a:srgbClr val="1B2559">
                <a:alpha val="15000"/>
              </a:srgbClr>
            </a:outerShdw>
          </a:effectLst>
        </p:spPr>
        <p:txBody>
          <a:bodyPr wrap="square" lIns="0" tIns="0" rIns="0" bIns="0" rtlCol="0" anchor="ctr"/>
          <a:lstStyle/>
          <a:p>
            <a:pPr algn="ctr" indent="0" marL="0">
              <a:buNone/>
            </a:pPr>
            <a:r>
              <a:rPr lang="en-US" sz="2200" dirty="0">
                <a:solidFill>
                  <a:srgbClr val="FFFFFF"/>
                </a:solidFill>
                <a:latin typeface="Arial Rounded MT Bold" pitchFamily="34" charset="0"/>
                <a:ea typeface="Arial Rounded MT Bold" pitchFamily="34" charset="-122"/>
                <a:cs typeface="Arial Rounded MT Bold" pitchFamily="34" charset="-120"/>
              </a:rPr>
              <a:t>18</a:t>
            </a:r>
            <a:endParaRPr lang="en-US" sz="2200" dirty="0"/>
          </a:p>
        </p:txBody>
      </p:sp>
      <p:pic>
        <p:nvPicPr>
          <p:cNvPr id="4" name="brY_498" descr="/home/claude/lls-course/v2/assets/brush-yellow.png">    </p:cNvPr>
          <p:cNvPicPr>
            <a:picLocks noChangeAspect="1"/>
          </p:cNvPicPr>
          <p:nvPr/>
        </p:nvPicPr>
        <p:blipFill>
          <a:blip r:embed="rId2"/>
          <a:stretch>
            <a:fillRect/>
          </a:stretch>
        </p:blipFill>
        <p:spPr>
          <a:xfrm>
            <a:off x="1097280" y="146304"/>
            <a:ext cx="5135270" cy="621792"/>
          </a:xfrm>
          <a:prstGeom prst="rect">
            <a:avLst/>
          </a:prstGeom>
        </p:spPr>
      </p:pic>
      <p:sp>
        <p:nvSpPr>
          <p:cNvPr id="5" name="title_499"/>
          <p:cNvSpPr/>
          <p:nvPr/>
        </p:nvSpPr>
        <p:spPr>
          <a:xfrm>
            <a:off x="1261872" y="164592"/>
            <a:ext cx="4860950" cy="566928"/>
          </a:xfrm>
          <a:prstGeom prst="rect">
            <a:avLst/>
          </a:prstGeom>
          <a:noFill/>
          <a:ln/>
        </p:spPr>
        <p:txBody>
          <a:bodyPr wrap="square" lIns="0" tIns="0" rIns="0" bIns="0" rtlCol="0" anchor="ctr">
            <a:normAutofit/>
          </a:bodyPr>
          <a:lstStyle/>
          <a:p>
            <a:pPr indent="0" marL="0">
              <a:buNone/>
            </a:pPr>
            <a:r>
              <a:rPr lang="en-US" sz="2500" dirty="0">
                <a:solidFill>
                  <a:srgbClr val="1B2559"/>
                </a:solidFill>
                <a:latin typeface="Arial Rounded MT Bold" pitchFamily="34" charset="0"/>
                <a:ea typeface="Arial Rounded MT Bold" pitchFamily="34" charset="-122"/>
                <a:cs typeface="Arial Rounded MT Bold" pitchFamily="34" charset="-120"/>
              </a:rPr>
              <a:t>Extra: Vocabulary Bank audio</a:t>
            </a:r>
            <a:endParaRPr lang="en-US" sz="2500" dirty="0"/>
          </a:p>
        </p:txBody>
      </p:sp>
      <p:pic>
        <p:nvPicPr>
          <p:cNvPr id="6" name="brP_500" descr="/home/claude/lls-course/v2/assets/brush-pink.png">    </p:cNvPr>
          <p:cNvPicPr>
            <a:picLocks noChangeAspect="1"/>
          </p:cNvPicPr>
          <p:nvPr/>
        </p:nvPicPr>
        <p:blipFill>
          <a:blip r:embed="rId3"/>
          <a:stretch>
            <a:fillRect/>
          </a:stretch>
        </p:blipFill>
        <p:spPr>
          <a:xfrm>
            <a:off x="1207008" y="731520"/>
            <a:ext cx="4119372" cy="402336"/>
          </a:xfrm>
          <a:prstGeom prst="rect">
            <a:avLst/>
          </a:prstGeom>
        </p:spPr>
      </p:pic>
      <p:sp>
        <p:nvSpPr>
          <p:cNvPr id="7" name="ins_501"/>
          <p:cNvSpPr/>
          <p:nvPr/>
        </p:nvSpPr>
        <p:spPr>
          <a:xfrm>
            <a:off x="1353312" y="731520"/>
            <a:ext cx="3863340" cy="402336"/>
          </a:xfrm>
          <a:prstGeom prst="rect">
            <a:avLst/>
          </a:prstGeom>
          <a:noFill/>
          <a:ln/>
        </p:spPr>
        <p:txBody>
          <a:bodyPr wrap="square" lIns="0" tIns="0" rIns="0" bIns="0" rtlCol="0" anchor="ctr">
            <a:normAutofit/>
          </a:bodyPr>
          <a:lstStyle/>
          <a:p>
            <a:pPr indent="0" marL="0">
              <a:buNone/>
            </a:pPr>
            <a:r>
              <a:rPr lang="en-US" sz="1250" i="1" dirty="0">
                <a:solidFill>
                  <a:srgbClr val="1B2559"/>
                </a:solidFill>
                <a:latin typeface="Segoe UI Semibold" pitchFamily="34" charset="0"/>
                <a:ea typeface="Segoe UI Semibold" pitchFamily="34" charset="-122"/>
                <a:cs typeface="Segoe UI Semibold" pitchFamily="34" charset="-120"/>
              </a:rPr>
              <a:t>Click a speaker to play the book audio.</a:t>
            </a:r>
            <a:endParaRPr lang="en-US" sz="1250" dirty="0"/>
          </a:p>
        </p:txBody>
      </p:sp>
      <p:sp>
        <p:nvSpPr>
          <p:cNvPr id="8" name="insIT_502"/>
          <p:cNvSpPr/>
          <p:nvPr/>
        </p:nvSpPr>
        <p:spPr>
          <a:xfrm>
            <a:off x="1371600" y="1115568"/>
            <a:ext cx="5852160" cy="219456"/>
          </a:xfrm>
          <a:prstGeom prst="rect">
            <a:avLst/>
          </a:prstGeom>
          <a:noFill/>
          <a:ln/>
        </p:spPr>
        <p:txBody>
          <a:bodyPr wrap="square" lIns="0" tIns="0" rIns="0" bIns="0" rtlCol="0" anchor="ctr">
            <a:normAutofit/>
          </a:bodyPr>
          <a:lstStyle/>
          <a:p>
            <a:pPr indent="0" marL="0">
              <a:buNone/>
            </a:pPr>
            <a:r>
              <a:rPr lang="en-US" sz="950" i="1" dirty="0">
                <a:solidFill>
                  <a:srgbClr val="5B6785"/>
                </a:solidFill>
                <a:latin typeface="Segoe UI" pitchFamily="34" charset="0"/>
                <a:ea typeface="Segoe UI" pitchFamily="34" charset="-122"/>
                <a:cs typeface="Segoe UI" pitchFamily="34" charset="-120"/>
              </a:rPr>
              <a:t>Clicca un altoparlante per l'audio del libro.</a:t>
            </a:r>
            <a:endParaRPr lang="en-US" sz="950" dirty="0"/>
          </a:p>
        </p:txBody>
      </p:sp>
      <p:sp>
        <p:nvSpPr>
          <p:cNvPr id="9" name="cmd_503"/>
          <p:cNvSpPr/>
          <p:nvPr/>
        </p:nvSpPr>
        <p:spPr>
          <a:xfrm>
            <a:off x="6510528" y="182880"/>
            <a:ext cx="1901952" cy="329184"/>
          </a:xfrm>
          <a:prstGeom prst="roundRect">
            <a:avLst>
              <a:gd name="adj" fmla="val 50000"/>
            </a:avLst>
          </a:prstGeom>
          <a:solidFill>
            <a:srgbClr val="FFFFFF"/>
          </a:solidFill>
          <a:ln w="25400">
            <a:solidFill>
              <a:srgbClr val="A9D3F5"/>
            </a:solidFill>
          </a:ln>
          <a:effectLst>
            <a:outerShdw sx="100000" sy="100000" kx="0" ky="0" algn="bl" rotWithShape="0" blurRad="88900" dist="31750" dir="5400000">
              <a:srgbClr val="1B2559">
                <a:alpha val="8000"/>
              </a:srgbClr>
            </a:outerShdw>
          </a:effectLst>
        </p:spPr>
        <p:txBody>
          <a:bodyPr wrap="square" lIns="101600" tIns="0" rIns="101600" bIns="0" rtlCol="0" anchor="ctr">
            <a:normAutofit/>
          </a:bodyPr>
          <a:lstStyle/>
          <a:p>
            <a:pPr indent="0" marL="0">
              <a:buNone/>
            </a:pPr>
            <a:r>
              <a:rPr lang="en-US" sz="1100" dirty="0">
                <a:solidFill>
                  <a:srgbClr val="000000"/>
                </a:solidFill>
              </a:rPr>
              <a:t>🎧 </a:t>
            </a:r>
            <a:pPr indent="0" marL="0">
              <a:buNone/>
            </a:pPr>
            <a:r>
              <a:rPr lang="en-US" sz="1200" dirty="0">
                <a:solidFill>
                  <a:srgbClr val="2F8DE4"/>
                </a:solidFill>
                <a:latin typeface="Arial Rounded MT Bold" pitchFamily="34" charset="0"/>
                <a:ea typeface="Arial Rounded MT Bold" pitchFamily="34" charset="-122"/>
                <a:cs typeface="Arial Rounded MT Bold" pitchFamily="34" charset="-120"/>
              </a:rPr>
              <a:t>LISTEN</a:t>
            </a:r>
            <a:pPr indent="0" marL="0">
              <a:buNone/>
            </a:pPr>
            <a:r>
              <a:rPr lang="en-US" sz="850" dirty="0">
                <a:solidFill>
                  <a:srgbClr val="5B6785"/>
                </a:solidFill>
                <a:latin typeface="Segoe UI Semibold" pitchFamily="34" charset="0"/>
                <a:ea typeface="Segoe UI Semibold" pitchFamily="34" charset="-122"/>
                <a:cs typeface="Segoe UI Semibold" pitchFamily="34" charset="-120"/>
              </a:rPr>
              <a:t>  ASCOLTA</a:t>
            </a:r>
            <a:endParaRPr lang="en-US" sz="1100" dirty="0"/>
          </a:p>
        </p:txBody>
      </p:sp>
      <p:sp>
        <p:nvSpPr>
          <p:cNvPr id="10" name="meta_504"/>
          <p:cNvSpPr/>
          <p:nvPr/>
        </p:nvSpPr>
        <p:spPr>
          <a:xfrm>
            <a:off x="6583680" y="566928"/>
            <a:ext cx="2286000" cy="256032"/>
          </a:xfrm>
          <a:prstGeom prst="rect">
            <a:avLst/>
          </a:prstGeom>
          <a:noFill/>
          <a:ln/>
        </p:spPr>
        <p:txBody>
          <a:bodyPr wrap="square" lIns="101600" tIns="0" rIns="101600" bIns="0" rtlCol="0" anchor="ctr"/>
          <a:lstStyle/>
          <a:p>
            <a:pPr indent="0" marL="0">
              <a:buNone/>
            </a:pPr>
            <a:r>
              <a:rPr lang="en-US" sz="950" dirty="0">
                <a:solidFill>
                  <a:srgbClr val="5B6785"/>
                </a:solidFill>
                <a:latin typeface="Segoe UI Semibold" pitchFamily="34" charset="0"/>
                <a:ea typeface="Segoe UI Semibold" pitchFamily="34" charset="-122"/>
                <a:cs typeface="Segoe UI Semibold" pitchFamily="34" charset="-120"/>
              </a:rPr>
              <a:t>🙋 whole class</a:t>
            </a:r>
            <a:endParaRPr lang="en-US" sz="950" dirty="0"/>
          </a:p>
        </p:txBody>
      </p:sp>
      <p:pic>
        <p:nvPicPr>
          <p:cNvPr id="11" name="logo_505" descr="/home/claude/lls-course/v2/img/logo.png">    </p:cNvPr>
          <p:cNvPicPr>
            <a:picLocks noChangeAspect="1"/>
          </p:cNvPicPr>
          <p:nvPr/>
        </p:nvPicPr>
        <p:blipFill>
          <a:blip r:embed="rId4"/>
          <a:stretch>
            <a:fillRect/>
          </a:stretch>
        </p:blipFill>
        <p:spPr>
          <a:xfrm>
            <a:off x="8485632" y="128016"/>
            <a:ext cx="502920" cy="502920"/>
          </a:xfrm>
          <a:prstGeom prst="rect">
            <a:avLst/>
          </a:prstGeom>
        </p:spPr>
      </p:pic>
      <p:sp>
        <p:nvSpPr>
          <p:cNvPr id="12" name="foot_506"/>
          <p:cNvSpPr/>
          <p:nvPr/>
        </p:nvSpPr>
        <p:spPr>
          <a:xfrm>
            <a:off x="274320" y="4873752"/>
            <a:ext cx="6858000" cy="219456"/>
          </a:xfrm>
          <a:prstGeom prst="rect">
            <a:avLst/>
          </a:prstGeom>
          <a:noFill/>
          <a:ln/>
        </p:spPr>
        <p:txBody>
          <a:bodyPr wrap="square" lIns="0" tIns="0" rIns="0" bIns="0" rtlCol="0" anchor="ctr"/>
          <a:lstStyle/>
          <a:p>
            <a:pPr indent="0" marL="0">
              <a:buNone/>
            </a:pPr>
            <a:r>
              <a:rPr lang="en-US" sz="800" dirty="0">
                <a:solidFill>
                  <a:srgbClr val="5B6785"/>
                </a:solidFill>
                <a:latin typeface="Segoe UI" pitchFamily="34" charset="0"/>
                <a:ea typeface="Segoe UI" pitchFamily="34" charset="-122"/>
                <a:cs typeface="Segoe UI" pitchFamily="34" charset="-120"/>
              </a:rPr>
              <a:t>2A · Book audio · 2A</a:t>
            </a:r>
            <a:endParaRPr lang="en-US" sz="800" dirty="0"/>
          </a:p>
        </p:txBody>
      </p:sp>
      <p:sp>
        <p:nvSpPr>
          <p:cNvPr id="13" name="st_507"/>
          <p:cNvSpPr/>
          <p:nvPr/>
        </p:nvSpPr>
        <p:spPr>
          <a:xfrm rot="-180000">
            <a:off x="7315200" y="4773168"/>
            <a:ext cx="1600200" cy="292608"/>
          </a:xfrm>
          <a:prstGeom prst="rect">
            <a:avLst/>
          </a:prstGeom>
          <a:solidFill>
            <a:srgbClr val="FFE07A"/>
          </a:solidFill>
          <a:ln>
            <a:solidFill>
              <a:srgbClr val="FFE07A"/>
            </a:solidFill>
          </a:ln>
          <a:effectLst>
            <a:outerShdw sx="100000" sy="100000" kx="0" ky="0" algn="bl" rotWithShape="0" blurRad="88900" dist="31750" dir="5400000">
              <a:srgbClr val="1B2559">
                <a:alpha val="15000"/>
              </a:srgbClr>
            </a:outerShdw>
          </a:effectLst>
        </p:spPr>
        <p:txBody>
          <a:bodyPr wrap="square" lIns="50800" tIns="50800" rIns="50800" bIns="50800" rtlCol="0" anchor="ctr">
            <a:normAutofit/>
          </a:bodyPr>
          <a:lstStyle/>
          <a:p>
            <a:pPr algn="ctr" indent="0" marL="0">
              <a:buNone/>
            </a:pPr>
            <a:r>
              <a:rPr lang="en-US" sz="900" dirty="0">
                <a:solidFill>
                  <a:srgbClr val="1B2559"/>
                </a:solidFill>
                <a:latin typeface="Arial Rounded MT Bold" pitchFamily="34" charset="0"/>
                <a:ea typeface="Arial Rounded MT Bold" pitchFamily="34" charset="-122"/>
                <a:cs typeface="Arial Rounded MT Bold" pitchFamily="34" charset="-120"/>
              </a:rPr>
              <a:t>EXTRA · if there's time</a:t>
            </a:r>
            <a:endParaRPr lang="en-US" sz="900" dirty="0"/>
          </a:p>
        </p:txBody>
      </p:sp>
      <p:sp>
        <p:nvSpPr>
          <p:cNvPr id="14" name="pf_508"/>
          <p:cNvSpPr/>
          <p:nvPr/>
        </p:nvSpPr>
        <p:spPr>
          <a:xfrm rot="-120000">
            <a:off x="365760" y="1371600"/>
            <a:ext cx="2651760" cy="1828800"/>
          </a:xfrm>
          <a:prstGeom prst="roundRect">
            <a:avLst>
              <a:gd name="adj" fmla="val 8500"/>
            </a:avLst>
          </a:prstGeom>
          <a:solidFill>
            <a:srgbClr val="FFFFFF"/>
          </a:solidFill>
          <a:ln w="12700">
            <a:solidFill>
              <a:srgbClr val="FFFFFF"/>
            </a:solidFill>
            <a:prstDash val="solid"/>
          </a:ln>
          <a:effectLst>
            <a:outerShdw sx="100000" sy="100000" kx="0" ky="0" algn="bl" rotWithShape="0" blurRad="88900" dist="31750" dir="5400000">
              <a:srgbClr val="1B2559">
                <a:alpha val="20000"/>
              </a:srgbClr>
            </a:outerShdw>
          </a:effectLst>
        </p:spPr>
      </p:sp>
      <p:pic>
        <p:nvPicPr>
          <p:cNvPr id="15" name="ph_509" descr="/home/claude/lls-course/v2/cache/red_2a_things_jpg_616x418_31.png">    </p:cNvPr>
          <p:cNvPicPr>
            <a:picLocks noChangeAspect="1"/>
          </p:cNvPicPr>
          <p:nvPr/>
        </p:nvPicPr>
        <p:blipFill>
          <a:blip r:embed="rId5"/>
          <a:stretch>
            <a:fillRect/>
          </a:stretch>
        </p:blipFill>
        <p:spPr>
          <a:xfrm rot="-120000">
            <a:off x="411480" y="1417320"/>
            <a:ext cx="2560320" cy="1737360"/>
          </a:xfrm>
          <a:prstGeom prst="rect">
            <a:avLst/>
          </a:prstGeom>
        </p:spPr>
      </p:pic>
      <p:sp>
        <p:nvSpPr>
          <p:cNvPr id="16" name="cd_510"/>
          <p:cNvSpPr/>
          <p:nvPr/>
        </p:nvSpPr>
        <p:spPr>
          <a:xfrm>
            <a:off x="320040" y="3383280"/>
            <a:ext cx="2743200" cy="1325880"/>
          </a:xfrm>
          <a:prstGeom prst="roundRect">
            <a:avLst>
              <a:gd name="adj" fmla="val 9655"/>
            </a:avLst>
          </a:prstGeom>
          <a:solidFill>
            <a:srgbClr val="FFF6CC"/>
          </a:solidFill>
          <a:ln w="19050">
            <a:solidFill>
              <a:srgbClr val="FFE07A"/>
            </a:solidFill>
            <a:prstDash val="solid"/>
          </a:ln>
          <a:effectLst>
            <a:outerShdw sx="100000" sy="100000" kx="0" ky="0" algn="bl" rotWithShape="0" blurRad="88900" dist="31750" dir="5400000">
              <a:srgbClr val="1B2559">
                <a:alpha val="12000"/>
              </a:srgbClr>
            </a:outerShdw>
          </a:effectLst>
        </p:spPr>
      </p:sp>
      <p:sp>
        <p:nvSpPr>
          <p:cNvPr id="17" name="ii_511"/>
          <p:cNvSpPr/>
          <p:nvPr/>
        </p:nvSpPr>
        <p:spPr>
          <a:xfrm>
            <a:off x="411480" y="3456432"/>
            <a:ext cx="457200" cy="457200"/>
          </a:xfrm>
          <a:prstGeom prst="rect">
            <a:avLst/>
          </a:prstGeom>
          <a:noFill/>
          <a:ln/>
        </p:spPr>
        <p:txBody>
          <a:bodyPr wrap="square" lIns="0" tIns="0" rIns="0" bIns="0" rtlCol="0" anchor="ctr"/>
          <a:lstStyle/>
          <a:p>
            <a:pPr algn="ctr" indent="0" marL="0">
              <a:buNone/>
            </a:pPr>
            <a:r>
              <a:rPr lang="en-US" sz="2200" dirty="0">
                <a:solidFill>
                  <a:srgbClr val="000000"/>
                </a:solidFill>
              </a:rPr>
              <a:t>💡</a:t>
            </a:r>
            <a:endParaRPr lang="en-US" sz="2200" dirty="0"/>
          </a:p>
        </p:txBody>
      </p:sp>
      <p:sp>
        <p:nvSpPr>
          <p:cNvPr id="18" name="ih_512"/>
          <p:cNvSpPr/>
          <p:nvPr/>
        </p:nvSpPr>
        <p:spPr>
          <a:xfrm>
            <a:off x="886968" y="3474720"/>
            <a:ext cx="2103120" cy="365760"/>
          </a:xfrm>
          <a:prstGeom prst="rect">
            <a:avLst/>
          </a:prstGeom>
          <a:noFill/>
          <a:ln/>
        </p:spPr>
        <p:txBody>
          <a:bodyPr wrap="square" lIns="0" tIns="0" rIns="0" bIns="0" rtlCol="0" anchor="ctr"/>
          <a:lstStyle/>
          <a:p>
            <a:pPr indent="0" marL="0">
              <a:buNone/>
            </a:pPr>
            <a:r>
              <a:rPr lang="en-US" sz="1300" dirty="0">
                <a:solidFill>
                  <a:srgbClr val="1B2559"/>
                </a:solidFill>
                <a:latin typeface="Arial Rounded MT Bold" pitchFamily="34" charset="0"/>
                <a:ea typeface="Arial Rounded MT Bold" pitchFamily="34" charset="-122"/>
                <a:cs typeface="Arial Rounded MT Bold" pitchFamily="34" charset="-120"/>
              </a:rPr>
              <a:t>Remember</a:t>
            </a:r>
            <a:endParaRPr lang="en-US" sz="1300" dirty="0"/>
          </a:p>
        </p:txBody>
      </p:sp>
      <p:sp>
        <p:nvSpPr>
          <p:cNvPr id="19" name="il_513"/>
          <p:cNvSpPr/>
          <p:nvPr/>
        </p:nvSpPr>
        <p:spPr>
          <a:xfrm>
            <a:off x="886968" y="3858768"/>
            <a:ext cx="2084832" cy="777240"/>
          </a:xfrm>
          <a:prstGeom prst="rect">
            <a:avLst/>
          </a:prstGeom>
          <a:noFill/>
          <a:ln/>
        </p:spPr>
        <p:txBody>
          <a:bodyPr wrap="square" lIns="0" tIns="0" rIns="0" bIns="0" rtlCol="0" anchor="t">
            <a:normAutofit/>
          </a:bodyPr>
          <a:lstStyle/>
          <a:p>
            <a:pPr marL="152400" indent="-152400">
              <a:spcAft>
                <a:spcPts val="200"/>
              </a:spcAft>
              <a:buSzPct val="100000"/>
              <a:buChar char="•"/>
            </a:pPr>
            <a:r>
              <a:rPr lang="en-US" sz="1050" dirty="0">
                <a:solidFill>
                  <a:srgbClr val="1B2559"/>
                </a:solidFill>
                <a:latin typeface="Segoe UI" pitchFamily="34" charset="0"/>
                <a:ea typeface="Segoe UI" pitchFamily="34" charset="-122"/>
                <a:cs typeface="Segoe UI" pitchFamily="34" charset="-120"/>
              </a:rPr>
              <a:t>2.1 = all 30 'Things' words (Vocabulary Bank p.151)</a:t>
            </a:r>
            <a:endParaRPr lang="en-US" sz="1050" dirty="0"/>
          </a:p>
          <a:p>
            <a:pPr marL="152400" indent="-152400">
              <a:spcBef>
                <a:spcPts val="500"/>
              </a:spcBef>
              <a:spcAft>
                <a:spcPts val="200"/>
              </a:spcAft>
              <a:buSzPct val="100000"/>
              <a:buChar char="•"/>
            </a:pPr>
            <a:r>
              <a:rPr lang="en-US" sz="1050" dirty="0">
                <a:solidFill>
                  <a:srgbClr val="1B2559"/>
                </a:solidFill>
                <a:latin typeface="Segoe UI" pitchFamily="34" charset="0"/>
                <a:ea typeface="Segoe UI" pitchFamily="34" charset="-122"/>
                <a:cs typeface="Segoe UI" pitchFamily="34" charset="-120"/>
              </a:rPr>
              <a:t>Click the speaker: play / pause</a:t>
            </a:r>
            <a:endParaRPr lang="en-US" sz="1050" dirty="0"/>
          </a:p>
        </p:txBody>
      </p:sp>
      <p:sp>
        <p:nvSpPr>
          <p:cNvPr id="20" name="ab_514"/>
          <p:cNvSpPr/>
          <p:nvPr/>
        </p:nvSpPr>
        <p:spPr>
          <a:xfrm>
            <a:off x="3246120" y="1417320"/>
            <a:ext cx="4983480" cy="457200"/>
          </a:xfrm>
          <a:prstGeom prst="roundRect">
            <a:avLst>
              <a:gd name="adj" fmla="val 24000"/>
            </a:avLst>
          </a:prstGeom>
          <a:solidFill>
            <a:srgbClr val="FFFFFF"/>
          </a:solidFill>
          <a:ln w="19050">
            <a:solidFill>
              <a:srgbClr val="F7A6C4"/>
            </a:solidFill>
          </a:ln>
        </p:spPr>
        <p:txBody>
          <a:bodyPr wrap="square" lIns="127000" tIns="0" rIns="127000" bIns="0" rtlCol="0" anchor="ctr">
            <a:normAutofit/>
          </a:bodyPr>
          <a:lstStyle/>
          <a:p>
            <a:pPr indent="0" marL="0">
              <a:buNone/>
            </a:pPr>
            <a:r>
              <a:rPr lang="en-US" sz="1300" dirty="0">
                <a:solidFill>
                  <a:srgbClr val="E8508F"/>
                </a:solidFill>
                <a:latin typeface="Arial Rounded MT Bold" pitchFamily="34" charset="0"/>
                <a:ea typeface="Arial Rounded MT Bold" pitchFamily="34" charset="-122"/>
                <a:cs typeface="Arial Rounded MT Bold" pitchFamily="34" charset="-120"/>
              </a:rPr>
              <a:t>🎧 2.1   </a:t>
            </a:r>
            <a:pPr indent="0" marL="0">
              <a:buNone/>
            </a:pPr>
            <a:r>
              <a:rPr lang="en-US" sz="1100" dirty="0">
                <a:solidFill>
                  <a:srgbClr val="1B2559"/>
                </a:solidFill>
                <a:latin typeface="Segoe UI Semibold" pitchFamily="34" charset="0"/>
                <a:ea typeface="Segoe UI Semibold" pitchFamily="34" charset="-122"/>
                <a:cs typeface="Segoe UI Semibold" pitchFamily="34" charset="-120"/>
              </a:rPr>
              <a:t>Vocabulary Bank Things – listen and repeat</a:t>
            </a:r>
            <a:endParaRPr lang="en-US" sz="1300" dirty="0"/>
          </a:p>
        </p:txBody>
      </p:sp>
      <p:pic>
        <p:nvPicPr>
          <p:cNvPr id="21" name="Media 0">
            <a:hlinkClick r:id="" action="ppaction://media"/>
          </p:cNvPr>
          <p:cNvPicPr>
            <a:picLocks noChangeAspect="1"/>
          </p:cNvPicPr>
          <p:nvPr>
            <a:audioFile r:link="rId6"/>
            <p:extLst>
              <p:ext uri="{DAA4B4D4-6D71-4841-9C94-3DE7FCFB9230}">
                <p14:media xmlns:p14="http://schemas.microsoft.com/office/powerpoint/2010/main" r:embed="rId7"/>
              </p:ext>
            </p:extLst>
          </p:nvPr>
        </p:nvPicPr>
        <p:blipFill>
          <a:blip r:embed="rId8"/>
          <a:stretch>
            <a:fillRect/>
          </a:stretch>
        </p:blipFill>
        <p:spPr>
          <a:xfrm>
            <a:off x="8321040" y="1453896"/>
            <a:ext cx="384048" cy="384048"/>
          </a:xfrm>
          <a:prstGeom prst="rect">
            <a:avLst/>
          </a:prstGeom>
        </p:spPr>
      </p:pic>
    </p:spTree>
  </p:cSld>
  <p:clrMapOvr>
    <a:masterClrMapping/>
  </p:clrMapOvr>
  <p:transition spd="med">
    <p:push dir="l"/>
  </p:transition>
  <p:timing>
    <p:tnLst>
      <p:par>
        <p:cTn id="1" dur="indefinite" restart="never" nodeType="tmRoot">
          <p:childTnLst>
            <p:seq concurrent="1" nextAc="seek">
              <p:cTn id="3" restart="whenNotActive" fill="hold" evtFilter="cancelBubble" nodeType="interactiveSeq">
                <p:stCondLst>
                  <p:cond evt="onClick" delay="0">
                    <p:tgtEl>
                      <p:spTgt spid="21"/>
                    </p:tgtEl>
                  </p:cond>
                </p:stCondLst>
                <p:endSync evt="end" delay="0">
                  <p:rtn val="all"/>
                </p:endSync>
                <p:childTnLst>
                  <p:par>
                    <p:cTn id="4" fill="hold">
                      <p:stCondLst>
                        <p:cond delay="0"/>
                      </p:stCondLst>
                      <p:childTnLst>
                        <p:par>
                          <p:cTn id="5" fill="hold">
                            <p:stCondLst>
                              <p:cond delay="0"/>
                            </p:stCondLst>
                            <p:childTnLst>
                              <p:par>
                                <p:cTn id="6" presetID="2" presetClass="mediacall" presetSubtype="0" fill="hold" nodeType="clickEffect">
                                  <p:stCondLst>
                                    <p:cond delay="0"/>
                                  </p:stCondLst>
                                  <p:childTnLst>
                                    <p:cmd type="call" cmd="togglePause">
                                      <p:cBhvr>
                                        <p:cTn id="7" dur="1" fill="hold"/>
                                        <p:tgtEl>
                                          <p:spTgt spid="21"/>
                                        </p:tgtEl>
                                      </p:cBhvr>
                                    </p:cmd>
                                  </p:childTnLst>
                                </p:cTn>
                              </p:par>
                            </p:childTnLst>
                          </p:cTn>
                        </p:par>
                      </p:childTnLst>
                    </p:cTn>
                  </p:par>
                </p:childTnLst>
              </p:cTn>
              <p:nextCondLst>
                <p:cond evt="onClick" delay="0">
                  <p:tgtEl>
                    <p:spTgt spid="21"/>
                  </p:tgtEl>
                </p:cond>
              </p:nextCondLst>
            </p:seq>
            <p:audio>
              <p:cMediaNode vol="80000">
                <p:cTn id="8" fill="hold" display="0">
                  <p:stCondLst>
                    <p:cond delay="indefinite"/>
                  </p:stCondLst>
                  <p:endCondLst>
                    <p:cond evt="onStopAudio" delay="0">
                      <p:tgtEl>
                        <p:sldTgt/>
                      </p:tgtEl>
                    </p:cond>
                  </p:endCondLst>
                </p:cTn>
                <p:tgtEl>
                  <p:spTgt spid="21"/>
                </p:tgtEl>
              </p:cMediaNode>
            </p:audi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2A Are you tidy or untidy?</dc:title>
  <dc:subject>PptxGenJS Presentation</dc:subject>
  <dc:creator>PptxGenJS</dc:creator>
  <cp:lastModifiedBy>PptxGenJS</cp:lastModifiedBy>
  <cp:revision>1</cp:revision>
  <dcterms:created xsi:type="dcterms:W3CDTF">2026-10-12T10:17:05Z</dcterms:created>
  <dcterms:modified xsi:type="dcterms:W3CDTF">2026-10-12T10:17:05Z</dcterms:modified>
</cp:coreProperties>
</file>