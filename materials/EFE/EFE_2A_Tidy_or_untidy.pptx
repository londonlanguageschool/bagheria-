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audio" Target="../media/media-17-6.mp3"/><Relationship Id="rId7" Type="http://schemas.microsoft.com/office/2007/relationships/media" Target="../media/media-17-6.mp3"/><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6 everyday things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tell a funny story: Where are Tom's keys?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plurals: keys, glasses, watches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things are: in, on, under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al compagno le 3 domande del riquadro rosa.</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File 1</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File 1: be, questions, the alphabet</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classroom language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8" name="w_42"/>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9" name="w_43"/>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30" name="w_44"/>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1" name="w_45"/>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2" name="w_46"/>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all'insegnante: sì o no + una parola.</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Warm-up · your bag (PQA)</a:t>
            </a:r>
            <a:endParaRPr lang="en-US" sz="800" dirty="0"/>
          </a:p>
        </p:txBody>
      </p:sp>
      <p:sp>
        <p:nvSpPr>
          <p:cNvPr id="14" name="pf_5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9"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I do. / No, I don't.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in my bag / in my pocket.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p:txBody>
      </p:sp>
      <p:sp>
        <p:nvSpPr>
          <p:cNvPr id="20" name="R1_qb6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5"/>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it's in my bag. / No – it's in my pocket.</a:t>
            </a:r>
            <a:endParaRPr lang="en-US" sz="1250" dirty="0"/>
          </a:p>
        </p:txBody>
      </p:sp>
      <p:sp>
        <p:nvSpPr>
          <p:cNvPr id="22" name="R2_qb66"/>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7"/>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have two keys.</a:t>
            </a:r>
            <a:endParaRPr lang="en-US" sz="1250" dirty="0"/>
          </a:p>
        </p:txBody>
      </p:sp>
      <p:sp>
        <p:nvSpPr>
          <p:cNvPr id="24" name="R3_qb68"/>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9"/>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very untidy!</a:t>
            </a:r>
            <a:endParaRPr lang="en-US" sz="1250" dirty="0"/>
          </a:p>
        </p:txBody>
      </p:sp>
      <p:sp>
        <p:nvSpPr>
          <p:cNvPr id="26" name="R4_qb70"/>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1"/>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5"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76"/>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cos'è in inglese. Clic 1: significato. Clic 2: italiano.</a:t>
            </a:r>
            <a:endParaRPr lang="en-US" sz="950" dirty="0"/>
          </a:p>
        </p:txBody>
      </p:sp>
      <p:sp>
        <p:nvSpPr>
          <p:cNvPr id="9" name="cmd_7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7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8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6 new words   ·   📖 Vocabulary Bank Things p.151</a:t>
            </a:r>
            <a:endParaRPr lang="en-US" sz="800" dirty="0"/>
          </a:p>
        </p:txBody>
      </p:sp>
      <p:sp>
        <p:nvSpPr>
          <p:cNvPr id="14" name="cd_83"/>
          <p:cNvSpPr/>
          <p:nvPr/>
        </p:nvSpPr>
        <p:spPr>
          <a:xfrm>
            <a:off x="320040" y="141732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7" name="R1_def86"/>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money and cards – usually men</a:t>
            </a:r>
            <a:endParaRPr lang="en-US" sz="850" dirty="0"/>
          </a:p>
        </p:txBody>
      </p:sp>
      <p:sp>
        <p:nvSpPr>
          <p:cNvPr id="18" name="R2_it87"/>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9" name="cd_88"/>
          <p:cNvSpPr/>
          <p:nvPr/>
        </p:nvSpPr>
        <p:spPr>
          <a:xfrm>
            <a:off x="2487168" y="141732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0" name="e_8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1" name="en_9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2" name="R1_def91"/>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small bag for money – usually women</a:t>
            </a:r>
            <a:endParaRPr lang="en-US" sz="850" dirty="0"/>
          </a:p>
        </p:txBody>
      </p:sp>
      <p:sp>
        <p:nvSpPr>
          <p:cNvPr id="23" name="R2_it92"/>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4" name="cd_93"/>
          <p:cNvSpPr/>
          <p:nvPr/>
        </p:nvSpPr>
        <p:spPr>
          <a:xfrm>
            <a:off x="4654296" y="1417320"/>
            <a:ext cx="2075688" cy="914400"/>
          </a:xfrm>
          <a:prstGeom prst="roundRect">
            <a:avLst>
              <a:gd name="adj" fmla="val 140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5" name="e_9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9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7" name="R1_def96"/>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open the door with them</a:t>
            </a:r>
            <a:endParaRPr lang="en-US" sz="850" dirty="0"/>
          </a:p>
        </p:txBody>
      </p:sp>
      <p:sp>
        <p:nvSpPr>
          <p:cNvPr id="28" name="R2_it97"/>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9" name="cd_98"/>
          <p:cNvSpPr/>
          <p:nvPr/>
        </p:nvSpPr>
        <p:spPr>
          <a:xfrm>
            <a:off x="6821424" y="1417320"/>
            <a:ext cx="2075688" cy="914400"/>
          </a:xfrm>
          <a:prstGeom prst="roundRect">
            <a:avLst>
              <a:gd name="adj" fmla="val 140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e_9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0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2" name="R1_def101"/>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wear them in the sun</a:t>
            </a:r>
            <a:endParaRPr lang="en-US" sz="850" dirty="0"/>
          </a:p>
        </p:txBody>
      </p:sp>
      <p:sp>
        <p:nvSpPr>
          <p:cNvPr id="33" name="R2_it102"/>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4" name="cd_103"/>
          <p:cNvSpPr/>
          <p:nvPr/>
        </p:nvSpPr>
        <p:spPr>
          <a:xfrm>
            <a:off x="320040" y="2423160"/>
            <a:ext cx="2075688" cy="914400"/>
          </a:xfrm>
          <a:prstGeom prst="roundRect">
            <a:avLst>
              <a:gd name="adj" fmla="val 140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e_104"/>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05"/>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7" name="R1_def106"/>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nose</a:t>
            </a:r>
            <a:endParaRPr lang="en-US" sz="850" dirty="0"/>
          </a:p>
        </p:txBody>
      </p:sp>
      <p:sp>
        <p:nvSpPr>
          <p:cNvPr id="38" name="R2_it107"/>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9" name="cd_108"/>
          <p:cNvSpPr/>
          <p:nvPr/>
        </p:nvSpPr>
        <p:spPr>
          <a:xfrm>
            <a:off x="2487168" y="2423160"/>
            <a:ext cx="2075688" cy="914400"/>
          </a:xfrm>
          <a:prstGeom prst="roundRect">
            <a:avLst>
              <a:gd name="adj" fmla="val 140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40" name="e_109"/>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1" name="en_110"/>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2" name="R1_def111"/>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phone</a:t>
            </a:r>
            <a:endParaRPr lang="en-US" sz="850" dirty="0"/>
          </a:p>
        </p:txBody>
      </p:sp>
      <p:sp>
        <p:nvSpPr>
          <p:cNvPr id="43" name="R2_it112"/>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4" name="R2_wc113"/>
          <p:cNvSpPr/>
          <p:nvPr/>
        </p:nvSpPr>
        <p:spPr>
          <a:xfrm>
            <a:off x="320040" y="34747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2_w114"/>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32"/>
                                        </p:tgtEl>
                                        <p:attrNameLst>
                                          <p:attrName>style.visibility</p:attrName>
                                        </p:attrNameLst>
                                      </p:cBhvr>
                                      <p:to>
                                        <p:strVal val="visible"/>
                                      </p:to>
                                    </p:set>
                                    <p:animEffect transition="in" filter="fade">
                                      <p:cBhvr>
                                        <p:cTn id="16" dur="400"/>
                                        <p:tgtEl>
                                          <p:spTgt spid="32"/>
                                        </p:tgtEl>
                                      </p:cBhvr>
                                    </p:animEffect>
                                  </p:childTnLst>
                                </p:cTn>
                              </p:par>
                              <p:par>
                                <p:cTn id="17" presetID="10" presetClass="entr" presetSubtype="0" fill="hold" nodeType="withEffect">
                                  <p:stCondLst>
                                    <p:cond delay="0"/>
                                  </p:stCondLst>
                                  <p:childTnLst>
                                    <p:set>
                                      <p:cBhvr>
                                        <p:cTn id="18" dur="1" fill="hold">
                                          <p:stCondLst>
                                            <p:cond delay="0"/>
                                          </p:stCondLst>
                                        </p:cTn>
                                        <p:tgtEl>
                                          <p:spTgt spid="37"/>
                                        </p:tgtEl>
                                        <p:attrNameLst>
                                          <p:attrName>style.visibility</p:attrName>
                                        </p:attrNameLst>
                                      </p:cBhvr>
                                      <p:to>
                                        <p:strVal val="visible"/>
                                      </p:to>
                                    </p:set>
                                    <p:animEffect transition="in" filter="fade">
                                      <p:cBhvr>
                                        <p:cTn id="19" dur="400"/>
                                        <p:tgtEl>
                                          <p:spTgt spid="37"/>
                                        </p:tgtEl>
                                      </p:cBhvr>
                                    </p:animEffect>
                                  </p:childTnLst>
                                </p:cTn>
                              </p:par>
                              <p:par>
                                <p:cTn id="20" presetID="10" presetClass="entr" presetSubtype="0" fill="hold" nodeType="withEffect">
                                  <p:stCondLst>
                                    <p:cond delay="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400"/>
                                        <p:tgtEl>
                                          <p:spTgt spid="4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400"/>
                                        <p:tgtEl>
                                          <p:spTgt spid="23"/>
                                        </p:tgtEl>
                                      </p:cBhvr>
                                    </p:animEffect>
                                  </p:childTnLst>
                                </p:cTn>
                              </p:par>
                              <p:par>
                                <p:cTn id="31" presetID="10"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animEffect transition="in" filter="fade">
                                      <p:cBhvr>
                                        <p:cTn id="33" dur="400"/>
                                        <p:tgtEl>
                                          <p:spTgt spid="28"/>
                                        </p:tgtEl>
                                      </p:cBhvr>
                                    </p:animEffect>
                                  </p:childTnLst>
                                </p:cTn>
                              </p:par>
                              <p:par>
                                <p:cTn id="34" presetID="10" presetClass="entr" presetSubtype="0" fill="hold" nodeType="withEffect">
                                  <p:stCondLst>
                                    <p:cond delay="0"/>
                                  </p:stCondLst>
                                  <p:childTnLst>
                                    <p:set>
                                      <p:cBhvr>
                                        <p:cTn id="35" dur="1" fill="hold">
                                          <p:stCondLst>
                                            <p:cond delay="0"/>
                                          </p:stCondLst>
                                        </p:cTn>
                                        <p:tgtEl>
                                          <p:spTgt spid="33"/>
                                        </p:tgtEl>
                                        <p:attrNameLst>
                                          <p:attrName>style.visibility</p:attrName>
                                        </p:attrNameLst>
                                      </p:cBhvr>
                                      <p:to>
                                        <p:strVal val="visible"/>
                                      </p:to>
                                    </p:set>
                                    <p:animEffect transition="in" filter="fade">
                                      <p:cBhvr>
                                        <p:cTn id="36" dur="400"/>
                                        <p:tgtEl>
                                          <p:spTgt spid="33"/>
                                        </p:tgtEl>
                                      </p:cBhvr>
                                    </p:animEffect>
                                  </p:childTnLst>
                                </p:cTn>
                              </p:par>
                              <p:par>
                                <p:cTn id="37" presetID="10"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animEffect transition="in" filter="fade">
                                      <p:cBhvr>
                                        <p:cTn id="39" dur="400"/>
                                        <p:tgtEl>
                                          <p:spTgt spid="38"/>
                                        </p:tgtEl>
                                      </p:cBhvr>
                                    </p:animEffect>
                                  </p:childTnLst>
                                </p:cTn>
                              </p:par>
                              <p:par>
                                <p:cTn id="40" presetID="10" presetClass="entr" presetSubtype="0" fill="hold" nodeType="with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par>
                                <p:cTn id="43" presetID="10" presetClass="entr" presetSubtype="0" fill="hold" nodeType="withEffect">
                                  <p:stCondLst>
                                    <p:cond delay="0"/>
                                  </p:stCondLst>
                                  <p:childTnLst>
                                    <p:set>
                                      <p:cBhvr>
                                        <p:cTn id="44" dur="1" fill="hold">
                                          <p:stCondLst>
                                            <p:cond delay="0"/>
                                          </p:stCondLst>
                                        </p:cTn>
                                        <p:tgtEl>
                                          <p:spTgt spid="44"/>
                                        </p:tgtEl>
                                        <p:attrNameLst>
                                          <p:attrName>style.visibility</p:attrName>
                                        </p:attrNameLst>
                                      </p:cBhvr>
                                      <p:to>
                                        <p:strVal val="visible"/>
                                      </p:to>
                                    </p:set>
                                    <p:animEffect transition="in" filter="fade">
                                      <p:cBhvr>
                                        <p:cTn id="45" dur="400"/>
                                        <p:tgtEl>
                                          <p:spTgt spid="44"/>
                                        </p:tgtEl>
                                      </p:cBhvr>
                                    </p:animEffect>
                                  </p:childTnLst>
                                </p:cTn>
                              </p:par>
                              <p:par>
                                <p:cTn id="46" presetID="10" presetClass="entr" presetSubtype="0" fill="hold" nodeType="withEffect">
                                  <p:stCondLst>
                                    <p:cond delay="0"/>
                                  </p:stCondLst>
                                  <p:childTnLst>
                                    <p:set>
                                      <p:cBhvr>
                                        <p:cTn id="47" dur="1" fill="hold">
                                          <p:stCondLst>
                                            <p:cond delay="0"/>
                                          </p:stCondLst>
                                        </p:cTn>
                                        <p:tgtEl>
                                          <p:spTgt spid="45"/>
                                        </p:tgtEl>
                                        <p:attrNameLst>
                                          <p:attrName>style.visibility</p:attrName>
                                        </p:attrNameLst>
                                      </p:cBhvr>
                                      <p:to>
                                        <p:strVal val="visible"/>
                                      </p:to>
                                    </p:set>
                                    <p:animEffect transition="in" filter="fade">
                                      <p:cBhvr>
                                        <p:cTn id="48"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9"/>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l'immagine. Di': It's a… o They're…</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2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Practice · It's a… / They're…   ·   📖 SB p.14 · Vocabulary Bank activation (What is it? / What are they?)</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 → They're keys.   ·   📱 → It's a phone.</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4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4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7"/>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9"/>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5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53"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4"/>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 dell'insegnante.</a:t>
            </a:r>
            <a:endParaRPr lang="en-US" sz="950" dirty="0"/>
          </a:p>
        </p:txBody>
      </p:sp>
      <p:sp>
        <p:nvSpPr>
          <p:cNvPr id="9" name="cmd_15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5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1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Story (TPRS) · ask and answer   ·   📖 Our story (TPRS) · today's 6 words + in, on, under</a:t>
            </a:r>
            <a:endParaRPr lang="en-US" sz="800" dirty="0"/>
          </a:p>
        </p:txBody>
      </p:sp>
      <p:sp>
        <p:nvSpPr>
          <p:cNvPr id="14" name="cd_161"/>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62"/>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3"/>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6"/>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8"/>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9" descr="/home/claude/lls-course/v2/cache/red_2a_untid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170"/>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71"/>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2"/>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3"/>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is = one thing · are = two or more</a:t>
            </a:r>
            <a:endParaRPr lang="en-US" sz="950" dirty="0"/>
          </a:p>
          <a:p>
            <a:pPr marL="152400" indent="-152400">
              <a:spcAft>
                <a:spcPts val="200"/>
              </a:spcAft>
              <a:buSzPct val="100000"/>
              <a:buChar char="•"/>
            </a:pPr>
            <a:r>
              <a:rPr lang="en-US" sz="950" dirty="0">
                <a:solidFill>
                  <a:srgbClr val="1B2559"/>
                </a:solidFill>
                <a:latin typeface="Segoe UI" pitchFamily="34" charset="0"/>
                <a:ea typeface="Segoe UI" pitchFamily="34" charset="-122"/>
                <a:cs typeface="Segoe UI" pitchFamily="34" charset="-120"/>
              </a:rPr>
              <a:t>in · on · under</a:t>
            </a:r>
            <a:endParaRPr lang="en-US" sz="9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5"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6"/>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7"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178"/>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la storia. Vero o falso? Correggi quelle false.</a:t>
            </a:r>
            <a:endParaRPr lang="en-US" sz="950" dirty="0"/>
          </a:p>
        </p:txBody>
      </p:sp>
      <p:sp>
        <p:nvSpPr>
          <p:cNvPr id="9" name="cmd_18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8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1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3" name="logo_1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the class story</a:t>
            </a:r>
            <a:endParaRPr lang="en-US" sz="800" dirty="0"/>
          </a:p>
        </p:txBody>
      </p:sp>
      <p:sp>
        <p:nvSpPr>
          <p:cNvPr id="15" name="cd_18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18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8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189"/>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Tom is very tidy. → F – he's very untidy.</a:t>
            </a:r>
            <a:endParaRPr lang="en-US" sz="1050" dirty="0"/>
          </a:p>
        </p:txBody>
      </p:sp>
      <p:sp>
        <p:nvSpPr>
          <p:cNvPr id="19" name="pf_19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1"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19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19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3" name="R1_chip19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4" name="bd_19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19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6" name="R2_chip19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7" name="bd_19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19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9" name="R3_chip20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30" name="bd_20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20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2" name="R4_chip20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3" name="bd_20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20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5" name="R5_chip20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1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le desinenze colorate. Qual è la regola?</a:t>
            </a:r>
            <a:endParaRPr lang="en-US" sz="950" dirty="0"/>
          </a:p>
        </p:txBody>
      </p:sp>
      <p:sp>
        <p:nvSpPr>
          <p:cNvPr id="9" name="cmd_21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Pop-up grammar · plurals   ·   📖 Grammar Bank 2A p.126 · audio 2.2</a:t>
            </a:r>
            <a:endParaRPr lang="en-US" sz="800" dirty="0"/>
          </a:p>
        </p:txBody>
      </p:sp>
      <p:sp>
        <p:nvSpPr>
          <p:cNvPr id="14" name="ap_218"/>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5" name="ah_21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cd_220"/>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9" name="rh_22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20" name="pf_222"/>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3"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2" name="ru_22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3" name="R1_rx22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4" name="R1_ri22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an + a, e, i, o, u (suono)</a:t>
            </a:r>
            <a:endParaRPr lang="en-US" sz="900" dirty="0"/>
          </a:p>
        </p:txBody>
      </p:sp>
      <p:sp>
        <p:nvSpPr>
          <p:cNvPr id="25" name="cd_227"/>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6" name="rh_22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7" name="pf_229"/>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230"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9" name="ru_23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30" name="R2_rx23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1" name="R2_ri23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quasi sempre</a:t>
            </a:r>
            <a:endParaRPr lang="en-US" sz="900" dirty="0"/>
          </a:p>
        </p:txBody>
      </p:sp>
      <p:sp>
        <p:nvSpPr>
          <p:cNvPr id="32" name="cd_234"/>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3" name="rh_23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4" name="pf_236"/>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237"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6" name="ru_23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7" name="R3_rx23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8" name="R3_ri24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ma: key → keys</a:t>
            </a:r>
            <a:endParaRPr lang="en-US" sz="900" dirty="0"/>
          </a:p>
        </p:txBody>
      </p:sp>
      <p:sp>
        <p:nvSpPr>
          <p:cNvPr id="39" name="cd_241"/>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0" name="rh_24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1" name="pf_243"/>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2" name="ph_244"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3" name="ru_24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4" name="R4_rx24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5" name="R4_ri24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people = persone</a:t>
            </a:r>
            <a:endParaRPr lang="en-US" sz="900" dirty="0"/>
          </a:p>
        </p:txBody>
      </p:sp>
      <p:sp>
        <p:nvSpPr>
          <p:cNvPr id="46" name="R5_wc24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R5_w24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0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4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4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4"/>
                                        </p:tgtEl>
                                        <p:attrNameLst>
                                          <p:attrName>style.visibility</p:attrName>
                                        </p:attrNameLst>
                                      </p:cBhvr>
                                      <p:to>
                                        <p:strVal val="visible"/>
                                      </p:to>
                                    </p:set>
                                    <p:animEffect transition="in" filter="fade">
                                      <p:cBhvr>
                                        <p:cTn id="31" dur="400"/>
                                        <p:tgtEl>
                                          <p:spTgt spid="44"/>
                                        </p:tgtEl>
                                      </p:cBhvr>
                                    </p:animEffect>
                                  </p:childTnLst>
                                </p:cTn>
                              </p:par>
                              <p:par>
                                <p:cTn id="32" presetID="10" presetClass="entr" presetSubtype="0" fill="hold" nodeType="withEffect">
                                  <p:stCondLst>
                                    <p:cond delay="0"/>
                                  </p:stCondLst>
                                  <p:childTnLst>
                                    <p:set>
                                      <p:cBhvr>
                                        <p:cTn id="33" dur="1" fill="hold">
                                          <p:stCondLst>
                                            <p:cond delay="0"/>
                                          </p:stCondLst>
                                        </p:cTn>
                                        <p:tgtEl>
                                          <p:spTgt spid="45"/>
                                        </p:tgtEl>
                                        <p:attrNameLst>
                                          <p:attrName>style.visibility</p:attrName>
                                        </p:attrNameLst>
                                      </p:cBhvr>
                                      <p:to>
                                        <p:strVal val="visible"/>
                                      </p:to>
                                    </p:set>
                                    <p:animEffect transition="in" filter="fade">
                                      <p:cBhvr>
                                        <p:cTn id="34" dur="400"/>
                                        <p:tgtEl>
                                          <p:spTgt spid="4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400"/>
                                        <p:tgtEl>
                                          <p:spTgt spid="46"/>
                                        </p:tgtEl>
                                      </p:cBhvr>
                                    </p:animEffect>
                                  </p:childTnLst>
                                </p:cTn>
                              </p:par>
                              <p:par>
                                <p:cTn id="40" presetID="10" presetClass="entr" presetSubtype="0" fill="hold" nodeType="with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audio>
              <p:cMediaNode vol="80000">
                <p:cTn id="53" fill="hold" display="0">
                  <p:stCondLst>
                    <p:cond delay="indefinite"/>
                  </p:stCondLst>
                  <p:endCondLst>
                    <p:cond evt="onStopAudio" delay="0">
                      <p:tgtEl>
                        <p:sldTgt/>
                      </p:tgtEl>
                    </p:cond>
                  </p:endCondLst>
                </p:cTn>
                <p:tgtEl>
                  <p:spTgt spid="16"/>
                </p:tgtEl>
              </p:cMediaNode>
            </p:audio>
            <p:audio>
              <p:cMediaNode vol="80000">
                <p:cTn id="54" fill="hold" display="0">
                  <p:stCondLst>
                    <p:cond delay="indefinite"/>
                  </p:stCondLst>
                  <p:endCondLst>
                    <p:cond evt="onStopAudio" delay="0">
                      <p:tgtEl>
                        <p:sldTgt/>
                      </p:tgtEl>
                    </p:cond>
                  </p:endCondLst>
                </p:cTn>
                <p:tgtEl>
                  <p:spTgt spid="17"/>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5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5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5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la regola! Poi di' ogni parola: /s/, /z/ o /ɪz/?</a:t>
            </a:r>
            <a:endParaRPr lang="en-US" sz="950" dirty="0"/>
          </a:p>
        </p:txBody>
      </p:sp>
      <p:sp>
        <p:nvSpPr>
          <p:cNvPr id="9" name="cmd_25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0" name="meta_25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25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final -s and -es   ·   📖 SB p.15 · 3 Pronunciation · audio 2.3, 2.4</a:t>
            </a:r>
            <a:endParaRPr lang="en-US" sz="800" dirty="0"/>
          </a:p>
        </p:txBody>
      </p:sp>
      <p:sp>
        <p:nvSpPr>
          <p:cNvPr id="14" name="cd_261"/>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63"/>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7" name="il_264"/>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265"/>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9" name="ah_266"/>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22"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3"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4" name="lg_267"/>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5" name="lg_268"/>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6" name="lg_269"/>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7" name="sq_27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8" name="R1_tag271"/>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9" name="sq_27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30" name="R2_tag273"/>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1" name="sq_27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2" name="R3_tag275"/>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3" name="sq_27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4" name="R4_tag27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5" name="sq_27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6" name="R5_tag279"/>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7" name="sq_28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8" name="R6_tag28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9" name="sq_28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40" name="R7_tag283"/>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1" name="sq_28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2" name="R8_tag285"/>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1"/>
                                        </p:tgtEl>
                                      </p:cBhvr>
                                    </p:cmd>
                                  </p:childTnLst>
                                </p:cTn>
                              </p:par>
                            </p:childTnLst>
                          </p:cTn>
                        </p:par>
                      </p:childTnLst>
                    </p:cTn>
                  </p:par>
                </p:childTnLst>
              </p:cTn>
              <p:nextCondLst>
                <p:cond evt="onClick" delay="0">
                  <p:tgtEl>
                    <p:spTgt spid="21"/>
                  </p:tgtEl>
                </p:cond>
              </p:nextCondLst>
            </p:seq>
            <p:seq concurrent="1" nextAc="seek">
              <p:cTn id="53" restart="whenNotActive" fill="hold" evtFilter="cancelBubble" nodeType="interactiveSeq">
                <p:stCondLst>
                  <p:cond evt="onClick" delay="0">
                    <p:tgtEl>
                      <p:spTgt spid="22"/>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2"/>
                                        </p:tgtEl>
                                      </p:cBhvr>
                                    </p:cmd>
                                  </p:childTnLst>
                                </p:cTn>
                              </p:par>
                            </p:childTnLst>
                          </p:cTn>
                        </p:par>
                      </p:childTnLst>
                    </p:cTn>
                  </p:par>
                </p:childTnLst>
              </p:cTn>
              <p:nextCondLst>
                <p:cond evt="onClick" delay="0">
                  <p:tgtEl>
                    <p:spTgt spid="22"/>
                  </p:tgtEl>
                </p:cond>
              </p:nextCondLst>
            </p:seq>
            <p:seq concurrent="1" nextAc="seek">
              <p:cTn id="58" restart="whenNotActive" fill="hold" evtFilter="cancelBubble" nodeType="interactiveSeq">
                <p:stCondLst>
                  <p:cond evt="onClick" delay="0">
                    <p:tgtEl>
                      <p:spTgt spid="23"/>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3"/>
                                        </p:tgtEl>
                                      </p:cBhvr>
                                    </p:cmd>
                                  </p:childTnLst>
                                </p:cTn>
                              </p:par>
                            </p:childTnLst>
                          </p:cTn>
                        </p:par>
                      </p:childTnLst>
                    </p:cTn>
                  </p:par>
                </p:childTnLst>
              </p:cTn>
              <p:nextCondLst>
                <p:cond evt="onClick" delay="0">
                  <p:tgtEl>
                    <p:spTgt spid="23"/>
                  </p:tgtEl>
                </p:cond>
              </p:nextCondLst>
            </p:seq>
            <p:audio>
              <p:cMediaNode vol="80000">
                <p:cTn id="63" fill="hold" display="0">
                  <p:stCondLst>
                    <p:cond delay="indefinite"/>
                  </p:stCondLst>
                  <p:endCondLst>
                    <p:cond evt="onStopAudio" delay="0">
                      <p:tgtEl>
                        <p:sldTgt/>
                      </p:tgtEl>
                    </p:cond>
                  </p:endCondLst>
                </p:cTn>
                <p:tgtEl>
                  <p:spTgt spid="20"/>
                </p:tgtEl>
              </p:cMediaNode>
            </p:audio>
            <p:audio>
              <p:cMediaNode vol="80000">
                <p:cTn id="64" fill="hold" display="0">
                  <p:stCondLst>
                    <p:cond delay="indefinite"/>
                  </p:stCondLst>
                  <p:endCondLst>
                    <p:cond evt="onStopAudio" delay="0">
                      <p:tgtEl>
                        <p:sldTgt/>
                      </p:tgtEl>
                    </p:cond>
                  </p:endCondLst>
                </p:cTn>
                <p:tgtEl>
                  <p:spTgt spid="21"/>
                </p:tgtEl>
              </p:cMediaNode>
            </p:audio>
            <p:audio>
              <p:cMediaNode vol="80000">
                <p:cTn id="65" fill="hold" display="0">
                  <p:stCondLst>
                    <p:cond delay="indefinite"/>
                  </p:stCondLst>
                  <p:endCondLst>
                    <p:cond evt="onStopAudio" delay="0">
                      <p:tgtEl>
                        <p:sldTgt/>
                      </p:tgtEl>
                    </p:cond>
                  </p:endCondLst>
                </p:cTn>
                <p:tgtEl>
                  <p:spTgt spid="22"/>
                </p:tgtEl>
              </p:cMediaNode>
            </p:audio>
            <p:audio>
              <p:cMediaNode vol="80000">
                <p:cTn id="66" fill="hold" display="0">
                  <p:stCondLst>
                    <p:cond delay="indefinite"/>
                  </p:stCondLst>
                  <p:endCondLst>
                    <p:cond evt="onStopAudio" delay="0">
                      <p:tgtEl>
                        <p:sldTgt/>
                      </p:tgtEl>
                    </p:cond>
                  </p:endCondLst>
                </p:cTn>
                <p:tgtEl>
                  <p:spTgt spid="23"/>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89"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90"/>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Completa con in, on o under.</a:t>
            </a:r>
            <a:endParaRPr lang="en-US" sz="950" dirty="0"/>
          </a:p>
        </p:txBody>
      </p:sp>
      <p:sp>
        <p:nvSpPr>
          <p:cNvPr id="9" name="cmd_29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29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29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on, under   ·   📖 SB p.15 · 4a (answers: TG)</a:t>
            </a:r>
            <a:endParaRPr lang="en-US" sz="800" dirty="0"/>
          </a:p>
        </p:txBody>
      </p:sp>
      <p:sp>
        <p:nvSpPr>
          <p:cNvPr id="14" name="cd_2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30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cat is ___ the sofa. → on</a:t>
            </a:r>
            <a:endParaRPr lang="en-US" sz="1050" dirty="0"/>
          </a:p>
        </p:txBody>
      </p:sp>
      <p:sp>
        <p:nvSpPr>
          <p:cNvPr id="18" name="pf_3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2"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3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3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2" name="R1_chip30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3" name="bd_3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3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5" name="R2_chip30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6" name="bd_3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3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8" name="R3_chip31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9" name="bd_3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3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1" name="R4_chip31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6"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7"/>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8"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319"/>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50" dirty="0"/>
          </a:p>
        </p:txBody>
      </p:sp>
      <p:sp>
        <p:nvSpPr>
          <p:cNvPr id="8" name="insIT_3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tre persone. Chi parla di ogni luogo: 1, 2 o 3?</a:t>
            </a:r>
            <a:endParaRPr lang="en-US" sz="950" dirty="0"/>
          </a:p>
        </p:txBody>
      </p:sp>
      <p:sp>
        <p:nvSpPr>
          <p:cNvPr id="9" name="cmd_32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2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2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three people   ·   📖 SB p.15 · 5a · audio 2.5 (script SB p.118)</a:t>
            </a:r>
            <a:endParaRPr lang="en-US" sz="800" dirty="0"/>
          </a:p>
        </p:txBody>
      </p:sp>
      <p:sp>
        <p:nvSpPr>
          <p:cNvPr id="14" name="ap_32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5" name="ah_32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2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2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30"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33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cd_33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33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3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335"/>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Read the 3 places. A study = a room for work.</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once. Write 1, 2 or 3.</a:t>
            </a:r>
            <a:endParaRPr lang="en-US" sz="1100" dirty="0"/>
          </a:p>
        </p:txBody>
      </p:sp>
      <p:sp>
        <p:nvSpPr>
          <p:cNvPr id="26" name="lq_33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7" name="R1_chip33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8" name="lq_33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9" name="R2_chip33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30" name="lq_340"/>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1" name="R3_chip341"/>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45"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46"/>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4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le cose di ogni persona.</a:t>
            </a:r>
            <a:endParaRPr lang="en-US" sz="950" dirty="0"/>
          </a:p>
        </p:txBody>
      </p:sp>
      <p:sp>
        <p:nvSpPr>
          <p:cNvPr id="9" name="cmd_34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49"/>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35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5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p.15 · 5b · audio 2.5</a:t>
            </a:r>
            <a:endParaRPr lang="en-US" sz="800" dirty="0"/>
          </a:p>
        </p:txBody>
      </p:sp>
      <p:sp>
        <p:nvSpPr>
          <p:cNvPr id="15" name="ap_35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6" name="ah_35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5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57"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5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5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6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6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6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6" name="R1_chip36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7" name="gq_36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8" name="R2_chip36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9" name="gq_36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30" name="R3_chip36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7"/>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7"/>
                                        </p:tgtEl>
                                      </p:cBhvr>
                                    </p:cmd>
                                  </p:childTnLst>
                                </p:cTn>
                              </p:par>
                            </p:childTnLst>
                          </p:cTn>
                        </p:par>
                      </p:childTnLst>
                    </p:cTn>
                  </p:par>
                </p:childTnLst>
              </p:cTn>
              <p:nextCondLst>
                <p:cond evt="onClick" delay="0">
                  <p:tgtEl>
                    <p:spTgt spid="17"/>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7"/>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71"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372"/>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250" dirty="0"/>
          </a:p>
        </p:txBody>
      </p:sp>
      <p:sp>
        <p:nvSpPr>
          <p:cNvPr id="8" name="insIT_37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Nascondi il telefono (nella tua testa!). Il compagno fa max 5 domande.</a:t>
            </a:r>
            <a:endParaRPr lang="en-US" sz="950" dirty="0"/>
          </a:p>
        </p:txBody>
      </p:sp>
      <p:sp>
        <p:nvSpPr>
          <p:cNvPr id="9" name="cmd_37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7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37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3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Game · in, on, under</a:t>
            </a:r>
            <a:endParaRPr lang="en-US" sz="800" dirty="0"/>
          </a:p>
        </p:txBody>
      </p:sp>
      <p:sp>
        <p:nvSpPr>
          <p:cNvPr id="14" name="cd_37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8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38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choose a place for your phone in the room.</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asks: Is it on the table? Is it under the chair?</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Found in 5 questions? B wins. Swap.</a:t>
            </a:r>
            <a:endParaRPr lang="en-US" sz="1150" dirty="0"/>
          </a:p>
        </p:txBody>
      </p:sp>
      <p:sp>
        <p:nvSpPr>
          <p:cNvPr id="18" name="st_38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8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8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1" name="R1_chip38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2" name="bd_38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8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4" name="R2_chip38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5" name="bd_39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9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7" name="R3_chip39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8" name="bd_39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9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30" name="R4_chip39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9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9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99"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400"/>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50" dirty="0"/>
          </a:p>
        </p:txBody>
      </p:sp>
      <p:sp>
        <p:nvSpPr>
          <p:cNvPr id="8" name="insIT_4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Cambia la storia! Nuova persona, nuove cose. Raccontala al compagno.</a:t>
            </a:r>
            <a:endParaRPr lang="en-US" sz="950" dirty="0"/>
          </a:p>
        </p:txBody>
      </p:sp>
      <p:sp>
        <p:nvSpPr>
          <p:cNvPr id="9" name="cmd_40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0" name="cmd_40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0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4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Transform · your story</a:t>
            </a:r>
            <a:endParaRPr lang="en-US" sz="800" dirty="0"/>
          </a:p>
        </p:txBody>
      </p:sp>
      <p:sp>
        <p:nvSpPr>
          <p:cNvPr id="14" name="cd_40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0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0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1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Anna is very untidy. Where are her sunglasses? They aren't in her bag…</a:t>
            </a:r>
            <a:endParaRPr lang="en-US" sz="1050" dirty="0"/>
          </a:p>
        </p:txBody>
      </p:sp>
      <p:sp>
        <p:nvSpPr>
          <p:cNvPr id="18" name="pf_41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12"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1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1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1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1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1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1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1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2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2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2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2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2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2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2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28" descr="/home/claude/lls-course/v2/assets/brush-pink.png">    </p:cNvPr>
          <p:cNvPicPr>
            <a:picLocks noChangeAspect="1"/>
          </p:cNvPicPr>
          <p:nvPr/>
        </p:nvPicPr>
        <p:blipFill>
          <a:blip r:embed="rId3"/>
          <a:stretch>
            <a:fillRect/>
          </a:stretch>
        </p:blipFill>
        <p:spPr>
          <a:xfrm>
            <a:off x="1207008" y="731520"/>
            <a:ext cx="5856732" cy="402336"/>
          </a:xfrm>
          <a:prstGeom prst="rect">
            <a:avLst/>
          </a:prstGeom>
        </p:spPr>
      </p:pic>
      <p:sp>
        <p:nvSpPr>
          <p:cNvPr id="7" name="ins_429"/>
          <p:cNvSpPr/>
          <p:nvPr/>
        </p:nvSpPr>
        <p:spPr>
          <a:xfrm>
            <a:off x="1353312" y="731520"/>
            <a:ext cx="56007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al compagno: 5 cose nella tua borsa e dove sono.</a:t>
            </a:r>
            <a:endParaRPr lang="en-US" sz="950" dirty="0"/>
          </a:p>
        </p:txBody>
      </p:sp>
      <p:sp>
        <p:nvSpPr>
          <p:cNvPr id="9" name="cmd_43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43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writing · your bag</a:t>
            </a:r>
            <a:endParaRPr lang="en-US" sz="800" dirty="0"/>
          </a:p>
        </p:txBody>
      </p:sp>
      <p:sp>
        <p:nvSpPr>
          <p:cNvPr id="14" name="pf_43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7"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3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4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4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bag I have a…, two…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My keys are in… · My phone is on…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always lose my…!</a:t>
            </a:r>
            <a:endParaRPr lang="en-US" sz="1050" dirty="0"/>
          </a:p>
        </p:txBody>
      </p:sp>
      <p:sp>
        <p:nvSpPr>
          <p:cNvPr id="20" name="R1_qb44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bag I have a purse, keys, my phone, tissues and a pen.</a:t>
            </a:r>
            <a:endParaRPr lang="en-US" sz="1250" dirty="0"/>
          </a:p>
        </p:txBody>
      </p:sp>
      <p:sp>
        <p:nvSpPr>
          <p:cNvPr id="22" name="R2_qb44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untidy – my charger is always on the floor!</a:t>
            </a:r>
            <a:endParaRPr lang="en-US" sz="1250" dirty="0"/>
          </a:p>
        </p:txBody>
      </p:sp>
      <p:sp>
        <p:nvSpPr>
          <p:cNvPr id="24" name="R3_qb44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49"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50"/>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54"/>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455"/>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4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3" name="bd_458"/>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459"/>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5" name="bd_460"/>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461"/>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7" name="bd_462"/>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463"/>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9" name="cd_464"/>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65"/>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66"/>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467"/>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1a, 1b, 2a, 2b, 2c</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2e (where are the things?)</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5 things in your bag and where they are</a:t>
            </a:r>
            <a:endParaRPr lang="en-US" sz="1150" dirty="0"/>
          </a:p>
        </p:txBody>
      </p:sp>
      <p:sp>
        <p:nvSpPr>
          <p:cNvPr id="23" name="st_468"/>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70"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71"/>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72"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3"/>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7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479"/>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80"/>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81"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82"/>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83"/>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84"/>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85"/>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2.1 = all 30 'Things' words (Vocabulary Bank p.151)</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86"/>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2026-10-11T16:15:52Z</dcterms:created>
  <dcterms:modified xsi:type="dcterms:W3CDTF">2026-10-11T16:15:52Z</dcterms:modified>
</cp:coreProperties>
</file>