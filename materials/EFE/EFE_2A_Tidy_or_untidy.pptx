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audio" Target="../media/media-18-6.mp3"/><Relationship Id="rId7" Type="http://schemas.microsoft.com/office/2007/relationships/media" Target="../media/media-18-6.mp3"/><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learn 6 everyday things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tell a funny story: Where are Tom's keys?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plurals: keys, glasses, watches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where things are: in, on, under</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File 1: be, questions, the alphabet</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Yes, I do. / No, I don't.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It's in my bag / in my pocket.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3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small bag for money – usually women</a:t>
            </a:r>
            <a:endParaRPr lang="en-US" sz="850" dirty="0"/>
          </a:p>
        </p:txBody>
      </p:sp>
      <p:sp>
        <p:nvSpPr>
          <p:cNvPr id="23" name="R4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5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open the door with them</a:t>
            </a:r>
            <a:endParaRPr lang="en-US" sz="850" dirty="0"/>
          </a:p>
        </p:txBody>
      </p:sp>
      <p:sp>
        <p:nvSpPr>
          <p:cNvPr id="28" name="R6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7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wear them in the sun</a:t>
            </a:r>
            <a:endParaRPr lang="en-US" sz="850" dirty="0"/>
          </a:p>
        </p:txBody>
      </p:sp>
      <p:sp>
        <p:nvSpPr>
          <p:cNvPr id="33" name="R8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9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nose</a:t>
            </a:r>
            <a:endParaRPr lang="en-US" sz="850" dirty="0"/>
          </a:p>
        </p:txBody>
      </p:sp>
      <p:sp>
        <p:nvSpPr>
          <p:cNvPr id="38" name="R10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phone</a:t>
            </a:r>
            <a:endParaRPr lang="en-US" sz="850" dirty="0"/>
          </a:p>
        </p:txBody>
      </p:sp>
      <p:sp>
        <p:nvSpPr>
          <p:cNvPr id="43" name="R1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13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13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400"/>
                                        <p:tgtEl>
                                          <p:spTgt spid="44"/>
                                        </p:tgtEl>
                                      </p:cBhvr>
                                    </p:animEffect>
                                  </p:childTnLst>
                                </p:cTn>
                              </p:par>
                              <p:par>
                                <p:cTn id="68" presetID="10" presetClass="entr" presetSubtype="0" fill="hold" nodeType="withEffect">
                                  <p:stCondLst>
                                    <p:cond delay="0"/>
                                  </p:stCondLst>
                                  <p:childTnLst>
                                    <p:set>
                                      <p:cBhvr>
                                        <p:cTn id="69" dur="1" fill="hold">
                                          <p:stCondLst>
                                            <p:cond delay="0"/>
                                          </p:stCondLst>
                                        </p:cTn>
                                        <p:tgtEl>
                                          <p:spTgt spid="45"/>
                                        </p:tgtEl>
                                        <p:attrNameLst>
                                          <p:attrName>style.visibility</p:attrName>
                                        </p:attrNameLst>
                                      </p:cBhvr>
                                      <p:to>
                                        <p:strVal val="visible"/>
                                      </p:to>
                                    </p:set>
                                    <p:animEffect transition="in" filter="fade">
                                      <p:cBhvr>
                                        <p:cTn id="7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is = one thing · are = two or more</a:t>
            </a:r>
            <a:endParaRPr lang="en-US" sz="850" dirty="0"/>
          </a:p>
          <a:p>
            <a:pPr marL="152400" indent="-152400">
              <a:spcBef>
                <a:spcPts val="5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in · on · under</a:t>
            </a:r>
            <a:endParaRPr lang="en-US" sz="8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Pop-up grammar · plurals   ·   📖 Grammar Bank 2A p.126 · audio 2.2</a:t>
            </a:r>
            <a:endParaRPr lang="en-US" sz="800" dirty="0"/>
          </a:p>
        </p:txBody>
      </p:sp>
      <p:sp>
        <p:nvSpPr>
          <p:cNvPr id="14" name="ah_218"/>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21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22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22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22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3"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22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3" name="R1_rx22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4" name="R1_ri22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an + a, e, i, o, u (suono)</a:t>
            </a:r>
            <a:endParaRPr lang="en-US" sz="900" dirty="0"/>
          </a:p>
        </p:txBody>
      </p:sp>
      <p:sp>
        <p:nvSpPr>
          <p:cNvPr id="25" name="cd_22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22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7" name="pf_22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30"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23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30" name="R2_rx23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1" name="R2_ri23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quasi sempre</a:t>
            </a:r>
            <a:endParaRPr lang="en-US" sz="900" dirty="0"/>
          </a:p>
        </p:txBody>
      </p:sp>
      <p:sp>
        <p:nvSpPr>
          <p:cNvPr id="32" name="cd_23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23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4" name="pf_23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37"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23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7" name="R3_rx23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8" name="R3_ri24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ma: key → keys</a:t>
            </a:r>
            <a:endParaRPr lang="en-US" sz="900" dirty="0"/>
          </a:p>
        </p:txBody>
      </p:sp>
      <p:sp>
        <p:nvSpPr>
          <p:cNvPr id="39" name="cd_24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24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1" name="pf_24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44"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24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4" name="R4_rx24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5" name="R4_ri24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people = persone</a:t>
            </a:r>
            <a:endParaRPr lang="en-US" sz="900" dirty="0"/>
          </a:p>
        </p:txBody>
      </p:sp>
      <p:sp>
        <p:nvSpPr>
          <p:cNvPr id="46" name="R5_wc248"/>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249"/>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la regola! Poi di' ogni parola: /s/, /z/ o /ɪz/?</a:t>
            </a:r>
            <a:endParaRPr lang="en-US" sz="950" dirty="0"/>
          </a:p>
        </p:txBody>
      </p:sp>
      <p:sp>
        <p:nvSpPr>
          <p:cNvPr id="9" name="cmd_2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final -s and -es   ·   📖 SB p.15 · 3 Pronunciation · audio 2.3, 2.4</a:t>
            </a:r>
            <a:endParaRPr lang="en-US" sz="800" dirty="0"/>
          </a:p>
        </p:txBody>
      </p:sp>
      <p:sp>
        <p:nvSpPr>
          <p:cNvPr id="14" name="cd_26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3"/>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6"/>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22" name="ah_267"/>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4"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5" name="lg_26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6" name="lg_26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7" name="lg_270"/>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8" name="sq_27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9" name="R1_tag272"/>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0" name="sq_27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1" name="R2_tag274"/>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2" name="sq_27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3" name="R3_tag276"/>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4" name="sq_27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5" name="R4_tag27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6" name="sq_27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7" name="R5_tag280"/>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8" name="sq_28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9" name="R6_tag282"/>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40" name="sq_28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1" name="R7_tag284"/>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2" name="sq_28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3" name="R8_tag286"/>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3"/>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3"/>
                                        </p:tgtEl>
                                      </p:cBhvr>
                                    </p:cmd>
                                  </p:childTnLst>
                                </p:cTn>
                              </p:par>
                            </p:childTnLst>
                          </p:cTn>
                        </p:par>
                      </p:childTnLst>
                    </p:cTn>
                  </p:par>
                </p:childTnLst>
              </p:cTn>
              <p:nextCondLst>
                <p:cond evt="onClick" delay="0">
                  <p:tgtEl>
                    <p:spTgt spid="23"/>
                  </p:tgtEl>
                </p:cond>
              </p:nextCondLst>
            </p:seq>
            <p:seq concurrent="1" nextAc="seek">
              <p:cTn id="58" restart="whenNotActive" fill="hold" evtFilter="cancelBubble" nodeType="interactiveSeq">
                <p:stCondLst>
                  <p:cond evt="onClick" delay="0">
                    <p:tgtEl>
                      <p:spTgt spid="24"/>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4"/>
                                        </p:tgtEl>
                                      </p:cBhvr>
                                    </p:cmd>
                                  </p:childTnLst>
                                </p:cTn>
                              </p:par>
                            </p:childTnLst>
                          </p:cTn>
                        </p:par>
                      </p:childTnLst>
                    </p:cTn>
                  </p:par>
                </p:childTnLst>
              </p:cTn>
              <p:nextCondLst>
                <p:cond evt="onClick" delay="0">
                  <p:tgtEl>
                    <p:spTgt spid="24"/>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3"/>
                </p:tgtEl>
              </p:cMediaNode>
            </p:audio>
            <p:audio>
              <p:cMediaNode vol="80000">
                <p:cTn id="66" fill="hold" display="0">
                  <p:stCondLst>
                    <p:cond delay="indefinite"/>
                  </p:stCondLst>
                  <p:endCondLst>
                    <p:cond evt="onStopAudio" delay="0">
                      <p:tgtEl>
                        <p:sldTgt/>
                      </p:tgtEl>
                    </p:cond>
                  </p:endCondLst>
                </p:cTn>
                <p:tgtEl>
                  <p:spTgt spid="24"/>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9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Completa con in, on o under.</a:t>
            </a:r>
            <a:endParaRPr lang="en-US" sz="950" dirty="0"/>
          </a:p>
        </p:txBody>
      </p:sp>
      <p:sp>
        <p:nvSpPr>
          <p:cNvPr id="9" name="cmd_29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on, under   ·   📖 SB p.15 · 4a (answers: TG)</a:t>
            </a:r>
            <a:endParaRPr lang="en-US" sz="800" dirty="0"/>
          </a:p>
        </p:txBody>
      </p:sp>
      <p:sp>
        <p:nvSpPr>
          <p:cNvPr id="14" name="cd_29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The cat is ___ the sofa. → on</a:t>
            </a:r>
            <a:endParaRPr lang="en-US" sz="1050" dirty="0"/>
          </a:p>
        </p:txBody>
      </p:sp>
      <p:sp>
        <p:nvSpPr>
          <p:cNvPr id="18" name="pf_30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3"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glasses are ___ the notebook.</a:t>
            </a:r>
            <a:endParaRPr lang="en-US" sz="1150" dirty="0"/>
          </a:p>
        </p:txBody>
      </p:sp>
      <p:sp>
        <p:nvSpPr>
          <p:cNvPr id="22" name="R1_chip30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credit cards are ___ the wallet.</a:t>
            </a:r>
            <a:endParaRPr lang="en-US" sz="1150" dirty="0"/>
          </a:p>
        </p:txBody>
      </p:sp>
      <p:sp>
        <p:nvSpPr>
          <p:cNvPr id="25" name="R2_chip30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1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bag is ___ the desk.</a:t>
            </a:r>
            <a:endParaRPr lang="en-US" sz="1150" dirty="0"/>
          </a:p>
        </p:txBody>
      </p:sp>
      <p:sp>
        <p:nvSpPr>
          <p:cNvPr id="28" name="R3_chip31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___ the cat!</a:t>
            </a:r>
            <a:endParaRPr lang="en-US" sz="1150" dirty="0"/>
          </a:p>
        </p:txBody>
      </p:sp>
      <p:sp>
        <p:nvSpPr>
          <p:cNvPr id="31" name="R4_chip31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2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tre persone. Chi parla di ogni luogo: 1, 2 o 3?</a:t>
            </a:r>
            <a:endParaRPr lang="en-US" sz="950" dirty="0"/>
          </a:p>
        </p:txBody>
      </p:sp>
      <p:sp>
        <p:nvSpPr>
          <p:cNvPr id="9" name="cmd_32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three people   ·   📖 SB p.15 · 5a · audio 2.5 (script SB p.118)</a:t>
            </a:r>
            <a:endParaRPr lang="en-US" sz="800" dirty="0"/>
          </a:p>
        </p:txBody>
      </p:sp>
      <p:sp>
        <p:nvSpPr>
          <p:cNvPr id="14" name="ap_327"/>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2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3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3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32"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3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cd_33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33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33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33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3 places. A study = a room for work.</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Leggi i 3 luoghi. Study = studio.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Write 1, 2 or 3.</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una volta. Scrivi 1, 2 o 3.</a:t>
            </a:r>
            <a:endParaRPr lang="en-US" sz="700" dirty="0"/>
          </a:p>
        </p:txBody>
      </p:sp>
      <p:sp>
        <p:nvSpPr>
          <p:cNvPr id="27" name="lq_33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8" name="R1_chip33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9" name="lq_34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30" name="R2_chip34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1" name="lq_34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2" name="R3_chip34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7"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8"/>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le cose di ogni persona.</a:t>
            </a:r>
            <a:endParaRPr lang="en-US" sz="950" dirty="0"/>
          </a:p>
        </p:txBody>
      </p:sp>
      <p:sp>
        <p:nvSpPr>
          <p:cNvPr id="9" name="cmd_3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5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5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p.15 · 5b · audio 2.5</a:t>
            </a:r>
            <a:endParaRPr lang="en-US" sz="800" dirty="0"/>
          </a:p>
        </p:txBody>
      </p:sp>
      <p:sp>
        <p:nvSpPr>
          <p:cNvPr id="15" name="ap_35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5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5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60"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6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6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6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6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6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7" name="R1_chip36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8" name="gq_36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9" name="R2_chip36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30" name="gq_36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1" name="R3_chip37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9"/>
                                        </p:tgtEl>
                                      </p:cBhvr>
                                    </p:cmd>
                                  </p:childTnLst>
                                </p:cTn>
                              </p:par>
                            </p:childTnLst>
                          </p:cTn>
                        </p:par>
                      </p:childTnLst>
                    </p:cTn>
                  </p:par>
                </p:childTnLst>
              </p:cTn>
              <p:nextCondLst>
                <p:cond evt="onClick" delay="0">
                  <p:tgtEl>
                    <p:spTgt spid="19"/>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Nascondi il telefono (nella tua testa!). Il compagno fa max 5 domande.</a:t>
            </a:r>
            <a:endParaRPr lang="en-US" sz="950" dirty="0"/>
          </a:p>
        </p:txBody>
      </p:sp>
      <p:sp>
        <p:nvSpPr>
          <p:cNvPr id="9" name="cmd_37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Game · in, on, under</a:t>
            </a:r>
            <a:endParaRPr lang="en-US" sz="800" dirty="0"/>
          </a:p>
        </p:txBody>
      </p:sp>
      <p:sp>
        <p:nvSpPr>
          <p:cNvPr id="14" name="cd_38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8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A: choose a place for your phone in the room.</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scegli un posto per il telefono nell'aula.</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B asks: Is it on the table? Is it under the chair?</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chiede: Is it on the table? Is it under the chair?</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Found in 5 questions? B wins. Swap.</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Trovato in 5 domande? Vince B. Scambiatevi.</a:t>
            </a:r>
            <a:endParaRPr lang="en-US" sz="800" dirty="0"/>
          </a:p>
        </p:txBody>
      </p:sp>
      <p:sp>
        <p:nvSpPr>
          <p:cNvPr id="18" name="st_386"/>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7"/>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8"/>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9"/>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90"/>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91"/>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92"/>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93"/>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4"/>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5"/>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6"/>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7"/>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8"/>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0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0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Cambia la storia! Nuova persona, nuove cose. Raccontala al compagno.</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Transform · your story</a:t>
            </a:r>
            <a:endParaRPr lang="en-US" sz="800" dirty="0"/>
          </a:p>
        </p:txBody>
      </p:sp>
      <p:sp>
        <p:nvSpPr>
          <p:cNvPr id="14" name="cd_41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3"/>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Anna is very untidy. Where are her sunglasses? They aren't in her bag…</a:t>
            </a:r>
            <a:endParaRPr lang="en-US" sz="1050" dirty="0"/>
          </a:p>
        </p:txBody>
      </p:sp>
      <p:sp>
        <p:nvSpPr>
          <p:cNvPr id="18" name="pf_41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5"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6"/>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7"/>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8"/>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9"/>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20"/>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21"/>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22"/>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23"/>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places where it ISN'T</a:t>
            </a:r>
            <a:endParaRPr lang="en-US" sz="1150" dirty="0"/>
          </a:p>
        </p:txBody>
      </p:sp>
      <p:sp>
        <p:nvSpPr>
          <p:cNvPr id="28" name="R3_chip424"/>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5"/>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6"/>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7"/>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3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3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compagno: 5 cose nella tua borsa e dove sono.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writing · your bag</a:t>
            </a:r>
            <a:endParaRPr lang="en-US" sz="800" dirty="0"/>
          </a:p>
        </p:txBody>
      </p:sp>
      <p:sp>
        <p:nvSpPr>
          <p:cNvPr id="14" name="pf_4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40"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In my bag I have a…, two…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My keys are in… · My phone is on…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always lose my…!</a:t>
            </a:r>
            <a:endParaRPr lang="en-US" sz="900" dirty="0"/>
          </a:p>
        </p:txBody>
      </p:sp>
      <p:sp>
        <p:nvSpPr>
          <p:cNvPr id="20" name="R1_qb4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In my bag I have a purse, keys, my phone, tissues and a pen.</a:t>
            </a:r>
            <a:endParaRPr lang="en-US" sz="1250" dirty="0"/>
          </a:p>
        </p:txBody>
      </p:sp>
      <p:sp>
        <p:nvSpPr>
          <p:cNvPr id="22" name="R2_qb44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untidy – my charger is always on the floor!</a:t>
            </a:r>
            <a:endParaRPr lang="en-US" sz="1250" dirty="0"/>
          </a:p>
        </p:txBody>
      </p:sp>
      <p:sp>
        <p:nvSpPr>
          <p:cNvPr id="24" name="R3_qb44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5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457"/>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58"/>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3" name="bd_46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6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6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6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6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6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7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1a, 1b, 2a, 2b, 2c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2e (where are the things?)</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5 things in your bag and where they are</a:t>
            </a:r>
            <a:endParaRPr lang="en-US" sz="1150" dirty="0"/>
          </a:p>
        </p:txBody>
      </p:sp>
      <p:sp>
        <p:nvSpPr>
          <p:cNvPr id="23" name="st_47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7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4" name="cd_483"/>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8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8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7" name="R1_tk48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87"/>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8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8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21" name="R2_tk49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91"/>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9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9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5" name="R3_tk49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95"/>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9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9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9" name="R4_tk49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st_49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502"/>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3" name="st_51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11"/>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12"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13"/>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14"/>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15"/>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16"/>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2.1 = all 30 'Things' words (Vocabulary Bank p.151)</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Click the speaker: play / pause</a:t>
            </a:r>
            <a:endParaRPr lang="en-US" sz="1050" dirty="0"/>
          </a:p>
        </p:txBody>
      </p:sp>
      <p:sp>
        <p:nvSpPr>
          <p:cNvPr id="20" name="ab_517"/>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2026-10-15T08:42:28Z</dcterms:created>
  <dcterms:modified xsi:type="dcterms:W3CDTF">2026-10-15T08:42:28Z</dcterms:modified>
</cp:coreProperties>
</file>