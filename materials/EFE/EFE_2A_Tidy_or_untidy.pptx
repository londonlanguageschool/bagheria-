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learn 6 everyday things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tell a funny story: Where are Tom's keys?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plurals: keys, glasses, watches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where things are: in, on, under</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1672490"/>
            <a:ext cx="3977640" cy="1409899"/>
          </a:xfrm>
          <a:prstGeom prst="roundRect">
            <a:avLst>
              <a:gd name="adj" fmla="val 1102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317_31.png">    </p:cNvPr>
          <p:cNvPicPr>
            <a:picLocks noChangeAspect="1"/>
          </p:cNvPicPr>
          <p:nvPr/>
        </p:nvPicPr>
        <p:blipFill>
          <a:blip r:embed="rId4"/>
          <a:stretch>
            <a:fillRect/>
          </a:stretch>
        </p:blipFill>
        <p:spPr>
          <a:xfrm rot="90000">
            <a:off x="4892040" y="1718210"/>
            <a:ext cx="3886200" cy="131845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File 1</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red_2a_tidy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File 1: be, questions, the alphabet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classroom language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board</a:t>
            </a:r>
            <a:endParaRPr lang="en-US" sz="1200" dirty="0"/>
          </a:p>
        </p:txBody>
      </p:sp>
      <p:sp>
        <p:nvSpPr>
          <p:cNvPr id="20" name="w_34"/>
          <p:cNvSpPr/>
          <p:nvPr/>
        </p:nvSpPr>
        <p:spPr>
          <a:xfrm>
            <a:off x="4183380"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chair</a:t>
            </a:r>
            <a:endParaRPr lang="en-US" sz="1200" dirty="0"/>
          </a:p>
        </p:txBody>
      </p:sp>
      <p:sp>
        <p:nvSpPr>
          <p:cNvPr id="21" name="w_35"/>
          <p:cNvSpPr/>
          <p:nvPr/>
        </p:nvSpPr>
        <p:spPr>
          <a:xfrm>
            <a:off x="5120640" y="1783080"/>
            <a:ext cx="75895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desk</a:t>
            </a:r>
            <a:endParaRPr lang="en-US" sz="1200" dirty="0"/>
          </a:p>
        </p:txBody>
      </p:sp>
      <p:sp>
        <p:nvSpPr>
          <p:cNvPr id="22" name="w_36"/>
          <p:cNvSpPr/>
          <p:nvPr/>
        </p:nvSpPr>
        <p:spPr>
          <a:xfrm>
            <a:off x="5971032" y="1783080"/>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door</a:t>
            </a:r>
            <a:endParaRPr lang="en-US" sz="1200" dirty="0"/>
          </a:p>
        </p:txBody>
      </p:sp>
      <p:sp>
        <p:nvSpPr>
          <p:cNvPr id="23" name="w_37"/>
          <p:cNvSpPr/>
          <p:nvPr/>
        </p:nvSpPr>
        <p:spPr>
          <a:xfrm>
            <a:off x="6821424" y="1783080"/>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24" name="w_38"/>
          <p:cNvSpPr/>
          <p:nvPr/>
        </p:nvSpPr>
        <p:spPr>
          <a:xfrm>
            <a:off x="7845552"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table</a:t>
            </a:r>
            <a:endParaRPr lang="en-US" sz="1200" dirty="0"/>
          </a:p>
        </p:txBody>
      </p:sp>
      <p:sp>
        <p:nvSpPr>
          <p:cNvPr id="25" name="lv_39"/>
          <p:cNvSpPr/>
          <p:nvPr/>
        </p:nvSpPr>
        <p:spPr>
          <a:xfrm>
            <a:off x="3246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6" name="lv_40"/>
          <p:cNvSpPr/>
          <p:nvPr/>
        </p:nvSpPr>
        <p:spPr>
          <a:xfrm>
            <a:off x="5151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7" name="lv_41"/>
          <p:cNvSpPr/>
          <p:nvPr/>
        </p:nvSpPr>
        <p:spPr>
          <a:xfrm>
            <a:off x="7056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8" name="cd_42"/>
          <p:cNvSpPr/>
          <p:nvPr/>
        </p:nvSpPr>
        <p:spPr>
          <a:xfrm>
            <a:off x="3246120" y="2770632"/>
            <a:ext cx="2756916" cy="1984248"/>
          </a:xfrm>
          <a:prstGeom prst="roundRect">
            <a:avLst>
              <a:gd name="adj" fmla="val 645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rh_43"/>
          <p:cNvSpPr/>
          <p:nvPr/>
        </p:nvSpPr>
        <p:spPr>
          <a:xfrm>
            <a:off x="3337560" y="2843784"/>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100" dirty="0"/>
          </a:p>
        </p:txBody>
      </p:sp>
      <p:sp>
        <p:nvSpPr>
          <p:cNvPr id="30" name="R1_rl44"/>
          <p:cNvSpPr/>
          <p:nvPr/>
        </p:nvSpPr>
        <p:spPr>
          <a:xfrm>
            <a:off x="3383280" y="3227832"/>
            <a:ext cx="2482596" cy="1453896"/>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Anna.</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Where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you from? –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from Bagheria.</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00" dirty="0"/>
          </a:p>
        </p:txBody>
      </p:sp>
      <p:sp>
        <p:nvSpPr>
          <p:cNvPr id="31" name="cd_45"/>
          <p:cNvSpPr/>
          <p:nvPr/>
        </p:nvSpPr>
        <p:spPr>
          <a:xfrm>
            <a:off x="6112764" y="2770632"/>
            <a:ext cx="2756916" cy="1984248"/>
          </a:xfrm>
          <a:prstGeom prst="roundRect">
            <a:avLst>
              <a:gd name="adj" fmla="val 645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6204204" y="2843784"/>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100" dirty="0"/>
          </a:p>
        </p:txBody>
      </p:sp>
      <p:sp>
        <p:nvSpPr>
          <p:cNvPr id="33" name="R2_rl47"/>
          <p:cNvSpPr/>
          <p:nvPr/>
        </p:nvSpPr>
        <p:spPr>
          <a:xfrm>
            <a:off x="6249924" y="3227832"/>
            <a:ext cx="2482596" cy="1453896"/>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 It's a chair.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 It's a window.</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all'insegnante: sì o no + una parola.</a:t>
            </a:r>
            <a:endParaRPr lang="en-US" sz="950" dirty="0"/>
          </a:p>
        </p:txBody>
      </p:sp>
      <p:sp>
        <p:nvSpPr>
          <p:cNvPr id="9" name="note_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Warm-up · your bag (PQA)</a:t>
            </a:r>
            <a:endParaRPr lang="en-US" sz="800" dirty="0"/>
          </a:p>
        </p:txBody>
      </p:sp>
      <p:sp>
        <p:nvSpPr>
          <p:cNvPr id="12" name="pf_57"/>
          <p:cNvSpPr/>
          <p:nvPr/>
        </p:nvSpPr>
        <p:spPr>
          <a:xfrm rot="-120000">
            <a:off x="758190" y="1371600"/>
            <a:ext cx="19126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8" descr="/home/claude/lls-course/v2/cache/red_2a_untidy_jpg_438x297_31.png">    </p:cNvPr>
          <p:cNvPicPr>
            <a:picLocks noChangeAspect="1"/>
          </p:cNvPicPr>
          <p:nvPr/>
        </p:nvPicPr>
        <p:blipFill>
          <a:blip r:embed="rId5"/>
          <a:stretch>
            <a:fillRect/>
          </a:stretch>
        </p:blipFill>
        <p:spPr>
          <a:xfrm rot="-120000">
            <a:off x="803910" y="1417320"/>
            <a:ext cx="1821180" cy="1234440"/>
          </a:xfrm>
          <a:prstGeom prst="rect">
            <a:avLst/>
          </a:prstGeom>
        </p:spPr>
      </p:pic>
      <p:sp>
        <p:nvSpPr>
          <p:cNvPr id="14" name="cd_59"/>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2"/>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I do. / No, I don't.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It's in my bag / in my pocket.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Me too!</a:t>
            </a:r>
            <a:endParaRPr lang="en-US" sz="1150" dirty="0"/>
          </a:p>
        </p:txBody>
      </p:sp>
      <p:sp>
        <p:nvSpPr>
          <p:cNvPr id="18" name="R1_qb6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Yes – it's in my bag. / No – it's in my pocket.</a:t>
            </a:r>
            <a:endParaRPr lang="en-US" sz="1400" dirty="0"/>
          </a:p>
        </p:txBody>
      </p:sp>
      <p:sp>
        <p:nvSpPr>
          <p:cNvPr id="20" name="R2_qb6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Yes, I have two keys.</a:t>
            </a:r>
            <a:endParaRPr lang="en-US" sz="1400" dirty="0"/>
          </a:p>
        </p:txBody>
      </p:sp>
      <p:sp>
        <p:nvSpPr>
          <p:cNvPr id="22" name="R3_qb6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Is your bag tidy or untidy?</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It's very untidy!</a:t>
            </a:r>
            <a:endParaRPr lang="en-US" sz="1400" dirty="0"/>
          </a:p>
        </p:txBody>
      </p:sp>
      <p:sp>
        <p:nvSpPr>
          <p:cNvPr id="24" name="R4_qb6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Marco! His bag is a disaster!</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cos'è in inglese. Clic 1: significato. Clic 2: italiano.</a:t>
            </a:r>
            <a:endParaRPr lang="en-US" sz="950" dirty="0"/>
          </a:p>
        </p:txBody>
      </p:sp>
      <p:sp>
        <p:nvSpPr>
          <p:cNvPr id="9" name="note_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6 new words   ·   📖 Vocabulary Bank Things p.151</a:t>
            </a:r>
            <a:endParaRPr lang="en-US" sz="800" dirty="0"/>
          </a:p>
        </p:txBody>
      </p:sp>
      <p:sp>
        <p:nvSpPr>
          <p:cNvPr id="12" name="cd_80"/>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8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8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5" name="R1_def83"/>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money and cards – usually men</a:t>
            </a:r>
            <a:endParaRPr lang="en-US" sz="850" dirty="0"/>
          </a:p>
        </p:txBody>
      </p:sp>
      <p:sp>
        <p:nvSpPr>
          <p:cNvPr id="16" name="R2_it84"/>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7" name="cd_85"/>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8" name="e_8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8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0" name="R3_def88"/>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small bag for money – usually women</a:t>
            </a:r>
            <a:endParaRPr lang="en-US" sz="850" dirty="0"/>
          </a:p>
        </p:txBody>
      </p:sp>
      <p:sp>
        <p:nvSpPr>
          <p:cNvPr id="21" name="R4_it89"/>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2" name="cd_90"/>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9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9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5" name="R5_def93"/>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open the door with them</a:t>
            </a:r>
            <a:endParaRPr lang="en-US" sz="850" dirty="0"/>
          </a:p>
        </p:txBody>
      </p:sp>
      <p:sp>
        <p:nvSpPr>
          <p:cNvPr id="26" name="R6_it94"/>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7" name="cd_95"/>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8" name="e_9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9" name="en_9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0" name="R7_def98"/>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wear them in the sun</a:t>
            </a:r>
            <a:endParaRPr lang="en-US" sz="850" dirty="0"/>
          </a:p>
        </p:txBody>
      </p:sp>
      <p:sp>
        <p:nvSpPr>
          <p:cNvPr id="31" name="R8_it99"/>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2" name="cd_100"/>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e_101"/>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02"/>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5" name="R9_def103"/>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nose</a:t>
            </a:r>
            <a:endParaRPr lang="en-US" sz="850" dirty="0"/>
          </a:p>
        </p:txBody>
      </p:sp>
      <p:sp>
        <p:nvSpPr>
          <p:cNvPr id="36" name="R10_it104"/>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7" name="cd_105"/>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8" name="e_106"/>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07"/>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0" name="R11_def108"/>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phone</a:t>
            </a:r>
            <a:endParaRPr lang="en-US" sz="850" dirty="0"/>
          </a:p>
        </p:txBody>
      </p:sp>
      <p:sp>
        <p:nvSpPr>
          <p:cNvPr id="41" name="R12_it109"/>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2" name="R13_wc110"/>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3" name="R13_w111"/>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400"/>
                                        <p:tgtEl>
                                          <p:spTgt spid="42"/>
                                        </p:tgtEl>
                                      </p:cBhvr>
                                    </p:animEffect>
                                  </p:childTnLst>
                                </p:cTn>
                              </p:par>
                              <p:par>
                                <p:cTn id="68" presetID="10" presetClass="entr" presetSubtype="0" fill="hold" nodeType="withEffect">
                                  <p:stCondLst>
                                    <p:cond delay="0"/>
                                  </p:stCondLst>
                                  <p:childTnLst>
                                    <p:set>
                                      <p:cBhvr>
                                        <p:cTn id="69" dur="1" fill="hold">
                                          <p:stCondLst>
                                            <p:cond delay="0"/>
                                          </p:stCondLst>
                                        </p:cTn>
                                        <p:tgtEl>
                                          <p:spTgt spid="43"/>
                                        </p:tgtEl>
                                        <p:attrNameLst>
                                          <p:attrName>style.visibility</p:attrName>
                                        </p:attrNameLst>
                                      </p:cBhvr>
                                      <p:to>
                                        <p:strVal val="visible"/>
                                      </p:to>
                                    </p:set>
                                    <p:animEffect transition="in" filter="fade">
                                      <p:cBhvr>
                                        <p:cTn id="70"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l'immagine. Di': It's a… o They're…</a:t>
            </a:r>
            <a:endParaRPr lang="en-US" sz="950" dirty="0"/>
          </a:p>
        </p:txBody>
      </p:sp>
      <p:sp>
        <p:nvSpPr>
          <p:cNvPr id="9" name="note_11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p:txBody>
      </p:sp>
      <p:pic>
        <p:nvPicPr>
          <p:cNvPr id="10"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Practice · It's a… / They're…   ·   📖 SB p.14 · Vocabulary Bank activation (What is it? / What are they?)</a:t>
            </a:r>
            <a:endParaRPr lang="en-US" sz="800" dirty="0"/>
          </a:p>
        </p:txBody>
      </p:sp>
      <p:sp>
        <p:nvSpPr>
          <p:cNvPr id="12" name="cd_12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2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2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 They're keys.   ·   📱 → It's a phone.</a:t>
            </a:r>
            <a:endParaRPr lang="en-US" sz="1050" dirty="0"/>
          </a:p>
        </p:txBody>
      </p:sp>
      <p:sp>
        <p:nvSpPr>
          <p:cNvPr id="16" name="pf_12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26" descr="/home/claude/lls-course/v2/cache/red_2a_things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27"/>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28"/>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0" name="R1_chip129"/>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sunglasses.</a:t>
            </a:r>
            <a:endParaRPr lang="en-US" sz="1050" dirty="0"/>
          </a:p>
        </p:txBody>
      </p:sp>
      <p:sp>
        <p:nvSpPr>
          <p:cNvPr id="21" name="bd_130"/>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31"/>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3" name="R2_chip132"/>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purse.</a:t>
            </a:r>
            <a:endParaRPr lang="en-US" sz="1050" dirty="0"/>
          </a:p>
        </p:txBody>
      </p:sp>
      <p:sp>
        <p:nvSpPr>
          <p:cNvPr id="24" name="bd_133"/>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34"/>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6" name="R3_chip135"/>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charger.</a:t>
            </a:r>
            <a:endParaRPr lang="en-US" sz="1050" dirty="0"/>
          </a:p>
        </p:txBody>
      </p:sp>
      <p:sp>
        <p:nvSpPr>
          <p:cNvPr id="27" name="bd_136"/>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37"/>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4_chip138"/>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tissues.</a:t>
            </a:r>
            <a:endParaRPr lang="en-US" sz="1050" dirty="0"/>
          </a:p>
        </p:txBody>
      </p:sp>
      <p:sp>
        <p:nvSpPr>
          <p:cNvPr id="30" name="bd_139"/>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40"/>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R5_chip141"/>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wallet.</a:t>
            </a:r>
            <a:endParaRPr lang="en-US" sz="1050" dirty="0"/>
          </a:p>
        </p:txBody>
      </p:sp>
      <p:sp>
        <p:nvSpPr>
          <p:cNvPr id="33" name="bd_142"/>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43"/>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5" name="R6_chip144"/>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4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 dell'insegnante.</a:t>
            </a:r>
            <a:endParaRPr lang="en-US" sz="950" dirty="0"/>
          </a:p>
        </p:txBody>
      </p:sp>
      <p:sp>
        <p:nvSpPr>
          <p:cNvPr id="9" name="note_15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whole class</a:t>
            </a:r>
            <a:endParaRPr lang="en-US" sz="1150" dirty="0"/>
          </a:p>
        </p:txBody>
      </p:sp>
      <p:pic>
        <p:nvPicPr>
          <p:cNvPr id="10" name="logo_1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Story (TPRS) · ask and answer   ·   📖 Our story (TPRS) · today's 6 words + in, on, under</a:t>
            </a:r>
            <a:endParaRPr lang="en-US" sz="800" dirty="0"/>
          </a:p>
        </p:txBody>
      </p:sp>
      <p:sp>
        <p:nvSpPr>
          <p:cNvPr id="12" name="cd_15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4" name="ln_156"/>
          <p:cNvSpPr/>
          <p:nvPr/>
        </p:nvSpPr>
        <p:spPr>
          <a:xfrm>
            <a:off x="548640" y="192024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5" name="ln_157"/>
          <p:cNvSpPr/>
          <p:nvPr/>
        </p:nvSpPr>
        <p:spPr>
          <a:xfrm>
            <a:off x="548640" y="246888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6" name="ln_158"/>
          <p:cNvSpPr/>
          <p:nvPr/>
        </p:nvSpPr>
        <p:spPr>
          <a:xfrm>
            <a:off x="548640" y="301752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7" name="ln_159"/>
          <p:cNvSpPr/>
          <p:nvPr/>
        </p:nvSpPr>
        <p:spPr>
          <a:xfrm>
            <a:off x="548640" y="356616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18" name="ln_160"/>
          <p:cNvSpPr/>
          <p:nvPr/>
        </p:nvSpPr>
        <p:spPr>
          <a:xfrm>
            <a:off x="548640" y="411480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19" name="pf_1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2"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1" name="cd_16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16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is = one thing · are = two or more</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in · on · under</a:t>
            </a:r>
            <a:endParaRPr lang="en-US" sz="8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la storia. Vero o falso? Correggi quelle false.</a:t>
            </a:r>
            <a:endParaRPr lang="en-US" sz="950" dirty="0"/>
          </a:p>
        </p:txBody>
      </p:sp>
      <p:sp>
        <p:nvSpPr>
          <p:cNvPr id="9" name="note_17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Controlled practice</a:t>
            </a:r>
            <a:endParaRPr lang="en-US" sz="1150" dirty="0"/>
          </a:p>
        </p:txBody>
      </p:sp>
      <p:pic>
        <p:nvPicPr>
          <p:cNvPr id="10"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the class story</a:t>
            </a:r>
            <a:endParaRPr lang="en-US" sz="800" dirty="0"/>
          </a:p>
        </p:txBody>
      </p:sp>
      <p:sp>
        <p:nvSpPr>
          <p:cNvPr id="12" name="cd_176"/>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7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Tom is very tidy. → F – he's very untidy.</a:t>
            </a:r>
            <a:endParaRPr lang="en-US" sz="1050" dirty="0"/>
          </a:p>
        </p:txBody>
      </p:sp>
      <p:sp>
        <p:nvSpPr>
          <p:cNvPr id="16" name="pf_180"/>
          <p:cNvSpPr/>
          <p:nvPr/>
        </p:nvSpPr>
        <p:spPr>
          <a:xfrm rot="-90000">
            <a:off x="365760" y="3144172"/>
            <a:ext cx="2606040" cy="944561"/>
          </a:xfrm>
          <a:prstGeom prst="roundRect">
            <a:avLst>
              <a:gd name="adj" fmla="val 164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81" descr="/home/claude/lls-course/v2/cache/red_2a_rooms_jpg_605x205_31.png">    </p:cNvPr>
          <p:cNvPicPr>
            <a:picLocks noChangeAspect="1"/>
          </p:cNvPicPr>
          <p:nvPr/>
        </p:nvPicPr>
        <p:blipFill>
          <a:blip r:embed="rId5"/>
          <a:stretch>
            <a:fillRect/>
          </a:stretch>
        </p:blipFill>
        <p:spPr>
          <a:xfrm rot="-90000">
            <a:off x="411480" y="3189892"/>
            <a:ext cx="2514600" cy="853121"/>
          </a:xfrm>
          <a:prstGeom prst="rect">
            <a:avLst/>
          </a:prstGeom>
        </p:spPr>
      </p:pic>
      <p:sp>
        <p:nvSpPr>
          <p:cNvPr id="18" name="bd_182"/>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83"/>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in his bag.</a:t>
            </a:r>
            <a:endParaRPr lang="en-US" sz="1150" dirty="0"/>
          </a:p>
        </p:txBody>
      </p:sp>
      <p:sp>
        <p:nvSpPr>
          <p:cNvPr id="20" name="R1_chip184"/>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50" dirty="0"/>
          </a:p>
        </p:txBody>
      </p:sp>
      <p:sp>
        <p:nvSpPr>
          <p:cNvPr id="21" name="bd_185"/>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86"/>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wallet is on the table.</a:t>
            </a:r>
            <a:endParaRPr lang="en-US" sz="1150" dirty="0"/>
          </a:p>
        </p:txBody>
      </p:sp>
      <p:sp>
        <p:nvSpPr>
          <p:cNvPr id="23" name="R2_chip187"/>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t>
            </a:r>
            <a:endParaRPr lang="en-US" sz="1050" dirty="0"/>
          </a:p>
        </p:txBody>
      </p:sp>
      <p:sp>
        <p:nvSpPr>
          <p:cNvPr id="24" name="bd_188"/>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89"/>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sunglasses are on the chair.</a:t>
            </a:r>
            <a:endParaRPr lang="en-US" sz="1150" dirty="0"/>
          </a:p>
        </p:txBody>
      </p:sp>
      <p:sp>
        <p:nvSpPr>
          <p:cNvPr id="26" name="R3_chip190"/>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50" dirty="0"/>
          </a:p>
        </p:txBody>
      </p:sp>
      <p:sp>
        <p:nvSpPr>
          <p:cNvPr id="27" name="bd_191"/>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92"/>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charger is on the floor.</a:t>
            </a:r>
            <a:endParaRPr lang="en-US" sz="1150" dirty="0"/>
          </a:p>
        </p:txBody>
      </p:sp>
      <p:sp>
        <p:nvSpPr>
          <p:cNvPr id="29" name="R4_chip193"/>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t>
            </a:r>
            <a:endParaRPr lang="en-US" sz="1050" dirty="0"/>
          </a:p>
        </p:txBody>
      </p:sp>
      <p:sp>
        <p:nvSpPr>
          <p:cNvPr id="30" name="bd_194"/>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95"/>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keys are under the cat.</a:t>
            </a:r>
            <a:endParaRPr lang="en-US" sz="1150" dirty="0"/>
          </a:p>
        </p:txBody>
      </p:sp>
      <p:sp>
        <p:nvSpPr>
          <p:cNvPr id="32" name="R5_chip196"/>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 😄</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9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0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0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le desinenze colorate. Qual è la regola?</a:t>
            </a:r>
            <a:endParaRPr lang="en-US" sz="950" dirty="0"/>
          </a:p>
        </p:txBody>
      </p:sp>
      <p:sp>
        <p:nvSpPr>
          <p:cNvPr id="9" name="note_20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Pop-up grammar · plurals   ·   📖 Grammar Bank 2A p.126 · audio 2.2</a:t>
            </a:r>
            <a:endParaRPr lang="en-US" sz="800" dirty="0"/>
          </a:p>
        </p:txBody>
      </p:sp>
      <p:sp>
        <p:nvSpPr>
          <p:cNvPr id="12" name="ah_206"/>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2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208"/>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7" name="rh_20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8" name="pf_210"/>
          <p:cNvSpPr/>
          <p:nvPr/>
        </p:nvSpPr>
        <p:spPr>
          <a:xfrm>
            <a:off x="895169" y="1938528"/>
            <a:ext cx="884283" cy="960120"/>
          </a:xfrm>
          <a:prstGeom prst="roundRect">
            <a:avLst>
              <a:gd name="adj" fmla="val 1757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1" descr="/home/claude/lls-course/v2/cache/red_2a_wallet_jpg_191x209_31.png">    </p:cNvPr>
          <p:cNvPicPr>
            <a:picLocks noChangeAspect="1"/>
          </p:cNvPicPr>
          <p:nvPr/>
        </p:nvPicPr>
        <p:blipFill>
          <a:blip r:embed="rId11"/>
          <a:stretch>
            <a:fillRect/>
          </a:stretch>
        </p:blipFill>
        <p:spPr>
          <a:xfrm>
            <a:off x="940889" y="1984248"/>
            <a:ext cx="792843" cy="868680"/>
          </a:xfrm>
          <a:prstGeom prst="rect">
            <a:avLst/>
          </a:prstGeom>
        </p:spPr>
      </p:pic>
      <p:sp>
        <p:nvSpPr>
          <p:cNvPr id="20" name="ru_21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1" name="R1_rx21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2" name="R1_ri21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an + a, e, i, o, u (suono)</a:t>
            </a:r>
            <a:endParaRPr lang="en-US" sz="900" dirty="0"/>
          </a:p>
        </p:txBody>
      </p:sp>
      <p:sp>
        <p:nvSpPr>
          <p:cNvPr id="23" name="cd_215"/>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21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5" name="pf_217"/>
          <p:cNvSpPr/>
          <p:nvPr/>
        </p:nvSpPr>
        <p:spPr>
          <a:xfrm>
            <a:off x="2906865" y="1938528"/>
            <a:ext cx="120429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18" descr="/home/claude/lls-course/v2/cache/red_2a_things_jpg_268x209_31.png">    </p:cNvPr>
          <p:cNvPicPr>
            <a:picLocks noChangeAspect="1"/>
          </p:cNvPicPr>
          <p:nvPr/>
        </p:nvPicPr>
        <p:blipFill>
          <a:blip r:embed="rId12"/>
          <a:stretch>
            <a:fillRect/>
          </a:stretch>
        </p:blipFill>
        <p:spPr>
          <a:xfrm>
            <a:off x="2952585" y="1984248"/>
            <a:ext cx="1112850" cy="868680"/>
          </a:xfrm>
          <a:prstGeom prst="rect">
            <a:avLst/>
          </a:prstGeom>
        </p:spPr>
      </p:pic>
      <p:sp>
        <p:nvSpPr>
          <p:cNvPr id="27" name="ru_21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28" name="R2_rx22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29" name="R2_ri22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quasi sempre</a:t>
            </a:r>
            <a:endParaRPr lang="en-US" sz="900" dirty="0"/>
          </a:p>
        </p:txBody>
      </p:sp>
      <p:sp>
        <p:nvSpPr>
          <p:cNvPr id="30" name="cd_222"/>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1" name="rh_22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2" name="pf_22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225"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4" name="ru_22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5" name="R3_rx22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6" name="R3_ri22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ma: key → keys</a:t>
            </a:r>
            <a:endParaRPr lang="en-US" sz="900" dirty="0"/>
          </a:p>
        </p:txBody>
      </p:sp>
      <p:sp>
        <p:nvSpPr>
          <p:cNvPr id="37" name="cd_229"/>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8" name="rh_23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39" name="pf_231"/>
          <p:cNvSpPr/>
          <p:nvPr/>
        </p:nvSpPr>
        <p:spPr>
          <a:xfrm>
            <a:off x="7165904" y="1938528"/>
            <a:ext cx="137301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232" descr="/home/claude/lls-course/v2/cache/red_2a_untidy_jpg_308x209_31.png">    </p:cNvPr>
          <p:cNvPicPr>
            <a:picLocks noChangeAspect="1"/>
          </p:cNvPicPr>
          <p:nvPr/>
        </p:nvPicPr>
        <p:blipFill>
          <a:blip r:embed="rId14"/>
          <a:stretch>
            <a:fillRect/>
          </a:stretch>
        </p:blipFill>
        <p:spPr>
          <a:xfrm>
            <a:off x="7211624" y="1984248"/>
            <a:ext cx="1281571" cy="868680"/>
          </a:xfrm>
          <a:prstGeom prst="rect">
            <a:avLst/>
          </a:prstGeom>
        </p:spPr>
      </p:pic>
      <p:sp>
        <p:nvSpPr>
          <p:cNvPr id="41" name="ru_23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2" name="R4_rx23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3" name="R4_ri23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people = persone</a:t>
            </a:r>
            <a:endParaRPr lang="en-US" sz="900" dirty="0"/>
          </a:p>
        </p:txBody>
      </p:sp>
      <p:sp>
        <p:nvSpPr>
          <p:cNvPr id="44" name="R5_wc236"/>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R5_w237"/>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3"/>
                                        </p:tgtEl>
                                      </p:cBhvr>
                                    </p:cmd>
                                  </p:childTnLst>
                                </p:cTn>
                              </p:par>
                            </p:childTnLst>
                          </p:cTn>
                        </p:par>
                      </p:childTnLst>
                    </p:cTn>
                  </p:par>
                </p:childTnLst>
              </p:cTn>
              <p:nextCondLst>
                <p:cond evt="onClick" delay="0">
                  <p:tgtEl>
                    <p:spTgt spid="13"/>
                  </p:tgtEl>
                </p:cond>
              </p:nextCondLst>
            </p:seq>
            <p:seq concurrent="1" nextAc="seek">
              <p:cTn id="48" restart="whenNotActive" fill="hold" evtFilter="cancelBubble" nodeType="interactiveSeq">
                <p:stCondLst>
                  <p:cond evt="onClick" delay="0">
                    <p:tgtEl>
                      <p:spTgt spid="15"/>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5"/>
                                        </p:tgtEl>
                                      </p:cBhvr>
                                    </p:cmd>
                                  </p:childTnLst>
                                </p:cTn>
                              </p:par>
                            </p:childTnLst>
                          </p:cTn>
                        </p:par>
                      </p:childTnLst>
                    </p:cTn>
                  </p:par>
                </p:childTnLst>
              </p:cTn>
              <p:nextCondLst>
                <p:cond evt="onClick" delay="0">
                  <p:tgtEl>
                    <p:spTgt spid="15"/>
                  </p:tgtEl>
                </p:cond>
              </p:nextCondLst>
            </p:seq>
            <p:audio>
              <p:cMediaNode vol="80000">
                <p:cTn id="53" fill="hold" display="0">
                  <p:stCondLst>
                    <p:cond delay="indefinite"/>
                  </p:stCondLst>
                  <p:endCondLst>
                    <p:cond evt="onStopAudio" delay="0">
                      <p:tgtEl>
                        <p:sldTgt/>
                      </p:tgtEl>
                    </p:cond>
                  </p:endCondLst>
                </p:cTn>
                <p:tgtEl>
                  <p:spTgt spid="13"/>
                </p:tgtEl>
              </p:cMediaNode>
            </p:audio>
            <p:audio>
              <p:cMediaNode vol="80000">
                <p:cTn id="54" fill="hold" display="0">
                  <p:stCondLst>
                    <p:cond delay="indefinite"/>
                  </p:stCondLst>
                  <p:endCondLst>
                    <p:cond evt="onStopAudio" delay="0">
                      <p:tgtEl>
                        <p:sldTgt/>
                      </p:tgtEl>
                    </p:cond>
                  </p:endCondLst>
                </p:cTn>
                <p:tgtEl>
                  <p:spTgt spid="15"/>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4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42"/>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la regola! Poi di' ogni parola: /s/, /z/ o /ɪz/?</a:t>
            </a:r>
            <a:endParaRPr lang="en-US" sz="950" dirty="0"/>
          </a:p>
        </p:txBody>
      </p:sp>
      <p:sp>
        <p:nvSpPr>
          <p:cNvPr id="9" name="note_2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PRONUNCIA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250" dirty="0"/>
          </a:p>
        </p:txBody>
      </p:sp>
      <p:pic>
        <p:nvPicPr>
          <p:cNvPr id="10"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final -s and -es   ·   📖 SB p.15 · 3 Pronunciation · audio 2.3, 2.4</a:t>
            </a:r>
            <a:endParaRPr lang="en-US" sz="800" dirty="0"/>
          </a:p>
        </p:txBody>
      </p:sp>
      <p:sp>
        <p:nvSpPr>
          <p:cNvPr id="12" name="cd_247"/>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49"/>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5" name="ap_250"/>
          <p:cNvSpPr/>
          <p:nvPr/>
        </p:nvSpPr>
        <p:spPr>
          <a:xfrm>
            <a:off x="365760" y="3465576"/>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6" name="ah_251"/>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9" name="ah_252"/>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1"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2" name="lg_253"/>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3" name="lg_254"/>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4" name="lg_25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5" name="sq_256"/>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6" name="R1_tag257"/>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7" name="sq_258"/>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28" name="R2_tag259"/>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29" name="sq_260"/>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0" name="R3_tag26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1" name="sq_262"/>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2" name="R4_tag263"/>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3" name="sq_264"/>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4" name="R5_tag26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5" name="sq_266"/>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6" name="R6_tag267"/>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7" name="sq_268"/>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38" name="R7_tag269"/>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9" name="sq_270"/>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0" name="R8_tag271"/>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seq concurrent="1" nextAc="seek">
              <p:cTn id="53" restart="whenNotActive" fill="hold" evtFilter="cancelBubble" nodeType="interactiveSeq">
                <p:stCondLst>
                  <p:cond evt="onClick" delay="0">
                    <p:tgtEl>
                      <p:spTgt spid="20"/>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0"/>
                                        </p:tgtEl>
                                      </p:cBhvr>
                                    </p:cmd>
                                  </p:childTnLst>
                                </p:cTn>
                              </p:par>
                            </p:childTnLst>
                          </p:cTn>
                        </p:par>
                      </p:childTnLst>
                    </p:cTn>
                  </p:par>
                </p:childTnLst>
              </p:cTn>
              <p:nextCondLst>
                <p:cond evt="onClick" delay="0">
                  <p:tgtEl>
                    <p:spTgt spid="20"/>
                  </p:tgtEl>
                </p:cond>
              </p:nextCondLst>
            </p:seq>
            <p:seq concurrent="1" nextAc="seek">
              <p:cTn id="58" restart="whenNotActive" fill="hold" evtFilter="cancelBubble" nodeType="interactiveSeq">
                <p:stCondLst>
                  <p:cond evt="onClick" delay="0">
                    <p:tgtEl>
                      <p:spTgt spid="2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1"/>
                                        </p:tgtEl>
                                      </p:cBhvr>
                                    </p:cmd>
                                  </p:childTnLst>
                                </p:cTn>
                              </p:par>
                            </p:childTnLst>
                          </p:cTn>
                        </p:par>
                      </p:childTnLst>
                    </p:cTn>
                  </p:par>
                </p:childTnLst>
              </p:cTn>
              <p:nextCondLst>
                <p:cond evt="onClick" delay="0">
                  <p:tgtEl>
                    <p:spTgt spid="21"/>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8"/>
                </p:tgtEl>
              </p:cMediaNode>
            </p:audio>
            <p:audio>
              <p:cMediaNode vol="80000">
                <p:cTn id="65" fill="hold" display="0">
                  <p:stCondLst>
                    <p:cond delay="indefinite"/>
                  </p:stCondLst>
                  <p:endCondLst>
                    <p:cond evt="onStopAudio" delay="0">
                      <p:tgtEl>
                        <p:sldTgt/>
                      </p:tgtEl>
                    </p:cond>
                  </p:endCondLst>
                </p:cTn>
                <p:tgtEl>
                  <p:spTgt spid="20"/>
                </p:tgtEl>
              </p:cMediaNode>
            </p:audio>
            <p:audio>
              <p:cMediaNode vol="80000">
                <p:cTn id="66"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76"/>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Completa con in, on o under.</a:t>
            </a:r>
            <a:endParaRPr lang="en-US" sz="950" dirty="0"/>
          </a:p>
        </p:txBody>
      </p:sp>
      <p:sp>
        <p:nvSpPr>
          <p:cNvPr id="9" name="note_2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COMPLETA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on, under   ·   📖 SB p.15 · 4a (answers: TG)</a:t>
            </a:r>
            <a:endParaRPr lang="en-US" sz="800" dirty="0"/>
          </a:p>
        </p:txBody>
      </p:sp>
      <p:sp>
        <p:nvSpPr>
          <p:cNvPr id="12" name="cd_281"/>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84"/>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The cat is ___ the sofa. → on</a:t>
            </a:r>
            <a:endParaRPr lang="en-US" sz="1000" dirty="0"/>
          </a:p>
        </p:txBody>
      </p:sp>
      <p:sp>
        <p:nvSpPr>
          <p:cNvPr id="16" name="pf_285"/>
          <p:cNvSpPr/>
          <p:nvPr/>
        </p:nvSpPr>
        <p:spPr>
          <a:xfrm rot="-90000">
            <a:off x="365760" y="2774620"/>
            <a:ext cx="2606040" cy="1482495"/>
          </a:xfrm>
          <a:prstGeom prst="roundRect">
            <a:avLst>
              <a:gd name="adj" fmla="val 1048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6" descr="/home/claude/lls-course/v2/cache/red_2a_notebook_jpg_605x335_31.png">    </p:cNvPr>
          <p:cNvPicPr>
            <a:picLocks noChangeAspect="1"/>
          </p:cNvPicPr>
          <p:nvPr/>
        </p:nvPicPr>
        <p:blipFill>
          <a:blip r:embed="rId5"/>
          <a:stretch>
            <a:fillRect/>
          </a:stretch>
        </p:blipFill>
        <p:spPr>
          <a:xfrm rot="-90000">
            <a:off x="411480" y="2820340"/>
            <a:ext cx="2514600" cy="1391055"/>
          </a:xfrm>
          <a:prstGeom prst="rect">
            <a:avLst/>
          </a:prstGeom>
        </p:spPr>
      </p:pic>
      <p:sp>
        <p:nvSpPr>
          <p:cNvPr id="18" name="bd_287"/>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88"/>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glasses are ___ the notebook.</a:t>
            </a:r>
            <a:endParaRPr lang="en-US" sz="1150" dirty="0"/>
          </a:p>
        </p:txBody>
      </p:sp>
      <p:sp>
        <p:nvSpPr>
          <p:cNvPr id="20" name="R1_chip289"/>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a:t>
            </a:r>
            <a:endParaRPr lang="en-US" sz="1050" dirty="0"/>
          </a:p>
        </p:txBody>
      </p:sp>
      <p:sp>
        <p:nvSpPr>
          <p:cNvPr id="21" name="bd_290"/>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91"/>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credit cards are ___ the wallet.</a:t>
            </a:r>
            <a:endParaRPr lang="en-US" sz="1150" dirty="0"/>
          </a:p>
        </p:txBody>
      </p:sp>
      <p:sp>
        <p:nvSpPr>
          <p:cNvPr id="23" name="R2_chip292"/>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a:t>
            </a:r>
            <a:endParaRPr lang="en-US" sz="1050" dirty="0"/>
          </a:p>
        </p:txBody>
      </p:sp>
      <p:sp>
        <p:nvSpPr>
          <p:cNvPr id="24" name="bd_293"/>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94"/>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bag is ___ the desk.</a:t>
            </a:r>
            <a:endParaRPr lang="en-US" sz="1150" dirty="0"/>
          </a:p>
        </p:txBody>
      </p:sp>
      <p:sp>
        <p:nvSpPr>
          <p:cNvPr id="26" name="R3_chip295"/>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under</a:t>
            </a:r>
            <a:endParaRPr lang="en-US" sz="1050" dirty="0"/>
          </a:p>
        </p:txBody>
      </p:sp>
      <p:sp>
        <p:nvSpPr>
          <p:cNvPr id="27" name="bd_296"/>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97"/>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___ the cat!</a:t>
            </a:r>
            <a:endParaRPr lang="en-US" sz="1150" dirty="0"/>
          </a:p>
        </p:txBody>
      </p:sp>
      <p:sp>
        <p:nvSpPr>
          <p:cNvPr id="29" name="R4_chip298"/>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under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tre persone. Chi parla di ogni luogo: 1, 2 o 3?</a:t>
            </a:r>
            <a:endParaRPr lang="en-US" sz="950" dirty="0"/>
          </a:p>
        </p:txBody>
      </p:sp>
      <p:sp>
        <p:nvSpPr>
          <p:cNvPr id="9" name="note_3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three people   ·   📖 SB p.15 · 5a · audio 2.5 (script SB p.118)</a:t>
            </a:r>
            <a:endParaRPr lang="en-US" sz="800" dirty="0"/>
          </a:p>
        </p:txBody>
      </p:sp>
      <p:sp>
        <p:nvSpPr>
          <p:cNvPr id="12" name="ap_308"/>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3" name="ah_30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1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31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312"/>
          <p:cNvSpPr/>
          <p:nvPr/>
        </p:nvSpPr>
        <p:spPr>
          <a:xfrm rot="-90000">
            <a:off x="411480" y="2387661"/>
            <a:ext cx="1783080" cy="665358"/>
          </a:xfrm>
          <a:prstGeom prst="roundRect">
            <a:avLst>
              <a:gd name="adj" fmla="val 2336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13" descr="/home/claude/lls-course/v2/cache/red_2a_rooms_jpg_407x138_31.png">    </p:cNvPr>
          <p:cNvPicPr>
            <a:picLocks noChangeAspect="1"/>
          </p:cNvPicPr>
          <p:nvPr/>
        </p:nvPicPr>
        <p:blipFill>
          <a:blip r:embed="rId11"/>
          <a:stretch>
            <a:fillRect/>
          </a:stretch>
        </p:blipFill>
        <p:spPr>
          <a:xfrm rot="-90000">
            <a:off x="457200" y="2433381"/>
            <a:ext cx="1691640" cy="573918"/>
          </a:xfrm>
          <a:prstGeom prst="rect">
            <a:avLst/>
          </a:prstGeom>
        </p:spPr>
      </p:pic>
      <p:sp>
        <p:nvSpPr>
          <p:cNvPr id="20" name="bd_314"/>
          <p:cNvSpPr/>
          <p:nvPr/>
        </p:nvSpPr>
        <p:spPr>
          <a:xfrm>
            <a:off x="310896" y="2287077"/>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cd_31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2" name="ii_31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1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31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3 places. A study = a room for work.</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Leggi i 3 luoghi. Study = studio.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Write 1, 2 or 3.</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una volta. Scrivi 1, 2 o 3.</a:t>
            </a:r>
            <a:endParaRPr lang="en-US" sz="700" dirty="0"/>
          </a:p>
        </p:txBody>
      </p:sp>
      <p:sp>
        <p:nvSpPr>
          <p:cNvPr id="25" name="lq_319"/>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6" name="R1_chip320"/>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7" name="lq_321"/>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8" name="R2_chip322"/>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29" name="lq_323"/>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0" name="R3_chip324"/>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29"/>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le cose di ogni persona.</a:t>
            </a:r>
            <a:endParaRPr lang="en-US" sz="950" dirty="0"/>
          </a:p>
        </p:txBody>
      </p:sp>
      <p:sp>
        <p:nvSpPr>
          <p:cNvPr id="9" name="note_3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p.15 · 5b · audio 2.5</a:t>
            </a:r>
            <a:endParaRPr lang="en-US" sz="800" dirty="0"/>
          </a:p>
        </p:txBody>
      </p:sp>
      <p:sp>
        <p:nvSpPr>
          <p:cNvPr id="12" name="ap_33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3" name="ah_3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8"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3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4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3" name="R1_chip34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4" name="gq_34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5" name="R2_chip34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6" name="gq_34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27" name="R3_chip34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5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5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Nascondi il telefono (nella tua testa!). Il compagno fa max 5 domande.</a:t>
            </a:r>
            <a:endParaRPr lang="en-US" sz="950" dirty="0"/>
          </a:p>
        </p:txBody>
      </p:sp>
      <p:sp>
        <p:nvSpPr>
          <p:cNvPr id="9" name="note_3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3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Game · in, on, under</a:t>
            </a:r>
            <a:endParaRPr lang="en-US" sz="800" dirty="0"/>
          </a:p>
        </p:txBody>
      </p:sp>
      <p:sp>
        <p:nvSpPr>
          <p:cNvPr id="12" name="cd_357"/>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60"/>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A: choose a place for your phone in the room.</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A: scegli un posto per il telefono nell'aula.</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B asks: Is it on the table? Is it under the chair?</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B chiede: Is it on the table? Is it under the chair?</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Found in 5 questions? B wins. Swap.</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Trovato in 5 domande? Vince B. Scambiatevi.</a:t>
            </a:r>
            <a:endParaRPr lang="en-US" sz="850" dirty="0"/>
          </a:p>
        </p:txBody>
      </p:sp>
      <p:sp>
        <p:nvSpPr>
          <p:cNvPr id="16" name="bd_361"/>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7" name="gq_362"/>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on the table?</a:t>
            </a:r>
            <a:endParaRPr lang="en-US" sz="1250" dirty="0"/>
          </a:p>
        </p:txBody>
      </p:sp>
      <p:sp>
        <p:nvSpPr>
          <p:cNvPr id="18" name="chip_363"/>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it isn't.</a:t>
            </a:r>
            <a:endParaRPr lang="en-US" sz="1200" dirty="0"/>
          </a:p>
        </p:txBody>
      </p:sp>
      <p:sp>
        <p:nvSpPr>
          <p:cNvPr id="19" name="bd_364"/>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65"/>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under the chair?</a:t>
            </a:r>
            <a:endParaRPr lang="en-US" sz="1250" dirty="0"/>
          </a:p>
        </p:txBody>
      </p:sp>
      <p:sp>
        <p:nvSpPr>
          <p:cNvPr id="21" name="R1_chip366"/>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it isn't.</a:t>
            </a:r>
            <a:endParaRPr lang="en-US" sz="1200" dirty="0"/>
          </a:p>
        </p:txBody>
      </p:sp>
      <p:sp>
        <p:nvSpPr>
          <p:cNvPr id="22" name="bd_367"/>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8"/>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in your bag?</a:t>
            </a:r>
            <a:endParaRPr lang="en-US" sz="1250" dirty="0"/>
          </a:p>
        </p:txBody>
      </p:sp>
      <p:sp>
        <p:nvSpPr>
          <p:cNvPr id="24" name="R2_chip369"/>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Yes, it is!</a:t>
            </a:r>
            <a:endParaRPr lang="en-US" sz="1200" dirty="0"/>
          </a:p>
        </p:txBody>
      </p:sp>
      <p:sp>
        <p:nvSpPr>
          <p:cNvPr id="25" name="bd_370"/>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71"/>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250" dirty="0"/>
          </a:p>
        </p:txBody>
      </p:sp>
      <p:sp>
        <p:nvSpPr>
          <p:cNvPr id="27" name="R3_chip372"/>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74"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75"/>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7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3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Cambia la storia! Nuova persona, nuove cose. Raccontala al compagno.</a:t>
            </a:r>
            <a:endParaRPr lang="en-US" sz="950" dirty="0"/>
          </a:p>
        </p:txBody>
      </p:sp>
      <p:sp>
        <p:nvSpPr>
          <p:cNvPr id="9" name="note_37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p:txBody>
      </p:sp>
      <p:pic>
        <p:nvPicPr>
          <p:cNvPr id="10"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Transform · your story</a:t>
            </a:r>
            <a:endParaRPr lang="en-US" sz="800" dirty="0"/>
          </a:p>
        </p:txBody>
      </p:sp>
      <p:sp>
        <p:nvSpPr>
          <p:cNvPr id="12" name="cd_382"/>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385"/>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Anna is very untidy. Where are her sunglasses? They aren't in her bag…</a:t>
            </a:r>
            <a:endParaRPr lang="en-US" sz="1050" dirty="0"/>
          </a:p>
        </p:txBody>
      </p:sp>
      <p:sp>
        <p:nvSpPr>
          <p:cNvPr id="16" name="pf_386"/>
          <p:cNvSpPr/>
          <p:nvPr/>
        </p:nvSpPr>
        <p:spPr>
          <a:xfrm rot="-90000">
            <a:off x="365760" y="3244756"/>
            <a:ext cx="2606040" cy="944561"/>
          </a:xfrm>
          <a:prstGeom prst="roundRect">
            <a:avLst>
              <a:gd name="adj" fmla="val 164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87" descr="/home/claude/lls-course/v2/cache/red_2a_rooms_jpg_605x205_31.png">    </p:cNvPr>
          <p:cNvPicPr>
            <a:picLocks noChangeAspect="1"/>
          </p:cNvPicPr>
          <p:nvPr/>
        </p:nvPicPr>
        <p:blipFill>
          <a:blip r:embed="rId5"/>
          <a:stretch>
            <a:fillRect/>
          </a:stretch>
        </p:blipFill>
        <p:spPr>
          <a:xfrm rot="-90000">
            <a:off x="411480" y="3290476"/>
            <a:ext cx="2514600" cy="853121"/>
          </a:xfrm>
          <a:prstGeom prst="rect">
            <a:avLst/>
          </a:prstGeom>
        </p:spPr>
      </p:pic>
      <p:sp>
        <p:nvSpPr>
          <p:cNvPr id="18" name="bd_388"/>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389"/>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0" name="R1_chip390"/>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50" dirty="0"/>
          </a:p>
        </p:txBody>
      </p:sp>
      <p:sp>
        <p:nvSpPr>
          <p:cNvPr id="21" name="bd_391"/>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392"/>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3" name="R2_chip393"/>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50" dirty="0"/>
          </a:p>
        </p:txBody>
      </p:sp>
      <p:sp>
        <p:nvSpPr>
          <p:cNvPr id="24" name="bd_394"/>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395"/>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places where it ISN'T</a:t>
            </a:r>
            <a:endParaRPr lang="en-US" sz="1150" dirty="0"/>
          </a:p>
        </p:txBody>
      </p:sp>
      <p:sp>
        <p:nvSpPr>
          <p:cNvPr id="26" name="R3_chip396"/>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50" dirty="0"/>
          </a:p>
        </p:txBody>
      </p:sp>
      <p:sp>
        <p:nvSpPr>
          <p:cNvPr id="27" name="bd_397"/>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398"/>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29" name="R4_chip399"/>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under the dog! 🐕</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0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0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0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0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compagno: 5 cose nella tua borsa e dove sono.</a:t>
            </a:r>
            <a:endParaRPr lang="en-US" sz="950" dirty="0"/>
          </a:p>
        </p:txBody>
      </p:sp>
      <p:sp>
        <p:nvSpPr>
          <p:cNvPr id="9" name="note_40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Communicative</a:t>
            </a:r>
            <a:endParaRPr lang="en-US" sz="1250" dirty="0"/>
          </a:p>
        </p:txBody>
      </p:sp>
      <p:pic>
        <p:nvPicPr>
          <p:cNvPr id="10" name="logo_4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writing · your bag</a:t>
            </a:r>
            <a:endParaRPr lang="en-US" sz="800" dirty="0"/>
          </a:p>
        </p:txBody>
      </p:sp>
      <p:sp>
        <p:nvSpPr>
          <p:cNvPr id="12" name="pf_409"/>
          <p:cNvSpPr/>
          <p:nvPr/>
        </p:nvSpPr>
        <p:spPr>
          <a:xfrm rot="-120000">
            <a:off x="758190" y="1371600"/>
            <a:ext cx="19126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10" descr="/home/claude/lls-course/v2/cache/red_2a_untidy_jpg_438x297_31.png">    </p:cNvPr>
          <p:cNvPicPr>
            <a:picLocks noChangeAspect="1"/>
          </p:cNvPicPr>
          <p:nvPr/>
        </p:nvPicPr>
        <p:blipFill>
          <a:blip r:embed="rId5"/>
          <a:stretch>
            <a:fillRect/>
          </a:stretch>
        </p:blipFill>
        <p:spPr>
          <a:xfrm rot="-120000">
            <a:off x="803910" y="1417320"/>
            <a:ext cx="1821180" cy="1234440"/>
          </a:xfrm>
          <a:prstGeom prst="rect">
            <a:avLst/>
          </a:prstGeom>
        </p:spPr>
      </p:pic>
      <p:sp>
        <p:nvSpPr>
          <p:cNvPr id="14" name="cd_411"/>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14"/>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bag I have a…, two…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keys are in… · My phone is 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always lose my…!</a:t>
            </a:r>
            <a:endParaRPr lang="en-US" sz="1150" dirty="0"/>
          </a:p>
        </p:txBody>
      </p:sp>
      <p:sp>
        <p:nvSpPr>
          <p:cNvPr id="18" name="R1_qb4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In my bag I have a purse, keys, my phone, tissues and a pen.</a:t>
            </a:r>
            <a:endParaRPr lang="en-US" sz="1200" dirty="0"/>
          </a:p>
        </p:txBody>
      </p:sp>
      <p:sp>
        <p:nvSpPr>
          <p:cNvPr id="20" name="R2_qb4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It's untidy – my charger is always on the floor!</a:t>
            </a:r>
            <a:endParaRPr lang="en-US" sz="1200" dirty="0"/>
          </a:p>
        </p:txBody>
      </p:sp>
      <p:sp>
        <p:nvSpPr>
          <p:cNvPr id="22" name="R3_qb4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always lose my sunglasses! They're usually on my head. 😄</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2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2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2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42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2" name="bd_430"/>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31"/>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of today's 6 things (wallet, purse…)</a:t>
            </a:r>
            <a:endParaRPr lang="en-US" sz="1400" dirty="0"/>
          </a:p>
        </p:txBody>
      </p:sp>
      <p:sp>
        <p:nvSpPr>
          <p:cNvPr id="14" name="bd_432"/>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33"/>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plurals with /ɪz/ (glasses…)</a:t>
            </a:r>
            <a:endParaRPr lang="en-US" sz="1400" dirty="0"/>
          </a:p>
        </p:txBody>
      </p:sp>
      <p:sp>
        <p:nvSpPr>
          <p:cNvPr id="16" name="bd_434"/>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35"/>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sentence: Where are Tom's keys?</a:t>
            </a:r>
            <a:endParaRPr lang="en-US" sz="1400" dirty="0"/>
          </a:p>
        </p:txBody>
      </p:sp>
      <p:sp>
        <p:nvSpPr>
          <p:cNvPr id="18" name="cd_436"/>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3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3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39"/>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1a, 1b, 2a, 2b, 2c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2e (where are the things?)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5 things in your bag and where they are</a:t>
            </a:r>
            <a:endParaRPr lang="en-US" sz="1150" dirty="0"/>
          </a:p>
        </p:txBody>
      </p:sp>
      <p:sp>
        <p:nvSpPr>
          <p:cNvPr id="22" name="st_440"/>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4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4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4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2" name="cd_450"/>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5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5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5" name="R1_tk45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54"/>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5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5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19" name="R2_tk45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58"/>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5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6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3" name="R3_tk46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62"/>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6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6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7" name="R4_tk46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st_46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467"/>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468"/>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469"/>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470"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7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note_47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whole class</a:t>
            </a:r>
            <a:endParaRPr lang="en-US" sz="1250" dirty="0"/>
          </a:p>
        </p:txBody>
      </p:sp>
      <p:pic>
        <p:nvPicPr>
          <p:cNvPr id="10" name="logo_4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2" name="ext_480"/>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481"/>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82"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483"/>
          <p:cNvSpPr/>
          <p:nvPr/>
        </p:nvSpPr>
        <p:spPr>
          <a:xfrm>
            <a:off x="320040" y="3383280"/>
            <a:ext cx="2743200" cy="1130808"/>
          </a:xfrm>
          <a:prstGeom prst="roundRect">
            <a:avLst>
              <a:gd name="adj" fmla="val 1132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484"/>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5"/>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486"/>
          <p:cNvSpPr/>
          <p:nvPr/>
        </p:nvSpPr>
        <p:spPr>
          <a:xfrm>
            <a:off x="886968" y="3877056"/>
            <a:ext cx="2084832" cy="563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2.1 = all 30 'Things' words (Vocabulary Bank p.151)</a:t>
            </a:r>
            <a:endParaRPr lang="en-US" sz="1050" dirty="0"/>
          </a:p>
        </p:txBody>
      </p:sp>
      <p:sp>
        <p:nvSpPr>
          <p:cNvPr id="19" name="ab_487"/>
          <p:cNvSpPr/>
          <p:nvPr/>
        </p:nvSpPr>
        <p:spPr>
          <a:xfrm>
            <a:off x="3246120" y="1417320"/>
            <a:ext cx="4983480" cy="457200"/>
          </a:xfrm>
          <a:prstGeom prst="roundRect">
            <a:avLst>
              <a:gd name="adj" fmla="val 24000"/>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0"/>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0"/>
                                        </p:tgtEl>
                                      </p:cBhvr>
                                    </p:cmd>
                                  </p:childTnLst>
                                </p:cTn>
                              </p:par>
                            </p:childTnLst>
                          </p:cTn>
                        </p:par>
                      </p:childTnLst>
                    </p:cTn>
                  </p:par>
                </p:childTnLst>
              </p:cTn>
              <p:nextCondLst>
                <p:cond evt="onClick" delay="0">
                  <p:tgtEl>
                    <p:spTgt spid="20"/>
                  </p:tgtEl>
                </p:cond>
              </p:nextCondLst>
            </p:seq>
            <p:audio>
              <p:cMediaNode vol="80000">
                <p:cTn id="8" fill="hold" display="0">
                  <p:stCondLst>
                    <p:cond delay="indefinite"/>
                  </p:stCondLst>
                  <p:endCondLst>
                    <p:cond evt="onStopAudio" delay="0">
                      <p:tgtEl>
                        <p:sldTgt/>
                      </p:tgtEl>
                    </p:cond>
                  </p:endCondLst>
                </p:cTn>
                <p:tgtEl>
                  <p:spTgt spid="20"/>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2026-10-21T10:14:53Z</dcterms:created>
  <dcterms:modified xsi:type="dcterms:W3CDTF">2026-10-21T10:14:53Z</dcterms:modified>
</cp:coreProperties>
</file>