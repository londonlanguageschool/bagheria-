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audio" Target="../media/media-18-6.mp3"/><Relationship Id="rId7" Type="http://schemas.microsoft.com/office/2007/relationships/media" Target="../media/media-18-6.mp3"/><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learn 6 everyday things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tell a funny story: Where are Tom's keys?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say plurals: keys, glasses, watches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say where things are: in, on, under</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the 3 questions in the pink box.</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al compagno le 3 domande del riquadro rosa.</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File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red_2a_tid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File 1: be, questions, the alphabet</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classroom language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Anna.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Where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you from?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from Bagheria.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chair.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window.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board</a:t>
            </a:r>
            <a:endParaRPr lang="en-US" sz="1050" dirty="0"/>
          </a:p>
        </p:txBody>
      </p:sp>
      <p:sp>
        <p:nvSpPr>
          <p:cNvPr id="28" name="w_42"/>
          <p:cNvSpPr/>
          <p:nvPr/>
        </p:nvSpPr>
        <p:spPr>
          <a:xfrm>
            <a:off x="4027932"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chair</a:t>
            </a:r>
            <a:endParaRPr lang="en-US" sz="1050" dirty="0"/>
          </a:p>
        </p:txBody>
      </p:sp>
      <p:sp>
        <p:nvSpPr>
          <p:cNvPr id="29" name="w_43"/>
          <p:cNvSpPr/>
          <p:nvPr/>
        </p:nvSpPr>
        <p:spPr>
          <a:xfrm>
            <a:off x="4809744"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desk</a:t>
            </a:r>
            <a:endParaRPr lang="en-US" sz="1050" dirty="0"/>
          </a:p>
        </p:txBody>
      </p:sp>
      <p:sp>
        <p:nvSpPr>
          <p:cNvPr id="30" name="w_44"/>
          <p:cNvSpPr/>
          <p:nvPr/>
        </p:nvSpPr>
        <p:spPr>
          <a:xfrm>
            <a:off x="5513832"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door</a:t>
            </a:r>
            <a:endParaRPr lang="en-US" sz="1050" dirty="0"/>
          </a:p>
        </p:txBody>
      </p:sp>
      <p:sp>
        <p:nvSpPr>
          <p:cNvPr id="31" name="w_45"/>
          <p:cNvSpPr/>
          <p:nvPr/>
        </p:nvSpPr>
        <p:spPr>
          <a:xfrm>
            <a:off x="62179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window</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table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all'insegnante: sì o no + una parola.</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Warm-up · your bag (PQA)</a:t>
            </a:r>
            <a:endParaRPr lang="en-US" sz="800" dirty="0"/>
          </a:p>
        </p:txBody>
      </p:sp>
      <p:sp>
        <p:nvSpPr>
          <p:cNvPr id="14" name="pf_5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9" descr="/home/claude/lls-course/v2/cache/red_2a_untid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I do. / No, I don't.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in my bag / in my pocket.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a:t>
            </a:r>
            <a:endParaRPr lang="en-US" sz="1050" dirty="0"/>
          </a:p>
        </p:txBody>
      </p:sp>
      <p:sp>
        <p:nvSpPr>
          <p:cNvPr id="20" name="R1_qb6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it's in my bag. / No – it's in my pocket.</a:t>
            </a:r>
            <a:endParaRPr lang="en-US" sz="1250" dirty="0"/>
          </a:p>
        </p:txBody>
      </p:sp>
      <p:sp>
        <p:nvSpPr>
          <p:cNvPr id="22" name="R2_qb6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have two keys.</a:t>
            </a:r>
            <a:endParaRPr lang="en-US" sz="1250" dirty="0"/>
          </a:p>
        </p:txBody>
      </p:sp>
      <p:sp>
        <p:nvSpPr>
          <p:cNvPr id="24" name="R3_qb6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bag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very untidy!</a:t>
            </a:r>
            <a:endParaRPr lang="en-US" sz="1250" dirty="0"/>
          </a:p>
        </p:txBody>
      </p:sp>
      <p:sp>
        <p:nvSpPr>
          <p:cNvPr id="26" name="R4_qb7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Marco! His bag is a disaster!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cos'è in inglese. Clic 1: significato. Clic 2: italiano.</a:t>
            </a:r>
            <a:endParaRPr lang="en-US" sz="950" dirty="0"/>
          </a:p>
        </p:txBody>
      </p:sp>
      <p:sp>
        <p:nvSpPr>
          <p:cNvPr id="9" name="cmd_7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8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6 new words   ·   📖 Vocabulary Bank Things p.151</a:t>
            </a:r>
            <a:endParaRPr lang="en-US" sz="800" dirty="0"/>
          </a:p>
        </p:txBody>
      </p:sp>
      <p:sp>
        <p:nvSpPr>
          <p:cNvPr id="14" name="cd_83"/>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7" name="R1_def86"/>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money and cards – usually men</a:t>
            </a:r>
            <a:endParaRPr lang="en-US" sz="850" dirty="0"/>
          </a:p>
        </p:txBody>
      </p:sp>
      <p:sp>
        <p:nvSpPr>
          <p:cNvPr id="18" name="R2_it87"/>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9" name="cd_88"/>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2" name="R3_def91"/>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a small bag for money – usually women</a:t>
            </a:r>
            <a:endParaRPr lang="en-US" sz="850" dirty="0"/>
          </a:p>
        </p:txBody>
      </p:sp>
      <p:sp>
        <p:nvSpPr>
          <p:cNvPr id="23" name="R4_it92"/>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borsellino (NON borsa!)</a:t>
            </a:r>
            <a:endParaRPr lang="en-US" sz="800" dirty="0"/>
          </a:p>
        </p:txBody>
      </p:sp>
      <p:sp>
        <p:nvSpPr>
          <p:cNvPr id="24" name="cd_93"/>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7" name="R5_def96"/>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open the door with them</a:t>
            </a:r>
            <a:endParaRPr lang="en-US" sz="850" dirty="0"/>
          </a:p>
        </p:txBody>
      </p:sp>
      <p:sp>
        <p:nvSpPr>
          <p:cNvPr id="28" name="R6_it97"/>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9" name="cd_98"/>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2" name="R7_def101"/>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wear them in the sun</a:t>
            </a:r>
            <a:endParaRPr lang="en-US" sz="850" dirty="0"/>
          </a:p>
        </p:txBody>
      </p:sp>
      <p:sp>
        <p:nvSpPr>
          <p:cNvPr id="33" name="R8_it102"/>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4" name="cd_103"/>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4"/>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5"/>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7" name="R9_def106"/>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nose</a:t>
            </a:r>
            <a:endParaRPr lang="en-US" sz="850" dirty="0"/>
          </a:p>
        </p:txBody>
      </p:sp>
      <p:sp>
        <p:nvSpPr>
          <p:cNvPr id="38" name="R10_it107"/>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9" name="cd_108"/>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9"/>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0"/>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2" name="R11_def111"/>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phone</a:t>
            </a:r>
            <a:endParaRPr lang="en-US" sz="850" dirty="0"/>
          </a:p>
        </p:txBody>
      </p:sp>
      <p:sp>
        <p:nvSpPr>
          <p:cNvPr id="43" name="R12_it112"/>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4" name="R13_wc113"/>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13_w114"/>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fade">
                                      <p:cBhvr>
                                        <p:cTn id="67" dur="400"/>
                                        <p:tgtEl>
                                          <p:spTgt spid="44"/>
                                        </p:tgtEl>
                                      </p:cBhvr>
                                    </p:animEffect>
                                  </p:childTnLst>
                                </p:cTn>
                              </p:par>
                              <p:par>
                                <p:cTn id="68" presetID="10" presetClass="entr" presetSubtype="0" fill="hold" nodeType="withEffect">
                                  <p:stCondLst>
                                    <p:cond delay="0"/>
                                  </p:stCondLst>
                                  <p:childTnLst>
                                    <p:set>
                                      <p:cBhvr>
                                        <p:cTn id="69" dur="1" fill="hold">
                                          <p:stCondLst>
                                            <p:cond delay="0"/>
                                          </p:stCondLst>
                                        </p:cTn>
                                        <p:tgtEl>
                                          <p:spTgt spid="45"/>
                                        </p:tgtEl>
                                        <p:attrNameLst>
                                          <p:attrName>style.visibility</p:attrName>
                                        </p:attrNameLst>
                                      </p:cBhvr>
                                      <p:to>
                                        <p:strVal val="visible"/>
                                      </p:to>
                                    </p:set>
                                    <p:animEffect transition="in" filter="fade">
                                      <p:cBhvr>
                                        <p:cTn id="7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l'immagine. Di': It's a… o They're…</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Practice · It's a… / They're…   ·   📖 SB p.14 · Vocabulary Bank activation (What is it? / What are they?)</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pitchFamily="34" charset="0"/>
                <a:ea typeface="Segoe UI" pitchFamily="34" charset="-122"/>
                <a:cs typeface="Segoe UI" pitchFamily="34" charset="-120"/>
              </a:rPr>
              <a:t>🔑🔑 → They're keys.   ·   📱 → It's a phone.</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red_2a_thing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2" name="R1_chip13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sunglasses.</a:t>
            </a:r>
            <a:endParaRPr lang="en-US" sz="1000" dirty="0"/>
          </a:p>
        </p:txBody>
      </p:sp>
      <p:sp>
        <p:nvSpPr>
          <p:cNvPr id="23" name="bd_13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5" name="R2_chip13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purse.</a:t>
            </a:r>
            <a:endParaRPr lang="en-US" sz="1000" dirty="0"/>
          </a:p>
        </p:txBody>
      </p:sp>
      <p:sp>
        <p:nvSpPr>
          <p:cNvPr id="26" name="bd_13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8" name="R3_chip14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charger.</a:t>
            </a:r>
            <a:endParaRPr lang="en-US" sz="1000" dirty="0"/>
          </a:p>
        </p:txBody>
      </p:sp>
      <p:sp>
        <p:nvSpPr>
          <p:cNvPr id="29" name="bd_14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chip14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tissues.</a:t>
            </a:r>
            <a:endParaRPr lang="en-US" sz="1000" dirty="0"/>
          </a:p>
        </p:txBody>
      </p:sp>
      <p:sp>
        <p:nvSpPr>
          <p:cNvPr id="32" name="bd_14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4" name="R5_chip14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wallet.</a:t>
            </a:r>
            <a:endParaRPr lang="en-US" sz="1000" dirty="0"/>
          </a:p>
        </p:txBody>
      </p:sp>
      <p:sp>
        <p:nvSpPr>
          <p:cNvPr id="35" name="bd_14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7" name="R6_chip149"/>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400" dirty="0"/>
          </a:p>
        </p:txBody>
      </p:sp>
      <p:pic>
        <p:nvPicPr>
          <p:cNvPr id="6" name="brP_153"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54"/>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 dell'insegnante.</a:t>
            </a:r>
            <a:endParaRPr lang="en-US" sz="950" dirty="0"/>
          </a:p>
        </p:txBody>
      </p:sp>
      <p:sp>
        <p:nvSpPr>
          <p:cNvPr id="9" name="cmd_1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5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5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whole class</a:t>
            </a:r>
            <a:endParaRPr lang="en-US" sz="950" dirty="0"/>
          </a:p>
        </p:txBody>
      </p:sp>
      <p:pic>
        <p:nvPicPr>
          <p:cNvPr id="12" name="logo_1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Story (TPRS) · ask and answer   ·   📖 Our story (TPRS) · today's 6 words + in, on, under</a:t>
            </a:r>
            <a:endParaRPr lang="en-US" sz="800" dirty="0"/>
          </a:p>
        </p:txBody>
      </p:sp>
      <p:sp>
        <p:nvSpPr>
          <p:cNvPr id="14" name="cd_16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6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6" name="ln_16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7" name="ln_16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8" name="ln_16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9" name="ln_16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20" name="ln_16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21" name="pf_16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9" descr="/home/claude/lls-course/v2/cache/red_2a_untid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17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17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7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17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is = one thing · are = two or more</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in · on · under</a:t>
            </a:r>
            <a:endParaRPr lang="en-US" sz="9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7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la storia. Vero o falso? Correggi quelle false.</a:t>
            </a:r>
            <a:endParaRPr lang="en-US" sz="950" dirty="0"/>
          </a:p>
        </p:txBody>
      </p:sp>
      <p:sp>
        <p:nvSpPr>
          <p:cNvPr id="9" name="cmd_1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8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8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8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the class story</a:t>
            </a:r>
            <a:endParaRPr lang="en-US" sz="800" dirty="0"/>
          </a:p>
        </p:txBody>
      </p:sp>
      <p:sp>
        <p:nvSpPr>
          <p:cNvPr id="15" name="cd_18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pitchFamily="34" charset="0"/>
                <a:ea typeface="Segoe UI" pitchFamily="34" charset="-122"/>
                <a:cs typeface="Segoe UI" pitchFamily="34" charset="-120"/>
              </a:rPr>
              <a:t>Tom is very tidy. → F – he's very untidy.</a:t>
            </a:r>
            <a:endParaRPr lang="en-US" sz="1050" dirty="0"/>
          </a:p>
        </p:txBody>
      </p:sp>
      <p:sp>
        <p:nvSpPr>
          <p:cNvPr id="19" name="pf_19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91"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9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9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Tom's keys are in his bag.</a:t>
            </a:r>
            <a:endParaRPr lang="en-US" sz="1150" dirty="0"/>
          </a:p>
        </p:txBody>
      </p:sp>
      <p:sp>
        <p:nvSpPr>
          <p:cNvPr id="23" name="R1_chip19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00" dirty="0"/>
          </a:p>
        </p:txBody>
      </p:sp>
      <p:sp>
        <p:nvSpPr>
          <p:cNvPr id="24" name="bd_19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9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His wallet is on the table.</a:t>
            </a:r>
            <a:endParaRPr lang="en-US" sz="1150" dirty="0"/>
          </a:p>
        </p:txBody>
      </p:sp>
      <p:sp>
        <p:nvSpPr>
          <p:cNvPr id="26" name="R2_chip19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27" name="bd_19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His sunglasses are on the chair.</a:t>
            </a:r>
            <a:endParaRPr lang="en-US" sz="1150" dirty="0"/>
          </a:p>
        </p:txBody>
      </p:sp>
      <p:sp>
        <p:nvSpPr>
          <p:cNvPr id="29" name="R3_chip20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00" dirty="0"/>
          </a:p>
        </p:txBody>
      </p:sp>
      <p:sp>
        <p:nvSpPr>
          <p:cNvPr id="30" name="bd_20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0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His charger is on the floor.</a:t>
            </a:r>
            <a:endParaRPr lang="en-US" sz="1150" dirty="0"/>
          </a:p>
        </p:txBody>
      </p:sp>
      <p:sp>
        <p:nvSpPr>
          <p:cNvPr id="32" name="R4_chip20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33" name="bd_20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0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5  The keys are under the cat.</a:t>
            </a:r>
            <a:endParaRPr lang="en-US" sz="1150" dirty="0"/>
          </a:p>
        </p:txBody>
      </p:sp>
      <p:sp>
        <p:nvSpPr>
          <p:cNvPr id="35" name="R5_chip20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1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1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le desinenze colorate. Qual è la regola?</a:t>
            </a:r>
            <a:endParaRPr lang="en-US" sz="950" dirty="0"/>
          </a:p>
        </p:txBody>
      </p:sp>
      <p:sp>
        <p:nvSpPr>
          <p:cNvPr id="9" name="cmd_2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1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1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Pop-up grammar · plurals   ·   📖 Grammar Bank 2A p.126 · audio 2.2</a:t>
            </a:r>
            <a:endParaRPr lang="en-US" sz="800" dirty="0"/>
          </a:p>
        </p:txBody>
      </p:sp>
      <p:sp>
        <p:nvSpPr>
          <p:cNvPr id="14" name="ah_218"/>
          <p:cNvSpPr/>
          <p:nvPr/>
        </p:nvSpPr>
        <p:spPr>
          <a:xfrm>
            <a:off x="5376672" y="4572000"/>
            <a:ext cx="210312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2.2  ▶ normal · 🐢 slower</a:t>
            </a:r>
            <a:endParaRPr lang="en-US" sz="95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7" name="cd_21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8" name="rh_22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19" name="pf_22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22" descr="/home/claude/lls-course/v2/cache/red_2a_walle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1" name="ru_22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2" name="R1_rx22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3" name="R1_ri22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an + a, e, i, o, u (suono)</a:t>
            </a:r>
            <a:endParaRPr lang="en-US" sz="900" dirty="0"/>
          </a:p>
        </p:txBody>
      </p:sp>
      <p:sp>
        <p:nvSpPr>
          <p:cNvPr id="24" name="cd_22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5" name="rh_22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6" name="pf_22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29" descr="/home/claude/lls-course/v2/cache/red_2a_things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8" name="ru_23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29" name="R2_rx23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30" name="R2_ri23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quasi sempre</a:t>
            </a:r>
            <a:endParaRPr lang="en-US" sz="900" dirty="0"/>
          </a:p>
        </p:txBody>
      </p:sp>
      <p:sp>
        <p:nvSpPr>
          <p:cNvPr id="31" name="cd_23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2" name="rh_23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3" name="pf_23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236"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5" name="ru_23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6" name="R3_rx23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7" name="R3_ri23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ma: key → keys</a:t>
            </a:r>
            <a:endParaRPr lang="en-US" sz="900" dirty="0"/>
          </a:p>
        </p:txBody>
      </p:sp>
      <p:sp>
        <p:nvSpPr>
          <p:cNvPr id="38" name="cd_24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9" name="rh_24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0" name="pf_24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243" descr="/home/claude/lls-course/v2/cache/red_2a_untidy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2" name="ru_24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3" name="R4_rx24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4" name="R4_ri24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people = persone</a:t>
            </a:r>
            <a:endParaRPr lang="en-US" sz="900" dirty="0"/>
          </a:p>
        </p:txBody>
      </p:sp>
      <p:sp>
        <p:nvSpPr>
          <p:cNvPr id="45" name="R5_wc247"/>
          <p:cNvSpPr/>
          <p:nvPr/>
        </p:nvSpPr>
        <p:spPr>
          <a:xfrm>
            <a:off x="320040" y="4544568"/>
            <a:ext cx="4828032"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R5_w248"/>
          <p:cNvSpPr/>
          <p:nvPr/>
        </p:nvSpPr>
        <p:spPr>
          <a:xfrm>
            <a:off x="457200" y="4544568"/>
            <a:ext cx="4599432"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0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400"/>
                                        <p:tgtEl>
                                          <p:spTgt spid="36"/>
                                        </p:tgtEl>
                                      </p:cBhvr>
                                    </p:animEffect>
                                  </p:childTnLst>
                                </p:cTn>
                              </p:par>
                              <p:par>
                                <p:cTn id="24" presetID="10" presetClass="entr" presetSubtype="0" fill="hold"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00"/>
                                        <p:tgtEl>
                                          <p:spTgt spid="3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00"/>
                                        <p:tgtEl>
                                          <p:spTgt spid="43"/>
                                        </p:tgtEl>
                                      </p:cBhvr>
                                    </p:animEffect>
                                  </p:childTnLst>
                                </p:cTn>
                              </p:par>
                              <p:par>
                                <p:cTn id="32" presetID="10" presetClass="entr" presetSubtype="0" fill="hold" nodeType="withEffect">
                                  <p:stCondLst>
                                    <p:cond delay="0"/>
                                  </p:stCondLst>
                                  <p:childTnLst>
                                    <p:set>
                                      <p:cBhvr>
                                        <p:cTn id="33" dur="1" fill="hold">
                                          <p:stCondLst>
                                            <p:cond delay="0"/>
                                          </p:stCondLst>
                                        </p:cTn>
                                        <p:tgtEl>
                                          <p:spTgt spid="44"/>
                                        </p:tgtEl>
                                        <p:attrNameLst>
                                          <p:attrName>style.visibility</p:attrName>
                                        </p:attrNameLst>
                                      </p:cBhvr>
                                      <p:to>
                                        <p:strVal val="visible"/>
                                      </p:to>
                                    </p:set>
                                    <p:animEffect transition="in" filter="fade">
                                      <p:cBhvr>
                                        <p:cTn id="34" dur="400"/>
                                        <p:tgtEl>
                                          <p:spTgt spid="4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5"/>
                                        </p:tgtEl>
                                        <p:attrNameLst>
                                          <p:attrName>style.visibility</p:attrName>
                                        </p:attrNameLst>
                                      </p:cBhvr>
                                      <p:to>
                                        <p:strVal val="visible"/>
                                      </p:to>
                                    </p:set>
                                    <p:animEffect transition="in" filter="fade">
                                      <p:cBhvr>
                                        <p:cTn id="39" dur="400"/>
                                        <p:tgtEl>
                                          <p:spTgt spid="45"/>
                                        </p:tgtEl>
                                      </p:cBhvr>
                                    </p:animEffect>
                                  </p:childTnLst>
                                </p:cTn>
                              </p:par>
                              <p:par>
                                <p:cTn id="40" presetID="10" presetClass="entr" presetSubtype="0" fill="hold" nodeType="with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5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52"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3"/>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la regola! Poi di' ogni parola: /s/, /z/ o /ɪz/?</a:t>
            </a:r>
            <a:endParaRPr lang="en-US" sz="950" dirty="0"/>
          </a:p>
        </p:txBody>
      </p:sp>
      <p:sp>
        <p:nvSpPr>
          <p:cNvPr id="9" name="cmd_255"/>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2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final -s and -es   ·   📖 SB p.15 · 3 Pronunciation · audio 2.3, 2.4</a:t>
            </a:r>
            <a:endParaRPr lang="en-US" sz="800" dirty="0"/>
          </a:p>
        </p:txBody>
      </p:sp>
      <p:sp>
        <p:nvSpPr>
          <p:cNvPr id="14" name="cd_260"/>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62"/>
          <p:cNvSpPr/>
          <p:nvPr/>
        </p:nvSpPr>
        <p:spPr>
          <a:xfrm>
            <a:off x="886968" y="1508760"/>
            <a:ext cx="205740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100" dirty="0"/>
          </a:p>
        </p:txBody>
      </p:sp>
      <p:sp>
        <p:nvSpPr>
          <p:cNvPr id="17" name="il_263"/>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264"/>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9" name="ah_265"/>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22"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23"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4" name="lg_266"/>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5" name="lg_267"/>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6" name="lg_268"/>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7" name="sq_269"/>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8" name="R1_tag270"/>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29" name="sq_271"/>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30" name="R2_tag272"/>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1" name="sq_273"/>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2" name="R3_tag274"/>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3" name="sq_275"/>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4" name="R4_tag276"/>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5" name="sq_277"/>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6" name="R5_tag278"/>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7" name="sq_279"/>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8" name="R6_tag280"/>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9" name="sq_281"/>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40" name="R7_tag282"/>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41" name="sq_283"/>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2" name="R8_tag284"/>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seq concurrent="1" nextAc="seek">
              <p:cTn id="53" restart="whenNotActive" fill="hold" evtFilter="cancelBubble" nodeType="interactiveSeq">
                <p:stCondLst>
                  <p:cond evt="onClick" delay="0">
                    <p:tgtEl>
                      <p:spTgt spid="22"/>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2"/>
                                        </p:tgtEl>
                                      </p:cBhvr>
                                    </p:cmd>
                                  </p:childTnLst>
                                </p:cTn>
                              </p:par>
                            </p:childTnLst>
                          </p:cTn>
                        </p:par>
                      </p:childTnLst>
                    </p:cTn>
                  </p:par>
                </p:childTnLst>
              </p:cTn>
              <p:nextCondLst>
                <p:cond evt="onClick" delay="0">
                  <p:tgtEl>
                    <p:spTgt spid="22"/>
                  </p:tgtEl>
                </p:cond>
              </p:nextCondLst>
            </p:seq>
            <p:seq concurrent="1" nextAc="seek">
              <p:cTn id="58" restart="whenNotActive" fill="hold" evtFilter="cancelBubble" nodeType="interactiveSeq">
                <p:stCondLst>
                  <p:cond evt="onClick" delay="0">
                    <p:tgtEl>
                      <p:spTgt spid="23"/>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3"/>
                                        </p:tgtEl>
                                      </p:cBhvr>
                                    </p:cmd>
                                  </p:childTnLst>
                                </p:cTn>
                              </p:par>
                            </p:childTnLst>
                          </p:cTn>
                        </p:par>
                      </p:childTnLst>
                    </p:cTn>
                  </p:par>
                </p:childTnLst>
              </p:cTn>
              <p:nextCondLst>
                <p:cond evt="onClick" delay="0">
                  <p:tgtEl>
                    <p:spTgt spid="23"/>
                  </p:tgtEl>
                </p:cond>
              </p:nextCondLst>
            </p:seq>
            <p:audio>
              <p:cMediaNode vol="80000">
                <p:cTn id="63" fill="hold" display="0">
                  <p:stCondLst>
                    <p:cond delay="indefinite"/>
                  </p:stCondLst>
                  <p:endCondLst>
                    <p:cond evt="onStopAudio" delay="0">
                      <p:tgtEl>
                        <p:sldTgt/>
                      </p:tgtEl>
                    </p:cond>
                  </p:endCondLst>
                </p:cTn>
                <p:tgtEl>
                  <p:spTgt spid="20"/>
                </p:tgtEl>
              </p:cMediaNode>
            </p:audio>
            <p:audio>
              <p:cMediaNode vol="80000">
                <p:cTn id="64" fill="hold" display="0">
                  <p:stCondLst>
                    <p:cond delay="indefinite"/>
                  </p:stCondLst>
                  <p:endCondLst>
                    <p:cond evt="onStopAudio" delay="0">
                      <p:tgtEl>
                        <p:sldTgt/>
                      </p:tgtEl>
                    </p:cond>
                  </p:endCondLst>
                </p:cTn>
                <p:tgtEl>
                  <p:spTgt spid="21"/>
                </p:tgtEl>
              </p:cMediaNode>
            </p:audio>
            <p:audio>
              <p:cMediaNode vol="80000">
                <p:cTn id="65" fill="hold" display="0">
                  <p:stCondLst>
                    <p:cond delay="indefinite"/>
                  </p:stCondLst>
                  <p:endCondLst>
                    <p:cond evt="onStopAudio" delay="0">
                      <p:tgtEl>
                        <p:sldTgt/>
                      </p:tgtEl>
                    </p:cond>
                  </p:endCondLst>
                </p:cTn>
                <p:tgtEl>
                  <p:spTgt spid="22"/>
                </p:tgtEl>
              </p:cMediaNode>
            </p:audio>
            <p:audio>
              <p:cMediaNode vol="80000">
                <p:cTn id="66" fill="hold" display="0">
                  <p:stCondLst>
                    <p:cond delay="indefinite"/>
                  </p:stCondLst>
                  <p:endCondLst>
                    <p:cond evt="onStopAudio" delay="0">
                      <p:tgtEl>
                        <p:sldTgt/>
                      </p:tgtEl>
                    </p:cond>
                  </p:endCondLst>
                </p:cTn>
                <p:tgtEl>
                  <p:spTgt spid="23"/>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88"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89"/>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Completa con in, on o under.</a:t>
            </a:r>
            <a:endParaRPr lang="en-US" sz="950" dirty="0"/>
          </a:p>
        </p:txBody>
      </p:sp>
      <p:sp>
        <p:nvSpPr>
          <p:cNvPr id="9" name="cmd_29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9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9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on, under   ·   📖 SB p.15 · 4a (answers: TG)</a:t>
            </a:r>
            <a:endParaRPr lang="en-US" sz="800" dirty="0"/>
          </a:p>
        </p:txBody>
      </p:sp>
      <p:sp>
        <p:nvSpPr>
          <p:cNvPr id="14" name="cd_29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9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pitchFamily="34" charset="0"/>
                <a:ea typeface="Segoe UI" pitchFamily="34" charset="-122"/>
                <a:cs typeface="Segoe UI" pitchFamily="34" charset="-120"/>
              </a:rPr>
              <a:t>The cat is ___ the sofa. → on</a:t>
            </a:r>
            <a:endParaRPr lang="en-US" sz="1050" dirty="0"/>
          </a:p>
        </p:txBody>
      </p:sp>
      <p:sp>
        <p:nvSpPr>
          <p:cNvPr id="18" name="pf_30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1" descr="/home/claude/lls-course/v2/cache/red_2a_notebook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The glasses are ___ the notebook.</a:t>
            </a:r>
            <a:endParaRPr lang="en-US" sz="1150" dirty="0"/>
          </a:p>
        </p:txBody>
      </p:sp>
      <p:sp>
        <p:nvSpPr>
          <p:cNvPr id="22" name="R1_chip30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a:t>
            </a:r>
            <a:endParaRPr lang="en-US" sz="1000" dirty="0"/>
          </a:p>
        </p:txBody>
      </p:sp>
      <p:sp>
        <p:nvSpPr>
          <p:cNvPr id="23" name="bd_30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The credit cards are ___ the wallet.</a:t>
            </a:r>
            <a:endParaRPr lang="en-US" sz="1150" dirty="0"/>
          </a:p>
        </p:txBody>
      </p:sp>
      <p:sp>
        <p:nvSpPr>
          <p:cNvPr id="25" name="R2_chip30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a:t>
            </a:r>
            <a:endParaRPr lang="en-US" sz="1000" dirty="0"/>
          </a:p>
        </p:txBody>
      </p:sp>
      <p:sp>
        <p:nvSpPr>
          <p:cNvPr id="26" name="bd_30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0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The bag is ___ the desk.</a:t>
            </a:r>
            <a:endParaRPr lang="en-US" sz="1150" dirty="0"/>
          </a:p>
        </p:txBody>
      </p:sp>
      <p:sp>
        <p:nvSpPr>
          <p:cNvPr id="28" name="R3_chip31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
        <p:nvSpPr>
          <p:cNvPr id="29" name="bd_31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Tom's keys are ___ the cat!</a:t>
            </a:r>
            <a:endParaRPr lang="en-US" sz="1150" dirty="0"/>
          </a:p>
        </p:txBody>
      </p:sp>
      <p:sp>
        <p:nvSpPr>
          <p:cNvPr id="31" name="R4_chip31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5"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6"/>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1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00" dirty="0"/>
          </a:p>
        </p:txBody>
      </p:sp>
      <p:sp>
        <p:nvSpPr>
          <p:cNvPr id="8" name="insIT_3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tre persone. Chi parla di ogni luogo: 1, 2 o 3?</a:t>
            </a:r>
            <a:endParaRPr lang="en-US" sz="950" dirty="0"/>
          </a:p>
        </p:txBody>
      </p:sp>
      <p:sp>
        <p:nvSpPr>
          <p:cNvPr id="9" name="cmd_32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2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2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three people   ·   📖 SB p.15 · 5a · audio 2.5 (script SB p.118)</a:t>
            </a:r>
            <a:endParaRPr lang="en-US" sz="800" dirty="0"/>
          </a:p>
        </p:txBody>
      </p:sp>
      <p:sp>
        <p:nvSpPr>
          <p:cNvPr id="14" name="ap_325"/>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5" name="ah_32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27"/>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2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29" descr="/home/claude/lls-course/v2/cache/red_2a_rooms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330"/>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cd_33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33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3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33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Read the 3 places. A study = a room for work.</a:t>
            </a:r>
            <a:endParaRPr lang="en-US" sz="700" dirty="0"/>
          </a:p>
          <a:p>
            <a:pPr marL="152400" indent="-152400">
              <a:spcAft>
                <a:spcPts val="200"/>
              </a:spcAft>
              <a:buSzPct val="100000"/>
              <a:buChar char=" "/>
            </a:pPr>
            <a:r>
              <a:rPr lang="en-US" sz="700" i="1" dirty="0">
                <a:solidFill>
                  <a:srgbClr val="5B6785"/>
                </a:solidFill>
                <a:latin typeface="Segoe UI" pitchFamily="34" charset="0"/>
                <a:ea typeface="Segoe UI" pitchFamily="34" charset="-122"/>
                <a:cs typeface="Segoe UI" pitchFamily="34" charset="-120"/>
              </a:rPr>
              <a:t>Leggi i 3 luoghi. Study = studio.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once. Write 1, 2 or 3.</a:t>
            </a:r>
            <a:endParaRPr lang="en-US" sz="700" dirty="0"/>
          </a:p>
          <a:p>
            <a:pPr marL="152400" indent="-152400">
              <a:spcAft>
                <a:spcPts val="200"/>
              </a:spcAft>
              <a:buSzPct val="100000"/>
              <a:buChar char=" "/>
            </a:pPr>
            <a:r>
              <a:rPr lang="en-US" sz="700" i="1" dirty="0">
                <a:solidFill>
                  <a:srgbClr val="5B6785"/>
                </a:solidFill>
                <a:latin typeface="Segoe UI" pitchFamily="34" charset="0"/>
                <a:ea typeface="Segoe UI" pitchFamily="34" charset="-122"/>
                <a:cs typeface="Segoe UI" pitchFamily="34" charset="-120"/>
              </a:rPr>
              <a:t>Ascolta una volta. Scrivi 1, 2 o 3.</a:t>
            </a:r>
            <a:endParaRPr lang="en-US" sz="700" dirty="0"/>
          </a:p>
        </p:txBody>
      </p:sp>
      <p:sp>
        <p:nvSpPr>
          <p:cNvPr id="26" name="lq_33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7" name="R1_chip33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8" name="lq_33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29" name="R2_chip33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30" name="lq_33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1" name="R3_chip34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44"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45"/>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Scrivi le cose di ogni persona.</a:t>
            </a:r>
            <a:endParaRPr lang="en-US" sz="950" dirty="0"/>
          </a:p>
        </p:txBody>
      </p:sp>
      <p:sp>
        <p:nvSpPr>
          <p:cNvPr id="9" name="cmd_34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34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5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p.15 · 5b · audio 2.5</a:t>
            </a:r>
            <a:endParaRPr lang="en-US" sz="800" dirty="0"/>
          </a:p>
        </p:txBody>
      </p:sp>
      <p:sp>
        <p:nvSpPr>
          <p:cNvPr id="15" name="ap_35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6" name="ah_35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5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56"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5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5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5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6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6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6" name="R1_chip36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150" dirty="0"/>
          </a:p>
        </p:txBody>
      </p:sp>
      <p:sp>
        <p:nvSpPr>
          <p:cNvPr id="27" name="gq_36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8" name="R2_chip36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000" dirty="0"/>
          </a:p>
        </p:txBody>
      </p:sp>
      <p:sp>
        <p:nvSpPr>
          <p:cNvPr id="29" name="gq_36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30" name="R3_chip36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7"/>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6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400" dirty="0"/>
          </a:p>
        </p:txBody>
      </p:sp>
      <p:pic>
        <p:nvPicPr>
          <p:cNvPr id="6" name="brP_37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7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100" dirty="0"/>
          </a:p>
        </p:txBody>
      </p:sp>
      <p:sp>
        <p:nvSpPr>
          <p:cNvPr id="8" name="insIT_3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Nascondi il telefono (nella tua testa!). Il compagno fa max 5 domande.</a:t>
            </a:r>
            <a:endParaRPr lang="en-US" sz="950" dirty="0"/>
          </a:p>
        </p:txBody>
      </p:sp>
      <p:sp>
        <p:nvSpPr>
          <p:cNvPr id="9" name="cmd_3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7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37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Game · in, on, under</a:t>
            </a:r>
            <a:endParaRPr lang="en-US" sz="800" dirty="0"/>
          </a:p>
        </p:txBody>
      </p:sp>
      <p:sp>
        <p:nvSpPr>
          <p:cNvPr id="14" name="cd_37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8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A: choose a place for your phone in the room.</a:t>
            </a:r>
            <a:endParaRPr lang="en-US" sz="900" dirty="0"/>
          </a:p>
          <a:p>
            <a:pPr marL="190500" indent="-190500">
              <a:spcAft>
                <a:spcPts val="200"/>
              </a:spcAft>
              <a:buSzPct val="100000"/>
              <a:buChar char=" "/>
            </a:pPr>
            <a:r>
              <a:rPr lang="en-US" sz="800" i="1" dirty="0">
                <a:solidFill>
                  <a:srgbClr val="5B6785"/>
                </a:solidFill>
                <a:latin typeface="Segoe UI" pitchFamily="34" charset="0"/>
                <a:ea typeface="Segoe UI" pitchFamily="34" charset="-122"/>
                <a:cs typeface="Segoe UI" pitchFamily="34" charset="-120"/>
              </a:rPr>
              <a:t>A: scegli un posto per il telefono nell'aula.</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B asks: Is it on the table? Is it under the chair?</a:t>
            </a:r>
            <a:endParaRPr lang="en-US" sz="900" dirty="0"/>
          </a:p>
          <a:p>
            <a:pPr marL="190500" indent="-190500">
              <a:spcAft>
                <a:spcPts val="200"/>
              </a:spcAft>
              <a:buSzPct val="100000"/>
              <a:buChar char=" "/>
            </a:pPr>
            <a:r>
              <a:rPr lang="en-US" sz="800" i="1" dirty="0">
                <a:solidFill>
                  <a:srgbClr val="5B6785"/>
                </a:solidFill>
                <a:latin typeface="Segoe UI" pitchFamily="34" charset="0"/>
                <a:ea typeface="Segoe UI" pitchFamily="34" charset="-122"/>
                <a:cs typeface="Segoe UI" pitchFamily="34" charset="-120"/>
              </a:rPr>
              <a:t>B chiede: Is it on the table? Is it under the chair?</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Found in 5 questions? B wins. Swap.</a:t>
            </a:r>
            <a:endParaRPr lang="en-US" sz="900" dirty="0"/>
          </a:p>
          <a:p>
            <a:pPr marL="190500" indent="-190500">
              <a:spcAft>
                <a:spcPts val="200"/>
              </a:spcAft>
              <a:buSzPct val="100000"/>
              <a:buChar char=" "/>
            </a:pPr>
            <a:r>
              <a:rPr lang="en-US" sz="800" i="1" dirty="0">
                <a:solidFill>
                  <a:srgbClr val="5B6785"/>
                </a:solidFill>
                <a:latin typeface="Segoe UI" pitchFamily="34" charset="0"/>
                <a:ea typeface="Segoe UI" pitchFamily="34" charset="-122"/>
                <a:cs typeface="Segoe UI" pitchFamily="34" charset="-120"/>
              </a:rPr>
              <a:t>Trovato in 5 domande? Vince B. Scambiatevi.</a:t>
            </a:r>
            <a:endParaRPr lang="en-US" sz="900" dirty="0"/>
          </a:p>
        </p:txBody>
      </p:sp>
      <p:sp>
        <p:nvSpPr>
          <p:cNvPr id="18" name="st_38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83"/>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84"/>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on the table?</a:t>
            </a:r>
            <a:endParaRPr lang="en-US" sz="1100" dirty="0"/>
          </a:p>
        </p:txBody>
      </p:sp>
      <p:sp>
        <p:nvSpPr>
          <p:cNvPr id="21" name="R1_chip385"/>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2" name="bd_386"/>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87"/>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under the chair?</a:t>
            </a:r>
            <a:endParaRPr lang="en-US" sz="1100" dirty="0"/>
          </a:p>
        </p:txBody>
      </p:sp>
      <p:sp>
        <p:nvSpPr>
          <p:cNvPr id="24" name="R2_chip388"/>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5" name="bd_389"/>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90"/>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in your bag?</a:t>
            </a:r>
            <a:endParaRPr lang="en-US" sz="1100" dirty="0"/>
          </a:p>
        </p:txBody>
      </p:sp>
      <p:sp>
        <p:nvSpPr>
          <p:cNvPr id="27" name="R3_chip391"/>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 it is!</a:t>
            </a:r>
            <a:endParaRPr lang="en-US" sz="1100" dirty="0"/>
          </a:p>
        </p:txBody>
      </p:sp>
      <p:sp>
        <p:nvSpPr>
          <p:cNvPr id="28" name="bd_392"/>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93"/>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100" dirty="0"/>
          </a:p>
        </p:txBody>
      </p:sp>
      <p:sp>
        <p:nvSpPr>
          <p:cNvPr id="30" name="R4_chip394"/>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6"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7"/>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400" dirty="0"/>
          </a:p>
        </p:txBody>
      </p:sp>
      <p:pic>
        <p:nvPicPr>
          <p:cNvPr id="6" name="brP_39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9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00" dirty="0"/>
          </a:p>
        </p:txBody>
      </p:sp>
      <p:sp>
        <p:nvSpPr>
          <p:cNvPr id="8" name="insIT_4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Cambia la storia! Nuova persona, nuove cose. Raccontala al compagno.</a:t>
            </a:r>
            <a:endParaRPr lang="en-US" sz="950" dirty="0"/>
          </a:p>
        </p:txBody>
      </p:sp>
      <p:sp>
        <p:nvSpPr>
          <p:cNvPr id="9" name="cmd_40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0" name="cmd_40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0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4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Transform · your story</a:t>
            </a:r>
            <a:endParaRPr lang="en-US" sz="800" dirty="0"/>
          </a:p>
        </p:txBody>
      </p:sp>
      <p:sp>
        <p:nvSpPr>
          <p:cNvPr id="14" name="cd_40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0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pitchFamily="34" charset="0"/>
                <a:ea typeface="Segoe UI" pitchFamily="34" charset="-122"/>
                <a:cs typeface="Segoe UI" pitchFamily="34" charset="-120"/>
              </a:rPr>
              <a:t>Anna is very untidy. Where are her sunglasses? They aren't in her bag…</a:t>
            </a:r>
            <a:endParaRPr lang="en-US" sz="1050" dirty="0"/>
          </a:p>
        </p:txBody>
      </p:sp>
      <p:sp>
        <p:nvSpPr>
          <p:cNvPr id="18" name="pf_41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1"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1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1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2" name="R1_chip41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00" dirty="0"/>
          </a:p>
        </p:txBody>
      </p:sp>
      <p:sp>
        <p:nvSpPr>
          <p:cNvPr id="23" name="bd_41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1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5" name="R2_chip41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00" dirty="0"/>
          </a:p>
        </p:txBody>
      </p:sp>
      <p:sp>
        <p:nvSpPr>
          <p:cNvPr id="26" name="bd_41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1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places where it ISN'T</a:t>
            </a:r>
            <a:endParaRPr lang="en-US" sz="1150" dirty="0"/>
          </a:p>
        </p:txBody>
      </p:sp>
      <p:sp>
        <p:nvSpPr>
          <p:cNvPr id="28" name="R3_chip42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00" dirty="0"/>
          </a:p>
        </p:txBody>
      </p:sp>
      <p:sp>
        <p:nvSpPr>
          <p:cNvPr id="29" name="bd_42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2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31" name="R4_chip42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under the dog!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2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2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2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al compagno: 5 cose nella tua borsa e dove sono.</a:t>
            </a:r>
            <a:endParaRPr lang="en-US" sz="950" dirty="0"/>
          </a:p>
        </p:txBody>
      </p:sp>
      <p:sp>
        <p:nvSpPr>
          <p:cNvPr id="9" name="cmd_43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43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writing · your bag</a:t>
            </a:r>
            <a:endParaRPr lang="en-US" sz="800" dirty="0"/>
          </a:p>
        </p:txBody>
      </p:sp>
      <p:sp>
        <p:nvSpPr>
          <p:cNvPr id="14" name="pf_43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36" descr="/home/claude/lls-course/v2/cache/red_2a_untid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3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3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3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4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In my bag I have a…, two…</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My keys are in… · My phone is on…</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 always lose my…!</a:t>
            </a:r>
            <a:endParaRPr lang="en-US" sz="950" dirty="0"/>
          </a:p>
        </p:txBody>
      </p:sp>
      <p:sp>
        <p:nvSpPr>
          <p:cNvPr id="20" name="R1_qb44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my bag I have a purse, keys, my phone, tissues and a pen.</a:t>
            </a:r>
            <a:endParaRPr lang="en-US" sz="1250" dirty="0"/>
          </a:p>
        </p:txBody>
      </p:sp>
      <p:sp>
        <p:nvSpPr>
          <p:cNvPr id="22" name="R2_qb44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untidy – my charger is always on the floor!</a:t>
            </a:r>
            <a:endParaRPr lang="en-US" sz="1250" dirty="0"/>
          </a:p>
        </p:txBody>
      </p:sp>
      <p:sp>
        <p:nvSpPr>
          <p:cNvPr id="24" name="R3_qb44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4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always lose my sunglasses! They're usually on my head. 😄</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4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4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5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5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45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4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4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Review · what did you do today?</a:t>
            </a:r>
            <a:endParaRPr lang="en-US" sz="800" dirty="0"/>
          </a:p>
        </p:txBody>
      </p:sp>
      <p:sp>
        <p:nvSpPr>
          <p:cNvPr id="14" name="cd_458"/>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45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6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everyday things</a:t>
            </a:r>
            <a:endParaRPr lang="en-US" sz="1350" dirty="0"/>
          </a:p>
        </p:txBody>
      </p:sp>
      <p:sp>
        <p:nvSpPr>
          <p:cNvPr id="17" name="R1_tk46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62"/>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46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6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funny story: Where are Tom's keys?</a:t>
            </a:r>
            <a:endParaRPr lang="en-US" sz="1350" dirty="0"/>
          </a:p>
        </p:txBody>
      </p:sp>
      <p:sp>
        <p:nvSpPr>
          <p:cNvPr id="21" name="R2_tk46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66"/>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46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6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plurals: keys, glasses, watches</a:t>
            </a:r>
            <a:endParaRPr lang="en-US" sz="1350" dirty="0"/>
          </a:p>
        </p:txBody>
      </p:sp>
      <p:sp>
        <p:nvSpPr>
          <p:cNvPr id="25" name="R3_tk46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70"/>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47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7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things are: in, on, under</a:t>
            </a:r>
            <a:endParaRPr lang="en-US" sz="1350" dirty="0"/>
          </a:p>
        </p:txBody>
      </p:sp>
      <p:sp>
        <p:nvSpPr>
          <p:cNvPr id="29" name="R4_tk47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st_47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7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7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7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81"/>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82"/>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3" name="bd_48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8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today's 6 things (wallet, purse…)</a:t>
            </a:r>
            <a:endParaRPr lang="en-US" sz="1400" dirty="0"/>
          </a:p>
        </p:txBody>
      </p:sp>
      <p:sp>
        <p:nvSpPr>
          <p:cNvPr id="15" name="bd_48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8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plurals with /ɪz/ (glasses…)</a:t>
            </a:r>
            <a:endParaRPr lang="en-US" sz="1400" dirty="0"/>
          </a:p>
        </p:txBody>
      </p:sp>
      <p:sp>
        <p:nvSpPr>
          <p:cNvPr id="17" name="bd_48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9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Where are Tom's keys?</a:t>
            </a:r>
            <a:endParaRPr lang="en-US" sz="1400" dirty="0"/>
          </a:p>
        </p:txBody>
      </p:sp>
      <p:sp>
        <p:nvSpPr>
          <p:cNvPr id="19" name="cd_49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9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9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9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1a, 1b, 2a, 2b, 2c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2e (where are the things?)</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5 things in your bag and where they are</a:t>
            </a:r>
            <a:endParaRPr lang="en-US" sz="1150" dirty="0"/>
          </a:p>
        </p:txBody>
      </p:sp>
      <p:sp>
        <p:nvSpPr>
          <p:cNvPr id="23" name="st_49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97"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98"/>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49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0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0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50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0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5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3" name="st_50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0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08"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0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1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1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12"/>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2.1 = all 30 'Things' words (Vocabulary Bank p.151)</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513"/>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audio>
              <p:cMediaNode vol="80000">
                <p:cTn id="8" fill="hold" display="0">
                  <p:stCondLst>
                    <p:cond delay="indefinite"/>
                  </p:stCondLst>
                  <p:endCondLst>
                    <p:cond evt="onStopAudio" delay="0">
                      <p:tgtEl>
                        <p:sldTgt/>
                      </p:tgtEl>
                    </p:cond>
                  </p:endCondLst>
                </p:cTn>
                <p:tgtEl>
                  <p:spTgt spid="2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2026-10-12T12:41:36Z</dcterms:created>
  <dcterms:modified xsi:type="dcterms:W3CDTF">2026-10-12T12:41:36Z</dcterms:modified>
</cp:coreProperties>
</file>