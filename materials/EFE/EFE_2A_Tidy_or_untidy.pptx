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mp3" ContentType="audio/mpeg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OPENING (2 min)
Show the photo. Teach tidy / untidy with gestures (put your things in order / mess them up). Ask the question; students answer 'tidy' or 'untidy'. Click: the example. Read 'Today you're going to…' together.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Revision · last lesson (3 min)
REVISION (3 min). Read the examples together. Point at things in the room: 'What's this?' – students answer 'It's a desk.' Then 'How do you spell desk?' (D-E-S-K). This leads straight into today: more THINGS.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Warmer · alphabet + things (3 min)
WARMER (3 min). Demo: spell C-H-A-I-R, a student writes it on the board. Click once per word. Watch the letters Italians mix up: E /iː/ vs I /aɪ/, A /eɪ/ vs E, G /dʒiː/ vs J /dʒeɪ/.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Lead-in · two rooms (4 min)
LEAD-IN (4 min). Teach tidy (= everything in the right place) / untidy. Virginia Woolf = English writer (1882–1941); Ian Rankin = Scottish crime writer (Inspector Rebus). Pairs look at the two photos (slide 1 shows room B big) and list plural things. Click once per line. Answers from the Teacher's Guide (SB 3c).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Vocabulary · things (6 min)
ELICIT FIRST (5 min). Point to the emoji; pairs write a/an + word, then click once per line. Model and drill each word. Problem words for Italians: purse (borsellino) ≠ 'borsa' (= bag); wallet = portafoglio; diary = agenda (NOT diario, a personal diary – 'diary' in British English is mainly an agenda); glasses / headphones / scissors are ALWAYS plural. Next slide: Italian.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Vocabulary · English, then Italian (3 min)
CONSOLIDATION (3 min, owner rule 5). Students explain each word in simple English first (click 1 shows the English meaning), then click 2 shows the Italian.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Grammar · plurals (4 min)
GUIDED DISCOVERY (4 min). Pairs decide, click once per word. Elicit the rules: + es after s, ss, sh, ch, x · consonant + y → ies (diary → diaries, but key → keys: vowel + y). Then ask: 'Why a pen but AN umbrella?' (an before a vowel SOUND: an umbrella, an identity card).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Grammar · singular and plural nouns (4 min)
CLARIFY (4 min). Elicit each column before clicking. Italian learners: adjectives never take -s in English (two new pens, NOT news pens) – mention it here because it comes in 2B.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Pronunciation · final -s and -es (6 min)
PRONUNCIATION (5 min). RULE first (owner rule 13): -es is an EXTRA syllable /ɪz/ only after the sounds s, z, sh, ch, j (ce, ge, se, sh, ch, x): glasses, purses, watches, boxes, pages, pieces. After p, t, k, f → /s/ (books, lamps, tickets). After other sounds → /z/ (keys, pens, phones, files). The /s/–/z/ difference is small; the /ɪz/ syllable matters. Italians often add /ɪz/ everywhere ('file-es', 'phone-es') – drill: files /faɪlz/ = ONE syllable. Book answers (2.4, -es = /ɪz/): classes, boxes, pages, pieces; NOT files, headphones, tissues, phones.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Vocabulary · in, on, under (4 min)
PRESENT + PRACTISE (4 min). Show in / on / under with a pen and a bag first. Students write, click once per answer. Answers 1–3 from the book photos (glasses on the notebook, cards in the wallet, bag under the desk).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Game · in, on, under (5 min)
GAME (5 min). Model with a strong student first (click to show the example exchange, one line per click). Then pairs play 3 rounds each. Extra challenge: plural things – 'Are my keys…? / Are my glasses…?' (They are…).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Listening · three people (3 min)
GIST (3 min). A study = a room where you study, read or write. Play 2.5 once (🐢 slower copy for weak groups; the script is in the next slide's notes). Answers (TG): 1 on his desk · 2 in her study · 3 in her bag.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Listening · detail (4 min)
DETAIL (4 min). Example: speaker 1 – a computer. Play again (or read the script slowly for weaker students). Click once per speaker. SCRIPT (SB p.118): 1 'On my desk I have my computer. I have some pens and pieces of paper. I have a lamp, and a photo of my family. Oh, and a phone. It's very tidy.' 2 'In my study I have a desk, a table, and two chairs. I have a lot of books and a big dictionary on the desk – it isn't very tidy! And I have a map of Europe on the wall.' 3 'I have a lot of things in my bag. I have my phone. I have the charger for my phone. I have my sunglasses, tissues. And I have my house keys and my purse.'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Speaking · your bag and desk (6 min)
FREER PRACTICE (6 min). Questions appear one per click; model each with your own answer. Monitor for a/an, plural -s and in/on/under. Delayed correction (2 min)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Exit · what can you remember? (3 min)
RETRIEVAL EXIT (2 min). Set homework (Workbook 2A, pages 12–13 of the Workbook).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audio" Target="../media/media-5-6.mp3"/><Relationship Id="rId7" Type="http://schemas.microsoft.com/office/2007/relationships/media" Target="../media/media-5-6.mp3"/><Relationship Id="rId8" Type="http://schemas.openxmlformats.org/officeDocument/2006/relationships/image" Target="../media/image-5-8.png"/><Relationship Id="rId9" Type="http://schemas.openxmlformats.org/officeDocument/2006/relationships/audio" Target="../media/media-5-9.mp3"/><Relationship Id="rId10" Type="http://schemas.microsoft.com/office/2007/relationships/media" Target="../media/media-5-9.mp3"/><Relationship Id="rId11" Type="http://schemas.openxmlformats.org/officeDocument/2006/relationships/image" Target="../media/image-5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audio" Target="../media/media-8-5.mp3"/><Relationship Id="rId6" Type="http://schemas.microsoft.com/office/2007/relationships/media" Target="../media/media-8-5.mp3"/><Relationship Id="rId7" Type="http://schemas.openxmlformats.org/officeDocument/2006/relationships/image" Target="../media/image-8-7.png"/><Relationship Id="rId8" Type="http://schemas.openxmlformats.org/officeDocument/2006/relationships/audio" Target="../media/media-8-8.mp3"/><Relationship Id="rId9" Type="http://schemas.microsoft.com/office/2007/relationships/media" Target="../media/media-8-8.mp3"/><Relationship Id="rId10" Type="http://schemas.openxmlformats.org/officeDocument/2006/relationships/image" Target="../media/image-8-10.png"/><Relationship Id="rId11" Type="http://schemas.openxmlformats.org/officeDocument/2006/relationships/image" Target="../media/image-8-11.png"/><Relationship Id="rId12" Type="http://schemas.openxmlformats.org/officeDocument/2006/relationships/image" Target="../media/image-8-12.png"/><Relationship Id="rId13" Type="http://schemas.openxmlformats.org/officeDocument/2006/relationships/image" Target="../media/image-8-13.png"/><Relationship Id="rId14" Type="http://schemas.openxmlformats.org/officeDocument/2006/relationships/image" Target="../media/image-8-1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audio" Target="../media/media-9-5.mp3"/><Relationship Id="rId6" Type="http://schemas.microsoft.com/office/2007/relationships/media" Target="../media/media-9-5.mp3"/><Relationship Id="rId7" Type="http://schemas.openxmlformats.org/officeDocument/2006/relationships/image" Target="../media/image-9-7.png"/><Relationship Id="rId8" Type="http://schemas.openxmlformats.org/officeDocument/2006/relationships/audio" Target="../media/media-9-8.mp3"/><Relationship Id="rId9" Type="http://schemas.microsoft.com/office/2007/relationships/media" Target="../media/media-9-8.mp3"/><Relationship Id="rId10" Type="http://schemas.openxmlformats.org/officeDocument/2006/relationships/image" Target="../media/image-9-10.png"/><Relationship Id="rId11" Type="http://schemas.openxmlformats.org/officeDocument/2006/relationships/audio" Target="../media/media-9-11.mp3"/><Relationship Id="rId12" Type="http://schemas.microsoft.com/office/2007/relationships/media" Target="../media/media-9-11.mp3"/><Relationship Id="rId13" Type="http://schemas.openxmlformats.org/officeDocument/2006/relationships/image" Target="../media/image-9-13.png"/><Relationship Id="rId14" Type="http://schemas.openxmlformats.org/officeDocument/2006/relationships/audio" Target="../media/media-9-14.mp3"/><Relationship Id="rId15" Type="http://schemas.microsoft.com/office/2007/relationships/media" Target="../media/media-9-14.mp3"/><Relationship Id="rId16" Type="http://schemas.openxmlformats.org/officeDocument/2006/relationships/image" Target="../media/image-9-16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audio" Target="../media/media-12-5.mp3"/><Relationship Id="rId6" Type="http://schemas.microsoft.com/office/2007/relationships/media" Target="../media/media-12-5.mp3"/><Relationship Id="rId7" Type="http://schemas.openxmlformats.org/officeDocument/2006/relationships/image" Target="../media/image-12-7.png"/><Relationship Id="rId8" Type="http://schemas.openxmlformats.org/officeDocument/2006/relationships/audio" Target="../media/media-12-8.mp3"/><Relationship Id="rId9" Type="http://schemas.microsoft.com/office/2007/relationships/media" Target="../media/media-12-8.mp3"/><Relationship Id="rId10" Type="http://schemas.openxmlformats.org/officeDocument/2006/relationships/image" Target="../media/image-12-10.pn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png"/><Relationship Id="rId13" Type="http://schemas.openxmlformats.org/officeDocument/2006/relationships/image" Target="../media/image-12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audio" Target="../media/media-13-5.mp3"/><Relationship Id="rId6" Type="http://schemas.microsoft.com/office/2007/relationships/media" Target="../media/media-13-5.mp3"/><Relationship Id="rId7" Type="http://schemas.openxmlformats.org/officeDocument/2006/relationships/image" Target="../media/image-13-7.png"/><Relationship Id="rId8" Type="http://schemas.openxmlformats.org/officeDocument/2006/relationships/audio" Target="../media/media-13-8.mp3"/><Relationship Id="rId9" Type="http://schemas.microsoft.com/office/2007/relationships/media" Target="../media/media-13-8.mp3"/><Relationship Id="rId10" Type="http://schemas.openxmlformats.org/officeDocument/2006/relationships/image" Target="../media/image-13-10.png"/><Relationship Id="rId11" Type="http://schemas.openxmlformats.org/officeDocument/2006/relationships/image" Target="../media/image-13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rs_1"/>
          <p:cNvSpPr/>
          <p:nvPr/>
        </p:nvSpPr>
        <p:spPr>
          <a:xfrm>
            <a:off x="411480" y="292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English File Elementary · SB pp.14–15</a:t>
            </a:r>
            <a:endParaRPr lang="en-US" sz="1000" dirty="0"/>
          </a:p>
        </p:txBody>
      </p:sp>
      <p:sp>
        <p:nvSpPr>
          <p:cNvPr id="4" name="bd_2"/>
          <p:cNvSpPr/>
          <p:nvPr/>
        </p:nvSpPr>
        <p:spPr>
          <a:xfrm>
            <a:off x="365760" y="640080"/>
            <a:ext cx="1051560" cy="105156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2A</a:t>
            </a:r>
            <a:endParaRPr lang="en-US" sz="2800" dirty="0"/>
          </a:p>
        </p:txBody>
      </p:sp>
      <p:pic>
        <p:nvPicPr>
          <p:cNvPr id="5" name="bry_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713232"/>
            <a:ext cx="3566160" cy="868680"/>
          </a:xfrm>
          <a:prstGeom prst="rect">
            <a:avLst/>
          </a:prstGeom>
        </p:spPr>
      </p:pic>
      <p:sp>
        <p:nvSpPr>
          <p:cNvPr id="6" name="t_4"/>
          <p:cNvSpPr/>
          <p:nvPr/>
        </p:nvSpPr>
        <p:spPr>
          <a:xfrm>
            <a:off x="1645920" y="731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Are you tidy or untidy?</a:t>
            </a:r>
            <a:endParaRPr lang="en-US" sz="1900" dirty="0"/>
          </a:p>
        </p:txBody>
      </p:sp>
      <p:pic>
        <p:nvPicPr>
          <p:cNvPr id="7" name="brp_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517904"/>
            <a:ext cx="3017520" cy="384048"/>
          </a:xfrm>
          <a:prstGeom prst="rect">
            <a:avLst/>
          </a:prstGeom>
        </p:spPr>
      </p:pic>
      <p:sp>
        <p:nvSpPr>
          <p:cNvPr id="8" name="st_6"/>
          <p:cNvSpPr/>
          <p:nvPr/>
        </p:nvSpPr>
        <p:spPr>
          <a:xfrm>
            <a:off x="1691640" y="151790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Things, plurals, in/on/under</a:t>
            </a:r>
            <a:endParaRPr lang="en-US" sz="1250" dirty="0"/>
          </a:p>
        </p:txBody>
      </p:sp>
      <p:sp>
        <p:nvSpPr>
          <p:cNvPr id="9" name="cd_7"/>
          <p:cNvSpPr/>
          <p:nvPr/>
        </p:nvSpPr>
        <p:spPr>
          <a:xfrm>
            <a:off x="365760" y="2148840"/>
            <a:ext cx="4206240" cy="1691640"/>
          </a:xfrm>
          <a:prstGeom prst="roundRect">
            <a:avLst>
              <a:gd name="adj" fmla="val 7568"/>
            </a:avLst>
          </a:prstGeom>
          <a:solidFill>
            <a:srgbClr val="E3F1FD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0" name="ii_8"/>
          <p:cNvSpPr/>
          <p:nvPr/>
        </p:nvSpPr>
        <p:spPr>
          <a:xfrm>
            <a:off x="45720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1" name="ih_9"/>
          <p:cNvSpPr/>
          <p:nvPr/>
        </p:nvSpPr>
        <p:spPr>
          <a:xfrm>
            <a:off x="932688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you're going to…</a:t>
            </a:r>
            <a:endParaRPr lang="en-US" sz="1600" dirty="0"/>
          </a:p>
        </p:txBody>
      </p:sp>
      <p:sp>
        <p:nvSpPr>
          <p:cNvPr id="12" name="il_10"/>
          <p:cNvSpPr/>
          <p:nvPr/>
        </p:nvSpPr>
        <p:spPr>
          <a:xfrm>
            <a:off x="932688" y="2624328"/>
            <a:ext cx="35478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🔑  learn the names of everyday things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✏️  make plurals: a key → two keys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🔊  say -s and -es correctly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📍  say where things are: in, on, under</a:t>
            </a:r>
            <a:endParaRPr lang="en-US" sz="1250" dirty="0"/>
          </a:p>
        </p:txBody>
      </p:sp>
      <p:sp>
        <p:nvSpPr>
          <p:cNvPr id="13" name="R1_ex11"/>
          <p:cNvSpPr/>
          <p:nvPr/>
        </p:nvSpPr>
        <p:spPr>
          <a:xfrm>
            <a:off x="365760" y="3950208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FFF6CC"/>
          </a:solidFill>
          <a:ln w="19050">
            <a:solidFill>
              <a:srgbClr val="FFE07A"/>
            </a:solidFill>
          </a:ln>
        </p:spPr>
        <p:txBody>
          <a:bodyPr wrap="square" lIns="25400" tIns="152400" rIns="152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E8508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EXAMPLE  </a:t>
            </a:r>
            <a:pPr indent="0" marL="0">
              <a:buNone/>
            </a:pPr>
            <a:r>
              <a:rPr lang="en-US" sz="13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My desk is very untidy! There are papers, cups and cables everywhere.</a:t>
            </a:r>
            <a:endParaRPr lang="en-US" sz="1000" dirty="0"/>
          </a:p>
        </p:txBody>
      </p:sp>
      <p:sp>
        <p:nvSpPr>
          <p:cNvPr id="14" name="pf_12"/>
          <p:cNvSpPr/>
          <p:nvPr/>
        </p:nvSpPr>
        <p:spPr>
          <a:xfrm rot="90000">
            <a:off x="4846320" y="777240"/>
            <a:ext cx="3977640" cy="3200400"/>
          </a:xfrm>
          <a:prstGeom prst="roundRect">
            <a:avLst>
              <a:gd name="adj" fmla="val 4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13" descr="/home/claude/lls-course/v2/cache/red_2a_untidy_jpg_935x748_3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0000">
            <a:off x="4892040" y="822960"/>
            <a:ext cx="3886200" cy="3108960"/>
          </a:xfrm>
          <a:prstGeom prst="rect">
            <a:avLst/>
          </a:prstGeom>
        </p:spPr>
      </p:pic>
      <p:sp>
        <p:nvSpPr>
          <p:cNvPr id="16" name="bb_14"/>
          <p:cNvSpPr/>
          <p:nvPr/>
        </p:nvSpPr>
        <p:spPr>
          <a:xfrm>
            <a:off x="5120640" y="3611880"/>
            <a:ext cx="3566160" cy="822960"/>
          </a:xfrm>
          <a:prstGeom prst="wedgeRoundRectCallout">
            <a:avLst/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lIns="50800" tIns="127000" rIns="1270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Is your desk at home tidy or untidy?</a:t>
            </a:r>
            <a:endParaRPr lang="en-US" sz="1600" dirty="0"/>
          </a:p>
        </p:txBody>
      </p:sp>
      <p:sp>
        <p:nvSpPr>
          <p:cNvPr id="17" name="st_15"/>
          <p:cNvSpPr/>
          <p:nvPr/>
        </p:nvSpPr>
        <p:spPr>
          <a:xfrm rot="360000">
            <a:off x="7543800" y="502920"/>
            <a:ext cx="1325880" cy="38404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 · PENSA</a:t>
            </a:r>
            <a:endParaRPr lang="en-US" sz="1100" dirty="0"/>
          </a:p>
        </p:txBody>
      </p:sp>
      <p:pic>
        <p:nvPicPr>
          <p:cNvPr id="18" name="logo_16" descr="/home/claude/lls-course/v2/img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800" dirty="0"/>
          </a:p>
        </p:txBody>
      </p:sp>
      <p:pic>
        <p:nvPicPr>
          <p:cNvPr id="4" name="brY_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19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 last lesson?</a:t>
            </a:r>
            <a:endParaRPr lang="en-US" sz="2500" dirty="0"/>
          </a:p>
        </p:txBody>
      </p:sp>
      <p:pic>
        <p:nvPicPr>
          <p:cNvPr id="6" name="brP_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945636" cy="402336"/>
          </a:xfrm>
          <a:prstGeom prst="rect">
            <a:avLst/>
          </a:prstGeom>
        </p:spPr>
      </p:pic>
      <p:sp>
        <p:nvSpPr>
          <p:cNvPr id="7" name="ins_21"/>
          <p:cNvSpPr/>
          <p:nvPr/>
        </p:nvSpPr>
        <p:spPr>
          <a:xfrm>
            <a:off x="1353312" y="731520"/>
            <a:ext cx="36896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examples. Then say one more.</a:t>
            </a:r>
            <a:endParaRPr lang="en-US" sz="1250" dirty="0"/>
          </a:p>
        </p:txBody>
      </p:sp>
      <p:sp>
        <p:nvSpPr>
          <p:cNvPr id="8" name="insIT_22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Leggi gli esempi. Poi dinne un altro.</a:t>
            </a:r>
            <a:endParaRPr lang="en-US" sz="950" dirty="0"/>
          </a:p>
        </p:txBody>
      </p:sp>
      <p:sp>
        <p:nvSpPr>
          <p:cNvPr id="9" name="cmd_23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300" dirty="0"/>
          </a:p>
        </p:txBody>
      </p:sp>
      <p:sp>
        <p:nvSpPr>
          <p:cNvPr id="10" name="meta_24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🙋 whole class</a:t>
            </a:r>
            <a:endParaRPr lang="en-US" sz="950" dirty="0"/>
          </a:p>
        </p:txBody>
      </p:sp>
      <p:pic>
        <p:nvPicPr>
          <p:cNvPr id="11" name="logo_2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2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 · Revision · last lesson</a:t>
            </a:r>
            <a:endParaRPr lang="en-US" sz="800" dirty="0"/>
          </a:p>
        </p:txBody>
      </p:sp>
      <p:sp>
        <p:nvSpPr>
          <p:cNvPr id="13" name="pf_27"/>
          <p:cNvSpPr/>
          <p:nvPr/>
        </p:nvSpPr>
        <p:spPr>
          <a:xfrm rot="-120000">
            <a:off x="365760" y="1371600"/>
            <a:ext cx="2651760" cy="1828800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4" name="ph_28" descr="/home/claude/lls-course/v2/cache/red_2a_tidy_jpg_616x418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11480" y="1417320"/>
            <a:ext cx="2560320" cy="1737360"/>
          </a:xfrm>
          <a:prstGeom prst="rect">
            <a:avLst/>
          </a:prstGeom>
        </p:spPr>
      </p:pic>
      <p:sp>
        <p:nvSpPr>
          <p:cNvPr id="15" name="cd_29"/>
          <p:cNvSpPr/>
          <p:nvPr/>
        </p:nvSpPr>
        <p:spPr>
          <a:xfrm>
            <a:off x="320040" y="3383280"/>
            <a:ext cx="2743200" cy="1325880"/>
          </a:xfrm>
          <a:prstGeom prst="roundRect">
            <a:avLst>
              <a:gd name="adj" fmla="val 9655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30"/>
          <p:cNvSpPr/>
          <p:nvPr/>
        </p:nvSpPr>
        <p:spPr>
          <a:xfrm>
            <a:off x="411480" y="34564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📅</a:t>
            </a:r>
            <a:endParaRPr lang="en-US" sz="2200" dirty="0"/>
          </a:p>
        </p:txBody>
      </p:sp>
      <p:sp>
        <p:nvSpPr>
          <p:cNvPr id="17" name="ih_31"/>
          <p:cNvSpPr/>
          <p:nvPr/>
        </p:nvSpPr>
        <p:spPr>
          <a:xfrm>
            <a:off x="886968" y="3474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Last lesson…</a:t>
            </a:r>
            <a:endParaRPr lang="en-US" sz="1300" dirty="0"/>
          </a:p>
        </p:txBody>
      </p:sp>
      <p:sp>
        <p:nvSpPr>
          <p:cNvPr id="18" name="il_32"/>
          <p:cNvSpPr/>
          <p:nvPr/>
        </p:nvSpPr>
        <p:spPr>
          <a:xfrm>
            <a:off x="886968" y="3858768"/>
            <a:ext cx="2084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File 1: be, questions, the alphabet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classroom language</a:t>
            </a:r>
            <a:endParaRPr lang="en-US" sz="1100" dirty="0"/>
          </a:p>
        </p:txBody>
      </p:sp>
      <p:sp>
        <p:nvSpPr>
          <p:cNvPr id="19" name="cd_33"/>
          <p:cNvSpPr/>
          <p:nvPr/>
        </p:nvSpPr>
        <p:spPr>
          <a:xfrm>
            <a:off x="324612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rh_34"/>
          <p:cNvSpPr/>
          <p:nvPr/>
        </p:nvSpPr>
        <p:spPr>
          <a:xfrm>
            <a:off x="335584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be + questions</a:t>
            </a:r>
            <a:endParaRPr lang="en-US" sz="1200" dirty="0"/>
          </a:p>
        </p:txBody>
      </p:sp>
      <p:sp>
        <p:nvSpPr>
          <p:cNvPr id="21" name="rl_35"/>
          <p:cNvSpPr/>
          <p:nvPr/>
        </p:nvSpPr>
        <p:spPr>
          <a:xfrm>
            <a:off x="338328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What's your name?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My name's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Anna.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are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you from?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from Italy.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do you spell it? A-N-N-A.</a:t>
            </a:r>
            <a:endParaRPr lang="en-US" sz="1150" dirty="0"/>
          </a:p>
        </p:txBody>
      </p:sp>
      <p:sp>
        <p:nvSpPr>
          <p:cNvPr id="22" name="cd_36"/>
          <p:cNvSpPr/>
          <p:nvPr/>
        </p:nvSpPr>
        <p:spPr>
          <a:xfrm>
            <a:off x="612648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rh_37"/>
          <p:cNvSpPr/>
          <p:nvPr/>
        </p:nvSpPr>
        <p:spPr>
          <a:xfrm>
            <a:off x="623620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In the classroom</a:t>
            </a:r>
            <a:endParaRPr lang="en-US" sz="1200" dirty="0"/>
          </a:p>
        </p:txBody>
      </p:sp>
      <p:sp>
        <p:nvSpPr>
          <p:cNvPr id="24" name="rl_38"/>
          <p:cNvSpPr/>
          <p:nvPr/>
        </p:nvSpPr>
        <p:spPr>
          <a:xfrm>
            <a:off x="626364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What's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this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? It's a chair.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What's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that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? It's a window.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Sorry I'm late. · What page is it?</a:t>
            </a:r>
            <a:endParaRPr lang="en-US" sz="1150" dirty="0"/>
          </a:p>
        </p:txBody>
      </p:sp>
      <p:sp>
        <p:nvSpPr>
          <p:cNvPr id="25" name="kw_39"/>
          <p:cNvSpPr/>
          <p:nvPr/>
        </p:nvSpPr>
        <p:spPr>
          <a:xfrm>
            <a:off x="3246120" y="3867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🔤 KEY WORDS</a:t>
            </a:r>
            <a:endParaRPr lang="en-US" sz="1100" dirty="0"/>
          </a:p>
        </p:txBody>
      </p:sp>
      <p:sp>
        <p:nvSpPr>
          <p:cNvPr id="26" name="w_40"/>
          <p:cNvSpPr/>
          <p:nvPr/>
        </p:nvSpPr>
        <p:spPr>
          <a:xfrm>
            <a:off x="3246120" y="4178808"/>
            <a:ext cx="708660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board</a:t>
            </a:r>
            <a:endParaRPr lang="en-US" sz="1050" dirty="0"/>
          </a:p>
        </p:txBody>
      </p:sp>
      <p:sp>
        <p:nvSpPr>
          <p:cNvPr id="27" name="w_41"/>
          <p:cNvSpPr/>
          <p:nvPr/>
        </p:nvSpPr>
        <p:spPr>
          <a:xfrm>
            <a:off x="4027932" y="4178808"/>
            <a:ext cx="708660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chair</a:t>
            </a:r>
            <a:endParaRPr lang="en-US" sz="1050" dirty="0"/>
          </a:p>
        </p:txBody>
      </p:sp>
      <p:sp>
        <p:nvSpPr>
          <p:cNvPr id="28" name="w_42"/>
          <p:cNvSpPr/>
          <p:nvPr/>
        </p:nvSpPr>
        <p:spPr>
          <a:xfrm>
            <a:off x="4809744" y="4178808"/>
            <a:ext cx="630936" cy="310896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desk</a:t>
            </a:r>
            <a:endParaRPr lang="en-US" sz="1050" dirty="0"/>
          </a:p>
        </p:txBody>
      </p:sp>
      <p:sp>
        <p:nvSpPr>
          <p:cNvPr id="29" name="w_43"/>
          <p:cNvSpPr/>
          <p:nvPr/>
        </p:nvSpPr>
        <p:spPr>
          <a:xfrm>
            <a:off x="5513832" y="4178808"/>
            <a:ext cx="630936" cy="310896"/>
          </a:xfrm>
          <a:prstGeom prst="roundRect">
            <a:avLst>
              <a:gd name="adj" fmla="val 50000"/>
            </a:avLst>
          </a:prstGeom>
          <a:solidFill>
            <a:srgbClr val="FFF6CC"/>
          </a:solidFill>
          <a:ln>
            <a:solidFill>
              <a:srgbClr val="FFE0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door</a:t>
            </a:r>
            <a:endParaRPr lang="en-US" sz="1050" dirty="0"/>
          </a:p>
        </p:txBody>
      </p:sp>
      <p:sp>
        <p:nvSpPr>
          <p:cNvPr id="30" name="w_44"/>
          <p:cNvSpPr/>
          <p:nvPr/>
        </p:nvSpPr>
        <p:spPr>
          <a:xfrm>
            <a:off x="6217920" y="4178808"/>
            <a:ext cx="786384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window</a:t>
            </a:r>
            <a:endParaRPr lang="en-US" sz="1050" dirty="0"/>
          </a:p>
        </p:txBody>
      </p:sp>
      <p:sp>
        <p:nvSpPr>
          <p:cNvPr id="31" name="w_45"/>
          <p:cNvSpPr/>
          <p:nvPr/>
        </p:nvSpPr>
        <p:spPr>
          <a:xfrm>
            <a:off x="7077456" y="4178808"/>
            <a:ext cx="708660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table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800" dirty="0"/>
          </a:p>
        </p:txBody>
      </p:sp>
      <p:pic>
        <p:nvPicPr>
          <p:cNvPr id="4" name="brY_4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48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Spell it!</a:t>
            </a:r>
            <a:endParaRPr lang="en-US" sz="2500" dirty="0"/>
          </a:p>
        </p:txBody>
      </p:sp>
      <p:pic>
        <p:nvPicPr>
          <p:cNvPr id="6" name="brP_4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466844" cy="402336"/>
          </a:xfrm>
          <a:prstGeom prst="rect">
            <a:avLst/>
          </a:prstGeom>
        </p:spPr>
      </p:pic>
      <p:sp>
        <p:nvSpPr>
          <p:cNvPr id="7" name="ins_50"/>
          <p:cNvSpPr/>
          <p:nvPr/>
        </p:nvSpPr>
        <p:spPr>
          <a:xfrm>
            <a:off x="1353312" y="731520"/>
            <a:ext cx="42108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Look at the word. Spell it to your partner!</a:t>
            </a:r>
            <a:endParaRPr lang="en-US" sz="1250" dirty="0"/>
          </a:p>
        </p:txBody>
      </p:sp>
      <p:sp>
        <p:nvSpPr>
          <p:cNvPr id="8" name="insIT_51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Guarda la parola. Fai lo spelling al compagno!</a:t>
            </a:r>
            <a:endParaRPr lang="en-US" sz="950" dirty="0"/>
          </a:p>
        </p:txBody>
      </p:sp>
      <p:sp>
        <p:nvSpPr>
          <p:cNvPr id="9" name="cmd_52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300" dirty="0"/>
          </a:p>
        </p:txBody>
      </p:sp>
      <p:sp>
        <p:nvSpPr>
          <p:cNvPr id="10" name="meta_53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pic>
        <p:nvPicPr>
          <p:cNvPr id="11" name="logo_5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5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 · Warmer · alphabet + things</a:t>
            </a:r>
            <a:endParaRPr lang="en-US" sz="800" dirty="0"/>
          </a:p>
        </p:txBody>
      </p:sp>
      <p:sp>
        <p:nvSpPr>
          <p:cNvPr id="13" name="cd_56"/>
          <p:cNvSpPr/>
          <p:nvPr/>
        </p:nvSpPr>
        <p:spPr>
          <a:xfrm>
            <a:off x="320040" y="1417320"/>
            <a:ext cx="2697480" cy="2057400"/>
          </a:xfrm>
          <a:prstGeom prst="roundRect">
            <a:avLst>
              <a:gd name="adj" fmla="val 6222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ii_57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5" name="ih_58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500" dirty="0"/>
          </a:p>
        </p:txBody>
      </p:sp>
      <p:sp>
        <p:nvSpPr>
          <p:cNvPr id="16" name="il_59"/>
          <p:cNvSpPr/>
          <p:nvPr/>
        </p:nvSpPr>
        <p:spPr>
          <a:xfrm>
            <a:off x="886968" y="1892808"/>
            <a:ext cx="203911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looks at the screen. B closes the book.</a:t>
            </a:r>
            <a:endParaRPr lang="en-US" sz="1150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spells the word: D-E-S-K.</a:t>
            </a:r>
            <a:endParaRPr lang="en-US" sz="1150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 writes it and says it. Then swap.</a:t>
            </a:r>
            <a:endParaRPr lang="en-US" sz="1150" dirty="0"/>
          </a:p>
        </p:txBody>
      </p:sp>
      <p:sp>
        <p:nvSpPr>
          <p:cNvPr id="17" name="st_60"/>
          <p:cNvSpPr/>
          <p:nvPr/>
        </p:nvSpPr>
        <p:spPr>
          <a:xfrm rot="-180000">
            <a:off x="502920" y="3703320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300" dirty="0"/>
          </a:p>
        </p:txBody>
      </p:sp>
      <p:sp>
        <p:nvSpPr>
          <p:cNvPr id="18" name="rl_61"/>
          <p:cNvSpPr/>
          <p:nvPr/>
        </p:nvSpPr>
        <p:spPr>
          <a:xfrm>
            <a:off x="3246120" y="1417320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ROUND 1 · A spells</a:t>
            </a:r>
            <a:endParaRPr lang="en-US" sz="1100" dirty="0"/>
          </a:p>
        </p:txBody>
      </p:sp>
      <p:sp>
        <p:nvSpPr>
          <p:cNvPr id="19" name="R1_w62"/>
          <p:cNvSpPr/>
          <p:nvPr/>
        </p:nvSpPr>
        <p:spPr>
          <a:xfrm>
            <a:off x="3246120" y="185623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window</a:t>
            </a:r>
            <a:endParaRPr lang="en-US" sz="1700" dirty="0"/>
          </a:p>
        </p:txBody>
      </p:sp>
      <p:sp>
        <p:nvSpPr>
          <p:cNvPr id="20" name="R2_w63"/>
          <p:cNvSpPr/>
          <p:nvPr/>
        </p:nvSpPr>
        <p:spPr>
          <a:xfrm>
            <a:off x="3246120" y="258775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chair</a:t>
            </a:r>
            <a:endParaRPr lang="en-US" sz="1700" dirty="0"/>
          </a:p>
        </p:txBody>
      </p:sp>
      <p:sp>
        <p:nvSpPr>
          <p:cNvPr id="21" name="R3_w64"/>
          <p:cNvSpPr/>
          <p:nvPr/>
        </p:nvSpPr>
        <p:spPr>
          <a:xfrm>
            <a:off x="3246120" y="331927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board</a:t>
            </a:r>
            <a:endParaRPr lang="en-US" sz="1700" dirty="0"/>
          </a:p>
        </p:txBody>
      </p:sp>
      <p:sp>
        <p:nvSpPr>
          <p:cNvPr id="22" name="R4_w65"/>
          <p:cNvSpPr/>
          <p:nvPr/>
        </p:nvSpPr>
        <p:spPr>
          <a:xfrm>
            <a:off x="3246120" y="405079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table</a:t>
            </a:r>
            <a:endParaRPr lang="en-US" sz="1700" dirty="0"/>
          </a:p>
        </p:txBody>
      </p:sp>
      <p:sp>
        <p:nvSpPr>
          <p:cNvPr id="23" name="rl_66"/>
          <p:cNvSpPr/>
          <p:nvPr/>
        </p:nvSpPr>
        <p:spPr>
          <a:xfrm>
            <a:off x="6080760" y="1417320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ROUND 2 · B spells</a:t>
            </a:r>
            <a:endParaRPr lang="en-US" sz="1100" dirty="0"/>
          </a:p>
        </p:txBody>
      </p:sp>
      <p:sp>
        <p:nvSpPr>
          <p:cNvPr id="24" name="R5_w67"/>
          <p:cNvSpPr/>
          <p:nvPr/>
        </p:nvSpPr>
        <p:spPr>
          <a:xfrm>
            <a:off x="6080760" y="185623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door</a:t>
            </a:r>
            <a:endParaRPr lang="en-US" sz="1700" dirty="0"/>
          </a:p>
        </p:txBody>
      </p:sp>
      <p:sp>
        <p:nvSpPr>
          <p:cNvPr id="25" name="R6_w68"/>
          <p:cNvSpPr/>
          <p:nvPr/>
        </p:nvSpPr>
        <p:spPr>
          <a:xfrm>
            <a:off x="6080760" y="258775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desk</a:t>
            </a:r>
            <a:endParaRPr lang="en-US" sz="1700" dirty="0"/>
          </a:p>
        </p:txBody>
      </p:sp>
      <p:sp>
        <p:nvSpPr>
          <p:cNvPr id="26" name="R7_w69"/>
          <p:cNvSpPr/>
          <p:nvPr/>
        </p:nvSpPr>
        <p:spPr>
          <a:xfrm>
            <a:off x="6080760" y="331927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picture</a:t>
            </a:r>
            <a:endParaRPr lang="en-US" sz="1700" dirty="0"/>
          </a:p>
        </p:txBody>
      </p:sp>
      <p:sp>
        <p:nvSpPr>
          <p:cNvPr id="27" name="R8_w70"/>
          <p:cNvSpPr/>
          <p:nvPr/>
        </p:nvSpPr>
        <p:spPr>
          <a:xfrm>
            <a:off x="6080760" y="405079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wall</a:t>
            </a:r>
            <a:endParaRPr lang="en-US" sz="17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7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2800" dirty="0"/>
          </a:p>
        </p:txBody>
      </p:sp>
      <p:pic>
        <p:nvPicPr>
          <p:cNvPr id="4" name="brY_7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405226" cy="621792"/>
          </a:xfrm>
          <a:prstGeom prst="rect">
            <a:avLst/>
          </a:prstGeom>
        </p:spPr>
      </p:pic>
      <p:sp>
        <p:nvSpPr>
          <p:cNvPr id="5" name="title_73"/>
          <p:cNvSpPr/>
          <p:nvPr/>
        </p:nvSpPr>
        <p:spPr>
          <a:xfrm>
            <a:off x="1261872" y="164592"/>
            <a:ext cx="31309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Room A and room B</a:t>
            </a:r>
            <a:endParaRPr lang="en-US" sz="2500" dirty="0"/>
          </a:p>
        </p:txBody>
      </p:sp>
      <p:pic>
        <p:nvPicPr>
          <p:cNvPr id="6" name="brP_7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727448" cy="402336"/>
          </a:xfrm>
          <a:prstGeom prst="rect">
            <a:avLst/>
          </a:prstGeom>
        </p:spPr>
      </p:pic>
      <p:sp>
        <p:nvSpPr>
          <p:cNvPr id="7" name="ins_75"/>
          <p:cNvSpPr/>
          <p:nvPr/>
        </p:nvSpPr>
        <p:spPr>
          <a:xfrm>
            <a:off x="1353312" y="731520"/>
            <a:ext cx="44714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Look at rooms A and B. Find the PLURAL things.</a:t>
            </a:r>
            <a:endParaRPr lang="en-US" sz="1250" dirty="0"/>
          </a:p>
        </p:txBody>
      </p:sp>
      <p:sp>
        <p:nvSpPr>
          <p:cNvPr id="8" name="insIT_76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Guarda le stanze A e B. Trova le cose al PLURALE.</a:t>
            </a:r>
            <a:endParaRPr lang="en-US" sz="950" dirty="0"/>
          </a:p>
        </p:txBody>
      </p:sp>
      <p:sp>
        <p:nvSpPr>
          <p:cNvPr id="9" name="cmd_77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LOOK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GUARDA</a:t>
            </a:r>
            <a:endParaRPr lang="en-US" sz="1300" dirty="0"/>
          </a:p>
        </p:txBody>
      </p:sp>
      <p:sp>
        <p:nvSpPr>
          <p:cNvPr id="10" name="cmd_78"/>
          <p:cNvSpPr/>
          <p:nvPr/>
        </p:nvSpPr>
        <p:spPr>
          <a:xfrm>
            <a:off x="6583680" y="566928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🔍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FIND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TROVA</a:t>
            </a:r>
            <a:endParaRPr lang="en-US" sz="1300" dirty="0"/>
          </a:p>
        </p:txBody>
      </p:sp>
      <p:sp>
        <p:nvSpPr>
          <p:cNvPr id="11" name="meta_79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pic>
        <p:nvPicPr>
          <p:cNvPr id="12" name="logo_8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8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 · Lead-in · two rooms   ·   📖 SB p.14 · 1a · 3c (answers: Teacher's Guide)</a:t>
            </a:r>
            <a:endParaRPr lang="en-US" sz="800" dirty="0"/>
          </a:p>
        </p:txBody>
      </p:sp>
      <p:sp>
        <p:nvSpPr>
          <p:cNvPr id="14" name="cd_82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83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6" name="ih_84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7" name="il_85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 Room A: chairs (more than one chair)</a:t>
            </a:r>
            <a:endParaRPr lang="en-US" sz="1050" dirty="0"/>
          </a:p>
        </p:txBody>
      </p:sp>
      <p:sp>
        <p:nvSpPr>
          <p:cNvPr id="18" name="pf_86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87" descr="/home/claude/lls-course/v2/cache/red_2a_tidy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0" name="bd_88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1" name="q_89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Room A (Virginia Woolf): tidy or untidy?</a:t>
            </a:r>
            <a:endParaRPr lang="en-US" sz="1150" dirty="0"/>
          </a:p>
        </p:txBody>
      </p:sp>
      <p:sp>
        <p:nvSpPr>
          <p:cNvPr id="22" name="R1_chip90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tidy</a:t>
            </a:r>
            <a:endParaRPr lang="en-US" sz="1000" dirty="0"/>
          </a:p>
        </p:txBody>
      </p:sp>
      <p:sp>
        <p:nvSpPr>
          <p:cNvPr id="23" name="bd_91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q_92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Room B (Ian Rankin): tidy or untidy?</a:t>
            </a:r>
            <a:endParaRPr lang="en-US" sz="1150" dirty="0"/>
          </a:p>
        </p:txBody>
      </p:sp>
      <p:sp>
        <p:nvSpPr>
          <p:cNvPr id="25" name="R2_chip93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untidy!</a:t>
            </a:r>
            <a:endParaRPr lang="en-US" sz="1000" dirty="0"/>
          </a:p>
        </p:txBody>
      </p:sp>
      <p:sp>
        <p:nvSpPr>
          <p:cNvPr id="26" name="bd_94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q_95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Plural things in room A</a:t>
            </a:r>
            <a:endParaRPr lang="en-US" sz="1150" dirty="0"/>
          </a:p>
        </p:txBody>
      </p:sp>
      <p:sp>
        <p:nvSpPr>
          <p:cNvPr id="28" name="R3_chip96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chairs, doors, files, glasses</a:t>
            </a:r>
            <a:endParaRPr lang="en-US" sz="1000" dirty="0"/>
          </a:p>
        </p:txBody>
      </p:sp>
      <p:sp>
        <p:nvSpPr>
          <p:cNvPr id="29" name="bd_97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q_98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Plural things in room B</a:t>
            </a:r>
            <a:endParaRPr lang="en-US" sz="1150" dirty="0"/>
          </a:p>
        </p:txBody>
      </p:sp>
      <p:sp>
        <p:nvSpPr>
          <p:cNvPr id="31" name="R4_chip99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tables / desks, chairs, pieces of paper, photos, CDs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0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2800" dirty="0"/>
          </a:p>
        </p:txBody>
      </p:sp>
      <p:pic>
        <p:nvPicPr>
          <p:cNvPr id="4" name="brY_10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102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What's in your bag?</a:t>
            </a:r>
            <a:endParaRPr lang="en-US" sz="2500" dirty="0"/>
          </a:p>
        </p:txBody>
      </p:sp>
      <p:pic>
        <p:nvPicPr>
          <p:cNvPr id="6" name="brP_10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104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Name the things. Write a or an + the word.</a:t>
            </a:r>
            <a:endParaRPr lang="en-US" sz="1250" dirty="0"/>
          </a:p>
        </p:txBody>
      </p:sp>
      <p:sp>
        <p:nvSpPr>
          <p:cNvPr id="8" name="insIT_105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Scrivi a o an + la parola.</a:t>
            </a:r>
            <a:endParaRPr lang="en-US" sz="950" dirty="0"/>
          </a:p>
        </p:txBody>
      </p:sp>
      <p:sp>
        <p:nvSpPr>
          <p:cNvPr id="9" name="cmd_106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LOOK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GUARDA</a:t>
            </a:r>
            <a:endParaRPr lang="en-US" sz="1300" dirty="0"/>
          </a:p>
        </p:txBody>
      </p:sp>
      <p:sp>
        <p:nvSpPr>
          <p:cNvPr id="10" name="cmd_107"/>
          <p:cNvSpPr/>
          <p:nvPr/>
        </p:nvSpPr>
        <p:spPr>
          <a:xfrm>
            <a:off x="6583680" y="566928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✍️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WRITE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SCRIVI</a:t>
            </a:r>
            <a:endParaRPr lang="en-US" sz="1300" dirty="0"/>
          </a:p>
        </p:txBody>
      </p:sp>
      <p:sp>
        <p:nvSpPr>
          <p:cNvPr id="11" name="meta_108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👥 pairs</a:t>
            </a:r>
            <a:endParaRPr lang="en-US" sz="950" dirty="0"/>
          </a:p>
        </p:txBody>
      </p:sp>
      <p:pic>
        <p:nvPicPr>
          <p:cNvPr id="12" name="logo_10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11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 · Vocabulary · things   ·   📖 SB p.14 · 1b, 1c · Vocabulary Bank Things p.151</a:t>
            </a:r>
            <a:endParaRPr lang="en-US" sz="800" dirty="0"/>
          </a:p>
        </p:txBody>
      </p:sp>
      <p:sp>
        <p:nvSpPr>
          <p:cNvPr id="14" name="cd_111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112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6" name="ih_113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7" name="il_114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 🔑 → a key</a:t>
            </a:r>
            <a:endParaRPr lang="en-US" sz="1050" dirty="0"/>
          </a:p>
        </p:txBody>
      </p:sp>
      <p:sp>
        <p:nvSpPr>
          <p:cNvPr id="18" name="pf_115"/>
          <p:cNvSpPr/>
          <p:nvPr/>
        </p:nvSpPr>
        <p:spPr>
          <a:xfrm rot="-90000">
            <a:off x="365760" y="2697480"/>
            <a:ext cx="2606040" cy="1417320"/>
          </a:xfrm>
          <a:prstGeom prst="roundRect">
            <a:avLst>
              <a:gd name="adj" fmla="val 109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116" descr="/home/claude/lls-course/v2/cache/red_2a_untidy_jpg_605x31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325880"/>
          </a:xfrm>
          <a:prstGeom prst="rect">
            <a:avLst/>
          </a:prstGeom>
        </p:spPr>
      </p:pic>
      <p:sp>
        <p:nvSpPr>
          <p:cNvPr id="20" name="ap_117"/>
          <p:cNvSpPr/>
          <p:nvPr/>
        </p:nvSpPr>
        <p:spPr>
          <a:xfrm>
            <a:off x="365760" y="4297680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0" tIns="12700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2.1</a:t>
            </a:r>
            <a:endParaRPr lang="en-US" sz="1100" dirty="0"/>
          </a:p>
        </p:txBody>
      </p:sp>
      <p:sp>
        <p:nvSpPr>
          <p:cNvPr id="21" name="ah_118"/>
          <p:cNvSpPr/>
          <p:nvPr/>
        </p:nvSpPr>
        <p:spPr>
          <a:xfrm>
            <a:off x="5925312" y="45720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 · 🐢 slower</a:t>
            </a:r>
            <a:endParaRPr lang="en-US" sz="950" dirty="0"/>
          </a:p>
        </p:txBody>
      </p:sp>
      <p:pic>
        <p:nvPicPr>
          <p:cNvPr id="22" name="Media 0">
            <a:hlinkClick r:id="" action="ppaction://media"/>
          </p:cNvPr>
          <p:cNvPicPr>
            <a:picLocks noChangeAspect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7525512" y="4553712"/>
            <a:ext cx="411480" cy="411480"/>
          </a:xfrm>
          <a:prstGeom prst="rect">
            <a:avLst/>
          </a:prstGeom>
        </p:spPr>
      </p:pic>
      <p:pic>
        <p:nvPicPr>
          <p:cNvPr id="23" name="Media 1">
            <a:hlinkClick r:id="" action="ppaction://media"/>
          </p:cNvPr>
          <p:cNvPicPr>
            <a:picLocks noChangeAspect="1"/>
          </p:cNvPicPr>
          <p:nvPr>
            <a:audioFile r:link="rId9"/>
            <p:extLst>
              <p:ext uri="{DAA4B4D4-6D71-4841-9C94-3DE7FCFB9230}">
                <p14:media xmlns:p14="http://schemas.microsoft.com/office/powerpoint/2010/main" r:embed="rId10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8001000" y="4553712"/>
            <a:ext cx="411480" cy="411480"/>
          </a:xfrm>
          <a:prstGeom prst="rect">
            <a:avLst/>
          </a:prstGeom>
        </p:spPr>
      </p:pic>
      <p:sp>
        <p:nvSpPr>
          <p:cNvPr id="24" name="bd_119"/>
          <p:cNvSpPr/>
          <p:nvPr/>
        </p:nvSpPr>
        <p:spPr>
          <a:xfrm>
            <a:off x="3246120" y="14447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5" name="q_120"/>
          <p:cNvSpPr/>
          <p:nvPr/>
        </p:nvSpPr>
        <p:spPr>
          <a:xfrm>
            <a:off x="3630168" y="141732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👓</a:t>
            </a:r>
            <a:endParaRPr lang="en-US" sz="1150" dirty="0"/>
          </a:p>
        </p:txBody>
      </p:sp>
      <p:sp>
        <p:nvSpPr>
          <p:cNvPr id="26" name="R1_chip121"/>
          <p:cNvSpPr/>
          <p:nvPr/>
        </p:nvSpPr>
        <p:spPr>
          <a:xfrm>
            <a:off x="5806440" y="141732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glasses (always plural!)</a:t>
            </a:r>
            <a:endParaRPr lang="en-US" sz="1000" dirty="0"/>
          </a:p>
        </p:txBody>
      </p:sp>
      <p:sp>
        <p:nvSpPr>
          <p:cNvPr id="27" name="bd_122"/>
          <p:cNvSpPr/>
          <p:nvPr/>
        </p:nvSpPr>
        <p:spPr>
          <a:xfrm>
            <a:off x="3246120" y="185623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8" name="q_123"/>
          <p:cNvSpPr/>
          <p:nvPr/>
        </p:nvSpPr>
        <p:spPr>
          <a:xfrm>
            <a:off x="3630168" y="182880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👛 / 💼</a:t>
            </a:r>
            <a:endParaRPr lang="en-US" sz="1150" dirty="0"/>
          </a:p>
        </p:txBody>
      </p:sp>
      <p:sp>
        <p:nvSpPr>
          <p:cNvPr id="29" name="R2_chip124"/>
          <p:cNvSpPr/>
          <p:nvPr/>
        </p:nvSpPr>
        <p:spPr>
          <a:xfrm>
            <a:off x="5806440" y="182880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purse / a wallet</a:t>
            </a:r>
            <a:endParaRPr lang="en-US" sz="1000" dirty="0"/>
          </a:p>
        </p:txBody>
      </p:sp>
      <p:sp>
        <p:nvSpPr>
          <p:cNvPr id="30" name="bd_125"/>
          <p:cNvSpPr/>
          <p:nvPr/>
        </p:nvSpPr>
        <p:spPr>
          <a:xfrm>
            <a:off x="3246120" y="22677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31" name="q_126"/>
          <p:cNvSpPr/>
          <p:nvPr/>
        </p:nvSpPr>
        <p:spPr>
          <a:xfrm>
            <a:off x="3630168" y="224028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💳</a:t>
            </a:r>
            <a:endParaRPr lang="en-US" sz="1150" dirty="0"/>
          </a:p>
        </p:txBody>
      </p:sp>
      <p:sp>
        <p:nvSpPr>
          <p:cNvPr id="32" name="R3_chip127"/>
          <p:cNvSpPr/>
          <p:nvPr/>
        </p:nvSpPr>
        <p:spPr>
          <a:xfrm>
            <a:off x="5806440" y="224028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credit card</a:t>
            </a:r>
            <a:endParaRPr lang="en-US" sz="1000" dirty="0"/>
          </a:p>
        </p:txBody>
      </p:sp>
      <p:sp>
        <p:nvSpPr>
          <p:cNvPr id="33" name="bd_128"/>
          <p:cNvSpPr/>
          <p:nvPr/>
        </p:nvSpPr>
        <p:spPr>
          <a:xfrm>
            <a:off x="3246120" y="267919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4" name="q_129"/>
          <p:cNvSpPr/>
          <p:nvPr/>
        </p:nvSpPr>
        <p:spPr>
          <a:xfrm>
            <a:off x="3630168" y="265176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🪪</a:t>
            </a:r>
            <a:endParaRPr lang="en-US" sz="1150" dirty="0"/>
          </a:p>
        </p:txBody>
      </p:sp>
      <p:sp>
        <p:nvSpPr>
          <p:cNvPr id="35" name="R4_chip130"/>
          <p:cNvSpPr/>
          <p:nvPr/>
        </p:nvSpPr>
        <p:spPr>
          <a:xfrm>
            <a:off x="5806440" y="265176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 identity card</a:t>
            </a:r>
            <a:endParaRPr lang="en-US" sz="1000" dirty="0"/>
          </a:p>
        </p:txBody>
      </p:sp>
      <p:sp>
        <p:nvSpPr>
          <p:cNvPr id="36" name="bd_131"/>
          <p:cNvSpPr/>
          <p:nvPr/>
        </p:nvSpPr>
        <p:spPr>
          <a:xfrm>
            <a:off x="3246120" y="30906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7" name="q_132"/>
          <p:cNvSpPr/>
          <p:nvPr/>
        </p:nvSpPr>
        <p:spPr>
          <a:xfrm>
            <a:off x="3630168" y="306324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🔌</a:t>
            </a:r>
            <a:endParaRPr lang="en-US" sz="1150" dirty="0"/>
          </a:p>
        </p:txBody>
      </p:sp>
      <p:sp>
        <p:nvSpPr>
          <p:cNvPr id="38" name="R5_chip133"/>
          <p:cNvSpPr/>
          <p:nvPr/>
        </p:nvSpPr>
        <p:spPr>
          <a:xfrm>
            <a:off x="5806440" y="306324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charger</a:t>
            </a:r>
            <a:endParaRPr lang="en-US" sz="1000" dirty="0"/>
          </a:p>
        </p:txBody>
      </p:sp>
      <p:sp>
        <p:nvSpPr>
          <p:cNvPr id="39" name="bd_134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40" name="q_135"/>
          <p:cNvSpPr/>
          <p:nvPr/>
        </p:nvSpPr>
        <p:spPr>
          <a:xfrm>
            <a:off x="3630168" y="347472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</a:t>
            </a:r>
            <a:endParaRPr lang="en-US" sz="1150" dirty="0"/>
          </a:p>
        </p:txBody>
      </p:sp>
      <p:sp>
        <p:nvSpPr>
          <p:cNvPr id="41" name="R6_chip136"/>
          <p:cNvSpPr/>
          <p:nvPr/>
        </p:nvSpPr>
        <p:spPr>
          <a:xfrm>
            <a:off x="5806440" y="347472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headphones</a:t>
            </a:r>
            <a:endParaRPr lang="en-US" sz="1000" dirty="0"/>
          </a:p>
        </p:txBody>
      </p:sp>
      <p:sp>
        <p:nvSpPr>
          <p:cNvPr id="42" name="bd_137"/>
          <p:cNvSpPr/>
          <p:nvPr/>
        </p:nvSpPr>
        <p:spPr>
          <a:xfrm>
            <a:off x="3246120" y="391363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43" name="q_138"/>
          <p:cNvSpPr/>
          <p:nvPr/>
        </p:nvSpPr>
        <p:spPr>
          <a:xfrm>
            <a:off x="3630168" y="388620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☂️</a:t>
            </a:r>
            <a:endParaRPr lang="en-US" sz="1150" dirty="0"/>
          </a:p>
        </p:txBody>
      </p:sp>
      <p:sp>
        <p:nvSpPr>
          <p:cNvPr id="44" name="R7_chip139"/>
          <p:cNvSpPr/>
          <p:nvPr/>
        </p:nvSpPr>
        <p:spPr>
          <a:xfrm>
            <a:off x="5806440" y="388620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 umbrella</a:t>
            </a:r>
            <a:endParaRPr lang="en-US" sz="1000" dirty="0"/>
          </a:p>
        </p:txBody>
      </p:sp>
      <p:sp>
        <p:nvSpPr>
          <p:cNvPr id="45" name="bd_140"/>
          <p:cNvSpPr/>
          <p:nvPr/>
        </p:nvSpPr>
        <p:spPr>
          <a:xfrm>
            <a:off x="3246120" y="432511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1000" dirty="0"/>
          </a:p>
        </p:txBody>
      </p:sp>
      <p:sp>
        <p:nvSpPr>
          <p:cNvPr id="46" name="q_141"/>
          <p:cNvSpPr/>
          <p:nvPr/>
        </p:nvSpPr>
        <p:spPr>
          <a:xfrm>
            <a:off x="3630168" y="429768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📔</a:t>
            </a:r>
            <a:endParaRPr lang="en-US" sz="1150" dirty="0"/>
          </a:p>
        </p:txBody>
      </p:sp>
      <p:sp>
        <p:nvSpPr>
          <p:cNvPr id="47" name="R8_chip142"/>
          <p:cNvSpPr/>
          <p:nvPr/>
        </p:nvSpPr>
        <p:spPr>
          <a:xfrm>
            <a:off x="5806440" y="429768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diary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7" dur="1" fill="hold"/>
                                        <p:tgtEl>
                                          <p:spTgt spid="2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"/>
                  </p:tgtEl>
                </p:cond>
              </p:nextCondLst>
            </p:seq>
            <p:seq concurrent="1" nextAc="seek">
              <p:cTn id="48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9" fill="hold">
                      <p:stCondLst>
                        <p:cond delay="0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52" dur="1" fill="hold"/>
                                        <p:tgtEl>
                                          <p:spTgt spid="2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"/>
                  </p:tgtEl>
                </p:cond>
              </p:nextCondLst>
            </p:seq>
            <p:audio>
              <p:cMediaNode vol="80000">
                <p:cTn id="5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2"/>
                </p:tgtEl>
              </p:cMediaNode>
            </p:audio>
            <p:audio>
              <p:cMediaNode vol="80000">
                <p:cTn id="5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3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4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2800" dirty="0"/>
          </a:p>
        </p:txBody>
      </p:sp>
      <p:pic>
        <p:nvPicPr>
          <p:cNvPr id="4" name="brY_14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663440" cy="621792"/>
          </a:xfrm>
          <a:prstGeom prst="rect">
            <a:avLst/>
          </a:prstGeom>
        </p:spPr>
      </p:pic>
      <p:sp>
        <p:nvSpPr>
          <p:cNvPr id="5" name="title_145"/>
          <p:cNvSpPr/>
          <p:nvPr/>
        </p:nvSpPr>
        <p:spPr>
          <a:xfrm>
            <a:off x="1261872" y="164592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Things: English → Italian</a:t>
            </a:r>
            <a:endParaRPr lang="en-US" sz="2500" dirty="0"/>
          </a:p>
        </p:txBody>
      </p:sp>
      <p:pic>
        <p:nvPicPr>
          <p:cNvPr id="6" name="brP_14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727448" cy="402336"/>
          </a:xfrm>
          <a:prstGeom prst="rect">
            <a:avLst/>
          </a:prstGeom>
        </p:spPr>
      </p:pic>
      <p:sp>
        <p:nvSpPr>
          <p:cNvPr id="7" name="ins_147"/>
          <p:cNvSpPr/>
          <p:nvPr/>
        </p:nvSpPr>
        <p:spPr>
          <a:xfrm>
            <a:off x="1353312" y="731520"/>
            <a:ext cx="44714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Explain it in English. Then click for Italian.</a:t>
            </a:r>
            <a:endParaRPr lang="en-US" sz="1250" dirty="0"/>
          </a:p>
        </p:txBody>
      </p:sp>
      <p:sp>
        <p:nvSpPr>
          <p:cNvPr id="8" name="insIT_148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Spiegalo in inglese. Poi clicca per l'italiano.</a:t>
            </a:r>
            <a:endParaRPr lang="en-US" sz="950" dirty="0"/>
          </a:p>
        </p:txBody>
      </p:sp>
      <p:sp>
        <p:nvSpPr>
          <p:cNvPr id="9" name="cmd_149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✅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CONTROLLA</a:t>
            </a:r>
            <a:endParaRPr lang="en-US" sz="1300" dirty="0"/>
          </a:p>
        </p:txBody>
      </p:sp>
      <p:sp>
        <p:nvSpPr>
          <p:cNvPr id="10" name="meta_150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🙋 whole class</a:t>
            </a:r>
            <a:endParaRPr lang="en-US" sz="950" dirty="0"/>
          </a:p>
        </p:txBody>
      </p:sp>
      <p:pic>
        <p:nvPicPr>
          <p:cNvPr id="11" name="logo_15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15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 · Vocabulary · English, then Italian</a:t>
            </a:r>
            <a:endParaRPr lang="en-US" sz="800" dirty="0"/>
          </a:p>
        </p:txBody>
      </p:sp>
      <p:sp>
        <p:nvSpPr>
          <p:cNvPr id="13" name="cd_153"/>
          <p:cNvSpPr/>
          <p:nvPr/>
        </p:nvSpPr>
        <p:spPr>
          <a:xfrm>
            <a:off x="320040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e_154"/>
          <p:cNvSpPr/>
          <p:nvPr/>
        </p:nvSpPr>
        <p:spPr>
          <a:xfrm>
            <a:off x="393192" y="152704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👛</a:t>
            </a:r>
            <a:endParaRPr lang="en-US" sz="2000" dirty="0"/>
          </a:p>
        </p:txBody>
      </p:sp>
      <p:sp>
        <p:nvSpPr>
          <p:cNvPr id="15" name="en_155"/>
          <p:cNvSpPr/>
          <p:nvPr/>
        </p:nvSpPr>
        <p:spPr>
          <a:xfrm>
            <a:off x="978408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purse</a:t>
            </a:r>
            <a:endParaRPr lang="en-US" sz="1200" dirty="0"/>
          </a:p>
        </p:txBody>
      </p:sp>
      <p:sp>
        <p:nvSpPr>
          <p:cNvPr id="16" name="R1_def156"/>
          <p:cNvSpPr/>
          <p:nvPr/>
        </p:nvSpPr>
        <p:spPr>
          <a:xfrm>
            <a:off x="978408" y="1764792"/>
            <a:ext cx="1362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small bag for money (women)</a:t>
            </a:r>
            <a:endParaRPr lang="en-US" sz="850" dirty="0"/>
          </a:p>
        </p:txBody>
      </p:sp>
      <p:sp>
        <p:nvSpPr>
          <p:cNvPr id="17" name="R2_it157"/>
          <p:cNvSpPr/>
          <p:nvPr/>
        </p:nvSpPr>
        <p:spPr>
          <a:xfrm>
            <a:off x="978408" y="1947672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borsellino</a:t>
            </a:r>
            <a:endParaRPr lang="en-US" sz="900" dirty="0"/>
          </a:p>
        </p:txBody>
      </p:sp>
      <p:sp>
        <p:nvSpPr>
          <p:cNvPr id="18" name="cd_158"/>
          <p:cNvSpPr/>
          <p:nvPr/>
        </p:nvSpPr>
        <p:spPr>
          <a:xfrm>
            <a:off x="2487168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e_159"/>
          <p:cNvSpPr/>
          <p:nvPr/>
        </p:nvSpPr>
        <p:spPr>
          <a:xfrm>
            <a:off x="2560320" y="152704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💼</a:t>
            </a:r>
            <a:endParaRPr lang="en-US" sz="2000" dirty="0"/>
          </a:p>
        </p:txBody>
      </p:sp>
      <p:sp>
        <p:nvSpPr>
          <p:cNvPr id="20" name="en_160"/>
          <p:cNvSpPr/>
          <p:nvPr/>
        </p:nvSpPr>
        <p:spPr>
          <a:xfrm>
            <a:off x="3145536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wallet</a:t>
            </a:r>
            <a:endParaRPr lang="en-US" sz="1200" dirty="0"/>
          </a:p>
        </p:txBody>
      </p:sp>
      <p:sp>
        <p:nvSpPr>
          <p:cNvPr id="21" name="R1_def161"/>
          <p:cNvSpPr/>
          <p:nvPr/>
        </p:nvSpPr>
        <p:spPr>
          <a:xfrm>
            <a:off x="3145536" y="1764792"/>
            <a:ext cx="1362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 money and cards (men)</a:t>
            </a:r>
            <a:endParaRPr lang="en-US" sz="850" dirty="0"/>
          </a:p>
        </p:txBody>
      </p:sp>
      <p:sp>
        <p:nvSpPr>
          <p:cNvPr id="22" name="R2_it162"/>
          <p:cNvSpPr/>
          <p:nvPr/>
        </p:nvSpPr>
        <p:spPr>
          <a:xfrm>
            <a:off x="3145536" y="1947672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portafoglio</a:t>
            </a:r>
            <a:endParaRPr lang="en-US" sz="900" dirty="0"/>
          </a:p>
        </p:txBody>
      </p:sp>
      <p:sp>
        <p:nvSpPr>
          <p:cNvPr id="23" name="cd_163"/>
          <p:cNvSpPr/>
          <p:nvPr/>
        </p:nvSpPr>
        <p:spPr>
          <a:xfrm>
            <a:off x="4654296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4" name="e_164"/>
          <p:cNvSpPr/>
          <p:nvPr/>
        </p:nvSpPr>
        <p:spPr>
          <a:xfrm>
            <a:off x="4727448" y="152704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📔</a:t>
            </a:r>
            <a:endParaRPr lang="en-US" sz="2000" dirty="0"/>
          </a:p>
        </p:txBody>
      </p:sp>
      <p:sp>
        <p:nvSpPr>
          <p:cNvPr id="25" name="en_165"/>
          <p:cNvSpPr/>
          <p:nvPr/>
        </p:nvSpPr>
        <p:spPr>
          <a:xfrm>
            <a:off x="5312664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diary</a:t>
            </a:r>
            <a:endParaRPr lang="en-US" sz="1200" dirty="0"/>
          </a:p>
        </p:txBody>
      </p:sp>
      <p:sp>
        <p:nvSpPr>
          <p:cNvPr id="26" name="R1_def166"/>
          <p:cNvSpPr/>
          <p:nvPr/>
        </p:nvSpPr>
        <p:spPr>
          <a:xfrm>
            <a:off x="5312664" y="1764792"/>
            <a:ext cx="1362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book for dates and plans</a:t>
            </a:r>
            <a:endParaRPr lang="en-US" sz="850" dirty="0"/>
          </a:p>
        </p:txBody>
      </p:sp>
      <p:sp>
        <p:nvSpPr>
          <p:cNvPr id="27" name="R2_it167"/>
          <p:cNvSpPr/>
          <p:nvPr/>
        </p:nvSpPr>
        <p:spPr>
          <a:xfrm>
            <a:off x="5312664" y="1947672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agenda</a:t>
            </a:r>
            <a:endParaRPr lang="en-US" sz="900" dirty="0"/>
          </a:p>
        </p:txBody>
      </p:sp>
      <p:sp>
        <p:nvSpPr>
          <p:cNvPr id="28" name="cd_168"/>
          <p:cNvSpPr/>
          <p:nvPr/>
        </p:nvSpPr>
        <p:spPr>
          <a:xfrm>
            <a:off x="6821424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9" name="e_169"/>
          <p:cNvSpPr/>
          <p:nvPr/>
        </p:nvSpPr>
        <p:spPr>
          <a:xfrm>
            <a:off x="6894576" y="152704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👓</a:t>
            </a:r>
            <a:endParaRPr lang="en-US" sz="2000" dirty="0"/>
          </a:p>
        </p:txBody>
      </p:sp>
      <p:sp>
        <p:nvSpPr>
          <p:cNvPr id="30" name="en_170"/>
          <p:cNvSpPr/>
          <p:nvPr/>
        </p:nvSpPr>
        <p:spPr>
          <a:xfrm>
            <a:off x="7479792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glasses</a:t>
            </a:r>
            <a:endParaRPr lang="en-US" sz="1200" dirty="0"/>
          </a:p>
        </p:txBody>
      </p:sp>
      <p:sp>
        <p:nvSpPr>
          <p:cNvPr id="31" name="R1_def171"/>
          <p:cNvSpPr/>
          <p:nvPr/>
        </p:nvSpPr>
        <p:spPr>
          <a:xfrm>
            <a:off x="7479792" y="1764792"/>
            <a:ext cx="1362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wear them to see</a:t>
            </a:r>
            <a:endParaRPr lang="en-US" sz="850" dirty="0"/>
          </a:p>
        </p:txBody>
      </p:sp>
      <p:sp>
        <p:nvSpPr>
          <p:cNvPr id="32" name="R2_it172"/>
          <p:cNvSpPr/>
          <p:nvPr/>
        </p:nvSpPr>
        <p:spPr>
          <a:xfrm>
            <a:off x="7479792" y="1947672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occhiali</a:t>
            </a:r>
            <a:endParaRPr lang="en-US" sz="900" dirty="0"/>
          </a:p>
        </p:txBody>
      </p:sp>
      <p:sp>
        <p:nvSpPr>
          <p:cNvPr id="33" name="cd_173"/>
          <p:cNvSpPr/>
          <p:nvPr/>
        </p:nvSpPr>
        <p:spPr>
          <a:xfrm>
            <a:off x="320040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4" name="e_174"/>
          <p:cNvSpPr/>
          <p:nvPr/>
        </p:nvSpPr>
        <p:spPr>
          <a:xfrm>
            <a:off x="393192" y="235000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🔑</a:t>
            </a:r>
            <a:endParaRPr lang="en-US" sz="2000" dirty="0"/>
          </a:p>
        </p:txBody>
      </p:sp>
      <p:sp>
        <p:nvSpPr>
          <p:cNvPr id="35" name="en_175"/>
          <p:cNvSpPr/>
          <p:nvPr/>
        </p:nvSpPr>
        <p:spPr>
          <a:xfrm>
            <a:off x="978408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keys</a:t>
            </a:r>
            <a:endParaRPr lang="en-US" sz="1200" dirty="0"/>
          </a:p>
        </p:txBody>
      </p:sp>
      <p:sp>
        <p:nvSpPr>
          <p:cNvPr id="36" name="R1_def176"/>
          <p:cNvSpPr/>
          <p:nvPr/>
        </p:nvSpPr>
        <p:spPr>
          <a:xfrm>
            <a:off x="978408" y="2587752"/>
            <a:ext cx="1362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open a door with them</a:t>
            </a:r>
            <a:endParaRPr lang="en-US" sz="850" dirty="0"/>
          </a:p>
        </p:txBody>
      </p:sp>
      <p:sp>
        <p:nvSpPr>
          <p:cNvPr id="37" name="R2_it177"/>
          <p:cNvSpPr/>
          <p:nvPr/>
        </p:nvSpPr>
        <p:spPr>
          <a:xfrm>
            <a:off x="978408" y="2770632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chiavi</a:t>
            </a:r>
            <a:endParaRPr lang="en-US" sz="900" dirty="0"/>
          </a:p>
        </p:txBody>
      </p:sp>
      <p:sp>
        <p:nvSpPr>
          <p:cNvPr id="38" name="cd_178"/>
          <p:cNvSpPr/>
          <p:nvPr/>
        </p:nvSpPr>
        <p:spPr>
          <a:xfrm>
            <a:off x="2487168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9" name="e_179"/>
          <p:cNvSpPr/>
          <p:nvPr/>
        </p:nvSpPr>
        <p:spPr>
          <a:xfrm>
            <a:off x="2560320" y="235000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🪙</a:t>
            </a:r>
            <a:endParaRPr lang="en-US" sz="2000" dirty="0"/>
          </a:p>
        </p:txBody>
      </p:sp>
      <p:sp>
        <p:nvSpPr>
          <p:cNvPr id="40" name="en_180"/>
          <p:cNvSpPr/>
          <p:nvPr/>
        </p:nvSpPr>
        <p:spPr>
          <a:xfrm>
            <a:off x="3145536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coins</a:t>
            </a:r>
            <a:endParaRPr lang="en-US" sz="1200" dirty="0"/>
          </a:p>
        </p:txBody>
      </p:sp>
      <p:sp>
        <p:nvSpPr>
          <p:cNvPr id="41" name="R1_def181"/>
          <p:cNvSpPr/>
          <p:nvPr/>
        </p:nvSpPr>
        <p:spPr>
          <a:xfrm>
            <a:off x="3145536" y="2587752"/>
            <a:ext cx="1362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small money (metal)</a:t>
            </a:r>
            <a:endParaRPr lang="en-US" sz="850" dirty="0"/>
          </a:p>
        </p:txBody>
      </p:sp>
      <p:sp>
        <p:nvSpPr>
          <p:cNvPr id="42" name="R2_it182"/>
          <p:cNvSpPr/>
          <p:nvPr/>
        </p:nvSpPr>
        <p:spPr>
          <a:xfrm>
            <a:off x="3145536" y="2770632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monete</a:t>
            </a:r>
            <a:endParaRPr lang="en-US" sz="900" dirty="0"/>
          </a:p>
        </p:txBody>
      </p:sp>
      <p:sp>
        <p:nvSpPr>
          <p:cNvPr id="43" name="cd_183"/>
          <p:cNvSpPr/>
          <p:nvPr/>
        </p:nvSpPr>
        <p:spPr>
          <a:xfrm>
            <a:off x="4654296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4" name="e_184"/>
          <p:cNvSpPr/>
          <p:nvPr/>
        </p:nvSpPr>
        <p:spPr>
          <a:xfrm>
            <a:off x="4727448" y="235000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🤧</a:t>
            </a:r>
            <a:endParaRPr lang="en-US" sz="2000" dirty="0"/>
          </a:p>
        </p:txBody>
      </p:sp>
      <p:sp>
        <p:nvSpPr>
          <p:cNvPr id="45" name="en_185"/>
          <p:cNvSpPr/>
          <p:nvPr/>
        </p:nvSpPr>
        <p:spPr>
          <a:xfrm>
            <a:off x="5312664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tissues</a:t>
            </a:r>
            <a:endParaRPr lang="en-US" sz="1200" dirty="0"/>
          </a:p>
        </p:txBody>
      </p:sp>
      <p:sp>
        <p:nvSpPr>
          <p:cNvPr id="46" name="R1_def186"/>
          <p:cNvSpPr/>
          <p:nvPr/>
        </p:nvSpPr>
        <p:spPr>
          <a:xfrm>
            <a:off x="5312664" y="2587752"/>
            <a:ext cx="1362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 your nose</a:t>
            </a:r>
            <a:endParaRPr lang="en-US" sz="850" dirty="0"/>
          </a:p>
        </p:txBody>
      </p:sp>
      <p:sp>
        <p:nvSpPr>
          <p:cNvPr id="47" name="R2_it187"/>
          <p:cNvSpPr/>
          <p:nvPr/>
        </p:nvSpPr>
        <p:spPr>
          <a:xfrm>
            <a:off x="5312664" y="2770632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fazzoletti</a:t>
            </a:r>
            <a:endParaRPr lang="en-US" sz="900" dirty="0"/>
          </a:p>
        </p:txBody>
      </p:sp>
      <p:sp>
        <p:nvSpPr>
          <p:cNvPr id="48" name="cd_188"/>
          <p:cNvSpPr/>
          <p:nvPr/>
        </p:nvSpPr>
        <p:spPr>
          <a:xfrm>
            <a:off x="6821424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9" name="e_189"/>
          <p:cNvSpPr/>
          <p:nvPr/>
        </p:nvSpPr>
        <p:spPr>
          <a:xfrm>
            <a:off x="6894576" y="235000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🔌</a:t>
            </a:r>
            <a:endParaRPr lang="en-US" sz="2000" dirty="0"/>
          </a:p>
        </p:txBody>
      </p:sp>
      <p:sp>
        <p:nvSpPr>
          <p:cNvPr id="50" name="en_190"/>
          <p:cNvSpPr/>
          <p:nvPr/>
        </p:nvSpPr>
        <p:spPr>
          <a:xfrm>
            <a:off x="7479792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charger</a:t>
            </a:r>
            <a:endParaRPr lang="en-US" sz="1200" dirty="0"/>
          </a:p>
        </p:txBody>
      </p:sp>
      <p:sp>
        <p:nvSpPr>
          <p:cNvPr id="51" name="R1_def191"/>
          <p:cNvSpPr/>
          <p:nvPr/>
        </p:nvSpPr>
        <p:spPr>
          <a:xfrm>
            <a:off x="7479792" y="2587752"/>
            <a:ext cx="1362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 your phone</a:t>
            </a:r>
            <a:endParaRPr lang="en-US" sz="850" dirty="0"/>
          </a:p>
        </p:txBody>
      </p:sp>
      <p:sp>
        <p:nvSpPr>
          <p:cNvPr id="52" name="R2_it192"/>
          <p:cNvSpPr/>
          <p:nvPr/>
        </p:nvSpPr>
        <p:spPr>
          <a:xfrm>
            <a:off x="7479792" y="2770632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caricabatterie</a:t>
            </a:r>
            <a:endParaRPr lang="en-US" sz="900" dirty="0"/>
          </a:p>
        </p:txBody>
      </p:sp>
      <p:sp>
        <p:nvSpPr>
          <p:cNvPr id="53" name="cd_193"/>
          <p:cNvSpPr/>
          <p:nvPr/>
        </p:nvSpPr>
        <p:spPr>
          <a:xfrm>
            <a:off x="320040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4" name="e_194"/>
          <p:cNvSpPr/>
          <p:nvPr/>
        </p:nvSpPr>
        <p:spPr>
          <a:xfrm>
            <a:off x="393192" y="317296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📁</a:t>
            </a:r>
            <a:endParaRPr lang="en-US" sz="2000" dirty="0"/>
          </a:p>
        </p:txBody>
      </p:sp>
      <p:sp>
        <p:nvSpPr>
          <p:cNvPr id="55" name="en_195"/>
          <p:cNvSpPr/>
          <p:nvPr/>
        </p:nvSpPr>
        <p:spPr>
          <a:xfrm>
            <a:off x="978408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file</a:t>
            </a:r>
            <a:endParaRPr lang="en-US" sz="1200" dirty="0"/>
          </a:p>
        </p:txBody>
      </p:sp>
      <p:sp>
        <p:nvSpPr>
          <p:cNvPr id="56" name="R1_def196"/>
          <p:cNvSpPr/>
          <p:nvPr/>
        </p:nvSpPr>
        <p:spPr>
          <a:xfrm>
            <a:off x="978408" y="3410712"/>
            <a:ext cx="1362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 papers</a:t>
            </a:r>
            <a:endParaRPr lang="en-US" sz="850" dirty="0"/>
          </a:p>
        </p:txBody>
      </p:sp>
      <p:sp>
        <p:nvSpPr>
          <p:cNvPr id="57" name="R2_it197"/>
          <p:cNvSpPr/>
          <p:nvPr/>
        </p:nvSpPr>
        <p:spPr>
          <a:xfrm>
            <a:off x="978408" y="3593592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cartellina</a:t>
            </a:r>
            <a:endParaRPr lang="en-US" sz="900" dirty="0"/>
          </a:p>
        </p:txBody>
      </p:sp>
      <p:sp>
        <p:nvSpPr>
          <p:cNvPr id="58" name="cd_198"/>
          <p:cNvSpPr/>
          <p:nvPr/>
        </p:nvSpPr>
        <p:spPr>
          <a:xfrm>
            <a:off x="2487168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9" name="e_199"/>
          <p:cNvSpPr/>
          <p:nvPr/>
        </p:nvSpPr>
        <p:spPr>
          <a:xfrm>
            <a:off x="2560320" y="317296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✂️</a:t>
            </a:r>
            <a:endParaRPr lang="en-US" sz="2000" dirty="0"/>
          </a:p>
        </p:txBody>
      </p:sp>
      <p:sp>
        <p:nvSpPr>
          <p:cNvPr id="60" name="en_200"/>
          <p:cNvSpPr/>
          <p:nvPr/>
        </p:nvSpPr>
        <p:spPr>
          <a:xfrm>
            <a:off x="3145536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scissors</a:t>
            </a:r>
            <a:endParaRPr lang="en-US" sz="1200" dirty="0"/>
          </a:p>
        </p:txBody>
      </p:sp>
      <p:sp>
        <p:nvSpPr>
          <p:cNvPr id="61" name="R1_def201"/>
          <p:cNvSpPr/>
          <p:nvPr/>
        </p:nvSpPr>
        <p:spPr>
          <a:xfrm>
            <a:off x="3145536" y="3410712"/>
            <a:ext cx="1362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cut paper with them</a:t>
            </a:r>
            <a:endParaRPr lang="en-US" sz="850" dirty="0"/>
          </a:p>
        </p:txBody>
      </p:sp>
      <p:sp>
        <p:nvSpPr>
          <p:cNvPr id="62" name="R2_it202"/>
          <p:cNvSpPr/>
          <p:nvPr/>
        </p:nvSpPr>
        <p:spPr>
          <a:xfrm>
            <a:off x="3145536" y="3593592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forbici</a:t>
            </a:r>
            <a:endParaRPr lang="en-US" sz="900" dirty="0"/>
          </a:p>
        </p:txBody>
      </p:sp>
      <p:sp>
        <p:nvSpPr>
          <p:cNvPr id="63" name="cd_203"/>
          <p:cNvSpPr/>
          <p:nvPr/>
        </p:nvSpPr>
        <p:spPr>
          <a:xfrm>
            <a:off x="4654296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64" name="e_204"/>
          <p:cNvSpPr/>
          <p:nvPr/>
        </p:nvSpPr>
        <p:spPr>
          <a:xfrm>
            <a:off x="4727448" y="317296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🎟️</a:t>
            </a:r>
            <a:endParaRPr lang="en-US" sz="2000" dirty="0"/>
          </a:p>
        </p:txBody>
      </p:sp>
      <p:sp>
        <p:nvSpPr>
          <p:cNvPr id="65" name="en_205"/>
          <p:cNvSpPr/>
          <p:nvPr/>
        </p:nvSpPr>
        <p:spPr>
          <a:xfrm>
            <a:off x="5312664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ticket</a:t>
            </a:r>
            <a:endParaRPr lang="en-US" sz="1200" dirty="0"/>
          </a:p>
        </p:txBody>
      </p:sp>
      <p:sp>
        <p:nvSpPr>
          <p:cNvPr id="66" name="R1_def206"/>
          <p:cNvSpPr/>
          <p:nvPr/>
        </p:nvSpPr>
        <p:spPr>
          <a:xfrm>
            <a:off x="5312664" y="3410712"/>
            <a:ext cx="1362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 the train or cinema</a:t>
            </a:r>
            <a:endParaRPr lang="en-US" sz="850" dirty="0"/>
          </a:p>
        </p:txBody>
      </p:sp>
      <p:sp>
        <p:nvSpPr>
          <p:cNvPr id="67" name="R2_it207"/>
          <p:cNvSpPr/>
          <p:nvPr/>
        </p:nvSpPr>
        <p:spPr>
          <a:xfrm>
            <a:off x="5312664" y="3593592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biglietto</a:t>
            </a:r>
            <a:endParaRPr lang="en-US" sz="900" dirty="0"/>
          </a:p>
        </p:txBody>
      </p:sp>
      <p:sp>
        <p:nvSpPr>
          <p:cNvPr id="68" name="cd_208"/>
          <p:cNvSpPr/>
          <p:nvPr/>
        </p:nvSpPr>
        <p:spPr>
          <a:xfrm>
            <a:off x="6821424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69" name="e_209"/>
          <p:cNvSpPr/>
          <p:nvPr/>
        </p:nvSpPr>
        <p:spPr>
          <a:xfrm>
            <a:off x="6894576" y="317296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🧳</a:t>
            </a:r>
            <a:endParaRPr lang="en-US" sz="2000" dirty="0"/>
          </a:p>
        </p:txBody>
      </p:sp>
      <p:sp>
        <p:nvSpPr>
          <p:cNvPr id="70" name="en_210"/>
          <p:cNvSpPr/>
          <p:nvPr/>
        </p:nvSpPr>
        <p:spPr>
          <a:xfrm>
            <a:off x="7479792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bag</a:t>
            </a:r>
            <a:endParaRPr lang="en-US" sz="1200" dirty="0"/>
          </a:p>
        </p:txBody>
      </p:sp>
      <p:sp>
        <p:nvSpPr>
          <p:cNvPr id="71" name="R1_def211"/>
          <p:cNvSpPr/>
          <p:nvPr/>
        </p:nvSpPr>
        <p:spPr>
          <a:xfrm>
            <a:off x="7479792" y="3410712"/>
            <a:ext cx="1362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carry things in it</a:t>
            </a:r>
            <a:endParaRPr lang="en-US" sz="850" dirty="0"/>
          </a:p>
        </p:txBody>
      </p:sp>
      <p:sp>
        <p:nvSpPr>
          <p:cNvPr id="72" name="R2_it212"/>
          <p:cNvSpPr/>
          <p:nvPr/>
        </p:nvSpPr>
        <p:spPr>
          <a:xfrm>
            <a:off x="7479792" y="3593592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borsa</a:t>
            </a:r>
            <a:endParaRPr lang="en-US" sz="900" dirty="0"/>
          </a:p>
        </p:txBody>
      </p:sp>
      <p:sp>
        <p:nvSpPr>
          <p:cNvPr id="73" name="R2_wc213"/>
          <p:cNvSpPr/>
          <p:nvPr/>
        </p:nvSpPr>
        <p:spPr>
          <a:xfrm>
            <a:off x="320040" y="3931920"/>
            <a:ext cx="8549640" cy="457200"/>
          </a:xfrm>
          <a:prstGeom prst="roundRect">
            <a:avLst>
              <a:gd name="adj" fmla="val 28000"/>
            </a:avLst>
          </a:prstGeom>
          <a:solidFill>
            <a:srgbClr val="FFE3EE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74" name="R2_w214"/>
          <p:cNvSpPr/>
          <p:nvPr/>
        </p:nvSpPr>
        <p:spPr>
          <a:xfrm>
            <a:off x="457200" y="393192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Watch out!  purse ≠ borsa (bag)  ·  diary = agenda  ·  glasses, scissors, headphones = always plural: My glasses ARE…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1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2800" dirty="0"/>
          </a:p>
        </p:txBody>
      </p:sp>
      <p:pic>
        <p:nvPicPr>
          <p:cNvPr id="4" name="brY_21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405226" cy="621792"/>
          </a:xfrm>
          <a:prstGeom prst="rect">
            <a:avLst/>
          </a:prstGeom>
        </p:spPr>
      </p:pic>
      <p:sp>
        <p:nvSpPr>
          <p:cNvPr id="5" name="title_217"/>
          <p:cNvSpPr/>
          <p:nvPr/>
        </p:nvSpPr>
        <p:spPr>
          <a:xfrm>
            <a:off x="1261872" y="164592"/>
            <a:ext cx="31309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One key, two keys</a:t>
            </a:r>
            <a:endParaRPr lang="en-US" sz="2500" dirty="0"/>
          </a:p>
        </p:txBody>
      </p:sp>
      <p:pic>
        <p:nvPicPr>
          <p:cNvPr id="6" name="brP_21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032504" cy="402336"/>
          </a:xfrm>
          <a:prstGeom prst="rect">
            <a:avLst/>
          </a:prstGeom>
        </p:spPr>
      </p:pic>
      <p:sp>
        <p:nvSpPr>
          <p:cNvPr id="7" name="ins_219"/>
          <p:cNvSpPr/>
          <p:nvPr/>
        </p:nvSpPr>
        <p:spPr>
          <a:xfrm>
            <a:off x="1353312" y="731520"/>
            <a:ext cx="37764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Add -s, -es or -ies? Match the colour.</a:t>
            </a:r>
            <a:endParaRPr lang="en-US" sz="1250" dirty="0"/>
          </a:p>
        </p:txBody>
      </p:sp>
      <p:sp>
        <p:nvSpPr>
          <p:cNvPr id="8" name="insIT_220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Aggiungi -s, -es o -ies? Abbina il colore.</a:t>
            </a:r>
            <a:endParaRPr lang="en-US" sz="950" dirty="0"/>
          </a:p>
        </p:txBody>
      </p:sp>
      <p:sp>
        <p:nvSpPr>
          <p:cNvPr id="9" name="cmd_221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🔗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MATCH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ABBINA</a:t>
            </a:r>
            <a:endParaRPr lang="en-US" sz="1300" dirty="0"/>
          </a:p>
        </p:txBody>
      </p:sp>
      <p:sp>
        <p:nvSpPr>
          <p:cNvPr id="10" name="meta_222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pic>
        <p:nvPicPr>
          <p:cNvPr id="11" name="logo_22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22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 · Grammar · plurals   ·   📖 SB p.15 · 2a · Workbook 2A 2b</a:t>
            </a:r>
            <a:endParaRPr lang="en-US" sz="800" dirty="0"/>
          </a:p>
        </p:txBody>
      </p:sp>
      <p:sp>
        <p:nvSpPr>
          <p:cNvPr id="13" name="cd_225"/>
          <p:cNvSpPr/>
          <p:nvPr/>
        </p:nvSpPr>
        <p:spPr>
          <a:xfrm>
            <a:off x="320040" y="1417320"/>
            <a:ext cx="2697480" cy="1911096"/>
          </a:xfrm>
          <a:prstGeom prst="roundRect">
            <a:avLst>
              <a:gd name="adj" fmla="val 6699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ii_226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5" name="ih_227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Plurals</a:t>
            </a:r>
            <a:endParaRPr lang="en-US" sz="1300" dirty="0"/>
          </a:p>
        </p:txBody>
      </p:sp>
      <p:sp>
        <p:nvSpPr>
          <p:cNvPr id="16" name="il_228"/>
          <p:cNvSpPr/>
          <p:nvPr/>
        </p:nvSpPr>
        <p:spPr>
          <a:xfrm>
            <a:off x="886968" y="1892808"/>
            <a:ext cx="203911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17" name="lg_229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s</a:t>
            </a:r>
            <a:endParaRPr lang="en-US" sz="1050" dirty="0"/>
          </a:p>
        </p:txBody>
      </p:sp>
      <p:sp>
        <p:nvSpPr>
          <p:cNvPr id="18" name="lg_230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es</a:t>
            </a:r>
            <a:endParaRPr lang="en-US" sz="1050" dirty="0"/>
          </a:p>
        </p:txBody>
      </p:sp>
      <p:sp>
        <p:nvSpPr>
          <p:cNvPr id="19" name="lg_231"/>
          <p:cNvSpPr/>
          <p:nvPr/>
        </p:nvSpPr>
        <p:spPr>
          <a:xfrm>
            <a:off x="457200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 → ies</a:t>
            </a:r>
            <a:endParaRPr lang="en-US" sz="1050" dirty="0"/>
          </a:p>
        </p:txBody>
      </p:sp>
      <p:sp>
        <p:nvSpPr>
          <p:cNvPr id="20" name="sq_232"/>
          <p:cNvSpPr/>
          <p:nvPr/>
        </p:nvSpPr>
        <p:spPr>
          <a:xfrm>
            <a:off x="3246120" y="141732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key → keys</a:t>
            </a:r>
            <a:endParaRPr lang="en-US" sz="1200" dirty="0"/>
          </a:p>
        </p:txBody>
      </p:sp>
      <p:sp>
        <p:nvSpPr>
          <p:cNvPr id="21" name="R1_tag233"/>
          <p:cNvSpPr/>
          <p:nvPr/>
        </p:nvSpPr>
        <p:spPr>
          <a:xfrm>
            <a:off x="7178040" y="141732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s</a:t>
            </a:r>
            <a:endParaRPr lang="en-US" sz="1150" dirty="0"/>
          </a:p>
        </p:txBody>
      </p:sp>
      <p:sp>
        <p:nvSpPr>
          <p:cNvPr id="22" name="sq_234"/>
          <p:cNvSpPr/>
          <p:nvPr/>
        </p:nvSpPr>
        <p:spPr>
          <a:xfrm>
            <a:off x="3246120" y="182880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watch → watches</a:t>
            </a:r>
            <a:endParaRPr lang="en-US" sz="1200" dirty="0"/>
          </a:p>
        </p:txBody>
      </p:sp>
      <p:sp>
        <p:nvSpPr>
          <p:cNvPr id="23" name="R2_tag235"/>
          <p:cNvSpPr/>
          <p:nvPr/>
        </p:nvSpPr>
        <p:spPr>
          <a:xfrm>
            <a:off x="7178040" y="182880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es</a:t>
            </a:r>
            <a:endParaRPr lang="en-US" sz="1150" dirty="0"/>
          </a:p>
        </p:txBody>
      </p:sp>
      <p:sp>
        <p:nvSpPr>
          <p:cNvPr id="24" name="sq_236"/>
          <p:cNvSpPr/>
          <p:nvPr/>
        </p:nvSpPr>
        <p:spPr>
          <a:xfrm>
            <a:off x="3246120" y="224028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diary → diaries</a:t>
            </a:r>
            <a:endParaRPr lang="en-US" sz="1200" dirty="0"/>
          </a:p>
        </p:txBody>
      </p:sp>
      <p:sp>
        <p:nvSpPr>
          <p:cNvPr id="25" name="R3_tag237"/>
          <p:cNvSpPr/>
          <p:nvPr/>
        </p:nvSpPr>
        <p:spPr>
          <a:xfrm>
            <a:off x="7178040" y="224028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 → ies</a:t>
            </a:r>
            <a:endParaRPr lang="en-US" sz="1150" dirty="0"/>
          </a:p>
        </p:txBody>
      </p:sp>
      <p:sp>
        <p:nvSpPr>
          <p:cNvPr id="26" name="sq_238"/>
          <p:cNvSpPr/>
          <p:nvPr/>
        </p:nvSpPr>
        <p:spPr>
          <a:xfrm>
            <a:off x="3246120" y="265176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glass → glasses</a:t>
            </a:r>
            <a:endParaRPr lang="en-US" sz="1200" dirty="0"/>
          </a:p>
        </p:txBody>
      </p:sp>
      <p:sp>
        <p:nvSpPr>
          <p:cNvPr id="27" name="R4_tag239"/>
          <p:cNvSpPr/>
          <p:nvPr/>
        </p:nvSpPr>
        <p:spPr>
          <a:xfrm>
            <a:off x="7178040" y="265176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es</a:t>
            </a:r>
            <a:endParaRPr lang="en-US" sz="1150" dirty="0"/>
          </a:p>
        </p:txBody>
      </p:sp>
      <p:sp>
        <p:nvSpPr>
          <p:cNvPr id="28" name="sq_240"/>
          <p:cNvSpPr/>
          <p:nvPr/>
        </p:nvSpPr>
        <p:spPr>
          <a:xfrm>
            <a:off x="3246120" y="306324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photo → photos</a:t>
            </a:r>
            <a:endParaRPr lang="en-US" sz="1200" dirty="0"/>
          </a:p>
        </p:txBody>
      </p:sp>
      <p:sp>
        <p:nvSpPr>
          <p:cNvPr id="29" name="R5_tag241"/>
          <p:cNvSpPr/>
          <p:nvPr/>
        </p:nvSpPr>
        <p:spPr>
          <a:xfrm>
            <a:off x="7178040" y="306324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s</a:t>
            </a:r>
            <a:endParaRPr lang="en-US" sz="1150" dirty="0"/>
          </a:p>
        </p:txBody>
      </p:sp>
      <p:sp>
        <p:nvSpPr>
          <p:cNvPr id="30" name="sq_242"/>
          <p:cNvSpPr/>
          <p:nvPr/>
        </p:nvSpPr>
        <p:spPr>
          <a:xfrm>
            <a:off x="3246120" y="347472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city → cities</a:t>
            </a:r>
            <a:endParaRPr lang="en-US" sz="1200" dirty="0"/>
          </a:p>
        </p:txBody>
      </p:sp>
      <p:sp>
        <p:nvSpPr>
          <p:cNvPr id="31" name="R6_tag243"/>
          <p:cNvSpPr/>
          <p:nvPr/>
        </p:nvSpPr>
        <p:spPr>
          <a:xfrm>
            <a:off x="7178040" y="347472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 → ies</a:t>
            </a:r>
            <a:endParaRPr lang="en-US" sz="1150" dirty="0"/>
          </a:p>
        </p:txBody>
      </p:sp>
      <p:sp>
        <p:nvSpPr>
          <p:cNvPr id="32" name="sq_244"/>
          <p:cNvSpPr/>
          <p:nvPr/>
        </p:nvSpPr>
        <p:spPr>
          <a:xfrm>
            <a:off x="3246120" y="388620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box → boxes</a:t>
            </a:r>
            <a:endParaRPr lang="en-US" sz="1200" dirty="0"/>
          </a:p>
        </p:txBody>
      </p:sp>
      <p:sp>
        <p:nvSpPr>
          <p:cNvPr id="33" name="R7_tag245"/>
          <p:cNvSpPr/>
          <p:nvPr/>
        </p:nvSpPr>
        <p:spPr>
          <a:xfrm>
            <a:off x="7178040" y="388620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es</a:t>
            </a:r>
            <a:endParaRPr lang="en-US" sz="1150" dirty="0"/>
          </a:p>
        </p:txBody>
      </p:sp>
      <p:sp>
        <p:nvSpPr>
          <p:cNvPr id="34" name="sq_246"/>
          <p:cNvSpPr/>
          <p:nvPr/>
        </p:nvSpPr>
        <p:spPr>
          <a:xfrm>
            <a:off x="3246120" y="429768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ticket → tickets</a:t>
            </a:r>
            <a:endParaRPr lang="en-US" sz="1200" dirty="0"/>
          </a:p>
        </p:txBody>
      </p:sp>
      <p:sp>
        <p:nvSpPr>
          <p:cNvPr id="35" name="R8_tag247"/>
          <p:cNvSpPr/>
          <p:nvPr/>
        </p:nvSpPr>
        <p:spPr>
          <a:xfrm>
            <a:off x="7178040" y="429768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s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4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2800" dirty="0"/>
          </a:p>
        </p:txBody>
      </p:sp>
      <p:pic>
        <p:nvPicPr>
          <p:cNvPr id="4" name="brY_24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250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Singular and plural</a:t>
            </a:r>
            <a:endParaRPr lang="en-US" sz="2500" dirty="0"/>
          </a:p>
        </p:txBody>
      </p:sp>
      <p:pic>
        <p:nvPicPr>
          <p:cNvPr id="6" name="brP_25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727448" cy="402336"/>
          </a:xfrm>
          <a:prstGeom prst="rect">
            <a:avLst/>
          </a:prstGeom>
        </p:spPr>
      </p:pic>
      <p:sp>
        <p:nvSpPr>
          <p:cNvPr id="7" name="ins_252"/>
          <p:cNvSpPr/>
          <p:nvPr/>
        </p:nvSpPr>
        <p:spPr>
          <a:xfrm>
            <a:off x="1353312" y="731520"/>
            <a:ext cx="44714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Look at the coloured endings. What's the rule?</a:t>
            </a:r>
            <a:endParaRPr lang="en-US" sz="1250" dirty="0"/>
          </a:p>
        </p:txBody>
      </p:sp>
      <p:sp>
        <p:nvSpPr>
          <p:cNvPr id="8" name="insIT_253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Guarda le desinenze colorate. Qual è la regola?</a:t>
            </a:r>
            <a:endParaRPr lang="en-US" sz="950" dirty="0"/>
          </a:p>
        </p:txBody>
      </p:sp>
      <p:sp>
        <p:nvSpPr>
          <p:cNvPr id="9" name="cmd_254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LOOK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GUARDA</a:t>
            </a:r>
            <a:endParaRPr lang="en-US" sz="1300" dirty="0"/>
          </a:p>
        </p:txBody>
      </p:sp>
      <p:sp>
        <p:nvSpPr>
          <p:cNvPr id="10" name="meta_255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🙋 whole class</a:t>
            </a:r>
            <a:endParaRPr lang="en-US" sz="950" dirty="0"/>
          </a:p>
        </p:txBody>
      </p:sp>
      <p:pic>
        <p:nvPicPr>
          <p:cNvPr id="11" name="logo_25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25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 · Grammar · singular and plural nouns   ·   📖 Grammar Bank 2A p.126</a:t>
            </a:r>
            <a:endParaRPr lang="en-US" sz="800" dirty="0"/>
          </a:p>
        </p:txBody>
      </p:sp>
      <p:sp>
        <p:nvSpPr>
          <p:cNvPr id="13" name="ap_258"/>
          <p:cNvSpPr/>
          <p:nvPr/>
        </p:nvSpPr>
        <p:spPr>
          <a:xfrm>
            <a:off x="6583680" y="914400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0" tIns="12700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2.2</a:t>
            </a:r>
            <a:endParaRPr lang="en-US" sz="1100" dirty="0"/>
          </a:p>
        </p:txBody>
      </p:sp>
      <p:sp>
        <p:nvSpPr>
          <p:cNvPr id="14" name="ah_259"/>
          <p:cNvSpPr/>
          <p:nvPr/>
        </p:nvSpPr>
        <p:spPr>
          <a:xfrm>
            <a:off x="5925312" y="45720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 · 🐢 slower</a:t>
            </a:r>
            <a:endParaRPr lang="en-US" sz="950" dirty="0"/>
          </a:p>
        </p:txBody>
      </p:sp>
      <p:pic>
        <p:nvPicPr>
          <p:cNvPr id="15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7525512" y="4553712"/>
            <a:ext cx="411480" cy="411480"/>
          </a:xfrm>
          <a:prstGeom prst="rect">
            <a:avLst/>
          </a:prstGeom>
        </p:spPr>
      </p:pic>
      <p:pic>
        <p:nvPicPr>
          <p:cNvPr id="16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001000" y="4553712"/>
            <a:ext cx="411480" cy="411480"/>
          </a:xfrm>
          <a:prstGeom prst="rect">
            <a:avLst/>
          </a:prstGeom>
        </p:spPr>
      </p:pic>
      <p:sp>
        <p:nvSpPr>
          <p:cNvPr id="17" name="cd_260"/>
          <p:cNvSpPr/>
          <p:nvPr/>
        </p:nvSpPr>
        <p:spPr>
          <a:xfrm>
            <a:off x="3200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8" name="rh_261"/>
          <p:cNvSpPr/>
          <p:nvPr/>
        </p:nvSpPr>
        <p:spPr>
          <a:xfrm>
            <a:off x="4297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/ an</a:t>
            </a:r>
            <a:endParaRPr lang="en-US" sz="1250" dirty="0"/>
          </a:p>
        </p:txBody>
      </p:sp>
      <p:sp>
        <p:nvSpPr>
          <p:cNvPr id="19" name="pf_262"/>
          <p:cNvSpPr/>
          <p:nvPr/>
        </p:nvSpPr>
        <p:spPr>
          <a:xfrm>
            <a:off x="4297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263" descr="/home/claude/lls-course/v2/cache/red_2a_things_jpg_415x209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75488" y="1984248"/>
            <a:ext cx="1723644" cy="868680"/>
          </a:xfrm>
          <a:prstGeom prst="rect">
            <a:avLst/>
          </a:prstGeom>
        </p:spPr>
      </p:pic>
      <p:sp>
        <p:nvSpPr>
          <p:cNvPr id="21" name="ru_264"/>
          <p:cNvSpPr/>
          <p:nvPr/>
        </p:nvSpPr>
        <p:spPr>
          <a:xfrm>
            <a:off x="4114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one thing</a:t>
            </a:r>
            <a:endParaRPr lang="en-US" sz="1050" dirty="0"/>
          </a:p>
        </p:txBody>
      </p:sp>
      <p:sp>
        <p:nvSpPr>
          <p:cNvPr id="22" name="R1_rx265"/>
          <p:cNvSpPr/>
          <p:nvPr/>
        </p:nvSpPr>
        <p:spPr>
          <a:xfrm>
            <a:off x="4114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pen · </a:t>
            </a:r>
            <a:pPr algn="ctr" indent="0" marL="0">
              <a:buNone/>
            </a:pPr>
            <a:r>
              <a:rPr lang="en-US" sz="10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key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umbrella · </a:t>
            </a:r>
            <a:pPr algn="ctr" indent="0" marL="0">
              <a:buNone/>
            </a:pPr>
            <a:r>
              <a:rPr lang="en-US" sz="10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ID card</a:t>
            </a:r>
            <a:endParaRPr lang="en-US" sz="1050" dirty="0"/>
          </a:p>
        </p:txBody>
      </p:sp>
      <p:sp>
        <p:nvSpPr>
          <p:cNvPr id="23" name="R1_ri266"/>
          <p:cNvSpPr/>
          <p:nvPr/>
        </p:nvSpPr>
        <p:spPr>
          <a:xfrm>
            <a:off x="4114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+ suono vocalico</a:t>
            </a:r>
            <a:endParaRPr lang="en-US" sz="900" dirty="0"/>
          </a:p>
        </p:txBody>
      </p:sp>
      <p:sp>
        <p:nvSpPr>
          <p:cNvPr id="24" name="cd_267"/>
          <p:cNvSpPr/>
          <p:nvPr/>
        </p:nvSpPr>
        <p:spPr>
          <a:xfrm>
            <a:off x="24917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5" name="rh_268"/>
          <p:cNvSpPr/>
          <p:nvPr/>
        </p:nvSpPr>
        <p:spPr>
          <a:xfrm>
            <a:off x="26014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s / es</a:t>
            </a:r>
            <a:endParaRPr lang="en-US" sz="1250" dirty="0"/>
          </a:p>
        </p:txBody>
      </p:sp>
      <p:sp>
        <p:nvSpPr>
          <p:cNvPr id="26" name="pf_269"/>
          <p:cNvSpPr/>
          <p:nvPr/>
        </p:nvSpPr>
        <p:spPr>
          <a:xfrm>
            <a:off x="26014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7" name="ph_270" descr="/home/claude/lls-course/v2/cache/red_2a_wallet_jpg_415x209_31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647188" y="1984248"/>
            <a:ext cx="1723644" cy="868680"/>
          </a:xfrm>
          <a:prstGeom prst="rect">
            <a:avLst/>
          </a:prstGeom>
        </p:spPr>
      </p:pic>
      <p:sp>
        <p:nvSpPr>
          <p:cNvPr id="28" name="ru_271"/>
          <p:cNvSpPr/>
          <p:nvPr/>
        </p:nvSpPr>
        <p:spPr>
          <a:xfrm>
            <a:off x="25831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most nouns</a:t>
            </a:r>
            <a:endParaRPr lang="en-US" sz="1050" dirty="0"/>
          </a:p>
        </p:txBody>
      </p:sp>
      <p:sp>
        <p:nvSpPr>
          <p:cNvPr id="29" name="R2_rx272"/>
          <p:cNvSpPr/>
          <p:nvPr/>
        </p:nvSpPr>
        <p:spPr>
          <a:xfrm>
            <a:off x="25831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two pen</a:t>
            </a:r>
            <a:pPr algn="ctr" indent="0" marL="0">
              <a:buNone/>
            </a:pPr>
            <a:r>
              <a:rPr lang="en-US" sz="10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three key</a:t>
            </a:r>
            <a:pPr algn="ctr" indent="0" marL="0">
              <a:buNone/>
            </a:pPr>
            <a:r>
              <a:rPr lang="en-US" sz="10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two watch</a:t>
            </a:r>
            <a:pPr algn="ctr" indent="0" marL="0">
              <a:buNone/>
            </a:pPr>
            <a:r>
              <a:rPr lang="en-US" sz="10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es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glass</a:t>
            </a:r>
            <a:pPr algn="ctr" indent="0" marL="0">
              <a:buNone/>
            </a:pPr>
            <a:r>
              <a:rPr lang="en-US" sz="10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es</a:t>
            </a:r>
            <a:endParaRPr lang="en-US" sz="1050" dirty="0"/>
          </a:p>
        </p:txBody>
      </p:sp>
      <p:sp>
        <p:nvSpPr>
          <p:cNvPr id="30" name="R2_ri273"/>
          <p:cNvSpPr/>
          <p:nvPr/>
        </p:nvSpPr>
        <p:spPr>
          <a:xfrm>
            <a:off x="25831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-es dopo s, sh, ch, x</a:t>
            </a:r>
            <a:endParaRPr lang="en-US" sz="900" dirty="0"/>
          </a:p>
        </p:txBody>
      </p:sp>
      <p:sp>
        <p:nvSpPr>
          <p:cNvPr id="31" name="cd_274"/>
          <p:cNvSpPr/>
          <p:nvPr/>
        </p:nvSpPr>
        <p:spPr>
          <a:xfrm>
            <a:off x="46634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2" name="rh_275"/>
          <p:cNvSpPr/>
          <p:nvPr/>
        </p:nvSpPr>
        <p:spPr>
          <a:xfrm>
            <a:off x="47731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2EB872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 → ies</a:t>
            </a:r>
            <a:endParaRPr lang="en-US" sz="1250" dirty="0"/>
          </a:p>
        </p:txBody>
      </p:sp>
      <p:sp>
        <p:nvSpPr>
          <p:cNvPr id="33" name="pf_276"/>
          <p:cNvSpPr/>
          <p:nvPr/>
        </p:nvSpPr>
        <p:spPr>
          <a:xfrm>
            <a:off x="47731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4" name="ph_277" descr="/home/claude/lls-course/v2/cache/red_2a_notebook_jpg_415x209_31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818888" y="1984248"/>
            <a:ext cx="1723644" cy="868680"/>
          </a:xfrm>
          <a:prstGeom prst="rect">
            <a:avLst/>
          </a:prstGeom>
        </p:spPr>
      </p:pic>
      <p:sp>
        <p:nvSpPr>
          <p:cNvPr id="35" name="ru_278"/>
          <p:cNvSpPr/>
          <p:nvPr/>
        </p:nvSpPr>
        <p:spPr>
          <a:xfrm>
            <a:off x="47548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consonant + y</a:t>
            </a:r>
            <a:endParaRPr lang="en-US" sz="1050" dirty="0"/>
          </a:p>
        </p:txBody>
      </p:sp>
      <p:sp>
        <p:nvSpPr>
          <p:cNvPr id="36" name="R3_rx279"/>
          <p:cNvSpPr/>
          <p:nvPr/>
        </p:nvSpPr>
        <p:spPr>
          <a:xfrm>
            <a:off x="47548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diar</a:t>
            </a:r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→ diar</a:t>
            </a:r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ies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cit</a:t>
            </a:r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→ cit</a:t>
            </a:r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ies</a:t>
            </a:r>
            <a:endParaRPr lang="en-US" sz="1050" dirty="0"/>
          </a:p>
        </p:txBody>
      </p:sp>
      <p:sp>
        <p:nvSpPr>
          <p:cNvPr id="37" name="R3_ri280"/>
          <p:cNvSpPr/>
          <p:nvPr/>
        </p:nvSpPr>
        <p:spPr>
          <a:xfrm>
            <a:off x="47548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ma: key → keys</a:t>
            </a:r>
            <a:endParaRPr lang="en-US" sz="900" dirty="0"/>
          </a:p>
        </p:txBody>
      </p:sp>
      <p:sp>
        <p:nvSpPr>
          <p:cNvPr id="38" name="cd_281"/>
          <p:cNvSpPr/>
          <p:nvPr/>
        </p:nvSpPr>
        <p:spPr>
          <a:xfrm>
            <a:off x="68351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9" name="rh_282"/>
          <p:cNvSpPr/>
          <p:nvPr/>
        </p:nvSpPr>
        <p:spPr>
          <a:xfrm>
            <a:off x="69448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irregular</a:t>
            </a:r>
            <a:endParaRPr lang="en-US" sz="1250" dirty="0"/>
          </a:p>
        </p:txBody>
      </p:sp>
      <p:sp>
        <p:nvSpPr>
          <p:cNvPr id="40" name="pf_283"/>
          <p:cNvSpPr/>
          <p:nvPr/>
        </p:nvSpPr>
        <p:spPr>
          <a:xfrm>
            <a:off x="69448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41" name="ph_284" descr="/home/claude/lls-course/v2/cache/red_2a_untidy_jpg_415x209_31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990588" y="1984248"/>
            <a:ext cx="1723644" cy="868680"/>
          </a:xfrm>
          <a:prstGeom prst="rect">
            <a:avLst/>
          </a:prstGeom>
        </p:spPr>
      </p:pic>
      <p:sp>
        <p:nvSpPr>
          <p:cNvPr id="42" name="ru_285"/>
          <p:cNvSpPr/>
          <p:nvPr/>
        </p:nvSpPr>
        <p:spPr>
          <a:xfrm>
            <a:off x="69265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learn them!</a:t>
            </a:r>
            <a:endParaRPr lang="en-US" sz="1050" dirty="0"/>
          </a:p>
        </p:txBody>
      </p:sp>
      <p:sp>
        <p:nvSpPr>
          <p:cNvPr id="43" name="R4_rx286"/>
          <p:cNvSpPr/>
          <p:nvPr/>
        </p:nvSpPr>
        <p:spPr>
          <a:xfrm>
            <a:off x="69265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man → </a:t>
            </a:r>
            <a:pPr algn="ctr" indent="0" marL="0">
              <a:buNone/>
            </a:pPr>
            <a:r>
              <a:rPr lang="en-US" sz="1050" b="1" dirty="0">
                <a:solidFill>
                  <a:srgbClr val="F2B705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men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woman → </a:t>
            </a:r>
            <a:pPr algn="ctr" indent="0" marL="0">
              <a:buNone/>
            </a:pPr>
            <a:r>
              <a:rPr lang="en-US" sz="1050" b="1" dirty="0">
                <a:solidFill>
                  <a:srgbClr val="F2B705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women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person → </a:t>
            </a:r>
            <a:pPr algn="ctr" indent="0" marL="0">
              <a:buNone/>
            </a:pPr>
            <a:r>
              <a:rPr lang="en-US" sz="1050" b="1" dirty="0">
                <a:solidFill>
                  <a:srgbClr val="F2B705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people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child → </a:t>
            </a:r>
            <a:pPr algn="ctr" indent="0" marL="0">
              <a:buNone/>
            </a:pPr>
            <a:r>
              <a:rPr lang="en-US" sz="1050" b="1" dirty="0">
                <a:solidFill>
                  <a:srgbClr val="F2B705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children</a:t>
            </a:r>
            <a:endParaRPr lang="en-US" sz="1050" dirty="0"/>
          </a:p>
        </p:txBody>
      </p:sp>
      <p:sp>
        <p:nvSpPr>
          <p:cNvPr id="44" name="R4_ri287"/>
          <p:cNvSpPr/>
          <p:nvPr/>
        </p:nvSpPr>
        <p:spPr>
          <a:xfrm>
            <a:off x="69265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people = persone</a:t>
            </a:r>
            <a:endParaRPr lang="en-US" sz="900" dirty="0"/>
          </a:p>
        </p:txBody>
      </p:sp>
      <p:sp>
        <p:nvSpPr>
          <p:cNvPr id="45" name="R5_wc288"/>
          <p:cNvSpPr/>
          <p:nvPr/>
        </p:nvSpPr>
        <p:spPr>
          <a:xfrm>
            <a:off x="320040" y="4544568"/>
            <a:ext cx="8549640" cy="329184"/>
          </a:xfrm>
          <a:prstGeom prst="roundRect">
            <a:avLst>
              <a:gd name="adj" fmla="val 38889"/>
            </a:avLst>
          </a:prstGeom>
          <a:solidFill>
            <a:srgbClr val="FFE3EE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6" name="R5_w289"/>
          <p:cNvSpPr/>
          <p:nvPr/>
        </p:nvSpPr>
        <p:spPr>
          <a:xfrm>
            <a:off x="457200" y="4544568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No a/an with plurals: ✗ a glasses → ✓ glasses / a pair of glasses   ·   ✗ peoples → ✓ people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7" dur="1" fill="hold"/>
                                        <p:tgtEl>
                                          <p:spTgt spid="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seq concurrent="1" nextAc="seek">
              <p:cTn id="48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9" fill="hold">
                      <p:stCondLst>
                        <p:cond delay="0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52" dur="1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audio>
              <p:cMediaNode vol="80000">
                <p:cTn id="5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5"/>
                </p:tgtEl>
              </p:cMediaNode>
            </p:audio>
            <p:audio>
              <p:cMediaNode vol="80000">
                <p:cTn id="5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6"/>
                </p:tgtEl>
              </p:cMediaNode>
            </p:audio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9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2800" dirty="0"/>
          </a:p>
        </p:txBody>
      </p:sp>
      <p:pic>
        <p:nvPicPr>
          <p:cNvPr id="4" name="brY_29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292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snake, zebra or /ɪz/?</a:t>
            </a:r>
            <a:endParaRPr lang="en-US" sz="2500" dirty="0"/>
          </a:p>
        </p:txBody>
      </p:sp>
      <p:pic>
        <p:nvPicPr>
          <p:cNvPr id="6" name="brP_29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294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the plural. Is it /s/, /z/ or /ɪz/?</a:t>
            </a:r>
            <a:endParaRPr lang="en-US" sz="1250" dirty="0"/>
          </a:p>
        </p:txBody>
      </p:sp>
      <p:sp>
        <p:nvSpPr>
          <p:cNvPr id="8" name="insIT_295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Di' il plurale. È /s/, /z/ o /ɪz/?</a:t>
            </a:r>
            <a:endParaRPr lang="en-US" sz="950" dirty="0"/>
          </a:p>
        </p:txBody>
      </p:sp>
      <p:sp>
        <p:nvSpPr>
          <p:cNvPr id="9" name="cmd_296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🔊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 IT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PRONUNCIA</a:t>
            </a:r>
            <a:endParaRPr lang="en-US" sz="1300" dirty="0"/>
          </a:p>
        </p:txBody>
      </p:sp>
      <p:sp>
        <p:nvSpPr>
          <p:cNvPr id="10" name="meta_297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👥 pairs</a:t>
            </a:r>
            <a:endParaRPr lang="en-US" sz="950" dirty="0"/>
          </a:p>
        </p:txBody>
      </p:sp>
      <p:pic>
        <p:nvPicPr>
          <p:cNvPr id="11" name="logo_29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29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 · Pronunciation · final -s and -es   ·   📖 SB p.15 · 3 Pronunciation · audio 2.3, 2.4</a:t>
            </a:r>
            <a:endParaRPr lang="en-US" sz="800" dirty="0"/>
          </a:p>
        </p:txBody>
      </p:sp>
      <p:sp>
        <p:nvSpPr>
          <p:cNvPr id="13" name="cd_300"/>
          <p:cNvSpPr/>
          <p:nvPr/>
        </p:nvSpPr>
        <p:spPr>
          <a:xfrm>
            <a:off x="320040" y="1417320"/>
            <a:ext cx="2697480" cy="1911096"/>
          </a:xfrm>
          <a:prstGeom prst="roundRect">
            <a:avLst>
              <a:gd name="adj" fmla="val 6699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ii_301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5" name="ih_302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Rule: extra /ɪz/ only after s, ce, ge, sh, ch, x</a:t>
            </a:r>
            <a:endParaRPr lang="en-US" sz="1300" dirty="0"/>
          </a:p>
        </p:txBody>
      </p:sp>
      <p:sp>
        <p:nvSpPr>
          <p:cNvPr id="16" name="il_303"/>
          <p:cNvSpPr/>
          <p:nvPr/>
        </p:nvSpPr>
        <p:spPr>
          <a:xfrm>
            <a:off x="886968" y="1892808"/>
            <a:ext cx="203911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17" name="ap_304"/>
          <p:cNvSpPr/>
          <p:nvPr/>
        </p:nvSpPr>
        <p:spPr>
          <a:xfrm>
            <a:off x="365760" y="3465576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0" tIns="12700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2.3 + 2.4</a:t>
            </a:r>
            <a:endParaRPr lang="en-US" sz="1100" dirty="0"/>
          </a:p>
        </p:txBody>
      </p:sp>
      <p:sp>
        <p:nvSpPr>
          <p:cNvPr id="18" name="ah_305"/>
          <p:cNvSpPr/>
          <p:nvPr/>
        </p:nvSpPr>
        <p:spPr>
          <a:xfrm>
            <a:off x="4974336" y="45720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 · 🐢 slower</a:t>
            </a:r>
            <a:endParaRPr lang="en-US" sz="950" dirty="0"/>
          </a:p>
        </p:txBody>
      </p:sp>
      <p:pic>
        <p:nvPicPr>
          <p:cNvPr id="19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6574536" y="4553712"/>
            <a:ext cx="411480" cy="411480"/>
          </a:xfrm>
          <a:prstGeom prst="rect">
            <a:avLst/>
          </a:prstGeom>
        </p:spPr>
      </p:pic>
      <p:pic>
        <p:nvPicPr>
          <p:cNvPr id="20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7050024" y="4553712"/>
            <a:ext cx="411480" cy="411480"/>
          </a:xfrm>
          <a:prstGeom prst="rect">
            <a:avLst/>
          </a:prstGeom>
        </p:spPr>
      </p:pic>
      <p:pic>
        <p:nvPicPr>
          <p:cNvPr id="21" name="Media 2">
            <a:hlinkClick r:id="" action="ppaction://media"/>
          </p:cNvPr>
          <p:cNvPicPr>
            <a:picLocks noChangeAspect="1"/>
          </p:cNvPicPr>
          <p:nvPr>
            <a:audioFile r:link="rId11"/>
            <p:extLst>
              <p:ext uri="{DAA4B4D4-6D71-4841-9C94-3DE7FCFB9230}">
                <p14:media xmlns:p14="http://schemas.microsoft.com/office/powerpoint/2010/main" r:embed="rId12"/>
              </p:ext>
            </p:extLst>
          </p:nvPr>
        </p:nvPicPr>
        <p:blipFill>
          <a:blip r:embed="rId13"/>
          <a:stretch>
            <a:fillRect/>
          </a:stretch>
        </p:blipFill>
        <p:spPr>
          <a:xfrm>
            <a:off x="7525512" y="4553712"/>
            <a:ext cx="411480" cy="411480"/>
          </a:xfrm>
          <a:prstGeom prst="rect">
            <a:avLst/>
          </a:prstGeom>
        </p:spPr>
      </p:pic>
      <p:pic>
        <p:nvPicPr>
          <p:cNvPr id="22" name="Media 3">
            <a:hlinkClick r:id="" action="ppaction://media"/>
          </p:cNvPr>
          <p:cNvPicPr>
            <a:picLocks noChangeAspect="1"/>
          </p:cNvPicPr>
          <p:nvPr>
            <a:audioFile r:link="rId14"/>
            <p:extLst>
              <p:ext uri="{DAA4B4D4-6D71-4841-9C94-3DE7FCFB9230}">
                <p14:media xmlns:p14="http://schemas.microsoft.com/office/powerpoint/2010/main" r:embed="rId15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8001000" y="4553712"/>
            <a:ext cx="411480" cy="411480"/>
          </a:xfrm>
          <a:prstGeom prst="rect">
            <a:avLst/>
          </a:prstGeom>
        </p:spPr>
      </p:pic>
      <p:sp>
        <p:nvSpPr>
          <p:cNvPr id="23" name="lg_306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/s/ books</a:t>
            </a:r>
            <a:endParaRPr lang="en-US" sz="1050" dirty="0"/>
          </a:p>
        </p:txBody>
      </p:sp>
      <p:sp>
        <p:nvSpPr>
          <p:cNvPr id="24" name="lg_307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/z/ keys</a:t>
            </a:r>
            <a:endParaRPr lang="en-US" sz="1050" dirty="0"/>
          </a:p>
        </p:txBody>
      </p:sp>
      <p:sp>
        <p:nvSpPr>
          <p:cNvPr id="25" name="lg_308"/>
          <p:cNvSpPr/>
          <p:nvPr/>
        </p:nvSpPr>
        <p:spPr>
          <a:xfrm>
            <a:off x="457200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/ɪz/ glasses</a:t>
            </a:r>
            <a:endParaRPr lang="en-US" sz="1050" dirty="0"/>
          </a:p>
        </p:txBody>
      </p:sp>
      <p:sp>
        <p:nvSpPr>
          <p:cNvPr id="26" name="sq_309"/>
          <p:cNvSpPr/>
          <p:nvPr/>
        </p:nvSpPr>
        <p:spPr>
          <a:xfrm>
            <a:off x="3246120" y="141732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classes</a:t>
            </a:r>
            <a:endParaRPr lang="en-US" sz="1200" dirty="0"/>
          </a:p>
        </p:txBody>
      </p:sp>
      <p:sp>
        <p:nvSpPr>
          <p:cNvPr id="27" name="R1_tag310"/>
          <p:cNvSpPr/>
          <p:nvPr/>
        </p:nvSpPr>
        <p:spPr>
          <a:xfrm>
            <a:off x="7178040" y="141732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/ɪz/ glasses</a:t>
            </a:r>
            <a:endParaRPr lang="en-US" sz="1150" dirty="0"/>
          </a:p>
        </p:txBody>
      </p:sp>
      <p:sp>
        <p:nvSpPr>
          <p:cNvPr id="28" name="sq_311"/>
          <p:cNvSpPr/>
          <p:nvPr/>
        </p:nvSpPr>
        <p:spPr>
          <a:xfrm>
            <a:off x="3246120" y="182880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lamps</a:t>
            </a:r>
            <a:endParaRPr lang="en-US" sz="1200" dirty="0"/>
          </a:p>
        </p:txBody>
      </p:sp>
      <p:sp>
        <p:nvSpPr>
          <p:cNvPr id="29" name="R2_tag312"/>
          <p:cNvSpPr/>
          <p:nvPr/>
        </p:nvSpPr>
        <p:spPr>
          <a:xfrm>
            <a:off x="7178040" y="182880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/s/ books</a:t>
            </a:r>
            <a:endParaRPr lang="en-US" sz="1150" dirty="0"/>
          </a:p>
        </p:txBody>
      </p:sp>
      <p:sp>
        <p:nvSpPr>
          <p:cNvPr id="30" name="sq_313"/>
          <p:cNvSpPr/>
          <p:nvPr/>
        </p:nvSpPr>
        <p:spPr>
          <a:xfrm>
            <a:off x="3246120" y="224028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files</a:t>
            </a:r>
            <a:endParaRPr lang="en-US" sz="1200" dirty="0"/>
          </a:p>
        </p:txBody>
      </p:sp>
      <p:sp>
        <p:nvSpPr>
          <p:cNvPr id="31" name="R3_tag314"/>
          <p:cNvSpPr/>
          <p:nvPr/>
        </p:nvSpPr>
        <p:spPr>
          <a:xfrm>
            <a:off x="7178040" y="224028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/z/ keys</a:t>
            </a:r>
            <a:endParaRPr lang="en-US" sz="1150" dirty="0"/>
          </a:p>
        </p:txBody>
      </p:sp>
      <p:sp>
        <p:nvSpPr>
          <p:cNvPr id="32" name="sq_315"/>
          <p:cNvSpPr/>
          <p:nvPr/>
        </p:nvSpPr>
        <p:spPr>
          <a:xfrm>
            <a:off x="3246120" y="265176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boxes</a:t>
            </a:r>
            <a:endParaRPr lang="en-US" sz="1200" dirty="0"/>
          </a:p>
        </p:txBody>
      </p:sp>
      <p:sp>
        <p:nvSpPr>
          <p:cNvPr id="33" name="R4_tag316"/>
          <p:cNvSpPr/>
          <p:nvPr/>
        </p:nvSpPr>
        <p:spPr>
          <a:xfrm>
            <a:off x="7178040" y="265176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/ɪz/ glasses</a:t>
            </a:r>
            <a:endParaRPr lang="en-US" sz="1150" dirty="0"/>
          </a:p>
        </p:txBody>
      </p:sp>
      <p:sp>
        <p:nvSpPr>
          <p:cNvPr id="34" name="sq_317"/>
          <p:cNvSpPr/>
          <p:nvPr/>
        </p:nvSpPr>
        <p:spPr>
          <a:xfrm>
            <a:off x="3246120" y="306324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tickets</a:t>
            </a:r>
            <a:endParaRPr lang="en-US" sz="1200" dirty="0"/>
          </a:p>
        </p:txBody>
      </p:sp>
      <p:sp>
        <p:nvSpPr>
          <p:cNvPr id="35" name="R5_tag318"/>
          <p:cNvSpPr/>
          <p:nvPr/>
        </p:nvSpPr>
        <p:spPr>
          <a:xfrm>
            <a:off x="7178040" y="306324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/s/ books</a:t>
            </a:r>
            <a:endParaRPr lang="en-US" sz="1150" dirty="0"/>
          </a:p>
        </p:txBody>
      </p:sp>
      <p:sp>
        <p:nvSpPr>
          <p:cNvPr id="36" name="sq_319"/>
          <p:cNvSpPr/>
          <p:nvPr/>
        </p:nvSpPr>
        <p:spPr>
          <a:xfrm>
            <a:off x="3246120" y="347472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phones</a:t>
            </a:r>
            <a:endParaRPr lang="en-US" sz="1200" dirty="0"/>
          </a:p>
        </p:txBody>
      </p:sp>
      <p:sp>
        <p:nvSpPr>
          <p:cNvPr id="37" name="R6_tag320"/>
          <p:cNvSpPr/>
          <p:nvPr/>
        </p:nvSpPr>
        <p:spPr>
          <a:xfrm>
            <a:off x="7178040" y="347472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/z/ keys</a:t>
            </a:r>
            <a:endParaRPr lang="en-US" sz="1150" dirty="0"/>
          </a:p>
        </p:txBody>
      </p:sp>
      <p:sp>
        <p:nvSpPr>
          <p:cNvPr id="38" name="sq_321"/>
          <p:cNvSpPr/>
          <p:nvPr/>
        </p:nvSpPr>
        <p:spPr>
          <a:xfrm>
            <a:off x="3246120" y="388620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pages</a:t>
            </a:r>
            <a:endParaRPr lang="en-US" sz="1200" dirty="0"/>
          </a:p>
        </p:txBody>
      </p:sp>
      <p:sp>
        <p:nvSpPr>
          <p:cNvPr id="39" name="R7_tag322"/>
          <p:cNvSpPr/>
          <p:nvPr/>
        </p:nvSpPr>
        <p:spPr>
          <a:xfrm>
            <a:off x="7178040" y="388620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/ɪz/ glasses</a:t>
            </a:r>
            <a:endParaRPr lang="en-US" sz="1150" dirty="0"/>
          </a:p>
        </p:txBody>
      </p:sp>
      <p:sp>
        <p:nvSpPr>
          <p:cNvPr id="40" name="sq_323"/>
          <p:cNvSpPr/>
          <p:nvPr/>
        </p:nvSpPr>
        <p:spPr>
          <a:xfrm>
            <a:off x="3246120" y="429768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pieces</a:t>
            </a:r>
            <a:endParaRPr lang="en-US" sz="1200" dirty="0"/>
          </a:p>
        </p:txBody>
      </p:sp>
      <p:sp>
        <p:nvSpPr>
          <p:cNvPr id="41" name="R8_tag324"/>
          <p:cNvSpPr/>
          <p:nvPr/>
        </p:nvSpPr>
        <p:spPr>
          <a:xfrm>
            <a:off x="7178040" y="429768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/ɪz/ glasses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1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7" dur="1" fill="hold"/>
                                        <p:tgtEl>
                                          <p:spTgt spid="1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"/>
                  </p:tgtEl>
                </p:cond>
              </p:nextCondLst>
            </p:seq>
            <p:seq concurrent="1" nextAc="seek">
              <p:cTn id="48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9" fill="hold">
                      <p:stCondLst>
                        <p:cond delay="0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52" dur="1" fill="hold"/>
                                        <p:tgtEl>
                                          <p:spTgt spid="2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"/>
                  </p:tgtEl>
                </p:cond>
              </p:nextCondLst>
            </p:seq>
            <p:seq concurrent="1" nextAc="seek">
              <p:cTn id="53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57" dur="1" fill="hold"/>
                                        <p:tgtEl>
                                          <p:spTgt spid="2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58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9" fill="hold">
                      <p:stCondLst>
                        <p:cond delay="0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2" dur="1" fill="hold"/>
                                        <p:tgtEl>
                                          <p:spTgt spid="2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"/>
                  </p:tgtEl>
                </p:cond>
              </p:nextCondLst>
            </p:seq>
            <p:audio>
              <p:cMediaNode vol="80000">
                <p:cTn id="6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9"/>
                </p:tgtEl>
              </p:cMediaNode>
            </p:audio>
            <p:audio>
              <p:cMediaNode vol="80000">
                <p:cTn id="6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0"/>
                </p:tgtEl>
              </p:cMediaNode>
            </p:audio>
            <p:audio>
              <p:cMediaNode vol="80000">
                <p:cTn id="65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1"/>
                </p:tgtEl>
              </p:cMediaNode>
            </p:audio>
            <p:audio>
              <p:cMediaNode vol="80000">
                <p:cTn id="66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2"/>
                </p:tgtEl>
              </p:cMediaNode>
            </p:audio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2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</a:t>
            </a:r>
            <a:endParaRPr lang="en-US" sz="2200" dirty="0"/>
          </a:p>
        </p:txBody>
      </p:sp>
      <p:pic>
        <p:nvPicPr>
          <p:cNvPr id="4" name="brY_32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327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Where are the things?</a:t>
            </a:r>
            <a:endParaRPr lang="en-US" sz="2500" dirty="0"/>
          </a:p>
        </p:txBody>
      </p:sp>
      <p:pic>
        <p:nvPicPr>
          <p:cNvPr id="6" name="brP_32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074920" cy="402336"/>
          </a:xfrm>
          <a:prstGeom prst="rect">
            <a:avLst/>
          </a:prstGeom>
        </p:spPr>
      </p:pic>
      <p:sp>
        <p:nvSpPr>
          <p:cNvPr id="7" name="ins_329"/>
          <p:cNvSpPr/>
          <p:nvPr/>
        </p:nvSpPr>
        <p:spPr>
          <a:xfrm>
            <a:off x="1353312" y="731520"/>
            <a:ext cx="4818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Look at photos 1–3. Complete with in, on or under.</a:t>
            </a:r>
            <a:endParaRPr lang="en-US" sz="1250" dirty="0"/>
          </a:p>
        </p:txBody>
      </p:sp>
      <p:sp>
        <p:nvSpPr>
          <p:cNvPr id="8" name="insIT_330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Guarda le foto 1–3. Completa con in, on o under.</a:t>
            </a:r>
            <a:endParaRPr lang="en-US" sz="950" dirty="0"/>
          </a:p>
        </p:txBody>
      </p:sp>
      <p:sp>
        <p:nvSpPr>
          <p:cNvPr id="9" name="cmd_331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✏️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FILL THE GAPS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COMPLETA</a:t>
            </a:r>
            <a:endParaRPr lang="en-US" sz="1300" dirty="0"/>
          </a:p>
        </p:txBody>
      </p:sp>
      <p:sp>
        <p:nvSpPr>
          <p:cNvPr id="10" name="meta_332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👤 alone</a:t>
            </a:r>
            <a:endParaRPr lang="en-US" sz="950" dirty="0"/>
          </a:p>
        </p:txBody>
      </p:sp>
      <p:pic>
        <p:nvPicPr>
          <p:cNvPr id="11" name="logo_33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33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 · Vocabulary · in, on, under   ·   📖 SB p.15 · 4a</a:t>
            </a:r>
            <a:endParaRPr lang="en-US" sz="800" dirty="0"/>
          </a:p>
        </p:txBody>
      </p:sp>
      <p:sp>
        <p:nvSpPr>
          <p:cNvPr id="13" name="cd_335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ii_336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5" name="ih_337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6" name="il_338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 The pen is ___ the desk. → on (sopra)</a:t>
            </a:r>
            <a:endParaRPr lang="en-US" sz="1050" dirty="0"/>
          </a:p>
        </p:txBody>
      </p:sp>
      <p:sp>
        <p:nvSpPr>
          <p:cNvPr id="17" name="pf_339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8" name="ph_340" descr="/home/claude/lls-course/v2/cache/red_2a_notebook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19" name="bd_341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0" name="q_342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 The glasses are ___ the notebook.</a:t>
            </a:r>
            <a:endParaRPr lang="en-US" sz="1150" dirty="0"/>
          </a:p>
        </p:txBody>
      </p:sp>
      <p:sp>
        <p:nvSpPr>
          <p:cNvPr id="21" name="R1_chip343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</a:t>
            </a:r>
            <a:endParaRPr lang="en-US" sz="1000" dirty="0"/>
          </a:p>
        </p:txBody>
      </p:sp>
      <p:sp>
        <p:nvSpPr>
          <p:cNvPr id="22" name="bd_344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3" name="q_345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 The credit cards are ___ the wallet.</a:t>
            </a:r>
            <a:endParaRPr lang="en-US" sz="1150" dirty="0"/>
          </a:p>
        </p:txBody>
      </p:sp>
      <p:sp>
        <p:nvSpPr>
          <p:cNvPr id="24" name="R2_chip346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</a:t>
            </a:r>
            <a:endParaRPr lang="en-US" sz="1000" dirty="0"/>
          </a:p>
        </p:txBody>
      </p:sp>
      <p:sp>
        <p:nvSpPr>
          <p:cNvPr id="25" name="bd_347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6" name="q_348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 The bag is ___ the desk.</a:t>
            </a:r>
            <a:endParaRPr lang="en-US" sz="1150" dirty="0"/>
          </a:p>
        </p:txBody>
      </p:sp>
      <p:sp>
        <p:nvSpPr>
          <p:cNvPr id="27" name="R3_chip349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under</a:t>
            </a:r>
            <a:endParaRPr lang="en-US" sz="1000" dirty="0"/>
          </a:p>
        </p:txBody>
      </p:sp>
      <p:sp>
        <p:nvSpPr>
          <p:cNvPr id="28" name="bd_350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q_351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 My keys are ___ my bag.</a:t>
            </a:r>
            <a:endParaRPr lang="en-US" sz="1150" dirty="0"/>
          </a:p>
        </p:txBody>
      </p:sp>
      <p:sp>
        <p:nvSpPr>
          <p:cNvPr id="30" name="R4_chip352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</a:t>
            </a:r>
            <a:endParaRPr lang="en-US" sz="1000" dirty="0"/>
          </a:p>
        </p:txBody>
      </p:sp>
      <p:sp>
        <p:nvSpPr>
          <p:cNvPr id="31" name="bd_353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2" name="q_354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  The cat is ___ the table.</a:t>
            </a:r>
            <a:endParaRPr lang="en-US" sz="1150" dirty="0"/>
          </a:p>
        </p:txBody>
      </p:sp>
      <p:sp>
        <p:nvSpPr>
          <p:cNvPr id="33" name="R5_chip355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under (or on!)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5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11</a:t>
            </a:r>
            <a:endParaRPr lang="en-US" sz="2200" dirty="0"/>
          </a:p>
        </p:txBody>
      </p:sp>
      <p:pic>
        <p:nvPicPr>
          <p:cNvPr id="4" name="brY_35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405226" cy="621792"/>
          </a:xfrm>
          <a:prstGeom prst="rect">
            <a:avLst/>
          </a:prstGeom>
        </p:spPr>
      </p:pic>
      <p:sp>
        <p:nvSpPr>
          <p:cNvPr id="5" name="title_358"/>
          <p:cNvSpPr/>
          <p:nvPr/>
        </p:nvSpPr>
        <p:spPr>
          <a:xfrm>
            <a:off x="1261872" y="164592"/>
            <a:ext cx="31309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Where's my phone?</a:t>
            </a:r>
            <a:endParaRPr lang="en-US" sz="2500" dirty="0"/>
          </a:p>
        </p:txBody>
      </p:sp>
      <p:pic>
        <p:nvPicPr>
          <p:cNvPr id="6" name="brP_35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988052" cy="402336"/>
          </a:xfrm>
          <a:prstGeom prst="rect">
            <a:avLst/>
          </a:prstGeom>
        </p:spPr>
      </p:pic>
      <p:sp>
        <p:nvSpPr>
          <p:cNvPr id="7" name="ins_360"/>
          <p:cNvSpPr/>
          <p:nvPr/>
        </p:nvSpPr>
        <p:spPr>
          <a:xfrm>
            <a:off x="1353312" y="731520"/>
            <a:ext cx="47320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Hide it! Your partner asks: Is it in…? Is it on…?</a:t>
            </a:r>
            <a:endParaRPr lang="en-US" sz="1250" dirty="0"/>
          </a:p>
        </p:txBody>
      </p:sp>
      <p:sp>
        <p:nvSpPr>
          <p:cNvPr id="8" name="insIT_361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Nascondilo! Il compagno chiede: Is it in…? Is it on…?</a:t>
            </a:r>
            <a:endParaRPr lang="en-US" sz="950" dirty="0"/>
          </a:p>
        </p:txBody>
      </p:sp>
      <p:sp>
        <p:nvSpPr>
          <p:cNvPr id="9" name="cmd_362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300" dirty="0"/>
          </a:p>
        </p:txBody>
      </p:sp>
      <p:sp>
        <p:nvSpPr>
          <p:cNvPr id="10" name="meta_363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950" dirty="0"/>
          </a:p>
        </p:txBody>
      </p:sp>
      <p:pic>
        <p:nvPicPr>
          <p:cNvPr id="11" name="logo_36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36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 · Game · in, on, under</a:t>
            </a:r>
            <a:endParaRPr lang="en-US" sz="800" dirty="0"/>
          </a:p>
        </p:txBody>
      </p:sp>
      <p:sp>
        <p:nvSpPr>
          <p:cNvPr id="13" name="cd_366"/>
          <p:cNvSpPr/>
          <p:nvPr/>
        </p:nvSpPr>
        <p:spPr>
          <a:xfrm>
            <a:off x="320040" y="1417320"/>
            <a:ext cx="2697480" cy="2057400"/>
          </a:xfrm>
          <a:prstGeom prst="roundRect">
            <a:avLst>
              <a:gd name="adj" fmla="val 6222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ii_367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5" name="ih_368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500" dirty="0"/>
          </a:p>
        </p:txBody>
      </p:sp>
      <p:sp>
        <p:nvSpPr>
          <p:cNvPr id="16" name="il_369"/>
          <p:cNvSpPr/>
          <p:nvPr/>
        </p:nvSpPr>
        <p:spPr>
          <a:xfrm>
            <a:off x="886968" y="1892808"/>
            <a:ext cx="203911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A: 'hide' your phone in the classroom (in your head!).</a:t>
            </a:r>
            <a:endParaRPr lang="en-US" sz="1150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 asks yes/no questions: Is it on the desk?</a:t>
            </a:r>
            <a:endParaRPr lang="en-US" sz="1150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Find it in 5 questions = 1 point.</a:t>
            </a:r>
            <a:endParaRPr lang="en-US" sz="1150" dirty="0"/>
          </a:p>
        </p:txBody>
      </p:sp>
      <p:sp>
        <p:nvSpPr>
          <p:cNvPr id="17" name="st_370"/>
          <p:cNvSpPr/>
          <p:nvPr/>
        </p:nvSpPr>
        <p:spPr>
          <a:xfrm rot="-180000">
            <a:off x="502920" y="3703320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300" dirty="0"/>
          </a:p>
        </p:txBody>
      </p:sp>
      <p:sp>
        <p:nvSpPr>
          <p:cNvPr id="18" name="bd_371"/>
          <p:cNvSpPr/>
          <p:nvPr/>
        </p:nvSpPr>
        <p:spPr>
          <a:xfrm>
            <a:off x="3246120" y="1508760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19" name="gq_372"/>
          <p:cNvSpPr/>
          <p:nvPr/>
        </p:nvSpPr>
        <p:spPr>
          <a:xfrm>
            <a:off x="3657600" y="1417320"/>
            <a:ext cx="251460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it on the table?</a:t>
            </a:r>
            <a:endParaRPr lang="en-US" sz="1100" dirty="0"/>
          </a:p>
        </p:txBody>
      </p:sp>
      <p:sp>
        <p:nvSpPr>
          <p:cNvPr id="20" name="R1_chip373"/>
          <p:cNvSpPr/>
          <p:nvPr/>
        </p:nvSpPr>
        <p:spPr>
          <a:xfrm>
            <a:off x="6263640" y="1417320"/>
            <a:ext cx="2560320" cy="512064"/>
          </a:xfrm>
          <a:prstGeom prst="roundRect">
            <a:avLst>
              <a:gd name="adj" fmla="val 17857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No, it isn't.</a:t>
            </a:r>
            <a:endParaRPr lang="en-US" sz="1100" dirty="0"/>
          </a:p>
        </p:txBody>
      </p:sp>
      <p:sp>
        <p:nvSpPr>
          <p:cNvPr id="21" name="bd_374"/>
          <p:cNvSpPr/>
          <p:nvPr/>
        </p:nvSpPr>
        <p:spPr>
          <a:xfrm>
            <a:off x="3246120" y="2084832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2" name="gq_375"/>
          <p:cNvSpPr/>
          <p:nvPr/>
        </p:nvSpPr>
        <p:spPr>
          <a:xfrm>
            <a:off x="3657600" y="1993392"/>
            <a:ext cx="251460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it under the chair?</a:t>
            </a:r>
            <a:endParaRPr lang="en-US" sz="1100" dirty="0"/>
          </a:p>
        </p:txBody>
      </p:sp>
      <p:sp>
        <p:nvSpPr>
          <p:cNvPr id="23" name="R2_chip376"/>
          <p:cNvSpPr/>
          <p:nvPr/>
        </p:nvSpPr>
        <p:spPr>
          <a:xfrm>
            <a:off x="6263640" y="1993392"/>
            <a:ext cx="2560320" cy="512064"/>
          </a:xfrm>
          <a:prstGeom prst="roundRect">
            <a:avLst>
              <a:gd name="adj" fmla="val 17857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No, it isn't.</a:t>
            </a:r>
            <a:endParaRPr lang="en-US" sz="1100" dirty="0"/>
          </a:p>
        </p:txBody>
      </p:sp>
      <p:sp>
        <p:nvSpPr>
          <p:cNvPr id="24" name="bd_377"/>
          <p:cNvSpPr/>
          <p:nvPr/>
        </p:nvSpPr>
        <p:spPr>
          <a:xfrm>
            <a:off x="3246120" y="266090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gq_378"/>
          <p:cNvSpPr/>
          <p:nvPr/>
        </p:nvSpPr>
        <p:spPr>
          <a:xfrm>
            <a:off x="3657600" y="2569464"/>
            <a:ext cx="251460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it in your bag?</a:t>
            </a:r>
            <a:endParaRPr lang="en-US" sz="1100" dirty="0"/>
          </a:p>
        </p:txBody>
      </p:sp>
      <p:sp>
        <p:nvSpPr>
          <p:cNvPr id="26" name="R3_chip379"/>
          <p:cNvSpPr/>
          <p:nvPr/>
        </p:nvSpPr>
        <p:spPr>
          <a:xfrm>
            <a:off x="6263640" y="2569464"/>
            <a:ext cx="2560320" cy="512064"/>
          </a:xfrm>
          <a:prstGeom prst="roundRect">
            <a:avLst>
              <a:gd name="adj" fmla="val 17857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Yes, it is!</a:t>
            </a:r>
            <a:endParaRPr lang="en-US" sz="1100" dirty="0"/>
          </a:p>
        </p:txBody>
      </p:sp>
      <p:sp>
        <p:nvSpPr>
          <p:cNvPr id="27" name="bd_380"/>
          <p:cNvSpPr/>
          <p:nvPr/>
        </p:nvSpPr>
        <p:spPr>
          <a:xfrm>
            <a:off x="3246120" y="3236976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8" name="gq_381"/>
          <p:cNvSpPr/>
          <p:nvPr/>
        </p:nvSpPr>
        <p:spPr>
          <a:xfrm>
            <a:off x="3657600" y="3145536"/>
            <a:ext cx="251460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Are my keys on the desk?</a:t>
            </a:r>
            <a:endParaRPr lang="en-US" sz="1100" dirty="0"/>
          </a:p>
        </p:txBody>
      </p:sp>
      <p:sp>
        <p:nvSpPr>
          <p:cNvPr id="29" name="R4_chip382"/>
          <p:cNvSpPr/>
          <p:nvPr/>
        </p:nvSpPr>
        <p:spPr>
          <a:xfrm>
            <a:off x="6263640" y="3145536"/>
            <a:ext cx="2560320" cy="512064"/>
          </a:xfrm>
          <a:prstGeom prst="roundRect">
            <a:avLst>
              <a:gd name="adj" fmla="val 17857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No, they aren't. They're in my pocket.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8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12</a:t>
            </a:r>
            <a:endParaRPr lang="en-US" sz="2200" dirty="0"/>
          </a:p>
        </p:txBody>
      </p:sp>
      <p:pic>
        <p:nvPicPr>
          <p:cNvPr id="4" name="brY_38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348886" cy="621792"/>
          </a:xfrm>
          <a:prstGeom prst="rect">
            <a:avLst/>
          </a:prstGeom>
        </p:spPr>
      </p:pic>
      <p:sp>
        <p:nvSpPr>
          <p:cNvPr id="5" name="title_385"/>
          <p:cNvSpPr/>
          <p:nvPr/>
        </p:nvSpPr>
        <p:spPr>
          <a:xfrm>
            <a:off x="1261872" y="164592"/>
            <a:ext cx="40745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Where are their things?</a:t>
            </a:r>
            <a:endParaRPr lang="en-US" sz="2500" dirty="0"/>
          </a:p>
        </p:txBody>
      </p:sp>
      <p:pic>
        <p:nvPicPr>
          <p:cNvPr id="6" name="brP_38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337560" cy="402336"/>
          </a:xfrm>
          <a:prstGeom prst="rect">
            <a:avLst/>
          </a:prstGeom>
        </p:spPr>
      </p:pic>
      <p:sp>
        <p:nvSpPr>
          <p:cNvPr id="7" name="ins_387"/>
          <p:cNvSpPr/>
          <p:nvPr/>
        </p:nvSpPr>
        <p:spPr>
          <a:xfrm>
            <a:off x="1353312" y="731520"/>
            <a:ext cx="3081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Listen. Number the places 1–3.</a:t>
            </a:r>
            <a:endParaRPr lang="en-US" sz="1250" dirty="0"/>
          </a:p>
        </p:txBody>
      </p:sp>
      <p:sp>
        <p:nvSpPr>
          <p:cNvPr id="8" name="insIT_388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Ascolta. Numera i luoghi 1–3.</a:t>
            </a:r>
            <a:endParaRPr lang="en-US" sz="950" dirty="0"/>
          </a:p>
        </p:txBody>
      </p:sp>
      <p:sp>
        <p:nvSpPr>
          <p:cNvPr id="9" name="cmd_389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300" dirty="0"/>
          </a:p>
        </p:txBody>
      </p:sp>
      <p:sp>
        <p:nvSpPr>
          <p:cNvPr id="10" name="meta_390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👤 alone</a:t>
            </a:r>
            <a:endParaRPr lang="en-US" sz="950" dirty="0"/>
          </a:p>
        </p:txBody>
      </p:sp>
      <p:pic>
        <p:nvPicPr>
          <p:cNvPr id="11" name="logo_39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39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 · Listening · three people   ·   📖 SB p.15 · 5a · audio 2.5 (script SB p.118)</a:t>
            </a:r>
            <a:endParaRPr lang="en-US" sz="800" dirty="0"/>
          </a:p>
        </p:txBody>
      </p:sp>
      <p:sp>
        <p:nvSpPr>
          <p:cNvPr id="13" name="ap_393"/>
          <p:cNvSpPr/>
          <p:nvPr/>
        </p:nvSpPr>
        <p:spPr>
          <a:xfrm>
            <a:off x="365760" y="1417320"/>
            <a:ext cx="26517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0" tIns="12700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2.5  ·  play once</a:t>
            </a:r>
            <a:endParaRPr lang="en-US" sz="1100" dirty="0"/>
          </a:p>
        </p:txBody>
      </p:sp>
      <p:sp>
        <p:nvSpPr>
          <p:cNvPr id="14" name="ah_394"/>
          <p:cNvSpPr/>
          <p:nvPr/>
        </p:nvSpPr>
        <p:spPr>
          <a:xfrm>
            <a:off x="5925312" y="45720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 · 🐢 slower</a:t>
            </a:r>
            <a:endParaRPr lang="en-US" sz="950" dirty="0"/>
          </a:p>
        </p:txBody>
      </p:sp>
      <p:pic>
        <p:nvPicPr>
          <p:cNvPr id="15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7525512" y="4553712"/>
            <a:ext cx="411480" cy="411480"/>
          </a:xfrm>
          <a:prstGeom prst="rect">
            <a:avLst/>
          </a:prstGeom>
        </p:spPr>
      </p:pic>
      <p:pic>
        <p:nvPicPr>
          <p:cNvPr id="16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001000" y="4553712"/>
            <a:ext cx="411480" cy="411480"/>
          </a:xfrm>
          <a:prstGeom prst="rect">
            <a:avLst/>
          </a:prstGeom>
        </p:spPr>
      </p:pic>
      <p:sp>
        <p:nvSpPr>
          <p:cNvPr id="17" name="ah2_395"/>
          <p:cNvSpPr/>
          <p:nvPr/>
        </p:nvSpPr>
        <p:spPr>
          <a:xfrm>
            <a:off x="3090672" y="1417320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↘ speaker bottom right</a:t>
            </a:r>
            <a:endParaRPr lang="en-US" sz="900" dirty="0"/>
          </a:p>
        </p:txBody>
      </p:sp>
      <p:sp>
        <p:nvSpPr>
          <p:cNvPr id="18" name="pf_396"/>
          <p:cNvSpPr/>
          <p:nvPr/>
        </p:nvSpPr>
        <p:spPr>
          <a:xfrm rot="-90000">
            <a:off x="411480" y="2057400"/>
            <a:ext cx="1783080" cy="1325880"/>
          </a:xfrm>
          <a:prstGeom prst="roundRect">
            <a:avLst>
              <a:gd name="adj" fmla="val 117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397" descr="/home/claude/lls-course/v2/cache/red_2a_notebook_jpg_407x297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-90000">
            <a:off x="457200" y="2103120"/>
            <a:ext cx="1691640" cy="1234440"/>
          </a:xfrm>
          <a:prstGeom prst="rect">
            <a:avLst/>
          </a:prstGeom>
        </p:spPr>
      </p:pic>
      <p:sp>
        <p:nvSpPr>
          <p:cNvPr id="20" name="bd_398"/>
          <p:cNvSpPr/>
          <p:nvPr/>
        </p:nvSpPr>
        <p:spPr>
          <a:xfrm>
            <a:off x="310896" y="1956816"/>
            <a:ext cx="420624" cy="42062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</a:t>
            </a:r>
            <a:endParaRPr lang="en-US" sz="1400" dirty="0"/>
          </a:p>
        </p:txBody>
      </p:sp>
      <p:sp>
        <p:nvSpPr>
          <p:cNvPr id="21" name="pf_399"/>
          <p:cNvSpPr/>
          <p:nvPr/>
        </p:nvSpPr>
        <p:spPr>
          <a:xfrm rot="90000">
            <a:off x="2286000" y="2057400"/>
            <a:ext cx="1783080" cy="1325880"/>
          </a:xfrm>
          <a:prstGeom prst="roundRect">
            <a:avLst>
              <a:gd name="adj" fmla="val 117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2" name="ph_400" descr="/home/claude/lls-course/v2/cache/red_2a_tidy_jpg_407x297_31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90000">
            <a:off x="2331720" y="2103120"/>
            <a:ext cx="1691640" cy="1234440"/>
          </a:xfrm>
          <a:prstGeom prst="rect">
            <a:avLst/>
          </a:prstGeom>
        </p:spPr>
      </p:pic>
      <p:sp>
        <p:nvSpPr>
          <p:cNvPr id="23" name="bd_401"/>
          <p:cNvSpPr/>
          <p:nvPr/>
        </p:nvSpPr>
        <p:spPr>
          <a:xfrm>
            <a:off x="2185416" y="1956816"/>
            <a:ext cx="420624" cy="42062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</a:t>
            </a:r>
            <a:endParaRPr lang="en-US" sz="1400" dirty="0"/>
          </a:p>
        </p:txBody>
      </p:sp>
      <p:sp>
        <p:nvSpPr>
          <p:cNvPr id="24" name="pf_402"/>
          <p:cNvSpPr/>
          <p:nvPr/>
        </p:nvSpPr>
        <p:spPr>
          <a:xfrm rot="-90000">
            <a:off x="4160520" y="2057400"/>
            <a:ext cx="1783080" cy="1325880"/>
          </a:xfrm>
          <a:prstGeom prst="roundRect">
            <a:avLst>
              <a:gd name="adj" fmla="val 117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5" name="ph_403" descr="/home/claude/lls-course/v2/cache/red_2a_deskbag_jpg_407x297_31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 rot="-90000">
            <a:off x="4206240" y="2103120"/>
            <a:ext cx="1691640" cy="1234440"/>
          </a:xfrm>
          <a:prstGeom prst="rect">
            <a:avLst/>
          </a:prstGeom>
        </p:spPr>
      </p:pic>
      <p:sp>
        <p:nvSpPr>
          <p:cNvPr id="26" name="bd_404"/>
          <p:cNvSpPr/>
          <p:nvPr/>
        </p:nvSpPr>
        <p:spPr>
          <a:xfrm>
            <a:off x="4059936" y="1956816"/>
            <a:ext cx="420624" cy="42062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</a:t>
            </a:r>
            <a:endParaRPr lang="en-US" sz="1400" dirty="0"/>
          </a:p>
        </p:txBody>
      </p:sp>
      <p:sp>
        <p:nvSpPr>
          <p:cNvPr id="27" name="cd_405"/>
          <p:cNvSpPr/>
          <p:nvPr/>
        </p:nvSpPr>
        <p:spPr>
          <a:xfrm>
            <a:off x="365760" y="3611880"/>
            <a:ext cx="5440680" cy="1097280"/>
          </a:xfrm>
          <a:prstGeom prst="roundRect">
            <a:avLst>
              <a:gd name="adj" fmla="val 11667"/>
            </a:avLst>
          </a:prstGeom>
          <a:solidFill>
            <a:srgbClr val="E3F1FD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8" name="ii_406"/>
          <p:cNvSpPr/>
          <p:nvPr/>
        </p:nvSpPr>
        <p:spPr>
          <a:xfrm>
            <a:off x="457200" y="3685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🎧</a:t>
            </a:r>
            <a:endParaRPr lang="en-US" sz="2200" dirty="0"/>
          </a:p>
        </p:txBody>
      </p:sp>
      <p:sp>
        <p:nvSpPr>
          <p:cNvPr id="29" name="ih_407"/>
          <p:cNvSpPr/>
          <p:nvPr/>
        </p:nvSpPr>
        <p:spPr>
          <a:xfrm>
            <a:off x="932688" y="37033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While you listen</a:t>
            </a:r>
            <a:endParaRPr lang="en-US" sz="1300" dirty="0"/>
          </a:p>
        </p:txBody>
      </p:sp>
      <p:sp>
        <p:nvSpPr>
          <p:cNvPr id="30" name="il_408"/>
          <p:cNvSpPr/>
          <p:nvPr/>
        </p:nvSpPr>
        <p:spPr>
          <a:xfrm>
            <a:off x="932688" y="4087368"/>
            <a:ext cx="4782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Listen to three people.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are their things? Number the places 1–3.</a:t>
            </a:r>
            <a:endParaRPr lang="en-US" sz="1100" dirty="0"/>
          </a:p>
        </p:txBody>
      </p:sp>
      <p:sp>
        <p:nvSpPr>
          <p:cNvPr id="31" name="lq_409"/>
          <p:cNvSpPr/>
          <p:nvPr/>
        </p:nvSpPr>
        <p:spPr>
          <a:xfrm>
            <a:off x="6035040" y="2103120"/>
            <a:ext cx="12344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7620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 her bag</a:t>
            </a:r>
            <a:endParaRPr lang="en-US" sz="1100" dirty="0"/>
          </a:p>
        </p:txBody>
      </p:sp>
      <p:sp>
        <p:nvSpPr>
          <p:cNvPr id="32" name="R1_chip410"/>
          <p:cNvSpPr/>
          <p:nvPr/>
        </p:nvSpPr>
        <p:spPr>
          <a:xfrm>
            <a:off x="7315200" y="2103120"/>
            <a:ext cx="155448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050" dirty="0"/>
          </a:p>
        </p:txBody>
      </p:sp>
      <p:sp>
        <p:nvSpPr>
          <p:cNvPr id="33" name="lq_411"/>
          <p:cNvSpPr/>
          <p:nvPr/>
        </p:nvSpPr>
        <p:spPr>
          <a:xfrm>
            <a:off x="6035040" y="2761488"/>
            <a:ext cx="12344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7620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 his desk</a:t>
            </a:r>
            <a:endParaRPr lang="en-US" sz="1100" dirty="0"/>
          </a:p>
        </p:txBody>
      </p:sp>
      <p:sp>
        <p:nvSpPr>
          <p:cNvPr id="34" name="R2_chip412"/>
          <p:cNvSpPr/>
          <p:nvPr/>
        </p:nvSpPr>
        <p:spPr>
          <a:xfrm>
            <a:off x="7315200" y="2761488"/>
            <a:ext cx="155448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050" dirty="0"/>
          </a:p>
        </p:txBody>
      </p:sp>
      <p:sp>
        <p:nvSpPr>
          <p:cNvPr id="35" name="lq_413"/>
          <p:cNvSpPr/>
          <p:nvPr/>
        </p:nvSpPr>
        <p:spPr>
          <a:xfrm>
            <a:off x="6035040" y="3419856"/>
            <a:ext cx="12344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7620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 her study</a:t>
            </a:r>
            <a:endParaRPr lang="en-US" sz="1100" dirty="0"/>
          </a:p>
        </p:txBody>
      </p:sp>
      <p:sp>
        <p:nvSpPr>
          <p:cNvPr id="36" name="R3_chip414"/>
          <p:cNvSpPr/>
          <p:nvPr/>
        </p:nvSpPr>
        <p:spPr>
          <a:xfrm>
            <a:off x="7315200" y="3419856"/>
            <a:ext cx="155448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8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2" dur="1" fill="hold"/>
                                        <p:tgtEl>
                                          <p:spTgt spid="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seq concurrent="1" nextAc="seek">
              <p:cTn id="23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7" dur="1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audio>
              <p:cMediaNode vol="80000">
                <p:cTn id="2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5"/>
                </p:tgtEl>
              </p:cMediaNode>
            </p:audio>
            <p:audio>
              <p:cMediaNode vol="80000">
                <p:cTn id="2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6"/>
                </p:tgtEl>
              </p:cMediaNode>
            </p:audio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1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13</a:t>
            </a:r>
            <a:endParaRPr lang="en-US" sz="2200" dirty="0"/>
          </a:p>
        </p:txBody>
      </p:sp>
      <p:pic>
        <p:nvPicPr>
          <p:cNvPr id="4" name="brY_41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562502" cy="621792"/>
          </a:xfrm>
          <a:prstGeom prst="rect">
            <a:avLst/>
          </a:prstGeom>
        </p:spPr>
      </p:pic>
      <p:sp>
        <p:nvSpPr>
          <p:cNvPr id="5" name="title_417"/>
          <p:cNvSpPr/>
          <p:nvPr/>
        </p:nvSpPr>
        <p:spPr>
          <a:xfrm>
            <a:off x="1261872" y="164592"/>
            <a:ext cx="3288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 do they have?</a:t>
            </a:r>
            <a:endParaRPr lang="en-US" sz="2500" dirty="0"/>
          </a:p>
        </p:txBody>
      </p:sp>
      <p:pic>
        <p:nvPicPr>
          <p:cNvPr id="6" name="brP_41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814316" cy="402336"/>
          </a:xfrm>
          <a:prstGeom prst="rect">
            <a:avLst/>
          </a:prstGeom>
        </p:spPr>
      </p:pic>
      <p:sp>
        <p:nvSpPr>
          <p:cNvPr id="7" name="ins_419"/>
          <p:cNvSpPr/>
          <p:nvPr/>
        </p:nvSpPr>
        <p:spPr>
          <a:xfrm>
            <a:off x="1353312" y="731520"/>
            <a:ext cx="45582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 again. Write the things each person has.</a:t>
            </a:r>
            <a:endParaRPr lang="en-US" sz="1250" dirty="0"/>
          </a:p>
        </p:txBody>
      </p:sp>
      <p:sp>
        <p:nvSpPr>
          <p:cNvPr id="8" name="insIT_420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Riascolta. Scrivi le cose di ogni persona.</a:t>
            </a:r>
            <a:endParaRPr lang="en-US" sz="950" dirty="0"/>
          </a:p>
        </p:txBody>
      </p:sp>
      <p:sp>
        <p:nvSpPr>
          <p:cNvPr id="9" name="cmd_421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300" dirty="0"/>
          </a:p>
        </p:txBody>
      </p:sp>
      <p:sp>
        <p:nvSpPr>
          <p:cNvPr id="10" name="cmd_422"/>
          <p:cNvSpPr/>
          <p:nvPr/>
        </p:nvSpPr>
        <p:spPr>
          <a:xfrm>
            <a:off x="6583680" y="566928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✍️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WRITE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SCRIVI</a:t>
            </a:r>
            <a:endParaRPr lang="en-US" sz="1300" dirty="0"/>
          </a:p>
        </p:txBody>
      </p:sp>
      <p:sp>
        <p:nvSpPr>
          <p:cNvPr id="11" name="meta_423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pic>
        <p:nvPicPr>
          <p:cNvPr id="12" name="logo_42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42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 · Listening · detail   ·   📖 SB p.15 · 5b · audio 2.5</a:t>
            </a:r>
            <a:endParaRPr lang="en-US" sz="800" dirty="0"/>
          </a:p>
        </p:txBody>
      </p:sp>
      <p:sp>
        <p:nvSpPr>
          <p:cNvPr id="14" name="ap_426"/>
          <p:cNvSpPr/>
          <p:nvPr/>
        </p:nvSpPr>
        <p:spPr>
          <a:xfrm>
            <a:off x="365760" y="141732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0" tIns="12700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2.5  ·  play again</a:t>
            </a:r>
            <a:endParaRPr lang="en-US" sz="1100" dirty="0"/>
          </a:p>
        </p:txBody>
      </p:sp>
      <p:sp>
        <p:nvSpPr>
          <p:cNvPr id="15" name="ah_427"/>
          <p:cNvSpPr/>
          <p:nvPr/>
        </p:nvSpPr>
        <p:spPr>
          <a:xfrm>
            <a:off x="5925312" y="45720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 · 🐢 slower</a:t>
            </a:r>
            <a:endParaRPr lang="en-US" sz="950" dirty="0"/>
          </a:p>
        </p:txBody>
      </p:sp>
      <p:pic>
        <p:nvPicPr>
          <p:cNvPr id="16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7525512" y="4553712"/>
            <a:ext cx="411480" cy="411480"/>
          </a:xfrm>
          <a:prstGeom prst="rect">
            <a:avLst/>
          </a:prstGeom>
        </p:spPr>
      </p:pic>
      <p:pic>
        <p:nvPicPr>
          <p:cNvPr id="17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001000" y="4553712"/>
            <a:ext cx="411480" cy="411480"/>
          </a:xfrm>
          <a:prstGeom prst="rect">
            <a:avLst/>
          </a:prstGeom>
        </p:spPr>
      </p:pic>
      <p:sp>
        <p:nvSpPr>
          <p:cNvPr id="18" name="pf_428"/>
          <p:cNvSpPr/>
          <p:nvPr/>
        </p:nvSpPr>
        <p:spPr>
          <a:xfrm rot="-90000">
            <a:off x="411480" y="2057400"/>
            <a:ext cx="2697480" cy="1783080"/>
          </a:xfrm>
          <a:prstGeom prst="roundRect">
            <a:avLst>
              <a:gd name="adj" fmla="val 87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429" descr="/home/claude/lls-course/v2/cache/red_2a_untidy_jpg_627x407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-90000">
            <a:off x="457200" y="2103120"/>
            <a:ext cx="2606040" cy="1691640"/>
          </a:xfrm>
          <a:prstGeom prst="rect">
            <a:avLst/>
          </a:prstGeom>
        </p:spPr>
      </p:pic>
      <p:sp>
        <p:nvSpPr>
          <p:cNvPr id="20" name="cd_430"/>
          <p:cNvSpPr/>
          <p:nvPr/>
        </p:nvSpPr>
        <p:spPr>
          <a:xfrm>
            <a:off x="320040" y="4023360"/>
            <a:ext cx="2788920" cy="731520"/>
          </a:xfrm>
          <a:prstGeom prst="roundRect">
            <a:avLst>
              <a:gd name="adj" fmla="val 175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ii_431"/>
          <p:cNvSpPr/>
          <p:nvPr/>
        </p:nvSpPr>
        <p:spPr>
          <a:xfrm>
            <a:off x="41148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2" name="ih_432"/>
          <p:cNvSpPr/>
          <p:nvPr/>
        </p:nvSpPr>
        <p:spPr>
          <a:xfrm>
            <a:off x="886968" y="4114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first, then listen!</a:t>
            </a:r>
            <a:endParaRPr lang="en-US" sz="1200" dirty="0"/>
          </a:p>
        </p:txBody>
      </p:sp>
      <p:sp>
        <p:nvSpPr>
          <p:cNvPr id="23" name="il_433"/>
          <p:cNvSpPr/>
          <p:nvPr/>
        </p:nvSpPr>
        <p:spPr>
          <a:xfrm>
            <a:off x="886968" y="4498848"/>
            <a:ext cx="2130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24" name="gq_434"/>
          <p:cNvSpPr/>
          <p:nvPr/>
        </p:nvSpPr>
        <p:spPr>
          <a:xfrm>
            <a:off x="3383280" y="141732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Speaker 1 – on his desk (6 things)</a:t>
            </a:r>
            <a:endParaRPr lang="en-US" sz="1200" dirty="0"/>
          </a:p>
        </p:txBody>
      </p:sp>
      <p:sp>
        <p:nvSpPr>
          <p:cNvPr id="25" name="R1_chip435"/>
          <p:cNvSpPr/>
          <p:nvPr/>
        </p:nvSpPr>
        <p:spPr>
          <a:xfrm>
            <a:off x="6812280" y="141732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computer, pens, pieces of paper, a lamp, a photo, a phone</a:t>
            </a:r>
            <a:endParaRPr lang="en-US" sz="1200" dirty="0"/>
          </a:p>
        </p:txBody>
      </p:sp>
      <p:sp>
        <p:nvSpPr>
          <p:cNvPr id="26" name="gq_436"/>
          <p:cNvSpPr/>
          <p:nvPr/>
        </p:nvSpPr>
        <p:spPr>
          <a:xfrm>
            <a:off x="3383280" y="1938528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Speaker 2 – in her study (6 things)</a:t>
            </a:r>
            <a:endParaRPr lang="en-US" sz="1200" dirty="0"/>
          </a:p>
        </p:txBody>
      </p:sp>
      <p:sp>
        <p:nvSpPr>
          <p:cNvPr id="27" name="R2_chip437"/>
          <p:cNvSpPr/>
          <p:nvPr/>
        </p:nvSpPr>
        <p:spPr>
          <a:xfrm>
            <a:off x="6812280" y="1938528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desk, a table, two chairs, books, a dictionary, a map</a:t>
            </a:r>
            <a:endParaRPr lang="en-US" sz="1200" dirty="0"/>
          </a:p>
        </p:txBody>
      </p:sp>
      <p:sp>
        <p:nvSpPr>
          <p:cNvPr id="28" name="gq_438"/>
          <p:cNvSpPr/>
          <p:nvPr/>
        </p:nvSpPr>
        <p:spPr>
          <a:xfrm>
            <a:off x="3383280" y="2459736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Speaker 3 – in her bag (6 things)</a:t>
            </a:r>
            <a:endParaRPr lang="en-US" sz="1200" dirty="0"/>
          </a:p>
        </p:txBody>
      </p:sp>
      <p:sp>
        <p:nvSpPr>
          <p:cNvPr id="29" name="R3_chip439"/>
          <p:cNvSpPr/>
          <p:nvPr/>
        </p:nvSpPr>
        <p:spPr>
          <a:xfrm>
            <a:off x="6812280" y="2459736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phone, a charger, sunglasses, tissues, keys, a purse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8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2" dur="1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seq concurrent="1" nextAc="seek">
              <p:cTn id="23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7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  <p:audio>
              <p:cMediaNode vol="80000">
                <p:cTn id="2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6"/>
                </p:tgtEl>
              </p:cMediaNode>
            </p:audio>
            <p:audio>
              <p:cMediaNode vol="80000">
                <p:cTn id="2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7"/>
                </p:tgtEl>
              </p:cMediaNode>
            </p:audio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4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14</a:t>
            </a:r>
            <a:endParaRPr lang="en-US" sz="2200" dirty="0"/>
          </a:p>
        </p:txBody>
      </p:sp>
      <p:pic>
        <p:nvPicPr>
          <p:cNvPr id="4" name="brY_44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442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What's in your bag?</a:t>
            </a:r>
            <a:endParaRPr lang="en-US" sz="2500" dirty="0"/>
          </a:p>
        </p:txBody>
      </p:sp>
      <p:pic>
        <p:nvPicPr>
          <p:cNvPr id="6" name="brP_44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682996" cy="402336"/>
          </a:xfrm>
          <a:prstGeom prst="rect">
            <a:avLst/>
          </a:prstGeom>
        </p:spPr>
      </p:pic>
      <p:sp>
        <p:nvSpPr>
          <p:cNvPr id="7" name="ins_444"/>
          <p:cNvSpPr/>
          <p:nvPr/>
        </p:nvSpPr>
        <p:spPr>
          <a:xfrm>
            <a:off x="1353312" y="731520"/>
            <a:ext cx="54269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Tell your partner what's in your bag. Use a/an + plurals.</a:t>
            </a:r>
            <a:endParaRPr lang="en-US" sz="1250" dirty="0"/>
          </a:p>
        </p:txBody>
      </p:sp>
      <p:sp>
        <p:nvSpPr>
          <p:cNvPr id="8" name="insIT_445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Di' al compagno cosa c'è nella tua borsa.</a:t>
            </a:r>
            <a:endParaRPr lang="en-US" sz="950" dirty="0"/>
          </a:p>
        </p:txBody>
      </p:sp>
      <p:sp>
        <p:nvSpPr>
          <p:cNvPr id="9" name="cmd_446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300" dirty="0"/>
          </a:p>
        </p:txBody>
      </p:sp>
      <p:sp>
        <p:nvSpPr>
          <p:cNvPr id="10" name="meta_447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👥 pairs</a:t>
            </a:r>
            <a:endParaRPr lang="en-US" sz="950" dirty="0"/>
          </a:p>
        </p:txBody>
      </p:sp>
      <p:pic>
        <p:nvPicPr>
          <p:cNvPr id="11" name="logo_44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44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 · Speaking · your bag and desk   ·   📖 SB p.15 · 5c</a:t>
            </a:r>
            <a:endParaRPr lang="en-US" sz="800" dirty="0"/>
          </a:p>
        </p:txBody>
      </p:sp>
      <p:sp>
        <p:nvSpPr>
          <p:cNvPr id="13" name="pf_450"/>
          <p:cNvSpPr/>
          <p:nvPr/>
        </p:nvSpPr>
        <p:spPr>
          <a:xfrm rot="-120000">
            <a:off x="320040" y="1371600"/>
            <a:ext cx="2788920" cy="1874520"/>
          </a:xfrm>
          <a:prstGeom prst="roundRect">
            <a:avLst>
              <a:gd name="adj" fmla="val 82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4" name="ph_451" descr="/home/claude/lls-course/v2/cache/red_2a_deskbag_jpg_649x42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365760" y="1417320"/>
            <a:ext cx="2697480" cy="1783080"/>
          </a:xfrm>
          <a:prstGeom prst="rect">
            <a:avLst/>
          </a:prstGeom>
        </p:spPr>
      </p:pic>
      <p:sp>
        <p:nvSpPr>
          <p:cNvPr id="15" name="cd_452"/>
          <p:cNvSpPr/>
          <p:nvPr/>
        </p:nvSpPr>
        <p:spPr>
          <a:xfrm>
            <a:off x="320040" y="3429000"/>
            <a:ext cx="2788920" cy="1325880"/>
          </a:xfrm>
          <a:prstGeom prst="roundRect">
            <a:avLst>
              <a:gd name="adj" fmla="val 9655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453"/>
          <p:cNvSpPr/>
          <p:nvPr/>
        </p:nvSpPr>
        <p:spPr>
          <a:xfrm>
            <a:off x="411480" y="3502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7" name="ih_454"/>
          <p:cNvSpPr/>
          <p:nvPr/>
        </p:nvSpPr>
        <p:spPr>
          <a:xfrm>
            <a:off x="886968" y="3520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8" name="il_455"/>
          <p:cNvSpPr/>
          <p:nvPr/>
        </p:nvSpPr>
        <p:spPr>
          <a:xfrm>
            <a:off x="886968" y="3904488"/>
            <a:ext cx="213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my bag I have a…, two…, some…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My … is / are in / on / under…</a:t>
            </a:r>
            <a:endParaRPr lang="en-US" sz="10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Really? Me too! · I don't have a…</a:t>
            </a:r>
            <a:endParaRPr lang="en-US" sz="1050" dirty="0"/>
          </a:p>
        </p:txBody>
      </p:sp>
      <p:sp>
        <p:nvSpPr>
          <p:cNvPr id="19" name="R1_qb456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R1_sq457"/>
          <p:cNvSpPr/>
          <p:nvPr/>
        </p:nvSpPr>
        <p:spPr>
          <a:xfrm>
            <a:off x="3675888" y="1417320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25400" tIns="1270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What's in your bag? Name 5 things.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In my bag I have a purse, keys, my phone, tissues and a pen.</a:t>
            </a:r>
            <a:endParaRPr lang="en-US" sz="1250" dirty="0"/>
          </a:p>
        </p:txBody>
      </p:sp>
      <p:sp>
        <p:nvSpPr>
          <p:cNvPr id="21" name="R2_qb458"/>
          <p:cNvSpPr/>
          <p:nvPr/>
        </p:nvSpPr>
        <p:spPr>
          <a:xfrm>
            <a:off x="3273552" y="2057400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2" name="R2_sq459"/>
          <p:cNvSpPr/>
          <p:nvPr/>
        </p:nvSpPr>
        <p:spPr>
          <a:xfrm>
            <a:off x="3675888" y="2020824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25400" tIns="1270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 are your keys now?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They're in my pocket.</a:t>
            </a:r>
            <a:endParaRPr lang="en-US" sz="1250" dirty="0"/>
          </a:p>
        </p:txBody>
      </p:sp>
      <p:sp>
        <p:nvSpPr>
          <p:cNvPr id="23" name="R3_qb460"/>
          <p:cNvSpPr/>
          <p:nvPr/>
        </p:nvSpPr>
        <p:spPr>
          <a:xfrm>
            <a:off x="3273552" y="266090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R3_sq461"/>
          <p:cNvSpPr/>
          <p:nvPr/>
        </p:nvSpPr>
        <p:spPr>
          <a:xfrm>
            <a:off x="3675888" y="2624328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25400" tIns="1270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What's on your desk at home?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There's a laptop, some books and a lamp on my desk.</a:t>
            </a:r>
            <a:endParaRPr lang="en-US" sz="1250" dirty="0"/>
          </a:p>
        </p:txBody>
      </p:sp>
      <p:sp>
        <p:nvSpPr>
          <p:cNvPr id="25" name="R4_qb462"/>
          <p:cNvSpPr/>
          <p:nvPr/>
        </p:nvSpPr>
        <p:spPr>
          <a:xfrm>
            <a:off x="3273552" y="3264408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R4_sq463"/>
          <p:cNvSpPr/>
          <p:nvPr/>
        </p:nvSpPr>
        <p:spPr>
          <a:xfrm>
            <a:off x="3675888" y="3227832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25400" tIns="1270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your desk tidy or untidy? Why?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It's untidy – there are papers everywhere!</a:t>
            </a:r>
            <a:endParaRPr lang="en-US" sz="1250" dirty="0"/>
          </a:p>
        </p:txBody>
      </p:sp>
      <p:sp>
        <p:nvSpPr>
          <p:cNvPr id="27" name="R5_qb464"/>
          <p:cNvSpPr/>
          <p:nvPr/>
        </p:nvSpPr>
        <p:spPr>
          <a:xfrm>
            <a:off x="3273552" y="3867912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R5_sq465"/>
          <p:cNvSpPr/>
          <p:nvPr/>
        </p:nvSpPr>
        <p:spPr>
          <a:xfrm>
            <a:off x="3675888" y="3831336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25400" tIns="1270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Extension: what do you always lose?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I always lose my glasses! They're usually on my head.</a:t>
            </a:r>
            <a:endParaRPr lang="en-US" sz="12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6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15</a:t>
            </a:r>
            <a:endParaRPr lang="en-US" sz="2200" dirty="0"/>
          </a:p>
        </p:txBody>
      </p:sp>
      <p:pic>
        <p:nvPicPr>
          <p:cNvPr id="4" name="brY_46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468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 · 2 · 1</a:t>
            </a:r>
            <a:endParaRPr lang="en-US" sz="2500" dirty="0"/>
          </a:p>
        </p:txBody>
      </p:sp>
      <p:pic>
        <p:nvPicPr>
          <p:cNvPr id="6" name="brP_46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470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Books closed! What can you remember?</a:t>
            </a:r>
            <a:endParaRPr lang="en-US" sz="1250" dirty="0"/>
          </a:p>
        </p:txBody>
      </p:sp>
      <p:sp>
        <p:nvSpPr>
          <p:cNvPr id="8" name="insIT_471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Libri chiusi! Cosa ricordi?</a:t>
            </a:r>
            <a:endParaRPr lang="en-US" sz="950" dirty="0"/>
          </a:p>
        </p:txBody>
      </p:sp>
      <p:sp>
        <p:nvSpPr>
          <p:cNvPr id="9" name="meta_472"/>
          <p:cNvSpPr/>
          <p:nvPr/>
        </p:nvSpPr>
        <p:spPr>
          <a:xfrm>
            <a:off x="6583680" y="182880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pic>
        <p:nvPicPr>
          <p:cNvPr id="10" name="logo_47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47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 · Exit · what can you remember?</a:t>
            </a:r>
            <a:endParaRPr lang="en-US" sz="800" dirty="0"/>
          </a:p>
        </p:txBody>
      </p:sp>
      <p:sp>
        <p:nvSpPr>
          <p:cNvPr id="12" name="bd_475"/>
          <p:cNvSpPr/>
          <p:nvPr/>
        </p:nvSpPr>
        <p:spPr>
          <a:xfrm>
            <a:off x="457200" y="1508760"/>
            <a:ext cx="777240" cy="77724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600" dirty="0"/>
          </a:p>
        </p:txBody>
      </p:sp>
      <p:sp>
        <p:nvSpPr>
          <p:cNvPr id="13" name="rt_476"/>
          <p:cNvSpPr/>
          <p:nvPr/>
        </p:nvSpPr>
        <p:spPr>
          <a:xfrm>
            <a:off x="1417320" y="158191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5240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things in your bag: a/an or plural</a:t>
            </a:r>
            <a:endParaRPr lang="en-US" sz="1400" dirty="0"/>
          </a:p>
        </p:txBody>
      </p:sp>
      <p:sp>
        <p:nvSpPr>
          <p:cNvPr id="14" name="bd_477"/>
          <p:cNvSpPr/>
          <p:nvPr/>
        </p:nvSpPr>
        <p:spPr>
          <a:xfrm>
            <a:off x="457200" y="2468880"/>
            <a:ext cx="777240" cy="777240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600" dirty="0"/>
          </a:p>
        </p:txBody>
      </p:sp>
      <p:sp>
        <p:nvSpPr>
          <p:cNvPr id="15" name="rt_478"/>
          <p:cNvSpPr/>
          <p:nvPr/>
        </p:nvSpPr>
        <p:spPr>
          <a:xfrm>
            <a:off x="1417320" y="254203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5240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plurals with /ɪz/ (glasses…)</a:t>
            </a:r>
            <a:endParaRPr lang="en-US" sz="1400" dirty="0"/>
          </a:p>
        </p:txBody>
      </p:sp>
      <p:sp>
        <p:nvSpPr>
          <p:cNvPr id="16" name="bd_479"/>
          <p:cNvSpPr/>
          <p:nvPr/>
        </p:nvSpPr>
        <p:spPr>
          <a:xfrm>
            <a:off x="457200" y="3429000"/>
            <a:ext cx="777240" cy="777240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2600" dirty="0"/>
          </a:p>
        </p:txBody>
      </p:sp>
      <p:sp>
        <p:nvSpPr>
          <p:cNvPr id="17" name="rt_480"/>
          <p:cNvSpPr/>
          <p:nvPr/>
        </p:nvSpPr>
        <p:spPr>
          <a:xfrm>
            <a:off x="1417320" y="350215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5240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sentence with in, on or under</a:t>
            </a:r>
            <a:endParaRPr lang="en-US" sz="1400" dirty="0"/>
          </a:p>
        </p:txBody>
      </p:sp>
      <p:sp>
        <p:nvSpPr>
          <p:cNvPr id="18" name="cd_481"/>
          <p:cNvSpPr/>
          <p:nvPr/>
        </p:nvSpPr>
        <p:spPr>
          <a:xfrm>
            <a:off x="5669280" y="1417320"/>
            <a:ext cx="3200400" cy="2286000"/>
          </a:xfrm>
          <a:prstGeom prst="roundRect">
            <a:avLst>
              <a:gd name="adj" fmla="val 56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ii_482"/>
          <p:cNvSpPr/>
          <p:nvPr/>
        </p:nvSpPr>
        <p:spPr>
          <a:xfrm>
            <a:off x="576072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0" name="ih_483"/>
          <p:cNvSpPr/>
          <p:nvPr/>
        </p:nvSpPr>
        <p:spPr>
          <a:xfrm>
            <a:off x="6236208" y="1508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Homework · Compiti</a:t>
            </a:r>
            <a:endParaRPr lang="en-US" sz="1400" dirty="0"/>
          </a:p>
        </p:txBody>
      </p:sp>
      <p:sp>
        <p:nvSpPr>
          <p:cNvPr id="21" name="il_484"/>
          <p:cNvSpPr/>
          <p:nvPr/>
        </p:nvSpPr>
        <p:spPr>
          <a:xfrm>
            <a:off x="6236208" y="1892808"/>
            <a:ext cx="254203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Workbook 2A: 1a, 1b, 2a, 2b, 2c</a:t>
            </a:r>
            <a:endParaRPr lang="en-US" sz="11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Workbook 2A: 2e (where are the things?)</a:t>
            </a:r>
            <a:endParaRPr lang="en-US" sz="11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Write: 5 things in your bag and where they are</a:t>
            </a:r>
            <a:endParaRPr lang="en-US" sz="1150" dirty="0"/>
          </a:p>
        </p:txBody>
      </p:sp>
      <p:sp>
        <p:nvSpPr>
          <p:cNvPr id="22" name="st_485"/>
          <p:cNvSpPr/>
          <p:nvPr/>
        </p:nvSpPr>
        <p:spPr>
          <a:xfrm rot="-180000">
            <a:off x="5806440" y="3931920"/>
            <a:ext cx="2926080" cy="68580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Next lesson: 2B · Made in America · colours and adjectives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2A Are you tidy or untidy?</dc:title>
  <dc:subject>PptxGenJS Presentation</dc:subject>
  <dc:creator>PptxGenJS</dc:creator>
  <cp:lastModifiedBy>PptxGenJS</cp:lastModifiedBy>
  <cp:revision>1</cp:revision>
  <dcterms:created xsi:type="dcterms:W3CDTF">2026-10-09T10:01:16Z</dcterms:created>
  <dcterms:modified xsi:type="dcterms:W3CDTF">2026-10-09T10:01:16Z</dcterms:modified>
</cp:coreProperties>
</file>