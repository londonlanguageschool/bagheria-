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1. OPENING (2 min)
Show the photo. Teach tidy / untidy with gestures (put your things in order / mess them up). Ask the question; students answer 'tidy' or 'untidy'. Click: the example. Read 'Today you're going to…' together.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2. Revision · last lesson (3 min)
REVISION (3 min). Read the examples together. Point at things in the room: 'What's this?' – students answer 'It's a desk.' Then 'How do you spell desk?' (D-E-S-K). This leads straight into today: more THINGS.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3. Warmer · alphabet + things (3 min)
WARMER (3 min). Demo: spell C-H-A-I-R, a student writes it on the board. Click once per word. Watch the letters Italians mix up: E /iː/ vs I /aɪ/, A /eɪ/ vs E, G /dʒiː/ vs J /dʒeɪ/.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4. Lead-in · Room A (4 min)
LEAD-IN (3 min). Pairs answer, click once per question. Pin positions are approximate (the photo is a crop of the book page). Then show room B on the next slide: 'Is it tidy?' (no!).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5. Vocabulary · things (6 min)
ELICIT FIRST (5 min). Point to the emoji; pairs write a/an + word, then click once per line. Model and drill each word. Problem words for Italians: purse (borsellino) ≠ 'borsa' (= bag); wallet = portafoglio; diary = agenda (NOT diario, a personal diary – 'diary' in British English is mainly an agenda); glasses / headphones / scissors are ALWAYS plural. Next slide: Italian.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6. Vocabulary · English, then Italian (3 min)
CONSOLIDATION (3 min, owner rule 5). Students explain each word in simple English first (click 1 shows the English meaning), then click 2 shows the Italian.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7. Grammar · plurals (4 min)
GUIDED DISCOVERY (4 min). Pairs decide, click once per word. Elicit the rules: + es after s, ss, sh, ch, x · consonant + y → ies (diary → diaries, but key → keys: vowel + y). Then ask: 'Why a pen but AN umbrella?' (an before a vowel SOUND: an umbrella, an identity card).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8. Grammar · singular and plural nouns (4 min)
CLARIFY (4 min). Elicit each column before clicking. Italian learners: adjectives never take -s in English (two new pens, NOT news pens) – mention it here because it comes in 2B.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9. Pronunciation · final -s and -es (6 min)
PRONUNCIATION (5 min). RULE first (owner rule 13): -es is an EXTRA syllable /ɪz/ only after the sounds s, z, sh, ch, j (ce, ge, se, sh, ch, x): glasses, purses, watches, boxes, pages, pieces. After p, t, k, f → /s/ (books, lamps, tickets). After other sounds → /z/ (keys, pens, phones, files). The /s/–/z/ difference is small; the /ɪz/ syllable matters. Italians often add /ɪz/ everywhere ('file-es', 'phone-es') – drill: files /faɪlz/ = ONE syllable. Book answers (2.4, -es = /ɪz/): classes, boxes, pages, pieces; NOT files, headphones, tissues, phones.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10. Vocabulary · in, on, under (4 min)
PRESENT + PRACTISE (4 min). Show in / on / under with a pen and a bag first. Students write, click once per answer. Answers 1–3 from the book photos (glasses on the notebook, cards in the wallet, bag under the desk).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11. Game · in, on, under (6 min)
GAME (5 min). Model with a strong student first (click to show the example exchange, one line per click). Then pairs play 3 rounds each. Extra challenge: plural things – 'Are my keys…? / Are my glasses…?' (They are…).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12. Speaking · your bag and desk (8 min)
FREER PRACTICE (6 min). Questions appear one per click; model each with your own answer. Monitor for a/an, plural -s and in/on/under. Delayed correction (2 min) at the end. When the red-book audio 2.5 arrives, the book listening (three people: in her bag / on his desk / in her study) can go before this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13. Exit · what can you remember? (3 min)
RETRIEVAL EXIT (2 min). Set homework (Workbook 2A, pages 12–13 of the Workbook).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jpe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jpe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jpe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jpe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jpe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jpe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jpe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jpe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image" Target="../media/image-8-7.png"/><Relationship Id="rId8" Type="http://schemas.openxmlformats.org/officeDocument/2006/relationships/image" Target="../media/image-8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jpe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jpe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jpe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jpe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jpe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rs_1"/>
          <p:cNvSpPr/>
          <p:nvPr/>
        </p:nvSpPr>
        <p:spPr>
          <a:xfrm>
            <a:off x="411480" y="292608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English File Elementary · SB pp.14–15</a:t>
            </a:r>
            <a:endParaRPr lang="en-US" sz="1000" dirty="0"/>
          </a:p>
        </p:txBody>
      </p:sp>
      <p:sp>
        <p:nvSpPr>
          <p:cNvPr id="4" name="bd_2"/>
          <p:cNvSpPr/>
          <p:nvPr/>
        </p:nvSpPr>
        <p:spPr>
          <a:xfrm>
            <a:off x="365760" y="640080"/>
            <a:ext cx="1051560" cy="1051560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2A</a:t>
            </a:r>
            <a:endParaRPr lang="en-US" sz="2800" dirty="0"/>
          </a:p>
        </p:txBody>
      </p:sp>
      <p:pic>
        <p:nvPicPr>
          <p:cNvPr id="5" name="bry_3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3040" y="713232"/>
            <a:ext cx="3566160" cy="868680"/>
          </a:xfrm>
          <a:prstGeom prst="rect">
            <a:avLst/>
          </a:prstGeom>
        </p:spPr>
      </p:pic>
      <p:sp>
        <p:nvSpPr>
          <p:cNvPr id="6" name="t_4"/>
          <p:cNvSpPr/>
          <p:nvPr/>
        </p:nvSpPr>
        <p:spPr>
          <a:xfrm>
            <a:off x="1645920" y="731520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Are you tidy or untidy?</a:t>
            </a:r>
            <a:endParaRPr lang="en-US" sz="1900" dirty="0"/>
          </a:p>
        </p:txBody>
      </p:sp>
      <p:pic>
        <p:nvPicPr>
          <p:cNvPr id="7" name="brp_5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4480" y="1517904"/>
            <a:ext cx="3017520" cy="384048"/>
          </a:xfrm>
          <a:prstGeom prst="rect">
            <a:avLst/>
          </a:prstGeom>
        </p:spPr>
      </p:pic>
      <p:sp>
        <p:nvSpPr>
          <p:cNvPr id="8" name="st_6"/>
          <p:cNvSpPr/>
          <p:nvPr/>
        </p:nvSpPr>
        <p:spPr>
          <a:xfrm>
            <a:off x="1691640" y="1517904"/>
            <a:ext cx="2834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Things, plurals, in/on/under</a:t>
            </a:r>
            <a:endParaRPr lang="en-US" sz="1250" dirty="0"/>
          </a:p>
        </p:txBody>
      </p:sp>
      <p:sp>
        <p:nvSpPr>
          <p:cNvPr id="9" name="cd_7"/>
          <p:cNvSpPr/>
          <p:nvPr/>
        </p:nvSpPr>
        <p:spPr>
          <a:xfrm>
            <a:off x="365760" y="2148840"/>
            <a:ext cx="4206240" cy="1691640"/>
          </a:xfrm>
          <a:prstGeom prst="roundRect">
            <a:avLst>
              <a:gd name="adj" fmla="val 7568"/>
            </a:avLst>
          </a:prstGeom>
          <a:solidFill>
            <a:srgbClr val="E3F1FD"/>
          </a:solidFill>
          <a:ln w="19050">
            <a:solidFill>
              <a:srgbClr val="A9D3F5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0" name="ii_8"/>
          <p:cNvSpPr/>
          <p:nvPr/>
        </p:nvSpPr>
        <p:spPr>
          <a:xfrm>
            <a:off x="457200" y="22219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🎯</a:t>
            </a:r>
            <a:endParaRPr lang="en-US" sz="2200" dirty="0"/>
          </a:p>
        </p:txBody>
      </p:sp>
      <p:sp>
        <p:nvSpPr>
          <p:cNvPr id="11" name="ih_9"/>
          <p:cNvSpPr/>
          <p:nvPr/>
        </p:nvSpPr>
        <p:spPr>
          <a:xfrm>
            <a:off x="932688" y="224028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Today you're going to…</a:t>
            </a:r>
            <a:endParaRPr lang="en-US" sz="1600" dirty="0"/>
          </a:p>
        </p:txBody>
      </p:sp>
      <p:sp>
        <p:nvSpPr>
          <p:cNvPr id="12" name="il_10"/>
          <p:cNvSpPr/>
          <p:nvPr/>
        </p:nvSpPr>
        <p:spPr>
          <a:xfrm>
            <a:off x="932688" y="2624328"/>
            <a:ext cx="354787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🔑  learn the names of everyday things</a:t>
            </a:r>
            <a:endParaRPr lang="en-US" sz="12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✏️  make plurals: a key → two keys</a:t>
            </a:r>
            <a:endParaRPr lang="en-US" sz="12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🔊  say -s and -es correctly</a:t>
            </a:r>
            <a:endParaRPr lang="en-US" sz="12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📍  say where things are: in, on, under</a:t>
            </a:r>
            <a:endParaRPr lang="en-US" sz="1250" dirty="0"/>
          </a:p>
        </p:txBody>
      </p:sp>
      <p:sp>
        <p:nvSpPr>
          <p:cNvPr id="13" name="R1_ex11"/>
          <p:cNvSpPr/>
          <p:nvPr/>
        </p:nvSpPr>
        <p:spPr>
          <a:xfrm>
            <a:off x="365760" y="3950208"/>
            <a:ext cx="4206240" cy="603504"/>
          </a:xfrm>
          <a:prstGeom prst="roundRect">
            <a:avLst>
              <a:gd name="adj" fmla="val 18182"/>
            </a:avLst>
          </a:prstGeom>
          <a:solidFill>
            <a:srgbClr val="FFF6CC"/>
          </a:solidFill>
          <a:ln w="19050">
            <a:solidFill>
              <a:srgbClr val="FFE07A"/>
            </a:solidFill>
          </a:ln>
        </p:spPr>
        <p:txBody>
          <a:bodyPr wrap="square" lIns="25400" tIns="152400" rIns="152400" bIns="2540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E8508F"/>
                </a:solidFill>
                <a:latin typeface="Segoe UI Black" pitchFamily="34" charset="0"/>
                <a:ea typeface="Segoe UI Black" pitchFamily="34" charset="-122"/>
                <a:cs typeface="Segoe UI Black" pitchFamily="34" charset="-120"/>
              </a:rPr>
              <a:t>EXAMPLE  </a:t>
            </a:r>
            <a:pPr indent="0" marL="0">
              <a:buNone/>
            </a:pPr>
            <a:r>
              <a:rPr lang="en-US" sz="130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My desk is very untidy! There are papers, cups and cables everywhere.</a:t>
            </a:r>
            <a:endParaRPr lang="en-US" sz="1000" dirty="0"/>
          </a:p>
        </p:txBody>
      </p:sp>
      <p:sp>
        <p:nvSpPr>
          <p:cNvPr id="14" name="pf_12"/>
          <p:cNvSpPr/>
          <p:nvPr/>
        </p:nvSpPr>
        <p:spPr>
          <a:xfrm rot="90000">
            <a:off x="4846320" y="777240"/>
            <a:ext cx="3977640" cy="3200400"/>
          </a:xfrm>
          <a:prstGeom prst="roundRect">
            <a:avLst>
              <a:gd name="adj" fmla="val 485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5" name="ph_13" descr="/home/claude/lls-course/v2/cache/red_2a_untidy_jpg_935x748_31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90000">
            <a:off x="4892040" y="822960"/>
            <a:ext cx="3886200" cy="3108960"/>
          </a:xfrm>
          <a:prstGeom prst="rect">
            <a:avLst/>
          </a:prstGeom>
        </p:spPr>
      </p:pic>
      <p:sp>
        <p:nvSpPr>
          <p:cNvPr id="16" name="bb_14"/>
          <p:cNvSpPr/>
          <p:nvPr/>
        </p:nvSpPr>
        <p:spPr>
          <a:xfrm>
            <a:off x="5120640" y="3611880"/>
            <a:ext cx="3566160" cy="822960"/>
          </a:xfrm>
          <a:prstGeom prst="wedgeRoundRectCallout">
            <a:avLst/>
          </a:prstGeom>
          <a:solidFill>
            <a:srgbClr val="FFFFFF"/>
          </a:solidFill>
          <a:ln w="25400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0000"/>
              </a:srgbClr>
            </a:outerShdw>
          </a:effectLst>
        </p:spPr>
        <p:txBody>
          <a:bodyPr wrap="square" lIns="50800" tIns="127000" rIns="1270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6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Is your desk at home tidy or untidy?</a:t>
            </a:r>
            <a:endParaRPr lang="en-US" sz="1600" dirty="0"/>
          </a:p>
        </p:txBody>
      </p:sp>
      <p:sp>
        <p:nvSpPr>
          <p:cNvPr id="17" name="st_15"/>
          <p:cNvSpPr/>
          <p:nvPr/>
        </p:nvSpPr>
        <p:spPr>
          <a:xfrm rot="360000">
            <a:off x="7543800" y="502920"/>
            <a:ext cx="1325880" cy="384048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💡 THINK · PENSA</a:t>
            </a:r>
            <a:endParaRPr lang="en-US" sz="1100" dirty="0"/>
          </a:p>
        </p:txBody>
      </p:sp>
      <p:pic>
        <p:nvPicPr>
          <p:cNvPr id="18" name="logo_16" descr="/home/claude/lls-course/v2/img/logo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85632" y="4526280"/>
            <a:ext cx="502920" cy="502920"/>
          </a:xfrm>
          <a:prstGeom prst="rect">
            <a:avLst/>
          </a:prstGeom>
        </p:spPr>
      </p:pic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17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2800" dirty="0"/>
          </a:p>
        </p:txBody>
      </p:sp>
      <p:pic>
        <p:nvPicPr>
          <p:cNvPr id="4" name="brY_18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4034333" cy="621792"/>
          </a:xfrm>
          <a:prstGeom prst="rect">
            <a:avLst/>
          </a:prstGeom>
        </p:spPr>
      </p:pic>
      <p:sp>
        <p:nvSpPr>
          <p:cNvPr id="5" name="title_19"/>
          <p:cNvSpPr/>
          <p:nvPr/>
        </p:nvSpPr>
        <p:spPr>
          <a:xfrm>
            <a:off x="1261872" y="164592"/>
            <a:ext cx="376001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Remember last lesson?</a:t>
            </a:r>
            <a:endParaRPr lang="en-US" sz="2500" dirty="0"/>
          </a:p>
        </p:txBody>
      </p:sp>
      <p:pic>
        <p:nvPicPr>
          <p:cNvPr id="6" name="brP_20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945636" cy="402336"/>
          </a:xfrm>
          <a:prstGeom prst="rect">
            <a:avLst/>
          </a:prstGeom>
        </p:spPr>
      </p:pic>
      <p:sp>
        <p:nvSpPr>
          <p:cNvPr id="7" name="ins_21"/>
          <p:cNvSpPr/>
          <p:nvPr/>
        </p:nvSpPr>
        <p:spPr>
          <a:xfrm>
            <a:off x="1353312" y="731520"/>
            <a:ext cx="368960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Read the examples. Then say one more.</a:t>
            </a:r>
            <a:endParaRPr lang="en-US" sz="1250" dirty="0"/>
          </a:p>
        </p:txBody>
      </p:sp>
      <p:sp>
        <p:nvSpPr>
          <p:cNvPr id="8" name="insIT_22"/>
          <p:cNvSpPr/>
          <p:nvPr/>
        </p:nvSpPr>
        <p:spPr>
          <a:xfrm>
            <a:off x="1371600" y="1115568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Leggi gli esempi. Poi dinne un altro.</a:t>
            </a:r>
            <a:endParaRPr lang="en-US" sz="950" dirty="0"/>
          </a:p>
        </p:txBody>
      </p:sp>
      <p:sp>
        <p:nvSpPr>
          <p:cNvPr id="9" name="cmd_23"/>
          <p:cNvSpPr/>
          <p:nvPr/>
        </p:nvSpPr>
        <p:spPr>
          <a:xfrm>
            <a:off x="6583680" y="182880"/>
            <a:ext cx="178308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</a:rPr>
              <a:t>💡 </a:t>
            </a:r>
            <a:pPr indent="0" marL="0">
              <a:buNone/>
            </a:pPr>
            <a:r>
              <a:rPr lang="en-US" sz="1200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THINK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PENSA</a:t>
            </a:r>
            <a:endParaRPr lang="en-US" sz="1300" dirty="0"/>
          </a:p>
        </p:txBody>
      </p:sp>
      <p:sp>
        <p:nvSpPr>
          <p:cNvPr id="10" name="meta_24"/>
          <p:cNvSpPr/>
          <p:nvPr/>
        </p:nvSpPr>
        <p:spPr>
          <a:xfrm>
            <a:off x="6583680" y="566928"/>
            <a:ext cx="2286000" cy="256032"/>
          </a:xfrm>
          <a:prstGeom prst="rect">
            <a:avLst/>
          </a:prstGeom>
          <a:noFill/>
          <a:ln/>
        </p:spPr>
        <p:txBody>
          <a:bodyPr wrap="square" lIns="0" tIns="101600" rIns="1016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3 min   🙋 whole class</a:t>
            </a:r>
            <a:endParaRPr lang="en-US" sz="950" dirty="0"/>
          </a:p>
        </p:txBody>
      </p:sp>
      <p:pic>
        <p:nvPicPr>
          <p:cNvPr id="11" name="logo_25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2" name="foot_26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2A · Revision · last lesson</a:t>
            </a:r>
            <a:endParaRPr lang="en-US" sz="800" dirty="0"/>
          </a:p>
        </p:txBody>
      </p:sp>
      <p:sp>
        <p:nvSpPr>
          <p:cNvPr id="13" name="pf_27"/>
          <p:cNvSpPr/>
          <p:nvPr/>
        </p:nvSpPr>
        <p:spPr>
          <a:xfrm rot="-120000">
            <a:off x="365760" y="1371600"/>
            <a:ext cx="2651760" cy="1828800"/>
          </a:xfrm>
          <a:prstGeom prst="roundRect">
            <a:avLst>
              <a:gd name="adj" fmla="val 85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4" name="ph_28" descr="/home/claude/lls-course/v2/cache/red_2a_tidy_jpg_616x418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120000">
            <a:off x="411480" y="1417320"/>
            <a:ext cx="2560320" cy="1737360"/>
          </a:xfrm>
          <a:prstGeom prst="rect">
            <a:avLst/>
          </a:prstGeom>
        </p:spPr>
      </p:pic>
      <p:sp>
        <p:nvSpPr>
          <p:cNvPr id="15" name="cd_29"/>
          <p:cNvSpPr/>
          <p:nvPr/>
        </p:nvSpPr>
        <p:spPr>
          <a:xfrm>
            <a:off x="320040" y="3383280"/>
            <a:ext cx="2743200" cy="1325880"/>
          </a:xfrm>
          <a:prstGeom prst="roundRect">
            <a:avLst>
              <a:gd name="adj" fmla="val 9655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6" name="ii_30"/>
          <p:cNvSpPr/>
          <p:nvPr/>
        </p:nvSpPr>
        <p:spPr>
          <a:xfrm>
            <a:off x="411480" y="34564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📅</a:t>
            </a:r>
            <a:endParaRPr lang="en-US" sz="2200" dirty="0"/>
          </a:p>
        </p:txBody>
      </p:sp>
      <p:sp>
        <p:nvSpPr>
          <p:cNvPr id="17" name="ih_31"/>
          <p:cNvSpPr/>
          <p:nvPr/>
        </p:nvSpPr>
        <p:spPr>
          <a:xfrm>
            <a:off x="886968" y="347472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Last lesson…</a:t>
            </a:r>
            <a:endParaRPr lang="en-US" sz="1300" dirty="0"/>
          </a:p>
        </p:txBody>
      </p:sp>
      <p:sp>
        <p:nvSpPr>
          <p:cNvPr id="18" name="il_32"/>
          <p:cNvSpPr/>
          <p:nvPr/>
        </p:nvSpPr>
        <p:spPr>
          <a:xfrm>
            <a:off x="886968" y="3858768"/>
            <a:ext cx="20848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File 1: be, questions, the alphabet</a:t>
            </a:r>
            <a:endParaRPr lang="en-US" sz="11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classroom language</a:t>
            </a:r>
            <a:endParaRPr lang="en-US" sz="1100" dirty="0"/>
          </a:p>
        </p:txBody>
      </p:sp>
      <p:sp>
        <p:nvSpPr>
          <p:cNvPr id="19" name="cd_33"/>
          <p:cNvSpPr/>
          <p:nvPr/>
        </p:nvSpPr>
        <p:spPr>
          <a:xfrm>
            <a:off x="3246120" y="1417320"/>
            <a:ext cx="2788920" cy="2331720"/>
          </a:xfrm>
          <a:prstGeom prst="roundRect">
            <a:avLst>
              <a:gd name="adj" fmla="val 5490"/>
            </a:avLst>
          </a:prstGeom>
          <a:solidFill>
            <a:srgbClr val="FFFFFF"/>
          </a:solidFill>
          <a:ln w="25400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0" name="rh_34"/>
          <p:cNvSpPr/>
          <p:nvPr/>
        </p:nvSpPr>
        <p:spPr>
          <a:xfrm>
            <a:off x="3355848" y="1508760"/>
            <a:ext cx="2569464" cy="347472"/>
          </a:xfrm>
          <a:prstGeom prst="roundRect">
            <a:avLst>
              <a:gd name="adj" fmla="val 50000"/>
            </a:avLst>
          </a:prstGeom>
          <a:solidFill>
            <a:srgbClr val="E8508F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be + questions</a:t>
            </a:r>
            <a:endParaRPr lang="en-US" sz="1200" dirty="0"/>
          </a:p>
        </p:txBody>
      </p:sp>
      <p:sp>
        <p:nvSpPr>
          <p:cNvPr id="21" name="rl_35"/>
          <p:cNvSpPr/>
          <p:nvPr/>
        </p:nvSpPr>
        <p:spPr>
          <a:xfrm>
            <a:off x="3383280" y="1920240"/>
            <a:ext cx="2514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What's your name? </a:t>
            </a:r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E8508F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My name's</a:t>
            </a:r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Anna.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Where </a:t>
            </a:r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E8508F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are</a:t>
            </a:r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you from? </a:t>
            </a:r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E8508F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I'm</a:t>
            </a:r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from Italy.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How do you spell it? A-N-N-A.</a:t>
            </a:r>
            <a:endParaRPr lang="en-US" sz="1150" dirty="0"/>
          </a:p>
        </p:txBody>
      </p:sp>
      <p:sp>
        <p:nvSpPr>
          <p:cNvPr id="22" name="cd_36"/>
          <p:cNvSpPr/>
          <p:nvPr/>
        </p:nvSpPr>
        <p:spPr>
          <a:xfrm>
            <a:off x="6126480" y="1417320"/>
            <a:ext cx="2788920" cy="2331720"/>
          </a:xfrm>
          <a:prstGeom prst="roundRect">
            <a:avLst>
              <a:gd name="adj" fmla="val 5490"/>
            </a:avLst>
          </a:prstGeom>
          <a:solidFill>
            <a:srgbClr val="FFFFFF"/>
          </a:solidFill>
          <a:ln w="25400">
            <a:solidFill>
              <a:srgbClr val="A9D3F5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3" name="rh_37"/>
          <p:cNvSpPr/>
          <p:nvPr/>
        </p:nvSpPr>
        <p:spPr>
          <a:xfrm>
            <a:off x="6236208" y="1508760"/>
            <a:ext cx="2569464" cy="347472"/>
          </a:xfrm>
          <a:prstGeom prst="roundRect">
            <a:avLst>
              <a:gd name="adj" fmla="val 50000"/>
            </a:avLst>
          </a:prstGeom>
          <a:solidFill>
            <a:srgbClr val="2F8DE4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In the classroom</a:t>
            </a:r>
            <a:endParaRPr lang="en-US" sz="1200" dirty="0"/>
          </a:p>
        </p:txBody>
      </p:sp>
      <p:sp>
        <p:nvSpPr>
          <p:cNvPr id="24" name="rl_38"/>
          <p:cNvSpPr/>
          <p:nvPr/>
        </p:nvSpPr>
        <p:spPr>
          <a:xfrm>
            <a:off x="6263640" y="1920240"/>
            <a:ext cx="2514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What's </a:t>
            </a:r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2F8DE4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this</a:t>
            </a:r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? It's a chair.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What's </a:t>
            </a:r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2F8DE4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that</a:t>
            </a:r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? It's a window.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Sorry I'm late. · What page is it?</a:t>
            </a:r>
            <a:endParaRPr lang="en-US" sz="1150" dirty="0"/>
          </a:p>
        </p:txBody>
      </p:sp>
      <p:sp>
        <p:nvSpPr>
          <p:cNvPr id="25" name="kw_39"/>
          <p:cNvSpPr/>
          <p:nvPr/>
        </p:nvSpPr>
        <p:spPr>
          <a:xfrm>
            <a:off x="3246120" y="386791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🔤 KEY WORDS</a:t>
            </a:r>
            <a:endParaRPr lang="en-US" sz="1100" dirty="0"/>
          </a:p>
        </p:txBody>
      </p:sp>
      <p:sp>
        <p:nvSpPr>
          <p:cNvPr id="26" name="w_40"/>
          <p:cNvSpPr/>
          <p:nvPr/>
        </p:nvSpPr>
        <p:spPr>
          <a:xfrm>
            <a:off x="3246120" y="4178808"/>
            <a:ext cx="708660" cy="310896"/>
          </a:xfrm>
          <a:prstGeom prst="roundRect">
            <a:avLst>
              <a:gd name="adj" fmla="val 50000"/>
            </a:avLst>
          </a:prstGeom>
          <a:solidFill>
            <a:srgbClr val="FFE3EE"/>
          </a:solidFill>
          <a:ln>
            <a:solidFill>
              <a:srgbClr val="F7A6C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board</a:t>
            </a:r>
            <a:endParaRPr lang="en-US" sz="1050" dirty="0"/>
          </a:p>
        </p:txBody>
      </p:sp>
      <p:sp>
        <p:nvSpPr>
          <p:cNvPr id="27" name="w_41"/>
          <p:cNvSpPr/>
          <p:nvPr/>
        </p:nvSpPr>
        <p:spPr>
          <a:xfrm>
            <a:off x="4027932" y="4178808"/>
            <a:ext cx="708660" cy="310896"/>
          </a:xfrm>
          <a:prstGeom prst="roundRect">
            <a:avLst>
              <a:gd name="adj" fmla="val 50000"/>
            </a:avLst>
          </a:prstGeom>
          <a:solidFill>
            <a:srgbClr val="E3F1FD"/>
          </a:solidFill>
          <a:ln>
            <a:solidFill>
              <a:srgbClr val="A9D3F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chair</a:t>
            </a:r>
            <a:endParaRPr lang="en-US" sz="1050" dirty="0"/>
          </a:p>
        </p:txBody>
      </p:sp>
      <p:sp>
        <p:nvSpPr>
          <p:cNvPr id="28" name="w_42"/>
          <p:cNvSpPr/>
          <p:nvPr/>
        </p:nvSpPr>
        <p:spPr>
          <a:xfrm>
            <a:off x="4809744" y="4178808"/>
            <a:ext cx="630936" cy="310896"/>
          </a:xfrm>
          <a:prstGeom prst="roundRect">
            <a:avLst>
              <a:gd name="adj" fmla="val 50000"/>
            </a:avLst>
          </a:prstGeom>
          <a:solidFill>
            <a:srgbClr val="E3F7EA"/>
          </a:solidFill>
          <a:ln>
            <a:solidFill>
              <a:srgbClr val="A8E5B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desk</a:t>
            </a:r>
            <a:endParaRPr lang="en-US" sz="1050" dirty="0"/>
          </a:p>
        </p:txBody>
      </p:sp>
      <p:sp>
        <p:nvSpPr>
          <p:cNvPr id="29" name="w_43"/>
          <p:cNvSpPr/>
          <p:nvPr/>
        </p:nvSpPr>
        <p:spPr>
          <a:xfrm>
            <a:off x="5513832" y="4178808"/>
            <a:ext cx="630936" cy="310896"/>
          </a:xfrm>
          <a:prstGeom prst="roundRect">
            <a:avLst>
              <a:gd name="adj" fmla="val 50000"/>
            </a:avLst>
          </a:prstGeom>
          <a:solidFill>
            <a:srgbClr val="FFF6CC"/>
          </a:solidFill>
          <a:ln>
            <a:solidFill>
              <a:srgbClr val="FFE07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door</a:t>
            </a:r>
            <a:endParaRPr lang="en-US" sz="1050" dirty="0"/>
          </a:p>
        </p:txBody>
      </p:sp>
      <p:sp>
        <p:nvSpPr>
          <p:cNvPr id="30" name="w_44"/>
          <p:cNvSpPr/>
          <p:nvPr/>
        </p:nvSpPr>
        <p:spPr>
          <a:xfrm>
            <a:off x="6217920" y="4178808"/>
            <a:ext cx="786384" cy="310896"/>
          </a:xfrm>
          <a:prstGeom prst="roundRect">
            <a:avLst>
              <a:gd name="adj" fmla="val 50000"/>
            </a:avLst>
          </a:prstGeom>
          <a:solidFill>
            <a:srgbClr val="FFE3EE"/>
          </a:solidFill>
          <a:ln>
            <a:solidFill>
              <a:srgbClr val="F7A6C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window</a:t>
            </a:r>
            <a:endParaRPr lang="en-US" sz="1050" dirty="0"/>
          </a:p>
        </p:txBody>
      </p:sp>
      <p:sp>
        <p:nvSpPr>
          <p:cNvPr id="31" name="w_45"/>
          <p:cNvSpPr/>
          <p:nvPr/>
        </p:nvSpPr>
        <p:spPr>
          <a:xfrm>
            <a:off x="7077456" y="4178808"/>
            <a:ext cx="708660" cy="310896"/>
          </a:xfrm>
          <a:prstGeom prst="roundRect">
            <a:avLst>
              <a:gd name="adj" fmla="val 50000"/>
            </a:avLst>
          </a:prstGeom>
          <a:solidFill>
            <a:srgbClr val="E3F1FD"/>
          </a:solidFill>
          <a:ln>
            <a:solidFill>
              <a:srgbClr val="A9D3F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table</a:t>
            </a:r>
            <a:endParaRPr lang="en-US" sz="1050" dirty="0"/>
          </a:p>
        </p:txBody>
      </p:sp>
    </p:spTree>
  </p:cSld>
  <p:clrMapOvr>
    <a:masterClrMapping/>
  </p:clrMapOvr>
  <p:transition spd="med">
    <p:push dir="l"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46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2800" dirty="0"/>
          </a:p>
        </p:txBody>
      </p:sp>
      <p:pic>
        <p:nvPicPr>
          <p:cNvPr id="4" name="brY_47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2147011" cy="621792"/>
          </a:xfrm>
          <a:prstGeom prst="rect">
            <a:avLst/>
          </a:prstGeom>
        </p:spPr>
      </p:pic>
      <p:sp>
        <p:nvSpPr>
          <p:cNvPr id="5" name="title_48"/>
          <p:cNvSpPr/>
          <p:nvPr/>
        </p:nvSpPr>
        <p:spPr>
          <a:xfrm>
            <a:off x="1261872" y="164592"/>
            <a:ext cx="1872691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Spell it!</a:t>
            </a:r>
            <a:endParaRPr lang="en-US" sz="2500" dirty="0"/>
          </a:p>
        </p:txBody>
      </p:sp>
      <p:pic>
        <p:nvPicPr>
          <p:cNvPr id="6" name="brP_49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466844" cy="402336"/>
          </a:xfrm>
          <a:prstGeom prst="rect">
            <a:avLst/>
          </a:prstGeom>
        </p:spPr>
      </p:pic>
      <p:sp>
        <p:nvSpPr>
          <p:cNvPr id="7" name="ins_50"/>
          <p:cNvSpPr/>
          <p:nvPr/>
        </p:nvSpPr>
        <p:spPr>
          <a:xfrm>
            <a:off x="1353312" y="731520"/>
            <a:ext cx="42108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Look at the word. Spell it to your partner!</a:t>
            </a:r>
            <a:endParaRPr lang="en-US" sz="1250" dirty="0"/>
          </a:p>
        </p:txBody>
      </p:sp>
      <p:sp>
        <p:nvSpPr>
          <p:cNvPr id="8" name="insIT_51"/>
          <p:cNvSpPr/>
          <p:nvPr/>
        </p:nvSpPr>
        <p:spPr>
          <a:xfrm>
            <a:off x="1371600" y="1115568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Guarda la parola. Fai lo spelling al compagno!</a:t>
            </a:r>
            <a:endParaRPr lang="en-US" sz="950" dirty="0"/>
          </a:p>
        </p:txBody>
      </p:sp>
      <p:sp>
        <p:nvSpPr>
          <p:cNvPr id="9" name="cmd_52"/>
          <p:cNvSpPr/>
          <p:nvPr/>
        </p:nvSpPr>
        <p:spPr>
          <a:xfrm>
            <a:off x="6583680" y="182880"/>
            <a:ext cx="178308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</a:rPr>
              <a:t>🎲 </a:t>
            </a:r>
            <a:pPr indent="0" marL="0">
              <a:buNone/>
            </a:pPr>
            <a:r>
              <a:rPr lang="en-US" sz="1200" dirty="0">
                <a:solidFill>
                  <a:srgbClr val="F2B705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PLAY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GIOCA</a:t>
            </a:r>
            <a:endParaRPr lang="en-US" sz="1300" dirty="0"/>
          </a:p>
        </p:txBody>
      </p:sp>
      <p:sp>
        <p:nvSpPr>
          <p:cNvPr id="10" name="meta_53"/>
          <p:cNvSpPr/>
          <p:nvPr/>
        </p:nvSpPr>
        <p:spPr>
          <a:xfrm>
            <a:off x="6583680" y="566928"/>
            <a:ext cx="2286000" cy="256032"/>
          </a:xfrm>
          <a:prstGeom prst="rect">
            <a:avLst/>
          </a:prstGeom>
          <a:noFill/>
          <a:ln/>
        </p:spPr>
        <p:txBody>
          <a:bodyPr wrap="square" lIns="0" tIns="101600" rIns="1016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3 min   👥 pairs</a:t>
            </a:r>
            <a:endParaRPr lang="en-US" sz="950" dirty="0"/>
          </a:p>
        </p:txBody>
      </p:sp>
      <p:pic>
        <p:nvPicPr>
          <p:cNvPr id="11" name="logo_54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2" name="foot_55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2A · Warmer · alphabet + things</a:t>
            </a:r>
            <a:endParaRPr lang="en-US" sz="800" dirty="0"/>
          </a:p>
        </p:txBody>
      </p:sp>
      <p:sp>
        <p:nvSpPr>
          <p:cNvPr id="13" name="cd_56"/>
          <p:cNvSpPr/>
          <p:nvPr/>
        </p:nvSpPr>
        <p:spPr>
          <a:xfrm>
            <a:off x="320040" y="1417320"/>
            <a:ext cx="2697480" cy="2057400"/>
          </a:xfrm>
          <a:prstGeom prst="roundRect">
            <a:avLst>
              <a:gd name="adj" fmla="val 6222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4" name="ii_57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🎲</a:t>
            </a:r>
            <a:endParaRPr lang="en-US" sz="2200" dirty="0"/>
          </a:p>
        </p:txBody>
      </p:sp>
      <p:sp>
        <p:nvSpPr>
          <p:cNvPr id="15" name="ih_58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How to play</a:t>
            </a:r>
            <a:endParaRPr lang="en-US" sz="1500" dirty="0"/>
          </a:p>
        </p:txBody>
      </p:sp>
      <p:sp>
        <p:nvSpPr>
          <p:cNvPr id="16" name="il_59"/>
          <p:cNvSpPr/>
          <p:nvPr/>
        </p:nvSpPr>
        <p:spPr>
          <a:xfrm>
            <a:off x="886968" y="1892808"/>
            <a:ext cx="203911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2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looks at the screen. B closes the book.</a:t>
            </a:r>
            <a:endParaRPr lang="en-US" sz="1150" dirty="0"/>
          </a:p>
          <a:p>
            <a:pPr marL="342900" indent="-342900">
              <a:spcAft>
                <a:spcPts val="2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spells the word: D-E-S-K.</a:t>
            </a:r>
            <a:endParaRPr lang="en-US" sz="1150" dirty="0"/>
          </a:p>
          <a:p>
            <a:pPr marL="342900" indent="-342900">
              <a:spcAft>
                <a:spcPts val="2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 writes it and says it. Then swap.</a:t>
            </a:r>
            <a:endParaRPr lang="en-US" sz="1150" dirty="0"/>
          </a:p>
        </p:txBody>
      </p:sp>
      <p:sp>
        <p:nvSpPr>
          <p:cNvPr id="17" name="st_60"/>
          <p:cNvSpPr/>
          <p:nvPr/>
        </p:nvSpPr>
        <p:spPr>
          <a:xfrm rot="-180000">
            <a:off x="502920" y="3703320"/>
            <a:ext cx="2286000" cy="777240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TEAM A  ☆☆☆☆☆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TEAM B  ☆☆☆☆☆</a:t>
            </a:r>
            <a:endParaRPr lang="en-US" sz="1300" dirty="0"/>
          </a:p>
        </p:txBody>
      </p:sp>
      <p:sp>
        <p:nvSpPr>
          <p:cNvPr id="18" name="rl_61"/>
          <p:cNvSpPr/>
          <p:nvPr/>
        </p:nvSpPr>
        <p:spPr>
          <a:xfrm>
            <a:off x="3246120" y="1417320"/>
            <a:ext cx="2651760" cy="310896"/>
          </a:xfrm>
          <a:prstGeom prst="roundRect">
            <a:avLst>
              <a:gd name="adj" fmla="val 50000"/>
            </a:avLst>
          </a:prstGeom>
          <a:solidFill>
            <a:srgbClr val="E8508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ROUND 1 · A spells</a:t>
            </a:r>
            <a:endParaRPr lang="en-US" sz="1100" dirty="0"/>
          </a:p>
        </p:txBody>
      </p:sp>
      <p:sp>
        <p:nvSpPr>
          <p:cNvPr id="19" name="R1_w62"/>
          <p:cNvSpPr/>
          <p:nvPr/>
        </p:nvSpPr>
        <p:spPr>
          <a:xfrm>
            <a:off x="3246120" y="1856232"/>
            <a:ext cx="2651760" cy="621792"/>
          </a:xfrm>
          <a:prstGeom prst="roundRect">
            <a:avLst>
              <a:gd name="adj" fmla="val 20588"/>
            </a:avLst>
          </a:prstGeom>
          <a:solidFill>
            <a:srgbClr val="FFFFFF"/>
          </a:solidFill>
          <a:ln w="31750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0000"/>
              </a:srgbClr>
            </a:outerShdw>
          </a:effectLst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7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window</a:t>
            </a:r>
            <a:endParaRPr lang="en-US" sz="1700" dirty="0"/>
          </a:p>
        </p:txBody>
      </p:sp>
      <p:sp>
        <p:nvSpPr>
          <p:cNvPr id="20" name="R2_w63"/>
          <p:cNvSpPr/>
          <p:nvPr/>
        </p:nvSpPr>
        <p:spPr>
          <a:xfrm>
            <a:off x="3246120" y="2587752"/>
            <a:ext cx="2651760" cy="621792"/>
          </a:xfrm>
          <a:prstGeom prst="roundRect">
            <a:avLst>
              <a:gd name="adj" fmla="val 20588"/>
            </a:avLst>
          </a:prstGeom>
          <a:solidFill>
            <a:srgbClr val="FFFFFF"/>
          </a:solidFill>
          <a:ln w="31750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0000"/>
              </a:srgbClr>
            </a:outerShdw>
          </a:effectLst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7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chair</a:t>
            </a:r>
            <a:endParaRPr lang="en-US" sz="1700" dirty="0"/>
          </a:p>
        </p:txBody>
      </p:sp>
      <p:sp>
        <p:nvSpPr>
          <p:cNvPr id="21" name="R3_w64"/>
          <p:cNvSpPr/>
          <p:nvPr/>
        </p:nvSpPr>
        <p:spPr>
          <a:xfrm>
            <a:off x="3246120" y="3319272"/>
            <a:ext cx="2651760" cy="621792"/>
          </a:xfrm>
          <a:prstGeom prst="roundRect">
            <a:avLst>
              <a:gd name="adj" fmla="val 20588"/>
            </a:avLst>
          </a:prstGeom>
          <a:solidFill>
            <a:srgbClr val="FFFFFF"/>
          </a:solidFill>
          <a:ln w="31750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0000"/>
              </a:srgbClr>
            </a:outerShdw>
          </a:effectLst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7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board</a:t>
            </a:r>
            <a:endParaRPr lang="en-US" sz="1700" dirty="0"/>
          </a:p>
        </p:txBody>
      </p:sp>
      <p:sp>
        <p:nvSpPr>
          <p:cNvPr id="22" name="R4_w65"/>
          <p:cNvSpPr/>
          <p:nvPr/>
        </p:nvSpPr>
        <p:spPr>
          <a:xfrm>
            <a:off x="3246120" y="4050792"/>
            <a:ext cx="2651760" cy="621792"/>
          </a:xfrm>
          <a:prstGeom prst="roundRect">
            <a:avLst>
              <a:gd name="adj" fmla="val 20588"/>
            </a:avLst>
          </a:prstGeom>
          <a:solidFill>
            <a:srgbClr val="FFFFFF"/>
          </a:solidFill>
          <a:ln w="31750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0000"/>
              </a:srgbClr>
            </a:outerShdw>
          </a:effectLst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7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table</a:t>
            </a:r>
            <a:endParaRPr lang="en-US" sz="1700" dirty="0"/>
          </a:p>
        </p:txBody>
      </p:sp>
      <p:sp>
        <p:nvSpPr>
          <p:cNvPr id="23" name="rl_66"/>
          <p:cNvSpPr/>
          <p:nvPr/>
        </p:nvSpPr>
        <p:spPr>
          <a:xfrm>
            <a:off x="6080760" y="1417320"/>
            <a:ext cx="2651760" cy="310896"/>
          </a:xfrm>
          <a:prstGeom prst="roundRect">
            <a:avLst>
              <a:gd name="adj" fmla="val 50000"/>
            </a:avLst>
          </a:prstGeom>
          <a:solidFill>
            <a:srgbClr val="2F8DE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ROUND 2 · B spells</a:t>
            </a:r>
            <a:endParaRPr lang="en-US" sz="1100" dirty="0"/>
          </a:p>
        </p:txBody>
      </p:sp>
      <p:sp>
        <p:nvSpPr>
          <p:cNvPr id="24" name="R5_w67"/>
          <p:cNvSpPr/>
          <p:nvPr/>
        </p:nvSpPr>
        <p:spPr>
          <a:xfrm>
            <a:off x="6080760" y="1856232"/>
            <a:ext cx="2651760" cy="621792"/>
          </a:xfrm>
          <a:prstGeom prst="roundRect">
            <a:avLst>
              <a:gd name="adj" fmla="val 20588"/>
            </a:avLst>
          </a:prstGeom>
          <a:solidFill>
            <a:srgbClr val="FFFFFF"/>
          </a:solidFill>
          <a:ln w="3175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0000"/>
              </a:srgbClr>
            </a:outerShdw>
          </a:effectLst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7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door</a:t>
            </a:r>
            <a:endParaRPr lang="en-US" sz="1700" dirty="0"/>
          </a:p>
        </p:txBody>
      </p:sp>
      <p:sp>
        <p:nvSpPr>
          <p:cNvPr id="25" name="R6_w68"/>
          <p:cNvSpPr/>
          <p:nvPr/>
        </p:nvSpPr>
        <p:spPr>
          <a:xfrm>
            <a:off x="6080760" y="2587752"/>
            <a:ext cx="2651760" cy="621792"/>
          </a:xfrm>
          <a:prstGeom prst="roundRect">
            <a:avLst>
              <a:gd name="adj" fmla="val 20588"/>
            </a:avLst>
          </a:prstGeom>
          <a:solidFill>
            <a:srgbClr val="FFFFFF"/>
          </a:solidFill>
          <a:ln w="3175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0000"/>
              </a:srgbClr>
            </a:outerShdw>
          </a:effectLst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7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desk</a:t>
            </a:r>
            <a:endParaRPr lang="en-US" sz="1700" dirty="0"/>
          </a:p>
        </p:txBody>
      </p:sp>
      <p:sp>
        <p:nvSpPr>
          <p:cNvPr id="26" name="R7_w69"/>
          <p:cNvSpPr/>
          <p:nvPr/>
        </p:nvSpPr>
        <p:spPr>
          <a:xfrm>
            <a:off x="6080760" y="3319272"/>
            <a:ext cx="2651760" cy="621792"/>
          </a:xfrm>
          <a:prstGeom prst="roundRect">
            <a:avLst>
              <a:gd name="adj" fmla="val 20588"/>
            </a:avLst>
          </a:prstGeom>
          <a:solidFill>
            <a:srgbClr val="FFFFFF"/>
          </a:solidFill>
          <a:ln w="3175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0000"/>
              </a:srgbClr>
            </a:outerShdw>
          </a:effectLst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7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picture</a:t>
            </a:r>
            <a:endParaRPr lang="en-US" sz="1700" dirty="0"/>
          </a:p>
        </p:txBody>
      </p:sp>
      <p:sp>
        <p:nvSpPr>
          <p:cNvPr id="27" name="R8_w70"/>
          <p:cNvSpPr/>
          <p:nvPr/>
        </p:nvSpPr>
        <p:spPr>
          <a:xfrm>
            <a:off x="6080760" y="4050792"/>
            <a:ext cx="2651760" cy="621792"/>
          </a:xfrm>
          <a:prstGeom prst="roundRect">
            <a:avLst>
              <a:gd name="adj" fmla="val 20588"/>
            </a:avLst>
          </a:prstGeom>
          <a:solidFill>
            <a:srgbClr val="FFFFFF"/>
          </a:solidFill>
          <a:ln w="3175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0000"/>
              </a:srgbClr>
            </a:outerShdw>
          </a:effectLst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7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wall</a:t>
            </a:r>
            <a:endParaRPr lang="en-US" sz="17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71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2800" dirty="0"/>
          </a:p>
        </p:txBody>
      </p:sp>
      <p:pic>
        <p:nvPicPr>
          <p:cNvPr id="4" name="brY_72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4348886" cy="621792"/>
          </a:xfrm>
          <a:prstGeom prst="rect">
            <a:avLst/>
          </a:prstGeom>
        </p:spPr>
      </p:pic>
      <p:sp>
        <p:nvSpPr>
          <p:cNvPr id="5" name="title_73"/>
          <p:cNvSpPr/>
          <p:nvPr/>
        </p:nvSpPr>
        <p:spPr>
          <a:xfrm>
            <a:off x="1261872" y="164592"/>
            <a:ext cx="40745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Room A: tidy or untidy?</a:t>
            </a:r>
            <a:endParaRPr lang="en-US" sz="2500" dirty="0"/>
          </a:p>
        </p:txBody>
      </p:sp>
      <p:pic>
        <p:nvPicPr>
          <p:cNvPr id="6" name="brP_74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032504" cy="402336"/>
          </a:xfrm>
          <a:prstGeom prst="rect">
            <a:avLst/>
          </a:prstGeom>
        </p:spPr>
      </p:pic>
      <p:sp>
        <p:nvSpPr>
          <p:cNvPr id="7" name="ins_75"/>
          <p:cNvSpPr/>
          <p:nvPr/>
        </p:nvSpPr>
        <p:spPr>
          <a:xfrm>
            <a:off x="1353312" y="731520"/>
            <a:ext cx="377647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Look at photo A. Answer questions 1–4.</a:t>
            </a:r>
            <a:endParaRPr lang="en-US" sz="1250" dirty="0"/>
          </a:p>
        </p:txBody>
      </p:sp>
      <p:sp>
        <p:nvSpPr>
          <p:cNvPr id="8" name="insIT_76"/>
          <p:cNvSpPr/>
          <p:nvPr/>
        </p:nvSpPr>
        <p:spPr>
          <a:xfrm>
            <a:off x="1371600" y="1115568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Guarda la foto A. Rispondi alle domande 1–4.</a:t>
            </a:r>
            <a:endParaRPr lang="en-US" sz="950" dirty="0"/>
          </a:p>
        </p:txBody>
      </p:sp>
      <p:sp>
        <p:nvSpPr>
          <p:cNvPr id="9" name="cmd_77"/>
          <p:cNvSpPr/>
          <p:nvPr/>
        </p:nvSpPr>
        <p:spPr>
          <a:xfrm>
            <a:off x="6583680" y="182880"/>
            <a:ext cx="178308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</a:rPr>
              <a:t>👀 </a:t>
            </a:r>
            <a:pPr indent="0" marL="0">
              <a:buNone/>
            </a:pPr>
            <a:r>
              <a:rPr lang="en-US" sz="1200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LOOK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GUARDA</a:t>
            </a:r>
            <a:endParaRPr lang="en-US" sz="1300" dirty="0"/>
          </a:p>
        </p:txBody>
      </p:sp>
      <p:sp>
        <p:nvSpPr>
          <p:cNvPr id="10" name="cmd_78"/>
          <p:cNvSpPr/>
          <p:nvPr/>
        </p:nvSpPr>
        <p:spPr>
          <a:xfrm>
            <a:off x="6583680" y="566928"/>
            <a:ext cx="178308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</a:rPr>
              <a:t>💬 </a:t>
            </a:r>
            <a:pPr indent="0" marL="0">
              <a:buNone/>
            </a:pPr>
            <a:r>
              <a:rPr lang="en-US" sz="1200" dirty="0">
                <a:solidFill>
                  <a:srgbClr val="E8508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TALK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PARLA</a:t>
            </a:r>
            <a:endParaRPr lang="en-US" sz="1300" dirty="0"/>
          </a:p>
        </p:txBody>
      </p:sp>
      <p:sp>
        <p:nvSpPr>
          <p:cNvPr id="11" name="meta_79"/>
          <p:cNvSpPr/>
          <p:nvPr/>
        </p:nvSpPr>
        <p:spPr>
          <a:xfrm>
            <a:off x="6583680" y="950976"/>
            <a:ext cx="2286000" cy="256032"/>
          </a:xfrm>
          <a:prstGeom prst="rect">
            <a:avLst/>
          </a:prstGeom>
          <a:noFill/>
          <a:ln/>
        </p:spPr>
        <p:txBody>
          <a:bodyPr wrap="square" lIns="0" tIns="101600" rIns="1016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4 min   👥 pairs</a:t>
            </a:r>
            <a:endParaRPr lang="en-US" sz="950" dirty="0"/>
          </a:p>
        </p:txBody>
      </p:sp>
      <p:pic>
        <p:nvPicPr>
          <p:cNvPr id="12" name="logo_80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81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2A · Lead-in · Room A   ·   📖 SB p.14 · 1a</a:t>
            </a:r>
            <a:endParaRPr lang="en-US" sz="800" dirty="0"/>
          </a:p>
        </p:txBody>
      </p:sp>
      <p:sp>
        <p:nvSpPr>
          <p:cNvPr id="14" name="pf_82"/>
          <p:cNvSpPr/>
          <p:nvPr/>
        </p:nvSpPr>
        <p:spPr>
          <a:xfrm rot="-60000">
            <a:off x="365760" y="1417320"/>
            <a:ext cx="4937760" cy="3200400"/>
          </a:xfrm>
          <a:prstGeom prst="roundRect">
            <a:avLst>
              <a:gd name="adj" fmla="val 485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5" name="ph_83" descr="/home/claude/lls-course/v2/cache/red_2a_tidy_jpg_1166x748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60000">
            <a:off x="411480" y="1463040"/>
            <a:ext cx="4846320" cy="3108960"/>
          </a:xfrm>
          <a:prstGeom prst="rect">
            <a:avLst/>
          </a:prstGeom>
        </p:spPr>
      </p:pic>
      <p:sp>
        <p:nvSpPr>
          <p:cNvPr id="16" name="bd_84"/>
          <p:cNvSpPr/>
          <p:nvPr/>
        </p:nvSpPr>
        <p:spPr>
          <a:xfrm>
            <a:off x="2642616" y="2825496"/>
            <a:ext cx="384048" cy="384048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300" dirty="0"/>
          </a:p>
        </p:txBody>
      </p:sp>
      <p:sp>
        <p:nvSpPr>
          <p:cNvPr id="17" name="bd_85"/>
          <p:cNvSpPr/>
          <p:nvPr/>
        </p:nvSpPr>
        <p:spPr>
          <a:xfrm>
            <a:off x="4338828" y="2825496"/>
            <a:ext cx="384048" cy="384048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300" dirty="0"/>
          </a:p>
        </p:txBody>
      </p:sp>
      <p:sp>
        <p:nvSpPr>
          <p:cNvPr id="18" name="bd_86"/>
          <p:cNvSpPr/>
          <p:nvPr/>
        </p:nvSpPr>
        <p:spPr>
          <a:xfrm>
            <a:off x="2642616" y="3913632"/>
            <a:ext cx="384048" cy="384048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bd_87"/>
          <p:cNvSpPr/>
          <p:nvPr/>
        </p:nvSpPr>
        <p:spPr>
          <a:xfrm>
            <a:off x="1188720" y="2048256"/>
            <a:ext cx="384048" cy="384048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300" dirty="0"/>
          </a:p>
        </p:txBody>
      </p:sp>
      <p:sp>
        <p:nvSpPr>
          <p:cNvPr id="20" name="bd_88"/>
          <p:cNvSpPr/>
          <p:nvPr/>
        </p:nvSpPr>
        <p:spPr>
          <a:xfrm>
            <a:off x="5532120" y="1435608"/>
            <a:ext cx="292608" cy="292608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000" dirty="0"/>
          </a:p>
        </p:txBody>
      </p:sp>
      <p:sp>
        <p:nvSpPr>
          <p:cNvPr id="21" name="q_89"/>
          <p:cNvSpPr/>
          <p:nvPr/>
        </p:nvSpPr>
        <p:spPr>
          <a:xfrm>
            <a:off x="5897880" y="1417320"/>
            <a:ext cx="2971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Is room A tidy or untidy?</a:t>
            </a:r>
            <a:endParaRPr lang="en-US" sz="1100" dirty="0"/>
          </a:p>
        </p:txBody>
      </p:sp>
      <p:sp>
        <p:nvSpPr>
          <p:cNvPr id="22" name="R1_chip90"/>
          <p:cNvSpPr/>
          <p:nvPr/>
        </p:nvSpPr>
        <p:spPr>
          <a:xfrm>
            <a:off x="5897880" y="1682496"/>
            <a:ext cx="2377440" cy="292608"/>
          </a:xfrm>
          <a:prstGeom prst="roundRect">
            <a:avLst>
              <a:gd name="adj" fmla="val 3125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It's tidy.</a:t>
            </a:r>
            <a:endParaRPr lang="en-US" sz="1000" dirty="0"/>
          </a:p>
        </p:txBody>
      </p:sp>
      <p:sp>
        <p:nvSpPr>
          <p:cNvPr id="23" name="bd_91"/>
          <p:cNvSpPr/>
          <p:nvPr/>
        </p:nvSpPr>
        <p:spPr>
          <a:xfrm>
            <a:off x="5532120" y="2020824"/>
            <a:ext cx="292608" cy="292608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000" dirty="0"/>
          </a:p>
        </p:txBody>
      </p:sp>
      <p:sp>
        <p:nvSpPr>
          <p:cNvPr id="24" name="q_92"/>
          <p:cNvSpPr/>
          <p:nvPr/>
        </p:nvSpPr>
        <p:spPr>
          <a:xfrm>
            <a:off x="5897880" y="2002536"/>
            <a:ext cx="2971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Who works here? (look at the name)</a:t>
            </a:r>
            <a:endParaRPr lang="en-US" sz="1100" dirty="0"/>
          </a:p>
        </p:txBody>
      </p:sp>
      <p:sp>
        <p:nvSpPr>
          <p:cNvPr id="25" name="R2_chip93"/>
          <p:cNvSpPr/>
          <p:nvPr/>
        </p:nvSpPr>
        <p:spPr>
          <a:xfrm>
            <a:off x="5897880" y="2267712"/>
            <a:ext cx="2377440" cy="292608"/>
          </a:xfrm>
          <a:prstGeom prst="roundRect">
            <a:avLst>
              <a:gd name="adj" fmla="val 3125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Virginia Woolf, an English writer</a:t>
            </a:r>
            <a:endParaRPr lang="en-US" sz="1000" dirty="0"/>
          </a:p>
        </p:txBody>
      </p:sp>
      <p:sp>
        <p:nvSpPr>
          <p:cNvPr id="26" name="bd_94"/>
          <p:cNvSpPr/>
          <p:nvPr/>
        </p:nvSpPr>
        <p:spPr>
          <a:xfrm>
            <a:off x="5532120" y="2606040"/>
            <a:ext cx="292608" cy="292608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000" dirty="0"/>
          </a:p>
        </p:txBody>
      </p:sp>
      <p:sp>
        <p:nvSpPr>
          <p:cNvPr id="27" name="q_95"/>
          <p:cNvSpPr/>
          <p:nvPr/>
        </p:nvSpPr>
        <p:spPr>
          <a:xfrm>
            <a:off x="5897880" y="2587752"/>
            <a:ext cx="2971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Is there a lamp?</a:t>
            </a:r>
            <a:endParaRPr lang="en-US" sz="1100" dirty="0"/>
          </a:p>
        </p:txBody>
      </p:sp>
      <p:sp>
        <p:nvSpPr>
          <p:cNvPr id="28" name="R3_chip96"/>
          <p:cNvSpPr/>
          <p:nvPr/>
        </p:nvSpPr>
        <p:spPr>
          <a:xfrm>
            <a:off x="5897880" y="2852928"/>
            <a:ext cx="2377440" cy="292608"/>
          </a:xfrm>
          <a:prstGeom prst="roundRect">
            <a:avLst>
              <a:gd name="adj" fmla="val 3125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Yes, there is – on the desk.</a:t>
            </a:r>
            <a:endParaRPr lang="en-US" sz="1000" dirty="0"/>
          </a:p>
        </p:txBody>
      </p:sp>
      <p:sp>
        <p:nvSpPr>
          <p:cNvPr id="29" name="bd_97"/>
          <p:cNvSpPr/>
          <p:nvPr/>
        </p:nvSpPr>
        <p:spPr>
          <a:xfrm>
            <a:off x="5532120" y="3191256"/>
            <a:ext cx="292608" cy="292608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000" dirty="0"/>
          </a:p>
        </p:txBody>
      </p:sp>
      <p:sp>
        <p:nvSpPr>
          <p:cNvPr id="30" name="q_98"/>
          <p:cNvSpPr/>
          <p:nvPr/>
        </p:nvSpPr>
        <p:spPr>
          <a:xfrm>
            <a:off x="5897880" y="3172968"/>
            <a:ext cx="2971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Can you see a window or a door?</a:t>
            </a:r>
            <a:endParaRPr lang="en-US" sz="1100" dirty="0"/>
          </a:p>
        </p:txBody>
      </p:sp>
      <p:sp>
        <p:nvSpPr>
          <p:cNvPr id="31" name="R4_chip99"/>
          <p:cNvSpPr/>
          <p:nvPr/>
        </p:nvSpPr>
        <p:spPr>
          <a:xfrm>
            <a:off x="5897880" y="3438144"/>
            <a:ext cx="2377440" cy="292608"/>
          </a:xfrm>
          <a:prstGeom prst="roundRect">
            <a:avLst>
              <a:gd name="adj" fmla="val 3125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Yes – a door / a window.</a:t>
            </a:r>
            <a:endParaRPr lang="en-US" sz="10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100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2800" dirty="0"/>
          </a:p>
        </p:txBody>
      </p:sp>
      <p:pic>
        <p:nvPicPr>
          <p:cNvPr id="4" name="brY_101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719779" cy="621792"/>
          </a:xfrm>
          <a:prstGeom prst="rect">
            <a:avLst/>
          </a:prstGeom>
        </p:spPr>
      </p:pic>
      <p:sp>
        <p:nvSpPr>
          <p:cNvPr id="5" name="title_102"/>
          <p:cNvSpPr/>
          <p:nvPr/>
        </p:nvSpPr>
        <p:spPr>
          <a:xfrm>
            <a:off x="1261872" y="164592"/>
            <a:ext cx="344545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What's in your bag?</a:t>
            </a:r>
            <a:endParaRPr lang="en-US" sz="2500" dirty="0"/>
          </a:p>
        </p:txBody>
      </p:sp>
      <p:pic>
        <p:nvPicPr>
          <p:cNvPr id="6" name="brP_103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379976" cy="402336"/>
          </a:xfrm>
          <a:prstGeom prst="rect">
            <a:avLst/>
          </a:prstGeom>
        </p:spPr>
      </p:pic>
      <p:sp>
        <p:nvSpPr>
          <p:cNvPr id="7" name="ins_104"/>
          <p:cNvSpPr/>
          <p:nvPr/>
        </p:nvSpPr>
        <p:spPr>
          <a:xfrm>
            <a:off x="1353312" y="731520"/>
            <a:ext cx="412394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Name the things. Write a or an + the word.</a:t>
            </a:r>
            <a:endParaRPr lang="en-US" sz="1250" dirty="0"/>
          </a:p>
        </p:txBody>
      </p:sp>
      <p:sp>
        <p:nvSpPr>
          <p:cNvPr id="8" name="insIT_105"/>
          <p:cNvSpPr/>
          <p:nvPr/>
        </p:nvSpPr>
        <p:spPr>
          <a:xfrm>
            <a:off x="1371600" y="1115568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Scrivi a o an + la parola.</a:t>
            </a:r>
            <a:endParaRPr lang="en-US" sz="950" dirty="0"/>
          </a:p>
        </p:txBody>
      </p:sp>
      <p:sp>
        <p:nvSpPr>
          <p:cNvPr id="9" name="cmd_106"/>
          <p:cNvSpPr/>
          <p:nvPr/>
        </p:nvSpPr>
        <p:spPr>
          <a:xfrm>
            <a:off x="6583680" y="182880"/>
            <a:ext cx="178308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</a:rPr>
              <a:t>👀 </a:t>
            </a:r>
            <a:pPr indent="0" marL="0">
              <a:buNone/>
            </a:pPr>
            <a:r>
              <a:rPr lang="en-US" sz="1200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LOOK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GUARDA</a:t>
            </a:r>
            <a:endParaRPr lang="en-US" sz="1300" dirty="0"/>
          </a:p>
        </p:txBody>
      </p:sp>
      <p:sp>
        <p:nvSpPr>
          <p:cNvPr id="10" name="cmd_107"/>
          <p:cNvSpPr/>
          <p:nvPr/>
        </p:nvSpPr>
        <p:spPr>
          <a:xfrm>
            <a:off x="6583680" y="566928"/>
            <a:ext cx="178308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CDBFF3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</a:rPr>
              <a:t>✍️ </a:t>
            </a:r>
            <a:pPr indent="0" marL="0">
              <a:buNone/>
            </a:pPr>
            <a:r>
              <a:rPr lang="en-US" sz="1200" dirty="0">
                <a:solidFill>
                  <a:srgbClr val="7B5CD6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WRITE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SCRIVI</a:t>
            </a:r>
            <a:endParaRPr lang="en-US" sz="1300" dirty="0"/>
          </a:p>
        </p:txBody>
      </p:sp>
      <p:sp>
        <p:nvSpPr>
          <p:cNvPr id="11" name="meta_108"/>
          <p:cNvSpPr/>
          <p:nvPr/>
        </p:nvSpPr>
        <p:spPr>
          <a:xfrm>
            <a:off x="6583680" y="950976"/>
            <a:ext cx="2286000" cy="256032"/>
          </a:xfrm>
          <a:prstGeom prst="rect">
            <a:avLst/>
          </a:prstGeom>
          <a:noFill/>
          <a:ln/>
        </p:spPr>
        <p:txBody>
          <a:bodyPr wrap="square" lIns="0" tIns="101600" rIns="1016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6 min   👥 pairs</a:t>
            </a:r>
            <a:endParaRPr lang="en-US" sz="950" dirty="0"/>
          </a:p>
        </p:txBody>
      </p:sp>
      <p:pic>
        <p:nvPicPr>
          <p:cNvPr id="12" name="logo_109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110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2A · Vocabulary · things   ·   📖 SB p.14 · 1b, 1c · Vocabulary Bank Things p.151</a:t>
            </a:r>
            <a:endParaRPr lang="en-US" sz="800" dirty="0"/>
          </a:p>
        </p:txBody>
      </p:sp>
      <p:sp>
        <p:nvSpPr>
          <p:cNvPr id="14" name="cd_111"/>
          <p:cNvSpPr/>
          <p:nvPr/>
        </p:nvSpPr>
        <p:spPr>
          <a:xfrm>
            <a:off x="320040" y="1417320"/>
            <a:ext cx="2697480" cy="1097280"/>
          </a:xfrm>
          <a:prstGeom prst="roundRect">
            <a:avLst>
              <a:gd name="adj" fmla="val 11667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5" name="ii_112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⭐</a:t>
            </a:r>
            <a:endParaRPr lang="en-US" sz="2200" dirty="0"/>
          </a:p>
        </p:txBody>
      </p:sp>
      <p:sp>
        <p:nvSpPr>
          <p:cNvPr id="16" name="ih_113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Example</a:t>
            </a:r>
            <a:endParaRPr lang="en-US" sz="1300" dirty="0"/>
          </a:p>
        </p:txBody>
      </p:sp>
      <p:sp>
        <p:nvSpPr>
          <p:cNvPr id="17" name="il_114"/>
          <p:cNvSpPr/>
          <p:nvPr/>
        </p:nvSpPr>
        <p:spPr>
          <a:xfrm>
            <a:off x="886968" y="1892808"/>
            <a:ext cx="20391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  🔑 → a key</a:t>
            </a:r>
            <a:endParaRPr lang="en-US" sz="1050" dirty="0"/>
          </a:p>
        </p:txBody>
      </p:sp>
      <p:sp>
        <p:nvSpPr>
          <p:cNvPr id="18" name="pf_115"/>
          <p:cNvSpPr/>
          <p:nvPr/>
        </p:nvSpPr>
        <p:spPr>
          <a:xfrm rot="-90000">
            <a:off x="365760" y="2697480"/>
            <a:ext cx="2606040" cy="1965960"/>
          </a:xfrm>
          <a:prstGeom prst="roundRect">
            <a:avLst>
              <a:gd name="adj" fmla="val 790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9" name="ph_116" descr="/home/claude/lls-course/v2/cache/red_2a_untidy_jpg_605x451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90000">
            <a:off x="411480" y="2743200"/>
            <a:ext cx="2514600" cy="1874520"/>
          </a:xfrm>
          <a:prstGeom prst="rect">
            <a:avLst/>
          </a:prstGeom>
        </p:spPr>
      </p:pic>
      <p:sp>
        <p:nvSpPr>
          <p:cNvPr id="20" name="bd_117"/>
          <p:cNvSpPr/>
          <p:nvPr/>
        </p:nvSpPr>
        <p:spPr>
          <a:xfrm>
            <a:off x="3246120" y="1444752"/>
            <a:ext cx="310896" cy="310896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000" dirty="0"/>
          </a:p>
        </p:txBody>
      </p:sp>
      <p:sp>
        <p:nvSpPr>
          <p:cNvPr id="21" name="q_118"/>
          <p:cNvSpPr/>
          <p:nvPr/>
        </p:nvSpPr>
        <p:spPr>
          <a:xfrm>
            <a:off x="3630168" y="1417320"/>
            <a:ext cx="2103120" cy="3657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👓</a:t>
            </a:r>
            <a:endParaRPr lang="en-US" sz="1150" dirty="0"/>
          </a:p>
        </p:txBody>
      </p:sp>
      <p:sp>
        <p:nvSpPr>
          <p:cNvPr id="22" name="R1_chip119"/>
          <p:cNvSpPr/>
          <p:nvPr/>
        </p:nvSpPr>
        <p:spPr>
          <a:xfrm>
            <a:off x="5806440" y="1417320"/>
            <a:ext cx="3063240" cy="365760"/>
          </a:xfrm>
          <a:prstGeom prst="roundRect">
            <a:avLst>
              <a:gd name="adj" fmla="val 25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glasses (always plural!)</a:t>
            </a:r>
            <a:endParaRPr lang="en-US" sz="1000" dirty="0"/>
          </a:p>
        </p:txBody>
      </p:sp>
      <p:sp>
        <p:nvSpPr>
          <p:cNvPr id="23" name="bd_120"/>
          <p:cNvSpPr/>
          <p:nvPr/>
        </p:nvSpPr>
        <p:spPr>
          <a:xfrm>
            <a:off x="3246120" y="1856232"/>
            <a:ext cx="310896" cy="310896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000" dirty="0"/>
          </a:p>
        </p:txBody>
      </p:sp>
      <p:sp>
        <p:nvSpPr>
          <p:cNvPr id="24" name="q_121"/>
          <p:cNvSpPr/>
          <p:nvPr/>
        </p:nvSpPr>
        <p:spPr>
          <a:xfrm>
            <a:off x="3630168" y="1828800"/>
            <a:ext cx="2103120" cy="3657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👛 / 💼</a:t>
            </a:r>
            <a:endParaRPr lang="en-US" sz="1150" dirty="0"/>
          </a:p>
        </p:txBody>
      </p:sp>
      <p:sp>
        <p:nvSpPr>
          <p:cNvPr id="25" name="R2_chip122"/>
          <p:cNvSpPr/>
          <p:nvPr/>
        </p:nvSpPr>
        <p:spPr>
          <a:xfrm>
            <a:off x="5806440" y="1828800"/>
            <a:ext cx="3063240" cy="365760"/>
          </a:xfrm>
          <a:prstGeom prst="roundRect">
            <a:avLst>
              <a:gd name="adj" fmla="val 25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purse / a wallet</a:t>
            </a:r>
            <a:endParaRPr lang="en-US" sz="1000" dirty="0"/>
          </a:p>
        </p:txBody>
      </p:sp>
      <p:sp>
        <p:nvSpPr>
          <p:cNvPr id="26" name="bd_123"/>
          <p:cNvSpPr/>
          <p:nvPr/>
        </p:nvSpPr>
        <p:spPr>
          <a:xfrm>
            <a:off x="3246120" y="2267712"/>
            <a:ext cx="310896" cy="310896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000" dirty="0"/>
          </a:p>
        </p:txBody>
      </p:sp>
      <p:sp>
        <p:nvSpPr>
          <p:cNvPr id="27" name="q_124"/>
          <p:cNvSpPr/>
          <p:nvPr/>
        </p:nvSpPr>
        <p:spPr>
          <a:xfrm>
            <a:off x="3630168" y="2240280"/>
            <a:ext cx="2103120" cy="3657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💳</a:t>
            </a:r>
            <a:endParaRPr lang="en-US" sz="1150" dirty="0"/>
          </a:p>
        </p:txBody>
      </p:sp>
      <p:sp>
        <p:nvSpPr>
          <p:cNvPr id="28" name="R3_chip125"/>
          <p:cNvSpPr/>
          <p:nvPr/>
        </p:nvSpPr>
        <p:spPr>
          <a:xfrm>
            <a:off x="5806440" y="2240280"/>
            <a:ext cx="3063240" cy="365760"/>
          </a:xfrm>
          <a:prstGeom prst="roundRect">
            <a:avLst>
              <a:gd name="adj" fmla="val 25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credit card</a:t>
            </a:r>
            <a:endParaRPr lang="en-US" sz="1000" dirty="0"/>
          </a:p>
        </p:txBody>
      </p:sp>
      <p:sp>
        <p:nvSpPr>
          <p:cNvPr id="29" name="bd_126"/>
          <p:cNvSpPr/>
          <p:nvPr/>
        </p:nvSpPr>
        <p:spPr>
          <a:xfrm>
            <a:off x="3246120" y="2679192"/>
            <a:ext cx="310896" cy="310896"/>
          </a:xfrm>
          <a:prstGeom prst="ellipse">
            <a:avLst/>
          </a:prstGeom>
          <a:solidFill>
            <a:srgbClr val="F2B705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000" dirty="0"/>
          </a:p>
        </p:txBody>
      </p:sp>
      <p:sp>
        <p:nvSpPr>
          <p:cNvPr id="30" name="q_127"/>
          <p:cNvSpPr/>
          <p:nvPr/>
        </p:nvSpPr>
        <p:spPr>
          <a:xfrm>
            <a:off x="3630168" y="2651760"/>
            <a:ext cx="2103120" cy="3657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🪪</a:t>
            </a:r>
            <a:endParaRPr lang="en-US" sz="1150" dirty="0"/>
          </a:p>
        </p:txBody>
      </p:sp>
      <p:sp>
        <p:nvSpPr>
          <p:cNvPr id="31" name="R4_chip128"/>
          <p:cNvSpPr/>
          <p:nvPr/>
        </p:nvSpPr>
        <p:spPr>
          <a:xfrm>
            <a:off x="5806440" y="2651760"/>
            <a:ext cx="3063240" cy="365760"/>
          </a:xfrm>
          <a:prstGeom prst="roundRect">
            <a:avLst>
              <a:gd name="adj" fmla="val 25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an identity card</a:t>
            </a:r>
            <a:endParaRPr lang="en-US" sz="1000" dirty="0"/>
          </a:p>
        </p:txBody>
      </p:sp>
      <p:sp>
        <p:nvSpPr>
          <p:cNvPr id="32" name="bd_129"/>
          <p:cNvSpPr/>
          <p:nvPr/>
        </p:nvSpPr>
        <p:spPr>
          <a:xfrm>
            <a:off x="3246120" y="3090672"/>
            <a:ext cx="310896" cy="310896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000" dirty="0"/>
          </a:p>
        </p:txBody>
      </p:sp>
      <p:sp>
        <p:nvSpPr>
          <p:cNvPr id="33" name="q_130"/>
          <p:cNvSpPr/>
          <p:nvPr/>
        </p:nvSpPr>
        <p:spPr>
          <a:xfrm>
            <a:off x="3630168" y="3063240"/>
            <a:ext cx="2103120" cy="3657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🔌</a:t>
            </a:r>
            <a:endParaRPr lang="en-US" sz="1150" dirty="0"/>
          </a:p>
        </p:txBody>
      </p:sp>
      <p:sp>
        <p:nvSpPr>
          <p:cNvPr id="34" name="R5_chip131"/>
          <p:cNvSpPr/>
          <p:nvPr/>
        </p:nvSpPr>
        <p:spPr>
          <a:xfrm>
            <a:off x="5806440" y="3063240"/>
            <a:ext cx="3063240" cy="365760"/>
          </a:xfrm>
          <a:prstGeom prst="roundRect">
            <a:avLst>
              <a:gd name="adj" fmla="val 25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charger</a:t>
            </a:r>
            <a:endParaRPr lang="en-US" sz="1000" dirty="0"/>
          </a:p>
        </p:txBody>
      </p:sp>
      <p:sp>
        <p:nvSpPr>
          <p:cNvPr id="35" name="bd_132"/>
          <p:cNvSpPr/>
          <p:nvPr/>
        </p:nvSpPr>
        <p:spPr>
          <a:xfrm>
            <a:off x="3246120" y="3502152"/>
            <a:ext cx="310896" cy="310896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1000" dirty="0"/>
          </a:p>
        </p:txBody>
      </p:sp>
      <p:sp>
        <p:nvSpPr>
          <p:cNvPr id="36" name="q_133"/>
          <p:cNvSpPr/>
          <p:nvPr/>
        </p:nvSpPr>
        <p:spPr>
          <a:xfrm>
            <a:off x="3630168" y="3474720"/>
            <a:ext cx="2103120" cy="3657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🎧</a:t>
            </a:r>
            <a:endParaRPr lang="en-US" sz="1150" dirty="0"/>
          </a:p>
        </p:txBody>
      </p:sp>
      <p:sp>
        <p:nvSpPr>
          <p:cNvPr id="37" name="R6_chip134"/>
          <p:cNvSpPr/>
          <p:nvPr/>
        </p:nvSpPr>
        <p:spPr>
          <a:xfrm>
            <a:off x="5806440" y="3474720"/>
            <a:ext cx="3063240" cy="365760"/>
          </a:xfrm>
          <a:prstGeom prst="roundRect">
            <a:avLst>
              <a:gd name="adj" fmla="val 25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headphones</a:t>
            </a:r>
            <a:endParaRPr lang="en-US" sz="1000" dirty="0"/>
          </a:p>
        </p:txBody>
      </p:sp>
      <p:sp>
        <p:nvSpPr>
          <p:cNvPr id="38" name="bd_135"/>
          <p:cNvSpPr/>
          <p:nvPr/>
        </p:nvSpPr>
        <p:spPr>
          <a:xfrm>
            <a:off x="3246120" y="3913632"/>
            <a:ext cx="310896" cy="310896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7</a:t>
            </a:r>
            <a:endParaRPr lang="en-US" sz="1000" dirty="0"/>
          </a:p>
        </p:txBody>
      </p:sp>
      <p:sp>
        <p:nvSpPr>
          <p:cNvPr id="39" name="q_136"/>
          <p:cNvSpPr/>
          <p:nvPr/>
        </p:nvSpPr>
        <p:spPr>
          <a:xfrm>
            <a:off x="3630168" y="3886200"/>
            <a:ext cx="2103120" cy="3657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☂️</a:t>
            </a:r>
            <a:endParaRPr lang="en-US" sz="1150" dirty="0"/>
          </a:p>
        </p:txBody>
      </p:sp>
      <p:sp>
        <p:nvSpPr>
          <p:cNvPr id="40" name="R7_chip137"/>
          <p:cNvSpPr/>
          <p:nvPr/>
        </p:nvSpPr>
        <p:spPr>
          <a:xfrm>
            <a:off x="5806440" y="3886200"/>
            <a:ext cx="3063240" cy="365760"/>
          </a:xfrm>
          <a:prstGeom prst="roundRect">
            <a:avLst>
              <a:gd name="adj" fmla="val 25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an umbrella</a:t>
            </a:r>
            <a:endParaRPr lang="en-US" sz="1000" dirty="0"/>
          </a:p>
        </p:txBody>
      </p:sp>
      <p:sp>
        <p:nvSpPr>
          <p:cNvPr id="41" name="bd_138"/>
          <p:cNvSpPr/>
          <p:nvPr/>
        </p:nvSpPr>
        <p:spPr>
          <a:xfrm>
            <a:off x="3246120" y="4325112"/>
            <a:ext cx="310896" cy="310896"/>
          </a:xfrm>
          <a:prstGeom prst="ellipse">
            <a:avLst/>
          </a:prstGeom>
          <a:solidFill>
            <a:srgbClr val="F2B705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8</a:t>
            </a:r>
            <a:endParaRPr lang="en-US" sz="1000" dirty="0"/>
          </a:p>
        </p:txBody>
      </p:sp>
      <p:sp>
        <p:nvSpPr>
          <p:cNvPr id="42" name="q_139"/>
          <p:cNvSpPr/>
          <p:nvPr/>
        </p:nvSpPr>
        <p:spPr>
          <a:xfrm>
            <a:off x="3630168" y="4297680"/>
            <a:ext cx="2103120" cy="3657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📔</a:t>
            </a:r>
            <a:endParaRPr lang="en-US" sz="1150" dirty="0"/>
          </a:p>
        </p:txBody>
      </p:sp>
      <p:sp>
        <p:nvSpPr>
          <p:cNvPr id="43" name="R8_chip140"/>
          <p:cNvSpPr/>
          <p:nvPr/>
        </p:nvSpPr>
        <p:spPr>
          <a:xfrm>
            <a:off x="5806440" y="4297680"/>
            <a:ext cx="3063240" cy="365760"/>
          </a:xfrm>
          <a:prstGeom prst="roundRect">
            <a:avLst>
              <a:gd name="adj" fmla="val 25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diary</a:t>
            </a:r>
            <a:endParaRPr lang="en-US" sz="10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141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2800" dirty="0"/>
          </a:p>
        </p:txBody>
      </p:sp>
      <p:pic>
        <p:nvPicPr>
          <p:cNvPr id="4" name="brY_142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4663440" cy="621792"/>
          </a:xfrm>
          <a:prstGeom prst="rect">
            <a:avLst/>
          </a:prstGeom>
        </p:spPr>
      </p:pic>
      <p:sp>
        <p:nvSpPr>
          <p:cNvPr id="5" name="title_143"/>
          <p:cNvSpPr/>
          <p:nvPr/>
        </p:nvSpPr>
        <p:spPr>
          <a:xfrm>
            <a:off x="1261872" y="164592"/>
            <a:ext cx="4389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Things: English → Italian</a:t>
            </a:r>
            <a:endParaRPr lang="en-US" sz="2500" dirty="0"/>
          </a:p>
        </p:txBody>
      </p:sp>
      <p:pic>
        <p:nvPicPr>
          <p:cNvPr id="6" name="brP_144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727448" cy="402336"/>
          </a:xfrm>
          <a:prstGeom prst="rect">
            <a:avLst/>
          </a:prstGeom>
        </p:spPr>
      </p:pic>
      <p:sp>
        <p:nvSpPr>
          <p:cNvPr id="7" name="ins_145"/>
          <p:cNvSpPr/>
          <p:nvPr/>
        </p:nvSpPr>
        <p:spPr>
          <a:xfrm>
            <a:off x="1353312" y="731520"/>
            <a:ext cx="44714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Explain it in English. Then click for Italian.</a:t>
            </a:r>
            <a:endParaRPr lang="en-US" sz="1250" dirty="0"/>
          </a:p>
        </p:txBody>
      </p:sp>
      <p:sp>
        <p:nvSpPr>
          <p:cNvPr id="8" name="insIT_146"/>
          <p:cNvSpPr/>
          <p:nvPr/>
        </p:nvSpPr>
        <p:spPr>
          <a:xfrm>
            <a:off x="1371600" y="1115568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Spiegalo in inglese. Poi clicca per l'italiano.</a:t>
            </a:r>
            <a:endParaRPr lang="en-US" sz="950" dirty="0"/>
          </a:p>
        </p:txBody>
      </p:sp>
      <p:sp>
        <p:nvSpPr>
          <p:cNvPr id="9" name="cmd_147"/>
          <p:cNvSpPr/>
          <p:nvPr/>
        </p:nvSpPr>
        <p:spPr>
          <a:xfrm>
            <a:off x="6583680" y="182880"/>
            <a:ext cx="178308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</a:rPr>
              <a:t>✅ </a:t>
            </a:r>
            <a:pPr indent="0" marL="0">
              <a:buNone/>
            </a:pPr>
            <a:r>
              <a:rPr lang="en-US" sz="1200" dirty="0">
                <a:solidFill>
                  <a:srgbClr val="2EB872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CHECK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CONTROLLA</a:t>
            </a:r>
            <a:endParaRPr lang="en-US" sz="1300" dirty="0"/>
          </a:p>
        </p:txBody>
      </p:sp>
      <p:sp>
        <p:nvSpPr>
          <p:cNvPr id="10" name="meta_148"/>
          <p:cNvSpPr/>
          <p:nvPr/>
        </p:nvSpPr>
        <p:spPr>
          <a:xfrm>
            <a:off x="6583680" y="566928"/>
            <a:ext cx="2286000" cy="256032"/>
          </a:xfrm>
          <a:prstGeom prst="rect">
            <a:avLst/>
          </a:prstGeom>
          <a:noFill/>
          <a:ln/>
        </p:spPr>
        <p:txBody>
          <a:bodyPr wrap="square" lIns="0" tIns="101600" rIns="1016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3 min   🙋 whole class</a:t>
            </a:r>
            <a:endParaRPr lang="en-US" sz="950" dirty="0"/>
          </a:p>
        </p:txBody>
      </p:sp>
      <p:pic>
        <p:nvPicPr>
          <p:cNvPr id="11" name="logo_149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2" name="foot_150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2A · Vocabulary · English, then Italian</a:t>
            </a:r>
            <a:endParaRPr lang="en-US" sz="800" dirty="0"/>
          </a:p>
        </p:txBody>
      </p:sp>
      <p:sp>
        <p:nvSpPr>
          <p:cNvPr id="13" name="cd_151"/>
          <p:cNvSpPr/>
          <p:nvPr/>
        </p:nvSpPr>
        <p:spPr>
          <a:xfrm>
            <a:off x="320040" y="141732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19050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4" name="e_152"/>
          <p:cNvSpPr/>
          <p:nvPr/>
        </p:nvSpPr>
        <p:spPr>
          <a:xfrm>
            <a:off x="393192" y="1527048"/>
            <a:ext cx="512064" cy="512064"/>
          </a:xfrm>
          <a:prstGeom prst="ellipse">
            <a:avLst/>
          </a:prstGeom>
          <a:solidFill>
            <a:srgbClr val="FFE3E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👛</a:t>
            </a:r>
            <a:endParaRPr lang="en-US" sz="2000" dirty="0"/>
          </a:p>
        </p:txBody>
      </p:sp>
      <p:sp>
        <p:nvSpPr>
          <p:cNvPr id="15" name="en_153"/>
          <p:cNvSpPr/>
          <p:nvPr/>
        </p:nvSpPr>
        <p:spPr>
          <a:xfrm>
            <a:off x="978408" y="147218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 purse</a:t>
            </a:r>
            <a:endParaRPr lang="en-US" sz="1200" dirty="0"/>
          </a:p>
        </p:txBody>
      </p:sp>
      <p:sp>
        <p:nvSpPr>
          <p:cNvPr id="16" name="R1_def154"/>
          <p:cNvSpPr/>
          <p:nvPr/>
        </p:nvSpPr>
        <p:spPr>
          <a:xfrm>
            <a:off x="978408" y="1764792"/>
            <a:ext cx="13624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small bag for money (women)</a:t>
            </a:r>
            <a:endParaRPr lang="en-US" sz="850" dirty="0"/>
          </a:p>
        </p:txBody>
      </p:sp>
      <p:sp>
        <p:nvSpPr>
          <p:cNvPr id="17" name="R2_it155"/>
          <p:cNvSpPr/>
          <p:nvPr/>
        </p:nvSpPr>
        <p:spPr>
          <a:xfrm>
            <a:off x="978408" y="1947672"/>
            <a:ext cx="13624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borsellino</a:t>
            </a:r>
            <a:endParaRPr lang="en-US" sz="900" dirty="0"/>
          </a:p>
        </p:txBody>
      </p:sp>
      <p:sp>
        <p:nvSpPr>
          <p:cNvPr id="18" name="cd_156"/>
          <p:cNvSpPr/>
          <p:nvPr/>
        </p:nvSpPr>
        <p:spPr>
          <a:xfrm>
            <a:off x="2487168" y="141732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19050">
            <a:solidFill>
              <a:srgbClr val="A9D3F5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9" name="e_157"/>
          <p:cNvSpPr/>
          <p:nvPr/>
        </p:nvSpPr>
        <p:spPr>
          <a:xfrm>
            <a:off x="2560320" y="1527048"/>
            <a:ext cx="512064" cy="512064"/>
          </a:xfrm>
          <a:prstGeom prst="ellipse">
            <a:avLst/>
          </a:prstGeom>
          <a:solidFill>
            <a:srgbClr val="E3F1F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💼</a:t>
            </a:r>
            <a:endParaRPr lang="en-US" sz="2000" dirty="0"/>
          </a:p>
        </p:txBody>
      </p:sp>
      <p:sp>
        <p:nvSpPr>
          <p:cNvPr id="20" name="en_158"/>
          <p:cNvSpPr/>
          <p:nvPr/>
        </p:nvSpPr>
        <p:spPr>
          <a:xfrm>
            <a:off x="3145536" y="147218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 wallet</a:t>
            </a:r>
            <a:endParaRPr lang="en-US" sz="1200" dirty="0"/>
          </a:p>
        </p:txBody>
      </p:sp>
      <p:sp>
        <p:nvSpPr>
          <p:cNvPr id="21" name="R1_def159"/>
          <p:cNvSpPr/>
          <p:nvPr/>
        </p:nvSpPr>
        <p:spPr>
          <a:xfrm>
            <a:off x="3145536" y="1764792"/>
            <a:ext cx="13624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for money and cards (men)</a:t>
            </a:r>
            <a:endParaRPr lang="en-US" sz="850" dirty="0"/>
          </a:p>
        </p:txBody>
      </p:sp>
      <p:sp>
        <p:nvSpPr>
          <p:cNvPr id="22" name="R2_it160"/>
          <p:cNvSpPr/>
          <p:nvPr/>
        </p:nvSpPr>
        <p:spPr>
          <a:xfrm>
            <a:off x="3145536" y="1947672"/>
            <a:ext cx="13624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portafoglio</a:t>
            </a:r>
            <a:endParaRPr lang="en-US" sz="900" dirty="0"/>
          </a:p>
        </p:txBody>
      </p:sp>
      <p:sp>
        <p:nvSpPr>
          <p:cNvPr id="23" name="cd_161"/>
          <p:cNvSpPr/>
          <p:nvPr/>
        </p:nvSpPr>
        <p:spPr>
          <a:xfrm>
            <a:off x="4654296" y="141732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19050">
            <a:solidFill>
              <a:srgbClr val="A8E5BE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4" name="e_162"/>
          <p:cNvSpPr/>
          <p:nvPr/>
        </p:nvSpPr>
        <p:spPr>
          <a:xfrm>
            <a:off x="4727448" y="1527048"/>
            <a:ext cx="512064" cy="512064"/>
          </a:xfrm>
          <a:prstGeom prst="ellipse">
            <a:avLst/>
          </a:prstGeom>
          <a:solidFill>
            <a:srgbClr val="E3F7E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📔</a:t>
            </a:r>
            <a:endParaRPr lang="en-US" sz="2000" dirty="0"/>
          </a:p>
        </p:txBody>
      </p:sp>
      <p:sp>
        <p:nvSpPr>
          <p:cNvPr id="25" name="en_163"/>
          <p:cNvSpPr/>
          <p:nvPr/>
        </p:nvSpPr>
        <p:spPr>
          <a:xfrm>
            <a:off x="5312664" y="147218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 diary</a:t>
            </a:r>
            <a:endParaRPr lang="en-US" sz="1200" dirty="0"/>
          </a:p>
        </p:txBody>
      </p:sp>
      <p:sp>
        <p:nvSpPr>
          <p:cNvPr id="26" name="R1_def164"/>
          <p:cNvSpPr/>
          <p:nvPr/>
        </p:nvSpPr>
        <p:spPr>
          <a:xfrm>
            <a:off x="5312664" y="1764792"/>
            <a:ext cx="13624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book for dates and plans</a:t>
            </a:r>
            <a:endParaRPr lang="en-US" sz="850" dirty="0"/>
          </a:p>
        </p:txBody>
      </p:sp>
      <p:sp>
        <p:nvSpPr>
          <p:cNvPr id="27" name="R2_it165"/>
          <p:cNvSpPr/>
          <p:nvPr/>
        </p:nvSpPr>
        <p:spPr>
          <a:xfrm>
            <a:off x="5312664" y="1947672"/>
            <a:ext cx="13624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agenda</a:t>
            </a:r>
            <a:endParaRPr lang="en-US" sz="900" dirty="0"/>
          </a:p>
        </p:txBody>
      </p:sp>
      <p:sp>
        <p:nvSpPr>
          <p:cNvPr id="28" name="cd_166"/>
          <p:cNvSpPr/>
          <p:nvPr/>
        </p:nvSpPr>
        <p:spPr>
          <a:xfrm>
            <a:off x="6821424" y="141732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9" name="e_167"/>
          <p:cNvSpPr/>
          <p:nvPr/>
        </p:nvSpPr>
        <p:spPr>
          <a:xfrm>
            <a:off x="6894576" y="1527048"/>
            <a:ext cx="512064" cy="512064"/>
          </a:xfrm>
          <a:prstGeom prst="ellipse">
            <a:avLst/>
          </a:prstGeom>
          <a:solidFill>
            <a:srgbClr val="FFF6C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👓</a:t>
            </a:r>
            <a:endParaRPr lang="en-US" sz="2000" dirty="0"/>
          </a:p>
        </p:txBody>
      </p:sp>
      <p:sp>
        <p:nvSpPr>
          <p:cNvPr id="30" name="en_168"/>
          <p:cNvSpPr/>
          <p:nvPr/>
        </p:nvSpPr>
        <p:spPr>
          <a:xfrm>
            <a:off x="7479792" y="147218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glasses</a:t>
            </a:r>
            <a:endParaRPr lang="en-US" sz="1200" dirty="0"/>
          </a:p>
        </p:txBody>
      </p:sp>
      <p:sp>
        <p:nvSpPr>
          <p:cNvPr id="31" name="R1_def169"/>
          <p:cNvSpPr/>
          <p:nvPr/>
        </p:nvSpPr>
        <p:spPr>
          <a:xfrm>
            <a:off x="7479792" y="1764792"/>
            <a:ext cx="13624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you wear them to see</a:t>
            </a:r>
            <a:endParaRPr lang="en-US" sz="850" dirty="0"/>
          </a:p>
        </p:txBody>
      </p:sp>
      <p:sp>
        <p:nvSpPr>
          <p:cNvPr id="32" name="R2_it170"/>
          <p:cNvSpPr/>
          <p:nvPr/>
        </p:nvSpPr>
        <p:spPr>
          <a:xfrm>
            <a:off x="7479792" y="1947672"/>
            <a:ext cx="13624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occhiali</a:t>
            </a:r>
            <a:endParaRPr lang="en-US" sz="900" dirty="0"/>
          </a:p>
        </p:txBody>
      </p:sp>
      <p:sp>
        <p:nvSpPr>
          <p:cNvPr id="33" name="cd_171"/>
          <p:cNvSpPr/>
          <p:nvPr/>
        </p:nvSpPr>
        <p:spPr>
          <a:xfrm>
            <a:off x="320040" y="224028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19050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34" name="e_172"/>
          <p:cNvSpPr/>
          <p:nvPr/>
        </p:nvSpPr>
        <p:spPr>
          <a:xfrm>
            <a:off x="393192" y="2350008"/>
            <a:ext cx="512064" cy="512064"/>
          </a:xfrm>
          <a:prstGeom prst="ellipse">
            <a:avLst/>
          </a:prstGeom>
          <a:solidFill>
            <a:srgbClr val="FFE3E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🔑</a:t>
            </a:r>
            <a:endParaRPr lang="en-US" sz="2000" dirty="0"/>
          </a:p>
        </p:txBody>
      </p:sp>
      <p:sp>
        <p:nvSpPr>
          <p:cNvPr id="35" name="en_173"/>
          <p:cNvSpPr/>
          <p:nvPr/>
        </p:nvSpPr>
        <p:spPr>
          <a:xfrm>
            <a:off x="978408" y="229514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keys</a:t>
            </a:r>
            <a:endParaRPr lang="en-US" sz="1200" dirty="0"/>
          </a:p>
        </p:txBody>
      </p:sp>
      <p:sp>
        <p:nvSpPr>
          <p:cNvPr id="36" name="R1_def174"/>
          <p:cNvSpPr/>
          <p:nvPr/>
        </p:nvSpPr>
        <p:spPr>
          <a:xfrm>
            <a:off x="978408" y="2587752"/>
            <a:ext cx="13624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you open a door with them</a:t>
            </a:r>
            <a:endParaRPr lang="en-US" sz="850" dirty="0"/>
          </a:p>
        </p:txBody>
      </p:sp>
      <p:sp>
        <p:nvSpPr>
          <p:cNvPr id="37" name="R2_it175"/>
          <p:cNvSpPr/>
          <p:nvPr/>
        </p:nvSpPr>
        <p:spPr>
          <a:xfrm>
            <a:off x="978408" y="2770632"/>
            <a:ext cx="13624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chiavi</a:t>
            </a:r>
            <a:endParaRPr lang="en-US" sz="900" dirty="0"/>
          </a:p>
        </p:txBody>
      </p:sp>
      <p:sp>
        <p:nvSpPr>
          <p:cNvPr id="38" name="cd_176"/>
          <p:cNvSpPr/>
          <p:nvPr/>
        </p:nvSpPr>
        <p:spPr>
          <a:xfrm>
            <a:off x="2487168" y="224028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19050">
            <a:solidFill>
              <a:srgbClr val="A9D3F5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39" name="e_177"/>
          <p:cNvSpPr/>
          <p:nvPr/>
        </p:nvSpPr>
        <p:spPr>
          <a:xfrm>
            <a:off x="2560320" y="2350008"/>
            <a:ext cx="512064" cy="512064"/>
          </a:xfrm>
          <a:prstGeom prst="ellipse">
            <a:avLst/>
          </a:prstGeom>
          <a:solidFill>
            <a:srgbClr val="E3F1F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🪙</a:t>
            </a:r>
            <a:endParaRPr lang="en-US" sz="2000" dirty="0"/>
          </a:p>
        </p:txBody>
      </p:sp>
      <p:sp>
        <p:nvSpPr>
          <p:cNvPr id="40" name="en_178"/>
          <p:cNvSpPr/>
          <p:nvPr/>
        </p:nvSpPr>
        <p:spPr>
          <a:xfrm>
            <a:off x="3145536" y="229514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coins</a:t>
            </a:r>
            <a:endParaRPr lang="en-US" sz="1200" dirty="0"/>
          </a:p>
        </p:txBody>
      </p:sp>
      <p:sp>
        <p:nvSpPr>
          <p:cNvPr id="41" name="R1_def179"/>
          <p:cNvSpPr/>
          <p:nvPr/>
        </p:nvSpPr>
        <p:spPr>
          <a:xfrm>
            <a:off x="3145536" y="2587752"/>
            <a:ext cx="13624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small money (metal)</a:t>
            </a:r>
            <a:endParaRPr lang="en-US" sz="850" dirty="0"/>
          </a:p>
        </p:txBody>
      </p:sp>
      <p:sp>
        <p:nvSpPr>
          <p:cNvPr id="42" name="R2_it180"/>
          <p:cNvSpPr/>
          <p:nvPr/>
        </p:nvSpPr>
        <p:spPr>
          <a:xfrm>
            <a:off x="3145536" y="2770632"/>
            <a:ext cx="13624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monete</a:t>
            </a:r>
            <a:endParaRPr lang="en-US" sz="900" dirty="0"/>
          </a:p>
        </p:txBody>
      </p:sp>
      <p:sp>
        <p:nvSpPr>
          <p:cNvPr id="43" name="cd_181"/>
          <p:cNvSpPr/>
          <p:nvPr/>
        </p:nvSpPr>
        <p:spPr>
          <a:xfrm>
            <a:off x="4654296" y="224028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19050">
            <a:solidFill>
              <a:srgbClr val="A8E5BE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44" name="e_182"/>
          <p:cNvSpPr/>
          <p:nvPr/>
        </p:nvSpPr>
        <p:spPr>
          <a:xfrm>
            <a:off x="4727448" y="2350008"/>
            <a:ext cx="512064" cy="512064"/>
          </a:xfrm>
          <a:prstGeom prst="ellipse">
            <a:avLst/>
          </a:prstGeom>
          <a:solidFill>
            <a:srgbClr val="E3F7E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🤧</a:t>
            </a:r>
            <a:endParaRPr lang="en-US" sz="2000" dirty="0"/>
          </a:p>
        </p:txBody>
      </p:sp>
      <p:sp>
        <p:nvSpPr>
          <p:cNvPr id="45" name="en_183"/>
          <p:cNvSpPr/>
          <p:nvPr/>
        </p:nvSpPr>
        <p:spPr>
          <a:xfrm>
            <a:off x="5312664" y="229514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tissues</a:t>
            </a:r>
            <a:endParaRPr lang="en-US" sz="1200" dirty="0"/>
          </a:p>
        </p:txBody>
      </p:sp>
      <p:sp>
        <p:nvSpPr>
          <p:cNvPr id="46" name="R1_def184"/>
          <p:cNvSpPr/>
          <p:nvPr/>
        </p:nvSpPr>
        <p:spPr>
          <a:xfrm>
            <a:off x="5312664" y="2587752"/>
            <a:ext cx="13624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for your nose</a:t>
            </a:r>
            <a:endParaRPr lang="en-US" sz="850" dirty="0"/>
          </a:p>
        </p:txBody>
      </p:sp>
      <p:sp>
        <p:nvSpPr>
          <p:cNvPr id="47" name="R2_it185"/>
          <p:cNvSpPr/>
          <p:nvPr/>
        </p:nvSpPr>
        <p:spPr>
          <a:xfrm>
            <a:off x="5312664" y="2770632"/>
            <a:ext cx="13624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fazzoletti</a:t>
            </a:r>
            <a:endParaRPr lang="en-US" sz="900" dirty="0"/>
          </a:p>
        </p:txBody>
      </p:sp>
      <p:sp>
        <p:nvSpPr>
          <p:cNvPr id="48" name="cd_186"/>
          <p:cNvSpPr/>
          <p:nvPr/>
        </p:nvSpPr>
        <p:spPr>
          <a:xfrm>
            <a:off x="6821424" y="224028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49" name="e_187"/>
          <p:cNvSpPr/>
          <p:nvPr/>
        </p:nvSpPr>
        <p:spPr>
          <a:xfrm>
            <a:off x="6894576" y="2350008"/>
            <a:ext cx="512064" cy="512064"/>
          </a:xfrm>
          <a:prstGeom prst="ellipse">
            <a:avLst/>
          </a:prstGeom>
          <a:solidFill>
            <a:srgbClr val="FFF6C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🔌</a:t>
            </a:r>
            <a:endParaRPr lang="en-US" sz="2000" dirty="0"/>
          </a:p>
        </p:txBody>
      </p:sp>
      <p:sp>
        <p:nvSpPr>
          <p:cNvPr id="50" name="en_188"/>
          <p:cNvSpPr/>
          <p:nvPr/>
        </p:nvSpPr>
        <p:spPr>
          <a:xfrm>
            <a:off x="7479792" y="229514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 charger</a:t>
            </a:r>
            <a:endParaRPr lang="en-US" sz="1200" dirty="0"/>
          </a:p>
        </p:txBody>
      </p:sp>
      <p:sp>
        <p:nvSpPr>
          <p:cNvPr id="51" name="R1_def189"/>
          <p:cNvSpPr/>
          <p:nvPr/>
        </p:nvSpPr>
        <p:spPr>
          <a:xfrm>
            <a:off x="7479792" y="2587752"/>
            <a:ext cx="13624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for your phone</a:t>
            </a:r>
            <a:endParaRPr lang="en-US" sz="850" dirty="0"/>
          </a:p>
        </p:txBody>
      </p:sp>
      <p:sp>
        <p:nvSpPr>
          <p:cNvPr id="52" name="R2_it190"/>
          <p:cNvSpPr/>
          <p:nvPr/>
        </p:nvSpPr>
        <p:spPr>
          <a:xfrm>
            <a:off x="7479792" y="2770632"/>
            <a:ext cx="13624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caricabatterie</a:t>
            </a:r>
            <a:endParaRPr lang="en-US" sz="900" dirty="0"/>
          </a:p>
        </p:txBody>
      </p:sp>
      <p:sp>
        <p:nvSpPr>
          <p:cNvPr id="53" name="cd_191"/>
          <p:cNvSpPr/>
          <p:nvPr/>
        </p:nvSpPr>
        <p:spPr>
          <a:xfrm>
            <a:off x="320040" y="306324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19050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54" name="e_192"/>
          <p:cNvSpPr/>
          <p:nvPr/>
        </p:nvSpPr>
        <p:spPr>
          <a:xfrm>
            <a:off x="393192" y="3172968"/>
            <a:ext cx="512064" cy="512064"/>
          </a:xfrm>
          <a:prstGeom prst="ellipse">
            <a:avLst/>
          </a:prstGeom>
          <a:solidFill>
            <a:srgbClr val="FFE3E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📁</a:t>
            </a:r>
            <a:endParaRPr lang="en-US" sz="2000" dirty="0"/>
          </a:p>
        </p:txBody>
      </p:sp>
      <p:sp>
        <p:nvSpPr>
          <p:cNvPr id="55" name="en_193"/>
          <p:cNvSpPr/>
          <p:nvPr/>
        </p:nvSpPr>
        <p:spPr>
          <a:xfrm>
            <a:off x="978408" y="311810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 file</a:t>
            </a:r>
            <a:endParaRPr lang="en-US" sz="1200" dirty="0"/>
          </a:p>
        </p:txBody>
      </p:sp>
      <p:sp>
        <p:nvSpPr>
          <p:cNvPr id="56" name="R1_def194"/>
          <p:cNvSpPr/>
          <p:nvPr/>
        </p:nvSpPr>
        <p:spPr>
          <a:xfrm>
            <a:off x="978408" y="3410712"/>
            <a:ext cx="13624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for papers</a:t>
            </a:r>
            <a:endParaRPr lang="en-US" sz="850" dirty="0"/>
          </a:p>
        </p:txBody>
      </p:sp>
      <p:sp>
        <p:nvSpPr>
          <p:cNvPr id="57" name="R2_it195"/>
          <p:cNvSpPr/>
          <p:nvPr/>
        </p:nvSpPr>
        <p:spPr>
          <a:xfrm>
            <a:off x="978408" y="3593592"/>
            <a:ext cx="13624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cartellina</a:t>
            </a:r>
            <a:endParaRPr lang="en-US" sz="900" dirty="0"/>
          </a:p>
        </p:txBody>
      </p:sp>
      <p:sp>
        <p:nvSpPr>
          <p:cNvPr id="58" name="cd_196"/>
          <p:cNvSpPr/>
          <p:nvPr/>
        </p:nvSpPr>
        <p:spPr>
          <a:xfrm>
            <a:off x="2487168" y="306324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19050">
            <a:solidFill>
              <a:srgbClr val="A9D3F5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59" name="e_197"/>
          <p:cNvSpPr/>
          <p:nvPr/>
        </p:nvSpPr>
        <p:spPr>
          <a:xfrm>
            <a:off x="2560320" y="3172968"/>
            <a:ext cx="512064" cy="512064"/>
          </a:xfrm>
          <a:prstGeom prst="ellipse">
            <a:avLst/>
          </a:prstGeom>
          <a:solidFill>
            <a:srgbClr val="E3F1F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✂️</a:t>
            </a:r>
            <a:endParaRPr lang="en-US" sz="2000" dirty="0"/>
          </a:p>
        </p:txBody>
      </p:sp>
      <p:sp>
        <p:nvSpPr>
          <p:cNvPr id="60" name="en_198"/>
          <p:cNvSpPr/>
          <p:nvPr/>
        </p:nvSpPr>
        <p:spPr>
          <a:xfrm>
            <a:off x="3145536" y="311810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scissors</a:t>
            </a:r>
            <a:endParaRPr lang="en-US" sz="1200" dirty="0"/>
          </a:p>
        </p:txBody>
      </p:sp>
      <p:sp>
        <p:nvSpPr>
          <p:cNvPr id="61" name="R1_def199"/>
          <p:cNvSpPr/>
          <p:nvPr/>
        </p:nvSpPr>
        <p:spPr>
          <a:xfrm>
            <a:off x="3145536" y="3410712"/>
            <a:ext cx="13624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you cut paper with them</a:t>
            </a:r>
            <a:endParaRPr lang="en-US" sz="850" dirty="0"/>
          </a:p>
        </p:txBody>
      </p:sp>
      <p:sp>
        <p:nvSpPr>
          <p:cNvPr id="62" name="R2_it200"/>
          <p:cNvSpPr/>
          <p:nvPr/>
        </p:nvSpPr>
        <p:spPr>
          <a:xfrm>
            <a:off x="3145536" y="3593592"/>
            <a:ext cx="13624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forbici</a:t>
            </a:r>
            <a:endParaRPr lang="en-US" sz="900" dirty="0"/>
          </a:p>
        </p:txBody>
      </p:sp>
      <p:sp>
        <p:nvSpPr>
          <p:cNvPr id="63" name="cd_201"/>
          <p:cNvSpPr/>
          <p:nvPr/>
        </p:nvSpPr>
        <p:spPr>
          <a:xfrm>
            <a:off x="4654296" y="306324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19050">
            <a:solidFill>
              <a:srgbClr val="A8E5BE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64" name="e_202"/>
          <p:cNvSpPr/>
          <p:nvPr/>
        </p:nvSpPr>
        <p:spPr>
          <a:xfrm>
            <a:off x="4727448" y="3172968"/>
            <a:ext cx="512064" cy="512064"/>
          </a:xfrm>
          <a:prstGeom prst="ellipse">
            <a:avLst/>
          </a:prstGeom>
          <a:solidFill>
            <a:srgbClr val="E3F7E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🎟️</a:t>
            </a:r>
            <a:endParaRPr lang="en-US" sz="2000" dirty="0"/>
          </a:p>
        </p:txBody>
      </p:sp>
      <p:sp>
        <p:nvSpPr>
          <p:cNvPr id="65" name="en_203"/>
          <p:cNvSpPr/>
          <p:nvPr/>
        </p:nvSpPr>
        <p:spPr>
          <a:xfrm>
            <a:off x="5312664" y="311810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 ticket</a:t>
            </a:r>
            <a:endParaRPr lang="en-US" sz="1200" dirty="0"/>
          </a:p>
        </p:txBody>
      </p:sp>
      <p:sp>
        <p:nvSpPr>
          <p:cNvPr id="66" name="R1_def204"/>
          <p:cNvSpPr/>
          <p:nvPr/>
        </p:nvSpPr>
        <p:spPr>
          <a:xfrm>
            <a:off x="5312664" y="3410712"/>
            <a:ext cx="13624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for the train or cinema</a:t>
            </a:r>
            <a:endParaRPr lang="en-US" sz="850" dirty="0"/>
          </a:p>
        </p:txBody>
      </p:sp>
      <p:sp>
        <p:nvSpPr>
          <p:cNvPr id="67" name="R2_it205"/>
          <p:cNvSpPr/>
          <p:nvPr/>
        </p:nvSpPr>
        <p:spPr>
          <a:xfrm>
            <a:off x="5312664" y="3593592"/>
            <a:ext cx="13624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biglietto</a:t>
            </a:r>
            <a:endParaRPr lang="en-US" sz="900" dirty="0"/>
          </a:p>
        </p:txBody>
      </p:sp>
      <p:sp>
        <p:nvSpPr>
          <p:cNvPr id="68" name="cd_206"/>
          <p:cNvSpPr/>
          <p:nvPr/>
        </p:nvSpPr>
        <p:spPr>
          <a:xfrm>
            <a:off x="6821424" y="306324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69" name="e_207"/>
          <p:cNvSpPr/>
          <p:nvPr/>
        </p:nvSpPr>
        <p:spPr>
          <a:xfrm>
            <a:off x="6894576" y="3172968"/>
            <a:ext cx="512064" cy="512064"/>
          </a:xfrm>
          <a:prstGeom prst="ellipse">
            <a:avLst/>
          </a:prstGeom>
          <a:solidFill>
            <a:srgbClr val="FFF6C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🧳</a:t>
            </a:r>
            <a:endParaRPr lang="en-US" sz="2000" dirty="0"/>
          </a:p>
        </p:txBody>
      </p:sp>
      <p:sp>
        <p:nvSpPr>
          <p:cNvPr id="70" name="en_208"/>
          <p:cNvSpPr/>
          <p:nvPr/>
        </p:nvSpPr>
        <p:spPr>
          <a:xfrm>
            <a:off x="7479792" y="311810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 bag</a:t>
            </a:r>
            <a:endParaRPr lang="en-US" sz="1200" dirty="0"/>
          </a:p>
        </p:txBody>
      </p:sp>
      <p:sp>
        <p:nvSpPr>
          <p:cNvPr id="71" name="R1_def209"/>
          <p:cNvSpPr/>
          <p:nvPr/>
        </p:nvSpPr>
        <p:spPr>
          <a:xfrm>
            <a:off x="7479792" y="3410712"/>
            <a:ext cx="13624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you carry things in it</a:t>
            </a:r>
            <a:endParaRPr lang="en-US" sz="850" dirty="0"/>
          </a:p>
        </p:txBody>
      </p:sp>
      <p:sp>
        <p:nvSpPr>
          <p:cNvPr id="72" name="R2_it210"/>
          <p:cNvSpPr/>
          <p:nvPr/>
        </p:nvSpPr>
        <p:spPr>
          <a:xfrm>
            <a:off x="7479792" y="3593592"/>
            <a:ext cx="13624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borsa</a:t>
            </a:r>
            <a:endParaRPr lang="en-US" sz="900" dirty="0"/>
          </a:p>
        </p:txBody>
      </p:sp>
      <p:sp>
        <p:nvSpPr>
          <p:cNvPr id="73" name="R2_wc211"/>
          <p:cNvSpPr/>
          <p:nvPr/>
        </p:nvSpPr>
        <p:spPr>
          <a:xfrm>
            <a:off x="320040" y="3931920"/>
            <a:ext cx="8549640" cy="457200"/>
          </a:xfrm>
          <a:prstGeom prst="roundRect">
            <a:avLst>
              <a:gd name="adj" fmla="val 28000"/>
            </a:avLst>
          </a:prstGeom>
          <a:solidFill>
            <a:srgbClr val="FFE3EE"/>
          </a:solidFill>
          <a:ln w="19050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74" name="R2_w212"/>
          <p:cNvSpPr/>
          <p:nvPr/>
        </p:nvSpPr>
        <p:spPr>
          <a:xfrm>
            <a:off x="457200" y="3931920"/>
            <a:ext cx="8321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⚠ Watch out!  purse ≠ borsa (bag)  ·  diary = agenda  ·  glasses, scissors, headphones = always plural: My glasses ARE…</a:t>
            </a:r>
            <a:endParaRPr lang="en-US" sz="11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0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4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4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4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4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4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4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400"/>
                                        <p:tgtEl>
                                          <p:spTgt spid="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400"/>
                                        <p:tgtEl>
                                          <p:spTgt spid="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400"/>
                                        <p:tgtEl>
                                          <p:spTgt spid="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213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7</a:t>
            </a:r>
            <a:endParaRPr lang="en-US" sz="2800" dirty="0"/>
          </a:p>
        </p:txBody>
      </p:sp>
      <p:pic>
        <p:nvPicPr>
          <p:cNvPr id="4" name="brY_214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405226" cy="621792"/>
          </a:xfrm>
          <a:prstGeom prst="rect">
            <a:avLst/>
          </a:prstGeom>
        </p:spPr>
      </p:pic>
      <p:sp>
        <p:nvSpPr>
          <p:cNvPr id="5" name="title_215"/>
          <p:cNvSpPr/>
          <p:nvPr/>
        </p:nvSpPr>
        <p:spPr>
          <a:xfrm>
            <a:off x="1261872" y="164592"/>
            <a:ext cx="313090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One key, two keys</a:t>
            </a:r>
            <a:endParaRPr lang="en-US" sz="2500" dirty="0"/>
          </a:p>
        </p:txBody>
      </p:sp>
      <p:pic>
        <p:nvPicPr>
          <p:cNvPr id="6" name="brP_216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032504" cy="402336"/>
          </a:xfrm>
          <a:prstGeom prst="rect">
            <a:avLst/>
          </a:prstGeom>
        </p:spPr>
      </p:pic>
      <p:sp>
        <p:nvSpPr>
          <p:cNvPr id="7" name="ins_217"/>
          <p:cNvSpPr/>
          <p:nvPr/>
        </p:nvSpPr>
        <p:spPr>
          <a:xfrm>
            <a:off x="1353312" y="731520"/>
            <a:ext cx="377647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Add -s, -es or -ies? Match the colour.</a:t>
            </a:r>
            <a:endParaRPr lang="en-US" sz="1250" dirty="0"/>
          </a:p>
        </p:txBody>
      </p:sp>
      <p:sp>
        <p:nvSpPr>
          <p:cNvPr id="8" name="insIT_218"/>
          <p:cNvSpPr/>
          <p:nvPr/>
        </p:nvSpPr>
        <p:spPr>
          <a:xfrm>
            <a:off x="1371600" y="1115568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Aggiungi -s, -es o -ies? Abbina il colore.</a:t>
            </a:r>
            <a:endParaRPr lang="en-US" sz="950" dirty="0"/>
          </a:p>
        </p:txBody>
      </p:sp>
      <p:sp>
        <p:nvSpPr>
          <p:cNvPr id="9" name="cmd_219"/>
          <p:cNvSpPr/>
          <p:nvPr/>
        </p:nvSpPr>
        <p:spPr>
          <a:xfrm>
            <a:off x="6583680" y="182880"/>
            <a:ext cx="178308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</a:rPr>
              <a:t>🔗 </a:t>
            </a:r>
            <a:pPr indent="0" marL="0">
              <a:buNone/>
            </a:pPr>
            <a:r>
              <a:rPr lang="en-US" sz="1200" dirty="0">
                <a:solidFill>
                  <a:srgbClr val="2EB872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MATCH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ABBINA</a:t>
            </a:r>
            <a:endParaRPr lang="en-US" sz="1300" dirty="0"/>
          </a:p>
        </p:txBody>
      </p:sp>
      <p:sp>
        <p:nvSpPr>
          <p:cNvPr id="10" name="meta_220"/>
          <p:cNvSpPr/>
          <p:nvPr/>
        </p:nvSpPr>
        <p:spPr>
          <a:xfrm>
            <a:off x="6583680" y="566928"/>
            <a:ext cx="2286000" cy="256032"/>
          </a:xfrm>
          <a:prstGeom prst="rect">
            <a:avLst/>
          </a:prstGeom>
          <a:noFill/>
          <a:ln/>
        </p:spPr>
        <p:txBody>
          <a:bodyPr wrap="square" lIns="0" tIns="101600" rIns="1016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4 min   👥 pairs</a:t>
            </a:r>
            <a:endParaRPr lang="en-US" sz="950" dirty="0"/>
          </a:p>
        </p:txBody>
      </p:sp>
      <p:pic>
        <p:nvPicPr>
          <p:cNvPr id="11" name="logo_221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2" name="foot_222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2A · Grammar · plurals   ·   📖 SB p.15 · 2a · Workbook 2A 2b</a:t>
            </a:r>
            <a:endParaRPr lang="en-US" sz="800" dirty="0"/>
          </a:p>
        </p:txBody>
      </p:sp>
      <p:sp>
        <p:nvSpPr>
          <p:cNvPr id="13" name="cd_223"/>
          <p:cNvSpPr/>
          <p:nvPr/>
        </p:nvSpPr>
        <p:spPr>
          <a:xfrm>
            <a:off x="320040" y="1417320"/>
            <a:ext cx="2697480" cy="1911096"/>
          </a:xfrm>
          <a:prstGeom prst="roundRect">
            <a:avLst>
              <a:gd name="adj" fmla="val 6699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4" name="ii_224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🏷️</a:t>
            </a:r>
            <a:endParaRPr lang="en-US" sz="2200" dirty="0"/>
          </a:p>
        </p:txBody>
      </p:sp>
      <p:sp>
        <p:nvSpPr>
          <p:cNvPr id="15" name="ih_225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Plurals</a:t>
            </a:r>
            <a:endParaRPr lang="en-US" sz="1300" dirty="0"/>
          </a:p>
        </p:txBody>
      </p:sp>
      <p:sp>
        <p:nvSpPr>
          <p:cNvPr id="16" name="il_226"/>
          <p:cNvSpPr/>
          <p:nvPr/>
        </p:nvSpPr>
        <p:spPr>
          <a:xfrm>
            <a:off x="886968" y="1892808"/>
            <a:ext cx="2039112" cy="1362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</p:txBody>
      </p:sp>
      <p:sp>
        <p:nvSpPr>
          <p:cNvPr id="17" name="lg_227"/>
          <p:cNvSpPr/>
          <p:nvPr/>
        </p:nvSpPr>
        <p:spPr>
          <a:xfrm>
            <a:off x="457200" y="1984248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8FD9A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+ s</a:t>
            </a:r>
            <a:endParaRPr lang="en-US" sz="1050" dirty="0"/>
          </a:p>
        </p:txBody>
      </p:sp>
      <p:sp>
        <p:nvSpPr>
          <p:cNvPr id="18" name="lg_228"/>
          <p:cNvSpPr/>
          <p:nvPr/>
        </p:nvSpPr>
        <p:spPr>
          <a:xfrm>
            <a:off x="1719072" y="1984248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8FC9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+ es</a:t>
            </a:r>
            <a:endParaRPr lang="en-US" sz="1050" dirty="0"/>
          </a:p>
        </p:txBody>
      </p:sp>
      <p:sp>
        <p:nvSpPr>
          <p:cNvPr id="19" name="lg_229"/>
          <p:cNvSpPr/>
          <p:nvPr/>
        </p:nvSpPr>
        <p:spPr>
          <a:xfrm>
            <a:off x="457200" y="2368296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F7A6C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y → ies</a:t>
            </a:r>
            <a:endParaRPr lang="en-US" sz="1050" dirty="0"/>
          </a:p>
        </p:txBody>
      </p:sp>
      <p:sp>
        <p:nvSpPr>
          <p:cNvPr id="20" name="sq_230"/>
          <p:cNvSpPr/>
          <p:nvPr/>
        </p:nvSpPr>
        <p:spPr>
          <a:xfrm>
            <a:off x="3246120" y="1417320"/>
            <a:ext cx="3840480" cy="347472"/>
          </a:xfrm>
          <a:prstGeom prst="roundRect">
            <a:avLst>
              <a:gd name="adj" fmla="val 26316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key → keys</a:t>
            </a:r>
            <a:endParaRPr lang="en-US" sz="1200" dirty="0"/>
          </a:p>
        </p:txBody>
      </p:sp>
      <p:sp>
        <p:nvSpPr>
          <p:cNvPr id="21" name="R1_tag231"/>
          <p:cNvSpPr/>
          <p:nvPr/>
        </p:nvSpPr>
        <p:spPr>
          <a:xfrm>
            <a:off x="7178040" y="1417320"/>
            <a:ext cx="1691640" cy="347472"/>
          </a:xfrm>
          <a:prstGeom prst="roundRect">
            <a:avLst>
              <a:gd name="adj" fmla="val 65789"/>
            </a:avLst>
          </a:prstGeom>
          <a:solidFill>
            <a:srgbClr val="8FD9A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+ s</a:t>
            </a:r>
            <a:endParaRPr lang="en-US" sz="1150" dirty="0"/>
          </a:p>
        </p:txBody>
      </p:sp>
      <p:sp>
        <p:nvSpPr>
          <p:cNvPr id="22" name="sq_232"/>
          <p:cNvSpPr/>
          <p:nvPr/>
        </p:nvSpPr>
        <p:spPr>
          <a:xfrm>
            <a:off x="3246120" y="1828800"/>
            <a:ext cx="3840480" cy="347472"/>
          </a:xfrm>
          <a:prstGeom prst="roundRect">
            <a:avLst>
              <a:gd name="adj" fmla="val 26316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watch → watches</a:t>
            </a:r>
            <a:endParaRPr lang="en-US" sz="1200" dirty="0"/>
          </a:p>
        </p:txBody>
      </p:sp>
      <p:sp>
        <p:nvSpPr>
          <p:cNvPr id="23" name="R2_tag233"/>
          <p:cNvSpPr/>
          <p:nvPr/>
        </p:nvSpPr>
        <p:spPr>
          <a:xfrm>
            <a:off x="7178040" y="1828800"/>
            <a:ext cx="1691640" cy="347472"/>
          </a:xfrm>
          <a:prstGeom prst="roundRect">
            <a:avLst>
              <a:gd name="adj" fmla="val 65789"/>
            </a:avLst>
          </a:prstGeom>
          <a:solidFill>
            <a:srgbClr val="8FC9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+ es</a:t>
            </a:r>
            <a:endParaRPr lang="en-US" sz="1150" dirty="0"/>
          </a:p>
        </p:txBody>
      </p:sp>
      <p:sp>
        <p:nvSpPr>
          <p:cNvPr id="24" name="sq_234"/>
          <p:cNvSpPr/>
          <p:nvPr/>
        </p:nvSpPr>
        <p:spPr>
          <a:xfrm>
            <a:off x="3246120" y="2240280"/>
            <a:ext cx="3840480" cy="347472"/>
          </a:xfrm>
          <a:prstGeom prst="roundRect">
            <a:avLst>
              <a:gd name="adj" fmla="val 26316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diary → diaries</a:t>
            </a:r>
            <a:endParaRPr lang="en-US" sz="1200" dirty="0"/>
          </a:p>
        </p:txBody>
      </p:sp>
      <p:sp>
        <p:nvSpPr>
          <p:cNvPr id="25" name="R3_tag235"/>
          <p:cNvSpPr/>
          <p:nvPr/>
        </p:nvSpPr>
        <p:spPr>
          <a:xfrm>
            <a:off x="7178040" y="2240280"/>
            <a:ext cx="1691640" cy="347472"/>
          </a:xfrm>
          <a:prstGeom prst="roundRect">
            <a:avLst>
              <a:gd name="adj" fmla="val 65789"/>
            </a:avLst>
          </a:prstGeom>
          <a:solidFill>
            <a:srgbClr val="F7A6C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y → ies</a:t>
            </a:r>
            <a:endParaRPr lang="en-US" sz="1150" dirty="0"/>
          </a:p>
        </p:txBody>
      </p:sp>
      <p:sp>
        <p:nvSpPr>
          <p:cNvPr id="26" name="sq_236"/>
          <p:cNvSpPr/>
          <p:nvPr/>
        </p:nvSpPr>
        <p:spPr>
          <a:xfrm>
            <a:off x="3246120" y="2651760"/>
            <a:ext cx="3840480" cy="347472"/>
          </a:xfrm>
          <a:prstGeom prst="roundRect">
            <a:avLst>
              <a:gd name="adj" fmla="val 26316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glass → glasses</a:t>
            </a:r>
            <a:endParaRPr lang="en-US" sz="1200" dirty="0"/>
          </a:p>
        </p:txBody>
      </p:sp>
      <p:sp>
        <p:nvSpPr>
          <p:cNvPr id="27" name="R4_tag237"/>
          <p:cNvSpPr/>
          <p:nvPr/>
        </p:nvSpPr>
        <p:spPr>
          <a:xfrm>
            <a:off x="7178040" y="2651760"/>
            <a:ext cx="1691640" cy="347472"/>
          </a:xfrm>
          <a:prstGeom prst="roundRect">
            <a:avLst>
              <a:gd name="adj" fmla="val 65789"/>
            </a:avLst>
          </a:prstGeom>
          <a:solidFill>
            <a:srgbClr val="8FC9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+ es</a:t>
            </a:r>
            <a:endParaRPr lang="en-US" sz="1150" dirty="0"/>
          </a:p>
        </p:txBody>
      </p:sp>
      <p:sp>
        <p:nvSpPr>
          <p:cNvPr id="28" name="sq_238"/>
          <p:cNvSpPr/>
          <p:nvPr/>
        </p:nvSpPr>
        <p:spPr>
          <a:xfrm>
            <a:off x="3246120" y="3063240"/>
            <a:ext cx="3840480" cy="347472"/>
          </a:xfrm>
          <a:prstGeom prst="roundRect">
            <a:avLst>
              <a:gd name="adj" fmla="val 26316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photo → photos</a:t>
            </a:r>
            <a:endParaRPr lang="en-US" sz="1200" dirty="0"/>
          </a:p>
        </p:txBody>
      </p:sp>
      <p:sp>
        <p:nvSpPr>
          <p:cNvPr id="29" name="R5_tag239"/>
          <p:cNvSpPr/>
          <p:nvPr/>
        </p:nvSpPr>
        <p:spPr>
          <a:xfrm>
            <a:off x="7178040" y="3063240"/>
            <a:ext cx="1691640" cy="347472"/>
          </a:xfrm>
          <a:prstGeom prst="roundRect">
            <a:avLst>
              <a:gd name="adj" fmla="val 65789"/>
            </a:avLst>
          </a:prstGeom>
          <a:solidFill>
            <a:srgbClr val="8FD9A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+ s</a:t>
            </a:r>
            <a:endParaRPr lang="en-US" sz="1150" dirty="0"/>
          </a:p>
        </p:txBody>
      </p:sp>
      <p:sp>
        <p:nvSpPr>
          <p:cNvPr id="30" name="sq_240"/>
          <p:cNvSpPr/>
          <p:nvPr/>
        </p:nvSpPr>
        <p:spPr>
          <a:xfrm>
            <a:off x="3246120" y="3474720"/>
            <a:ext cx="3840480" cy="347472"/>
          </a:xfrm>
          <a:prstGeom prst="roundRect">
            <a:avLst>
              <a:gd name="adj" fmla="val 26316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city → cities</a:t>
            </a:r>
            <a:endParaRPr lang="en-US" sz="1200" dirty="0"/>
          </a:p>
        </p:txBody>
      </p:sp>
      <p:sp>
        <p:nvSpPr>
          <p:cNvPr id="31" name="R6_tag241"/>
          <p:cNvSpPr/>
          <p:nvPr/>
        </p:nvSpPr>
        <p:spPr>
          <a:xfrm>
            <a:off x="7178040" y="3474720"/>
            <a:ext cx="1691640" cy="347472"/>
          </a:xfrm>
          <a:prstGeom prst="roundRect">
            <a:avLst>
              <a:gd name="adj" fmla="val 65789"/>
            </a:avLst>
          </a:prstGeom>
          <a:solidFill>
            <a:srgbClr val="F7A6C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y → ies</a:t>
            </a:r>
            <a:endParaRPr lang="en-US" sz="1150" dirty="0"/>
          </a:p>
        </p:txBody>
      </p:sp>
      <p:sp>
        <p:nvSpPr>
          <p:cNvPr id="32" name="sq_242"/>
          <p:cNvSpPr/>
          <p:nvPr/>
        </p:nvSpPr>
        <p:spPr>
          <a:xfrm>
            <a:off x="3246120" y="3886200"/>
            <a:ext cx="3840480" cy="347472"/>
          </a:xfrm>
          <a:prstGeom prst="roundRect">
            <a:avLst>
              <a:gd name="adj" fmla="val 26316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box → boxes</a:t>
            </a:r>
            <a:endParaRPr lang="en-US" sz="1200" dirty="0"/>
          </a:p>
        </p:txBody>
      </p:sp>
      <p:sp>
        <p:nvSpPr>
          <p:cNvPr id="33" name="R7_tag243"/>
          <p:cNvSpPr/>
          <p:nvPr/>
        </p:nvSpPr>
        <p:spPr>
          <a:xfrm>
            <a:off x="7178040" y="3886200"/>
            <a:ext cx="1691640" cy="347472"/>
          </a:xfrm>
          <a:prstGeom prst="roundRect">
            <a:avLst>
              <a:gd name="adj" fmla="val 65789"/>
            </a:avLst>
          </a:prstGeom>
          <a:solidFill>
            <a:srgbClr val="8FC9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+ es</a:t>
            </a:r>
            <a:endParaRPr lang="en-US" sz="1150" dirty="0"/>
          </a:p>
        </p:txBody>
      </p:sp>
      <p:sp>
        <p:nvSpPr>
          <p:cNvPr id="34" name="sq_244"/>
          <p:cNvSpPr/>
          <p:nvPr/>
        </p:nvSpPr>
        <p:spPr>
          <a:xfrm>
            <a:off x="3246120" y="4297680"/>
            <a:ext cx="3840480" cy="347472"/>
          </a:xfrm>
          <a:prstGeom prst="roundRect">
            <a:avLst>
              <a:gd name="adj" fmla="val 26316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ticket → tickets</a:t>
            </a:r>
            <a:endParaRPr lang="en-US" sz="1200" dirty="0"/>
          </a:p>
        </p:txBody>
      </p:sp>
      <p:sp>
        <p:nvSpPr>
          <p:cNvPr id="35" name="R8_tag245"/>
          <p:cNvSpPr/>
          <p:nvPr/>
        </p:nvSpPr>
        <p:spPr>
          <a:xfrm>
            <a:off x="7178040" y="4297680"/>
            <a:ext cx="1691640" cy="347472"/>
          </a:xfrm>
          <a:prstGeom prst="roundRect">
            <a:avLst>
              <a:gd name="adj" fmla="val 65789"/>
            </a:avLst>
          </a:prstGeom>
          <a:solidFill>
            <a:srgbClr val="8FD9A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+ s</a:t>
            </a:r>
            <a:endParaRPr lang="en-US" sz="115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246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8</a:t>
            </a:r>
            <a:endParaRPr lang="en-US" sz="2800" dirty="0"/>
          </a:p>
        </p:txBody>
      </p:sp>
      <p:pic>
        <p:nvPicPr>
          <p:cNvPr id="4" name="brY_247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719779" cy="621792"/>
          </a:xfrm>
          <a:prstGeom prst="rect">
            <a:avLst/>
          </a:prstGeom>
        </p:spPr>
      </p:pic>
      <p:sp>
        <p:nvSpPr>
          <p:cNvPr id="5" name="title_248"/>
          <p:cNvSpPr/>
          <p:nvPr/>
        </p:nvSpPr>
        <p:spPr>
          <a:xfrm>
            <a:off x="1261872" y="164592"/>
            <a:ext cx="344545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Singular and plural</a:t>
            </a:r>
            <a:endParaRPr lang="en-US" sz="2500" dirty="0"/>
          </a:p>
        </p:txBody>
      </p:sp>
      <p:pic>
        <p:nvPicPr>
          <p:cNvPr id="6" name="brP_249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727448" cy="402336"/>
          </a:xfrm>
          <a:prstGeom prst="rect">
            <a:avLst/>
          </a:prstGeom>
        </p:spPr>
      </p:pic>
      <p:sp>
        <p:nvSpPr>
          <p:cNvPr id="7" name="ins_250"/>
          <p:cNvSpPr/>
          <p:nvPr/>
        </p:nvSpPr>
        <p:spPr>
          <a:xfrm>
            <a:off x="1353312" y="731520"/>
            <a:ext cx="44714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Look at the coloured endings. What's the rule?</a:t>
            </a:r>
            <a:endParaRPr lang="en-US" sz="1250" dirty="0"/>
          </a:p>
        </p:txBody>
      </p:sp>
      <p:sp>
        <p:nvSpPr>
          <p:cNvPr id="8" name="insIT_251"/>
          <p:cNvSpPr/>
          <p:nvPr/>
        </p:nvSpPr>
        <p:spPr>
          <a:xfrm>
            <a:off x="1371600" y="1115568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Guarda le desinenze colorate. Qual è la regola?</a:t>
            </a:r>
            <a:endParaRPr lang="en-US" sz="950" dirty="0"/>
          </a:p>
        </p:txBody>
      </p:sp>
      <p:sp>
        <p:nvSpPr>
          <p:cNvPr id="9" name="cmd_252"/>
          <p:cNvSpPr/>
          <p:nvPr/>
        </p:nvSpPr>
        <p:spPr>
          <a:xfrm>
            <a:off x="6583680" y="182880"/>
            <a:ext cx="178308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</a:rPr>
              <a:t>👀 </a:t>
            </a:r>
            <a:pPr indent="0" marL="0">
              <a:buNone/>
            </a:pPr>
            <a:r>
              <a:rPr lang="en-US" sz="1200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LOOK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GUARDA</a:t>
            </a:r>
            <a:endParaRPr lang="en-US" sz="1300" dirty="0"/>
          </a:p>
        </p:txBody>
      </p:sp>
      <p:sp>
        <p:nvSpPr>
          <p:cNvPr id="10" name="meta_253"/>
          <p:cNvSpPr/>
          <p:nvPr/>
        </p:nvSpPr>
        <p:spPr>
          <a:xfrm>
            <a:off x="6583680" y="566928"/>
            <a:ext cx="2286000" cy="256032"/>
          </a:xfrm>
          <a:prstGeom prst="rect">
            <a:avLst/>
          </a:prstGeom>
          <a:noFill/>
          <a:ln/>
        </p:spPr>
        <p:txBody>
          <a:bodyPr wrap="square" lIns="0" tIns="101600" rIns="1016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4 min   🙋 whole class</a:t>
            </a:r>
            <a:endParaRPr lang="en-US" sz="950" dirty="0"/>
          </a:p>
        </p:txBody>
      </p:sp>
      <p:pic>
        <p:nvPicPr>
          <p:cNvPr id="11" name="logo_254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2" name="foot_255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2A · Grammar · singular and plural nouns   ·   📖 Grammar Bank 2A p.126</a:t>
            </a:r>
            <a:endParaRPr lang="en-US" sz="800" dirty="0"/>
          </a:p>
        </p:txBody>
      </p:sp>
      <p:sp>
        <p:nvSpPr>
          <p:cNvPr id="13" name="cd_256"/>
          <p:cNvSpPr/>
          <p:nvPr/>
        </p:nvSpPr>
        <p:spPr>
          <a:xfrm>
            <a:off x="320040" y="1417320"/>
            <a:ext cx="2034540" cy="3017520"/>
          </a:xfrm>
          <a:prstGeom prst="roundRect">
            <a:avLst>
              <a:gd name="adj" fmla="val 6292"/>
            </a:avLst>
          </a:prstGeom>
          <a:solidFill>
            <a:srgbClr val="FFFFFF"/>
          </a:solidFill>
          <a:ln w="25400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4" name="rh_257"/>
          <p:cNvSpPr/>
          <p:nvPr/>
        </p:nvSpPr>
        <p:spPr>
          <a:xfrm>
            <a:off x="429768" y="1508760"/>
            <a:ext cx="1815084" cy="365760"/>
          </a:xfrm>
          <a:prstGeom prst="roundRect">
            <a:avLst>
              <a:gd name="adj" fmla="val 50000"/>
            </a:avLst>
          </a:prstGeom>
          <a:solidFill>
            <a:srgbClr val="E8508F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 / an</a:t>
            </a:r>
            <a:endParaRPr lang="en-US" sz="1250" dirty="0"/>
          </a:p>
        </p:txBody>
      </p:sp>
      <p:sp>
        <p:nvSpPr>
          <p:cNvPr id="15" name="pf_258"/>
          <p:cNvSpPr/>
          <p:nvPr/>
        </p:nvSpPr>
        <p:spPr>
          <a:xfrm>
            <a:off x="429768" y="1938528"/>
            <a:ext cx="1815084" cy="960120"/>
          </a:xfrm>
          <a:prstGeom prst="roundRect">
            <a:avLst>
              <a:gd name="adj" fmla="val 1619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6" name="ph_259" descr="/home/claude/lls-course/v2/cache/red_2a_things_jpg_415x209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5488" y="1984248"/>
            <a:ext cx="1723644" cy="868680"/>
          </a:xfrm>
          <a:prstGeom prst="rect">
            <a:avLst/>
          </a:prstGeom>
        </p:spPr>
      </p:pic>
      <p:sp>
        <p:nvSpPr>
          <p:cNvPr id="17" name="ru_260"/>
          <p:cNvSpPr/>
          <p:nvPr/>
        </p:nvSpPr>
        <p:spPr>
          <a:xfrm>
            <a:off x="411480" y="2926080"/>
            <a:ext cx="18516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E8508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one thing</a:t>
            </a:r>
            <a:endParaRPr lang="en-US" sz="1050" dirty="0"/>
          </a:p>
        </p:txBody>
      </p:sp>
      <p:sp>
        <p:nvSpPr>
          <p:cNvPr id="18" name="R1_rx261"/>
          <p:cNvSpPr/>
          <p:nvPr/>
        </p:nvSpPr>
        <p:spPr>
          <a:xfrm>
            <a:off x="411480" y="3319272"/>
            <a:ext cx="18516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8508F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</a:t>
            </a:r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pen · </a:t>
            </a:r>
            <a:pPr algn="ctr" indent="0" marL="0">
              <a:buNone/>
            </a:pPr>
            <a:r>
              <a:rPr lang="en-US" sz="1050" b="1" dirty="0">
                <a:solidFill>
                  <a:srgbClr val="E8508F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</a:t>
            </a:r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key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E8508F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an</a:t>
            </a:r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umbrella · </a:t>
            </a:r>
            <a:pPr algn="ctr" indent="0" marL="0">
              <a:buNone/>
            </a:pPr>
            <a:r>
              <a:rPr lang="en-US" sz="1050" b="1" dirty="0">
                <a:solidFill>
                  <a:srgbClr val="E8508F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an</a:t>
            </a:r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ID card</a:t>
            </a:r>
            <a:endParaRPr lang="en-US" sz="1050" dirty="0"/>
          </a:p>
        </p:txBody>
      </p:sp>
      <p:sp>
        <p:nvSpPr>
          <p:cNvPr id="19" name="R1_ri262"/>
          <p:cNvSpPr/>
          <p:nvPr/>
        </p:nvSpPr>
        <p:spPr>
          <a:xfrm>
            <a:off x="411480" y="4087368"/>
            <a:ext cx="18516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 + suono vocalico</a:t>
            </a:r>
            <a:endParaRPr lang="en-US" sz="900" dirty="0"/>
          </a:p>
        </p:txBody>
      </p:sp>
      <p:sp>
        <p:nvSpPr>
          <p:cNvPr id="20" name="cd_263"/>
          <p:cNvSpPr/>
          <p:nvPr/>
        </p:nvSpPr>
        <p:spPr>
          <a:xfrm>
            <a:off x="2491740" y="1417320"/>
            <a:ext cx="2034540" cy="3017520"/>
          </a:xfrm>
          <a:prstGeom prst="roundRect">
            <a:avLst>
              <a:gd name="adj" fmla="val 6292"/>
            </a:avLst>
          </a:prstGeom>
          <a:solidFill>
            <a:srgbClr val="FFFFFF"/>
          </a:solidFill>
          <a:ln w="25400">
            <a:solidFill>
              <a:srgbClr val="A9D3F5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1" name="rh_264"/>
          <p:cNvSpPr/>
          <p:nvPr/>
        </p:nvSpPr>
        <p:spPr>
          <a:xfrm>
            <a:off x="2601468" y="1508760"/>
            <a:ext cx="1815084" cy="365760"/>
          </a:xfrm>
          <a:prstGeom prst="roundRect">
            <a:avLst>
              <a:gd name="adj" fmla="val 50000"/>
            </a:avLst>
          </a:prstGeom>
          <a:solidFill>
            <a:srgbClr val="2F8DE4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+ s / es</a:t>
            </a:r>
            <a:endParaRPr lang="en-US" sz="1250" dirty="0"/>
          </a:p>
        </p:txBody>
      </p:sp>
      <p:sp>
        <p:nvSpPr>
          <p:cNvPr id="22" name="pf_265"/>
          <p:cNvSpPr/>
          <p:nvPr/>
        </p:nvSpPr>
        <p:spPr>
          <a:xfrm>
            <a:off x="2601468" y="1938528"/>
            <a:ext cx="1815084" cy="960120"/>
          </a:xfrm>
          <a:prstGeom prst="roundRect">
            <a:avLst>
              <a:gd name="adj" fmla="val 1619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23" name="ph_266" descr="/home/claude/lls-course/v2/cache/red_2a_wallet_jpg_415x209_31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647188" y="1984248"/>
            <a:ext cx="1723644" cy="868680"/>
          </a:xfrm>
          <a:prstGeom prst="rect">
            <a:avLst/>
          </a:prstGeom>
        </p:spPr>
      </p:pic>
      <p:sp>
        <p:nvSpPr>
          <p:cNvPr id="24" name="ru_267"/>
          <p:cNvSpPr/>
          <p:nvPr/>
        </p:nvSpPr>
        <p:spPr>
          <a:xfrm>
            <a:off x="2583180" y="2926080"/>
            <a:ext cx="18516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most nouns</a:t>
            </a:r>
            <a:endParaRPr lang="en-US" sz="1050" dirty="0"/>
          </a:p>
        </p:txBody>
      </p:sp>
      <p:sp>
        <p:nvSpPr>
          <p:cNvPr id="25" name="R2_rx268"/>
          <p:cNvSpPr/>
          <p:nvPr/>
        </p:nvSpPr>
        <p:spPr>
          <a:xfrm>
            <a:off x="2583180" y="3319272"/>
            <a:ext cx="18516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two pen</a:t>
            </a:r>
            <a:pPr algn="ctr" indent="0" marL="0">
              <a:buNone/>
            </a:pPr>
            <a:r>
              <a:rPr lang="en-US" sz="1050" b="1" dirty="0">
                <a:solidFill>
                  <a:srgbClr val="2F8DE4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</a:t>
            </a:r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· three key</a:t>
            </a:r>
            <a:pPr algn="ctr" indent="0" marL="0">
              <a:buNone/>
            </a:pPr>
            <a:r>
              <a:rPr lang="en-US" sz="1050" b="1" dirty="0">
                <a:solidFill>
                  <a:srgbClr val="2F8DE4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two watch</a:t>
            </a:r>
            <a:pPr algn="ctr" indent="0" marL="0">
              <a:buNone/>
            </a:pPr>
            <a:r>
              <a:rPr lang="en-US" sz="1050" b="1" dirty="0">
                <a:solidFill>
                  <a:srgbClr val="2F8DE4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es</a:t>
            </a:r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· glass</a:t>
            </a:r>
            <a:pPr algn="ctr" indent="0" marL="0">
              <a:buNone/>
            </a:pPr>
            <a:r>
              <a:rPr lang="en-US" sz="1050" b="1" dirty="0">
                <a:solidFill>
                  <a:srgbClr val="2F8DE4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es</a:t>
            </a:r>
            <a:endParaRPr lang="en-US" sz="1050" dirty="0"/>
          </a:p>
        </p:txBody>
      </p:sp>
      <p:sp>
        <p:nvSpPr>
          <p:cNvPr id="26" name="R2_ri269"/>
          <p:cNvSpPr/>
          <p:nvPr/>
        </p:nvSpPr>
        <p:spPr>
          <a:xfrm>
            <a:off x="2583180" y="4087368"/>
            <a:ext cx="18516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-es dopo s, sh, ch, x</a:t>
            </a:r>
            <a:endParaRPr lang="en-US" sz="900" dirty="0"/>
          </a:p>
        </p:txBody>
      </p:sp>
      <p:sp>
        <p:nvSpPr>
          <p:cNvPr id="27" name="cd_270"/>
          <p:cNvSpPr/>
          <p:nvPr/>
        </p:nvSpPr>
        <p:spPr>
          <a:xfrm>
            <a:off x="4663440" y="1417320"/>
            <a:ext cx="2034540" cy="3017520"/>
          </a:xfrm>
          <a:prstGeom prst="roundRect">
            <a:avLst>
              <a:gd name="adj" fmla="val 6292"/>
            </a:avLst>
          </a:prstGeom>
          <a:solidFill>
            <a:srgbClr val="FFFFFF"/>
          </a:solidFill>
          <a:ln w="25400">
            <a:solidFill>
              <a:srgbClr val="A8E5BE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8" name="rh_271"/>
          <p:cNvSpPr/>
          <p:nvPr/>
        </p:nvSpPr>
        <p:spPr>
          <a:xfrm>
            <a:off x="4773168" y="1508760"/>
            <a:ext cx="1815084" cy="365760"/>
          </a:xfrm>
          <a:prstGeom prst="roundRect">
            <a:avLst>
              <a:gd name="adj" fmla="val 50000"/>
            </a:avLst>
          </a:prstGeom>
          <a:solidFill>
            <a:srgbClr val="2EB872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y → ies</a:t>
            </a:r>
            <a:endParaRPr lang="en-US" sz="1250" dirty="0"/>
          </a:p>
        </p:txBody>
      </p:sp>
      <p:sp>
        <p:nvSpPr>
          <p:cNvPr id="29" name="pf_272"/>
          <p:cNvSpPr/>
          <p:nvPr/>
        </p:nvSpPr>
        <p:spPr>
          <a:xfrm>
            <a:off x="4773168" y="1938528"/>
            <a:ext cx="1815084" cy="960120"/>
          </a:xfrm>
          <a:prstGeom prst="roundRect">
            <a:avLst>
              <a:gd name="adj" fmla="val 1619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30" name="ph_273" descr="/home/claude/lls-course/v2/cache/red_2a_notebook_jpg_415x209_31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818888" y="1984248"/>
            <a:ext cx="1723644" cy="868680"/>
          </a:xfrm>
          <a:prstGeom prst="rect">
            <a:avLst/>
          </a:prstGeom>
        </p:spPr>
      </p:pic>
      <p:sp>
        <p:nvSpPr>
          <p:cNvPr id="31" name="ru_274"/>
          <p:cNvSpPr/>
          <p:nvPr/>
        </p:nvSpPr>
        <p:spPr>
          <a:xfrm>
            <a:off x="4754880" y="2926080"/>
            <a:ext cx="18516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2EB872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consonant + y</a:t>
            </a:r>
            <a:endParaRPr lang="en-US" sz="1050" dirty="0"/>
          </a:p>
        </p:txBody>
      </p:sp>
      <p:sp>
        <p:nvSpPr>
          <p:cNvPr id="32" name="R3_rx275"/>
          <p:cNvSpPr/>
          <p:nvPr/>
        </p:nvSpPr>
        <p:spPr>
          <a:xfrm>
            <a:off x="4754880" y="3319272"/>
            <a:ext cx="18516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diar</a:t>
            </a:r>
            <a:pPr algn="ctr" indent="0" marL="0">
              <a:buNone/>
            </a:pPr>
            <a:r>
              <a:rPr lang="en-US" sz="1050" b="1" dirty="0">
                <a:solidFill>
                  <a:srgbClr val="2EB872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y</a:t>
            </a:r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→ diar</a:t>
            </a:r>
            <a:pPr algn="ctr" indent="0" marL="0">
              <a:buNone/>
            </a:pPr>
            <a:r>
              <a:rPr lang="en-US" sz="1050" b="1" dirty="0">
                <a:solidFill>
                  <a:srgbClr val="2EB872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ies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cit</a:t>
            </a:r>
            <a:pPr algn="ctr" indent="0" marL="0">
              <a:buNone/>
            </a:pPr>
            <a:r>
              <a:rPr lang="en-US" sz="1050" b="1" dirty="0">
                <a:solidFill>
                  <a:srgbClr val="2EB872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y</a:t>
            </a:r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→ cit</a:t>
            </a:r>
            <a:pPr algn="ctr" indent="0" marL="0">
              <a:buNone/>
            </a:pPr>
            <a:r>
              <a:rPr lang="en-US" sz="1050" b="1" dirty="0">
                <a:solidFill>
                  <a:srgbClr val="2EB872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ies</a:t>
            </a:r>
            <a:endParaRPr lang="en-US" sz="1050" dirty="0"/>
          </a:p>
        </p:txBody>
      </p:sp>
      <p:sp>
        <p:nvSpPr>
          <p:cNvPr id="33" name="R3_ri276"/>
          <p:cNvSpPr/>
          <p:nvPr/>
        </p:nvSpPr>
        <p:spPr>
          <a:xfrm>
            <a:off x="4754880" y="4087368"/>
            <a:ext cx="18516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ma: key → keys</a:t>
            </a:r>
            <a:endParaRPr lang="en-US" sz="900" dirty="0"/>
          </a:p>
        </p:txBody>
      </p:sp>
      <p:sp>
        <p:nvSpPr>
          <p:cNvPr id="34" name="cd_277"/>
          <p:cNvSpPr/>
          <p:nvPr/>
        </p:nvSpPr>
        <p:spPr>
          <a:xfrm>
            <a:off x="6835140" y="1417320"/>
            <a:ext cx="2034540" cy="3017520"/>
          </a:xfrm>
          <a:prstGeom prst="roundRect">
            <a:avLst>
              <a:gd name="adj" fmla="val 6292"/>
            </a:avLst>
          </a:prstGeom>
          <a:solidFill>
            <a:srgbClr val="FFFFFF"/>
          </a:solidFill>
          <a:ln w="2540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35" name="rh_278"/>
          <p:cNvSpPr/>
          <p:nvPr/>
        </p:nvSpPr>
        <p:spPr>
          <a:xfrm>
            <a:off x="6944868" y="1508760"/>
            <a:ext cx="1815084" cy="365760"/>
          </a:xfrm>
          <a:prstGeom prst="roundRect">
            <a:avLst>
              <a:gd name="adj" fmla="val 50000"/>
            </a:avLst>
          </a:prstGeom>
          <a:solidFill>
            <a:srgbClr val="F2B705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irregular</a:t>
            </a:r>
            <a:endParaRPr lang="en-US" sz="1250" dirty="0"/>
          </a:p>
        </p:txBody>
      </p:sp>
      <p:sp>
        <p:nvSpPr>
          <p:cNvPr id="36" name="pf_279"/>
          <p:cNvSpPr/>
          <p:nvPr/>
        </p:nvSpPr>
        <p:spPr>
          <a:xfrm>
            <a:off x="6944868" y="1938528"/>
            <a:ext cx="1815084" cy="960120"/>
          </a:xfrm>
          <a:prstGeom prst="roundRect">
            <a:avLst>
              <a:gd name="adj" fmla="val 1619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37" name="ph_280" descr="/home/claude/lls-course/v2/cache/red_2a_untidy_jpg_415x209_31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990588" y="1984248"/>
            <a:ext cx="1723644" cy="868680"/>
          </a:xfrm>
          <a:prstGeom prst="rect">
            <a:avLst/>
          </a:prstGeom>
        </p:spPr>
      </p:pic>
      <p:sp>
        <p:nvSpPr>
          <p:cNvPr id="38" name="ru_281"/>
          <p:cNvSpPr/>
          <p:nvPr/>
        </p:nvSpPr>
        <p:spPr>
          <a:xfrm>
            <a:off x="6926580" y="2926080"/>
            <a:ext cx="18516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F2B705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learn them!</a:t>
            </a:r>
            <a:endParaRPr lang="en-US" sz="1050" dirty="0"/>
          </a:p>
        </p:txBody>
      </p:sp>
      <p:sp>
        <p:nvSpPr>
          <p:cNvPr id="39" name="R4_rx282"/>
          <p:cNvSpPr/>
          <p:nvPr/>
        </p:nvSpPr>
        <p:spPr>
          <a:xfrm>
            <a:off x="6926580" y="3319272"/>
            <a:ext cx="18516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man → </a:t>
            </a:r>
            <a:pPr algn="ctr" indent="0" marL="0">
              <a:buNone/>
            </a:pPr>
            <a:r>
              <a:rPr lang="en-US" sz="1050" b="1" dirty="0">
                <a:solidFill>
                  <a:srgbClr val="F2B705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men</a:t>
            </a:r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· woman → </a:t>
            </a:r>
            <a:pPr algn="ctr" indent="0" marL="0">
              <a:buNone/>
            </a:pPr>
            <a:r>
              <a:rPr lang="en-US" sz="1050" b="1" dirty="0">
                <a:solidFill>
                  <a:srgbClr val="F2B705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women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person → </a:t>
            </a:r>
            <a:pPr algn="ctr" indent="0" marL="0">
              <a:buNone/>
            </a:pPr>
            <a:r>
              <a:rPr lang="en-US" sz="1050" b="1" dirty="0">
                <a:solidFill>
                  <a:srgbClr val="F2B705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people</a:t>
            </a:r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· child → </a:t>
            </a:r>
            <a:pPr algn="ctr" indent="0" marL="0">
              <a:buNone/>
            </a:pPr>
            <a:r>
              <a:rPr lang="en-US" sz="1050" b="1" dirty="0">
                <a:solidFill>
                  <a:srgbClr val="F2B705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children</a:t>
            </a:r>
            <a:endParaRPr lang="en-US" sz="1050" dirty="0"/>
          </a:p>
        </p:txBody>
      </p:sp>
      <p:sp>
        <p:nvSpPr>
          <p:cNvPr id="40" name="R4_ri283"/>
          <p:cNvSpPr/>
          <p:nvPr/>
        </p:nvSpPr>
        <p:spPr>
          <a:xfrm>
            <a:off x="6926580" y="4087368"/>
            <a:ext cx="18516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people = persone</a:t>
            </a:r>
            <a:endParaRPr lang="en-US" sz="900" dirty="0"/>
          </a:p>
        </p:txBody>
      </p:sp>
      <p:sp>
        <p:nvSpPr>
          <p:cNvPr id="41" name="R5_wc284"/>
          <p:cNvSpPr/>
          <p:nvPr/>
        </p:nvSpPr>
        <p:spPr>
          <a:xfrm>
            <a:off x="320040" y="4544568"/>
            <a:ext cx="8549640" cy="329184"/>
          </a:xfrm>
          <a:prstGeom prst="roundRect">
            <a:avLst>
              <a:gd name="adj" fmla="val 38889"/>
            </a:avLst>
          </a:prstGeom>
          <a:solidFill>
            <a:srgbClr val="FFE3EE"/>
          </a:solidFill>
          <a:ln w="19050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42" name="R5_w285"/>
          <p:cNvSpPr/>
          <p:nvPr/>
        </p:nvSpPr>
        <p:spPr>
          <a:xfrm>
            <a:off x="457200" y="4544568"/>
            <a:ext cx="8321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⚠ No a/an with plurals: ✗ a glasses → ✓ glasses / a pair of glasses   ·   ✗ peoples → ✓ people</a:t>
            </a:r>
            <a:endParaRPr lang="en-US" sz="10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286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9</a:t>
            </a:r>
            <a:endParaRPr lang="en-US" sz="2800" dirty="0"/>
          </a:p>
        </p:txBody>
      </p:sp>
      <p:pic>
        <p:nvPicPr>
          <p:cNvPr id="4" name="brY_287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4034333" cy="621792"/>
          </a:xfrm>
          <a:prstGeom prst="rect">
            <a:avLst/>
          </a:prstGeom>
        </p:spPr>
      </p:pic>
      <p:sp>
        <p:nvSpPr>
          <p:cNvPr id="5" name="title_288"/>
          <p:cNvSpPr/>
          <p:nvPr/>
        </p:nvSpPr>
        <p:spPr>
          <a:xfrm>
            <a:off x="1261872" y="164592"/>
            <a:ext cx="376001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snake, zebra or /ɪz/?</a:t>
            </a:r>
            <a:endParaRPr lang="en-US" sz="2500" dirty="0"/>
          </a:p>
        </p:txBody>
      </p:sp>
      <p:pic>
        <p:nvPicPr>
          <p:cNvPr id="6" name="brP_289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119372" cy="402336"/>
          </a:xfrm>
          <a:prstGeom prst="rect">
            <a:avLst/>
          </a:prstGeom>
        </p:spPr>
      </p:pic>
      <p:sp>
        <p:nvSpPr>
          <p:cNvPr id="7" name="ins_290"/>
          <p:cNvSpPr/>
          <p:nvPr/>
        </p:nvSpPr>
        <p:spPr>
          <a:xfrm>
            <a:off x="1353312" y="731520"/>
            <a:ext cx="38633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Say the plural. Is it /s/, /z/ or /ɪz/?</a:t>
            </a:r>
            <a:endParaRPr lang="en-US" sz="1250" dirty="0"/>
          </a:p>
        </p:txBody>
      </p:sp>
      <p:sp>
        <p:nvSpPr>
          <p:cNvPr id="8" name="insIT_291"/>
          <p:cNvSpPr/>
          <p:nvPr/>
        </p:nvSpPr>
        <p:spPr>
          <a:xfrm>
            <a:off x="1371600" y="1115568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Di' il plurale. È /s/, /z/ o /ɪz/?</a:t>
            </a:r>
            <a:endParaRPr lang="en-US" sz="950" dirty="0"/>
          </a:p>
        </p:txBody>
      </p:sp>
      <p:sp>
        <p:nvSpPr>
          <p:cNvPr id="9" name="cmd_292"/>
          <p:cNvSpPr/>
          <p:nvPr/>
        </p:nvSpPr>
        <p:spPr>
          <a:xfrm>
            <a:off x="6583680" y="182880"/>
            <a:ext cx="178308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CDBFF3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</a:rPr>
              <a:t>🔊 </a:t>
            </a:r>
            <a:pPr indent="0" marL="0">
              <a:buNone/>
            </a:pPr>
            <a:r>
              <a:rPr lang="en-US" sz="1200" dirty="0">
                <a:solidFill>
                  <a:srgbClr val="7B5CD6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SAY IT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PRONUNCIA</a:t>
            </a:r>
            <a:endParaRPr lang="en-US" sz="1300" dirty="0"/>
          </a:p>
        </p:txBody>
      </p:sp>
      <p:sp>
        <p:nvSpPr>
          <p:cNvPr id="10" name="meta_293"/>
          <p:cNvSpPr/>
          <p:nvPr/>
        </p:nvSpPr>
        <p:spPr>
          <a:xfrm>
            <a:off x="6583680" y="566928"/>
            <a:ext cx="2286000" cy="256032"/>
          </a:xfrm>
          <a:prstGeom prst="rect">
            <a:avLst/>
          </a:prstGeom>
          <a:noFill/>
          <a:ln/>
        </p:spPr>
        <p:txBody>
          <a:bodyPr wrap="square" lIns="0" tIns="101600" rIns="1016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6 min   👥 pairs</a:t>
            </a:r>
            <a:endParaRPr lang="en-US" sz="950" dirty="0"/>
          </a:p>
        </p:txBody>
      </p:sp>
      <p:pic>
        <p:nvPicPr>
          <p:cNvPr id="11" name="logo_294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2" name="foot_295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2A · Pronunciation · final -s and -es   ·   📖 SB p.15 · 3 Pronunciation (audio 2.3, 2.4 – not in the deck yet)</a:t>
            </a:r>
            <a:endParaRPr lang="en-US" sz="800" dirty="0"/>
          </a:p>
        </p:txBody>
      </p:sp>
      <p:sp>
        <p:nvSpPr>
          <p:cNvPr id="13" name="cd_296"/>
          <p:cNvSpPr/>
          <p:nvPr/>
        </p:nvSpPr>
        <p:spPr>
          <a:xfrm>
            <a:off x="320040" y="1417320"/>
            <a:ext cx="2697480" cy="1911096"/>
          </a:xfrm>
          <a:prstGeom prst="roundRect">
            <a:avLst>
              <a:gd name="adj" fmla="val 6699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4" name="ii_297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🏷️</a:t>
            </a:r>
            <a:endParaRPr lang="en-US" sz="2200" dirty="0"/>
          </a:p>
        </p:txBody>
      </p:sp>
      <p:sp>
        <p:nvSpPr>
          <p:cNvPr id="15" name="ih_298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Rule: extra /ɪz/ only after s, ce, ge, sh, ch, x</a:t>
            </a:r>
            <a:endParaRPr lang="en-US" sz="1300" dirty="0"/>
          </a:p>
        </p:txBody>
      </p:sp>
      <p:sp>
        <p:nvSpPr>
          <p:cNvPr id="16" name="il_299"/>
          <p:cNvSpPr/>
          <p:nvPr/>
        </p:nvSpPr>
        <p:spPr>
          <a:xfrm>
            <a:off x="886968" y="1892808"/>
            <a:ext cx="2039112" cy="1362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</p:txBody>
      </p:sp>
      <p:sp>
        <p:nvSpPr>
          <p:cNvPr id="17" name="lg_300"/>
          <p:cNvSpPr/>
          <p:nvPr/>
        </p:nvSpPr>
        <p:spPr>
          <a:xfrm>
            <a:off x="457200" y="1984248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8FC9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/s/ books</a:t>
            </a:r>
            <a:endParaRPr lang="en-US" sz="1050" dirty="0"/>
          </a:p>
        </p:txBody>
      </p:sp>
      <p:sp>
        <p:nvSpPr>
          <p:cNvPr id="18" name="lg_301"/>
          <p:cNvSpPr/>
          <p:nvPr/>
        </p:nvSpPr>
        <p:spPr>
          <a:xfrm>
            <a:off x="1719072" y="1984248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8FD9A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/z/ keys</a:t>
            </a:r>
            <a:endParaRPr lang="en-US" sz="1050" dirty="0"/>
          </a:p>
        </p:txBody>
      </p:sp>
      <p:sp>
        <p:nvSpPr>
          <p:cNvPr id="19" name="lg_302"/>
          <p:cNvSpPr/>
          <p:nvPr/>
        </p:nvSpPr>
        <p:spPr>
          <a:xfrm>
            <a:off x="457200" y="2368296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F7A6C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/ɪz/ glasses</a:t>
            </a:r>
            <a:endParaRPr lang="en-US" sz="1050" dirty="0"/>
          </a:p>
        </p:txBody>
      </p:sp>
      <p:sp>
        <p:nvSpPr>
          <p:cNvPr id="20" name="sq_303"/>
          <p:cNvSpPr/>
          <p:nvPr/>
        </p:nvSpPr>
        <p:spPr>
          <a:xfrm>
            <a:off x="3246120" y="1417320"/>
            <a:ext cx="3840480" cy="347472"/>
          </a:xfrm>
          <a:prstGeom prst="roundRect">
            <a:avLst>
              <a:gd name="adj" fmla="val 26316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classes</a:t>
            </a:r>
            <a:endParaRPr lang="en-US" sz="1200" dirty="0"/>
          </a:p>
        </p:txBody>
      </p:sp>
      <p:sp>
        <p:nvSpPr>
          <p:cNvPr id="21" name="R1_tag304"/>
          <p:cNvSpPr/>
          <p:nvPr/>
        </p:nvSpPr>
        <p:spPr>
          <a:xfrm>
            <a:off x="7178040" y="1417320"/>
            <a:ext cx="1691640" cy="347472"/>
          </a:xfrm>
          <a:prstGeom prst="roundRect">
            <a:avLst>
              <a:gd name="adj" fmla="val 65789"/>
            </a:avLst>
          </a:prstGeom>
          <a:solidFill>
            <a:srgbClr val="F7A6C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/ɪz/ glasses</a:t>
            </a:r>
            <a:endParaRPr lang="en-US" sz="1150" dirty="0"/>
          </a:p>
        </p:txBody>
      </p:sp>
      <p:sp>
        <p:nvSpPr>
          <p:cNvPr id="22" name="sq_305"/>
          <p:cNvSpPr/>
          <p:nvPr/>
        </p:nvSpPr>
        <p:spPr>
          <a:xfrm>
            <a:off x="3246120" y="1828800"/>
            <a:ext cx="3840480" cy="347472"/>
          </a:xfrm>
          <a:prstGeom prst="roundRect">
            <a:avLst>
              <a:gd name="adj" fmla="val 26316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lamps</a:t>
            </a:r>
            <a:endParaRPr lang="en-US" sz="1200" dirty="0"/>
          </a:p>
        </p:txBody>
      </p:sp>
      <p:sp>
        <p:nvSpPr>
          <p:cNvPr id="23" name="R2_tag306"/>
          <p:cNvSpPr/>
          <p:nvPr/>
        </p:nvSpPr>
        <p:spPr>
          <a:xfrm>
            <a:off x="7178040" y="1828800"/>
            <a:ext cx="1691640" cy="347472"/>
          </a:xfrm>
          <a:prstGeom prst="roundRect">
            <a:avLst>
              <a:gd name="adj" fmla="val 65789"/>
            </a:avLst>
          </a:prstGeom>
          <a:solidFill>
            <a:srgbClr val="8FC9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/s/ books</a:t>
            </a:r>
            <a:endParaRPr lang="en-US" sz="1150" dirty="0"/>
          </a:p>
        </p:txBody>
      </p:sp>
      <p:sp>
        <p:nvSpPr>
          <p:cNvPr id="24" name="sq_307"/>
          <p:cNvSpPr/>
          <p:nvPr/>
        </p:nvSpPr>
        <p:spPr>
          <a:xfrm>
            <a:off x="3246120" y="2240280"/>
            <a:ext cx="3840480" cy="347472"/>
          </a:xfrm>
          <a:prstGeom prst="roundRect">
            <a:avLst>
              <a:gd name="adj" fmla="val 26316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files</a:t>
            </a:r>
            <a:endParaRPr lang="en-US" sz="1200" dirty="0"/>
          </a:p>
        </p:txBody>
      </p:sp>
      <p:sp>
        <p:nvSpPr>
          <p:cNvPr id="25" name="R3_tag308"/>
          <p:cNvSpPr/>
          <p:nvPr/>
        </p:nvSpPr>
        <p:spPr>
          <a:xfrm>
            <a:off x="7178040" y="2240280"/>
            <a:ext cx="1691640" cy="347472"/>
          </a:xfrm>
          <a:prstGeom prst="roundRect">
            <a:avLst>
              <a:gd name="adj" fmla="val 65789"/>
            </a:avLst>
          </a:prstGeom>
          <a:solidFill>
            <a:srgbClr val="8FD9A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/z/ keys</a:t>
            </a:r>
            <a:endParaRPr lang="en-US" sz="1150" dirty="0"/>
          </a:p>
        </p:txBody>
      </p:sp>
      <p:sp>
        <p:nvSpPr>
          <p:cNvPr id="26" name="sq_309"/>
          <p:cNvSpPr/>
          <p:nvPr/>
        </p:nvSpPr>
        <p:spPr>
          <a:xfrm>
            <a:off x="3246120" y="2651760"/>
            <a:ext cx="3840480" cy="347472"/>
          </a:xfrm>
          <a:prstGeom prst="roundRect">
            <a:avLst>
              <a:gd name="adj" fmla="val 26316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boxes</a:t>
            </a:r>
            <a:endParaRPr lang="en-US" sz="1200" dirty="0"/>
          </a:p>
        </p:txBody>
      </p:sp>
      <p:sp>
        <p:nvSpPr>
          <p:cNvPr id="27" name="R4_tag310"/>
          <p:cNvSpPr/>
          <p:nvPr/>
        </p:nvSpPr>
        <p:spPr>
          <a:xfrm>
            <a:off x="7178040" y="2651760"/>
            <a:ext cx="1691640" cy="347472"/>
          </a:xfrm>
          <a:prstGeom prst="roundRect">
            <a:avLst>
              <a:gd name="adj" fmla="val 65789"/>
            </a:avLst>
          </a:prstGeom>
          <a:solidFill>
            <a:srgbClr val="F7A6C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/ɪz/ glasses</a:t>
            </a:r>
            <a:endParaRPr lang="en-US" sz="1150" dirty="0"/>
          </a:p>
        </p:txBody>
      </p:sp>
      <p:sp>
        <p:nvSpPr>
          <p:cNvPr id="28" name="sq_311"/>
          <p:cNvSpPr/>
          <p:nvPr/>
        </p:nvSpPr>
        <p:spPr>
          <a:xfrm>
            <a:off x="3246120" y="3063240"/>
            <a:ext cx="3840480" cy="347472"/>
          </a:xfrm>
          <a:prstGeom prst="roundRect">
            <a:avLst>
              <a:gd name="adj" fmla="val 26316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tickets</a:t>
            </a:r>
            <a:endParaRPr lang="en-US" sz="1200" dirty="0"/>
          </a:p>
        </p:txBody>
      </p:sp>
      <p:sp>
        <p:nvSpPr>
          <p:cNvPr id="29" name="R5_tag312"/>
          <p:cNvSpPr/>
          <p:nvPr/>
        </p:nvSpPr>
        <p:spPr>
          <a:xfrm>
            <a:off x="7178040" y="3063240"/>
            <a:ext cx="1691640" cy="347472"/>
          </a:xfrm>
          <a:prstGeom prst="roundRect">
            <a:avLst>
              <a:gd name="adj" fmla="val 65789"/>
            </a:avLst>
          </a:prstGeom>
          <a:solidFill>
            <a:srgbClr val="8FC9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/s/ books</a:t>
            </a:r>
            <a:endParaRPr lang="en-US" sz="1150" dirty="0"/>
          </a:p>
        </p:txBody>
      </p:sp>
      <p:sp>
        <p:nvSpPr>
          <p:cNvPr id="30" name="sq_313"/>
          <p:cNvSpPr/>
          <p:nvPr/>
        </p:nvSpPr>
        <p:spPr>
          <a:xfrm>
            <a:off x="3246120" y="3474720"/>
            <a:ext cx="3840480" cy="347472"/>
          </a:xfrm>
          <a:prstGeom prst="roundRect">
            <a:avLst>
              <a:gd name="adj" fmla="val 26316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phones</a:t>
            </a:r>
            <a:endParaRPr lang="en-US" sz="1200" dirty="0"/>
          </a:p>
        </p:txBody>
      </p:sp>
      <p:sp>
        <p:nvSpPr>
          <p:cNvPr id="31" name="R6_tag314"/>
          <p:cNvSpPr/>
          <p:nvPr/>
        </p:nvSpPr>
        <p:spPr>
          <a:xfrm>
            <a:off x="7178040" y="3474720"/>
            <a:ext cx="1691640" cy="347472"/>
          </a:xfrm>
          <a:prstGeom prst="roundRect">
            <a:avLst>
              <a:gd name="adj" fmla="val 65789"/>
            </a:avLst>
          </a:prstGeom>
          <a:solidFill>
            <a:srgbClr val="8FD9A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/z/ keys</a:t>
            </a:r>
            <a:endParaRPr lang="en-US" sz="1150" dirty="0"/>
          </a:p>
        </p:txBody>
      </p:sp>
      <p:sp>
        <p:nvSpPr>
          <p:cNvPr id="32" name="sq_315"/>
          <p:cNvSpPr/>
          <p:nvPr/>
        </p:nvSpPr>
        <p:spPr>
          <a:xfrm>
            <a:off x="3246120" y="3886200"/>
            <a:ext cx="3840480" cy="347472"/>
          </a:xfrm>
          <a:prstGeom prst="roundRect">
            <a:avLst>
              <a:gd name="adj" fmla="val 26316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pages</a:t>
            </a:r>
            <a:endParaRPr lang="en-US" sz="1200" dirty="0"/>
          </a:p>
        </p:txBody>
      </p:sp>
      <p:sp>
        <p:nvSpPr>
          <p:cNvPr id="33" name="R7_tag316"/>
          <p:cNvSpPr/>
          <p:nvPr/>
        </p:nvSpPr>
        <p:spPr>
          <a:xfrm>
            <a:off x="7178040" y="3886200"/>
            <a:ext cx="1691640" cy="347472"/>
          </a:xfrm>
          <a:prstGeom prst="roundRect">
            <a:avLst>
              <a:gd name="adj" fmla="val 65789"/>
            </a:avLst>
          </a:prstGeom>
          <a:solidFill>
            <a:srgbClr val="F7A6C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/ɪz/ glasses</a:t>
            </a:r>
            <a:endParaRPr lang="en-US" sz="1150" dirty="0"/>
          </a:p>
        </p:txBody>
      </p:sp>
      <p:sp>
        <p:nvSpPr>
          <p:cNvPr id="34" name="sq_317"/>
          <p:cNvSpPr/>
          <p:nvPr/>
        </p:nvSpPr>
        <p:spPr>
          <a:xfrm>
            <a:off x="3246120" y="4297680"/>
            <a:ext cx="3840480" cy="347472"/>
          </a:xfrm>
          <a:prstGeom prst="roundRect">
            <a:avLst>
              <a:gd name="adj" fmla="val 26316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pieces</a:t>
            </a:r>
            <a:endParaRPr lang="en-US" sz="1200" dirty="0"/>
          </a:p>
        </p:txBody>
      </p:sp>
      <p:sp>
        <p:nvSpPr>
          <p:cNvPr id="35" name="R8_tag318"/>
          <p:cNvSpPr/>
          <p:nvPr/>
        </p:nvSpPr>
        <p:spPr>
          <a:xfrm>
            <a:off x="7178040" y="4297680"/>
            <a:ext cx="1691640" cy="347472"/>
          </a:xfrm>
          <a:prstGeom prst="roundRect">
            <a:avLst>
              <a:gd name="adj" fmla="val 65789"/>
            </a:avLst>
          </a:prstGeom>
          <a:solidFill>
            <a:srgbClr val="F7A6C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/ɪz/ glasses</a:t>
            </a:r>
            <a:endParaRPr lang="en-US" sz="115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319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10</a:t>
            </a:r>
            <a:endParaRPr lang="en-US" sz="2200" dirty="0"/>
          </a:p>
        </p:txBody>
      </p:sp>
      <p:pic>
        <p:nvPicPr>
          <p:cNvPr id="4" name="brY_320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4034333" cy="621792"/>
          </a:xfrm>
          <a:prstGeom prst="rect">
            <a:avLst/>
          </a:prstGeom>
        </p:spPr>
      </p:pic>
      <p:sp>
        <p:nvSpPr>
          <p:cNvPr id="5" name="title_321"/>
          <p:cNvSpPr/>
          <p:nvPr/>
        </p:nvSpPr>
        <p:spPr>
          <a:xfrm>
            <a:off x="1261872" y="164592"/>
            <a:ext cx="376001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Where are the things?</a:t>
            </a:r>
            <a:endParaRPr lang="en-US" sz="2500" dirty="0"/>
          </a:p>
        </p:txBody>
      </p:sp>
      <p:pic>
        <p:nvPicPr>
          <p:cNvPr id="6" name="brP_322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5074920" cy="402336"/>
          </a:xfrm>
          <a:prstGeom prst="rect">
            <a:avLst/>
          </a:prstGeom>
        </p:spPr>
      </p:pic>
      <p:sp>
        <p:nvSpPr>
          <p:cNvPr id="7" name="ins_323"/>
          <p:cNvSpPr/>
          <p:nvPr/>
        </p:nvSpPr>
        <p:spPr>
          <a:xfrm>
            <a:off x="1353312" y="731520"/>
            <a:ext cx="48188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Look at photos 1–3. Complete with in, on or under.</a:t>
            </a:r>
            <a:endParaRPr lang="en-US" sz="1250" dirty="0"/>
          </a:p>
        </p:txBody>
      </p:sp>
      <p:sp>
        <p:nvSpPr>
          <p:cNvPr id="8" name="insIT_324"/>
          <p:cNvSpPr/>
          <p:nvPr/>
        </p:nvSpPr>
        <p:spPr>
          <a:xfrm>
            <a:off x="1371600" y="1115568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Guarda le foto 1–3. Completa con in, on o under.</a:t>
            </a:r>
            <a:endParaRPr lang="en-US" sz="950" dirty="0"/>
          </a:p>
        </p:txBody>
      </p:sp>
      <p:sp>
        <p:nvSpPr>
          <p:cNvPr id="9" name="cmd_325"/>
          <p:cNvSpPr/>
          <p:nvPr/>
        </p:nvSpPr>
        <p:spPr>
          <a:xfrm>
            <a:off x="6583680" y="182880"/>
            <a:ext cx="178308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</a:rPr>
              <a:t>✏️ </a:t>
            </a:r>
            <a:pPr indent="0" marL="0">
              <a:buNone/>
            </a:pPr>
            <a:r>
              <a:rPr lang="en-US" sz="1200" dirty="0">
                <a:solidFill>
                  <a:srgbClr val="F2B705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FILL THE GAPS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COMPLETA</a:t>
            </a:r>
            <a:endParaRPr lang="en-US" sz="1300" dirty="0"/>
          </a:p>
        </p:txBody>
      </p:sp>
      <p:sp>
        <p:nvSpPr>
          <p:cNvPr id="10" name="meta_326"/>
          <p:cNvSpPr/>
          <p:nvPr/>
        </p:nvSpPr>
        <p:spPr>
          <a:xfrm>
            <a:off x="6583680" y="566928"/>
            <a:ext cx="2286000" cy="256032"/>
          </a:xfrm>
          <a:prstGeom prst="rect">
            <a:avLst/>
          </a:prstGeom>
          <a:noFill/>
          <a:ln/>
        </p:spPr>
        <p:txBody>
          <a:bodyPr wrap="square" lIns="0" tIns="101600" rIns="1016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4 min   👤 alone</a:t>
            </a:r>
            <a:endParaRPr lang="en-US" sz="950" dirty="0"/>
          </a:p>
        </p:txBody>
      </p:sp>
      <p:pic>
        <p:nvPicPr>
          <p:cNvPr id="11" name="logo_327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2" name="foot_328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2A · Vocabulary · in, on, under   ·   📖 SB p.15 · 4a</a:t>
            </a:r>
            <a:endParaRPr lang="en-US" sz="800" dirty="0"/>
          </a:p>
        </p:txBody>
      </p:sp>
      <p:sp>
        <p:nvSpPr>
          <p:cNvPr id="13" name="cd_329"/>
          <p:cNvSpPr/>
          <p:nvPr/>
        </p:nvSpPr>
        <p:spPr>
          <a:xfrm>
            <a:off x="320040" y="1417320"/>
            <a:ext cx="2697480" cy="1097280"/>
          </a:xfrm>
          <a:prstGeom prst="roundRect">
            <a:avLst>
              <a:gd name="adj" fmla="val 11667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4" name="ii_330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⭐</a:t>
            </a:r>
            <a:endParaRPr lang="en-US" sz="2200" dirty="0"/>
          </a:p>
        </p:txBody>
      </p:sp>
      <p:sp>
        <p:nvSpPr>
          <p:cNvPr id="15" name="ih_331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Example</a:t>
            </a:r>
            <a:endParaRPr lang="en-US" sz="1300" dirty="0"/>
          </a:p>
        </p:txBody>
      </p:sp>
      <p:sp>
        <p:nvSpPr>
          <p:cNvPr id="16" name="il_332"/>
          <p:cNvSpPr/>
          <p:nvPr/>
        </p:nvSpPr>
        <p:spPr>
          <a:xfrm>
            <a:off x="886968" y="1892808"/>
            <a:ext cx="20391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  The pen is ___ the desk. → on (sopra)</a:t>
            </a:r>
            <a:endParaRPr lang="en-US" sz="1050" dirty="0"/>
          </a:p>
        </p:txBody>
      </p:sp>
      <p:sp>
        <p:nvSpPr>
          <p:cNvPr id="17" name="pf_333"/>
          <p:cNvSpPr/>
          <p:nvPr/>
        </p:nvSpPr>
        <p:spPr>
          <a:xfrm rot="-90000">
            <a:off x="365760" y="2697480"/>
            <a:ext cx="2606040" cy="1965960"/>
          </a:xfrm>
          <a:prstGeom prst="roundRect">
            <a:avLst>
              <a:gd name="adj" fmla="val 790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8" name="ph_334" descr="/home/claude/lls-course/v2/cache/red_2a_notebook_jpg_605x451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90000">
            <a:off x="411480" y="2743200"/>
            <a:ext cx="2514600" cy="1874520"/>
          </a:xfrm>
          <a:prstGeom prst="rect">
            <a:avLst/>
          </a:prstGeom>
        </p:spPr>
      </p:pic>
      <p:sp>
        <p:nvSpPr>
          <p:cNvPr id="19" name="bd_335"/>
          <p:cNvSpPr/>
          <p:nvPr/>
        </p:nvSpPr>
        <p:spPr>
          <a:xfrm>
            <a:off x="3246120" y="1490472"/>
            <a:ext cx="310896" cy="310896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000" dirty="0"/>
          </a:p>
        </p:txBody>
      </p:sp>
      <p:sp>
        <p:nvSpPr>
          <p:cNvPr id="20" name="q_336"/>
          <p:cNvSpPr/>
          <p:nvPr/>
        </p:nvSpPr>
        <p:spPr>
          <a:xfrm>
            <a:off x="3630168" y="141732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  The glasses are ___ the notebook.</a:t>
            </a:r>
            <a:endParaRPr lang="en-US" sz="1150" dirty="0"/>
          </a:p>
        </p:txBody>
      </p:sp>
      <p:sp>
        <p:nvSpPr>
          <p:cNvPr id="21" name="R1_chip337"/>
          <p:cNvSpPr/>
          <p:nvPr/>
        </p:nvSpPr>
        <p:spPr>
          <a:xfrm>
            <a:off x="5806440" y="141732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on</a:t>
            </a:r>
            <a:endParaRPr lang="en-US" sz="1000" dirty="0"/>
          </a:p>
        </p:txBody>
      </p:sp>
      <p:sp>
        <p:nvSpPr>
          <p:cNvPr id="22" name="bd_338"/>
          <p:cNvSpPr/>
          <p:nvPr/>
        </p:nvSpPr>
        <p:spPr>
          <a:xfrm>
            <a:off x="3246120" y="1993392"/>
            <a:ext cx="310896" cy="310896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000" dirty="0"/>
          </a:p>
        </p:txBody>
      </p:sp>
      <p:sp>
        <p:nvSpPr>
          <p:cNvPr id="23" name="q_339"/>
          <p:cNvSpPr/>
          <p:nvPr/>
        </p:nvSpPr>
        <p:spPr>
          <a:xfrm>
            <a:off x="3630168" y="192024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  The credit cards are ___ the wallet.</a:t>
            </a:r>
            <a:endParaRPr lang="en-US" sz="1150" dirty="0"/>
          </a:p>
        </p:txBody>
      </p:sp>
      <p:sp>
        <p:nvSpPr>
          <p:cNvPr id="24" name="R2_chip340"/>
          <p:cNvSpPr/>
          <p:nvPr/>
        </p:nvSpPr>
        <p:spPr>
          <a:xfrm>
            <a:off x="5806440" y="192024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in</a:t>
            </a:r>
            <a:endParaRPr lang="en-US" sz="1000" dirty="0"/>
          </a:p>
        </p:txBody>
      </p:sp>
      <p:sp>
        <p:nvSpPr>
          <p:cNvPr id="25" name="bd_341"/>
          <p:cNvSpPr/>
          <p:nvPr/>
        </p:nvSpPr>
        <p:spPr>
          <a:xfrm>
            <a:off x="3246120" y="2496312"/>
            <a:ext cx="310896" cy="310896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000" dirty="0"/>
          </a:p>
        </p:txBody>
      </p:sp>
      <p:sp>
        <p:nvSpPr>
          <p:cNvPr id="26" name="q_342"/>
          <p:cNvSpPr/>
          <p:nvPr/>
        </p:nvSpPr>
        <p:spPr>
          <a:xfrm>
            <a:off x="3630168" y="242316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3  The bag is ___ the desk.</a:t>
            </a:r>
            <a:endParaRPr lang="en-US" sz="1150" dirty="0"/>
          </a:p>
        </p:txBody>
      </p:sp>
      <p:sp>
        <p:nvSpPr>
          <p:cNvPr id="27" name="R3_chip343"/>
          <p:cNvSpPr/>
          <p:nvPr/>
        </p:nvSpPr>
        <p:spPr>
          <a:xfrm>
            <a:off x="5806440" y="242316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under</a:t>
            </a:r>
            <a:endParaRPr lang="en-US" sz="1000" dirty="0"/>
          </a:p>
        </p:txBody>
      </p:sp>
      <p:sp>
        <p:nvSpPr>
          <p:cNvPr id="28" name="bd_344"/>
          <p:cNvSpPr/>
          <p:nvPr/>
        </p:nvSpPr>
        <p:spPr>
          <a:xfrm>
            <a:off x="3246120" y="2999232"/>
            <a:ext cx="310896" cy="310896"/>
          </a:xfrm>
          <a:prstGeom prst="ellipse">
            <a:avLst/>
          </a:prstGeom>
          <a:solidFill>
            <a:srgbClr val="F2B705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000" dirty="0"/>
          </a:p>
        </p:txBody>
      </p:sp>
      <p:sp>
        <p:nvSpPr>
          <p:cNvPr id="29" name="q_345"/>
          <p:cNvSpPr/>
          <p:nvPr/>
        </p:nvSpPr>
        <p:spPr>
          <a:xfrm>
            <a:off x="3630168" y="292608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4  My keys are ___ my bag.</a:t>
            </a:r>
            <a:endParaRPr lang="en-US" sz="1150" dirty="0"/>
          </a:p>
        </p:txBody>
      </p:sp>
      <p:sp>
        <p:nvSpPr>
          <p:cNvPr id="30" name="R4_chip346"/>
          <p:cNvSpPr/>
          <p:nvPr/>
        </p:nvSpPr>
        <p:spPr>
          <a:xfrm>
            <a:off x="5806440" y="292608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in</a:t>
            </a:r>
            <a:endParaRPr lang="en-US" sz="1000" dirty="0"/>
          </a:p>
        </p:txBody>
      </p:sp>
      <p:sp>
        <p:nvSpPr>
          <p:cNvPr id="31" name="bd_347"/>
          <p:cNvSpPr/>
          <p:nvPr/>
        </p:nvSpPr>
        <p:spPr>
          <a:xfrm>
            <a:off x="3246120" y="3502152"/>
            <a:ext cx="310896" cy="310896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000" dirty="0"/>
          </a:p>
        </p:txBody>
      </p:sp>
      <p:sp>
        <p:nvSpPr>
          <p:cNvPr id="32" name="q_348"/>
          <p:cNvSpPr/>
          <p:nvPr/>
        </p:nvSpPr>
        <p:spPr>
          <a:xfrm>
            <a:off x="3630168" y="342900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5  The cat is ___ the table.</a:t>
            </a:r>
            <a:endParaRPr lang="en-US" sz="1150" dirty="0"/>
          </a:p>
        </p:txBody>
      </p:sp>
      <p:sp>
        <p:nvSpPr>
          <p:cNvPr id="33" name="R5_chip349"/>
          <p:cNvSpPr/>
          <p:nvPr/>
        </p:nvSpPr>
        <p:spPr>
          <a:xfrm>
            <a:off x="5806440" y="342900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under (or on!)</a:t>
            </a:r>
            <a:endParaRPr lang="en-US" sz="10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350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11</a:t>
            </a:r>
            <a:endParaRPr lang="en-US" sz="2200" dirty="0"/>
          </a:p>
        </p:txBody>
      </p:sp>
      <p:pic>
        <p:nvPicPr>
          <p:cNvPr id="4" name="brY_351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405226" cy="621792"/>
          </a:xfrm>
          <a:prstGeom prst="rect">
            <a:avLst/>
          </a:prstGeom>
        </p:spPr>
      </p:pic>
      <p:sp>
        <p:nvSpPr>
          <p:cNvPr id="5" name="title_352"/>
          <p:cNvSpPr/>
          <p:nvPr/>
        </p:nvSpPr>
        <p:spPr>
          <a:xfrm>
            <a:off x="1261872" y="164592"/>
            <a:ext cx="313090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Where's my phone?</a:t>
            </a:r>
            <a:endParaRPr lang="en-US" sz="2500" dirty="0"/>
          </a:p>
        </p:txBody>
      </p:sp>
      <p:pic>
        <p:nvPicPr>
          <p:cNvPr id="6" name="brP_353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988052" cy="402336"/>
          </a:xfrm>
          <a:prstGeom prst="rect">
            <a:avLst/>
          </a:prstGeom>
        </p:spPr>
      </p:pic>
      <p:sp>
        <p:nvSpPr>
          <p:cNvPr id="7" name="ins_354"/>
          <p:cNvSpPr/>
          <p:nvPr/>
        </p:nvSpPr>
        <p:spPr>
          <a:xfrm>
            <a:off x="1353312" y="731520"/>
            <a:ext cx="47320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Hide it! Your partner asks: Is it in…? Is it on…?</a:t>
            </a:r>
            <a:endParaRPr lang="en-US" sz="1250" dirty="0"/>
          </a:p>
        </p:txBody>
      </p:sp>
      <p:sp>
        <p:nvSpPr>
          <p:cNvPr id="8" name="insIT_355"/>
          <p:cNvSpPr/>
          <p:nvPr/>
        </p:nvSpPr>
        <p:spPr>
          <a:xfrm>
            <a:off x="1371600" y="1115568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Nascondilo! Il compagno chiede: Is it in…? Is it on…?</a:t>
            </a:r>
            <a:endParaRPr lang="en-US" sz="950" dirty="0"/>
          </a:p>
        </p:txBody>
      </p:sp>
      <p:sp>
        <p:nvSpPr>
          <p:cNvPr id="9" name="cmd_356"/>
          <p:cNvSpPr/>
          <p:nvPr/>
        </p:nvSpPr>
        <p:spPr>
          <a:xfrm>
            <a:off x="6583680" y="182880"/>
            <a:ext cx="178308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</a:rPr>
              <a:t>🎲 </a:t>
            </a:r>
            <a:pPr indent="0" marL="0">
              <a:buNone/>
            </a:pPr>
            <a:r>
              <a:rPr lang="en-US" sz="1200" dirty="0">
                <a:solidFill>
                  <a:srgbClr val="F2B705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PLAY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GIOCA</a:t>
            </a:r>
            <a:endParaRPr lang="en-US" sz="1300" dirty="0"/>
          </a:p>
        </p:txBody>
      </p:sp>
      <p:sp>
        <p:nvSpPr>
          <p:cNvPr id="10" name="meta_357"/>
          <p:cNvSpPr/>
          <p:nvPr/>
        </p:nvSpPr>
        <p:spPr>
          <a:xfrm>
            <a:off x="6583680" y="566928"/>
            <a:ext cx="2286000" cy="256032"/>
          </a:xfrm>
          <a:prstGeom prst="rect">
            <a:avLst/>
          </a:prstGeom>
          <a:noFill/>
          <a:ln/>
        </p:spPr>
        <p:txBody>
          <a:bodyPr wrap="square" lIns="0" tIns="101600" rIns="1016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6 min   👥 pairs</a:t>
            </a:r>
            <a:endParaRPr lang="en-US" sz="950" dirty="0"/>
          </a:p>
        </p:txBody>
      </p:sp>
      <p:pic>
        <p:nvPicPr>
          <p:cNvPr id="11" name="logo_358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2" name="foot_359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2A · Game · in, on, under</a:t>
            </a:r>
            <a:endParaRPr lang="en-US" sz="800" dirty="0"/>
          </a:p>
        </p:txBody>
      </p:sp>
      <p:sp>
        <p:nvSpPr>
          <p:cNvPr id="13" name="cd_360"/>
          <p:cNvSpPr/>
          <p:nvPr/>
        </p:nvSpPr>
        <p:spPr>
          <a:xfrm>
            <a:off x="320040" y="1417320"/>
            <a:ext cx="2697480" cy="2057400"/>
          </a:xfrm>
          <a:prstGeom prst="roundRect">
            <a:avLst>
              <a:gd name="adj" fmla="val 6222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4" name="ii_361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🎲</a:t>
            </a:r>
            <a:endParaRPr lang="en-US" sz="2200" dirty="0"/>
          </a:p>
        </p:txBody>
      </p:sp>
      <p:sp>
        <p:nvSpPr>
          <p:cNvPr id="15" name="ih_362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How to play</a:t>
            </a:r>
            <a:endParaRPr lang="en-US" sz="1500" dirty="0"/>
          </a:p>
        </p:txBody>
      </p:sp>
      <p:sp>
        <p:nvSpPr>
          <p:cNvPr id="16" name="il_363"/>
          <p:cNvSpPr/>
          <p:nvPr/>
        </p:nvSpPr>
        <p:spPr>
          <a:xfrm>
            <a:off x="886968" y="1892808"/>
            <a:ext cx="203911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2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A: 'hide' your phone in the classroom (in your head!).</a:t>
            </a:r>
            <a:endParaRPr lang="en-US" sz="1150" dirty="0"/>
          </a:p>
          <a:p>
            <a:pPr marL="342900" indent="-342900">
              <a:spcAft>
                <a:spcPts val="2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 asks yes/no questions: Is it on the desk?</a:t>
            </a:r>
            <a:endParaRPr lang="en-US" sz="1150" dirty="0"/>
          </a:p>
          <a:p>
            <a:pPr marL="342900" indent="-342900">
              <a:spcAft>
                <a:spcPts val="2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Find it in 5 questions = 1 point.</a:t>
            </a:r>
            <a:endParaRPr lang="en-US" sz="1150" dirty="0"/>
          </a:p>
        </p:txBody>
      </p:sp>
      <p:sp>
        <p:nvSpPr>
          <p:cNvPr id="17" name="st_364"/>
          <p:cNvSpPr/>
          <p:nvPr/>
        </p:nvSpPr>
        <p:spPr>
          <a:xfrm rot="-180000">
            <a:off x="502920" y="3703320"/>
            <a:ext cx="2286000" cy="777240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TEAM A  ☆☆☆☆☆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TEAM B  ☆☆☆☆☆</a:t>
            </a:r>
            <a:endParaRPr lang="en-US" sz="1300" dirty="0"/>
          </a:p>
        </p:txBody>
      </p:sp>
      <p:sp>
        <p:nvSpPr>
          <p:cNvPr id="18" name="bd_365"/>
          <p:cNvSpPr/>
          <p:nvPr/>
        </p:nvSpPr>
        <p:spPr>
          <a:xfrm>
            <a:off x="3246120" y="1508760"/>
            <a:ext cx="329184" cy="329184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100" dirty="0"/>
          </a:p>
        </p:txBody>
      </p:sp>
      <p:sp>
        <p:nvSpPr>
          <p:cNvPr id="19" name="gq_366"/>
          <p:cNvSpPr/>
          <p:nvPr/>
        </p:nvSpPr>
        <p:spPr>
          <a:xfrm>
            <a:off x="3657600" y="1417320"/>
            <a:ext cx="2514600" cy="512064"/>
          </a:xfrm>
          <a:prstGeom prst="roundRect">
            <a:avLst>
              <a:gd name="adj" fmla="val 17857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Is it on the table?</a:t>
            </a:r>
            <a:endParaRPr lang="en-US" sz="1100" dirty="0"/>
          </a:p>
        </p:txBody>
      </p:sp>
      <p:sp>
        <p:nvSpPr>
          <p:cNvPr id="20" name="R1_chip367"/>
          <p:cNvSpPr/>
          <p:nvPr/>
        </p:nvSpPr>
        <p:spPr>
          <a:xfrm>
            <a:off x="6263640" y="1417320"/>
            <a:ext cx="2560320" cy="512064"/>
          </a:xfrm>
          <a:prstGeom prst="roundRect">
            <a:avLst>
              <a:gd name="adj" fmla="val 17857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No, it isn't.</a:t>
            </a:r>
            <a:endParaRPr lang="en-US" sz="1100" dirty="0"/>
          </a:p>
        </p:txBody>
      </p:sp>
      <p:sp>
        <p:nvSpPr>
          <p:cNvPr id="21" name="bd_368"/>
          <p:cNvSpPr/>
          <p:nvPr/>
        </p:nvSpPr>
        <p:spPr>
          <a:xfrm>
            <a:off x="3246120" y="2084832"/>
            <a:ext cx="329184" cy="329184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100" dirty="0"/>
          </a:p>
        </p:txBody>
      </p:sp>
      <p:sp>
        <p:nvSpPr>
          <p:cNvPr id="22" name="gq_369"/>
          <p:cNvSpPr/>
          <p:nvPr/>
        </p:nvSpPr>
        <p:spPr>
          <a:xfrm>
            <a:off x="3657600" y="1993392"/>
            <a:ext cx="2514600" cy="512064"/>
          </a:xfrm>
          <a:prstGeom prst="roundRect">
            <a:avLst>
              <a:gd name="adj" fmla="val 17857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Is it under the chair?</a:t>
            </a:r>
            <a:endParaRPr lang="en-US" sz="1100" dirty="0"/>
          </a:p>
        </p:txBody>
      </p:sp>
      <p:sp>
        <p:nvSpPr>
          <p:cNvPr id="23" name="R2_chip370"/>
          <p:cNvSpPr/>
          <p:nvPr/>
        </p:nvSpPr>
        <p:spPr>
          <a:xfrm>
            <a:off x="6263640" y="1993392"/>
            <a:ext cx="2560320" cy="512064"/>
          </a:xfrm>
          <a:prstGeom prst="roundRect">
            <a:avLst>
              <a:gd name="adj" fmla="val 17857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No, it isn't.</a:t>
            </a:r>
            <a:endParaRPr lang="en-US" sz="1100" dirty="0"/>
          </a:p>
        </p:txBody>
      </p:sp>
      <p:sp>
        <p:nvSpPr>
          <p:cNvPr id="24" name="bd_371"/>
          <p:cNvSpPr/>
          <p:nvPr/>
        </p:nvSpPr>
        <p:spPr>
          <a:xfrm>
            <a:off x="3246120" y="2660904"/>
            <a:ext cx="329184" cy="329184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100" dirty="0"/>
          </a:p>
        </p:txBody>
      </p:sp>
      <p:sp>
        <p:nvSpPr>
          <p:cNvPr id="25" name="gq_372"/>
          <p:cNvSpPr/>
          <p:nvPr/>
        </p:nvSpPr>
        <p:spPr>
          <a:xfrm>
            <a:off x="3657600" y="2569464"/>
            <a:ext cx="2514600" cy="512064"/>
          </a:xfrm>
          <a:prstGeom prst="roundRect">
            <a:avLst>
              <a:gd name="adj" fmla="val 17857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Is it in your bag?</a:t>
            </a:r>
            <a:endParaRPr lang="en-US" sz="1100" dirty="0"/>
          </a:p>
        </p:txBody>
      </p:sp>
      <p:sp>
        <p:nvSpPr>
          <p:cNvPr id="26" name="R3_chip373"/>
          <p:cNvSpPr/>
          <p:nvPr/>
        </p:nvSpPr>
        <p:spPr>
          <a:xfrm>
            <a:off x="6263640" y="2569464"/>
            <a:ext cx="2560320" cy="512064"/>
          </a:xfrm>
          <a:prstGeom prst="roundRect">
            <a:avLst>
              <a:gd name="adj" fmla="val 17857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Yes, it is!</a:t>
            </a:r>
            <a:endParaRPr lang="en-US" sz="1100" dirty="0"/>
          </a:p>
        </p:txBody>
      </p:sp>
      <p:sp>
        <p:nvSpPr>
          <p:cNvPr id="27" name="bd_374"/>
          <p:cNvSpPr/>
          <p:nvPr/>
        </p:nvSpPr>
        <p:spPr>
          <a:xfrm>
            <a:off x="3246120" y="3236976"/>
            <a:ext cx="329184" cy="329184"/>
          </a:xfrm>
          <a:prstGeom prst="ellipse">
            <a:avLst/>
          </a:prstGeom>
          <a:solidFill>
            <a:srgbClr val="F2B705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100" dirty="0"/>
          </a:p>
        </p:txBody>
      </p:sp>
      <p:sp>
        <p:nvSpPr>
          <p:cNvPr id="28" name="gq_375"/>
          <p:cNvSpPr/>
          <p:nvPr/>
        </p:nvSpPr>
        <p:spPr>
          <a:xfrm>
            <a:off x="3657600" y="3145536"/>
            <a:ext cx="2514600" cy="512064"/>
          </a:xfrm>
          <a:prstGeom prst="roundRect">
            <a:avLst>
              <a:gd name="adj" fmla="val 17857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Are my keys on the desk?</a:t>
            </a:r>
            <a:endParaRPr lang="en-US" sz="1100" dirty="0"/>
          </a:p>
        </p:txBody>
      </p:sp>
      <p:sp>
        <p:nvSpPr>
          <p:cNvPr id="29" name="R4_chip376"/>
          <p:cNvSpPr/>
          <p:nvPr/>
        </p:nvSpPr>
        <p:spPr>
          <a:xfrm>
            <a:off x="6263640" y="3145536"/>
            <a:ext cx="2560320" cy="512064"/>
          </a:xfrm>
          <a:prstGeom prst="roundRect">
            <a:avLst>
              <a:gd name="adj" fmla="val 17857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No, they aren't. They're in my pocket.</a:t>
            </a:r>
            <a:endParaRPr lang="en-US" sz="11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377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12</a:t>
            </a:r>
            <a:endParaRPr lang="en-US" sz="2200" dirty="0"/>
          </a:p>
        </p:txBody>
      </p:sp>
      <p:pic>
        <p:nvPicPr>
          <p:cNvPr id="4" name="brY_378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719779" cy="621792"/>
          </a:xfrm>
          <a:prstGeom prst="rect">
            <a:avLst/>
          </a:prstGeom>
        </p:spPr>
      </p:pic>
      <p:sp>
        <p:nvSpPr>
          <p:cNvPr id="5" name="title_379"/>
          <p:cNvSpPr/>
          <p:nvPr/>
        </p:nvSpPr>
        <p:spPr>
          <a:xfrm>
            <a:off x="1261872" y="164592"/>
            <a:ext cx="344545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What's in your bag?</a:t>
            </a:r>
            <a:endParaRPr lang="en-US" sz="2500" dirty="0"/>
          </a:p>
        </p:txBody>
      </p:sp>
      <p:pic>
        <p:nvPicPr>
          <p:cNvPr id="6" name="brP_380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5682996" cy="402336"/>
          </a:xfrm>
          <a:prstGeom prst="rect">
            <a:avLst/>
          </a:prstGeom>
        </p:spPr>
      </p:pic>
      <p:sp>
        <p:nvSpPr>
          <p:cNvPr id="7" name="ins_381"/>
          <p:cNvSpPr/>
          <p:nvPr/>
        </p:nvSpPr>
        <p:spPr>
          <a:xfrm>
            <a:off x="1353312" y="731520"/>
            <a:ext cx="54269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Tell your partner what's in your bag. Use a/an + plurals.</a:t>
            </a:r>
            <a:endParaRPr lang="en-US" sz="1250" dirty="0"/>
          </a:p>
        </p:txBody>
      </p:sp>
      <p:sp>
        <p:nvSpPr>
          <p:cNvPr id="8" name="insIT_382"/>
          <p:cNvSpPr/>
          <p:nvPr/>
        </p:nvSpPr>
        <p:spPr>
          <a:xfrm>
            <a:off x="1371600" y="1115568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Di' al compagno cosa c'è nella tua borsa.</a:t>
            </a:r>
            <a:endParaRPr lang="en-US" sz="950" dirty="0"/>
          </a:p>
        </p:txBody>
      </p:sp>
      <p:sp>
        <p:nvSpPr>
          <p:cNvPr id="9" name="cmd_383"/>
          <p:cNvSpPr/>
          <p:nvPr/>
        </p:nvSpPr>
        <p:spPr>
          <a:xfrm>
            <a:off x="6583680" y="182880"/>
            <a:ext cx="178308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</a:rPr>
              <a:t>💬 </a:t>
            </a:r>
            <a:pPr indent="0" marL="0">
              <a:buNone/>
            </a:pPr>
            <a:r>
              <a:rPr lang="en-US" sz="1200" dirty="0">
                <a:solidFill>
                  <a:srgbClr val="E8508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TALK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PARLA</a:t>
            </a:r>
            <a:endParaRPr lang="en-US" sz="1300" dirty="0"/>
          </a:p>
        </p:txBody>
      </p:sp>
      <p:sp>
        <p:nvSpPr>
          <p:cNvPr id="10" name="meta_384"/>
          <p:cNvSpPr/>
          <p:nvPr/>
        </p:nvSpPr>
        <p:spPr>
          <a:xfrm>
            <a:off x="6583680" y="566928"/>
            <a:ext cx="2286000" cy="256032"/>
          </a:xfrm>
          <a:prstGeom prst="rect">
            <a:avLst/>
          </a:prstGeom>
          <a:noFill/>
          <a:ln/>
        </p:spPr>
        <p:txBody>
          <a:bodyPr wrap="square" lIns="0" tIns="101600" rIns="1016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8 min   👥 pairs</a:t>
            </a:r>
            <a:endParaRPr lang="en-US" sz="950" dirty="0"/>
          </a:p>
        </p:txBody>
      </p:sp>
      <p:pic>
        <p:nvPicPr>
          <p:cNvPr id="11" name="logo_385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2" name="foot_386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2A · Speaking · your bag and desk   ·   📖 SB p.15 · 5c (book listening 2.5 not available – speaking instead)</a:t>
            </a:r>
            <a:endParaRPr lang="en-US" sz="800" dirty="0"/>
          </a:p>
        </p:txBody>
      </p:sp>
      <p:sp>
        <p:nvSpPr>
          <p:cNvPr id="13" name="pf_387"/>
          <p:cNvSpPr/>
          <p:nvPr/>
        </p:nvSpPr>
        <p:spPr>
          <a:xfrm rot="-120000">
            <a:off x="320040" y="1371600"/>
            <a:ext cx="2788920" cy="1874520"/>
          </a:xfrm>
          <a:prstGeom prst="roundRect">
            <a:avLst>
              <a:gd name="adj" fmla="val 829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4" name="ph_388" descr="/home/claude/lls-course/v2/cache/red_2a_deskbag_jpg_649x429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120000">
            <a:off x="365760" y="1417320"/>
            <a:ext cx="2697480" cy="1783080"/>
          </a:xfrm>
          <a:prstGeom prst="rect">
            <a:avLst/>
          </a:prstGeom>
        </p:spPr>
      </p:pic>
      <p:sp>
        <p:nvSpPr>
          <p:cNvPr id="15" name="cd_389"/>
          <p:cNvSpPr/>
          <p:nvPr/>
        </p:nvSpPr>
        <p:spPr>
          <a:xfrm>
            <a:off x="320040" y="3429000"/>
            <a:ext cx="2788920" cy="1325880"/>
          </a:xfrm>
          <a:prstGeom prst="roundRect">
            <a:avLst>
              <a:gd name="adj" fmla="val 9655"/>
            </a:avLst>
          </a:prstGeom>
          <a:solidFill>
            <a:srgbClr val="EEE8FB"/>
          </a:solidFill>
          <a:ln w="19050">
            <a:solidFill>
              <a:srgbClr val="CDBFF3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6" name="ii_390"/>
          <p:cNvSpPr/>
          <p:nvPr/>
        </p:nvSpPr>
        <p:spPr>
          <a:xfrm>
            <a:off x="411480" y="350215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💬</a:t>
            </a:r>
            <a:endParaRPr lang="en-US" sz="2200" dirty="0"/>
          </a:p>
        </p:txBody>
      </p:sp>
      <p:sp>
        <p:nvSpPr>
          <p:cNvPr id="17" name="ih_391"/>
          <p:cNvSpPr/>
          <p:nvPr/>
        </p:nvSpPr>
        <p:spPr>
          <a:xfrm>
            <a:off x="886968" y="352044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Useful phrases</a:t>
            </a:r>
            <a:endParaRPr lang="en-US" sz="1300" dirty="0"/>
          </a:p>
        </p:txBody>
      </p:sp>
      <p:sp>
        <p:nvSpPr>
          <p:cNvPr id="18" name="il_392"/>
          <p:cNvSpPr/>
          <p:nvPr/>
        </p:nvSpPr>
        <p:spPr>
          <a:xfrm>
            <a:off x="886968" y="3904488"/>
            <a:ext cx="2130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 my bag I have a…, two…, some…</a:t>
            </a:r>
            <a:endParaRPr lang="en-US" sz="105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My … is / are in / on / under…</a:t>
            </a:r>
            <a:endParaRPr lang="en-US" sz="105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Really? Me too! · I don't have a…</a:t>
            </a:r>
            <a:endParaRPr lang="en-US" sz="1050" dirty="0"/>
          </a:p>
        </p:txBody>
      </p:sp>
      <p:sp>
        <p:nvSpPr>
          <p:cNvPr id="19" name="R1_qb393"/>
          <p:cNvSpPr/>
          <p:nvPr/>
        </p:nvSpPr>
        <p:spPr>
          <a:xfrm>
            <a:off x="3273552" y="1453896"/>
            <a:ext cx="329184" cy="329184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100" dirty="0"/>
          </a:p>
        </p:txBody>
      </p:sp>
      <p:sp>
        <p:nvSpPr>
          <p:cNvPr id="20" name="R1_sq394"/>
          <p:cNvSpPr/>
          <p:nvPr/>
        </p:nvSpPr>
        <p:spPr>
          <a:xfrm>
            <a:off x="3675888" y="1417320"/>
            <a:ext cx="519379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222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25400" tIns="1270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What's in your bag? Name 5 things.</a:t>
            </a:r>
            <a:endParaRPr lang="en-US" sz="1250" dirty="0"/>
          </a:p>
          <a:p>
            <a:pPr indent="0" marL="0">
              <a:buNone/>
            </a:pPr>
            <a:r>
              <a:rPr lang="en-US" sz="100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e.g. In my bag I have a purse, keys, my phone, tissues and a pen.</a:t>
            </a:r>
            <a:endParaRPr lang="en-US" sz="1250" dirty="0"/>
          </a:p>
        </p:txBody>
      </p:sp>
      <p:sp>
        <p:nvSpPr>
          <p:cNvPr id="21" name="R2_qb395"/>
          <p:cNvSpPr/>
          <p:nvPr/>
        </p:nvSpPr>
        <p:spPr>
          <a:xfrm>
            <a:off x="3273552" y="2057400"/>
            <a:ext cx="329184" cy="329184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100" dirty="0"/>
          </a:p>
        </p:txBody>
      </p:sp>
      <p:sp>
        <p:nvSpPr>
          <p:cNvPr id="22" name="R2_sq396"/>
          <p:cNvSpPr/>
          <p:nvPr/>
        </p:nvSpPr>
        <p:spPr>
          <a:xfrm>
            <a:off x="3675888" y="2020824"/>
            <a:ext cx="519379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222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25400" tIns="1270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Where are your keys now?</a:t>
            </a:r>
            <a:endParaRPr lang="en-US" sz="1250" dirty="0"/>
          </a:p>
          <a:p>
            <a:pPr indent="0" marL="0">
              <a:buNone/>
            </a:pPr>
            <a:r>
              <a:rPr lang="en-US" sz="100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e.g. They're in my pocket.</a:t>
            </a:r>
            <a:endParaRPr lang="en-US" sz="1250" dirty="0"/>
          </a:p>
        </p:txBody>
      </p:sp>
      <p:sp>
        <p:nvSpPr>
          <p:cNvPr id="23" name="R3_qb397"/>
          <p:cNvSpPr/>
          <p:nvPr/>
        </p:nvSpPr>
        <p:spPr>
          <a:xfrm>
            <a:off x="3273552" y="2660904"/>
            <a:ext cx="329184" cy="329184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100" dirty="0"/>
          </a:p>
        </p:txBody>
      </p:sp>
      <p:sp>
        <p:nvSpPr>
          <p:cNvPr id="24" name="R3_sq398"/>
          <p:cNvSpPr/>
          <p:nvPr/>
        </p:nvSpPr>
        <p:spPr>
          <a:xfrm>
            <a:off x="3675888" y="2624328"/>
            <a:ext cx="519379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222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25400" tIns="1270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What's on your desk at home?</a:t>
            </a:r>
            <a:endParaRPr lang="en-US" sz="1250" dirty="0"/>
          </a:p>
          <a:p>
            <a:pPr indent="0" marL="0">
              <a:buNone/>
            </a:pPr>
            <a:r>
              <a:rPr lang="en-US" sz="100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e.g. There's a laptop, some books and a lamp on my desk.</a:t>
            </a:r>
            <a:endParaRPr lang="en-US" sz="1250" dirty="0"/>
          </a:p>
        </p:txBody>
      </p:sp>
      <p:sp>
        <p:nvSpPr>
          <p:cNvPr id="25" name="R4_qb399"/>
          <p:cNvSpPr/>
          <p:nvPr/>
        </p:nvSpPr>
        <p:spPr>
          <a:xfrm>
            <a:off x="3273552" y="3264408"/>
            <a:ext cx="329184" cy="329184"/>
          </a:xfrm>
          <a:prstGeom prst="ellipse">
            <a:avLst/>
          </a:prstGeom>
          <a:solidFill>
            <a:srgbClr val="F2B705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100" dirty="0"/>
          </a:p>
        </p:txBody>
      </p:sp>
      <p:sp>
        <p:nvSpPr>
          <p:cNvPr id="26" name="R4_sq400"/>
          <p:cNvSpPr/>
          <p:nvPr/>
        </p:nvSpPr>
        <p:spPr>
          <a:xfrm>
            <a:off x="3675888" y="3227832"/>
            <a:ext cx="519379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222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25400" tIns="1270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Is your desk tidy or untidy? Why?</a:t>
            </a:r>
            <a:endParaRPr lang="en-US" sz="1250" dirty="0"/>
          </a:p>
          <a:p>
            <a:pPr indent="0" marL="0">
              <a:buNone/>
            </a:pPr>
            <a:r>
              <a:rPr lang="en-US" sz="100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e.g. It's untidy – there are papers everywhere!</a:t>
            </a:r>
            <a:endParaRPr lang="en-US" sz="1250" dirty="0"/>
          </a:p>
        </p:txBody>
      </p:sp>
      <p:sp>
        <p:nvSpPr>
          <p:cNvPr id="27" name="R5_qb401"/>
          <p:cNvSpPr/>
          <p:nvPr/>
        </p:nvSpPr>
        <p:spPr>
          <a:xfrm>
            <a:off x="3273552" y="3867912"/>
            <a:ext cx="329184" cy="329184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100" dirty="0"/>
          </a:p>
        </p:txBody>
      </p:sp>
      <p:sp>
        <p:nvSpPr>
          <p:cNvPr id="28" name="R5_sq402"/>
          <p:cNvSpPr/>
          <p:nvPr/>
        </p:nvSpPr>
        <p:spPr>
          <a:xfrm>
            <a:off x="3675888" y="3831336"/>
            <a:ext cx="519379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222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25400" tIns="1270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Extension: what do you always lose?</a:t>
            </a:r>
            <a:endParaRPr lang="en-US" sz="1250" dirty="0"/>
          </a:p>
          <a:p>
            <a:pPr indent="0" marL="0">
              <a:buNone/>
            </a:pPr>
            <a:r>
              <a:rPr lang="en-US" sz="100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e.g. I always lose my glasses! They're usually on my head.</a:t>
            </a:r>
            <a:endParaRPr lang="en-US" sz="125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403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13</a:t>
            </a:r>
            <a:endParaRPr lang="en-US" sz="2200" dirty="0"/>
          </a:p>
        </p:txBody>
      </p:sp>
      <p:pic>
        <p:nvPicPr>
          <p:cNvPr id="4" name="brY_404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2147011" cy="621792"/>
          </a:xfrm>
          <a:prstGeom prst="rect">
            <a:avLst/>
          </a:prstGeom>
        </p:spPr>
      </p:pic>
      <p:sp>
        <p:nvSpPr>
          <p:cNvPr id="5" name="title_405"/>
          <p:cNvSpPr/>
          <p:nvPr/>
        </p:nvSpPr>
        <p:spPr>
          <a:xfrm>
            <a:off x="1261872" y="164592"/>
            <a:ext cx="1872691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 · 2 · 1</a:t>
            </a:r>
            <a:endParaRPr lang="en-US" sz="2500" dirty="0"/>
          </a:p>
        </p:txBody>
      </p:sp>
      <p:pic>
        <p:nvPicPr>
          <p:cNvPr id="6" name="brP_406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858768" cy="402336"/>
          </a:xfrm>
          <a:prstGeom prst="rect">
            <a:avLst/>
          </a:prstGeom>
        </p:spPr>
      </p:pic>
      <p:sp>
        <p:nvSpPr>
          <p:cNvPr id="7" name="ins_407"/>
          <p:cNvSpPr/>
          <p:nvPr/>
        </p:nvSpPr>
        <p:spPr>
          <a:xfrm>
            <a:off x="1353312" y="731520"/>
            <a:ext cx="36027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Books closed! What can you remember?</a:t>
            </a:r>
            <a:endParaRPr lang="en-US" sz="1250" dirty="0"/>
          </a:p>
        </p:txBody>
      </p:sp>
      <p:sp>
        <p:nvSpPr>
          <p:cNvPr id="8" name="insIT_408"/>
          <p:cNvSpPr/>
          <p:nvPr/>
        </p:nvSpPr>
        <p:spPr>
          <a:xfrm>
            <a:off x="1371600" y="1115568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Libri chiusi! Cosa ricordi?</a:t>
            </a:r>
            <a:endParaRPr lang="en-US" sz="950" dirty="0"/>
          </a:p>
        </p:txBody>
      </p:sp>
      <p:sp>
        <p:nvSpPr>
          <p:cNvPr id="9" name="meta_409"/>
          <p:cNvSpPr/>
          <p:nvPr/>
        </p:nvSpPr>
        <p:spPr>
          <a:xfrm>
            <a:off x="6583680" y="182880"/>
            <a:ext cx="2286000" cy="256032"/>
          </a:xfrm>
          <a:prstGeom prst="rect">
            <a:avLst/>
          </a:prstGeom>
          <a:noFill/>
          <a:ln/>
        </p:spPr>
        <p:txBody>
          <a:bodyPr wrap="square" lIns="0" tIns="101600" rIns="1016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3 min   👥 pairs</a:t>
            </a:r>
            <a:endParaRPr lang="en-US" sz="950" dirty="0"/>
          </a:p>
        </p:txBody>
      </p:sp>
      <p:pic>
        <p:nvPicPr>
          <p:cNvPr id="10" name="logo_410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1" name="foot_411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2A · Exit · what can you remember?</a:t>
            </a:r>
            <a:endParaRPr lang="en-US" sz="800" dirty="0"/>
          </a:p>
        </p:txBody>
      </p:sp>
      <p:sp>
        <p:nvSpPr>
          <p:cNvPr id="12" name="bd_412"/>
          <p:cNvSpPr/>
          <p:nvPr/>
        </p:nvSpPr>
        <p:spPr>
          <a:xfrm>
            <a:off x="457200" y="1508760"/>
            <a:ext cx="777240" cy="777240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2600" dirty="0"/>
          </a:p>
        </p:txBody>
      </p:sp>
      <p:sp>
        <p:nvSpPr>
          <p:cNvPr id="13" name="rt_413"/>
          <p:cNvSpPr/>
          <p:nvPr/>
        </p:nvSpPr>
        <p:spPr>
          <a:xfrm>
            <a:off x="1417320" y="1581912"/>
            <a:ext cx="3931920" cy="6400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5400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0" tIns="152400" rIns="15240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things in your bag: a/an or plural</a:t>
            </a:r>
            <a:endParaRPr lang="en-US" sz="1400" dirty="0"/>
          </a:p>
        </p:txBody>
      </p:sp>
      <p:sp>
        <p:nvSpPr>
          <p:cNvPr id="14" name="bd_414"/>
          <p:cNvSpPr/>
          <p:nvPr/>
        </p:nvSpPr>
        <p:spPr>
          <a:xfrm>
            <a:off x="457200" y="2468880"/>
            <a:ext cx="777240" cy="777240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2600" dirty="0"/>
          </a:p>
        </p:txBody>
      </p:sp>
      <p:sp>
        <p:nvSpPr>
          <p:cNvPr id="15" name="rt_415"/>
          <p:cNvSpPr/>
          <p:nvPr/>
        </p:nvSpPr>
        <p:spPr>
          <a:xfrm>
            <a:off x="1417320" y="2542032"/>
            <a:ext cx="3931920" cy="6400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540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0" tIns="152400" rIns="15240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plurals with /ɪz/ (glasses…)</a:t>
            </a:r>
            <a:endParaRPr lang="en-US" sz="1400" dirty="0"/>
          </a:p>
        </p:txBody>
      </p:sp>
      <p:sp>
        <p:nvSpPr>
          <p:cNvPr id="16" name="bd_416"/>
          <p:cNvSpPr/>
          <p:nvPr/>
        </p:nvSpPr>
        <p:spPr>
          <a:xfrm>
            <a:off x="457200" y="3429000"/>
            <a:ext cx="777240" cy="777240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2600" dirty="0"/>
          </a:p>
        </p:txBody>
      </p:sp>
      <p:sp>
        <p:nvSpPr>
          <p:cNvPr id="17" name="rt_417"/>
          <p:cNvSpPr/>
          <p:nvPr/>
        </p:nvSpPr>
        <p:spPr>
          <a:xfrm>
            <a:off x="1417320" y="3502152"/>
            <a:ext cx="3931920" cy="6400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5400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0" tIns="152400" rIns="15240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sentence with in, on or under</a:t>
            </a:r>
            <a:endParaRPr lang="en-US" sz="1400" dirty="0"/>
          </a:p>
        </p:txBody>
      </p:sp>
      <p:sp>
        <p:nvSpPr>
          <p:cNvPr id="18" name="cd_418"/>
          <p:cNvSpPr/>
          <p:nvPr/>
        </p:nvSpPr>
        <p:spPr>
          <a:xfrm>
            <a:off x="5669280" y="1417320"/>
            <a:ext cx="3200400" cy="2286000"/>
          </a:xfrm>
          <a:prstGeom prst="roundRect">
            <a:avLst>
              <a:gd name="adj" fmla="val 5600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9" name="ii_419"/>
          <p:cNvSpPr/>
          <p:nvPr/>
        </p:nvSpPr>
        <p:spPr>
          <a:xfrm>
            <a:off x="576072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📝</a:t>
            </a:r>
            <a:endParaRPr lang="en-US" sz="2200" dirty="0"/>
          </a:p>
        </p:txBody>
      </p:sp>
      <p:sp>
        <p:nvSpPr>
          <p:cNvPr id="20" name="ih_420"/>
          <p:cNvSpPr/>
          <p:nvPr/>
        </p:nvSpPr>
        <p:spPr>
          <a:xfrm>
            <a:off x="6236208" y="150876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Homework · Compiti</a:t>
            </a:r>
            <a:endParaRPr lang="en-US" sz="1400" dirty="0"/>
          </a:p>
        </p:txBody>
      </p:sp>
      <p:sp>
        <p:nvSpPr>
          <p:cNvPr id="21" name="il_421"/>
          <p:cNvSpPr/>
          <p:nvPr/>
        </p:nvSpPr>
        <p:spPr>
          <a:xfrm>
            <a:off x="6236208" y="1892808"/>
            <a:ext cx="254203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Workbook 2A: 1a, 1b, 2a, 2b, 2c</a:t>
            </a:r>
            <a:endParaRPr lang="en-US" sz="115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Workbook 2A: 2e (where are the things?)</a:t>
            </a:r>
            <a:endParaRPr lang="en-US" sz="115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Write: 5 things in your bag and where they are</a:t>
            </a:r>
            <a:endParaRPr lang="en-US" sz="1150" dirty="0"/>
          </a:p>
        </p:txBody>
      </p:sp>
      <p:sp>
        <p:nvSpPr>
          <p:cNvPr id="22" name="st_422"/>
          <p:cNvSpPr/>
          <p:nvPr/>
        </p:nvSpPr>
        <p:spPr>
          <a:xfrm rot="-180000">
            <a:off x="5806440" y="3931920"/>
            <a:ext cx="2926080" cy="685800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Next lesson: 2B · Made in America · colours and adjectives</a:t>
            </a:r>
            <a:endParaRPr lang="en-US" sz="1100" dirty="0"/>
          </a:p>
        </p:txBody>
      </p:sp>
    </p:spTree>
  </p:cSld>
  <p:clrMapOvr>
    <a:masterClrMapping/>
  </p:clrMapOvr>
  <p:transition spd="med">
    <p:push dir="l"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2A Are you tidy or untidy?</dc:title>
  <dc:subject>PptxGenJS Presentation</dc:subject>
  <dc:creator>PptxGenJS</dc:creator>
  <cp:lastModifiedBy>PptxGenJS</cp:lastModifiedBy>
  <cp:revision>1</cp:revision>
  <dcterms:created xsi:type="dcterms:W3CDTF">2026-10-09T09:55:59Z</dcterms:created>
  <dcterms:modified xsi:type="dcterms:W3CDTF">2026-10-09T09:55:59Z</dcterms:modified>
</cp:coreProperties>
</file>