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Room A = tidy (Virginia Woolf's room), room B = untidy (Ian Rankin's room). Teach tidy (= everything in the right place) and untidy with gestures. Ask the question; hands up for A or B. Click: example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File 1 (2 min)
REVISION (2 min). Pairs ask the 3 pink questions (real answers, spell the surname letter by letter). Then point at things in the room: 'What's this?' – 'It's a desk.' Leads into today: more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bag (PQA) (5 min)
PQA – Personalised Questions and Answers (5 min). Teacher-led, books closed, with REAL bags: hold up your own bag, take out things one by one ('What's this? It's my wallet!'). Ask the questions one per click, to several students; circle the answers ('So Marco has keys? Does Anna have keys? Who has keys – Marco or Anna?'). Write the 6 new words on the board as they come up: wallet, purse, keys, sunglasses, tissues, charger.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6 new words (4 min)
ESTABLISH MEANING (4 min). Max 6 new words (A1–A2 rule). For each: students say the word if they know it; click 1 shows an English explanation, click 2 shows the Italian. Drill each word. Key problems: purse = borsellino (false friend 'borsa'); sunglasses = plural. (Audio 2.1 = the whole Vocabulary Bank list of 30 things – on the extra slide at the end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Practice · It's a… / They're… (4 min)
CONTROLLED PRACTICE (4 min). A asks 'What is it?' or 'What are they?' (singular or plural!), B answers; click once per line to check. Highlight: an umbrella (vowel sound). Extension: hold up real objects from students'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Story (TPRS) · ask and answer (6 min)
STORY ASKING (6 min, TPRS). Tell the story line by line (students listen first, then look at the slide). After EVERY line, circle with questions: 'Is Tom tidy? (No!) Is Tom tidy or untidy? (Untidy.) Where are his keys? Are they in his bag? (No.) Are they on the table? (No.) Where is his wallet? Is his wallet under the chair? (No – on the table.)' Accept one-word answers; repeat full sentences yourself. Add details from the class: 'What's his cat's name? Where's Tom from?' and use them. Act it out with a volunteer as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the class story (3 min)
READ THE CLASS VERSION (3 min). Pairs answer T/F and correct the false ones with is/are + in/on/under. Click once per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Pop-up grammar · plurals (4 min)
POP-UP GRAMMAR (4 min). Point to the story: 'his keys ARE…, his wallet IS…' – why? Then elicit each column before clicking. Play 2.2 (Grammar Bank, listen and repeat). Book chart answers (TG): (two) umbrellas · a watch · a diary; an umbrella because it begins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final -s and -es (5 min)
PRONUNCIATION (5 min). RULE first (standing rule 13): -es / -s is an EXTRA syllable /ɪz/ only after the sounds s, z, sh, ch, j (written ce, ge, se, sh, ch, x): glasses, watches, boxes, pages, pieces, classes. All the others: NO extra syllable – files = ONE syllable /faɪlz/, phones /fəʊnz/. /s/ after p, t, k, f (books, lamps); /z/ after other sounds (keys, pens). Play 2.3 (snake /s/, zebra /z/, /ɪz/), then pairs decide 1–8, play 2.4 to check. Book answers (TG): /ɪz/ = classes, boxes, pieces, pages. Italians add /ɪz/ everywhere ('file-es') – that's the error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on, under (3 min)
PRACTICE (3 min). Photos 1–3 are in the book (p.15); the slide shows photo 1. Click once per answer. Answers (TG): 1 on · 2 in · 3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three people (3 min)
GIST (3 min). Play 2.5 once (🐢 = slower copy for weaker students). The places are the task; the speaker numbers appear on click AFTER listening. Answers (TG): 1 on his desk · 2 in her study · 3 in her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detail (4 min)
DETAIL (4 min). Play again, pause after each speaker. Click once per speaker. FOLLOW-ALONG for weaker students – read the script (SB p.118): 1 'On my desk I have my computer. I have some pens and pieces of paper. I have a lamp, and a photo of my family. Oh, and a phone. It's very tidy.' 2 'In my study I have a desk, a table, and two chairs. I have a lot of books and a big dictionary on the desk – it isn't very tidy! And I have a map of Europe on the wall.' 3 'I have a lot of things in my bag. I have my phone. I have the charger for my phone. I have my sunglasses, tissues. And I have my house keys and my purse.'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Game · in, on, under (5 min)
GAME (5 min). Model with a strong student first (one line per click). Round 1: phone (Is it…?). Round 2: plural things – keys, sunglasses (Are they…?). Points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Transform · your story (5 min)
TRANSFORM AND OUTPUT (5 min, TPRS). Pairs retell the story with a new character and new things (he/his → she/her!). Two pairs tell their story to the class; the class answers your circling questions. Watch is/are with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writing · your bag (5 min)
SPEAKING + WRITE (5 min). Questions one per click; model each. Then each student WRITES 3 sentences about their bag/desk (in/on/under + is/are) – read 2–3 aloud (Write and Discuss). Note errors for 1 minute of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RETRIEVAL EXIT (2 min). Today's vocabulary list: wallet, purse, keys, sunglasses, tissues, charger + in, on, under. Set homework (Workbook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Book audio · 2A (0 min)
EXTRA. Only if the class wants more vocabulary – it has 30 words (too many for one A1/A2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audio" Target="../media/media-9-11.mp3"/><Relationship Id="rId12" Type="http://schemas.microsoft.com/office/2007/relationships/media" Target="../media/media-9-11.mp3"/><Relationship Id="rId13" Type="http://schemas.openxmlformats.org/officeDocument/2006/relationships/image" Target="../media/image-9-13.png"/><Relationship Id="rId14" Type="http://schemas.openxmlformats.org/officeDocument/2006/relationships/audio" Target="../media/media-9-14.mp3"/><Relationship Id="rId15" Type="http://schemas.microsoft.com/office/2007/relationships/media" Target="../media/media-9-14.mp3"/><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audio" Target="../media/media-18-6.mp3"/><Relationship Id="rId7" Type="http://schemas.microsoft.com/office/2007/relationships/media" Target="../media/media-18-6.mp3"/><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Elementary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Are you tidy or untidy?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Things, plurals, in/on/under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learn 6 everyday things</a:t>
            </a:r>
            <a:endParaRPr lang="en-US" sz="1100" dirty="0"/>
          </a:p>
          <a:p>
            <a:pPr indent="0" marL="0">
              <a:spcBef>
                <a:spcPts val="5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tell a funny story: Where are Tom's keys?</a:t>
            </a:r>
            <a:endParaRPr lang="en-US" sz="1100" dirty="0"/>
          </a:p>
          <a:p>
            <a:pPr indent="0" marL="0">
              <a:spcBef>
                <a:spcPts val="5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say plurals: keys, glasses, watches</a:t>
            </a:r>
            <a:endParaRPr lang="en-US" sz="1100" dirty="0"/>
          </a:p>
          <a:p>
            <a:pPr indent="0" marL="0">
              <a:spcBef>
                <a:spcPts val="5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say where things are: in, on, under</a:t>
            </a:r>
            <a:endParaRPr lang="en-US" sz="11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Room B! My desk is very untidy – there are papers everywhere.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red_2a_rooms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Room A or room B: which is more like YOUR desk?</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File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1"/>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the 3 questions in the pink box.</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al compagno le 3 domande del riquadro rosa.</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Revision · File 1</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red_2a_tid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File 1: be, questions, the alphabet</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classroom language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Ask your partner</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your name?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My name's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Anna.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Where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are</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you from?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I'm</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from Bagheria.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do you spell your surname? – B-I-…</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 the classroom</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this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chair.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that</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window.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Sorry I'm late. · What page is it?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board</a:t>
            </a:r>
            <a:endParaRPr lang="en-US" sz="1050" dirty="0"/>
          </a:p>
        </p:txBody>
      </p:sp>
      <p:sp>
        <p:nvSpPr>
          <p:cNvPr id="28" name="w_42"/>
          <p:cNvSpPr/>
          <p:nvPr/>
        </p:nvSpPr>
        <p:spPr>
          <a:xfrm>
            <a:off x="4027932"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chair</a:t>
            </a:r>
            <a:endParaRPr lang="en-US" sz="1050" dirty="0"/>
          </a:p>
        </p:txBody>
      </p:sp>
      <p:sp>
        <p:nvSpPr>
          <p:cNvPr id="29" name="w_43"/>
          <p:cNvSpPr/>
          <p:nvPr/>
        </p:nvSpPr>
        <p:spPr>
          <a:xfrm>
            <a:off x="4809744"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desk</a:t>
            </a:r>
            <a:endParaRPr lang="en-US" sz="1050" dirty="0"/>
          </a:p>
        </p:txBody>
      </p:sp>
      <p:sp>
        <p:nvSpPr>
          <p:cNvPr id="30" name="w_44"/>
          <p:cNvSpPr/>
          <p:nvPr/>
        </p:nvSpPr>
        <p:spPr>
          <a:xfrm>
            <a:off x="5513832"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door</a:t>
            </a:r>
            <a:endParaRPr lang="en-US" sz="1050" dirty="0"/>
          </a:p>
        </p:txBody>
      </p:sp>
      <p:sp>
        <p:nvSpPr>
          <p:cNvPr id="31" name="w_45"/>
          <p:cNvSpPr/>
          <p:nvPr/>
        </p:nvSpPr>
        <p:spPr>
          <a:xfrm>
            <a:off x="62179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window</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table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What's in YOUR bag?</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 yes or no + one word.</a:t>
            </a:r>
            <a:endParaRPr lang="en-US" sz="1250" dirty="0"/>
          </a:p>
        </p:txBody>
      </p:sp>
      <p:sp>
        <p:nvSpPr>
          <p:cNvPr id="8" name="insIT_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all'insegnante: sì o no + una parola.</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Warm-up · your bag (PQA)</a:t>
            </a:r>
            <a:endParaRPr lang="en-US" sz="800" dirty="0"/>
          </a:p>
        </p:txBody>
      </p:sp>
      <p:sp>
        <p:nvSpPr>
          <p:cNvPr id="14" name="pf_5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9" descr="/home/claude/lls-course/v2/cache/red_2a_untid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Yes, I do. / No, I don't.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It's in my bag / in my pocket.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Really? Me too!</a:t>
            </a:r>
            <a:endParaRPr lang="en-US" sz="1050" dirty="0"/>
          </a:p>
        </p:txBody>
      </p:sp>
      <p:sp>
        <p:nvSpPr>
          <p:cNvPr id="20" name="R1_qb6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a phone in your bag?</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it's in my bag. / No – it's in my pocket.</a:t>
            </a:r>
            <a:endParaRPr lang="en-US" sz="1250" dirty="0"/>
          </a:p>
        </p:txBody>
      </p:sp>
      <p:sp>
        <p:nvSpPr>
          <p:cNvPr id="22" name="R2_qb6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keys? House keys, car keys?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 have two keys.</a:t>
            </a:r>
            <a:endParaRPr lang="en-US" sz="1250" dirty="0"/>
          </a:p>
        </p:txBody>
      </p:sp>
      <p:sp>
        <p:nvSpPr>
          <p:cNvPr id="24" name="R3_qb6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bag tidy or untidy?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very untidy!</a:t>
            </a:r>
            <a:endParaRPr lang="en-US" sz="1250" dirty="0"/>
          </a:p>
        </p:txBody>
      </p:sp>
      <p:sp>
        <p:nvSpPr>
          <p:cNvPr id="26" name="R4_qb7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has a VERY untidy bag in this class?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Marco! His bag is a disaster!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6 things in my bag</a:t>
            </a:r>
            <a:endParaRPr lang="en-US" sz="2500" dirty="0"/>
          </a:p>
        </p:txBody>
      </p:sp>
      <p:pic>
        <p:nvPicPr>
          <p:cNvPr id="6" name="brP_7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what it is in English. Click 1: meaning. Click 2: Italian.</a:t>
            </a:r>
            <a:endParaRPr lang="en-US" sz="1250" dirty="0"/>
          </a:p>
        </p:txBody>
      </p:sp>
      <p:sp>
        <p:nvSpPr>
          <p:cNvPr id="8" name="insIT_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cos'è in inglese. Clic 1: significato. Clic 2: italiano.</a:t>
            </a:r>
            <a:endParaRPr lang="en-US" sz="950" dirty="0"/>
          </a:p>
        </p:txBody>
      </p:sp>
      <p:sp>
        <p:nvSpPr>
          <p:cNvPr id="9" name="cmd_7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7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8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6 new words   ·   📖 Vocabulary Bank Things p.151</a:t>
            </a:r>
            <a:endParaRPr lang="en-US" sz="800" dirty="0"/>
          </a:p>
        </p:txBody>
      </p:sp>
      <p:sp>
        <p:nvSpPr>
          <p:cNvPr id="14" name="cd_83"/>
          <p:cNvSpPr/>
          <p:nvPr/>
        </p:nvSpPr>
        <p:spPr>
          <a:xfrm>
            <a:off x="320040" y="141732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8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wallet</a:t>
            </a:r>
            <a:endParaRPr lang="en-US" sz="1200" dirty="0"/>
          </a:p>
        </p:txBody>
      </p:sp>
      <p:sp>
        <p:nvSpPr>
          <p:cNvPr id="17" name="R1_def86"/>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money and cards – usually men</a:t>
            </a:r>
            <a:endParaRPr lang="en-US" sz="850" dirty="0"/>
          </a:p>
        </p:txBody>
      </p:sp>
      <p:sp>
        <p:nvSpPr>
          <p:cNvPr id="18" name="R2_it87"/>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portafoglio</a:t>
            </a:r>
            <a:endParaRPr lang="en-US" sz="900" dirty="0"/>
          </a:p>
        </p:txBody>
      </p:sp>
      <p:sp>
        <p:nvSpPr>
          <p:cNvPr id="19" name="cd_88"/>
          <p:cNvSpPr/>
          <p:nvPr/>
        </p:nvSpPr>
        <p:spPr>
          <a:xfrm>
            <a:off x="2487168" y="141732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0" name="e_8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purse</a:t>
            </a:r>
            <a:endParaRPr lang="en-US" sz="1200" dirty="0"/>
          </a:p>
        </p:txBody>
      </p:sp>
      <p:sp>
        <p:nvSpPr>
          <p:cNvPr id="22" name="R3_def91"/>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small bag for money – usually women</a:t>
            </a:r>
            <a:endParaRPr lang="en-US" sz="850" dirty="0"/>
          </a:p>
        </p:txBody>
      </p:sp>
      <p:sp>
        <p:nvSpPr>
          <p:cNvPr id="23" name="R4_it92"/>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borsellino (NON borsa!)</a:t>
            </a:r>
            <a:endParaRPr lang="en-US" sz="800" dirty="0"/>
          </a:p>
        </p:txBody>
      </p:sp>
      <p:sp>
        <p:nvSpPr>
          <p:cNvPr id="24" name="cd_93"/>
          <p:cNvSpPr/>
          <p:nvPr/>
        </p:nvSpPr>
        <p:spPr>
          <a:xfrm>
            <a:off x="4654296" y="141732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5" name="e_9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keys</a:t>
            </a:r>
            <a:endParaRPr lang="en-US" sz="1200" dirty="0"/>
          </a:p>
        </p:txBody>
      </p:sp>
      <p:sp>
        <p:nvSpPr>
          <p:cNvPr id="27" name="R5_def96"/>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open the door with them</a:t>
            </a:r>
            <a:endParaRPr lang="en-US" sz="850" dirty="0"/>
          </a:p>
        </p:txBody>
      </p:sp>
      <p:sp>
        <p:nvSpPr>
          <p:cNvPr id="28" name="R6_it97"/>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chiavi</a:t>
            </a:r>
            <a:endParaRPr lang="en-US" sz="900" dirty="0"/>
          </a:p>
        </p:txBody>
      </p:sp>
      <p:sp>
        <p:nvSpPr>
          <p:cNvPr id="29" name="cd_98"/>
          <p:cNvSpPr/>
          <p:nvPr/>
        </p:nvSpPr>
        <p:spPr>
          <a:xfrm>
            <a:off x="6821424" y="141732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e_9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sunglasses</a:t>
            </a:r>
            <a:endParaRPr lang="en-US" sz="1200" dirty="0"/>
          </a:p>
        </p:txBody>
      </p:sp>
      <p:sp>
        <p:nvSpPr>
          <p:cNvPr id="32" name="R7_def101"/>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wear them in the sun</a:t>
            </a:r>
            <a:endParaRPr lang="en-US" sz="850" dirty="0"/>
          </a:p>
        </p:txBody>
      </p:sp>
      <p:sp>
        <p:nvSpPr>
          <p:cNvPr id="33" name="R8_it102"/>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occhiali da sole</a:t>
            </a:r>
            <a:endParaRPr lang="en-US" sz="900" dirty="0"/>
          </a:p>
        </p:txBody>
      </p:sp>
      <p:sp>
        <p:nvSpPr>
          <p:cNvPr id="34" name="cd_103"/>
          <p:cNvSpPr/>
          <p:nvPr/>
        </p:nvSpPr>
        <p:spPr>
          <a:xfrm>
            <a:off x="320040" y="242316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e_104"/>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5"/>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tissues</a:t>
            </a:r>
            <a:endParaRPr lang="en-US" sz="1200" dirty="0"/>
          </a:p>
        </p:txBody>
      </p:sp>
      <p:sp>
        <p:nvSpPr>
          <p:cNvPr id="37" name="R9_def106"/>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your nose</a:t>
            </a:r>
            <a:endParaRPr lang="en-US" sz="850" dirty="0"/>
          </a:p>
        </p:txBody>
      </p:sp>
      <p:sp>
        <p:nvSpPr>
          <p:cNvPr id="38" name="R10_it107"/>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fazzoletti di carta</a:t>
            </a:r>
            <a:endParaRPr lang="en-US" sz="900" dirty="0"/>
          </a:p>
        </p:txBody>
      </p:sp>
      <p:sp>
        <p:nvSpPr>
          <p:cNvPr id="39" name="cd_108"/>
          <p:cNvSpPr/>
          <p:nvPr/>
        </p:nvSpPr>
        <p:spPr>
          <a:xfrm>
            <a:off x="2487168" y="242316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40" name="e_109"/>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0"/>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charger</a:t>
            </a:r>
            <a:endParaRPr lang="en-US" sz="1200" dirty="0"/>
          </a:p>
        </p:txBody>
      </p:sp>
      <p:sp>
        <p:nvSpPr>
          <p:cNvPr id="42" name="R11_def111"/>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your phone</a:t>
            </a:r>
            <a:endParaRPr lang="en-US" sz="850" dirty="0"/>
          </a:p>
        </p:txBody>
      </p:sp>
      <p:sp>
        <p:nvSpPr>
          <p:cNvPr id="43" name="R12_it112"/>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caricabatterie</a:t>
            </a:r>
            <a:endParaRPr lang="en-US" sz="900" dirty="0"/>
          </a:p>
        </p:txBody>
      </p:sp>
      <p:sp>
        <p:nvSpPr>
          <p:cNvPr id="44" name="R13_wc113"/>
          <p:cNvSpPr/>
          <p:nvPr/>
        </p:nvSpPr>
        <p:spPr>
          <a:xfrm>
            <a:off x="320040" y="34747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13_w114"/>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purse ≠ borsa (= bag)  ·  sunglasses / glasses = ALWAYS plural: They're my sunglasses.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fade">
                                      <p:cBhvr>
                                        <p:cTn id="67" dur="400"/>
                                        <p:tgtEl>
                                          <p:spTgt spid="44"/>
                                        </p:tgtEl>
                                      </p:cBhvr>
                                    </p:animEffect>
                                  </p:childTnLst>
                                </p:cTn>
                              </p:par>
                              <p:par>
                                <p:cTn id="68" presetID="10" presetClass="entr" presetSubtype="0" fill="hold" nodeType="withEffect">
                                  <p:stCondLst>
                                    <p:cond delay="0"/>
                                  </p:stCondLst>
                                  <p:childTnLst>
                                    <p:set>
                                      <p:cBhvr>
                                        <p:cTn id="69" dur="1" fill="hold">
                                          <p:stCondLst>
                                            <p:cond delay="0"/>
                                          </p:stCondLst>
                                        </p:cTn>
                                        <p:tgtEl>
                                          <p:spTgt spid="45"/>
                                        </p:tgtEl>
                                        <p:attrNameLst>
                                          <p:attrName>style.visibility</p:attrName>
                                        </p:attrNameLst>
                                      </p:cBhvr>
                                      <p:to>
                                        <p:strVal val="visible"/>
                                      </p:to>
                                    </p:set>
                                    <p:animEffect transition="in" filter="fade">
                                      <p:cBhvr>
                                        <p:cTn id="70"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is it? What are they?</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19"/>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picture. Say: It's a… or They're…</a:t>
            </a:r>
            <a:endParaRPr lang="en-US" sz="1250" dirty="0"/>
          </a:p>
        </p:txBody>
      </p:sp>
      <p:sp>
        <p:nvSpPr>
          <p:cNvPr id="8" name="insIT_1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l'immagine. Di': It's a… o They're…</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Practice · It's a… / They're…   ·   📖 SB p.14 · Vocabulary Bank activation (What is it? / What are they?)</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 → They're keys.   ·   📱 → It's a phone.</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red_2a_thing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2" name="R1_chip13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sunglasses.</a:t>
            </a:r>
            <a:endParaRPr lang="en-US" sz="1000" dirty="0"/>
          </a:p>
        </p:txBody>
      </p:sp>
      <p:sp>
        <p:nvSpPr>
          <p:cNvPr id="23" name="bd_13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5" name="R2_chip13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purse.</a:t>
            </a:r>
            <a:endParaRPr lang="en-US" sz="1000" dirty="0"/>
          </a:p>
        </p:txBody>
      </p:sp>
      <p:sp>
        <p:nvSpPr>
          <p:cNvPr id="26" name="bd_13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8" name="R3_chip14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charger.</a:t>
            </a:r>
            <a:endParaRPr lang="en-US" sz="1000" dirty="0"/>
          </a:p>
        </p:txBody>
      </p:sp>
      <p:sp>
        <p:nvSpPr>
          <p:cNvPr id="29" name="bd_14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1" name="R4_chip14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tissues.</a:t>
            </a:r>
            <a:endParaRPr lang="en-US" sz="1000" dirty="0"/>
          </a:p>
        </p:txBody>
      </p:sp>
      <p:sp>
        <p:nvSpPr>
          <p:cNvPr id="32" name="bd_14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4" name="R5_chip14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wallet.</a:t>
            </a:r>
            <a:endParaRPr lang="en-US" sz="1000" dirty="0"/>
          </a:p>
        </p:txBody>
      </p:sp>
      <p:sp>
        <p:nvSpPr>
          <p:cNvPr id="35" name="bd_14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7" name="R6_chip149"/>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an umbrella. (an + a, e, i, o, u)</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Tom's keys?</a:t>
            </a:r>
            <a:endParaRPr lang="en-US" sz="2400" dirty="0"/>
          </a:p>
        </p:txBody>
      </p:sp>
      <p:pic>
        <p:nvPicPr>
          <p:cNvPr id="6" name="brP_153"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54"/>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teacher's questions.</a:t>
            </a:r>
            <a:endParaRPr lang="en-US" sz="1250" dirty="0"/>
          </a:p>
        </p:txBody>
      </p:sp>
      <p:sp>
        <p:nvSpPr>
          <p:cNvPr id="8" name="insIT_1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 dell'insegnante.</a:t>
            </a:r>
            <a:endParaRPr lang="en-US" sz="950" dirty="0"/>
          </a:p>
        </p:txBody>
      </p:sp>
      <p:sp>
        <p:nvSpPr>
          <p:cNvPr id="9" name="cmd_15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5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5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whole class</a:t>
            </a:r>
            <a:endParaRPr lang="en-US" sz="950" dirty="0"/>
          </a:p>
        </p:txBody>
      </p:sp>
      <p:pic>
        <p:nvPicPr>
          <p:cNvPr id="12" name="logo_1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Story (TPRS) · ask and answer   ·   📖 Our story (TPRS) · today's 6 words + in, on, under</a:t>
            </a:r>
            <a:endParaRPr lang="en-US" sz="800" dirty="0"/>
          </a:p>
        </p:txBody>
      </p:sp>
      <p:sp>
        <p:nvSpPr>
          <p:cNvPr id="14" name="cd_16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6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Tom is very untidy</a:t>
            </a:r>
            <a:endParaRPr lang="en-US" sz="1700" dirty="0"/>
          </a:p>
        </p:txBody>
      </p:sp>
      <p:sp>
        <p:nvSpPr>
          <p:cNvPr id="16" name="ln_16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 is very untidy. It's 8 o'clock and Tom is late.</a:t>
            </a:r>
            <a:endParaRPr lang="en-US" sz="1400" dirty="0"/>
          </a:p>
        </p:txBody>
      </p:sp>
      <p:sp>
        <p:nvSpPr>
          <p:cNvPr id="17" name="ln_16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Where are his keys? 🔑 They aren't in his bag.</a:t>
            </a:r>
            <a:endParaRPr lang="en-US" sz="1400" dirty="0"/>
          </a:p>
        </p:txBody>
      </p:sp>
      <p:sp>
        <p:nvSpPr>
          <p:cNvPr id="18" name="ln_16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wallet is on the table. His sunglasses are under the chair.</a:t>
            </a:r>
            <a:endParaRPr lang="en-US" sz="1400" dirty="0"/>
          </a:p>
        </p:txBody>
      </p:sp>
      <p:sp>
        <p:nvSpPr>
          <p:cNvPr id="19" name="ln_16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charger is on the floor. But where are his keys?</a:t>
            </a:r>
            <a:endParaRPr lang="en-US" sz="1400" dirty="0"/>
          </a:p>
        </p:txBody>
      </p:sp>
      <p:sp>
        <p:nvSpPr>
          <p:cNvPr id="20" name="ln_16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Tom's cat is on the sofa. And the keys? They're under the cat! 🐈</a:t>
            </a:r>
            <a:endParaRPr lang="en-US" sz="1400" dirty="0"/>
          </a:p>
        </p:txBody>
      </p:sp>
      <p:sp>
        <p:nvSpPr>
          <p:cNvPr id="21" name="pf_168"/>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69" descr="/home/claude/lls-course/v2/cache/red_2a_untid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17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17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7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17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is = one thing · are = two or more</a:t>
            </a:r>
            <a:endParaRPr lang="en-US" sz="850" dirty="0"/>
          </a:p>
          <a:p>
            <a:pPr marL="152400" indent="-152400">
              <a:spcBef>
                <a:spcPts val="5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in · on · under</a:t>
            </a:r>
            <a:endParaRPr lang="en-US" sz="85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7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7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True or false? Correct the false ones.</a:t>
            </a:r>
            <a:endParaRPr lang="en-US" sz="1250" dirty="0"/>
          </a:p>
        </p:txBody>
      </p:sp>
      <p:sp>
        <p:nvSpPr>
          <p:cNvPr id="8" name="insIT_1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la storia. Vero o falso? Correggi quelle false.</a:t>
            </a:r>
            <a:endParaRPr lang="en-US" sz="950" dirty="0"/>
          </a:p>
        </p:txBody>
      </p:sp>
      <p:sp>
        <p:nvSpPr>
          <p:cNvPr id="9" name="cmd_18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8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8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8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1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the class story</a:t>
            </a:r>
            <a:endParaRPr lang="en-US" sz="800" dirty="0"/>
          </a:p>
        </p:txBody>
      </p:sp>
      <p:sp>
        <p:nvSpPr>
          <p:cNvPr id="15" name="cd_18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Tom is very tidy. → F – he's very untidy.</a:t>
            </a:r>
            <a:endParaRPr lang="en-US" sz="1050" dirty="0"/>
          </a:p>
        </p:txBody>
      </p:sp>
      <p:sp>
        <p:nvSpPr>
          <p:cNvPr id="19" name="pf_19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91"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9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9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Tom's keys are in his bag.</a:t>
            </a:r>
            <a:endParaRPr lang="en-US" sz="1150" dirty="0"/>
          </a:p>
        </p:txBody>
      </p:sp>
      <p:sp>
        <p:nvSpPr>
          <p:cNvPr id="23" name="R1_chip19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 aren't in his bag.</a:t>
            </a:r>
            <a:endParaRPr lang="en-US" sz="1000" dirty="0"/>
          </a:p>
        </p:txBody>
      </p:sp>
      <p:sp>
        <p:nvSpPr>
          <p:cNvPr id="24" name="bd_19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9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His wallet is on the table.</a:t>
            </a:r>
            <a:endParaRPr lang="en-US" sz="1150" dirty="0"/>
          </a:p>
        </p:txBody>
      </p:sp>
      <p:sp>
        <p:nvSpPr>
          <p:cNvPr id="26" name="R2_chip19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27" name="bd_19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His sunglasses are on the chair.</a:t>
            </a:r>
            <a:endParaRPr lang="en-US" sz="1150" dirty="0"/>
          </a:p>
        </p:txBody>
      </p:sp>
      <p:sp>
        <p:nvSpPr>
          <p:cNvPr id="29" name="R3_chip20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they're under the chair.</a:t>
            </a:r>
            <a:endParaRPr lang="en-US" sz="1000" dirty="0"/>
          </a:p>
        </p:txBody>
      </p:sp>
      <p:sp>
        <p:nvSpPr>
          <p:cNvPr id="30" name="bd_20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0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His charger is on the floor.</a:t>
            </a:r>
            <a:endParaRPr lang="en-US" sz="1150" dirty="0"/>
          </a:p>
        </p:txBody>
      </p:sp>
      <p:sp>
        <p:nvSpPr>
          <p:cNvPr id="32" name="R4_chip20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33" name="bd_20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0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5  The keys are under the cat.</a:t>
            </a:r>
            <a:endParaRPr lang="en-US" sz="1150" dirty="0"/>
          </a:p>
        </p:txBody>
      </p:sp>
      <p:sp>
        <p:nvSpPr>
          <p:cNvPr id="35" name="R5_chip20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0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key, two keys</a:t>
            </a:r>
            <a:endParaRPr lang="en-US" sz="2500" dirty="0"/>
          </a:p>
        </p:txBody>
      </p:sp>
      <p:pic>
        <p:nvPicPr>
          <p:cNvPr id="6" name="brP_21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1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coloured endings. What's the rule?</a:t>
            </a:r>
            <a:endParaRPr lang="en-US" sz="1250" dirty="0"/>
          </a:p>
        </p:txBody>
      </p:sp>
      <p:sp>
        <p:nvSpPr>
          <p:cNvPr id="8" name="insIT_2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le desinenze colorate. Qual è la regola?</a:t>
            </a:r>
            <a:endParaRPr lang="en-US" sz="950" dirty="0"/>
          </a:p>
        </p:txBody>
      </p:sp>
      <p:sp>
        <p:nvSpPr>
          <p:cNvPr id="9" name="cmd_2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1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1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Pop-up grammar · plurals   ·   📖 Grammar Bank 2A p.126 · audio 2.2</a:t>
            </a:r>
            <a:endParaRPr lang="en-US" sz="800" dirty="0"/>
          </a:p>
        </p:txBody>
      </p:sp>
      <p:sp>
        <p:nvSpPr>
          <p:cNvPr id="14" name="ah_218"/>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2.2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21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cd_22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22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20" name="pf_22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23" descr="/home/claude/lls-course/v2/cache/red_2a_walle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22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a:t>
            </a:r>
            <a:endParaRPr lang="en-US" sz="1050" dirty="0"/>
          </a:p>
        </p:txBody>
      </p:sp>
      <p:sp>
        <p:nvSpPr>
          <p:cNvPr id="23" name="R1_rx22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wallet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key</a:t>
            </a:r>
            <a:endParaRPr lang="en-US" sz="1050" dirty="0"/>
          </a:p>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umbrella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ID card</a:t>
            </a:r>
            <a:endParaRPr lang="en-US" sz="1050" dirty="0"/>
          </a:p>
        </p:txBody>
      </p:sp>
      <p:sp>
        <p:nvSpPr>
          <p:cNvPr id="24" name="R1_ri22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an + a, e, i, o, u (suono)</a:t>
            </a:r>
            <a:endParaRPr lang="en-US" sz="900" dirty="0"/>
          </a:p>
        </p:txBody>
      </p:sp>
      <p:sp>
        <p:nvSpPr>
          <p:cNvPr id="25" name="cd_22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22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s</a:t>
            </a:r>
            <a:endParaRPr lang="en-US" sz="1250" dirty="0"/>
          </a:p>
        </p:txBody>
      </p:sp>
      <p:sp>
        <p:nvSpPr>
          <p:cNvPr id="27" name="pf_22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30" descr="/home/claude/lls-course/v2/cache/red_2a_things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23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most words</a:t>
            </a:r>
            <a:endParaRPr lang="en-US" sz="1050" dirty="0"/>
          </a:p>
        </p:txBody>
      </p:sp>
      <p:sp>
        <p:nvSpPr>
          <p:cNvPr id="30" name="R2_rx23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key</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three pen</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sunglasse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tissue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p:txBody>
      </p:sp>
      <p:sp>
        <p:nvSpPr>
          <p:cNvPr id="31" name="R2_ri23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quasi sempre</a:t>
            </a:r>
            <a:endParaRPr lang="en-US" sz="900" dirty="0"/>
          </a:p>
        </p:txBody>
      </p:sp>
      <p:sp>
        <p:nvSpPr>
          <p:cNvPr id="32" name="cd_23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23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es / ies</a:t>
            </a:r>
            <a:endParaRPr lang="en-US" sz="1250" dirty="0"/>
          </a:p>
        </p:txBody>
      </p:sp>
      <p:sp>
        <p:nvSpPr>
          <p:cNvPr id="34" name="pf_23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237" descr="/home/claude/lls-course/v2/cache/red_2a_notebook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23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 sh, ch, x · y → ies</a:t>
            </a:r>
            <a:endParaRPr lang="en-US" sz="1050" dirty="0"/>
          </a:p>
        </p:txBody>
      </p:sp>
      <p:sp>
        <p:nvSpPr>
          <p:cNvPr id="37" name="R3_rx23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watch</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box</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y</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ies</a:t>
            </a:r>
            <a:endParaRPr lang="en-US" sz="1050" dirty="0"/>
          </a:p>
        </p:txBody>
      </p:sp>
      <p:sp>
        <p:nvSpPr>
          <p:cNvPr id="38" name="R3_ri24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ma: key → keys</a:t>
            </a:r>
            <a:endParaRPr lang="en-US" sz="900" dirty="0"/>
          </a:p>
        </p:txBody>
      </p:sp>
      <p:sp>
        <p:nvSpPr>
          <p:cNvPr id="39" name="cd_24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24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1" name="pf_24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244" descr="/home/claude/lls-course/v2/cache/red_2a_untidy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24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a:t>
            </a:r>
            <a:endParaRPr lang="en-US" sz="1050" dirty="0"/>
          </a:p>
        </p:txBody>
      </p:sp>
      <p:sp>
        <p:nvSpPr>
          <p:cNvPr id="44" name="R4_rx24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men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woman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women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people</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child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children</a:t>
            </a:r>
            <a:endParaRPr lang="en-US" sz="1050" dirty="0"/>
          </a:p>
        </p:txBody>
      </p:sp>
      <p:sp>
        <p:nvSpPr>
          <p:cNvPr id="45" name="R4_ri24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people = persone</a:t>
            </a:r>
            <a:endParaRPr lang="en-US" sz="900" dirty="0"/>
          </a:p>
        </p:txBody>
      </p:sp>
      <p:sp>
        <p:nvSpPr>
          <p:cNvPr id="46" name="R5_wc248"/>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249"/>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is = one · are = more: The key is under the cat. → The keys are under the cat.   ✗ a sunglasses → ✓ sunglasses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5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keys, books, glasses</a:t>
            </a:r>
            <a:endParaRPr lang="en-US" sz="2500" dirty="0"/>
          </a:p>
        </p:txBody>
      </p:sp>
      <p:pic>
        <p:nvPicPr>
          <p:cNvPr id="6" name="brP_253"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4"/>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Rule first! Then say each word: /s/, /z/ or /ɪz/?</a:t>
            </a:r>
            <a:endParaRPr lang="en-US" sz="1250" dirty="0"/>
          </a:p>
        </p:txBody>
      </p:sp>
      <p:sp>
        <p:nvSpPr>
          <p:cNvPr id="8" name="insIT_2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la regola! Poi di' ogni parola: /s/, /z/ o /ɪz/?</a:t>
            </a:r>
            <a:endParaRPr lang="en-US" sz="950" dirty="0"/>
          </a:p>
        </p:txBody>
      </p:sp>
      <p:sp>
        <p:nvSpPr>
          <p:cNvPr id="9" name="cmd_25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25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Pronunciation · final -s and -es   ·   📖 SB p.15 · 3 Pronunciation · audio 2.3, 2.4</a:t>
            </a:r>
            <a:endParaRPr lang="en-US" sz="800" dirty="0"/>
          </a:p>
        </p:txBody>
      </p:sp>
      <p:sp>
        <p:nvSpPr>
          <p:cNvPr id="14" name="cd_26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63"/>
          <p:cNvSpPr/>
          <p:nvPr/>
        </p:nvSpPr>
        <p:spPr>
          <a:xfrm>
            <a:off x="886968" y="1508760"/>
            <a:ext cx="2057400" cy="36576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Extra syllable /ɪz/ ONLY after s, ce, ge, sh, ch, x</a:t>
            </a:r>
            <a:endParaRPr lang="en-US" sz="1100" dirty="0"/>
          </a:p>
        </p:txBody>
      </p:sp>
      <p:sp>
        <p:nvSpPr>
          <p:cNvPr id="17" name="il_26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265"/>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2.3 + 2.4</a:t>
            </a:r>
            <a:endParaRPr lang="en-US" sz="1100" dirty="0"/>
          </a:p>
        </p:txBody>
      </p:sp>
      <p:sp>
        <p:nvSpPr>
          <p:cNvPr id="19" name="ah_266"/>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22" name="ah_267"/>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3"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24"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25" name="lg_268"/>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 books</a:t>
            </a:r>
            <a:endParaRPr lang="en-US" sz="1050" dirty="0"/>
          </a:p>
        </p:txBody>
      </p:sp>
      <p:sp>
        <p:nvSpPr>
          <p:cNvPr id="26" name="lg_269"/>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/z/ keys</a:t>
            </a:r>
            <a:endParaRPr lang="en-US" sz="1050" dirty="0"/>
          </a:p>
        </p:txBody>
      </p:sp>
      <p:sp>
        <p:nvSpPr>
          <p:cNvPr id="27" name="lg_270"/>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/ɪz/ glasses</a:t>
            </a:r>
            <a:endParaRPr lang="en-US" sz="1050" dirty="0"/>
          </a:p>
        </p:txBody>
      </p:sp>
      <p:sp>
        <p:nvSpPr>
          <p:cNvPr id="28" name="sq_271"/>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classes</a:t>
            </a:r>
            <a:endParaRPr lang="en-US" sz="1200" dirty="0"/>
          </a:p>
        </p:txBody>
      </p:sp>
      <p:sp>
        <p:nvSpPr>
          <p:cNvPr id="29" name="R1_tag272"/>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0" name="sq_273"/>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files</a:t>
            </a:r>
            <a:endParaRPr lang="en-US" sz="1200" dirty="0"/>
          </a:p>
        </p:txBody>
      </p:sp>
      <p:sp>
        <p:nvSpPr>
          <p:cNvPr id="31" name="R2_tag274"/>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2" name="sq_275"/>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boxes</a:t>
            </a:r>
            <a:endParaRPr lang="en-US" sz="1200" dirty="0"/>
          </a:p>
        </p:txBody>
      </p:sp>
      <p:sp>
        <p:nvSpPr>
          <p:cNvPr id="33" name="R3_tag276"/>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4" name="sq_277"/>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phones</a:t>
            </a:r>
            <a:endParaRPr lang="en-US" sz="1200" dirty="0"/>
          </a:p>
        </p:txBody>
      </p:sp>
      <p:sp>
        <p:nvSpPr>
          <p:cNvPr id="35" name="R4_tag278"/>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6" name="sq_279"/>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pieces</a:t>
            </a:r>
            <a:endParaRPr lang="en-US" sz="1200" dirty="0"/>
          </a:p>
        </p:txBody>
      </p:sp>
      <p:sp>
        <p:nvSpPr>
          <p:cNvPr id="37" name="R5_tag280"/>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8" name="sq_281"/>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tissues</a:t>
            </a:r>
            <a:endParaRPr lang="en-US" sz="1200" dirty="0"/>
          </a:p>
        </p:txBody>
      </p:sp>
      <p:sp>
        <p:nvSpPr>
          <p:cNvPr id="39" name="R6_tag282"/>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40" name="sq_283"/>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pages</a:t>
            </a:r>
            <a:endParaRPr lang="en-US" sz="1200" dirty="0"/>
          </a:p>
        </p:txBody>
      </p:sp>
      <p:sp>
        <p:nvSpPr>
          <p:cNvPr id="41" name="R7_tag284"/>
          <p:cNvSpPr/>
          <p:nvPr/>
        </p:nvSpPr>
        <p:spPr>
          <a:xfrm>
            <a:off x="7178040" y="38862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42" name="sq_285"/>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headphones</a:t>
            </a:r>
            <a:endParaRPr lang="en-US" sz="1200" dirty="0"/>
          </a:p>
        </p:txBody>
      </p:sp>
      <p:sp>
        <p:nvSpPr>
          <p:cNvPr id="43" name="R8_tag286"/>
          <p:cNvSpPr/>
          <p:nvPr/>
        </p:nvSpPr>
        <p:spPr>
          <a:xfrm>
            <a:off x="7178040" y="429768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seq concurrent="1" nextAc="seek">
              <p:cTn id="53" restart="whenNotActive" fill="hold" evtFilter="cancelBubble" nodeType="interactiveSeq">
                <p:stCondLst>
                  <p:cond evt="onClick" delay="0">
                    <p:tgtEl>
                      <p:spTgt spid="23"/>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3"/>
                                        </p:tgtEl>
                                      </p:cBhvr>
                                    </p:cmd>
                                  </p:childTnLst>
                                </p:cTn>
                              </p:par>
                            </p:childTnLst>
                          </p:cTn>
                        </p:par>
                      </p:childTnLst>
                    </p:cTn>
                  </p:par>
                </p:childTnLst>
              </p:cTn>
              <p:nextCondLst>
                <p:cond evt="onClick" delay="0">
                  <p:tgtEl>
                    <p:spTgt spid="23"/>
                  </p:tgtEl>
                </p:cond>
              </p:nextCondLst>
            </p:seq>
            <p:seq concurrent="1" nextAc="seek">
              <p:cTn id="58" restart="whenNotActive" fill="hold" evtFilter="cancelBubble" nodeType="interactiveSeq">
                <p:stCondLst>
                  <p:cond evt="onClick" delay="0">
                    <p:tgtEl>
                      <p:spTgt spid="24"/>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4"/>
                                        </p:tgtEl>
                                      </p:cBhvr>
                                    </p:cmd>
                                  </p:childTnLst>
                                </p:cTn>
                              </p:par>
                            </p:childTnLst>
                          </p:cTn>
                        </p:par>
                      </p:childTnLst>
                    </p:cTn>
                  </p:par>
                </p:childTnLst>
              </p:cTn>
              <p:nextCondLst>
                <p:cond evt="onClick" delay="0">
                  <p:tgtEl>
                    <p:spTgt spid="24"/>
                  </p:tgtEl>
                </p:cond>
              </p:nextCondLst>
            </p:seq>
            <p:audio>
              <p:cMediaNode vol="80000">
                <p:cTn id="63" fill="hold" display="0">
                  <p:stCondLst>
                    <p:cond delay="indefinite"/>
                  </p:stCondLst>
                  <p:endCondLst>
                    <p:cond evt="onStopAudio" delay="0">
                      <p:tgtEl>
                        <p:sldTgt/>
                      </p:tgtEl>
                    </p:cond>
                  </p:endCondLst>
                </p:cTn>
                <p:tgtEl>
                  <p:spTgt spid="20"/>
                </p:tgtEl>
              </p:cMediaNode>
            </p:audio>
            <p:audio>
              <p:cMediaNode vol="80000">
                <p:cTn id="64" fill="hold" display="0">
                  <p:stCondLst>
                    <p:cond delay="indefinite"/>
                  </p:stCondLst>
                  <p:endCondLst>
                    <p:cond evt="onStopAudio" delay="0">
                      <p:tgtEl>
                        <p:sldTgt/>
                      </p:tgtEl>
                    </p:cond>
                  </p:endCondLst>
                </p:cTn>
                <p:tgtEl>
                  <p:spTgt spid="21"/>
                </p:tgtEl>
              </p:cMediaNode>
            </p:audio>
            <p:audio>
              <p:cMediaNode vol="80000">
                <p:cTn id="65" fill="hold" display="0">
                  <p:stCondLst>
                    <p:cond delay="indefinite"/>
                  </p:stCondLst>
                  <p:endCondLst>
                    <p:cond evt="onStopAudio" delay="0">
                      <p:tgtEl>
                        <p:sldTgt/>
                      </p:tgtEl>
                    </p:cond>
                  </p:endCondLst>
                </p:cTn>
                <p:tgtEl>
                  <p:spTgt spid="23"/>
                </p:tgtEl>
              </p:cMediaNode>
            </p:audio>
            <p:audio>
              <p:cMediaNode vol="80000">
                <p:cTn id="66" fill="hold" display="0">
                  <p:stCondLst>
                    <p:cond delay="indefinite"/>
                  </p:stCondLst>
                  <p:endCondLst>
                    <p:cond evt="onStopAudio" delay="0">
                      <p:tgtEl>
                        <p:sldTgt/>
                      </p:tgtEl>
                    </p:cond>
                  </p:endCondLst>
                </p:cTn>
                <p:tgtEl>
                  <p:spTgt spid="24"/>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the things?</a:t>
            </a:r>
            <a:endParaRPr lang="en-US" sz="2500" dirty="0"/>
          </a:p>
        </p:txBody>
      </p:sp>
      <p:pic>
        <p:nvPicPr>
          <p:cNvPr id="6" name="brP_290"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91"/>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Complete with in, on or under.</a:t>
            </a:r>
            <a:endParaRPr lang="en-US" sz="1250" dirty="0"/>
          </a:p>
        </p:txBody>
      </p:sp>
      <p:sp>
        <p:nvSpPr>
          <p:cNvPr id="8" name="insIT_2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Completa con in, on o under.</a:t>
            </a:r>
            <a:endParaRPr lang="en-US" sz="950" dirty="0"/>
          </a:p>
        </p:txBody>
      </p:sp>
      <p:sp>
        <p:nvSpPr>
          <p:cNvPr id="9" name="cmd_29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9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9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2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in, on, under   ·   📖 SB p.15 · 4a (answers: TG)</a:t>
            </a:r>
            <a:endParaRPr lang="en-US" sz="800" dirty="0"/>
          </a:p>
        </p:txBody>
      </p:sp>
      <p:sp>
        <p:nvSpPr>
          <p:cNvPr id="14" name="cd_29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1"/>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The cat is ___ the sofa. → on</a:t>
            </a:r>
            <a:endParaRPr lang="en-US" sz="1050" dirty="0"/>
          </a:p>
        </p:txBody>
      </p:sp>
      <p:sp>
        <p:nvSpPr>
          <p:cNvPr id="18" name="pf_30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3" descr="/home/claude/lls-course/v2/cache/red_2a_notebook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4"/>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5"/>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The glasses are ___ the notebook.</a:t>
            </a:r>
            <a:endParaRPr lang="en-US" sz="1150" dirty="0"/>
          </a:p>
        </p:txBody>
      </p:sp>
      <p:sp>
        <p:nvSpPr>
          <p:cNvPr id="22" name="R1_chip306"/>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a:t>
            </a:r>
            <a:endParaRPr lang="en-US" sz="1000" dirty="0"/>
          </a:p>
        </p:txBody>
      </p:sp>
      <p:sp>
        <p:nvSpPr>
          <p:cNvPr id="23" name="bd_307"/>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8"/>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The credit cards are ___ the wallet.</a:t>
            </a:r>
            <a:endParaRPr lang="en-US" sz="1150" dirty="0"/>
          </a:p>
        </p:txBody>
      </p:sp>
      <p:sp>
        <p:nvSpPr>
          <p:cNvPr id="25" name="R2_chip309"/>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a:t>
            </a:r>
            <a:endParaRPr lang="en-US" sz="1000" dirty="0"/>
          </a:p>
        </p:txBody>
      </p:sp>
      <p:sp>
        <p:nvSpPr>
          <p:cNvPr id="26" name="bd_310"/>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1"/>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The bag is ___ the desk.</a:t>
            </a:r>
            <a:endParaRPr lang="en-US" sz="1150" dirty="0"/>
          </a:p>
        </p:txBody>
      </p:sp>
      <p:sp>
        <p:nvSpPr>
          <p:cNvPr id="28" name="R3_chip312"/>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
        <p:nvSpPr>
          <p:cNvPr id="29" name="bd_313"/>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4"/>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Tom's keys are ___ the cat!</a:t>
            </a:r>
            <a:endParaRPr lang="en-US" sz="1150" dirty="0"/>
          </a:p>
        </p:txBody>
      </p:sp>
      <p:sp>
        <p:nvSpPr>
          <p:cNvPr id="31" name="R4_chip315"/>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7"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18"/>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people, three places</a:t>
            </a:r>
            <a:endParaRPr lang="en-US" sz="2500" dirty="0"/>
          </a:p>
        </p:txBody>
      </p:sp>
      <p:pic>
        <p:nvPicPr>
          <p:cNvPr id="6" name="brP_31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2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Listen. Three people. Who talks about each place: 1, 2 or 3?</a:t>
            </a:r>
            <a:endParaRPr lang="en-US" sz="1200" dirty="0"/>
          </a:p>
        </p:txBody>
      </p:sp>
      <p:sp>
        <p:nvSpPr>
          <p:cNvPr id="8" name="insIT_3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tre persone. Chi parla di ogni luogo: 1, 2 o 3?</a:t>
            </a:r>
            <a:endParaRPr lang="en-US" sz="950" dirty="0"/>
          </a:p>
        </p:txBody>
      </p:sp>
      <p:sp>
        <p:nvSpPr>
          <p:cNvPr id="9" name="cmd_32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2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2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3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three people   ·   📖 SB p.15 · 5a · audio 2.5 (script SB p.118)</a:t>
            </a:r>
            <a:endParaRPr lang="en-US" sz="800" dirty="0"/>
          </a:p>
        </p:txBody>
      </p:sp>
      <p:sp>
        <p:nvSpPr>
          <p:cNvPr id="14" name="ap_327"/>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once</a:t>
            </a:r>
            <a:endParaRPr lang="en-US" sz="1100" dirty="0"/>
          </a:p>
        </p:txBody>
      </p:sp>
      <p:sp>
        <p:nvSpPr>
          <p:cNvPr id="15" name="ah_32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32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33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33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32" descr="/home/claude/lls-course/v2/cache/red_2a_rooms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333"/>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cd_33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33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33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33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Read the 3 places. A study = a room for work.</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Leggi i 3 luoghi. Study = studio.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once. Write 1, 2 or 3.</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una volta. Scrivi 1, 2 o 3.</a:t>
            </a:r>
            <a:endParaRPr lang="en-US" sz="700" dirty="0"/>
          </a:p>
        </p:txBody>
      </p:sp>
      <p:sp>
        <p:nvSpPr>
          <p:cNvPr id="27" name="lq_33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bag</a:t>
            </a:r>
            <a:endParaRPr lang="en-US" sz="1100" dirty="0"/>
          </a:p>
        </p:txBody>
      </p:sp>
      <p:sp>
        <p:nvSpPr>
          <p:cNvPr id="28" name="R1_chip33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3</a:t>
            </a:r>
            <a:endParaRPr lang="en-US" sz="1050" dirty="0"/>
          </a:p>
        </p:txBody>
      </p:sp>
      <p:sp>
        <p:nvSpPr>
          <p:cNvPr id="29" name="lq_34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his desk</a:t>
            </a:r>
            <a:endParaRPr lang="en-US" sz="1100" dirty="0"/>
          </a:p>
        </p:txBody>
      </p:sp>
      <p:sp>
        <p:nvSpPr>
          <p:cNvPr id="30" name="R2_chip34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1</a:t>
            </a:r>
            <a:endParaRPr lang="en-US" sz="1050" dirty="0"/>
          </a:p>
        </p:txBody>
      </p:sp>
      <p:sp>
        <p:nvSpPr>
          <p:cNvPr id="31" name="lq_34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study</a:t>
            </a:r>
            <a:endParaRPr lang="en-US" sz="1100" dirty="0"/>
          </a:p>
        </p:txBody>
      </p:sp>
      <p:sp>
        <p:nvSpPr>
          <p:cNvPr id="32" name="R3_chip34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2</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4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have?</a:t>
            </a:r>
            <a:endParaRPr lang="en-US" sz="2500" dirty="0"/>
          </a:p>
        </p:txBody>
      </p:sp>
      <p:pic>
        <p:nvPicPr>
          <p:cNvPr id="6" name="brP_347"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348"/>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things each person has.</a:t>
            </a:r>
            <a:endParaRPr lang="en-US" sz="1250" dirty="0"/>
          </a:p>
        </p:txBody>
      </p:sp>
      <p:sp>
        <p:nvSpPr>
          <p:cNvPr id="8" name="insIT_3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Scrivi le cose di ogni persona.</a:t>
            </a:r>
            <a:endParaRPr lang="en-US" sz="950" dirty="0"/>
          </a:p>
        </p:txBody>
      </p:sp>
      <p:sp>
        <p:nvSpPr>
          <p:cNvPr id="9" name="cmd_35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51"/>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35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5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detail   ·   📖 SB p.15 · 5b · audio 2.5</a:t>
            </a:r>
            <a:endParaRPr lang="en-US" sz="800" dirty="0"/>
          </a:p>
        </p:txBody>
      </p:sp>
      <p:sp>
        <p:nvSpPr>
          <p:cNvPr id="15" name="ap_35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again</a:t>
            </a:r>
            <a:endParaRPr lang="en-US" sz="1100" dirty="0"/>
          </a:p>
        </p:txBody>
      </p:sp>
      <p:sp>
        <p:nvSpPr>
          <p:cNvPr id="16" name="ah_35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5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5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60" descr="/home/claude/lls-course/v2/cache/red_2a_untid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6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6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6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6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6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1 (desk): a computer, …</a:t>
            </a:r>
            <a:endParaRPr lang="en-US" sz="1200" dirty="0"/>
          </a:p>
        </p:txBody>
      </p:sp>
      <p:sp>
        <p:nvSpPr>
          <p:cNvPr id="27" name="R1_chip36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pens, pieces of paper, a lamp, a photo, a phone</a:t>
            </a:r>
            <a:endParaRPr lang="en-US" sz="1150" dirty="0"/>
          </a:p>
        </p:txBody>
      </p:sp>
      <p:sp>
        <p:nvSpPr>
          <p:cNvPr id="28" name="gq_36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2 (study): a desk, …</a:t>
            </a:r>
            <a:endParaRPr lang="en-US" sz="1200" dirty="0"/>
          </a:p>
        </p:txBody>
      </p:sp>
      <p:sp>
        <p:nvSpPr>
          <p:cNvPr id="29" name="R2_chip36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table, two chairs, books, a dictionary, a map</a:t>
            </a:r>
            <a:endParaRPr lang="en-US" sz="1000" dirty="0"/>
          </a:p>
        </p:txBody>
      </p:sp>
      <p:sp>
        <p:nvSpPr>
          <p:cNvPr id="30" name="gq_36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3 (bag): a phone, …</a:t>
            </a:r>
            <a:endParaRPr lang="en-US" sz="1200" dirty="0"/>
          </a:p>
        </p:txBody>
      </p:sp>
      <p:sp>
        <p:nvSpPr>
          <p:cNvPr id="31" name="R3_chip37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charger, sunglasses, tissues, keys, a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seq concurrent="1" nextAc="seek">
              <p:cTn id="23" restart="whenNotActive" fill="hold" evtFilter="cancelBubble" nodeType="interactiveSeq">
                <p:stCondLst>
                  <p:cond evt="onClick" delay="0">
                    <p:tgtEl>
                      <p:spTgt spid="1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9"/>
                                        </p:tgtEl>
                                      </p:cBhvr>
                                    </p:cmd>
                                  </p:childTnLst>
                                </p:cTn>
                              </p:par>
                            </p:childTnLst>
                          </p:cTn>
                        </p:par>
                      </p:childTnLst>
                    </p:cTn>
                  </p:par>
                </p:childTnLst>
              </p:cTn>
              <p:nextCondLst>
                <p:cond evt="onClick" delay="0">
                  <p:tgtEl>
                    <p:spTgt spid="19"/>
                  </p:tgtEl>
                </p:cond>
              </p:nextCondLst>
            </p:seq>
            <p:audio>
              <p:cMediaNode vol="80000">
                <p:cTn id="28" fill="hold" display="0">
                  <p:stCondLst>
                    <p:cond delay="indefinite"/>
                  </p:stCondLst>
                  <p:endCondLst>
                    <p:cond evt="onStopAudio" delay="0">
                      <p:tgtEl>
                        <p:sldTgt/>
                      </p:tgtEl>
                    </p:cond>
                  </p:endCondLst>
                </p:cTn>
                <p:tgtEl>
                  <p:spTgt spid="17"/>
                </p:tgtEl>
              </p:cMediaNode>
            </p:audio>
            <p:audio>
              <p:cMediaNode vol="80000">
                <p:cTn id="29" fill="hold" display="0">
                  <p:stCondLst>
                    <p:cond delay="indefinite"/>
                  </p:stCondLst>
                  <p:endCondLst>
                    <p:cond evt="onStopAudio" delay="0">
                      <p:tgtEl>
                        <p:sldTgt/>
                      </p:tgtEl>
                    </p:cond>
                  </p:endCondLst>
                </p:cTn>
                <p:tgtEl>
                  <p:spTgt spid="19"/>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Where's my phone?</a:t>
            </a:r>
            <a:endParaRPr lang="en-US" sz="2400" dirty="0"/>
          </a:p>
        </p:txBody>
      </p:sp>
      <p:pic>
        <p:nvPicPr>
          <p:cNvPr id="6" name="brP_37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7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Hide your phone (in your head!). Your partner asks max 5 questions.</a:t>
            </a:r>
            <a:endParaRPr lang="en-US" sz="1100" dirty="0"/>
          </a:p>
        </p:txBody>
      </p:sp>
      <p:sp>
        <p:nvSpPr>
          <p:cNvPr id="8" name="insIT_3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Nascondi il telefono (nella tua testa!). Il compagno fa max 5 domande.</a:t>
            </a:r>
            <a:endParaRPr lang="en-US" sz="950" dirty="0"/>
          </a:p>
        </p:txBody>
      </p:sp>
      <p:sp>
        <p:nvSpPr>
          <p:cNvPr id="9" name="cmd_37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7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37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Game · in, on, under</a:t>
            </a:r>
            <a:endParaRPr lang="en-US" sz="800" dirty="0"/>
          </a:p>
        </p:txBody>
      </p:sp>
      <p:sp>
        <p:nvSpPr>
          <p:cNvPr id="14" name="cd_38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8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8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8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A: choose a place for your phone in the room.</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scegli un posto per il telefono nell'aula.</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B asks: Is it on the table? Is it under the chair?</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B chiede: Is it on the table? Is it under the chair?</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Found in 5 questions? B wins. Swap.</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Trovato in 5 domande? Vince B. Scambiatevi.</a:t>
            </a:r>
            <a:endParaRPr lang="en-US" sz="800" dirty="0"/>
          </a:p>
        </p:txBody>
      </p:sp>
      <p:sp>
        <p:nvSpPr>
          <p:cNvPr id="18" name="st_386"/>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87"/>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88"/>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on the table?</a:t>
            </a:r>
            <a:endParaRPr lang="en-US" sz="1100" dirty="0"/>
          </a:p>
        </p:txBody>
      </p:sp>
      <p:sp>
        <p:nvSpPr>
          <p:cNvPr id="21" name="R1_chip389"/>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2" name="bd_390"/>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91"/>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under the chair?</a:t>
            </a:r>
            <a:endParaRPr lang="en-US" sz="1100" dirty="0"/>
          </a:p>
        </p:txBody>
      </p:sp>
      <p:sp>
        <p:nvSpPr>
          <p:cNvPr id="24" name="R2_chip392"/>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5" name="bd_393"/>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94"/>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in your bag?</a:t>
            </a:r>
            <a:endParaRPr lang="en-US" sz="1100" dirty="0"/>
          </a:p>
        </p:txBody>
      </p:sp>
      <p:sp>
        <p:nvSpPr>
          <p:cNvPr id="27" name="R3_chip395"/>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 it is!</a:t>
            </a:r>
            <a:endParaRPr lang="en-US" sz="1100" dirty="0"/>
          </a:p>
        </p:txBody>
      </p:sp>
      <p:sp>
        <p:nvSpPr>
          <p:cNvPr id="28" name="bd_396"/>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97"/>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Round 2: Where are my keys? Are they…?</a:t>
            </a:r>
            <a:endParaRPr lang="en-US" sz="1100" dirty="0"/>
          </a:p>
        </p:txBody>
      </p:sp>
      <p:sp>
        <p:nvSpPr>
          <p:cNvPr id="30" name="R4_chip398"/>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they aren't. / Yes, they are!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0"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01"/>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Anna's sunglasses?</a:t>
            </a:r>
            <a:endParaRPr lang="en-US" sz="2400" dirty="0"/>
          </a:p>
        </p:txBody>
      </p:sp>
      <p:pic>
        <p:nvPicPr>
          <p:cNvPr id="6" name="brP_40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0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Change the story! New person, new things. Tell your partner.</a:t>
            </a:r>
            <a:endParaRPr lang="en-US" sz="1200" dirty="0"/>
          </a:p>
        </p:txBody>
      </p:sp>
      <p:sp>
        <p:nvSpPr>
          <p:cNvPr id="8" name="insIT_4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Cambia la storia! Nuova persona, nuove cose. Raccontala al compagno.</a:t>
            </a:r>
            <a:endParaRPr lang="en-US" sz="950" dirty="0"/>
          </a:p>
        </p:txBody>
      </p:sp>
      <p:sp>
        <p:nvSpPr>
          <p:cNvPr id="9" name="cmd_40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0" name="cmd_40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0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4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Transform · your story</a:t>
            </a:r>
            <a:endParaRPr lang="en-US" sz="800" dirty="0"/>
          </a:p>
        </p:txBody>
      </p:sp>
      <p:sp>
        <p:nvSpPr>
          <p:cNvPr id="14" name="cd_41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1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1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13"/>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Anna is very untidy. Where are her sunglasses? They aren't in her bag…</a:t>
            </a:r>
            <a:endParaRPr lang="en-US" sz="1050" dirty="0"/>
          </a:p>
        </p:txBody>
      </p:sp>
      <p:sp>
        <p:nvSpPr>
          <p:cNvPr id="18" name="pf_41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5"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16"/>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17"/>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Who? (Tom → ?)</a:t>
            </a:r>
            <a:endParaRPr lang="en-US" sz="1150" dirty="0"/>
          </a:p>
        </p:txBody>
      </p:sp>
      <p:sp>
        <p:nvSpPr>
          <p:cNvPr id="22" name="R1_chip418"/>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Anna / my brother / my teacher…</a:t>
            </a:r>
            <a:endParaRPr lang="en-US" sz="1000" dirty="0"/>
          </a:p>
        </p:txBody>
      </p:sp>
      <p:sp>
        <p:nvSpPr>
          <p:cNvPr id="23" name="bd_419"/>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20"/>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is lost? (keys → ?)</a:t>
            </a:r>
            <a:endParaRPr lang="en-US" sz="1150" dirty="0"/>
          </a:p>
        </p:txBody>
      </p:sp>
      <p:sp>
        <p:nvSpPr>
          <p:cNvPr id="25" name="R2_chip421"/>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her sunglasses / his phone / my charger</a:t>
            </a:r>
            <a:endParaRPr lang="en-US" sz="1000" dirty="0"/>
          </a:p>
        </p:txBody>
      </p:sp>
      <p:sp>
        <p:nvSpPr>
          <p:cNvPr id="26" name="bd_422"/>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23"/>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places where it ISN'T</a:t>
            </a:r>
            <a:endParaRPr lang="en-US" sz="1150" dirty="0"/>
          </a:p>
        </p:txBody>
      </p:sp>
      <p:sp>
        <p:nvSpPr>
          <p:cNvPr id="28" name="R3_chip424"/>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in… / They aren't on…</a:t>
            </a:r>
            <a:endParaRPr lang="en-US" sz="1000" dirty="0"/>
          </a:p>
        </p:txBody>
      </p:sp>
      <p:sp>
        <p:nvSpPr>
          <p:cNvPr id="29" name="bd_425"/>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26"/>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Where is it in the end?</a:t>
            </a:r>
            <a:endParaRPr lang="en-US" sz="1150" dirty="0"/>
          </a:p>
        </p:txBody>
      </p:sp>
      <p:sp>
        <p:nvSpPr>
          <p:cNvPr id="31" name="R4_chip427"/>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under the dog!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2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3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My bag, my desk</a:t>
            </a:r>
            <a:endParaRPr lang="en-US" sz="2500" dirty="0"/>
          </a:p>
        </p:txBody>
      </p:sp>
      <p:pic>
        <p:nvPicPr>
          <p:cNvPr id="6" name="brP_43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3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5 things in your bag and where they are.</a:t>
            </a:r>
            <a:endParaRPr lang="en-US" sz="1250" dirty="0"/>
          </a:p>
        </p:txBody>
      </p:sp>
      <p:sp>
        <p:nvSpPr>
          <p:cNvPr id="8" name="insIT_4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al compagno: 5 cose nella tua borsa e dove sono.</a:t>
            </a:r>
            <a:endParaRPr lang="en-US" sz="950" dirty="0"/>
          </a:p>
        </p:txBody>
      </p:sp>
      <p:sp>
        <p:nvSpPr>
          <p:cNvPr id="9" name="cmd_43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3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43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writing · your bag</a:t>
            </a:r>
            <a:endParaRPr lang="en-US" sz="800" dirty="0"/>
          </a:p>
        </p:txBody>
      </p:sp>
      <p:sp>
        <p:nvSpPr>
          <p:cNvPr id="14" name="pf_43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40" descr="/home/claude/lls-course/v2/cache/red_2a_untid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4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4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4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4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In my bag I have a…, two…</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My keys are in… · My phone is on…</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always lose my…!</a:t>
            </a:r>
            <a:endParaRPr lang="en-US" sz="900" dirty="0"/>
          </a:p>
        </p:txBody>
      </p:sp>
      <p:sp>
        <p:nvSpPr>
          <p:cNvPr id="20" name="R1_qb44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4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in your bag? (5 things)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In my bag I have a purse, keys, my phone, tissues and a pen.</a:t>
            </a:r>
            <a:endParaRPr lang="en-US" sz="1250" dirty="0"/>
          </a:p>
        </p:txBody>
      </p:sp>
      <p:sp>
        <p:nvSpPr>
          <p:cNvPr id="22" name="R2_qb44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4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desk at home tidy or untidy?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untidy – my charger is always on the floor!</a:t>
            </a:r>
            <a:endParaRPr lang="en-US" sz="1250" dirty="0"/>
          </a:p>
        </p:txBody>
      </p:sp>
      <p:sp>
        <p:nvSpPr>
          <p:cNvPr id="24" name="R3_qb44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5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Extension: What do you always lose?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always lose my sunglasses! They're usually on my head. 😄</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5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5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457"/>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58"/>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Exit · what can you remember?</a:t>
            </a:r>
            <a:endParaRPr lang="en-US" sz="800" dirty="0"/>
          </a:p>
        </p:txBody>
      </p:sp>
      <p:sp>
        <p:nvSpPr>
          <p:cNvPr id="13" name="bd_46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6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today's 6 things (wallet, purse…)</a:t>
            </a:r>
            <a:endParaRPr lang="en-US" sz="1400" dirty="0"/>
          </a:p>
        </p:txBody>
      </p:sp>
      <p:sp>
        <p:nvSpPr>
          <p:cNvPr id="15" name="bd_46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6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plurals with /ɪz/ (glasses…)</a:t>
            </a:r>
            <a:endParaRPr lang="en-US" sz="1400" dirty="0"/>
          </a:p>
        </p:txBody>
      </p:sp>
      <p:sp>
        <p:nvSpPr>
          <p:cNvPr id="17" name="bd_46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6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Where are Tom's keys?</a:t>
            </a:r>
            <a:endParaRPr lang="en-US" sz="1400" dirty="0"/>
          </a:p>
        </p:txBody>
      </p:sp>
      <p:sp>
        <p:nvSpPr>
          <p:cNvPr id="19" name="cd_46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6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6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70"/>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1a, 1b, 2a, 2b, 2c</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2e (where are the things?)</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5 things in your bag and where they are</a:t>
            </a:r>
            <a:endParaRPr lang="en-US" sz="1150" dirty="0"/>
          </a:p>
        </p:txBody>
      </p:sp>
      <p:sp>
        <p:nvSpPr>
          <p:cNvPr id="23" name="st_47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Made in America · colours and adjectives</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73"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74"/>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7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7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7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47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8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4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Review · what did you do today?</a:t>
            </a:r>
            <a:endParaRPr lang="en-US" sz="800" dirty="0"/>
          </a:p>
        </p:txBody>
      </p:sp>
      <p:sp>
        <p:nvSpPr>
          <p:cNvPr id="14" name="cd_483"/>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484"/>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85"/>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everyday things</a:t>
            </a:r>
            <a:endParaRPr lang="en-US" sz="1350" dirty="0"/>
          </a:p>
        </p:txBody>
      </p:sp>
      <p:sp>
        <p:nvSpPr>
          <p:cNvPr id="17" name="R1_tk486"/>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87"/>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488"/>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89"/>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funny story: Where are Tom's keys?</a:t>
            </a:r>
            <a:endParaRPr lang="en-US" sz="1350" dirty="0"/>
          </a:p>
        </p:txBody>
      </p:sp>
      <p:sp>
        <p:nvSpPr>
          <p:cNvPr id="21" name="R2_tk490"/>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91"/>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492"/>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93"/>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plurals: keys, glasses, watches</a:t>
            </a:r>
            <a:endParaRPr lang="en-US" sz="1350" dirty="0"/>
          </a:p>
        </p:txBody>
      </p:sp>
      <p:sp>
        <p:nvSpPr>
          <p:cNvPr id="25" name="R3_tk494"/>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95"/>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496"/>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97"/>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where things are: in, on, under</a:t>
            </a:r>
            <a:endParaRPr lang="en-US" sz="1350" dirty="0"/>
          </a:p>
        </p:txBody>
      </p:sp>
      <p:sp>
        <p:nvSpPr>
          <p:cNvPr id="29" name="R4_tk498"/>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st_49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502"/>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Extra: Vocabulary Bank audio</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0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5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Clicca un altoparlante per l'audio del libro.</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0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5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Book audio · 2A</a:t>
            </a:r>
            <a:endParaRPr lang="en-US" sz="800" dirty="0"/>
          </a:p>
        </p:txBody>
      </p:sp>
      <p:sp>
        <p:nvSpPr>
          <p:cNvPr id="13" name="st_51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11"/>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12" descr="/home/claude/lls-course/v2/cache/red_2a_thing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513"/>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514"/>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15"/>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516"/>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2.1 = all 30 'Things' words (Vocabulary Bank p.151)</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Click the speaker: play / pause</a:t>
            </a:r>
            <a:endParaRPr lang="en-US" sz="1050" dirty="0"/>
          </a:p>
        </p:txBody>
      </p:sp>
      <p:sp>
        <p:nvSpPr>
          <p:cNvPr id="20" name="ab_517"/>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2.1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Vocabulary Bank Things – listen and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audio>
              <p:cMediaNode vol="80000">
                <p:cTn id="8" fill="hold" display="0">
                  <p:stCondLst>
                    <p:cond delay="indefinite"/>
                  </p:stCondLst>
                  <p:endCondLst>
                    <p:cond evt="onStopAudio" delay="0">
                      <p:tgtEl>
                        <p:sldTgt/>
                      </p:tgtEl>
                    </p:cond>
                  </p:endCondLst>
                </p:cTn>
                <p:tgtEl>
                  <p:spTgt spid="2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Are you tidy or untidy?</dc:title>
  <dc:subject>PptxGenJS Presentation</dc:subject>
  <dc:creator>PptxGenJS</dc:creator>
  <cp:lastModifiedBy>PptxGenJS</cp:lastModifiedBy>
  <cp:revision>1</cp:revision>
  <dcterms:created xsi:type="dcterms:W3CDTF">2026-10-12T17:13:13Z</dcterms:created>
  <dcterms:modified xsi:type="dcterms:W3CDTF">2026-10-12T17:13:13Z</dcterms:modified>
</cp:coreProperties>
</file>