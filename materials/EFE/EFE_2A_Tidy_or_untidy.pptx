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audio" Target="../media/media-19-6.mp3"/><Relationship Id="rId7" Type="http://schemas.microsoft.com/office/2007/relationships/media" Target="../media/media-19-6.mp3"/><Relationship Id="rId8" Type="http://schemas.openxmlformats.org/officeDocument/2006/relationships/image" Target="../media/image-19-8.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learn 6 everyday things</a:t>
            </a:r>
            <a:endParaRPr lang="en-US" sz="1100" dirty="0"/>
          </a:p>
          <a:p>
            <a:pPr indent="0" marL="0">
              <a:spcBef>
                <a:spcPts val="6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tell a funny story: Where are Tom's keys?</a:t>
            </a:r>
            <a:endParaRPr lang="en-US" sz="1100" dirty="0"/>
          </a:p>
          <a:p>
            <a:pPr indent="0" marL="0">
              <a:spcBef>
                <a:spcPts val="6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plurals: keys, glasses, watches</a:t>
            </a:r>
            <a:endParaRPr lang="en-US" sz="1100" dirty="0"/>
          </a:p>
          <a:p>
            <a:pPr indent="0" marL="0">
              <a:spcBef>
                <a:spcPts val="600"/>
              </a:spcBef>
              <a:spcAft>
                <a:spcPts val="200"/>
              </a:spcAft>
              <a:buNone/>
            </a:pPr>
            <a:r>
              <a:rPr lang="en-US" sz="1100" dirty="0">
                <a:solidFill>
                  <a:srgbClr val="1B2559"/>
                </a:solidFill>
                <a:latin typeface="Segoe UI Semibold" pitchFamily="34" charset="0"/>
                <a:ea typeface="Segoe UI Semibold" pitchFamily="34" charset="-122"/>
                <a:cs typeface="Segoe UI Semibold" pitchFamily="34" charset="-120"/>
              </a:rPr>
              <a:t>📍  say where things are: in, on, under</a:t>
            </a:r>
            <a:endParaRPr lang="en-US" sz="110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1672490"/>
            <a:ext cx="3977640" cy="1409899"/>
          </a:xfrm>
          <a:prstGeom prst="roundRect">
            <a:avLst>
              <a:gd name="adj" fmla="val 1102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317_31.png">    </p:cNvPr>
          <p:cNvPicPr>
            <a:picLocks noChangeAspect="1"/>
          </p:cNvPicPr>
          <p:nvPr/>
        </p:nvPicPr>
        <p:blipFill>
          <a:blip r:embed="rId4"/>
          <a:stretch>
            <a:fillRect/>
          </a:stretch>
        </p:blipFill>
        <p:spPr>
          <a:xfrm rot="90000">
            <a:off x="4892040" y="1718210"/>
            <a:ext cx="3886200" cy="1318459"/>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Revision · File 1</a:t>
            </a:r>
            <a:endParaRPr lang="en-US" sz="800" dirty="0"/>
          </a:p>
        </p:txBody>
      </p:sp>
      <p:sp>
        <p:nvSpPr>
          <p:cNvPr id="12" name="pf_26"/>
          <p:cNvSpPr/>
          <p:nvPr/>
        </p:nvSpPr>
        <p:spPr>
          <a:xfrm rot="-120000">
            <a:off x="365760" y="1371600"/>
            <a:ext cx="2651760" cy="1645920"/>
          </a:xfrm>
          <a:prstGeom prst="roundRect">
            <a:avLst>
              <a:gd name="adj" fmla="val 944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27" descr="/home/claude/lls-course/v2/cache/red_2a_tidy_jpg_616x374_31.png">    </p:cNvPr>
          <p:cNvPicPr>
            <a:picLocks noChangeAspect="1"/>
          </p:cNvPicPr>
          <p:nvPr/>
        </p:nvPicPr>
        <p:blipFill>
          <a:blip r:embed="rId5"/>
          <a:stretch>
            <a:fillRect/>
          </a:stretch>
        </p:blipFill>
        <p:spPr>
          <a:xfrm rot="-120000">
            <a:off x="411480" y="1417320"/>
            <a:ext cx="2560320" cy="1554480"/>
          </a:xfrm>
          <a:prstGeom prst="rect">
            <a:avLst/>
          </a:prstGeom>
        </p:spPr>
      </p:pic>
      <p:sp>
        <p:nvSpPr>
          <p:cNvPr id="14" name="cd_28"/>
          <p:cNvSpPr/>
          <p:nvPr/>
        </p:nvSpPr>
        <p:spPr>
          <a:xfrm>
            <a:off x="320040" y="3200400"/>
            <a:ext cx="2743200" cy="1402080"/>
          </a:xfrm>
          <a:prstGeom prst="roundRect">
            <a:avLst>
              <a:gd name="adj" fmla="val 913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29"/>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7" name="il_31"/>
          <p:cNvSpPr/>
          <p:nvPr/>
        </p:nvSpPr>
        <p:spPr>
          <a:xfrm>
            <a:off x="886968" y="3694176"/>
            <a:ext cx="2084832" cy="8351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File 1: be, questions, the alphabet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classroom language</a:t>
            </a:r>
            <a:endParaRPr lang="en-US" sz="1100" dirty="0"/>
          </a:p>
        </p:txBody>
      </p:sp>
      <p:sp>
        <p:nvSpPr>
          <p:cNvPr id="18" name="kw_32"/>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9" name="w_33"/>
          <p:cNvSpPr/>
          <p:nvPr/>
        </p:nvSpPr>
        <p:spPr>
          <a:xfrm>
            <a:off x="3246120" y="1783080"/>
            <a:ext cx="84582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board</a:t>
            </a:r>
            <a:endParaRPr lang="en-US" sz="1200" dirty="0"/>
          </a:p>
        </p:txBody>
      </p:sp>
      <p:sp>
        <p:nvSpPr>
          <p:cNvPr id="20" name="w_34"/>
          <p:cNvSpPr/>
          <p:nvPr/>
        </p:nvSpPr>
        <p:spPr>
          <a:xfrm>
            <a:off x="4183380"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chair</a:t>
            </a:r>
            <a:endParaRPr lang="en-US" sz="1200" dirty="0"/>
          </a:p>
        </p:txBody>
      </p:sp>
      <p:sp>
        <p:nvSpPr>
          <p:cNvPr id="21" name="w_35"/>
          <p:cNvSpPr/>
          <p:nvPr/>
        </p:nvSpPr>
        <p:spPr>
          <a:xfrm>
            <a:off x="5120640" y="1783080"/>
            <a:ext cx="758952"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desk</a:t>
            </a:r>
            <a:endParaRPr lang="en-US" sz="1200" dirty="0"/>
          </a:p>
        </p:txBody>
      </p:sp>
      <p:sp>
        <p:nvSpPr>
          <p:cNvPr id="22" name="w_36"/>
          <p:cNvSpPr/>
          <p:nvPr/>
        </p:nvSpPr>
        <p:spPr>
          <a:xfrm>
            <a:off x="5971032" y="1783080"/>
            <a:ext cx="758952"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door</a:t>
            </a:r>
            <a:endParaRPr lang="en-US" sz="1200" dirty="0"/>
          </a:p>
        </p:txBody>
      </p:sp>
      <p:sp>
        <p:nvSpPr>
          <p:cNvPr id="23" name="w_37"/>
          <p:cNvSpPr/>
          <p:nvPr/>
        </p:nvSpPr>
        <p:spPr>
          <a:xfrm>
            <a:off x="6821424" y="1783080"/>
            <a:ext cx="932688"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window</a:t>
            </a:r>
            <a:endParaRPr lang="en-US" sz="1200" dirty="0"/>
          </a:p>
        </p:txBody>
      </p:sp>
      <p:sp>
        <p:nvSpPr>
          <p:cNvPr id="24" name="w_38"/>
          <p:cNvSpPr/>
          <p:nvPr/>
        </p:nvSpPr>
        <p:spPr>
          <a:xfrm>
            <a:off x="7845552" y="1783080"/>
            <a:ext cx="845820"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table</a:t>
            </a:r>
            <a:endParaRPr lang="en-US" sz="1200" dirty="0"/>
          </a:p>
        </p:txBody>
      </p:sp>
      <p:sp>
        <p:nvSpPr>
          <p:cNvPr id="25" name="lv_39"/>
          <p:cNvSpPr/>
          <p:nvPr/>
        </p:nvSpPr>
        <p:spPr>
          <a:xfrm>
            <a:off x="3246120" y="2240280"/>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6" name="lv_40"/>
          <p:cNvSpPr/>
          <p:nvPr/>
        </p:nvSpPr>
        <p:spPr>
          <a:xfrm>
            <a:off x="5151120" y="2240280"/>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7" name="lv_41"/>
          <p:cNvSpPr/>
          <p:nvPr/>
        </p:nvSpPr>
        <p:spPr>
          <a:xfrm>
            <a:off x="7056120" y="2240280"/>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8" name="cd_42"/>
          <p:cNvSpPr/>
          <p:nvPr/>
        </p:nvSpPr>
        <p:spPr>
          <a:xfrm>
            <a:off x="3246120" y="2770632"/>
            <a:ext cx="2756916" cy="1984248"/>
          </a:xfrm>
          <a:prstGeom prst="roundRect">
            <a:avLst>
              <a:gd name="adj" fmla="val 645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rh_43"/>
          <p:cNvSpPr/>
          <p:nvPr/>
        </p:nvSpPr>
        <p:spPr>
          <a:xfrm>
            <a:off x="3337560" y="2843784"/>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100" dirty="0"/>
          </a:p>
        </p:txBody>
      </p:sp>
      <p:sp>
        <p:nvSpPr>
          <p:cNvPr id="30" name="R1_rl44"/>
          <p:cNvSpPr/>
          <p:nvPr/>
        </p:nvSpPr>
        <p:spPr>
          <a:xfrm>
            <a:off x="3383280" y="3227832"/>
            <a:ext cx="2482596" cy="1453896"/>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Anna.</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Where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you from? – </a:t>
            </a:r>
            <a:pPr indent="0" marL="0">
              <a:spcAft>
                <a:spcPts val="300"/>
              </a:spcAft>
              <a:buNone/>
            </a:pPr>
            <a:r>
              <a:rPr lang="en-US" sz="110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from Bagheria.</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00" dirty="0"/>
          </a:p>
        </p:txBody>
      </p:sp>
      <p:sp>
        <p:nvSpPr>
          <p:cNvPr id="31" name="cd_45"/>
          <p:cNvSpPr/>
          <p:nvPr/>
        </p:nvSpPr>
        <p:spPr>
          <a:xfrm>
            <a:off x="6112764" y="2770632"/>
            <a:ext cx="2756916" cy="1984248"/>
          </a:xfrm>
          <a:prstGeom prst="roundRect">
            <a:avLst>
              <a:gd name="adj" fmla="val 645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2" name="rh_46"/>
          <p:cNvSpPr/>
          <p:nvPr/>
        </p:nvSpPr>
        <p:spPr>
          <a:xfrm>
            <a:off x="6204204" y="2843784"/>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100" dirty="0"/>
          </a:p>
        </p:txBody>
      </p:sp>
      <p:sp>
        <p:nvSpPr>
          <p:cNvPr id="33" name="R2_rl47"/>
          <p:cNvSpPr/>
          <p:nvPr/>
        </p:nvSpPr>
        <p:spPr>
          <a:xfrm>
            <a:off x="6249924" y="3227832"/>
            <a:ext cx="2482596" cy="1453896"/>
          </a:xfrm>
          <a:prstGeom prst="rect">
            <a:avLst/>
          </a:prstGeom>
          <a:solidFill>
            <a:srgbClr val="FFFFFF"/>
          </a:solidFill>
          <a:ln/>
        </p:spPr>
        <p:txBody>
          <a:bodyPr wrap="square" lIns="0" tIns="0" rIns="0" bIns="0" rtlCol="0" anchor="t">
            <a:normAutofit/>
          </a:bodyPr>
          <a:lstStyle/>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What's </a:t>
            </a:r>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 It's a chair.</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What's </a:t>
            </a:r>
            <a:pPr indent="0" marL="0">
              <a:spcAft>
                <a:spcPts val="300"/>
              </a:spcAft>
              <a:buNone/>
            </a:pPr>
            <a:r>
              <a:rPr lang="en-US" sz="110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 – It's a window.</a:t>
            </a:r>
            <a:endParaRPr lang="en-US" sz="1100" dirty="0"/>
          </a:p>
          <a:p>
            <a:pPr indent="0" marL="0">
              <a:spcAft>
                <a:spcPts val="300"/>
              </a:spcAft>
              <a:buNone/>
            </a:pPr>
            <a:r>
              <a:rPr lang="en-US" sz="110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0"/>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4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2"/>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all'insegnante: sì o no + una parola.</a:t>
            </a:r>
            <a:endParaRPr lang="en-US" sz="950" dirty="0"/>
          </a:p>
        </p:txBody>
      </p:sp>
      <p:sp>
        <p:nvSpPr>
          <p:cNvPr id="9" name="note_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Warm-up · your bag (PQA)</a:t>
            </a:r>
            <a:endParaRPr lang="en-US" sz="800" dirty="0"/>
          </a:p>
        </p:txBody>
      </p:sp>
      <p:sp>
        <p:nvSpPr>
          <p:cNvPr id="12" name="pf_57"/>
          <p:cNvSpPr/>
          <p:nvPr/>
        </p:nvSpPr>
        <p:spPr>
          <a:xfrm rot="-120000">
            <a:off x="758190" y="1371600"/>
            <a:ext cx="19126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8" descr="/home/claude/lls-course/v2/cache/red_2a_untidy_jpg_438x297_31.png">    </p:cNvPr>
          <p:cNvPicPr>
            <a:picLocks noChangeAspect="1"/>
          </p:cNvPicPr>
          <p:nvPr/>
        </p:nvPicPr>
        <p:blipFill>
          <a:blip r:embed="rId5"/>
          <a:stretch>
            <a:fillRect/>
          </a:stretch>
        </p:blipFill>
        <p:spPr>
          <a:xfrm rot="-120000">
            <a:off x="803910" y="1417320"/>
            <a:ext cx="1821180" cy="1234440"/>
          </a:xfrm>
          <a:prstGeom prst="rect">
            <a:avLst/>
          </a:prstGeom>
        </p:spPr>
      </p:pic>
      <p:sp>
        <p:nvSpPr>
          <p:cNvPr id="14" name="cd_59"/>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60"/>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1"/>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62"/>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I do. / No, I don't.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It's in my bag / in my pocket.</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Really? Me too!</a:t>
            </a:r>
            <a:endParaRPr lang="en-US" sz="1150" dirty="0"/>
          </a:p>
        </p:txBody>
      </p:sp>
      <p:sp>
        <p:nvSpPr>
          <p:cNvPr id="18" name="R1_qb63"/>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64"/>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Yes – it's in my bag. / No – it's in my pocket.</a:t>
            </a:r>
            <a:endParaRPr lang="en-US" sz="1400" dirty="0"/>
          </a:p>
        </p:txBody>
      </p:sp>
      <p:sp>
        <p:nvSpPr>
          <p:cNvPr id="20" name="R2_qb65"/>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66"/>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Yes, I have two keys.</a:t>
            </a:r>
            <a:endParaRPr lang="en-US" sz="1400" dirty="0"/>
          </a:p>
        </p:txBody>
      </p:sp>
      <p:sp>
        <p:nvSpPr>
          <p:cNvPr id="22" name="R3_qb67"/>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68"/>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Is your bag tidy or untidy?</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It's very untidy!</a:t>
            </a:r>
            <a:endParaRPr lang="en-US" sz="1400" dirty="0"/>
          </a:p>
        </p:txBody>
      </p:sp>
      <p:sp>
        <p:nvSpPr>
          <p:cNvPr id="24" name="R4_qb69"/>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5" name="R4_sq70"/>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400" dirty="0"/>
          </a:p>
          <a:p>
            <a:pPr indent="0" marL="0">
              <a:buNone/>
            </a:pPr>
            <a:r>
              <a:rPr lang="en-US" sz="1150" i="1" dirty="0">
                <a:solidFill>
                  <a:srgbClr val="5B6785"/>
                </a:solidFill>
                <a:latin typeface="Segoe UI Semibold" pitchFamily="34" charset="0"/>
                <a:ea typeface="Segoe UI Semibold" pitchFamily="34" charset="-122"/>
                <a:cs typeface="Segoe UI Semibold" pitchFamily="34" charset="-120"/>
              </a:rPr>
              <a:t>e.g. Marco! His bag is a disaster!</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4"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75"/>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cos'è in inglese. Clic 1: significato. Clic 2: italiano.</a:t>
            </a:r>
            <a:endParaRPr lang="en-US" sz="950" dirty="0"/>
          </a:p>
        </p:txBody>
      </p:sp>
      <p:sp>
        <p:nvSpPr>
          <p:cNvPr id="9" name="note_7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6 new words   ·   📖 Vocabulary Bank Things p.151</a:t>
            </a:r>
            <a:endParaRPr lang="en-US" sz="800" dirty="0"/>
          </a:p>
        </p:txBody>
      </p:sp>
      <p:sp>
        <p:nvSpPr>
          <p:cNvPr id="12" name="cd_80"/>
          <p:cNvSpPr/>
          <p:nvPr/>
        </p:nvSpPr>
        <p:spPr>
          <a:xfrm>
            <a:off x="320040" y="141732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8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8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5" name="R1_def83"/>
          <p:cNvSpPr/>
          <p:nvPr/>
        </p:nvSpPr>
        <p:spPr>
          <a:xfrm>
            <a:off x="978408"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money and cards – usually men</a:t>
            </a:r>
            <a:endParaRPr lang="en-US" sz="850" dirty="0"/>
          </a:p>
        </p:txBody>
      </p:sp>
      <p:sp>
        <p:nvSpPr>
          <p:cNvPr id="16" name="R2_it84"/>
          <p:cNvSpPr/>
          <p:nvPr/>
        </p:nvSpPr>
        <p:spPr>
          <a:xfrm>
            <a:off x="978408"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7" name="cd_85"/>
          <p:cNvSpPr/>
          <p:nvPr/>
        </p:nvSpPr>
        <p:spPr>
          <a:xfrm>
            <a:off x="2487168" y="141732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8" name="e_8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8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0" name="R3_def88"/>
          <p:cNvSpPr/>
          <p:nvPr/>
        </p:nvSpPr>
        <p:spPr>
          <a:xfrm>
            <a:off x="3145536"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a small bag for money – usually women</a:t>
            </a:r>
            <a:endParaRPr lang="en-US" sz="850" dirty="0"/>
          </a:p>
        </p:txBody>
      </p:sp>
      <p:sp>
        <p:nvSpPr>
          <p:cNvPr id="21" name="R4_it89"/>
          <p:cNvSpPr/>
          <p:nvPr/>
        </p:nvSpPr>
        <p:spPr>
          <a:xfrm>
            <a:off x="3145536" y="2121408"/>
            <a:ext cx="1362456" cy="182880"/>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borsellino (NON borsa!)</a:t>
            </a:r>
            <a:endParaRPr lang="en-US" sz="800" dirty="0"/>
          </a:p>
        </p:txBody>
      </p:sp>
      <p:sp>
        <p:nvSpPr>
          <p:cNvPr id="22" name="cd_90"/>
          <p:cNvSpPr/>
          <p:nvPr/>
        </p:nvSpPr>
        <p:spPr>
          <a:xfrm>
            <a:off x="4654296" y="1417320"/>
            <a:ext cx="2075688" cy="914400"/>
          </a:xfrm>
          <a:prstGeom prst="roundRect">
            <a:avLst>
              <a:gd name="adj" fmla="val 140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3" name="e_9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9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5" name="R5_def93"/>
          <p:cNvSpPr/>
          <p:nvPr/>
        </p:nvSpPr>
        <p:spPr>
          <a:xfrm>
            <a:off x="5312664"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open the door with them</a:t>
            </a:r>
            <a:endParaRPr lang="en-US" sz="850" dirty="0"/>
          </a:p>
        </p:txBody>
      </p:sp>
      <p:sp>
        <p:nvSpPr>
          <p:cNvPr id="26" name="R6_it94"/>
          <p:cNvSpPr/>
          <p:nvPr/>
        </p:nvSpPr>
        <p:spPr>
          <a:xfrm>
            <a:off x="5312664"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7" name="cd_95"/>
          <p:cNvSpPr/>
          <p:nvPr/>
        </p:nvSpPr>
        <p:spPr>
          <a:xfrm>
            <a:off x="6821424" y="1417320"/>
            <a:ext cx="2075688" cy="914400"/>
          </a:xfrm>
          <a:prstGeom prst="roundRect">
            <a:avLst>
              <a:gd name="adj" fmla="val 140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8" name="e_9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9" name="en_9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0" name="R7_def98"/>
          <p:cNvSpPr/>
          <p:nvPr/>
        </p:nvSpPr>
        <p:spPr>
          <a:xfrm>
            <a:off x="7479792" y="178308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you wear them in the sun</a:t>
            </a:r>
            <a:endParaRPr lang="en-US" sz="850" dirty="0"/>
          </a:p>
        </p:txBody>
      </p:sp>
      <p:sp>
        <p:nvSpPr>
          <p:cNvPr id="31" name="R8_it99"/>
          <p:cNvSpPr/>
          <p:nvPr/>
        </p:nvSpPr>
        <p:spPr>
          <a:xfrm>
            <a:off x="7479792" y="212140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2" name="cd_100"/>
          <p:cNvSpPr/>
          <p:nvPr/>
        </p:nvSpPr>
        <p:spPr>
          <a:xfrm>
            <a:off x="320040" y="2423160"/>
            <a:ext cx="2075688" cy="914400"/>
          </a:xfrm>
          <a:prstGeom prst="roundRect">
            <a:avLst>
              <a:gd name="adj" fmla="val 140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3" name="e_101"/>
          <p:cNvSpPr/>
          <p:nvPr/>
        </p:nvSpPr>
        <p:spPr>
          <a:xfrm>
            <a:off x="393192" y="253288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102"/>
          <p:cNvSpPr/>
          <p:nvPr/>
        </p:nvSpPr>
        <p:spPr>
          <a:xfrm>
            <a:off x="978408"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5" name="R9_def103"/>
          <p:cNvSpPr/>
          <p:nvPr/>
        </p:nvSpPr>
        <p:spPr>
          <a:xfrm>
            <a:off x="978408"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nose</a:t>
            </a:r>
            <a:endParaRPr lang="en-US" sz="850" dirty="0"/>
          </a:p>
        </p:txBody>
      </p:sp>
      <p:sp>
        <p:nvSpPr>
          <p:cNvPr id="36" name="R10_it104"/>
          <p:cNvSpPr/>
          <p:nvPr/>
        </p:nvSpPr>
        <p:spPr>
          <a:xfrm>
            <a:off x="978408"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7" name="cd_105"/>
          <p:cNvSpPr/>
          <p:nvPr/>
        </p:nvSpPr>
        <p:spPr>
          <a:xfrm>
            <a:off x="2487168" y="2423160"/>
            <a:ext cx="2075688" cy="914400"/>
          </a:xfrm>
          <a:prstGeom prst="roundRect">
            <a:avLst>
              <a:gd name="adj" fmla="val 140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8" name="e_106"/>
          <p:cNvSpPr/>
          <p:nvPr/>
        </p:nvSpPr>
        <p:spPr>
          <a:xfrm>
            <a:off x="2560320" y="253288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107"/>
          <p:cNvSpPr/>
          <p:nvPr/>
        </p:nvSpPr>
        <p:spPr>
          <a:xfrm>
            <a:off x="3145536" y="247802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0" name="R11_def108"/>
          <p:cNvSpPr/>
          <p:nvPr/>
        </p:nvSpPr>
        <p:spPr>
          <a:xfrm>
            <a:off x="3145536" y="2788920"/>
            <a:ext cx="1362456" cy="329184"/>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Semibold" pitchFamily="34" charset="0"/>
                <a:ea typeface="Segoe UI Semibold" pitchFamily="34" charset="-122"/>
                <a:cs typeface="Segoe UI Semibold" pitchFamily="34" charset="-120"/>
              </a:rPr>
              <a:t>for your phone</a:t>
            </a:r>
            <a:endParaRPr lang="en-US" sz="850" dirty="0"/>
          </a:p>
        </p:txBody>
      </p:sp>
      <p:sp>
        <p:nvSpPr>
          <p:cNvPr id="41" name="R12_it109"/>
          <p:cNvSpPr/>
          <p:nvPr/>
        </p:nvSpPr>
        <p:spPr>
          <a:xfrm>
            <a:off x="3145536" y="3127248"/>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2" name="R13_wc110"/>
          <p:cNvSpPr/>
          <p:nvPr/>
        </p:nvSpPr>
        <p:spPr>
          <a:xfrm>
            <a:off x="320040" y="34747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3" name="R13_w111"/>
          <p:cNvSpPr/>
          <p:nvPr/>
        </p:nvSpPr>
        <p:spPr>
          <a:xfrm>
            <a:off x="457200" y="34747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4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4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fade">
                                      <p:cBhvr>
                                        <p:cTn id="47" dur="4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400"/>
                                        <p:tgtEl>
                                          <p:spTgt spid="36"/>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40"/>
                                        </p:tgtEl>
                                        <p:attrNameLst>
                                          <p:attrName>style.visibility</p:attrName>
                                        </p:attrNameLst>
                                      </p:cBhvr>
                                      <p:to>
                                        <p:strVal val="visible"/>
                                      </p:to>
                                    </p:set>
                                    <p:animEffect transition="in" filter="fade">
                                      <p:cBhvr>
                                        <p:cTn id="57" dur="400"/>
                                        <p:tgtEl>
                                          <p:spTgt spid="4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41"/>
                                        </p:tgtEl>
                                        <p:attrNameLst>
                                          <p:attrName>style.visibility</p:attrName>
                                        </p:attrNameLst>
                                      </p:cBhvr>
                                      <p:to>
                                        <p:strVal val="visible"/>
                                      </p:to>
                                    </p:set>
                                    <p:animEffect transition="in" filter="fade">
                                      <p:cBhvr>
                                        <p:cTn id="62" dur="400"/>
                                        <p:tgtEl>
                                          <p:spTgt spid="4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42"/>
                                        </p:tgtEl>
                                        <p:attrNameLst>
                                          <p:attrName>style.visibility</p:attrName>
                                        </p:attrNameLst>
                                      </p:cBhvr>
                                      <p:to>
                                        <p:strVal val="visible"/>
                                      </p:to>
                                    </p:set>
                                    <p:animEffect transition="in" filter="fade">
                                      <p:cBhvr>
                                        <p:cTn id="67" dur="400"/>
                                        <p:tgtEl>
                                          <p:spTgt spid="42"/>
                                        </p:tgtEl>
                                      </p:cBhvr>
                                    </p:animEffect>
                                  </p:childTnLst>
                                </p:cTn>
                              </p:par>
                              <p:par>
                                <p:cTn id="68" presetID="10" presetClass="entr" presetSubtype="0" fill="hold" nodeType="withEffect">
                                  <p:stCondLst>
                                    <p:cond delay="0"/>
                                  </p:stCondLst>
                                  <p:childTnLst>
                                    <p:set>
                                      <p:cBhvr>
                                        <p:cTn id="69" dur="1" fill="hold">
                                          <p:stCondLst>
                                            <p:cond delay="0"/>
                                          </p:stCondLst>
                                        </p:cTn>
                                        <p:tgtEl>
                                          <p:spTgt spid="43"/>
                                        </p:tgtEl>
                                        <p:attrNameLst>
                                          <p:attrName>style.visibility</p:attrName>
                                        </p:attrNameLst>
                                      </p:cBhvr>
                                      <p:to>
                                        <p:strVal val="visible"/>
                                      </p:to>
                                    </p:set>
                                    <p:animEffect transition="in" filter="fade">
                                      <p:cBhvr>
                                        <p:cTn id="70"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1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l'immagine. Di': It's a… o They're…</a:t>
            </a:r>
            <a:endParaRPr lang="en-US" sz="950" dirty="0"/>
          </a:p>
        </p:txBody>
      </p:sp>
      <p:sp>
        <p:nvSpPr>
          <p:cNvPr id="9" name="note_118"/>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p:txBody>
      </p:sp>
      <p:pic>
        <p:nvPicPr>
          <p:cNvPr id="10"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Practice · It's a… / They're…   ·   📖 SB p.14 · Vocabulary Bank activation (What is it? / What are they?)</a:t>
            </a:r>
            <a:endParaRPr lang="en-US" sz="800" dirty="0"/>
          </a:p>
        </p:txBody>
      </p:sp>
      <p:sp>
        <p:nvSpPr>
          <p:cNvPr id="12" name="cd_121"/>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2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2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24"/>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 → They're keys.   ·   📱 → It's a phone.</a:t>
            </a:r>
            <a:endParaRPr lang="en-US" sz="1050" dirty="0"/>
          </a:p>
        </p:txBody>
      </p:sp>
      <p:sp>
        <p:nvSpPr>
          <p:cNvPr id="16" name="pf_125"/>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26" descr="/home/claude/lls-course/v2/cache/red_2a_things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8" name="bd_127"/>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28"/>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0" name="R1_chip129"/>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They're sunglasses.</a:t>
            </a:r>
            <a:endParaRPr lang="en-US" sz="1050" dirty="0"/>
          </a:p>
        </p:txBody>
      </p:sp>
      <p:sp>
        <p:nvSpPr>
          <p:cNvPr id="21" name="bd_130"/>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31"/>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3" name="R2_chip132"/>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 purse.</a:t>
            </a:r>
            <a:endParaRPr lang="en-US" sz="1050" dirty="0"/>
          </a:p>
        </p:txBody>
      </p:sp>
      <p:sp>
        <p:nvSpPr>
          <p:cNvPr id="24" name="bd_133"/>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34"/>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6" name="R3_chip135"/>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 charger.</a:t>
            </a:r>
            <a:endParaRPr lang="en-US" sz="1050" dirty="0"/>
          </a:p>
        </p:txBody>
      </p:sp>
      <p:sp>
        <p:nvSpPr>
          <p:cNvPr id="27" name="bd_136"/>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37"/>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R4_chip138"/>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They're tissues.</a:t>
            </a:r>
            <a:endParaRPr lang="en-US" sz="1050" dirty="0"/>
          </a:p>
        </p:txBody>
      </p:sp>
      <p:sp>
        <p:nvSpPr>
          <p:cNvPr id="30" name="bd_139"/>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40"/>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2" name="R5_chip141"/>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 wallet.</a:t>
            </a:r>
            <a:endParaRPr lang="en-US" sz="1050" dirty="0"/>
          </a:p>
        </p:txBody>
      </p:sp>
      <p:sp>
        <p:nvSpPr>
          <p:cNvPr id="33" name="bd_142"/>
          <p:cNvSpPr/>
          <p:nvPr/>
        </p:nvSpPr>
        <p:spPr>
          <a:xfrm>
            <a:off x="3246120" y="40050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4" name="q_143"/>
          <p:cNvSpPr/>
          <p:nvPr/>
        </p:nvSpPr>
        <p:spPr>
          <a:xfrm>
            <a:off x="3630168" y="393192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5" name="R6_chip144"/>
          <p:cNvSpPr/>
          <p:nvPr/>
        </p:nvSpPr>
        <p:spPr>
          <a:xfrm>
            <a:off x="5806440" y="39319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5"/>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6"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7"/>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400" dirty="0"/>
          </a:p>
        </p:txBody>
      </p:sp>
      <p:pic>
        <p:nvPicPr>
          <p:cNvPr id="6" name="brP_148"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49"/>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 dell'insegnante.</a:t>
            </a:r>
            <a:endParaRPr lang="en-US" sz="950" dirty="0"/>
          </a:p>
        </p:txBody>
      </p:sp>
      <p:sp>
        <p:nvSpPr>
          <p:cNvPr id="9" name="note_151"/>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whole class</a:t>
            </a:r>
            <a:endParaRPr lang="en-US" sz="1150" dirty="0"/>
          </a:p>
        </p:txBody>
      </p:sp>
      <p:pic>
        <p:nvPicPr>
          <p:cNvPr id="10" name="logo_1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Story (TPRS) · ask and answer   ·   📖 Our story (TPRS) · today's 6 words + in, on, under</a:t>
            </a:r>
            <a:endParaRPr lang="en-US" sz="800" dirty="0"/>
          </a:p>
        </p:txBody>
      </p:sp>
      <p:sp>
        <p:nvSpPr>
          <p:cNvPr id="12" name="cd_154"/>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15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4" name="ln_156"/>
          <p:cNvSpPr/>
          <p:nvPr/>
        </p:nvSpPr>
        <p:spPr>
          <a:xfrm>
            <a:off x="548640" y="192024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5" name="ln_157"/>
          <p:cNvSpPr/>
          <p:nvPr/>
        </p:nvSpPr>
        <p:spPr>
          <a:xfrm>
            <a:off x="548640" y="246888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6" name="ln_158"/>
          <p:cNvSpPr/>
          <p:nvPr/>
        </p:nvSpPr>
        <p:spPr>
          <a:xfrm>
            <a:off x="548640" y="301752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7" name="ln_159"/>
          <p:cNvSpPr/>
          <p:nvPr/>
        </p:nvSpPr>
        <p:spPr>
          <a:xfrm>
            <a:off x="548640" y="356616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18" name="ln_160"/>
          <p:cNvSpPr/>
          <p:nvPr/>
        </p:nvSpPr>
        <p:spPr>
          <a:xfrm>
            <a:off x="548640" y="4114800"/>
            <a:ext cx="5349240" cy="548640"/>
          </a:xfrm>
          <a:prstGeom prst="rect">
            <a:avLst/>
          </a:prstGeom>
          <a:noFill/>
          <a:ln/>
        </p:spPr>
        <p:txBody>
          <a:bodyPr wrap="square" lIns="0" tIns="0" rIns="0" bIns="0" rtlCol="0" anchor="ct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19" name="pf_161"/>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62" descr="/home/claude/lls-course/v2/cache/red_2a_untid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1" name="cd_163"/>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164"/>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165"/>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4" name="il_166"/>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is = one thing · are = two or more</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in · on · under</a:t>
            </a:r>
            <a:endParaRPr lang="en-US" sz="85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6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7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Rileggi la storia. Vero o falso? Correggi quelle false.</a:t>
            </a:r>
            <a:endParaRPr lang="en-US" sz="950" dirty="0"/>
          </a:p>
        </p:txBody>
      </p:sp>
      <p:sp>
        <p:nvSpPr>
          <p:cNvPr id="9" name="note_17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CHECK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Controlled practice</a:t>
            </a:r>
            <a:endParaRPr lang="en-US" sz="1150" dirty="0"/>
          </a:p>
        </p:txBody>
      </p:sp>
      <p:pic>
        <p:nvPicPr>
          <p:cNvPr id="10" name="logo_17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7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Reading · the class story</a:t>
            </a:r>
            <a:endParaRPr lang="en-US" sz="800" dirty="0"/>
          </a:p>
        </p:txBody>
      </p:sp>
      <p:sp>
        <p:nvSpPr>
          <p:cNvPr id="12" name="cd_176"/>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7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78"/>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179"/>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Tom is very tidy. → F – he's very untidy.</a:t>
            </a:r>
            <a:endParaRPr lang="en-US" sz="1050" dirty="0"/>
          </a:p>
        </p:txBody>
      </p:sp>
      <p:sp>
        <p:nvSpPr>
          <p:cNvPr id="16" name="pf_180"/>
          <p:cNvSpPr/>
          <p:nvPr/>
        </p:nvSpPr>
        <p:spPr>
          <a:xfrm rot="-90000">
            <a:off x="365760" y="3144172"/>
            <a:ext cx="2606040" cy="944561"/>
          </a:xfrm>
          <a:prstGeom prst="roundRect">
            <a:avLst>
              <a:gd name="adj" fmla="val 164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181" descr="/home/claude/lls-course/v2/cache/red_2a_rooms_jpg_605x205_31.png">    </p:cNvPr>
          <p:cNvPicPr>
            <a:picLocks noChangeAspect="1"/>
          </p:cNvPicPr>
          <p:nvPr/>
        </p:nvPicPr>
        <p:blipFill>
          <a:blip r:embed="rId5"/>
          <a:stretch>
            <a:fillRect/>
          </a:stretch>
        </p:blipFill>
        <p:spPr>
          <a:xfrm rot="-90000">
            <a:off x="411480" y="3189892"/>
            <a:ext cx="2514600" cy="853121"/>
          </a:xfrm>
          <a:prstGeom prst="rect">
            <a:avLst/>
          </a:prstGeom>
        </p:spPr>
      </p:pic>
      <p:sp>
        <p:nvSpPr>
          <p:cNvPr id="18" name="bd_182"/>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183"/>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Tom's keys are in his bag.</a:t>
            </a:r>
            <a:endParaRPr lang="en-US" sz="1150" dirty="0"/>
          </a:p>
        </p:txBody>
      </p:sp>
      <p:sp>
        <p:nvSpPr>
          <p:cNvPr id="20" name="R1_chip184"/>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50" dirty="0"/>
          </a:p>
        </p:txBody>
      </p:sp>
      <p:sp>
        <p:nvSpPr>
          <p:cNvPr id="21" name="bd_185"/>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186"/>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wallet is on the table.</a:t>
            </a:r>
            <a:endParaRPr lang="en-US" sz="1150" dirty="0"/>
          </a:p>
        </p:txBody>
      </p:sp>
      <p:sp>
        <p:nvSpPr>
          <p:cNvPr id="23" name="R2_chip187"/>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t>
            </a:r>
            <a:endParaRPr lang="en-US" sz="1050" dirty="0"/>
          </a:p>
        </p:txBody>
      </p:sp>
      <p:sp>
        <p:nvSpPr>
          <p:cNvPr id="24" name="bd_188"/>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189"/>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sunglasses are on the chair.</a:t>
            </a:r>
            <a:endParaRPr lang="en-US" sz="1150" dirty="0"/>
          </a:p>
        </p:txBody>
      </p:sp>
      <p:sp>
        <p:nvSpPr>
          <p:cNvPr id="26" name="R3_chip190"/>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50" dirty="0"/>
          </a:p>
        </p:txBody>
      </p:sp>
      <p:sp>
        <p:nvSpPr>
          <p:cNvPr id="27" name="bd_191"/>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192"/>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His charger is on the floor.</a:t>
            </a:r>
            <a:endParaRPr lang="en-US" sz="1150" dirty="0"/>
          </a:p>
        </p:txBody>
      </p:sp>
      <p:sp>
        <p:nvSpPr>
          <p:cNvPr id="29" name="R4_chip193"/>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a:t>
            </a:r>
            <a:endParaRPr lang="en-US" sz="1050" dirty="0"/>
          </a:p>
        </p:txBody>
      </p:sp>
      <p:sp>
        <p:nvSpPr>
          <p:cNvPr id="30" name="bd_194"/>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1" name="q_195"/>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keys are under the cat.</a:t>
            </a:r>
            <a:endParaRPr lang="en-US" sz="1150" dirty="0"/>
          </a:p>
        </p:txBody>
      </p:sp>
      <p:sp>
        <p:nvSpPr>
          <p:cNvPr id="32" name="R5_chip196"/>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 😄</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8"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99"/>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00"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01"/>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le desinenze colorate. Qual è la regola?</a:t>
            </a:r>
            <a:endParaRPr lang="en-US" sz="950" dirty="0"/>
          </a:p>
        </p:txBody>
      </p:sp>
      <p:sp>
        <p:nvSpPr>
          <p:cNvPr id="9" name="note_20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20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0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Pop-up grammar · plurals   ·   📖 Grammar Bank 2A p.126 · audio 2.2</a:t>
            </a:r>
            <a:endParaRPr lang="en-US" sz="800" dirty="0"/>
          </a:p>
        </p:txBody>
      </p:sp>
      <p:sp>
        <p:nvSpPr>
          <p:cNvPr id="12" name="ah_206"/>
          <p:cNvSpPr/>
          <p:nvPr/>
        </p:nvSpPr>
        <p:spPr>
          <a:xfrm>
            <a:off x="367588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2.2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4" name="ah_2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6" name="cd_208"/>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7" name="rh_209"/>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18" name="pf_210"/>
          <p:cNvSpPr/>
          <p:nvPr/>
        </p:nvSpPr>
        <p:spPr>
          <a:xfrm>
            <a:off x="895169" y="1938528"/>
            <a:ext cx="884283" cy="960120"/>
          </a:xfrm>
          <a:prstGeom prst="roundRect">
            <a:avLst>
              <a:gd name="adj" fmla="val 1757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11" descr="/home/claude/lls-course/v2/cache/red_2a_wallet_jpg_191x209_31.png">    </p:cNvPr>
          <p:cNvPicPr>
            <a:picLocks noChangeAspect="1"/>
          </p:cNvPicPr>
          <p:nvPr/>
        </p:nvPicPr>
        <p:blipFill>
          <a:blip r:embed="rId11"/>
          <a:stretch>
            <a:fillRect/>
          </a:stretch>
        </p:blipFill>
        <p:spPr>
          <a:xfrm>
            <a:off x="940889" y="1984248"/>
            <a:ext cx="792843" cy="868680"/>
          </a:xfrm>
          <a:prstGeom prst="rect">
            <a:avLst/>
          </a:prstGeom>
        </p:spPr>
      </p:pic>
      <p:sp>
        <p:nvSpPr>
          <p:cNvPr id="20" name="ru_212"/>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1" name="R1_rx213"/>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2" name="R1_ri214"/>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an + a, e, i, o, u (suono)</a:t>
            </a:r>
            <a:endParaRPr lang="en-US" sz="900" dirty="0"/>
          </a:p>
        </p:txBody>
      </p:sp>
      <p:sp>
        <p:nvSpPr>
          <p:cNvPr id="23" name="cd_215"/>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4" name="rh_216"/>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5" name="pf_217"/>
          <p:cNvSpPr/>
          <p:nvPr/>
        </p:nvSpPr>
        <p:spPr>
          <a:xfrm>
            <a:off x="2906865" y="1938528"/>
            <a:ext cx="120429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18" descr="/home/claude/lls-course/v2/cache/red_2a_things_jpg_268x209_31.png">    </p:cNvPr>
          <p:cNvPicPr>
            <a:picLocks noChangeAspect="1"/>
          </p:cNvPicPr>
          <p:nvPr/>
        </p:nvPicPr>
        <p:blipFill>
          <a:blip r:embed="rId12"/>
          <a:stretch>
            <a:fillRect/>
          </a:stretch>
        </p:blipFill>
        <p:spPr>
          <a:xfrm>
            <a:off x="2952585" y="1984248"/>
            <a:ext cx="1112850" cy="868680"/>
          </a:xfrm>
          <a:prstGeom prst="rect">
            <a:avLst/>
          </a:prstGeom>
        </p:spPr>
      </p:pic>
      <p:sp>
        <p:nvSpPr>
          <p:cNvPr id="27" name="ru_219"/>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28" name="R2_rx220"/>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29" name="R2_ri221"/>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quasi sempre</a:t>
            </a:r>
            <a:endParaRPr lang="en-US" sz="900" dirty="0"/>
          </a:p>
        </p:txBody>
      </p:sp>
      <p:sp>
        <p:nvSpPr>
          <p:cNvPr id="30" name="cd_222"/>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1" name="rh_223"/>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2" name="pf_224"/>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225"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4" name="ru_226"/>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5" name="R3_rx227"/>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6" name="R3_ri228"/>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ma: key → keys</a:t>
            </a:r>
            <a:endParaRPr lang="en-US" sz="900" dirty="0"/>
          </a:p>
        </p:txBody>
      </p:sp>
      <p:sp>
        <p:nvSpPr>
          <p:cNvPr id="37" name="cd_229"/>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8" name="rh_230"/>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39" name="pf_231"/>
          <p:cNvSpPr/>
          <p:nvPr/>
        </p:nvSpPr>
        <p:spPr>
          <a:xfrm>
            <a:off x="7165904" y="1938528"/>
            <a:ext cx="1373011"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0" name="ph_232" descr="/home/claude/lls-course/v2/cache/red_2a_untidy_jpg_308x209_31.png">    </p:cNvPr>
          <p:cNvPicPr>
            <a:picLocks noChangeAspect="1"/>
          </p:cNvPicPr>
          <p:nvPr/>
        </p:nvPicPr>
        <p:blipFill>
          <a:blip r:embed="rId14"/>
          <a:stretch>
            <a:fillRect/>
          </a:stretch>
        </p:blipFill>
        <p:spPr>
          <a:xfrm>
            <a:off x="7211624" y="1984248"/>
            <a:ext cx="1281571" cy="868680"/>
          </a:xfrm>
          <a:prstGeom prst="rect">
            <a:avLst/>
          </a:prstGeom>
        </p:spPr>
      </p:pic>
      <p:sp>
        <p:nvSpPr>
          <p:cNvPr id="41" name="ru_233"/>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2" name="R4_rx234"/>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3" name="R4_ri235"/>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people = persone</a:t>
            </a:r>
            <a:endParaRPr lang="en-US" sz="900" dirty="0"/>
          </a:p>
        </p:txBody>
      </p:sp>
      <p:sp>
        <p:nvSpPr>
          <p:cNvPr id="44" name="R5_wc236"/>
          <p:cNvSpPr/>
          <p:nvPr/>
        </p:nvSpPr>
        <p:spPr>
          <a:xfrm>
            <a:off x="320040" y="4544568"/>
            <a:ext cx="3172968"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R5_w237"/>
          <p:cNvSpPr/>
          <p:nvPr/>
        </p:nvSpPr>
        <p:spPr>
          <a:xfrm>
            <a:off x="457200" y="4544568"/>
            <a:ext cx="2944368" cy="329184"/>
          </a:xfrm>
          <a:prstGeom prst="rect">
            <a:avLst/>
          </a:prstGeom>
          <a:noFill/>
          <a:ln/>
        </p:spPr>
        <p:txBody>
          <a:bodyPr wrap="square" lIns="0" tIns="0" rIns="0" bIns="0" rtlCol="0" anchor="ctr">
            <a:normAutofit/>
          </a:bodyPr>
          <a:lstStyle/>
          <a:p>
            <a:pPr indent="0" marL="0">
              <a:buNone/>
            </a:pPr>
            <a:r>
              <a:rPr lang="en-US" sz="7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8"/>
                                        </p:tgtEl>
                                        <p:attrNameLst>
                                          <p:attrName>style.visibility</p:attrName>
                                        </p:attrNameLst>
                                      </p:cBhvr>
                                      <p:to>
                                        <p:strVal val="visible"/>
                                      </p:to>
                                    </p:set>
                                    <p:animEffect transition="in" filter="fade">
                                      <p:cBhvr>
                                        <p:cTn id="15" dur="400"/>
                                        <p:tgtEl>
                                          <p:spTgt spid="28"/>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400"/>
                                        <p:tgtEl>
                                          <p:spTgt spid="2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5"/>
                                        </p:tgtEl>
                                        <p:attrNameLst>
                                          <p:attrName>style.visibility</p:attrName>
                                        </p:attrNameLst>
                                      </p:cBhvr>
                                      <p:to>
                                        <p:strVal val="visible"/>
                                      </p:to>
                                    </p:set>
                                    <p:animEffect transition="in" filter="fade">
                                      <p:cBhvr>
                                        <p:cTn id="23" dur="400"/>
                                        <p:tgtEl>
                                          <p:spTgt spid="35"/>
                                        </p:tgtEl>
                                      </p:cBhvr>
                                    </p:animEffect>
                                  </p:childTnLst>
                                </p:cTn>
                              </p:par>
                              <p:par>
                                <p:cTn id="24" presetID="10" presetClass="entr" presetSubtype="0" fill="hold" nodeType="withEffect">
                                  <p:stCondLst>
                                    <p:cond delay="0"/>
                                  </p:stCondLst>
                                  <p:childTnLst>
                                    <p:set>
                                      <p:cBhvr>
                                        <p:cTn id="25" dur="1" fill="hold">
                                          <p:stCondLst>
                                            <p:cond delay="0"/>
                                          </p:stCondLst>
                                        </p:cTn>
                                        <p:tgtEl>
                                          <p:spTgt spid="36"/>
                                        </p:tgtEl>
                                        <p:attrNameLst>
                                          <p:attrName>style.visibility</p:attrName>
                                        </p:attrNameLst>
                                      </p:cBhvr>
                                      <p:to>
                                        <p:strVal val="visible"/>
                                      </p:to>
                                    </p:set>
                                    <p:animEffect transition="in" filter="fade">
                                      <p:cBhvr>
                                        <p:cTn id="26" dur="400"/>
                                        <p:tgtEl>
                                          <p:spTgt spid="3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animEffect transition="in" filter="fade">
                                      <p:cBhvr>
                                        <p:cTn id="31" dur="400"/>
                                        <p:tgtEl>
                                          <p:spTgt spid="42"/>
                                        </p:tgtEl>
                                      </p:cBhvr>
                                    </p:animEffect>
                                  </p:childTnLst>
                                </p:cTn>
                              </p:par>
                              <p:par>
                                <p:cTn id="32" presetID="10" presetClass="entr" presetSubtype="0" fill="hold" nodeType="withEffect">
                                  <p:stCondLst>
                                    <p:cond delay="0"/>
                                  </p:stCondLst>
                                  <p:childTnLst>
                                    <p:set>
                                      <p:cBhvr>
                                        <p:cTn id="33" dur="1" fill="hold">
                                          <p:stCondLst>
                                            <p:cond delay="0"/>
                                          </p:stCondLst>
                                        </p:cTn>
                                        <p:tgtEl>
                                          <p:spTgt spid="43"/>
                                        </p:tgtEl>
                                        <p:attrNameLst>
                                          <p:attrName>style.visibility</p:attrName>
                                        </p:attrNameLst>
                                      </p:cBhvr>
                                      <p:to>
                                        <p:strVal val="visible"/>
                                      </p:to>
                                    </p:set>
                                    <p:animEffect transition="in" filter="fade">
                                      <p:cBhvr>
                                        <p:cTn id="34" dur="400"/>
                                        <p:tgtEl>
                                          <p:spTgt spid="43"/>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400"/>
                                        <p:tgtEl>
                                          <p:spTgt spid="44"/>
                                        </p:tgtEl>
                                      </p:cBhvr>
                                    </p:animEffect>
                                  </p:childTnLst>
                                </p:cTn>
                              </p:par>
                              <p:par>
                                <p:cTn id="40" presetID="10" presetClass="entr" presetSubtype="0" fill="hold" nodeType="with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3"/>
                                        </p:tgtEl>
                                      </p:cBhvr>
                                    </p:cmd>
                                  </p:childTnLst>
                                </p:cTn>
                              </p:par>
                            </p:childTnLst>
                          </p:cTn>
                        </p:par>
                      </p:childTnLst>
                    </p:cTn>
                  </p:par>
                </p:childTnLst>
              </p:cTn>
              <p:nextCondLst>
                <p:cond evt="onClick" delay="0">
                  <p:tgtEl>
                    <p:spTgt spid="13"/>
                  </p:tgtEl>
                </p:cond>
              </p:nextCondLst>
            </p:seq>
            <p:seq concurrent="1" nextAc="seek">
              <p:cTn id="48" restart="whenNotActive" fill="hold" evtFilter="cancelBubble" nodeType="interactiveSeq">
                <p:stCondLst>
                  <p:cond evt="onClick" delay="0">
                    <p:tgtEl>
                      <p:spTgt spid="15"/>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5"/>
                                        </p:tgtEl>
                                      </p:cBhvr>
                                    </p:cmd>
                                  </p:childTnLst>
                                </p:cTn>
                              </p:par>
                            </p:childTnLst>
                          </p:cTn>
                        </p:par>
                      </p:childTnLst>
                    </p:cTn>
                  </p:par>
                </p:childTnLst>
              </p:cTn>
              <p:nextCondLst>
                <p:cond evt="onClick" delay="0">
                  <p:tgtEl>
                    <p:spTgt spid="15"/>
                  </p:tgtEl>
                </p:cond>
              </p:nextCondLst>
            </p:seq>
            <p:audio>
              <p:cMediaNode vol="80000">
                <p:cTn id="53" fill="hold" display="0">
                  <p:stCondLst>
                    <p:cond delay="indefinite"/>
                  </p:stCondLst>
                  <p:endCondLst>
                    <p:cond evt="onStopAudio" delay="0">
                      <p:tgtEl>
                        <p:sldTgt/>
                      </p:tgtEl>
                    </p:cond>
                  </p:endCondLst>
                </p:cTn>
                <p:tgtEl>
                  <p:spTgt spid="13"/>
                </p:tgtEl>
              </p:cMediaNode>
            </p:audio>
            <p:audio>
              <p:cMediaNode vol="80000">
                <p:cTn id="54" fill="hold" display="0">
                  <p:stCondLst>
                    <p:cond delay="indefinite"/>
                  </p:stCondLst>
                  <p:endCondLst>
                    <p:cond evt="onStopAudio" delay="0">
                      <p:tgtEl>
                        <p:sldTgt/>
                      </p:tgtEl>
                    </p:cond>
                  </p:endCondLst>
                </p:cTn>
                <p:tgtEl>
                  <p:spTgt spid="15"/>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3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3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4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41"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42"/>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la regola! Poi di' ogni parola: /s/, /z/ o /ɪz/?</a:t>
            </a:r>
            <a:endParaRPr lang="en-US" sz="950" dirty="0"/>
          </a:p>
        </p:txBody>
      </p:sp>
      <p:sp>
        <p:nvSpPr>
          <p:cNvPr id="9" name="note_24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SAY IT</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PRONUNCIA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Guided discovery</a:t>
            </a:r>
            <a:endParaRPr lang="en-US" sz="1250" dirty="0"/>
          </a:p>
        </p:txBody>
      </p:sp>
      <p:pic>
        <p:nvPicPr>
          <p:cNvPr id="10" name="logo_2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Pronunciation · final -s and -es   ·   📖 SB p.15 · 3 Pronunciation · audio 2.3, 2.4</a:t>
            </a:r>
            <a:endParaRPr lang="en-US" sz="800" dirty="0"/>
          </a:p>
        </p:txBody>
      </p:sp>
      <p:sp>
        <p:nvSpPr>
          <p:cNvPr id="12" name="cd_247"/>
          <p:cNvSpPr/>
          <p:nvPr/>
        </p:nvSpPr>
        <p:spPr>
          <a:xfrm>
            <a:off x="320040" y="1417320"/>
            <a:ext cx="2697480" cy="1911096"/>
          </a:xfrm>
          <a:prstGeom prst="roundRect">
            <a:avLst>
              <a:gd name="adj" fmla="val 6699"/>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4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49"/>
          <p:cNvSpPr/>
          <p:nvPr/>
        </p:nvSpPr>
        <p:spPr>
          <a:xfrm>
            <a:off x="886968" y="1508760"/>
            <a:ext cx="2057400" cy="36576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100" dirty="0"/>
          </a:p>
        </p:txBody>
      </p:sp>
      <p:sp>
        <p:nvSpPr>
          <p:cNvPr id="15" name="ap_250"/>
          <p:cNvSpPr/>
          <p:nvPr/>
        </p:nvSpPr>
        <p:spPr>
          <a:xfrm>
            <a:off x="365760" y="3465576"/>
            <a:ext cx="260604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6" name="ah_251"/>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9" name="ah_252"/>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20"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21"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22" name="lg_253"/>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3" name="lg_254"/>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4" name="lg_255"/>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5" name="sq_256"/>
          <p:cNvSpPr/>
          <p:nvPr/>
        </p:nvSpPr>
        <p:spPr>
          <a:xfrm>
            <a:off x="3246120" y="141732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6" name="R1_tag257"/>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27" name="sq_258"/>
          <p:cNvSpPr/>
          <p:nvPr/>
        </p:nvSpPr>
        <p:spPr>
          <a:xfrm>
            <a:off x="3246120" y="182880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28" name="R2_tag259"/>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29" name="sq_260"/>
          <p:cNvSpPr/>
          <p:nvPr/>
        </p:nvSpPr>
        <p:spPr>
          <a:xfrm>
            <a:off x="3246120" y="224028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0" name="R3_tag261"/>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1" name="sq_262"/>
          <p:cNvSpPr/>
          <p:nvPr/>
        </p:nvSpPr>
        <p:spPr>
          <a:xfrm>
            <a:off x="3246120" y="265176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2" name="R4_tag263"/>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3" name="sq_264"/>
          <p:cNvSpPr/>
          <p:nvPr/>
        </p:nvSpPr>
        <p:spPr>
          <a:xfrm>
            <a:off x="3246120" y="3063240"/>
            <a:ext cx="3840480" cy="347472"/>
          </a:xfrm>
          <a:prstGeom prst="roundRect">
            <a:avLst>
              <a:gd name="adj" fmla="val 26316"/>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4" name="R5_tag265"/>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5" name="sq_266"/>
          <p:cNvSpPr/>
          <p:nvPr/>
        </p:nvSpPr>
        <p:spPr>
          <a:xfrm>
            <a:off x="3246120" y="3474720"/>
            <a:ext cx="3840480" cy="347472"/>
          </a:xfrm>
          <a:prstGeom prst="roundRect">
            <a:avLst>
              <a:gd name="adj" fmla="val 26316"/>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6" name="R6_tag267"/>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7" name="sq_268"/>
          <p:cNvSpPr/>
          <p:nvPr/>
        </p:nvSpPr>
        <p:spPr>
          <a:xfrm>
            <a:off x="3246120" y="3886200"/>
            <a:ext cx="3840480" cy="347472"/>
          </a:xfrm>
          <a:prstGeom prst="roundRect">
            <a:avLst>
              <a:gd name="adj" fmla="val 26316"/>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38" name="R7_tag269"/>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9" name="sq_270"/>
          <p:cNvSpPr/>
          <p:nvPr/>
        </p:nvSpPr>
        <p:spPr>
          <a:xfrm>
            <a:off x="3246120" y="4297680"/>
            <a:ext cx="3840480" cy="347472"/>
          </a:xfrm>
          <a:prstGeom prst="roundRect">
            <a:avLst>
              <a:gd name="adj" fmla="val 26316"/>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0" name="R8_tag271"/>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0"/>
                                        </p:tgtEl>
                                        <p:attrNameLst>
                                          <p:attrName>style.visibility</p:attrName>
                                        </p:attrNameLst>
                                      </p:cBhvr>
                                      <p:to>
                                        <p:strVal val="visible"/>
                                      </p:to>
                                    </p:set>
                                    <p:animEffect transition="in" filter="fade">
                                      <p:cBhvr>
                                        <p:cTn id="42"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7"/>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7"/>
                                        </p:tgtEl>
                                      </p:cBhvr>
                                    </p:cmd>
                                  </p:childTnLst>
                                </p:cTn>
                              </p:par>
                            </p:childTnLst>
                          </p:cTn>
                        </p:par>
                      </p:childTnLst>
                    </p:cTn>
                  </p:par>
                </p:childTnLst>
              </p:cTn>
              <p:nextCondLst>
                <p:cond evt="onClick" delay="0">
                  <p:tgtEl>
                    <p:spTgt spid="17"/>
                  </p:tgtEl>
                </p:cond>
              </p:nextCondLst>
            </p:seq>
            <p:seq concurrent="1" nextAc="seek">
              <p:cTn id="48" restart="whenNotActive" fill="hold" evtFilter="cancelBubble" nodeType="interactiveSeq">
                <p:stCondLst>
                  <p:cond evt="onClick" delay="0">
                    <p:tgtEl>
                      <p:spTgt spid="18"/>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8"/>
                                        </p:tgtEl>
                                      </p:cBhvr>
                                    </p:cmd>
                                  </p:childTnLst>
                                </p:cTn>
                              </p:par>
                            </p:childTnLst>
                          </p:cTn>
                        </p:par>
                      </p:childTnLst>
                    </p:cTn>
                  </p:par>
                </p:childTnLst>
              </p:cTn>
              <p:nextCondLst>
                <p:cond evt="onClick" delay="0">
                  <p:tgtEl>
                    <p:spTgt spid="18"/>
                  </p:tgtEl>
                </p:cond>
              </p:nextCondLst>
            </p:seq>
            <p:seq concurrent="1" nextAc="seek">
              <p:cTn id="53" restart="whenNotActive" fill="hold" evtFilter="cancelBubble" nodeType="interactiveSeq">
                <p:stCondLst>
                  <p:cond evt="onClick" delay="0">
                    <p:tgtEl>
                      <p:spTgt spid="20"/>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0"/>
                                        </p:tgtEl>
                                      </p:cBhvr>
                                    </p:cmd>
                                  </p:childTnLst>
                                </p:cTn>
                              </p:par>
                            </p:childTnLst>
                          </p:cTn>
                        </p:par>
                      </p:childTnLst>
                    </p:cTn>
                  </p:par>
                </p:childTnLst>
              </p:cTn>
              <p:nextCondLst>
                <p:cond evt="onClick" delay="0">
                  <p:tgtEl>
                    <p:spTgt spid="20"/>
                  </p:tgtEl>
                </p:cond>
              </p:nextCondLst>
            </p:seq>
            <p:seq concurrent="1" nextAc="seek">
              <p:cTn id="58" restart="whenNotActive" fill="hold" evtFilter="cancelBubble" nodeType="interactiveSeq">
                <p:stCondLst>
                  <p:cond evt="onClick" delay="0">
                    <p:tgtEl>
                      <p:spTgt spid="21"/>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1"/>
                                        </p:tgtEl>
                                      </p:cBhvr>
                                    </p:cmd>
                                  </p:childTnLst>
                                </p:cTn>
                              </p:par>
                            </p:childTnLst>
                          </p:cTn>
                        </p:par>
                      </p:childTnLst>
                    </p:cTn>
                  </p:par>
                </p:childTnLst>
              </p:cTn>
              <p:nextCondLst>
                <p:cond evt="onClick" delay="0">
                  <p:tgtEl>
                    <p:spTgt spid="21"/>
                  </p:tgtEl>
                </p:cond>
              </p:nextCondLst>
            </p:seq>
            <p:audio>
              <p:cMediaNode vol="80000">
                <p:cTn id="63" fill="hold" display="0">
                  <p:stCondLst>
                    <p:cond delay="indefinite"/>
                  </p:stCondLst>
                  <p:endCondLst>
                    <p:cond evt="onStopAudio" delay="0">
                      <p:tgtEl>
                        <p:sldTgt/>
                      </p:tgtEl>
                    </p:cond>
                  </p:endCondLst>
                </p:cTn>
                <p:tgtEl>
                  <p:spTgt spid="17"/>
                </p:tgtEl>
              </p:cMediaNode>
            </p:audio>
            <p:audio>
              <p:cMediaNode vol="80000">
                <p:cTn id="64" fill="hold" display="0">
                  <p:stCondLst>
                    <p:cond delay="indefinite"/>
                  </p:stCondLst>
                  <p:endCondLst>
                    <p:cond evt="onStopAudio" delay="0">
                      <p:tgtEl>
                        <p:sldTgt/>
                      </p:tgtEl>
                    </p:cond>
                  </p:endCondLst>
                </p:cTn>
                <p:tgtEl>
                  <p:spTgt spid="18"/>
                </p:tgtEl>
              </p:cMediaNode>
            </p:audio>
            <p:audio>
              <p:cMediaNode vol="80000">
                <p:cTn id="65" fill="hold" display="0">
                  <p:stCondLst>
                    <p:cond delay="indefinite"/>
                  </p:stCondLst>
                  <p:endCondLst>
                    <p:cond evt="onStopAudio" delay="0">
                      <p:tgtEl>
                        <p:sldTgt/>
                      </p:tgtEl>
                    </p:cond>
                  </p:endCondLst>
                </p:cTn>
                <p:tgtEl>
                  <p:spTgt spid="20"/>
                </p:tgtEl>
              </p:cMediaNode>
            </p:audio>
            <p:audio>
              <p:cMediaNode vol="80000">
                <p:cTn id="66" fill="hold" display="0">
                  <p:stCondLst>
                    <p:cond delay="indefinite"/>
                  </p:stCondLst>
                  <p:endCondLst>
                    <p:cond evt="onStopAudio" delay="0">
                      <p:tgtEl>
                        <p:sldTgt/>
                      </p:tgtEl>
                    </p:cond>
                  </p:endCondLst>
                </p:cTn>
                <p:tgtEl>
                  <p:spTgt spid="21"/>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7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76"/>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Completa con in, on o under.</a:t>
            </a:r>
            <a:endParaRPr lang="en-US" sz="950" dirty="0"/>
          </a:p>
        </p:txBody>
      </p:sp>
      <p:sp>
        <p:nvSpPr>
          <p:cNvPr id="9" name="note_27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COMPLETA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27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8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Vocabulary · in, on, under   ·   📖 SB p.15 · 4a (answers: TG)</a:t>
            </a:r>
            <a:endParaRPr lang="en-US" sz="800" dirty="0"/>
          </a:p>
        </p:txBody>
      </p:sp>
      <p:sp>
        <p:nvSpPr>
          <p:cNvPr id="12" name="cd_281"/>
          <p:cNvSpPr/>
          <p:nvPr/>
        </p:nvSpPr>
        <p:spPr>
          <a:xfrm>
            <a:off x="320040" y="1417320"/>
            <a:ext cx="2697480" cy="768096"/>
          </a:xfrm>
          <a:prstGeom prst="roundRect">
            <a:avLst>
              <a:gd name="adj" fmla="val 1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8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284"/>
          <p:cNvSpPr/>
          <p:nvPr/>
        </p:nvSpPr>
        <p:spPr>
          <a:xfrm>
            <a:off x="886968" y="1911096"/>
            <a:ext cx="2039112" cy="201168"/>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The cat is ___ the sofa. → on</a:t>
            </a:r>
            <a:endParaRPr lang="en-US" sz="1000" dirty="0"/>
          </a:p>
        </p:txBody>
      </p:sp>
      <p:sp>
        <p:nvSpPr>
          <p:cNvPr id="16" name="pf_285"/>
          <p:cNvSpPr/>
          <p:nvPr/>
        </p:nvSpPr>
        <p:spPr>
          <a:xfrm rot="-90000">
            <a:off x="365760" y="2774620"/>
            <a:ext cx="2606040" cy="1482495"/>
          </a:xfrm>
          <a:prstGeom prst="roundRect">
            <a:avLst>
              <a:gd name="adj" fmla="val 10486"/>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86" descr="/home/claude/lls-course/v2/cache/red_2a_notebook_jpg_605x335_31.png">    </p:cNvPr>
          <p:cNvPicPr>
            <a:picLocks noChangeAspect="1"/>
          </p:cNvPicPr>
          <p:nvPr/>
        </p:nvPicPr>
        <p:blipFill>
          <a:blip r:embed="rId5"/>
          <a:stretch>
            <a:fillRect/>
          </a:stretch>
        </p:blipFill>
        <p:spPr>
          <a:xfrm rot="-90000">
            <a:off x="411480" y="2820340"/>
            <a:ext cx="2514600" cy="1391055"/>
          </a:xfrm>
          <a:prstGeom prst="rect">
            <a:avLst/>
          </a:prstGeom>
        </p:spPr>
      </p:pic>
      <p:sp>
        <p:nvSpPr>
          <p:cNvPr id="18" name="bd_287"/>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288"/>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glasses are ___ the notebook.</a:t>
            </a:r>
            <a:endParaRPr lang="en-US" sz="1150" dirty="0"/>
          </a:p>
        </p:txBody>
      </p:sp>
      <p:sp>
        <p:nvSpPr>
          <p:cNvPr id="20" name="R1_chip289"/>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on</a:t>
            </a:r>
            <a:endParaRPr lang="en-US" sz="1050" dirty="0"/>
          </a:p>
        </p:txBody>
      </p:sp>
      <p:sp>
        <p:nvSpPr>
          <p:cNvPr id="21" name="bd_290"/>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291"/>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credit cards are ___ the wallet.</a:t>
            </a:r>
            <a:endParaRPr lang="en-US" sz="1150" dirty="0"/>
          </a:p>
        </p:txBody>
      </p:sp>
      <p:sp>
        <p:nvSpPr>
          <p:cNvPr id="23" name="R2_chip292"/>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in</a:t>
            </a:r>
            <a:endParaRPr lang="en-US" sz="1050" dirty="0"/>
          </a:p>
        </p:txBody>
      </p:sp>
      <p:sp>
        <p:nvSpPr>
          <p:cNvPr id="24" name="bd_293"/>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294"/>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The bag is ___ the desk.</a:t>
            </a:r>
            <a:endParaRPr lang="en-US" sz="1150" dirty="0"/>
          </a:p>
        </p:txBody>
      </p:sp>
      <p:sp>
        <p:nvSpPr>
          <p:cNvPr id="26" name="R3_chip295"/>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under</a:t>
            </a:r>
            <a:endParaRPr lang="en-US" sz="1050" dirty="0"/>
          </a:p>
        </p:txBody>
      </p:sp>
      <p:sp>
        <p:nvSpPr>
          <p:cNvPr id="27" name="bd_296"/>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297"/>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Tom's keys are ___ the cat!</a:t>
            </a:r>
            <a:endParaRPr lang="en-US" sz="1150" dirty="0"/>
          </a:p>
        </p:txBody>
      </p:sp>
      <p:sp>
        <p:nvSpPr>
          <p:cNvPr id="29" name="R4_chip298"/>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under</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00"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01"/>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02"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03"/>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00" dirty="0"/>
          </a:p>
        </p:txBody>
      </p:sp>
      <p:sp>
        <p:nvSpPr>
          <p:cNvPr id="8" name="insIT_30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tre persone. Chi parla di ogni luogo: 1, 2 o 3?</a:t>
            </a:r>
            <a:endParaRPr lang="en-US" sz="950" dirty="0"/>
          </a:p>
        </p:txBody>
      </p:sp>
      <p:sp>
        <p:nvSpPr>
          <p:cNvPr id="9" name="note_30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gist</a:t>
            </a:r>
            <a:endParaRPr lang="en-US" sz="1250" dirty="0"/>
          </a:p>
        </p:txBody>
      </p:sp>
      <p:pic>
        <p:nvPicPr>
          <p:cNvPr id="10" name="logo_3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three people   ·   📖 SB p.15 · 5a · audio 2.5 (script SB p.118)</a:t>
            </a:r>
            <a:endParaRPr lang="en-US" sz="800" dirty="0"/>
          </a:p>
        </p:txBody>
      </p:sp>
      <p:sp>
        <p:nvSpPr>
          <p:cNvPr id="12" name="ap_308"/>
          <p:cNvSpPr/>
          <p:nvPr/>
        </p:nvSpPr>
        <p:spPr>
          <a:xfrm>
            <a:off x="365760" y="1417320"/>
            <a:ext cx="26517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3" name="ah_30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1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ah2_311"/>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18" name="pf_312"/>
          <p:cNvSpPr/>
          <p:nvPr/>
        </p:nvSpPr>
        <p:spPr>
          <a:xfrm rot="-90000">
            <a:off x="411480" y="2387661"/>
            <a:ext cx="1783080" cy="665358"/>
          </a:xfrm>
          <a:prstGeom prst="roundRect">
            <a:avLst>
              <a:gd name="adj" fmla="val 2336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13" descr="/home/claude/lls-course/v2/cache/red_2a_rooms_jpg_407x138_31.png">    </p:cNvPr>
          <p:cNvPicPr>
            <a:picLocks noChangeAspect="1"/>
          </p:cNvPicPr>
          <p:nvPr/>
        </p:nvPicPr>
        <p:blipFill>
          <a:blip r:embed="rId11"/>
          <a:stretch>
            <a:fillRect/>
          </a:stretch>
        </p:blipFill>
        <p:spPr>
          <a:xfrm rot="-90000">
            <a:off x="457200" y="2433381"/>
            <a:ext cx="1691640" cy="573918"/>
          </a:xfrm>
          <a:prstGeom prst="rect">
            <a:avLst/>
          </a:prstGeom>
        </p:spPr>
      </p:pic>
      <p:sp>
        <p:nvSpPr>
          <p:cNvPr id="20" name="bd_314"/>
          <p:cNvSpPr/>
          <p:nvPr/>
        </p:nvSpPr>
        <p:spPr>
          <a:xfrm>
            <a:off x="310896" y="2287077"/>
            <a:ext cx="420624" cy="42062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cd_315"/>
          <p:cNvSpPr/>
          <p:nvPr/>
        </p:nvSpPr>
        <p:spPr>
          <a:xfrm>
            <a:off x="365760" y="3611880"/>
            <a:ext cx="5440680" cy="1097280"/>
          </a:xfrm>
          <a:prstGeom prst="roundRect">
            <a:avLst>
              <a:gd name="adj" fmla="val 11667"/>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2" name="ii_31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1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4" name="il_318"/>
          <p:cNvSpPr/>
          <p:nvPr/>
        </p:nvSpPr>
        <p:spPr>
          <a:xfrm>
            <a:off x="932688" y="4105656"/>
            <a:ext cx="4782312" cy="53035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Read the 3 places. A study = a room for work.</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Leggi i 3 luoghi. Study = studio.</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Write 1, 2 or 3.</a:t>
            </a:r>
            <a:endParaRPr lang="en-US" sz="700" dirty="0"/>
          </a:p>
          <a:p>
            <a:pPr marL="152400" indent="-152400">
              <a:spcAft>
                <a:spcPts val="200"/>
              </a:spcAft>
              <a:buSzPct val="100000"/>
              <a:buChar char=" "/>
            </a:pPr>
            <a:r>
              <a:rPr lang="en-US" sz="700" dirty="0">
                <a:solidFill>
                  <a:srgbClr val="5B6785"/>
                </a:solidFill>
                <a:latin typeface="Segoe UI Semibold" pitchFamily="34" charset="0"/>
                <a:ea typeface="Segoe UI Semibold" pitchFamily="34" charset="-122"/>
                <a:cs typeface="Segoe UI Semibold" pitchFamily="34" charset="-120"/>
              </a:rPr>
              <a:t>Ascolta una volta. Scrivi 1, 2 o 3.</a:t>
            </a:r>
            <a:endParaRPr lang="en-US" sz="700" dirty="0"/>
          </a:p>
        </p:txBody>
      </p:sp>
      <p:sp>
        <p:nvSpPr>
          <p:cNvPr id="25" name="lq_319"/>
          <p:cNvSpPr/>
          <p:nvPr/>
        </p:nvSpPr>
        <p:spPr>
          <a:xfrm>
            <a:off x="6035040" y="2103120"/>
            <a:ext cx="1234440" cy="566928"/>
          </a:xfrm>
          <a:prstGeom prst="roundRect">
            <a:avLst>
              <a:gd name="adj" fmla="val 16129"/>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6" name="R1_chip320"/>
          <p:cNvSpPr/>
          <p:nvPr/>
        </p:nvSpPr>
        <p:spPr>
          <a:xfrm>
            <a:off x="7315200" y="2103120"/>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7" name="lq_321"/>
          <p:cNvSpPr/>
          <p:nvPr/>
        </p:nvSpPr>
        <p:spPr>
          <a:xfrm>
            <a:off x="6035040" y="2761488"/>
            <a:ext cx="1234440" cy="566928"/>
          </a:xfrm>
          <a:prstGeom prst="roundRect">
            <a:avLst>
              <a:gd name="adj" fmla="val 16129"/>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28" name="R2_chip322"/>
          <p:cNvSpPr/>
          <p:nvPr/>
        </p:nvSpPr>
        <p:spPr>
          <a:xfrm>
            <a:off x="7315200" y="2761488"/>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29" name="lq_323"/>
          <p:cNvSpPr/>
          <p:nvPr/>
        </p:nvSpPr>
        <p:spPr>
          <a:xfrm>
            <a:off x="6035040" y="3419856"/>
            <a:ext cx="1234440" cy="566928"/>
          </a:xfrm>
          <a:prstGeom prst="roundRect">
            <a:avLst>
              <a:gd name="adj" fmla="val 16129"/>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0" name="R3_chip324"/>
          <p:cNvSpPr/>
          <p:nvPr/>
        </p:nvSpPr>
        <p:spPr>
          <a:xfrm>
            <a:off x="7315200" y="3419856"/>
            <a:ext cx="1554480" cy="566928"/>
          </a:xfrm>
          <a:prstGeom prst="roundRect">
            <a:avLst>
              <a:gd name="adj" fmla="val 16129"/>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2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2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28"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29"/>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3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Riascolta. Scrivi le cose di ogni persona.</a:t>
            </a:r>
            <a:endParaRPr lang="en-US" sz="950" dirty="0"/>
          </a:p>
        </p:txBody>
      </p:sp>
      <p:sp>
        <p:nvSpPr>
          <p:cNvPr id="9" name="note_33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WRITE</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3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Listening · detail   ·   📖 SB p.15 · 5b · audio 2.5</a:t>
            </a:r>
            <a:endParaRPr lang="en-US" sz="800" dirty="0"/>
          </a:p>
        </p:txBody>
      </p:sp>
      <p:sp>
        <p:nvSpPr>
          <p:cNvPr id="12" name="ap_33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3" name="ah_33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33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33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38"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19" name="cd_33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34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4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342"/>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3" name="R1_chip343"/>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150" dirty="0"/>
          </a:p>
        </p:txBody>
      </p:sp>
      <p:sp>
        <p:nvSpPr>
          <p:cNvPr id="24" name="gq_344"/>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5" name="R2_chip345"/>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000" dirty="0"/>
          </a:p>
        </p:txBody>
      </p:sp>
      <p:sp>
        <p:nvSpPr>
          <p:cNvPr id="26" name="gq_346"/>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27" name="R3_chip347"/>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4"/>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4"/>
                                        </p:tgtEl>
                                      </p:cBhvr>
                                    </p:cmd>
                                  </p:childTnLst>
                                </p:cTn>
                              </p:par>
                            </p:childTnLst>
                          </p:cTn>
                        </p:par>
                      </p:childTnLst>
                    </p:cTn>
                  </p:par>
                </p:childTnLst>
              </p:cTn>
              <p:nextCondLst>
                <p:cond evt="onClick" delay="0">
                  <p:tgtEl>
                    <p:spTgt spid="14"/>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4"/>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4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5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400" dirty="0"/>
          </a:p>
        </p:txBody>
      </p:sp>
      <p:pic>
        <p:nvPicPr>
          <p:cNvPr id="6" name="brP_351"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52"/>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10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100" dirty="0"/>
          </a:p>
        </p:txBody>
      </p:sp>
      <p:sp>
        <p:nvSpPr>
          <p:cNvPr id="8" name="insIT_35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Nascondi il telefono (nella tua testa!). Il compagno fa max 5 domande.</a:t>
            </a:r>
            <a:endParaRPr lang="en-US" sz="950" dirty="0"/>
          </a:p>
        </p:txBody>
      </p:sp>
      <p:sp>
        <p:nvSpPr>
          <p:cNvPr id="9" name="note_35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 game</a:t>
            </a:r>
            <a:endParaRPr lang="en-US" sz="1250" dirty="0"/>
          </a:p>
        </p:txBody>
      </p:sp>
      <p:pic>
        <p:nvPicPr>
          <p:cNvPr id="10" name="logo_3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Game · in, on, under</a:t>
            </a:r>
            <a:endParaRPr lang="en-US" sz="800" dirty="0"/>
          </a:p>
        </p:txBody>
      </p:sp>
      <p:sp>
        <p:nvSpPr>
          <p:cNvPr id="12" name="cd_357"/>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5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5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360"/>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A: choose a place for your phone in the room.</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A: scegli un posto per il telefono nell'aula.</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B asks: Is it on the table? Is it under the chair?</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B chiede: Is it on the table? Is it under the chair?</a:t>
            </a:r>
            <a:endParaRPr lang="en-US" sz="850" dirty="0"/>
          </a:p>
          <a:p>
            <a:pPr marL="152400" indent="-152400">
              <a:spcBef>
                <a:spcPts val="600"/>
              </a:spcBef>
              <a:spcAft>
                <a:spcPts val="200"/>
              </a:spcAft>
              <a:buSzPct val="100000"/>
              <a:buChar char="•"/>
            </a:pPr>
            <a:r>
              <a:rPr lang="en-US" sz="850" dirty="0">
                <a:solidFill>
                  <a:srgbClr val="1B2559"/>
                </a:solidFill>
                <a:latin typeface="Segoe UI Semibold" pitchFamily="34" charset="0"/>
                <a:ea typeface="Segoe UI Semibold" pitchFamily="34" charset="-122"/>
                <a:cs typeface="Segoe UI Semibold" pitchFamily="34" charset="-120"/>
              </a:rPr>
              <a:t>Found in 5 questions? B wins. Swap.</a:t>
            </a:r>
            <a:endParaRPr lang="en-US" sz="850" dirty="0"/>
          </a:p>
          <a:p>
            <a:pPr marL="152400" indent="-152400">
              <a:spcAft>
                <a:spcPts val="200"/>
              </a:spcAft>
              <a:buSzPct val="100000"/>
              <a:buChar char=" "/>
            </a:pPr>
            <a:r>
              <a:rPr lang="en-US" sz="850" dirty="0">
                <a:solidFill>
                  <a:srgbClr val="5B6785"/>
                </a:solidFill>
                <a:latin typeface="Segoe UI Semibold" pitchFamily="34" charset="0"/>
                <a:ea typeface="Segoe UI Semibold" pitchFamily="34" charset="-122"/>
                <a:cs typeface="Segoe UI Semibold" pitchFamily="34" charset="-120"/>
              </a:rPr>
              <a:t>Trovato in 5 domande? Vince B. Scambiatevi.</a:t>
            </a:r>
            <a:endParaRPr lang="en-US" sz="850" dirty="0"/>
          </a:p>
        </p:txBody>
      </p:sp>
      <p:sp>
        <p:nvSpPr>
          <p:cNvPr id="16" name="bd_361"/>
          <p:cNvSpPr/>
          <p:nvPr/>
        </p:nvSpPr>
        <p:spPr>
          <a:xfrm>
            <a:off x="3246120" y="1572768"/>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7" name="gq_362"/>
          <p:cNvSpPr/>
          <p:nvPr/>
        </p:nvSpPr>
        <p:spPr>
          <a:xfrm>
            <a:off x="3657600" y="1417320"/>
            <a:ext cx="251460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on the table?</a:t>
            </a:r>
            <a:endParaRPr lang="en-US" sz="1250" dirty="0"/>
          </a:p>
        </p:txBody>
      </p:sp>
      <p:sp>
        <p:nvSpPr>
          <p:cNvPr id="18" name="chip_363"/>
          <p:cNvSpPr/>
          <p:nvPr/>
        </p:nvSpPr>
        <p:spPr>
          <a:xfrm>
            <a:off x="6263640" y="1417320"/>
            <a:ext cx="2560320" cy="640080"/>
          </a:xfrm>
          <a:prstGeom prst="roundRect">
            <a:avLst>
              <a:gd name="adj" fmla="val 14286"/>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 it isn't.</a:t>
            </a:r>
            <a:endParaRPr lang="en-US" sz="1200" dirty="0"/>
          </a:p>
        </p:txBody>
      </p:sp>
      <p:sp>
        <p:nvSpPr>
          <p:cNvPr id="19" name="bd_364"/>
          <p:cNvSpPr/>
          <p:nvPr/>
        </p:nvSpPr>
        <p:spPr>
          <a:xfrm>
            <a:off x="3246120" y="227685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365"/>
          <p:cNvSpPr/>
          <p:nvPr/>
        </p:nvSpPr>
        <p:spPr>
          <a:xfrm>
            <a:off x="3657600" y="2121408"/>
            <a:ext cx="2514600" cy="640080"/>
          </a:xfrm>
          <a:prstGeom prst="roundRect">
            <a:avLst>
              <a:gd name="adj" fmla="val 14286"/>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under the chair?</a:t>
            </a:r>
            <a:endParaRPr lang="en-US" sz="1250" dirty="0"/>
          </a:p>
        </p:txBody>
      </p:sp>
      <p:sp>
        <p:nvSpPr>
          <p:cNvPr id="21" name="R1_chip366"/>
          <p:cNvSpPr/>
          <p:nvPr/>
        </p:nvSpPr>
        <p:spPr>
          <a:xfrm>
            <a:off x="6263640" y="2121408"/>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 it isn't.</a:t>
            </a:r>
            <a:endParaRPr lang="en-US" sz="1200" dirty="0"/>
          </a:p>
        </p:txBody>
      </p:sp>
      <p:sp>
        <p:nvSpPr>
          <p:cNvPr id="22" name="bd_367"/>
          <p:cNvSpPr/>
          <p:nvPr/>
        </p:nvSpPr>
        <p:spPr>
          <a:xfrm>
            <a:off x="3246120" y="298094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368"/>
          <p:cNvSpPr/>
          <p:nvPr/>
        </p:nvSpPr>
        <p:spPr>
          <a:xfrm>
            <a:off x="3657600" y="2825496"/>
            <a:ext cx="2514600" cy="640080"/>
          </a:xfrm>
          <a:prstGeom prst="roundRect">
            <a:avLst>
              <a:gd name="adj" fmla="val 14286"/>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it in your bag?</a:t>
            </a:r>
            <a:endParaRPr lang="en-US" sz="1250" dirty="0"/>
          </a:p>
        </p:txBody>
      </p:sp>
      <p:sp>
        <p:nvSpPr>
          <p:cNvPr id="24" name="R2_chip369"/>
          <p:cNvSpPr/>
          <p:nvPr/>
        </p:nvSpPr>
        <p:spPr>
          <a:xfrm>
            <a:off x="6263640" y="2825496"/>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Yes, it is!</a:t>
            </a:r>
            <a:endParaRPr lang="en-US" sz="1200" dirty="0"/>
          </a:p>
        </p:txBody>
      </p:sp>
      <p:sp>
        <p:nvSpPr>
          <p:cNvPr id="25" name="bd_370"/>
          <p:cNvSpPr/>
          <p:nvPr/>
        </p:nvSpPr>
        <p:spPr>
          <a:xfrm>
            <a:off x="3246120" y="36850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371"/>
          <p:cNvSpPr/>
          <p:nvPr/>
        </p:nvSpPr>
        <p:spPr>
          <a:xfrm>
            <a:off x="3657600" y="3529584"/>
            <a:ext cx="2514600" cy="640080"/>
          </a:xfrm>
          <a:prstGeom prst="roundRect">
            <a:avLst>
              <a:gd name="adj" fmla="val 14286"/>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250" dirty="0"/>
          </a:p>
        </p:txBody>
      </p:sp>
      <p:sp>
        <p:nvSpPr>
          <p:cNvPr id="27" name="R3_chip372"/>
          <p:cNvSpPr/>
          <p:nvPr/>
        </p:nvSpPr>
        <p:spPr>
          <a:xfrm>
            <a:off x="6263640" y="3529584"/>
            <a:ext cx="2560320" cy="640080"/>
          </a:xfrm>
          <a:prstGeom prst="roundRect">
            <a:avLst>
              <a:gd name="adj" fmla="val 14286"/>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3"/>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74"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75"/>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400" dirty="0"/>
          </a:p>
        </p:txBody>
      </p:sp>
      <p:pic>
        <p:nvPicPr>
          <p:cNvPr id="6" name="brP_376"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377"/>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00" dirty="0"/>
          </a:p>
        </p:txBody>
      </p:sp>
      <p:sp>
        <p:nvSpPr>
          <p:cNvPr id="8" name="insIT_3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Cambia la storia! Nuova persona, nuove cose. Raccontala al compagno.</a:t>
            </a:r>
            <a:endParaRPr lang="en-US" sz="950" dirty="0"/>
          </a:p>
        </p:txBody>
      </p:sp>
      <p:sp>
        <p:nvSpPr>
          <p:cNvPr id="9" name="note_379"/>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CHANGE THE WORD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150" dirty="0"/>
          </a:p>
        </p:txBody>
      </p:sp>
      <p:pic>
        <p:nvPicPr>
          <p:cNvPr id="10" name="logo_3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Transform · your story</a:t>
            </a:r>
            <a:endParaRPr lang="en-US" sz="800" dirty="0"/>
          </a:p>
        </p:txBody>
      </p:sp>
      <p:sp>
        <p:nvSpPr>
          <p:cNvPr id="12" name="cd_382"/>
          <p:cNvSpPr/>
          <p:nvPr/>
        </p:nvSpPr>
        <p:spPr>
          <a:xfrm>
            <a:off x="320040" y="1417320"/>
            <a:ext cx="2697480" cy="1170432"/>
          </a:xfrm>
          <a:prstGeom prst="roundRect">
            <a:avLst>
              <a:gd name="adj" fmla="val 109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8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5" name="il_385"/>
          <p:cNvSpPr/>
          <p:nvPr/>
        </p:nvSpPr>
        <p:spPr>
          <a:xfrm>
            <a:off x="886968" y="1911096"/>
            <a:ext cx="2039112" cy="603504"/>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Anna is very untidy. Where are her sunglasses? They aren't in her bag…</a:t>
            </a:r>
            <a:endParaRPr lang="en-US" sz="1050" dirty="0"/>
          </a:p>
        </p:txBody>
      </p:sp>
      <p:sp>
        <p:nvSpPr>
          <p:cNvPr id="16" name="pf_386"/>
          <p:cNvSpPr/>
          <p:nvPr/>
        </p:nvSpPr>
        <p:spPr>
          <a:xfrm rot="-90000">
            <a:off x="365760" y="3244756"/>
            <a:ext cx="2606040" cy="944561"/>
          </a:xfrm>
          <a:prstGeom prst="roundRect">
            <a:avLst>
              <a:gd name="adj" fmla="val 164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387" descr="/home/claude/lls-course/v2/cache/red_2a_rooms_jpg_605x205_31.png">    </p:cNvPr>
          <p:cNvPicPr>
            <a:picLocks noChangeAspect="1"/>
          </p:cNvPicPr>
          <p:nvPr/>
        </p:nvPicPr>
        <p:blipFill>
          <a:blip r:embed="rId5"/>
          <a:stretch>
            <a:fillRect/>
          </a:stretch>
        </p:blipFill>
        <p:spPr>
          <a:xfrm rot="-90000">
            <a:off x="411480" y="3290476"/>
            <a:ext cx="2514600" cy="853121"/>
          </a:xfrm>
          <a:prstGeom prst="rect">
            <a:avLst/>
          </a:prstGeom>
        </p:spPr>
      </p:pic>
      <p:sp>
        <p:nvSpPr>
          <p:cNvPr id="18" name="bd_388"/>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q_389"/>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0" name="R1_chip390"/>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50" dirty="0"/>
          </a:p>
        </p:txBody>
      </p:sp>
      <p:sp>
        <p:nvSpPr>
          <p:cNvPr id="21" name="bd_391"/>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q_392"/>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3" name="R2_chip393"/>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50" dirty="0"/>
          </a:p>
        </p:txBody>
      </p:sp>
      <p:sp>
        <p:nvSpPr>
          <p:cNvPr id="24" name="bd_394"/>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5" name="q_395"/>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places where it ISN'T</a:t>
            </a:r>
            <a:endParaRPr lang="en-US" sz="1150" dirty="0"/>
          </a:p>
        </p:txBody>
      </p:sp>
      <p:sp>
        <p:nvSpPr>
          <p:cNvPr id="26" name="R3_chip396"/>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50" dirty="0"/>
          </a:p>
        </p:txBody>
      </p:sp>
      <p:sp>
        <p:nvSpPr>
          <p:cNvPr id="27" name="bd_397"/>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8" name="q_398"/>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29" name="R4_chip399"/>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They're under the dog! 🐕</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0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0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03"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404"/>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0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al compagno: 5 cose nella tua borsa e dove sono.</a:t>
            </a:r>
            <a:endParaRPr lang="en-US" sz="950" dirty="0"/>
          </a:p>
        </p:txBody>
      </p:sp>
      <p:sp>
        <p:nvSpPr>
          <p:cNvPr id="9" name="note_40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Writing · Communicative</a:t>
            </a:r>
            <a:endParaRPr lang="en-US" sz="1250" dirty="0"/>
          </a:p>
        </p:txBody>
      </p:sp>
      <p:pic>
        <p:nvPicPr>
          <p:cNvPr id="10" name="logo_4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Speaking + writing · your bag</a:t>
            </a:r>
            <a:endParaRPr lang="en-US" sz="800" dirty="0"/>
          </a:p>
        </p:txBody>
      </p:sp>
      <p:sp>
        <p:nvSpPr>
          <p:cNvPr id="12" name="pf_409"/>
          <p:cNvSpPr/>
          <p:nvPr/>
        </p:nvSpPr>
        <p:spPr>
          <a:xfrm rot="-120000">
            <a:off x="758190" y="1371600"/>
            <a:ext cx="19126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10" descr="/home/claude/lls-course/v2/cache/red_2a_untidy_jpg_438x297_31.png">    </p:cNvPr>
          <p:cNvPicPr>
            <a:picLocks noChangeAspect="1"/>
          </p:cNvPicPr>
          <p:nvPr/>
        </p:nvPicPr>
        <p:blipFill>
          <a:blip r:embed="rId5"/>
          <a:stretch>
            <a:fillRect/>
          </a:stretch>
        </p:blipFill>
        <p:spPr>
          <a:xfrm rot="-120000">
            <a:off x="803910" y="1417320"/>
            <a:ext cx="1821180" cy="1234440"/>
          </a:xfrm>
          <a:prstGeom prst="rect">
            <a:avLst/>
          </a:prstGeom>
        </p:spPr>
      </p:pic>
      <p:sp>
        <p:nvSpPr>
          <p:cNvPr id="14" name="cd_411"/>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12"/>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13"/>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414"/>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In my bag I have a…, two…</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My keys are in… · My phone is on…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always lose my…!</a:t>
            </a:r>
            <a:endParaRPr lang="en-US" sz="1150" dirty="0"/>
          </a:p>
        </p:txBody>
      </p:sp>
      <p:sp>
        <p:nvSpPr>
          <p:cNvPr id="18" name="R1_qb415"/>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416"/>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In my bag I have a purse, keys, my phone, tissues and a pen.</a:t>
            </a:r>
            <a:endParaRPr lang="en-US" sz="1200" dirty="0"/>
          </a:p>
        </p:txBody>
      </p:sp>
      <p:sp>
        <p:nvSpPr>
          <p:cNvPr id="20" name="R2_qb417"/>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1" name="R2_sq418"/>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It's untidy – my charger is always on the floor!</a:t>
            </a:r>
            <a:endParaRPr lang="en-US" sz="1200" dirty="0"/>
          </a:p>
        </p:txBody>
      </p:sp>
      <p:sp>
        <p:nvSpPr>
          <p:cNvPr id="22" name="R3_qb419"/>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3" name="R3_sq420"/>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I always lose my sunglasses! They're usually on my head. 😄</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22"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23"/>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24"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25"/>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42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4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Exit · what can you remember?</a:t>
            </a:r>
            <a:endParaRPr lang="en-US" sz="800" dirty="0"/>
          </a:p>
        </p:txBody>
      </p:sp>
      <p:sp>
        <p:nvSpPr>
          <p:cNvPr id="12" name="bd_430"/>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31"/>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of today's 6 things (wallet, purse…)</a:t>
            </a:r>
            <a:endParaRPr lang="en-US" sz="1400" dirty="0"/>
          </a:p>
        </p:txBody>
      </p:sp>
      <p:sp>
        <p:nvSpPr>
          <p:cNvPr id="14" name="bd_432"/>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33"/>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plurals with /ɪz/ (glasses…)</a:t>
            </a:r>
            <a:endParaRPr lang="en-US" sz="1400" dirty="0"/>
          </a:p>
        </p:txBody>
      </p:sp>
      <p:sp>
        <p:nvSpPr>
          <p:cNvPr id="16" name="bd_434"/>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35"/>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sentence: Where are Tom's keys?</a:t>
            </a:r>
            <a:endParaRPr lang="en-US" sz="1400" dirty="0"/>
          </a:p>
        </p:txBody>
      </p:sp>
      <p:sp>
        <p:nvSpPr>
          <p:cNvPr id="18" name="cd_436"/>
          <p:cNvSpPr/>
          <p:nvPr/>
        </p:nvSpPr>
        <p:spPr>
          <a:xfrm>
            <a:off x="5669280" y="1417320"/>
            <a:ext cx="3200400" cy="1837944"/>
          </a:xfrm>
          <a:prstGeom prst="roundRect">
            <a:avLst>
              <a:gd name="adj" fmla="val 696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43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3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39"/>
          <p:cNvSpPr/>
          <p:nvPr/>
        </p:nvSpPr>
        <p:spPr>
          <a:xfrm>
            <a:off x="6236208" y="1911096"/>
            <a:ext cx="2542032" cy="127101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1a, 1b, 2a, 2b, 2c</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2A: 2e (where are the things?)</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Write: 5 things in your bag and where they are</a:t>
            </a:r>
            <a:endParaRPr lang="en-US" sz="1150" dirty="0"/>
          </a:p>
        </p:txBody>
      </p:sp>
      <p:sp>
        <p:nvSpPr>
          <p:cNvPr id="22" name="st_440"/>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4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4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4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44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44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44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44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44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Review · what did you do today?</a:t>
            </a:r>
            <a:endParaRPr lang="en-US" sz="800" dirty="0"/>
          </a:p>
        </p:txBody>
      </p:sp>
      <p:sp>
        <p:nvSpPr>
          <p:cNvPr id="12" name="cd_450"/>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451"/>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452"/>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6 everyday things</a:t>
            </a:r>
            <a:endParaRPr lang="en-US" sz="1350" dirty="0"/>
          </a:p>
        </p:txBody>
      </p:sp>
      <p:sp>
        <p:nvSpPr>
          <p:cNvPr id="15" name="R1_tk453"/>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454"/>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455"/>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456"/>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Told a funny story: Where are Tom's keys?</a:t>
            </a:r>
            <a:endParaRPr lang="en-US" sz="1350" dirty="0"/>
          </a:p>
        </p:txBody>
      </p:sp>
      <p:sp>
        <p:nvSpPr>
          <p:cNvPr id="19" name="R2_tk457"/>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458"/>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459"/>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460"/>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plurals: keys, glasses, watches</a:t>
            </a:r>
            <a:endParaRPr lang="en-US" sz="1350" dirty="0"/>
          </a:p>
        </p:txBody>
      </p:sp>
      <p:sp>
        <p:nvSpPr>
          <p:cNvPr id="23" name="R3_tk461"/>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462"/>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463"/>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464"/>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Said where things are: in, on, under</a:t>
            </a:r>
            <a:endParaRPr lang="en-US" sz="1350" dirty="0"/>
          </a:p>
        </p:txBody>
      </p:sp>
      <p:sp>
        <p:nvSpPr>
          <p:cNvPr id="27" name="R4_tk465"/>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st_466"/>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467"/>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468"/>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469"/>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470"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1"/>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472"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73"/>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47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7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7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Clicca un altoparlante per l'audio del libro.</a:t>
            </a:r>
            <a:endParaRPr lang="en-US" sz="950" dirty="0"/>
          </a:p>
        </p:txBody>
      </p:sp>
      <p:sp>
        <p:nvSpPr>
          <p:cNvPr id="9" name="note_477"/>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ASCOLTA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whole class</a:t>
            </a:r>
            <a:endParaRPr lang="en-US" sz="1250" dirty="0"/>
          </a:p>
        </p:txBody>
      </p:sp>
      <p:pic>
        <p:nvPicPr>
          <p:cNvPr id="10" name="logo_4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2A · Book audio · 2A</a:t>
            </a:r>
            <a:endParaRPr lang="en-US" sz="800" dirty="0"/>
          </a:p>
        </p:txBody>
      </p:sp>
      <p:sp>
        <p:nvSpPr>
          <p:cNvPr id="12" name="ext_480"/>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481"/>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82"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483"/>
          <p:cNvSpPr/>
          <p:nvPr/>
        </p:nvSpPr>
        <p:spPr>
          <a:xfrm>
            <a:off x="320040" y="3383280"/>
            <a:ext cx="2743200" cy="1130808"/>
          </a:xfrm>
          <a:prstGeom prst="roundRect">
            <a:avLst>
              <a:gd name="adj" fmla="val 1132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484"/>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5"/>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8" name="il_486"/>
          <p:cNvSpPr/>
          <p:nvPr/>
        </p:nvSpPr>
        <p:spPr>
          <a:xfrm>
            <a:off x="886968" y="3877056"/>
            <a:ext cx="2084832" cy="5638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2.1 = all 30 'Things' words (Vocabulary Bank p.151)</a:t>
            </a:r>
            <a:endParaRPr lang="en-US" sz="1050" dirty="0"/>
          </a:p>
        </p:txBody>
      </p:sp>
      <p:sp>
        <p:nvSpPr>
          <p:cNvPr id="19" name="ab_487"/>
          <p:cNvSpPr/>
          <p:nvPr/>
        </p:nvSpPr>
        <p:spPr>
          <a:xfrm>
            <a:off x="3246120" y="1417320"/>
            <a:ext cx="4983480" cy="457200"/>
          </a:xfrm>
          <a:prstGeom prst="roundRect">
            <a:avLst>
              <a:gd name="adj" fmla="val 24000"/>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0"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0"/>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0"/>
                                        </p:tgtEl>
                                      </p:cBhvr>
                                    </p:cmd>
                                  </p:childTnLst>
                                </p:cTn>
                              </p:par>
                            </p:childTnLst>
                          </p:cTn>
                        </p:par>
                      </p:childTnLst>
                    </p:cTn>
                  </p:par>
                </p:childTnLst>
              </p:cTn>
              <p:nextCondLst>
                <p:cond evt="onClick" delay="0">
                  <p:tgtEl>
                    <p:spTgt spid="20"/>
                  </p:tgtEl>
                </p:cond>
              </p:nextCondLst>
            </p:seq>
            <p:audio>
              <p:cMediaNode vol="80000">
                <p:cTn id="8" fill="hold" display="0">
                  <p:stCondLst>
                    <p:cond delay="indefinite"/>
                  </p:stCondLst>
                  <p:endCondLst>
                    <p:cond evt="onStopAudio" delay="0">
                      <p:tgtEl>
                        <p:sldTgt/>
                      </p:tgtEl>
                    </p:cond>
                  </p:endCondLst>
                </p:cTn>
                <p:tgtEl>
                  <p:spTgt spid="20"/>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2026-10-21T09:56:19Z</dcterms:created>
  <dcterms:modified xsi:type="dcterms:W3CDTF">2026-10-21T09:56:19Z</dcterms:modified>
</cp:coreProperties>
</file>