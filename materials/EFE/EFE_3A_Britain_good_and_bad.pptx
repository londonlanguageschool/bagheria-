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TG: elicit ideas for 'Britain' and write them on the board. Speech bubbles p.22: 'It rains a lot here.' – 'Yes, but it doesn't rain every 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Words: ⭐ ⭐⭐ ⭐⭐⭐. Grammar: students make their own imperative + Let's first.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verb phrases (3 min)
SOUNDS (3 min). Play 3.1 (sound effects). The first is the example. Key (TG): 1 speak German 2 drink mineral water 3 watch TV 4 play the guitar 5 like animals.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Vocabulary Bank p.153 · verb phrases (1) (4 min)
VB 1 (4 min). Play 3.2 (it IS in our files) to check and drill. TG: have = possessions AND food/drink (have a coffee, have breakfast); eat = only food. take an umbrella ≠ carry.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Bank p.153 · verb phrases (2) (2 min)
VB 2 + 1c (3 min). Lines 4–6 = audio 3.3: play, pause, the class says the phrase ('TV' → 'watch TV'). TG extra challenge: pairs, A says 'dinner', B (book closed) says 'cook dinner'.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What the British like about Britain (5 min)
ARTICLE (5 min). 1 is the example. Then play 3.4 to listen and check (from the book audio / portal – it isn't on this slide). Key (TG): 2 the language 3 gardens 4 the freedom 5 the BBC 6 pubs 7 the weather 8 Indian food. The present simple is highlighted in the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present simple + and − (4 min)
RULE (4 min). SB 2c: 1 phrases 7 and 8 end in -s: third person (he, she, it) · 2 I don't have, it doesn't rain – don't with I/you/we/they, doesn't with he/she/it (TG). TG: the pronoun is NOT optional in English (Italian: 'vive' / English: 'she lives'). Use Italian to talk about the grammar if needed (TG).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Bank 3A p.129 · a (5 min)
GRAMMAR BANK a (5 min). The TG answers; prompts written from them in the Grammar Bank style. Read the sentences aloud with rhythm: We live in a flat. We don't study French.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choose the right option (4 min)
CHOOSE (4 min). The first is the example. Same verbs as Grammar Bank b (doesn't work, reads, speak, don't play, wears, listen, don't eat, has).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third person -s (4 min)
-S (4 min). Play 3.6: listen, then listen and repeat. TG: /s/ after k, p, f, t (works, stops); /ɪz/ after ch, sh, s, x, ge (watches, finishes, closes); the rest /z/. Most important: /ɪz/ in the right place – lives is NOT /lɪvɪz/!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Speaking · about you (5 min)
ABOUT YOU (6 min). Demonstrate with yourself first (TG). Listen for he / she + s and doesn't + verb. Feedback from 3–4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Reading · What foreigners who live in Britain think (1) (4 min)
READING 1 (4 min). Teach foreigner (= a person from another country). TG: a real (adapted) newspaper article – they CAN read it! Click once per person: ✓/✗ + the words that 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Reading · What foreigners who live in Britain think (2) (4 min)
READING 2 (4 min). Key (TG): Erdal ✗ · Khalal ✗ · Camille ✓ · Shurooq ✓ · Michelle ✓ · Lian Tang ✓✗.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Reading · detail (4 min)
DETAIL (4 min). The 7 sentences exactly as in the book (look back at the two reading slides). Key (TG). 4c: everything = all things · everybody = all people · everywhere = all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my country (5 min)
MY COUNTRY (5 min). The book's example is line 1. Teach because /bɪˈkɒz/ and favourite /ˈfeɪvərɪt/. Use because to answer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Pronunciation · drill (3 min)
DRILL (3 min). Play 3.7, pausing after each prompt. Chorus first, then individuals.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audio" Target="../media/media-3-5.mp3"/><Relationship Id="rId6" Type="http://schemas.microsoft.com/office/2007/relationships/media" Target="../media/media-3-5.mp3"/><Relationship Id="rId7" Type="http://schemas.openxmlformats.org/officeDocument/2006/relationships/image" Target="../media/image-3-7.png"/><Relationship Id="rId8" Type="http://schemas.openxmlformats.org/officeDocument/2006/relationships/audio" Target="../media/media-3-8.mp3"/><Relationship Id="rId9" Type="http://schemas.microsoft.com/office/2007/relationships/media" Target="../media/media-3-8.mp3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audio" Target="../media/media-4-5.mp3"/><Relationship Id="rId6" Type="http://schemas.microsoft.com/office/2007/relationships/media" Target="../media/media-4-5.mp3"/><Relationship Id="rId7" Type="http://schemas.openxmlformats.org/officeDocument/2006/relationships/image" Target="../media/image-4-7.png"/><Relationship Id="rId8" Type="http://schemas.openxmlformats.org/officeDocument/2006/relationships/audio" Target="../media/media-4-8.mp3"/><Relationship Id="rId9" Type="http://schemas.microsoft.com/office/2007/relationships/media" Target="../media/media-4-8.mp3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audio" Target="../media/media-5-5.mp3"/><Relationship Id="rId6" Type="http://schemas.microsoft.com/office/2007/relationships/media" Target="../media/media-5-5.mp3"/><Relationship Id="rId7" Type="http://schemas.openxmlformats.org/officeDocument/2006/relationships/image" Target="../media/image-5-7.png"/><Relationship Id="rId8" Type="http://schemas.openxmlformats.org/officeDocument/2006/relationships/audio" Target="../media/media-5-8.mp3"/><Relationship Id="rId9" Type="http://schemas.microsoft.com/office/2007/relationships/media" Target="../media/media-5-8.mp3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audio" Target="../media/media-10-5.mp3"/><Relationship Id="rId6" Type="http://schemas.microsoft.com/office/2007/relationships/media" Target="../media/media-10-5.mp3"/><Relationship Id="rId7" Type="http://schemas.openxmlformats.org/officeDocument/2006/relationships/image" Target="../media/image-10-7.png"/><Relationship Id="rId8" Type="http://schemas.openxmlformats.org/officeDocument/2006/relationships/audio" Target="../media/media-10-8.mp3"/><Relationship Id="rId9" Type="http://schemas.microsoft.com/office/2007/relationships/media" Target="../media/media-10-8.mp3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audio" Target="../media/media-19-5.mp3"/><Relationship Id="rId6" Type="http://schemas.microsoft.com/office/2007/relationships/media" Target="../media/media-19-5.mp3"/><Relationship Id="rId7" Type="http://schemas.openxmlformats.org/officeDocument/2006/relationships/image" Target="../media/image-19-7.png"/><Relationship Id="rId8" Type="http://schemas.openxmlformats.org/officeDocument/2006/relationships/audio" Target="../media/media-19-8.mp3"/><Relationship Id="rId9" Type="http://schemas.microsoft.com/office/2007/relationships/media" Target="../media/media-19-8.mp3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pp.22–23 · VB p.153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3A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Britain: the good and the bad</a:t>
            </a:r>
            <a:endParaRPr lang="en-US" sz="19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+ and − · verb phrases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🎸  learn 24 verb phrases: play the guitar, wear glasses…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what Carola likes about Britain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➕  use the present simple: I live / she lives / he doesn't…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🐍  say -s: works /s/, lives /z/, watches /ɪz/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🇬🇧  read what foreigners think of Britain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Rain, tea, London, the Queen… and fish and chips!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1273283"/>
            <a:ext cx="3977640" cy="2208313"/>
          </a:xfrm>
          <a:prstGeom prst="roundRect">
            <a:avLst>
              <a:gd name="adj" fmla="val 70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3a_cornwall_jpg_935x509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1319003"/>
            <a:ext cx="3886200" cy="2116873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do you think of when you hear the word 'Britain'?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673486"/>
            <a:ext cx="2651760" cy="1042147"/>
          </a:xfrm>
          <a:prstGeom prst="roundRect">
            <a:avLst>
              <a:gd name="adj" fmla="val 149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r12_centralpark_jpg_616x2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719206"/>
            <a:ext cx="2560320" cy="950707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Revise and Check 1&amp;2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· a / an · adjectives · imperatives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sunglasses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617720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wallet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641848" y="1783080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926580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cheap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7863840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tidy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185416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stressed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4443984" y="2185416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Switzerland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5902452" y="2185416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Let's…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2642616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172968"/>
            <a:ext cx="5623560" cy="158191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2461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imperatives + Let's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593592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an advice · an instruction · a suggestion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3922776"/>
            <a:ext cx="5349240" cy="75895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rent a car in New York.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Let's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stop at the café.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the sound?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teacher. Which verb phrase is it?</a:t>
            </a:r>
            <a:endParaRPr lang="en-US" sz="125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l'insegnante. Quale espressione è?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Communicative game</a:t>
            </a:r>
            <a:endParaRPr lang="en-US" sz="11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· verb phrases   ·   📖 SB p.22 · 1a · audio 3.1 (sound effects – TG)</a:t>
            </a:r>
            <a:endParaRPr lang="en-US" sz="8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2697480" cy="2502408"/>
          </a:xfrm>
          <a:prstGeom prst="roundRect">
            <a:avLst>
              <a:gd name="adj" fmla="val 511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8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59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60"/>
          <p:cNvSpPr/>
          <p:nvPr/>
        </p:nvSpPr>
        <p:spPr>
          <a:xfrm>
            <a:off x="886968" y="1911096"/>
            <a:ext cx="2039112" cy="193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teacher makes a sound or says a line.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team to say the verb phrase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drink mineral water · like animals · watch TV · play the guitar · speak German</a:t>
            </a:r>
            <a:endParaRPr lang="en-US" sz="1200" dirty="0"/>
          </a:p>
        </p:txBody>
      </p:sp>
      <p:sp>
        <p:nvSpPr>
          <p:cNvPr id="16" name="ap_61"/>
          <p:cNvSpPr/>
          <p:nvPr/>
        </p:nvSpPr>
        <p:spPr>
          <a:xfrm>
            <a:off x="365760" y="4102608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3.1</a:t>
            </a:r>
            <a:endParaRPr lang="en-US" sz="1100" dirty="0"/>
          </a:p>
        </p:txBody>
      </p:sp>
      <p:sp>
        <p:nvSpPr>
          <p:cNvPr id="17" name="ah_62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8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9" name="ah_63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0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1" name="bd_64"/>
          <p:cNvSpPr/>
          <p:nvPr/>
        </p:nvSpPr>
        <p:spPr>
          <a:xfrm>
            <a:off x="3246120" y="1545336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2" name="gq_65"/>
          <p:cNvSpPr/>
          <p:nvPr/>
        </p:nvSpPr>
        <p:spPr>
          <a:xfrm>
            <a:off x="3657600" y="1417320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'Guten Tag. Wie geht's?'</a:t>
            </a:r>
            <a:endParaRPr lang="en-US" sz="1250" dirty="0"/>
          </a:p>
        </p:txBody>
      </p:sp>
      <p:sp>
        <p:nvSpPr>
          <p:cNvPr id="23" name="chip_66"/>
          <p:cNvSpPr/>
          <p:nvPr/>
        </p:nvSpPr>
        <p:spPr>
          <a:xfrm>
            <a:off x="6263640" y="1417320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speak German</a:t>
            </a:r>
            <a:endParaRPr lang="en-US" sz="1200" dirty="0"/>
          </a:p>
        </p:txBody>
      </p:sp>
      <p:sp>
        <p:nvSpPr>
          <p:cNvPr id="24" name="bd_67"/>
          <p:cNvSpPr/>
          <p:nvPr/>
        </p:nvSpPr>
        <p:spPr>
          <a:xfrm>
            <a:off x="3246120" y="2194560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gq_68"/>
          <p:cNvSpPr/>
          <p:nvPr/>
        </p:nvSpPr>
        <p:spPr>
          <a:xfrm>
            <a:off x="3657600" y="2066544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(glass of water: glug glug…)</a:t>
            </a:r>
            <a:endParaRPr lang="en-US" sz="1250" dirty="0"/>
          </a:p>
        </p:txBody>
      </p:sp>
      <p:sp>
        <p:nvSpPr>
          <p:cNvPr id="26" name="R1_chip69"/>
          <p:cNvSpPr/>
          <p:nvPr/>
        </p:nvSpPr>
        <p:spPr>
          <a:xfrm>
            <a:off x="6263640" y="2066544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drink mineral water</a:t>
            </a:r>
            <a:endParaRPr lang="en-US" sz="1200" dirty="0"/>
          </a:p>
        </p:txBody>
      </p:sp>
      <p:sp>
        <p:nvSpPr>
          <p:cNvPr id="27" name="bd_70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gq_71"/>
          <p:cNvSpPr/>
          <p:nvPr/>
        </p:nvSpPr>
        <p:spPr>
          <a:xfrm>
            <a:off x="3657600" y="2715768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(TV news music: dum-dum-dum…)</a:t>
            </a:r>
            <a:endParaRPr lang="en-US" sz="1250" dirty="0"/>
          </a:p>
        </p:txBody>
      </p:sp>
      <p:sp>
        <p:nvSpPr>
          <p:cNvPr id="29" name="R2_chip72"/>
          <p:cNvSpPr/>
          <p:nvPr/>
        </p:nvSpPr>
        <p:spPr>
          <a:xfrm>
            <a:off x="6263640" y="2715768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watch TV</a:t>
            </a:r>
            <a:endParaRPr lang="en-US" sz="1200" dirty="0"/>
          </a:p>
        </p:txBody>
      </p:sp>
      <p:sp>
        <p:nvSpPr>
          <p:cNvPr id="30" name="bd_73"/>
          <p:cNvSpPr/>
          <p:nvPr/>
        </p:nvSpPr>
        <p:spPr>
          <a:xfrm>
            <a:off x="3246120" y="3493008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gq_74"/>
          <p:cNvSpPr/>
          <p:nvPr/>
        </p:nvSpPr>
        <p:spPr>
          <a:xfrm>
            <a:off x="3657600" y="3364992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(guitar: strum strum…)</a:t>
            </a:r>
            <a:endParaRPr lang="en-US" sz="1250" dirty="0"/>
          </a:p>
        </p:txBody>
      </p:sp>
      <p:sp>
        <p:nvSpPr>
          <p:cNvPr id="32" name="R3_chip75"/>
          <p:cNvSpPr/>
          <p:nvPr/>
        </p:nvSpPr>
        <p:spPr>
          <a:xfrm>
            <a:off x="6263640" y="3364992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play the guitar</a:t>
            </a:r>
            <a:endParaRPr lang="en-US" sz="1200" dirty="0"/>
          </a:p>
        </p:txBody>
      </p:sp>
      <p:sp>
        <p:nvSpPr>
          <p:cNvPr id="33" name="bd_76"/>
          <p:cNvSpPr/>
          <p:nvPr/>
        </p:nvSpPr>
        <p:spPr>
          <a:xfrm>
            <a:off x="3246120" y="41422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gq_77"/>
          <p:cNvSpPr/>
          <p:nvPr/>
        </p:nvSpPr>
        <p:spPr>
          <a:xfrm>
            <a:off x="3657600" y="4014216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(woof woof! miaow!)</a:t>
            </a:r>
            <a:endParaRPr lang="en-US" sz="1250" dirty="0"/>
          </a:p>
        </p:txBody>
      </p:sp>
      <p:sp>
        <p:nvSpPr>
          <p:cNvPr id="35" name="R4_chip78"/>
          <p:cNvSpPr/>
          <p:nvPr/>
        </p:nvSpPr>
        <p:spPr>
          <a:xfrm>
            <a:off x="6263640" y="4014216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like animals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8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phrases (1)</a:t>
            </a:r>
            <a:endParaRPr lang="en-US" sz="2500" dirty="0"/>
          </a:p>
        </p:txBody>
      </p:sp>
      <p:pic>
        <p:nvPicPr>
          <p:cNvPr id="6" name="brP_8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8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match the verbs and the words. Say the phrase!</a:t>
            </a:r>
            <a:endParaRPr lang="en-US" sz="1100" dirty="0"/>
          </a:p>
        </p:txBody>
      </p:sp>
      <p:sp>
        <p:nvSpPr>
          <p:cNvPr id="8" name="insIT_8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abbina i verbi e le parole. Di' l'espressione!</a:t>
            </a:r>
            <a:endParaRPr lang="en-US" sz="950" dirty="0"/>
          </a:p>
        </p:txBody>
      </p:sp>
      <p:sp>
        <p:nvSpPr>
          <p:cNvPr id="9" name="note_8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8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Bank p.153 · verb phrases (1)   ·   📖 VB p.153 · Verb phrases · audio 3.2</a:t>
            </a:r>
            <a:endParaRPr lang="en-US" sz="800" dirty="0"/>
          </a:p>
        </p:txBody>
      </p:sp>
      <p:sp>
        <p:nvSpPr>
          <p:cNvPr id="12" name="ap_88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3.2</a:t>
            </a:r>
            <a:endParaRPr lang="en-US" sz="1100" dirty="0"/>
          </a:p>
        </p:txBody>
      </p:sp>
      <p:sp>
        <p:nvSpPr>
          <p:cNvPr id="13" name="ah_89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90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bd_91"/>
          <p:cNvSpPr/>
          <p:nvPr/>
        </p:nvSpPr>
        <p:spPr>
          <a:xfrm>
            <a:off x="320040" y="144072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92"/>
          <p:cNvSpPr/>
          <p:nvPr/>
        </p:nvSpPr>
        <p:spPr>
          <a:xfrm>
            <a:off x="70408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cook · dinner</a:t>
            </a:r>
            <a:endParaRPr lang="en-US" sz="1200" dirty="0"/>
          </a:p>
        </p:txBody>
      </p:sp>
      <p:sp>
        <p:nvSpPr>
          <p:cNvPr id="19" name="R1_chip93"/>
          <p:cNvSpPr/>
          <p:nvPr/>
        </p:nvSpPr>
        <p:spPr>
          <a:xfrm>
            <a:off x="70408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 dinner</a:t>
            </a:r>
            <a:endParaRPr lang="en-US" sz="1150" dirty="0"/>
          </a:p>
        </p:txBody>
      </p:sp>
      <p:sp>
        <p:nvSpPr>
          <p:cNvPr id="20" name="bd_94"/>
          <p:cNvSpPr/>
          <p:nvPr/>
        </p:nvSpPr>
        <p:spPr>
          <a:xfrm>
            <a:off x="320040" y="2562393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95"/>
          <p:cNvSpPr/>
          <p:nvPr/>
        </p:nvSpPr>
        <p:spPr>
          <a:xfrm>
            <a:off x="70408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· exercise / housework / homework</a:t>
            </a:r>
            <a:endParaRPr lang="en-US" sz="1200" dirty="0"/>
          </a:p>
        </p:txBody>
      </p:sp>
      <p:sp>
        <p:nvSpPr>
          <p:cNvPr id="22" name="R2_chip96"/>
          <p:cNvSpPr/>
          <p:nvPr/>
        </p:nvSpPr>
        <p:spPr>
          <a:xfrm>
            <a:off x="70408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exercise · do housework · do homework</a:t>
            </a:r>
            <a:endParaRPr lang="en-US" sz="1150" dirty="0"/>
          </a:p>
        </p:txBody>
      </p:sp>
      <p:sp>
        <p:nvSpPr>
          <p:cNvPr id="23" name="bd_97"/>
          <p:cNvSpPr/>
          <p:nvPr/>
        </p:nvSpPr>
        <p:spPr>
          <a:xfrm>
            <a:off x="320040" y="368405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98"/>
          <p:cNvSpPr/>
          <p:nvPr/>
        </p:nvSpPr>
        <p:spPr>
          <a:xfrm>
            <a:off x="70408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drink · drive · eat</a:t>
            </a:r>
            <a:endParaRPr lang="en-US" sz="1200" dirty="0"/>
          </a:p>
        </p:txBody>
      </p:sp>
      <p:sp>
        <p:nvSpPr>
          <p:cNvPr id="25" name="R3_chip99"/>
          <p:cNvSpPr/>
          <p:nvPr/>
        </p:nvSpPr>
        <p:spPr>
          <a:xfrm>
            <a:off x="70408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drink mineral water · drive a car · eat vegetables</a:t>
            </a:r>
            <a:endParaRPr lang="en-US" sz="1150" dirty="0"/>
          </a:p>
        </p:txBody>
      </p:sp>
      <p:sp>
        <p:nvSpPr>
          <p:cNvPr id="26" name="bd_100"/>
          <p:cNvSpPr/>
          <p:nvPr/>
        </p:nvSpPr>
        <p:spPr>
          <a:xfrm>
            <a:off x="4709160" y="1440729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101"/>
          <p:cNvSpPr/>
          <p:nvPr/>
        </p:nvSpPr>
        <p:spPr>
          <a:xfrm>
            <a:off x="509320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· have · like</a:t>
            </a:r>
            <a:endParaRPr lang="en-US" sz="1200" dirty="0"/>
          </a:p>
        </p:txBody>
      </p:sp>
      <p:sp>
        <p:nvSpPr>
          <p:cNvPr id="28" name="R4_chip102"/>
          <p:cNvSpPr/>
          <p:nvPr/>
        </p:nvSpPr>
        <p:spPr>
          <a:xfrm>
            <a:off x="509320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to the cinema · have a garden · like animals</a:t>
            </a:r>
            <a:endParaRPr lang="en-US" sz="1150" dirty="0"/>
          </a:p>
        </p:txBody>
      </p:sp>
      <p:sp>
        <p:nvSpPr>
          <p:cNvPr id="29" name="bd_103"/>
          <p:cNvSpPr/>
          <p:nvPr/>
        </p:nvSpPr>
        <p:spPr>
          <a:xfrm>
            <a:off x="4709160" y="256239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104"/>
          <p:cNvSpPr/>
          <p:nvPr/>
        </p:nvSpPr>
        <p:spPr>
          <a:xfrm>
            <a:off x="509320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· live · need</a:t>
            </a:r>
            <a:endParaRPr lang="en-US" sz="1200" dirty="0"/>
          </a:p>
        </p:txBody>
      </p:sp>
      <p:sp>
        <p:nvSpPr>
          <p:cNvPr id="31" name="R5_chip105"/>
          <p:cNvSpPr/>
          <p:nvPr/>
        </p:nvSpPr>
        <p:spPr>
          <a:xfrm>
            <a:off x="509320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music · live in a flat · need a new phone</a:t>
            </a:r>
            <a:endParaRPr lang="en-US" sz="1150" dirty="0"/>
          </a:p>
        </p:txBody>
      </p:sp>
      <p:sp>
        <p:nvSpPr>
          <p:cNvPr id="32" name="bd_106"/>
          <p:cNvSpPr/>
          <p:nvPr/>
        </p:nvSpPr>
        <p:spPr>
          <a:xfrm>
            <a:off x="4709160" y="3684057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107"/>
          <p:cNvSpPr/>
          <p:nvPr/>
        </p:nvSpPr>
        <p:spPr>
          <a:xfrm>
            <a:off x="509320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· read · say</a:t>
            </a:r>
            <a:endParaRPr lang="en-US" sz="1200" dirty="0"/>
          </a:p>
        </p:txBody>
      </p:sp>
      <p:sp>
        <p:nvSpPr>
          <p:cNvPr id="34" name="R6_chip108"/>
          <p:cNvSpPr/>
          <p:nvPr/>
        </p:nvSpPr>
        <p:spPr>
          <a:xfrm>
            <a:off x="509320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play the guitar · play tennis · read a book · say sorry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0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11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 phrases (2)</a:t>
            </a:r>
            <a:endParaRPr lang="en-US" sz="2500" dirty="0"/>
          </a:p>
        </p:txBody>
      </p:sp>
      <p:pic>
        <p:nvPicPr>
          <p:cNvPr id="6" name="brP_11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113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say the whole phrase!</a:t>
            </a:r>
            <a:endParaRPr lang="en-US" sz="1250" dirty="0"/>
          </a:p>
        </p:txBody>
      </p:sp>
      <p:sp>
        <p:nvSpPr>
          <p:cNvPr id="8" name="insIT_11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di' l'espressione intera!</a:t>
            </a:r>
            <a:endParaRPr lang="en-US" sz="950" dirty="0"/>
          </a:p>
        </p:txBody>
      </p:sp>
      <p:sp>
        <p:nvSpPr>
          <p:cNvPr id="9" name="note_11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1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Bank p.153 · verb phrases (2)   ·   📖 VB p.153 + SB p.22 · 1c · audio 3.3 (TG script)</a:t>
            </a:r>
            <a:endParaRPr lang="en-US" sz="800" dirty="0"/>
          </a:p>
        </p:txBody>
      </p:sp>
      <p:sp>
        <p:nvSpPr>
          <p:cNvPr id="12" name="ap_118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3.3</a:t>
            </a:r>
            <a:endParaRPr lang="en-US" sz="1100" dirty="0"/>
          </a:p>
        </p:txBody>
      </p:sp>
      <p:sp>
        <p:nvSpPr>
          <p:cNvPr id="13" name="ah_119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4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5" name="ah_120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7" name="bd_121"/>
          <p:cNvSpPr/>
          <p:nvPr/>
        </p:nvSpPr>
        <p:spPr>
          <a:xfrm>
            <a:off x="320040" y="144072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q_122"/>
          <p:cNvSpPr/>
          <p:nvPr/>
        </p:nvSpPr>
        <p:spPr>
          <a:xfrm>
            <a:off x="70408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 · study · take</a:t>
            </a:r>
            <a:endParaRPr lang="en-US" sz="1100" dirty="0"/>
          </a:p>
        </p:txBody>
      </p:sp>
      <p:sp>
        <p:nvSpPr>
          <p:cNvPr id="19" name="R1_chip123"/>
          <p:cNvSpPr/>
          <p:nvPr/>
        </p:nvSpPr>
        <p:spPr>
          <a:xfrm>
            <a:off x="70408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speak German · study history · take an umbrella</a:t>
            </a:r>
            <a:endParaRPr lang="en-US" sz="1150" dirty="0"/>
          </a:p>
        </p:txBody>
      </p:sp>
      <p:sp>
        <p:nvSpPr>
          <p:cNvPr id="20" name="bd_124"/>
          <p:cNvSpPr/>
          <p:nvPr/>
        </p:nvSpPr>
        <p:spPr>
          <a:xfrm>
            <a:off x="320040" y="2562393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q_125"/>
          <p:cNvSpPr/>
          <p:nvPr/>
        </p:nvSpPr>
        <p:spPr>
          <a:xfrm>
            <a:off x="70408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want · watch · wear</a:t>
            </a:r>
            <a:endParaRPr lang="en-US" sz="1100" dirty="0"/>
          </a:p>
        </p:txBody>
      </p:sp>
      <p:sp>
        <p:nvSpPr>
          <p:cNvPr id="22" name="R2_chip126"/>
          <p:cNvSpPr/>
          <p:nvPr/>
        </p:nvSpPr>
        <p:spPr>
          <a:xfrm>
            <a:off x="70408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want a coffee · watch TV · wear glasses</a:t>
            </a:r>
            <a:endParaRPr lang="en-US" sz="1150" dirty="0"/>
          </a:p>
        </p:txBody>
      </p:sp>
      <p:sp>
        <p:nvSpPr>
          <p:cNvPr id="23" name="bd_127"/>
          <p:cNvSpPr/>
          <p:nvPr/>
        </p:nvSpPr>
        <p:spPr>
          <a:xfrm>
            <a:off x="320040" y="368405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q_128"/>
          <p:cNvSpPr/>
          <p:nvPr/>
        </p:nvSpPr>
        <p:spPr>
          <a:xfrm>
            <a:off x="70408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</a:t>
            </a:r>
            <a:endParaRPr lang="en-US" sz="1100" dirty="0"/>
          </a:p>
        </p:txBody>
      </p:sp>
      <p:sp>
        <p:nvSpPr>
          <p:cNvPr id="25" name="R3_chip129"/>
          <p:cNvSpPr/>
          <p:nvPr/>
        </p:nvSpPr>
        <p:spPr>
          <a:xfrm>
            <a:off x="70408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 in an office</a:t>
            </a:r>
            <a:endParaRPr lang="en-US" sz="1150" dirty="0"/>
          </a:p>
        </p:txBody>
      </p:sp>
      <p:sp>
        <p:nvSpPr>
          <p:cNvPr id="26" name="bd_130"/>
          <p:cNvSpPr/>
          <p:nvPr/>
        </p:nvSpPr>
        <p:spPr>
          <a:xfrm>
            <a:off x="4709160" y="1440729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q_131"/>
          <p:cNvSpPr/>
          <p:nvPr/>
        </p:nvSpPr>
        <p:spPr>
          <a:xfrm>
            <a:off x="5093208" y="1417320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TV? the guitar? mineral water?</a:t>
            </a:r>
            <a:endParaRPr lang="en-US" sz="1100" dirty="0"/>
          </a:p>
        </p:txBody>
      </p:sp>
      <p:sp>
        <p:nvSpPr>
          <p:cNvPr id="28" name="R4_chip132"/>
          <p:cNvSpPr/>
          <p:nvPr/>
        </p:nvSpPr>
        <p:spPr>
          <a:xfrm>
            <a:off x="5093208" y="1820753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TV · play the guitar · drink mineral water</a:t>
            </a:r>
            <a:endParaRPr lang="en-US" sz="1150" dirty="0"/>
          </a:p>
        </p:txBody>
      </p:sp>
      <p:sp>
        <p:nvSpPr>
          <p:cNvPr id="29" name="bd_133"/>
          <p:cNvSpPr/>
          <p:nvPr/>
        </p:nvSpPr>
        <p:spPr>
          <a:xfrm>
            <a:off x="4709160" y="256239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q_134"/>
          <p:cNvSpPr/>
          <p:nvPr/>
        </p:nvSpPr>
        <p:spPr>
          <a:xfrm>
            <a:off x="5093208" y="2538984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music? glasses? a garden?</a:t>
            </a:r>
            <a:endParaRPr lang="en-US" sz="1100" dirty="0"/>
          </a:p>
        </p:txBody>
      </p:sp>
      <p:sp>
        <p:nvSpPr>
          <p:cNvPr id="31" name="R5_chip135"/>
          <p:cNvSpPr/>
          <p:nvPr/>
        </p:nvSpPr>
        <p:spPr>
          <a:xfrm>
            <a:off x="5093208" y="2942417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music · wear glasses · have a garden</a:t>
            </a:r>
            <a:endParaRPr lang="en-US" sz="1150" dirty="0"/>
          </a:p>
        </p:txBody>
      </p:sp>
      <p:sp>
        <p:nvSpPr>
          <p:cNvPr id="32" name="bd_136"/>
          <p:cNvSpPr/>
          <p:nvPr/>
        </p:nvSpPr>
        <p:spPr>
          <a:xfrm>
            <a:off x="4709160" y="3684057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q_137"/>
          <p:cNvSpPr/>
          <p:nvPr/>
        </p:nvSpPr>
        <p:spPr>
          <a:xfrm>
            <a:off x="5093208" y="3660648"/>
            <a:ext cx="3776472" cy="357713"/>
          </a:xfrm>
          <a:prstGeom prst="roundRect">
            <a:avLst>
              <a:gd name="adj" fmla="val 2556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vegetables? to the cinema? history? exercise?</a:t>
            </a:r>
            <a:endParaRPr lang="en-US" sz="1100" dirty="0"/>
          </a:p>
        </p:txBody>
      </p:sp>
      <p:sp>
        <p:nvSpPr>
          <p:cNvPr id="34" name="R6_chip138"/>
          <p:cNvSpPr/>
          <p:nvPr/>
        </p:nvSpPr>
        <p:spPr>
          <a:xfrm>
            <a:off x="5093208" y="4064081"/>
            <a:ext cx="3776472" cy="590215"/>
          </a:xfrm>
          <a:prstGeom prst="roundRect">
            <a:avLst>
              <a:gd name="adj" fmla="val 1549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eat vegetables · go to the cinema · study history · do exercise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141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name's Carola. I like…</a:t>
            </a:r>
            <a:endParaRPr lang="en-US" sz="2500" dirty="0"/>
          </a:p>
        </p:txBody>
      </p:sp>
      <p:pic>
        <p:nvPicPr>
          <p:cNvPr id="6" name="brP_14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4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Carola's article. Complete 1–8 with a word or phrase from the list.</a:t>
            </a:r>
            <a:endParaRPr lang="en-US" sz="1100" dirty="0"/>
          </a:p>
        </p:txBody>
      </p:sp>
      <p:sp>
        <p:nvSpPr>
          <p:cNvPr id="8" name="insIT_14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 di Carola. Completa 1–8 con una parola della lista.</a:t>
            </a:r>
            <a:endParaRPr lang="en-US" sz="950" dirty="0"/>
          </a:p>
        </p:txBody>
      </p:sp>
      <p:sp>
        <p:nvSpPr>
          <p:cNvPr id="9" name="note_14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Reading → grammar</a:t>
            </a:r>
            <a:endParaRPr lang="en-US" sz="1150" dirty="0"/>
          </a:p>
        </p:txBody>
      </p:sp>
      <p:pic>
        <p:nvPicPr>
          <p:cNvPr id="10" name="logo_1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· What the British like about Britain   ·   📖 SB p.22 · 2a, 2b · audio 3.4 (the article is on the slide · TG key)</a:t>
            </a:r>
            <a:endParaRPr lang="en-US" sz="800" dirty="0"/>
          </a:p>
        </p:txBody>
      </p:sp>
      <p:sp>
        <p:nvSpPr>
          <p:cNvPr id="12" name="cd_148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4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4" name="R1_rdA15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5" name="R2_rdA15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6" name="R3_rdA15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the freedom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7" name="R4_rdA15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the freedom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the BBC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8" name="R5_rdA15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the freedom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the BBC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pubs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19" name="R6_rdA15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the freedom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the BBC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pubs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the weather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20" name="R7_rdA15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British like about Britain – My name's Carola. I'm a journalist. I like…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multiculturalism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from all over the world live in the UK,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live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together happily. Usually.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the language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international.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speak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communication problems.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gardens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garden's small,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flowers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vegetables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it. When the sun's 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garden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feel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really happy.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the freedom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wear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the BBC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listen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radio in the morning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watch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TV in the evening. A lot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programmes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interesting, funny, or educational. Sometimes all three.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pubs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drink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there, too – the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very good.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the weather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It's cold, but not very cold. It's hot, but not very hot. It rains,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rain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Indian food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boyfriend cooks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fantastic curries, and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great for Indian restaurants!</a:t>
            </a:r>
            <a:endParaRPr lang="en-US" sz="950" dirty="0"/>
          </a:p>
        </p:txBody>
      </p:sp>
      <p:sp>
        <p:nvSpPr>
          <p:cNvPr id="21" name="cd_157"/>
          <p:cNvSpPr/>
          <p:nvPr/>
        </p:nvSpPr>
        <p:spPr>
          <a:xfrm>
            <a:off x="6263640" y="1417320"/>
            <a:ext cx="2606040" cy="2139696"/>
          </a:xfrm>
          <a:prstGeom prst="roundRect">
            <a:avLst>
              <a:gd name="adj" fmla="val 59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158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3" name="ih_159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list</a:t>
            </a:r>
            <a:endParaRPr lang="en-US" sz="1300" dirty="0"/>
          </a:p>
        </p:txBody>
      </p:sp>
      <p:sp>
        <p:nvSpPr>
          <p:cNvPr id="24" name="il_160"/>
          <p:cNvSpPr/>
          <p:nvPr/>
        </p:nvSpPr>
        <p:spPr>
          <a:xfrm>
            <a:off x="6830568" y="1911096"/>
            <a:ext cx="19476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gardens · Indian food · pubs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BBC · the freedom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language · the weather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multiculturalism ✓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607101" cy="621792"/>
          </a:xfrm>
          <a:prstGeom prst="rect">
            <a:avLst/>
          </a:prstGeom>
        </p:spPr>
      </p:pic>
      <p:sp>
        <p:nvSpPr>
          <p:cNvPr id="5" name="title_163"/>
          <p:cNvSpPr/>
          <p:nvPr/>
        </p:nvSpPr>
        <p:spPr>
          <a:xfrm>
            <a:off x="1261872" y="164592"/>
            <a:ext cx="533278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live · she lives · he doesn't</a:t>
            </a:r>
            <a:endParaRPr lang="en-US" sz="2500" dirty="0"/>
          </a:p>
        </p:txBody>
      </p:sp>
      <p:pic>
        <p:nvPicPr>
          <p:cNvPr id="6" name="brP_16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6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verbs. Why -s? How do we make the negative?</a:t>
            </a:r>
            <a:endParaRPr lang="en-US" sz="1250" dirty="0"/>
          </a:p>
        </p:txBody>
      </p:sp>
      <p:sp>
        <p:nvSpPr>
          <p:cNvPr id="8" name="insIT_16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i verbi. Perché -s? Come si fa il negativo?</a:t>
            </a:r>
            <a:endParaRPr lang="en-US" sz="950" dirty="0"/>
          </a:p>
        </p:txBody>
      </p:sp>
      <p:sp>
        <p:nvSpPr>
          <p:cNvPr id="9" name="note_16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16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6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· present simple + and −   ·   📖 SB p.22 · 2c · Grammar Bank 3A p.128 · audio 3.5 (TG notes)</a:t>
            </a:r>
            <a:endParaRPr lang="en-US" sz="800" dirty="0"/>
          </a:p>
        </p:txBody>
      </p:sp>
      <p:sp>
        <p:nvSpPr>
          <p:cNvPr id="12" name="ah_170"/>
          <p:cNvSpPr/>
          <p:nvPr/>
        </p:nvSpPr>
        <p:spPr>
          <a:xfrm>
            <a:off x="3675888" y="45720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3.5   ▶ normal</a:t>
            </a:r>
            <a:endParaRPr lang="en-US" sz="1000" dirty="0"/>
          </a:p>
        </p:txBody>
      </p:sp>
      <p:pic>
        <p:nvPicPr>
          <p:cNvPr id="13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4" name="ah_17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5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16" name="cd_172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173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· you · we · they</a:t>
            </a:r>
            <a:endParaRPr lang="en-US" sz="1250" dirty="0"/>
          </a:p>
        </p:txBody>
      </p:sp>
      <p:sp>
        <p:nvSpPr>
          <p:cNvPr id="18" name="R1_rx174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flat.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together happily.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have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communication problems.</a:t>
            </a:r>
            <a:endParaRPr lang="en-US" sz="1400" dirty="0"/>
          </a:p>
        </p:txBody>
      </p:sp>
      <p:sp>
        <p:nvSpPr>
          <p:cNvPr id="19" name="R1_ri175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 l'infinito · don't + verbo</a:t>
            </a:r>
            <a:endParaRPr lang="en-US" sz="1100" dirty="0"/>
          </a:p>
        </p:txBody>
      </p:sp>
      <p:sp>
        <p:nvSpPr>
          <p:cNvPr id="20" name="cd_176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177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 · she · it</a:t>
            </a:r>
            <a:endParaRPr lang="en-US" sz="1250" dirty="0"/>
          </a:p>
        </p:txBody>
      </p:sp>
      <p:sp>
        <p:nvSpPr>
          <p:cNvPr id="22" name="R2_rx178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rains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but it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 rain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every day.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boyfriend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cooks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fantastic curries.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</a:t>
            </a:r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 work</a:t>
            </a:r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Saturdays.</a:t>
            </a:r>
            <a:endParaRPr lang="en-US" sz="1400" dirty="0"/>
          </a:p>
        </p:txBody>
      </p:sp>
      <p:sp>
        <p:nvSpPr>
          <p:cNvPr id="23" name="R2_ri179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 s / es · doesn't + verbo (senza s!)</a:t>
            </a:r>
            <a:endParaRPr lang="en-US" sz="1100" dirty="0"/>
          </a:p>
        </p:txBody>
      </p:sp>
      <p:sp>
        <p:nvSpPr>
          <p:cNvPr id="24" name="R3_wc180"/>
          <p:cNvSpPr/>
          <p:nvPr/>
        </p:nvSpPr>
        <p:spPr>
          <a:xfrm>
            <a:off x="320040" y="4544568"/>
            <a:ext cx="3172968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R3_w181"/>
          <p:cNvSpPr/>
          <p:nvPr/>
        </p:nvSpPr>
        <p:spPr>
          <a:xfrm>
            <a:off x="457200" y="454456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She doesn't works → ✓ She doesn't work   ·   go → goes /ɡəʊz/ · do → does /dʌz/ · have → has · study → studies</a:t>
            </a:r>
            <a:endParaRPr lang="en-US" sz="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8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18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84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Grammar Bank practice</a:t>
            </a:r>
            <a:endParaRPr lang="en-US" sz="2400" dirty="0"/>
          </a:p>
        </p:txBody>
      </p:sp>
      <p:pic>
        <p:nvPicPr>
          <p:cNvPr id="6" name="brP_18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186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3A a: make the sentences + or −.</a:t>
            </a:r>
            <a:endParaRPr lang="en-US" sz="1250" dirty="0"/>
          </a:p>
        </p:txBody>
      </p:sp>
      <p:sp>
        <p:nvSpPr>
          <p:cNvPr id="8" name="insIT_18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3A a: fai frasi + o −.</a:t>
            </a:r>
            <a:endParaRPr lang="en-US" sz="950" dirty="0"/>
          </a:p>
        </p:txBody>
      </p:sp>
      <p:sp>
        <p:nvSpPr>
          <p:cNvPr id="9" name="note_18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reading</a:t>
            </a:r>
            <a:endParaRPr lang="en-US" sz="1150" dirty="0"/>
          </a:p>
        </p:txBody>
      </p:sp>
      <p:pic>
        <p:nvPicPr>
          <p:cNvPr id="10" name="logo_18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9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Bank 3A p.129 · a   ·   📖 Grammar Bank 3A p.129 · a (TG key – prompts as in the GB)</a:t>
            </a:r>
            <a:endParaRPr lang="en-US" sz="800" dirty="0"/>
          </a:p>
        </p:txBody>
      </p:sp>
      <p:sp>
        <p:nvSpPr>
          <p:cNvPr id="12" name="cd_191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sh_192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sentence</a:t>
            </a:r>
            <a:endParaRPr lang="en-US" sz="1700" dirty="0"/>
          </a:p>
        </p:txBody>
      </p:sp>
      <p:sp>
        <p:nvSpPr>
          <p:cNvPr id="14" name="ln_193"/>
          <p:cNvSpPr/>
          <p:nvPr/>
        </p:nvSpPr>
        <p:spPr>
          <a:xfrm>
            <a:off x="548640" y="1920240"/>
            <a:ext cx="5349240" cy="26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go to the cinema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endParaRPr lang="en-US" sz="1000" dirty="0"/>
          </a:p>
        </p:txBody>
      </p:sp>
      <p:sp>
        <p:nvSpPr>
          <p:cNvPr id="15" name="R1_lnA194"/>
          <p:cNvSpPr/>
          <p:nvPr/>
        </p:nvSpPr>
        <p:spPr>
          <a:xfrm>
            <a:off x="548640" y="1920240"/>
            <a:ext cx="5349240" cy="26132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She / go to the cinema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She goes to the cinema.</a:t>
            </a:r>
            <a:endParaRPr lang="en-US" sz="1000" dirty="0"/>
          </a:p>
        </p:txBody>
      </p:sp>
      <p:sp>
        <p:nvSpPr>
          <p:cNvPr id="16" name="ln_195"/>
          <p:cNvSpPr/>
          <p:nvPr/>
        </p:nvSpPr>
        <p:spPr>
          <a:xfrm>
            <a:off x="548640" y="2181567"/>
            <a:ext cx="5349240" cy="231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He / live in a flat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endParaRPr lang="en-US" sz="1000" dirty="0"/>
          </a:p>
        </p:txBody>
      </p:sp>
      <p:sp>
        <p:nvSpPr>
          <p:cNvPr id="17" name="R2_lnA196"/>
          <p:cNvSpPr/>
          <p:nvPr/>
        </p:nvSpPr>
        <p:spPr>
          <a:xfrm>
            <a:off x="548640" y="2181567"/>
            <a:ext cx="5349240" cy="2313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He / live in a flat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He lives in a flat.</a:t>
            </a:r>
            <a:endParaRPr lang="en-US" sz="1000" dirty="0"/>
          </a:p>
        </p:txBody>
      </p:sp>
      <p:sp>
        <p:nvSpPr>
          <p:cNvPr id="18" name="ln_197"/>
          <p:cNvSpPr/>
          <p:nvPr/>
        </p:nvSpPr>
        <p:spPr>
          <a:xfrm>
            <a:off x="548640" y="2412906"/>
            <a:ext cx="5349240" cy="269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They / have two children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endParaRPr lang="en-US" sz="1000" dirty="0"/>
          </a:p>
        </p:txBody>
      </p:sp>
      <p:sp>
        <p:nvSpPr>
          <p:cNvPr id="19" name="R3_lnA198"/>
          <p:cNvSpPr/>
          <p:nvPr/>
        </p:nvSpPr>
        <p:spPr>
          <a:xfrm>
            <a:off x="548640" y="2412906"/>
            <a:ext cx="5349240" cy="2698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They / have two children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They have two children.</a:t>
            </a:r>
            <a:endParaRPr lang="en-US" sz="1000" dirty="0"/>
          </a:p>
        </p:txBody>
      </p:sp>
      <p:sp>
        <p:nvSpPr>
          <p:cNvPr id="20" name="ln_199"/>
          <p:cNvSpPr/>
          <p:nvPr/>
        </p:nvSpPr>
        <p:spPr>
          <a:xfrm>
            <a:off x="548640" y="2682802"/>
            <a:ext cx="5349240" cy="269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I / like cold weather (−)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endParaRPr lang="en-US" sz="1000" dirty="0"/>
          </a:p>
        </p:txBody>
      </p:sp>
      <p:sp>
        <p:nvSpPr>
          <p:cNvPr id="21" name="R4_lnA200"/>
          <p:cNvSpPr/>
          <p:nvPr/>
        </p:nvSpPr>
        <p:spPr>
          <a:xfrm>
            <a:off x="548640" y="2682802"/>
            <a:ext cx="5349240" cy="2698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I / like cold weather (−)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 cold weather.</a:t>
            </a:r>
            <a:endParaRPr lang="en-US" sz="1000" dirty="0"/>
          </a:p>
        </p:txBody>
      </p:sp>
      <p:sp>
        <p:nvSpPr>
          <p:cNvPr id="22" name="ln_201"/>
          <p:cNvSpPr/>
          <p:nvPr/>
        </p:nvSpPr>
        <p:spPr>
          <a:xfrm>
            <a:off x="548640" y="2952697"/>
            <a:ext cx="5349240" cy="334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The supermarket / close at 5.30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endParaRPr lang="en-US" sz="1000" dirty="0"/>
          </a:p>
        </p:txBody>
      </p:sp>
      <p:sp>
        <p:nvSpPr>
          <p:cNvPr id="23" name="R5_lnA202"/>
          <p:cNvSpPr/>
          <p:nvPr/>
        </p:nvSpPr>
        <p:spPr>
          <a:xfrm>
            <a:off x="548640" y="2952697"/>
            <a:ext cx="5349240" cy="3341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 The supermarket / close at 5.30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 supermarket closes at 5.30.</a:t>
            </a:r>
            <a:endParaRPr lang="en-US" sz="1000" dirty="0"/>
          </a:p>
        </p:txBody>
      </p:sp>
      <p:sp>
        <p:nvSpPr>
          <p:cNvPr id="24" name="ln_203"/>
          <p:cNvSpPr/>
          <p:nvPr/>
        </p:nvSpPr>
        <p:spPr>
          <a:xfrm>
            <a:off x="548640" y="3286854"/>
            <a:ext cx="5349240" cy="30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My sister / study French (−)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endParaRPr lang="en-US" sz="1000" dirty="0"/>
          </a:p>
        </p:txBody>
      </p:sp>
      <p:sp>
        <p:nvSpPr>
          <p:cNvPr id="25" name="R6_lnA204"/>
          <p:cNvSpPr/>
          <p:nvPr/>
        </p:nvSpPr>
        <p:spPr>
          <a:xfrm>
            <a:off x="548640" y="3286854"/>
            <a:ext cx="5349240" cy="304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 My sister / study French (−)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sister doesn't study French.</a:t>
            </a:r>
            <a:endParaRPr lang="en-US" sz="1000" dirty="0"/>
          </a:p>
        </p:txBody>
      </p:sp>
      <p:sp>
        <p:nvSpPr>
          <p:cNvPr id="26" name="ln_205"/>
          <p:cNvSpPr/>
          <p:nvPr/>
        </p:nvSpPr>
        <p:spPr>
          <a:xfrm>
            <a:off x="548640" y="3591022"/>
            <a:ext cx="5349240" cy="20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I / do housework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endParaRPr lang="en-US" sz="1000" dirty="0"/>
          </a:p>
        </p:txBody>
      </p:sp>
      <p:sp>
        <p:nvSpPr>
          <p:cNvPr id="27" name="R7_lnA206"/>
          <p:cNvSpPr/>
          <p:nvPr/>
        </p:nvSpPr>
        <p:spPr>
          <a:xfrm>
            <a:off x="548640" y="3591022"/>
            <a:ext cx="5349240" cy="20135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 I / do housework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do housework.</a:t>
            </a:r>
            <a:endParaRPr lang="en-US" sz="1000" dirty="0"/>
          </a:p>
        </p:txBody>
      </p:sp>
      <p:sp>
        <p:nvSpPr>
          <p:cNvPr id="28" name="ln_207"/>
          <p:cNvSpPr/>
          <p:nvPr/>
        </p:nvSpPr>
        <p:spPr>
          <a:xfrm>
            <a:off x="548640" y="3792372"/>
            <a:ext cx="5349240" cy="257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My son / want a guitar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endParaRPr lang="en-US" sz="1000" dirty="0"/>
          </a:p>
        </p:txBody>
      </p:sp>
      <p:sp>
        <p:nvSpPr>
          <p:cNvPr id="29" name="R8_lnA208"/>
          <p:cNvSpPr/>
          <p:nvPr/>
        </p:nvSpPr>
        <p:spPr>
          <a:xfrm>
            <a:off x="548640" y="3792372"/>
            <a:ext cx="5349240" cy="2570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 My son / want a guitar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son wants a guitar.</a:t>
            </a:r>
            <a:endParaRPr lang="en-US" sz="1000" dirty="0"/>
          </a:p>
        </p:txBody>
      </p:sp>
      <p:sp>
        <p:nvSpPr>
          <p:cNvPr id="30" name="ln_209"/>
          <p:cNvSpPr/>
          <p:nvPr/>
        </p:nvSpPr>
        <p:spPr>
          <a:xfrm>
            <a:off x="548640" y="4049415"/>
            <a:ext cx="5349240" cy="34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My friend / work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(−)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(9) ________ </a:t>
            </a:r>
            <a:endParaRPr lang="en-US" sz="1000" dirty="0"/>
          </a:p>
        </p:txBody>
      </p:sp>
      <p:sp>
        <p:nvSpPr>
          <p:cNvPr id="31" name="R9_lnA210"/>
          <p:cNvSpPr/>
          <p:nvPr/>
        </p:nvSpPr>
        <p:spPr>
          <a:xfrm>
            <a:off x="548640" y="4049415"/>
            <a:ext cx="5349240" cy="3470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 My friend / work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Saturdays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(−)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friend doesn't work on Saturdays.</a:t>
            </a:r>
            <a:endParaRPr lang="en-US" sz="1000" dirty="0"/>
          </a:p>
        </p:txBody>
      </p:sp>
      <p:sp>
        <p:nvSpPr>
          <p:cNvPr id="32" name="ln_211"/>
          <p:cNvSpPr/>
          <p:nvPr/>
        </p:nvSpPr>
        <p:spPr>
          <a:xfrm>
            <a:off x="548640" y="4396424"/>
            <a:ext cx="5349240" cy="31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lessons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finish at 5.00 (+) → </a:t>
            </a:r>
            <a:pPr indent="0" marL="0"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(10) ________ </a:t>
            </a:r>
            <a:endParaRPr lang="en-US" sz="1000" dirty="0"/>
          </a:p>
        </p:txBody>
      </p:sp>
      <p:sp>
        <p:nvSpPr>
          <p:cNvPr id="33" name="R10_lnA212"/>
          <p:cNvSpPr/>
          <p:nvPr/>
        </p:nvSpPr>
        <p:spPr>
          <a:xfrm>
            <a:off x="548640" y="4396424"/>
            <a:ext cx="5349240" cy="31273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</a:t>
            </a:r>
            <a:pPr indent="0" marL="0"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lessons</a:t>
            </a:r>
            <a:pPr indent="0" marL="0"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finish at 5.00 (+) → </a:t>
            </a:r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Our lessons finish at 5.00.</a:t>
            </a:r>
            <a:endParaRPr lang="en-US" sz="1000" dirty="0"/>
          </a:p>
        </p:txBody>
      </p:sp>
      <p:sp>
        <p:nvSpPr>
          <p:cNvPr id="34" name="pf_213"/>
          <p:cNvSpPr/>
          <p:nvPr/>
        </p:nvSpPr>
        <p:spPr>
          <a:xfrm rot="120000">
            <a:off x="6983314" y="1417320"/>
            <a:ext cx="1212411" cy="150876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5" name="ph_214" descr="/home/claude/lls-course/v2/cache/red_3a_carola_jpg_270x34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20000">
            <a:off x="7029034" y="1463040"/>
            <a:ext cx="1120971" cy="1417320"/>
          </a:xfrm>
          <a:prstGeom prst="rect">
            <a:avLst/>
          </a:prstGeom>
        </p:spPr>
      </p:pic>
      <p:sp>
        <p:nvSpPr>
          <p:cNvPr id="36" name="cd_215"/>
          <p:cNvSpPr/>
          <p:nvPr/>
        </p:nvSpPr>
        <p:spPr>
          <a:xfrm>
            <a:off x="6263640" y="3794760"/>
            <a:ext cx="2651760" cy="960120"/>
          </a:xfrm>
          <a:prstGeom prst="roundRect">
            <a:avLst>
              <a:gd name="adj" fmla="val 13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ii_216"/>
          <p:cNvSpPr/>
          <p:nvPr/>
        </p:nvSpPr>
        <p:spPr>
          <a:xfrm>
            <a:off x="6355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8" name="ih_217"/>
          <p:cNvSpPr/>
          <p:nvPr/>
        </p:nvSpPr>
        <p:spPr>
          <a:xfrm>
            <a:off x="68305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200" dirty="0"/>
          </a:p>
        </p:txBody>
      </p:sp>
      <p:sp>
        <p:nvSpPr>
          <p:cNvPr id="39" name="il_218"/>
          <p:cNvSpPr/>
          <p:nvPr/>
        </p:nvSpPr>
        <p:spPr>
          <a:xfrm>
            <a:off x="6830568" y="4288536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/ she / it + s</a:t>
            </a:r>
            <a:endParaRPr lang="en-US" sz="9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doesn't + verb (no s)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21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Lives or live?</a:t>
            </a:r>
            <a:endParaRPr lang="en-US" sz="2500" dirty="0"/>
          </a:p>
        </p:txBody>
      </p:sp>
      <p:pic>
        <p:nvPicPr>
          <p:cNvPr id="6" name="brP_2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23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choose the correct verb. Say why!</a:t>
            </a:r>
            <a:endParaRPr lang="en-US" sz="1250" dirty="0"/>
          </a:p>
        </p:txBody>
      </p:sp>
      <p:sp>
        <p:nvSpPr>
          <p:cNvPr id="8" name="insIT_2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scegliete il verbo giusto. Dite perché!</a:t>
            </a:r>
            <a:endParaRPr lang="en-US" sz="950" dirty="0"/>
          </a:p>
        </p:txBody>
      </p:sp>
      <p:sp>
        <p:nvSpPr>
          <p:cNvPr id="9" name="note_2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2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· choose the right option   ·   📖 Grammar Bank 3A p.129 · b (TG key, our own sentences)</a:t>
            </a:r>
            <a:endParaRPr lang="en-US" sz="800" dirty="0"/>
          </a:p>
        </p:txBody>
      </p:sp>
      <p:sp>
        <p:nvSpPr>
          <p:cNvPr id="12" name="cd_228"/>
          <p:cNvSpPr/>
          <p:nvPr/>
        </p:nvSpPr>
        <p:spPr>
          <a:xfrm>
            <a:off x="320040" y="1417320"/>
            <a:ext cx="2697480" cy="1917192"/>
          </a:xfrm>
          <a:prstGeom prst="roundRect">
            <a:avLst>
              <a:gd name="adj" fmla="val 66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2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3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31"/>
          <p:cNvSpPr/>
          <p:nvPr/>
        </p:nvSpPr>
        <p:spPr>
          <a:xfrm>
            <a:off x="886968" y="1911096"/>
            <a:ext cx="2039112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sentence. Choose A or B.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why (he / she / it?) = 1 more point!</a:t>
            </a:r>
            <a:endParaRPr lang="en-US" sz="1200" dirty="0"/>
          </a:p>
        </p:txBody>
      </p:sp>
      <p:sp>
        <p:nvSpPr>
          <p:cNvPr id="16" name="st_232"/>
          <p:cNvSpPr/>
          <p:nvPr/>
        </p:nvSpPr>
        <p:spPr>
          <a:xfrm rot="-180000">
            <a:off x="502920" y="35173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33"/>
          <p:cNvSpPr/>
          <p:nvPr/>
        </p:nvSpPr>
        <p:spPr>
          <a:xfrm>
            <a:off x="3246120" y="1423607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234"/>
          <p:cNvSpPr/>
          <p:nvPr/>
        </p:nvSpPr>
        <p:spPr>
          <a:xfrm>
            <a:off x="3657600" y="141732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dad doesn't work / works on Saturdays.</a:t>
            </a:r>
            <a:endParaRPr lang="en-US" sz="900" dirty="0"/>
          </a:p>
        </p:txBody>
      </p:sp>
      <p:sp>
        <p:nvSpPr>
          <p:cNvPr id="19" name="chip_235"/>
          <p:cNvSpPr/>
          <p:nvPr/>
        </p:nvSpPr>
        <p:spPr>
          <a:xfrm>
            <a:off x="6263640" y="141732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doesn't work (−)</a:t>
            </a:r>
            <a:endParaRPr lang="en-US" sz="1200" dirty="0"/>
          </a:p>
        </p:txBody>
      </p:sp>
      <p:sp>
        <p:nvSpPr>
          <p:cNvPr id="20" name="bd_236"/>
          <p:cNvSpPr/>
          <p:nvPr/>
        </p:nvSpPr>
        <p:spPr>
          <a:xfrm>
            <a:off x="3246120" y="182937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37"/>
          <p:cNvSpPr/>
          <p:nvPr/>
        </p:nvSpPr>
        <p:spPr>
          <a:xfrm>
            <a:off x="3657600" y="182308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read / reads a lot of books.</a:t>
            </a:r>
            <a:endParaRPr lang="en-US" sz="900" dirty="0"/>
          </a:p>
        </p:txBody>
      </p:sp>
      <p:sp>
        <p:nvSpPr>
          <p:cNvPr id="22" name="R1_chip238"/>
          <p:cNvSpPr/>
          <p:nvPr/>
        </p:nvSpPr>
        <p:spPr>
          <a:xfrm>
            <a:off x="6263640" y="182308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reads (she + s)</a:t>
            </a:r>
            <a:endParaRPr lang="en-US" sz="1200" dirty="0"/>
          </a:p>
        </p:txBody>
      </p:sp>
      <p:sp>
        <p:nvSpPr>
          <p:cNvPr id="23" name="bd_239"/>
          <p:cNvSpPr/>
          <p:nvPr/>
        </p:nvSpPr>
        <p:spPr>
          <a:xfrm>
            <a:off x="3246120" y="2235137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40"/>
          <p:cNvSpPr/>
          <p:nvPr/>
        </p:nvSpPr>
        <p:spPr>
          <a:xfrm>
            <a:off x="3657600" y="222885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speak / speaks Italian at home.</a:t>
            </a:r>
            <a:endParaRPr lang="en-US" sz="900" dirty="0"/>
          </a:p>
        </p:txBody>
      </p:sp>
      <p:sp>
        <p:nvSpPr>
          <p:cNvPr id="25" name="R2_chip241"/>
          <p:cNvSpPr/>
          <p:nvPr/>
        </p:nvSpPr>
        <p:spPr>
          <a:xfrm>
            <a:off x="6263640" y="222885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speak (we – no s)</a:t>
            </a:r>
            <a:endParaRPr lang="en-US" sz="1200" dirty="0"/>
          </a:p>
        </p:txBody>
      </p:sp>
      <p:sp>
        <p:nvSpPr>
          <p:cNvPr id="26" name="bd_242"/>
          <p:cNvSpPr/>
          <p:nvPr/>
        </p:nvSpPr>
        <p:spPr>
          <a:xfrm>
            <a:off x="3246120" y="2640901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43"/>
          <p:cNvSpPr/>
          <p:nvPr/>
        </p:nvSpPr>
        <p:spPr>
          <a:xfrm>
            <a:off x="3657600" y="263461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don't play / doesn't play tennis.</a:t>
            </a:r>
            <a:endParaRPr lang="en-US" sz="900" dirty="0"/>
          </a:p>
        </p:txBody>
      </p:sp>
      <p:sp>
        <p:nvSpPr>
          <p:cNvPr id="28" name="R3_chip244"/>
          <p:cNvSpPr/>
          <p:nvPr/>
        </p:nvSpPr>
        <p:spPr>
          <a:xfrm>
            <a:off x="6263640" y="263461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don't play (they)</a:t>
            </a:r>
            <a:endParaRPr lang="en-US" sz="1200" dirty="0"/>
          </a:p>
        </p:txBody>
      </p:sp>
      <p:sp>
        <p:nvSpPr>
          <p:cNvPr id="29" name="bd_245"/>
          <p:cNvSpPr/>
          <p:nvPr/>
        </p:nvSpPr>
        <p:spPr>
          <a:xfrm>
            <a:off x="3246120" y="3046667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46"/>
          <p:cNvSpPr/>
          <p:nvPr/>
        </p:nvSpPr>
        <p:spPr>
          <a:xfrm>
            <a:off x="3657600" y="304038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Paolo wear / wears glasses.</a:t>
            </a:r>
            <a:endParaRPr lang="en-US" sz="900" dirty="0"/>
          </a:p>
        </p:txBody>
      </p:sp>
      <p:sp>
        <p:nvSpPr>
          <p:cNvPr id="31" name="R4_chip247"/>
          <p:cNvSpPr/>
          <p:nvPr/>
        </p:nvSpPr>
        <p:spPr>
          <a:xfrm>
            <a:off x="6263640" y="304038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wears (he + s)</a:t>
            </a:r>
            <a:endParaRPr lang="en-US" sz="1200" dirty="0"/>
          </a:p>
        </p:txBody>
      </p:sp>
      <p:sp>
        <p:nvSpPr>
          <p:cNvPr id="32" name="bd_248"/>
          <p:cNvSpPr/>
          <p:nvPr/>
        </p:nvSpPr>
        <p:spPr>
          <a:xfrm>
            <a:off x="3246120" y="345243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49"/>
          <p:cNvSpPr/>
          <p:nvPr/>
        </p:nvSpPr>
        <p:spPr>
          <a:xfrm>
            <a:off x="3657600" y="344614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listen / listens to music in the car.</a:t>
            </a:r>
            <a:endParaRPr lang="en-US" sz="900" dirty="0"/>
          </a:p>
        </p:txBody>
      </p:sp>
      <p:sp>
        <p:nvSpPr>
          <p:cNvPr id="34" name="R5_chip250"/>
          <p:cNvSpPr/>
          <p:nvPr/>
        </p:nvSpPr>
        <p:spPr>
          <a:xfrm>
            <a:off x="6263640" y="344614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listen (I – no s)</a:t>
            </a:r>
            <a:endParaRPr lang="en-US" sz="1200" dirty="0"/>
          </a:p>
        </p:txBody>
      </p:sp>
      <p:sp>
        <p:nvSpPr>
          <p:cNvPr id="35" name="bd_251"/>
          <p:cNvSpPr/>
          <p:nvPr/>
        </p:nvSpPr>
        <p:spPr>
          <a:xfrm>
            <a:off x="3246120" y="385819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gq_252"/>
          <p:cNvSpPr/>
          <p:nvPr/>
        </p:nvSpPr>
        <p:spPr>
          <a:xfrm>
            <a:off x="3657600" y="3851910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children don't eat / doesn't eat vegetables.</a:t>
            </a:r>
            <a:endParaRPr lang="en-US" sz="900" dirty="0"/>
          </a:p>
        </p:txBody>
      </p:sp>
      <p:sp>
        <p:nvSpPr>
          <p:cNvPr id="37" name="R6_chip253"/>
          <p:cNvSpPr/>
          <p:nvPr/>
        </p:nvSpPr>
        <p:spPr>
          <a:xfrm>
            <a:off x="6263640" y="3851910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don't eat (they)</a:t>
            </a:r>
            <a:endParaRPr lang="en-US" sz="1200" dirty="0"/>
          </a:p>
        </p:txBody>
      </p:sp>
      <p:sp>
        <p:nvSpPr>
          <p:cNvPr id="38" name="bd_254"/>
          <p:cNvSpPr/>
          <p:nvPr/>
        </p:nvSpPr>
        <p:spPr>
          <a:xfrm>
            <a:off x="3246120" y="4263962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gq_255"/>
          <p:cNvSpPr/>
          <p:nvPr/>
        </p:nvSpPr>
        <p:spPr>
          <a:xfrm>
            <a:off x="3657600" y="4257675"/>
            <a:ext cx="2514600" cy="341757"/>
          </a:xfrm>
          <a:prstGeom prst="roundRect">
            <a:avLst>
              <a:gd name="adj" fmla="val 2675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have / has a cat.</a:t>
            </a:r>
            <a:endParaRPr lang="en-US" sz="900" dirty="0"/>
          </a:p>
        </p:txBody>
      </p:sp>
      <p:sp>
        <p:nvSpPr>
          <p:cNvPr id="40" name="R7_chip256"/>
          <p:cNvSpPr/>
          <p:nvPr/>
        </p:nvSpPr>
        <p:spPr>
          <a:xfrm>
            <a:off x="6263640" y="4257675"/>
            <a:ext cx="2560320" cy="341757"/>
          </a:xfrm>
          <a:prstGeom prst="roundRect">
            <a:avLst>
              <a:gd name="adj" fmla="val 2675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has (have → has!)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5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259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/s/, /z/ or /ɪz/?</a:t>
            </a:r>
            <a:endParaRPr lang="en-US" sz="2500" dirty="0"/>
          </a:p>
        </p:txBody>
      </p:sp>
      <p:pic>
        <p:nvPicPr>
          <p:cNvPr id="6" name="brP_26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945636" cy="402336"/>
          </a:xfrm>
          <a:prstGeom prst="rect">
            <a:avLst/>
          </a:prstGeom>
        </p:spPr>
      </p:pic>
      <p:sp>
        <p:nvSpPr>
          <p:cNvPr id="7" name="ins_261"/>
          <p:cNvSpPr/>
          <p:nvPr/>
        </p:nvSpPr>
        <p:spPr>
          <a:xfrm>
            <a:off x="1353312" y="731520"/>
            <a:ext cx="36896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verbs. Which sound is the -s?</a:t>
            </a:r>
            <a:endParaRPr lang="en-US" sz="1250" dirty="0"/>
          </a:p>
        </p:txBody>
      </p:sp>
      <p:sp>
        <p:nvSpPr>
          <p:cNvPr id="8" name="insIT_26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i verbi. Che suono ha la -s?</a:t>
            </a:r>
            <a:endParaRPr lang="en-US" sz="950" dirty="0"/>
          </a:p>
        </p:txBody>
      </p:sp>
      <p:sp>
        <p:nvSpPr>
          <p:cNvPr id="9" name="note_26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6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6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Pronunciation · third person -s   ·   📖 SB p.22 · 3a, 3b · audio 3.6 (TG notes)</a:t>
            </a:r>
            <a:endParaRPr lang="en-US" sz="800" dirty="0"/>
          </a:p>
        </p:txBody>
      </p:sp>
      <p:sp>
        <p:nvSpPr>
          <p:cNvPr id="12" name="cd_266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6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6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ap_269"/>
          <p:cNvSpPr/>
          <p:nvPr/>
        </p:nvSpPr>
        <p:spPr>
          <a:xfrm>
            <a:off x="365760" y="3465576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3.6</a:t>
            </a:r>
            <a:endParaRPr lang="en-US" sz="1100" dirty="0"/>
          </a:p>
        </p:txBody>
      </p:sp>
      <p:sp>
        <p:nvSpPr>
          <p:cNvPr id="16" name="ah_270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18" name="ah_271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19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0" name="lg_272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🐍 /s/ books</a:t>
            </a:r>
            <a:endParaRPr lang="en-US" sz="1050" dirty="0"/>
          </a:p>
        </p:txBody>
      </p:sp>
      <p:sp>
        <p:nvSpPr>
          <p:cNvPr id="21" name="lg_273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/z/ keys</a:t>
            </a:r>
            <a:endParaRPr lang="en-US" sz="1050" dirty="0"/>
          </a:p>
        </p:txBody>
      </p:sp>
      <p:sp>
        <p:nvSpPr>
          <p:cNvPr id="22" name="lg_274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/ɪz/ watches</a:t>
            </a:r>
            <a:endParaRPr lang="en-US" sz="1050" dirty="0"/>
          </a:p>
        </p:txBody>
      </p:sp>
      <p:sp>
        <p:nvSpPr>
          <p:cNvPr id="23" name="sq_275"/>
          <p:cNvSpPr/>
          <p:nvPr/>
        </p:nvSpPr>
        <p:spPr>
          <a:xfrm>
            <a:off x="3246120" y="1417320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 speak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Arabic.</a:t>
            </a:r>
            <a:endParaRPr lang="en-US" sz="1200" dirty="0"/>
          </a:p>
        </p:txBody>
      </p:sp>
      <p:sp>
        <p:nvSpPr>
          <p:cNvPr id="24" name="R1_tag276"/>
          <p:cNvSpPr/>
          <p:nvPr/>
        </p:nvSpPr>
        <p:spPr>
          <a:xfrm>
            <a:off x="7178040" y="1417320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🐍 /s/ books</a:t>
            </a:r>
            <a:endParaRPr lang="en-US" sz="1150" dirty="0"/>
          </a:p>
        </p:txBody>
      </p:sp>
      <p:sp>
        <p:nvSpPr>
          <p:cNvPr id="25" name="sq_277"/>
          <p:cNvSpPr/>
          <p:nvPr/>
        </p:nvSpPr>
        <p:spPr>
          <a:xfrm>
            <a:off x="3246120" y="1746504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drink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lot of coffee.</a:t>
            </a:r>
            <a:endParaRPr lang="en-US" sz="1200" dirty="0"/>
          </a:p>
        </p:txBody>
      </p:sp>
      <p:sp>
        <p:nvSpPr>
          <p:cNvPr id="26" name="R2_tag278"/>
          <p:cNvSpPr/>
          <p:nvPr/>
        </p:nvSpPr>
        <p:spPr>
          <a:xfrm>
            <a:off x="7178040" y="1746504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🐍 /s/ books</a:t>
            </a:r>
            <a:endParaRPr lang="en-US" sz="1150" dirty="0"/>
          </a:p>
        </p:txBody>
      </p:sp>
      <p:sp>
        <p:nvSpPr>
          <p:cNvPr id="27" name="sq_279"/>
          <p:cNvSpPr/>
          <p:nvPr/>
        </p:nvSpPr>
        <p:spPr>
          <a:xfrm>
            <a:off x="3246120" y="2075688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cook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every day.</a:t>
            </a:r>
            <a:endParaRPr lang="en-US" sz="1200" dirty="0"/>
          </a:p>
        </p:txBody>
      </p:sp>
      <p:sp>
        <p:nvSpPr>
          <p:cNvPr id="28" name="R3_tag280"/>
          <p:cNvSpPr/>
          <p:nvPr/>
        </p:nvSpPr>
        <p:spPr>
          <a:xfrm>
            <a:off x="7178040" y="2075688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🐍 /s/ books</a:t>
            </a:r>
            <a:endParaRPr lang="en-US" sz="1150" dirty="0"/>
          </a:p>
        </p:txBody>
      </p:sp>
      <p:sp>
        <p:nvSpPr>
          <p:cNvPr id="29" name="sq_281"/>
          <p:cNvSpPr/>
          <p:nvPr/>
        </p:nvSpPr>
        <p:spPr>
          <a:xfrm>
            <a:off x="3246120" y="2404872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rain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lot.</a:t>
            </a:r>
            <a:endParaRPr lang="en-US" sz="1200" dirty="0"/>
          </a:p>
        </p:txBody>
      </p:sp>
      <p:sp>
        <p:nvSpPr>
          <p:cNvPr id="30" name="R4_tag282"/>
          <p:cNvSpPr/>
          <p:nvPr/>
        </p:nvSpPr>
        <p:spPr>
          <a:xfrm>
            <a:off x="7178040" y="2404872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/z/ keys</a:t>
            </a:r>
            <a:endParaRPr lang="en-US" sz="1150" dirty="0"/>
          </a:p>
        </p:txBody>
      </p:sp>
      <p:sp>
        <p:nvSpPr>
          <p:cNvPr id="31" name="sq_283"/>
          <p:cNvSpPr/>
          <p:nvPr/>
        </p:nvSpPr>
        <p:spPr>
          <a:xfrm>
            <a:off x="3246120" y="2734056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ha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 cat.</a:t>
            </a:r>
            <a:endParaRPr lang="en-US" sz="1200" dirty="0"/>
          </a:p>
        </p:txBody>
      </p:sp>
      <p:sp>
        <p:nvSpPr>
          <p:cNvPr id="32" name="R5_tag284"/>
          <p:cNvSpPr/>
          <p:nvPr/>
        </p:nvSpPr>
        <p:spPr>
          <a:xfrm>
            <a:off x="7178040" y="2734056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/z/ keys</a:t>
            </a:r>
            <a:endParaRPr lang="en-US" sz="1150" dirty="0"/>
          </a:p>
        </p:txBody>
      </p:sp>
      <p:sp>
        <p:nvSpPr>
          <p:cNvPr id="33" name="sq_285"/>
          <p:cNvSpPr/>
          <p:nvPr/>
        </p:nvSpPr>
        <p:spPr>
          <a:xfrm>
            <a:off x="3246120" y="3063240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do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exercise.</a:t>
            </a:r>
            <a:endParaRPr lang="en-US" sz="1200" dirty="0"/>
          </a:p>
        </p:txBody>
      </p:sp>
      <p:sp>
        <p:nvSpPr>
          <p:cNvPr id="34" name="R6_tag286"/>
          <p:cNvSpPr/>
          <p:nvPr/>
        </p:nvSpPr>
        <p:spPr>
          <a:xfrm>
            <a:off x="7178040" y="3063240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/z/ keys</a:t>
            </a:r>
            <a:endParaRPr lang="en-US" sz="1150" dirty="0"/>
          </a:p>
        </p:txBody>
      </p:sp>
      <p:sp>
        <p:nvSpPr>
          <p:cNvPr id="35" name="sq_287"/>
          <p:cNvSpPr/>
          <p:nvPr/>
        </p:nvSpPr>
        <p:spPr>
          <a:xfrm>
            <a:off x="3246120" y="3392424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go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out on Friday night.</a:t>
            </a:r>
            <a:endParaRPr lang="en-US" sz="1200" dirty="0"/>
          </a:p>
        </p:txBody>
      </p:sp>
      <p:sp>
        <p:nvSpPr>
          <p:cNvPr id="36" name="R7_tag288"/>
          <p:cNvSpPr/>
          <p:nvPr/>
        </p:nvSpPr>
        <p:spPr>
          <a:xfrm>
            <a:off x="7178040" y="3392424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🐝 /z/ keys</a:t>
            </a:r>
            <a:endParaRPr lang="en-US" sz="1150" dirty="0"/>
          </a:p>
        </p:txBody>
      </p:sp>
      <p:sp>
        <p:nvSpPr>
          <p:cNvPr id="37" name="sq_289"/>
          <p:cNvSpPr/>
          <p:nvPr/>
        </p:nvSpPr>
        <p:spPr>
          <a:xfrm>
            <a:off x="3246120" y="3721608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watch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American programmes.</a:t>
            </a:r>
            <a:endParaRPr lang="en-US" sz="1200" dirty="0"/>
          </a:p>
        </p:txBody>
      </p:sp>
      <p:sp>
        <p:nvSpPr>
          <p:cNvPr id="38" name="R8_tag290"/>
          <p:cNvSpPr/>
          <p:nvPr/>
        </p:nvSpPr>
        <p:spPr>
          <a:xfrm>
            <a:off x="7178040" y="3721608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/ɪz/ watches</a:t>
            </a:r>
            <a:endParaRPr lang="en-US" sz="1150" dirty="0"/>
          </a:p>
        </p:txBody>
      </p:sp>
      <p:sp>
        <p:nvSpPr>
          <p:cNvPr id="39" name="sq_291"/>
          <p:cNvSpPr/>
          <p:nvPr/>
        </p:nvSpPr>
        <p:spPr>
          <a:xfrm>
            <a:off x="3246120" y="4050792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film finish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minute.</a:t>
            </a:r>
            <a:endParaRPr lang="en-US" sz="1200" dirty="0"/>
          </a:p>
        </p:txBody>
      </p:sp>
      <p:sp>
        <p:nvSpPr>
          <p:cNvPr id="40" name="R9_tag292"/>
          <p:cNvSpPr/>
          <p:nvPr/>
        </p:nvSpPr>
        <p:spPr>
          <a:xfrm>
            <a:off x="7178040" y="4050792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/ɪz/ watches</a:t>
            </a:r>
            <a:endParaRPr lang="en-US" sz="1150" dirty="0"/>
          </a:p>
        </p:txBody>
      </p:sp>
      <p:sp>
        <p:nvSpPr>
          <p:cNvPr id="41" name="sq_293"/>
          <p:cNvSpPr/>
          <p:nvPr/>
        </p:nvSpPr>
        <p:spPr>
          <a:xfrm>
            <a:off x="3246120" y="4379976"/>
            <a:ext cx="3840480" cy="265176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bar clos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at eleven.</a:t>
            </a:r>
            <a:endParaRPr lang="en-US" sz="1200" dirty="0"/>
          </a:p>
        </p:txBody>
      </p:sp>
      <p:sp>
        <p:nvSpPr>
          <p:cNvPr id="42" name="R10_tag294"/>
          <p:cNvSpPr/>
          <p:nvPr/>
        </p:nvSpPr>
        <p:spPr>
          <a:xfrm>
            <a:off x="7178040" y="4379976"/>
            <a:ext cx="1691640" cy="265176"/>
          </a:xfrm>
          <a:prstGeom prst="roundRect">
            <a:avLst>
              <a:gd name="adj" fmla="val 8620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/ɪz/ watches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9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760720" cy="621792"/>
          </a:xfrm>
          <a:prstGeom prst="rect">
            <a:avLst/>
          </a:prstGeom>
        </p:spPr>
      </p:pic>
      <p:sp>
        <p:nvSpPr>
          <p:cNvPr id="5" name="title_297"/>
          <p:cNvSpPr/>
          <p:nvPr/>
        </p:nvSpPr>
        <p:spPr>
          <a:xfrm>
            <a:off x="1261872" y="164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play tennis. Eva plays tennis!</a:t>
            </a:r>
            <a:endParaRPr lang="en-US" sz="2500" dirty="0"/>
          </a:p>
        </p:txBody>
      </p:sp>
      <p:pic>
        <p:nvPicPr>
          <p:cNvPr id="6" name="brP_29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9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 6 true things about you: 3 + and 3 −. Then tell a NEW partner about your old partner!</a:t>
            </a:r>
            <a:endParaRPr lang="en-US" sz="1100" dirty="0"/>
          </a:p>
        </p:txBody>
      </p:sp>
      <p:sp>
        <p:nvSpPr>
          <p:cNvPr id="8" name="insIT_30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al compagno 6 cose vere su di te: 3 + e 3 −. Poi raccontale a un NUOVO compagno!</a:t>
            </a:r>
            <a:endParaRPr lang="en-US" sz="850" dirty="0"/>
          </a:p>
        </p:txBody>
      </p:sp>
      <p:sp>
        <p:nvSpPr>
          <p:cNvPr id="9" name="note_30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0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Speaking · about you   ·   📖 SB p.23 · 3d, 3e</a:t>
            </a:r>
            <a:endParaRPr lang="en-US" sz="800" dirty="0"/>
          </a:p>
        </p:txBody>
      </p:sp>
      <p:sp>
        <p:nvSpPr>
          <p:cNvPr id="12" name="cd_304"/>
          <p:cNvSpPr/>
          <p:nvPr/>
        </p:nvSpPr>
        <p:spPr>
          <a:xfrm>
            <a:off x="320040" y="141732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0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306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307"/>
          <p:cNvSpPr/>
          <p:nvPr/>
        </p:nvSpPr>
        <p:spPr>
          <a:xfrm>
            <a:off x="886968" y="191109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play… / I don't…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live in… / I don't have…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Eva plays tennis.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doesn't wear glasses.</a:t>
            </a:r>
            <a:endParaRPr lang="en-US" sz="1150" dirty="0"/>
          </a:p>
        </p:txBody>
      </p:sp>
      <p:sp>
        <p:nvSpPr>
          <p:cNvPr id="16" name="R1_qb308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309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Choose 6 verb phrases from the Vocabulary Bank: 3 true +, 3 true −.</a:t>
            </a:r>
            <a:endParaRPr lang="en-US" sz="105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play tennis. I don't wear glasses…</a:t>
            </a:r>
            <a:endParaRPr lang="en-US" sz="1050" dirty="0"/>
          </a:p>
        </p:txBody>
      </p:sp>
      <p:sp>
        <p:nvSpPr>
          <p:cNvPr id="18" name="R2_qb310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311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partner. Partner: tick ✓ or cross ✗ – don't forget!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✓ plays tennis · ✗ glasses</a:t>
            </a:r>
            <a:endParaRPr lang="en-US" sz="1100" dirty="0"/>
          </a:p>
        </p:txBody>
      </p:sp>
      <p:sp>
        <p:nvSpPr>
          <p:cNvPr id="20" name="R3_qb312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313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partners. Tell your new partner about your OLD partner.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Eva plays tennis. She doesn't wear glasses…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316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foreigners think (1)</a:t>
            </a:r>
            <a:endParaRPr lang="en-US" sz="2500" dirty="0"/>
          </a:p>
        </p:txBody>
      </p:sp>
      <p:pic>
        <p:nvPicPr>
          <p:cNvPr id="6" name="brP_3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1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part 1. Positive ✓, negative ✗, or both ✓✗? Give reasons.</a:t>
            </a:r>
            <a:endParaRPr lang="en-US" sz="1100" dirty="0"/>
          </a:p>
        </p:txBody>
      </p:sp>
      <p:sp>
        <p:nvSpPr>
          <p:cNvPr id="8" name="insIT_3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parte 1. Positivo ✓, negativo ✗ o entrambi ✓✗? Perché?</a:t>
            </a:r>
            <a:endParaRPr lang="en-US" sz="950" dirty="0"/>
          </a:p>
        </p:txBody>
      </p:sp>
      <p:sp>
        <p:nvSpPr>
          <p:cNvPr id="9" name="note_32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Identifying attitude</a:t>
            </a:r>
            <a:endParaRPr lang="en-US" sz="1150" dirty="0"/>
          </a:p>
        </p:txBody>
      </p:sp>
      <p:pic>
        <p:nvPicPr>
          <p:cNvPr id="10" name="logo_32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Reading · What foreigners who live in Britain think (1)   ·   📖 SB p.23 · 4a (the article is on the slide · TG key)</a:t>
            </a:r>
            <a:endParaRPr lang="en-US" sz="800" dirty="0"/>
          </a:p>
        </p:txBody>
      </p:sp>
      <p:sp>
        <p:nvSpPr>
          <p:cNvPr id="12" name="cd_323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2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foreigners who live in Britain think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Erdal, 39, is from Turkey.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has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café in Cardiff. In Turkey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work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hard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jobs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important for us. British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don't work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like that. They only want to finish work and go home.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Khalal, 39, is from Iraq.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Newcastle.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weather. One minute it's hot and the next it rains.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changes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the time.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food. Potatoes, potatoes, potatoes…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Camille, 20, is from France.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Liverpool. The British are friendly. People in the street often call me 'love', 'sweetheart', and 'darling'.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 happy!</a:t>
            </a:r>
            <a:endParaRPr lang="en-US" sz="1250" dirty="0"/>
          </a:p>
        </p:txBody>
      </p:sp>
      <p:sp>
        <p:nvSpPr>
          <p:cNvPr id="14" name="R1_rdE32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foreigners who live in Britain think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Erdal, 39, is from Turkey.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has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café in Cardiff. In Turkey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work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hard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jobs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important for us.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British people don't work like that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They only want to finish work and go home.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Khalal, 39, is from Iraq.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Newcastle.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 the weather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One minute it's hot and the next it rains.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changes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 the time.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 the food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Potatoes, potatoes, potatoes…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Camille, 20, is from France.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Liverpool.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 British are friendly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People in the street often call me 'love', 'sweetheart', and 'darling'.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makes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 happy!</a:t>
            </a:r>
            <a:endParaRPr lang="en-US" sz="1250" dirty="0"/>
          </a:p>
        </p:txBody>
      </p:sp>
      <p:sp>
        <p:nvSpPr>
          <p:cNvPr id="15" name="bd_326"/>
          <p:cNvSpPr/>
          <p:nvPr/>
        </p:nvSpPr>
        <p:spPr>
          <a:xfrm>
            <a:off x="6172200" y="1541526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rq_327"/>
          <p:cNvSpPr/>
          <p:nvPr/>
        </p:nvSpPr>
        <p:spPr>
          <a:xfrm>
            <a:off x="6492240" y="1417320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Erdal</a:t>
            </a:r>
            <a:endParaRPr lang="en-US" sz="1100" dirty="0"/>
          </a:p>
        </p:txBody>
      </p:sp>
      <p:sp>
        <p:nvSpPr>
          <p:cNvPr id="17" name="R1_chip328"/>
          <p:cNvSpPr/>
          <p:nvPr/>
        </p:nvSpPr>
        <p:spPr>
          <a:xfrm>
            <a:off x="6492240" y="1967484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– 'British people don't work like that.'</a:t>
            </a:r>
            <a:endParaRPr lang="en-US" sz="950" dirty="0"/>
          </a:p>
        </p:txBody>
      </p:sp>
      <p:sp>
        <p:nvSpPr>
          <p:cNvPr id="18" name="bd_329"/>
          <p:cNvSpPr/>
          <p:nvPr/>
        </p:nvSpPr>
        <p:spPr>
          <a:xfrm>
            <a:off x="6172200" y="2678430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rq_330"/>
          <p:cNvSpPr/>
          <p:nvPr/>
        </p:nvSpPr>
        <p:spPr>
          <a:xfrm>
            <a:off x="6492240" y="2554224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Khalal</a:t>
            </a:r>
            <a:endParaRPr lang="en-US" sz="1100" dirty="0"/>
          </a:p>
        </p:txBody>
      </p:sp>
      <p:sp>
        <p:nvSpPr>
          <p:cNvPr id="20" name="R2_chip331"/>
          <p:cNvSpPr/>
          <p:nvPr/>
        </p:nvSpPr>
        <p:spPr>
          <a:xfrm>
            <a:off x="6492240" y="3104388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✗ – 'I don't like the weather… And I don't like the food.'</a:t>
            </a:r>
            <a:endParaRPr lang="en-US" sz="950" dirty="0"/>
          </a:p>
        </p:txBody>
      </p:sp>
      <p:sp>
        <p:nvSpPr>
          <p:cNvPr id="21" name="bd_332"/>
          <p:cNvSpPr/>
          <p:nvPr/>
        </p:nvSpPr>
        <p:spPr>
          <a:xfrm>
            <a:off x="6172200" y="3815334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rq_333"/>
          <p:cNvSpPr/>
          <p:nvPr/>
        </p:nvSpPr>
        <p:spPr>
          <a:xfrm>
            <a:off x="6492240" y="3691128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Camille</a:t>
            </a:r>
            <a:endParaRPr lang="en-US" sz="1100" dirty="0"/>
          </a:p>
        </p:txBody>
      </p:sp>
      <p:sp>
        <p:nvSpPr>
          <p:cNvPr id="23" name="R3_chip334"/>
          <p:cNvSpPr/>
          <p:nvPr/>
        </p:nvSpPr>
        <p:spPr>
          <a:xfrm>
            <a:off x="6492240" y="4241292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'The British are friendly.'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3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337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foreigners think (2)</a:t>
            </a:r>
            <a:endParaRPr lang="en-US" sz="2500" dirty="0"/>
          </a:p>
        </p:txBody>
      </p:sp>
      <p:pic>
        <p:nvPicPr>
          <p:cNvPr id="6" name="brP_33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9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part 2. Positive ✓, negative ✗, or both ✓✗? Give reasons.</a:t>
            </a:r>
            <a:endParaRPr lang="en-US" sz="1100" dirty="0"/>
          </a:p>
        </p:txBody>
      </p:sp>
      <p:sp>
        <p:nvSpPr>
          <p:cNvPr id="8" name="insIT_34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parte 2. Positivo ✓, negativo ✗ o entrambi ✓✗? Perché?</a:t>
            </a:r>
            <a:endParaRPr lang="en-US" sz="950" dirty="0"/>
          </a:p>
        </p:txBody>
      </p:sp>
      <p:sp>
        <p:nvSpPr>
          <p:cNvPr id="9" name="note_34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Identifying attitude</a:t>
            </a:r>
            <a:endParaRPr lang="en-US" sz="1150" dirty="0"/>
          </a:p>
        </p:txBody>
      </p:sp>
      <p:pic>
        <p:nvPicPr>
          <p:cNvPr id="10" name="logo_34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Reading · What foreigners who live in Britain think (2)   ·   📖 SB p.23 · 4a (TG key)</a:t>
            </a:r>
            <a:endParaRPr lang="en-US" sz="800" dirty="0"/>
          </a:p>
        </p:txBody>
      </p:sp>
      <p:sp>
        <p:nvSpPr>
          <p:cNvPr id="12" name="cd_344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4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foreigners who live in Britain think (2)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Shurooq, 21, is from Oman.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Chorlton, Manchester. In the UK women have a lot of freedom. In my country, if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go to the bank I take my brother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does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 for me. 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weather here.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days when it rains, or it's cold. It's so different from the weather in Oman! The people are also nice and friendly.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Michelle, 24, is from Canada.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London. My favourite thing about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Britain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Scotch eggs.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Scotch eggs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 I come from.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Everybody says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British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awful,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it, especially in pubs.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great, too, for example, Topshop and Primark.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Lian Tang, 24, is from China.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Manchester.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UK. Why? Because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culture, the art, the history. I also love the beautiful scenery, for example in Cornwall and in Scotland. The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things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the UK are the weather and the food. I really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fish and chips.</a:t>
            </a:r>
            <a:endParaRPr lang="en-US" sz="1050" dirty="0"/>
          </a:p>
        </p:txBody>
      </p:sp>
      <p:sp>
        <p:nvSpPr>
          <p:cNvPr id="14" name="R1_rdE34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foreigners who live in Britain think (2)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Shurooq, 21, is from Oman.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Chorlton, Manchester.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In the UK women have a lot of freedom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In my country, if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go to the bank I take my brother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does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 for me. Here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everything.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like the weather here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days when it rains, or it's cold. It's so different from the weather in Oman! The people are also nice and friendly.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Michelle, 24, is from Canada.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London. My favourite thing about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Britain is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Scotch eggs.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have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Scotch eggs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where I come from.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Everybody says that British food is awful, but I love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especially in pubs.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shops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are great, too, for example, Topshop and Primark.</a:t>
            </a:r>
            <a:endParaRPr lang="en-US" sz="10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Lian Tang, 24, is from China.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lives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Manchester.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love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UK. Why? Because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culture, the art, the history. I also love the beautiful scenery, for example in Cornwall and in Scotland.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The only things I don't like about the UK are the weather and the food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 really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like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fish and chips.</a:t>
            </a:r>
            <a:endParaRPr lang="en-US" sz="1050" dirty="0"/>
          </a:p>
        </p:txBody>
      </p:sp>
      <p:sp>
        <p:nvSpPr>
          <p:cNvPr id="15" name="bd_347"/>
          <p:cNvSpPr/>
          <p:nvPr/>
        </p:nvSpPr>
        <p:spPr>
          <a:xfrm>
            <a:off x="6172200" y="1541526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rq_348"/>
          <p:cNvSpPr/>
          <p:nvPr/>
        </p:nvSpPr>
        <p:spPr>
          <a:xfrm>
            <a:off x="6492240" y="1417320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Shurooq</a:t>
            </a:r>
            <a:endParaRPr lang="en-US" sz="1100" dirty="0"/>
          </a:p>
        </p:txBody>
      </p:sp>
      <p:sp>
        <p:nvSpPr>
          <p:cNvPr id="17" name="R1_chip349"/>
          <p:cNvSpPr/>
          <p:nvPr/>
        </p:nvSpPr>
        <p:spPr>
          <a:xfrm>
            <a:off x="6492240" y="1967484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freedom, the weather, nice and friendly people</a:t>
            </a:r>
            <a:endParaRPr lang="en-US" sz="900" dirty="0"/>
          </a:p>
        </p:txBody>
      </p:sp>
      <p:sp>
        <p:nvSpPr>
          <p:cNvPr id="18" name="bd_350"/>
          <p:cNvSpPr/>
          <p:nvPr/>
        </p:nvSpPr>
        <p:spPr>
          <a:xfrm>
            <a:off x="6172200" y="2678430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rq_351"/>
          <p:cNvSpPr/>
          <p:nvPr/>
        </p:nvSpPr>
        <p:spPr>
          <a:xfrm>
            <a:off x="6492240" y="2554224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Michelle</a:t>
            </a:r>
            <a:endParaRPr lang="en-US" sz="1100" dirty="0"/>
          </a:p>
        </p:txBody>
      </p:sp>
      <p:sp>
        <p:nvSpPr>
          <p:cNvPr id="20" name="R2_chip352"/>
          <p:cNvSpPr/>
          <p:nvPr/>
        </p:nvSpPr>
        <p:spPr>
          <a:xfrm>
            <a:off x="6492240" y="3104388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– 'My favourite thing… Scotch eggs… I love it… The shops are great'</a:t>
            </a:r>
            <a:endParaRPr lang="en-US" sz="900" dirty="0"/>
          </a:p>
        </p:txBody>
      </p:sp>
      <p:sp>
        <p:nvSpPr>
          <p:cNvPr id="21" name="bd_353"/>
          <p:cNvSpPr/>
          <p:nvPr/>
        </p:nvSpPr>
        <p:spPr>
          <a:xfrm>
            <a:off x="6172200" y="3815334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rq_354"/>
          <p:cNvSpPr/>
          <p:nvPr/>
        </p:nvSpPr>
        <p:spPr>
          <a:xfrm>
            <a:off x="6492240" y="3691128"/>
            <a:ext cx="2423160" cy="522732"/>
          </a:xfrm>
          <a:prstGeom prst="roundRect">
            <a:avLst>
              <a:gd name="adj" fmla="val 13994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Lian Tang</a:t>
            </a:r>
            <a:endParaRPr lang="en-US" sz="1100" dirty="0"/>
          </a:p>
        </p:txBody>
      </p:sp>
      <p:sp>
        <p:nvSpPr>
          <p:cNvPr id="23" name="R3_chip355"/>
          <p:cNvSpPr/>
          <p:nvPr/>
        </p:nvSpPr>
        <p:spPr>
          <a:xfrm>
            <a:off x="6492240" y="4241292"/>
            <a:ext cx="2423160" cy="495300"/>
          </a:xfrm>
          <a:prstGeom prst="roundRect">
            <a:avLst>
              <a:gd name="adj" fmla="val 184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✓✗ – likes the culture, art, history, scenery; doesn't like the weather and the food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5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517904" cy="621792"/>
          </a:xfrm>
          <a:prstGeom prst="rect">
            <a:avLst/>
          </a:prstGeom>
        </p:spPr>
      </p:pic>
      <p:sp>
        <p:nvSpPr>
          <p:cNvPr id="5" name="title_358"/>
          <p:cNvSpPr/>
          <p:nvPr/>
        </p:nvSpPr>
        <p:spPr>
          <a:xfrm>
            <a:off x="1261872" y="164592"/>
            <a:ext cx="124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Who…?</a:t>
            </a:r>
            <a:endParaRPr lang="en-US" sz="2500" dirty="0"/>
          </a:p>
        </p:txBody>
      </p:sp>
      <p:pic>
        <p:nvPicPr>
          <p:cNvPr id="6" name="brP_35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814316" cy="402336"/>
          </a:xfrm>
          <a:prstGeom prst="rect">
            <a:avLst/>
          </a:prstGeom>
        </p:spPr>
      </p:pic>
      <p:sp>
        <p:nvSpPr>
          <p:cNvPr id="7" name="ins_360"/>
          <p:cNvSpPr/>
          <p:nvPr/>
        </p:nvSpPr>
        <p:spPr>
          <a:xfrm>
            <a:off x="1353312" y="731520"/>
            <a:ext cx="45582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again. Complete the sentences with a name.</a:t>
            </a:r>
            <a:endParaRPr lang="en-US" sz="1250" dirty="0"/>
          </a:p>
        </p:txBody>
      </p:sp>
      <p:sp>
        <p:nvSpPr>
          <p:cNvPr id="8" name="insIT_36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Rileggi. Completa le frasi con un nome.</a:t>
            </a:r>
            <a:endParaRPr lang="en-US" sz="950" dirty="0"/>
          </a:p>
        </p:txBody>
      </p:sp>
      <p:sp>
        <p:nvSpPr>
          <p:cNvPr id="9" name="note_36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🔍 FIND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Controlled practice</a:t>
            </a:r>
            <a:endParaRPr lang="en-US" sz="1150" dirty="0"/>
          </a:p>
        </p:txBody>
      </p:sp>
      <p:pic>
        <p:nvPicPr>
          <p:cNvPr id="10" name="logo_36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Reading · detail   ·   📖 SB p.23 · 4b, 4c (TG key)</a:t>
            </a:r>
            <a:endParaRPr lang="en-US" sz="800" dirty="0"/>
          </a:p>
        </p:txBody>
      </p:sp>
      <p:sp>
        <p:nvSpPr>
          <p:cNvPr id="12" name="bd_365"/>
          <p:cNvSpPr/>
          <p:nvPr/>
        </p:nvSpPr>
        <p:spPr>
          <a:xfrm>
            <a:off x="32004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366"/>
          <p:cNvSpPr/>
          <p:nvPr/>
        </p:nvSpPr>
        <p:spPr>
          <a:xfrm>
            <a:off x="70408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likes the weather.</a:t>
            </a:r>
            <a:endParaRPr lang="en-US" sz="900" dirty="0"/>
          </a:p>
        </p:txBody>
      </p:sp>
      <p:sp>
        <p:nvSpPr>
          <p:cNvPr id="14" name="R1_chip367"/>
          <p:cNvSpPr/>
          <p:nvPr/>
        </p:nvSpPr>
        <p:spPr>
          <a:xfrm>
            <a:off x="70408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Shurooq</a:t>
            </a:r>
            <a:endParaRPr lang="en-US" sz="1150" dirty="0"/>
          </a:p>
        </p:txBody>
      </p:sp>
      <p:sp>
        <p:nvSpPr>
          <p:cNvPr id="15" name="bd_368"/>
          <p:cNvSpPr/>
          <p:nvPr/>
        </p:nvSpPr>
        <p:spPr>
          <a:xfrm>
            <a:off x="32004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369"/>
          <p:cNvSpPr/>
          <p:nvPr/>
        </p:nvSpPr>
        <p:spPr>
          <a:xfrm>
            <a:off x="70408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and ___ don't like the weather.</a:t>
            </a:r>
            <a:endParaRPr lang="en-US" sz="900" dirty="0"/>
          </a:p>
        </p:txBody>
      </p:sp>
      <p:sp>
        <p:nvSpPr>
          <p:cNvPr id="17" name="R2_chip370"/>
          <p:cNvSpPr/>
          <p:nvPr/>
        </p:nvSpPr>
        <p:spPr>
          <a:xfrm>
            <a:off x="70408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Khalal and Lian Tang</a:t>
            </a:r>
            <a:endParaRPr lang="en-US" sz="1150" dirty="0"/>
          </a:p>
        </p:txBody>
      </p:sp>
      <p:sp>
        <p:nvSpPr>
          <p:cNvPr id="18" name="bd_371"/>
          <p:cNvSpPr/>
          <p:nvPr/>
        </p:nvSpPr>
        <p:spPr>
          <a:xfrm>
            <a:off x="32004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372"/>
          <p:cNvSpPr/>
          <p:nvPr/>
        </p:nvSpPr>
        <p:spPr>
          <a:xfrm>
            <a:off x="70408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loves the food.</a:t>
            </a:r>
            <a:endParaRPr lang="en-US" sz="900" dirty="0"/>
          </a:p>
        </p:txBody>
      </p:sp>
      <p:sp>
        <p:nvSpPr>
          <p:cNvPr id="20" name="R3_chip373"/>
          <p:cNvSpPr/>
          <p:nvPr/>
        </p:nvSpPr>
        <p:spPr>
          <a:xfrm>
            <a:off x="70408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Michelle</a:t>
            </a:r>
            <a:endParaRPr lang="en-US" sz="1150" dirty="0"/>
          </a:p>
        </p:txBody>
      </p:sp>
      <p:sp>
        <p:nvSpPr>
          <p:cNvPr id="21" name="bd_374"/>
          <p:cNvSpPr/>
          <p:nvPr/>
        </p:nvSpPr>
        <p:spPr>
          <a:xfrm>
            <a:off x="32004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375"/>
          <p:cNvSpPr/>
          <p:nvPr/>
        </p:nvSpPr>
        <p:spPr>
          <a:xfrm>
            <a:off x="70408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and ___ don't like the food.</a:t>
            </a:r>
            <a:endParaRPr lang="en-US" sz="900" dirty="0"/>
          </a:p>
        </p:txBody>
      </p:sp>
      <p:sp>
        <p:nvSpPr>
          <p:cNvPr id="23" name="R4_chip376"/>
          <p:cNvSpPr/>
          <p:nvPr/>
        </p:nvSpPr>
        <p:spPr>
          <a:xfrm>
            <a:off x="70408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Khalal and Lian Tang</a:t>
            </a:r>
            <a:endParaRPr lang="en-US" sz="1150" dirty="0"/>
          </a:p>
        </p:txBody>
      </p:sp>
      <p:sp>
        <p:nvSpPr>
          <p:cNvPr id="24" name="bd_377"/>
          <p:cNvSpPr/>
          <p:nvPr/>
        </p:nvSpPr>
        <p:spPr>
          <a:xfrm>
            <a:off x="470916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378"/>
          <p:cNvSpPr/>
          <p:nvPr/>
        </p:nvSpPr>
        <p:spPr>
          <a:xfrm>
            <a:off x="509320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and ___ think British people are friendly.</a:t>
            </a:r>
            <a:endParaRPr lang="en-US" sz="900" dirty="0"/>
          </a:p>
        </p:txBody>
      </p:sp>
      <p:sp>
        <p:nvSpPr>
          <p:cNvPr id="26" name="R5_chip379"/>
          <p:cNvSpPr/>
          <p:nvPr/>
        </p:nvSpPr>
        <p:spPr>
          <a:xfrm>
            <a:off x="509320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Camille and Shurooq</a:t>
            </a:r>
            <a:endParaRPr lang="en-US" sz="1150" dirty="0"/>
          </a:p>
        </p:txBody>
      </p:sp>
      <p:sp>
        <p:nvSpPr>
          <p:cNvPr id="27" name="bd_380"/>
          <p:cNvSpPr/>
          <p:nvPr/>
        </p:nvSpPr>
        <p:spPr>
          <a:xfrm>
            <a:off x="470916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381"/>
          <p:cNvSpPr/>
          <p:nvPr/>
        </p:nvSpPr>
        <p:spPr>
          <a:xfrm>
            <a:off x="509320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thinks British women live in a different way from her country.</a:t>
            </a:r>
            <a:endParaRPr lang="en-US" sz="800" dirty="0"/>
          </a:p>
        </p:txBody>
      </p:sp>
      <p:sp>
        <p:nvSpPr>
          <p:cNvPr id="29" name="R6_chip382"/>
          <p:cNvSpPr/>
          <p:nvPr/>
        </p:nvSpPr>
        <p:spPr>
          <a:xfrm>
            <a:off x="509320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Shurooq</a:t>
            </a:r>
            <a:endParaRPr lang="en-US" sz="1150" dirty="0"/>
          </a:p>
        </p:txBody>
      </p:sp>
      <p:sp>
        <p:nvSpPr>
          <p:cNvPr id="30" name="bd_383"/>
          <p:cNvSpPr/>
          <p:nvPr/>
        </p:nvSpPr>
        <p:spPr>
          <a:xfrm>
            <a:off x="470916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384"/>
          <p:cNvSpPr/>
          <p:nvPr/>
        </p:nvSpPr>
        <p:spPr>
          <a:xfrm>
            <a:off x="509320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doesn't think British people work hard.</a:t>
            </a:r>
            <a:endParaRPr lang="en-US" sz="900" dirty="0"/>
          </a:p>
        </p:txBody>
      </p:sp>
      <p:sp>
        <p:nvSpPr>
          <p:cNvPr id="32" name="R7_chip385"/>
          <p:cNvSpPr/>
          <p:nvPr/>
        </p:nvSpPr>
        <p:spPr>
          <a:xfrm>
            <a:off x="509320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Erdal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449824" cy="621792"/>
          </a:xfrm>
          <a:prstGeom prst="rect">
            <a:avLst/>
          </a:prstGeom>
        </p:spPr>
      </p:pic>
      <p:sp>
        <p:nvSpPr>
          <p:cNvPr id="5" name="title_388"/>
          <p:cNvSpPr/>
          <p:nvPr/>
        </p:nvSpPr>
        <p:spPr>
          <a:xfrm>
            <a:off x="1261872" y="164592"/>
            <a:ext cx="5175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Things I like about my country</a:t>
            </a:r>
            <a:endParaRPr lang="en-US" sz="2500" dirty="0"/>
          </a:p>
        </p:txBody>
      </p:sp>
      <p:pic>
        <p:nvPicPr>
          <p:cNvPr id="6" name="brP_3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9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sentences about Italy. Compare with a partner – say why!</a:t>
            </a:r>
            <a:endParaRPr lang="en-US" sz="1100" dirty="0"/>
          </a:p>
        </p:txBody>
      </p:sp>
      <p:sp>
        <p:nvSpPr>
          <p:cNvPr id="8" name="insIT_39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frasi sull'Italia. Confronta con un compagno – di' perché!</a:t>
            </a:r>
            <a:endParaRPr lang="en-US" sz="950" dirty="0"/>
          </a:p>
        </p:txBody>
      </p:sp>
      <p:sp>
        <p:nvSpPr>
          <p:cNvPr id="9" name="note_39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3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Speaking · my country   ·   📖 SB p.23 · 5a, 5b</a:t>
            </a:r>
            <a:endParaRPr lang="en-US" sz="800" dirty="0"/>
          </a:p>
        </p:txBody>
      </p:sp>
      <p:sp>
        <p:nvSpPr>
          <p:cNvPr id="12" name="pf_395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96" descr="/home/claude/lls-course/v2/cache/red_3a_festival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397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98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99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00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favourite thing about Italy is… because…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really love…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thing that I don't like is…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Why? – Because…</a:t>
            </a:r>
            <a:endParaRPr lang="en-US" sz="1050" dirty="0"/>
          </a:p>
        </p:txBody>
      </p:sp>
      <p:sp>
        <p:nvSpPr>
          <p:cNvPr id="18" name="R1_qb401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02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favourite thing about ___ is…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favourite thing about Italy is the food, because I love pasta and real Italian pasta is fantastic.</a:t>
            </a:r>
            <a:endParaRPr lang="en-US" sz="950" dirty="0"/>
          </a:p>
        </p:txBody>
      </p:sp>
      <p:sp>
        <p:nvSpPr>
          <p:cNvPr id="20" name="R2_qb403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04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really love… · I also like…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really love the sea in Sicily.</a:t>
            </a:r>
            <a:endParaRPr lang="en-US" sz="950" dirty="0"/>
          </a:p>
        </p:txBody>
      </p:sp>
      <p:sp>
        <p:nvSpPr>
          <p:cNvPr id="22" name="R3_qb405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06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thing that I don't like is… · I also don't like…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One thing that I don't like is the traffic in Palermo!</a:t>
            </a:r>
            <a:endParaRPr lang="en-US" sz="950" dirty="0"/>
          </a:p>
        </p:txBody>
      </p:sp>
      <p:sp>
        <p:nvSpPr>
          <p:cNvPr id="24" name="R4_qb407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08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Compare: do you like the same things?</a:t>
            </a:r>
            <a:endParaRPr lang="en-US" sz="9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Yes, we both love the food!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1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11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1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13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1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15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1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1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Exit · what can you remember?</a:t>
            </a:r>
            <a:endParaRPr lang="en-US" sz="800" dirty="0"/>
          </a:p>
        </p:txBody>
      </p:sp>
      <p:sp>
        <p:nvSpPr>
          <p:cNvPr id="12" name="bd_418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19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verb phrases (play the guitar…).</a:t>
            </a:r>
            <a:endParaRPr lang="en-US" sz="1400" dirty="0"/>
          </a:p>
        </p:txBody>
      </p:sp>
      <p:sp>
        <p:nvSpPr>
          <p:cNvPr id="14" name="bd_420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21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things your partner does – and 1 thing he or she doesn't do.</a:t>
            </a:r>
            <a:endParaRPr lang="en-US" sz="1400" dirty="0"/>
          </a:p>
        </p:txBody>
      </p:sp>
      <p:sp>
        <p:nvSpPr>
          <p:cNvPr id="16" name="bd_422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23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 like about Italy – and why.</a:t>
            </a:r>
            <a:endParaRPr lang="en-US" sz="1400" dirty="0"/>
          </a:p>
        </p:txBody>
      </p:sp>
      <p:sp>
        <p:nvSpPr>
          <p:cNvPr id="18" name="cd_424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25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26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27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3A pp.18–19: exercises 1–3</a:t>
            </a:r>
            <a:endParaRPr lang="en-US" sz="1150" dirty="0"/>
          </a:p>
        </p:txBody>
      </p:sp>
      <p:sp>
        <p:nvSpPr>
          <p:cNvPr id="22" name="st_428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3B 9 to 5 – present simple questions (SB p.24)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3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31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3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33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3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3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3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Review · what did you do today?</a:t>
            </a:r>
            <a:endParaRPr lang="en-US" sz="800" dirty="0"/>
          </a:p>
        </p:txBody>
      </p:sp>
      <p:sp>
        <p:nvSpPr>
          <p:cNvPr id="12" name="cd_438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39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🎸</a:t>
            </a:r>
            <a:endParaRPr lang="en-US" sz="1800" dirty="0"/>
          </a:p>
        </p:txBody>
      </p:sp>
      <p:sp>
        <p:nvSpPr>
          <p:cNvPr id="14" name="tt_440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24 verb phrases: play the guitar, wear glasses…</a:t>
            </a:r>
            <a:endParaRPr lang="en-US" sz="1350" dirty="0"/>
          </a:p>
        </p:txBody>
      </p:sp>
      <p:sp>
        <p:nvSpPr>
          <p:cNvPr id="15" name="R1_tk441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42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43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8" name="tt_444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what Carola likes about Britain</a:t>
            </a:r>
            <a:endParaRPr lang="en-US" sz="1350" dirty="0"/>
          </a:p>
        </p:txBody>
      </p:sp>
      <p:sp>
        <p:nvSpPr>
          <p:cNvPr id="19" name="R2_tk445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46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47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➕</a:t>
            </a:r>
            <a:endParaRPr lang="en-US" sz="1800" dirty="0"/>
          </a:p>
        </p:txBody>
      </p:sp>
      <p:sp>
        <p:nvSpPr>
          <p:cNvPr id="22" name="tt_448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Used the present simple: I live / she lives / he doesn't…</a:t>
            </a:r>
            <a:endParaRPr lang="en-US" sz="1350" dirty="0"/>
          </a:p>
        </p:txBody>
      </p:sp>
      <p:sp>
        <p:nvSpPr>
          <p:cNvPr id="23" name="R3_tk449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50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51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6" name="tt_452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-s: works /s/, lives /z/, watches /ɪz/</a:t>
            </a:r>
            <a:endParaRPr lang="en-US" sz="1350" dirty="0"/>
          </a:p>
        </p:txBody>
      </p:sp>
      <p:sp>
        <p:nvSpPr>
          <p:cNvPr id="27" name="R4_tk453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54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55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🇬🇧</a:t>
            </a:r>
            <a:endParaRPr lang="en-US" sz="1800" dirty="0"/>
          </a:p>
        </p:txBody>
      </p:sp>
      <p:sp>
        <p:nvSpPr>
          <p:cNvPr id="30" name="tt_456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what foreigners think of Britain</a:t>
            </a:r>
            <a:endParaRPr lang="en-US" sz="1350" dirty="0"/>
          </a:p>
        </p:txBody>
      </p:sp>
      <p:sp>
        <p:nvSpPr>
          <p:cNvPr id="31" name="R5_tk457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58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459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460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461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462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4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65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live… she lives!</a:t>
            </a:r>
            <a:endParaRPr lang="en-US" sz="2500" dirty="0"/>
          </a:p>
        </p:txBody>
      </p:sp>
      <p:pic>
        <p:nvPicPr>
          <p:cNvPr id="6" name="brP_4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901184" cy="402336"/>
          </a:xfrm>
          <a:prstGeom prst="rect">
            <a:avLst/>
          </a:prstGeom>
        </p:spPr>
      </p:pic>
      <p:sp>
        <p:nvSpPr>
          <p:cNvPr id="7" name="ins_467"/>
          <p:cNvSpPr/>
          <p:nvPr/>
        </p:nvSpPr>
        <p:spPr>
          <a:xfrm>
            <a:off x="1353312" y="731520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the sentence! Say it with the new person.</a:t>
            </a:r>
            <a:endParaRPr lang="en-US" sz="1250" dirty="0"/>
          </a:p>
        </p:txBody>
      </p:sp>
      <p:sp>
        <p:nvSpPr>
          <p:cNvPr id="8" name="insIT_4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Cambia la frase! Dilla con la nuova persona.</a:t>
            </a:r>
            <a:endParaRPr lang="en-US" sz="950" dirty="0"/>
          </a:p>
        </p:txBody>
      </p:sp>
      <p:sp>
        <p:nvSpPr>
          <p:cNvPr id="9" name="note_46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Communicative game</a:t>
            </a:r>
            <a:endParaRPr lang="en-US" sz="1150" dirty="0"/>
          </a:p>
        </p:txBody>
      </p:sp>
      <p:pic>
        <p:nvPicPr>
          <p:cNvPr id="10" name="logo_4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Pronunciation · drill   ·   📖 SB p.22 · 3c · audio 3.7 (TG script)</a:t>
            </a:r>
            <a:endParaRPr lang="en-US" sz="800" dirty="0"/>
          </a:p>
        </p:txBody>
      </p:sp>
      <p:sp>
        <p:nvSpPr>
          <p:cNvPr id="12" name="ext_472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473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47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5" name="ih_47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6" name="il_476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says a sentence + a new person.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Class changes the sentence.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individual students!</a:t>
            </a:r>
            <a:endParaRPr lang="en-US" sz="1200" dirty="0"/>
          </a:p>
        </p:txBody>
      </p:sp>
      <p:sp>
        <p:nvSpPr>
          <p:cNvPr id="17" name="ap_477"/>
          <p:cNvSpPr/>
          <p:nvPr/>
        </p:nvSpPr>
        <p:spPr>
          <a:xfrm>
            <a:off x="365760" y="3712464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3.7</a:t>
            </a:r>
            <a:endParaRPr lang="en-US" sz="1100" dirty="0"/>
          </a:p>
        </p:txBody>
      </p:sp>
      <p:sp>
        <p:nvSpPr>
          <p:cNvPr id="18" name="ah_478"/>
          <p:cNvSpPr/>
          <p:nvPr/>
        </p:nvSpPr>
        <p:spPr>
          <a:xfrm>
            <a:off x="4636008" y="45720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</a:t>
            </a:r>
            <a:endParaRPr lang="en-US" sz="1000" dirty="0"/>
          </a:p>
        </p:txBody>
      </p:sp>
      <p:pic>
        <p:nvPicPr>
          <p:cNvPr id="19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687568" y="4553712"/>
            <a:ext cx="411480" cy="411480"/>
          </a:xfrm>
          <a:prstGeom prst="rect">
            <a:avLst/>
          </a:prstGeom>
        </p:spPr>
      </p:pic>
      <p:sp>
        <p:nvSpPr>
          <p:cNvPr id="20" name="ah_479"/>
          <p:cNvSpPr/>
          <p:nvPr/>
        </p:nvSpPr>
        <p:spPr>
          <a:xfrm>
            <a:off x="7470648" y="45720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🐢 slower</a:t>
            </a:r>
            <a:endParaRPr lang="en-US" sz="1000" dirty="0"/>
          </a:p>
        </p:txBody>
      </p:sp>
      <p:pic>
        <p:nvPicPr>
          <p:cNvPr id="21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476488" y="4553712"/>
            <a:ext cx="411480" cy="411480"/>
          </a:xfrm>
          <a:prstGeom prst="rect">
            <a:avLst/>
          </a:prstGeom>
        </p:spPr>
      </p:pic>
      <p:sp>
        <p:nvSpPr>
          <p:cNvPr id="22" name="bd_480"/>
          <p:cNvSpPr/>
          <p:nvPr/>
        </p:nvSpPr>
        <p:spPr>
          <a:xfrm>
            <a:off x="3246120" y="140106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23" name="gq_481"/>
          <p:cNvSpPr/>
          <p:nvPr/>
        </p:nvSpPr>
        <p:spPr>
          <a:xfrm>
            <a:off x="3657600" y="14173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live in a flat. – She</a:t>
            </a:r>
            <a:endParaRPr lang="en-US" sz="1100" dirty="0"/>
          </a:p>
        </p:txBody>
      </p:sp>
      <p:sp>
        <p:nvSpPr>
          <p:cNvPr id="24" name="chip_482"/>
          <p:cNvSpPr/>
          <p:nvPr/>
        </p:nvSpPr>
        <p:spPr>
          <a:xfrm>
            <a:off x="6263640" y="14173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lives in a flat.</a:t>
            </a:r>
            <a:endParaRPr lang="en-US" sz="1200" dirty="0"/>
          </a:p>
        </p:txBody>
      </p:sp>
      <p:sp>
        <p:nvSpPr>
          <p:cNvPr id="25" name="bd_483"/>
          <p:cNvSpPr/>
          <p:nvPr/>
        </p:nvSpPr>
        <p:spPr>
          <a:xfrm>
            <a:off x="3246120" y="176174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gq_484"/>
          <p:cNvSpPr/>
          <p:nvPr/>
        </p:nvSpPr>
        <p:spPr>
          <a:xfrm>
            <a:off x="3657600" y="17780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need a new phone. – He</a:t>
            </a:r>
            <a:endParaRPr lang="en-US" sz="1100" dirty="0"/>
          </a:p>
        </p:txBody>
      </p:sp>
      <p:sp>
        <p:nvSpPr>
          <p:cNvPr id="27" name="R1_chip485"/>
          <p:cNvSpPr/>
          <p:nvPr/>
        </p:nvSpPr>
        <p:spPr>
          <a:xfrm>
            <a:off x="6263640" y="17780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needs a new phone.</a:t>
            </a:r>
            <a:endParaRPr lang="en-US" sz="1200" dirty="0"/>
          </a:p>
        </p:txBody>
      </p:sp>
      <p:sp>
        <p:nvSpPr>
          <p:cNvPr id="28" name="bd_486"/>
          <p:cNvSpPr/>
          <p:nvPr/>
        </p:nvSpPr>
        <p:spPr>
          <a:xfrm>
            <a:off x="3246120" y="212242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gq_487"/>
          <p:cNvSpPr/>
          <p:nvPr/>
        </p:nvSpPr>
        <p:spPr>
          <a:xfrm>
            <a:off x="3657600" y="21386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work in an office. – She</a:t>
            </a:r>
            <a:endParaRPr lang="en-US" sz="1100" dirty="0"/>
          </a:p>
        </p:txBody>
      </p:sp>
      <p:sp>
        <p:nvSpPr>
          <p:cNvPr id="30" name="R2_chip488"/>
          <p:cNvSpPr/>
          <p:nvPr/>
        </p:nvSpPr>
        <p:spPr>
          <a:xfrm>
            <a:off x="6263640" y="21386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works in an office.</a:t>
            </a:r>
            <a:endParaRPr lang="en-US" sz="1200" dirty="0"/>
          </a:p>
        </p:txBody>
      </p:sp>
      <p:sp>
        <p:nvSpPr>
          <p:cNvPr id="31" name="bd_489"/>
          <p:cNvSpPr/>
          <p:nvPr/>
        </p:nvSpPr>
        <p:spPr>
          <a:xfrm>
            <a:off x="3246120" y="24831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gq_490"/>
          <p:cNvSpPr/>
          <p:nvPr/>
        </p:nvSpPr>
        <p:spPr>
          <a:xfrm>
            <a:off x="3657600" y="24993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wear glasses. – He</a:t>
            </a:r>
            <a:endParaRPr lang="en-US" sz="1100" dirty="0"/>
          </a:p>
        </p:txBody>
      </p:sp>
      <p:sp>
        <p:nvSpPr>
          <p:cNvPr id="33" name="R3_chip491"/>
          <p:cNvSpPr/>
          <p:nvPr/>
        </p:nvSpPr>
        <p:spPr>
          <a:xfrm>
            <a:off x="6263640" y="24993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wears glasses.</a:t>
            </a:r>
            <a:endParaRPr lang="en-US" sz="1200" dirty="0"/>
          </a:p>
        </p:txBody>
      </p:sp>
      <p:sp>
        <p:nvSpPr>
          <p:cNvPr id="34" name="bd_492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gq_493"/>
          <p:cNvSpPr/>
          <p:nvPr/>
        </p:nvSpPr>
        <p:spPr>
          <a:xfrm>
            <a:off x="3657600" y="286004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finish at eight. – It</a:t>
            </a:r>
            <a:endParaRPr lang="en-US" sz="1100" dirty="0"/>
          </a:p>
        </p:txBody>
      </p:sp>
      <p:sp>
        <p:nvSpPr>
          <p:cNvPr id="36" name="R4_chip494"/>
          <p:cNvSpPr/>
          <p:nvPr/>
        </p:nvSpPr>
        <p:spPr>
          <a:xfrm>
            <a:off x="6263640" y="286004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 finishes at eight.</a:t>
            </a:r>
            <a:endParaRPr lang="en-US" sz="1200" dirty="0"/>
          </a:p>
        </p:txBody>
      </p:sp>
      <p:sp>
        <p:nvSpPr>
          <p:cNvPr id="37" name="bd_495"/>
          <p:cNvSpPr/>
          <p:nvPr/>
        </p:nvSpPr>
        <p:spPr>
          <a:xfrm>
            <a:off x="3246120" y="320446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gq_496"/>
          <p:cNvSpPr/>
          <p:nvPr/>
        </p:nvSpPr>
        <p:spPr>
          <a:xfrm>
            <a:off x="3657600" y="322072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have two children. – He</a:t>
            </a:r>
            <a:endParaRPr lang="en-US" sz="1100" dirty="0"/>
          </a:p>
        </p:txBody>
      </p:sp>
      <p:sp>
        <p:nvSpPr>
          <p:cNvPr id="39" name="R5_chip497"/>
          <p:cNvSpPr/>
          <p:nvPr/>
        </p:nvSpPr>
        <p:spPr>
          <a:xfrm>
            <a:off x="6263640" y="322072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has two children.</a:t>
            </a:r>
            <a:endParaRPr lang="en-US" sz="1200" dirty="0"/>
          </a:p>
        </p:txBody>
      </p:sp>
      <p:sp>
        <p:nvSpPr>
          <p:cNvPr id="40" name="bd_498"/>
          <p:cNvSpPr/>
          <p:nvPr/>
        </p:nvSpPr>
        <p:spPr>
          <a:xfrm>
            <a:off x="3246120" y="356514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gq_499"/>
          <p:cNvSpPr/>
          <p:nvPr/>
        </p:nvSpPr>
        <p:spPr>
          <a:xfrm>
            <a:off x="3657600" y="358140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do homework. – She</a:t>
            </a:r>
            <a:endParaRPr lang="en-US" sz="1100" dirty="0"/>
          </a:p>
        </p:txBody>
      </p:sp>
      <p:sp>
        <p:nvSpPr>
          <p:cNvPr id="42" name="R6_chip500"/>
          <p:cNvSpPr/>
          <p:nvPr/>
        </p:nvSpPr>
        <p:spPr>
          <a:xfrm>
            <a:off x="6263640" y="358140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does homework.</a:t>
            </a:r>
            <a:endParaRPr lang="en-US" sz="1200" dirty="0"/>
          </a:p>
        </p:txBody>
      </p:sp>
      <p:sp>
        <p:nvSpPr>
          <p:cNvPr id="43" name="bd_501"/>
          <p:cNvSpPr/>
          <p:nvPr/>
        </p:nvSpPr>
        <p:spPr>
          <a:xfrm>
            <a:off x="3246120" y="392582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gq_502"/>
          <p:cNvSpPr/>
          <p:nvPr/>
        </p:nvSpPr>
        <p:spPr>
          <a:xfrm>
            <a:off x="3657600" y="394208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study French. – He</a:t>
            </a:r>
            <a:endParaRPr lang="en-US" sz="1100" dirty="0"/>
          </a:p>
        </p:txBody>
      </p:sp>
      <p:sp>
        <p:nvSpPr>
          <p:cNvPr id="45" name="R7_chip503"/>
          <p:cNvSpPr/>
          <p:nvPr/>
        </p:nvSpPr>
        <p:spPr>
          <a:xfrm>
            <a:off x="6263640" y="394208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 studies French.</a:t>
            </a:r>
            <a:endParaRPr lang="en-US" sz="1200" dirty="0"/>
          </a:p>
        </p:txBody>
      </p:sp>
      <p:sp>
        <p:nvSpPr>
          <p:cNvPr id="46" name="bd_504"/>
          <p:cNvSpPr/>
          <p:nvPr/>
        </p:nvSpPr>
        <p:spPr>
          <a:xfrm>
            <a:off x="3246120" y="428650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gq_505"/>
          <p:cNvSpPr/>
          <p:nvPr/>
        </p:nvSpPr>
        <p:spPr>
          <a:xfrm>
            <a:off x="3657600" y="4302760"/>
            <a:ext cx="2514600" cy="296672"/>
          </a:xfrm>
          <a:prstGeom prst="roundRect">
            <a:avLst>
              <a:gd name="adj" fmla="val 3082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go shopping. – She</a:t>
            </a:r>
            <a:endParaRPr lang="en-US" sz="1100" dirty="0"/>
          </a:p>
        </p:txBody>
      </p:sp>
      <p:sp>
        <p:nvSpPr>
          <p:cNvPr id="48" name="R8_chip506"/>
          <p:cNvSpPr/>
          <p:nvPr/>
        </p:nvSpPr>
        <p:spPr>
          <a:xfrm>
            <a:off x="6263640" y="4302760"/>
            <a:ext cx="2560320" cy="296672"/>
          </a:xfrm>
          <a:prstGeom prst="roundRect">
            <a:avLst>
              <a:gd name="adj" fmla="val 30822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 goes shopping.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3A Britain: the good and the bad</dc:title>
  <dc:subject>PptxGenJS Presentation</dc:subject>
  <dc:creator>PptxGenJS</dc:creator>
  <cp:lastModifiedBy>PptxGenJS</cp:lastModifiedBy>
  <cp:revision>1</cp:revision>
  <dcterms:created xsi:type="dcterms:W3CDTF">2026-10-23T08:16:57Z</dcterms:created>
  <dcterms:modified xsi:type="dcterms:W3CDTF">2026-10-23T08:16:57Z</dcterms:modified>
</cp:coreProperties>
</file>