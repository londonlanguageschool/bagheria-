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mp3" ContentType="audio/mpeg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</p:sldIdLst>
  <p:notesMasterIdLst>
    <p:notesMasterId r:id="rId21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notesMaster" Target="notesMasters/notesMaster1.xml"/><Relationship Id="rId22" Type="http://schemas.openxmlformats.org/officeDocument/2006/relationships/presProps" Target="presProps.xml"/><Relationship Id="rId23" Type="http://schemas.openxmlformats.org/officeDocument/2006/relationships/viewProps" Target="viewProps.xml"/><Relationship Id="rId24" Type="http://schemas.openxmlformats.org/officeDocument/2006/relationships/theme" Target="theme/theme1.xml"/><Relationship Id="rId2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1. OPENING (2 min)
OPENING (2 min). TG: elicit ideas for 'Britain' and write them on the board. Speech bubbles p.22: 'It rains a lot here.' – 'Yes, but it doesn't rain every day.'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2. Revision · last lesson (3 min)
ACTIVE RECAP (3 min). Words: ⭐ ⭐⭐ ⭐⭐⭐. Grammar: students make their own imperative + Let's first.
HOW TO RUN IT (active recap): pairs. Words: A points at a word, B says what it means (⭐); then a sentence with it (⭐⭐); strong students make it negative or a question (⭐⭐⭐). Grammar: pairs make their own example for each use (offer, plan…) BEFORE you click – then click to show the model answers.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3. Vocabulary · verb phrases (3 min)
SOUNDS (3 min). Audio 3.1 isn't in our files – YOU make the sounds (or play them on your phone). The first is the example. Key (TG): 1 speak German 2 drink mineral water 3 watch TV 4 play the guitar 5 like animals.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4. Vocabulary Bank p.153 · verb phrases (1) (4 min)
VB 1 (4 min). Play 3.2 (it IS in our files) to check and drill. TG: have = possessions AND food/drink (have a coffee, have breakfast); eat = only food. take an umbrella ≠ carry.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5. Vocabulary Bank p.153 · verb phrases (2) (2 min)
VB 2 + 1c (3 min). Lines 4–6 = audio 3.3 (not in our files): YOU say the second part ('TV'), the class says the phrase ('watch TV'). TG extra challenge: pairs, A says 'dinner', B (book closed) says 'cook dinner'.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6. Grammar · What the British like about Britain (5 min)
ARTICLE (5 min). 1 is the example. Audio 3.4 isn't in our files – read the article aloud as the 'listen and check' (the text = the script). Key (TG): 2 the language 3 gardens 4 the freedom 5 the BBC 6 pubs 7 the weather 8 Indian food. The present simple is highlighted in the text.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7. Grammar · present simple + and − (4 min)
RULE (4 min). SB 2c: 1 phrases 7 and 8 end in -s: third person (he, she, it) · 2 I don't have, it doesn't rain – don't with I/you/we/they, doesn't with he/she/it (TG). TG: the pronoun is NOT optional in English (Italian: 'vive' / English: 'she lives'). Use Italian to talk about the grammar if needed (TG).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8. Grammar Bank 3A p.129 · a (5 min)
GRAMMAR BANK a (5 min). The TG answers; prompts written from them in the Grammar Bank style. Read the sentences aloud with rhythm: We live in a flat. We don't study French.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9. Grammar · choose the right option (4 min)
CHOOSE (4 min). The first is the example. Same verbs as Grammar Bank b (doesn't work, reads, speak, don't play, wears, listen, don't eat, has).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10. Pronunciation · third person -s (4 min)
-S (4 min). Audio 3.6 isn't in our files – YOU say the sentences. TG: /s/ after k, p, f, t (works, stops); /ɪz/ after ch, sh, s, x, ge (watches, finishes, closes); the rest /z/. Most important: /ɪz/ in the right place – lives is NOT /lɪvɪz/!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11. Speaking · about you (5 min)
ABOUT YOU (6 min). Demonstrate with yourself first (TG). Listen for he / she + s and doesn't + verb. Feedback from 3–4 students.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12. Reading · What foreigners who live in Britain think (1) (4 min)
READING 1 (4 min). Teach foreigner (= a person from another country). TG: a real (adapted) newspaper article – they CAN read it! Click once per person: ✓/✗ + the words that prove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13. Reading · What foreigners who live in Britain think (2) (4 min)
READING 2 (4 min). Key (TG): Erdal ✗ · Khalal ✗ · Camille ✓ · Shurooq ✓ · Michelle ✓ · Lian Tang ✓✗.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14. Reading · detail (4 min)
DETAIL (4 min). The 7 sentences exactly as in the book (look back at the two reading slides). Key (TG). 4c: everything = all things · everybody = all people · everywhere = all places.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15. Speaking · my country (5 min)
MY COUNTRY (5 min). The book's example is line 1. Teach because /bɪˈkɒz/ and favourite /ˈfeɪvərɪt/. Use because to answer Why?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16. Exit · what can you remember? (2 min)
EXIT (2 min). Pairs, books closed.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17. Review · what did you do today? (1 min)
TODAY YOU… (1 min). Read each line (one per click: the tick appears). Students show thumbs up / middle / down: can they do it now? Note any thumbs down for the next lesson's recap.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18. OPTIONAL EXTENSIONS
The lesson ended on the previous slide ("Today you…"). Use the next slides only if there is time left, or keep them for a quick start next lesson.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19. Pronunciation · drill (3 min)
DRILL (3 min). Audio 3.7 isn't in our files – YOU say the prompts (TG script). Chorus first, then individuals.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jpe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image" Target="../media/image-1-4.png"/><Relationship Id="rId5" Type="http://schemas.openxmlformats.org/officeDocument/2006/relationships/image" Target="../media/image-1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jpe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image" Target="../media/image-2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jpe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image" Target="../media/image-3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jpe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image" Target="../media/image-4-4.png"/><Relationship Id="rId5" Type="http://schemas.openxmlformats.org/officeDocument/2006/relationships/audio" Target="../media/media-4-5.mp3"/><Relationship Id="rId6" Type="http://schemas.microsoft.com/office/2007/relationships/media" Target="../media/media-4-5.mp3"/><Relationship Id="rId7" Type="http://schemas.openxmlformats.org/officeDocument/2006/relationships/image" Target="../media/image-4-7.png"/><Relationship Id="rId8" Type="http://schemas.openxmlformats.org/officeDocument/2006/relationships/audio" Target="../media/media-4-8.mp3"/><Relationship Id="rId9" Type="http://schemas.microsoft.com/office/2007/relationships/media" Target="../media/media-4-8.mp3"/><Relationship Id="rId10" Type="http://schemas.openxmlformats.org/officeDocument/2006/relationships/image" Target="../media/image-4-10.png"/><Relationship Id="rId11" Type="http://schemas.openxmlformats.org/officeDocument/2006/relationships/slideLayout" Target="../slideLayouts/slideLayout1.xml"/><Relationship Id="rId1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jpe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image" Target="../media/image-5-4.png"/><Relationship Id="rId5" Type="http://schemas.openxmlformats.org/officeDocument/2006/relationships/audio" Target="../media/media-5-5.mp3"/><Relationship Id="rId6" Type="http://schemas.microsoft.com/office/2007/relationships/media" Target="../media/media-5-5.mp3"/><Relationship Id="rId7" Type="http://schemas.openxmlformats.org/officeDocument/2006/relationships/image" Target="../media/image-5-7.png"/><Relationship Id="rId8" Type="http://schemas.openxmlformats.org/officeDocument/2006/relationships/audio" Target="../media/media-5-8.mp3"/><Relationship Id="rId9" Type="http://schemas.microsoft.com/office/2007/relationships/media" Target="../media/media-5-8.mp3"/><Relationship Id="rId10" Type="http://schemas.openxmlformats.org/officeDocument/2006/relationships/image" Target="../media/image-5-10.png"/><Relationship Id="rId11" Type="http://schemas.openxmlformats.org/officeDocument/2006/relationships/slideLayout" Target="../slideLayouts/slideLayout1.xml"/><Relationship Id="rId1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jpeg"/><Relationship Id="rId2" Type="http://schemas.openxmlformats.org/officeDocument/2006/relationships/image" Target="../media/image-6-2.png"/><Relationship Id="rId3" Type="http://schemas.openxmlformats.org/officeDocument/2006/relationships/image" Target="../media/image-6-3.png"/><Relationship Id="rId4" Type="http://schemas.openxmlformats.org/officeDocument/2006/relationships/image" Target="../media/image-6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jpeg"/><Relationship Id="rId2" Type="http://schemas.openxmlformats.org/officeDocument/2006/relationships/image" Target="../media/image-7-2.png"/><Relationship Id="rId3" Type="http://schemas.openxmlformats.org/officeDocument/2006/relationships/image" Target="../media/image-7-3.png"/><Relationship Id="rId4" Type="http://schemas.openxmlformats.org/officeDocument/2006/relationships/image" Target="../media/image-7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jpe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image" Target="../media/image-8-4.png"/><Relationship Id="rId5" Type="http://schemas.openxmlformats.org/officeDocument/2006/relationships/image" Target="../media/image-8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jpeg"/><Relationship Id="rId2" Type="http://schemas.openxmlformats.org/officeDocument/2006/relationships/image" Target="../media/image-9-2.png"/><Relationship Id="rId3" Type="http://schemas.openxmlformats.org/officeDocument/2006/relationships/image" Target="../media/image-9-3.png"/><Relationship Id="rId4" Type="http://schemas.openxmlformats.org/officeDocument/2006/relationships/image" Target="../media/image-9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jpeg"/><Relationship Id="rId2" Type="http://schemas.openxmlformats.org/officeDocument/2006/relationships/image" Target="../media/image-10-2.png"/><Relationship Id="rId3" Type="http://schemas.openxmlformats.org/officeDocument/2006/relationships/image" Target="../media/image-10-3.png"/><Relationship Id="rId4" Type="http://schemas.openxmlformats.org/officeDocument/2006/relationships/image" Target="../media/image-10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jpeg"/><Relationship Id="rId2" Type="http://schemas.openxmlformats.org/officeDocument/2006/relationships/image" Target="../media/image-11-2.png"/><Relationship Id="rId3" Type="http://schemas.openxmlformats.org/officeDocument/2006/relationships/image" Target="../media/image-11-3.png"/><Relationship Id="rId4" Type="http://schemas.openxmlformats.org/officeDocument/2006/relationships/image" Target="../media/image-11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-image-1.jpeg"/><Relationship Id="rId2" Type="http://schemas.openxmlformats.org/officeDocument/2006/relationships/image" Target="../media/image-12-2.png"/><Relationship Id="rId3" Type="http://schemas.openxmlformats.org/officeDocument/2006/relationships/image" Target="../media/image-12-3.png"/><Relationship Id="rId4" Type="http://schemas.openxmlformats.org/officeDocument/2006/relationships/image" Target="../media/image-12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3-image-1.jpeg"/><Relationship Id="rId2" Type="http://schemas.openxmlformats.org/officeDocument/2006/relationships/image" Target="../media/image-13-2.png"/><Relationship Id="rId3" Type="http://schemas.openxmlformats.org/officeDocument/2006/relationships/image" Target="../media/image-13-3.png"/><Relationship Id="rId4" Type="http://schemas.openxmlformats.org/officeDocument/2006/relationships/image" Target="../media/image-13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4-image-1.jpeg"/><Relationship Id="rId2" Type="http://schemas.openxmlformats.org/officeDocument/2006/relationships/image" Target="../media/image-14-2.png"/><Relationship Id="rId3" Type="http://schemas.openxmlformats.org/officeDocument/2006/relationships/image" Target="../media/image-14-3.png"/><Relationship Id="rId4" Type="http://schemas.openxmlformats.org/officeDocument/2006/relationships/image" Target="../media/image-14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5-image-1.jpeg"/><Relationship Id="rId2" Type="http://schemas.openxmlformats.org/officeDocument/2006/relationships/image" Target="../media/image-15-2.png"/><Relationship Id="rId3" Type="http://schemas.openxmlformats.org/officeDocument/2006/relationships/image" Target="../media/image-15-3.png"/><Relationship Id="rId4" Type="http://schemas.openxmlformats.org/officeDocument/2006/relationships/image" Target="../media/image-15-4.png"/><Relationship Id="rId5" Type="http://schemas.openxmlformats.org/officeDocument/2006/relationships/image" Target="../media/image-15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6-image-1.jpeg"/><Relationship Id="rId2" Type="http://schemas.openxmlformats.org/officeDocument/2006/relationships/image" Target="../media/image-16-2.png"/><Relationship Id="rId3" Type="http://schemas.openxmlformats.org/officeDocument/2006/relationships/image" Target="../media/image-16-3.png"/><Relationship Id="rId4" Type="http://schemas.openxmlformats.org/officeDocument/2006/relationships/image" Target="../media/image-16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7-image-1.jpeg"/><Relationship Id="rId2" Type="http://schemas.openxmlformats.org/officeDocument/2006/relationships/image" Target="../media/image-17-2.png"/><Relationship Id="rId3" Type="http://schemas.openxmlformats.org/officeDocument/2006/relationships/image" Target="../media/image-17-3.png"/><Relationship Id="rId4" Type="http://schemas.openxmlformats.org/officeDocument/2006/relationships/image" Target="../media/image-17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8-image-1.jpeg"/><Relationship Id="rId2" Type="http://schemas.openxmlformats.org/officeDocument/2006/relationships/image" Target="../media/image-18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9-image-1.jpeg"/><Relationship Id="rId2" Type="http://schemas.openxmlformats.org/officeDocument/2006/relationships/image" Target="../media/image-19-2.png"/><Relationship Id="rId3" Type="http://schemas.openxmlformats.org/officeDocument/2006/relationships/image" Target="../media/image-19-3.png"/><Relationship Id="rId4" Type="http://schemas.openxmlformats.org/officeDocument/2006/relationships/image" Target="../media/image-19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rs_1"/>
          <p:cNvSpPr/>
          <p:nvPr/>
        </p:nvSpPr>
        <p:spPr>
          <a:xfrm>
            <a:off x="411480" y="292608"/>
            <a:ext cx="4114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100" kern="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English File Elementary · SB pp.22–23 · VB p.153</a:t>
            </a:r>
            <a:endParaRPr lang="en-US" sz="1000" dirty="0"/>
          </a:p>
        </p:txBody>
      </p:sp>
      <p:sp>
        <p:nvSpPr>
          <p:cNvPr id="4" name="bd_2"/>
          <p:cNvSpPr/>
          <p:nvPr/>
        </p:nvSpPr>
        <p:spPr>
          <a:xfrm>
            <a:off x="365760" y="640080"/>
            <a:ext cx="1051560" cy="1051560"/>
          </a:xfrm>
          <a:prstGeom prst="ellipse">
            <a:avLst/>
          </a:prstGeom>
          <a:solidFill>
            <a:srgbClr val="E8508F"/>
          </a:solidFill>
          <a:ln w="28575">
            <a:solidFill>
              <a:srgbClr val="F7A6C4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3A</a:t>
            </a:r>
            <a:endParaRPr lang="en-US" sz="2800" dirty="0"/>
          </a:p>
        </p:txBody>
      </p:sp>
      <p:pic>
        <p:nvPicPr>
          <p:cNvPr id="5" name="bry_3" descr="/home/claude/lls-course/v2/assets/brush-yellow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63040" y="713232"/>
            <a:ext cx="3566160" cy="868680"/>
          </a:xfrm>
          <a:prstGeom prst="rect">
            <a:avLst/>
          </a:prstGeom>
        </p:spPr>
      </p:pic>
      <p:sp>
        <p:nvSpPr>
          <p:cNvPr id="6" name="t_4"/>
          <p:cNvSpPr/>
          <p:nvPr/>
        </p:nvSpPr>
        <p:spPr>
          <a:xfrm>
            <a:off x="1645920" y="731520"/>
            <a:ext cx="3108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9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Britain: the good and the bad</a:t>
            </a:r>
            <a:endParaRPr lang="en-US" sz="1900" dirty="0"/>
          </a:p>
        </p:txBody>
      </p:sp>
      <p:pic>
        <p:nvPicPr>
          <p:cNvPr id="7" name="brp_5" descr="/home/claude/lls-course/v2/assets/brush-pink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54480" y="1517904"/>
            <a:ext cx="3017520" cy="384048"/>
          </a:xfrm>
          <a:prstGeom prst="rect">
            <a:avLst/>
          </a:prstGeom>
        </p:spPr>
      </p:pic>
      <p:sp>
        <p:nvSpPr>
          <p:cNvPr id="8" name="st_6"/>
          <p:cNvSpPr/>
          <p:nvPr/>
        </p:nvSpPr>
        <p:spPr>
          <a:xfrm>
            <a:off x="1691640" y="1517904"/>
            <a:ext cx="28346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Present simple + and − · verb phrases</a:t>
            </a:r>
            <a:endParaRPr lang="en-US" sz="1050" dirty="0"/>
          </a:p>
        </p:txBody>
      </p:sp>
      <p:sp>
        <p:nvSpPr>
          <p:cNvPr id="9" name="cd_7"/>
          <p:cNvSpPr/>
          <p:nvPr/>
        </p:nvSpPr>
        <p:spPr>
          <a:xfrm>
            <a:off x="365760" y="2148840"/>
            <a:ext cx="4206240" cy="1691640"/>
          </a:xfrm>
          <a:prstGeom prst="roundRect">
            <a:avLst>
              <a:gd name="adj" fmla="val 7568"/>
            </a:avLst>
          </a:prstGeom>
          <a:solidFill>
            <a:srgbClr val="E3F1FD"/>
          </a:solidFill>
          <a:ln w="28575">
            <a:solidFill>
              <a:srgbClr val="A9D3F5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10" name="ii_8"/>
          <p:cNvSpPr/>
          <p:nvPr/>
        </p:nvSpPr>
        <p:spPr>
          <a:xfrm>
            <a:off x="457200" y="222199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🎯</a:t>
            </a:r>
            <a:endParaRPr lang="en-US" sz="2200" dirty="0"/>
          </a:p>
        </p:txBody>
      </p:sp>
      <p:sp>
        <p:nvSpPr>
          <p:cNvPr id="11" name="ih_9"/>
          <p:cNvSpPr/>
          <p:nvPr/>
        </p:nvSpPr>
        <p:spPr>
          <a:xfrm>
            <a:off x="932688" y="2240280"/>
            <a:ext cx="3566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Today you're going to…</a:t>
            </a:r>
            <a:endParaRPr lang="en-US" sz="1600" dirty="0"/>
          </a:p>
        </p:txBody>
      </p:sp>
      <p:sp>
        <p:nvSpPr>
          <p:cNvPr id="12" name="il_10"/>
          <p:cNvSpPr/>
          <p:nvPr/>
        </p:nvSpPr>
        <p:spPr>
          <a:xfrm>
            <a:off x="932688" y="2642616"/>
            <a:ext cx="3547872" cy="112471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spcAft>
                <a:spcPts val="200"/>
              </a:spcAft>
              <a:buNone/>
            </a:pPr>
            <a:r>
              <a:rPr lang="en-US" sz="8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🎸  learn 24 verb phrases: play the guitar, wear glasses…</a:t>
            </a:r>
            <a:endParaRPr lang="en-US" sz="850" dirty="0"/>
          </a:p>
          <a:p>
            <a:pPr indent="0" marL="0">
              <a:spcBef>
                <a:spcPts val="600"/>
              </a:spcBef>
              <a:spcAft>
                <a:spcPts val="200"/>
              </a:spcAft>
              <a:buNone/>
            </a:pPr>
            <a:r>
              <a:rPr lang="en-US" sz="8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📖  read what Carola likes about Britain</a:t>
            </a:r>
            <a:endParaRPr lang="en-US" sz="850" dirty="0"/>
          </a:p>
          <a:p>
            <a:pPr indent="0" marL="0">
              <a:spcBef>
                <a:spcPts val="600"/>
              </a:spcBef>
              <a:spcAft>
                <a:spcPts val="200"/>
              </a:spcAft>
              <a:buNone/>
            </a:pPr>
            <a:r>
              <a:rPr lang="en-US" sz="8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➕  use the present simple: I live / she lives / he doesn't…</a:t>
            </a:r>
            <a:endParaRPr lang="en-US" sz="850" dirty="0"/>
          </a:p>
          <a:p>
            <a:pPr indent="0" marL="0">
              <a:spcBef>
                <a:spcPts val="600"/>
              </a:spcBef>
              <a:spcAft>
                <a:spcPts val="200"/>
              </a:spcAft>
              <a:buNone/>
            </a:pPr>
            <a:r>
              <a:rPr lang="en-US" sz="8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🐍  say -s: works /s/, lives /z/, watches /ɪz/</a:t>
            </a:r>
            <a:endParaRPr lang="en-US" sz="850" dirty="0"/>
          </a:p>
          <a:p>
            <a:pPr indent="0" marL="0">
              <a:spcBef>
                <a:spcPts val="600"/>
              </a:spcBef>
              <a:spcAft>
                <a:spcPts val="200"/>
              </a:spcAft>
              <a:buNone/>
            </a:pPr>
            <a:r>
              <a:rPr lang="en-US" sz="8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🇬🇧  read what foreigners think of Britain</a:t>
            </a:r>
            <a:endParaRPr lang="en-US" sz="850" dirty="0"/>
          </a:p>
        </p:txBody>
      </p:sp>
      <p:sp>
        <p:nvSpPr>
          <p:cNvPr id="13" name="R1_ex11"/>
          <p:cNvSpPr/>
          <p:nvPr/>
        </p:nvSpPr>
        <p:spPr>
          <a:xfrm>
            <a:off x="365760" y="3950208"/>
            <a:ext cx="4206240" cy="603504"/>
          </a:xfrm>
          <a:prstGeom prst="roundRect">
            <a:avLst>
              <a:gd name="adj" fmla="val 18182"/>
            </a:avLst>
          </a:prstGeom>
          <a:solidFill>
            <a:srgbClr val="FFF6CC"/>
          </a:solidFill>
          <a:ln w="28575">
            <a:solidFill>
              <a:srgbClr val="FFE07A"/>
            </a:solidFill>
          </a:ln>
        </p:spPr>
        <p:txBody>
          <a:bodyPr wrap="square" lIns="152400" tIns="25400" rIns="152400" bIns="25400" rtlCol="0" anchor="ctr">
            <a:normAutofit/>
          </a:bodyPr>
          <a:lstStyle/>
          <a:p>
            <a:pPr indent="0" marL="0">
              <a:buNone/>
            </a:pPr>
            <a:r>
              <a:rPr lang="en-US" sz="1000" dirty="0">
                <a:solidFill>
                  <a:srgbClr val="E8508F"/>
                </a:solidFill>
                <a:latin typeface="Segoe UI Black" pitchFamily="34" charset="0"/>
                <a:ea typeface="Segoe UI Black" pitchFamily="34" charset="-122"/>
                <a:cs typeface="Segoe UI Black" pitchFamily="34" charset="-120"/>
              </a:rPr>
              <a:t>EXAMPLE  </a:t>
            </a:r>
            <a:pPr indent="0" marL="0">
              <a:buNone/>
            </a:pPr>
            <a:r>
              <a:rPr lang="en-US" sz="1300" i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Rain, tea, London, the Queen… and fish and chips!</a:t>
            </a:r>
            <a:endParaRPr lang="en-US" sz="1000" dirty="0"/>
          </a:p>
        </p:txBody>
      </p:sp>
      <p:sp>
        <p:nvSpPr>
          <p:cNvPr id="14" name="pf_12"/>
          <p:cNvSpPr/>
          <p:nvPr/>
        </p:nvSpPr>
        <p:spPr>
          <a:xfrm rot="90000">
            <a:off x="4846320" y="1273283"/>
            <a:ext cx="3977640" cy="2208313"/>
          </a:xfrm>
          <a:prstGeom prst="roundRect">
            <a:avLst>
              <a:gd name="adj" fmla="val 7039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20000"/>
              </a:srgbClr>
            </a:outerShdw>
          </a:effectLst>
        </p:spPr>
      </p:sp>
      <p:pic>
        <p:nvPicPr>
          <p:cNvPr id="15" name="ph_13" descr="/home/claude/lls-course/v2/cache/red_3a_cornwall_jpg_935x509_31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 rot="90000">
            <a:off x="4892040" y="1319003"/>
            <a:ext cx="3886200" cy="2116873"/>
          </a:xfrm>
          <a:prstGeom prst="rect">
            <a:avLst/>
          </a:prstGeom>
        </p:spPr>
      </p:pic>
      <p:sp>
        <p:nvSpPr>
          <p:cNvPr id="16" name="bb_14"/>
          <p:cNvSpPr/>
          <p:nvPr/>
        </p:nvSpPr>
        <p:spPr>
          <a:xfrm>
            <a:off x="5120640" y="3611880"/>
            <a:ext cx="3566160" cy="822960"/>
          </a:xfrm>
          <a:prstGeom prst="wedgeRoundRectCallout">
            <a:avLst/>
          </a:prstGeom>
          <a:solidFill>
            <a:srgbClr val="FFFFFF"/>
          </a:solidFill>
          <a:ln w="28575">
            <a:solidFill>
              <a:srgbClr val="F7A6C4"/>
            </a:solidFill>
          </a:ln>
          <a:effectLst>
            <a:outerShdw sx="100000" sy="100000" kx="0" ky="0" algn="bl" rotWithShape="0" blurRad="88900" dist="31750" dir="5400000">
              <a:srgbClr val="1B2559">
                <a:alpha val="10000"/>
              </a:srgbClr>
            </a:outerShdw>
          </a:effectLst>
        </p:spPr>
        <p:txBody>
          <a:bodyPr wrap="square" lIns="127000" tIns="50800" rIns="127000" bIns="50800" rtlCol="0" anchor="ctr">
            <a:normAutofit/>
          </a:bodyPr>
          <a:lstStyle/>
          <a:p>
            <a:pPr algn="ctr" indent="0" marL="0">
              <a:buNone/>
            </a:pPr>
            <a:r>
              <a:rPr lang="en-US" sz="16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What do you think of when you hear the word 'Britain'?</a:t>
            </a:r>
            <a:endParaRPr lang="en-US" sz="1600" dirty="0"/>
          </a:p>
        </p:txBody>
      </p:sp>
      <p:sp>
        <p:nvSpPr>
          <p:cNvPr id="17" name="st_15"/>
          <p:cNvSpPr/>
          <p:nvPr/>
        </p:nvSpPr>
        <p:spPr>
          <a:xfrm rot="360000">
            <a:off x="7543800" y="502920"/>
            <a:ext cx="1325880" cy="384048"/>
          </a:xfrm>
          <a:prstGeom prst="rect">
            <a:avLst/>
          </a:prstGeom>
          <a:solidFill>
            <a:srgbClr val="FFC2DA"/>
          </a:solidFill>
          <a:ln>
            <a:solidFill>
              <a:srgbClr val="FFC2DA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50800" tIns="50800" rIns="50800" bIns="50800" rtlCol="0" anchor="ctr">
            <a:normAutofit/>
          </a:bodyPr>
          <a:lstStyle/>
          <a:p>
            <a:pPr algn="ctr" indent="0" marL="0">
              <a:buNone/>
            </a:pPr>
            <a:r>
              <a:rPr lang="en-US" sz="95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💡 THINK · PENSA</a:t>
            </a:r>
            <a:endParaRPr lang="en-US" sz="950" dirty="0"/>
          </a:p>
        </p:txBody>
      </p:sp>
      <p:pic>
        <p:nvPicPr>
          <p:cNvPr id="18" name="logo_16" descr="/home/claude/lls-course/v2/img/logo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485632" y="4526280"/>
            <a:ext cx="502920" cy="502920"/>
          </a:xfrm>
          <a:prstGeom prst="rect">
            <a:avLst/>
          </a:prstGeom>
        </p:spPr>
      </p:pic>
    </p:spTree>
  </p:cSld>
  <p:clrMapOvr>
    <a:masterClrMapping/>
  </p:clrMapOvr>
  <p:transition spd="med">
    <p:push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bd_17"/>
          <p:cNvSpPr/>
          <p:nvPr/>
        </p:nvSpPr>
        <p:spPr>
          <a:xfrm>
            <a:off x="201168" y="164592"/>
            <a:ext cx="841248" cy="841248"/>
          </a:xfrm>
          <a:prstGeom prst="ellipse">
            <a:avLst/>
          </a:prstGeom>
          <a:solidFill>
            <a:srgbClr val="2F8DE4"/>
          </a:solidFill>
          <a:ln w="28575">
            <a:solidFill>
              <a:srgbClr val="A9D3F5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2</a:t>
            </a:r>
            <a:endParaRPr lang="en-US" sz="2800" dirty="0"/>
          </a:p>
        </p:txBody>
      </p:sp>
      <p:pic>
        <p:nvPicPr>
          <p:cNvPr id="4" name="brY_18" descr="/home/claude/lls-course/v2/assets/brush-yellow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46304"/>
            <a:ext cx="4034333" cy="621792"/>
          </a:xfrm>
          <a:prstGeom prst="rect">
            <a:avLst/>
          </a:prstGeom>
        </p:spPr>
      </p:pic>
      <p:sp>
        <p:nvSpPr>
          <p:cNvPr id="5" name="title_19"/>
          <p:cNvSpPr/>
          <p:nvPr/>
        </p:nvSpPr>
        <p:spPr>
          <a:xfrm>
            <a:off x="1261872" y="164592"/>
            <a:ext cx="3760013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Remember last lesson?</a:t>
            </a:r>
            <a:endParaRPr lang="en-US" sz="2400" dirty="0"/>
          </a:p>
        </p:txBody>
      </p:sp>
      <p:pic>
        <p:nvPicPr>
          <p:cNvPr id="6" name="brP_20" descr="/home/claude/lls-course/v2/assets/brush-pink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07008" y="731520"/>
            <a:ext cx="5257800" cy="402336"/>
          </a:xfrm>
          <a:prstGeom prst="rect">
            <a:avLst/>
          </a:prstGeom>
        </p:spPr>
      </p:pic>
      <p:sp>
        <p:nvSpPr>
          <p:cNvPr id="7" name="ins_21"/>
          <p:cNvSpPr/>
          <p:nvPr/>
        </p:nvSpPr>
        <p:spPr>
          <a:xfrm>
            <a:off x="1353312" y="731520"/>
            <a:ext cx="500176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i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Can you remember? Say it – then use it in a sentence!</a:t>
            </a:r>
            <a:endParaRPr lang="en-US" sz="1250" dirty="0"/>
          </a:p>
        </p:txBody>
      </p:sp>
      <p:sp>
        <p:nvSpPr>
          <p:cNvPr id="8" name="insIT_22"/>
          <p:cNvSpPr/>
          <p:nvPr/>
        </p:nvSpPr>
        <p:spPr>
          <a:xfrm>
            <a:off x="1371600" y="1115568"/>
            <a:ext cx="5074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i="1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Ti ricordi? Dillo – poi usalo in una frase!</a:t>
            </a:r>
            <a:endParaRPr lang="en-US" sz="950" dirty="0"/>
          </a:p>
        </p:txBody>
      </p:sp>
      <p:sp>
        <p:nvSpPr>
          <p:cNvPr id="9" name="note_23"/>
          <p:cNvSpPr/>
          <p:nvPr/>
        </p:nvSpPr>
        <p:spPr>
          <a:xfrm rot="180000">
            <a:off x="6382512" y="128016"/>
            <a:ext cx="2029968" cy="1024128"/>
          </a:xfrm>
          <a:prstGeom prst="rect">
            <a:avLst/>
          </a:prstGeom>
          <a:solidFill>
            <a:srgbClr val="FFC2DA"/>
          </a:solidFill>
          <a:ln>
            <a:solidFill>
              <a:srgbClr val="FFC2DA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50800" tIns="50800" rIns="50800" bIns="50800" rtlCol="0" anchor="ctr">
            <a:normAutofit/>
          </a:bodyPr>
          <a:lstStyle/>
          <a:p>
            <a:pPr algn="ctr" indent="0" marL="0">
              <a:buNone/>
            </a:pPr>
            <a:r>
              <a:rPr lang="en-US" sz="115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💡 THINK</a:t>
            </a:r>
            <a:pPr algn="ctr" indent="0" marL="0">
              <a:buNone/>
            </a:pPr>
            <a:r>
              <a:rPr lang="en-US" sz="1200" dirty="0">
                <a:solidFill>
                  <a:srgbClr val="5B6785"/>
                </a:solidFill>
              </a:rPr>
              <a:t> → </a:t>
            </a:r>
            <a:pPr algn="ctr" indent="0" marL="0">
              <a:buNone/>
            </a:pPr>
            <a:r>
              <a:rPr lang="en-US" sz="115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💬 TALK</a:t>
            </a:r>
            <a:endParaRPr lang="en-US" sz="115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⏱ 3 min   👥 pairs</a:t>
            </a:r>
            <a:endParaRPr lang="en-US" sz="115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🎯 Revision · Retrieval</a:t>
            </a:r>
            <a:endParaRPr lang="en-US" sz="1150" dirty="0"/>
          </a:p>
        </p:txBody>
      </p:sp>
      <p:pic>
        <p:nvPicPr>
          <p:cNvPr id="10" name="logo_24" descr="/home/claude/lls-course/v2/img/logo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85632" y="128016"/>
            <a:ext cx="502920" cy="502920"/>
          </a:xfrm>
          <a:prstGeom prst="rect">
            <a:avLst/>
          </a:prstGeom>
        </p:spPr>
      </p:pic>
      <p:sp>
        <p:nvSpPr>
          <p:cNvPr id="11" name="foot_25"/>
          <p:cNvSpPr/>
          <p:nvPr/>
        </p:nvSpPr>
        <p:spPr>
          <a:xfrm>
            <a:off x="274320" y="4873752"/>
            <a:ext cx="6858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3A · Revision · last lesson</a:t>
            </a:r>
            <a:endParaRPr lang="en-US" sz="800" dirty="0"/>
          </a:p>
        </p:txBody>
      </p:sp>
      <p:sp>
        <p:nvSpPr>
          <p:cNvPr id="12" name="pf_26"/>
          <p:cNvSpPr/>
          <p:nvPr/>
        </p:nvSpPr>
        <p:spPr>
          <a:xfrm rot="-120000">
            <a:off x="365760" y="1673486"/>
            <a:ext cx="2651760" cy="1042147"/>
          </a:xfrm>
          <a:prstGeom prst="roundRect">
            <a:avLst>
              <a:gd name="adj" fmla="val 14916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20000"/>
              </a:srgbClr>
            </a:outerShdw>
          </a:effectLst>
        </p:spPr>
      </p:sp>
      <p:pic>
        <p:nvPicPr>
          <p:cNvPr id="13" name="ph_27" descr="/home/claude/lls-course/v2/cache/red_r12_centralpark_jpg_616x229_31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 rot="-120000">
            <a:off x="411480" y="1719206"/>
            <a:ext cx="2560320" cy="950707"/>
          </a:xfrm>
          <a:prstGeom prst="rect">
            <a:avLst/>
          </a:prstGeom>
        </p:spPr>
      </p:pic>
      <p:sp>
        <p:nvSpPr>
          <p:cNvPr id="14" name="cd_28"/>
          <p:cNvSpPr/>
          <p:nvPr/>
        </p:nvSpPr>
        <p:spPr>
          <a:xfrm>
            <a:off x="320040" y="3200400"/>
            <a:ext cx="2743200" cy="1402080"/>
          </a:xfrm>
          <a:prstGeom prst="roundRect">
            <a:avLst>
              <a:gd name="adj" fmla="val 9130"/>
            </a:avLst>
          </a:prstGeom>
          <a:solidFill>
            <a:srgbClr val="EEE8FB"/>
          </a:solidFill>
          <a:ln w="28575">
            <a:solidFill>
              <a:srgbClr val="CDBFF3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15" name="ii_29"/>
          <p:cNvSpPr/>
          <p:nvPr/>
        </p:nvSpPr>
        <p:spPr>
          <a:xfrm>
            <a:off x="411480" y="327355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📅</a:t>
            </a:r>
            <a:endParaRPr lang="en-US" sz="2200" dirty="0"/>
          </a:p>
        </p:txBody>
      </p:sp>
      <p:sp>
        <p:nvSpPr>
          <p:cNvPr id="16" name="ih_30"/>
          <p:cNvSpPr/>
          <p:nvPr/>
        </p:nvSpPr>
        <p:spPr>
          <a:xfrm>
            <a:off x="886968" y="3291840"/>
            <a:ext cx="2103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Last lesson…</a:t>
            </a:r>
            <a:endParaRPr lang="en-US" sz="1300" dirty="0"/>
          </a:p>
        </p:txBody>
      </p:sp>
      <p:sp>
        <p:nvSpPr>
          <p:cNvPr id="17" name="il_31"/>
          <p:cNvSpPr/>
          <p:nvPr/>
        </p:nvSpPr>
        <p:spPr>
          <a:xfrm>
            <a:off x="886968" y="3694176"/>
            <a:ext cx="2084832" cy="83515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1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Revise and Check 1&amp;2</a:t>
            </a:r>
            <a:endParaRPr lang="en-US" sz="1100" dirty="0"/>
          </a:p>
          <a:p>
            <a:pPr marL="152400" indent="-152400">
              <a:spcBef>
                <a:spcPts val="600"/>
              </a:spcBef>
              <a:spcAft>
                <a:spcPts val="200"/>
              </a:spcAft>
              <a:buSzPct val="100000"/>
              <a:buChar char="•"/>
            </a:pPr>
            <a:r>
              <a:rPr lang="en-US" sz="11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be · a / an · adjectives · imperatives</a:t>
            </a:r>
            <a:endParaRPr lang="en-US" sz="1100" dirty="0"/>
          </a:p>
        </p:txBody>
      </p:sp>
      <p:sp>
        <p:nvSpPr>
          <p:cNvPr id="18" name="kw_32"/>
          <p:cNvSpPr/>
          <p:nvPr/>
        </p:nvSpPr>
        <p:spPr>
          <a:xfrm>
            <a:off x="3246120" y="1417320"/>
            <a:ext cx="5623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🔤 Can you remember these words? What do they mean?</a:t>
            </a:r>
            <a:endParaRPr lang="en-US" sz="1200" dirty="0"/>
          </a:p>
        </p:txBody>
      </p:sp>
      <p:sp>
        <p:nvSpPr>
          <p:cNvPr id="19" name="w_33"/>
          <p:cNvSpPr/>
          <p:nvPr/>
        </p:nvSpPr>
        <p:spPr>
          <a:xfrm>
            <a:off x="3246120" y="1783080"/>
            <a:ext cx="1280160" cy="347472"/>
          </a:xfrm>
          <a:prstGeom prst="roundRect">
            <a:avLst>
              <a:gd name="adj" fmla="val 50000"/>
            </a:avLst>
          </a:prstGeom>
          <a:solidFill>
            <a:srgbClr val="FFE3EE"/>
          </a:solidFill>
          <a:ln w="28575">
            <a:solidFill>
              <a:srgbClr val="F7A6C4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sunglasses</a:t>
            </a:r>
            <a:endParaRPr lang="en-US" sz="1200" dirty="0"/>
          </a:p>
        </p:txBody>
      </p:sp>
      <p:sp>
        <p:nvSpPr>
          <p:cNvPr id="20" name="w_34"/>
          <p:cNvSpPr/>
          <p:nvPr/>
        </p:nvSpPr>
        <p:spPr>
          <a:xfrm>
            <a:off x="4617720" y="1783080"/>
            <a:ext cx="932688" cy="347472"/>
          </a:xfrm>
          <a:prstGeom prst="roundRect">
            <a:avLst>
              <a:gd name="adj" fmla="val 50000"/>
            </a:avLst>
          </a:prstGeom>
          <a:solidFill>
            <a:srgbClr val="E3F1FD"/>
          </a:solidFill>
          <a:ln w="28575">
            <a:solidFill>
              <a:srgbClr val="A9D3F5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wallet</a:t>
            </a:r>
            <a:endParaRPr lang="en-US" sz="1200" dirty="0"/>
          </a:p>
        </p:txBody>
      </p:sp>
      <p:sp>
        <p:nvSpPr>
          <p:cNvPr id="21" name="w_35"/>
          <p:cNvSpPr/>
          <p:nvPr/>
        </p:nvSpPr>
        <p:spPr>
          <a:xfrm>
            <a:off x="5641848" y="1783080"/>
            <a:ext cx="1193292" cy="347472"/>
          </a:xfrm>
          <a:prstGeom prst="roundRect">
            <a:avLst>
              <a:gd name="adj" fmla="val 50000"/>
            </a:avLst>
          </a:prstGeom>
          <a:solidFill>
            <a:srgbClr val="E3F7EA"/>
          </a:solidFill>
          <a:ln w="28575">
            <a:solidFill>
              <a:srgbClr val="A8E5BE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expensive</a:t>
            </a:r>
            <a:endParaRPr lang="en-US" sz="1200" dirty="0"/>
          </a:p>
        </p:txBody>
      </p:sp>
      <p:sp>
        <p:nvSpPr>
          <p:cNvPr id="22" name="w_36"/>
          <p:cNvSpPr/>
          <p:nvPr/>
        </p:nvSpPr>
        <p:spPr>
          <a:xfrm>
            <a:off x="6926580" y="1783080"/>
            <a:ext cx="845820" cy="347472"/>
          </a:xfrm>
          <a:prstGeom prst="roundRect">
            <a:avLst>
              <a:gd name="adj" fmla="val 50000"/>
            </a:avLst>
          </a:prstGeom>
          <a:solidFill>
            <a:srgbClr val="FFF6CC"/>
          </a:solidFill>
          <a:ln w="28575">
            <a:solidFill>
              <a:srgbClr val="FFE07A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cheap</a:t>
            </a:r>
            <a:endParaRPr lang="en-US" sz="1200" dirty="0"/>
          </a:p>
        </p:txBody>
      </p:sp>
      <p:sp>
        <p:nvSpPr>
          <p:cNvPr id="23" name="w_37"/>
          <p:cNvSpPr/>
          <p:nvPr/>
        </p:nvSpPr>
        <p:spPr>
          <a:xfrm>
            <a:off x="7863840" y="1783080"/>
            <a:ext cx="758952" cy="347472"/>
          </a:xfrm>
          <a:prstGeom prst="roundRect">
            <a:avLst>
              <a:gd name="adj" fmla="val 50000"/>
            </a:avLst>
          </a:prstGeom>
          <a:solidFill>
            <a:srgbClr val="FFE3EE"/>
          </a:solidFill>
          <a:ln w="28575">
            <a:solidFill>
              <a:srgbClr val="F7A6C4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tidy</a:t>
            </a:r>
            <a:endParaRPr lang="en-US" sz="1200" dirty="0"/>
          </a:p>
        </p:txBody>
      </p:sp>
      <p:sp>
        <p:nvSpPr>
          <p:cNvPr id="24" name="w_38"/>
          <p:cNvSpPr/>
          <p:nvPr/>
        </p:nvSpPr>
        <p:spPr>
          <a:xfrm>
            <a:off x="3246120" y="2185416"/>
            <a:ext cx="1106424" cy="347472"/>
          </a:xfrm>
          <a:prstGeom prst="roundRect">
            <a:avLst>
              <a:gd name="adj" fmla="val 50000"/>
            </a:avLst>
          </a:prstGeom>
          <a:solidFill>
            <a:srgbClr val="E3F1FD"/>
          </a:solidFill>
          <a:ln w="28575">
            <a:solidFill>
              <a:srgbClr val="A9D3F5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stressed</a:t>
            </a:r>
            <a:endParaRPr lang="en-US" sz="1200" dirty="0"/>
          </a:p>
        </p:txBody>
      </p:sp>
      <p:sp>
        <p:nvSpPr>
          <p:cNvPr id="25" name="w_39"/>
          <p:cNvSpPr/>
          <p:nvPr/>
        </p:nvSpPr>
        <p:spPr>
          <a:xfrm>
            <a:off x="4443984" y="2185416"/>
            <a:ext cx="1367028" cy="347472"/>
          </a:xfrm>
          <a:prstGeom prst="roundRect">
            <a:avLst>
              <a:gd name="adj" fmla="val 50000"/>
            </a:avLst>
          </a:prstGeom>
          <a:solidFill>
            <a:srgbClr val="E3F7EA"/>
          </a:solidFill>
          <a:ln w="28575">
            <a:solidFill>
              <a:srgbClr val="A8E5BE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Switzerland</a:t>
            </a:r>
            <a:endParaRPr lang="en-US" sz="1200" dirty="0"/>
          </a:p>
        </p:txBody>
      </p:sp>
      <p:sp>
        <p:nvSpPr>
          <p:cNvPr id="26" name="w_40"/>
          <p:cNvSpPr/>
          <p:nvPr/>
        </p:nvSpPr>
        <p:spPr>
          <a:xfrm>
            <a:off x="5902452" y="2185416"/>
            <a:ext cx="932688" cy="347472"/>
          </a:xfrm>
          <a:prstGeom prst="roundRect">
            <a:avLst>
              <a:gd name="adj" fmla="val 50000"/>
            </a:avLst>
          </a:prstGeom>
          <a:solidFill>
            <a:srgbClr val="FFF6CC"/>
          </a:solidFill>
          <a:ln w="28575">
            <a:solidFill>
              <a:srgbClr val="FFE07A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Let's…</a:t>
            </a:r>
            <a:endParaRPr lang="en-US" sz="1200" dirty="0"/>
          </a:p>
        </p:txBody>
      </p:sp>
      <p:sp>
        <p:nvSpPr>
          <p:cNvPr id="27" name="lv_41"/>
          <p:cNvSpPr/>
          <p:nvPr/>
        </p:nvSpPr>
        <p:spPr>
          <a:xfrm>
            <a:off x="3246120" y="2642616"/>
            <a:ext cx="1813560" cy="384048"/>
          </a:xfrm>
          <a:prstGeom prst="roundRect">
            <a:avLst>
              <a:gd name="adj" fmla="val 28571"/>
            </a:avLst>
          </a:prstGeom>
          <a:solidFill>
            <a:srgbClr val="FFFFFF"/>
          </a:solidFill>
          <a:ln w="28575">
            <a:solidFill>
              <a:srgbClr val="CDBFF3"/>
            </a:solidFill>
          </a:ln>
        </p:spPr>
        <p:txBody>
          <a:bodyPr wrap="square" lIns="50800" tIns="0" rIns="5080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00" dirty="0">
                <a:solidFill>
                  <a:srgbClr val="000000"/>
                </a:solidFill>
              </a:rPr>
              <a:t>⭐ </a:t>
            </a:r>
            <a:pPr algn="ctr" indent="0" marL="0">
              <a:buNone/>
            </a:pPr>
            <a:r>
              <a:rPr lang="en-US" sz="11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What does it mean?</a:t>
            </a:r>
            <a:endParaRPr lang="en-US" sz="1000" dirty="0"/>
          </a:p>
        </p:txBody>
      </p:sp>
      <p:sp>
        <p:nvSpPr>
          <p:cNvPr id="28" name="lv_42"/>
          <p:cNvSpPr/>
          <p:nvPr/>
        </p:nvSpPr>
        <p:spPr>
          <a:xfrm>
            <a:off x="5151120" y="2642616"/>
            <a:ext cx="1813560" cy="384048"/>
          </a:xfrm>
          <a:prstGeom prst="roundRect">
            <a:avLst>
              <a:gd name="adj" fmla="val 28571"/>
            </a:avLst>
          </a:prstGeom>
          <a:solidFill>
            <a:srgbClr val="FFFFFF"/>
          </a:solidFill>
          <a:ln w="28575">
            <a:solidFill>
              <a:srgbClr val="CDBFF3"/>
            </a:solidFill>
          </a:ln>
        </p:spPr>
        <p:txBody>
          <a:bodyPr wrap="square" lIns="50800" tIns="0" rIns="5080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00" dirty="0">
                <a:solidFill>
                  <a:srgbClr val="000000"/>
                </a:solidFill>
              </a:rPr>
              <a:t>⭐⭐ </a:t>
            </a:r>
            <a:pPr algn="ctr" indent="0" marL="0">
              <a:buNone/>
            </a:pPr>
            <a:r>
              <a:rPr lang="en-US" sz="11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Use it in a sentence.</a:t>
            </a:r>
            <a:endParaRPr lang="en-US" sz="1000" dirty="0"/>
          </a:p>
        </p:txBody>
      </p:sp>
      <p:sp>
        <p:nvSpPr>
          <p:cNvPr id="29" name="lv_43"/>
          <p:cNvSpPr/>
          <p:nvPr/>
        </p:nvSpPr>
        <p:spPr>
          <a:xfrm>
            <a:off x="7056120" y="2642616"/>
            <a:ext cx="1813560" cy="384048"/>
          </a:xfrm>
          <a:prstGeom prst="roundRect">
            <a:avLst>
              <a:gd name="adj" fmla="val 28571"/>
            </a:avLst>
          </a:prstGeom>
          <a:solidFill>
            <a:srgbClr val="FFFFFF"/>
          </a:solidFill>
          <a:ln w="28575">
            <a:solidFill>
              <a:srgbClr val="CDBFF3"/>
            </a:solidFill>
          </a:ln>
        </p:spPr>
        <p:txBody>
          <a:bodyPr wrap="square" lIns="50800" tIns="0" rIns="5080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50" dirty="0">
                <a:solidFill>
                  <a:srgbClr val="000000"/>
                </a:solidFill>
              </a:rPr>
              <a:t>⭐⭐⭐ </a:t>
            </a:r>
            <a:pPr algn="ctr" indent="0" marL="0">
              <a:buNone/>
            </a:pPr>
            <a:r>
              <a:rPr lang="en-US" sz="10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Make it negative or a question!</a:t>
            </a:r>
            <a:endParaRPr lang="en-US" sz="950" dirty="0"/>
          </a:p>
        </p:txBody>
      </p:sp>
      <p:sp>
        <p:nvSpPr>
          <p:cNvPr id="30" name="cd_44"/>
          <p:cNvSpPr/>
          <p:nvPr/>
        </p:nvSpPr>
        <p:spPr>
          <a:xfrm>
            <a:off x="3246120" y="3172968"/>
            <a:ext cx="5623560" cy="1581912"/>
          </a:xfrm>
          <a:prstGeom prst="roundRect">
            <a:avLst>
              <a:gd name="adj" fmla="val 8092"/>
            </a:avLst>
          </a:prstGeom>
          <a:solidFill>
            <a:srgbClr val="FFFFFF"/>
          </a:solidFill>
          <a:ln w="28575">
            <a:solidFill>
              <a:srgbClr val="F7A6C4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31" name="rh_45"/>
          <p:cNvSpPr/>
          <p:nvPr/>
        </p:nvSpPr>
        <p:spPr>
          <a:xfrm>
            <a:off x="3337560" y="3246120"/>
            <a:ext cx="5440680" cy="310896"/>
          </a:xfrm>
          <a:prstGeom prst="roundRect">
            <a:avLst>
              <a:gd name="adj" fmla="val 50000"/>
            </a:avLst>
          </a:prstGeom>
          <a:solidFill>
            <a:srgbClr val="E8508F"/>
          </a:solidFill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Your turn: </a:t>
            </a:r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imperatives + Let's</a:t>
            </a:r>
            <a:endParaRPr lang="en-US" sz="1100" dirty="0"/>
          </a:p>
        </p:txBody>
      </p:sp>
      <p:sp>
        <p:nvSpPr>
          <p:cNvPr id="32" name="rf_46"/>
          <p:cNvSpPr/>
          <p:nvPr/>
        </p:nvSpPr>
        <p:spPr>
          <a:xfrm>
            <a:off x="3383280" y="3593592"/>
            <a:ext cx="5349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i="1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Make an advice · an instruction · a suggestion</a:t>
            </a:r>
            <a:endParaRPr lang="en-US" sz="1050" dirty="0"/>
          </a:p>
        </p:txBody>
      </p:sp>
      <p:sp>
        <p:nvSpPr>
          <p:cNvPr id="33" name="R1_rl47"/>
          <p:cNvSpPr/>
          <p:nvPr/>
        </p:nvSpPr>
        <p:spPr>
          <a:xfrm>
            <a:off x="3383280" y="3922776"/>
            <a:ext cx="5349240" cy="758952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spcAft>
                <a:spcPts val="300"/>
              </a:spcAft>
              <a:buNone/>
            </a:pPr>
            <a:r>
              <a:rPr lang="en-US" sz="1100" b="1" dirty="0">
                <a:solidFill>
                  <a:srgbClr val="E8508F"/>
                </a:solidFill>
                <a:highlight>
                  <a:srgbClr val="FFF1A8"/>
                </a:highlight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Don't</a:t>
            </a:r>
            <a:pPr indent="0" marL="0">
              <a:spcAft>
                <a:spcPts val="300"/>
              </a:spcAft>
              <a:buNone/>
            </a:pPr>
            <a:r>
              <a:rPr lang="en-US" sz="11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rent a car in New York.</a:t>
            </a:r>
            <a:endParaRPr lang="en-US" sz="11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100" b="1" dirty="0">
                <a:solidFill>
                  <a:srgbClr val="E8508F"/>
                </a:solidFill>
                <a:highlight>
                  <a:srgbClr val="FFF1A8"/>
                </a:highlight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Let's</a:t>
            </a:r>
            <a:pPr indent="0" marL="0">
              <a:spcAft>
                <a:spcPts val="300"/>
              </a:spcAft>
              <a:buNone/>
            </a:pPr>
            <a:r>
              <a:rPr lang="en-US" sz="11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stop at the café.</a:t>
            </a:r>
            <a:endParaRPr lang="en-US" sz="1100" dirty="0"/>
          </a:p>
        </p:txBody>
      </p:sp>
    </p:spTree>
  </p:cSld>
  <p:clrMapOvr>
    <a:masterClrMapping/>
  </p:clrMapOvr>
  <p:transition spd="med">
    <p:push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bd_48"/>
          <p:cNvSpPr/>
          <p:nvPr/>
        </p:nvSpPr>
        <p:spPr>
          <a:xfrm>
            <a:off x="201168" y="164592"/>
            <a:ext cx="841248" cy="841248"/>
          </a:xfrm>
          <a:prstGeom prst="ellipse">
            <a:avLst/>
          </a:prstGeom>
          <a:solidFill>
            <a:srgbClr val="E8508F"/>
          </a:solidFill>
          <a:ln w="28575">
            <a:solidFill>
              <a:srgbClr val="F7A6C4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3</a:t>
            </a:r>
            <a:endParaRPr lang="en-US" sz="2800" dirty="0"/>
          </a:p>
        </p:txBody>
      </p:sp>
      <p:pic>
        <p:nvPicPr>
          <p:cNvPr id="4" name="brY_49" descr="/home/claude/lls-course/v2/assets/brush-yellow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46304"/>
            <a:ext cx="3405226" cy="621792"/>
          </a:xfrm>
          <a:prstGeom prst="rect">
            <a:avLst/>
          </a:prstGeom>
        </p:spPr>
      </p:pic>
      <p:sp>
        <p:nvSpPr>
          <p:cNvPr id="5" name="title_50"/>
          <p:cNvSpPr/>
          <p:nvPr/>
        </p:nvSpPr>
        <p:spPr>
          <a:xfrm>
            <a:off x="1261872" y="164592"/>
            <a:ext cx="313090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5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What's the sound?</a:t>
            </a:r>
            <a:endParaRPr lang="en-US" sz="2500" dirty="0"/>
          </a:p>
        </p:txBody>
      </p:sp>
      <p:pic>
        <p:nvPicPr>
          <p:cNvPr id="6" name="brP_51" descr="/home/claude/lls-course/v2/assets/brush-pink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07008" y="731520"/>
            <a:ext cx="4814316" cy="402336"/>
          </a:xfrm>
          <a:prstGeom prst="rect">
            <a:avLst/>
          </a:prstGeom>
        </p:spPr>
      </p:pic>
      <p:sp>
        <p:nvSpPr>
          <p:cNvPr id="7" name="ins_52"/>
          <p:cNvSpPr/>
          <p:nvPr/>
        </p:nvSpPr>
        <p:spPr>
          <a:xfrm>
            <a:off x="1353312" y="731520"/>
            <a:ext cx="455828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i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Listen to the teacher. Which verb phrase is it?</a:t>
            </a:r>
            <a:endParaRPr lang="en-US" sz="1250" dirty="0"/>
          </a:p>
        </p:txBody>
      </p:sp>
      <p:sp>
        <p:nvSpPr>
          <p:cNvPr id="8" name="insIT_53"/>
          <p:cNvSpPr/>
          <p:nvPr/>
        </p:nvSpPr>
        <p:spPr>
          <a:xfrm>
            <a:off x="1371600" y="1115568"/>
            <a:ext cx="5074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i="1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Ascolta l'insegnante. Quale espressione è?</a:t>
            </a:r>
            <a:endParaRPr lang="en-US" sz="950" dirty="0"/>
          </a:p>
        </p:txBody>
      </p:sp>
      <p:sp>
        <p:nvSpPr>
          <p:cNvPr id="9" name="note_54"/>
          <p:cNvSpPr/>
          <p:nvPr/>
        </p:nvSpPr>
        <p:spPr>
          <a:xfrm rot="180000">
            <a:off x="6382512" y="128016"/>
            <a:ext cx="2029968" cy="1024128"/>
          </a:xfrm>
          <a:prstGeom prst="rect">
            <a:avLst/>
          </a:prstGeom>
          <a:solidFill>
            <a:srgbClr val="FFC2DA"/>
          </a:solidFill>
          <a:ln>
            <a:solidFill>
              <a:srgbClr val="FFC2DA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50800" tIns="50800" rIns="50800" bIns="50800" rtlCol="0" anchor="ctr">
            <a:normAutofit/>
          </a:bodyPr>
          <a:lstStyle/>
          <a:p>
            <a:pPr algn="ctr" indent="0" marL="0">
              <a:buNone/>
            </a:pPr>
            <a:r>
              <a:rPr lang="en-US" sz="115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🎧 LISTEN</a:t>
            </a:r>
            <a:pPr algn="ctr" indent="0" marL="0">
              <a:buNone/>
            </a:pPr>
            <a:r>
              <a:rPr lang="en-US" sz="1200" dirty="0">
                <a:solidFill>
                  <a:srgbClr val="5B6785"/>
                </a:solidFill>
              </a:rPr>
              <a:t> → </a:t>
            </a:r>
            <a:pPr algn="ctr" indent="0" marL="0">
              <a:buNone/>
            </a:pPr>
            <a:r>
              <a:rPr lang="en-US" sz="115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🎲 PLAY</a:t>
            </a:r>
            <a:endParaRPr lang="en-US" sz="115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⏱ 3 min   🏆 teams</a:t>
            </a:r>
            <a:endParaRPr lang="en-US" sz="115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🎯 Vocabulary · Communicative game</a:t>
            </a:r>
            <a:endParaRPr lang="en-US" sz="1150" dirty="0"/>
          </a:p>
        </p:txBody>
      </p:sp>
      <p:pic>
        <p:nvPicPr>
          <p:cNvPr id="10" name="logo_55" descr="/home/claude/lls-course/v2/img/logo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85632" y="128016"/>
            <a:ext cx="502920" cy="502920"/>
          </a:xfrm>
          <a:prstGeom prst="rect">
            <a:avLst/>
          </a:prstGeom>
        </p:spPr>
      </p:pic>
      <p:sp>
        <p:nvSpPr>
          <p:cNvPr id="11" name="foot_56"/>
          <p:cNvSpPr/>
          <p:nvPr/>
        </p:nvSpPr>
        <p:spPr>
          <a:xfrm>
            <a:off x="274320" y="4873752"/>
            <a:ext cx="6858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3A · Vocabulary · verb phrases   ·   📖 SB p.22 · 1a · audio 3.1 (sound effects – TG)</a:t>
            </a:r>
            <a:endParaRPr lang="en-US" sz="800" dirty="0"/>
          </a:p>
        </p:txBody>
      </p:sp>
      <p:sp>
        <p:nvSpPr>
          <p:cNvPr id="12" name="cd_57"/>
          <p:cNvSpPr/>
          <p:nvPr/>
        </p:nvSpPr>
        <p:spPr>
          <a:xfrm>
            <a:off x="320040" y="1417320"/>
            <a:ext cx="2697480" cy="2502408"/>
          </a:xfrm>
          <a:prstGeom prst="roundRect">
            <a:avLst>
              <a:gd name="adj" fmla="val 5116"/>
            </a:avLst>
          </a:prstGeom>
          <a:solidFill>
            <a:srgbClr val="EEE8FB"/>
          </a:solidFill>
          <a:ln w="28575">
            <a:solidFill>
              <a:srgbClr val="CDBFF3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13" name="ii_58"/>
          <p:cNvSpPr/>
          <p:nvPr/>
        </p:nvSpPr>
        <p:spPr>
          <a:xfrm>
            <a:off x="411480" y="149047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🎲</a:t>
            </a:r>
            <a:endParaRPr lang="en-US" sz="2200" dirty="0"/>
          </a:p>
        </p:txBody>
      </p:sp>
      <p:sp>
        <p:nvSpPr>
          <p:cNvPr id="14" name="ih_59"/>
          <p:cNvSpPr/>
          <p:nvPr/>
        </p:nvSpPr>
        <p:spPr>
          <a:xfrm>
            <a:off x="886968" y="1508760"/>
            <a:ext cx="2057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How to play</a:t>
            </a:r>
            <a:endParaRPr lang="en-US" sz="1400" dirty="0"/>
          </a:p>
        </p:txBody>
      </p:sp>
      <p:sp>
        <p:nvSpPr>
          <p:cNvPr id="15" name="il_60"/>
          <p:cNvSpPr/>
          <p:nvPr/>
        </p:nvSpPr>
        <p:spPr>
          <a:xfrm>
            <a:off x="886968" y="1911096"/>
            <a:ext cx="2039112" cy="19354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2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The teacher makes a sound or says a line.</a:t>
            </a:r>
            <a:endParaRPr lang="en-US" sz="1200" dirty="0"/>
          </a:p>
          <a:p>
            <a:pPr marL="152400" indent="-152400">
              <a:spcBef>
                <a:spcPts val="600"/>
              </a:spcBef>
              <a:spcAft>
                <a:spcPts val="200"/>
              </a:spcAft>
              <a:buSzPct val="100000"/>
              <a:buChar char="•"/>
            </a:pPr>
            <a:r>
              <a:rPr lang="en-US" sz="12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First team to say the verb phrase = 1 point.</a:t>
            </a:r>
            <a:endParaRPr lang="en-US" sz="1200" dirty="0"/>
          </a:p>
          <a:p>
            <a:pPr marL="152400" indent="-152400">
              <a:spcBef>
                <a:spcPts val="600"/>
              </a:spcBef>
              <a:spcAft>
                <a:spcPts val="200"/>
              </a:spcAft>
              <a:buSzPct val="100000"/>
              <a:buChar char="•"/>
            </a:pPr>
            <a:r>
              <a:rPr lang="en-US" sz="12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drink mineral water · like animals · watch TV · play the guitar · speak German</a:t>
            </a:r>
            <a:endParaRPr lang="en-US" sz="1200" dirty="0"/>
          </a:p>
        </p:txBody>
      </p:sp>
      <p:sp>
        <p:nvSpPr>
          <p:cNvPr id="16" name="st_61"/>
          <p:cNvSpPr/>
          <p:nvPr/>
        </p:nvSpPr>
        <p:spPr>
          <a:xfrm rot="-180000">
            <a:off x="502920" y="4102608"/>
            <a:ext cx="2286000" cy="606552"/>
          </a:xfrm>
          <a:prstGeom prst="rect">
            <a:avLst/>
          </a:prstGeom>
          <a:solidFill>
            <a:srgbClr val="FFC2DA"/>
          </a:solidFill>
          <a:ln>
            <a:solidFill>
              <a:srgbClr val="FFC2DA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50800" tIns="50800" rIns="50800" bIns="50800" rtlCol="0" anchor="ctr">
            <a:normAutofit/>
          </a:bodyPr>
          <a:lstStyle/>
          <a:p>
            <a:pPr algn="ctr" indent="0" marL="0">
              <a:buNone/>
            </a:pPr>
            <a:r>
              <a:rPr lang="en-US" sz="125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TEAM A  ☆☆☆☆☆</a:t>
            </a:r>
            <a:endParaRPr lang="en-US" sz="1250" dirty="0"/>
          </a:p>
          <a:p>
            <a:pPr algn="ctr" indent="0" marL="0">
              <a:buNone/>
            </a:pPr>
            <a:r>
              <a:rPr lang="en-US" sz="125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TEAM B  ☆☆☆☆☆</a:t>
            </a:r>
            <a:endParaRPr lang="en-US" sz="1250" dirty="0"/>
          </a:p>
        </p:txBody>
      </p:sp>
      <p:sp>
        <p:nvSpPr>
          <p:cNvPr id="17" name="bd_62"/>
          <p:cNvSpPr/>
          <p:nvPr/>
        </p:nvSpPr>
        <p:spPr>
          <a:xfrm>
            <a:off x="3246120" y="1545336"/>
            <a:ext cx="329184" cy="329184"/>
          </a:xfrm>
          <a:prstGeom prst="ellipse">
            <a:avLst/>
          </a:prstGeom>
          <a:solidFill>
            <a:srgbClr val="7B5CD6"/>
          </a:solidFill>
          <a:ln w="28575">
            <a:solidFill>
              <a:srgbClr val="CDBFF3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e.g.</a:t>
            </a:r>
            <a:endParaRPr lang="en-US" sz="500" dirty="0"/>
          </a:p>
        </p:txBody>
      </p:sp>
      <p:sp>
        <p:nvSpPr>
          <p:cNvPr id="18" name="gq_63"/>
          <p:cNvSpPr/>
          <p:nvPr/>
        </p:nvSpPr>
        <p:spPr>
          <a:xfrm>
            <a:off x="3657600" y="1417320"/>
            <a:ext cx="2514600" cy="585216"/>
          </a:xfrm>
          <a:prstGeom prst="roundRect">
            <a:avLst>
              <a:gd name="adj" fmla="val 15625"/>
            </a:avLst>
          </a:prstGeom>
          <a:solidFill>
            <a:srgbClr val="EEE8FB"/>
          </a:solidFill>
          <a:ln w="28575">
            <a:solidFill>
              <a:srgbClr val="CDBFF3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'Guten Tag. Wie geht's?'</a:t>
            </a:r>
            <a:endParaRPr lang="en-US" sz="1250" dirty="0"/>
          </a:p>
        </p:txBody>
      </p:sp>
      <p:sp>
        <p:nvSpPr>
          <p:cNvPr id="19" name="chip_64"/>
          <p:cNvSpPr/>
          <p:nvPr/>
        </p:nvSpPr>
        <p:spPr>
          <a:xfrm>
            <a:off x="6263640" y="1417320"/>
            <a:ext cx="2560320" cy="585216"/>
          </a:xfrm>
          <a:prstGeom prst="roundRect">
            <a:avLst>
              <a:gd name="adj" fmla="val 15625"/>
            </a:avLst>
          </a:prstGeom>
          <a:solidFill>
            <a:srgbClr val="EEE8FB"/>
          </a:solidFill>
          <a:ln w="28575">
            <a:solidFill>
              <a:srgbClr val="CDBFF3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→ speak German</a:t>
            </a:r>
            <a:endParaRPr lang="en-US" sz="1200" dirty="0"/>
          </a:p>
        </p:txBody>
      </p:sp>
      <p:sp>
        <p:nvSpPr>
          <p:cNvPr id="20" name="bd_65"/>
          <p:cNvSpPr/>
          <p:nvPr/>
        </p:nvSpPr>
        <p:spPr>
          <a:xfrm>
            <a:off x="3246120" y="2194560"/>
            <a:ext cx="329184" cy="329184"/>
          </a:xfrm>
          <a:prstGeom prst="ellipse">
            <a:avLst/>
          </a:prstGeom>
          <a:solidFill>
            <a:srgbClr val="E8508F"/>
          </a:solidFill>
          <a:ln w="28575">
            <a:solidFill>
              <a:srgbClr val="F7A6C4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1</a:t>
            </a:r>
            <a:endParaRPr lang="en-US" sz="1100" dirty="0"/>
          </a:p>
        </p:txBody>
      </p:sp>
      <p:sp>
        <p:nvSpPr>
          <p:cNvPr id="21" name="gq_66"/>
          <p:cNvSpPr/>
          <p:nvPr/>
        </p:nvSpPr>
        <p:spPr>
          <a:xfrm>
            <a:off x="3657600" y="2066544"/>
            <a:ext cx="2514600" cy="585216"/>
          </a:xfrm>
          <a:prstGeom prst="roundRect">
            <a:avLst>
              <a:gd name="adj" fmla="val 15625"/>
            </a:avLst>
          </a:prstGeom>
          <a:solidFill>
            <a:srgbClr val="FFFFFF"/>
          </a:solidFill>
          <a:ln w="28575">
            <a:solidFill>
              <a:srgbClr val="F7A6C4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(glass of water: glug glug…)</a:t>
            </a:r>
            <a:endParaRPr lang="en-US" sz="1250" dirty="0"/>
          </a:p>
        </p:txBody>
      </p:sp>
      <p:sp>
        <p:nvSpPr>
          <p:cNvPr id="22" name="R1_chip67"/>
          <p:cNvSpPr/>
          <p:nvPr/>
        </p:nvSpPr>
        <p:spPr>
          <a:xfrm>
            <a:off x="6263640" y="2066544"/>
            <a:ext cx="2560320" cy="585216"/>
          </a:xfrm>
          <a:prstGeom prst="roundRect">
            <a:avLst>
              <a:gd name="adj" fmla="val 15625"/>
            </a:avLst>
          </a:prstGeom>
          <a:solidFill>
            <a:srgbClr val="FFE3EE"/>
          </a:solidFill>
          <a:ln w="28575">
            <a:solidFill>
              <a:srgbClr val="F7A6C4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→ drink mineral water</a:t>
            </a:r>
            <a:endParaRPr lang="en-US" sz="1200" dirty="0"/>
          </a:p>
        </p:txBody>
      </p:sp>
      <p:sp>
        <p:nvSpPr>
          <p:cNvPr id="23" name="bd_68"/>
          <p:cNvSpPr/>
          <p:nvPr/>
        </p:nvSpPr>
        <p:spPr>
          <a:xfrm>
            <a:off x="3246120" y="2843784"/>
            <a:ext cx="329184" cy="329184"/>
          </a:xfrm>
          <a:prstGeom prst="ellipse">
            <a:avLst/>
          </a:prstGeom>
          <a:solidFill>
            <a:srgbClr val="2F8DE4"/>
          </a:solidFill>
          <a:ln w="28575">
            <a:solidFill>
              <a:srgbClr val="A9D3F5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2</a:t>
            </a:r>
            <a:endParaRPr lang="en-US" sz="1100" dirty="0"/>
          </a:p>
        </p:txBody>
      </p:sp>
      <p:sp>
        <p:nvSpPr>
          <p:cNvPr id="24" name="gq_69"/>
          <p:cNvSpPr/>
          <p:nvPr/>
        </p:nvSpPr>
        <p:spPr>
          <a:xfrm>
            <a:off x="3657600" y="2715768"/>
            <a:ext cx="2514600" cy="585216"/>
          </a:xfrm>
          <a:prstGeom prst="roundRect">
            <a:avLst>
              <a:gd name="adj" fmla="val 15625"/>
            </a:avLst>
          </a:prstGeom>
          <a:solidFill>
            <a:srgbClr val="FFFFFF"/>
          </a:solidFill>
          <a:ln w="28575">
            <a:solidFill>
              <a:srgbClr val="A9D3F5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(TV news music: dum-dum-dum…)</a:t>
            </a:r>
            <a:endParaRPr lang="en-US" sz="1250" dirty="0"/>
          </a:p>
        </p:txBody>
      </p:sp>
      <p:sp>
        <p:nvSpPr>
          <p:cNvPr id="25" name="R2_chip70"/>
          <p:cNvSpPr/>
          <p:nvPr/>
        </p:nvSpPr>
        <p:spPr>
          <a:xfrm>
            <a:off x="6263640" y="2715768"/>
            <a:ext cx="2560320" cy="585216"/>
          </a:xfrm>
          <a:prstGeom prst="roundRect">
            <a:avLst>
              <a:gd name="adj" fmla="val 15625"/>
            </a:avLst>
          </a:prstGeom>
          <a:solidFill>
            <a:srgbClr val="FFE3EE"/>
          </a:solidFill>
          <a:ln w="28575">
            <a:solidFill>
              <a:srgbClr val="F7A6C4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→ watch TV</a:t>
            </a:r>
            <a:endParaRPr lang="en-US" sz="1200" dirty="0"/>
          </a:p>
        </p:txBody>
      </p:sp>
      <p:sp>
        <p:nvSpPr>
          <p:cNvPr id="26" name="bd_71"/>
          <p:cNvSpPr/>
          <p:nvPr/>
        </p:nvSpPr>
        <p:spPr>
          <a:xfrm>
            <a:off x="3246120" y="3493008"/>
            <a:ext cx="329184" cy="329184"/>
          </a:xfrm>
          <a:prstGeom prst="ellipse">
            <a:avLst/>
          </a:prstGeom>
          <a:solidFill>
            <a:srgbClr val="2EB872"/>
          </a:solidFill>
          <a:ln w="28575">
            <a:solidFill>
              <a:srgbClr val="A8E5BE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3</a:t>
            </a:r>
            <a:endParaRPr lang="en-US" sz="1100" dirty="0"/>
          </a:p>
        </p:txBody>
      </p:sp>
      <p:sp>
        <p:nvSpPr>
          <p:cNvPr id="27" name="gq_72"/>
          <p:cNvSpPr/>
          <p:nvPr/>
        </p:nvSpPr>
        <p:spPr>
          <a:xfrm>
            <a:off x="3657600" y="3364992"/>
            <a:ext cx="2514600" cy="585216"/>
          </a:xfrm>
          <a:prstGeom prst="roundRect">
            <a:avLst>
              <a:gd name="adj" fmla="val 15625"/>
            </a:avLst>
          </a:prstGeom>
          <a:solidFill>
            <a:srgbClr val="FFFFFF"/>
          </a:solidFill>
          <a:ln w="28575">
            <a:solidFill>
              <a:srgbClr val="A8E5BE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(guitar: strum strum…)</a:t>
            </a:r>
            <a:endParaRPr lang="en-US" sz="1250" dirty="0"/>
          </a:p>
        </p:txBody>
      </p:sp>
      <p:sp>
        <p:nvSpPr>
          <p:cNvPr id="28" name="R3_chip73"/>
          <p:cNvSpPr/>
          <p:nvPr/>
        </p:nvSpPr>
        <p:spPr>
          <a:xfrm>
            <a:off x="6263640" y="3364992"/>
            <a:ext cx="2560320" cy="585216"/>
          </a:xfrm>
          <a:prstGeom prst="roundRect">
            <a:avLst>
              <a:gd name="adj" fmla="val 15625"/>
            </a:avLst>
          </a:prstGeom>
          <a:solidFill>
            <a:srgbClr val="FFE3EE"/>
          </a:solidFill>
          <a:ln w="28575">
            <a:solidFill>
              <a:srgbClr val="F7A6C4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→ play the guitar</a:t>
            </a:r>
            <a:endParaRPr lang="en-US" sz="1200" dirty="0"/>
          </a:p>
        </p:txBody>
      </p:sp>
      <p:sp>
        <p:nvSpPr>
          <p:cNvPr id="29" name="bd_74"/>
          <p:cNvSpPr/>
          <p:nvPr/>
        </p:nvSpPr>
        <p:spPr>
          <a:xfrm>
            <a:off x="3246120" y="4142232"/>
            <a:ext cx="329184" cy="329184"/>
          </a:xfrm>
          <a:prstGeom prst="ellipse">
            <a:avLst/>
          </a:prstGeom>
          <a:solidFill>
            <a:srgbClr val="F2B705"/>
          </a:solidFill>
          <a:ln w="28575">
            <a:solidFill>
              <a:srgbClr val="FFE07A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4</a:t>
            </a:r>
            <a:endParaRPr lang="en-US" sz="1100" dirty="0"/>
          </a:p>
        </p:txBody>
      </p:sp>
      <p:sp>
        <p:nvSpPr>
          <p:cNvPr id="30" name="gq_75"/>
          <p:cNvSpPr/>
          <p:nvPr/>
        </p:nvSpPr>
        <p:spPr>
          <a:xfrm>
            <a:off x="3657600" y="4014216"/>
            <a:ext cx="2514600" cy="585216"/>
          </a:xfrm>
          <a:prstGeom prst="roundRect">
            <a:avLst>
              <a:gd name="adj" fmla="val 15625"/>
            </a:avLst>
          </a:prstGeom>
          <a:solidFill>
            <a:srgbClr val="FFFFFF"/>
          </a:solidFill>
          <a:ln w="28575">
            <a:solidFill>
              <a:srgbClr val="FFE07A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(woof woof! miaow!)</a:t>
            </a:r>
            <a:endParaRPr lang="en-US" sz="1250" dirty="0"/>
          </a:p>
        </p:txBody>
      </p:sp>
      <p:sp>
        <p:nvSpPr>
          <p:cNvPr id="31" name="R4_chip76"/>
          <p:cNvSpPr/>
          <p:nvPr/>
        </p:nvSpPr>
        <p:spPr>
          <a:xfrm>
            <a:off x="6263640" y="4014216"/>
            <a:ext cx="2560320" cy="585216"/>
          </a:xfrm>
          <a:prstGeom prst="roundRect">
            <a:avLst>
              <a:gd name="adj" fmla="val 15625"/>
            </a:avLst>
          </a:prstGeom>
          <a:solidFill>
            <a:srgbClr val="FFE3EE"/>
          </a:solidFill>
          <a:ln w="28575">
            <a:solidFill>
              <a:srgbClr val="F7A6C4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→ like animals</a:t>
            </a:r>
            <a:endParaRPr lang="en-US" sz="1200" dirty="0"/>
          </a:p>
        </p:txBody>
      </p:sp>
    </p:spTree>
  </p:cSld>
  <p:clrMapOvr>
    <a:masterClrMapping/>
  </p:clrMapOvr>
  <p:transition spd="med">
    <p:push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4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bd_77"/>
          <p:cNvSpPr/>
          <p:nvPr/>
        </p:nvSpPr>
        <p:spPr>
          <a:xfrm>
            <a:off x="201168" y="164592"/>
            <a:ext cx="841248" cy="841248"/>
          </a:xfrm>
          <a:prstGeom prst="ellipse">
            <a:avLst/>
          </a:prstGeom>
          <a:solidFill>
            <a:srgbClr val="2F8DE4"/>
          </a:solidFill>
          <a:ln w="28575">
            <a:solidFill>
              <a:srgbClr val="A9D3F5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4</a:t>
            </a:r>
            <a:endParaRPr lang="en-US" sz="2800" dirty="0"/>
          </a:p>
        </p:txBody>
      </p:sp>
      <p:pic>
        <p:nvPicPr>
          <p:cNvPr id="4" name="brY_78" descr="/home/claude/lls-course/v2/assets/brush-yellow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46304"/>
            <a:ext cx="3247949" cy="621792"/>
          </a:xfrm>
          <a:prstGeom prst="rect">
            <a:avLst/>
          </a:prstGeom>
        </p:spPr>
      </p:pic>
      <p:sp>
        <p:nvSpPr>
          <p:cNvPr id="5" name="title_79"/>
          <p:cNvSpPr/>
          <p:nvPr/>
        </p:nvSpPr>
        <p:spPr>
          <a:xfrm>
            <a:off x="1261872" y="164592"/>
            <a:ext cx="2973629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5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Verb phrases (1)</a:t>
            </a:r>
            <a:endParaRPr lang="en-US" sz="2500" dirty="0"/>
          </a:p>
        </p:txBody>
      </p:sp>
      <p:pic>
        <p:nvPicPr>
          <p:cNvPr id="6" name="brP_80" descr="/home/claude/lls-course/v2/assets/brush-pink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07008" y="731520"/>
            <a:ext cx="5257800" cy="402336"/>
          </a:xfrm>
          <a:prstGeom prst="rect">
            <a:avLst/>
          </a:prstGeom>
        </p:spPr>
      </p:pic>
      <p:sp>
        <p:nvSpPr>
          <p:cNvPr id="7" name="ins_81"/>
          <p:cNvSpPr/>
          <p:nvPr/>
        </p:nvSpPr>
        <p:spPr>
          <a:xfrm>
            <a:off x="1353312" y="731520"/>
            <a:ext cx="500176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00" i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Vocabulary Bank: match the verbs and the words. Say the phrase!</a:t>
            </a:r>
            <a:endParaRPr lang="en-US" sz="1100" dirty="0"/>
          </a:p>
        </p:txBody>
      </p:sp>
      <p:sp>
        <p:nvSpPr>
          <p:cNvPr id="8" name="insIT_82"/>
          <p:cNvSpPr/>
          <p:nvPr/>
        </p:nvSpPr>
        <p:spPr>
          <a:xfrm>
            <a:off x="1371600" y="1115568"/>
            <a:ext cx="5074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i="1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Vocabulary Bank: abbina i verbi e le parole. Di' l'espressione!</a:t>
            </a:r>
            <a:endParaRPr lang="en-US" sz="950" dirty="0"/>
          </a:p>
        </p:txBody>
      </p:sp>
      <p:sp>
        <p:nvSpPr>
          <p:cNvPr id="9" name="note_83"/>
          <p:cNvSpPr/>
          <p:nvPr/>
        </p:nvSpPr>
        <p:spPr>
          <a:xfrm rot="180000">
            <a:off x="6382512" y="128016"/>
            <a:ext cx="2029968" cy="1024128"/>
          </a:xfrm>
          <a:prstGeom prst="rect">
            <a:avLst/>
          </a:prstGeom>
          <a:solidFill>
            <a:srgbClr val="FFC2DA"/>
          </a:solidFill>
          <a:ln>
            <a:solidFill>
              <a:srgbClr val="FFC2DA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50800" tIns="50800" rIns="50800" bIns="50800" rtlCol="0" anchor="ctr">
            <a:normAutofit/>
          </a:bodyPr>
          <a:lstStyle/>
          <a:p>
            <a:pPr algn="ctr" indent="0" marL="0">
              <a:buNone/>
            </a:pPr>
            <a:r>
              <a:rPr lang="en-US" sz="115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🔗 MATCH</a:t>
            </a:r>
            <a:pPr algn="ctr" indent="0" marL="0">
              <a:buNone/>
            </a:pPr>
            <a:r>
              <a:rPr lang="en-US" sz="1200" dirty="0">
                <a:solidFill>
                  <a:srgbClr val="5B6785"/>
                </a:solidFill>
              </a:rPr>
              <a:t> → </a:t>
            </a:r>
            <a:pPr algn="ctr" indent="0" marL="0">
              <a:buNone/>
            </a:pPr>
            <a:r>
              <a:rPr lang="en-US" sz="115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🔊 SAY IT</a:t>
            </a:r>
            <a:endParaRPr lang="en-US" sz="115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⏱ 4 min   👥 pairs</a:t>
            </a:r>
            <a:endParaRPr lang="en-US" sz="115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🎯 Vocabulary · Controlled practice</a:t>
            </a:r>
            <a:endParaRPr lang="en-US" sz="1150" dirty="0"/>
          </a:p>
        </p:txBody>
      </p:sp>
      <p:pic>
        <p:nvPicPr>
          <p:cNvPr id="10" name="logo_84" descr="/home/claude/lls-course/v2/img/logo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85632" y="128016"/>
            <a:ext cx="502920" cy="502920"/>
          </a:xfrm>
          <a:prstGeom prst="rect">
            <a:avLst/>
          </a:prstGeom>
        </p:spPr>
      </p:pic>
      <p:sp>
        <p:nvSpPr>
          <p:cNvPr id="11" name="foot_85"/>
          <p:cNvSpPr/>
          <p:nvPr/>
        </p:nvSpPr>
        <p:spPr>
          <a:xfrm>
            <a:off x="274320" y="4873752"/>
            <a:ext cx="6858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3A · Vocabulary Bank p.153 · verb phrases (1)   ·   📖 VB p.153 · Verb phrases · audio 3.2</a:t>
            </a:r>
            <a:endParaRPr lang="en-US" sz="800" dirty="0"/>
          </a:p>
        </p:txBody>
      </p:sp>
      <p:sp>
        <p:nvSpPr>
          <p:cNvPr id="12" name="ap_86"/>
          <p:cNvSpPr/>
          <p:nvPr/>
        </p:nvSpPr>
        <p:spPr>
          <a:xfrm>
            <a:off x="365760" y="4297680"/>
            <a:ext cx="2606040" cy="402336"/>
          </a:xfrm>
          <a:prstGeom prst="roundRect">
            <a:avLst>
              <a:gd name="adj" fmla="val 50000"/>
            </a:avLst>
          </a:prstGeom>
          <a:solidFill>
            <a:srgbClr val="E3F1FD"/>
          </a:solidFill>
          <a:ln w="28575">
            <a:solidFill>
              <a:srgbClr val="A9D3F5"/>
            </a:solidFill>
          </a:ln>
        </p:spPr>
        <p:txBody>
          <a:bodyPr wrap="square" lIns="127000" tIns="0" rIns="127000" bIns="0" rtlCol="0" anchor="ctr">
            <a:normAutofit/>
          </a:bodyPr>
          <a:lstStyle/>
          <a:p>
            <a:pPr indent="0" marL="0">
              <a:buNone/>
            </a:pPr>
            <a:r>
              <a:rPr lang="en-US" sz="11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🎧 3.2</a:t>
            </a:r>
            <a:endParaRPr lang="en-US" sz="1100" dirty="0"/>
          </a:p>
        </p:txBody>
      </p:sp>
      <p:sp>
        <p:nvSpPr>
          <p:cNvPr id="13" name="ah_87"/>
          <p:cNvSpPr/>
          <p:nvPr/>
        </p:nvSpPr>
        <p:spPr>
          <a:xfrm>
            <a:off x="4636008" y="4572000"/>
            <a:ext cx="97840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2F8DE4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▶ normal</a:t>
            </a:r>
            <a:endParaRPr lang="en-US" sz="1000" dirty="0"/>
          </a:p>
        </p:txBody>
      </p:sp>
      <p:pic>
        <p:nvPicPr>
          <p:cNvPr id="14" name="Media 0">
            <a:hlinkClick r:id="" action="ppaction://media"/>
          </p:cNvPr>
          <p:cNvPicPr>
            <a:picLocks noChangeAspect="1"/>
          </p:cNvPicPr>
          <p:nvPr>
            <a:audioFile r:link="rId5"/>
            <p:extLst>
              <p:ext uri="{DAA4B4D4-6D71-4841-9C94-3DE7FCFB9230}">
                <p14:media xmlns:p14="http://schemas.microsoft.com/office/powerpoint/2010/main" r:embed="rId6"/>
              </p:ext>
            </p:extLst>
          </p:nvPr>
        </p:nvPicPr>
        <p:blipFill>
          <a:blip r:embed="rId7"/>
          <a:stretch>
            <a:fillRect/>
          </a:stretch>
        </p:blipFill>
        <p:spPr>
          <a:xfrm>
            <a:off x="5687568" y="4553712"/>
            <a:ext cx="411480" cy="411480"/>
          </a:xfrm>
          <a:prstGeom prst="rect">
            <a:avLst/>
          </a:prstGeom>
        </p:spPr>
      </p:pic>
      <p:sp>
        <p:nvSpPr>
          <p:cNvPr id="15" name="ah_88"/>
          <p:cNvSpPr/>
          <p:nvPr/>
        </p:nvSpPr>
        <p:spPr>
          <a:xfrm>
            <a:off x="7470648" y="4572000"/>
            <a:ext cx="93268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2F8DE4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🐢 slower</a:t>
            </a:r>
            <a:endParaRPr lang="en-US" sz="1000" dirty="0"/>
          </a:p>
        </p:txBody>
      </p:sp>
      <p:pic>
        <p:nvPicPr>
          <p:cNvPr id="16" name="Media 1">
            <a:hlinkClick r:id="" action="ppaction://media"/>
          </p:cNvPr>
          <p:cNvPicPr>
            <a:picLocks noChangeAspect="1"/>
          </p:cNvPicPr>
          <p:nvPr>
            <a:audioFile r:link="rId8"/>
            <p:extLst>
              <p:ext uri="{DAA4B4D4-6D71-4841-9C94-3DE7FCFB9230}">
                <p14:media xmlns:p14="http://schemas.microsoft.com/office/powerpoint/2010/main" r:embed="rId9"/>
              </p:ext>
            </p:extLst>
          </p:nvPr>
        </p:nvPicPr>
        <p:blipFill>
          <a:blip r:embed="rId10"/>
          <a:stretch>
            <a:fillRect/>
          </a:stretch>
        </p:blipFill>
        <p:spPr>
          <a:xfrm>
            <a:off x="8476488" y="4553712"/>
            <a:ext cx="411480" cy="411480"/>
          </a:xfrm>
          <a:prstGeom prst="rect">
            <a:avLst/>
          </a:prstGeom>
        </p:spPr>
      </p:pic>
      <p:sp>
        <p:nvSpPr>
          <p:cNvPr id="17" name="bd_89"/>
          <p:cNvSpPr/>
          <p:nvPr/>
        </p:nvSpPr>
        <p:spPr>
          <a:xfrm>
            <a:off x="320040" y="1440729"/>
            <a:ext cx="310896" cy="310896"/>
          </a:xfrm>
          <a:prstGeom prst="ellipse">
            <a:avLst/>
          </a:prstGeom>
          <a:solidFill>
            <a:srgbClr val="E8508F"/>
          </a:solidFill>
          <a:ln w="28575">
            <a:solidFill>
              <a:srgbClr val="F7A6C4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1</a:t>
            </a:r>
            <a:endParaRPr lang="en-US" sz="1000" dirty="0"/>
          </a:p>
        </p:txBody>
      </p:sp>
      <p:sp>
        <p:nvSpPr>
          <p:cNvPr id="18" name="q_90"/>
          <p:cNvSpPr/>
          <p:nvPr/>
        </p:nvSpPr>
        <p:spPr>
          <a:xfrm>
            <a:off x="704088" y="1417320"/>
            <a:ext cx="3776472" cy="357713"/>
          </a:xfrm>
          <a:prstGeom prst="roundRect">
            <a:avLst>
              <a:gd name="adj" fmla="val 25562"/>
            </a:avLst>
          </a:prstGeom>
          <a:solidFill>
            <a:srgbClr val="FFFFFF"/>
          </a:solidFill>
          <a:ln w="28575">
            <a:solidFill>
              <a:srgbClr val="F7A6C4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2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e.g. cook · dinner</a:t>
            </a:r>
            <a:endParaRPr lang="en-US" sz="1200" dirty="0"/>
          </a:p>
        </p:txBody>
      </p:sp>
      <p:sp>
        <p:nvSpPr>
          <p:cNvPr id="19" name="R1_chip91"/>
          <p:cNvSpPr/>
          <p:nvPr/>
        </p:nvSpPr>
        <p:spPr>
          <a:xfrm>
            <a:off x="704088" y="1820753"/>
            <a:ext cx="3776472" cy="590215"/>
          </a:xfrm>
          <a:prstGeom prst="roundRect">
            <a:avLst>
              <a:gd name="adj" fmla="val 15493"/>
            </a:avLst>
          </a:prstGeom>
          <a:solidFill>
            <a:srgbClr val="E3F7EA"/>
          </a:solidFill>
          <a:ln w="28575">
            <a:solidFill>
              <a:srgbClr val="A8E5BE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cook dinner</a:t>
            </a:r>
            <a:endParaRPr lang="en-US" sz="1150" dirty="0"/>
          </a:p>
        </p:txBody>
      </p:sp>
      <p:sp>
        <p:nvSpPr>
          <p:cNvPr id="20" name="bd_92"/>
          <p:cNvSpPr/>
          <p:nvPr/>
        </p:nvSpPr>
        <p:spPr>
          <a:xfrm>
            <a:off x="320040" y="2562393"/>
            <a:ext cx="310896" cy="310896"/>
          </a:xfrm>
          <a:prstGeom prst="ellipse">
            <a:avLst/>
          </a:prstGeom>
          <a:solidFill>
            <a:srgbClr val="2F8DE4"/>
          </a:solidFill>
          <a:ln w="28575">
            <a:solidFill>
              <a:srgbClr val="A9D3F5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2</a:t>
            </a:r>
            <a:endParaRPr lang="en-US" sz="1000" dirty="0"/>
          </a:p>
        </p:txBody>
      </p:sp>
      <p:sp>
        <p:nvSpPr>
          <p:cNvPr id="21" name="q_93"/>
          <p:cNvSpPr/>
          <p:nvPr/>
        </p:nvSpPr>
        <p:spPr>
          <a:xfrm>
            <a:off x="704088" y="2538984"/>
            <a:ext cx="3776472" cy="357713"/>
          </a:xfrm>
          <a:prstGeom prst="roundRect">
            <a:avLst>
              <a:gd name="adj" fmla="val 25562"/>
            </a:avLst>
          </a:prstGeom>
          <a:solidFill>
            <a:srgbClr val="FFFFFF"/>
          </a:solidFill>
          <a:ln w="28575">
            <a:solidFill>
              <a:srgbClr val="A9D3F5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2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do · exercise / housework / homework</a:t>
            </a:r>
            <a:endParaRPr lang="en-US" sz="1200" dirty="0"/>
          </a:p>
        </p:txBody>
      </p:sp>
      <p:sp>
        <p:nvSpPr>
          <p:cNvPr id="22" name="R2_chip94"/>
          <p:cNvSpPr/>
          <p:nvPr/>
        </p:nvSpPr>
        <p:spPr>
          <a:xfrm>
            <a:off x="704088" y="2942417"/>
            <a:ext cx="3776472" cy="590215"/>
          </a:xfrm>
          <a:prstGeom prst="roundRect">
            <a:avLst>
              <a:gd name="adj" fmla="val 15493"/>
            </a:avLst>
          </a:prstGeom>
          <a:solidFill>
            <a:srgbClr val="E3F7EA"/>
          </a:solidFill>
          <a:ln w="28575">
            <a:solidFill>
              <a:srgbClr val="A8E5BE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do exercise · do housework · do homework</a:t>
            </a:r>
            <a:endParaRPr lang="en-US" sz="1150" dirty="0"/>
          </a:p>
        </p:txBody>
      </p:sp>
      <p:sp>
        <p:nvSpPr>
          <p:cNvPr id="23" name="bd_95"/>
          <p:cNvSpPr/>
          <p:nvPr/>
        </p:nvSpPr>
        <p:spPr>
          <a:xfrm>
            <a:off x="320040" y="3684057"/>
            <a:ext cx="310896" cy="310896"/>
          </a:xfrm>
          <a:prstGeom prst="ellipse">
            <a:avLst/>
          </a:prstGeom>
          <a:solidFill>
            <a:srgbClr val="2EB872"/>
          </a:solidFill>
          <a:ln w="28575">
            <a:solidFill>
              <a:srgbClr val="A8E5BE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3</a:t>
            </a:r>
            <a:endParaRPr lang="en-US" sz="1000" dirty="0"/>
          </a:p>
        </p:txBody>
      </p:sp>
      <p:sp>
        <p:nvSpPr>
          <p:cNvPr id="24" name="q_96"/>
          <p:cNvSpPr/>
          <p:nvPr/>
        </p:nvSpPr>
        <p:spPr>
          <a:xfrm>
            <a:off x="704088" y="3660648"/>
            <a:ext cx="3776472" cy="357713"/>
          </a:xfrm>
          <a:prstGeom prst="roundRect">
            <a:avLst>
              <a:gd name="adj" fmla="val 25562"/>
            </a:avLst>
          </a:prstGeom>
          <a:solidFill>
            <a:srgbClr val="FFFFFF"/>
          </a:solidFill>
          <a:ln w="28575">
            <a:solidFill>
              <a:srgbClr val="A8E5BE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2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drink · drive · eat</a:t>
            </a:r>
            <a:endParaRPr lang="en-US" sz="1200" dirty="0"/>
          </a:p>
        </p:txBody>
      </p:sp>
      <p:sp>
        <p:nvSpPr>
          <p:cNvPr id="25" name="R3_chip97"/>
          <p:cNvSpPr/>
          <p:nvPr/>
        </p:nvSpPr>
        <p:spPr>
          <a:xfrm>
            <a:off x="704088" y="4064081"/>
            <a:ext cx="3776472" cy="590215"/>
          </a:xfrm>
          <a:prstGeom prst="roundRect">
            <a:avLst>
              <a:gd name="adj" fmla="val 15493"/>
            </a:avLst>
          </a:prstGeom>
          <a:solidFill>
            <a:srgbClr val="E3F7EA"/>
          </a:solidFill>
          <a:ln w="28575">
            <a:solidFill>
              <a:srgbClr val="A8E5BE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drink mineral water · drive a car · eat vegetables</a:t>
            </a:r>
            <a:endParaRPr lang="en-US" sz="1150" dirty="0"/>
          </a:p>
        </p:txBody>
      </p:sp>
      <p:sp>
        <p:nvSpPr>
          <p:cNvPr id="26" name="bd_98"/>
          <p:cNvSpPr/>
          <p:nvPr/>
        </p:nvSpPr>
        <p:spPr>
          <a:xfrm>
            <a:off x="4709160" y="1440729"/>
            <a:ext cx="310896" cy="310896"/>
          </a:xfrm>
          <a:prstGeom prst="ellipse">
            <a:avLst/>
          </a:prstGeom>
          <a:solidFill>
            <a:srgbClr val="F2B705"/>
          </a:solidFill>
          <a:ln w="28575">
            <a:solidFill>
              <a:srgbClr val="FFE07A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4</a:t>
            </a:r>
            <a:endParaRPr lang="en-US" sz="1000" dirty="0"/>
          </a:p>
        </p:txBody>
      </p:sp>
      <p:sp>
        <p:nvSpPr>
          <p:cNvPr id="27" name="q_99"/>
          <p:cNvSpPr/>
          <p:nvPr/>
        </p:nvSpPr>
        <p:spPr>
          <a:xfrm>
            <a:off x="5093208" y="1417320"/>
            <a:ext cx="3776472" cy="357713"/>
          </a:xfrm>
          <a:prstGeom prst="roundRect">
            <a:avLst>
              <a:gd name="adj" fmla="val 25562"/>
            </a:avLst>
          </a:prstGeom>
          <a:solidFill>
            <a:srgbClr val="FFFFFF"/>
          </a:solidFill>
          <a:ln w="28575">
            <a:solidFill>
              <a:srgbClr val="FFE07A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2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go · have · like</a:t>
            </a:r>
            <a:endParaRPr lang="en-US" sz="1200" dirty="0"/>
          </a:p>
        </p:txBody>
      </p:sp>
      <p:sp>
        <p:nvSpPr>
          <p:cNvPr id="28" name="R4_chip100"/>
          <p:cNvSpPr/>
          <p:nvPr/>
        </p:nvSpPr>
        <p:spPr>
          <a:xfrm>
            <a:off x="5093208" y="1820753"/>
            <a:ext cx="3776472" cy="590215"/>
          </a:xfrm>
          <a:prstGeom prst="roundRect">
            <a:avLst>
              <a:gd name="adj" fmla="val 15493"/>
            </a:avLst>
          </a:prstGeom>
          <a:solidFill>
            <a:srgbClr val="E3F7EA"/>
          </a:solidFill>
          <a:ln w="28575">
            <a:solidFill>
              <a:srgbClr val="A8E5BE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go to the cinema · have a garden · like animals</a:t>
            </a:r>
            <a:endParaRPr lang="en-US" sz="1150" dirty="0"/>
          </a:p>
        </p:txBody>
      </p:sp>
      <p:sp>
        <p:nvSpPr>
          <p:cNvPr id="29" name="bd_101"/>
          <p:cNvSpPr/>
          <p:nvPr/>
        </p:nvSpPr>
        <p:spPr>
          <a:xfrm>
            <a:off x="4709160" y="2562393"/>
            <a:ext cx="310896" cy="310896"/>
          </a:xfrm>
          <a:prstGeom prst="ellipse">
            <a:avLst/>
          </a:prstGeom>
          <a:solidFill>
            <a:srgbClr val="E8508F"/>
          </a:solidFill>
          <a:ln w="28575">
            <a:solidFill>
              <a:srgbClr val="F7A6C4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5</a:t>
            </a:r>
            <a:endParaRPr lang="en-US" sz="1000" dirty="0"/>
          </a:p>
        </p:txBody>
      </p:sp>
      <p:sp>
        <p:nvSpPr>
          <p:cNvPr id="30" name="q_102"/>
          <p:cNvSpPr/>
          <p:nvPr/>
        </p:nvSpPr>
        <p:spPr>
          <a:xfrm>
            <a:off x="5093208" y="2538984"/>
            <a:ext cx="3776472" cy="357713"/>
          </a:xfrm>
          <a:prstGeom prst="roundRect">
            <a:avLst>
              <a:gd name="adj" fmla="val 25562"/>
            </a:avLst>
          </a:prstGeom>
          <a:solidFill>
            <a:srgbClr val="FFFFFF"/>
          </a:solidFill>
          <a:ln w="28575">
            <a:solidFill>
              <a:srgbClr val="F7A6C4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2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listen · live · need</a:t>
            </a:r>
            <a:endParaRPr lang="en-US" sz="1200" dirty="0"/>
          </a:p>
        </p:txBody>
      </p:sp>
      <p:sp>
        <p:nvSpPr>
          <p:cNvPr id="31" name="R5_chip103"/>
          <p:cNvSpPr/>
          <p:nvPr/>
        </p:nvSpPr>
        <p:spPr>
          <a:xfrm>
            <a:off x="5093208" y="2942417"/>
            <a:ext cx="3776472" cy="590215"/>
          </a:xfrm>
          <a:prstGeom prst="roundRect">
            <a:avLst>
              <a:gd name="adj" fmla="val 15493"/>
            </a:avLst>
          </a:prstGeom>
          <a:solidFill>
            <a:srgbClr val="E3F7EA"/>
          </a:solidFill>
          <a:ln w="28575">
            <a:solidFill>
              <a:srgbClr val="A8E5BE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listen to music · live in a flat · need a new phone</a:t>
            </a:r>
            <a:endParaRPr lang="en-US" sz="1150" dirty="0"/>
          </a:p>
        </p:txBody>
      </p:sp>
      <p:sp>
        <p:nvSpPr>
          <p:cNvPr id="32" name="bd_104"/>
          <p:cNvSpPr/>
          <p:nvPr/>
        </p:nvSpPr>
        <p:spPr>
          <a:xfrm>
            <a:off x="4709160" y="3684057"/>
            <a:ext cx="310896" cy="310896"/>
          </a:xfrm>
          <a:prstGeom prst="ellipse">
            <a:avLst/>
          </a:prstGeom>
          <a:solidFill>
            <a:srgbClr val="2F8DE4"/>
          </a:solidFill>
          <a:ln w="28575">
            <a:solidFill>
              <a:srgbClr val="A9D3F5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6</a:t>
            </a:r>
            <a:endParaRPr lang="en-US" sz="1000" dirty="0"/>
          </a:p>
        </p:txBody>
      </p:sp>
      <p:sp>
        <p:nvSpPr>
          <p:cNvPr id="33" name="q_105"/>
          <p:cNvSpPr/>
          <p:nvPr/>
        </p:nvSpPr>
        <p:spPr>
          <a:xfrm>
            <a:off x="5093208" y="3660648"/>
            <a:ext cx="3776472" cy="357713"/>
          </a:xfrm>
          <a:prstGeom prst="roundRect">
            <a:avLst>
              <a:gd name="adj" fmla="val 25562"/>
            </a:avLst>
          </a:prstGeom>
          <a:solidFill>
            <a:srgbClr val="FFFFFF"/>
          </a:solidFill>
          <a:ln w="28575">
            <a:solidFill>
              <a:srgbClr val="A9D3F5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2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play · read · say</a:t>
            </a:r>
            <a:endParaRPr lang="en-US" sz="1200" dirty="0"/>
          </a:p>
        </p:txBody>
      </p:sp>
      <p:sp>
        <p:nvSpPr>
          <p:cNvPr id="34" name="R6_chip106"/>
          <p:cNvSpPr/>
          <p:nvPr/>
        </p:nvSpPr>
        <p:spPr>
          <a:xfrm>
            <a:off x="5093208" y="4064081"/>
            <a:ext cx="3776472" cy="590215"/>
          </a:xfrm>
          <a:prstGeom prst="roundRect">
            <a:avLst>
              <a:gd name="adj" fmla="val 15493"/>
            </a:avLst>
          </a:prstGeom>
          <a:solidFill>
            <a:srgbClr val="E3F7EA"/>
          </a:solidFill>
          <a:ln w="28575">
            <a:solidFill>
              <a:srgbClr val="A8E5BE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play the guitar · play tennis · read a book · say sorry</a:t>
            </a:r>
            <a:endParaRPr lang="en-US" sz="1150" dirty="0"/>
          </a:p>
        </p:txBody>
      </p:sp>
    </p:spTree>
  </p:cSld>
  <p:clrMapOvr>
    <a:masterClrMapping/>
  </p:clrMapOvr>
  <p:transition spd="med">
    <p:push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4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4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4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seq concurrent="1" nextAc="seek">
              <p:cTn id="33" restart="whenNotActive" fill="hold" evtFilter="cancelBubble" nodeType="interactiveSeq">
                <p:stCondLst>
                  <p:cond evt="onClick" delay="0">
                    <p:tgtEl>
                      <p:spTgt spid="14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34" fill="hold">
                      <p:stCondLst>
                        <p:cond delay="0"/>
                      </p:stCondLst>
                      <p:childTnLst>
                        <p:par>
                          <p:cTn id="35" fill="hold">
                            <p:stCondLst>
                              <p:cond delay="0"/>
                            </p:stCondLst>
                            <p:childTnLst>
                              <p:par>
                                <p:cTn id="36" presetID="2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togglePause">
                                      <p:cBhvr>
                                        <p:cTn id="37" dur="1" fill="hold"/>
                                        <p:tgtEl>
                                          <p:spTgt spid="14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14"/>
                  </p:tgtEl>
                </p:cond>
              </p:nextCondLst>
            </p:seq>
            <p:seq concurrent="1" nextAc="seek">
              <p:cTn id="38" restart="whenNotActive" fill="hold" evtFilter="cancelBubble" nodeType="interactiveSeq">
                <p:stCondLst>
                  <p:cond evt="onClick" delay="0">
                    <p:tgtEl>
                      <p:spTgt spid="16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39" fill="hold">
                      <p:stCondLst>
                        <p:cond delay="0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2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togglePause">
                                      <p:cBhvr>
                                        <p:cTn id="42" dur="1" fill="hold"/>
                                        <p:tgtEl>
                                          <p:spTgt spid="16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16"/>
                  </p:tgtEl>
                </p:cond>
              </p:nextCondLst>
            </p:seq>
            <p:audio>
              <p:cMediaNode vol="80000">
                <p:cTn id="43" fill="hold" display="0">
                  <p:stCondLst>
                    <p:cond delay="indefinite"/>
                  </p:stCondLst>
                  <p:endCondLst>
                    <p:cond evt="onStopAudio" delay="0">
                      <p:tgtEl>
                        <p:sldTgt/>
                      </p:tgtEl>
                    </p:cond>
                  </p:endCondLst>
                </p:cTn>
                <p:tgtEl>
                  <p:spTgt spid="14"/>
                </p:tgtEl>
              </p:cMediaNode>
            </p:audio>
            <p:audio>
              <p:cMediaNode vol="80000">
                <p:cTn id="44" fill="hold" display="0">
                  <p:stCondLst>
                    <p:cond delay="indefinite"/>
                  </p:stCondLst>
                  <p:endCondLst>
                    <p:cond evt="onStopAudio" delay="0">
                      <p:tgtEl>
                        <p:sldTgt/>
                      </p:tgtEl>
                    </p:cond>
                  </p:endCondLst>
                </p:cTn>
                <p:tgtEl>
                  <p:spTgt spid="16"/>
                </p:tgtEl>
              </p:cMediaNode>
            </p:audio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bd_107"/>
          <p:cNvSpPr/>
          <p:nvPr/>
        </p:nvSpPr>
        <p:spPr>
          <a:xfrm>
            <a:off x="201168" y="164592"/>
            <a:ext cx="841248" cy="841248"/>
          </a:xfrm>
          <a:prstGeom prst="ellipse">
            <a:avLst/>
          </a:prstGeom>
          <a:solidFill>
            <a:srgbClr val="2F8DE4"/>
          </a:solidFill>
          <a:ln w="28575">
            <a:solidFill>
              <a:srgbClr val="A9D3F5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5</a:t>
            </a:r>
            <a:endParaRPr lang="en-US" sz="2800" dirty="0"/>
          </a:p>
        </p:txBody>
      </p:sp>
      <p:pic>
        <p:nvPicPr>
          <p:cNvPr id="4" name="brY_108" descr="/home/claude/lls-course/v2/assets/brush-yellow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46304"/>
            <a:ext cx="3247949" cy="621792"/>
          </a:xfrm>
          <a:prstGeom prst="rect">
            <a:avLst/>
          </a:prstGeom>
        </p:spPr>
      </p:pic>
      <p:sp>
        <p:nvSpPr>
          <p:cNvPr id="5" name="title_109"/>
          <p:cNvSpPr/>
          <p:nvPr/>
        </p:nvSpPr>
        <p:spPr>
          <a:xfrm>
            <a:off x="1261872" y="164592"/>
            <a:ext cx="2973629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5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Verb phrases (2)</a:t>
            </a:r>
            <a:endParaRPr lang="en-US" sz="2500" dirty="0"/>
          </a:p>
        </p:txBody>
      </p:sp>
      <p:pic>
        <p:nvPicPr>
          <p:cNvPr id="6" name="brP_110" descr="/home/claude/lls-course/v2/assets/brush-pink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07008" y="731520"/>
            <a:ext cx="4032504" cy="402336"/>
          </a:xfrm>
          <a:prstGeom prst="rect">
            <a:avLst/>
          </a:prstGeom>
        </p:spPr>
      </p:pic>
      <p:sp>
        <p:nvSpPr>
          <p:cNvPr id="7" name="ins_111"/>
          <p:cNvSpPr/>
          <p:nvPr/>
        </p:nvSpPr>
        <p:spPr>
          <a:xfrm>
            <a:off x="1353312" y="731520"/>
            <a:ext cx="377647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i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Vocabulary Bank: say the whole phrase!</a:t>
            </a:r>
            <a:endParaRPr lang="en-US" sz="1250" dirty="0"/>
          </a:p>
        </p:txBody>
      </p:sp>
      <p:sp>
        <p:nvSpPr>
          <p:cNvPr id="8" name="insIT_112"/>
          <p:cNvSpPr/>
          <p:nvPr/>
        </p:nvSpPr>
        <p:spPr>
          <a:xfrm>
            <a:off x="1371600" y="1115568"/>
            <a:ext cx="5074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i="1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Vocabulary Bank: di' l'espressione intera!</a:t>
            </a:r>
            <a:endParaRPr lang="en-US" sz="950" dirty="0"/>
          </a:p>
        </p:txBody>
      </p:sp>
      <p:sp>
        <p:nvSpPr>
          <p:cNvPr id="9" name="note_113"/>
          <p:cNvSpPr/>
          <p:nvPr/>
        </p:nvSpPr>
        <p:spPr>
          <a:xfrm rot="180000">
            <a:off x="6382512" y="128016"/>
            <a:ext cx="2029968" cy="1024128"/>
          </a:xfrm>
          <a:prstGeom prst="rect">
            <a:avLst/>
          </a:prstGeom>
          <a:solidFill>
            <a:srgbClr val="FFC2DA"/>
          </a:solidFill>
          <a:ln>
            <a:solidFill>
              <a:srgbClr val="FFC2DA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50800" tIns="50800" rIns="50800" bIns="50800" rtlCol="0" anchor="ctr">
            <a:normAutofit/>
          </a:bodyPr>
          <a:lstStyle/>
          <a:p>
            <a:pPr algn="ctr" indent="0" marL="0">
              <a:buNone/>
            </a:pPr>
            <a:r>
              <a:rPr lang="en-US" sz="115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🔊 SAY IT</a:t>
            </a:r>
            <a:pPr algn="ctr" indent="0" marL="0">
              <a:buNone/>
            </a:pPr>
            <a:r>
              <a:rPr lang="en-US" sz="1200" dirty="0">
                <a:solidFill>
                  <a:srgbClr val="5B6785"/>
                </a:solidFill>
              </a:rPr>
              <a:t> → </a:t>
            </a:r>
            <a:pPr algn="ctr" indent="0" marL="0">
              <a:buNone/>
            </a:pPr>
            <a:r>
              <a:rPr lang="en-US" sz="115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🎲 PLAY</a:t>
            </a:r>
            <a:endParaRPr lang="en-US" sz="115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⏱ 2 min   👥 pairs</a:t>
            </a:r>
            <a:endParaRPr lang="en-US" sz="115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🎯 Vocabulary · Controlled practice</a:t>
            </a:r>
            <a:endParaRPr lang="en-US" sz="1150" dirty="0"/>
          </a:p>
        </p:txBody>
      </p:sp>
      <p:pic>
        <p:nvPicPr>
          <p:cNvPr id="10" name="logo_114" descr="/home/claude/lls-course/v2/img/logo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85632" y="128016"/>
            <a:ext cx="502920" cy="502920"/>
          </a:xfrm>
          <a:prstGeom prst="rect">
            <a:avLst/>
          </a:prstGeom>
        </p:spPr>
      </p:pic>
      <p:sp>
        <p:nvSpPr>
          <p:cNvPr id="11" name="foot_115"/>
          <p:cNvSpPr/>
          <p:nvPr/>
        </p:nvSpPr>
        <p:spPr>
          <a:xfrm>
            <a:off x="274320" y="4873752"/>
            <a:ext cx="6858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3A · Vocabulary Bank p.153 · verb phrases (2)   ·   📖 VB p.153 + SB p.22 · 1c · audio 3.3 (TG script)</a:t>
            </a:r>
            <a:endParaRPr lang="en-US" sz="800" dirty="0"/>
          </a:p>
        </p:txBody>
      </p:sp>
      <p:sp>
        <p:nvSpPr>
          <p:cNvPr id="12" name="ap_116"/>
          <p:cNvSpPr/>
          <p:nvPr/>
        </p:nvSpPr>
        <p:spPr>
          <a:xfrm>
            <a:off x="365760" y="4297680"/>
            <a:ext cx="2606040" cy="402336"/>
          </a:xfrm>
          <a:prstGeom prst="roundRect">
            <a:avLst>
              <a:gd name="adj" fmla="val 50000"/>
            </a:avLst>
          </a:prstGeom>
          <a:solidFill>
            <a:srgbClr val="E3F1FD"/>
          </a:solidFill>
          <a:ln w="28575">
            <a:solidFill>
              <a:srgbClr val="A9D3F5"/>
            </a:solidFill>
          </a:ln>
        </p:spPr>
        <p:txBody>
          <a:bodyPr wrap="square" lIns="127000" tIns="0" rIns="127000" bIns="0" rtlCol="0" anchor="ctr">
            <a:normAutofit/>
          </a:bodyPr>
          <a:lstStyle/>
          <a:p>
            <a:pPr indent="0" marL="0">
              <a:buNone/>
            </a:pPr>
            <a:r>
              <a:rPr lang="en-US" sz="11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🎧 3.2</a:t>
            </a:r>
            <a:endParaRPr lang="en-US" sz="1100" dirty="0"/>
          </a:p>
        </p:txBody>
      </p:sp>
      <p:sp>
        <p:nvSpPr>
          <p:cNvPr id="13" name="ah_117"/>
          <p:cNvSpPr/>
          <p:nvPr/>
        </p:nvSpPr>
        <p:spPr>
          <a:xfrm>
            <a:off x="4636008" y="4572000"/>
            <a:ext cx="97840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2F8DE4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▶ normal</a:t>
            </a:r>
            <a:endParaRPr lang="en-US" sz="1000" dirty="0"/>
          </a:p>
        </p:txBody>
      </p:sp>
      <p:pic>
        <p:nvPicPr>
          <p:cNvPr id="14" name="Media 0">
            <a:hlinkClick r:id="" action="ppaction://media"/>
          </p:cNvPr>
          <p:cNvPicPr>
            <a:picLocks noChangeAspect="1"/>
          </p:cNvPicPr>
          <p:nvPr>
            <a:audioFile r:link="rId5"/>
            <p:extLst>
              <p:ext uri="{DAA4B4D4-6D71-4841-9C94-3DE7FCFB9230}">
                <p14:media xmlns:p14="http://schemas.microsoft.com/office/powerpoint/2010/main" r:embed="rId6"/>
              </p:ext>
            </p:extLst>
          </p:nvPr>
        </p:nvPicPr>
        <p:blipFill>
          <a:blip r:embed="rId7"/>
          <a:stretch>
            <a:fillRect/>
          </a:stretch>
        </p:blipFill>
        <p:spPr>
          <a:xfrm>
            <a:off x="5687568" y="4553712"/>
            <a:ext cx="411480" cy="411480"/>
          </a:xfrm>
          <a:prstGeom prst="rect">
            <a:avLst/>
          </a:prstGeom>
        </p:spPr>
      </p:pic>
      <p:sp>
        <p:nvSpPr>
          <p:cNvPr id="15" name="ah_118"/>
          <p:cNvSpPr/>
          <p:nvPr/>
        </p:nvSpPr>
        <p:spPr>
          <a:xfrm>
            <a:off x="7470648" y="4572000"/>
            <a:ext cx="93268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2F8DE4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🐢 slower</a:t>
            </a:r>
            <a:endParaRPr lang="en-US" sz="1000" dirty="0"/>
          </a:p>
        </p:txBody>
      </p:sp>
      <p:pic>
        <p:nvPicPr>
          <p:cNvPr id="16" name="Media 1">
            <a:hlinkClick r:id="" action="ppaction://media"/>
          </p:cNvPr>
          <p:cNvPicPr>
            <a:picLocks noChangeAspect="1"/>
          </p:cNvPicPr>
          <p:nvPr>
            <a:audioFile r:link="rId8"/>
            <p:extLst>
              <p:ext uri="{DAA4B4D4-6D71-4841-9C94-3DE7FCFB9230}">
                <p14:media xmlns:p14="http://schemas.microsoft.com/office/powerpoint/2010/main" r:embed="rId9"/>
              </p:ext>
            </p:extLst>
          </p:nvPr>
        </p:nvPicPr>
        <p:blipFill>
          <a:blip r:embed="rId10"/>
          <a:stretch>
            <a:fillRect/>
          </a:stretch>
        </p:blipFill>
        <p:spPr>
          <a:xfrm>
            <a:off x="8476488" y="4553712"/>
            <a:ext cx="411480" cy="411480"/>
          </a:xfrm>
          <a:prstGeom prst="rect">
            <a:avLst/>
          </a:prstGeom>
        </p:spPr>
      </p:pic>
      <p:sp>
        <p:nvSpPr>
          <p:cNvPr id="17" name="bd_119"/>
          <p:cNvSpPr/>
          <p:nvPr/>
        </p:nvSpPr>
        <p:spPr>
          <a:xfrm>
            <a:off x="320040" y="1440729"/>
            <a:ext cx="310896" cy="310896"/>
          </a:xfrm>
          <a:prstGeom prst="ellipse">
            <a:avLst/>
          </a:prstGeom>
          <a:solidFill>
            <a:srgbClr val="E8508F"/>
          </a:solidFill>
          <a:ln w="28575">
            <a:solidFill>
              <a:srgbClr val="F7A6C4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1</a:t>
            </a:r>
            <a:endParaRPr lang="en-US" sz="1000" dirty="0"/>
          </a:p>
        </p:txBody>
      </p:sp>
      <p:sp>
        <p:nvSpPr>
          <p:cNvPr id="18" name="q_120"/>
          <p:cNvSpPr/>
          <p:nvPr/>
        </p:nvSpPr>
        <p:spPr>
          <a:xfrm>
            <a:off x="704088" y="1417320"/>
            <a:ext cx="3776472" cy="357713"/>
          </a:xfrm>
          <a:prstGeom prst="roundRect">
            <a:avLst>
              <a:gd name="adj" fmla="val 25562"/>
            </a:avLst>
          </a:prstGeom>
          <a:solidFill>
            <a:srgbClr val="FFFFFF"/>
          </a:solidFill>
          <a:ln w="28575">
            <a:solidFill>
              <a:srgbClr val="F7A6C4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speak · study · take</a:t>
            </a:r>
            <a:endParaRPr lang="en-US" sz="1100" dirty="0"/>
          </a:p>
        </p:txBody>
      </p:sp>
      <p:sp>
        <p:nvSpPr>
          <p:cNvPr id="19" name="R1_chip121"/>
          <p:cNvSpPr/>
          <p:nvPr/>
        </p:nvSpPr>
        <p:spPr>
          <a:xfrm>
            <a:off x="704088" y="1820753"/>
            <a:ext cx="3776472" cy="590215"/>
          </a:xfrm>
          <a:prstGeom prst="roundRect">
            <a:avLst>
              <a:gd name="adj" fmla="val 15493"/>
            </a:avLst>
          </a:prstGeom>
          <a:solidFill>
            <a:srgbClr val="E3F7EA"/>
          </a:solidFill>
          <a:ln w="28575">
            <a:solidFill>
              <a:srgbClr val="A8E5BE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speak German · study history · take an umbrella</a:t>
            </a:r>
            <a:endParaRPr lang="en-US" sz="1150" dirty="0"/>
          </a:p>
        </p:txBody>
      </p:sp>
      <p:sp>
        <p:nvSpPr>
          <p:cNvPr id="20" name="bd_122"/>
          <p:cNvSpPr/>
          <p:nvPr/>
        </p:nvSpPr>
        <p:spPr>
          <a:xfrm>
            <a:off x="320040" y="2562393"/>
            <a:ext cx="310896" cy="310896"/>
          </a:xfrm>
          <a:prstGeom prst="ellipse">
            <a:avLst/>
          </a:prstGeom>
          <a:solidFill>
            <a:srgbClr val="2F8DE4"/>
          </a:solidFill>
          <a:ln w="28575">
            <a:solidFill>
              <a:srgbClr val="A9D3F5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2</a:t>
            </a:r>
            <a:endParaRPr lang="en-US" sz="1000" dirty="0"/>
          </a:p>
        </p:txBody>
      </p:sp>
      <p:sp>
        <p:nvSpPr>
          <p:cNvPr id="21" name="q_123"/>
          <p:cNvSpPr/>
          <p:nvPr/>
        </p:nvSpPr>
        <p:spPr>
          <a:xfrm>
            <a:off x="704088" y="2538984"/>
            <a:ext cx="3776472" cy="357713"/>
          </a:xfrm>
          <a:prstGeom prst="roundRect">
            <a:avLst>
              <a:gd name="adj" fmla="val 25562"/>
            </a:avLst>
          </a:prstGeom>
          <a:solidFill>
            <a:srgbClr val="FFFFFF"/>
          </a:solidFill>
          <a:ln w="28575">
            <a:solidFill>
              <a:srgbClr val="A9D3F5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want · watch · wear</a:t>
            </a:r>
            <a:endParaRPr lang="en-US" sz="1100" dirty="0"/>
          </a:p>
        </p:txBody>
      </p:sp>
      <p:sp>
        <p:nvSpPr>
          <p:cNvPr id="22" name="R2_chip124"/>
          <p:cNvSpPr/>
          <p:nvPr/>
        </p:nvSpPr>
        <p:spPr>
          <a:xfrm>
            <a:off x="704088" y="2942417"/>
            <a:ext cx="3776472" cy="590215"/>
          </a:xfrm>
          <a:prstGeom prst="roundRect">
            <a:avLst>
              <a:gd name="adj" fmla="val 15493"/>
            </a:avLst>
          </a:prstGeom>
          <a:solidFill>
            <a:srgbClr val="E3F7EA"/>
          </a:solidFill>
          <a:ln w="28575">
            <a:solidFill>
              <a:srgbClr val="A8E5BE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want a coffee · watch TV · wear glasses</a:t>
            </a:r>
            <a:endParaRPr lang="en-US" sz="1150" dirty="0"/>
          </a:p>
        </p:txBody>
      </p:sp>
      <p:sp>
        <p:nvSpPr>
          <p:cNvPr id="23" name="bd_125"/>
          <p:cNvSpPr/>
          <p:nvPr/>
        </p:nvSpPr>
        <p:spPr>
          <a:xfrm>
            <a:off x="320040" y="3684057"/>
            <a:ext cx="310896" cy="310896"/>
          </a:xfrm>
          <a:prstGeom prst="ellipse">
            <a:avLst/>
          </a:prstGeom>
          <a:solidFill>
            <a:srgbClr val="2EB872"/>
          </a:solidFill>
          <a:ln w="28575">
            <a:solidFill>
              <a:srgbClr val="A8E5BE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3</a:t>
            </a:r>
            <a:endParaRPr lang="en-US" sz="1000" dirty="0"/>
          </a:p>
        </p:txBody>
      </p:sp>
      <p:sp>
        <p:nvSpPr>
          <p:cNvPr id="24" name="q_126"/>
          <p:cNvSpPr/>
          <p:nvPr/>
        </p:nvSpPr>
        <p:spPr>
          <a:xfrm>
            <a:off x="704088" y="3660648"/>
            <a:ext cx="3776472" cy="357713"/>
          </a:xfrm>
          <a:prstGeom prst="roundRect">
            <a:avLst>
              <a:gd name="adj" fmla="val 25562"/>
            </a:avLst>
          </a:prstGeom>
          <a:solidFill>
            <a:srgbClr val="FFFFFF"/>
          </a:solidFill>
          <a:ln w="28575">
            <a:solidFill>
              <a:srgbClr val="A8E5BE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work</a:t>
            </a:r>
            <a:endParaRPr lang="en-US" sz="1100" dirty="0"/>
          </a:p>
        </p:txBody>
      </p:sp>
      <p:sp>
        <p:nvSpPr>
          <p:cNvPr id="25" name="R3_chip127"/>
          <p:cNvSpPr/>
          <p:nvPr/>
        </p:nvSpPr>
        <p:spPr>
          <a:xfrm>
            <a:off x="704088" y="4064081"/>
            <a:ext cx="3776472" cy="590215"/>
          </a:xfrm>
          <a:prstGeom prst="roundRect">
            <a:avLst>
              <a:gd name="adj" fmla="val 15493"/>
            </a:avLst>
          </a:prstGeom>
          <a:solidFill>
            <a:srgbClr val="E3F7EA"/>
          </a:solidFill>
          <a:ln w="28575">
            <a:solidFill>
              <a:srgbClr val="A8E5BE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work in an office</a:t>
            </a:r>
            <a:endParaRPr lang="en-US" sz="1150" dirty="0"/>
          </a:p>
        </p:txBody>
      </p:sp>
      <p:sp>
        <p:nvSpPr>
          <p:cNvPr id="26" name="bd_128"/>
          <p:cNvSpPr/>
          <p:nvPr/>
        </p:nvSpPr>
        <p:spPr>
          <a:xfrm>
            <a:off x="4709160" y="1440729"/>
            <a:ext cx="310896" cy="310896"/>
          </a:xfrm>
          <a:prstGeom prst="ellipse">
            <a:avLst/>
          </a:prstGeom>
          <a:solidFill>
            <a:srgbClr val="F2B705"/>
          </a:solidFill>
          <a:ln w="28575">
            <a:solidFill>
              <a:srgbClr val="FFE07A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4</a:t>
            </a:r>
            <a:endParaRPr lang="en-US" sz="1000" dirty="0"/>
          </a:p>
        </p:txBody>
      </p:sp>
      <p:sp>
        <p:nvSpPr>
          <p:cNvPr id="27" name="q_129"/>
          <p:cNvSpPr/>
          <p:nvPr/>
        </p:nvSpPr>
        <p:spPr>
          <a:xfrm>
            <a:off x="5093208" y="1417320"/>
            <a:ext cx="3776472" cy="357713"/>
          </a:xfrm>
          <a:prstGeom prst="roundRect">
            <a:avLst>
              <a:gd name="adj" fmla="val 25562"/>
            </a:avLst>
          </a:prstGeom>
          <a:solidFill>
            <a:srgbClr val="FFFFFF"/>
          </a:solidFill>
          <a:ln w="28575">
            <a:solidFill>
              <a:srgbClr val="FFE07A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TV? the guitar? mineral water?</a:t>
            </a:r>
            <a:endParaRPr lang="en-US" sz="1100" dirty="0"/>
          </a:p>
        </p:txBody>
      </p:sp>
      <p:sp>
        <p:nvSpPr>
          <p:cNvPr id="28" name="R4_chip130"/>
          <p:cNvSpPr/>
          <p:nvPr/>
        </p:nvSpPr>
        <p:spPr>
          <a:xfrm>
            <a:off x="5093208" y="1820753"/>
            <a:ext cx="3776472" cy="590215"/>
          </a:xfrm>
          <a:prstGeom prst="roundRect">
            <a:avLst>
              <a:gd name="adj" fmla="val 15493"/>
            </a:avLst>
          </a:prstGeom>
          <a:solidFill>
            <a:srgbClr val="E3F7EA"/>
          </a:solidFill>
          <a:ln w="28575">
            <a:solidFill>
              <a:srgbClr val="A8E5BE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watch TV · play the guitar · drink mineral water</a:t>
            </a:r>
            <a:endParaRPr lang="en-US" sz="1150" dirty="0"/>
          </a:p>
        </p:txBody>
      </p:sp>
      <p:sp>
        <p:nvSpPr>
          <p:cNvPr id="29" name="bd_131"/>
          <p:cNvSpPr/>
          <p:nvPr/>
        </p:nvSpPr>
        <p:spPr>
          <a:xfrm>
            <a:off x="4709160" y="2562393"/>
            <a:ext cx="310896" cy="310896"/>
          </a:xfrm>
          <a:prstGeom prst="ellipse">
            <a:avLst/>
          </a:prstGeom>
          <a:solidFill>
            <a:srgbClr val="E8508F"/>
          </a:solidFill>
          <a:ln w="28575">
            <a:solidFill>
              <a:srgbClr val="F7A6C4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5</a:t>
            </a:r>
            <a:endParaRPr lang="en-US" sz="1000" dirty="0"/>
          </a:p>
        </p:txBody>
      </p:sp>
      <p:sp>
        <p:nvSpPr>
          <p:cNvPr id="30" name="q_132"/>
          <p:cNvSpPr/>
          <p:nvPr/>
        </p:nvSpPr>
        <p:spPr>
          <a:xfrm>
            <a:off x="5093208" y="2538984"/>
            <a:ext cx="3776472" cy="357713"/>
          </a:xfrm>
          <a:prstGeom prst="roundRect">
            <a:avLst>
              <a:gd name="adj" fmla="val 25562"/>
            </a:avLst>
          </a:prstGeom>
          <a:solidFill>
            <a:srgbClr val="FFFFFF"/>
          </a:solidFill>
          <a:ln w="28575">
            <a:solidFill>
              <a:srgbClr val="F7A6C4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to music? glasses? a garden?</a:t>
            </a:r>
            <a:endParaRPr lang="en-US" sz="1100" dirty="0"/>
          </a:p>
        </p:txBody>
      </p:sp>
      <p:sp>
        <p:nvSpPr>
          <p:cNvPr id="31" name="R5_chip133"/>
          <p:cNvSpPr/>
          <p:nvPr/>
        </p:nvSpPr>
        <p:spPr>
          <a:xfrm>
            <a:off x="5093208" y="2942417"/>
            <a:ext cx="3776472" cy="590215"/>
          </a:xfrm>
          <a:prstGeom prst="roundRect">
            <a:avLst>
              <a:gd name="adj" fmla="val 15493"/>
            </a:avLst>
          </a:prstGeom>
          <a:solidFill>
            <a:srgbClr val="E3F7EA"/>
          </a:solidFill>
          <a:ln w="28575">
            <a:solidFill>
              <a:srgbClr val="A8E5BE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listen to music · wear glasses · have a garden</a:t>
            </a:r>
            <a:endParaRPr lang="en-US" sz="1150" dirty="0"/>
          </a:p>
        </p:txBody>
      </p:sp>
      <p:sp>
        <p:nvSpPr>
          <p:cNvPr id="32" name="bd_134"/>
          <p:cNvSpPr/>
          <p:nvPr/>
        </p:nvSpPr>
        <p:spPr>
          <a:xfrm>
            <a:off x="4709160" y="3684057"/>
            <a:ext cx="310896" cy="310896"/>
          </a:xfrm>
          <a:prstGeom prst="ellipse">
            <a:avLst/>
          </a:prstGeom>
          <a:solidFill>
            <a:srgbClr val="2F8DE4"/>
          </a:solidFill>
          <a:ln w="28575">
            <a:solidFill>
              <a:srgbClr val="A9D3F5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6</a:t>
            </a:r>
            <a:endParaRPr lang="en-US" sz="1000" dirty="0"/>
          </a:p>
        </p:txBody>
      </p:sp>
      <p:sp>
        <p:nvSpPr>
          <p:cNvPr id="33" name="q_135"/>
          <p:cNvSpPr/>
          <p:nvPr/>
        </p:nvSpPr>
        <p:spPr>
          <a:xfrm>
            <a:off x="5093208" y="3660648"/>
            <a:ext cx="3776472" cy="357713"/>
          </a:xfrm>
          <a:prstGeom prst="roundRect">
            <a:avLst>
              <a:gd name="adj" fmla="val 25562"/>
            </a:avLst>
          </a:prstGeom>
          <a:solidFill>
            <a:srgbClr val="FFFFFF"/>
          </a:solidFill>
          <a:ln w="28575">
            <a:solidFill>
              <a:srgbClr val="A9D3F5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vegetables? to the cinema? history? exercise?</a:t>
            </a:r>
            <a:endParaRPr lang="en-US" sz="1100" dirty="0"/>
          </a:p>
        </p:txBody>
      </p:sp>
      <p:sp>
        <p:nvSpPr>
          <p:cNvPr id="34" name="R6_chip136"/>
          <p:cNvSpPr/>
          <p:nvPr/>
        </p:nvSpPr>
        <p:spPr>
          <a:xfrm>
            <a:off x="5093208" y="4064081"/>
            <a:ext cx="3776472" cy="590215"/>
          </a:xfrm>
          <a:prstGeom prst="roundRect">
            <a:avLst>
              <a:gd name="adj" fmla="val 15493"/>
            </a:avLst>
          </a:prstGeom>
          <a:solidFill>
            <a:srgbClr val="E3F7EA"/>
          </a:solidFill>
          <a:ln w="28575">
            <a:solidFill>
              <a:srgbClr val="A8E5BE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eat vegetables · go to the cinema · study history · do exercise</a:t>
            </a:r>
            <a:endParaRPr lang="en-US" sz="1150" dirty="0"/>
          </a:p>
        </p:txBody>
      </p:sp>
    </p:spTree>
  </p:cSld>
  <p:clrMapOvr>
    <a:masterClrMapping/>
  </p:clrMapOvr>
  <p:transition spd="med">
    <p:push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4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4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4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seq concurrent="1" nextAc="seek">
              <p:cTn id="33" restart="whenNotActive" fill="hold" evtFilter="cancelBubble" nodeType="interactiveSeq">
                <p:stCondLst>
                  <p:cond evt="onClick" delay="0">
                    <p:tgtEl>
                      <p:spTgt spid="14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34" fill="hold">
                      <p:stCondLst>
                        <p:cond delay="0"/>
                      </p:stCondLst>
                      <p:childTnLst>
                        <p:par>
                          <p:cTn id="35" fill="hold">
                            <p:stCondLst>
                              <p:cond delay="0"/>
                            </p:stCondLst>
                            <p:childTnLst>
                              <p:par>
                                <p:cTn id="36" presetID="2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togglePause">
                                      <p:cBhvr>
                                        <p:cTn id="37" dur="1" fill="hold"/>
                                        <p:tgtEl>
                                          <p:spTgt spid="14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14"/>
                  </p:tgtEl>
                </p:cond>
              </p:nextCondLst>
            </p:seq>
            <p:seq concurrent="1" nextAc="seek">
              <p:cTn id="38" restart="whenNotActive" fill="hold" evtFilter="cancelBubble" nodeType="interactiveSeq">
                <p:stCondLst>
                  <p:cond evt="onClick" delay="0">
                    <p:tgtEl>
                      <p:spTgt spid="16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39" fill="hold">
                      <p:stCondLst>
                        <p:cond delay="0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2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togglePause">
                                      <p:cBhvr>
                                        <p:cTn id="42" dur="1" fill="hold"/>
                                        <p:tgtEl>
                                          <p:spTgt spid="16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16"/>
                  </p:tgtEl>
                </p:cond>
              </p:nextCondLst>
            </p:seq>
            <p:audio>
              <p:cMediaNode vol="80000">
                <p:cTn id="43" fill="hold" display="0">
                  <p:stCondLst>
                    <p:cond delay="indefinite"/>
                  </p:stCondLst>
                  <p:endCondLst>
                    <p:cond evt="onStopAudio" delay="0">
                      <p:tgtEl>
                        <p:sldTgt/>
                      </p:tgtEl>
                    </p:cond>
                  </p:endCondLst>
                </p:cTn>
                <p:tgtEl>
                  <p:spTgt spid="14"/>
                </p:tgtEl>
              </p:cMediaNode>
            </p:audio>
            <p:audio>
              <p:cMediaNode vol="80000">
                <p:cTn id="44" fill="hold" display="0">
                  <p:stCondLst>
                    <p:cond delay="indefinite"/>
                  </p:stCondLst>
                  <p:endCondLst>
                    <p:cond evt="onStopAudio" delay="0">
                      <p:tgtEl>
                        <p:sldTgt/>
                      </p:tgtEl>
                    </p:cond>
                  </p:endCondLst>
                </p:cTn>
                <p:tgtEl>
                  <p:spTgt spid="16"/>
                </p:tgtEl>
              </p:cMediaNode>
            </p:audio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bd_137"/>
          <p:cNvSpPr/>
          <p:nvPr/>
        </p:nvSpPr>
        <p:spPr>
          <a:xfrm>
            <a:off x="201168" y="164592"/>
            <a:ext cx="841248" cy="841248"/>
          </a:xfrm>
          <a:prstGeom prst="ellipse">
            <a:avLst/>
          </a:prstGeom>
          <a:solidFill>
            <a:srgbClr val="2EB872"/>
          </a:solidFill>
          <a:ln w="28575">
            <a:solidFill>
              <a:srgbClr val="A8E5BE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6</a:t>
            </a:r>
            <a:endParaRPr lang="en-US" sz="2800" dirty="0"/>
          </a:p>
        </p:txBody>
      </p:sp>
      <p:pic>
        <p:nvPicPr>
          <p:cNvPr id="4" name="brY_138" descr="/home/claude/lls-course/v2/assets/brush-yellow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46304"/>
            <a:ext cx="4663440" cy="621792"/>
          </a:xfrm>
          <a:prstGeom prst="rect">
            <a:avLst/>
          </a:prstGeom>
        </p:spPr>
      </p:pic>
      <p:sp>
        <p:nvSpPr>
          <p:cNvPr id="5" name="title_139"/>
          <p:cNvSpPr/>
          <p:nvPr/>
        </p:nvSpPr>
        <p:spPr>
          <a:xfrm>
            <a:off x="1261872" y="164592"/>
            <a:ext cx="43891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5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My name's Carola. I like…</a:t>
            </a:r>
            <a:endParaRPr lang="en-US" sz="2500" dirty="0"/>
          </a:p>
        </p:txBody>
      </p:sp>
      <p:pic>
        <p:nvPicPr>
          <p:cNvPr id="6" name="brP_140" descr="/home/claude/lls-course/v2/assets/brush-pink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07008" y="731520"/>
            <a:ext cx="5257800" cy="402336"/>
          </a:xfrm>
          <a:prstGeom prst="rect">
            <a:avLst/>
          </a:prstGeom>
        </p:spPr>
      </p:pic>
      <p:sp>
        <p:nvSpPr>
          <p:cNvPr id="7" name="ins_141"/>
          <p:cNvSpPr/>
          <p:nvPr/>
        </p:nvSpPr>
        <p:spPr>
          <a:xfrm>
            <a:off x="1353312" y="731520"/>
            <a:ext cx="500176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00" i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Read Carola's article. Complete 1–8 with a word or phrase from the list.</a:t>
            </a:r>
            <a:endParaRPr lang="en-US" sz="1100" dirty="0"/>
          </a:p>
        </p:txBody>
      </p:sp>
      <p:sp>
        <p:nvSpPr>
          <p:cNvPr id="8" name="insIT_142"/>
          <p:cNvSpPr/>
          <p:nvPr/>
        </p:nvSpPr>
        <p:spPr>
          <a:xfrm>
            <a:off x="1371600" y="1115568"/>
            <a:ext cx="5074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i="1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Leggi l'articolo di Carola. Completa 1–8 con una parola della lista.</a:t>
            </a:r>
            <a:endParaRPr lang="en-US" sz="950" dirty="0"/>
          </a:p>
        </p:txBody>
      </p:sp>
      <p:sp>
        <p:nvSpPr>
          <p:cNvPr id="9" name="note_143"/>
          <p:cNvSpPr/>
          <p:nvPr/>
        </p:nvSpPr>
        <p:spPr>
          <a:xfrm rot="180000">
            <a:off x="6382512" y="128016"/>
            <a:ext cx="2029968" cy="1024128"/>
          </a:xfrm>
          <a:prstGeom prst="rect">
            <a:avLst/>
          </a:prstGeom>
          <a:solidFill>
            <a:srgbClr val="FFC2DA"/>
          </a:solidFill>
          <a:ln>
            <a:solidFill>
              <a:srgbClr val="FFC2DA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50800" tIns="50800" rIns="50800" bIns="50800" rtlCol="0" anchor="ctr">
            <a:normAutofit/>
          </a:bodyPr>
          <a:lstStyle/>
          <a:p>
            <a:pPr algn="ctr" indent="0" marL="0">
              <a:buNone/>
            </a:pPr>
            <a:r>
              <a:rPr lang="en-US" sz="115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👀 READ</a:t>
            </a:r>
            <a:pPr algn="ctr" indent="0" marL="0">
              <a:buNone/>
            </a:pPr>
            <a:r>
              <a:rPr lang="en-US" sz="1200" dirty="0">
                <a:solidFill>
                  <a:srgbClr val="5B6785"/>
                </a:solidFill>
              </a:rPr>
              <a:t> → </a:t>
            </a:r>
            <a:pPr algn="ctr" indent="0" marL="0">
              <a:buNone/>
            </a:pPr>
            <a:r>
              <a:rPr lang="en-US" sz="115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✏️ FILL THE GAPS</a:t>
            </a:r>
            <a:endParaRPr lang="en-US" sz="115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⏱ 5 min   👥 pairs</a:t>
            </a:r>
            <a:endParaRPr lang="en-US" sz="115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🎯 Grammar · Reading → grammar</a:t>
            </a:r>
            <a:endParaRPr lang="en-US" sz="1150" dirty="0"/>
          </a:p>
        </p:txBody>
      </p:sp>
      <p:pic>
        <p:nvPicPr>
          <p:cNvPr id="10" name="logo_144" descr="/home/claude/lls-course/v2/img/logo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85632" y="128016"/>
            <a:ext cx="502920" cy="502920"/>
          </a:xfrm>
          <a:prstGeom prst="rect">
            <a:avLst/>
          </a:prstGeom>
        </p:spPr>
      </p:pic>
      <p:sp>
        <p:nvSpPr>
          <p:cNvPr id="11" name="foot_145"/>
          <p:cNvSpPr/>
          <p:nvPr/>
        </p:nvSpPr>
        <p:spPr>
          <a:xfrm>
            <a:off x="274320" y="4873752"/>
            <a:ext cx="6858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3A · Grammar · What the British like about Britain   ·   📖 SB p.22 · 2a, 2b · audio 3.4 (the article is on the slide · TG key)</a:t>
            </a:r>
            <a:endParaRPr lang="en-US" sz="800" dirty="0"/>
          </a:p>
        </p:txBody>
      </p:sp>
      <p:sp>
        <p:nvSpPr>
          <p:cNvPr id="12" name="cd_146"/>
          <p:cNvSpPr/>
          <p:nvPr/>
        </p:nvSpPr>
        <p:spPr>
          <a:xfrm>
            <a:off x="320040" y="1417320"/>
            <a:ext cx="5760720" cy="3364992"/>
          </a:xfrm>
          <a:prstGeom prst="roundRect">
            <a:avLst>
              <a:gd name="adj" fmla="val 3804"/>
            </a:avLst>
          </a:prstGeom>
          <a:solidFill>
            <a:srgbClr val="FFFFFF"/>
          </a:solidFill>
          <a:ln w="28575">
            <a:solidFill>
              <a:srgbClr val="A8E5BE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13" name="rd_147"/>
          <p:cNvSpPr/>
          <p:nvPr/>
        </p:nvSpPr>
        <p:spPr>
          <a:xfrm>
            <a:off x="457200" y="1527048"/>
            <a:ext cx="5486400" cy="30906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spcAft>
                <a:spcPts val="400"/>
              </a:spcAft>
              <a:buNone/>
            </a:pPr>
            <a:r>
              <a:rPr lang="en-US" sz="1450" b="1" dirty="0">
                <a:solidFill>
                  <a:srgbClr val="1F6F4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What the British like about Britain – My name's Carola. I'm a journalist. I like…</a:t>
            </a:r>
            <a:endParaRPr lang="en-US" sz="950" dirty="0"/>
          </a:p>
          <a:p>
            <a:pPr indent="0" marL="0">
              <a:lnSpc>
                <a:spcPct val="105000"/>
              </a:lnSpc>
              <a:spcAft>
                <a:spcPts val="700"/>
              </a:spcAft>
              <a:buNone/>
            </a:pPr>
            <a:r>
              <a:rPr lang="en-US" sz="95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</a:t>
            </a:r>
            <a:pPr indent="0" marL="0">
              <a:lnSpc>
                <a:spcPct val="105000"/>
              </a:lnSpc>
              <a:spcAft>
                <a:spcPts val="700"/>
              </a:spcAft>
              <a:buNone/>
            </a:pPr>
            <a:r>
              <a:rPr lang="en-US" sz="950" b="1" dirty="0">
                <a:solidFill>
                  <a:srgbClr val="7B5CD6"/>
                </a:solidFill>
                <a:highlight>
                  <a:srgbClr val="EEE8FB"/>
                </a:highlight>
                <a:latin typeface="Georgia" pitchFamily="34" charset="0"/>
                <a:ea typeface="Georgia" pitchFamily="34" charset="-122"/>
                <a:cs typeface="Georgia" pitchFamily="34" charset="-120"/>
              </a:rPr>
              <a:t> (1) multiculturalism </a:t>
            </a:r>
            <a:pPr indent="0" marL="0">
              <a:lnSpc>
                <a:spcPct val="105000"/>
              </a:lnSpc>
              <a:spcAft>
                <a:spcPts val="700"/>
              </a:spcAft>
              <a:buNone/>
            </a:pPr>
            <a:r>
              <a:rPr lang="en-US" sz="95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. People from all over the world live in the UK, and </a:t>
            </a:r>
            <a:pPr indent="0" marL="0">
              <a:lnSpc>
                <a:spcPct val="105000"/>
              </a:lnSpc>
              <a:spcAft>
                <a:spcPts val="700"/>
              </a:spcAft>
              <a:buNone/>
            </a:pPr>
            <a:r>
              <a:rPr lang="en-US" sz="950" b="1" u="sng" dirty="0">
                <a:solidFill>
                  <a:srgbClr val="7B5CD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they live</a:t>
            </a:r>
            <a:pPr indent="0" marL="0">
              <a:lnSpc>
                <a:spcPct val="105000"/>
              </a:lnSpc>
              <a:spcAft>
                <a:spcPts val="700"/>
              </a:spcAft>
              <a:buNone/>
            </a:pPr>
            <a:r>
              <a:rPr lang="en-US" sz="95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together happily. Usually.</a:t>
            </a:r>
            <a:endParaRPr lang="en-US" sz="950" dirty="0"/>
          </a:p>
          <a:p>
            <a:pPr indent="0" marL="0">
              <a:lnSpc>
                <a:spcPct val="105000"/>
              </a:lnSpc>
              <a:spcAft>
                <a:spcPts val="700"/>
              </a:spcAft>
              <a:buNone/>
            </a:pPr>
            <a:r>
              <a:rPr lang="en-US" sz="95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</a:t>
            </a:r>
            <a:pPr indent="0" marL="0">
              <a:lnSpc>
                <a:spcPct val="105000"/>
              </a:lnSpc>
              <a:spcAft>
                <a:spcPts val="700"/>
              </a:spcAft>
              <a:buNone/>
            </a:pPr>
            <a:r>
              <a:rPr lang="en-US" sz="950" b="1" dirty="0">
                <a:solidFill>
                  <a:srgbClr val="2EB87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(2) ________ </a:t>
            </a:r>
            <a:pPr indent="0" marL="0">
              <a:lnSpc>
                <a:spcPct val="105000"/>
              </a:lnSpc>
              <a:spcAft>
                <a:spcPts val="700"/>
              </a:spcAft>
              <a:buNone/>
            </a:pPr>
            <a:r>
              <a:rPr lang="en-US" sz="95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. </a:t>
            </a:r>
            <a:pPr indent="0" marL="0">
              <a:lnSpc>
                <a:spcPct val="105000"/>
              </a:lnSpc>
              <a:spcAft>
                <a:spcPts val="700"/>
              </a:spcAft>
              <a:buNone/>
            </a:pPr>
            <a:r>
              <a:rPr lang="en-US" sz="950" b="1" u="sng" dirty="0">
                <a:solidFill>
                  <a:srgbClr val="7B5CD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English is</a:t>
            </a:r>
            <a:pPr indent="0" marL="0">
              <a:lnSpc>
                <a:spcPct val="105000"/>
              </a:lnSpc>
              <a:spcAft>
                <a:spcPts val="700"/>
              </a:spcAft>
              <a:buNone/>
            </a:pPr>
            <a:r>
              <a:rPr lang="en-US" sz="95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international. </a:t>
            </a:r>
            <a:pPr indent="0" marL="0">
              <a:lnSpc>
                <a:spcPct val="105000"/>
              </a:lnSpc>
              <a:spcAft>
                <a:spcPts val="700"/>
              </a:spcAft>
              <a:buNone/>
            </a:pPr>
            <a:r>
              <a:rPr lang="en-US" sz="950" b="1" u="sng" dirty="0">
                <a:solidFill>
                  <a:srgbClr val="7B5CD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 speak</a:t>
            </a:r>
            <a:pPr indent="0" marL="0">
              <a:lnSpc>
                <a:spcPct val="105000"/>
              </a:lnSpc>
              <a:spcAft>
                <a:spcPts val="700"/>
              </a:spcAft>
              <a:buNone/>
            </a:pPr>
            <a:r>
              <a:rPr lang="en-US" sz="95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English. </a:t>
            </a:r>
            <a:pPr indent="0" marL="0">
              <a:lnSpc>
                <a:spcPct val="105000"/>
              </a:lnSpc>
              <a:spcAft>
                <a:spcPts val="700"/>
              </a:spcAft>
              <a:buNone/>
            </a:pPr>
            <a:r>
              <a:rPr lang="en-US" sz="950" b="1" u="sng" dirty="0">
                <a:solidFill>
                  <a:srgbClr val="7B5CD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You speak</a:t>
            </a:r>
            <a:pPr indent="0" marL="0">
              <a:lnSpc>
                <a:spcPct val="105000"/>
              </a:lnSpc>
              <a:spcAft>
                <a:spcPts val="700"/>
              </a:spcAft>
              <a:buNone/>
            </a:pPr>
            <a:r>
              <a:rPr lang="en-US" sz="95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English. </a:t>
            </a:r>
            <a:pPr indent="0" marL="0">
              <a:lnSpc>
                <a:spcPct val="105000"/>
              </a:lnSpc>
              <a:spcAft>
                <a:spcPts val="700"/>
              </a:spcAft>
              <a:buNone/>
            </a:pPr>
            <a:r>
              <a:rPr lang="en-US" sz="950" b="1" u="sng" dirty="0">
                <a:solidFill>
                  <a:srgbClr val="7B5CD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 don't have</a:t>
            </a:r>
            <a:pPr indent="0" marL="0">
              <a:lnSpc>
                <a:spcPct val="105000"/>
              </a:lnSpc>
              <a:spcAft>
                <a:spcPts val="700"/>
              </a:spcAft>
              <a:buNone/>
            </a:pPr>
            <a:r>
              <a:rPr lang="en-US" sz="95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communication problems.</a:t>
            </a:r>
            <a:endParaRPr lang="en-US" sz="950" dirty="0"/>
          </a:p>
          <a:p>
            <a:pPr indent="0" marL="0">
              <a:lnSpc>
                <a:spcPct val="105000"/>
              </a:lnSpc>
              <a:spcAft>
                <a:spcPts val="700"/>
              </a:spcAft>
              <a:buNone/>
            </a:pPr>
            <a:r>
              <a:rPr lang="en-US" sz="95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</a:t>
            </a:r>
            <a:pPr indent="0" marL="0">
              <a:lnSpc>
                <a:spcPct val="105000"/>
              </a:lnSpc>
              <a:spcAft>
                <a:spcPts val="700"/>
              </a:spcAft>
              <a:buNone/>
            </a:pPr>
            <a:r>
              <a:rPr lang="en-US" sz="950" b="1" dirty="0">
                <a:solidFill>
                  <a:srgbClr val="2EB87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(3) ________ </a:t>
            </a:r>
            <a:pPr indent="0" marL="0">
              <a:lnSpc>
                <a:spcPct val="105000"/>
              </a:lnSpc>
              <a:spcAft>
                <a:spcPts val="700"/>
              </a:spcAft>
              <a:buNone/>
            </a:pPr>
            <a:r>
              <a:rPr lang="en-US" sz="95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. My garden's small, but </a:t>
            </a:r>
            <a:pPr indent="0" marL="0">
              <a:lnSpc>
                <a:spcPct val="105000"/>
              </a:lnSpc>
              <a:spcAft>
                <a:spcPts val="700"/>
              </a:spcAft>
              <a:buNone/>
            </a:pPr>
            <a:r>
              <a:rPr lang="en-US" sz="950" b="1" u="sng" dirty="0">
                <a:solidFill>
                  <a:srgbClr val="7B5CD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 have</a:t>
            </a:r>
            <a:pPr indent="0" marL="0">
              <a:lnSpc>
                <a:spcPct val="105000"/>
              </a:lnSpc>
              <a:spcAft>
                <a:spcPts val="700"/>
              </a:spcAft>
              <a:buNone/>
            </a:pPr>
            <a:r>
              <a:rPr lang="en-US" sz="95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flowers </a:t>
            </a:r>
            <a:pPr indent="0" marL="0">
              <a:lnSpc>
                <a:spcPct val="105000"/>
              </a:lnSpc>
              <a:spcAft>
                <a:spcPts val="700"/>
              </a:spcAft>
              <a:buNone/>
            </a:pPr>
            <a:r>
              <a:rPr lang="en-US" sz="950" b="1" u="sng" dirty="0">
                <a:solidFill>
                  <a:srgbClr val="7B5CD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and vegetables</a:t>
            </a:r>
            <a:pPr indent="0" marL="0">
              <a:lnSpc>
                <a:spcPct val="105000"/>
              </a:lnSpc>
              <a:spcAft>
                <a:spcPts val="700"/>
              </a:spcAft>
              <a:buNone/>
            </a:pPr>
            <a:r>
              <a:rPr lang="en-US" sz="95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in it. When the sun's out </a:t>
            </a:r>
            <a:pPr indent="0" marL="0">
              <a:lnSpc>
                <a:spcPct val="105000"/>
              </a:lnSpc>
              <a:spcAft>
                <a:spcPts val="700"/>
              </a:spcAft>
              <a:buNone/>
            </a:pPr>
            <a:r>
              <a:rPr lang="en-US" sz="950" b="1" u="sng" dirty="0">
                <a:solidFill>
                  <a:srgbClr val="7B5CD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 sit</a:t>
            </a:r>
            <a:pPr indent="0" marL="0">
              <a:lnSpc>
                <a:spcPct val="105000"/>
              </a:lnSpc>
              <a:spcAft>
                <a:spcPts val="700"/>
              </a:spcAft>
              <a:buNone/>
            </a:pPr>
            <a:r>
              <a:rPr lang="en-US" sz="95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in the garden and </a:t>
            </a:r>
            <a:pPr indent="0" marL="0">
              <a:lnSpc>
                <a:spcPct val="105000"/>
              </a:lnSpc>
              <a:spcAft>
                <a:spcPts val="700"/>
              </a:spcAft>
              <a:buNone/>
            </a:pPr>
            <a:r>
              <a:rPr lang="en-US" sz="950" b="1" u="sng" dirty="0">
                <a:solidFill>
                  <a:srgbClr val="7B5CD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 feel</a:t>
            </a:r>
            <a:pPr indent="0" marL="0">
              <a:lnSpc>
                <a:spcPct val="105000"/>
              </a:lnSpc>
              <a:spcAft>
                <a:spcPts val="700"/>
              </a:spcAft>
              <a:buNone/>
            </a:pPr>
            <a:r>
              <a:rPr lang="en-US" sz="95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really happy.</a:t>
            </a:r>
            <a:endParaRPr lang="en-US" sz="950" dirty="0"/>
          </a:p>
          <a:p>
            <a:pPr indent="0" marL="0">
              <a:lnSpc>
                <a:spcPct val="105000"/>
              </a:lnSpc>
              <a:spcAft>
                <a:spcPts val="700"/>
              </a:spcAft>
              <a:buNone/>
            </a:pPr>
            <a:r>
              <a:rPr lang="en-US" sz="95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4</a:t>
            </a:r>
            <a:pPr indent="0" marL="0">
              <a:lnSpc>
                <a:spcPct val="105000"/>
              </a:lnSpc>
              <a:spcAft>
                <a:spcPts val="700"/>
              </a:spcAft>
              <a:buNone/>
            </a:pPr>
            <a:r>
              <a:rPr lang="en-US" sz="950" b="1" dirty="0">
                <a:solidFill>
                  <a:srgbClr val="2EB87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(4) ________ </a:t>
            </a:r>
            <a:pPr indent="0" marL="0">
              <a:lnSpc>
                <a:spcPct val="105000"/>
              </a:lnSpc>
              <a:spcAft>
                <a:spcPts val="700"/>
              </a:spcAft>
              <a:buNone/>
            </a:pPr>
            <a:r>
              <a:rPr lang="en-US" sz="95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. </a:t>
            </a:r>
            <a:pPr indent="0" marL="0">
              <a:lnSpc>
                <a:spcPct val="105000"/>
              </a:lnSpc>
              <a:spcAft>
                <a:spcPts val="700"/>
              </a:spcAft>
              <a:buNone/>
            </a:pPr>
            <a:r>
              <a:rPr lang="en-US" sz="950" b="1" u="sng" dirty="0">
                <a:solidFill>
                  <a:srgbClr val="7B5CD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 wear</a:t>
            </a:r>
            <a:pPr indent="0" marL="0">
              <a:lnSpc>
                <a:spcPct val="105000"/>
              </a:lnSpc>
              <a:spcAft>
                <a:spcPts val="700"/>
              </a:spcAft>
              <a:buNone/>
            </a:pPr>
            <a:r>
              <a:rPr lang="en-US" sz="95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what </a:t>
            </a:r>
            <a:pPr indent="0" marL="0">
              <a:lnSpc>
                <a:spcPct val="105000"/>
              </a:lnSpc>
              <a:spcAft>
                <a:spcPts val="700"/>
              </a:spcAft>
              <a:buNone/>
            </a:pPr>
            <a:r>
              <a:rPr lang="en-US" sz="950" b="1" u="sng" dirty="0">
                <a:solidFill>
                  <a:srgbClr val="7B5CD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 want</a:t>
            </a:r>
            <a:pPr indent="0" marL="0">
              <a:lnSpc>
                <a:spcPct val="105000"/>
              </a:lnSpc>
              <a:spcAft>
                <a:spcPts val="700"/>
              </a:spcAft>
              <a:buNone/>
            </a:pPr>
            <a:r>
              <a:rPr lang="en-US" sz="95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. </a:t>
            </a:r>
            <a:pPr indent="0" marL="0">
              <a:lnSpc>
                <a:spcPct val="105000"/>
              </a:lnSpc>
              <a:spcAft>
                <a:spcPts val="700"/>
              </a:spcAft>
              <a:buNone/>
            </a:pPr>
            <a:r>
              <a:rPr lang="en-US" sz="950" b="1" u="sng" dirty="0">
                <a:solidFill>
                  <a:srgbClr val="7B5CD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 say</a:t>
            </a:r>
            <a:pPr indent="0" marL="0">
              <a:lnSpc>
                <a:spcPct val="105000"/>
              </a:lnSpc>
              <a:spcAft>
                <a:spcPts val="700"/>
              </a:spcAft>
              <a:buNone/>
            </a:pPr>
            <a:r>
              <a:rPr lang="en-US" sz="95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what </a:t>
            </a:r>
            <a:pPr indent="0" marL="0">
              <a:lnSpc>
                <a:spcPct val="105000"/>
              </a:lnSpc>
              <a:spcAft>
                <a:spcPts val="700"/>
              </a:spcAft>
              <a:buNone/>
            </a:pPr>
            <a:r>
              <a:rPr lang="en-US" sz="950" b="1" u="sng" dirty="0">
                <a:solidFill>
                  <a:srgbClr val="7B5CD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 want</a:t>
            </a:r>
            <a:pPr indent="0" marL="0">
              <a:lnSpc>
                <a:spcPct val="105000"/>
              </a:lnSpc>
              <a:spcAft>
                <a:spcPts val="700"/>
              </a:spcAft>
              <a:buNone/>
            </a:pPr>
            <a:r>
              <a:rPr lang="en-US" sz="95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. </a:t>
            </a:r>
            <a:pPr indent="0" marL="0">
              <a:lnSpc>
                <a:spcPct val="105000"/>
              </a:lnSpc>
              <a:spcAft>
                <a:spcPts val="700"/>
              </a:spcAft>
              <a:buNone/>
            </a:pPr>
            <a:r>
              <a:rPr lang="en-US" sz="950" b="1" u="sng" dirty="0">
                <a:solidFill>
                  <a:srgbClr val="7B5CD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 do</a:t>
            </a:r>
            <a:pPr indent="0" marL="0">
              <a:lnSpc>
                <a:spcPct val="105000"/>
              </a:lnSpc>
              <a:spcAft>
                <a:spcPts val="700"/>
              </a:spcAft>
              <a:buNone/>
            </a:pPr>
            <a:r>
              <a:rPr lang="en-US" sz="95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what </a:t>
            </a:r>
            <a:pPr indent="0" marL="0">
              <a:lnSpc>
                <a:spcPct val="105000"/>
              </a:lnSpc>
              <a:spcAft>
                <a:spcPts val="700"/>
              </a:spcAft>
              <a:buNone/>
            </a:pPr>
            <a:r>
              <a:rPr lang="en-US" sz="950" b="1" u="sng" dirty="0">
                <a:solidFill>
                  <a:srgbClr val="7B5CD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 want</a:t>
            </a:r>
            <a:pPr indent="0" marL="0">
              <a:lnSpc>
                <a:spcPct val="105000"/>
              </a:lnSpc>
              <a:spcAft>
                <a:spcPts val="700"/>
              </a:spcAft>
              <a:buNone/>
            </a:pPr>
            <a:r>
              <a:rPr lang="en-US" sz="95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.</a:t>
            </a:r>
            <a:endParaRPr lang="en-US" sz="950" dirty="0"/>
          </a:p>
          <a:p>
            <a:pPr indent="0" marL="0">
              <a:lnSpc>
                <a:spcPct val="105000"/>
              </a:lnSpc>
              <a:spcAft>
                <a:spcPts val="700"/>
              </a:spcAft>
              <a:buNone/>
            </a:pPr>
            <a:r>
              <a:rPr lang="en-US" sz="95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5</a:t>
            </a:r>
            <a:pPr indent="0" marL="0">
              <a:lnSpc>
                <a:spcPct val="105000"/>
              </a:lnSpc>
              <a:spcAft>
                <a:spcPts val="700"/>
              </a:spcAft>
              <a:buNone/>
            </a:pPr>
            <a:r>
              <a:rPr lang="en-US" sz="950" b="1" dirty="0">
                <a:solidFill>
                  <a:srgbClr val="2EB87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(5) ________ </a:t>
            </a:r>
            <a:pPr indent="0" marL="0">
              <a:lnSpc>
                <a:spcPct val="105000"/>
              </a:lnSpc>
              <a:spcAft>
                <a:spcPts val="700"/>
              </a:spcAft>
              <a:buNone/>
            </a:pPr>
            <a:r>
              <a:rPr lang="en-US" sz="95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. </a:t>
            </a:r>
            <a:pPr indent="0" marL="0">
              <a:lnSpc>
                <a:spcPct val="105000"/>
              </a:lnSpc>
              <a:spcAft>
                <a:spcPts val="700"/>
              </a:spcAft>
              <a:buNone/>
            </a:pPr>
            <a:r>
              <a:rPr lang="en-US" sz="950" b="1" u="sng" dirty="0">
                <a:solidFill>
                  <a:srgbClr val="7B5CD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 listen</a:t>
            </a:r>
            <a:pPr indent="0" marL="0">
              <a:lnSpc>
                <a:spcPct val="105000"/>
              </a:lnSpc>
              <a:spcAft>
                <a:spcPts val="700"/>
              </a:spcAft>
              <a:buNone/>
            </a:pPr>
            <a:r>
              <a:rPr lang="en-US" sz="95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to the radio in the morning and </a:t>
            </a:r>
            <a:pPr indent="0" marL="0">
              <a:lnSpc>
                <a:spcPct val="105000"/>
              </a:lnSpc>
              <a:spcAft>
                <a:spcPts val="700"/>
              </a:spcAft>
              <a:buNone/>
            </a:pPr>
            <a:r>
              <a:rPr lang="en-US" sz="950" b="1" u="sng" dirty="0">
                <a:solidFill>
                  <a:srgbClr val="7B5CD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 watch</a:t>
            </a:r>
            <a:pPr indent="0" marL="0">
              <a:lnSpc>
                <a:spcPct val="105000"/>
              </a:lnSpc>
              <a:spcAft>
                <a:spcPts val="700"/>
              </a:spcAft>
              <a:buNone/>
            </a:pPr>
            <a:r>
              <a:rPr lang="en-US" sz="95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TV in the evening. A lot </a:t>
            </a:r>
            <a:pPr indent="0" marL="0">
              <a:lnSpc>
                <a:spcPct val="105000"/>
              </a:lnSpc>
              <a:spcAft>
                <a:spcPts val="700"/>
              </a:spcAft>
              <a:buNone/>
            </a:pPr>
            <a:r>
              <a:rPr lang="en-US" sz="950" b="1" u="sng" dirty="0">
                <a:solidFill>
                  <a:srgbClr val="7B5CD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of programmes</a:t>
            </a:r>
            <a:pPr indent="0" marL="0">
              <a:lnSpc>
                <a:spcPct val="105000"/>
              </a:lnSpc>
              <a:spcAft>
                <a:spcPts val="700"/>
              </a:spcAft>
              <a:buNone/>
            </a:pPr>
            <a:r>
              <a:rPr lang="en-US" sz="95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are interesting, funny, or educational. Sometimes all three.</a:t>
            </a:r>
            <a:endParaRPr lang="en-US" sz="950" dirty="0"/>
          </a:p>
          <a:p>
            <a:pPr indent="0" marL="0">
              <a:lnSpc>
                <a:spcPct val="105000"/>
              </a:lnSpc>
              <a:spcAft>
                <a:spcPts val="700"/>
              </a:spcAft>
              <a:buNone/>
            </a:pPr>
            <a:r>
              <a:rPr lang="en-US" sz="95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6</a:t>
            </a:r>
            <a:pPr indent="0" marL="0">
              <a:lnSpc>
                <a:spcPct val="105000"/>
              </a:lnSpc>
              <a:spcAft>
                <a:spcPts val="700"/>
              </a:spcAft>
              <a:buNone/>
            </a:pPr>
            <a:r>
              <a:rPr lang="en-US" sz="950" b="1" dirty="0">
                <a:solidFill>
                  <a:srgbClr val="2EB87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(6) ________ </a:t>
            </a:r>
            <a:pPr indent="0" marL="0">
              <a:lnSpc>
                <a:spcPct val="105000"/>
              </a:lnSpc>
              <a:spcAft>
                <a:spcPts val="700"/>
              </a:spcAft>
              <a:buNone/>
            </a:pPr>
            <a:r>
              <a:rPr lang="en-US" sz="95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. </a:t>
            </a:r>
            <a:pPr indent="0" marL="0">
              <a:lnSpc>
                <a:spcPct val="105000"/>
              </a:lnSpc>
              <a:spcAft>
                <a:spcPts val="700"/>
              </a:spcAft>
              <a:buNone/>
            </a:pPr>
            <a:r>
              <a:rPr lang="en-US" sz="950" b="1" u="sng" dirty="0">
                <a:solidFill>
                  <a:srgbClr val="7B5CD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We drink</a:t>
            </a:r>
            <a:pPr indent="0" marL="0">
              <a:lnSpc>
                <a:spcPct val="105000"/>
              </a:lnSpc>
              <a:spcAft>
                <a:spcPts val="700"/>
              </a:spcAft>
              <a:buNone/>
            </a:pPr>
            <a:r>
              <a:rPr lang="en-US" sz="95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there, and </a:t>
            </a:r>
            <a:pPr indent="0" marL="0">
              <a:lnSpc>
                <a:spcPct val="105000"/>
              </a:lnSpc>
              <a:spcAft>
                <a:spcPts val="700"/>
              </a:spcAft>
              <a:buNone/>
            </a:pPr>
            <a:r>
              <a:rPr lang="en-US" sz="950" b="1" u="sng" dirty="0">
                <a:solidFill>
                  <a:srgbClr val="7B5CD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we eat</a:t>
            </a:r>
            <a:pPr indent="0" marL="0">
              <a:lnSpc>
                <a:spcPct val="105000"/>
              </a:lnSpc>
              <a:spcAft>
                <a:spcPts val="700"/>
              </a:spcAft>
              <a:buNone/>
            </a:pPr>
            <a:r>
              <a:rPr lang="en-US" sz="95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there, too – the food </a:t>
            </a:r>
            <a:pPr indent="0" marL="0">
              <a:lnSpc>
                <a:spcPct val="105000"/>
              </a:lnSpc>
              <a:spcAft>
                <a:spcPts val="700"/>
              </a:spcAft>
              <a:buNone/>
            </a:pPr>
            <a:r>
              <a:rPr lang="en-US" sz="950" b="1" u="sng" dirty="0">
                <a:solidFill>
                  <a:srgbClr val="7B5CD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now is</a:t>
            </a:r>
            <a:pPr indent="0" marL="0">
              <a:lnSpc>
                <a:spcPct val="105000"/>
              </a:lnSpc>
              <a:spcAft>
                <a:spcPts val="700"/>
              </a:spcAft>
              <a:buNone/>
            </a:pPr>
            <a:r>
              <a:rPr lang="en-US" sz="95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very good.</a:t>
            </a:r>
            <a:endParaRPr lang="en-US" sz="950" dirty="0"/>
          </a:p>
          <a:p>
            <a:pPr indent="0" marL="0">
              <a:lnSpc>
                <a:spcPct val="105000"/>
              </a:lnSpc>
              <a:spcAft>
                <a:spcPts val="700"/>
              </a:spcAft>
              <a:buNone/>
            </a:pPr>
            <a:r>
              <a:rPr lang="en-US" sz="95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7</a:t>
            </a:r>
            <a:pPr indent="0" marL="0">
              <a:lnSpc>
                <a:spcPct val="105000"/>
              </a:lnSpc>
              <a:spcAft>
                <a:spcPts val="700"/>
              </a:spcAft>
              <a:buNone/>
            </a:pPr>
            <a:r>
              <a:rPr lang="en-US" sz="950" b="1" dirty="0">
                <a:solidFill>
                  <a:srgbClr val="2EB87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(7) ________ </a:t>
            </a:r>
            <a:pPr indent="0" marL="0">
              <a:lnSpc>
                <a:spcPct val="105000"/>
              </a:lnSpc>
              <a:spcAft>
                <a:spcPts val="700"/>
              </a:spcAft>
              <a:buNone/>
            </a:pPr>
            <a:r>
              <a:rPr lang="en-US" sz="95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. It's cold, but not very cold. It's hot, but not very hot. It rains, but </a:t>
            </a:r>
            <a:pPr indent="0" marL="0">
              <a:lnSpc>
                <a:spcPct val="105000"/>
              </a:lnSpc>
              <a:spcAft>
                <a:spcPts val="700"/>
              </a:spcAft>
              <a:buNone/>
            </a:pPr>
            <a:r>
              <a:rPr lang="en-US" sz="950" b="1" u="sng" dirty="0">
                <a:solidFill>
                  <a:srgbClr val="7B5CD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it doesn't rain</a:t>
            </a:r>
            <a:pPr indent="0" marL="0">
              <a:lnSpc>
                <a:spcPct val="105000"/>
              </a:lnSpc>
              <a:spcAft>
                <a:spcPts val="700"/>
              </a:spcAft>
              <a:buNone/>
            </a:pPr>
            <a:r>
              <a:rPr lang="en-US" sz="95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every day.</a:t>
            </a:r>
            <a:endParaRPr lang="en-US" sz="950" dirty="0"/>
          </a:p>
          <a:p>
            <a:pPr indent="0" marL="0">
              <a:lnSpc>
                <a:spcPct val="105000"/>
              </a:lnSpc>
              <a:spcAft>
                <a:spcPts val="700"/>
              </a:spcAft>
              <a:buNone/>
            </a:pPr>
            <a:r>
              <a:rPr lang="en-US" sz="95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8</a:t>
            </a:r>
            <a:pPr indent="0" marL="0">
              <a:lnSpc>
                <a:spcPct val="105000"/>
              </a:lnSpc>
              <a:spcAft>
                <a:spcPts val="700"/>
              </a:spcAft>
              <a:buNone/>
            </a:pPr>
            <a:r>
              <a:rPr lang="en-US" sz="950" b="1" dirty="0">
                <a:solidFill>
                  <a:srgbClr val="2EB87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(8) ________ </a:t>
            </a:r>
            <a:pPr indent="0" marL="0">
              <a:lnSpc>
                <a:spcPct val="105000"/>
              </a:lnSpc>
              <a:spcAft>
                <a:spcPts val="700"/>
              </a:spcAft>
              <a:buNone/>
            </a:pPr>
            <a:r>
              <a:rPr lang="en-US" sz="95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. My </a:t>
            </a:r>
            <a:pPr indent="0" marL="0">
              <a:lnSpc>
                <a:spcPct val="105000"/>
              </a:lnSpc>
              <a:spcAft>
                <a:spcPts val="700"/>
              </a:spcAft>
              <a:buNone/>
            </a:pPr>
            <a:r>
              <a:rPr lang="en-US" sz="950" b="1" u="sng" dirty="0">
                <a:solidFill>
                  <a:srgbClr val="7B5CD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boyfriend cooks</a:t>
            </a:r>
            <a:pPr indent="0" marL="0">
              <a:lnSpc>
                <a:spcPct val="105000"/>
              </a:lnSpc>
              <a:spcAft>
                <a:spcPts val="700"/>
              </a:spcAft>
              <a:buNone/>
            </a:pPr>
            <a:r>
              <a:rPr lang="en-US" sz="95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fantastic curries, and the </a:t>
            </a:r>
            <a:pPr indent="0" marL="0">
              <a:lnSpc>
                <a:spcPct val="105000"/>
              </a:lnSpc>
              <a:spcAft>
                <a:spcPts val="700"/>
              </a:spcAft>
              <a:buNone/>
            </a:pPr>
            <a:r>
              <a:rPr lang="en-US" sz="950" b="1" u="sng" dirty="0">
                <a:solidFill>
                  <a:srgbClr val="7B5CD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UK is</a:t>
            </a:r>
            <a:pPr indent="0" marL="0">
              <a:lnSpc>
                <a:spcPct val="105000"/>
              </a:lnSpc>
              <a:spcAft>
                <a:spcPts val="700"/>
              </a:spcAft>
              <a:buNone/>
            </a:pPr>
            <a:r>
              <a:rPr lang="en-US" sz="95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great for Indian restaurants!</a:t>
            </a:r>
            <a:endParaRPr lang="en-US" sz="950" dirty="0"/>
          </a:p>
        </p:txBody>
      </p:sp>
      <p:sp>
        <p:nvSpPr>
          <p:cNvPr id="14" name="R1_rdA148"/>
          <p:cNvSpPr/>
          <p:nvPr/>
        </p:nvSpPr>
        <p:spPr>
          <a:xfrm>
            <a:off x="457200" y="1527048"/>
            <a:ext cx="5486400" cy="3090672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spcAft>
                <a:spcPts val="400"/>
              </a:spcAft>
              <a:buNone/>
            </a:pPr>
            <a:r>
              <a:rPr lang="en-US" sz="1450" b="1" dirty="0">
                <a:solidFill>
                  <a:srgbClr val="1F6F4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What the British like about Britain – My name's Carola. I'm a journalist. I like…</a:t>
            </a:r>
            <a:endParaRPr lang="en-US" sz="950" dirty="0"/>
          </a:p>
          <a:p>
            <a:pPr indent="0" marL="0">
              <a:lnSpc>
                <a:spcPct val="105000"/>
              </a:lnSpc>
              <a:spcAft>
                <a:spcPts val="700"/>
              </a:spcAft>
              <a:buNone/>
            </a:pPr>
            <a:r>
              <a:rPr lang="en-US" sz="95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</a:t>
            </a:r>
            <a:pPr indent="0" marL="0">
              <a:lnSpc>
                <a:spcPct val="105000"/>
              </a:lnSpc>
              <a:spcAft>
                <a:spcPts val="700"/>
              </a:spcAft>
              <a:buNone/>
            </a:pPr>
            <a:r>
              <a:rPr lang="en-US" sz="950" b="1" dirty="0">
                <a:solidFill>
                  <a:srgbClr val="7B5CD6"/>
                </a:solidFill>
                <a:highlight>
                  <a:srgbClr val="EEE8FB"/>
                </a:highlight>
                <a:latin typeface="Georgia" pitchFamily="34" charset="0"/>
                <a:ea typeface="Georgia" pitchFamily="34" charset="-122"/>
                <a:cs typeface="Georgia" pitchFamily="34" charset="-120"/>
              </a:rPr>
              <a:t> (1) multiculturalism </a:t>
            </a:r>
            <a:pPr indent="0" marL="0">
              <a:lnSpc>
                <a:spcPct val="105000"/>
              </a:lnSpc>
              <a:spcAft>
                <a:spcPts val="700"/>
              </a:spcAft>
              <a:buNone/>
            </a:pPr>
            <a:r>
              <a:rPr lang="en-US" sz="95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. People from all over the world live in the UK, and </a:t>
            </a:r>
            <a:pPr indent="0" marL="0">
              <a:lnSpc>
                <a:spcPct val="105000"/>
              </a:lnSpc>
              <a:spcAft>
                <a:spcPts val="700"/>
              </a:spcAft>
              <a:buNone/>
            </a:pPr>
            <a:r>
              <a:rPr lang="en-US" sz="950" b="1" u="sng" dirty="0">
                <a:solidFill>
                  <a:srgbClr val="7B5CD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they live</a:t>
            </a:r>
            <a:pPr indent="0" marL="0">
              <a:lnSpc>
                <a:spcPct val="105000"/>
              </a:lnSpc>
              <a:spcAft>
                <a:spcPts val="700"/>
              </a:spcAft>
              <a:buNone/>
            </a:pPr>
            <a:r>
              <a:rPr lang="en-US" sz="95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together happily. Usually.</a:t>
            </a:r>
            <a:endParaRPr lang="en-US" sz="950" dirty="0"/>
          </a:p>
          <a:p>
            <a:pPr indent="0" marL="0">
              <a:lnSpc>
                <a:spcPct val="105000"/>
              </a:lnSpc>
              <a:spcAft>
                <a:spcPts val="700"/>
              </a:spcAft>
              <a:buNone/>
            </a:pPr>
            <a:r>
              <a:rPr lang="en-US" sz="95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</a:t>
            </a:r>
            <a:pPr indent="0" marL="0">
              <a:lnSpc>
                <a:spcPct val="105000"/>
              </a:lnSpc>
              <a:spcAft>
                <a:spcPts val="700"/>
              </a:spcAft>
              <a:buNone/>
            </a:pPr>
            <a:r>
              <a:rPr lang="en-US" sz="950" b="1" dirty="0">
                <a:solidFill>
                  <a:srgbClr val="1B2559"/>
                </a:solidFill>
                <a:highlight>
                  <a:srgbClr val="FFE066"/>
                </a:highlight>
                <a:latin typeface="Georgia" pitchFamily="34" charset="0"/>
                <a:ea typeface="Georgia" pitchFamily="34" charset="-122"/>
                <a:cs typeface="Georgia" pitchFamily="34" charset="-120"/>
              </a:rPr>
              <a:t> (2) the language </a:t>
            </a:r>
            <a:pPr indent="0" marL="0">
              <a:lnSpc>
                <a:spcPct val="105000"/>
              </a:lnSpc>
              <a:spcAft>
                <a:spcPts val="700"/>
              </a:spcAft>
              <a:buNone/>
            </a:pPr>
            <a:r>
              <a:rPr lang="en-US" sz="95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. </a:t>
            </a:r>
            <a:pPr indent="0" marL="0">
              <a:lnSpc>
                <a:spcPct val="105000"/>
              </a:lnSpc>
              <a:spcAft>
                <a:spcPts val="700"/>
              </a:spcAft>
              <a:buNone/>
            </a:pPr>
            <a:r>
              <a:rPr lang="en-US" sz="950" b="1" u="sng" dirty="0">
                <a:solidFill>
                  <a:srgbClr val="7B5CD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English is</a:t>
            </a:r>
            <a:pPr indent="0" marL="0">
              <a:lnSpc>
                <a:spcPct val="105000"/>
              </a:lnSpc>
              <a:spcAft>
                <a:spcPts val="700"/>
              </a:spcAft>
              <a:buNone/>
            </a:pPr>
            <a:r>
              <a:rPr lang="en-US" sz="95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international. </a:t>
            </a:r>
            <a:pPr indent="0" marL="0">
              <a:lnSpc>
                <a:spcPct val="105000"/>
              </a:lnSpc>
              <a:spcAft>
                <a:spcPts val="700"/>
              </a:spcAft>
              <a:buNone/>
            </a:pPr>
            <a:r>
              <a:rPr lang="en-US" sz="950" b="1" u="sng" dirty="0">
                <a:solidFill>
                  <a:srgbClr val="7B5CD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 speak</a:t>
            </a:r>
            <a:pPr indent="0" marL="0">
              <a:lnSpc>
                <a:spcPct val="105000"/>
              </a:lnSpc>
              <a:spcAft>
                <a:spcPts val="700"/>
              </a:spcAft>
              <a:buNone/>
            </a:pPr>
            <a:r>
              <a:rPr lang="en-US" sz="95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English. </a:t>
            </a:r>
            <a:pPr indent="0" marL="0">
              <a:lnSpc>
                <a:spcPct val="105000"/>
              </a:lnSpc>
              <a:spcAft>
                <a:spcPts val="700"/>
              </a:spcAft>
              <a:buNone/>
            </a:pPr>
            <a:r>
              <a:rPr lang="en-US" sz="950" b="1" u="sng" dirty="0">
                <a:solidFill>
                  <a:srgbClr val="7B5CD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You speak</a:t>
            </a:r>
            <a:pPr indent="0" marL="0">
              <a:lnSpc>
                <a:spcPct val="105000"/>
              </a:lnSpc>
              <a:spcAft>
                <a:spcPts val="700"/>
              </a:spcAft>
              <a:buNone/>
            </a:pPr>
            <a:r>
              <a:rPr lang="en-US" sz="95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English. </a:t>
            </a:r>
            <a:pPr indent="0" marL="0">
              <a:lnSpc>
                <a:spcPct val="105000"/>
              </a:lnSpc>
              <a:spcAft>
                <a:spcPts val="700"/>
              </a:spcAft>
              <a:buNone/>
            </a:pPr>
            <a:r>
              <a:rPr lang="en-US" sz="950" b="1" u="sng" dirty="0">
                <a:solidFill>
                  <a:srgbClr val="7B5CD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 don't have</a:t>
            </a:r>
            <a:pPr indent="0" marL="0">
              <a:lnSpc>
                <a:spcPct val="105000"/>
              </a:lnSpc>
              <a:spcAft>
                <a:spcPts val="700"/>
              </a:spcAft>
              <a:buNone/>
            </a:pPr>
            <a:r>
              <a:rPr lang="en-US" sz="95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communication problems.</a:t>
            </a:r>
            <a:endParaRPr lang="en-US" sz="950" dirty="0"/>
          </a:p>
          <a:p>
            <a:pPr indent="0" marL="0">
              <a:lnSpc>
                <a:spcPct val="105000"/>
              </a:lnSpc>
              <a:spcAft>
                <a:spcPts val="700"/>
              </a:spcAft>
              <a:buNone/>
            </a:pPr>
            <a:r>
              <a:rPr lang="en-US" sz="95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</a:t>
            </a:r>
            <a:pPr indent="0" marL="0">
              <a:lnSpc>
                <a:spcPct val="105000"/>
              </a:lnSpc>
              <a:spcAft>
                <a:spcPts val="700"/>
              </a:spcAft>
              <a:buNone/>
            </a:pPr>
            <a:r>
              <a:rPr lang="en-US" sz="950" b="1" dirty="0">
                <a:solidFill>
                  <a:srgbClr val="2EB87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(3) ________ </a:t>
            </a:r>
            <a:pPr indent="0" marL="0">
              <a:lnSpc>
                <a:spcPct val="105000"/>
              </a:lnSpc>
              <a:spcAft>
                <a:spcPts val="700"/>
              </a:spcAft>
              <a:buNone/>
            </a:pPr>
            <a:r>
              <a:rPr lang="en-US" sz="95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. My garden's small, but </a:t>
            </a:r>
            <a:pPr indent="0" marL="0">
              <a:lnSpc>
                <a:spcPct val="105000"/>
              </a:lnSpc>
              <a:spcAft>
                <a:spcPts val="700"/>
              </a:spcAft>
              <a:buNone/>
            </a:pPr>
            <a:r>
              <a:rPr lang="en-US" sz="950" b="1" u="sng" dirty="0">
                <a:solidFill>
                  <a:srgbClr val="7B5CD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 have</a:t>
            </a:r>
            <a:pPr indent="0" marL="0">
              <a:lnSpc>
                <a:spcPct val="105000"/>
              </a:lnSpc>
              <a:spcAft>
                <a:spcPts val="700"/>
              </a:spcAft>
              <a:buNone/>
            </a:pPr>
            <a:r>
              <a:rPr lang="en-US" sz="95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flowers </a:t>
            </a:r>
            <a:pPr indent="0" marL="0">
              <a:lnSpc>
                <a:spcPct val="105000"/>
              </a:lnSpc>
              <a:spcAft>
                <a:spcPts val="700"/>
              </a:spcAft>
              <a:buNone/>
            </a:pPr>
            <a:r>
              <a:rPr lang="en-US" sz="950" b="1" u="sng" dirty="0">
                <a:solidFill>
                  <a:srgbClr val="7B5CD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and vegetables</a:t>
            </a:r>
            <a:pPr indent="0" marL="0">
              <a:lnSpc>
                <a:spcPct val="105000"/>
              </a:lnSpc>
              <a:spcAft>
                <a:spcPts val="700"/>
              </a:spcAft>
              <a:buNone/>
            </a:pPr>
            <a:r>
              <a:rPr lang="en-US" sz="95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in it. When the sun's out </a:t>
            </a:r>
            <a:pPr indent="0" marL="0">
              <a:lnSpc>
                <a:spcPct val="105000"/>
              </a:lnSpc>
              <a:spcAft>
                <a:spcPts val="700"/>
              </a:spcAft>
              <a:buNone/>
            </a:pPr>
            <a:r>
              <a:rPr lang="en-US" sz="950" b="1" u="sng" dirty="0">
                <a:solidFill>
                  <a:srgbClr val="7B5CD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 sit</a:t>
            </a:r>
            <a:pPr indent="0" marL="0">
              <a:lnSpc>
                <a:spcPct val="105000"/>
              </a:lnSpc>
              <a:spcAft>
                <a:spcPts val="700"/>
              </a:spcAft>
              <a:buNone/>
            </a:pPr>
            <a:r>
              <a:rPr lang="en-US" sz="95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in the garden and </a:t>
            </a:r>
            <a:pPr indent="0" marL="0">
              <a:lnSpc>
                <a:spcPct val="105000"/>
              </a:lnSpc>
              <a:spcAft>
                <a:spcPts val="700"/>
              </a:spcAft>
              <a:buNone/>
            </a:pPr>
            <a:r>
              <a:rPr lang="en-US" sz="950" b="1" u="sng" dirty="0">
                <a:solidFill>
                  <a:srgbClr val="7B5CD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 feel</a:t>
            </a:r>
            <a:pPr indent="0" marL="0">
              <a:lnSpc>
                <a:spcPct val="105000"/>
              </a:lnSpc>
              <a:spcAft>
                <a:spcPts val="700"/>
              </a:spcAft>
              <a:buNone/>
            </a:pPr>
            <a:r>
              <a:rPr lang="en-US" sz="95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really happy.</a:t>
            </a:r>
            <a:endParaRPr lang="en-US" sz="950" dirty="0"/>
          </a:p>
          <a:p>
            <a:pPr indent="0" marL="0">
              <a:lnSpc>
                <a:spcPct val="105000"/>
              </a:lnSpc>
              <a:spcAft>
                <a:spcPts val="700"/>
              </a:spcAft>
              <a:buNone/>
            </a:pPr>
            <a:r>
              <a:rPr lang="en-US" sz="95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4</a:t>
            </a:r>
            <a:pPr indent="0" marL="0">
              <a:lnSpc>
                <a:spcPct val="105000"/>
              </a:lnSpc>
              <a:spcAft>
                <a:spcPts val="700"/>
              </a:spcAft>
              <a:buNone/>
            </a:pPr>
            <a:r>
              <a:rPr lang="en-US" sz="950" b="1" dirty="0">
                <a:solidFill>
                  <a:srgbClr val="2EB87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(4) ________ </a:t>
            </a:r>
            <a:pPr indent="0" marL="0">
              <a:lnSpc>
                <a:spcPct val="105000"/>
              </a:lnSpc>
              <a:spcAft>
                <a:spcPts val="700"/>
              </a:spcAft>
              <a:buNone/>
            </a:pPr>
            <a:r>
              <a:rPr lang="en-US" sz="95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. </a:t>
            </a:r>
            <a:pPr indent="0" marL="0">
              <a:lnSpc>
                <a:spcPct val="105000"/>
              </a:lnSpc>
              <a:spcAft>
                <a:spcPts val="700"/>
              </a:spcAft>
              <a:buNone/>
            </a:pPr>
            <a:r>
              <a:rPr lang="en-US" sz="950" b="1" u="sng" dirty="0">
                <a:solidFill>
                  <a:srgbClr val="7B5CD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 wear</a:t>
            </a:r>
            <a:pPr indent="0" marL="0">
              <a:lnSpc>
                <a:spcPct val="105000"/>
              </a:lnSpc>
              <a:spcAft>
                <a:spcPts val="700"/>
              </a:spcAft>
              <a:buNone/>
            </a:pPr>
            <a:r>
              <a:rPr lang="en-US" sz="95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what </a:t>
            </a:r>
            <a:pPr indent="0" marL="0">
              <a:lnSpc>
                <a:spcPct val="105000"/>
              </a:lnSpc>
              <a:spcAft>
                <a:spcPts val="700"/>
              </a:spcAft>
              <a:buNone/>
            </a:pPr>
            <a:r>
              <a:rPr lang="en-US" sz="950" b="1" u="sng" dirty="0">
                <a:solidFill>
                  <a:srgbClr val="7B5CD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 want</a:t>
            </a:r>
            <a:pPr indent="0" marL="0">
              <a:lnSpc>
                <a:spcPct val="105000"/>
              </a:lnSpc>
              <a:spcAft>
                <a:spcPts val="700"/>
              </a:spcAft>
              <a:buNone/>
            </a:pPr>
            <a:r>
              <a:rPr lang="en-US" sz="95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. </a:t>
            </a:r>
            <a:pPr indent="0" marL="0">
              <a:lnSpc>
                <a:spcPct val="105000"/>
              </a:lnSpc>
              <a:spcAft>
                <a:spcPts val="700"/>
              </a:spcAft>
              <a:buNone/>
            </a:pPr>
            <a:r>
              <a:rPr lang="en-US" sz="950" b="1" u="sng" dirty="0">
                <a:solidFill>
                  <a:srgbClr val="7B5CD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 say</a:t>
            </a:r>
            <a:pPr indent="0" marL="0">
              <a:lnSpc>
                <a:spcPct val="105000"/>
              </a:lnSpc>
              <a:spcAft>
                <a:spcPts val="700"/>
              </a:spcAft>
              <a:buNone/>
            </a:pPr>
            <a:r>
              <a:rPr lang="en-US" sz="95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what </a:t>
            </a:r>
            <a:pPr indent="0" marL="0">
              <a:lnSpc>
                <a:spcPct val="105000"/>
              </a:lnSpc>
              <a:spcAft>
                <a:spcPts val="700"/>
              </a:spcAft>
              <a:buNone/>
            </a:pPr>
            <a:r>
              <a:rPr lang="en-US" sz="950" b="1" u="sng" dirty="0">
                <a:solidFill>
                  <a:srgbClr val="7B5CD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 want</a:t>
            </a:r>
            <a:pPr indent="0" marL="0">
              <a:lnSpc>
                <a:spcPct val="105000"/>
              </a:lnSpc>
              <a:spcAft>
                <a:spcPts val="700"/>
              </a:spcAft>
              <a:buNone/>
            </a:pPr>
            <a:r>
              <a:rPr lang="en-US" sz="95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. </a:t>
            </a:r>
            <a:pPr indent="0" marL="0">
              <a:lnSpc>
                <a:spcPct val="105000"/>
              </a:lnSpc>
              <a:spcAft>
                <a:spcPts val="700"/>
              </a:spcAft>
              <a:buNone/>
            </a:pPr>
            <a:r>
              <a:rPr lang="en-US" sz="950" b="1" u="sng" dirty="0">
                <a:solidFill>
                  <a:srgbClr val="7B5CD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 do</a:t>
            </a:r>
            <a:pPr indent="0" marL="0">
              <a:lnSpc>
                <a:spcPct val="105000"/>
              </a:lnSpc>
              <a:spcAft>
                <a:spcPts val="700"/>
              </a:spcAft>
              <a:buNone/>
            </a:pPr>
            <a:r>
              <a:rPr lang="en-US" sz="95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what </a:t>
            </a:r>
            <a:pPr indent="0" marL="0">
              <a:lnSpc>
                <a:spcPct val="105000"/>
              </a:lnSpc>
              <a:spcAft>
                <a:spcPts val="700"/>
              </a:spcAft>
              <a:buNone/>
            </a:pPr>
            <a:r>
              <a:rPr lang="en-US" sz="950" b="1" u="sng" dirty="0">
                <a:solidFill>
                  <a:srgbClr val="7B5CD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 want</a:t>
            </a:r>
            <a:pPr indent="0" marL="0">
              <a:lnSpc>
                <a:spcPct val="105000"/>
              </a:lnSpc>
              <a:spcAft>
                <a:spcPts val="700"/>
              </a:spcAft>
              <a:buNone/>
            </a:pPr>
            <a:r>
              <a:rPr lang="en-US" sz="95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.</a:t>
            </a:r>
            <a:endParaRPr lang="en-US" sz="950" dirty="0"/>
          </a:p>
          <a:p>
            <a:pPr indent="0" marL="0">
              <a:lnSpc>
                <a:spcPct val="105000"/>
              </a:lnSpc>
              <a:spcAft>
                <a:spcPts val="700"/>
              </a:spcAft>
              <a:buNone/>
            </a:pPr>
            <a:r>
              <a:rPr lang="en-US" sz="95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5</a:t>
            </a:r>
            <a:pPr indent="0" marL="0">
              <a:lnSpc>
                <a:spcPct val="105000"/>
              </a:lnSpc>
              <a:spcAft>
                <a:spcPts val="700"/>
              </a:spcAft>
              <a:buNone/>
            </a:pPr>
            <a:r>
              <a:rPr lang="en-US" sz="950" b="1" dirty="0">
                <a:solidFill>
                  <a:srgbClr val="2EB87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(5) ________ </a:t>
            </a:r>
            <a:pPr indent="0" marL="0">
              <a:lnSpc>
                <a:spcPct val="105000"/>
              </a:lnSpc>
              <a:spcAft>
                <a:spcPts val="700"/>
              </a:spcAft>
              <a:buNone/>
            </a:pPr>
            <a:r>
              <a:rPr lang="en-US" sz="95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. </a:t>
            </a:r>
            <a:pPr indent="0" marL="0">
              <a:lnSpc>
                <a:spcPct val="105000"/>
              </a:lnSpc>
              <a:spcAft>
                <a:spcPts val="700"/>
              </a:spcAft>
              <a:buNone/>
            </a:pPr>
            <a:r>
              <a:rPr lang="en-US" sz="950" b="1" u="sng" dirty="0">
                <a:solidFill>
                  <a:srgbClr val="7B5CD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 listen</a:t>
            </a:r>
            <a:pPr indent="0" marL="0">
              <a:lnSpc>
                <a:spcPct val="105000"/>
              </a:lnSpc>
              <a:spcAft>
                <a:spcPts val="700"/>
              </a:spcAft>
              <a:buNone/>
            </a:pPr>
            <a:r>
              <a:rPr lang="en-US" sz="95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to the radio in the morning and </a:t>
            </a:r>
            <a:pPr indent="0" marL="0">
              <a:lnSpc>
                <a:spcPct val="105000"/>
              </a:lnSpc>
              <a:spcAft>
                <a:spcPts val="700"/>
              </a:spcAft>
              <a:buNone/>
            </a:pPr>
            <a:r>
              <a:rPr lang="en-US" sz="950" b="1" u="sng" dirty="0">
                <a:solidFill>
                  <a:srgbClr val="7B5CD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 watch</a:t>
            </a:r>
            <a:pPr indent="0" marL="0">
              <a:lnSpc>
                <a:spcPct val="105000"/>
              </a:lnSpc>
              <a:spcAft>
                <a:spcPts val="700"/>
              </a:spcAft>
              <a:buNone/>
            </a:pPr>
            <a:r>
              <a:rPr lang="en-US" sz="95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TV in the evening. A lot </a:t>
            </a:r>
            <a:pPr indent="0" marL="0">
              <a:lnSpc>
                <a:spcPct val="105000"/>
              </a:lnSpc>
              <a:spcAft>
                <a:spcPts val="700"/>
              </a:spcAft>
              <a:buNone/>
            </a:pPr>
            <a:r>
              <a:rPr lang="en-US" sz="950" b="1" u="sng" dirty="0">
                <a:solidFill>
                  <a:srgbClr val="7B5CD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of programmes</a:t>
            </a:r>
            <a:pPr indent="0" marL="0">
              <a:lnSpc>
                <a:spcPct val="105000"/>
              </a:lnSpc>
              <a:spcAft>
                <a:spcPts val="700"/>
              </a:spcAft>
              <a:buNone/>
            </a:pPr>
            <a:r>
              <a:rPr lang="en-US" sz="95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are interesting, funny, or educational. Sometimes all three.</a:t>
            </a:r>
            <a:endParaRPr lang="en-US" sz="950" dirty="0"/>
          </a:p>
          <a:p>
            <a:pPr indent="0" marL="0">
              <a:lnSpc>
                <a:spcPct val="105000"/>
              </a:lnSpc>
              <a:spcAft>
                <a:spcPts val="700"/>
              </a:spcAft>
              <a:buNone/>
            </a:pPr>
            <a:r>
              <a:rPr lang="en-US" sz="95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6</a:t>
            </a:r>
            <a:pPr indent="0" marL="0">
              <a:lnSpc>
                <a:spcPct val="105000"/>
              </a:lnSpc>
              <a:spcAft>
                <a:spcPts val="700"/>
              </a:spcAft>
              <a:buNone/>
            </a:pPr>
            <a:r>
              <a:rPr lang="en-US" sz="950" b="1" dirty="0">
                <a:solidFill>
                  <a:srgbClr val="2EB87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(6) ________ </a:t>
            </a:r>
            <a:pPr indent="0" marL="0">
              <a:lnSpc>
                <a:spcPct val="105000"/>
              </a:lnSpc>
              <a:spcAft>
                <a:spcPts val="700"/>
              </a:spcAft>
              <a:buNone/>
            </a:pPr>
            <a:r>
              <a:rPr lang="en-US" sz="95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. </a:t>
            </a:r>
            <a:pPr indent="0" marL="0">
              <a:lnSpc>
                <a:spcPct val="105000"/>
              </a:lnSpc>
              <a:spcAft>
                <a:spcPts val="700"/>
              </a:spcAft>
              <a:buNone/>
            </a:pPr>
            <a:r>
              <a:rPr lang="en-US" sz="950" b="1" u="sng" dirty="0">
                <a:solidFill>
                  <a:srgbClr val="7B5CD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We drink</a:t>
            </a:r>
            <a:pPr indent="0" marL="0">
              <a:lnSpc>
                <a:spcPct val="105000"/>
              </a:lnSpc>
              <a:spcAft>
                <a:spcPts val="700"/>
              </a:spcAft>
              <a:buNone/>
            </a:pPr>
            <a:r>
              <a:rPr lang="en-US" sz="95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there, and </a:t>
            </a:r>
            <a:pPr indent="0" marL="0">
              <a:lnSpc>
                <a:spcPct val="105000"/>
              </a:lnSpc>
              <a:spcAft>
                <a:spcPts val="700"/>
              </a:spcAft>
              <a:buNone/>
            </a:pPr>
            <a:r>
              <a:rPr lang="en-US" sz="950" b="1" u="sng" dirty="0">
                <a:solidFill>
                  <a:srgbClr val="7B5CD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we eat</a:t>
            </a:r>
            <a:pPr indent="0" marL="0">
              <a:lnSpc>
                <a:spcPct val="105000"/>
              </a:lnSpc>
              <a:spcAft>
                <a:spcPts val="700"/>
              </a:spcAft>
              <a:buNone/>
            </a:pPr>
            <a:r>
              <a:rPr lang="en-US" sz="95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there, too – the food </a:t>
            </a:r>
            <a:pPr indent="0" marL="0">
              <a:lnSpc>
                <a:spcPct val="105000"/>
              </a:lnSpc>
              <a:spcAft>
                <a:spcPts val="700"/>
              </a:spcAft>
              <a:buNone/>
            </a:pPr>
            <a:r>
              <a:rPr lang="en-US" sz="950" b="1" u="sng" dirty="0">
                <a:solidFill>
                  <a:srgbClr val="7B5CD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now is</a:t>
            </a:r>
            <a:pPr indent="0" marL="0">
              <a:lnSpc>
                <a:spcPct val="105000"/>
              </a:lnSpc>
              <a:spcAft>
                <a:spcPts val="700"/>
              </a:spcAft>
              <a:buNone/>
            </a:pPr>
            <a:r>
              <a:rPr lang="en-US" sz="95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very good.</a:t>
            </a:r>
            <a:endParaRPr lang="en-US" sz="950" dirty="0"/>
          </a:p>
          <a:p>
            <a:pPr indent="0" marL="0">
              <a:lnSpc>
                <a:spcPct val="105000"/>
              </a:lnSpc>
              <a:spcAft>
                <a:spcPts val="700"/>
              </a:spcAft>
              <a:buNone/>
            </a:pPr>
            <a:r>
              <a:rPr lang="en-US" sz="95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7</a:t>
            </a:r>
            <a:pPr indent="0" marL="0">
              <a:lnSpc>
                <a:spcPct val="105000"/>
              </a:lnSpc>
              <a:spcAft>
                <a:spcPts val="700"/>
              </a:spcAft>
              <a:buNone/>
            </a:pPr>
            <a:r>
              <a:rPr lang="en-US" sz="950" b="1" dirty="0">
                <a:solidFill>
                  <a:srgbClr val="2EB87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(7) ________ </a:t>
            </a:r>
            <a:pPr indent="0" marL="0">
              <a:lnSpc>
                <a:spcPct val="105000"/>
              </a:lnSpc>
              <a:spcAft>
                <a:spcPts val="700"/>
              </a:spcAft>
              <a:buNone/>
            </a:pPr>
            <a:r>
              <a:rPr lang="en-US" sz="95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. It's cold, but not very cold. It's hot, but not very hot. It rains, but </a:t>
            </a:r>
            <a:pPr indent="0" marL="0">
              <a:lnSpc>
                <a:spcPct val="105000"/>
              </a:lnSpc>
              <a:spcAft>
                <a:spcPts val="700"/>
              </a:spcAft>
              <a:buNone/>
            </a:pPr>
            <a:r>
              <a:rPr lang="en-US" sz="950" b="1" u="sng" dirty="0">
                <a:solidFill>
                  <a:srgbClr val="7B5CD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it doesn't rain</a:t>
            </a:r>
            <a:pPr indent="0" marL="0">
              <a:lnSpc>
                <a:spcPct val="105000"/>
              </a:lnSpc>
              <a:spcAft>
                <a:spcPts val="700"/>
              </a:spcAft>
              <a:buNone/>
            </a:pPr>
            <a:r>
              <a:rPr lang="en-US" sz="95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every day.</a:t>
            </a:r>
            <a:endParaRPr lang="en-US" sz="950" dirty="0"/>
          </a:p>
          <a:p>
            <a:pPr indent="0" marL="0">
              <a:lnSpc>
                <a:spcPct val="105000"/>
              </a:lnSpc>
              <a:spcAft>
                <a:spcPts val="700"/>
              </a:spcAft>
              <a:buNone/>
            </a:pPr>
            <a:r>
              <a:rPr lang="en-US" sz="95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8</a:t>
            </a:r>
            <a:pPr indent="0" marL="0">
              <a:lnSpc>
                <a:spcPct val="105000"/>
              </a:lnSpc>
              <a:spcAft>
                <a:spcPts val="700"/>
              </a:spcAft>
              <a:buNone/>
            </a:pPr>
            <a:r>
              <a:rPr lang="en-US" sz="950" b="1" dirty="0">
                <a:solidFill>
                  <a:srgbClr val="2EB87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(8) ________ </a:t>
            </a:r>
            <a:pPr indent="0" marL="0">
              <a:lnSpc>
                <a:spcPct val="105000"/>
              </a:lnSpc>
              <a:spcAft>
                <a:spcPts val="700"/>
              </a:spcAft>
              <a:buNone/>
            </a:pPr>
            <a:r>
              <a:rPr lang="en-US" sz="95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. My </a:t>
            </a:r>
            <a:pPr indent="0" marL="0">
              <a:lnSpc>
                <a:spcPct val="105000"/>
              </a:lnSpc>
              <a:spcAft>
                <a:spcPts val="700"/>
              </a:spcAft>
              <a:buNone/>
            </a:pPr>
            <a:r>
              <a:rPr lang="en-US" sz="950" b="1" u="sng" dirty="0">
                <a:solidFill>
                  <a:srgbClr val="7B5CD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boyfriend cooks</a:t>
            </a:r>
            <a:pPr indent="0" marL="0">
              <a:lnSpc>
                <a:spcPct val="105000"/>
              </a:lnSpc>
              <a:spcAft>
                <a:spcPts val="700"/>
              </a:spcAft>
              <a:buNone/>
            </a:pPr>
            <a:r>
              <a:rPr lang="en-US" sz="95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fantastic curries, and the </a:t>
            </a:r>
            <a:pPr indent="0" marL="0">
              <a:lnSpc>
                <a:spcPct val="105000"/>
              </a:lnSpc>
              <a:spcAft>
                <a:spcPts val="700"/>
              </a:spcAft>
              <a:buNone/>
            </a:pPr>
            <a:r>
              <a:rPr lang="en-US" sz="950" b="1" u="sng" dirty="0">
                <a:solidFill>
                  <a:srgbClr val="7B5CD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UK is</a:t>
            </a:r>
            <a:pPr indent="0" marL="0">
              <a:lnSpc>
                <a:spcPct val="105000"/>
              </a:lnSpc>
              <a:spcAft>
                <a:spcPts val="700"/>
              </a:spcAft>
              <a:buNone/>
            </a:pPr>
            <a:r>
              <a:rPr lang="en-US" sz="95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great for Indian restaurants!</a:t>
            </a:r>
            <a:endParaRPr lang="en-US" sz="950" dirty="0"/>
          </a:p>
        </p:txBody>
      </p:sp>
      <p:sp>
        <p:nvSpPr>
          <p:cNvPr id="15" name="R2_rdA149"/>
          <p:cNvSpPr/>
          <p:nvPr/>
        </p:nvSpPr>
        <p:spPr>
          <a:xfrm>
            <a:off x="457200" y="1527048"/>
            <a:ext cx="5486400" cy="3090672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spcAft>
                <a:spcPts val="400"/>
              </a:spcAft>
              <a:buNone/>
            </a:pPr>
            <a:r>
              <a:rPr lang="en-US" sz="1450" b="1" dirty="0">
                <a:solidFill>
                  <a:srgbClr val="1F6F4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What the British like about Britain – My name's Carola. I'm a journalist. I like…</a:t>
            </a:r>
            <a:endParaRPr lang="en-US" sz="950" dirty="0"/>
          </a:p>
          <a:p>
            <a:pPr indent="0" marL="0">
              <a:lnSpc>
                <a:spcPct val="105000"/>
              </a:lnSpc>
              <a:spcAft>
                <a:spcPts val="700"/>
              </a:spcAft>
              <a:buNone/>
            </a:pPr>
            <a:r>
              <a:rPr lang="en-US" sz="95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</a:t>
            </a:r>
            <a:pPr indent="0" marL="0">
              <a:lnSpc>
                <a:spcPct val="105000"/>
              </a:lnSpc>
              <a:spcAft>
                <a:spcPts val="700"/>
              </a:spcAft>
              <a:buNone/>
            </a:pPr>
            <a:r>
              <a:rPr lang="en-US" sz="950" b="1" dirty="0">
                <a:solidFill>
                  <a:srgbClr val="7B5CD6"/>
                </a:solidFill>
                <a:highlight>
                  <a:srgbClr val="EEE8FB"/>
                </a:highlight>
                <a:latin typeface="Georgia" pitchFamily="34" charset="0"/>
                <a:ea typeface="Georgia" pitchFamily="34" charset="-122"/>
                <a:cs typeface="Georgia" pitchFamily="34" charset="-120"/>
              </a:rPr>
              <a:t> (1) multiculturalism </a:t>
            </a:r>
            <a:pPr indent="0" marL="0">
              <a:lnSpc>
                <a:spcPct val="105000"/>
              </a:lnSpc>
              <a:spcAft>
                <a:spcPts val="700"/>
              </a:spcAft>
              <a:buNone/>
            </a:pPr>
            <a:r>
              <a:rPr lang="en-US" sz="95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. People from all over the world live in the UK, and </a:t>
            </a:r>
            <a:pPr indent="0" marL="0">
              <a:lnSpc>
                <a:spcPct val="105000"/>
              </a:lnSpc>
              <a:spcAft>
                <a:spcPts val="700"/>
              </a:spcAft>
              <a:buNone/>
            </a:pPr>
            <a:r>
              <a:rPr lang="en-US" sz="950" b="1" u="sng" dirty="0">
                <a:solidFill>
                  <a:srgbClr val="7B5CD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they live</a:t>
            </a:r>
            <a:pPr indent="0" marL="0">
              <a:lnSpc>
                <a:spcPct val="105000"/>
              </a:lnSpc>
              <a:spcAft>
                <a:spcPts val="700"/>
              </a:spcAft>
              <a:buNone/>
            </a:pPr>
            <a:r>
              <a:rPr lang="en-US" sz="95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together happily. Usually.</a:t>
            </a:r>
            <a:endParaRPr lang="en-US" sz="950" dirty="0"/>
          </a:p>
          <a:p>
            <a:pPr indent="0" marL="0">
              <a:lnSpc>
                <a:spcPct val="105000"/>
              </a:lnSpc>
              <a:spcAft>
                <a:spcPts val="700"/>
              </a:spcAft>
              <a:buNone/>
            </a:pPr>
            <a:r>
              <a:rPr lang="en-US" sz="95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</a:t>
            </a:r>
            <a:pPr indent="0" marL="0">
              <a:lnSpc>
                <a:spcPct val="105000"/>
              </a:lnSpc>
              <a:spcAft>
                <a:spcPts val="700"/>
              </a:spcAft>
              <a:buNone/>
            </a:pPr>
            <a:r>
              <a:rPr lang="en-US" sz="950" b="1" dirty="0">
                <a:solidFill>
                  <a:srgbClr val="1B2559"/>
                </a:solidFill>
                <a:highlight>
                  <a:srgbClr val="FFE066"/>
                </a:highlight>
                <a:latin typeface="Georgia" pitchFamily="34" charset="0"/>
                <a:ea typeface="Georgia" pitchFamily="34" charset="-122"/>
                <a:cs typeface="Georgia" pitchFamily="34" charset="-120"/>
              </a:rPr>
              <a:t> (2) the language </a:t>
            </a:r>
            <a:pPr indent="0" marL="0">
              <a:lnSpc>
                <a:spcPct val="105000"/>
              </a:lnSpc>
              <a:spcAft>
                <a:spcPts val="700"/>
              </a:spcAft>
              <a:buNone/>
            </a:pPr>
            <a:r>
              <a:rPr lang="en-US" sz="95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. </a:t>
            </a:r>
            <a:pPr indent="0" marL="0">
              <a:lnSpc>
                <a:spcPct val="105000"/>
              </a:lnSpc>
              <a:spcAft>
                <a:spcPts val="700"/>
              </a:spcAft>
              <a:buNone/>
            </a:pPr>
            <a:r>
              <a:rPr lang="en-US" sz="950" b="1" u="sng" dirty="0">
                <a:solidFill>
                  <a:srgbClr val="7B5CD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English is</a:t>
            </a:r>
            <a:pPr indent="0" marL="0">
              <a:lnSpc>
                <a:spcPct val="105000"/>
              </a:lnSpc>
              <a:spcAft>
                <a:spcPts val="700"/>
              </a:spcAft>
              <a:buNone/>
            </a:pPr>
            <a:r>
              <a:rPr lang="en-US" sz="95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international. </a:t>
            </a:r>
            <a:pPr indent="0" marL="0">
              <a:lnSpc>
                <a:spcPct val="105000"/>
              </a:lnSpc>
              <a:spcAft>
                <a:spcPts val="700"/>
              </a:spcAft>
              <a:buNone/>
            </a:pPr>
            <a:r>
              <a:rPr lang="en-US" sz="950" b="1" u="sng" dirty="0">
                <a:solidFill>
                  <a:srgbClr val="7B5CD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 speak</a:t>
            </a:r>
            <a:pPr indent="0" marL="0">
              <a:lnSpc>
                <a:spcPct val="105000"/>
              </a:lnSpc>
              <a:spcAft>
                <a:spcPts val="700"/>
              </a:spcAft>
              <a:buNone/>
            </a:pPr>
            <a:r>
              <a:rPr lang="en-US" sz="95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English. </a:t>
            </a:r>
            <a:pPr indent="0" marL="0">
              <a:lnSpc>
                <a:spcPct val="105000"/>
              </a:lnSpc>
              <a:spcAft>
                <a:spcPts val="700"/>
              </a:spcAft>
              <a:buNone/>
            </a:pPr>
            <a:r>
              <a:rPr lang="en-US" sz="950" b="1" u="sng" dirty="0">
                <a:solidFill>
                  <a:srgbClr val="7B5CD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You speak</a:t>
            </a:r>
            <a:pPr indent="0" marL="0">
              <a:lnSpc>
                <a:spcPct val="105000"/>
              </a:lnSpc>
              <a:spcAft>
                <a:spcPts val="700"/>
              </a:spcAft>
              <a:buNone/>
            </a:pPr>
            <a:r>
              <a:rPr lang="en-US" sz="95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English. </a:t>
            </a:r>
            <a:pPr indent="0" marL="0">
              <a:lnSpc>
                <a:spcPct val="105000"/>
              </a:lnSpc>
              <a:spcAft>
                <a:spcPts val="700"/>
              </a:spcAft>
              <a:buNone/>
            </a:pPr>
            <a:r>
              <a:rPr lang="en-US" sz="950" b="1" u="sng" dirty="0">
                <a:solidFill>
                  <a:srgbClr val="7B5CD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 don't have</a:t>
            </a:r>
            <a:pPr indent="0" marL="0">
              <a:lnSpc>
                <a:spcPct val="105000"/>
              </a:lnSpc>
              <a:spcAft>
                <a:spcPts val="700"/>
              </a:spcAft>
              <a:buNone/>
            </a:pPr>
            <a:r>
              <a:rPr lang="en-US" sz="95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communication problems.</a:t>
            </a:r>
            <a:endParaRPr lang="en-US" sz="950" dirty="0"/>
          </a:p>
          <a:p>
            <a:pPr indent="0" marL="0">
              <a:lnSpc>
                <a:spcPct val="105000"/>
              </a:lnSpc>
              <a:spcAft>
                <a:spcPts val="700"/>
              </a:spcAft>
              <a:buNone/>
            </a:pPr>
            <a:r>
              <a:rPr lang="en-US" sz="95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</a:t>
            </a:r>
            <a:pPr indent="0" marL="0">
              <a:lnSpc>
                <a:spcPct val="105000"/>
              </a:lnSpc>
              <a:spcAft>
                <a:spcPts val="700"/>
              </a:spcAft>
              <a:buNone/>
            </a:pPr>
            <a:r>
              <a:rPr lang="en-US" sz="950" b="1" dirty="0">
                <a:solidFill>
                  <a:srgbClr val="1B2559"/>
                </a:solidFill>
                <a:highlight>
                  <a:srgbClr val="FFE066"/>
                </a:highlight>
                <a:latin typeface="Georgia" pitchFamily="34" charset="0"/>
                <a:ea typeface="Georgia" pitchFamily="34" charset="-122"/>
                <a:cs typeface="Georgia" pitchFamily="34" charset="-120"/>
              </a:rPr>
              <a:t> (3) gardens </a:t>
            </a:r>
            <a:pPr indent="0" marL="0">
              <a:lnSpc>
                <a:spcPct val="105000"/>
              </a:lnSpc>
              <a:spcAft>
                <a:spcPts val="700"/>
              </a:spcAft>
              <a:buNone/>
            </a:pPr>
            <a:r>
              <a:rPr lang="en-US" sz="95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. My garden's small, but </a:t>
            </a:r>
            <a:pPr indent="0" marL="0">
              <a:lnSpc>
                <a:spcPct val="105000"/>
              </a:lnSpc>
              <a:spcAft>
                <a:spcPts val="700"/>
              </a:spcAft>
              <a:buNone/>
            </a:pPr>
            <a:r>
              <a:rPr lang="en-US" sz="950" b="1" u="sng" dirty="0">
                <a:solidFill>
                  <a:srgbClr val="7B5CD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 have</a:t>
            </a:r>
            <a:pPr indent="0" marL="0">
              <a:lnSpc>
                <a:spcPct val="105000"/>
              </a:lnSpc>
              <a:spcAft>
                <a:spcPts val="700"/>
              </a:spcAft>
              <a:buNone/>
            </a:pPr>
            <a:r>
              <a:rPr lang="en-US" sz="95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flowers </a:t>
            </a:r>
            <a:pPr indent="0" marL="0">
              <a:lnSpc>
                <a:spcPct val="105000"/>
              </a:lnSpc>
              <a:spcAft>
                <a:spcPts val="700"/>
              </a:spcAft>
              <a:buNone/>
            </a:pPr>
            <a:r>
              <a:rPr lang="en-US" sz="950" b="1" u="sng" dirty="0">
                <a:solidFill>
                  <a:srgbClr val="7B5CD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and vegetables</a:t>
            </a:r>
            <a:pPr indent="0" marL="0">
              <a:lnSpc>
                <a:spcPct val="105000"/>
              </a:lnSpc>
              <a:spcAft>
                <a:spcPts val="700"/>
              </a:spcAft>
              <a:buNone/>
            </a:pPr>
            <a:r>
              <a:rPr lang="en-US" sz="95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in it. When the sun's out </a:t>
            </a:r>
            <a:pPr indent="0" marL="0">
              <a:lnSpc>
                <a:spcPct val="105000"/>
              </a:lnSpc>
              <a:spcAft>
                <a:spcPts val="700"/>
              </a:spcAft>
              <a:buNone/>
            </a:pPr>
            <a:r>
              <a:rPr lang="en-US" sz="950" b="1" u="sng" dirty="0">
                <a:solidFill>
                  <a:srgbClr val="7B5CD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 sit</a:t>
            </a:r>
            <a:pPr indent="0" marL="0">
              <a:lnSpc>
                <a:spcPct val="105000"/>
              </a:lnSpc>
              <a:spcAft>
                <a:spcPts val="700"/>
              </a:spcAft>
              <a:buNone/>
            </a:pPr>
            <a:r>
              <a:rPr lang="en-US" sz="95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in the garden and </a:t>
            </a:r>
            <a:pPr indent="0" marL="0">
              <a:lnSpc>
                <a:spcPct val="105000"/>
              </a:lnSpc>
              <a:spcAft>
                <a:spcPts val="700"/>
              </a:spcAft>
              <a:buNone/>
            </a:pPr>
            <a:r>
              <a:rPr lang="en-US" sz="950" b="1" u="sng" dirty="0">
                <a:solidFill>
                  <a:srgbClr val="7B5CD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 feel</a:t>
            </a:r>
            <a:pPr indent="0" marL="0">
              <a:lnSpc>
                <a:spcPct val="105000"/>
              </a:lnSpc>
              <a:spcAft>
                <a:spcPts val="700"/>
              </a:spcAft>
              <a:buNone/>
            </a:pPr>
            <a:r>
              <a:rPr lang="en-US" sz="95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really happy.</a:t>
            </a:r>
            <a:endParaRPr lang="en-US" sz="950" dirty="0"/>
          </a:p>
          <a:p>
            <a:pPr indent="0" marL="0">
              <a:lnSpc>
                <a:spcPct val="105000"/>
              </a:lnSpc>
              <a:spcAft>
                <a:spcPts val="700"/>
              </a:spcAft>
              <a:buNone/>
            </a:pPr>
            <a:r>
              <a:rPr lang="en-US" sz="95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4</a:t>
            </a:r>
            <a:pPr indent="0" marL="0">
              <a:lnSpc>
                <a:spcPct val="105000"/>
              </a:lnSpc>
              <a:spcAft>
                <a:spcPts val="700"/>
              </a:spcAft>
              <a:buNone/>
            </a:pPr>
            <a:r>
              <a:rPr lang="en-US" sz="950" b="1" dirty="0">
                <a:solidFill>
                  <a:srgbClr val="2EB87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(4) ________ </a:t>
            </a:r>
            <a:pPr indent="0" marL="0">
              <a:lnSpc>
                <a:spcPct val="105000"/>
              </a:lnSpc>
              <a:spcAft>
                <a:spcPts val="700"/>
              </a:spcAft>
              <a:buNone/>
            </a:pPr>
            <a:r>
              <a:rPr lang="en-US" sz="95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. </a:t>
            </a:r>
            <a:pPr indent="0" marL="0">
              <a:lnSpc>
                <a:spcPct val="105000"/>
              </a:lnSpc>
              <a:spcAft>
                <a:spcPts val="700"/>
              </a:spcAft>
              <a:buNone/>
            </a:pPr>
            <a:r>
              <a:rPr lang="en-US" sz="950" b="1" u="sng" dirty="0">
                <a:solidFill>
                  <a:srgbClr val="7B5CD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 wear</a:t>
            </a:r>
            <a:pPr indent="0" marL="0">
              <a:lnSpc>
                <a:spcPct val="105000"/>
              </a:lnSpc>
              <a:spcAft>
                <a:spcPts val="700"/>
              </a:spcAft>
              <a:buNone/>
            </a:pPr>
            <a:r>
              <a:rPr lang="en-US" sz="95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what </a:t>
            </a:r>
            <a:pPr indent="0" marL="0">
              <a:lnSpc>
                <a:spcPct val="105000"/>
              </a:lnSpc>
              <a:spcAft>
                <a:spcPts val="700"/>
              </a:spcAft>
              <a:buNone/>
            </a:pPr>
            <a:r>
              <a:rPr lang="en-US" sz="950" b="1" u="sng" dirty="0">
                <a:solidFill>
                  <a:srgbClr val="7B5CD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 want</a:t>
            </a:r>
            <a:pPr indent="0" marL="0">
              <a:lnSpc>
                <a:spcPct val="105000"/>
              </a:lnSpc>
              <a:spcAft>
                <a:spcPts val="700"/>
              </a:spcAft>
              <a:buNone/>
            </a:pPr>
            <a:r>
              <a:rPr lang="en-US" sz="95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. </a:t>
            </a:r>
            <a:pPr indent="0" marL="0">
              <a:lnSpc>
                <a:spcPct val="105000"/>
              </a:lnSpc>
              <a:spcAft>
                <a:spcPts val="700"/>
              </a:spcAft>
              <a:buNone/>
            </a:pPr>
            <a:r>
              <a:rPr lang="en-US" sz="950" b="1" u="sng" dirty="0">
                <a:solidFill>
                  <a:srgbClr val="7B5CD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 say</a:t>
            </a:r>
            <a:pPr indent="0" marL="0">
              <a:lnSpc>
                <a:spcPct val="105000"/>
              </a:lnSpc>
              <a:spcAft>
                <a:spcPts val="700"/>
              </a:spcAft>
              <a:buNone/>
            </a:pPr>
            <a:r>
              <a:rPr lang="en-US" sz="95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what </a:t>
            </a:r>
            <a:pPr indent="0" marL="0">
              <a:lnSpc>
                <a:spcPct val="105000"/>
              </a:lnSpc>
              <a:spcAft>
                <a:spcPts val="700"/>
              </a:spcAft>
              <a:buNone/>
            </a:pPr>
            <a:r>
              <a:rPr lang="en-US" sz="950" b="1" u="sng" dirty="0">
                <a:solidFill>
                  <a:srgbClr val="7B5CD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 want</a:t>
            </a:r>
            <a:pPr indent="0" marL="0">
              <a:lnSpc>
                <a:spcPct val="105000"/>
              </a:lnSpc>
              <a:spcAft>
                <a:spcPts val="700"/>
              </a:spcAft>
              <a:buNone/>
            </a:pPr>
            <a:r>
              <a:rPr lang="en-US" sz="95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. </a:t>
            </a:r>
            <a:pPr indent="0" marL="0">
              <a:lnSpc>
                <a:spcPct val="105000"/>
              </a:lnSpc>
              <a:spcAft>
                <a:spcPts val="700"/>
              </a:spcAft>
              <a:buNone/>
            </a:pPr>
            <a:r>
              <a:rPr lang="en-US" sz="950" b="1" u="sng" dirty="0">
                <a:solidFill>
                  <a:srgbClr val="7B5CD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 do</a:t>
            </a:r>
            <a:pPr indent="0" marL="0">
              <a:lnSpc>
                <a:spcPct val="105000"/>
              </a:lnSpc>
              <a:spcAft>
                <a:spcPts val="700"/>
              </a:spcAft>
              <a:buNone/>
            </a:pPr>
            <a:r>
              <a:rPr lang="en-US" sz="95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what </a:t>
            </a:r>
            <a:pPr indent="0" marL="0">
              <a:lnSpc>
                <a:spcPct val="105000"/>
              </a:lnSpc>
              <a:spcAft>
                <a:spcPts val="700"/>
              </a:spcAft>
              <a:buNone/>
            </a:pPr>
            <a:r>
              <a:rPr lang="en-US" sz="950" b="1" u="sng" dirty="0">
                <a:solidFill>
                  <a:srgbClr val="7B5CD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 want</a:t>
            </a:r>
            <a:pPr indent="0" marL="0">
              <a:lnSpc>
                <a:spcPct val="105000"/>
              </a:lnSpc>
              <a:spcAft>
                <a:spcPts val="700"/>
              </a:spcAft>
              <a:buNone/>
            </a:pPr>
            <a:r>
              <a:rPr lang="en-US" sz="95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.</a:t>
            </a:r>
            <a:endParaRPr lang="en-US" sz="950" dirty="0"/>
          </a:p>
          <a:p>
            <a:pPr indent="0" marL="0">
              <a:lnSpc>
                <a:spcPct val="105000"/>
              </a:lnSpc>
              <a:spcAft>
                <a:spcPts val="700"/>
              </a:spcAft>
              <a:buNone/>
            </a:pPr>
            <a:r>
              <a:rPr lang="en-US" sz="95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5</a:t>
            </a:r>
            <a:pPr indent="0" marL="0">
              <a:lnSpc>
                <a:spcPct val="105000"/>
              </a:lnSpc>
              <a:spcAft>
                <a:spcPts val="700"/>
              </a:spcAft>
              <a:buNone/>
            </a:pPr>
            <a:r>
              <a:rPr lang="en-US" sz="950" b="1" dirty="0">
                <a:solidFill>
                  <a:srgbClr val="2EB87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(5) ________ </a:t>
            </a:r>
            <a:pPr indent="0" marL="0">
              <a:lnSpc>
                <a:spcPct val="105000"/>
              </a:lnSpc>
              <a:spcAft>
                <a:spcPts val="700"/>
              </a:spcAft>
              <a:buNone/>
            </a:pPr>
            <a:r>
              <a:rPr lang="en-US" sz="95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. </a:t>
            </a:r>
            <a:pPr indent="0" marL="0">
              <a:lnSpc>
                <a:spcPct val="105000"/>
              </a:lnSpc>
              <a:spcAft>
                <a:spcPts val="700"/>
              </a:spcAft>
              <a:buNone/>
            </a:pPr>
            <a:r>
              <a:rPr lang="en-US" sz="950" b="1" u="sng" dirty="0">
                <a:solidFill>
                  <a:srgbClr val="7B5CD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 listen</a:t>
            </a:r>
            <a:pPr indent="0" marL="0">
              <a:lnSpc>
                <a:spcPct val="105000"/>
              </a:lnSpc>
              <a:spcAft>
                <a:spcPts val="700"/>
              </a:spcAft>
              <a:buNone/>
            </a:pPr>
            <a:r>
              <a:rPr lang="en-US" sz="95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to the radio in the morning and </a:t>
            </a:r>
            <a:pPr indent="0" marL="0">
              <a:lnSpc>
                <a:spcPct val="105000"/>
              </a:lnSpc>
              <a:spcAft>
                <a:spcPts val="700"/>
              </a:spcAft>
              <a:buNone/>
            </a:pPr>
            <a:r>
              <a:rPr lang="en-US" sz="950" b="1" u="sng" dirty="0">
                <a:solidFill>
                  <a:srgbClr val="7B5CD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 watch</a:t>
            </a:r>
            <a:pPr indent="0" marL="0">
              <a:lnSpc>
                <a:spcPct val="105000"/>
              </a:lnSpc>
              <a:spcAft>
                <a:spcPts val="700"/>
              </a:spcAft>
              <a:buNone/>
            </a:pPr>
            <a:r>
              <a:rPr lang="en-US" sz="95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TV in the evening. A lot </a:t>
            </a:r>
            <a:pPr indent="0" marL="0">
              <a:lnSpc>
                <a:spcPct val="105000"/>
              </a:lnSpc>
              <a:spcAft>
                <a:spcPts val="700"/>
              </a:spcAft>
              <a:buNone/>
            </a:pPr>
            <a:r>
              <a:rPr lang="en-US" sz="950" b="1" u="sng" dirty="0">
                <a:solidFill>
                  <a:srgbClr val="7B5CD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of programmes</a:t>
            </a:r>
            <a:pPr indent="0" marL="0">
              <a:lnSpc>
                <a:spcPct val="105000"/>
              </a:lnSpc>
              <a:spcAft>
                <a:spcPts val="700"/>
              </a:spcAft>
              <a:buNone/>
            </a:pPr>
            <a:r>
              <a:rPr lang="en-US" sz="95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are interesting, funny, or educational. Sometimes all three.</a:t>
            </a:r>
            <a:endParaRPr lang="en-US" sz="950" dirty="0"/>
          </a:p>
          <a:p>
            <a:pPr indent="0" marL="0">
              <a:lnSpc>
                <a:spcPct val="105000"/>
              </a:lnSpc>
              <a:spcAft>
                <a:spcPts val="700"/>
              </a:spcAft>
              <a:buNone/>
            </a:pPr>
            <a:r>
              <a:rPr lang="en-US" sz="95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6</a:t>
            </a:r>
            <a:pPr indent="0" marL="0">
              <a:lnSpc>
                <a:spcPct val="105000"/>
              </a:lnSpc>
              <a:spcAft>
                <a:spcPts val="700"/>
              </a:spcAft>
              <a:buNone/>
            </a:pPr>
            <a:r>
              <a:rPr lang="en-US" sz="950" b="1" dirty="0">
                <a:solidFill>
                  <a:srgbClr val="2EB87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(6) ________ </a:t>
            </a:r>
            <a:pPr indent="0" marL="0">
              <a:lnSpc>
                <a:spcPct val="105000"/>
              </a:lnSpc>
              <a:spcAft>
                <a:spcPts val="700"/>
              </a:spcAft>
              <a:buNone/>
            </a:pPr>
            <a:r>
              <a:rPr lang="en-US" sz="95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. </a:t>
            </a:r>
            <a:pPr indent="0" marL="0">
              <a:lnSpc>
                <a:spcPct val="105000"/>
              </a:lnSpc>
              <a:spcAft>
                <a:spcPts val="700"/>
              </a:spcAft>
              <a:buNone/>
            </a:pPr>
            <a:r>
              <a:rPr lang="en-US" sz="950" b="1" u="sng" dirty="0">
                <a:solidFill>
                  <a:srgbClr val="7B5CD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We drink</a:t>
            </a:r>
            <a:pPr indent="0" marL="0">
              <a:lnSpc>
                <a:spcPct val="105000"/>
              </a:lnSpc>
              <a:spcAft>
                <a:spcPts val="700"/>
              </a:spcAft>
              <a:buNone/>
            </a:pPr>
            <a:r>
              <a:rPr lang="en-US" sz="95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there, and </a:t>
            </a:r>
            <a:pPr indent="0" marL="0">
              <a:lnSpc>
                <a:spcPct val="105000"/>
              </a:lnSpc>
              <a:spcAft>
                <a:spcPts val="700"/>
              </a:spcAft>
              <a:buNone/>
            </a:pPr>
            <a:r>
              <a:rPr lang="en-US" sz="950" b="1" u="sng" dirty="0">
                <a:solidFill>
                  <a:srgbClr val="7B5CD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we eat</a:t>
            </a:r>
            <a:pPr indent="0" marL="0">
              <a:lnSpc>
                <a:spcPct val="105000"/>
              </a:lnSpc>
              <a:spcAft>
                <a:spcPts val="700"/>
              </a:spcAft>
              <a:buNone/>
            </a:pPr>
            <a:r>
              <a:rPr lang="en-US" sz="95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there, too – the food </a:t>
            </a:r>
            <a:pPr indent="0" marL="0">
              <a:lnSpc>
                <a:spcPct val="105000"/>
              </a:lnSpc>
              <a:spcAft>
                <a:spcPts val="700"/>
              </a:spcAft>
              <a:buNone/>
            </a:pPr>
            <a:r>
              <a:rPr lang="en-US" sz="950" b="1" u="sng" dirty="0">
                <a:solidFill>
                  <a:srgbClr val="7B5CD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now is</a:t>
            </a:r>
            <a:pPr indent="0" marL="0">
              <a:lnSpc>
                <a:spcPct val="105000"/>
              </a:lnSpc>
              <a:spcAft>
                <a:spcPts val="700"/>
              </a:spcAft>
              <a:buNone/>
            </a:pPr>
            <a:r>
              <a:rPr lang="en-US" sz="95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very good.</a:t>
            </a:r>
            <a:endParaRPr lang="en-US" sz="950" dirty="0"/>
          </a:p>
          <a:p>
            <a:pPr indent="0" marL="0">
              <a:lnSpc>
                <a:spcPct val="105000"/>
              </a:lnSpc>
              <a:spcAft>
                <a:spcPts val="700"/>
              </a:spcAft>
              <a:buNone/>
            </a:pPr>
            <a:r>
              <a:rPr lang="en-US" sz="95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7</a:t>
            </a:r>
            <a:pPr indent="0" marL="0">
              <a:lnSpc>
                <a:spcPct val="105000"/>
              </a:lnSpc>
              <a:spcAft>
                <a:spcPts val="700"/>
              </a:spcAft>
              <a:buNone/>
            </a:pPr>
            <a:r>
              <a:rPr lang="en-US" sz="950" b="1" dirty="0">
                <a:solidFill>
                  <a:srgbClr val="2EB87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(7) ________ </a:t>
            </a:r>
            <a:pPr indent="0" marL="0">
              <a:lnSpc>
                <a:spcPct val="105000"/>
              </a:lnSpc>
              <a:spcAft>
                <a:spcPts val="700"/>
              </a:spcAft>
              <a:buNone/>
            </a:pPr>
            <a:r>
              <a:rPr lang="en-US" sz="95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. It's cold, but not very cold. It's hot, but not very hot. It rains, but </a:t>
            </a:r>
            <a:pPr indent="0" marL="0">
              <a:lnSpc>
                <a:spcPct val="105000"/>
              </a:lnSpc>
              <a:spcAft>
                <a:spcPts val="700"/>
              </a:spcAft>
              <a:buNone/>
            </a:pPr>
            <a:r>
              <a:rPr lang="en-US" sz="950" b="1" u="sng" dirty="0">
                <a:solidFill>
                  <a:srgbClr val="7B5CD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it doesn't rain</a:t>
            </a:r>
            <a:pPr indent="0" marL="0">
              <a:lnSpc>
                <a:spcPct val="105000"/>
              </a:lnSpc>
              <a:spcAft>
                <a:spcPts val="700"/>
              </a:spcAft>
              <a:buNone/>
            </a:pPr>
            <a:r>
              <a:rPr lang="en-US" sz="95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every day.</a:t>
            </a:r>
            <a:endParaRPr lang="en-US" sz="950" dirty="0"/>
          </a:p>
          <a:p>
            <a:pPr indent="0" marL="0">
              <a:lnSpc>
                <a:spcPct val="105000"/>
              </a:lnSpc>
              <a:spcAft>
                <a:spcPts val="700"/>
              </a:spcAft>
              <a:buNone/>
            </a:pPr>
            <a:r>
              <a:rPr lang="en-US" sz="95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8</a:t>
            </a:r>
            <a:pPr indent="0" marL="0">
              <a:lnSpc>
                <a:spcPct val="105000"/>
              </a:lnSpc>
              <a:spcAft>
                <a:spcPts val="700"/>
              </a:spcAft>
              <a:buNone/>
            </a:pPr>
            <a:r>
              <a:rPr lang="en-US" sz="950" b="1" dirty="0">
                <a:solidFill>
                  <a:srgbClr val="2EB87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(8) ________ </a:t>
            </a:r>
            <a:pPr indent="0" marL="0">
              <a:lnSpc>
                <a:spcPct val="105000"/>
              </a:lnSpc>
              <a:spcAft>
                <a:spcPts val="700"/>
              </a:spcAft>
              <a:buNone/>
            </a:pPr>
            <a:r>
              <a:rPr lang="en-US" sz="95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. My </a:t>
            </a:r>
            <a:pPr indent="0" marL="0">
              <a:lnSpc>
                <a:spcPct val="105000"/>
              </a:lnSpc>
              <a:spcAft>
                <a:spcPts val="700"/>
              </a:spcAft>
              <a:buNone/>
            </a:pPr>
            <a:r>
              <a:rPr lang="en-US" sz="950" b="1" u="sng" dirty="0">
                <a:solidFill>
                  <a:srgbClr val="7B5CD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boyfriend cooks</a:t>
            </a:r>
            <a:pPr indent="0" marL="0">
              <a:lnSpc>
                <a:spcPct val="105000"/>
              </a:lnSpc>
              <a:spcAft>
                <a:spcPts val="700"/>
              </a:spcAft>
              <a:buNone/>
            </a:pPr>
            <a:r>
              <a:rPr lang="en-US" sz="95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fantastic curries, and the </a:t>
            </a:r>
            <a:pPr indent="0" marL="0">
              <a:lnSpc>
                <a:spcPct val="105000"/>
              </a:lnSpc>
              <a:spcAft>
                <a:spcPts val="700"/>
              </a:spcAft>
              <a:buNone/>
            </a:pPr>
            <a:r>
              <a:rPr lang="en-US" sz="950" b="1" u="sng" dirty="0">
                <a:solidFill>
                  <a:srgbClr val="7B5CD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UK is</a:t>
            </a:r>
            <a:pPr indent="0" marL="0">
              <a:lnSpc>
                <a:spcPct val="105000"/>
              </a:lnSpc>
              <a:spcAft>
                <a:spcPts val="700"/>
              </a:spcAft>
              <a:buNone/>
            </a:pPr>
            <a:r>
              <a:rPr lang="en-US" sz="95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great for Indian restaurants!</a:t>
            </a:r>
            <a:endParaRPr lang="en-US" sz="950" dirty="0"/>
          </a:p>
        </p:txBody>
      </p:sp>
      <p:sp>
        <p:nvSpPr>
          <p:cNvPr id="16" name="R3_rdA150"/>
          <p:cNvSpPr/>
          <p:nvPr/>
        </p:nvSpPr>
        <p:spPr>
          <a:xfrm>
            <a:off x="457200" y="1527048"/>
            <a:ext cx="5486400" cy="3090672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spcAft>
                <a:spcPts val="400"/>
              </a:spcAft>
              <a:buNone/>
            </a:pPr>
            <a:r>
              <a:rPr lang="en-US" sz="1450" b="1" dirty="0">
                <a:solidFill>
                  <a:srgbClr val="1F6F4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What the British like about Britain – My name's Carola. I'm a journalist. I like…</a:t>
            </a:r>
            <a:endParaRPr lang="en-US" sz="950" dirty="0"/>
          </a:p>
          <a:p>
            <a:pPr indent="0" marL="0">
              <a:lnSpc>
                <a:spcPct val="105000"/>
              </a:lnSpc>
              <a:spcAft>
                <a:spcPts val="700"/>
              </a:spcAft>
              <a:buNone/>
            </a:pPr>
            <a:r>
              <a:rPr lang="en-US" sz="95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</a:t>
            </a:r>
            <a:pPr indent="0" marL="0">
              <a:lnSpc>
                <a:spcPct val="105000"/>
              </a:lnSpc>
              <a:spcAft>
                <a:spcPts val="700"/>
              </a:spcAft>
              <a:buNone/>
            </a:pPr>
            <a:r>
              <a:rPr lang="en-US" sz="950" b="1" dirty="0">
                <a:solidFill>
                  <a:srgbClr val="7B5CD6"/>
                </a:solidFill>
                <a:highlight>
                  <a:srgbClr val="EEE8FB"/>
                </a:highlight>
                <a:latin typeface="Georgia" pitchFamily="34" charset="0"/>
                <a:ea typeface="Georgia" pitchFamily="34" charset="-122"/>
                <a:cs typeface="Georgia" pitchFamily="34" charset="-120"/>
              </a:rPr>
              <a:t> (1) multiculturalism </a:t>
            </a:r>
            <a:pPr indent="0" marL="0">
              <a:lnSpc>
                <a:spcPct val="105000"/>
              </a:lnSpc>
              <a:spcAft>
                <a:spcPts val="700"/>
              </a:spcAft>
              <a:buNone/>
            </a:pPr>
            <a:r>
              <a:rPr lang="en-US" sz="95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. People from all over the world live in the UK, and </a:t>
            </a:r>
            <a:pPr indent="0" marL="0">
              <a:lnSpc>
                <a:spcPct val="105000"/>
              </a:lnSpc>
              <a:spcAft>
                <a:spcPts val="700"/>
              </a:spcAft>
              <a:buNone/>
            </a:pPr>
            <a:r>
              <a:rPr lang="en-US" sz="950" b="1" u="sng" dirty="0">
                <a:solidFill>
                  <a:srgbClr val="7B5CD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they live</a:t>
            </a:r>
            <a:pPr indent="0" marL="0">
              <a:lnSpc>
                <a:spcPct val="105000"/>
              </a:lnSpc>
              <a:spcAft>
                <a:spcPts val="700"/>
              </a:spcAft>
              <a:buNone/>
            </a:pPr>
            <a:r>
              <a:rPr lang="en-US" sz="95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together happily. Usually.</a:t>
            </a:r>
            <a:endParaRPr lang="en-US" sz="950" dirty="0"/>
          </a:p>
          <a:p>
            <a:pPr indent="0" marL="0">
              <a:lnSpc>
                <a:spcPct val="105000"/>
              </a:lnSpc>
              <a:spcAft>
                <a:spcPts val="700"/>
              </a:spcAft>
              <a:buNone/>
            </a:pPr>
            <a:r>
              <a:rPr lang="en-US" sz="95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</a:t>
            </a:r>
            <a:pPr indent="0" marL="0">
              <a:lnSpc>
                <a:spcPct val="105000"/>
              </a:lnSpc>
              <a:spcAft>
                <a:spcPts val="700"/>
              </a:spcAft>
              <a:buNone/>
            </a:pPr>
            <a:r>
              <a:rPr lang="en-US" sz="950" b="1" dirty="0">
                <a:solidFill>
                  <a:srgbClr val="1B2559"/>
                </a:solidFill>
                <a:highlight>
                  <a:srgbClr val="FFE066"/>
                </a:highlight>
                <a:latin typeface="Georgia" pitchFamily="34" charset="0"/>
                <a:ea typeface="Georgia" pitchFamily="34" charset="-122"/>
                <a:cs typeface="Georgia" pitchFamily="34" charset="-120"/>
              </a:rPr>
              <a:t> (2) the language </a:t>
            </a:r>
            <a:pPr indent="0" marL="0">
              <a:lnSpc>
                <a:spcPct val="105000"/>
              </a:lnSpc>
              <a:spcAft>
                <a:spcPts val="700"/>
              </a:spcAft>
              <a:buNone/>
            </a:pPr>
            <a:r>
              <a:rPr lang="en-US" sz="95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. </a:t>
            </a:r>
            <a:pPr indent="0" marL="0">
              <a:lnSpc>
                <a:spcPct val="105000"/>
              </a:lnSpc>
              <a:spcAft>
                <a:spcPts val="700"/>
              </a:spcAft>
              <a:buNone/>
            </a:pPr>
            <a:r>
              <a:rPr lang="en-US" sz="950" b="1" u="sng" dirty="0">
                <a:solidFill>
                  <a:srgbClr val="7B5CD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English is</a:t>
            </a:r>
            <a:pPr indent="0" marL="0">
              <a:lnSpc>
                <a:spcPct val="105000"/>
              </a:lnSpc>
              <a:spcAft>
                <a:spcPts val="700"/>
              </a:spcAft>
              <a:buNone/>
            </a:pPr>
            <a:r>
              <a:rPr lang="en-US" sz="95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international. </a:t>
            </a:r>
            <a:pPr indent="0" marL="0">
              <a:lnSpc>
                <a:spcPct val="105000"/>
              </a:lnSpc>
              <a:spcAft>
                <a:spcPts val="700"/>
              </a:spcAft>
              <a:buNone/>
            </a:pPr>
            <a:r>
              <a:rPr lang="en-US" sz="950" b="1" u="sng" dirty="0">
                <a:solidFill>
                  <a:srgbClr val="7B5CD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 speak</a:t>
            </a:r>
            <a:pPr indent="0" marL="0">
              <a:lnSpc>
                <a:spcPct val="105000"/>
              </a:lnSpc>
              <a:spcAft>
                <a:spcPts val="700"/>
              </a:spcAft>
              <a:buNone/>
            </a:pPr>
            <a:r>
              <a:rPr lang="en-US" sz="95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English. </a:t>
            </a:r>
            <a:pPr indent="0" marL="0">
              <a:lnSpc>
                <a:spcPct val="105000"/>
              </a:lnSpc>
              <a:spcAft>
                <a:spcPts val="700"/>
              </a:spcAft>
              <a:buNone/>
            </a:pPr>
            <a:r>
              <a:rPr lang="en-US" sz="950" b="1" u="sng" dirty="0">
                <a:solidFill>
                  <a:srgbClr val="7B5CD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You speak</a:t>
            </a:r>
            <a:pPr indent="0" marL="0">
              <a:lnSpc>
                <a:spcPct val="105000"/>
              </a:lnSpc>
              <a:spcAft>
                <a:spcPts val="700"/>
              </a:spcAft>
              <a:buNone/>
            </a:pPr>
            <a:r>
              <a:rPr lang="en-US" sz="95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English. </a:t>
            </a:r>
            <a:pPr indent="0" marL="0">
              <a:lnSpc>
                <a:spcPct val="105000"/>
              </a:lnSpc>
              <a:spcAft>
                <a:spcPts val="700"/>
              </a:spcAft>
              <a:buNone/>
            </a:pPr>
            <a:r>
              <a:rPr lang="en-US" sz="950" b="1" u="sng" dirty="0">
                <a:solidFill>
                  <a:srgbClr val="7B5CD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 don't have</a:t>
            </a:r>
            <a:pPr indent="0" marL="0">
              <a:lnSpc>
                <a:spcPct val="105000"/>
              </a:lnSpc>
              <a:spcAft>
                <a:spcPts val="700"/>
              </a:spcAft>
              <a:buNone/>
            </a:pPr>
            <a:r>
              <a:rPr lang="en-US" sz="95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communication problems.</a:t>
            </a:r>
            <a:endParaRPr lang="en-US" sz="950" dirty="0"/>
          </a:p>
          <a:p>
            <a:pPr indent="0" marL="0">
              <a:lnSpc>
                <a:spcPct val="105000"/>
              </a:lnSpc>
              <a:spcAft>
                <a:spcPts val="700"/>
              </a:spcAft>
              <a:buNone/>
            </a:pPr>
            <a:r>
              <a:rPr lang="en-US" sz="95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</a:t>
            </a:r>
            <a:pPr indent="0" marL="0">
              <a:lnSpc>
                <a:spcPct val="105000"/>
              </a:lnSpc>
              <a:spcAft>
                <a:spcPts val="700"/>
              </a:spcAft>
              <a:buNone/>
            </a:pPr>
            <a:r>
              <a:rPr lang="en-US" sz="950" b="1" dirty="0">
                <a:solidFill>
                  <a:srgbClr val="1B2559"/>
                </a:solidFill>
                <a:highlight>
                  <a:srgbClr val="FFE066"/>
                </a:highlight>
                <a:latin typeface="Georgia" pitchFamily="34" charset="0"/>
                <a:ea typeface="Georgia" pitchFamily="34" charset="-122"/>
                <a:cs typeface="Georgia" pitchFamily="34" charset="-120"/>
              </a:rPr>
              <a:t> (3) gardens </a:t>
            </a:r>
            <a:pPr indent="0" marL="0">
              <a:lnSpc>
                <a:spcPct val="105000"/>
              </a:lnSpc>
              <a:spcAft>
                <a:spcPts val="700"/>
              </a:spcAft>
              <a:buNone/>
            </a:pPr>
            <a:r>
              <a:rPr lang="en-US" sz="95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. My garden's small, but </a:t>
            </a:r>
            <a:pPr indent="0" marL="0">
              <a:lnSpc>
                <a:spcPct val="105000"/>
              </a:lnSpc>
              <a:spcAft>
                <a:spcPts val="700"/>
              </a:spcAft>
              <a:buNone/>
            </a:pPr>
            <a:r>
              <a:rPr lang="en-US" sz="950" b="1" u="sng" dirty="0">
                <a:solidFill>
                  <a:srgbClr val="7B5CD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 have</a:t>
            </a:r>
            <a:pPr indent="0" marL="0">
              <a:lnSpc>
                <a:spcPct val="105000"/>
              </a:lnSpc>
              <a:spcAft>
                <a:spcPts val="700"/>
              </a:spcAft>
              <a:buNone/>
            </a:pPr>
            <a:r>
              <a:rPr lang="en-US" sz="95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flowers </a:t>
            </a:r>
            <a:pPr indent="0" marL="0">
              <a:lnSpc>
                <a:spcPct val="105000"/>
              </a:lnSpc>
              <a:spcAft>
                <a:spcPts val="700"/>
              </a:spcAft>
              <a:buNone/>
            </a:pPr>
            <a:r>
              <a:rPr lang="en-US" sz="950" b="1" u="sng" dirty="0">
                <a:solidFill>
                  <a:srgbClr val="7B5CD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and vegetables</a:t>
            </a:r>
            <a:pPr indent="0" marL="0">
              <a:lnSpc>
                <a:spcPct val="105000"/>
              </a:lnSpc>
              <a:spcAft>
                <a:spcPts val="700"/>
              </a:spcAft>
              <a:buNone/>
            </a:pPr>
            <a:r>
              <a:rPr lang="en-US" sz="95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in it. When the sun's out </a:t>
            </a:r>
            <a:pPr indent="0" marL="0">
              <a:lnSpc>
                <a:spcPct val="105000"/>
              </a:lnSpc>
              <a:spcAft>
                <a:spcPts val="700"/>
              </a:spcAft>
              <a:buNone/>
            </a:pPr>
            <a:r>
              <a:rPr lang="en-US" sz="950" b="1" u="sng" dirty="0">
                <a:solidFill>
                  <a:srgbClr val="7B5CD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 sit</a:t>
            </a:r>
            <a:pPr indent="0" marL="0">
              <a:lnSpc>
                <a:spcPct val="105000"/>
              </a:lnSpc>
              <a:spcAft>
                <a:spcPts val="700"/>
              </a:spcAft>
              <a:buNone/>
            </a:pPr>
            <a:r>
              <a:rPr lang="en-US" sz="95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in the garden and </a:t>
            </a:r>
            <a:pPr indent="0" marL="0">
              <a:lnSpc>
                <a:spcPct val="105000"/>
              </a:lnSpc>
              <a:spcAft>
                <a:spcPts val="700"/>
              </a:spcAft>
              <a:buNone/>
            </a:pPr>
            <a:r>
              <a:rPr lang="en-US" sz="950" b="1" u="sng" dirty="0">
                <a:solidFill>
                  <a:srgbClr val="7B5CD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 feel</a:t>
            </a:r>
            <a:pPr indent="0" marL="0">
              <a:lnSpc>
                <a:spcPct val="105000"/>
              </a:lnSpc>
              <a:spcAft>
                <a:spcPts val="700"/>
              </a:spcAft>
              <a:buNone/>
            </a:pPr>
            <a:r>
              <a:rPr lang="en-US" sz="95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really happy.</a:t>
            </a:r>
            <a:endParaRPr lang="en-US" sz="950" dirty="0"/>
          </a:p>
          <a:p>
            <a:pPr indent="0" marL="0">
              <a:lnSpc>
                <a:spcPct val="105000"/>
              </a:lnSpc>
              <a:spcAft>
                <a:spcPts val="700"/>
              </a:spcAft>
              <a:buNone/>
            </a:pPr>
            <a:r>
              <a:rPr lang="en-US" sz="95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4</a:t>
            </a:r>
            <a:pPr indent="0" marL="0">
              <a:lnSpc>
                <a:spcPct val="105000"/>
              </a:lnSpc>
              <a:spcAft>
                <a:spcPts val="700"/>
              </a:spcAft>
              <a:buNone/>
            </a:pPr>
            <a:r>
              <a:rPr lang="en-US" sz="950" b="1" dirty="0">
                <a:solidFill>
                  <a:srgbClr val="1B2559"/>
                </a:solidFill>
                <a:highlight>
                  <a:srgbClr val="FFE066"/>
                </a:highlight>
                <a:latin typeface="Georgia" pitchFamily="34" charset="0"/>
                <a:ea typeface="Georgia" pitchFamily="34" charset="-122"/>
                <a:cs typeface="Georgia" pitchFamily="34" charset="-120"/>
              </a:rPr>
              <a:t> (4) the freedom </a:t>
            </a:r>
            <a:pPr indent="0" marL="0">
              <a:lnSpc>
                <a:spcPct val="105000"/>
              </a:lnSpc>
              <a:spcAft>
                <a:spcPts val="700"/>
              </a:spcAft>
              <a:buNone/>
            </a:pPr>
            <a:r>
              <a:rPr lang="en-US" sz="95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. </a:t>
            </a:r>
            <a:pPr indent="0" marL="0">
              <a:lnSpc>
                <a:spcPct val="105000"/>
              </a:lnSpc>
              <a:spcAft>
                <a:spcPts val="700"/>
              </a:spcAft>
              <a:buNone/>
            </a:pPr>
            <a:r>
              <a:rPr lang="en-US" sz="950" b="1" u="sng" dirty="0">
                <a:solidFill>
                  <a:srgbClr val="7B5CD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 wear</a:t>
            </a:r>
            <a:pPr indent="0" marL="0">
              <a:lnSpc>
                <a:spcPct val="105000"/>
              </a:lnSpc>
              <a:spcAft>
                <a:spcPts val="700"/>
              </a:spcAft>
              <a:buNone/>
            </a:pPr>
            <a:r>
              <a:rPr lang="en-US" sz="95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what </a:t>
            </a:r>
            <a:pPr indent="0" marL="0">
              <a:lnSpc>
                <a:spcPct val="105000"/>
              </a:lnSpc>
              <a:spcAft>
                <a:spcPts val="700"/>
              </a:spcAft>
              <a:buNone/>
            </a:pPr>
            <a:r>
              <a:rPr lang="en-US" sz="950" b="1" u="sng" dirty="0">
                <a:solidFill>
                  <a:srgbClr val="7B5CD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 want</a:t>
            </a:r>
            <a:pPr indent="0" marL="0">
              <a:lnSpc>
                <a:spcPct val="105000"/>
              </a:lnSpc>
              <a:spcAft>
                <a:spcPts val="700"/>
              </a:spcAft>
              <a:buNone/>
            </a:pPr>
            <a:r>
              <a:rPr lang="en-US" sz="95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. </a:t>
            </a:r>
            <a:pPr indent="0" marL="0">
              <a:lnSpc>
                <a:spcPct val="105000"/>
              </a:lnSpc>
              <a:spcAft>
                <a:spcPts val="700"/>
              </a:spcAft>
              <a:buNone/>
            </a:pPr>
            <a:r>
              <a:rPr lang="en-US" sz="950" b="1" u="sng" dirty="0">
                <a:solidFill>
                  <a:srgbClr val="7B5CD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 say</a:t>
            </a:r>
            <a:pPr indent="0" marL="0">
              <a:lnSpc>
                <a:spcPct val="105000"/>
              </a:lnSpc>
              <a:spcAft>
                <a:spcPts val="700"/>
              </a:spcAft>
              <a:buNone/>
            </a:pPr>
            <a:r>
              <a:rPr lang="en-US" sz="95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what </a:t>
            </a:r>
            <a:pPr indent="0" marL="0">
              <a:lnSpc>
                <a:spcPct val="105000"/>
              </a:lnSpc>
              <a:spcAft>
                <a:spcPts val="700"/>
              </a:spcAft>
              <a:buNone/>
            </a:pPr>
            <a:r>
              <a:rPr lang="en-US" sz="950" b="1" u="sng" dirty="0">
                <a:solidFill>
                  <a:srgbClr val="7B5CD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 want</a:t>
            </a:r>
            <a:pPr indent="0" marL="0">
              <a:lnSpc>
                <a:spcPct val="105000"/>
              </a:lnSpc>
              <a:spcAft>
                <a:spcPts val="700"/>
              </a:spcAft>
              <a:buNone/>
            </a:pPr>
            <a:r>
              <a:rPr lang="en-US" sz="95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. </a:t>
            </a:r>
            <a:pPr indent="0" marL="0">
              <a:lnSpc>
                <a:spcPct val="105000"/>
              </a:lnSpc>
              <a:spcAft>
                <a:spcPts val="700"/>
              </a:spcAft>
              <a:buNone/>
            </a:pPr>
            <a:r>
              <a:rPr lang="en-US" sz="950" b="1" u="sng" dirty="0">
                <a:solidFill>
                  <a:srgbClr val="7B5CD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 do</a:t>
            </a:r>
            <a:pPr indent="0" marL="0">
              <a:lnSpc>
                <a:spcPct val="105000"/>
              </a:lnSpc>
              <a:spcAft>
                <a:spcPts val="700"/>
              </a:spcAft>
              <a:buNone/>
            </a:pPr>
            <a:r>
              <a:rPr lang="en-US" sz="95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what </a:t>
            </a:r>
            <a:pPr indent="0" marL="0">
              <a:lnSpc>
                <a:spcPct val="105000"/>
              </a:lnSpc>
              <a:spcAft>
                <a:spcPts val="700"/>
              </a:spcAft>
              <a:buNone/>
            </a:pPr>
            <a:r>
              <a:rPr lang="en-US" sz="950" b="1" u="sng" dirty="0">
                <a:solidFill>
                  <a:srgbClr val="7B5CD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 want</a:t>
            </a:r>
            <a:pPr indent="0" marL="0">
              <a:lnSpc>
                <a:spcPct val="105000"/>
              </a:lnSpc>
              <a:spcAft>
                <a:spcPts val="700"/>
              </a:spcAft>
              <a:buNone/>
            </a:pPr>
            <a:r>
              <a:rPr lang="en-US" sz="95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.</a:t>
            </a:r>
            <a:endParaRPr lang="en-US" sz="950" dirty="0"/>
          </a:p>
          <a:p>
            <a:pPr indent="0" marL="0">
              <a:lnSpc>
                <a:spcPct val="105000"/>
              </a:lnSpc>
              <a:spcAft>
                <a:spcPts val="700"/>
              </a:spcAft>
              <a:buNone/>
            </a:pPr>
            <a:r>
              <a:rPr lang="en-US" sz="95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5</a:t>
            </a:r>
            <a:pPr indent="0" marL="0">
              <a:lnSpc>
                <a:spcPct val="105000"/>
              </a:lnSpc>
              <a:spcAft>
                <a:spcPts val="700"/>
              </a:spcAft>
              <a:buNone/>
            </a:pPr>
            <a:r>
              <a:rPr lang="en-US" sz="950" b="1" dirty="0">
                <a:solidFill>
                  <a:srgbClr val="2EB87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(5) ________ </a:t>
            </a:r>
            <a:pPr indent="0" marL="0">
              <a:lnSpc>
                <a:spcPct val="105000"/>
              </a:lnSpc>
              <a:spcAft>
                <a:spcPts val="700"/>
              </a:spcAft>
              <a:buNone/>
            </a:pPr>
            <a:r>
              <a:rPr lang="en-US" sz="95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. </a:t>
            </a:r>
            <a:pPr indent="0" marL="0">
              <a:lnSpc>
                <a:spcPct val="105000"/>
              </a:lnSpc>
              <a:spcAft>
                <a:spcPts val="700"/>
              </a:spcAft>
              <a:buNone/>
            </a:pPr>
            <a:r>
              <a:rPr lang="en-US" sz="950" b="1" u="sng" dirty="0">
                <a:solidFill>
                  <a:srgbClr val="7B5CD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 listen</a:t>
            </a:r>
            <a:pPr indent="0" marL="0">
              <a:lnSpc>
                <a:spcPct val="105000"/>
              </a:lnSpc>
              <a:spcAft>
                <a:spcPts val="700"/>
              </a:spcAft>
              <a:buNone/>
            </a:pPr>
            <a:r>
              <a:rPr lang="en-US" sz="95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to the radio in the morning and </a:t>
            </a:r>
            <a:pPr indent="0" marL="0">
              <a:lnSpc>
                <a:spcPct val="105000"/>
              </a:lnSpc>
              <a:spcAft>
                <a:spcPts val="700"/>
              </a:spcAft>
              <a:buNone/>
            </a:pPr>
            <a:r>
              <a:rPr lang="en-US" sz="950" b="1" u="sng" dirty="0">
                <a:solidFill>
                  <a:srgbClr val="7B5CD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 watch</a:t>
            </a:r>
            <a:pPr indent="0" marL="0">
              <a:lnSpc>
                <a:spcPct val="105000"/>
              </a:lnSpc>
              <a:spcAft>
                <a:spcPts val="700"/>
              </a:spcAft>
              <a:buNone/>
            </a:pPr>
            <a:r>
              <a:rPr lang="en-US" sz="95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TV in the evening. A lot </a:t>
            </a:r>
            <a:pPr indent="0" marL="0">
              <a:lnSpc>
                <a:spcPct val="105000"/>
              </a:lnSpc>
              <a:spcAft>
                <a:spcPts val="700"/>
              </a:spcAft>
              <a:buNone/>
            </a:pPr>
            <a:r>
              <a:rPr lang="en-US" sz="950" b="1" u="sng" dirty="0">
                <a:solidFill>
                  <a:srgbClr val="7B5CD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of programmes</a:t>
            </a:r>
            <a:pPr indent="0" marL="0">
              <a:lnSpc>
                <a:spcPct val="105000"/>
              </a:lnSpc>
              <a:spcAft>
                <a:spcPts val="700"/>
              </a:spcAft>
              <a:buNone/>
            </a:pPr>
            <a:r>
              <a:rPr lang="en-US" sz="95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are interesting, funny, or educational. Sometimes all three.</a:t>
            </a:r>
            <a:endParaRPr lang="en-US" sz="950" dirty="0"/>
          </a:p>
          <a:p>
            <a:pPr indent="0" marL="0">
              <a:lnSpc>
                <a:spcPct val="105000"/>
              </a:lnSpc>
              <a:spcAft>
                <a:spcPts val="700"/>
              </a:spcAft>
              <a:buNone/>
            </a:pPr>
            <a:r>
              <a:rPr lang="en-US" sz="95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6</a:t>
            </a:r>
            <a:pPr indent="0" marL="0">
              <a:lnSpc>
                <a:spcPct val="105000"/>
              </a:lnSpc>
              <a:spcAft>
                <a:spcPts val="700"/>
              </a:spcAft>
              <a:buNone/>
            </a:pPr>
            <a:r>
              <a:rPr lang="en-US" sz="950" b="1" dirty="0">
                <a:solidFill>
                  <a:srgbClr val="2EB87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(6) ________ </a:t>
            </a:r>
            <a:pPr indent="0" marL="0">
              <a:lnSpc>
                <a:spcPct val="105000"/>
              </a:lnSpc>
              <a:spcAft>
                <a:spcPts val="700"/>
              </a:spcAft>
              <a:buNone/>
            </a:pPr>
            <a:r>
              <a:rPr lang="en-US" sz="95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. </a:t>
            </a:r>
            <a:pPr indent="0" marL="0">
              <a:lnSpc>
                <a:spcPct val="105000"/>
              </a:lnSpc>
              <a:spcAft>
                <a:spcPts val="700"/>
              </a:spcAft>
              <a:buNone/>
            </a:pPr>
            <a:r>
              <a:rPr lang="en-US" sz="950" b="1" u="sng" dirty="0">
                <a:solidFill>
                  <a:srgbClr val="7B5CD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We drink</a:t>
            </a:r>
            <a:pPr indent="0" marL="0">
              <a:lnSpc>
                <a:spcPct val="105000"/>
              </a:lnSpc>
              <a:spcAft>
                <a:spcPts val="700"/>
              </a:spcAft>
              <a:buNone/>
            </a:pPr>
            <a:r>
              <a:rPr lang="en-US" sz="95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there, and </a:t>
            </a:r>
            <a:pPr indent="0" marL="0">
              <a:lnSpc>
                <a:spcPct val="105000"/>
              </a:lnSpc>
              <a:spcAft>
                <a:spcPts val="700"/>
              </a:spcAft>
              <a:buNone/>
            </a:pPr>
            <a:r>
              <a:rPr lang="en-US" sz="950" b="1" u="sng" dirty="0">
                <a:solidFill>
                  <a:srgbClr val="7B5CD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we eat</a:t>
            </a:r>
            <a:pPr indent="0" marL="0">
              <a:lnSpc>
                <a:spcPct val="105000"/>
              </a:lnSpc>
              <a:spcAft>
                <a:spcPts val="700"/>
              </a:spcAft>
              <a:buNone/>
            </a:pPr>
            <a:r>
              <a:rPr lang="en-US" sz="95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there, too – the food </a:t>
            </a:r>
            <a:pPr indent="0" marL="0">
              <a:lnSpc>
                <a:spcPct val="105000"/>
              </a:lnSpc>
              <a:spcAft>
                <a:spcPts val="700"/>
              </a:spcAft>
              <a:buNone/>
            </a:pPr>
            <a:r>
              <a:rPr lang="en-US" sz="950" b="1" u="sng" dirty="0">
                <a:solidFill>
                  <a:srgbClr val="7B5CD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now is</a:t>
            </a:r>
            <a:pPr indent="0" marL="0">
              <a:lnSpc>
                <a:spcPct val="105000"/>
              </a:lnSpc>
              <a:spcAft>
                <a:spcPts val="700"/>
              </a:spcAft>
              <a:buNone/>
            </a:pPr>
            <a:r>
              <a:rPr lang="en-US" sz="95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very good.</a:t>
            </a:r>
            <a:endParaRPr lang="en-US" sz="950" dirty="0"/>
          </a:p>
          <a:p>
            <a:pPr indent="0" marL="0">
              <a:lnSpc>
                <a:spcPct val="105000"/>
              </a:lnSpc>
              <a:spcAft>
                <a:spcPts val="700"/>
              </a:spcAft>
              <a:buNone/>
            </a:pPr>
            <a:r>
              <a:rPr lang="en-US" sz="95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7</a:t>
            </a:r>
            <a:pPr indent="0" marL="0">
              <a:lnSpc>
                <a:spcPct val="105000"/>
              </a:lnSpc>
              <a:spcAft>
                <a:spcPts val="700"/>
              </a:spcAft>
              <a:buNone/>
            </a:pPr>
            <a:r>
              <a:rPr lang="en-US" sz="950" b="1" dirty="0">
                <a:solidFill>
                  <a:srgbClr val="2EB87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(7) ________ </a:t>
            </a:r>
            <a:pPr indent="0" marL="0">
              <a:lnSpc>
                <a:spcPct val="105000"/>
              </a:lnSpc>
              <a:spcAft>
                <a:spcPts val="700"/>
              </a:spcAft>
              <a:buNone/>
            </a:pPr>
            <a:r>
              <a:rPr lang="en-US" sz="95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. It's cold, but not very cold. It's hot, but not very hot. It rains, but </a:t>
            </a:r>
            <a:pPr indent="0" marL="0">
              <a:lnSpc>
                <a:spcPct val="105000"/>
              </a:lnSpc>
              <a:spcAft>
                <a:spcPts val="700"/>
              </a:spcAft>
              <a:buNone/>
            </a:pPr>
            <a:r>
              <a:rPr lang="en-US" sz="950" b="1" u="sng" dirty="0">
                <a:solidFill>
                  <a:srgbClr val="7B5CD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it doesn't rain</a:t>
            </a:r>
            <a:pPr indent="0" marL="0">
              <a:lnSpc>
                <a:spcPct val="105000"/>
              </a:lnSpc>
              <a:spcAft>
                <a:spcPts val="700"/>
              </a:spcAft>
              <a:buNone/>
            </a:pPr>
            <a:r>
              <a:rPr lang="en-US" sz="95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every day.</a:t>
            </a:r>
            <a:endParaRPr lang="en-US" sz="950" dirty="0"/>
          </a:p>
          <a:p>
            <a:pPr indent="0" marL="0">
              <a:lnSpc>
                <a:spcPct val="105000"/>
              </a:lnSpc>
              <a:spcAft>
                <a:spcPts val="700"/>
              </a:spcAft>
              <a:buNone/>
            </a:pPr>
            <a:r>
              <a:rPr lang="en-US" sz="95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8</a:t>
            </a:r>
            <a:pPr indent="0" marL="0">
              <a:lnSpc>
                <a:spcPct val="105000"/>
              </a:lnSpc>
              <a:spcAft>
                <a:spcPts val="700"/>
              </a:spcAft>
              <a:buNone/>
            </a:pPr>
            <a:r>
              <a:rPr lang="en-US" sz="950" b="1" dirty="0">
                <a:solidFill>
                  <a:srgbClr val="2EB87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(8) ________ </a:t>
            </a:r>
            <a:pPr indent="0" marL="0">
              <a:lnSpc>
                <a:spcPct val="105000"/>
              </a:lnSpc>
              <a:spcAft>
                <a:spcPts val="700"/>
              </a:spcAft>
              <a:buNone/>
            </a:pPr>
            <a:r>
              <a:rPr lang="en-US" sz="95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. My </a:t>
            </a:r>
            <a:pPr indent="0" marL="0">
              <a:lnSpc>
                <a:spcPct val="105000"/>
              </a:lnSpc>
              <a:spcAft>
                <a:spcPts val="700"/>
              </a:spcAft>
              <a:buNone/>
            </a:pPr>
            <a:r>
              <a:rPr lang="en-US" sz="950" b="1" u="sng" dirty="0">
                <a:solidFill>
                  <a:srgbClr val="7B5CD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boyfriend cooks</a:t>
            </a:r>
            <a:pPr indent="0" marL="0">
              <a:lnSpc>
                <a:spcPct val="105000"/>
              </a:lnSpc>
              <a:spcAft>
                <a:spcPts val="700"/>
              </a:spcAft>
              <a:buNone/>
            </a:pPr>
            <a:r>
              <a:rPr lang="en-US" sz="95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fantastic curries, and the </a:t>
            </a:r>
            <a:pPr indent="0" marL="0">
              <a:lnSpc>
                <a:spcPct val="105000"/>
              </a:lnSpc>
              <a:spcAft>
                <a:spcPts val="700"/>
              </a:spcAft>
              <a:buNone/>
            </a:pPr>
            <a:r>
              <a:rPr lang="en-US" sz="950" b="1" u="sng" dirty="0">
                <a:solidFill>
                  <a:srgbClr val="7B5CD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UK is</a:t>
            </a:r>
            <a:pPr indent="0" marL="0">
              <a:lnSpc>
                <a:spcPct val="105000"/>
              </a:lnSpc>
              <a:spcAft>
                <a:spcPts val="700"/>
              </a:spcAft>
              <a:buNone/>
            </a:pPr>
            <a:r>
              <a:rPr lang="en-US" sz="95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great for Indian restaurants!</a:t>
            </a:r>
            <a:endParaRPr lang="en-US" sz="950" dirty="0"/>
          </a:p>
        </p:txBody>
      </p:sp>
      <p:sp>
        <p:nvSpPr>
          <p:cNvPr id="17" name="R4_rdA151"/>
          <p:cNvSpPr/>
          <p:nvPr/>
        </p:nvSpPr>
        <p:spPr>
          <a:xfrm>
            <a:off x="457200" y="1527048"/>
            <a:ext cx="5486400" cy="3090672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spcAft>
                <a:spcPts val="400"/>
              </a:spcAft>
              <a:buNone/>
            </a:pPr>
            <a:r>
              <a:rPr lang="en-US" sz="1450" b="1" dirty="0">
                <a:solidFill>
                  <a:srgbClr val="1F6F4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What the British like about Britain – My name's Carola. I'm a journalist. I like…</a:t>
            </a:r>
            <a:endParaRPr lang="en-US" sz="950" dirty="0"/>
          </a:p>
          <a:p>
            <a:pPr indent="0" marL="0">
              <a:lnSpc>
                <a:spcPct val="105000"/>
              </a:lnSpc>
              <a:spcAft>
                <a:spcPts val="700"/>
              </a:spcAft>
              <a:buNone/>
            </a:pPr>
            <a:r>
              <a:rPr lang="en-US" sz="95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</a:t>
            </a:r>
            <a:pPr indent="0" marL="0">
              <a:lnSpc>
                <a:spcPct val="105000"/>
              </a:lnSpc>
              <a:spcAft>
                <a:spcPts val="700"/>
              </a:spcAft>
              <a:buNone/>
            </a:pPr>
            <a:r>
              <a:rPr lang="en-US" sz="950" b="1" dirty="0">
                <a:solidFill>
                  <a:srgbClr val="7B5CD6"/>
                </a:solidFill>
                <a:highlight>
                  <a:srgbClr val="EEE8FB"/>
                </a:highlight>
                <a:latin typeface="Georgia" pitchFamily="34" charset="0"/>
                <a:ea typeface="Georgia" pitchFamily="34" charset="-122"/>
                <a:cs typeface="Georgia" pitchFamily="34" charset="-120"/>
              </a:rPr>
              <a:t> (1) multiculturalism </a:t>
            </a:r>
            <a:pPr indent="0" marL="0">
              <a:lnSpc>
                <a:spcPct val="105000"/>
              </a:lnSpc>
              <a:spcAft>
                <a:spcPts val="700"/>
              </a:spcAft>
              <a:buNone/>
            </a:pPr>
            <a:r>
              <a:rPr lang="en-US" sz="95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. People from all over the world live in the UK, and </a:t>
            </a:r>
            <a:pPr indent="0" marL="0">
              <a:lnSpc>
                <a:spcPct val="105000"/>
              </a:lnSpc>
              <a:spcAft>
                <a:spcPts val="700"/>
              </a:spcAft>
              <a:buNone/>
            </a:pPr>
            <a:r>
              <a:rPr lang="en-US" sz="950" b="1" u="sng" dirty="0">
                <a:solidFill>
                  <a:srgbClr val="7B5CD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they live</a:t>
            </a:r>
            <a:pPr indent="0" marL="0">
              <a:lnSpc>
                <a:spcPct val="105000"/>
              </a:lnSpc>
              <a:spcAft>
                <a:spcPts val="700"/>
              </a:spcAft>
              <a:buNone/>
            </a:pPr>
            <a:r>
              <a:rPr lang="en-US" sz="95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together happily. Usually.</a:t>
            </a:r>
            <a:endParaRPr lang="en-US" sz="950" dirty="0"/>
          </a:p>
          <a:p>
            <a:pPr indent="0" marL="0">
              <a:lnSpc>
                <a:spcPct val="105000"/>
              </a:lnSpc>
              <a:spcAft>
                <a:spcPts val="700"/>
              </a:spcAft>
              <a:buNone/>
            </a:pPr>
            <a:r>
              <a:rPr lang="en-US" sz="95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</a:t>
            </a:r>
            <a:pPr indent="0" marL="0">
              <a:lnSpc>
                <a:spcPct val="105000"/>
              </a:lnSpc>
              <a:spcAft>
                <a:spcPts val="700"/>
              </a:spcAft>
              <a:buNone/>
            </a:pPr>
            <a:r>
              <a:rPr lang="en-US" sz="950" b="1" dirty="0">
                <a:solidFill>
                  <a:srgbClr val="1B2559"/>
                </a:solidFill>
                <a:highlight>
                  <a:srgbClr val="FFE066"/>
                </a:highlight>
                <a:latin typeface="Georgia" pitchFamily="34" charset="0"/>
                <a:ea typeface="Georgia" pitchFamily="34" charset="-122"/>
                <a:cs typeface="Georgia" pitchFamily="34" charset="-120"/>
              </a:rPr>
              <a:t> (2) the language </a:t>
            </a:r>
            <a:pPr indent="0" marL="0">
              <a:lnSpc>
                <a:spcPct val="105000"/>
              </a:lnSpc>
              <a:spcAft>
                <a:spcPts val="700"/>
              </a:spcAft>
              <a:buNone/>
            </a:pPr>
            <a:r>
              <a:rPr lang="en-US" sz="95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. </a:t>
            </a:r>
            <a:pPr indent="0" marL="0">
              <a:lnSpc>
                <a:spcPct val="105000"/>
              </a:lnSpc>
              <a:spcAft>
                <a:spcPts val="700"/>
              </a:spcAft>
              <a:buNone/>
            </a:pPr>
            <a:r>
              <a:rPr lang="en-US" sz="950" b="1" u="sng" dirty="0">
                <a:solidFill>
                  <a:srgbClr val="7B5CD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English is</a:t>
            </a:r>
            <a:pPr indent="0" marL="0">
              <a:lnSpc>
                <a:spcPct val="105000"/>
              </a:lnSpc>
              <a:spcAft>
                <a:spcPts val="700"/>
              </a:spcAft>
              <a:buNone/>
            </a:pPr>
            <a:r>
              <a:rPr lang="en-US" sz="95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international. </a:t>
            </a:r>
            <a:pPr indent="0" marL="0">
              <a:lnSpc>
                <a:spcPct val="105000"/>
              </a:lnSpc>
              <a:spcAft>
                <a:spcPts val="700"/>
              </a:spcAft>
              <a:buNone/>
            </a:pPr>
            <a:r>
              <a:rPr lang="en-US" sz="950" b="1" u="sng" dirty="0">
                <a:solidFill>
                  <a:srgbClr val="7B5CD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 speak</a:t>
            </a:r>
            <a:pPr indent="0" marL="0">
              <a:lnSpc>
                <a:spcPct val="105000"/>
              </a:lnSpc>
              <a:spcAft>
                <a:spcPts val="700"/>
              </a:spcAft>
              <a:buNone/>
            </a:pPr>
            <a:r>
              <a:rPr lang="en-US" sz="95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English. </a:t>
            </a:r>
            <a:pPr indent="0" marL="0">
              <a:lnSpc>
                <a:spcPct val="105000"/>
              </a:lnSpc>
              <a:spcAft>
                <a:spcPts val="700"/>
              </a:spcAft>
              <a:buNone/>
            </a:pPr>
            <a:r>
              <a:rPr lang="en-US" sz="950" b="1" u="sng" dirty="0">
                <a:solidFill>
                  <a:srgbClr val="7B5CD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You speak</a:t>
            </a:r>
            <a:pPr indent="0" marL="0">
              <a:lnSpc>
                <a:spcPct val="105000"/>
              </a:lnSpc>
              <a:spcAft>
                <a:spcPts val="700"/>
              </a:spcAft>
              <a:buNone/>
            </a:pPr>
            <a:r>
              <a:rPr lang="en-US" sz="95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English. </a:t>
            </a:r>
            <a:pPr indent="0" marL="0">
              <a:lnSpc>
                <a:spcPct val="105000"/>
              </a:lnSpc>
              <a:spcAft>
                <a:spcPts val="700"/>
              </a:spcAft>
              <a:buNone/>
            </a:pPr>
            <a:r>
              <a:rPr lang="en-US" sz="950" b="1" u="sng" dirty="0">
                <a:solidFill>
                  <a:srgbClr val="7B5CD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 don't have</a:t>
            </a:r>
            <a:pPr indent="0" marL="0">
              <a:lnSpc>
                <a:spcPct val="105000"/>
              </a:lnSpc>
              <a:spcAft>
                <a:spcPts val="700"/>
              </a:spcAft>
              <a:buNone/>
            </a:pPr>
            <a:r>
              <a:rPr lang="en-US" sz="95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communication problems.</a:t>
            </a:r>
            <a:endParaRPr lang="en-US" sz="950" dirty="0"/>
          </a:p>
          <a:p>
            <a:pPr indent="0" marL="0">
              <a:lnSpc>
                <a:spcPct val="105000"/>
              </a:lnSpc>
              <a:spcAft>
                <a:spcPts val="700"/>
              </a:spcAft>
              <a:buNone/>
            </a:pPr>
            <a:r>
              <a:rPr lang="en-US" sz="95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</a:t>
            </a:r>
            <a:pPr indent="0" marL="0">
              <a:lnSpc>
                <a:spcPct val="105000"/>
              </a:lnSpc>
              <a:spcAft>
                <a:spcPts val="700"/>
              </a:spcAft>
              <a:buNone/>
            </a:pPr>
            <a:r>
              <a:rPr lang="en-US" sz="950" b="1" dirty="0">
                <a:solidFill>
                  <a:srgbClr val="1B2559"/>
                </a:solidFill>
                <a:highlight>
                  <a:srgbClr val="FFE066"/>
                </a:highlight>
                <a:latin typeface="Georgia" pitchFamily="34" charset="0"/>
                <a:ea typeface="Georgia" pitchFamily="34" charset="-122"/>
                <a:cs typeface="Georgia" pitchFamily="34" charset="-120"/>
              </a:rPr>
              <a:t> (3) gardens </a:t>
            </a:r>
            <a:pPr indent="0" marL="0">
              <a:lnSpc>
                <a:spcPct val="105000"/>
              </a:lnSpc>
              <a:spcAft>
                <a:spcPts val="700"/>
              </a:spcAft>
              <a:buNone/>
            </a:pPr>
            <a:r>
              <a:rPr lang="en-US" sz="95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. My garden's small, but </a:t>
            </a:r>
            <a:pPr indent="0" marL="0">
              <a:lnSpc>
                <a:spcPct val="105000"/>
              </a:lnSpc>
              <a:spcAft>
                <a:spcPts val="700"/>
              </a:spcAft>
              <a:buNone/>
            </a:pPr>
            <a:r>
              <a:rPr lang="en-US" sz="950" b="1" u="sng" dirty="0">
                <a:solidFill>
                  <a:srgbClr val="7B5CD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 have</a:t>
            </a:r>
            <a:pPr indent="0" marL="0">
              <a:lnSpc>
                <a:spcPct val="105000"/>
              </a:lnSpc>
              <a:spcAft>
                <a:spcPts val="700"/>
              </a:spcAft>
              <a:buNone/>
            </a:pPr>
            <a:r>
              <a:rPr lang="en-US" sz="95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flowers </a:t>
            </a:r>
            <a:pPr indent="0" marL="0">
              <a:lnSpc>
                <a:spcPct val="105000"/>
              </a:lnSpc>
              <a:spcAft>
                <a:spcPts val="700"/>
              </a:spcAft>
              <a:buNone/>
            </a:pPr>
            <a:r>
              <a:rPr lang="en-US" sz="950" b="1" u="sng" dirty="0">
                <a:solidFill>
                  <a:srgbClr val="7B5CD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and vegetables</a:t>
            </a:r>
            <a:pPr indent="0" marL="0">
              <a:lnSpc>
                <a:spcPct val="105000"/>
              </a:lnSpc>
              <a:spcAft>
                <a:spcPts val="700"/>
              </a:spcAft>
              <a:buNone/>
            </a:pPr>
            <a:r>
              <a:rPr lang="en-US" sz="95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in it. When the sun's out </a:t>
            </a:r>
            <a:pPr indent="0" marL="0">
              <a:lnSpc>
                <a:spcPct val="105000"/>
              </a:lnSpc>
              <a:spcAft>
                <a:spcPts val="700"/>
              </a:spcAft>
              <a:buNone/>
            </a:pPr>
            <a:r>
              <a:rPr lang="en-US" sz="950" b="1" u="sng" dirty="0">
                <a:solidFill>
                  <a:srgbClr val="7B5CD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 sit</a:t>
            </a:r>
            <a:pPr indent="0" marL="0">
              <a:lnSpc>
                <a:spcPct val="105000"/>
              </a:lnSpc>
              <a:spcAft>
                <a:spcPts val="700"/>
              </a:spcAft>
              <a:buNone/>
            </a:pPr>
            <a:r>
              <a:rPr lang="en-US" sz="95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in the garden and </a:t>
            </a:r>
            <a:pPr indent="0" marL="0">
              <a:lnSpc>
                <a:spcPct val="105000"/>
              </a:lnSpc>
              <a:spcAft>
                <a:spcPts val="700"/>
              </a:spcAft>
              <a:buNone/>
            </a:pPr>
            <a:r>
              <a:rPr lang="en-US" sz="950" b="1" u="sng" dirty="0">
                <a:solidFill>
                  <a:srgbClr val="7B5CD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 feel</a:t>
            </a:r>
            <a:pPr indent="0" marL="0">
              <a:lnSpc>
                <a:spcPct val="105000"/>
              </a:lnSpc>
              <a:spcAft>
                <a:spcPts val="700"/>
              </a:spcAft>
              <a:buNone/>
            </a:pPr>
            <a:r>
              <a:rPr lang="en-US" sz="95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really happy.</a:t>
            </a:r>
            <a:endParaRPr lang="en-US" sz="950" dirty="0"/>
          </a:p>
          <a:p>
            <a:pPr indent="0" marL="0">
              <a:lnSpc>
                <a:spcPct val="105000"/>
              </a:lnSpc>
              <a:spcAft>
                <a:spcPts val="700"/>
              </a:spcAft>
              <a:buNone/>
            </a:pPr>
            <a:r>
              <a:rPr lang="en-US" sz="95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4</a:t>
            </a:r>
            <a:pPr indent="0" marL="0">
              <a:lnSpc>
                <a:spcPct val="105000"/>
              </a:lnSpc>
              <a:spcAft>
                <a:spcPts val="700"/>
              </a:spcAft>
              <a:buNone/>
            </a:pPr>
            <a:r>
              <a:rPr lang="en-US" sz="950" b="1" dirty="0">
                <a:solidFill>
                  <a:srgbClr val="1B2559"/>
                </a:solidFill>
                <a:highlight>
                  <a:srgbClr val="FFE066"/>
                </a:highlight>
                <a:latin typeface="Georgia" pitchFamily="34" charset="0"/>
                <a:ea typeface="Georgia" pitchFamily="34" charset="-122"/>
                <a:cs typeface="Georgia" pitchFamily="34" charset="-120"/>
              </a:rPr>
              <a:t> (4) the freedom </a:t>
            </a:r>
            <a:pPr indent="0" marL="0">
              <a:lnSpc>
                <a:spcPct val="105000"/>
              </a:lnSpc>
              <a:spcAft>
                <a:spcPts val="700"/>
              </a:spcAft>
              <a:buNone/>
            </a:pPr>
            <a:r>
              <a:rPr lang="en-US" sz="95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. </a:t>
            </a:r>
            <a:pPr indent="0" marL="0">
              <a:lnSpc>
                <a:spcPct val="105000"/>
              </a:lnSpc>
              <a:spcAft>
                <a:spcPts val="700"/>
              </a:spcAft>
              <a:buNone/>
            </a:pPr>
            <a:r>
              <a:rPr lang="en-US" sz="950" b="1" u="sng" dirty="0">
                <a:solidFill>
                  <a:srgbClr val="7B5CD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 wear</a:t>
            </a:r>
            <a:pPr indent="0" marL="0">
              <a:lnSpc>
                <a:spcPct val="105000"/>
              </a:lnSpc>
              <a:spcAft>
                <a:spcPts val="700"/>
              </a:spcAft>
              <a:buNone/>
            </a:pPr>
            <a:r>
              <a:rPr lang="en-US" sz="95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what </a:t>
            </a:r>
            <a:pPr indent="0" marL="0">
              <a:lnSpc>
                <a:spcPct val="105000"/>
              </a:lnSpc>
              <a:spcAft>
                <a:spcPts val="700"/>
              </a:spcAft>
              <a:buNone/>
            </a:pPr>
            <a:r>
              <a:rPr lang="en-US" sz="950" b="1" u="sng" dirty="0">
                <a:solidFill>
                  <a:srgbClr val="7B5CD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 want</a:t>
            </a:r>
            <a:pPr indent="0" marL="0">
              <a:lnSpc>
                <a:spcPct val="105000"/>
              </a:lnSpc>
              <a:spcAft>
                <a:spcPts val="700"/>
              </a:spcAft>
              <a:buNone/>
            </a:pPr>
            <a:r>
              <a:rPr lang="en-US" sz="95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. </a:t>
            </a:r>
            <a:pPr indent="0" marL="0">
              <a:lnSpc>
                <a:spcPct val="105000"/>
              </a:lnSpc>
              <a:spcAft>
                <a:spcPts val="700"/>
              </a:spcAft>
              <a:buNone/>
            </a:pPr>
            <a:r>
              <a:rPr lang="en-US" sz="950" b="1" u="sng" dirty="0">
                <a:solidFill>
                  <a:srgbClr val="7B5CD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 say</a:t>
            </a:r>
            <a:pPr indent="0" marL="0">
              <a:lnSpc>
                <a:spcPct val="105000"/>
              </a:lnSpc>
              <a:spcAft>
                <a:spcPts val="700"/>
              </a:spcAft>
              <a:buNone/>
            </a:pPr>
            <a:r>
              <a:rPr lang="en-US" sz="95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what </a:t>
            </a:r>
            <a:pPr indent="0" marL="0">
              <a:lnSpc>
                <a:spcPct val="105000"/>
              </a:lnSpc>
              <a:spcAft>
                <a:spcPts val="700"/>
              </a:spcAft>
              <a:buNone/>
            </a:pPr>
            <a:r>
              <a:rPr lang="en-US" sz="950" b="1" u="sng" dirty="0">
                <a:solidFill>
                  <a:srgbClr val="7B5CD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 want</a:t>
            </a:r>
            <a:pPr indent="0" marL="0">
              <a:lnSpc>
                <a:spcPct val="105000"/>
              </a:lnSpc>
              <a:spcAft>
                <a:spcPts val="700"/>
              </a:spcAft>
              <a:buNone/>
            </a:pPr>
            <a:r>
              <a:rPr lang="en-US" sz="95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. </a:t>
            </a:r>
            <a:pPr indent="0" marL="0">
              <a:lnSpc>
                <a:spcPct val="105000"/>
              </a:lnSpc>
              <a:spcAft>
                <a:spcPts val="700"/>
              </a:spcAft>
              <a:buNone/>
            </a:pPr>
            <a:r>
              <a:rPr lang="en-US" sz="950" b="1" u="sng" dirty="0">
                <a:solidFill>
                  <a:srgbClr val="7B5CD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 do</a:t>
            </a:r>
            <a:pPr indent="0" marL="0">
              <a:lnSpc>
                <a:spcPct val="105000"/>
              </a:lnSpc>
              <a:spcAft>
                <a:spcPts val="700"/>
              </a:spcAft>
              <a:buNone/>
            </a:pPr>
            <a:r>
              <a:rPr lang="en-US" sz="95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what </a:t>
            </a:r>
            <a:pPr indent="0" marL="0">
              <a:lnSpc>
                <a:spcPct val="105000"/>
              </a:lnSpc>
              <a:spcAft>
                <a:spcPts val="700"/>
              </a:spcAft>
              <a:buNone/>
            </a:pPr>
            <a:r>
              <a:rPr lang="en-US" sz="950" b="1" u="sng" dirty="0">
                <a:solidFill>
                  <a:srgbClr val="7B5CD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 want</a:t>
            </a:r>
            <a:pPr indent="0" marL="0">
              <a:lnSpc>
                <a:spcPct val="105000"/>
              </a:lnSpc>
              <a:spcAft>
                <a:spcPts val="700"/>
              </a:spcAft>
              <a:buNone/>
            </a:pPr>
            <a:r>
              <a:rPr lang="en-US" sz="95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.</a:t>
            </a:r>
            <a:endParaRPr lang="en-US" sz="950" dirty="0"/>
          </a:p>
          <a:p>
            <a:pPr indent="0" marL="0">
              <a:lnSpc>
                <a:spcPct val="105000"/>
              </a:lnSpc>
              <a:spcAft>
                <a:spcPts val="700"/>
              </a:spcAft>
              <a:buNone/>
            </a:pPr>
            <a:r>
              <a:rPr lang="en-US" sz="95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5</a:t>
            </a:r>
            <a:pPr indent="0" marL="0">
              <a:lnSpc>
                <a:spcPct val="105000"/>
              </a:lnSpc>
              <a:spcAft>
                <a:spcPts val="700"/>
              </a:spcAft>
              <a:buNone/>
            </a:pPr>
            <a:r>
              <a:rPr lang="en-US" sz="950" b="1" dirty="0">
                <a:solidFill>
                  <a:srgbClr val="1B2559"/>
                </a:solidFill>
                <a:highlight>
                  <a:srgbClr val="FFE066"/>
                </a:highlight>
                <a:latin typeface="Georgia" pitchFamily="34" charset="0"/>
                <a:ea typeface="Georgia" pitchFamily="34" charset="-122"/>
                <a:cs typeface="Georgia" pitchFamily="34" charset="-120"/>
              </a:rPr>
              <a:t> (5) the BBC </a:t>
            </a:r>
            <a:pPr indent="0" marL="0">
              <a:lnSpc>
                <a:spcPct val="105000"/>
              </a:lnSpc>
              <a:spcAft>
                <a:spcPts val="700"/>
              </a:spcAft>
              <a:buNone/>
            </a:pPr>
            <a:r>
              <a:rPr lang="en-US" sz="95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. </a:t>
            </a:r>
            <a:pPr indent="0" marL="0">
              <a:lnSpc>
                <a:spcPct val="105000"/>
              </a:lnSpc>
              <a:spcAft>
                <a:spcPts val="700"/>
              </a:spcAft>
              <a:buNone/>
            </a:pPr>
            <a:r>
              <a:rPr lang="en-US" sz="950" b="1" u="sng" dirty="0">
                <a:solidFill>
                  <a:srgbClr val="7B5CD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 listen</a:t>
            </a:r>
            <a:pPr indent="0" marL="0">
              <a:lnSpc>
                <a:spcPct val="105000"/>
              </a:lnSpc>
              <a:spcAft>
                <a:spcPts val="700"/>
              </a:spcAft>
              <a:buNone/>
            </a:pPr>
            <a:r>
              <a:rPr lang="en-US" sz="95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to the radio in the morning and </a:t>
            </a:r>
            <a:pPr indent="0" marL="0">
              <a:lnSpc>
                <a:spcPct val="105000"/>
              </a:lnSpc>
              <a:spcAft>
                <a:spcPts val="700"/>
              </a:spcAft>
              <a:buNone/>
            </a:pPr>
            <a:r>
              <a:rPr lang="en-US" sz="950" b="1" u="sng" dirty="0">
                <a:solidFill>
                  <a:srgbClr val="7B5CD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 watch</a:t>
            </a:r>
            <a:pPr indent="0" marL="0">
              <a:lnSpc>
                <a:spcPct val="105000"/>
              </a:lnSpc>
              <a:spcAft>
                <a:spcPts val="700"/>
              </a:spcAft>
              <a:buNone/>
            </a:pPr>
            <a:r>
              <a:rPr lang="en-US" sz="95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TV in the evening. A lot </a:t>
            </a:r>
            <a:pPr indent="0" marL="0">
              <a:lnSpc>
                <a:spcPct val="105000"/>
              </a:lnSpc>
              <a:spcAft>
                <a:spcPts val="700"/>
              </a:spcAft>
              <a:buNone/>
            </a:pPr>
            <a:r>
              <a:rPr lang="en-US" sz="950" b="1" u="sng" dirty="0">
                <a:solidFill>
                  <a:srgbClr val="7B5CD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of programmes</a:t>
            </a:r>
            <a:pPr indent="0" marL="0">
              <a:lnSpc>
                <a:spcPct val="105000"/>
              </a:lnSpc>
              <a:spcAft>
                <a:spcPts val="700"/>
              </a:spcAft>
              <a:buNone/>
            </a:pPr>
            <a:r>
              <a:rPr lang="en-US" sz="95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are interesting, funny, or educational. Sometimes all three.</a:t>
            </a:r>
            <a:endParaRPr lang="en-US" sz="950" dirty="0"/>
          </a:p>
          <a:p>
            <a:pPr indent="0" marL="0">
              <a:lnSpc>
                <a:spcPct val="105000"/>
              </a:lnSpc>
              <a:spcAft>
                <a:spcPts val="700"/>
              </a:spcAft>
              <a:buNone/>
            </a:pPr>
            <a:r>
              <a:rPr lang="en-US" sz="95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6</a:t>
            </a:r>
            <a:pPr indent="0" marL="0">
              <a:lnSpc>
                <a:spcPct val="105000"/>
              </a:lnSpc>
              <a:spcAft>
                <a:spcPts val="700"/>
              </a:spcAft>
              <a:buNone/>
            </a:pPr>
            <a:r>
              <a:rPr lang="en-US" sz="950" b="1" dirty="0">
                <a:solidFill>
                  <a:srgbClr val="2EB87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(6) ________ </a:t>
            </a:r>
            <a:pPr indent="0" marL="0">
              <a:lnSpc>
                <a:spcPct val="105000"/>
              </a:lnSpc>
              <a:spcAft>
                <a:spcPts val="700"/>
              </a:spcAft>
              <a:buNone/>
            </a:pPr>
            <a:r>
              <a:rPr lang="en-US" sz="95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. </a:t>
            </a:r>
            <a:pPr indent="0" marL="0">
              <a:lnSpc>
                <a:spcPct val="105000"/>
              </a:lnSpc>
              <a:spcAft>
                <a:spcPts val="700"/>
              </a:spcAft>
              <a:buNone/>
            </a:pPr>
            <a:r>
              <a:rPr lang="en-US" sz="950" b="1" u="sng" dirty="0">
                <a:solidFill>
                  <a:srgbClr val="7B5CD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We drink</a:t>
            </a:r>
            <a:pPr indent="0" marL="0">
              <a:lnSpc>
                <a:spcPct val="105000"/>
              </a:lnSpc>
              <a:spcAft>
                <a:spcPts val="700"/>
              </a:spcAft>
              <a:buNone/>
            </a:pPr>
            <a:r>
              <a:rPr lang="en-US" sz="95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there, and </a:t>
            </a:r>
            <a:pPr indent="0" marL="0">
              <a:lnSpc>
                <a:spcPct val="105000"/>
              </a:lnSpc>
              <a:spcAft>
                <a:spcPts val="700"/>
              </a:spcAft>
              <a:buNone/>
            </a:pPr>
            <a:r>
              <a:rPr lang="en-US" sz="950" b="1" u="sng" dirty="0">
                <a:solidFill>
                  <a:srgbClr val="7B5CD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we eat</a:t>
            </a:r>
            <a:pPr indent="0" marL="0">
              <a:lnSpc>
                <a:spcPct val="105000"/>
              </a:lnSpc>
              <a:spcAft>
                <a:spcPts val="700"/>
              </a:spcAft>
              <a:buNone/>
            </a:pPr>
            <a:r>
              <a:rPr lang="en-US" sz="95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there, too – the food </a:t>
            </a:r>
            <a:pPr indent="0" marL="0">
              <a:lnSpc>
                <a:spcPct val="105000"/>
              </a:lnSpc>
              <a:spcAft>
                <a:spcPts val="700"/>
              </a:spcAft>
              <a:buNone/>
            </a:pPr>
            <a:r>
              <a:rPr lang="en-US" sz="950" b="1" u="sng" dirty="0">
                <a:solidFill>
                  <a:srgbClr val="7B5CD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now is</a:t>
            </a:r>
            <a:pPr indent="0" marL="0">
              <a:lnSpc>
                <a:spcPct val="105000"/>
              </a:lnSpc>
              <a:spcAft>
                <a:spcPts val="700"/>
              </a:spcAft>
              <a:buNone/>
            </a:pPr>
            <a:r>
              <a:rPr lang="en-US" sz="95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very good.</a:t>
            </a:r>
            <a:endParaRPr lang="en-US" sz="950" dirty="0"/>
          </a:p>
          <a:p>
            <a:pPr indent="0" marL="0">
              <a:lnSpc>
                <a:spcPct val="105000"/>
              </a:lnSpc>
              <a:spcAft>
                <a:spcPts val="700"/>
              </a:spcAft>
              <a:buNone/>
            </a:pPr>
            <a:r>
              <a:rPr lang="en-US" sz="95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7</a:t>
            </a:r>
            <a:pPr indent="0" marL="0">
              <a:lnSpc>
                <a:spcPct val="105000"/>
              </a:lnSpc>
              <a:spcAft>
                <a:spcPts val="700"/>
              </a:spcAft>
              <a:buNone/>
            </a:pPr>
            <a:r>
              <a:rPr lang="en-US" sz="950" b="1" dirty="0">
                <a:solidFill>
                  <a:srgbClr val="2EB87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(7) ________ </a:t>
            </a:r>
            <a:pPr indent="0" marL="0">
              <a:lnSpc>
                <a:spcPct val="105000"/>
              </a:lnSpc>
              <a:spcAft>
                <a:spcPts val="700"/>
              </a:spcAft>
              <a:buNone/>
            </a:pPr>
            <a:r>
              <a:rPr lang="en-US" sz="95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. It's cold, but not very cold. It's hot, but not very hot. It rains, but </a:t>
            </a:r>
            <a:pPr indent="0" marL="0">
              <a:lnSpc>
                <a:spcPct val="105000"/>
              </a:lnSpc>
              <a:spcAft>
                <a:spcPts val="700"/>
              </a:spcAft>
              <a:buNone/>
            </a:pPr>
            <a:r>
              <a:rPr lang="en-US" sz="950" b="1" u="sng" dirty="0">
                <a:solidFill>
                  <a:srgbClr val="7B5CD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it doesn't rain</a:t>
            </a:r>
            <a:pPr indent="0" marL="0">
              <a:lnSpc>
                <a:spcPct val="105000"/>
              </a:lnSpc>
              <a:spcAft>
                <a:spcPts val="700"/>
              </a:spcAft>
              <a:buNone/>
            </a:pPr>
            <a:r>
              <a:rPr lang="en-US" sz="95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every day.</a:t>
            </a:r>
            <a:endParaRPr lang="en-US" sz="950" dirty="0"/>
          </a:p>
          <a:p>
            <a:pPr indent="0" marL="0">
              <a:lnSpc>
                <a:spcPct val="105000"/>
              </a:lnSpc>
              <a:spcAft>
                <a:spcPts val="700"/>
              </a:spcAft>
              <a:buNone/>
            </a:pPr>
            <a:r>
              <a:rPr lang="en-US" sz="95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8</a:t>
            </a:r>
            <a:pPr indent="0" marL="0">
              <a:lnSpc>
                <a:spcPct val="105000"/>
              </a:lnSpc>
              <a:spcAft>
                <a:spcPts val="700"/>
              </a:spcAft>
              <a:buNone/>
            </a:pPr>
            <a:r>
              <a:rPr lang="en-US" sz="950" b="1" dirty="0">
                <a:solidFill>
                  <a:srgbClr val="2EB87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(8) ________ </a:t>
            </a:r>
            <a:pPr indent="0" marL="0">
              <a:lnSpc>
                <a:spcPct val="105000"/>
              </a:lnSpc>
              <a:spcAft>
                <a:spcPts val="700"/>
              </a:spcAft>
              <a:buNone/>
            </a:pPr>
            <a:r>
              <a:rPr lang="en-US" sz="95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. My </a:t>
            </a:r>
            <a:pPr indent="0" marL="0">
              <a:lnSpc>
                <a:spcPct val="105000"/>
              </a:lnSpc>
              <a:spcAft>
                <a:spcPts val="700"/>
              </a:spcAft>
              <a:buNone/>
            </a:pPr>
            <a:r>
              <a:rPr lang="en-US" sz="950" b="1" u="sng" dirty="0">
                <a:solidFill>
                  <a:srgbClr val="7B5CD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boyfriend cooks</a:t>
            </a:r>
            <a:pPr indent="0" marL="0">
              <a:lnSpc>
                <a:spcPct val="105000"/>
              </a:lnSpc>
              <a:spcAft>
                <a:spcPts val="700"/>
              </a:spcAft>
              <a:buNone/>
            </a:pPr>
            <a:r>
              <a:rPr lang="en-US" sz="95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fantastic curries, and the </a:t>
            </a:r>
            <a:pPr indent="0" marL="0">
              <a:lnSpc>
                <a:spcPct val="105000"/>
              </a:lnSpc>
              <a:spcAft>
                <a:spcPts val="700"/>
              </a:spcAft>
              <a:buNone/>
            </a:pPr>
            <a:r>
              <a:rPr lang="en-US" sz="950" b="1" u="sng" dirty="0">
                <a:solidFill>
                  <a:srgbClr val="7B5CD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UK is</a:t>
            </a:r>
            <a:pPr indent="0" marL="0">
              <a:lnSpc>
                <a:spcPct val="105000"/>
              </a:lnSpc>
              <a:spcAft>
                <a:spcPts val="700"/>
              </a:spcAft>
              <a:buNone/>
            </a:pPr>
            <a:r>
              <a:rPr lang="en-US" sz="95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great for Indian restaurants!</a:t>
            </a:r>
            <a:endParaRPr lang="en-US" sz="950" dirty="0"/>
          </a:p>
        </p:txBody>
      </p:sp>
      <p:sp>
        <p:nvSpPr>
          <p:cNvPr id="18" name="R5_rdA152"/>
          <p:cNvSpPr/>
          <p:nvPr/>
        </p:nvSpPr>
        <p:spPr>
          <a:xfrm>
            <a:off x="457200" y="1527048"/>
            <a:ext cx="5486400" cy="3090672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spcAft>
                <a:spcPts val="400"/>
              </a:spcAft>
              <a:buNone/>
            </a:pPr>
            <a:r>
              <a:rPr lang="en-US" sz="1450" b="1" dirty="0">
                <a:solidFill>
                  <a:srgbClr val="1F6F4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What the British like about Britain – My name's Carola. I'm a journalist. I like…</a:t>
            </a:r>
            <a:endParaRPr lang="en-US" sz="950" dirty="0"/>
          </a:p>
          <a:p>
            <a:pPr indent="0" marL="0">
              <a:lnSpc>
                <a:spcPct val="105000"/>
              </a:lnSpc>
              <a:spcAft>
                <a:spcPts val="700"/>
              </a:spcAft>
              <a:buNone/>
            </a:pPr>
            <a:r>
              <a:rPr lang="en-US" sz="95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</a:t>
            </a:r>
            <a:pPr indent="0" marL="0">
              <a:lnSpc>
                <a:spcPct val="105000"/>
              </a:lnSpc>
              <a:spcAft>
                <a:spcPts val="700"/>
              </a:spcAft>
              <a:buNone/>
            </a:pPr>
            <a:r>
              <a:rPr lang="en-US" sz="950" b="1" dirty="0">
                <a:solidFill>
                  <a:srgbClr val="7B5CD6"/>
                </a:solidFill>
                <a:highlight>
                  <a:srgbClr val="EEE8FB"/>
                </a:highlight>
                <a:latin typeface="Georgia" pitchFamily="34" charset="0"/>
                <a:ea typeface="Georgia" pitchFamily="34" charset="-122"/>
                <a:cs typeface="Georgia" pitchFamily="34" charset="-120"/>
              </a:rPr>
              <a:t> (1) multiculturalism </a:t>
            </a:r>
            <a:pPr indent="0" marL="0">
              <a:lnSpc>
                <a:spcPct val="105000"/>
              </a:lnSpc>
              <a:spcAft>
                <a:spcPts val="700"/>
              </a:spcAft>
              <a:buNone/>
            </a:pPr>
            <a:r>
              <a:rPr lang="en-US" sz="95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. People from all over the world live in the UK, and </a:t>
            </a:r>
            <a:pPr indent="0" marL="0">
              <a:lnSpc>
                <a:spcPct val="105000"/>
              </a:lnSpc>
              <a:spcAft>
                <a:spcPts val="700"/>
              </a:spcAft>
              <a:buNone/>
            </a:pPr>
            <a:r>
              <a:rPr lang="en-US" sz="950" b="1" u="sng" dirty="0">
                <a:solidFill>
                  <a:srgbClr val="7B5CD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they live</a:t>
            </a:r>
            <a:pPr indent="0" marL="0">
              <a:lnSpc>
                <a:spcPct val="105000"/>
              </a:lnSpc>
              <a:spcAft>
                <a:spcPts val="700"/>
              </a:spcAft>
              <a:buNone/>
            </a:pPr>
            <a:r>
              <a:rPr lang="en-US" sz="95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together happily. Usually.</a:t>
            </a:r>
            <a:endParaRPr lang="en-US" sz="950" dirty="0"/>
          </a:p>
          <a:p>
            <a:pPr indent="0" marL="0">
              <a:lnSpc>
                <a:spcPct val="105000"/>
              </a:lnSpc>
              <a:spcAft>
                <a:spcPts val="700"/>
              </a:spcAft>
              <a:buNone/>
            </a:pPr>
            <a:r>
              <a:rPr lang="en-US" sz="95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</a:t>
            </a:r>
            <a:pPr indent="0" marL="0">
              <a:lnSpc>
                <a:spcPct val="105000"/>
              </a:lnSpc>
              <a:spcAft>
                <a:spcPts val="700"/>
              </a:spcAft>
              <a:buNone/>
            </a:pPr>
            <a:r>
              <a:rPr lang="en-US" sz="950" b="1" dirty="0">
                <a:solidFill>
                  <a:srgbClr val="1B2559"/>
                </a:solidFill>
                <a:highlight>
                  <a:srgbClr val="FFE066"/>
                </a:highlight>
                <a:latin typeface="Georgia" pitchFamily="34" charset="0"/>
                <a:ea typeface="Georgia" pitchFamily="34" charset="-122"/>
                <a:cs typeface="Georgia" pitchFamily="34" charset="-120"/>
              </a:rPr>
              <a:t> (2) the language </a:t>
            </a:r>
            <a:pPr indent="0" marL="0">
              <a:lnSpc>
                <a:spcPct val="105000"/>
              </a:lnSpc>
              <a:spcAft>
                <a:spcPts val="700"/>
              </a:spcAft>
              <a:buNone/>
            </a:pPr>
            <a:r>
              <a:rPr lang="en-US" sz="95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. </a:t>
            </a:r>
            <a:pPr indent="0" marL="0">
              <a:lnSpc>
                <a:spcPct val="105000"/>
              </a:lnSpc>
              <a:spcAft>
                <a:spcPts val="700"/>
              </a:spcAft>
              <a:buNone/>
            </a:pPr>
            <a:r>
              <a:rPr lang="en-US" sz="950" b="1" u="sng" dirty="0">
                <a:solidFill>
                  <a:srgbClr val="7B5CD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English is</a:t>
            </a:r>
            <a:pPr indent="0" marL="0">
              <a:lnSpc>
                <a:spcPct val="105000"/>
              </a:lnSpc>
              <a:spcAft>
                <a:spcPts val="700"/>
              </a:spcAft>
              <a:buNone/>
            </a:pPr>
            <a:r>
              <a:rPr lang="en-US" sz="95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international. </a:t>
            </a:r>
            <a:pPr indent="0" marL="0">
              <a:lnSpc>
                <a:spcPct val="105000"/>
              </a:lnSpc>
              <a:spcAft>
                <a:spcPts val="700"/>
              </a:spcAft>
              <a:buNone/>
            </a:pPr>
            <a:r>
              <a:rPr lang="en-US" sz="950" b="1" u="sng" dirty="0">
                <a:solidFill>
                  <a:srgbClr val="7B5CD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 speak</a:t>
            </a:r>
            <a:pPr indent="0" marL="0">
              <a:lnSpc>
                <a:spcPct val="105000"/>
              </a:lnSpc>
              <a:spcAft>
                <a:spcPts val="700"/>
              </a:spcAft>
              <a:buNone/>
            </a:pPr>
            <a:r>
              <a:rPr lang="en-US" sz="95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English. </a:t>
            </a:r>
            <a:pPr indent="0" marL="0">
              <a:lnSpc>
                <a:spcPct val="105000"/>
              </a:lnSpc>
              <a:spcAft>
                <a:spcPts val="700"/>
              </a:spcAft>
              <a:buNone/>
            </a:pPr>
            <a:r>
              <a:rPr lang="en-US" sz="950" b="1" u="sng" dirty="0">
                <a:solidFill>
                  <a:srgbClr val="7B5CD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You speak</a:t>
            </a:r>
            <a:pPr indent="0" marL="0">
              <a:lnSpc>
                <a:spcPct val="105000"/>
              </a:lnSpc>
              <a:spcAft>
                <a:spcPts val="700"/>
              </a:spcAft>
              <a:buNone/>
            </a:pPr>
            <a:r>
              <a:rPr lang="en-US" sz="95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English. </a:t>
            </a:r>
            <a:pPr indent="0" marL="0">
              <a:lnSpc>
                <a:spcPct val="105000"/>
              </a:lnSpc>
              <a:spcAft>
                <a:spcPts val="700"/>
              </a:spcAft>
              <a:buNone/>
            </a:pPr>
            <a:r>
              <a:rPr lang="en-US" sz="950" b="1" u="sng" dirty="0">
                <a:solidFill>
                  <a:srgbClr val="7B5CD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 don't have</a:t>
            </a:r>
            <a:pPr indent="0" marL="0">
              <a:lnSpc>
                <a:spcPct val="105000"/>
              </a:lnSpc>
              <a:spcAft>
                <a:spcPts val="700"/>
              </a:spcAft>
              <a:buNone/>
            </a:pPr>
            <a:r>
              <a:rPr lang="en-US" sz="95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communication problems.</a:t>
            </a:r>
            <a:endParaRPr lang="en-US" sz="950" dirty="0"/>
          </a:p>
          <a:p>
            <a:pPr indent="0" marL="0">
              <a:lnSpc>
                <a:spcPct val="105000"/>
              </a:lnSpc>
              <a:spcAft>
                <a:spcPts val="700"/>
              </a:spcAft>
              <a:buNone/>
            </a:pPr>
            <a:r>
              <a:rPr lang="en-US" sz="95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</a:t>
            </a:r>
            <a:pPr indent="0" marL="0">
              <a:lnSpc>
                <a:spcPct val="105000"/>
              </a:lnSpc>
              <a:spcAft>
                <a:spcPts val="700"/>
              </a:spcAft>
              <a:buNone/>
            </a:pPr>
            <a:r>
              <a:rPr lang="en-US" sz="950" b="1" dirty="0">
                <a:solidFill>
                  <a:srgbClr val="1B2559"/>
                </a:solidFill>
                <a:highlight>
                  <a:srgbClr val="FFE066"/>
                </a:highlight>
                <a:latin typeface="Georgia" pitchFamily="34" charset="0"/>
                <a:ea typeface="Georgia" pitchFamily="34" charset="-122"/>
                <a:cs typeface="Georgia" pitchFamily="34" charset="-120"/>
              </a:rPr>
              <a:t> (3) gardens </a:t>
            </a:r>
            <a:pPr indent="0" marL="0">
              <a:lnSpc>
                <a:spcPct val="105000"/>
              </a:lnSpc>
              <a:spcAft>
                <a:spcPts val="700"/>
              </a:spcAft>
              <a:buNone/>
            </a:pPr>
            <a:r>
              <a:rPr lang="en-US" sz="95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. My garden's small, but </a:t>
            </a:r>
            <a:pPr indent="0" marL="0">
              <a:lnSpc>
                <a:spcPct val="105000"/>
              </a:lnSpc>
              <a:spcAft>
                <a:spcPts val="700"/>
              </a:spcAft>
              <a:buNone/>
            </a:pPr>
            <a:r>
              <a:rPr lang="en-US" sz="950" b="1" u="sng" dirty="0">
                <a:solidFill>
                  <a:srgbClr val="7B5CD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 have</a:t>
            </a:r>
            <a:pPr indent="0" marL="0">
              <a:lnSpc>
                <a:spcPct val="105000"/>
              </a:lnSpc>
              <a:spcAft>
                <a:spcPts val="700"/>
              </a:spcAft>
              <a:buNone/>
            </a:pPr>
            <a:r>
              <a:rPr lang="en-US" sz="95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flowers </a:t>
            </a:r>
            <a:pPr indent="0" marL="0">
              <a:lnSpc>
                <a:spcPct val="105000"/>
              </a:lnSpc>
              <a:spcAft>
                <a:spcPts val="700"/>
              </a:spcAft>
              <a:buNone/>
            </a:pPr>
            <a:r>
              <a:rPr lang="en-US" sz="950" b="1" u="sng" dirty="0">
                <a:solidFill>
                  <a:srgbClr val="7B5CD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and vegetables</a:t>
            </a:r>
            <a:pPr indent="0" marL="0">
              <a:lnSpc>
                <a:spcPct val="105000"/>
              </a:lnSpc>
              <a:spcAft>
                <a:spcPts val="700"/>
              </a:spcAft>
              <a:buNone/>
            </a:pPr>
            <a:r>
              <a:rPr lang="en-US" sz="95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in it. When the sun's out </a:t>
            </a:r>
            <a:pPr indent="0" marL="0">
              <a:lnSpc>
                <a:spcPct val="105000"/>
              </a:lnSpc>
              <a:spcAft>
                <a:spcPts val="700"/>
              </a:spcAft>
              <a:buNone/>
            </a:pPr>
            <a:r>
              <a:rPr lang="en-US" sz="950" b="1" u="sng" dirty="0">
                <a:solidFill>
                  <a:srgbClr val="7B5CD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 sit</a:t>
            </a:r>
            <a:pPr indent="0" marL="0">
              <a:lnSpc>
                <a:spcPct val="105000"/>
              </a:lnSpc>
              <a:spcAft>
                <a:spcPts val="700"/>
              </a:spcAft>
              <a:buNone/>
            </a:pPr>
            <a:r>
              <a:rPr lang="en-US" sz="95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in the garden and </a:t>
            </a:r>
            <a:pPr indent="0" marL="0">
              <a:lnSpc>
                <a:spcPct val="105000"/>
              </a:lnSpc>
              <a:spcAft>
                <a:spcPts val="700"/>
              </a:spcAft>
              <a:buNone/>
            </a:pPr>
            <a:r>
              <a:rPr lang="en-US" sz="950" b="1" u="sng" dirty="0">
                <a:solidFill>
                  <a:srgbClr val="7B5CD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 feel</a:t>
            </a:r>
            <a:pPr indent="0" marL="0">
              <a:lnSpc>
                <a:spcPct val="105000"/>
              </a:lnSpc>
              <a:spcAft>
                <a:spcPts val="700"/>
              </a:spcAft>
              <a:buNone/>
            </a:pPr>
            <a:r>
              <a:rPr lang="en-US" sz="95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really happy.</a:t>
            </a:r>
            <a:endParaRPr lang="en-US" sz="950" dirty="0"/>
          </a:p>
          <a:p>
            <a:pPr indent="0" marL="0">
              <a:lnSpc>
                <a:spcPct val="105000"/>
              </a:lnSpc>
              <a:spcAft>
                <a:spcPts val="700"/>
              </a:spcAft>
              <a:buNone/>
            </a:pPr>
            <a:r>
              <a:rPr lang="en-US" sz="95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4</a:t>
            </a:r>
            <a:pPr indent="0" marL="0">
              <a:lnSpc>
                <a:spcPct val="105000"/>
              </a:lnSpc>
              <a:spcAft>
                <a:spcPts val="700"/>
              </a:spcAft>
              <a:buNone/>
            </a:pPr>
            <a:r>
              <a:rPr lang="en-US" sz="950" b="1" dirty="0">
                <a:solidFill>
                  <a:srgbClr val="1B2559"/>
                </a:solidFill>
                <a:highlight>
                  <a:srgbClr val="FFE066"/>
                </a:highlight>
                <a:latin typeface="Georgia" pitchFamily="34" charset="0"/>
                <a:ea typeface="Georgia" pitchFamily="34" charset="-122"/>
                <a:cs typeface="Georgia" pitchFamily="34" charset="-120"/>
              </a:rPr>
              <a:t> (4) the freedom </a:t>
            </a:r>
            <a:pPr indent="0" marL="0">
              <a:lnSpc>
                <a:spcPct val="105000"/>
              </a:lnSpc>
              <a:spcAft>
                <a:spcPts val="700"/>
              </a:spcAft>
              <a:buNone/>
            </a:pPr>
            <a:r>
              <a:rPr lang="en-US" sz="95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. </a:t>
            </a:r>
            <a:pPr indent="0" marL="0">
              <a:lnSpc>
                <a:spcPct val="105000"/>
              </a:lnSpc>
              <a:spcAft>
                <a:spcPts val="700"/>
              </a:spcAft>
              <a:buNone/>
            </a:pPr>
            <a:r>
              <a:rPr lang="en-US" sz="950" b="1" u="sng" dirty="0">
                <a:solidFill>
                  <a:srgbClr val="7B5CD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 wear</a:t>
            </a:r>
            <a:pPr indent="0" marL="0">
              <a:lnSpc>
                <a:spcPct val="105000"/>
              </a:lnSpc>
              <a:spcAft>
                <a:spcPts val="700"/>
              </a:spcAft>
              <a:buNone/>
            </a:pPr>
            <a:r>
              <a:rPr lang="en-US" sz="95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what </a:t>
            </a:r>
            <a:pPr indent="0" marL="0">
              <a:lnSpc>
                <a:spcPct val="105000"/>
              </a:lnSpc>
              <a:spcAft>
                <a:spcPts val="700"/>
              </a:spcAft>
              <a:buNone/>
            </a:pPr>
            <a:r>
              <a:rPr lang="en-US" sz="950" b="1" u="sng" dirty="0">
                <a:solidFill>
                  <a:srgbClr val="7B5CD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 want</a:t>
            </a:r>
            <a:pPr indent="0" marL="0">
              <a:lnSpc>
                <a:spcPct val="105000"/>
              </a:lnSpc>
              <a:spcAft>
                <a:spcPts val="700"/>
              </a:spcAft>
              <a:buNone/>
            </a:pPr>
            <a:r>
              <a:rPr lang="en-US" sz="95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. </a:t>
            </a:r>
            <a:pPr indent="0" marL="0">
              <a:lnSpc>
                <a:spcPct val="105000"/>
              </a:lnSpc>
              <a:spcAft>
                <a:spcPts val="700"/>
              </a:spcAft>
              <a:buNone/>
            </a:pPr>
            <a:r>
              <a:rPr lang="en-US" sz="950" b="1" u="sng" dirty="0">
                <a:solidFill>
                  <a:srgbClr val="7B5CD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 say</a:t>
            </a:r>
            <a:pPr indent="0" marL="0">
              <a:lnSpc>
                <a:spcPct val="105000"/>
              </a:lnSpc>
              <a:spcAft>
                <a:spcPts val="700"/>
              </a:spcAft>
              <a:buNone/>
            </a:pPr>
            <a:r>
              <a:rPr lang="en-US" sz="95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what </a:t>
            </a:r>
            <a:pPr indent="0" marL="0">
              <a:lnSpc>
                <a:spcPct val="105000"/>
              </a:lnSpc>
              <a:spcAft>
                <a:spcPts val="700"/>
              </a:spcAft>
              <a:buNone/>
            </a:pPr>
            <a:r>
              <a:rPr lang="en-US" sz="950" b="1" u="sng" dirty="0">
                <a:solidFill>
                  <a:srgbClr val="7B5CD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 want</a:t>
            </a:r>
            <a:pPr indent="0" marL="0">
              <a:lnSpc>
                <a:spcPct val="105000"/>
              </a:lnSpc>
              <a:spcAft>
                <a:spcPts val="700"/>
              </a:spcAft>
              <a:buNone/>
            </a:pPr>
            <a:r>
              <a:rPr lang="en-US" sz="95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. </a:t>
            </a:r>
            <a:pPr indent="0" marL="0">
              <a:lnSpc>
                <a:spcPct val="105000"/>
              </a:lnSpc>
              <a:spcAft>
                <a:spcPts val="700"/>
              </a:spcAft>
              <a:buNone/>
            </a:pPr>
            <a:r>
              <a:rPr lang="en-US" sz="950" b="1" u="sng" dirty="0">
                <a:solidFill>
                  <a:srgbClr val="7B5CD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 do</a:t>
            </a:r>
            <a:pPr indent="0" marL="0">
              <a:lnSpc>
                <a:spcPct val="105000"/>
              </a:lnSpc>
              <a:spcAft>
                <a:spcPts val="700"/>
              </a:spcAft>
              <a:buNone/>
            </a:pPr>
            <a:r>
              <a:rPr lang="en-US" sz="95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what </a:t>
            </a:r>
            <a:pPr indent="0" marL="0">
              <a:lnSpc>
                <a:spcPct val="105000"/>
              </a:lnSpc>
              <a:spcAft>
                <a:spcPts val="700"/>
              </a:spcAft>
              <a:buNone/>
            </a:pPr>
            <a:r>
              <a:rPr lang="en-US" sz="950" b="1" u="sng" dirty="0">
                <a:solidFill>
                  <a:srgbClr val="7B5CD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 want</a:t>
            </a:r>
            <a:pPr indent="0" marL="0">
              <a:lnSpc>
                <a:spcPct val="105000"/>
              </a:lnSpc>
              <a:spcAft>
                <a:spcPts val="700"/>
              </a:spcAft>
              <a:buNone/>
            </a:pPr>
            <a:r>
              <a:rPr lang="en-US" sz="95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.</a:t>
            </a:r>
            <a:endParaRPr lang="en-US" sz="950" dirty="0"/>
          </a:p>
          <a:p>
            <a:pPr indent="0" marL="0">
              <a:lnSpc>
                <a:spcPct val="105000"/>
              </a:lnSpc>
              <a:spcAft>
                <a:spcPts val="700"/>
              </a:spcAft>
              <a:buNone/>
            </a:pPr>
            <a:r>
              <a:rPr lang="en-US" sz="95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5</a:t>
            </a:r>
            <a:pPr indent="0" marL="0">
              <a:lnSpc>
                <a:spcPct val="105000"/>
              </a:lnSpc>
              <a:spcAft>
                <a:spcPts val="700"/>
              </a:spcAft>
              <a:buNone/>
            </a:pPr>
            <a:r>
              <a:rPr lang="en-US" sz="950" b="1" dirty="0">
                <a:solidFill>
                  <a:srgbClr val="1B2559"/>
                </a:solidFill>
                <a:highlight>
                  <a:srgbClr val="FFE066"/>
                </a:highlight>
                <a:latin typeface="Georgia" pitchFamily="34" charset="0"/>
                <a:ea typeface="Georgia" pitchFamily="34" charset="-122"/>
                <a:cs typeface="Georgia" pitchFamily="34" charset="-120"/>
              </a:rPr>
              <a:t> (5) the BBC </a:t>
            </a:r>
            <a:pPr indent="0" marL="0">
              <a:lnSpc>
                <a:spcPct val="105000"/>
              </a:lnSpc>
              <a:spcAft>
                <a:spcPts val="700"/>
              </a:spcAft>
              <a:buNone/>
            </a:pPr>
            <a:r>
              <a:rPr lang="en-US" sz="95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. </a:t>
            </a:r>
            <a:pPr indent="0" marL="0">
              <a:lnSpc>
                <a:spcPct val="105000"/>
              </a:lnSpc>
              <a:spcAft>
                <a:spcPts val="700"/>
              </a:spcAft>
              <a:buNone/>
            </a:pPr>
            <a:r>
              <a:rPr lang="en-US" sz="950" b="1" u="sng" dirty="0">
                <a:solidFill>
                  <a:srgbClr val="7B5CD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 listen</a:t>
            </a:r>
            <a:pPr indent="0" marL="0">
              <a:lnSpc>
                <a:spcPct val="105000"/>
              </a:lnSpc>
              <a:spcAft>
                <a:spcPts val="700"/>
              </a:spcAft>
              <a:buNone/>
            </a:pPr>
            <a:r>
              <a:rPr lang="en-US" sz="95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to the radio in the morning and </a:t>
            </a:r>
            <a:pPr indent="0" marL="0">
              <a:lnSpc>
                <a:spcPct val="105000"/>
              </a:lnSpc>
              <a:spcAft>
                <a:spcPts val="700"/>
              </a:spcAft>
              <a:buNone/>
            </a:pPr>
            <a:r>
              <a:rPr lang="en-US" sz="950" b="1" u="sng" dirty="0">
                <a:solidFill>
                  <a:srgbClr val="7B5CD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 watch</a:t>
            </a:r>
            <a:pPr indent="0" marL="0">
              <a:lnSpc>
                <a:spcPct val="105000"/>
              </a:lnSpc>
              <a:spcAft>
                <a:spcPts val="700"/>
              </a:spcAft>
              <a:buNone/>
            </a:pPr>
            <a:r>
              <a:rPr lang="en-US" sz="95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TV in the evening. A lot </a:t>
            </a:r>
            <a:pPr indent="0" marL="0">
              <a:lnSpc>
                <a:spcPct val="105000"/>
              </a:lnSpc>
              <a:spcAft>
                <a:spcPts val="700"/>
              </a:spcAft>
              <a:buNone/>
            </a:pPr>
            <a:r>
              <a:rPr lang="en-US" sz="950" b="1" u="sng" dirty="0">
                <a:solidFill>
                  <a:srgbClr val="7B5CD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of programmes</a:t>
            </a:r>
            <a:pPr indent="0" marL="0">
              <a:lnSpc>
                <a:spcPct val="105000"/>
              </a:lnSpc>
              <a:spcAft>
                <a:spcPts val="700"/>
              </a:spcAft>
              <a:buNone/>
            </a:pPr>
            <a:r>
              <a:rPr lang="en-US" sz="95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are interesting, funny, or educational. Sometimes all three.</a:t>
            </a:r>
            <a:endParaRPr lang="en-US" sz="950" dirty="0"/>
          </a:p>
          <a:p>
            <a:pPr indent="0" marL="0">
              <a:lnSpc>
                <a:spcPct val="105000"/>
              </a:lnSpc>
              <a:spcAft>
                <a:spcPts val="700"/>
              </a:spcAft>
              <a:buNone/>
            </a:pPr>
            <a:r>
              <a:rPr lang="en-US" sz="95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6</a:t>
            </a:r>
            <a:pPr indent="0" marL="0">
              <a:lnSpc>
                <a:spcPct val="105000"/>
              </a:lnSpc>
              <a:spcAft>
                <a:spcPts val="700"/>
              </a:spcAft>
              <a:buNone/>
            </a:pPr>
            <a:r>
              <a:rPr lang="en-US" sz="950" b="1" dirty="0">
                <a:solidFill>
                  <a:srgbClr val="1B2559"/>
                </a:solidFill>
                <a:highlight>
                  <a:srgbClr val="FFE066"/>
                </a:highlight>
                <a:latin typeface="Georgia" pitchFamily="34" charset="0"/>
                <a:ea typeface="Georgia" pitchFamily="34" charset="-122"/>
                <a:cs typeface="Georgia" pitchFamily="34" charset="-120"/>
              </a:rPr>
              <a:t> (6) pubs </a:t>
            </a:r>
            <a:pPr indent="0" marL="0">
              <a:lnSpc>
                <a:spcPct val="105000"/>
              </a:lnSpc>
              <a:spcAft>
                <a:spcPts val="700"/>
              </a:spcAft>
              <a:buNone/>
            </a:pPr>
            <a:r>
              <a:rPr lang="en-US" sz="95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. </a:t>
            </a:r>
            <a:pPr indent="0" marL="0">
              <a:lnSpc>
                <a:spcPct val="105000"/>
              </a:lnSpc>
              <a:spcAft>
                <a:spcPts val="700"/>
              </a:spcAft>
              <a:buNone/>
            </a:pPr>
            <a:r>
              <a:rPr lang="en-US" sz="950" b="1" u="sng" dirty="0">
                <a:solidFill>
                  <a:srgbClr val="7B5CD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We drink</a:t>
            </a:r>
            <a:pPr indent="0" marL="0">
              <a:lnSpc>
                <a:spcPct val="105000"/>
              </a:lnSpc>
              <a:spcAft>
                <a:spcPts val="700"/>
              </a:spcAft>
              <a:buNone/>
            </a:pPr>
            <a:r>
              <a:rPr lang="en-US" sz="95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there, and </a:t>
            </a:r>
            <a:pPr indent="0" marL="0">
              <a:lnSpc>
                <a:spcPct val="105000"/>
              </a:lnSpc>
              <a:spcAft>
                <a:spcPts val="700"/>
              </a:spcAft>
              <a:buNone/>
            </a:pPr>
            <a:r>
              <a:rPr lang="en-US" sz="950" b="1" u="sng" dirty="0">
                <a:solidFill>
                  <a:srgbClr val="7B5CD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we eat</a:t>
            </a:r>
            <a:pPr indent="0" marL="0">
              <a:lnSpc>
                <a:spcPct val="105000"/>
              </a:lnSpc>
              <a:spcAft>
                <a:spcPts val="700"/>
              </a:spcAft>
              <a:buNone/>
            </a:pPr>
            <a:r>
              <a:rPr lang="en-US" sz="95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there, too – the food </a:t>
            </a:r>
            <a:pPr indent="0" marL="0">
              <a:lnSpc>
                <a:spcPct val="105000"/>
              </a:lnSpc>
              <a:spcAft>
                <a:spcPts val="700"/>
              </a:spcAft>
              <a:buNone/>
            </a:pPr>
            <a:r>
              <a:rPr lang="en-US" sz="950" b="1" u="sng" dirty="0">
                <a:solidFill>
                  <a:srgbClr val="7B5CD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now is</a:t>
            </a:r>
            <a:pPr indent="0" marL="0">
              <a:lnSpc>
                <a:spcPct val="105000"/>
              </a:lnSpc>
              <a:spcAft>
                <a:spcPts val="700"/>
              </a:spcAft>
              <a:buNone/>
            </a:pPr>
            <a:r>
              <a:rPr lang="en-US" sz="95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very good.</a:t>
            </a:r>
            <a:endParaRPr lang="en-US" sz="950" dirty="0"/>
          </a:p>
          <a:p>
            <a:pPr indent="0" marL="0">
              <a:lnSpc>
                <a:spcPct val="105000"/>
              </a:lnSpc>
              <a:spcAft>
                <a:spcPts val="700"/>
              </a:spcAft>
              <a:buNone/>
            </a:pPr>
            <a:r>
              <a:rPr lang="en-US" sz="95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7</a:t>
            </a:r>
            <a:pPr indent="0" marL="0">
              <a:lnSpc>
                <a:spcPct val="105000"/>
              </a:lnSpc>
              <a:spcAft>
                <a:spcPts val="700"/>
              </a:spcAft>
              <a:buNone/>
            </a:pPr>
            <a:r>
              <a:rPr lang="en-US" sz="950" b="1" dirty="0">
                <a:solidFill>
                  <a:srgbClr val="2EB87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(7) ________ </a:t>
            </a:r>
            <a:pPr indent="0" marL="0">
              <a:lnSpc>
                <a:spcPct val="105000"/>
              </a:lnSpc>
              <a:spcAft>
                <a:spcPts val="700"/>
              </a:spcAft>
              <a:buNone/>
            </a:pPr>
            <a:r>
              <a:rPr lang="en-US" sz="95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. It's cold, but not very cold. It's hot, but not very hot. It rains, but </a:t>
            </a:r>
            <a:pPr indent="0" marL="0">
              <a:lnSpc>
                <a:spcPct val="105000"/>
              </a:lnSpc>
              <a:spcAft>
                <a:spcPts val="700"/>
              </a:spcAft>
              <a:buNone/>
            </a:pPr>
            <a:r>
              <a:rPr lang="en-US" sz="950" b="1" u="sng" dirty="0">
                <a:solidFill>
                  <a:srgbClr val="7B5CD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it doesn't rain</a:t>
            </a:r>
            <a:pPr indent="0" marL="0">
              <a:lnSpc>
                <a:spcPct val="105000"/>
              </a:lnSpc>
              <a:spcAft>
                <a:spcPts val="700"/>
              </a:spcAft>
              <a:buNone/>
            </a:pPr>
            <a:r>
              <a:rPr lang="en-US" sz="95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every day.</a:t>
            </a:r>
            <a:endParaRPr lang="en-US" sz="950" dirty="0"/>
          </a:p>
          <a:p>
            <a:pPr indent="0" marL="0">
              <a:lnSpc>
                <a:spcPct val="105000"/>
              </a:lnSpc>
              <a:spcAft>
                <a:spcPts val="700"/>
              </a:spcAft>
              <a:buNone/>
            </a:pPr>
            <a:r>
              <a:rPr lang="en-US" sz="95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8</a:t>
            </a:r>
            <a:pPr indent="0" marL="0">
              <a:lnSpc>
                <a:spcPct val="105000"/>
              </a:lnSpc>
              <a:spcAft>
                <a:spcPts val="700"/>
              </a:spcAft>
              <a:buNone/>
            </a:pPr>
            <a:r>
              <a:rPr lang="en-US" sz="950" b="1" dirty="0">
                <a:solidFill>
                  <a:srgbClr val="2EB87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(8) ________ </a:t>
            </a:r>
            <a:pPr indent="0" marL="0">
              <a:lnSpc>
                <a:spcPct val="105000"/>
              </a:lnSpc>
              <a:spcAft>
                <a:spcPts val="700"/>
              </a:spcAft>
              <a:buNone/>
            </a:pPr>
            <a:r>
              <a:rPr lang="en-US" sz="95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. My </a:t>
            </a:r>
            <a:pPr indent="0" marL="0">
              <a:lnSpc>
                <a:spcPct val="105000"/>
              </a:lnSpc>
              <a:spcAft>
                <a:spcPts val="700"/>
              </a:spcAft>
              <a:buNone/>
            </a:pPr>
            <a:r>
              <a:rPr lang="en-US" sz="950" b="1" u="sng" dirty="0">
                <a:solidFill>
                  <a:srgbClr val="7B5CD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boyfriend cooks</a:t>
            </a:r>
            <a:pPr indent="0" marL="0">
              <a:lnSpc>
                <a:spcPct val="105000"/>
              </a:lnSpc>
              <a:spcAft>
                <a:spcPts val="700"/>
              </a:spcAft>
              <a:buNone/>
            </a:pPr>
            <a:r>
              <a:rPr lang="en-US" sz="95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fantastic curries, and the </a:t>
            </a:r>
            <a:pPr indent="0" marL="0">
              <a:lnSpc>
                <a:spcPct val="105000"/>
              </a:lnSpc>
              <a:spcAft>
                <a:spcPts val="700"/>
              </a:spcAft>
              <a:buNone/>
            </a:pPr>
            <a:r>
              <a:rPr lang="en-US" sz="950" b="1" u="sng" dirty="0">
                <a:solidFill>
                  <a:srgbClr val="7B5CD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UK is</a:t>
            </a:r>
            <a:pPr indent="0" marL="0">
              <a:lnSpc>
                <a:spcPct val="105000"/>
              </a:lnSpc>
              <a:spcAft>
                <a:spcPts val="700"/>
              </a:spcAft>
              <a:buNone/>
            </a:pPr>
            <a:r>
              <a:rPr lang="en-US" sz="95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great for Indian restaurants!</a:t>
            </a:r>
            <a:endParaRPr lang="en-US" sz="950" dirty="0"/>
          </a:p>
        </p:txBody>
      </p:sp>
      <p:sp>
        <p:nvSpPr>
          <p:cNvPr id="19" name="R6_rdA153"/>
          <p:cNvSpPr/>
          <p:nvPr/>
        </p:nvSpPr>
        <p:spPr>
          <a:xfrm>
            <a:off x="457200" y="1527048"/>
            <a:ext cx="5486400" cy="3090672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spcAft>
                <a:spcPts val="400"/>
              </a:spcAft>
              <a:buNone/>
            </a:pPr>
            <a:r>
              <a:rPr lang="en-US" sz="1450" b="1" dirty="0">
                <a:solidFill>
                  <a:srgbClr val="1F6F4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What the British like about Britain – My name's Carola. I'm a journalist. I like…</a:t>
            </a:r>
            <a:endParaRPr lang="en-US" sz="950" dirty="0"/>
          </a:p>
          <a:p>
            <a:pPr indent="0" marL="0">
              <a:lnSpc>
                <a:spcPct val="105000"/>
              </a:lnSpc>
              <a:spcAft>
                <a:spcPts val="700"/>
              </a:spcAft>
              <a:buNone/>
            </a:pPr>
            <a:r>
              <a:rPr lang="en-US" sz="95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</a:t>
            </a:r>
            <a:pPr indent="0" marL="0">
              <a:lnSpc>
                <a:spcPct val="105000"/>
              </a:lnSpc>
              <a:spcAft>
                <a:spcPts val="700"/>
              </a:spcAft>
              <a:buNone/>
            </a:pPr>
            <a:r>
              <a:rPr lang="en-US" sz="950" b="1" dirty="0">
                <a:solidFill>
                  <a:srgbClr val="7B5CD6"/>
                </a:solidFill>
                <a:highlight>
                  <a:srgbClr val="EEE8FB"/>
                </a:highlight>
                <a:latin typeface="Georgia" pitchFamily="34" charset="0"/>
                <a:ea typeface="Georgia" pitchFamily="34" charset="-122"/>
                <a:cs typeface="Georgia" pitchFamily="34" charset="-120"/>
              </a:rPr>
              <a:t> (1) multiculturalism </a:t>
            </a:r>
            <a:pPr indent="0" marL="0">
              <a:lnSpc>
                <a:spcPct val="105000"/>
              </a:lnSpc>
              <a:spcAft>
                <a:spcPts val="700"/>
              </a:spcAft>
              <a:buNone/>
            </a:pPr>
            <a:r>
              <a:rPr lang="en-US" sz="95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. People from all over the world live in the UK, and </a:t>
            </a:r>
            <a:pPr indent="0" marL="0">
              <a:lnSpc>
                <a:spcPct val="105000"/>
              </a:lnSpc>
              <a:spcAft>
                <a:spcPts val="700"/>
              </a:spcAft>
              <a:buNone/>
            </a:pPr>
            <a:r>
              <a:rPr lang="en-US" sz="950" b="1" u="sng" dirty="0">
                <a:solidFill>
                  <a:srgbClr val="7B5CD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they live</a:t>
            </a:r>
            <a:pPr indent="0" marL="0">
              <a:lnSpc>
                <a:spcPct val="105000"/>
              </a:lnSpc>
              <a:spcAft>
                <a:spcPts val="700"/>
              </a:spcAft>
              <a:buNone/>
            </a:pPr>
            <a:r>
              <a:rPr lang="en-US" sz="95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together happily. Usually.</a:t>
            </a:r>
            <a:endParaRPr lang="en-US" sz="950" dirty="0"/>
          </a:p>
          <a:p>
            <a:pPr indent="0" marL="0">
              <a:lnSpc>
                <a:spcPct val="105000"/>
              </a:lnSpc>
              <a:spcAft>
                <a:spcPts val="700"/>
              </a:spcAft>
              <a:buNone/>
            </a:pPr>
            <a:r>
              <a:rPr lang="en-US" sz="95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</a:t>
            </a:r>
            <a:pPr indent="0" marL="0">
              <a:lnSpc>
                <a:spcPct val="105000"/>
              </a:lnSpc>
              <a:spcAft>
                <a:spcPts val="700"/>
              </a:spcAft>
              <a:buNone/>
            </a:pPr>
            <a:r>
              <a:rPr lang="en-US" sz="950" b="1" dirty="0">
                <a:solidFill>
                  <a:srgbClr val="1B2559"/>
                </a:solidFill>
                <a:highlight>
                  <a:srgbClr val="FFE066"/>
                </a:highlight>
                <a:latin typeface="Georgia" pitchFamily="34" charset="0"/>
                <a:ea typeface="Georgia" pitchFamily="34" charset="-122"/>
                <a:cs typeface="Georgia" pitchFamily="34" charset="-120"/>
              </a:rPr>
              <a:t> (2) the language </a:t>
            </a:r>
            <a:pPr indent="0" marL="0">
              <a:lnSpc>
                <a:spcPct val="105000"/>
              </a:lnSpc>
              <a:spcAft>
                <a:spcPts val="700"/>
              </a:spcAft>
              <a:buNone/>
            </a:pPr>
            <a:r>
              <a:rPr lang="en-US" sz="95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. </a:t>
            </a:r>
            <a:pPr indent="0" marL="0">
              <a:lnSpc>
                <a:spcPct val="105000"/>
              </a:lnSpc>
              <a:spcAft>
                <a:spcPts val="700"/>
              </a:spcAft>
              <a:buNone/>
            </a:pPr>
            <a:r>
              <a:rPr lang="en-US" sz="950" b="1" u="sng" dirty="0">
                <a:solidFill>
                  <a:srgbClr val="7B5CD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English is</a:t>
            </a:r>
            <a:pPr indent="0" marL="0">
              <a:lnSpc>
                <a:spcPct val="105000"/>
              </a:lnSpc>
              <a:spcAft>
                <a:spcPts val="700"/>
              </a:spcAft>
              <a:buNone/>
            </a:pPr>
            <a:r>
              <a:rPr lang="en-US" sz="95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international. </a:t>
            </a:r>
            <a:pPr indent="0" marL="0">
              <a:lnSpc>
                <a:spcPct val="105000"/>
              </a:lnSpc>
              <a:spcAft>
                <a:spcPts val="700"/>
              </a:spcAft>
              <a:buNone/>
            </a:pPr>
            <a:r>
              <a:rPr lang="en-US" sz="950" b="1" u="sng" dirty="0">
                <a:solidFill>
                  <a:srgbClr val="7B5CD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 speak</a:t>
            </a:r>
            <a:pPr indent="0" marL="0">
              <a:lnSpc>
                <a:spcPct val="105000"/>
              </a:lnSpc>
              <a:spcAft>
                <a:spcPts val="700"/>
              </a:spcAft>
              <a:buNone/>
            </a:pPr>
            <a:r>
              <a:rPr lang="en-US" sz="95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English. </a:t>
            </a:r>
            <a:pPr indent="0" marL="0">
              <a:lnSpc>
                <a:spcPct val="105000"/>
              </a:lnSpc>
              <a:spcAft>
                <a:spcPts val="700"/>
              </a:spcAft>
              <a:buNone/>
            </a:pPr>
            <a:r>
              <a:rPr lang="en-US" sz="950" b="1" u="sng" dirty="0">
                <a:solidFill>
                  <a:srgbClr val="7B5CD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You speak</a:t>
            </a:r>
            <a:pPr indent="0" marL="0">
              <a:lnSpc>
                <a:spcPct val="105000"/>
              </a:lnSpc>
              <a:spcAft>
                <a:spcPts val="700"/>
              </a:spcAft>
              <a:buNone/>
            </a:pPr>
            <a:r>
              <a:rPr lang="en-US" sz="95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English. </a:t>
            </a:r>
            <a:pPr indent="0" marL="0">
              <a:lnSpc>
                <a:spcPct val="105000"/>
              </a:lnSpc>
              <a:spcAft>
                <a:spcPts val="700"/>
              </a:spcAft>
              <a:buNone/>
            </a:pPr>
            <a:r>
              <a:rPr lang="en-US" sz="950" b="1" u="sng" dirty="0">
                <a:solidFill>
                  <a:srgbClr val="7B5CD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 don't have</a:t>
            </a:r>
            <a:pPr indent="0" marL="0">
              <a:lnSpc>
                <a:spcPct val="105000"/>
              </a:lnSpc>
              <a:spcAft>
                <a:spcPts val="700"/>
              </a:spcAft>
              <a:buNone/>
            </a:pPr>
            <a:r>
              <a:rPr lang="en-US" sz="95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communication problems.</a:t>
            </a:r>
            <a:endParaRPr lang="en-US" sz="950" dirty="0"/>
          </a:p>
          <a:p>
            <a:pPr indent="0" marL="0">
              <a:lnSpc>
                <a:spcPct val="105000"/>
              </a:lnSpc>
              <a:spcAft>
                <a:spcPts val="700"/>
              </a:spcAft>
              <a:buNone/>
            </a:pPr>
            <a:r>
              <a:rPr lang="en-US" sz="95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</a:t>
            </a:r>
            <a:pPr indent="0" marL="0">
              <a:lnSpc>
                <a:spcPct val="105000"/>
              </a:lnSpc>
              <a:spcAft>
                <a:spcPts val="700"/>
              </a:spcAft>
              <a:buNone/>
            </a:pPr>
            <a:r>
              <a:rPr lang="en-US" sz="950" b="1" dirty="0">
                <a:solidFill>
                  <a:srgbClr val="1B2559"/>
                </a:solidFill>
                <a:highlight>
                  <a:srgbClr val="FFE066"/>
                </a:highlight>
                <a:latin typeface="Georgia" pitchFamily="34" charset="0"/>
                <a:ea typeface="Georgia" pitchFamily="34" charset="-122"/>
                <a:cs typeface="Georgia" pitchFamily="34" charset="-120"/>
              </a:rPr>
              <a:t> (3) gardens </a:t>
            </a:r>
            <a:pPr indent="0" marL="0">
              <a:lnSpc>
                <a:spcPct val="105000"/>
              </a:lnSpc>
              <a:spcAft>
                <a:spcPts val="700"/>
              </a:spcAft>
              <a:buNone/>
            </a:pPr>
            <a:r>
              <a:rPr lang="en-US" sz="95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. My garden's small, but </a:t>
            </a:r>
            <a:pPr indent="0" marL="0">
              <a:lnSpc>
                <a:spcPct val="105000"/>
              </a:lnSpc>
              <a:spcAft>
                <a:spcPts val="700"/>
              </a:spcAft>
              <a:buNone/>
            </a:pPr>
            <a:r>
              <a:rPr lang="en-US" sz="950" b="1" u="sng" dirty="0">
                <a:solidFill>
                  <a:srgbClr val="7B5CD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 have</a:t>
            </a:r>
            <a:pPr indent="0" marL="0">
              <a:lnSpc>
                <a:spcPct val="105000"/>
              </a:lnSpc>
              <a:spcAft>
                <a:spcPts val="700"/>
              </a:spcAft>
              <a:buNone/>
            </a:pPr>
            <a:r>
              <a:rPr lang="en-US" sz="95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flowers </a:t>
            </a:r>
            <a:pPr indent="0" marL="0">
              <a:lnSpc>
                <a:spcPct val="105000"/>
              </a:lnSpc>
              <a:spcAft>
                <a:spcPts val="700"/>
              </a:spcAft>
              <a:buNone/>
            </a:pPr>
            <a:r>
              <a:rPr lang="en-US" sz="950" b="1" u="sng" dirty="0">
                <a:solidFill>
                  <a:srgbClr val="7B5CD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and vegetables</a:t>
            </a:r>
            <a:pPr indent="0" marL="0">
              <a:lnSpc>
                <a:spcPct val="105000"/>
              </a:lnSpc>
              <a:spcAft>
                <a:spcPts val="700"/>
              </a:spcAft>
              <a:buNone/>
            </a:pPr>
            <a:r>
              <a:rPr lang="en-US" sz="95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in it. When the sun's out </a:t>
            </a:r>
            <a:pPr indent="0" marL="0">
              <a:lnSpc>
                <a:spcPct val="105000"/>
              </a:lnSpc>
              <a:spcAft>
                <a:spcPts val="700"/>
              </a:spcAft>
              <a:buNone/>
            </a:pPr>
            <a:r>
              <a:rPr lang="en-US" sz="950" b="1" u="sng" dirty="0">
                <a:solidFill>
                  <a:srgbClr val="7B5CD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 sit</a:t>
            </a:r>
            <a:pPr indent="0" marL="0">
              <a:lnSpc>
                <a:spcPct val="105000"/>
              </a:lnSpc>
              <a:spcAft>
                <a:spcPts val="700"/>
              </a:spcAft>
              <a:buNone/>
            </a:pPr>
            <a:r>
              <a:rPr lang="en-US" sz="95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in the garden and </a:t>
            </a:r>
            <a:pPr indent="0" marL="0">
              <a:lnSpc>
                <a:spcPct val="105000"/>
              </a:lnSpc>
              <a:spcAft>
                <a:spcPts val="700"/>
              </a:spcAft>
              <a:buNone/>
            </a:pPr>
            <a:r>
              <a:rPr lang="en-US" sz="950" b="1" u="sng" dirty="0">
                <a:solidFill>
                  <a:srgbClr val="7B5CD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 feel</a:t>
            </a:r>
            <a:pPr indent="0" marL="0">
              <a:lnSpc>
                <a:spcPct val="105000"/>
              </a:lnSpc>
              <a:spcAft>
                <a:spcPts val="700"/>
              </a:spcAft>
              <a:buNone/>
            </a:pPr>
            <a:r>
              <a:rPr lang="en-US" sz="95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really happy.</a:t>
            </a:r>
            <a:endParaRPr lang="en-US" sz="950" dirty="0"/>
          </a:p>
          <a:p>
            <a:pPr indent="0" marL="0">
              <a:lnSpc>
                <a:spcPct val="105000"/>
              </a:lnSpc>
              <a:spcAft>
                <a:spcPts val="700"/>
              </a:spcAft>
              <a:buNone/>
            </a:pPr>
            <a:r>
              <a:rPr lang="en-US" sz="95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4</a:t>
            </a:r>
            <a:pPr indent="0" marL="0">
              <a:lnSpc>
                <a:spcPct val="105000"/>
              </a:lnSpc>
              <a:spcAft>
                <a:spcPts val="700"/>
              </a:spcAft>
              <a:buNone/>
            </a:pPr>
            <a:r>
              <a:rPr lang="en-US" sz="950" b="1" dirty="0">
                <a:solidFill>
                  <a:srgbClr val="1B2559"/>
                </a:solidFill>
                <a:highlight>
                  <a:srgbClr val="FFE066"/>
                </a:highlight>
                <a:latin typeface="Georgia" pitchFamily="34" charset="0"/>
                <a:ea typeface="Georgia" pitchFamily="34" charset="-122"/>
                <a:cs typeface="Georgia" pitchFamily="34" charset="-120"/>
              </a:rPr>
              <a:t> (4) the freedom </a:t>
            </a:r>
            <a:pPr indent="0" marL="0">
              <a:lnSpc>
                <a:spcPct val="105000"/>
              </a:lnSpc>
              <a:spcAft>
                <a:spcPts val="700"/>
              </a:spcAft>
              <a:buNone/>
            </a:pPr>
            <a:r>
              <a:rPr lang="en-US" sz="95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. </a:t>
            </a:r>
            <a:pPr indent="0" marL="0">
              <a:lnSpc>
                <a:spcPct val="105000"/>
              </a:lnSpc>
              <a:spcAft>
                <a:spcPts val="700"/>
              </a:spcAft>
              <a:buNone/>
            </a:pPr>
            <a:r>
              <a:rPr lang="en-US" sz="950" b="1" u="sng" dirty="0">
                <a:solidFill>
                  <a:srgbClr val="7B5CD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 wear</a:t>
            </a:r>
            <a:pPr indent="0" marL="0">
              <a:lnSpc>
                <a:spcPct val="105000"/>
              </a:lnSpc>
              <a:spcAft>
                <a:spcPts val="700"/>
              </a:spcAft>
              <a:buNone/>
            </a:pPr>
            <a:r>
              <a:rPr lang="en-US" sz="95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what </a:t>
            </a:r>
            <a:pPr indent="0" marL="0">
              <a:lnSpc>
                <a:spcPct val="105000"/>
              </a:lnSpc>
              <a:spcAft>
                <a:spcPts val="700"/>
              </a:spcAft>
              <a:buNone/>
            </a:pPr>
            <a:r>
              <a:rPr lang="en-US" sz="950" b="1" u="sng" dirty="0">
                <a:solidFill>
                  <a:srgbClr val="7B5CD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 want</a:t>
            </a:r>
            <a:pPr indent="0" marL="0">
              <a:lnSpc>
                <a:spcPct val="105000"/>
              </a:lnSpc>
              <a:spcAft>
                <a:spcPts val="700"/>
              </a:spcAft>
              <a:buNone/>
            </a:pPr>
            <a:r>
              <a:rPr lang="en-US" sz="95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. </a:t>
            </a:r>
            <a:pPr indent="0" marL="0">
              <a:lnSpc>
                <a:spcPct val="105000"/>
              </a:lnSpc>
              <a:spcAft>
                <a:spcPts val="700"/>
              </a:spcAft>
              <a:buNone/>
            </a:pPr>
            <a:r>
              <a:rPr lang="en-US" sz="950" b="1" u="sng" dirty="0">
                <a:solidFill>
                  <a:srgbClr val="7B5CD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 say</a:t>
            </a:r>
            <a:pPr indent="0" marL="0">
              <a:lnSpc>
                <a:spcPct val="105000"/>
              </a:lnSpc>
              <a:spcAft>
                <a:spcPts val="700"/>
              </a:spcAft>
              <a:buNone/>
            </a:pPr>
            <a:r>
              <a:rPr lang="en-US" sz="95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what </a:t>
            </a:r>
            <a:pPr indent="0" marL="0">
              <a:lnSpc>
                <a:spcPct val="105000"/>
              </a:lnSpc>
              <a:spcAft>
                <a:spcPts val="700"/>
              </a:spcAft>
              <a:buNone/>
            </a:pPr>
            <a:r>
              <a:rPr lang="en-US" sz="950" b="1" u="sng" dirty="0">
                <a:solidFill>
                  <a:srgbClr val="7B5CD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 want</a:t>
            </a:r>
            <a:pPr indent="0" marL="0">
              <a:lnSpc>
                <a:spcPct val="105000"/>
              </a:lnSpc>
              <a:spcAft>
                <a:spcPts val="700"/>
              </a:spcAft>
              <a:buNone/>
            </a:pPr>
            <a:r>
              <a:rPr lang="en-US" sz="95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. </a:t>
            </a:r>
            <a:pPr indent="0" marL="0">
              <a:lnSpc>
                <a:spcPct val="105000"/>
              </a:lnSpc>
              <a:spcAft>
                <a:spcPts val="700"/>
              </a:spcAft>
              <a:buNone/>
            </a:pPr>
            <a:r>
              <a:rPr lang="en-US" sz="950" b="1" u="sng" dirty="0">
                <a:solidFill>
                  <a:srgbClr val="7B5CD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 do</a:t>
            </a:r>
            <a:pPr indent="0" marL="0">
              <a:lnSpc>
                <a:spcPct val="105000"/>
              </a:lnSpc>
              <a:spcAft>
                <a:spcPts val="700"/>
              </a:spcAft>
              <a:buNone/>
            </a:pPr>
            <a:r>
              <a:rPr lang="en-US" sz="95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what </a:t>
            </a:r>
            <a:pPr indent="0" marL="0">
              <a:lnSpc>
                <a:spcPct val="105000"/>
              </a:lnSpc>
              <a:spcAft>
                <a:spcPts val="700"/>
              </a:spcAft>
              <a:buNone/>
            </a:pPr>
            <a:r>
              <a:rPr lang="en-US" sz="950" b="1" u="sng" dirty="0">
                <a:solidFill>
                  <a:srgbClr val="7B5CD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 want</a:t>
            </a:r>
            <a:pPr indent="0" marL="0">
              <a:lnSpc>
                <a:spcPct val="105000"/>
              </a:lnSpc>
              <a:spcAft>
                <a:spcPts val="700"/>
              </a:spcAft>
              <a:buNone/>
            </a:pPr>
            <a:r>
              <a:rPr lang="en-US" sz="95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.</a:t>
            </a:r>
            <a:endParaRPr lang="en-US" sz="950" dirty="0"/>
          </a:p>
          <a:p>
            <a:pPr indent="0" marL="0">
              <a:lnSpc>
                <a:spcPct val="105000"/>
              </a:lnSpc>
              <a:spcAft>
                <a:spcPts val="700"/>
              </a:spcAft>
              <a:buNone/>
            </a:pPr>
            <a:r>
              <a:rPr lang="en-US" sz="95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5</a:t>
            </a:r>
            <a:pPr indent="0" marL="0">
              <a:lnSpc>
                <a:spcPct val="105000"/>
              </a:lnSpc>
              <a:spcAft>
                <a:spcPts val="700"/>
              </a:spcAft>
              <a:buNone/>
            </a:pPr>
            <a:r>
              <a:rPr lang="en-US" sz="950" b="1" dirty="0">
                <a:solidFill>
                  <a:srgbClr val="1B2559"/>
                </a:solidFill>
                <a:highlight>
                  <a:srgbClr val="FFE066"/>
                </a:highlight>
                <a:latin typeface="Georgia" pitchFamily="34" charset="0"/>
                <a:ea typeface="Georgia" pitchFamily="34" charset="-122"/>
                <a:cs typeface="Georgia" pitchFamily="34" charset="-120"/>
              </a:rPr>
              <a:t> (5) the BBC </a:t>
            </a:r>
            <a:pPr indent="0" marL="0">
              <a:lnSpc>
                <a:spcPct val="105000"/>
              </a:lnSpc>
              <a:spcAft>
                <a:spcPts val="700"/>
              </a:spcAft>
              <a:buNone/>
            </a:pPr>
            <a:r>
              <a:rPr lang="en-US" sz="95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. </a:t>
            </a:r>
            <a:pPr indent="0" marL="0">
              <a:lnSpc>
                <a:spcPct val="105000"/>
              </a:lnSpc>
              <a:spcAft>
                <a:spcPts val="700"/>
              </a:spcAft>
              <a:buNone/>
            </a:pPr>
            <a:r>
              <a:rPr lang="en-US" sz="950" b="1" u="sng" dirty="0">
                <a:solidFill>
                  <a:srgbClr val="7B5CD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 listen</a:t>
            </a:r>
            <a:pPr indent="0" marL="0">
              <a:lnSpc>
                <a:spcPct val="105000"/>
              </a:lnSpc>
              <a:spcAft>
                <a:spcPts val="700"/>
              </a:spcAft>
              <a:buNone/>
            </a:pPr>
            <a:r>
              <a:rPr lang="en-US" sz="95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to the radio in the morning and </a:t>
            </a:r>
            <a:pPr indent="0" marL="0">
              <a:lnSpc>
                <a:spcPct val="105000"/>
              </a:lnSpc>
              <a:spcAft>
                <a:spcPts val="700"/>
              </a:spcAft>
              <a:buNone/>
            </a:pPr>
            <a:r>
              <a:rPr lang="en-US" sz="950" b="1" u="sng" dirty="0">
                <a:solidFill>
                  <a:srgbClr val="7B5CD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 watch</a:t>
            </a:r>
            <a:pPr indent="0" marL="0">
              <a:lnSpc>
                <a:spcPct val="105000"/>
              </a:lnSpc>
              <a:spcAft>
                <a:spcPts val="700"/>
              </a:spcAft>
              <a:buNone/>
            </a:pPr>
            <a:r>
              <a:rPr lang="en-US" sz="95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TV in the evening. A lot </a:t>
            </a:r>
            <a:pPr indent="0" marL="0">
              <a:lnSpc>
                <a:spcPct val="105000"/>
              </a:lnSpc>
              <a:spcAft>
                <a:spcPts val="700"/>
              </a:spcAft>
              <a:buNone/>
            </a:pPr>
            <a:r>
              <a:rPr lang="en-US" sz="950" b="1" u="sng" dirty="0">
                <a:solidFill>
                  <a:srgbClr val="7B5CD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of programmes</a:t>
            </a:r>
            <a:pPr indent="0" marL="0">
              <a:lnSpc>
                <a:spcPct val="105000"/>
              </a:lnSpc>
              <a:spcAft>
                <a:spcPts val="700"/>
              </a:spcAft>
              <a:buNone/>
            </a:pPr>
            <a:r>
              <a:rPr lang="en-US" sz="95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are interesting, funny, or educational. Sometimes all three.</a:t>
            </a:r>
            <a:endParaRPr lang="en-US" sz="950" dirty="0"/>
          </a:p>
          <a:p>
            <a:pPr indent="0" marL="0">
              <a:lnSpc>
                <a:spcPct val="105000"/>
              </a:lnSpc>
              <a:spcAft>
                <a:spcPts val="700"/>
              </a:spcAft>
              <a:buNone/>
            </a:pPr>
            <a:r>
              <a:rPr lang="en-US" sz="95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6</a:t>
            </a:r>
            <a:pPr indent="0" marL="0">
              <a:lnSpc>
                <a:spcPct val="105000"/>
              </a:lnSpc>
              <a:spcAft>
                <a:spcPts val="700"/>
              </a:spcAft>
              <a:buNone/>
            </a:pPr>
            <a:r>
              <a:rPr lang="en-US" sz="950" b="1" dirty="0">
                <a:solidFill>
                  <a:srgbClr val="1B2559"/>
                </a:solidFill>
                <a:highlight>
                  <a:srgbClr val="FFE066"/>
                </a:highlight>
                <a:latin typeface="Georgia" pitchFamily="34" charset="0"/>
                <a:ea typeface="Georgia" pitchFamily="34" charset="-122"/>
                <a:cs typeface="Georgia" pitchFamily="34" charset="-120"/>
              </a:rPr>
              <a:t> (6) pubs </a:t>
            </a:r>
            <a:pPr indent="0" marL="0">
              <a:lnSpc>
                <a:spcPct val="105000"/>
              </a:lnSpc>
              <a:spcAft>
                <a:spcPts val="700"/>
              </a:spcAft>
              <a:buNone/>
            </a:pPr>
            <a:r>
              <a:rPr lang="en-US" sz="95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. </a:t>
            </a:r>
            <a:pPr indent="0" marL="0">
              <a:lnSpc>
                <a:spcPct val="105000"/>
              </a:lnSpc>
              <a:spcAft>
                <a:spcPts val="700"/>
              </a:spcAft>
              <a:buNone/>
            </a:pPr>
            <a:r>
              <a:rPr lang="en-US" sz="950" b="1" u="sng" dirty="0">
                <a:solidFill>
                  <a:srgbClr val="7B5CD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We drink</a:t>
            </a:r>
            <a:pPr indent="0" marL="0">
              <a:lnSpc>
                <a:spcPct val="105000"/>
              </a:lnSpc>
              <a:spcAft>
                <a:spcPts val="700"/>
              </a:spcAft>
              <a:buNone/>
            </a:pPr>
            <a:r>
              <a:rPr lang="en-US" sz="95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there, and </a:t>
            </a:r>
            <a:pPr indent="0" marL="0">
              <a:lnSpc>
                <a:spcPct val="105000"/>
              </a:lnSpc>
              <a:spcAft>
                <a:spcPts val="700"/>
              </a:spcAft>
              <a:buNone/>
            </a:pPr>
            <a:r>
              <a:rPr lang="en-US" sz="950" b="1" u="sng" dirty="0">
                <a:solidFill>
                  <a:srgbClr val="7B5CD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we eat</a:t>
            </a:r>
            <a:pPr indent="0" marL="0">
              <a:lnSpc>
                <a:spcPct val="105000"/>
              </a:lnSpc>
              <a:spcAft>
                <a:spcPts val="700"/>
              </a:spcAft>
              <a:buNone/>
            </a:pPr>
            <a:r>
              <a:rPr lang="en-US" sz="95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there, too – the food </a:t>
            </a:r>
            <a:pPr indent="0" marL="0">
              <a:lnSpc>
                <a:spcPct val="105000"/>
              </a:lnSpc>
              <a:spcAft>
                <a:spcPts val="700"/>
              </a:spcAft>
              <a:buNone/>
            </a:pPr>
            <a:r>
              <a:rPr lang="en-US" sz="950" b="1" u="sng" dirty="0">
                <a:solidFill>
                  <a:srgbClr val="7B5CD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now is</a:t>
            </a:r>
            <a:pPr indent="0" marL="0">
              <a:lnSpc>
                <a:spcPct val="105000"/>
              </a:lnSpc>
              <a:spcAft>
                <a:spcPts val="700"/>
              </a:spcAft>
              <a:buNone/>
            </a:pPr>
            <a:r>
              <a:rPr lang="en-US" sz="95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very good.</a:t>
            </a:r>
            <a:endParaRPr lang="en-US" sz="950" dirty="0"/>
          </a:p>
          <a:p>
            <a:pPr indent="0" marL="0">
              <a:lnSpc>
                <a:spcPct val="105000"/>
              </a:lnSpc>
              <a:spcAft>
                <a:spcPts val="700"/>
              </a:spcAft>
              <a:buNone/>
            </a:pPr>
            <a:r>
              <a:rPr lang="en-US" sz="95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7</a:t>
            </a:r>
            <a:pPr indent="0" marL="0">
              <a:lnSpc>
                <a:spcPct val="105000"/>
              </a:lnSpc>
              <a:spcAft>
                <a:spcPts val="700"/>
              </a:spcAft>
              <a:buNone/>
            </a:pPr>
            <a:r>
              <a:rPr lang="en-US" sz="950" b="1" dirty="0">
                <a:solidFill>
                  <a:srgbClr val="1B2559"/>
                </a:solidFill>
                <a:highlight>
                  <a:srgbClr val="FFE066"/>
                </a:highlight>
                <a:latin typeface="Georgia" pitchFamily="34" charset="0"/>
                <a:ea typeface="Georgia" pitchFamily="34" charset="-122"/>
                <a:cs typeface="Georgia" pitchFamily="34" charset="-120"/>
              </a:rPr>
              <a:t> (7) the weather </a:t>
            </a:r>
            <a:pPr indent="0" marL="0">
              <a:lnSpc>
                <a:spcPct val="105000"/>
              </a:lnSpc>
              <a:spcAft>
                <a:spcPts val="700"/>
              </a:spcAft>
              <a:buNone/>
            </a:pPr>
            <a:r>
              <a:rPr lang="en-US" sz="95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. It's cold, but not very cold. It's hot, but not very hot. It rains, but </a:t>
            </a:r>
            <a:pPr indent="0" marL="0">
              <a:lnSpc>
                <a:spcPct val="105000"/>
              </a:lnSpc>
              <a:spcAft>
                <a:spcPts val="700"/>
              </a:spcAft>
              <a:buNone/>
            </a:pPr>
            <a:r>
              <a:rPr lang="en-US" sz="950" b="1" u="sng" dirty="0">
                <a:solidFill>
                  <a:srgbClr val="7B5CD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it doesn't rain</a:t>
            </a:r>
            <a:pPr indent="0" marL="0">
              <a:lnSpc>
                <a:spcPct val="105000"/>
              </a:lnSpc>
              <a:spcAft>
                <a:spcPts val="700"/>
              </a:spcAft>
              <a:buNone/>
            </a:pPr>
            <a:r>
              <a:rPr lang="en-US" sz="95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every day.</a:t>
            </a:r>
            <a:endParaRPr lang="en-US" sz="950" dirty="0"/>
          </a:p>
          <a:p>
            <a:pPr indent="0" marL="0">
              <a:lnSpc>
                <a:spcPct val="105000"/>
              </a:lnSpc>
              <a:spcAft>
                <a:spcPts val="700"/>
              </a:spcAft>
              <a:buNone/>
            </a:pPr>
            <a:r>
              <a:rPr lang="en-US" sz="95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8</a:t>
            </a:r>
            <a:pPr indent="0" marL="0">
              <a:lnSpc>
                <a:spcPct val="105000"/>
              </a:lnSpc>
              <a:spcAft>
                <a:spcPts val="700"/>
              </a:spcAft>
              <a:buNone/>
            </a:pPr>
            <a:r>
              <a:rPr lang="en-US" sz="950" b="1" dirty="0">
                <a:solidFill>
                  <a:srgbClr val="2EB87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(8) ________ </a:t>
            </a:r>
            <a:pPr indent="0" marL="0">
              <a:lnSpc>
                <a:spcPct val="105000"/>
              </a:lnSpc>
              <a:spcAft>
                <a:spcPts val="700"/>
              </a:spcAft>
              <a:buNone/>
            </a:pPr>
            <a:r>
              <a:rPr lang="en-US" sz="95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. My </a:t>
            </a:r>
            <a:pPr indent="0" marL="0">
              <a:lnSpc>
                <a:spcPct val="105000"/>
              </a:lnSpc>
              <a:spcAft>
                <a:spcPts val="700"/>
              </a:spcAft>
              <a:buNone/>
            </a:pPr>
            <a:r>
              <a:rPr lang="en-US" sz="950" b="1" u="sng" dirty="0">
                <a:solidFill>
                  <a:srgbClr val="7B5CD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boyfriend cooks</a:t>
            </a:r>
            <a:pPr indent="0" marL="0">
              <a:lnSpc>
                <a:spcPct val="105000"/>
              </a:lnSpc>
              <a:spcAft>
                <a:spcPts val="700"/>
              </a:spcAft>
              <a:buNone/>
            </a:pPr>
            <a:r>
              <a:rPr lang="en-US" sz="95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fantastic curries, and the </a:t>
            </a:r>
            <a:pPr indent="0" marL="0">
              <a:lnSpc>
                <a:spcPct val="105000"/>
              </a:lnSpc>
              <a:spcAft>
                <a:spcPts val="700"/>
              </a:spcAft>
              <a:buNone/>
            </a:pPr>
            <a:r>
              <a:rPr lang="en-US" sz="950" b="1" u="sng" dirty="0">
                <a:solidFill>
                  <a:srgbClr val="7B5CD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UK is</a:t>
            </a:r>
            <a:pPr indent="0" marL="0">
              <a:lnSpc>
                <a:spcPct val="105000"/>
              </a:lnSpc>
              <a:spcAft>
                <a:spcPts val="700"/>
              </a:spcAft>
              <a:buNone/>
            </a:pPr>
            <a:r>
              <a:rPr lang="en-US" sz="95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great for Indian restaurants!</a:t>
            </a:r>
            <a:endParaRPr lang="en-US" sz="950" dirty="0"/>
          </a:p>
        </p:txBody>
      </p:sp>
      <p:sp>
        <p:nvSpPr>
          <p:cNvPr id="20" name="R7_rdA154"/>
          <p:cNvSpPr/>
          <p:nvPr/>
        </p:nvSpPr>
        <p:spPr>
          <a:xfrm>
            <a:off x="457200" y="1527048"/>
            <a:ext cx="5486400" cy="3090672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spcAft>
                <a:spcPts val="400"/>
              </a:spcAft>
              <a:buNone/>
            </a:pPr>
            <a:r>
              <a:rPr lang="en-US" sz="1450" b="1" dirty="0">
                <a:solidFill>
                  <a:srgbClr val="1F6F4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What the British like about Britain – My name's Carola. I'm a journalist. I like…</a:t>
            </a:r>
            <a:endParaRPr lang="en-US" sz="950" dirty="0"/>
          </a:p>
          <a:p>
            <a:pPr indent="0" marL="0">
              <a:lnSpc>
                <a:spcPct val="105000"/>
              </a:lnSpc>
              <a:spcAft>
                <a:spcPts val="700"/>
              </a:spcAft>
              <a:buNone/>
            </a:pPr>
            <a:r>
              <a:rPr lang="en-US" sz="95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</a:t>
            </a:r>
            <a:pPr indent="0" marL="0">
              <a:lnSpc>
                <a:spcPct val="105000"/>
              </a:lnSpc>
              <a:spcAft>
                <a:spcPts val="700"/>
              </a:spcAft>
              <a:buNone/>
            </a:pPr>
            <a:r>
              <a:rPr lang="en-US" sz="950" b="1" dirty="0">
                <a:solidFill>
                  <a:srgbClr val="7B5CD6"/>
                </a:solidFill>
                <a:highlight>
                  <a:srgbClr val="EEE8FB"/>
                </a:highlight>
                <a:latin typeface="Georgia" pitchFamily="34" charset="0"/>
                <a:ea typeface="Georgia" pitchFamily="34" charset="-122"/>
                <a:cs typeface="Georgia" pitchFamily="34" charset="-120"/>
              </a:rPr>
              <a:t> (1) multiculturalism </a:t>
            </a:r>
            <a:pPr indent="0" marL="0">
              <a:lnSpc>
                <a:spcPct val="105000"/>
              </a:lnSpc>
              <a:spcAft>
                <a:spcPts val="700"/>
              </a:spcAft>
              <a:buNone/>
            </a:pPr>
            <a:r>
              <a:rPr lang="en-US" sz="95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. People from all over the world live in the UK, and </a:t>
            </a:r>
            <a:pPr indent="0" marL="0">
              <a:lnSpc>
                <a:spcPct val="105000"/>
              </a:lnSpc>
              <a:spcAft>
                <a:spcPts val="700"/>
              </a:spcAft>
              <a:buNone/>
            </a:pPr>
            <a:r>
              <a:rPr lang="en-US" sz="950" b="1" u="sng" dirty="0">
                <a:solidFill>
                  <a:srgbClr val="7B5CD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they live</a:t>
            </a:r>
            <a:pPr indent="0" marL="0">
              <a:lnSpc>
                <a:spcPct val="105000"/>
              </a:lnSpc>
              <a:spcAft>
                <a:spcPts val="700"/>
              </a:spcAft>
              <a:buNone/>
            </a:pPr>
            <a:r>
              <a:rPr lang="en-US" sz="95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together happily. Usually.</a:t>
            </a:r>
            <a:endParaRPr lang="en-US" sz="950" dirty="0"/>
          </a:p>
          <a:p>
            <a:pPr indent="0" marL="0">
              <a:lnSpc>
                <a:spcPct val="105000"/>
              </a:lnSpc>
              <a:spcAft>
                <a:spcPts val="700"/>
              </a:spcAft>
              <a:buNone/>
            </a:pPr>
            <a:r>
              <a:rPr lang="en-US" sz="95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</a:t>
            </a:r>
            <a:pPr indent="0" marL="0">
              <a:lnSpc>
                <a:spcPct val="105000"/>
              </a:lnSpc>
              <a:spcAft>
                <a:spcPts val="700"/>
              </a:spcAft>
              <a:buNone/>
            </a:pPr>
            <a:r>
              <a:rPr lang="en-US" sz="950" b="1" dirty="0">
                <a:solidFill>
                  <a:srgbClr val="1B2559"/>
                </a:solidFill>
                <a:highlight>
                  <a:srgbClr val="FFE066"/>
                </a:highlight>
                <a:latin typeface="Georgia" pitchFamily="34" charset="0"/>
                <a:ea typeface="Georgia" pitchFamily="34" charset="-122"/>
                <a:cs typeface="Georgia" pitchFamily="34" charset="-120"/>
              </a:rPr>
              <a:t> (2) the language </a:t>
            </a:r>
            <a:pPr indent="0" marL="0">
              <a:lnSpc>
                <a:spcPct val="105000"/>
              </a:lnSpc>
              <a:spcAft>
                <a:spcPts val="700"/>
              </a:spcAft>
              <a:buNone/>
            </a:pPr>
            <a:r>
              <a:rPr lang="en-US" sz="95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. </a:t>
            </a:r>
            <a:pPr indent="0" marL="0">
              <a:lnSpc>
                <a:spcPct val="105000"/>
              </a:lnSpc>
              <a:spcAft>
                <a:spcPts val="700"/>
              </a:spcAft>
              <a:buNone/>
            </a:pPr>
            <a:r>
              <a:rPr lang="en-US" sz="950" b="1" u="sng" dirty="0">
                <a:solidFill>
                  <a:srgbClr val="7B5CD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English is</a:t>
            </a:r>
            <a:pPr indent="0" marL="0">
              <a:lnSpc>
                <a:spcPct val="105000"/>
              </a:lnSpc>
              <a:spcAft>
                <a:spcPts val="700"/>
              </a:spcAft>
              <a:buNone/>
            </a:pPr>
            <a:r>
              <a:rPr lang="en-US" sz="95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international. </a:t>
            </a:r>
            <a:pPr indent="0" marL="0">
              <a:lnSpc>
                <a:spcPct val="105000"/>
              </a:lnSpc>
              <a:spcAft>
                <a:spcPts val="700"/>
              </a:spcAft>
              <a:buNone/>
            </a:pPr>
            <a:r>
              <a:rPr lang="en-US" sz="950" b="1" u="sng" dirty="0">
                <a:solidFill>
                  <a:srgbClr val="7B5CD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 speak</a:t>
            </a:r>
            <a:pPr indent="0" marL="0">
              <a:lnSpc>
                <a:spcPct val="105000"/>
              </a:lnSpc>
              <a:spcAft>
                <a:spcPts val="700"/>
              </a:spcAft>
              <a:buNone/>
            </a:pPr>
            <a:r>
              <a:rPr lang="en-US" sz="95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English. </a:t>
            </a:r>
            <a:pPr indent="0" marL="0">
              <a:lnSpc>
                <a:spcPct val="105000"/>
              </a:lnSpc>
              <a:spcAft>
                <a:spcPts val="700"/>
              </a:spcAft>
              <a:buNone/>
            </a:pPr>
            <a:r>
              <a:rPr lang="en-US" sz="950" b="1" u="sng" dirty="0">
                <a:solidFill>
                  <a:srgbClr val="7B5CD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You speak</a:t>
            </a:r>
            <a:pPr indent="0" marL="0">
              <a:lnSpc>
                <a:spcPct val="105000"/>
              </a:lnSpc>
              <a:spcAft>
                <a:spcPts val="700"/>
              </a:spcAft>
              <a:buNone/>
            </a:pPr>
            <a:r>
              <a:rPr lang="en-US" sz="95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English. </a:t>
            </a:r>
            <a:pPr indent="0" marL="0">
              <a:lnSpc>
                <a:spcPct val="105000"/>
              </a:lnSpc>
              <a:spcAft>
                <a:spcPts val="700"/>
              </a:spcAft>
              <a:buNone/>
            </a:pPr>
            <a:r>
              <a:rPr lang="en-US" sz="950" b="1" u="sng" dirty="0">
                <a:solidFill>
                  <a:srgbClr val="7B5CD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 don't have</a:t>
            </a:r>
            <a:pPr indent="0" marL="0">
              <a:lnSpc>
                <a:spcPct val="105000"/>
              </a:lnSpc>
              <a:spcAft>
                <a:spcPts val="700"/>
              </a:spcAft>
              <a:buNone/>
            </a:pPr>
            <a:r>
              <a:rPr lang="en-US" sz="95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communication problems.</a:t>
            </a:r>
            <a:endParaRPr lang="en-US" sz="950" dirty="0"/>
          </a:p>
          <a:p>
            <a:pPr indent="0" marL="0">
              <a:lnSpc>
                <a:spcPct val="105000"/>
              </a:lnSpc>
              <a:spcAft>
                <a:spcPts val="700"/>
              </a:spcAft>
              <a:buNone/>
            </a:pPr>
            <a:r>
              <a:rPr lang="en-US" sz="95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</a:t>
            </a:r>
            <a:pPr indent="0" marL="0">
              <a:lnSpc>
                <a:spcPct val="105000"/>
              </a:lnSpc>
              <a:spcAft>
                <a:spcPts val="700"/>
              </a:spcAft>
              <a:buNone/>
            </a:pPr>
            <a:r>
              <a:rPr lang="en-US" sz="950" b="1" dirty="0">
                <a:solidFill>
                  <a:srgbClr val="1B2559"/>
                </a:solidFill>
                <a:highlight>
                  <a:srgbClr val="FFE066"/>
                </a:highlight>
                <a:latin typeface="Georgia" pitchFamily="34" charset="0"/>
                <a:ea typeface="Georgia" pitchFamily="34" charset="-122"/>
                <a:cs typeface="Georgia" pitchFamily="34" charset="-120"/>
              </a:rPr>
              <a:t> (3) gardens </a:t>
            </a:r>
            <a:pPr indent="0" marL="0">
              <a:lnSpc>
                <a:spcPct val="105000"/>
              </a:lnSpc>
              <a:spcAft>
                <a:spcPts val="700"/>
              </a:spcAft>
              <a:buNone/>
            </a:pPr>
            <a:r>
              <a:rPr lang="en-US" sz="95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. My garden's small, but </a:t>
            </a:r>
            <a:pPr indent="0" marL="0">
              <a:lnSpc>
                <a:spcPct val="105000"/>
              </a:lnSpc>
              <a:spcAft>
                <a:spcPts val="700"/>
              </a:spcAft>
              <a:buNone/>
            </a:pPr>
            <a:r>
              <a:rPr lang="en-US" sz="950" b="1" u="sng" dirty="0">
                <a:solidFill>
                  <a:srgbClr val="7B5CD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 have</a:t>
            </a:r>
            <a:pPr indent="0" marL="0">
              <a:lnSpc>
                <a:spcPct val="105000"/>
              </a:lnSpc>
              <a:spcAft>
                <a:spcPts val="700"/>
              </a:spcAft>
              <a:buNone/>
            </a:pPr>
            <a:r>
              <a:rPr lang="en-US" sz="95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flowers </a:t>
            </a:r>
            <a:pPr indent="0" marL="0">
              <a:lnSpc>
                <a:spcPct val="105000"/>
              </a:lnSpc>
              <a:spcAft>
                <a:spcPts val="700"/>
              </a:spcAft>
              <a:buNone/>
            </a:pPr>
            <a:r>
              <a:rPr lang="en-US" sz="950" b="1" u="sng" dirty="0">
                <a:solidFill>
                  <a:srgbClr val="7B5CD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and vegetables</a:t>
            </a:r>
            <a:pPr indent="0" marL="0">
              <a:lnSpc>
                <a:spcPct val="105000"/>
              </a:lnSpc>
              <a:spcAft>
                <a:spcPts val="700"/>
              </a:spcAft>
              <a:buNone/>
            </a:pPr>
            <a:r>
              <a:rPr lang="en-US" sz="95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in it. When the sun's out </a:t>
            </a:r>
            <a:pPr indent="0" marL="0">
              <a:lnSpc>
                <a:spcPct val="105000"/>
              </a:lnSpc>
              <a:spcAft>
                <a:spcPts val="700"/>
              </a:spcAft>
              <a:buNone/>
            </a:pPr>
            <a:r>
              <a:rPr lang="en-US" sz="950" b="1" u="sng" dirty="0">
                <a:solidFill>
                  <a:srgbClr val="7B5CD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 sit</a:t>
            </a:r>
            <a:pPr indent="0" marL="0">
              <a:lnSpc>
                <a:spcPct val="105000"/>
              </a:lnSpc>
              <a:spcAft>
                <a:spcPts val="700"/>
              </a:spcAft>
              <a:buNone/>
            </a:pPr>
            <a:r>
              <a:rPr lang="en-US" sz="95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in the garden and </a:t>
            </a:r>
            <a:pPr indent="0" marL="0">
              <a:lnSpc>
                <a:spcPct val="105000"/>
              </a:lnSpc>
              <a:spcAft>
                <a:spcPts val="700"/>
              </a:spcAft>
              <a:buNone/>
            </a:pPr>
            <a:r>
              <a:rPr lang="en-US" sz="950" b="1" u="sng" dirty="0">
                <a:solidFill>
                  <a:srgbClr val="7B5CD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 feel</a:t>
            </a:r>
            <a:pPr indent="0" marL="0">
              <a:lnSpc>
                <a:spcPct val="105000"/>
              </a:lnSpc>
              <a:spcAft>
                <a:spcPts val="700"/>
              </a:spcAft>
              <a:buNone/>
            </a:pPr>
            <a:r>
              <a:rPr lang="en-US" sz="95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really happy.</a:t>
            </a:r>
            <a:endParaRPr lang="en-US" sz="950" dirty="0"/>
          </a:p>
          <a:p>
            <a:pPr indent="0" marL="0">
              <a:lnSpc>
                <a:spcPct val="105000"/>
              </a:lnSpc>
              <a:spcAft>
                <a:spcPts val="700"/>
              </a:spcAft>
              <a:buNone/>
            </a:pPr>
            <a:r>
              <a:rPr lang="en-US" sz="95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4</a:t>
            </a:r>
            <a:pPr indent="0" marL="0">
              <a:lnSpc>
                <a:spcPct val="105000"/>
              </a:lnSpc>
              <a:spcAft>
                <a:spcPts val="700"/>
              </a:spcAft>
              <a:buNone/>
            </a:pPr>
            <a:r>
              <a:rPr lang="en-US" sz="950" b="1" dirty="0">
                <a:solidFill>
                  <a:srgbClr val="1B2559"/>
                </a:solidFill>
                <a:highlight>
                  <a:srgbClr val="FFE066"/>
                </a:highlight>
                <a:latin typeface="Georgia" pitchFamily="34" charset="0"/>
                <a:ea typeface="Georgia" pitchFamily="34" charset="-122"/>
                <a:cs typeface="Georgia" pitchFamily="34" charset="-120"/>
              </a:rPr>
              <a:t> (4) the freedom </a:t>
            </a:r>
            <a:pPr indent="0" marL="0">
              <a:lnSpc>
                <a:spcPct val="105000"/>
              </a:lnSpc>
              <a:spcAft>
                <a:spcPts val="700"/>
              </a:spcAft>
              <a:buNone/>
            </a:pPr>
            <a:r>
              <a:rPr lang="en-US" sz="95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. </a:t>
            </a:r>
            <a:pPr indent="0" marL="0">
              <a:lnSpc>
                <a:spcPct val="105000"/>
              </a:lnSpc>
              <a:spcAft>
                <a:spcPts val="700"/>
              </a:spcAft>
              <a:buNone/>
            </a:pPr>
            <a:r>
              <a:rPr lang="en-US" sz="950" b="1" u="sng" dirty="0">
                <a:solidFill>
                  <a:srgbClr val="7B5CD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 wear</a:t>
            </a:r>
            <a:pPr indent="0" marL="0">
              <a:lnSpc>
                <a:spcPct val="105000"/>
              </a:lnSpc>
              <a:spcAft>
                <a:spcPts val="700"/>
              </a:spcAft>
              <a:buNone/>
            </a:pPr>
            <a:r>
              <a:rPr lang="en-US" sz="95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what </a:t>
            </a:r>
            <a:pPr indent="0" marL="0">
              <a:lnSpc>
                <a:spcPct val="105000"/>
              </a:lnSpc>
              <a:spcAft>
                <a:spcPts val="700"/>
              </a:spcAft>
              <a:buNone/>
            </a:pPr>
            <a:r>
              <a:rPr lang="en-US" sz="950" b="1" u="sng" dirty="0">
                <a:solidFill>
                  <a:srgbClr val="7B5CD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 want</a:t>
            </a:r>
            <a:pPr indent="0" marL="0">
              <a:lnSpc>
                <a:spcPct val="105000"/>
              </a:lnSpc>
              <a:spcAft>
                <a:spcPts val="700"/>
              </a:spcAft>
              <a:buNone/>
            </a:pPr>
            <a:r>
              <a:rPr lang="en-US" sz="95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. </a:t>
            </a:r>
            <a:pPr indent="0" marL="0">
              <a:lnSpc>
                <a:spcPct val="105000"/>
              </a:lnSpc>
              <a:spcAft>
                <a:spcPts val="700"/>
              </a:spcAft>
              <a:buNone/>
            </a:pPr>
            <a:r>
              <a:rPr lang="en-US" sz="950" b="1" u="sng" dirty="0">
                <a:solidFill>
                  <a:srgbClr val="7B5CD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 say</a:t>
            </a:r>
            <a:pPr indent="0" marL="0">
              <a:lnSpc>
                <a:spcPct val="105000"/>
              </a:lnSpc>
              <a:spcAft>
                <a:spcPts val="700"/>
              </a:spcAft>
              <a:buNone/>
            </a:pPr>
            <a:r>
              <a:rPr lang="en-US" sz="95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what </a:t>
            </a:r>
            <a:pPr indent="0" marL="0">
              <a:lnSpc>
                <a:spcPct val="105000"/>
              </a:lnSpc>
              <a:spcAft>
                <a:spcPts val="700"/>
              </a:spcAft>
              <a:buNone/>
            </a:pPr>
            <a:r>
              <a:rPr lang="en-US" sz="950" b="1" u="sng" dirty="0">
                <a:solidFill>
                  <a:srgbClr val="7B5CD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 want</a:t>
            </a:r>
            <a:pPr indent="0" marL="0">
              <a:lnSpc>
                <a:spcPct val="105000"/>
              </a:lnSpc>
              <a:spcAft>
                <a:spcPts val="700"/>
              </a:spcAft>
              <a:buNone/>
            </a:pPr>
            <a:r>
              <a:rPr lang="en-US" sz="95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. </a:t>
            </a:r>
            <a:pPr indent="0" marL="0">
              <a:lnSpc>
                <a:spcPct val="105000"/>
              </a:lnSpc>
              <a:spcAft>
                <a:spcPts val="700"/>
              </a:spcAft>
              <a:buNone/>
            </a:pPr>
            <a:r>
              <a:rPr lang="en-US" sz="950" b="1" u="sng" dirty="0">
                <a:solidFill>
                  <a:srgbClr val="7B5CD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 do</a:t>
            </a:r>
            <a:pPr indent="0" marL="0">
              <a:lnSpc>
                <a:spcPct val="105000"/>
              </a:lnSpc>
              <a:spcAft>
                <a:spcPts val="700"/>
              </a:spcAft>
              <a:buNone/>
            </a:pPr>
            <a:r>
              <a:rPr lang="en-US" sz="95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what </a:t>
            </a:r>
            <a:pPr indent="0" marL="0">
              <a:lnSpc>
                <a:spcPct val="105000"/>
              </a:lnSpc>
              <a:spcAft>
                <a:spcPts val="700"/>
              </a:spcAft>
              <a:buNone/>
            </a:pPr>
            <a:r>
              <a:rPr lang="en-US" sz="950" b="1" u="sng" dirty="0">
                <a:solidFill>
                  <a:srgbClr val="7B5CD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 want</a:t>
            </a:r>
            <a:pPr indent="0" marL="0">
              <a:lnSpc>
                <a:spcPct val="105000"/>
              </a:lnSpc>
              <a:spcAft>
                <a:spcPts val="700"/>
              </a:spcAft>
              <a:buNone/>
            </a:pPr>
            <a:r>
              <a:rPr lang="en-US" sz="95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.</a:t>
            </a:r>
            <a:endParaRPr lang="en-US" sz="950" dirty="0"/>
          </a:p>
          <a:p>
            <a:pPr indent="0" marL="0">
              <a:lnSpc>
                <a:spcPct val="105000"/>
              </a:lnSpc>
              <a:spcAft>
                <a:spcPts val="700"/>
              </a:spcAft>
              <a:buNone/>
            </a:pPr>
            <a:r>
              <a:rPr lang="en-US" sz="95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5</a:t>
            </a:r>
            <a:pPr indent="0" marL="0">
              <a:lnSpc>
                <a:spcPct val="105000"/>
              </a:lnSpc>
              <a:spcAft>
                <a:spcPts val="700"/>
              </a:spcAft>
              <a:buNone/>
            </a:pPr>
            <a:r>
              <a:rPr lang="en-US" sz="950" b="1" dirty="0">
                <a:solidFill>
                  <a:srgbClr val="1B2559"/>
                </a:solidFill>
                <a:highlight>
                  <a:srgbClr val="FFE066"/>
                </a:highlight>
                <a:latin typeface="Georgia" pitchFamily="34" charset="0"/>
                <a:ea typeface="Georgia" pitchFamily="34" charset="-122"/>
                <a:cs typeface="Georgia" pitchFamily="34" charset="-120"/>
              </a:rPr>
              <a:t> (5) the BBC </a:t>
            </a:r>
            <a:pPr indent="0" marL="0">
              <a:lnSpc>
                <a:spcPct val="105000"/>
              </a:lnSpc>
              <a:spcAft>
                <a:spcPts val="700"/>
              </a:spcAft>
              <a:buNone/>
            </a:pPr>
            <a:r>
              <a:rPr lang="en-US" sz="95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. </a:t>
            </a:r>
            <a:pPr indent="0" marL="0">
              <a:lnSpc>
                <a:spcPct val="105000"/>
              </a:lnSpc>
              <a:spcAft>
                <a:spcPts val="700"/>
              </a:spcAft>
              <a:buNone/>
            </a:pPr>
            <a:r>
              <a:rPr lang="en-US" sz="950" b="1" u="sng" dirty="0">
                <a:solidFill>
                  <a:srgbClr val="7B5CD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 listen</a:t>
            </a:r>
            <a:pPr indent="0" marL="0">
              <a:lnSpc>
                <a:spcPct val="105000"/>
              </a:lnSpc>
              <a:spcAft>
                <a:spcPts val="700"/>
              </a:spcAft>
              <a:buNone/>
            </a:pPr>
            <a:r>
              <a:rPr lang="en-US" sz="95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to the radio in the morning and </a:t>
            </a:r>
            <a:pPr indent="0" marL="0">
              <a:lnSpc>
                <a:spcPct val="105000"/>
              </a:lnSpc>
              <a:spcAft>
                <a:spcPts val="700"/>
              </a:spcAft>
              <a:buNone/>
            </a:pPr>
            <a:r>
              <a:rPr lang="en-US" sz="950" b="1" u="sng" dirty="0">
                <a:solidFill>
                  <a:srgbClr val="7B5CD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 watch</a:t>
            </a:r>
            <a:pPr indent="0" marL="0">
              <a:lnSpc>
                <a:spcPct val="105000"/>
              </a:lnSpc>
              <a:spcAft>
                <a:spcPts val="700"/>
              </a:spcAft>
              <a:buNone/>
            </a:pPr>
            <a:r>
              <a:rPr lang="en-US" sz="95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TV in the evening. A lot </a:t>
            </a:r>
            <a:pPr indent="0" marL="0">
              <a:lnSpc>
                <a:spcPct val="105000"/>
              </a:lnSpc>
              <a:spcAft>
                <a:spcPts val="700"/>
              </a:spcAft>
              <a:buNone/>
            </a:pPr>
            <a:r>
              <a:rPr lang="en-US" sz="950" b="1" u="sng" dirty="0">
                <a:solidFill>
                  <a:srgbClr val="7B5CD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of programmes</a:t>
            </a:r>
            <a:pPr indent="0" marL="0">
              <a:lnSpc>
                <a:spcPct val="105000"/>
              </a:lnSpc>
              <a:spcAft>
                <a:spcPts val="700"/>
              </a:spcAft>
              <a:buNone/>
            </a:pPr>
            <a:r>
              <a:rPr lang="en-US" sz="95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are interesting, funny, or educational. Sometimes all three.</a:t>
            </a:r>
            <a:endParaRPr lang="en-US" sz="950" dirty="0"/>
          </a:p>
          <a:p>
            <a:pPr indent="0" marL="0">
              <a:lnSpc>
                <a:spcPct val="105000"/>
              </a:lnSpc>
              <a:spcAft>
                <a:spcPts val="700"/>
              </a:spcAft>
              <a:buNone/>
            </a:pPr>
            <a:r>
              <a:rPr lang="en-US" sz="95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6</a:t>
            </a:r>
            <a:pPr indent="0" marL="0">
              <a:lnSpc>
                <a:spcPct val="105000"/>
              </a:lnSpc>
              <a:spcAft>
                <a:spcPts val="700"/>
              </a:spcAft>
              <a:buNone/>
            </a:pPr>
            <a:r>
              <a:rPr lang="en-US" sz="950" b="1" dirty="0">
                <a:solidFill>
                  <a:srgbClr val="1B2559"/>
                </a:solidFill>
                <a:highlight>
                  <a:srgbClr val="FFE066"/>
                </a:highlight>
                <a:latin typeface="Georgia" pitchFamily="34" charset="0"/>
                <a:ea typeface="Georgia" pitchFamily="34" charset="-122"/>
                <a:cs typeface="Georgia" pitchFamily="34" charset="-120"/>
              </a:rPr>
              <a:t> (6) pubs </a:t>
            </a:r>
            <a:pPr indent="0" marL="0">
              <a:lnSpc>
                <a:spcPct val="105000"/>
              </a:lnSpc>
              <a:spcAft>
                <a:spcPts val="700"/>
              </a:spcAft>
              <a:buNone/>
            </a:pPr>
            <a:r>
              <a:rPr lang="en-US" sz="95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. </a:t>
            </a:r>
            <a:pPr indent="0" marL="0">
              <a:lnSpc>
                <a:spcPct val="105000"/>
              </a:lnSpc>
              <a:spcAft>
                <a:spcPts val="700"/>
              </a:spcAft>
              <a:buNone/>
            </a:pPr>
            <a:r>
              <a:rPr lang="en-US" sz="950" b="1" u="sng" dirty="0">
                <a:solidFill>
                  <a:srgbClr val="7B5CD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We drink</a:t>
            </a:r>
            <a:pPr indent="0" marL="0">
              <a:lnSpc>
                <a:spcPct val="105000"/>
              </a:lnSpc>
              <a:spcAft>
                <a:spcPts val="700"/>
              </a:spcAft>
              <a:buNone/>
            </a:pPr>
            <a:r>
              <a:rPr lang="en-US" sz="95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there, and </a:t>
            </a:r>
            <a:pPr indent="0" marL="0">
              <a:lnSpc>
                <a:spcPct val="105000"/>
              </a:lnSpc>
              <a:spcAft>
                <a:spcPts val="700"/>
              </a:spcAft>
              <a:buNone/>
            </a:pPr>
            <a:r>
              <a:rPr lang="en-US" sz="950" b="1" u="sng" dirty="0">
                <a:solidFill>
                  <a:srgbClr val="7B5CD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we eat</a:t>
            </a:r>
            <a:pPr indent="0" marL="0">
              <a:lnSpc>
                <a:spcPct val="105000"/>
              </a:lnSpc>
              <a:spcAft>
                <a:spcPts val="700"/>
              </a:spcAft>
              <a:buNone/>
            </a:pPr>
            <a:r>
              <a:rPr lang="en-US" sz="95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there, too – the food </a:t>
            </a:r>
            <a:pPr indent="0" marL="0">
              <a:lnSpc>
                <a:spcPct val="105000"/>
              </a:lnSpc>
              <a:spcAft>
                <a:spcPts val="700"/>
              </a:spcAft>
              <a:buNone/>
            </a:pPr>
            <a:r>
              <a:rPr lang="en-US" sz="950" b="1" u="sng" dirty="0">
                <a:solidFill>
                  <a:srgbClr val="7B5CD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now is</a:t>
            </a:r>
            <a:pPr indent="0" marL="0">
              <a:lnSpc>
                <a:spcPct val="105000"/>
              </a:lnSpc>
              <a:spcAft>
                <a:spcPts val="700"/>
              </a:spcAft>
              <a:buNone/>
            </a:pPr>
            <a:r>
              <a:rPr lang="en-US" sz="95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very good.</a:t>
            </a:r>
            <a:endParaRPr lang="en-US" sz="950" dirty="0"/>
          </a:p>
          <a:p>
            <a:pPr indent="0" marL="0">
              <a:lnSpc>
                <a:spcPct val="105000"/>
              </a:lnSpc>
              <a:spcAft>
                <a:spcPts val="700"/>
              </a:spcAft>
              <a:buNone/>
            </a:pPr>
            <a:r>
              <a:rPr lang="en-US" sz="95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7</a:t>
            </a:r>
            <a:pPr indent="0" marL="0">
              <a:lnSpc>
                <a:spcPct val="105000"/>
              </a:lnSpc>
              <a:spcAft>
                <a:spcPts val="700"/>
              </a:spcAft>
              <a:buNone/>
            </a:pPr>
            <a:r>
              <a:rPr lang="en-US" sz="950" b="1" dirty="0">
                <a:solidFill>
                  <a:srgbClr val="1B2559"/>
                </a:solidFill>
                <a:highlight>
                  <a:srgbClr val="FFE066"/>
                </a:highlight>
                <a:latin typeface="Georgia" pitchFamily="34" charset="0"/>
                <a:ea typeface="Georgia" pitchFamily="34" charset="-122"/>
                <a:cs typeface="Georgia" pitchFamily="34" charset="-120"/>
              </a:rPr>
              <a:t> (7) the weather </a:t>
            </a:r>
            <a:pPr indent="0" marL="0">
              <a:lnSpc>
                <a:spcPct val="105000"/>
              </a:lnSpc>
              <a:spcAft>
                <a:spcPts val="700"/>
              </a:spcAft>
              <a:buNone/>
            </a:pPr>
            <a:r>
              <a:rPr lang="en-US" sz="95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. It's cold, but not very cold. It's hot, but not very hot. It rains, but </a:t>
            </a:r>
            <a:pPr indent="0" marL="0">
              <a:lnSpc>
                <a:spcPct val="105000"/>
              </a:lnSpc>
              <a:spcAft>
                <a:spcPts val="700"/>
              </a:spcAft>
              <a:buNone/>
            </a:pPr>
            <a:r>
              <a:rPr lang="en-US" sz="950" b="1" u="sng" dirty="0">
                <a:solidFill>
                  <a:srgbClr val="7B5CD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it doesn't rain</a:t>
            </a:r>
            <a:pPr indent="0" marL="0">
              <a:lnSpc>
                <a:spcPct val="105000"/>
              </a:lnSpc>
              <a:spcAft>
                <a:spcPts val="700"/>
              </a:spcAft>
              <a:buNone/>
            </a:pPr>
            <a:r>
              <a:rPr lang="en-US" sz="95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every day.</a:t>
            </a:r>
            <a:endParaRPr lang="en-US" sz="950" dirty="0"/>
          </a:p>
          <a:p>
            <a:pPr indent="0" marL="0">
              <a:lnSpc>
                <a:spcPct val="105000"/>
              </a:lnSpc>
              <a:spcAft>
                <a:spcPts val="700"/>
              </a:spcAft>
              <a:buNone/>
            </a:pPr>
            <a:r>
              <a:rPr lang="en-US" sz="95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8</a:t>
            </a:r>
            <a:pPr indent="0" marL="0">
              <a:lnSpc>
                <a:spcPct val="105000"/>
              </a:lnSpc>
              <a:spcAft>
                <a:spcPts val="700"/>
              </a:spcAft>
              <a:buNone/>
            </a:pPr>
            <a:r>
              <a:rPr lang="en-US" sz="950" b="1" dirty="0">
                <a:solidFill>
                  <a:srgbClr val="1B2559"/>
                </a:solidFill>
                <a:highlight>
                  <a:srgbClr val="FFE066"/>
                </a:highlight>
                <a:latin typeface="Georgia" pitchFamily="34" charset="0"/>
                <a:ea typeface="Georgia" pitchFamily="34" charset="-122"/>
                <a:cs typeface="Georgia" pitchFamily="34" charset="-120"/>
              </a:rPr>
              <a:t> (8) Indian food </a:t>
            </a:r>
            <a:pPr indent="0" marL="0">
              <a:lnSpc>
                <a:spcPct val="105000"/>
              </a:lnSpc>
              <a:spcAft>
                <a:spcPts val="700"/>
              </a:spcAft>
              <a:buNone/>
            </a:pPr>
            <a:r>
              <a:rPr lang="en-US" sz="95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. My </a:t>
            </a:r>
            <a:pPr indent="0" marL="0">
              <a:lnSpc>
                <a:spcPct val="105000"/>
              </a:lnSpc>
              <a:spcAft>
                <a:spcPts val="700"/>
              </a:spcAft>
              <a:buNone/>
            </a:pPr>
            <a:r>
              <a:rPr lang="en-US" sz="950" b="1" u="sng" dirty="0">
                <a:solidFill>
                  <a:srgbClr val="7B5CD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boyfriend cooks</a:t>
            </a:r>
            <a:pPr indent="0" marL="0">
              <a:lnSpc>
                <a:spcPct val="105000"/>
              </a:lnSpc>
              <a:spcAft>
                <a:spcPts val="700"/>
              </a:spcAft>
              <a:buNone/>
            </a:pPr>
            <a:r>
              <a:rPr lang="en-US" sz="95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fantastic curries, and the </a:t>
            </a:r>
            <a:pPr indent="0" marL="0">
              <a:lnSpc>
                <a:spcPct val="105000"/>
              </a:lnSpc>
              <a:spcAft>
                <a:spcPts val="700"/>
              </a:spcAft>
              <a:buNone/>
            </a:pPr>
            <a:r>
              <a:rPr lang="en-US" sz="950" b="1" u="sng" dirty="0">
                <a:solidFill>
                  <a:srgbClr val="7B5CD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UK is</a:t>
            </a:r>
            <a:pPr indent="0" marL="0">
              <a:lnSpc>
                <a:spcPct val="105000"/>
              </a:lnSpc>
              <a:spcAft>
                <a:spcPts val="700"/>
              </a:spcAft>
              <a:buNone/>
            </a:pPr>
            <a:r>
              <a:rPr lang="en-US" sz="95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great for Indian restaurants!</a:t>
            </a:r>
            <a:endParaRPr lang="en-US" sz="950" dirty="0"/>
          </a:p>
        </p:txBody>
      </p:sp>
      <p:sp>
        <p:nvSpPr>
          <p:cNvPr id="21" name="cd_155"/>
          <p:cNvSpPr/>
          <p:nvPr/>
        </p:nvSpPr>
        <p:spPr>
          <a:xfrm>
            <a:off x="6263640" y="1417320"/>
            <a:ext cx="2606040" cy="2139696"/>
          </a:xfrm>
          <a:prstGeom prst="roundRect">
            <a:avLst>
              <a:gd name="adj" fmla="val 5983"/>
            </a:avLst>
          </a:prstGeom>
          <a:solidFill>
            <a:srgbClr val="EEE8FB"/>
          </a:solidFill>
          <a:ln w="28575">
            <a:solidFill>
              <a:srgbClr val="CDBFF3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22" name="ii_156"/>
          <p:cNvSpPr/>
          <p:nvPr/>
        </p:nvSpPr>
        <p:spPr>
          <a:xfrm>
            <a:off x="6355080" y="149047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📦</a:t>
            </a:r>
            <a:endParaRPr lang="en-US" sz="2200" dirty="0"/>
          </a:p>
        </p:txBody>
      </p:sp>
      <p:sp>
        <p:nvSpPr>
          <p:cNvPr id="23" name="ih_157"/>
          <p:cNvSpPr/>
          <p:nvPr/>
        </p:nvSpPr>
        <p:spPr>
          <a:xfrm>
            <a:off x="6830568" y="1508760"/>
            <a:ext cx="1965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The list</a:t>
            </a:r>
            <a:endParaRPr lang="en-US" sz="1300" dirty="0"/>
          </a:p>
        </p:txBody>
      </p:sp>
      <p:sp>
        <p:nvSpPr>
          <p:cNvPr id="24" name="il_158"/>
          <p:cNvSpPr/>
          <p:nvPr/>
        </p:nvSpPr>
        <p:spPr>
          <a:xfrm>
            <a:off x="6830568" y="1911096"/>
            <a:ext cx="1947672" cy="157276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1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gardens · Indian food · pubs</a:t>
            </a:r>
            <a:endParaRPr lang="en-US" sz="1150" dirty="0"/>
          </a:p>
          <a:p>
            <a:pPr marL="152400" indent="-152400">
              <a:spcBef>
                <a:spcPts val="600"/>
              </a:spcBef>
              <a:spcAft>
                <a:spcPts val="200"/>
              </a:spcAft>
              <a:buSzPct val="100000"/>
              <a:buChar char="•"/>
            </a:pPr>
            <a:r>
              <a:rPr lang="en-US" sz="11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the BBC · the freedom</a:t>
            </a:r>
            <a:endParaRPr lang="en-US" sz="1150" dirty="0"/>
          </a:p>
          <a:p>
            <a:pPr marL="152400" indent="-152400">
              <a:spcBef>
                <a:spcPts val="600"/>
              </a:spcBef>
              <a:spcAft>
                <a:spcPts val="200"/>
              </a:spcAft>
              <a:buSzPct val="100000"/>
              <a:buChar char="•"/>
            </a:pPr>
            <a:r>
              <a:rPr lang="en-US" sz="11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the language · the weather</a:t>
            </a:r>
            <a:endParaRPr lang="en-US" sz="1150" dirty="0"/>
          </a:p>
          <a:p>
            <a:pPr marL="152400" indent="-152400">
              <a:spcBef>
                <a:spcPts val="600"/>
              </a:spcBef>
              <a:spcAft>
                <a:spcPts val="200"/>
              </a:spcAft>
              <a:buSzPct val="100000"/>
              <a:buChar char="•"/>
            </a:pPr>
            <a:r>
              <a:rPr lang="en-US" sz="11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multiculturalism ✓</a:t>
            </a:r>
            <a:endParaRPr lang="en-US" sz="1150" dirty="0"/>
          </a:p>
        </p:txBody>
      </p:sp>
    </p:spTree>
  </p:cSld>
  <p:clrMapOvr>
    <a:masterClrMapping/>
  </p:clrMapOvr>
  <p:transition spd="med">
    <p:push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4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4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4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4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bd_159"/>
          <p:cNvSpPr/>
          <p:nvPr/>
        </p:nvSpPr>
        <p:spPr>
          <a:xfrm>
            <a:off x="201168" y="164592"/>
            <a:ext cx="841248" cy="841248"/>
          </a:xfrm>
          <a:prstGeom prst="ellipse">
            <a:avLst/>
          </a:prstGeom>
          <a:solidFill>
            <a:srgbClr val="E8508F"/>
          </a:solidFill>
          <a:ln w="28575">
            <a:solidFill>
              <a:srgbClr val="F7A6C4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7</a:t>
            </a:r>
            <a:endParaRPr lang="en-US" sz="2800" dirty="0"/>
          </a:p>
        </p:txBody>
      </p:sp>
      <p:pic>
        <p:nvPicPr>
          <p:cNvPr id="4" name="brY_160" descr="/home/claude/lls-course/v2/assets/brush-yellow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46304"/>
            <a:ext cx="5607101" cy="621792"/>
          </a:xfrm>
          <a:prstGeom prst="rect">
            <a:avLst/>
          </a:prstGeom>
        </p:spPr>
      </p:pic>
      <p:sp>
        <p:nvSpPr>
          <p:cNvPr id="5" name="title_161"/>
          <p:cNvSpPr/>
          <p:nvPr/>
        </p:nvSpPr>
        <p:spPr>
          <a:xfrm>
            <a:off x="1261872" y="164592"/>
            <a:ext cx="5332781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5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I live · she lives · he doesn't</a:t>
            </a:r>
            <a:endParaRPr lang="en-US" sz="2500" dirty="0"/>
          </a:p>
        </p:txBody>
      </p:sp>
      <p:pic>
        <p:nvPicPr>
          <p:cNvPr id="6" name="brP_162" descr="/home/claude/lls-course/v2/assets/brush-pink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07008" y="731520"/>
            <a:ext cx="5257800" cy="402336"/>
          </a:xfrm>
          <a:prstGeom prst="rect">
            <a:avLst/>
          </a:prstGeom>
        </p:spPr>
      </p:pic>
      <p:sp>
        <p:nvSpPr>
          <p:cNvPr id="7" name="ins_163"/>
          <p:cNvSpPr/>
          <p:nvPr/>
        </p:nvSpPr>
        <p:spPr>
          <a:xfrm>
            <a:off x="1353312" y="731520"/>
            <a:ext cx="500176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i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Look at the verbs. Why -s? How do we make the negative?</a:t>
            </a:r>
            <a:endParaRPr lang="en-US" sz="1250" dirty="0"/>
          </a:p>
        </p:txBody>
      </p:sp>
      <p:sp>
        <p:nvSpPr>
          <p:cNvPr id="8" name="insIT_164"/>
          <p:cNvSpPr/>
          <p:nvPr/>
        </p:nvSpPr>
        <p:spPr>
          <a:xfrm>
            <a:off x="1371600" y="1115568"/>
            <a:ext cx="5074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i="1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Guarda i verbi. Perché -s? Come si fa il negativo?</a:t>
            </a:r>
            <a:endParaRPr lang="en-US" sz="950" dirty="0"/>
          </a:p>
        </p:txBody>
      </p:sp>
      <p:sp>
        <p:nvSpPr>
          <p:cNvPr id="9" name="note_165"/>
          <p:cNvSpPr/>
          <p:nvPr/>
        </p:nvSpPr>
        <p:spPr>
          <a:xfrm rot="180000">
            <a:off x="6382512" y="128016"/>
            <a:ext cx="2029968" cy="1024128"/>
          </a:xfrm>
          <a:prstGeom prst="rect">
            <a:avLst/>
          </a:prstGeom>
          <a:solidFill>
            <a:srgbClr val="FFC2DA"/>
          </a:solidFill>
          <a:ln>
            <a:solidFill>
              <a:srgbClr val="FFC2DA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50800" tIns="50800" rIns="50800" bIns="50800" rtlCol="0" anchor="ctr">
            <a:normAutofit/>
          </a:bodyPr>
          <a:lstStyle/>
          <a:p>
            <a:pPr algn="ctr" indent="0" marL="0">
              <a:buNone/>
            </a:pPr>
            <a:r>
              <a:rPr lang="en-US" sz="115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👀 LOOK</a:t>
            </a:r>
            <a:pPr algn="ctr" indent="0" marL="0">
              <a:buNone/>
            </a:pPr>
            <a:r>
              <a:rPr lang="en-US" sz="1200" dirty="0">
                <a:solidFill>
                  <a:srgbClr val="5B6785"/>
                </a:solidFill>
              </a:rPr>
              <a:t> → </a:t>
            </a:r>
            <a:pPr algn="ctr" indent="0" marL="0">
              <a:buNone/>
            </a:pPr>
            <a:r>
              <a:rPr lang="en-US" sz="115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💡 THINK</a:t>
            </a:r>
            <a:endParaRPr lang="en-US" sz="115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⏱ 4 min   🙋 whole class</a:t>
            </a:r>
            <a:endParaRPr lang="en-US" sz="115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🎯 Grammar · Guided discovery</a:t>
            </a:r>
            <a:endParaRPr lang="en-US" sz="1150" dirty="0"/>
          </a:p>
        </p:txBody>
      </p:sp>
      <p:pic>
        <p:nvPicPr>
          <p:cNvPr id="10" name="logo_166" descr="/home/claude/lls-course/v2/img/logo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85632" y="128016"/>
            <a:ext cx="502920" cy="502920"/>
          </a:xfrm>
          <a:prstGeom prst="rect">
            <a:avLst/>
          </a:prstGeom>
        </p:spPr>
      </p:pic>
      <p:sp>
        <p:nvSpPr>
          <p:cNvPr id="11" name="foot_167"/>
          <p:cNvSpPr/>
          <p:nvPr/>
        </p:nvSpPr>
        <p:spPr>
          <a:xfrm>
            <a:off x="274320" y="4873752"/>
            <a:ext cx="6858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3A · Grammar · present simple + and −   ·   📖 SB p.22 · 2c · Grammar Bank 3A p.128 · audio 3.5 (TG notes)</a:t>
            </a:r>
            <a:endParaRPr lang="en-US" sz="800" dirty="0"/>
          </a:p>
        </p:txBody>
      </p:sp>
      <p:sp>
        <p:nvSpPr>
          <p:cNvPr id="12" name="cd_168"/>
          <p:cNvSpPr/>
          <p:nvPr/>
        </p:nvSpPr>
        <p:spPr>
          <a:xfrm>
            <a:off x="320040" y="1417320"/>
            <a:ext cx="4206240" cy="3017520"/>
          </a:xfrm>
          <a:prstGeom prst="roundRect">
            <a:avLst>
              <a:gd name="adj" fmla="val 4242"/>
            </a:avLst>
          </a:prstGeom>
          <a:solidFill>
            <a:srgbClr val="FFFFFF"/>
          </a:solidFill>
          <a:ln w="28575">
            <a:solidFill>
              <a:srgbClr val="F7A6C4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13" name="rh_169"/>
          <p:cNvSpPr/>
          <p:nvPr/>
        </p:nvSpPr>
        <p:spPr>
          <a:xfrm>
            <a:off x="429768" y="1508760"/>
            <a:ext cx="3986784" cy="365760"/>
          </a:xfrm>
          <a:prstGeom prst="roundRect">
            <a:avLst>
              <a:gd name="adj" fmla="val 50000"/>
            </a:avLst>
          </a:prstGeom>
          <a:solidFill>
            <a:srgbClr val="E8508F"/>
          </a:solidFill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I · you · we · they</a:t>
            </a:r>
            <a:endParaRPr lang="en-US" sz="1250" dirty="0"/>
          </a:p>
        </p:txBody>
      </p:sp>
      <p:sp>
        <p:nvSpPr>
          <p:cNvPr id="14" name="R1_rx170"/>
          <p:cNvSpPr/>
          <p:nvPr/>
        </p:nvSpPr>
        <p:spPr>
          <a:xfrm>
            <a:off x="457200" y="2011680"/>
            <a:ext cx="3931920" cy="19659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spcAft>
                <a:spcPts val="600"/>
              </a:spcAft>
              <a:buNone/>
            </a:pPr>
            <a:r>
              <a:rPr lang="en-US" sz="14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I </a:t>
            </a:r>
            <a:pPr algn="ctr" indent="0" marL="0">
              <a:spcAft>
                <a:spcPts val="600"/>
              </a:spcAft>
              <a:buNone/>
            </a:pPr>
            <a:r>
              <a:rPr lang="en-US" sz="1400" b="1" dirty="0">
                <a:solidFill>
                  <a:srgbClr val="E8508F"/>
                </a:solidFill>
                <a:highlight>
                  <a:srgbClr val="FFF1A8"/>
                </a:highlight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live</a:t>
            </a:r>
            <a:pPr algn="ctr" indent="0" marL="0">
              <a:spcAft>
                <a:spcPts val="600"/>
              </a:spcAft>
              <a:buNone/>
            </a:pPr>
            <a:r>
              <a:rPr lang="en-US" sz="14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in a flat.</a:t>
            </a:r>
            <a:endParaRPr lang="en-US" sz="1400" dirty="0"/>
          </a:p>
          <a:p>
            <a:pPr algn="ctr" indent="0" marL="0">
              <a:spcAft>
                <a:spcPts val="600"/>
              </a:spcAft>
              <a:buNone/>
            </a:pPr>
            <a:r>
              <a:rPr lang="en-US" sz="14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They </a:t>
            </a:r>
            <a:pPr algn="ctr" indent="0" marL="0">
              <a:spcAft>
                <a:spcPts val="600"/>
              </a:spcAft>
              <a:buNone/>
            </a:pPr>
            <a:r>
              <a:rPr lang="en-US" sz="1400" b="1" dirty="0">
                <a:solidFill>
                  <a:srgbClr val="E8508F"/>
                </a:solidFill>
                <a:highlight>
                  <a:srgbClr val="FFF1A8"/>
                </a:highlight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live</a:t>
            </a:r>
            <a:pPr algn="ctr" indent="0" marL="0">
              <a:spcAft>
                <a:spcPts val="600"/>
              </a:spcAft>
              <a:buNone/>
            </a:pPr>
            <a:r>
              <a:rPr lang="en-US" sz="14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together happily.</a:t>
            </a:r>
            <a:endParaRPr lang="en-US" sz="1400" dirty="0"/>
          </a:p>
          <a:p>
            <a:pPr algn="ctr" indent="0" marL="0">
              <a:spcAft>
                <a:spcPts val="600"/>
              </a:spcAft>
              <a:buNone/>
            </a:pPr>
            <a:r>
              <a:rPr lang="en-US" sz="14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I </a:t>
            </a:r>
            <a:pPr algn="ctr" indent="0" marL="0">
              <a:spcAft>
                <a:spcPts val="600"/>
              </a:spcAft>
              <a:buNone/>
            </a:pPr>
            <a:r>
              <a:rPr lang="en-US" sz="1400" b="1" dirty="0">
                <a:solidFill>
                  <a:srgbClr val="E8508F"/>
                </a:solidFill>
                <a:highlight>
                  <a:srgbClr val="FFF1A8"/>
                </a:highlight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don't have</a:t>
            </a:r>
            <a:pPr algn="ctr" indent="0" marL="0">
              <a:spcAft>
                <a:spcPts val="600"/>
              </a:spcAft>
              <a:buNone/>
            </a:pPr>
            <a:r>
              <a:rPr lang="en-US" sz="14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communication problems.</a:t>
            </a:r>
            <a:endParaRPr lang="en-US" sz="1400" dirty="0"/>
          </a:p>
        </p:txBody>
      </p:sp>
      <p:sp>
        <p:nvSpPr>
          <p:cNvPr id="15" name="R1_ri171"/>
          <p:cNvSpPr/>
          <p:nvPr/>
        </p:nvSpPr>
        <p:spPr>
          <a:xfrm>
            <a:off x="411480" y="4023360"/>
            <a:ext cx="4023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come l'infinito · don't + verbo</a:t>
            </a:r>
            <a:endParaRPr lang="en-US" sz="1100" dirty="0"/>
          </a:p>
        </p:txBody>
      </p:sp>
      <p:sp>
        <p:nvSpPr>
          <p:cNvPr id="16" name="cd_172"/>
          <p:cNvSpPr/>
          <p:nvPr/>
        </p:nvSpPr>
        <p:spPr>
          <a:xfrm>
            <a:off x="4663440" y="1417320"/>
            <a:ext cx="4206240" cy="3017520"/>
          </a:xfrm>
          <a:prstGeom prst="roundRect">
            <a:avLst>
              <a:gd name="adj" fmla="val 4242"/>
            </a:avLst>
          </a:prstGeom>
          <a:solidFill>
            <a:srgbClr val="FFFFFF"/>
          </a:solidFill>
          <a:ln w="28575">
            <a:solidFill>
              <a:srgbClr val="A9D3F5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17" name="rh_173"/>
          <p:cNvSpPr/>
          <p:nvPr/>
        </p:nvSpPr>
        <p:spPr>
          <a:xfrm>
            <a:off x="4773168" y="1508760"/>
            <a:ext cx="3986784" cy="365760"/>
          </a:xfrm>
          <a:prstGeom prst="roundRect">
            <a:avLst>
              <a:gd name="adj" fmla="val 50000"/>
            </a:avLst>
          </a:prstGeom>
          <a:solidFill>
            <a:srgbClr val="2F8DE4"/>
          </a:solidFill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he · she · it</a:t>
            </a:r>
            <a:endParaRPr lang="en-US" sz="1250" dirty="0"/>
          </a:p>
        </p:txBody>
      </p:sp>
      <p:sp>
        <p:nvSpPr>
          <p:cNvPr id="18" name="R2_rx174"/>
          <p:cNvSpPr/>
          <p:nvPr/>
        </p:nvSpPr>
        <p:spPr>
          <a:xfrm>
            <a:off x="4800600" y="2011680"/>
            <a:ext cx="3931920" cy="19659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spcAft>
                <a:spcPts val="600"/>
              </a:spcAft>
              <a:buNone/>
            </a:pPr>
            <a:r>
              <a:rPr lang="en-US" sz="14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It </a:t>
            </a:r>
            <a:pPr algn="ctr" indent="0" marL="0">
              <a:spcAft>
                <a:spcPts val="600"/>
              </a:spcAft>
              <a:buNone/>
            </a:pPr>
            <a:r>
              <a:rPr lang="en-US" sz="1400" b="1" dirty="0">
                <a:solidFill>
                  <a:srgbClr val="2F8DE4"/>
                </a:solidFill>
                <a:highlight>
                  <a:srgbClr val="FFF1A8"/>
                </a:highlight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rains</a:t>
            </a:r>
            <a:pPr algn="ctr" indent="0" marL="0">
              <a:spcAft>
                <a:spcPts val="600"/>
              </a:spcAft>
              <a:buNone/>
            </a:pPr>
            <a:r>
              <a:rPr lang="en-US" sz="14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, but it </a:t>
            </a:r>
            <a:pPr algn="ctr" indent="0" marL="0">
              <a:spcAft>
                <a:spcPts val="600"/>
              </a:spcAft>
              <a:buNone/>
            </a:pPr>
            <a:r>
              <a:rPr lang="en-US" sz="1400" b="1" dirty="0">
                <a:solidFill>
                  <a:srgbClr val="2F8DE4"/>
                </a:solidFill>
                <a:highlight>
                  <a:srgbClr val="FFF1A8"/>
                </a:highlight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doesn't rain</a:t>
            </a:r>
            <a:pPr algn="ctr" indent="0" marL="0">
              <a:spcAft>
                <a:spcPts val="600"/>
              </a:spcAft>
              <a:buNone/>
            </a:pPr>
            <a:r>
              <a:rPr lang="en-US" sz="14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every day.</a:t>
            </a:r>
            <a:endParaRPr lang="en-US" sz="1400" dirty="0"/>
          </a:p>
          <a:p>
            <a:pPr algn="ctr" indent="0" marL="0">
              <a:spcAft>
                <a:spcPts val="600"/>
              </a:spcAft>
              <a:buNone/>
            </a:pPr>
            <a:r>
              <a:rPr lang="en-US" sz="14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My boyfriend </a:t>
            </a:r>
            <a:pPr algn="ctr" indent="0" marL="0">
              <a:spcAft>
                <a:spcPts val="600"/>
              </a:spcAft>
              <a:buNone/>
            </a:pPr>
            <a:r>
              <a:rPr lang="en-US" sz="1400" b="1" dirty="0">
                <a:solidFill>
                  <a:srgbClr val="2F8DE4"/>
                </a:solidFill>
                <a:highlight>
                  <a:srgbClr val="FFF1A8"/>
                </a:highlight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cooks</a:t>
            </a:r>
            <a:pPr algn="ctr" indent="0" marL="0">
              <a:spcAft>
                <a:spcPts val="600"/>
              </a:spcAft>
              <a:buNone/>
            </a:pPr>
            <a:r>
              <a:rPr lang="en-US" sz="14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fantastic curries.</a:t>
            </a:r>
            <a:endParaRPr lang="en-US" sz="1400" dirty="0"/>
          </a:p>
          <a:p>
            <a:pPr algn="ctr" indent="0" marL="0">
              <a:spcAft>
                <a:spcPts val="600"/>
              </a:spcAft>
              <a:buNone/>
            </a:pPr>
            <a:r>
              <a:rPr lang="en-US" sz="14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She </a:t>
            </a:r>
            <a:pPr algn="ctr" indent="0" marL="0">
              <a:spcAft>
                <a:spcPts val="600"/>
              </a:spcAft>
              <a:buNone/>
            </a:pPr>
            <a:r>
              <a:rPr lang="en-US" sz="1400" b="1" dirty="0">
                <a:solidFill>
                  <a:srgbClr val="2F8DE4"/>
                </a:solidFill>
                <a:highlight>
                  <a:srgbClr val="FFF1A8"/>
                </a:highlight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doesn't work</a:t>
            </a:r>
            <a:pPr algn="ctr" indent="0" marL="0">
              <a:spcAft>
                <a:spcPts val="600"/>
              </a:spcAft>
              <a:buNone/>
            </a:pPr>
            <a:r>
              <a:rPr lang="en-US" sz="14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on Saturdays.</a:t>
            </a:r>
            <a:endParaRPr lang="en-US" sz="1400" dirty="0"/>
          </a:p>
        </p:txBody>
      </p:sp>
      <p:sp>
        <p:nvSpPr>
          <p:cNvPr id="19" name="R2_ri175"/>
          <p:cNvSpPr/>
          <p:nvPr/>
        </p:nvSpPr>
        <p:spPr>
          <a:xfrm>
            <a:off x="4754880" y="4023360"/>
            <a:ext cx="4023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+ s / es · doesn't + verbo (senza s!)</a:t>
            </a:r>
            <a:endParaRPr lang="en-US" sz="1100" dirty="0"/>
          </a:p>
        </p:txBody>
      </p:sp>
      <p:sp>
        <p:nvSpPr>
          <p:cNvPr id="20" name="R3_wc176"/>
          <p:cNvSpPr/>
          <p:nvPr/>
        </p:nvSpPr>
        <p:spPr>
          <a:xfrm>
            <a:off x="320040" y="4544568"/>
            <a:ext cx="8549640" cy="329184"/>
          </a:xfrm>
          <a:prstGeom prst="roundRect">
            <a:avLst>
              <a:gd name="adj" fmla="val 38889"/>
            </a:avLst>
          </a:prstGeom>
          <a:solidFill>
            <a:srgbClr val="FFE3EE"/>
          </a:solidFill>
          <a:ln w="28575">
            <a:solidFill>
              <a:srgbClr val="F7A6C4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21" name="R3_w177"/>
          <p:cNvSpPr/>
          <p:nvPr/>
        </p:nvSpPr>
        <p:spPr>
          <a:xfrm>
            <a:off x="457200" y="4544568"/>
            <a:ext cx="83210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⚠ ✗ She doesn't works → ✓ She doesn't work   ·   go → goes /ɡəʊz/ · do → does /dʌz/ · have → has · study → studies</a:t>
            </a:r>
            <a:endParaRPr lang="en-US" sz="1000" dirty="0"/>
          </a:p>
        </p:txBody>
      </p:sp>
    </p:spTree>
  </p:cSld>
  <p:clrMapOvr>
    <a:masterClrMapping/>
  </p:clrMapOvr>
  <p:transition spd="med">
    <p:push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4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4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4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4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bd_178"/>
          <p:cNvSpPr/>
          <p:nvPr/>
        </p:nvSpPr>
        <p:spPr>
          <a:xfrm>
            <a:off x="201168" y="164592"/>
            <a:ext cx="841248" cy="841248"/>
          </a:xfrm>
          <a:prstGeom prst="ellipse">
            <a:avLst/>
          </a:prstGeom>
          <a:solidFill>
            <a:srgbClr val="2EB872"/>
          </a:solidFill>
          <a:ln w="28575">
            <a:solidFill>
              <a:srgbClr val="A8E5BE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8</a:t>
            </a:r>
            <a:endParaRPr lang="en-US" sz="2800" dirty="0"/>
          </a:p>
        </p:txBody>
      </p:sp>
      <p:pic>
        <p:nvPicPr>
          <p:cNvPr id="4" name="brY_179" descr="/home/claude/lls-course/v2/assets/brush-yellow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46304"/>
            <a:ext cx="4034333" cy="621792"/>
          </a:xfrm>
          <a:prstGeom prst="rect">
            <a:avLst/>
          </a:prstGeom>
        </p:spPr>
      </p:pic>
      <p:sp>
        <p:nvSpPr>
          <p:cNvPr id="5" name="title_180"/>
          <p:cNvSpPr/>
          <p:nvPr/>
        </p:nvSpPr>
        <p:spPr>
          <a:xfrm>
            <a:off x="1261872" y="164592"/>
            <a:ext cx="3760013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Grammar Bank practice</a:t>
            </a:r>
            <a:endParaRPr lang="en-US" sz="2400" dirty="0"/>
          </a:p>
        </p:txBody>
      </p:sp>
      <p:pic>
        <p:nvPicPr>
          <p:cNvPr id="6" name="brP_181" descr="/home/claude/lls-course/v2/assets/brush-pink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07008" y="731520"/>
            <a:ext cx="4640580" cy="402336"/>
          </a:xfrm>
          <a:prstGeom prst="rect">
            <a:avLst/>
          </a:prstGeom>
        </p:spPr>
      </p:pic>
      <p:sp>
        <p:nvSpPr>
          <p:cNvPr id="7" name="ins_182"/>
          <p:cNvSpPr/>
          <p:nvPr/>
        </p:nvSpPr>
        <p:spPr>
          <a:xfrm>
            <a:off x="1353312" y="731520"/>
            <a:ext cx="438454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i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Grammar Bank 3A a: make the sentences + or −.</a:t>
            </a:r>
            <a:endParaRPr lang="en-US" sz="1250" dirty="0"/>
          </a:p>
        </p:txBody>
      </p:sp>
      <p:sp>
        <p:nvSpPr>
          <p:cNvPr id="8" name="insIT_183"/>
          <p:cNvSpPr/>
          <p:nvPr/>
        </p:nvSpPr>
        <p:spPr>
          <a:xfrm>
            <a:off x="1371600" y="1115568"/>
            <a:ext cx="5074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i="1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Grammar Bank 3A a: fai frasi + o −.</a:t>
            </a:r>
            <a:endParaRPr lang="en-US" sz="950" dirty="0"/>
          </a:p>
        </p:txBody>
      </p:sp>
      <p:sp>
        <p:nvSpPr>
          <p:cNvPr id="9" name="note_184"/>
          <p:cNvSpPr/>
          <p:nvPr/>
        </p:nvSpPr>
        <p:spPr>
          <a:xfrm rot="180000">
            <a:off x="6382512" y="128016"/>
            <a:ext cx="2029968" cy="1024128"/>
          </a:xfrm>
          <a:prstGeom prst="rect">
            <a:avLst/>
          </a:prstGeom>
          <a:solidFill>
            <a:srgbClr val="FFC2DA"/>
          </a:solidFill>
          <a:ln>
            <a:solidFill>
              <a:srgbClr val="FFC2DA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50800" tIns="50800" rIns="50800" bIns="50800" rtlCol="0" anchor="ctr">
            <a:normAutofit/>
          </a:bodyPr>
          <a:lstStyle/>
          <a:p>
            <a:pPr algn="ctr" indent="0" marL="0">
              <a:buNone/>
            </a:pPr>
            <a:r>
              <a:rPr lang="en-US" sz="115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✍️ WRITE</a:t>
            </a:r>
            <a:pPr algn="ctr" indent="0" marL="0">
              <a:buNone/>
            </a:pPr>
            <a:r>
              <a:rPr lang="en-US" sz="1200" dirty="0">
                <a:solidFill>
                  <a:srgbClr val="5B6785"/>
                </a:solidFill>
              </a:rPr>
              <a:t> → </a:t>
            </a:r>
            <a:pPr algn="ctr" indent="0" marL="0">
              <a:buNone/>
            </a:pPr>
            <a:r>
              <a:rPr lang="en-US" sz="115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✅ CHECK</a:t>
            </a:r>
            <a:endParaRPr lang="en-US" sz="115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⏱ 5 min   👤 alone</a:t>
            </a:r>
            <a:endParaRPr lang="en-US" sz="115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🎯 Grammar · TPRS · reading</a:t>
            </a:r>
            <a:endParaRPr lang="en-US" sz="1150" dirty="0"/>
          </a:p>
        </p:txBody>
      </p:sp>
      <p:pic>
        <p:nvPicPr>
          <p:cNvPr id="10" name="logo_185" descr="/home/claude/lls-course/v2/img/logo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85632" y="128016"/>
            <a:ext cx="502920" cy="502920"/>
          </a:xfrm>
          <a:prstGeom prst="rect">
            <a:avLst/>
          </a:prstGeom>
        </p:spPr>
      </p:pic>
      <p:sp>
        <p:nvSpPr>
          <p:cNvPr id="11" name="foot_186"/>
          <p:cNvSpPr/>
          <p:nvPr/>
        </p:nvSpPr>
        <p:spPr>
          <a:xfrm>
            <a:off x="274320" y="4873752"/>
            <a:ext cx="6858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3A · Grammar Bank 3A p.129 · a   ·   📖 Grammar Bank 3A p.129 · a (TG key – prompts as in the GB)</a:t>
            </a:r>
            <a:endParaRPr lang="en-US" sz="800" dirty="0"/>
          </a:p>
        </p:txBody>
      </p:sp>
      <p:sp>
        <p:nvSpPr>
          <p:cNvPr id="12" name="cd_187"/>
          <p:cNvSpPr/>
          <p:nvPr/>
        </p:nvSpPr>
        <p:spPr>
          <a:xfrm>
            <a:off x="320040" y="1417320"/>
            <a:ext cx="5715000" cy="3337560"/>
          </a:xfrm>
          <a:prstGeom prst="roundRect">
            <a:avLst>
              <a:gd name="adj" fmla="val 3836"/>
            </a:avLst>
          </a:prstGeom>
          <a:solidFill>
            <a:srgbClr val="FFFFFF"/>
          </a:solidFill>
          <a:ln w="28575">
            <a:solidFill>
              <a:srgbClr val="A8E5BE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13" name="sh_188"/>
          <p:cNvSpPr/>
          <p:nvPr/>
        </p:nvSpPr>
        <p:spPr>
          <a:xfrm>
            <a:off x="320040" y="1417320"/>
            <a:ext cx="5715000" cy="438912"/>
          </a:xfrm>
          <a:prstGeom prst="rect">
            <a:avLst/>
          </a:prstGeom>
          <a:solidFill>
            <a:srgbClr val="E3F7EA"/>
          </a:solidFill>
          <a:ln/>
        </p:spPr>
        <p:txBody>
          <a:bodyPr wrap="square" lIns="203200" tIns="0" rIns="20320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6F4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Write the sentence</a:t>
            </a:r>
            <a:endParaRPr lang="en-US" sz="1700" dirty="0"/>
          </a:p>
        </p:txBody>
      </p:sp>
      <p:sp>
        <p:nvSpPr>
          <p:cNvPr id="14" name="ln_189"/>
          <p:cNvSpPr/>
          <p:nvPr/>
        </p:nvSpPr>
        <p:spPr>
          <a:xfrm>
            <a:off x="548640" y="1920240"/>
            <a:ext cx="5349240" cy="26132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  She / go to the cinema (+) → </a:t>
            </a:r>
            <a:pPr indent="0" marL="0">
              <a:buNone/>
            </a:pPr>
            <a:r>
              <a:rPr lang="en-US" sz="1000" b="1" dirty="0">
                <a:solidFill>
                  <a:srgbClr val="2EB87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(1) ________ </a:t>
            </a:r>
            <a:endParaRPr lang="en-US" sz="1000" dirty="0"/>
          </a:p>
        </p:txBody>
      </p:sp>
      <p:sp>
        <p:nvSpPr>
          <p:cNvPr id="15" name="R1_lnA190"/>
          <p:cNvSpPr/>
          <p:nvPr/>
        </p:nvSpPr>
        <p:spPr>
          <a:xfrm>
            <a:off x="548640" y="1920240"/>
            <a:ext cx="5349240" cy="261327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  She / go to the cinema (+) → </a:t>
            </a:r>
            <a:pPr indent="0" marL="0">
              <a:buNone/>
            </a:pPr>
            <a:r>
              <a:rPr lang="en-US" sz="1000" b="1" dirty="0">
                <a:solidFill>
                  <a:srgbClr val="1B2559"/>
                </a:solidFill>
                <a:highlight>
                  <a:srgbClr val="FFE066"/>
                </a:highlight>
                <a:latin typeface="Georgia" pitchFamily="34" charset="0"/>
                <a:ea typeface="Georgia" pitchFamily="34" charset="-122"/>
                <a:cs typeface="Georgia" pitchFamily="34" charset="-120"/>
              </a:rPr>
              <a:t>She goes to the cinema.</a:t>
            </a:r>
            <a:endParaRPr lang="en-US" sz="1000" dirty="0"/>
          </a:p>
        </p:txBody>
      </p:sp>
      <p:sp>
        <p:nvSpPr>
          <p:cNvPr id="16" name="ln_191"/>
          <p:cNvSpPr/>
          <p:nvPr/>
        </p:nvSpPr>
        <p:spPr>
          <a:xfrm>
            <a:off x="548640" y="2181567"/>
            <a:ext cx="5349240" cy="23133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  He / live in a flat (+) → </a:t>
            </a:r>
            <a:pPr indent="0" marL="0">
              <a:buNone/>
            </a:pPr>
            <a:r>
              <a:rPr lang="en-US" sz="1000" b="1" dirty="0">
                <a:solidFill>
                  <a:srgbClr val="2EB87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(2) ________ </a:t>
            </a:r>
            <a:endParaRPr lang="en-US" sz="1000" dirty="0"/>
          </a:p>
        </p:txBody>
      </p:sp>
      <p:sp>
        <p:nvSpPr>
          <p:cNvPr id="17" name="R2_lnA192"/>
          <p:cNvSpPr/>
          <p:nvPr/>
        </p:nvSpPr>
        <p:spPr>
          <a:xfrm>
            <a:off x="548640" y="2181567"/>
            <a:ext cx="5349240" cy="231339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  He / live in a flat (+) → </a:t>
            </a:r>
            <a:pPr indent="0" marL="0">
              <a:buNone/>
            </a:pPr>
            <a:r>
              <a:rPr lang="en-US" sz="1000" b="1" dirty="0">
                <a:solidFill>
                  <a:srgbClr val="1B2559"/>
                </a:solidFill>
                <a:highlight>
                  <a:srgbClr val="FFE066"/>
                </a:highlight>
                <a:latin typeface="Georgia" pitchFamily="34" charset="0"/>
                <a:ea typeface="Georgia" pitchFamily="34" charset="-122"/>
                <a:cs typeface="Georgia" pitchFamily="34" charset="-120"/>
              </a:rPr>
              <a:t>He lives in a flat.</a:t>
            </a:r>
            <a:endParaRPr lang="en-US" sz="1000" dirty="0"/>
          </a:p>
        </p:txBody>
      </p:sp>
      <p:sp>
        <p:nvSpPr>
          <p:cNvPr id="18" name="ln_193"/>
          <p:cNvSpPr/>
          <p:nvPr/>
        </p:nvSpPr>
        <p:spPr>
          <a:xfrm>
            <a:off x="548640" y="2412906"/>
            <a:ext cx="5349240" cy="2698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  They / have two children (+) → </a:t>
            </a:r>
            <a:pPr indent="0" marL="0">
              <a:buNone/>
            </a:pPr>
            <a:r>
              <a:rPr lang="en-US" sz="1000" b="1" dirty="0">
                <a:solidFill>
                  <a:srgbClr val="2EB87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(3) ________ </a:t>
            </a:r>
            <a:endParaRPr lang="en-US" sz="1000" dirty="0"/>
          </a:p>
        </p:txBody>
      </p:sp>
      <p:sp>
        <p:nvSpPr>
          <p:cNvPr id="19" name="R3_lnA194"/>
          <p:cNvSpPr/>
          <p:nvPr/>
        </p:nvSpPr>
        <p:spPr>
          <a:xfrm>
            <a:off x="548640" y="2412906"/>
            <a:ext cx="5349240" cy="269895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  They / have two children (+) → </a:t>
            </a:r>
            <a:pPr indent="0" marL="0">
              <a:buNone/>
            </a:pPr>
            <a:r>
              <a:rPr lang="en-US" sz="1000" b="1" dirty="0">
                <a:solidFill>
                  <a:srgbClr val="1B2559"/>
                </a:solidFill>
                <a:highlight>
                  <a:srgbClr val="FFE066"/>
                </a:highlight>
                <a:latin typeface="Georgia" pitchFamily="34" charset="0"/>
                <a:ea typeface="Georgia" pitchFamily="34" charset="-122"/>
                <a:cs typeface="Georgia" pitchFamily="34" charset="-120"/>
              </a:rPr>
              <a:t>They have two children.</a:t>
            </a:r>
            <a:endParaRPr lang="en-US" sz="1000" dirty="0"/>
          </a:p>
        </p:txBody>
      </p:sp>
      <p:sp>
        <p:nvSpPr>
          <p:cNvPr id="20" name="ln_195"/>
          <p:cNvSpPr/>
          <p:nvPr/>
        </p:nvSpPr>
        <p:spPr>
          <a:xfrm>
            <a:off x="548640" y="2682802"/>
            <a:ext cx="5349240" cy="2698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4  I / like cold weather (−) → </a:t>
            </a:r>
            <a:pPr indent="0" marL="0">
              <a:buNone/>
            </a:pPr>
            <a:r>
              <a:rPr lang="en-US" sz="1000" b="1" dirty="0">
                <a:solidFill>
                  <a:srgbClr val="2EB87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(4) ________ </a:t>
            </a:r>
            <a:endParaRPr lang="en-US" sz="1000" dirty="0"/>
          </a:p>
        </p:txBody>
      </p:sp>
      <p:sp>
        <p:nvSpPr>
          <p:cNvPr id="21" name="R4_lnA196"/>
          <p:cNvSpPr/>
          <p:nvPr/>
        </p:nvSpPr>
        <p:spPr>
          <a:xfrm>
            <a:off x="548640" y="2682802"/>
            <a:ext cx="5349240" cy="269895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4  I / like cold weather (−) → </a:t>
            </a:r>
            <a:pPr indent="0" marL="0">
              <a:buNone/>
            </a:pPr>
            <a:r>
              <a:rPr lang="en-US" sz="1000" b="1" dirty="0">
                <a:solidFill>
                  <a:srgbClr val="1B2559"/>
                </a:solidFill>
                <a:highlight>
                  <a:srgbClr val="FFE066"/>
                </a:highlight>
                <a:latin typeface="Georgia" pitchFamily="34" charset="0"/>
                <a:ea typeface="Georgia" pitchFamily="34" charset="-122"/>
                <a:cs typeface="Georgia" pitchFamily="34" charset="-120"/>
              </a:rPr>
              <a:t>I don't like cold weather.</a:t>
            </a:r>
            <a:endParaRPr lang="en-US" sz="1000" dirty="0"/>
          </a:p>
        </p:txBody>
      </p:sp>
      <p:sp>
        <p:nvSpPr>
          <p:cNvPr id="22" name="ln_197"/>
          <p:cNvSpPr/>
          <p:nvPr/>
        </p:nvSpPr>
        <p:spPr>
          <a:xfrm>
            <a:off x="548640" y="2952697"/>
            <a:ext cx="5349240" cy="3341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5  The supermarket / close at 5.30 (+) → </a:t>
            </a:r>
            <a:pPr indent="0" marL="0">
              <a:buNone/>
            </a:pPr>
            <a:r>
              <a:rPr lang="en-US" sz="1000" b="1" dirty="0">
                <a:solidFill>
                  <a:srgbClr val="2EB87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(5) ________ </a:t>
            </a:r>
            <a:endParaRPr lang="en-US" sz="1000" dirty="0"/>
          </a:p>
        </p:txBody>
      </p:sp>
      <p:sp>
        <p:nvSpPr>
          <p:cNvPr id="23" name="R5_lnA198"/>
          <p:cNvSpPr/>
          <p:nvPr/>
        </p:nvSpPr>
        <p:spPr>
          <a:xfrm>
            <a:off x="548640" y="2952697"/>
            <a:ext cx="5349240" cy="334156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5  The supermarket / close at 5.30 (+) → </a:t>
            </a:r>
            <a:pPr indent="0" marL="0">
              <a:buNone/>
            </a:pPr>
            <a:r>
              <a:rPr lang="en-US" sz="1000" b="1" dirty="0">
                <a:solidFill>
                  <a:srgbClr val="1B2559"/>
                </a:solidFill>
                <a:highlight>
                  <a:srgbClr val="FFE066"/>
                </a:highlight>
                <a:latin typeface="Georgia" pitchFamily="34" charset="0"/>
                <a:ea typeface="Georgia" pitchFamily="34" charset="-122"/>
                <a:cs typeface="Georgia" pitchFamily="34" charset="-120"/>
              </a:rPr>
              <a:t>The supermarket closes at 5.30.</a:t>
            </a:r>
            <a:endParaRPr lang="en-US" sz="1000" dirty="0"/>
          </a:p>
        </p:txBody>
      </p:sp>
      <p:sp>
        <p:nvSpPr>
          <p:cNvPr id="24" name="ln_199"/>
          <p:cNvSpPr/>
          <p:nvPr/>
        </p:nvSpPr>
        <p:spPr>
          <a:xfrm>
            <a:off x="548640" y="3286854"/>
            <a:ext cx="5349240" cy="304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6  My sister / study French (−) → </a:t>
            </a:r>
            <a:pPr indent="0" marL="0">
              <a:buNone/>
            </a:pPr>
            <a:r>
              <a:rPr lang="en-US" sz="1000" b="1" dirty="0">
                <a:solidFill>
                  <a:srgbClr val="2EB87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(6) ________ </a:t>
            </a:r>
            <a:endParaRPr lang="en-US" sz="1000" dirty="0"/>
          </a:p>
        </p:txBody>
      </p:sp>
      <p:sp>
        <p:nvSpPr>
          <p:cNvPr id="25" name="R6_lnA200"/>
          <p:cNvSpPr/>
          <p:nvPr/>
        </p:nvSpPr>
        <p:spPr>
          <a:xfrm>
            <a:off x="548640" y="3286854"/>
            <a:ext cx="5349240" cy="304168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6  My sister / study French (−) → </a:t>
            </a:r>
            <a:pPr indent="0" marL="0">
              <a:buNone/>
            </a:pPr>
            <a:r>
              <a:rPr lang="en-US" sz="1000" b="1" dirty="0">
                <a:solidFill>
                  <a:srgbClr val="1B2559"/>
                </a:solidFill>
                <a:highlight>
                  <a:srgbClr val="FFE066"/>
                </a:highlight>
                <a:latin typeface="Georgia" pitchFamily="34" charset="0"/>
                <a:ea typeface="Georgia" pitchFamily="34" charset="-122"/>
                <a:cs typeface="Georgia" pitchFamily="34" charset="-120"/>
              </a:rPr>
              <a:t>My sister doesn't study French.</a:t>
            </a:r>
            <a:endParaRPr lang="en-US" sz="1000" dirty="0"/>
          </a:p>
        </p:txBody>
      </p:sp>
      <p:sp>
        <p:nvSpPr>
          <p:cNvPr id="26" name="ln_201"/>
          <p:cNvSpPr/>
          <p:nvPr/>
        </p:nvSpPr>
        <p:spPr>
          <a:xfrm>
            <a:off x="548640" y="3591022"/>
            <a:ext cx="5349240" cy="20135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7  I / do housework (+) → </a:t>
            </a:r>
            <a:pPr indent="0" marL="0">
              <a:buNone/>
            </a:pPr>
            <a:r>
              <a:rPr lang="en-US" sz="1000" b="1" dirty="0">
                <a:solidFill>
                  <a:srgbClr val="2EB87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(7) ________ </a:t>
            </a:r>
            <a:endParaRPr lang="en-US" sz="1000" dirty="0"/>
          </a:p>
        </p:txBody>
      </p:sp>
      <p:sp>
        <p:nvSpPr>
          <p:cNvPr id="27" name="R7_lnA202"/>
          <p:cNvSpPr/>
          <p:nvPr/>
        </p:nvSpPr>
        <p:spPr>
          <a:xfrm>
            <a:off x="548640" y="3591022"/>
            <a:ext cx="5349240" cy="201351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7  I / do housework (+) → </a:t>
            </a:r>
            <a:pPr indent="0" marL="0">
              <a:buNone/>
            </a:pPr>
            <a:r>
              <a:rPr lang="en-US" sz="1000" b="1" dirty="0">
                <a:solidFill>
                  <a:srgbClr val="1B2559"/>
                </a:solidFill>
                <a:highlight>
                  <a:srgbClr val="FFE066"/>
                </a:highlight>
                <a:latin typeface="Georgia" pitchFamily="34" charset="0"/>
                <a:ea typeface="Georgia" pitchFamily="34" charset="-122"/>
                <a:cs typeface="Georgia" pitchFamily="34" charset="-120"/>
              </a:rPr>
              <a:t>I do housework.</a:t>
            </a:r>
            <a:endParaRPr lang="en-US" sz="1000" dirty="0"/>
          </a:p>
        </p:txBody>
      </p:sp>
      <p:sp>
        <p:nvSpPr>
          <p:cNvPr id="28" name="ln_203"/>
          <p:cNvSpPr/>
          <p:nvPr/>
        </p:nvSpPr>
        <p:spPr>
          <a:xfrm>
            <a:off x="548640" y="3792372"/>
            <a:ext cx="5349240" cy="25704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8  My son / want a guitar (+) → </a:t>
            </a:r>
            <a:pPr indent="0" marL="0">
              <a:buNone/>
            </a:pPr>
            <a:r>
              <a:rPr lang="en-US" sz="1000" b="1" dirty="0">
                <a:solidFill>
                  <a:srgbClr val="2EB87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(8) ________ </a:t>
            </a:r>
            <a:endParaRPr lang="en-US" sz="1000" dirty="0"/>
          </a:p>
        </p:txBody>
      </p:sp>
      <p:sp>
        <p:nvSpPr>
          <p:cNvPr id="29" name="R8_lnA204"/>
          <p:cNvSpPr/>
          <p:nvPr/>
        </p:nvSpPr>
        <p:spPr>
          <a:xfrm>
            <a:off x="548640" y="3792372"/>
            <a:ext cx="5349240" cy="257043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8  My son / want a guitar (+) → </a:t>
            </a:r>
            <a:pPr indent="0" marL="0">
              <a:buNone/>
            </a:pPr>
            <a:r>
              <a:rPr lang="en-US" sz="1000" b="1" dirty="0">
                <a:solidFill>
                  <a:srgbClr val="1B2559"/>
                </a:solidFill>
                <a:highlight>
                  <a:srgbClr val="FFE066"/>
                </a:highlight>
                <a:latin typeface="Georgia" pitchFamily="34" charset="0"/>
                <a:ea typeface="Georgia" pitchFamily="34" charset="-122"/>
                <a:cs typeface="Georgia" pitchFamily="34" charset="-120"/>
              </a:rPr>
              <a:t>My son wants a guitar.</a:t>
            </a:r>
            <a:endParaRPr lang="en-US" sz="1000" dirty="0"/>
          </a:p>
        </p:txBody>
      </p:sp>
      <p:sp>
        <p:nvSpPr>
          <p:cNvPr id="30" name="ln_205"/>
          <p:cNvSpPr/>
          <p:nvPr/>
        </p:nvSpPr>
        <p:spPr>
          <a:xfrm>
            <a:off x="548640" y="4049415"/>
            <a:ext cx="5349240" cy="3470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9  My friend / work </a:t>
            </a:r>
            <a:pPr indent="0" marL="0">
              <a:buNone/>
            </a:pPr>
            <a:r>
              <a:rPr lang="en-US" sz="1000" b="1" u="sng" dirty="0">
                <a:solidFill>
                  <a:srgbClr val="7B5CD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on Saturdays</a:t>
            </a:r>
            <a:pPr indent="0" marL="0">
              <a:buNone/>
            </a:pPr>
            <a:r>
              <a:rPr lang="en-US" sz="100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(−) → </a:t>
            </a:r>
            <a:pPr indent="0" marL="0">
              <a:buNone/>
            </a:pPr>
            <a:r>
              <a:rPr lang="en-US" sz="1000" b="1" dirty="0">
                <a:solidFill>
                  <a:srgbClr val="2EB87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(9) ________ </a:t>
            </a:r>
            <a:endParaRPr lang="en-US" sz="1000" dirty="0"/>
          </a:p>
        </p:txBody>
      </p:sp>
      <p:sp>
        <p:nvSpPr>
          <p:cNvPr id="31" name="R9_lnA206"/>
          <p:cNvSpPr/>
          <p:nvPr/>
        </p:nvSpPr>
        <p:spPr>
          <a:xfrm>
            <a:off x="548640" y="4049415"/>
            <a:ext cx="5349240" cy="347008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9  My friend / work </a:t>
            </a:r>
            <a:pPr indent="0" marL="0">
              <a:buNone/>
            </a:pPr>
            <a:r>
              <a:rPr lang="en-US" sz="1000" b="1" u="sng" dirty="0">
                <a:solidFill>
                  <a:srgbClr val="7B5CD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on Saturdays</a:t>
            </a:r>
            <a:pPr indent="0" marL="0">
              <a:buNone/>
            </a:pPr>
            <a:r>
              <a:rPr lang="en-US" sz="100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(−) → </a:t>
            </a:r>
            <a:pPr indent="0" marL="0">
              <a:buNone/>
            </a:pPr>
            <a:r>
              <a:rPr lang="en-US" sz="1000" b="1" dirty="0">
                <a:solidFill>
                  <a:srgbClr val="1B2559"/>
                </a:solidFill>
                <a:highlight>
                  <a:srgbClr val="FFE066"/>
                </a:highlight>
                <a:latin typeface="Georgia" pitchFamily="34" charset="0"/>
                <a:ea typeface="Georgia" pitchFamily="34" charset="-122"/>
                <a:cs typeface="Georgia" pitchFamily="34" charset="-120"/>
              </a:rPr>
              <a:t>My friend doesn't work on Saturdays.</a:t>
            </a:r>
            <a:endParaRPr lang="en-US" sz="1000" dirty="0"/>
          </a:p>
        </p:txBody>
      </p:sp>
      <p:sp>
        <p:nvSpPr>
          <p:cNvPr id="32" name="ln_207"/>
          <p:cNvSpPr/>
          <p:nvPr/>
        </p:nvSpPr>
        <p:spPr>
          <a:xfrm>
            <a:off x="548640" y="4396424"/>
            <a:ext cx="5349240" cy="312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10  </a:t>
            </a:r>
            <a:pPr indent="0" marL="0">
              <a:buNone/>
            </a:pPr>
            <a:r>
              <a:rPr lang="en-US" sz="1000" b="1" u="sng" dirty="0">
                <a:solidFill>
                  <a:srgbClr val="7B5CD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Our lessons</a:t>
            </a:r>
            <a:pPr indent="0" marL="0">
              <a:buNone/>
            </a:pPr>
            <a:r>
              <a:rPr lang="en-US" sz="100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/ finish at 5.00 (+) → </a:t>
            </a:r>
            <a:pPr indent="0" marL="0">
              <a:buNone/>
            </a:pPr>
            <a:r>
              <a:rPr lang="en-US" sz="1000" b="1" dirty="0">
                <a:solidFill>
                  <a:srgbClr val="2EB87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(10) ________ </a:t>
            </a:r>
            <a:endParaRPr lang="en-US" sz="1000" dirty="0"/>
          </a:p>
        </p:txBody>
      </p:sp>
      <p:sp>
        <p:nvSpPr>
          <p:cNvPr id="33" name="R10_lnA208"/>
          <p:cNvSpPr/>
          <p:nvPr/>
        </p:nvSpPr>
        <p:spPr>
          <a:xfrm>
            <a:off x="548640" y="4396424"/>
            <a:ext cx="5349240" cy="312736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10  </a:t>
            </a:r>
            <a:pPr indent="0" marL="0">
              <a:buNone/>
            </a:pPr>
            <a:r>
              <a:rPr lang="en-US" sz="1000" b="1" u="sng" dirty="0">
                <a:solidFill>
                  <a:srgbClr val="7B5CD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Our lessons</a:t>
            </a:r>
            <a:pPr indent="0" marL="0">
              <a:buNone/>
            </a:pPr>
            <a:r>
              <a:rPr lang="en-US" sz="100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/ finish at 5.00 (+) → </a:t>
            </a:r>
            <a:pPr indent="0" marL="0">
              <a:buNone/>
            </a:pPr>
            <a:r>
              <a:rPr lang="en-US" sz="1000" b="1" dirty="0">
                <a:solidFill>
                  <a:srgbClr val="1B2559"/>
                </a:solidFill>
                <a:highlight>
                  <a:srgbClr val="FFE066"/>
                </a:highlight>
                <a:latin typeface="Georgia" pitchFamily="34" charset="0"/>
                <a:ea typeface="Georgia" pitchFamily="34" charset="-122"/>
                <a:cs typeface="Georgia" pitchFamily="34" charset="-120"/>
              </a:rPr>
              <a:t>Our lessons finish at 5.00.</a:t>
            </a:r>
            <a:endParaRPr lang="en-US" sz="1000" dirty="0"/>
          </a:p>
        </p:txBody>
      </p:sp>
      <p:sp>
        <p:nvSpPr>
          <p:cNvPr id="34" name="pf_209"/>
          <p:cNvSpPr/>
          <p:nvPr/>
        </p:nvSpPr>
        <p:spPr>
          <a:xfrm rot="120000">
            <a:off x="6983314" y="1417320"/>
            <a:ext cx="1212411" cy="1508760"/>
          </a:xfrm>
          <a:prstGeom prst="roundRect">
            <a:avLst>
              <a:gd name="adj" fmla="val 12821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20000"/>
              </a:srgbClr>
            </a:outerShdw>
          </a:effectLst>
        </p:spPr>
      </p:sp>
      <p:pic>
        <p:nvPicPr>
          <p:cNvPr id="35" name="ph_210" descr="/home/claude/lls-course/v2/cache/red_3a_carola_jpg_270x341_31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 rot="120000">
            <a:off x="7029034" y="1463040"/>
            <a:ext cx="1120971" cy="1417320"/>
          </a:xfrm>
          <a:prstGeom prst="rect">
            <a:avLst/>
          </a:prstGeom>
        </p:spPr>
      </p:pic>
      <p:sp>
        <p:nvSpPr>
          <p:cNvPr id="36" name="cd_211"/>
          <p:cNvSpPr/>
          <p:nvPr/>
        </p:nvSpPr>
        <p:spPr>
          <a:xfrm>
            <a:off x="6263640" y="3794760"/>
            <a:ext cx="2651760" cy="960120"/>
          </a:xfrm>
          <a:prstGeom prst="roundRect">
            <a:avLst>
              <a:gd name="adj" fmla="val 13333"/>
            </a:avLst>
          </a:prstGeom>
          <a:solidFill>
            <a:srgbClr val="EEE8FB"/>
          </a:solidFill>
          <a:ln w="28575">
            <a:solidFill>
              <a:srgbClr val="CDBFF3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37" name="ii_212"/>
          <p:cNvSpPr/>
          <p:nvPr/>
        </p:nvSpPr>
        <p:spPr>
          <a:xfrm>
            <a:off x="6355080" y="386791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💡</a:t>
            </a:r>
            <a:endParaRPr lang="en-US" sz="2200" dirty="0"/>
          </a:p>
        </p:txBody>
      </p:sp>
      <p:sp>
        <p:nvSpPr>
          <p:cNvPr id="38" name="ih_213"/>
          <p:cNvSpPr/>
          <p:nvPr/>
        </p:nvSpPr>
        <p:spPr>
          <a:xfrm>
            <a:off x="6830568" y="3886200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Remember</a:t>
            </a:r>
            <a:endParaRPr lang="en-US" sz="1200" dirty="0"/>
          </a:p>
        </p:txBody>
      </p:sp>
      <p:sp>
        <p:nvSpPr>
          <p:cNvPr id="39" name="il_214"/>
          <p:cNvSpPr/>
          <p:nvPr/>
        </p:nvSpPr>
        <p:spPr>
          <a:xfrm>
            <a:off x="6830568" y="4288536"/>
            <a:ext cx="1993392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he / she / it + s</a:t>
            </a:r>
            <a:endParaRPr lang="en-US" sz="900" dirty="0"/>
          </a:p>
          <a:p>
            <a:pPr marL="152400" indent="-152400">
              <a:spcBef>
                <a:spcPts val="600"/>
              </a:spcBef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doesn't + verb (no s)</a:t>
            </a:r>
            <a:endParaRPr lang="en-US" sz="900" dirty="0"/>
          </a:p>
        </p:txBody>
      </p:sp>
    </p:spTree>
  </p:cSld>
  <p:clrMapOvr>
    <a:masterClrMapping/>
  </p:clrMapOvr>
  <p:transition spd="med">
    <p:push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4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4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4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4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4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4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4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bd_215"/>
          <p:cNvSpPr/>
          <p:nvPr/>
        </p:nvSpPr>
        <p:spPr>
          <a:xfrm>
            <a:off x="201168" y="164592"/>
            <a:ext cx="841248" cy="841248"/>
          </a:xfrm>
          <a:prstGeom prst="ellipse">
            <a:avLst/>
          </a:prstGeom>
          <a:solidFill>
            <a:srgbClr val="E8508F"/>
          </a:solidFill>
          <a:ln w="28575">
            <a:solidFill>
              <a:srgbClr val="F7A6C4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9</a:t>
            </a:r>
            <a:endParaRPr lang="en-US" sz="2800" dirty="0"/>
          </a:p>
        </p:txBody>
      </p:sp>
      <p:pic>
        <p:nvPicPr>
          <p:cNvPr id="4" name="brY_216" descr="/home/claude/lls-course/v2/assets/brush-yellow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46304"/>
            <a:ext cx="2933395" cy="621792"/>
          </a:xfrm>
          <a:prstGeom prst="rect">
            <a:avLst/>
          </a:prstGeom>
        </p:spPr>
      </p:pic>
      <p:sp>
        <p:nvSpPr>
          <p:cNvPr id="5" name="title_217"/>
          <p:cNvSpPr/>
          <p:nvPr/>
        </p:nvSpPr>
        <p:spPr>
          <a:xfrm>
            <a:off x="1261872" y="164592"/>
            <a:ext cx="265907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5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Lives or live?</a:t>
            </a:r>
            <a:endParaRPr lang="en-US" sz="2500" dirty="0"/>
          </a:p>
        </p:txBody>
      </p:sp>
      <p:pic>
        <p:nvPicPr>
          <p:cNvPr id="6" name="brP_218" descr="/home/claude/lls-course/v2/assets/brush-pink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07008" y="731520"/>
            <a:ext cx="4206240" cy="402336"/>
          </a:xfrm>
          <a:prstGeom prst="rect">
            <a:avLst/>
          </a:prstGeom>
        </p:spPr>
      </p:pic>
      <p:sp>
        <p:nvSpPr>
          <p:cNvPr id="7" name="ins_219"/>
          <p:cNvSpPr/>
          <p:nvPr/>
        </p:nvSpPr>
        <p:spPr>
          <a:xfrm>
            <a:off x="1353312" y="731520"/>
            <a:ext cx="39502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i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Teams: choose the correct verb. Say why!</a:t>
            </a:r>
            <a:endParaRPr lang="en-US" sz="1250" dirty="0"/>
          </a:p>
        </p:txBody>
      </p:sp>
      <p:sp>
        <p:nvSpPr>
          <p:cNvPr id="8" name="insIT_220"/>
          <p:cNvSpPr/>
          <p:nvPr/>
        </p:nvSpPr>
        <p:spPr>
          <a:xfrm>
            <a:off x="1371600" y="1115568"/>
            <a:ext cx="5074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i="1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Squadre: scegliete il verbo giusto. Dite perché!</a:t>
            </a:r>
            <a:endParaRPr lang="en-US" sz="950" dirty="0"/>
          </a:p>
        </p:txBody>
      </p:sp>
      <p:sp>
        <p:nvSpPr>
          <p:cNvPr id="9" name="note_221"/>
          <p:cNvSpPr/>
          <p:nvPr/>
        </p:nvSpPr>
        <p:spPr>
          <a:xfrm rot="180000">
            <a:off x="6382512" y="128016"/>
            <a:ext cx="2029968" cy="1024128"/>
          </a:xfrm>
          <a:prstGeom prst="rect">
            <a:avLst/>
          </a:prstGeom>
          <a:solidFill>
            <a:srgbClr val="FFC2DA"/>
          </a:solidFill>
          <a:ln>
            <a:solidFill>
              <a:srgbClr val="FFC2DA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50800" tIns="50800" rIns="50800" bIns="50800" rtlCol="0" anchor="ctr">
            <a:normAutofit/>
          </a:bodyPr>
          <a:lstStyle/>
          <a:p>
            <a:pPr algn="ctr" indent="0" marL="0">
              <a:buNone/>
            </a:pPr>
            <a:r>
              <a:rPr lang="en-US" sz="125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🎲 PLAY</a:t>
            </a:r>
            <a:pPr algn="ctr" indent="0" marL="0">
              <a:buNone/>
            </a:pPr>
            <a:r>
              <a:rPr lang="en-US" sz="125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 · GIOCA</a:t>
            </a:r>
            <a:endParaRPr lang="en-US" sz="125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⏱ 4 min   🏆 teams</a:t>
            </a:r>
            <a:endParaRPr lang="en-US" sz="125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🎯 Grammar · Communicative game</a:t>
            </a:r>
            <a:endParaRPr lang="en-US" sz="1250" dirty="0"/>
          </a:p>
        </p:txBody>
      </p:sp>
      <p:pic>
        <p:nvPicPr>
          <p:cNvPr id="10" name="logo_222" descr="/home/claude/lls-course/v2/img/logo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85632" y="128016"/>
            <a:ext cx="502920" cy="502920"/>
          </a:xfrm>
          <a:prstGeom prst="rect">
            <a:avLst/>
          </a:prstGeom>
        </p:spPr>
      </p:pic>
      <p:sp>
        <p:nvSpPr>
          <p:cNvPr id="11" name="foot_223"/>
          <p:cNvSpPr/>
          <p:nvPr/>
        </p:nvSpPr>
        <p:spPr>
          <a:xfrm>
            <a:off x="274320" y="4873752"/>
            <a:ext cx="6858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3A · Grammar · choose the right option   ·   📖 Grammar Bank 3A p.129 · b (TG key, our own sentences)</a:t>
            </a:r>
            <a:endParaRPr lang="en-US" sz="800" dirty="0"/>
          </a:p>
        </p:txBody>
      </p:sp>
      <p:sp>
        <p:nvSpPr>
          <p:cNvPr id="12" name="cd_224"/>
          <p:cNvSpPr/>
          <p:nvPr/>
        </p:nvSpPr>
        <p:spPr>
          <a:xfrm>
            <a:off x="320040" y="1417320"/>
            <a:ext cx="2697480" cy="1917192"/>
          </a:xfrm>
          <a:prstGeom prst="roundRect">
            <a:avLst>
              <a:gd name="adj" fmla="val 6677"/>
            </a:avLst>
          </a:prstGeom>
          <a:solidFill>
            <a:srgbClr val="EEE8FB"/>
          </a:solidFill>
          <a:ln w="28575">
            <a:solidFill>
              <a:srgbClr val="CDBFF3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13" name="ii_225"/>
          <p:cNvSpPr/>
          <p:nvPr/>
        </p:nvSpPr>
        <p:spPr>
          <a:xfrm>
            <a:off x="411480" y="149047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🎲</a:t>
            </a:r>
            <a:endParaRPr lang="en-US" sz="2200" dirty="0"/>
          </a:p>
        </p:txBody>
      </p:sp>
      <p:sp>
        <p:nvSpPr>
          <p:cNvPr id="14" name="ih_226"/>
          <p:cNvSpPr/>
          <p:nvPr/>
        </p:nvSpPr>
        <p:spPr>
          <a:xfrm>
            <a:off x="886968" y="1508760"/>
            <a:ext cx="2057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How to play</a:t>
            </a:r>
            <a:endParaRPr lang="en-US" sz="1400" dirty="0"/>
          </a:p>
        </p:txBody>
      </p:sp>
      <p:sp>
        <p:nvSpPr>
          <p:cNvPr id="15" name="il_227"/>
          <p:cNvSpPr/>
          <p:nvPr/>
        </p:nvSpPr>
        <p:spPr>
          <a:xfrm>
            <a:off x="886968" y="1911096"/>
            <a:ext cx="2039112" cy="135026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2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Read the sentence. Choose A or B.</a:t>
            </a:r>
            <a:endParaRPr lang="en-US" sz="1200" dirty="0"/>
          </a:p>
          <a:p>
            <a:pPr marL="152400" indent="-152400">
              <a:spcBef>
                <a:spcPts val="600"/>
              </a:spcBef>
              <a:spcAft>
                <a:spcPts val="200"/>
              </a:spcAft>
              <a:buSzPct val="100000"/>
              <a:buChar char="•"/>
            </a:pPr>
            <a:r>
              <a:rPr lang="en-US" sz="12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Correct = 1 point.</a:t>
            </a:r>
            <a:endParaRPr lang="en-US" sz="1200" dirty="0"/>
          </a:p>
          <a:p>
            <a:pPr marL="152400" indent="-152400">
              <a:spcBef>
                <a:spcPts val="600"/>
              </a:spcBef>
              <a:spcAft>
                <a:spcPts val="200"/>
              </a:spcAft>
              <a:buSzPct val="100000"/>
              <a:buChar char="•"/>
            </a:pPr>
            <a:r>
              <a:rPr lang="en-US" sz="12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Say why (he / she / it?) = 1 more point!</a:t>
            </a:r>
            <a:endParaRPr lang="en-US" sz="1200" dirty="0"/>
          </a:p>
        </p:txBody>
      </p:sp>
      <p:sp>
        <p:nvSpPr>
          <p:cNvPr id="16" name="st_228"/>
          <p:cNvSpPr/>
          <p:nvPr/>
        </p:nvSpPr>
        <p:spPr>
          <a:xfrm rot="-180000">
            <a:off x="502920" y="3517392"/>
            <a:ext cx="2286000" cy="777240"/>
          </a:xfrm>
          <a:prstGeom prst="rect">
            <a:avLst/>
          </a:prstGeom>
          <a:solidFill>
            <a:srgbClr val="FFC2DA"/>
          </a:solidFill>
          <a:ln>
            <a:solidFill>
              <a:srgbClr val="FFC2DA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50800" tIns="50800" rIns="50800" bIns="50800" rtlCol="0" anchor="ctr">
            <a:normAutofit/>
          </a:bodyPr>
          <a:lstStyle/>
          <a:p>
            <a:pPr algn="ctr" indent="0" marL="0">
              <a:buNone/>
            </a:pPr>
            <a:r>
              <a:rPr lang="en-US" sz="125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TEAM A  ☆☆☆☆☆</a:t>
            </a:r>
            <a:endParaRPr lang="en-US" sz="1250" dirty="0"/>
          </a:p>
          <a:p>
            <a:pPr algn="ctr" indent="0" marL="0">
              <a:buNone/>
            </a:pPr>
            <a:r>
              <a:rPr lang="en-US" sz="125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TEAM B  ☆☆☆☆☆</a:t>
            </a:r>
            <a:endParaRPr lang="en-US" sz="1250" dirty="0"/>
          </a:p>
        </p:txBody>
      </p:sp>
      <p:sp>
        <p:nvSpPr>
          <p:cNvPr id="17" name="bd_229"/>
          <p:cNvSpPr/>
          <p:nvPr/>
        </p:nvSpPr>
        <p:spPr>
          <a:xfrm>
            <a:off x="3246120" y="1423607"/>
            <a:ext cx="329184" cy="329184"/>
          </a:xfrm>
          <a:prstGeom prst="ellipse">
            <a:avLst/>
          </a:prstGeom>
          <a:solidFill>
            <a:srgbClr val="7B5CD6"/>
          </a:solidFill>
          <a:ln w="28575">
            <a:solidFill>
              <a:srgbClr val="CDBFF3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e.g.</a:t>
            </a:r>
            <a:endParaRPr lang="en-US" sz="500" dirty="0"/>
          </a:p>
        </p:txBody>
      </p:sp>
      <p:sp>
        <p:nvSpPr>
          <p:cNvPr id="18" name="gq_230"/>
          <p:cNvSpPr/>
          <p:nvPr/>
        </p:nvSpPr>
        <p:spPr>
          <a:xfrm>
            <a:off x="3657600" y="1417320"/>
            <a:ext cx="2514600" cy="341757"/>
          </a:xfrm>
          <a:prstGeom prst="roundRect">
            <a:avLst>
              <a:gd name="adj" fmla="val 26756"/>
            </a:avLst>
          </a:prstGeom>
          <a:solidFill>
            <a:srgbClr val="EEE8FB"/>
          </a:solidFill>
          <a:ln w="28575">
            <a:solidFill>
              <a:srgbClr val="CDBFF3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9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My dad doesn't work / works on Saturdays.</a:t>
            </a:r>
            <a:endParaRPr lang="en-US" sz="900" dirty="0"/>
          </a:p>
        </p:txBody>
      </p:sp>
      <p:sp>
        <p:nvSpPr>
          <p:cNvPr id="19" name="chip_231"/>
          <p:cNvSpPr/>
          <p:nvPr/>
        </p:nvSpPr>
        <p:spPr>
          <a:xfrm>
            <a:off x="6263640" y="1417320"/>
            <a:ext cx="2560320" cy="341757"/>
          </a:xfrm>
          <a:prstGeom prst="roundRect">
            <a:avLst>
              <a:gd name="adj" fmla="val 26756"/>
            </a:avLst>
          </a:prstGeom>
          <a:solidFill>
            <a:srgbClr val="EEE8FB"/>
          </a:solidFill>
          <a:ln w="28575">
            <a:solidFill>
              <a:srgbClr val="CDBFF3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→ doesn't work (−)</a:t>
            </a:r>
            <a:endParaRPr lang="en-US" sz="1200" dirty="0"/>
          </a:p>
        </p:txBody>
      </p:sp>
      <p:sp>
        <p:nvSpPr>
          <p:cNvPr id="20" name="bd_232"/>
          <p:cNvSpPr/>
          <p:nvPr/>
        </p:nvSpPr>
        <p:spPr>
          <a:xfrm>
            <a:off x="3246120" y="1829372"/>
            <a:ext cx="329184" cy="329184"/>
          </a:xfrm>
          <a:prstGeom prst="ellipse">
            <a:avLst/>
          </a:prstGeom>
          <a:solidFill>
            <a:srgbClr val="E8508F"/>
          </a:solidFill>
          <a:ln w="28575">
            <a:solidFill>
              <a:srgbClr val="F7A6C4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1</a:t>
            </a:r>
            <a:endParaRPr lang="en-US" sz="1100" dirty="0"/>
          </a:p>
        </p:txBody>
      </p:sp>
      <p:sp>
        <p:nvSpPr>
          <p:cNvPr id="21" name="gq_233"/>
          <p:cNvSpPr/>
          <p:nvPr/>
        </p:nvSpPr>
        <p:spPr>
          <a:xfrm>
            <a:off x="3657600" y="1823085"/>
            <a:ext cx="2514600" cy="341757"/>
          </a:xfrm>
          <a:prstGeom prst="roundRect">
            <a:avLst>
              <a:gd name="adj" fmla="val 26756"/>
            </a:avLst>
          </a:prstGeom>
          <a:solidFill>
            <a:srgbClr val="FFFFFF"/>
          </a:solidFill>
          <a:ln w="28575">
            <a:solidFill>
              <a:srgbClr val="F7A6C4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9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She read / reads a lot of books.</a:t>
            </a:r>
            <a:endParaRPr lang="en-US" sz="900" dirty="0"/>
          </a:p>
        </p:txBody>
      </p:sp>
      <p:sp>
        <p:nvSpPr>
          <p:cNvPr id="22" name="R1_chip234"/>
          <p:cNvSpPr/>
          <p:nvPr/>
        </p:nvSpPr>
        <p:spPr>
          <a:xfrm>
            <a:off x="6263640" y="1823085"/>
            <a:ext cx="2560320" cy="341757"/>
          </a:xfrm>
          <a:prstGeom prst="roundRect">
            <a:avLst>
              <a:gd name="adj" fmla="val 26756"/>
            </a:avLst>
          </a:prstGeom>
          <a:solidFill>
            <a:srgbClr val="FFE3EE"/>
          </a:solidFill>
          <a:ln w="28575">
            <a:solidFill>
              <a:srgbClr val="F7A6C4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→ reads (she + s)</a:t>
            </a:r>
            <a:endParaRPr lang="en-US" sz="1200" dirty="0"/>
          </a:p>
        </p:txBody>
      </p:sp>
      <p:sp>
        <p:nvSpPr>
          <p:cNvPr id="23" name="bd_235"/>
          <p:cNvSpPr/>
          <p:nvPr/>
        </p:nvSpPr>
        <p:spPr>
          <a:xfrm>
            <a:off x="3246120" y="2235137"/>
            <a:ext cx="329184" cy="329184"/>
          </a:xfrm>
          <a:prstGeom prst="ellipse">
            <a:avLst/>
          </a:prstGeom>
          <a:solidFill>
            <a:srgbClr val="2F8DE4"/>
          </a:solidFill>
          <a:ln w="28575">
            <a:solidFill>
              <a:srgbClr val="A9D3F5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2</a:t>
            </a:r>
            <a:endParaRPr lang="en-US" sz="1100" dirty="0"/>
          </a:p>
        </p:txBody>
      </p:sp>
      <p:sp>
        <p:nvSpPr>
          <p:cNvPr id="24" name="gq_236"/>
          <p:cNvSpPr/>
          <p:nvPr/>
        </p:nvSpPr>
        <p:spPr>
          <a:xfrm>
            <a:off x="3657600" y="2228850"/>
            <a:ext cx="2514600" cy="341757"/>
          </a:xfrm>
          <a:prstGeom prst="roundRect">
            <a:avLst>
              <a:gd name="adj" fmla="val 26756"/>
            </a:avLst>
          </a:prstGeom>
          <a:solidFill>
            <a:srgbClr val="FFFFFF"/>
          </a:solidFill>
          <a:ln w="28575">
            <a:solidFill>
              <a:srgbClr val="A9D3F5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9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We speak / speaks Italian at home.</a:t>
            </a:r>
            <a:endParaRPr lang="en-US" sz="900" dirty="0"/>
          </a:p>
        </p:txBody>
      </p:sp>
      <p:sp>
        <p:nvSpPr>
          <p:cNvPr id="25" name="R2_chip237"/>
          <p:cNvSpPr/>
          <p:nvPr/>
        </p:nvSpPr>
        <p:spPr>
          <a:xfrm>
            <a:off x="6263640" y="2228850"/>
            <a:ext cx="2560320" cy="341757"/>
          </a:xfrm>
          <a:prstGeom prst="roundRect">
            <a:avLst>
              <a:gd name="adj" fmla="val 26756"/>
            </a:avLst>
          </a:prstGeom>
          <a:solidFill>
            <a:srgbClr val="FFE3EE"/>
          </a:solidFill>
          <a:ln w="28575">
            <a:solidFill>
              <a:srgbClr val="F7A6C4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→ speak (we – no s)</a:t>
            </a:r>
            <a:endParaRPr lang="en-US" sz="1200" dirty="0"/>
          </a:p>
        </p:txBody>
      </p:sp>
      <p:sp>
        <p:nvSpPr>
          <p:cNvPr id="26" name="bd_238"/>
          <p:cNvSpPr/>
          <p:nvPr/>
        </p:nvSpPr>
        <p:spPr>
          <a:xfrm>
            <a:off x="3246120" y="2640901"/>
            <a:ext cx="329184" cy="329184"/>
          </a:xfrm>
          <a:prstGeom prst="ellipse">
            <a:avLst/>
          </a:prstGeom>
          <a:solidFill>
            <a:srgbClr val="2EB872"/>
          </a:solidFill>
          <a:ln w="28575">
            <a:solidFill>
              <a:srgbClr val="A8E5BE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3</a:t>
            </a:r>
            <a:endParaRPr lang="en-US" sz="1100" dirty="0"/>
          </a:p>
        </p:txBody>
      </p:sp>
      <p:sp>
        <p:nvSpPr>
          <p:cNvPr id="27" name="gq_239"/>
          <p:cNvSpPr/>
          <p:nvPr/>
        </p:nvSpPr>
        <p:spPr>
          <a:xfrm>
            <a:off x="3657600" y="2634615"/>
            <a:ext cx="2514600" cy="341757"/>
          </a:xfrm>
          <a:prstGeom prst="roundRect">
            <a:avLst>
              <a:gd name="adj" fmla="val 26756"/>
            </a:avLst>
          </a:prstGeom>
          <a:solidFill>
            <a:srgbClr val="FFFFFF"/>
          </a:solidFill>
          <a:ln w="28575">
            <a:solidFill>
              <a:srgbClr val="A8E5BE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9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They don't play / doesn't play tennis.</a:t>
            </a:r>
            <a:endParaRPr lang="en-US" sz="900" dirty="0"/>
          </a:p>
        </p:txBody>
      </p:sp>
      <p:sp>
        <p:nvSpPr>
          <p:cNvPr id="28" name="R3_chip240"/>
          <p:cNvSpPr/>
          <p:nvPr/>
        </p:nvSpPr>
        <p:spPr>
          <a:xfrm>
            <a:off x="6263640" y="2634615"/>
            <a:ext cx="2560320" cy="341757"/>
          </a:xfrm>
          <a:prstGeom prst="roundRect">
            <a:avLst>
              <a:gd name="adj" fmla="val 26756"/>
            </a:avLst>
          </a:prstGeom>
          <a:solidFill>
            <a:srgbClr val="FFE3EE"/>
          </a:solidFill>
          <a:ln w="28575">
            <a:solidFill>
              <a:srgbClr val="F7A6C4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→ don't play (they)</a:t>
            </a:r>
            <a:endParaRPr lang="en-US" sz="1200" dirty="0"/>
          </a:p>
        </p:txBody>
      </p:sp>
      <p:sp>
        <p:nvSpPr>
          <p:cNvPr id="29" name="bd_241"/>
          <p:cNvSpPr/>
          <p:nvPr/>
        </p:nvSpPr>
        <p:spPr>
          <a:xfrm>
            <a:off x="3246120" y="3046667"/>
            <a:ext cx="329184" cy="329184"/>
          </a:xfrm>
          <a:prstGeom prst="ellipse">
            <a:avLst/>
          </a:prstGeom>
          <a:solidFill>
            <a:srgbClr val="F2B705"/>
          </a:solidFill>
          <a:ln w="28575">
            <a:solidFill>
              <a:srgbClr val="FFE07A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4</a:t>
            </a:r>
            <a:endParaRPr lang="en-US" sz="1100" dirty="0"/>
          </a:p>
        </p:txBody>
      </p:sp>
      <p:sp>
        <p:nvSpPr>
          <p:cNvPr id="30" name="gq_242"/>
          <p:cNvSpPr/>
          <p:nvPr/>
        </p:nvSpPr>
        <p:spPr>
          <a:xfrm>
            <a:off x="3657600" y="3040380"/>
            <a:ext cx="2514600" cy="341757"/>
          </a:xfrm>
          <a:prstGeom prst="roundRect">
            <a:avLst>
              <a:gd name="adj" fmla="val 26756"/>
            </a:avLst>
          </a:prstGeom>
          <a:solidFill>
            <a:srgbClr val="FFFFFF"/>
          </a:solidFill>
          <a:ln w="28575">
            <a:solidFill>
              <a:srgbClr val="FFE07A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9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Paolo wear / wears glasses.</a:t>
            </a:r>
            <a:endParaRPr lang="en-US" sz="900" dirty="0"/>
          </a:p>
        </p:txBody>
      </p:sp>
      <p:sp>
        <p:nvSpPr>
          <p:cNvPr id="31" name="R4_chip243"/>
          <p:cNvSpPr/>
          <p:nvPr/>
        </p:nvSpPr>
        <p:spPr>
          <a:xfrm>
            <a:off x="6263640" y="3040380"/>
            <a:ext cx="2560320" cy="341757"/>
          </a:xfrm>
          <a:prstGeom prst="roundRect">
            <a:avLst>
              <a:gd name="adj" fmla="val 26756"/>
            </a:avLst>
          </a:prstGeom>
          <a:solidFill>
            <a:srgbClr val="FFE3EE"/>
          </a:solidFill>
          <a:ln w="28575">
            <a:solidFill>
              <a:srgbClr val="F7A6C4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→ wears (he + s)</a:t>
            </a:r>
            <a:endParaRPr lang="en-US" sz="1200" dirty="0"/>
          </a:p>
        </p:txBody>
      </p:sp>
      <p:sp>
        <p:nvSpPr>
          <p:cNvPr id="32" name="bd_244"/>
          <p:cNvSpPr/>
          <p:nvPr/>
        </p:nvSpPr>
        <p:spPr>
          <a:xfrm>
            <a:off x="3246120" y="3452432"/>
            <a:ext cx="329184" cy="329184"/>
          </a:xfrm>
          <a:prstGeom prst="ellipse">
            <a:avLst/>
          </a:prstGeom>
          <a:solidFill>
            <a:srgbClr val="E8508F"/>
          </a:solidFill>
          <a:ln w="28575">
            <a:solidFill>
              <a:srgbClr val="F7A6C4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5</a:t>
            </a:r>
            <a:endParaRPr lang="en-US" sz="1100" dirty="0"/>
          </a:p>
        </p:txBody>
      </p:sp>
      <p:sp>
        <p:nvSpPr>
          <p:cNvPr id="33" name="gq_245"/>
          <p:cNvSpPr/>
          <p:nvPr/>
        </p:nvSpPr>
        <p:spPr>
          <a:xfrm>
            <a:off x="3657600" y="3446145"/>
            <a:ext cx="2514600" cy="341757"/>
          </a:xfrm>
          <a:prstGeom prst="roundRect">
            <a:avLst>
              <a:gd name="adj" fmla="val 26756"/>
            </a:avLst>
          </a:prstGeom>
          <a:solidFill>
            <a:srgbClr val="FFFFFF"/>
          </a:solidFill>
          <a:ln w="28575">
            <a:solidFill>
              <a:srgbClr val="F7A6C4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9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I listen / listens to music in the car.</a:t>
            </a:r>
            <a:endParaRPr lang="en-US" sz="900" dirty="0"/>
          </a:p>
        </p:txBody>
      </p:sp>
      <p:sp>
        <p:nvSpPr>
          <p:cNvPr id="34" name="R5_chip246"/>
          <p:cNvSpPr/>
          <p:nvPr/>
        </p:nvSpPr>
        <p:spPr>
          <a:xfrm>
            <a:off x="6263640" y="3446145"/>
            <a:ext cx="2560320" cy="341757"/>
          </a:xfrm>
          <a:prstGeom prst="roundRect">
            <a:avLst>
              <a:gd name="adj" fmla="val 26756"/>
            </a:avLst>
          </a:prstGeom>
          <a:solidFill>
            <a:srgbClr val="FFE3EE"/>
          </a:solidFill>
          <a:ln w="28575">
            <a:solidFill>
              <a:srgbClr val="F7A6C4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→ listen (I – no s)</a:t>
            </a:r>
            <a:endParaRPr lang="en-US" sz="1200" dirty="0"/>
          </a:p>
        </p:txBody>
      </p:sp>
      <p:sp>
        <p:nvSpPr>
          <p:cNvPr id="35" name="bd_247"/>
          <p:cNvSpPr/>
          <p:nvPr/>
        </p:nvSpPr>
        <p:spPr>
          <a:xfrm>
            <a:off x="3246120" y="3858196"/>
            <a:ext cx="329184" cy="329184"/>
          </a:xfrm>
          <a:prstGeom prst="ellipse">
            <a:avLst/>
          </a:prstGeom>
          <a:solidFill>
            <a:srgbClr val="2F8DE4"/>
          </a:solidFill>
          <a:ln w="28575">
            <a:solidFill>
              <a:srgbClr val="A9D3F5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6</a:t>
            </a:r>
            <a:endParaRPr lang="en-US" sz="1100" dirty="0"/>
          </a:p>
        </p:txBody>
      </p:sp>
      <p:sp>
        <p:nvSpPr>
          <p:cNvPr id="36" name="gq_248"/>
          <p:cNvSpPr/>
          <p:nvPr/>
        </p:nvSpPr>
        <p:spPr>
          <a:xfrm>
            <a:off x="3657600" y="3851910"/>
            <a:ext cx="2514600" cy="341757"/>
          </a:xfrm>
          <a:prstGeom prst="roundRect">
            <a:avLst>
              <a:gd name="adj" fmla="val 26756"/>
            </a:avLst>
          </a:prstGeom>
          <a:solidFill>
            <a:srgbClr val="FFFFFF"/>
          </a:solidFill>
          <a:ln w="28575">
            <a:solidFill>
              <a:srgbClr val="A9D3F5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9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My children don't eat / doesn't eat vegetables.</a:t>
            </a:r>
            <a:endParaRPr lang="en-US" sz="900" dirty="0"/>
          </a:p>
        </p:txBody>
      </p:sp>
      <p:sp>
        <p:nvSpPr>
          <p:cNvPr id="37" name="R6_chip249"/>
          <p:cNvSpPr/>
          <p:nvPr/>
        </p:nvSpPr>
        <p:spPr>
          <a:xfrm>
            <a:off x="6263640" y="3851910"/>
            <a:ext cx="2560320" cy="341757"/>
          </a:xfrm>
          <a:prstGeom prst="roundRect">
            <a:avLst>
              <a:gd name="adj" fmla="val 26756"/>
            </a:avLst>
          </a:prstGeom>
          <a:solidFill>
            <a:srgbClr val="FFE3EE"/>
          </a:solidFill>
          <a:ln w="28575">
            <a:solidFill>
              <a:srgbClr val="F7A6C4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→ don't eat (they)</a:t>
            </a:r>
            <a:endParaRPr lang="en-US" sz="1200" dirty="0"/>
          </a:p>
        </p:txBody>
      </p:sp>
      <p:sp>
        <p:nvSpPr>
          <p:cNvPr id="38" name="bd_250"/>
          <p:cNvSpPr/>
          <p:nvPr/>
        </p:nvSpPr>
        <p:spPr>
          <a:xfrm>
            <a:off x="3246120" y="4263962"/>
            <a:ext cx="329184" cy="329184"/>
          </a:xfrm>
          <a:prstGeom prst="ellipse">
            <a:avLst/>
          </a:prstGeom>
          <a:solidFill>
            <a:srgbClr val="2EB872"/>
          </a:solidFill>
          <a:ln w="28575">
            <a:solidFill>
              <a:srgbClr val="A8E5BE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7</a:t>
            </a:r>
            <a:endParaRPr lang="en-US" sz="1100" dirty="0"/>
          </a:p>
        </p:txBody>
      </p:sp>
      <p:sp>
        <p:nvSpPr>
          <p:cNvPr id="39" name="gq_251"/>
          <p:cNvSpPr/>
          <p:nvPr/>
        </p:nvSpPr>
        <p:spPr>
          <a:xfrm>
            <a:off x="3657600" y="4257675"/>
            <a:ext cx="2514600" cy="341757"/>
          </a:xfrm>
          <a:prstGeom prst="roundRect">
            <a:avLst>
              <a:gd name="adj" fmla="val 26756"/>
            </a:avLst>
          </a:prstGeom>
          <a:solidFill>
            <a:srgbClr val="FFFFFF"/>
          </a:solidFill>
          <a:ln w="28575">
            <a:solidFill>
              <a:srgbClr val="A8E5BE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9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She have / has a cat.</a:t>
            </a:r>
            <a:endParaRPr lang="en-US" sz="900" dirty="0"/>
          </a:p>
        </p:txBody>
      </p:sp>
      <p:sp>
        <p:nvSpPr>
          <p:cNvPr id="40" name="R7_chip252"/>
          <p:cNvSpPr/>
          <p:nvPr/>
        </p:nvSpPr>
        <p:spPr>
          <a:xfrm>
            <a:off x="6263640" y="4257675"/>
            <a:ext cx="2560320" cy="341757"/>
          </a:xfrm>
          <a:prstGeom prst="roundRect">
            <a:avLst>
              <a:gd name="adj" fmla="val 26756"/>
            </a:avLst>
          </a:prstGeom>
          <a:solidFill>
            <a:srgbClr val="FFE3EE"/>
          </a:solidFill>
          <a:ln w="28575">
            <a:solidFill>
              <a:srgbClr val="F7A6C4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→ has (have → has!)</a:t>
            </a:r>
            <a:endParaRPr lang="en-US" sz="1200" dirty="0"/>
          </a:p>
        </p:txBody>
      </p:sp>
    </p:spTree>
  </p:cSld>
  <p:clrMapOvr>
    <a:masterClrMapping/>
  </p:clrMapOvr>
  <p:transition spd="med">
    <p:push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4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4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4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4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bd_253"/>
          <p:cNvSpPr/>
          <p:nvPr/>
        </p:nvSpPr>
        <p:spPr>
          <a:xfrm>
            <a:off x="201168" y="164592"/>
            <a:ext cx="841248" cy="841248"/>
          </a:xfrm>
          <a:prstGeom prst="ellipse">
            <a:avLst/>
          </a:prstGeom>
          <a:solidFill>
            <a:srgbClr val="E8508F"/>
          </a:solidFill>
          <a:ln w="28575">
            <a:solidFill>
              <a:srgbClr val="F7A6C4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10</a:t>
            </a:r>
            <a:endParaRPr lang="en-US" sz="2200" dirty="0"/>
          </a:p>
        </p:txBody>
      </p:sp>
      <p:pic>
        <p:nvPicPr>
          <p:cNvPr id="4" name="brY_254" descr="/home/claude/lls-course/v2/assets/brush-yellow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46304"/>
            <a:ext cx="3405226" cy="621792"/>
          </a:xfrm>
          <a:prstGeom prst="rect">
            <a:avLst/>
          </a:prstGeom>
        </p:spPr>
      </p:pic>
      <p:sp>
        <p:nvSpPr>
          <p:cNvPr id="5" name="title_255"/>
          <p:cNvSpPr/>
          <p:nvPr/>
        </p:nvSpPr>
        <p:spPr>
          <a:xfrm>
            <a:off x="1261872" y="164592"/>
            <a:ext cx="313090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5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/s/, /z/ or /ɪz/?</a:t>
            </a:r>
            <a:endParaRPr lang="en-US" sz="2500" dirty="0"/>
          </a:p>
        </p:txBody>
      </p:sp>
      <p:pic>
        <p:nvPicPr>
          <p:cNvPr id="6" name="brP_256" descr="/home/claude/lls-course/v2/assets/brush-pink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07008" y="731520"/>
            <a:ext cx="3945636" cy="402336"/>
          </a:xfrm>
          <a:prstGeom prst="rect">
            <a:avLst/>
          </a:prstGeom>
        </p:spPr>
      </p:pic>
      <p:sp>
        <p:nvSpPr>
          <p:cNvPr id="7" name="ins_257"/>
          <p:cNvSpPr/>
          <p:nvPr/>
        </p:nvSpPr>
        <p:spPr>
          <a:xfrm>
            <a:off x="1353312" y="731520"/>
            <a:ext cx="368960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i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Say the verbs. Which sound is the -s?</a:t>
            </a:r>
            <a:endParaRPr lang="en-US" sz="1250" dirty="0"/>
          </a:p>
        </p:txBody>
      </p:sp>
      <p:sp>
        <p:nvSpPr>
          <p:cNvPr id="8" name="insIT_258"/>
          <p:cNvSpPr/>
          <p:nvPr/>
        </p:nvSpPr>
        <p:spPr>
          <a:xfrm>
            <a:off x="1371600" y="1115568"/>
            <a:ext cx="5074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i="1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Di' i verbi. Che suono ha la -s?</a:t>
            </a:r>
            <a:endParaRPr lang="en-US" sz="950" dirty="0"/>
          </a:p>
        </p:txBody>
      </p:sp>
      <p:sp>
        <p:nvSpPr>
          <p:cNvPr id="9" name="note_259"/>
          <p:cNvSpPr/>
          <p:nvPr/>
        </p:nvSpPr>
        <p:spPr>
          <a:xfrm rot="180000">
            <a:off x="6382512" y="128016"/>
            <a:ext cx="2029968" cy="1024128"/>
          </a:xfrm>
          <a:prstGeom prst="rect">
            <a:avLst/>
          </a:prstGeom>
          <a:solidFill>
            <a:srgbClr val="FFC2DA"/>
          </a:solidFill>
          <a:ln>
            <a:solidFill>
              <a:srgbClr val="FFC2DA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50800" tIns="50800" rIns="50800" bIns="50800" rtlCol="0" anchor="ctr">
            <a:normAutofit/>
          </a:bodyPr>
          <a:lstStyle/>
          <a:p>
            <a:pPr algn="ctr" indent="0" marL="0">
              <a:buNone/>
            </a:pPr>
            <a:r>
              <a:rPr lang="en-US" sz="115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🔊 SAY IT</a:t>
            </a:r>
            <a:pPr algn="ctr" indent="0" marL="0">
              <a:buNone/>
            </a:pPr>
            <a:r>
              <a:rPr lang="en-US" sz="1200" dirty="0">
                <a:solidFill>
                  <a:srgbClr val="5B6785"/>
                </a:solidFill>
              </a:rPr>
              <a:t> → </a:t>
            </a:r>
            <a:pPr algn="ctr" indent="0" marL="0">
              <a:buNone/>
            </a:pPr>
            <a:r>
              <a:rPr lang="en-US" sz="115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🔗 MATCH</a:t>
            </a:r>
            <a:endParaRPr lang="en-US" sz="115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⏱ 4 min   👥 pairs</a:t>
            </a:r>
            <a:endParaRPr lang="en-US" sz="115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🎯 Pronunciation · Guided discovery</a:t>
            </a:r>
            <a:endParaRPr lang="en-US" sz="1150" dirty="0"/>
          </a:p>
        </p:txBody>
      </p:sp>
      <p:pic>
        <p:nvPicPr>
          <p:cNvPr id="10" name="logo_260" descr="/home/claude/lls-course/v2/img/logo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85632" y="128016"/>
            <a:ext cx="502920" cy="502920"/>
          </a:xfrm>
          <a:prstGeom prst="rect">
            <a:avLst/>
          </a:prstGeom>
        </p:spPr>
      </p:pic>
      <p:sp>
        <p:nvSpPr>
          <p:cNvPr id="11" name="foot_261"/>
          <p:cNvSpPr/>
          <p:nvPr/>
        </p:nvSpPr>
        <p:spPr>
          <a:xfrm>
            <a:off x="274320" y="4873752"/>
            <a:ext cx="6858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3A · Pronunciation · third person -s   ·   📖 SB p.22 · 3a, 3b · audio 3.6 (TG notes)</a:t>
            </a:r>
            <a:endParaRPr lang="en-US" sz="800" dirty="0"/>
          </a:p>
        </p:txBody>
      </p:sp>
      <p:sp>
        <p:nvSpPr>
          <p:cNvPr id="12" name="cd_262"/>
          <p:cNvSpPr/>
          <p:nvPr/>
        </p:nvSpPr>
        <p:spPr>
          <a:xfrm>
            <a:off x="320040" y="1417320"/>
            <a:ext cx="2697480" cy="1911096"/>
          </a:xfrm>
          <a:prstGeom prst="roundRect">
            <a:avLst>
              <a:gd name="adj" fmla="val 6699"/>
            </a:avLst>
          </a:prstGeom>
          <a:solidFill>
            <a:srgbClr val="EEE8FB"/>
          </a:solidFill>
          <a:ln w="28575">
            <a:solidFill>
              <a:srgbClr val="CDBFF3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13" name="ii_263"/>
          <p:cNvSpPr/>
          <p:nvPr/>
        </p:nvSpPr>
        <p:spPr>
          <a:xfrm>
            <a:off x="411480" y="149047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🏷️</a:t>
            </a:r>
            <a:endParaRPr lang="en-US" sz="2200" dirty="0"/>
          </a:p>
        </p:txBody>
      </p:sp>
      <p:sp>
        <p:nvSpPr>
          <p:cNvPr id="14" name="ih_264"/>
          <p:cNvSpPr/>
          <p:nvPr/>
        </p:nvSpPr>
        <p:spPr>
          <a:xfrm>
            <a:off x="886968" y="1508760"/>
            <a:ext cx="2057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The sounds</a:t>
            </a:r>
            <a:endParaRPr lang="en-US" sz="1300" dirty="0"/>
          </a:p>
        </p:txBody>
      </p:sp>
      <p:sp>
        <p:nvSpPr>
          <p:cNvPr id="15" name="lg_265"/>
          <p:cNvSpPr/>
          <p:nvPr/>
        </p:nvSpPr>
        <p:spPr>
          <a:xfrm>
            <a:off x="457200" y="1984248"/>
            <a:ext cx="1188720" cy="310896"/>
          </a:xfrm>
          <a:prstGeom prst="roundRect">
            <a:avLst>
              <a:gd name="adj" fmla="val 50000"/>
            </a:avLst>
          </a:prstGeom>
          <a:solidFill>
            <a:srgbClr val="F7A6C4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🐍 /s/ books</a:t>
            </a:r>
            <a:endParaRPr lang="en-US" sz="1050" dirty="0"/>
          </a:p>
        </p:txBody>
      </p:sp>
      <p:sp>
        <p:nvSpPr>
          <p:cNvPr id="16" name="lg_266"/>
          <p:cNvSpPr/>
          <p:nvPr/>
        </p:nvSpPr>
        <p:spPr>
          <a:xfrm>
            <a:off x="1719072" y="1984248"/>
            <a:ext cx="1188720" cy="310896"/>
          </a:xfrm>
          <a:prstGeom prst="roundRect">
            <a:avLst>
              <a:gd name="adj" fmla="val 50000"/>
            </a:avLst>
          </a:prstGeom>
          <a:solidFill>
            <a:srgbClr val="8FC9F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🐝 /z/ keys</a:t>
            </a:r>
            <a:endParaRPr lang="en-US" sz="1050" dirty="0"/>
          </a:p>
        </p:txBody>
      </p:sp>
      <p:sp>
        <p:nvSpPr>
          <p:cNvPr id="17" name="lg_267"/>
          <p:cNvSpPr/>
          <p:nvPr/>
        </p:nvSpPr>
        <p:spPr>
          <a:xfrm>
            <a:off x="457200" y="2368296"/>
            <a:ext cx="1188720" cy="310896"/>
          </a:xfrm>
          <a:prstGeom prst="roundRect">
            <a:avLst>
              <a:gd name="adj" fmla="val 50000"/>
            </a:avLst>
          </a:prstGeom>
          <a:solidFill>
            <a:srgbClr val="8FD9A8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/ɪz/ watches</a:t>
            </a:r>
            <a:endParaRPr lang="en-US" sz="1050" dirty="0"/>
          </a:p>
        </p:txBody>
      </p:sp>
      <p:sp>
        <p:nvSpPr>
          <p:cNvPr id="18" name="sq_268"/>
          <p:cNvSpPr/>
          <p:nvPr/>
        </p:nvSpPr>
        <p:spPr>
          <a:xfrm>
            <a:off x="3246120" y="1417320"/>
            <a:ext cx="3840480" cy="265176"/>
          </a:xfrm>
          <a:prstGeom prst="roundRect">
            <a:avLst>
              <a:gd name="adj" fmla="val 34483"/>
            </a:avLst>
          </a:prstGeom>
          <a:solidFill>
            <a:srgbClr val="FFFFFF"/>
          </a:solidFill>
          <a:ln w="28575">
            <a:solidFill>
              <a:srgbClr val="F7A6C4"/>
            </a:solidFill>
          </a:ln>
        </p:spPr>
        <p:txBody>
          <a:bodyPr wrap="square" lIns="101600" tIns="0" rIns="10160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e.g. She speak</a:t>
            </a:r>
            <a:pPr indent="0" marL="0">
              <a:buNone/>
            </a:pPr>
            <a:r>
              <a:rPr lang="en-US" sz="1200" b="1" dirty="0">
                <a:solidFill>
                  <a:srgbClr val="C2185B"/>
                </a:solidFill>
                <a:highlight>
                  <a:srgbClr val="FFF1A8"/>
                </a:highlight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</a:t>
            </a:r>
            <a:pPr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Arabic.</a:t>
            </a:r>
            <a:endParaRPr lang="en-US" sz="1200" dirty="0"/>
          </a:p>
        </p:txBody>
      </p:sp>
      <p:sp>
        <p:nvSpPr>
          <p:cNvPr id="19" name="R1_tag269"/>
          <p:cNvSpPr/>
          <p:nvPr/>
        </p:nvSpPr>
        <p:spPr>
          <a:xfrm>
            <a:off x="7178040" y="1417320"/>
            <a:ext cx="1691640" cy="265176"/>
          </a:xfrm>
          <a:prstGeom prst="roundRect">
            <a:avLst>
              <a:gd name="adj" fmla="val 86207"/>
            </a:avLst>
          </a:prstGeom>
          <a:solidFill>
            <a:srgbClr val="F7A6C4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🐍 /s/ books</a:t>
            </a:r>
            <a:endParaRPr lang="en-US" sz="1150" dirty="0"/>
          </a:p>
        </p:txBody>
      </p:sp>
      <p:sp>
        <p:nvSpPr>
          <p:cNvPr id="20" name="sq_270"/>
          <p:cNvSpPr/>
          <p:nvPr/>
        </p:nvSpPr>
        <p:spPr>
          <a:xfrm>
            <a:off x="3246120" y="1746504"/>
            <a:ext cx="3840480" cy="265176"/>
          </a:xfrm>
          <a:prstGeom prst="roundRect">
            <a:avLst>
              <a:gd name="adj" fmla="val 34483"/>
            </a:avLst>
          </a:prstGeom>
          <a:solidFill>
            <a:srgbClr val="FFFFFF"/>
          </a:solidFill>
          <a:ln w="28575">
            <a:solidFill>
              <a:srgbClr val="A9D3F5"/>
            </a:solidFill>
          </a:ln>
        </p:spPr>
        <p:txBody>
          <a:bodyPr wrap="square" lIns="101600" tIns="0" rIns="10160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He drink</a:t>
            </a:r>
            <a:pPr indent="0" marL="0">
              <a:buNone/>
            </a:pPr>
            <a:r>
              <a:rPr lang="en-US" sz="1200" b="1" dirty="0">
                <a:solidFill>
                  <a:srgbClr val="C2185B"/>
                </a:solidFill>
                <a:highlight>
                  <a:srgbClr val="FFF1A8"/>
                </a:highlight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</a:t>
            </a:r>
            <a:pPr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a lot of coffee.</a:t>
            </a:r>
            <a:endParaRPr lang="en-US" sz="1200" dirty="0"/>
          </a:p>
        </p:txBody>
      </p:sp>
      <p:sp>
        <p:nvSpPr>
          <p:cNvPr id="21" name="R2_tag271"/>
          <p:cNvSpPr/>
          <p:nvPr/>
        </p:nvSpPr>
        <p:spPr>
          <a:xfrm>
            <a:off x="7178040" y="1746504"/>
            <a:ext cx="1691640" cy="265176"/>
          </a:xfrm>
          <a:prstGeom prst="roundRect">
            <a:avLst>
              <a:gd name="adj" fmla="val 86207"/>
            </a:avLst>
          </a:prstGeom>
          <a:solidFill>
            <a:srgbClr val="F7A6C4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🐍 /s/ books</a:t>
            </a:r>
            <a:endParaRPr lang="en-US" sz="1150" dirty="0"/>
          </a:p>
        </p:txBody>
      </p:sp>
      <p:sp>
        <p:nvSpPr>
          <p:cNvPr id="22" name="sq_272"/>
          <p:cNvSpPr/>
          <p:nvPr/>
        </p:nvSpPr>
        <p:spPr>
          <a:xfrm>
            <a:off x="3246120" y="2075688"/>
            <a:ext cx="3840480" cy="265176"/>
          </a:xfrm>
          <a:prstGeom prst="roundRect">
            <a:avLst>
              <a:gd name="adj" fmla="val 34483"/>
            </a:avLst>
          </a:prstGeom>
          <a:solidFill>
            <a:srgbClr val="FFFFFF"/>
          </a:solidFill>
          <a:ln w="28575">
            <a:solidFill>
              <a:srgbClr val="A8E5BE"/>
            </a:solidFill>
          </a:ln>
        </p:spPr>
        <p:txBody>
          <a:bodyPr wrap="square" lIns="101600" tIns="0" rIns="10160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She cook</a:t>
            </a:r>
            <a:pPr indent="0" marL="0">
              <a:buNone/>
            </a:pPr>
            <a:r>
              <a:rPr lang="en-US" sz="1200" b="1" dirty="0">
                <a:solidFill>
                  <a:srgbClr val="C2185B"/>
                </a:solidFill>
                <a:highlight>
                  <a:srgbClr val="FFF1A8"/>
                </a:highlight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</a:t>
            </a:r>
            <a:pPr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every day.</a:t>
            </a:r>
            <a:endParaRPr lang="en-US" sz="1200" dirty="0"/>
          </a:p>
        </p:txBody>
      </p:sp>
      <p:sp>
        <p:nvSpPr>
          <p:cNvPr id="23" name="R3_tag273"/>
          <p:cNvSpPr/>
          <p:nvPr/>
        </p:nvSpPr>
        <p:spPr>
          <a:xfrm>
            <a:off x="7178040" y="2075688"/>
            <a:ext cx="1691640" cy="265176"/>
          </a:xfrm>
          <a:prstGeom prst="roundRect">
            <a:avLst>
              <a:gd name="adj" fmla="val 86207"/>
            </a:avLst>
          </a:prstGeom>
          <a:solidFill>
            <a:srgbClr val="F7A6C4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🐍 /s/ books</a:t>
            </a:r>
            <a:endParaRPr lang="en-US" sz="1150" dirty="0"/>
          </a:p>
        </p:txBody>
      </p:sp>
      <p:sp>
        <p:nvSpPr>
          <p:cNvPr id="24" name="sq_274"/>
          <p:cNvSpPr/>
          <p:nvPr/>
        </p:nvSpPr>
        <p:spPr>
          <a:xfrm>
            <a:off x="3246120" y="2404872"/>
            <a:ext cx="3840480" cy="265176"/>
          </a:xfrm>
          <a:prstGeom prst="roundRect">
            <a:avLst>
              <a:gd name="adj" fmla="val 34483"/>
            </a:avLst>
          </a:prstGeom>
          <a:solidFill>
            <a:srgbClr val="FFFFFF"/>
          </a:solidFill>
          <a:ln w="28575">
            <a:solidFill>
              <a:srgbClr val="FFE07A"/>
            </a:solidFill>
          </a:ln>
        </p:spPr>
        <p:txBody>
          <a:bodyPr wrap="square" lIns="101600" tIns="0" rIns="10160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It rain</a:t>
            </a:r>
            <a:pPr indent="0" marL="0">
              <a:buNone/>
            </a:pPr>
            <a:r>
              <a:rPr lang="en-US" sz="1200" b="1" dirty="0">
                <a:solidFill>
                  <a:srgbClr val="C2185B"/>
                </a:solidFill>
                <a:highlight>
                  <a:srgbClr val="FFF1A8"/>
                </a:highlight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</a:t>
            </a:r>
            <a:pPr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a lot.</a:t>
            </a:r>
            <a:endParaRPr lang="en-US" sz="1200" dirty="0"/>
          </a:p>
        </p:txBody>
      </p:sp>
      <p:sp>
        <p:nvSpPr>
          <p:cNvPr id="25" name="R4_tag275"/>
          <p:cNvSpPr/>
          <p:nvPr/>
        </p:nvSpPr>
        <p:spPr>
          <a:xfrm>
            <a:off x="7178040" y="2404872"/>
            <a:ext cx="1691640" cy="265176"/>
          </a:xfrm>
          <a:prstGeom prst="roundRect">
            <a:avLst>
              <a:gd name="adj" fmla="val 86207"/>
            </a:avLst>
          </a:prstGeom>
          <a:solidFill>
            <a:srgbClr val="8FC9F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🐝 /z/ keys</a:t>
            </a:r>
            <a:endParaRPr lang="en-US" sz="1150" dirty="0"/>
          </a:p>
        </p:txBody>
      </p:sp>
      <p:sp>
        <p:nvSpPr>
          <p:cNvPr id="26" name="sq_276"/>
          <p:cNvSpPr/>
          <p:nvPr/>
        </p:nvSpPr>
        <p:spPr>
          <a:xfrm>
            <a:off x="3246120" y="2734056"/>
            <a:ext cx="3840480" cy="265176"/>
          </a:xfrm>
          <a:prstGeom prst="roundRect">
            <a:avLst>
              <a:gd name="adj" fmla="val 34483"/>
            </a:avLst>
          </a:prstGeom>
          <a:solidFill>
            <a:srgbClr val="FFFFFF"/>
          </a:solidFill>
          <a:ln w="28575">
            <a:solidFill>
              <a:srgbClr val="F7A6C4"/>
            </a:solidFill>
          </a:ln>
        </p:spPr>
        <p:txBody>
          <a:bodyPr wrap="square" lIns="101600" tIns="0" rIns="10160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He ha</a:t>
            </a:r>
            <a:pPr indent="0" marL="0">
              <a:buNone/>
            </a:pPr>
            <a:r>
              <a:rPr lang="en-US" sz="1200" b="1" dirty="0">
                <a:solidFill>
                  <a:srgbClr val="C2185B"/>
                </a:solidFill>
                <a:highlight>
                  <a:srgbClr val="FFF1A8"/>
                </a:highlight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</a:t>
            </a:r>
            <a:pPr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a cat.</a:t>
            </a:r>
            <a:endParaRPr lang="en-US" sz="1200" dirty="0"/>
          </a:p>
        </p:txBody>
      </p:sp>
      <p:sp>
        <p:nvSpPr>
          <p:cNvPr id="27" name="R5_tag277"/>
          <p:cNvSpPr/>
          <p:nvPr/>
        </p:nvSpPr>
        <p:spPr>
          <a:xfrm>
            <a:off x="7178040" y="2734056"/>
            <a:ext cx="1691640" cy="265176"/>
          </a:xfrm>
          <a:prstGeom prst="roundRect">
            <a:avLst>
              <a:gd name="adj" fmla="val 86207"/>
            </a:avLst>
          </a:prstGeom>
          <a:solidFill>
            <a:srgbClr val="8FC9F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🐝 /z/ keys</a:t>
            </a:r>
            <a:endParaRPr lang="en-US" sz="1150" dirty="0"/>
          </a:p>
        </p:txBody>
      </p:sp>
      <p:sp>
        <p:nvSpPr>
          <p:cNvPr id="28" name="sq_278"/>
          <p:cNvSpPr/>
          <p:nvPr/>
        </p:nvSpPr>
        <p:spPr>
          <a:xfrm>
            <a:off x="3246120" y="3063240"/>
            <a:ext cx="3840480" cy="265176"/>
          </a:xfrm>
          <a:prstGeom prst="roundRect">
            <a:avLst>
              <a:gd name="adj" fmla="val 34483"/>
            </a:avLst>
          </a:prstGeom>
          <a:solidFill>
            <a:srgbClr val="FFFFFF"/>
          </a:solidFill>
          <a:ln w="28575">
            <a:solidFill>
              <a:srgbClr val="A9D3F5"/>
            </a:solidFill>
          </a:ln>
        </p:spPr>
        <p:txBody>
          <a:bodyPr wrap="square" lIns="101600" tIns="0" rIns="10160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She do</a:t>
            </a:r>
            <a:pPr indent="0" marL="0">
              <a:buNone/>
            </a:pPr>
            <a:r>
              <a:rPr lang="en-US" sz="1200" b="1" dirty="0">
                <a:solidFill>
                  <a:srgbClr val="C2185B"/>
                </a:solidFill>
                <a:highlight>
                  <a:srgbClr val="FFF1A8"/>
                </a:highlight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es</a:t>
            </a:r>
            <a:pPr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exercise.</a:t>
            </a:r>
            <a:endParaRPr lang="en-US" sz="1200" dirty="0"/>
          </a:p>
        </p:txBody>
      </p:sp>
      <p:sp>
        <p:nvSpPr>
          <p:cNvPr id="29" name="R6_tag279"/>
          <p:cNvSpPr/>
          <p:nvPr/>
        </p:nvSpPr>
        <p:spPr>
          <a:xfrm>
            <a:off x="7178040" y="3063240"/>
            <a:ext cx="1691640" cy="265176"/>
          </a:xfrm>
          <a:prstGeom prst="roundRect">
            <a:avLst>
              <a:gd name="adj" fmla="val 86207"/>
            </a:avLst>
          </a:prstGeom>
          <a:solidFill>
            <a:srgbClr val="8FC9F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🐝 /z/ keys</a:t>
            </a:r>
            <a:endParaRPr lang="en-US" sz="1150" dirty="0"/>
          </a:p>
        </p:txBody>
      </p:sp>
      <p:sp>
        <p:nvSpPr>
          <p:cNvPr id="30" name="sq_280"/>
          <p:cNvSpPr/>
          <p:nvPr/>
        </p:nvSpPr>
        <p:spPr>
          <a:xfrm>
            <a:off x="3246120" y="3392424"/>
            <a:ext cx="3840480" cy="265176"/>
          </a:xfrm>
          <a:prstGeom prst="roundRect">
            <a:avLst>
              <a:gd name="adj" fmla="val 34483"/>
            </a:avLst>
          </a:prstGeom>
          <a:solidFill>
            <a:srgbClr val="FFFFFF"/>
          </a:solidFill>
          <a:ln w="28575">
            <a:solidFill>
              <a:srgbClr val="A8E5BE"/>
            </a:solidFill>
          </a:ln>
        </p:spPr>
        <p:txBody>
          <a:bodyPr wrap="square" lIns="101600" tIns="0" rIns="10160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He go</a:t>
            </a:r>
            <a:pPr indent="0" marL="0">
              <a:buNone/>
            </a:pPr>
            <a:r>
              <a:rPr lang="en-US" sz="1200" b="1" dirty="0">
                <a:solidFill>
                  <a:srgbClr val="C2185B"/>
                </a:solidFill>
                <a:highlight>
                  <a:srgbClr val="FFF1A8"/>
                </a:highlight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es</a:t>
            </a:r>
            <a:pPr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out on Friday night.</a:t>
            </a:r>
            <a:endParaRPr lang="en-US" sz="1200" dirty="0"/>
          </a:p>
        </p:txBody>
      </p:sp>
      <p:sp>
        <p:nvSpPr>
          <p:cNvPr id="31" name="R7_tag281"/>
          <p:cNvSpPr/>
          <p:nvPr/>
        </p:nvSpPr>
        <p:spPr>
          <a:xfrm>
            <a:off x="7178040" y="3392424"/>
            <a:ext cx="1691640" cy="265176"/>
          </a:xfrm>
          <a:prstGeom prst="roundRect">
            <a:avLst>
              <a:gd name="adj" fmla="val 86207"/>
            </a:avLst>
          </a:prstGeom>
          <a:solidFill>
            <a:srgbClr val="8FC9F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🐝 /z/ keys</a:t>
            </a:r>
            <a:endParaRPr lang="en-US" sz="1150" dirty="0"/>
          </a:p>
        </p:txBody>
      </p:sp>
      <p:sp>
        <p:nvSpPr>
          <p:cNvPr id="32" name="sq_282"/>
          <p:cNvSpPr/>
          <p:nvPr/>
        </p:nvSpPr>
        <p:spPr>
          <a:xfrm>
            <a:off x="3246120" y="3721608"/>
            <a:ext cx="3840480" cy="265176"/>
          </a:xfrm>
          <a:prstGeom prst="roundRect">
            <a:avLst>
              <a:gd name="adj" fmla="val 34483"/>
            </a:avLst>
          </a:prstGeom>
          <a:solidFill>
            <a:srgbClr val="FFFFFF"/>
          </a:solidFill>
          <a:ln w="28575">
            <a:solidFill>
              <a:srgbClr val="FFE07A"/>
            </a:solidFill>
          </a:ln>
        </p:spPr>
        <p:txBody>
          <a:bodyPr wrap="square" lIns="101600" tIns="0" rIns="10160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He watch</a:t>
            </a:r>
            <a:pPr indent="0" marL="0">
              <a:buNone/>
            </a:pPr>
            <a:r>
              <a:rPr lang="en-US" sz="1200" b="1" dirty="0">
                <a:solidFill>
                  <a:srgbClr val="C2185B"/>
                </a:solidFill>
                <a:highlight>
                  <a:srgbClr val="FFF1A8"/>
                </a:highlight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es</a:t>
            </a:r>
            <a:pPr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American programmes.</a:t>
            </a:r>
            <a:endParaRPr lang="en-US" sz="1200" dirty="0"/>
          </a:p>
        </p:txBody>
      </p:sp>
      <p:sp>
        <p:nvSpPr>
          <p:cNvPr id="33" name="R8_tag283"/>
          <p:cNvSpPr/>
          <p:nvPr/>
        </p:nvSpPr>
        <p:spPr>
          <a:xfrm>
            <a:off x="7178040" y="3721608"/>
            <a:ext cx="1691640" cy="265176"/>
          </a:xfrm>
          <a:prstGeom prst="roundRect">
            <a:avLst>
              <a:gd name="adj" fmla="val 86207"/>
            </a:avLst>
          </a:prstGeom>
          <a:solidFill>
            <a:srgbClr val="8FD9A8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/ɪz/ watches</a:t>
            </a:r>
            <a:endParaRPr lang="en-US" sz="1150" dirty="0"/>
          </a:p>
        </p:txBody>
      </p:sp>
      <p:sp>
        <p:nvSpPr>
          <p:cNvPr id="34" name="sq_284"/>
          <p:cNvSpPr/>
          <p:nvPr/>
        </p:nvSpPr>
        <p:spPr>
          <a:xfrm>
            <a:off x="3246120" y="4050792"/>
            <a:ext cx="3840480" cy="265176"/>
          </a:xfrm>
          <a:prstGeom prst="roundRect">
            <a:avLst>
              <a:gd name="adj" fmla="val 34483"/>
            </a:avLst>
          </a:prstGeom>
          <a:solidFill>
            <a:srgbClr val="FFFFFF"/>
          </a:solidFill>
          <a:ln w="28575">
            <a:solidFill>
              <a:srgbClr val="F7A6C4"/>
            </a:solidFill>
          </a:ln>
        </p:spPr>
        <p:txBody>
          <a:bodyPr wrap="square" lIns="101600" tIns="0" rIns="10160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The film finish</a:t>
            </a:r>
            <a:pPr indent="0" marL="0">
              <a:buNone/>
            </a:pPr>
            <a:r>
              <a:rPr lang="en-US" sz="1200" b="1" dirty="0">
                <a:solidFill>
                  <a:srgbClr val="C2185B"/>
                </a:solidFill>
                <a:highlight>
                  <a:srgbClr val="FFF1A8"/>
                </a:highlight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es</a:t>
            </a:r>
            <a:pPr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in a minute.</a:t>
            </a:r>
            <a:endParaRPr lang="en-US" sz="1200" dirty="0"/>
          </a:p>
        </p:txBody>
      </p:sp>
      <p:sp>
        <p:nvSpPr>
          <p:cNvPr id="35" name="R9_tag285"/>
          <p:cNvSpPr/>
          <p:nvPr/>
        </p:nvSpPr>
        <p:spPr>
          <a:xfrm>
            <a:off x="7178040" y="4050792"/>
            <a:ext cx="1691640" cy="265176"/>
          </a:xfrm>
          <a:prstGeom prst="roundRect">
            <a:avLst>
              <a:gd name="adj" fmla="val 86207"/>
            </a:avLst>
          </a:prstGeom>
          <a:solidFill>
            <a:srgbClr val="8FD9A8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/ɪz/ watches</a:t>
            </a:r>
            <a:endParaRPr lang="en-US" sz="1150" dirty="0"/>
          </a:p>
        </p:txBody>
      </p:sp>
      <p:sp>
        <p:nvSpPr>
          <p:cNvPr id="36" name="sq_286"/>
          <p:cNvSpPr/>
          <p:nvPr/>
        </p:nvSpPr>
        <p:spPr>
          <a:xfrm>
            <a:off x="3246120" y="4379976"/>
            <a:ext cx="3840480" cy="265176"/>
          </a:xfrm>
          <a:prstGeom prst="roundRect">
            <a:avLst>
              <a:gd name="adj" fmla="val 34483"/>
            </a:avLst>
          </a:prstGeom>
          <a:solidFill>
            <a:srgbClr val="FFFFFF"/>
          </a:solidFill>
          <a:ln w="28575">
            <a:solidFill>
              <a:srgbClr val="A9D3F5"/>
            </a:solidFill>
          </a:ln>
        </p:spPr>
        <p:txBody>
          <a:bodyPr wrap="square" lIns="101600" tIns="0" rIns="10160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The bar clos</a:t>
            </a:r>
            <a:pPr indent="0" marL="0">
              <a:buNone/>
            </a:pPr>
            <a:r>
              <a:rPr lang="en-US" sz="1200" b="1" dirty="0">
                <a:solidFill>
                  <a:srgbClr val="C2185B"/>
                </a:solidFill>
                <a:highlight>
                  <a:srgbClr val="FFF1A8"/>
                </a:highlight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es</a:t>
            </a:r>
            <a:pPr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at eleven.</a:t>
            </a:r>
            <a:endParaRPr lang="en-US" sz="1200" dirty="0"/>
          </a:p>
        </p:txBody>
      </p:sp>
      <p:sp>
        <p:nvSpPr>
          <p:cNvPr id="37" name="R10_tag287"/>
          <p:cNvSpPr/>
          <p:nvPr/>
        </p:nvSpPr>
        <p:spPr>
          <a:xfrm>
            <a:off x="7178040" y="4379976"/>
            <a:ext cx="1691640" cy="265176"/>
          </a:xfrm>
          <a:prstGeom prst="roundRect">
            <a:avLst>
              <a:gd name="adj" fmla="val 86207"/>
            </a:avLst>
          </a:prstGeom>
          <a:solidFill>
            <a:srgbClr val="8FD9A8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/ɪz/ watches</a:t>
            </a:r>
            <a:endParaRPr lang="en-US" sz="1150" dirty="0"/>
          </a:p>
        </p:txBody>
      </p:sp>
    </p:spTree>
  </p:cSld>
  <p:clrMapOvr>
    <a:masterClrMapping/>
  </p:clrMapOvr>
  <p:transition spd="med">
    <p:push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4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4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4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4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4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4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4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bd_288"/>
          <p:cNvSpPr/>
          <p:nvPr/>
        </p:nvSpPr>
        <p:spPr>
          <a:xfrm>
            <a:off x="201168" y="164592"/>
            <a:ext cx="841248" cy="841248"/>
          </a:xfrm>
          <a:prstGeom prst="ellipse">
            <a:avLst/>
          </a:prstGeom>
          <a:solidFill>
            <a:srgbClr val="E8508F"/>
          </a:solidFill>
          <a:ln w="28575">
            <a:solidFill>
              <a:srgbClr val="F7A6C4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11</a:t>
            </a:r>
            <a:endParaRPr lang="en-US" sz="2200" dirty="0"/>
          </a:p>
        </p:txBody>
      </p:sp>
      <p:pic>
        <p:nvPicPr>
          <p:cNvPr id="4" name="brY_289" descr="/home/claude/lls-course/v2/assets/brush-yellow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46304"/>
            <a:ext cx="5760720" cy="621792"/>
          </a:xfrm>
          <a:prstGeom prst="rect">
            <a:avLst/>
          </a:prstGeom>
        </p:spPr>
      </p:pic>
      <p:sp>
        <p:nvSpPr>
          <p:cNvPr id="5" name="title_290"/>
          <p:cNvSpPr/>
          <p:nvPr/>
        </p:nvSpPr>
        <p:spPr>
          <a:xfrm>
            <a:off x="1261872" y="164592"/>
            <a:ext cx="54864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5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I play tennis. Eva plays tennis!</a:t>
            </a:r>
            <a:endParaRPr lang="en-US" sz="2500" dirty="0"/>
          </a:p>
        </p:txBody>
      </p:sp>
      <p:pic>
        <p:nvPicPr>
          <p:cNvPr id="6" name="brP_291" descr="/home/claude/lls-course/v2/assets/brush-pink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07008" y="731520"/>
            <a:ext cx="5257800" cy="402336"/>
          </a:xfrm>
          <a:prstGeom prst="rect">
            <a:avLst/>
          </a:prstGeom>
        </p:spPr>
      </p:pic>
      <p:sp>
        <p:nvSpPr>
          <p:cNvPr id="7" name="ins_292"/>
          <p:cNvSpPr/>
          <p:nvPr/>
        </p:nvSpPr>
        <p:spPr>
          <a:xfrm>
            <a:off x="1353312" y="731520"/>
            <a:ext cx="500176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00" i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Tell your partner 6 true things about you: 3 + and 3 −. Then tell a NEW partner about your old partner!</a:t>
            </a:r>
            <a:endParaRPr lang="en-US" sz="1100" dirty="0"/>
          </a:p>
        </p:txBody>
      </p:sp>
      <p:sp>
        <p:nvSpPr>
          <p:cNvPr id="8" name="insIT_293"/>
          <p:cNvSpPr/>
          <p:nvPr/>
        </p:nvSpPr>
        <p:spPr>
          <a:xfrm>
            <a:off x="1371600" y="1115568"/>
            <a:ext cx="5074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50" i="1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Di' al compagno 6 cose vere su di te: 3 + e 3 −. Poi raccontale a un NUOVO compagno!</a:t>
            </a:r>
            <a:endParaRPr lang="en-US" sz="850" dirty="0"/>
          </a:p>
        </p:txBody>
      </p:sp>
      <p:sp>
        <p:nvSpPr>
          <p:cNvPr id="9" name="note_294"/>
          <p:cNvSpPr/>
          <p:nvPr/>
        </p:nvSpPr>
        <p:spPr>
          <a:xfrm rot="180000">
            <a:off x="6382512" y="128016"/>
            <a:ext cx="2029968" cy="1024128"/>
          </a:xfrm>
          <a:prstGeom prst="rect">
            <a:avLst/>
          </a:prstGeom>
          <a:solidFill>
            <a:srgbClr val="FFC2DA"/>
          </a:solidFill>
          <a:ln>
            <a:solidFill>
              <a:srgbClr val="FFC2DA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50800" tIns="50800" rIns="50800" bIns="50800" rtlCol="0" anchor="ctr">
            <a:normAutofit/>
          </a:bodyPr>
          <a:lstStyle/>
          <a:p>
            <a:pPr algn="ctr" indent="0" marL="0">
              <a:buNone/>
            </a:pPr>
            <a:r>
              <a:rPr lang="en-US" sz="125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💬 TALK</a:t>
            </a:r>
            <a:pPr algn="ctr" indent="0" marL="0">
              <a:buNone/>
            </a:pPr>
            <a:r>
              <a:rPr lang="en-US" sz="125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 · PARLA</a:t>
            </a:r>
            <a:endParaRPr lang="en-US" sz="125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⏱ 5 min   👥 pairs</a:t>
            </a:r>
            <a:endParaRPr lang="en-US" sz="125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🎯 Speaking · Communicative</a:t>
            </a:r>
            <a:endParaRPr lang="en-US" sz="1250" dirty="0"/>
          </a:p>
        </p:txBody>
      </p:sp>
      <p:pic>
        <p:nvPicPr>
          <p:cNvPr id="10" name="logo_295" descr="/home/claude/lls-course/v2/img/logo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85632" y="128016"/>
            <a:ext cx="502920" cy="502920"/>
          </a:xfrm>
          <a:prstGeom prst="rect">
            <a:avLst/>
          </a:prstGeom>
        </p:spPr>
      </p:pic>
      <p:sp>
        <p:nvSpPr>
          <p:cNvPr id="11" name="foot_296"/>
          <p:cNvSpPr/>
          <p:nvPr/>
        </p:nvSpPr>
        <p:spPr>
          <a:xfrm>
            <a:off x="274320" y="4873752"/>
            <a:ext cx="6858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3A · Speaking · about you   ·   📖 SB p.23 · 3d, 3e</a:t>
            </a:r>
            <a:endParaRPr lang="en-US" sz="800" dirty="0"/>
          </a:p>
        </p:txBody>
      </p:sp>
      <p:sp>
        <p:nvSpPr>
          <p:cNvPr id="12" name="cd_297"/>
          <p:cNvSpPr/>
          <p:nvPr/>
        </p:nvSpPr>
        <p:spPr>
          <a:xfrm>
            <a:off x="320040" y="1417320"/>
            <a:ext cx="2788920" cy="1765808"/>
          </a:xfrm>
          <a:prstGeom prst="roundRect">
            <a:avLst>
              <a:gd name="adj" fmla="val 7250"/>
            </a:avLst>
          </a:prstGeom>
          <a:solidFill>
            <a:srgbClr val="EEE8FB"/>
          </a:solidFill>
          <a:ln w="28575">
            <a:solidFill>
              <a:srgbClr val="CDBFF3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13" name="ii_298"/>
          <p:cNvSpPr/>
          <p:nvPr/>
        </p:nvSpPr>
        <p:spPr>
          <a:xfrm>
            <a:off x="411480" y="149047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💬</a:t>
            </a:r>
            <a:endParaRPr lang="en-US" sz="2200" dirty="0"/>
          </a:p>
        </p:txBody>
      </p:sp>
      <p:sp>
        <p:nvSpPr>
          <p:cNvPr id="14" name="ih_299"/>
          <p:cNvSpPr/>
          <p:nvPr/>
        </p:nvSpPr>
        <p:spPr>
          <a:xfrm>
            <a:off x="886968" y="1508760"/>
            <a:ext cx="2148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Useful phrases</a:t>
            </a:r>
            <a:endParaRPr lang="en-US" sz="1300" dirty="0"/>
          </a:p>
        </p:txBody>
      </p:sp>
      <p:sp>
        <p:nvSpPr>
          <p:cNvPr id="15" name="il_300"/>
          <p:cNvSpPr/>
          <p:nvPr/>
        </p:nvSpPr>
        <p:spPr>
          <a:xfrm>
            <a:off x="886968" y="1911096"/>
            <a:ext cx="2130552" cy="11988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1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I play… / I don't…</a:t>
            </a:r>
            <a:endParaRPr lang="en-US" sz="1150" dirty="0"/>
          </a:p>
          <a:p>
            <a:pPr marL="152400" indent="-152400">
              <a:spcBef>
                <a:spcPts val="600"/>
              </a:spcBef>
              <a:spcAft>
                <a:spcPts val="200"/>
              </a:spcAft>
              <a:buSzPct val="100000"/>
              <a:buChar char="•"/>
            </a:pPr>
            <a:r>
              <a:rPr lang="en-US" sz="11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I live in… / I don't have…</a:t>
            </a:r>
            <a:endParaRPr lang="en-US" sz="1150" dirty="0"/>
          </a:p>
          <a:p>
            <a:pPr marL="152400" indent="-152400">
              <a:spcBef>
                <a:spcPts val="600"/>
              </a:spcBef>
              <a:spcAft>
                <a:spcPts val="200"/>
              </a:spcAft>
              <a:buSzPct val="100000"/>
              <a:buChar char="•"/>
            </a:pPr>
            <a:r>
              <a:rPr lang="en-US" sz="11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Eva plays tennis.</a:t>
            </a:r>
            <a:endParaRPr lang="en-US" sz="1150" dirty="0"/>
          </a:p>
          <a:p>
            <a:pPr marL="152400" indent="-152400">
              <a:spcBef>
                <a:spcPts val="600"/>
              </a:spcBef>
              <a:spcAft>
                <a:spcPts val="200"/>
              </a:spcAft>
              <a:buSzPct val="100000"/>
              <a:buChar char="•"/>
            </a:pPr>
            <a:r>
              <a:rPr lang="en-US" sz="11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She doesn't wear glasses.</a:t>
            </a:r>
            <a:endParaRPr lang="en-US" sz="1150" dirty="0"/>
          </a:p>
        </p:txBody>
      </p:sp>
      <p:sp>
        <p:nvSpPr>
          <p:cNvPr id="16" name="R1_qb301"/>
          <p:cNvSpPr/>
          <p:nvPr/>
        </p:nvSpPr>
        <p:spPr>
          <a:xfrm>
            <a:off x="3273552" y="1453896"/>
            <a:ext cx="329184" cy="329184"/>
          </a:xfrm>
          <a:prstGeom prst="ellipse">
            <a:avLst/>
          </a:prstGeom>
          <a:solidFill>
            <a:srgbClr val="E8508F"/>
          </a:solidFill>
          <a:ln w="28575">
            <a:solidFill>
              <a:srgbClr val="F7A6C4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1</a:t>
            </a:r>
            <a:endParaRPr lang="en-US" sz="1100" dirty="0"/>
          </a:p>
        </p:txBody>
      </p:sp>
      <p:sp>
        <p:nvSpPr>
          <p:cNvPr id="17" name="R1_sq302"/>
          <p:cNvSpPr/>
          <p:nvPr/>
        </p:nvSpPr>
        <p:spPr>
          <a:xfrm>
            <a:off x="3675888" y="1417320"/>
            <a:ext cx="5193792" cy="530352"/>
          </a:xfrm>
          <a:prstGeom prst="roundRect">
            <a:avLst>
              <a:gd name="adj" fmla="val 20690"/>
            </a:avLst>
          </a:prstGeom>
          <a:solidFill>
            <a:srgbClr val="FFFFFF"/>
          </a:solidFill>
          <a:ln w="28575">
            <a:solidFill>
              <a:srgbClr val="F7A6C4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127000" tIns="25400" rIns="127000" bIns="25400" rtlCol="0" anchor="ctr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Choose 6 verb phrases from the Vocabulary Bank: 3 true +, 3 true −.</a:t>
            </a:r>
            <a:endParaRPr lang="en-US" sz="1050" dirty="0"/>
          </a:p>
          <a:p>
            <a:pPr indent="0" marL="0">
              <a:buNone/>
            </a:pPr>
            <a:r>
              <a:rPr lang="en-US" sz="800" i="1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e.g. I play tennis. I don't wear glasses…</a:t>
            </a:r>
            <a:endParaRPr lang="en-US" sz="1050" dirty="0"/>
          </a:p>
        </p:txBody>
      </p:sp>
      <p:sp>
        <p:nvSpPr>
          <p:cNvPr id="18" name="R2_qb303"/>
          <p:cNvSpPr/>
          <p:nvPr/>
        </p:nvSpPr>
        <p:spPr>
          <a:xfrm>
            <a:off x="3273552" y="2057400"/>
            <a:ext cx="329184" cy="329184"/>
          </a:xfrm>
          <a:prstGeom prst="ellipse">
            <a:avLst/>
          </a:prstGeom>
          <a:solidFill>
            <a:srgbClr val="2F8DE4"/>
          </a:solidFill>
          <a:ln w="28575">
            <a:solidFill>
              <a:srgbClr val="A9D3F5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2</a:t>
            </a:r>
            <a:endParaRPr lang="en-US" sz="1100" dirty="0"/>
          </a:p>
        </p:txBody>
      </p:sp>
      <p:sp>
        <p:nvSpPr>
          <p:cNvPr id="19" name="R2_sq304"/>
          <p:cNvSpPr/>
          <p:nvPr/>
        </p:nvSpPr>
        <p:spPr>
          <a:xfrm>
            <a:off x="3675888" y="2020824"/>
            <a:ext cx="5193792" cy="530352"/>
          </a:xfrm>
          <a:prstGeom prst="roundRect">
            <a:avLst>
              <a:gd name="adj" fmla="val 20690"/>
            </a:avLst>
          </a:prstGeom>
          <a:solidFill>
            <a:srgbClr val="FFFFFF"/>
          </a:solidFill>
          <a:ln w="28575">
            <a:solidFill>
              <a:srgbClr val="A9D3F5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127000" tIns="25400" rIns="127000" bIns="2540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Tell your partner. Partner: tick ✓ or cross ✗ – don't forget!</a:t>
            </a:r>
            <a:endParaRPr lang="en-US" sz="1100" dirty="0"/>
          </a:p>
          <a:p>
            <a:pPr indent="0" marL="0">
              <a:buNone/>
            </a:pPr>
            <a:r>
              <a:rPr lang="en-US" sz="850" i="1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e.g. ✓ plays tennis · ✗ glasses</a:t>
            </a:r>
            <a:endParaRPr lang="en-US" sz="1100" dirty="0"/>
          </a:p>
        </p:txBody>
      </p:sp>
      <p:sp>
        <p:nvSpPr>
          <p:cNvPr id="20" name="R3_qb305"/>
          <p:cNvSpPr/>
          <p:nvPr/>
        </p:nvSpPr>
        <p:spPr>
          <a:xfrm>
            <a:off x="3273552" y="2660904"/>
            <a:ext cx="329184" cy="329184"/>
          </a:xfrm>
          <a:prstGeom prst="ellipse">
            <a:avLst/>
          </a:prstGeom>
          <a:solidFill>
            <a:srgbClr val="2EB872"/>
          </a:solidFill>
          <a:ln w="28575">
            <a:solidFill>
              <a:srgbClr val="A8E5BE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3</a:t>
            </a:r>
            <a:endParaRPr lang="en-US" sz="1100" dirty="0"/>
          </a:p>
        </p:txBody>
      </p:sp>
      <p:sp>
        <p:nvSpPr>
          <p:cNvPr id="21" name="R3_sq306"/>
          <p:cNvSpPr/>
          <p:nvPr/>
        </p:nvSpPr>
        <p:spPr>
          <a:xfrm>
            <a:off x="3675888" y="2624328"/>
            <a:ext cx="5193792" cy="530352"/>
          </a:xfrm>
          <a:prstGeom prst="roundRect">
            <a:avLst>
              <a:gd name="adj" fmla="val 20690"/>
            </a:avLst>
          </a:prstGeom>
          <a:solidFill>
            <a:srgbClr val="FFFFFF"/>
          </a:solidFill>
          <a:ln w="28575">
            <a:solidFill>
              <a:srgbClr val="A8E5BE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127000" tIns="25400" rIns="127000" bIns="2540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Change partners. Tell your new partner about your OLD partner.</a:t>
            </a:r>
            <a:endParaRPr lang="en-US" sz="1100" dirty="0"/>
          </a:p>
          <a:p>
            <a:pPr indent="0" marL="0">
              <a:buNone/>
            </a:pPr>
            <a:r>
              <a:rPr lang="en-US" sz="850" i="1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e.g. Eva plays tennis. She doesn't wear glasses…</a:t>
            </a:r>
            <a:endParaRPr lang="en-US" sz="1100" dirty="0"/>
          </a:p>
        </p:txBody>
      </p:sp>
    </p:spTree>
  </p:cSld>
  <p:clrMapOvr>
    <a:masterClrMapping/>
  </p:clrMapOvr>
  <p:transition spd="med">
    <p:push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4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4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4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4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bd_307"/>
          <p:cNvSpPr/>
          <p:nvPr/>
        </p:nvSpPr>
        <p:spPr>
          <a:xfrm>
            <a:off x="201168" y="164592"/>
            <a:ext cx="841248" cy="841248"/>
          </a:xfrm>
          <a:prstGeom prst="ellipse">
            <a:avLst/>
          </a:prstGeom>
          <a:solidFill>
            <a:srgbClr val="2EB872"/>
          </a:solidFill>
          <a:ln w="28575">
            <a:solidFill>
              <a:srgbClr val="A8E5BE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12</a:t>
            </a:r>
            <a:endParaRPr lang="en-US" sz="2200" dirty="0"/>
          </a:p>
        </p:txBody>
      </p:sp>
      <p:pic>
        <p:nvPicPr>
          <p:cNvPr id="4" name="brY_308" descr="/home/claude/lls-course/v2/assets/brush-yellow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46304"/>
            <a:ext cx="4663440" cy="621792"/>
          </a:xfrm>
          <a:prstGeom prst="rect">
            <a:avLst/>
          </a:prstGeom>
        </p:spPr>
      </p:pic>
      <p:sp>
        <p:nvSpPr>
          <p:cNvPr id="5" name="title_309"/>
          <p:cNvSpPr/>
          <p:nvPr/>
        </p:nvSpPr>
        <p:spPr>
          <a:xfrm>
            <a:off x="1261872" y="164592"/>
            <a:ext cx="43891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5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What foreigners think (1)</a:t>
            </a:r>
            <a:endParaRPr lang="en-US" sz="2500" dirty="0"/>
          </a:p>
        </p:txBody>
      </p:sp>
      <p:pic>
        <p:nvPicPr>
          <p:cNvPr id="6" name="brP_310" descr="/home/claude/lls-course/v2/assets/brush-pink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07008" y="731520"/>
            <a:ext cx="5257800" cy="402336"/>
          </a:xfrm>
          <a:prstGeom prst="rect">
            <a:avLst/>
          </a:prstGeom>
        </p:spPr>
      </p:pic>
      <p:sp>
        <p:nvSpPr>
          <p:cNvPr id="7" name="ins_311"/>
          <p:cNvSpPr/>
          <p:nvPr/>
        </p:nvSpPr>
        <p:spPr>
          <a:xfrm>
            <a:off x="1353312" y="731520"/>
            <a:ext cx="500176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00" i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Read part 1. Positive ✓, negative ✗, or both ✓✗? Give reasons.</a:t>
            </a:r>
            <a:endParaRPr lang="en-US" sz="1100" dirty="0"/>
          </a:p>
        </p:txBody>
      </p:sp>
      <p:sp>
        <p:nvSpPr>
          <p:cNvPr id="8" name="insIT_312"/>
          <p:cNvSpPr/>
          <p:nvPr/>
        </p:nvSpPr>
        <p:spPr>
          <a:xfrm>
            <a:off x="1371600" y="1115568"/>
            <a:ext cx="5074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i="1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Leggi la parte 1. Positivo ✓, negativo ✗ o entrambi ✓✗? Perché?</a:t>
            </a:r>
            <a:endParaRPr lang="en-US" sz="950" dirty="0"/>
          </a:p>
        </p:txBody>
      </p:sp>
      <p:sp>
        <p:nvSpPr>
          <p:cNvPr id="9" name="note_313"/>
          <p:cNvSpPr/>
          <p:nvPr/>
        </p:nvSpPr>
        <p:spPr>
          <a:xfrm rot="180000">
            <a:off x="6382512" y="128016"/>
            <a:ext cx="2029968" cy="1024128"/>
          </a:xfrm>
          <a:prstGeom prst="rect">
            <a:avLst/>
          </a:prstGeom>
          <a:solidFill>
            <a:srgbClr val="FFC2DA"/>
          </a:solidFill>
          <a:ln>
            <a:solidFill>
              <a:srgbClr val="FFC2DA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50800" tIns="50800" rIns="50800" bIns="50800" rtlCol="0" anchor="ctr">
            <a:normAutofit/>
          </a:bodyPr>
          <a:lstStyle/>
          <a:p>
            <a:pPr algn="ctr" indent="0" marL="0">
              <a:buNone/>
            </a:pPr>
            <a:r>
              <a:rPr lang="en-US" sz="115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👀 READ</a:t>
            </a:r>
            <a:pPr algn="ctr" indent="0" marL="0">
              <a:buNone/>
            </a:pPr>
            <a:r>
              <a:rPr lang="en-US" sz="1200" dirty="0">
                <a:solidFill>
                  <a:srgbClr val="5B6785"/>
                </a:solidFill>
              </a:rPr>
              <a:t> → </a:t>
            </a:r>
            <a:pPr algn="ctr" indent="0" marL="0">
              <a:buNone/>
            </a:pPr>
            <a:r>
              <a:rPr lang="en-US" sz="115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💡 THINK</a:t>
            </a:r>
            <a:endParaRPr lang="en-US" sz="115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⏱ 4 min   👥 pairs</a:t>
            </a:r>
            <a:endParaRPr lang="en-US" sz="115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🎯 Reading · Identifying attitude</a:t>
            </a:r>
            <a:endParaRPr lang="en-US" sz="1150" dirty="0"/>
          </a:p>
        </p:txBody>
      </p:sp>
      <p:pic>
        <p:nvPicPr>
          <p:cNvPr id="10" name="logo_314" descr="/home/claude/lls-course/v2/img/logo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85632" y="128016"/>
            <a:ext cx="502920" cy="502920"/>
          </a:xfrm>
          <a:prstGeom prst="rect">
            <a:avLst/>
          </a:prstGeom>
        </p:spPr>
      </p:pic>
      <p:sp>
        <p:nvSpPr>
          <p:cNvPr id="11" name="foot_315"/>
          <p:cNvSpPr/>
          <p:nvPr/>
        </p:nvSpPr>
        <p:spPr>
          <a:xfrm>
            <a:off x="274320" y="4873752"/>
            <a:ext cx="6858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3A · Reading · What foreigners who live in Britain think (1)   ·   📖 SB p.23 · 4a (the article is on the slide · TG key)</a:t>
            </a:r>
            <a:endParaRPr lang="en-US" sz="800" dirty="0"/>
          </a:p>
        </p:txBody>
      </p:sp>
      <p:sp>
        <p:nvSpPr>
          <p:cNvPr id="12" name="cd_316"/>
          <p:cNvSpPr/>
          <p:nvPr/>
        </p:nvSpPr>
        <p:spPr>
          <a:xfrm>
            <a:off x="320040" y="1417320"/>
            <a:ext cx="5760720" cy="3364992"/>
          </a:xfrm>
          <a:prstGeom prst="roundRect">
            <a:avLst>
              <a:gd name="adj" fmla="val 3804"/>
            </a:avLst>
          </a:prstGeom>
          <a:solidFill>
            <a:srgbClr val="FFFFFF"/>
          </a:solidFill>
          <a:ln w="28575">
            <a:solidFill>
              <a:srgbClr val="A8E5BE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13" name="rd_317"/>
          <p:cNvSpPr/>
          <p:nvPr/>
        </p:nvSpPr>
        <p:spPr>
          <a:xfrm>
            <a:off x="457200" y="1527048"/>
            <a:ext cx="5486400" cy="30906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spcAft>
                <a:spcPts val="400"/>
              </a:spcAft>
              <a:buNone/>
            </a:pPr>
            <a:r>
              <a:rPr lang="en-US" sz="1750" b="1" dirty="0">
                <a:solidFill>
                  <a:srgbClr val="1F6F4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What foreigners who live in Britain think</a:t>
            </a:r>
            <a:endParaRPr lang="en-US" sz="1250" dirty="0"/>
          </a:p>
          <a:p>
            <a:pPr indent="0" marL="0">
              <a:lnSpc>
                <a:spcPct val="105000"/>
              </a:lnSpc>
              <a:spcAft>
                <a:spcPts val="700"/>
              </a:spcAft>
              <a:buNone/>
            </a:pPr>
            <a:r>
              <a:rPr lang="en-US" sz="125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Erdal, 39, is from Turkey. </a:t>
            </a:r>
            <a:pPr indent="0" marL="0">
              <a:lnSpc>
                <a:spcPct val="105000"/>
              </a:lnSpc>
              <a:spcAft>
                <a:spcPts val="700"/>
              </a:spcAft>
              <a:buNone/>
            </a:pPr>
            <a:r>
              <a:rPr lang="en-US" sz="1250" b="1" u="sng" dirty="0">
                <a:solidFill>
                  <a:srgbClr val="7B5CD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He has</a:t>
            </a:r>
            <a:pPr indent="0" marL="0">
              <a:lnSpc>
                <a:spcPct val="105000"/>
              </a:lnSpc>
              <a:spcAft>
                <a:spcPts val="700"/>
              </a:spcAft>
              <a:buNone/>
            </a:pPr>
            <a:r>
              <a:rPr lang="en-US" sz="125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a café in Cardiff. In Turkey </a:t>
            </a:r>
            <a:pPr indent="0" marL="0">
              <a:lnSpc>
                <a:spcPct val="105000"/>
              </a:lnSpc>
              <a:spcAft>
                <a:spcPts val="700"/>
              </a:spcAft>
              <a:buNone/>
            </a:pPr>
            <a:r>
              <a:rPr lang="en-US" sz="1250" b="1" u="sng" dirty="0">
                <a:solidFill>
                  <a:srgbClr val="7B5CD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we work</a:t>
            </a:r>
            <a:pPr indent="0" marL="0">
              <a:lnSpc>
                <a:spcPct val="105000"/>
              </a:lnSpc>
              <a:spcAft>
                <a:spcPts val="700"/>
              </a:spcAft>
              <a:buNone/>
            </a:pPr>
            <a:r>
              <a:rPr lang="en-US" sz="125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hard and </a:t>
            </a:r>
            <a:pPr indent="0" marL="0">
              <a:lnSpc>
                <a:spcPct val="105000"/>
              </a:lnSpc>
              <a:spcAft>
                <a:spcPts val="700"/>
              </a:spcAft>
              <a:buNone/>
            </a:pPr>
            <a:r>
              <a:rPr lang="en-US" sz="1250" b="1" u="sng" dirty="0">
                <a:solidFill>
                  <a:srgbClr val="7B5CD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our jobs</a:t>
            </a:r>
            <a:pPr indent="0" marL="0">
              <a:lnSpc>
                <a:spcPct val="105000"/>
              </a:lnSpc>
              <a:spcAft>
                <a:spcPts val="700"/>
              </a:spcAft>
              <a:buNone/>
            </a:pPr>
            <a:r>
              <a:rPr lang="en-US" sz="125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are important for us. British </a:t>
            </a:r>
            <a:pPr indent="0" marL="0">
              <a:lnSpc>
                <a:spcPct val="105000"/>
              </a:lnSpc>
              <a:spcAft>
                <a:spcPts val="700"/>
              </a:spcAft>
              <a:buNone/>
            </a:pPr>
            <a:r>
              <a:rPr lang="en-US" sz="1250" b="1" u="sng" dirty="0">
                <a:solidFill>
                  <a:srgbClr val="7B5CD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people don't work</a:t>
            </a:r>
            <a:pPr indent="0" marL="0">
              <a:lnSpc>
                <a:spcPct val="105000"/>
              </a:lnSpc>
              <a:spcAft>
                <a:spcPts val="700"/>
              </a:spcAft>
              <a:buNone/>
            </a:pPr>
            <a:r>
              <a:rPr lang="en-US" sz="125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like that. They only want to finish work and go home.</a:t>
            </a:r>
            <a:endParaRPr lang="en-US" sz="1250" dirty="0"/>
          </a:p>
          <a:p>
            <a:pPr indent="0" marL="0">
              <a:lnSpc>
                <a:spcPct val="105000"/>
              </a:lnSpc>
              <a:spcAft>
                <a:spcPts val="700"/>
              </a:spcAft>
              <a:buNone/>
            </a:pPr>
            <a:r>
              <a:rPr lang="en-US" sz="125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Khalal, 39, is from Iraq. </a:t>
            </a:r>
            <a:pPr indent="0" marL="0">
              <a:lnSpc>
                <a:spcPct val="105000"/>
              </a:lnSpc>
              <a:spcAft>
                <a:spcPts val="700"/>
              </a:spcAft>
              <a:buNone/>
            </a:pPr>
            <a:r>
              <a:rPr lang="en-US" sz="1250" b="1" u="sng" dirty="0">
                <a:solidFill>
                  <a:srgbClr val="7B5CD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He lives</a:t>
            </a:r>
            <a:pPr indent="0" marL="0">
              <a:lnSpc>
                <a:spcPct val="105000"/>
              </a:lnSpc>
              <a:spcAft>
                <a:spcPts val="700"/>
              </a:spcAft>
              <a:buNone/>
            </a:pPr>
            <a:r>
              <a:rPr lang="en-US" sz="125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in Newcastle. </a:t>
            </a:r>
            <a:pPr indent="0" marL="0">
              <a:lnSpc>
                <a:spcPct val="105000"/>
              </a:lnSpc>
              <a:spcAft>
                <a:spcPts val="700"/>
              </a:spcAft>
              <a:buNone/>
            </a:pPr>
            <a:r>
              <a:rPr lang="en-US" sz="1250" b="1" u="sng" dirty="0">
                <a:solidFill>
                  <a:srgbClr val="7B5CD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 don't like</a:t>
            </a:r>
            <a:pPr indent="0" marL="0">
              <a:lnSpc>
                <a:spcPct val="105000"/>
              </a:lnSpc>
              <a:spcAft>
                <a:spcPts val="700"/>
              </a:spcAft>
              <a:buNone/>
            </a:pPr>
            <a:r>
              <a:rPr lang="en-US" sz="125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the weather. One minute it's hot and the next it rains. </a:t>
            </a:r>
            <a:pPr indent="0" marL="0">
              <a:lnSpc>
                <a:spcPct val="105000"/>
              </a:lnSpc>
              <a:spcAft>
                <a:spcPts val="700"/>
              </a:spcAft>
              <a:buNone/>
            </a:pPr>
            <a:r>
              <a:rPr lang="en-US" sz="1250" b="1" u="sng" dirty="0">
                <a:solidFill>
                  <a:srgbClr val="7B5CD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It changes</a:t>
            </a:r>
            <a:pPr indent="0" marL="0">
              <a:lnSpc>
                <a:spcPct val="105000"/>
              </a:lnSpc>
              <a:spcAft>
                <a:spcPts val="700"/>
              </a:spcAft>
              <a:buNone/>
            </a:pPr>
            <a:r>
              <a:rPr lang="en-US" sz="125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all the time. And </a:t>
            </a:r>
            <a:pPr indent="0" marL="0">
              <a:lnSpc>
                <a:spcPct val="105000"/>
              </a:lnSpc>
              <a:spcAft>
                <a:spcPts val="700"/>
              </a:spcAft>
              <a:buNone/>
            </a:pPr>
            <a:r>
              <a:rPr lang="en-US" sz="1250" b="1" u="sng" dirty="0">
                <a:solidFill>
                  <a:srgbClr val="7B5CD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 don't like</a:t>
            </a:r>
            <a:pPr indent="0" marL="0">
              <a:lnSpc>
                <a:spcPct val="105000"/>
              </a:lnSpc>
              <a:spcAft>
                <a:spcPts val="700"/>
              </a:spcAft>
              <a:buNone/>
            </a:pPr>
            <a:r>
              <a:rPr lang="en-US" sz="125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the food. Potatoes, potatoes, potatoes…</a:t>
            </a:r>
            <a:endParaRPr lang="en-US" sz="1250" dirty="0"/>
          </a:p>
          <a:p>
            <a:pPr indent="0" marL="0">
              <a:lnSpc>
                <a:spcPct val="105000"/>
              </a:lnSpc>
              <a:spcAft>
                <a:spcPts val="700"/>
              </a:spcAft>
              <a:buNone/>
            </a:pPr>
            <a:r>
              <a:rPr lang="en-US" sz="125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Camille, 20, is from France. </a:t>
            </a:r>
            <a:pPr indent="0" marL="0">
              <a:lnSpc>
                <a:spcPct val="105000"/>
              </a:lnSpc>
              <a:spcAft>
                <a:spcPts val="700"/>
              </a:spcAft>
              <a:buNone/>
            </a:pPr>
            <a:r>
              <a:rPr lang="en-US" sz="1250" b="1" u="sng" dirty="0">
                <a:solidFill>
                  <a:srgbClr val="7B5CD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She lives</a:t>
            </a:r>
            <a:pPr indent="0" marL="0">
              <a:lnSpc>
                <a:spcPct val="105000"/>
              </a:lnSpc>
              <a:spcAft>
                <a:spcPts val="700"/>
              </a:spcAft>
              <a:buNone/>
            </a:pPr>
            <a:r>
              <a:rPr lang="en-US" sz="125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in Liverpool. The British are friendly. People in the street often call me 'love', 'sweetheart', and 'darling'. </a:t>
            </a:r>
            <a:pPr indent="0" marL="0">
              <a:lnSpc>
                <a:spcPct val="105000"/>
              </a:lnSpc>
              <a:spcAft>
                <a:spcPts val="700"/>
              </a:spcAft>
              <a:buNone/>
            </a:pPr>
            <a:r>
              <a:rPr lang="en-US" sz="1250" b="1" u="sng" dirty="0">
                <a:solidFill>
                  <a:srgbClr val="7B5CD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It makes</a:t>
            </a:r>
            <a:pPr indent="0" marL="0">
              <a:lnSpc>
                <a:spcPct val="105000"/>
              </a:lnSpc>
              <a:spcAft>
                <a:spcPts val="700"/>
              </a:spcAft>
              <a:buNone/>
            </a:pPr>
            <a:r>
              <a:rPr lang="en-US" sz="125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me happy!</a:t>
            </a:r>
            <a:endParaRPr lang="en-US" sz="1250" dirty="0"/>
          </a:p>
        </p:txBody>
      </p:sp>
      <p:sp>
        <p:nvSpPr>
          <p:cNvPr id="14" name="R1_rdE318"/>
          <p:cNvSpPr/>
          <p:nvPr/>
        </p:nvSpPr>
        <p:spPr>
          <a:xfrm>
            <a:off x="457200" y="1527048"/>
            <a:ext cx="5486400" cy="3090672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spcAft>
                <a:spcPts val="400"/>
              </a:spcAft>
              <a:buNone/>
            </a:pPr>
            <a:r>
              <a:rPr lang="en-US" sz="1750" b="1" dirty="0">
                <a:solidFill>
                  <a:srgbClr val="1F6F4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What foreigners who live in Britain think</a:t>
            </a:r>
            <a:endParaRPr lang="en-US" sz="1250" dirty="0"/>
          </a:p>
          <a:p>
            <a:pPr indent="0" marL="0">
              <a:lnSpc>
                <a:spcPct val="105000"/>
              </a:lnSpc>
              <a:spcAft>
                <a:spcPts val="700"/>
              </a:spcAft>
              <a:buNone/>
            </a:pPr>
            <a:r>
              <a:rPr lang="en-US" sz="125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Erdal, 39, is from Turkey. </a:t>
            </a:r>
            <a:pPr indent="0" marL="0">
              <a:lnSpc>
                <a:spcPct val="105000"/>
              </a:lnSpc>
              <a:spcAft>
                <a:spcPts val="700"/>
              </a:spcAft>
              <a:buNone/>
            </a:pPr>
            <a:r>
              <a:rPr lang="en-US" sz="1250" b="1" u="sng" dirty="0">
                <a:solidFill>
                  <a:srgbClr val="7B5CD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He has</a:t>
            </a:r>
            <a:pPr indent="0" marL="0">
              <a:lnSpc>
                <a:spcPct val="105000"/>
              </a:lnSpc>
              <a:spcAft>
                <a:spcPts val="700"/>
              </a:spcAft>
              <a:buNone/>
            </a:pPr>
            <a:r>
              <a:rPr lang="en-US" sz="125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a café in Cardiff. In Turkey </a:t>
            </a:r>
            <a:pPr indent="0" marL="0">
              <a:lnSpc>
                <a:spcPct val="105000"/>
              </a:lnSpc>
              <a:spcAft>
                <a:spcPts val="700"/>
              </a:spcAft>
              <a:buNone/>
            </a:pPr>
            <a:r>
              <a:rPr lang="en-US" sz="1250" b="1" u="sng" dirty="0">
                <a:solidFill>
                  <a:srgbClr val="7B5CD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we work</a:t>
            </a:r>
            <a:pPr indent="0" marL="0">
              <a:lnSpc>
                <a:spcPct val="105000"/>
              </a:lnSpc>
              <a:spcAft>
                <a:spcPts val="700"/>
              </a:spcAft>
              <a:buNone/>
            </a:pPr>
            <a:r>
              <a:rPr lang="en-US" sz="125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hard and </a:t>
            </a:r>
            <a:pPr indent="0" marL="0">
              <a:lnSpc>
                <a:spcPct val="105000"/>
              </a:lnSpc>
              <a:spcAft>
                <a:spcPts val="700"/>
              </a:spcAft>
              <a:buNone/>
            </a:pPr>
            <a:r>
              <a:rPr lang="en-US" sz="1250" b="1" u="sng" dirty="0">
                <a:solidFill>
                  <a:srgbClr val="7B5CD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our jobs</a:t>
            </a:r>
            <a:pPr indent="0" marL="0">
              <a:lnSpc>
                <a:spcPct val="105000"/>
              </a:lnSpc>
              <a:spcAft>
                <a:spcPts val="700"/>
              </a:spcAft>
              <a:buNone/>
            </a:pPr>
            <a:r>
              <a:rPr lang="en-US" sz="125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are important for us. </a:t>
            </a:r>
            <a:pPr indent="0" marL="0">
              <a:lnSpc>
                <a:spcPct val="105000"/>
              </a:lnSpc>
              <a:spcAft>
                <a:spcPts val="700"/>
              </a:spcAft>
              <a:buNone/>
            </a:pPr>
            <a:r>
              <a:rPr lang="en-US" sz="1250" b="1" dirty="0">
                <a:solidFill>
                  <a:srgbClr val="1B2559"/>
                </a:solidFill>
                <a:highlight>
                  <a:srgbClr val="FFE066"/>
                </a:highlight>
                <a:latin typeface="Georgia" pitchFamily="34" charset="0"/>
                <a:ea typeface="Georgia" pitchFamily="34" charset="-122"/>
                <a:cs typeface="Georgia" pitchFamily="34" charset="-120"/>
              </a:rPr>
              <a:t>British people don't work like that</a:t>
            </a:r>
            <a:pPr indent="0" marL="0">
              <a:lnSpc>
                <a:spcPct val="105000"/>
              </a:lnSpc>
              <a:spcAft>
                <a:spcPts val="700"/>
              </a:spcAft>
              <a:buNone/>
            </a:pPr>
            <a:r>
              <a:rPr lang="en-US" sz="125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. They only want to finish work and go home.</a:t>
            </a:r>
            <a:endParaRPr lang="en-US" sz="1250" dirty="0"/>
          </a:p>
          <a:p>
            <a:pPr indent="0" marL="0">
              <a:lnSpc>
                <a:spcPct val="105000"/>
              </a:lnSpc>
              <a:spcAft>
                <a:spcPts val="700"/>
              </a:spcAft>
              <a:buNone/>
            </a:pPr>
            <a:r>
              <a:rPr lang="en-US" sz="125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Khalal, 39, is from Iraq. </a:t>
            </a:r>
            <a:pPr indent="0" marL="0">
              <a:lnSpc>
                <a:spcPct val="105000"/>
              </a:lnSpc>
              <a:spcAft>
                <a:spcPts val="700"/>
              </a:spcAft>
              <a:buNone/>
            </a:pPr>
            <a:r>
              <a:rPr lang="en-US" sz="1250" b="1" u="sng" dirty="0">
                <a:solidFill>
                  <a:srgbClr val="7B5CD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He lives</a:t>
            </a:r>
            <a:pPr indent="0" marL="0">
              <a:lnSpc>
                <a:spcPct val="105000"/>
              </a:lnSpc>
              <a:spcAft>
                <a:spcPts val="700"/>
              </a:spcAft>
              <a:buNone/>
            </a:pPr>
            <a:r>
              <a:rPr lang="en-US" sz="125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in Newcastle. </a:t>
            </a:r>
            <a:pPr indent="0" marL="0">
              <a:lnSpc>
                <a:spcPct val="105000"/>
              </a:lnSpc>
              <a:spcAft>
                <a:spcPts val="700"/>
              </a:spcAft>
              <a:buNone/>
            </a:pPr>
            <a:r>
              <a:rPr lang="en-US" sz="1250" b="1" dirty="0">
                <a:solidFill>
                  <a:srgbClr val="1B2559"/>
                </a:solidFill>
                <a:highlight>
                  <a:srgbClr val="FFE066"/>
                </a:highlight>
                <a:latin typeface="Georgia" pitchFamily="34" charset="0"/>
                <a:ea typeface="Georgia" pitchFamily="34" charset="-122"/>
                <a:cs typeface="Georgia" pitchFamily="34" charset="-120"/>
              </a:rPr>
              <a:t>I don't like the weather</a:t>
            </a:r>
            <a:pPr indent="0" marL="0">
              <a:lnSpc>
                <a:spcPct val="105000"/>
              </a:lnSpc>
              <a:spcAft>
                <a:spcPts val="700"/>
              </a:spcAft>
              <a:buNone/>
            </a:pPr>
            <a:r>
              <a:rPr lang="en-US" sz="125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. One minute it's hot and the next it rains. </a:t>
            </a:r>
            <a:pPr indent="0" marL="0">
              <a:lnSpc>
                <a:spcPct val="105000"/>
              </a:lnSpc>
              <a:spcAft>
                <a:spcPts val="700"/>
              </a:spcAft>
              <a:buNone/>
            </a:pPr>
            <a:r>
              <a:rPr lang="en-US" sz="1250" b="1" u="sng" dirty="0">
                <a:solidFill>
                  <a:srgbClr val="7B5CD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It changes</a:t>
            </a:r>
            <a:pPr indent="0" marL="0">
              <a:lnSpc>
                <a:spcPct val="105000"/>
              </a:lnSpc>
              <a:spcAft>
                <a:spcPts val="700"/>
              </a:spcAft>
              <a:buNone/>
            </a:pPr>
            <a:r>
              <a:rPr lang="en-US" sz="125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all the time. And </a:t>
            </a:r>
            <a:pPr indent="0" marL="0">
              <a:lnSpc>
                <a:spcPct val="105000"/>
              </a:lnSpc>
              <a:spcAft>
                <a:spcPts val="700"/>
              </a:spcAft>
              <a:buNone/>
            </a:pPr>
            <a:r>
              <a:rPr lang="en-US" sz="1250" b="1" dirty="0">
                <a:solidFill>
                  <a:srgbClr val="1B2559"/>
                </a:solidFill>
                <a:highlight>
                  <a:srgbClr val="FFE066"/>
                </a:highlight>
                <a:latin typeface="Georgia" pitchFamily="34" charset="0"/>
                <a:ea typeface="Georgia" pitchFamily="34" charset="-122"/>
                <a:cs typeface="Georgia" pitchFamily="34" charset="-120"/>
              </a:rPr>
              <a:t>I don't like the food</a:t>
            </a:r>
            <a:pPr indent="0" marL="0">
              <a:lnSpc>
                <a:spcPct val="105000"/>
              </a:lnSpc>
              <a:spcAft>
                <a:spcPts val="700"/>
              </a:spcAft>
              <a:buNone/>
            </a:pPr>
            <a:r>
              <a:rPr lang="en-US" sz="125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. Potatoes, potatoes, potatoes…</a:t>
            </a:r>
            <a:endParaRPr lang="en-US" sz="1250" dirty="0"/>
          </a:p>
          <a:p>
            <a:pPr indent="0" marL="0">
              <a:lnSpc>
                <a:spcPct val="105000"/>
              </a:lnSpc>
              <a:spcAft>
                <a:spcPts val="700"/>
              </a:spcAft>
              <a:buNone/>
            </a:pPr>
            <a:r>
              <a:rPr lang="en-US" sz="125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Camille, 20, is from France. </a:t>
            </a:r>
            <a:pPr indent="0" marL="0">
              <a:lnSpc>
                <a:spcPct val="105000"/>
              </a:lnSpc>
              <a:spcAft>
                <a:spcPts val="700"/>
              </a:spcAft>
              <a:buNone/>
            </a:pPr>
            <a:r>
              <a:rPr lang="en-US" sz="1250" b="1" u="sng" dirty="0">
                <a:solidFill>
                  <a:srgbClr val="7B5CD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She lives</a:t>
            </a:r>
            <a:pPr indent="0" marL="0">
              <a:lnSpc>
                <a:spcPct val="105000"/>
              </a:lnSpc>
              <a:spcAft>
                <a:spcPts val="700"/>
              </a:spcAft>
              <a:buNone/>
            </a:pPr>
            <a:r>
              <a:rPr lang="en-US" sz="125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in Liverpool. </a:t>
            </a:r>
            <a:pPr indent="0" marL="0">
              <a:lnSpc>
                <a:spcPct val="105000"/>
              </a:lnSpc>
              <a:spcAft>
                <a:spcPts val="700"/>
              </a:spcAft>
              <a:buNone/>
            </a:pPr>
            <a:r>
              <a:rPr lang="en-US" sz="1250" b="1" dirty="0">
                <a:solidFill>
                  <a:srgbClr val="1B2559"/>
                </a:solidFill>
                <a:highlight>
                  <a:srgbClr val="FFE066"/>
                </a:highlight>
                <a:latin typeface="Georgia" pitchFamily="34" charset="0"/>
                <a:ea typeface="Georgia" pitchFamily="34" charset="-122"/>
                <a:cs typeface="Georgia" pitchFamily="34" charset="-120"/>
              </a:rPr>
              <a:t>The British are friendly</a:t>
            </a:r>
            <a:pPr indent="0" marL="0">
              <a:lnSpc>
                <a:spcPct val="105000"/>
              </a:lnSpc>
              <a:spcAft>
                <a:spcPts val="700"/>
              </a:spcAft>
              <a:buNone/>
            </a:pPr>
            <a:r>
              <a:rPr lang="en-US" sz="125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. People in the street often call me 'love', 'sweetheart', and 'darling'. </a:t>
            </a:r>
            <a:pPr indent="0" marL="0">
              <a:lnSpc>
                <a:spcPct val="105000"/>
              </a:lnSpc>
              <a:spcAft>
                <a:spcPts val="700"/>
              </a:spcAft>
              <a:buNone/>
            </a:pPr>
            <a:r>
              <a:rPr lang="en-US" sz="1250" b="1" u="sng" dirty="0">
                <a:solidFill>
                  <a:srgbClr val="7B5CD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It makes</a:t>
            </a:r>
            <a:pPr indent="0" marL="0">
              <a:lnSpc>
                <a:spcPct val="105000"/>
              </a:lnSpc>
              <a:spcAft>
                <a:spcPts val="700"/>
              </a:spcAft>
              <a:buNone/>
            </a:pPr>
            <a:r>
              <a:rPr lang="en-US" sz="125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me happy!</a:t>
            </a:r>
            <a:endParaRPr lang="en-US" sz="1250" dirty="0"/>
          </a:p>
        </p:txBody>
      </p:sp>
      <p:sp>
        <p:nvSpPr>
          <p:cNvPr id="15" name="bd_319"/>
          <p:cNvSpPr/>
          <p:nvPr/>
        </p:nvSpPr>
        <p:spPr>
          <a:xfrm>
            <a:off x="6172200" y="1541526"/>
            <a:ext cx="274320" cy="274320"/>
          </a:xfrm>
          <a:prstGeom prst="ellipse">
            <a:avLst/>
          </a:prstGeom>
          <a:solidFill>
            <a:srgbClr val="E8508F"/>
          </a:solidFill>
          <a:ln w="28575">
            <a:solidFill>
              <a:srgbClr val="F7A6C4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1</a:t>
            </a:r>
            <a:endParaRPr lang="en-US" sz="900" dirty="0"/>
          </a:p>
        </p:txBody>
      </p:sp>
      <p:sp>
        <p:nvSpPr>
          <p:cNvPr id="16" name="rq_320"/>
          <p:cNvSpPr/>
          <p:nvPr/>
        </p:nvSpPr>
        <p:spPr>
          <a:xfrm>
            <a:off x="6492240" y="1417320"/>
            <a:ext cx="2423160" cy="522732"/>
          </a:xfrm>
          <a:prstGeom prst="roundRect">
            <a:avLst>
              <a:gd name="adj" fmla="val 13994"/>
            </a:avLst>
          </a:prstGeom>
          <a:solidFill>
            <a:srgbClr val="FFFFFF"/>
          </a:solidFill>
          <a:ln w="28575">
            <a:solidFill>
              <a:srgbClr val="F7A6C4"/>
            </a:solidFill>
          </a:ln>
        </p:spPr>
        <p:txBody>
          <a:bodyPr wrap="square" lIns="76200" tIns="0" rIns="76200" bIns="0" rtlCol="0" anchor="ctr">
            <a:normAutofit/>
          </a:bodyPr>
          <a:lstStyle/>
          <a:p>
            <a:pPr indent="0" marL="0">
              <a:buNone/>
            </a:pPr>
            <a:r>
              <a:rPr lang="en-US" sz="11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Erdal</a:t>
            </a:r>
            <a:endParaRPr lang="en-US" sz="1100" dirty="0"/>
          </a:p>
        </p:txBody>
      </p:sp>
      <p:sp>
        <p:nvSpPr>
          <p:cNvPr id="17" name="R1_chip321"/>
          <p:cNvSpPr/>
          <p:nvPr/>
        </p:nvSpPr>
        <p:spPr>
          <a:xfrm>
            <a:off x="6492240" y="1967484"/>
            <a:ext cx="2423160" cy="495300"/>
          </a:xfrm>
          <a:prstGeom prst="roundRect">
            <a:avLst>
              <a:gd name="adj" fmla="val 18462"/>
            </a:avLst>
          </a:prstGeom>
          <a:solidFill>
            <a:srgbClr val="E3F7EA"/>
          </a:solidFill>
          <a:ln w="28575">
            <a:solidFill>
              <a:srgbClr val="A8E5BE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✗ – 'British people don't work like that.'</a:t>
            </a:r>
            <a:endParaRPr lang="en-US" sz="950" dirty="0"/>
          </a:p>
        </p:txBody>
      </p:sp>
      <p:sp>
        <p:nvSpPr>
          <p:cNvPr id="18" name="bd_322"/>
          <p:cNvSpPr/>
          <p:nvPr/>
        </p:nvSpPr>
        <p:spPr>
          <a:xfrm>
            <a:off x="6172200" y="2678430"/>
            <a:ext cx="274320" cy="274320"/>
          </a:xfrm>
          <a:prstGeom prst="ellipse">
            <a:avLst/>
          </a:prstGeom>
          <a:solidFill>
            <a:srgbClr val="2F8DE4"/>
          </a:solidFill>
          <a:ln w="28575">
            <a:solidFill>
              <a:srgbClr val="A9D3F5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2</a:t>
            </a:r>
            <a:endParaRPr lang="en-US" sz="900" dirty="0"/>
          </a:p>
        </p:txBody>
      </p:sp>
      <p:sp>
        <p:nvSpPr>
          <p:cNvPr id="19" name="rq_323"/>
          <p:cNvSpPr/>
          <p:nvPr/>
        </p:nvSpPr>
        <p:spPr>
          <a:xfrm>
            <a:off x="6492240" y="2554224"/>
            <a:ext cx="2423160" cy="522732"/>
          </a:xfrm>
          <a:prstGeom prst="roundRect">
            <a:avLst>
              <a:gd name="adj" fmla="val 13994"/>
            </a:avLst>
          </a:prstGeom>
          <a:solidFill>
            <a:srgbClr val="FFFFFF"/>
          </a:solidFill>
          <a:ln w="28575">
            <a:solidFill>
              <a:srgbClr val="A9D3F5"/>
            </a:solidFill>
          </a:ln>
        </p:spPr>
        <p:txBody>
          <a:bodyPr wrap="square" lIns="76200" tIns="0" rIns="76200" bIns="0" rtlCol="0" anchor="ctr">
            <a:normAutofit/>
          </a:bodyPr>
          <a:lstStyle/>
          <a:p>
            <a:pPr indent="0" marL="0">
              <a:buNone/>
            </a:pPr>
            <a:r>
              <a:rPr lang="en-US" sz="11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Khalal</a:t>
            </a:r>
            <a:endParaRPr lang="en-US" sz="1100" dirty="0"/>
          </a:p>
        </p:txBody>
      </p:sp>
      <p:sp>
        <p:nvSpPr>
          <p:cNvPr id="20" name="R2_chip324"/>
          <p:cNvSpPr/>
          <p:nvPr/>
        </p:nvSpPr>
        <p:spPr>
          <a:xfrm>
            <a:off x="6492240" y="3104388"/>
            <a:ext cx="2423160" cy="495300"/>
          </a:xfrm>
          <a:prstGeom prst="roundRect">
            <a:avLst>
              <a:gd name="adj" fmla="val 18462"/>
            </a:avLst>
          </a:prstGeom>
          <a:solidFill>
            <a:srgbClr val="E3F7EA"/>
          </a:solidFill>
          <a:ln w="28575">
            <a:solidFill>
              <a:srgbClr val="A8E5BE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✗ – 'I don't like the weather… And I don't like the food.'</a:t>
            </a:r>
            <a:endParaRPr lang="en-US" sz="950" dirty="0"/>
          </a:p>
        </p:txBody>
      </p:sp>
      <p:sp>
        <p:nvSpPr>
          <p:cNvPr id="21" name="bd_325"/>
          <p:cNvSpPr/>
          <p:nvPr/>
        </p:nvSpPr>
        <p:spPr>
          <a:xfrm>
            <a:off x="6172200" y="3815334"/>
            <a:ext cx="274320" cy="274320"/>
          </a:xfrm>
          <a:prstGeom prst="ellipse">
            <a:avLst/>
          </a:prstGeom>
          <a:solidFill>
            <a:srgbClr val="2EB872"/>
          </a:solidFill>
          <a:ln w="28575">
            <a:solidFill>
              <a:srgbClr val="A8E5BE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3</a:t>
            </a:r>
            <a:endParaRPr lang="en-US" sz="900" dirty="0"/>
          </a:p>
        </p:txBody>
      </p:sp>
      <p:sp>
        <p:nvSpPr>
          <p:cNvPr id="22" name="rq_326"/>
          <p:cNvSpPr/>
          <p:nvPr/>
        </p:nvSpPr>
        <p:spPr>
          <a:xfrm>
            <a:off x="6492240" y="3691128"/>
            <a:ext cx="2423160" cy="522732"/>
          </a:xfrm>
          <a:prstGeom prst="roundRect">
            <a:avLst>
              <a:gd name="adj" fmla="val 13994"/>
            </a:avLst>
          </a:prstGeom>
          <a:solidFill>
            <a:srgbClr val="FFFFFF"/>
          </a:solidFill>
          <a:ln w="28575">
            <a:solidFill>
              <a:srgbClr val="A8E5BE"/>
            </a:solidFill>
          </a:ln>
        </p:spPr>
        <p:txBody>
          <a:bodyPr wrap="square" lIns="76200" tIns="0" rIns="76200" bIns="0" rtlCol="0" anchor="ctr">
            <a:normAutofit/>
          </a:bodyPr>
          <a:lstStyle/>
          <a:p>
            <a:pPr indent="0" marL="0">
              <a:buNone/>
            </a:pPr>
            <a:r>
              <a:rPr lang="en-US" sz="11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Camille</a:t>
            </a:r>
            <a:endParaRPr lang="en-US" sz="1100" dirty="0"/>
          </a:p>
        </p:txBody>
      </p:sp>
      <p:sp>
        <p:nvSpPr>
          <p:cNvPr id="23" name="R3_chip327"/>
          <p:cNvSpPr/>
          <p:nvPr/>
        </p:nvSpPr>
        <p:spPr>
          <a:xfrm>
            <a:off x="6492240" y="4241292"/>
            <a:ext cx="2423160" cy="495300"/>
          </a:xfrm>
          <a:prstGeom prst="roundRect">
            <a:avLst>
              <a:gd name="adj" fmla="val 18462"/>
            </a:avLst>
          </a:prstGeom>
          <a:solidFill>
            <a:srgbClr val="E3F7EA"/>
          </a:solidFill>
          <a:ln w="28575">
            <a:solidFill>
              <a:srgbClr val="A8E5BE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✓ – 'The British are friendly.'</a:t>
            </a:r>
            <a:endParaRPr lang="en-US" sz="950" dirty="0"/>
          </a:p>
        </p:txBody>
      </p:sp>
    </p:spTree>
  </p:cSld>
  <p:clrMapOvr>
    <a:masterClrMapping/>
  </p:clrMapOvr>
  <p:transition spd="med">
    <p:push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4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>
                      <p:stCondLst>
                        <p:cond delay="indefinite"/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4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bd_328"/>
          <p:cNvSpPr/>
          <p:nvPr/>
        </p:nvSpPr>
        <p:spPr>
          <a:xfrm>
            <a:off x="201168" y="164592"/>
            <a:ext cx="841248" cy="841248"/>
          </a:xfrm>
          <a:prstGeom prst="ellipse">
            <a:avLst/>
          </a:prstGeom>
          <a:solidFill>
            <a:srgbClr val="2EB872"/>
          </a:solidFill>
          <a:ln w="28575">
            <a:solidFill>
              <a:srgbClr val="A8E5BE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13</a:t>
            </a:r>
            <a:endParaRPr lang="en-US" sz="2200" dirty="0"/>
          </a:p>
        </p:txBody>
      </p:sp>
      <p:pic>
        <p:nvPicPr>
          <p:cNvPr id="4" name="brY_329" descr="/home/claude/lls-course/v2/assets/brush-yellow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46304"/>
            <a:ext cx="4663440" cy="621792"/>
          </a:xfrm>
          <a:prstGeom prst="rect">
            <a:avLst/>
          </a:prstGeom>
        </p:spPr>
      </p:pic>
      <p:sp>
        <p:nvSpPr>
          <p:cNvPr id="5" name="title_330"/>
          <p:cNvSpPr/>
          <p:nvPr/>
        </p:nvSpPr>
        <p:spPr>
          <a:xfrm>
            <a:off x="1261872" y="164592"/>
            <a:ext cx="43891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5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What foreigners think (2)</a:t>
            </a:r>
            <a:endParaRPr lang="en-US" sz="2500" dirty="0"/>
          </a:p>
        </p:txBody>
      </p:sp>
      <p:pic>
        <p:nvPicPr>
          <p:cNvPr id="6" name="brP_331" descr="/home/claude/lls-course/v2/assets/brush-pink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07008" y="731520"/>
            <a:ext cx="5257800" cy="402336"/>
          </a:xfrm>
          <a:prstGeom prst="rect">
            <a:avLst/>
          </a:prstGeom>
        </p:spPr>
      </p:pic>
      <p:sp>
        <p:nvSpPr>
          <p:cNvPr id="7" name="ins_332"/>
          <p:cNvSpPr/>
          <p:nvPr/>
        </p:nvSpPr>
        <p:spPr>
          <a:xfrm>
            <a:off x="1353312" y="731520"/>
            <a:ext cx="500176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00" i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Read part 2. Positive ✓, negative ✗, or both ✓✗? Give reasons.</a:t>
            </a:r>
            <a:endParaRPr lang="en-US" sz="1100" dirty="0"/>
          </a:p>
        </p:txBody>
      </p:sp>
      <p:sp>
        <p:nvSpPr>
          <p:cNvPr id="8" name="insIT_333"/>
          <p:cNvSpPr/>
          <p:nvPr/>
        </p:nvSpPr>
        <p:spPr>
          <a:xfrm>
            <a:off x="1371600" y="1115568"/>
            <a:ext cx="5074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i="1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Leggi la parte 2. Positivo ✓, negativo ✗ o entrambi ✓✗? Perché?</a:t>
            </a:r>
            <a:endParaRPr lang="en-US" sz="950" dirty="0"/>
          </a:p>
        </p:txBody>
      </p:sp>
      <p:sp>
        <p:nvSpPr>
          <p:cNvPr id="9" name="note_334"/>
          <p:cNvSpPr/>
          <p:nvPr/>
        </p:nvSpPr>
        <p:spPr>
          <a:xfrm rot="180000">
            <a:off x="6382512" y="128016"/>
            <a:ext cx="2029968" cy="1024128"/>
          </a:xfrm>
          <a:prstGeom prst="rect">
            <a:avLst/>
          </a:prstGeom>
          <a:solidFill>
            <a:srgbClr val="FFC2DA"/>
          </a:solidFill>
          <a:ln>
            <a:solidFill>
              <a:srgbClr val="FFC2DA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50800" tIns="50800" rIns="50800" bIns="50800" rtlCol="0" anchor="ctr">
            <a:normAutofit/>
          </a:bodyPr>
          <a:lstStyle/>
          <a:p>
            <a:pPr algn="ctr" indent="0" marL="0">
              <a:buNone/>
            </a:pPr>
            <a:r>
              <a:rPr lang="en-US" sz="115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👀 READ</a:t>
            </a:r>
            <a:pPr algn="ctr" indent="0" marL="0">
              <a:buNone/>
            </a:pPr>
            <a:r>
              <a:rPr lang="en-US" sz="1200" dirty="0">
                <a:solidFill>
                  <a:srgbClr val="5B6785"/>
                </a:solidFill>
              </a:rPr>
              <a:t> → </a:t>
            </a:r>
            <a:pPr algn="ctr" indent="0" marL="0">
              <a:buNone/>
            </a:pPr>
            <a:r>
              <a:rPr lang="en-US" sz="115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💡 THINK</a:t>
            </a:r>
            <a:endParaRPr lang="en-US" sz="115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⏱ 4 min   👥 pairs</a:t>
            </a:r>
            <a:endParaRPr lang="en-US" sz="115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🎯 Reading · Identifying attitude</a:t>
            </a:r>
            <a:endParaRPr lang="en-US" sz="1150" dirty="0"/>
          </a:p>
        </p:txBody>
      </p:sp>
      <p:pic>
        <p:nvPicPr>
          <p:cNvPr id="10" name="logo_335" descr="/home/claude/lls-course/v2/img/logo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85632" y="128016"/>
            <a:ext cx="502920" cy="502920"/>
          </a:xfrm>
          <a:prstGeom prst="rect">
            <a:avLst/>
          </a:prstGeom>
        </p:spPr>
      </p:pic>
      <p:sp>
        <p:nvSpPr>
          <p:cNvPr id="11" name="foot_336"/>
          <p:cNvSpPr/>
          <p:nvPr/>
        </p:nvSpPr>
        <p:spPr>
          <a:xfrm>
            <a:off x="274320" y="4873752"/>
            <a:ext cx="6858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3A · Reading · What foreigners who live in Britain think (2)   ·   📖 SB p.23 · 4a (TG key)</a:t>
            </a:r>
            <a:endParaRPr lang="en-US" sz="800" dirty="0"/>
          </a:p>
        </p:txBody>
      </p:sp>
      <p:sp>
        <p:nvSpPr>
          <p:cNvPr id="12" name="cd_337"/>
          <p:cNvSpPr/>
          <p:nvPr/>
        </p:nvSpPr>
        <p:spPr>
          <a:xfrm>
            <a:off x="320040" y="1417320"/>
            <a:ext cx="5760720" cy="3364992"/>
          </a:xfrm>
          <a:prstGeom prst="roundRect">
            <a:avLst>
              <a:gd name="adj" fmla="val 3804"/>
            </a:avLst>
          </a:prstGeom>
          <a:solidFill>
            <a:srgbClr val="FFFFFF"/>
          </a:solidFill>
          <a:ln w="28575">
            <a:solidFill>
              <a:srgbClr val="A8E5BE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13" name="rd_338"/>
          <p:cNvSpPr/>
          <p:nvPr/>
        </p:nvSpPr>
        <p:spPr>
          <a:xfrm>
            <a:off x="457200" y="1527048"/>
            <a:ext cx="5486400" cy="30906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spcAft>
                <a:spcPts val="400"/>
              </a:spcAft>
              <a:buNone/>
            </a:pPr>
            <a:r>
              <a:rPr lang="en-US" sz="1550" b="1" dirty="0">
                <a:solidFill>
                  <a:srgbClr val="1F6F4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What foreigners who live in Britain think (2)</a:t>
            </a:r>
            <a:endParaRPr lang="en-US" sz="1050" dirty="0"/>
          </a:p>
          <a:p>
            <a:pPr indent="0" marL="0">
              <a:lnSpc>
                <a:spcPct val="105000"/>
              </a:lnSpc>
              <a:spcAft>
                <a:spcPts val="700"/>
              </a:spcAft>
              <a:buNone/>
            </a:pPr>
            <a:r>
              <a:rPr lang="en-US" sz="105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Shurooq, 21, is from Oman. </a:t>
            </a:r>
            <a:pPr indent="0" marL="0">
              <a:lnSpc>
                <a:spcPct val="105000"/>
              </a:lnSpc>
              <a:spcAft>
                <a:spcPts val="700"/>
              </a:spcAft>
              <a:buNone/>
            </a:pPr>
            <a:r>
              <a:rPr lang="en-US" sz="1050" b="1" u="sng" dirty="0">
                <a:solidFill>
                  <a:srgbClr val="7B5CD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She lives</a:t>
            </a:r>
            <a:pPr indent="0" marL="0">
              <a:lnSpc>
                <a:spcPct val="105000"/>
              </a:lnSpc>
              <a:spcAft>
                <a:spcPts val="700"/>
              </a:spcAft>
              <a:buNone/>
            </a:pPr>
            <a:r>
              <a:rPr lang="en-US" sz="105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in Chorlton, Manchester. In the UK women have a lot of freedom. In my country, if </a:t>
            </a:r>
            <a:pPr indent="0" marL="0">
              <a:lnSpc>
                <a:spcPct val="105000"/>
              </a:lnSpc>
              <a:spcAft>
                <a:spcPts val="700"/>
              </a:spcAft>
              <a:buNone/>
            </a:pPr>
            <a:r>
              <a:rPr lang="en-US" sz="1050" b="1" u="sng" dirty="0">
                <a:solidFill>
                  <a:srgbClr val="7B5CD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 want</a:t>
            </a:r>
            <a:pPr indent="0" marL="0">
              <a:lnSpc>
                <a:spcPct val="105000"/>
              </a:lnSpc>
              <a:spcAft>
                <a:spcPts val="700"/>
              </a:spcAft>
              <a:buNone/>
            </a:pPr>
            <a:r>
              <a:rPr lang="en-US" sz="105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to go to the bank I take my brother and </a:t>
            </a:r>
            <a:pPr indent="0" marL="0">
              <a:lnSpc>
                <a:spcPct val="105000"/>
              </a:lnSpc>
              <a:spcAft>
                <a:spcPts val="700"/>
              </a:spcAft>
              <a:buNone/>
            </a:pPr>
            <a:r>
              <a:rPr lang="en-US" sz="1050" b="1" u="sng" dirty="0">
                <a:solidFill>
                  <a:srgbClr val="7B5CD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he does</a:t>
            </a:r>
            <a:pPr indent="0" marL="0">
              <a:lnSpc>
                <a:spcPct val="105000"/>
              </a:lnSpc>
              <a:spcAft>
                <a:spcPts val="700"/>
              </a:spcAft>
              <a:buNone/>
            </a:pPr>
            <a:r>
              <a:rPr lang="en-US" sz="105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everything for me. Here </a:t>
            </a:r>
            <a:pPr indent="0" marL="0">
              <a:lnSpc>
                <a:spcPct val="105000"/>
              </a:lnSpc>
              <a:spcAft>
                <a:spcPts val="700"/>
              </a:spcAft>
              <a:buNone/>
            </a:pPr>
            <a:r>
              <a:rPr lang="en-US" sz="1050" b="1" u="sng" dirty="0">
                <a:solidFill>
                  <a:srgbClr val="7B5CD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 do</a:t>
            </a:r>
            <a:pPr indent="0" marL="0">
              <a:lnSpc>
                <a:spcPct val="105000"/>
              </a:lnSpc>
              <a:spcAft>
                <a:spcPts val="700"/>
              </a:spcAft>
              <a:buNone/>
            </a:pPr>
            <a:r>
              <a:rPr lang="en-US" sz="105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everything. </a:t>
            </a:r>
            <a:pPr indent="0" marL="0">
              <a:lnSpc>
                <a:spcPct val="105000"/>
              </a:lnSpc>
              <a:spcAft>
                <a:spcPts val="700"/>
              </a:spcAft>
              <a:buNone/>
            </a:pPr>
            <a:r>
              <a:rPr lang="en-US" sz="1050" b="1" u="sng" dirty="0">
                <a:solidFill>
                  <a:srgbClr val="7B5CD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 like</a:t>
            </a:r>
            <a:pPr indent="0" marL="0">
              <a:lnSpc>
                <a:spcPct val="105000"/>
              </a:lnSpc>
              <a:spcAft>
                <a:spcPts val="700"/>
              </a:spcAft>
              <a:buNone/>
            </a:pPr>
            <a:r>
              <a:rPr lang="en-US" sz="105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the weather here. </a:t>
            </a:r>
            <a:pPr indent="0" marL="0">
              <a:lnSpc>
                <a:spcPct val="105000"/>
              </a:lnSpc>
              <a:spcAft>
                <a:spcPts val="700"/>
              </a:spcAft>
              <a:buNone/>
            </a:pPr>
            <a:r>
              <a:rPr lang="en-US" sz="1050" b="1" u="sng" dirty="0">
                <a:solidFill>
                  <a:srgbClr val="7B5CD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 love</a:t>
            </a:r>
            <a:pPr indent="0" marL="0">
              <a:lnSpc>
                <a:spcPct val="105000"/>
              </a:lnSpc>
              <a:spcAft>
                <a:spcPts val="700"/>
              </a:spcAft>
              <a:buNone/>
            </a:pPr>
            <a:r>
              <a:rPr lang="en-US" sz="105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days when it rains, or it's cold. It's so different from the weather in Oman! The people are also nice and friendly.</a:t>
            </a:r>
            <a:endParaRPr lang="en-US" sz="1050" dirty="0"/>
          </a:p>
          <a:p>
            <a:pPr indent="0" marL="0">
              <a:lnSpc>
                <a:spcPct val="105000"/>
              </a:lnSpc>
              <a:spcAft>
                <a:spcPts val="700"/>
              </a:spcAft>
              <a:buNone/>
            </a:pPr>
            <a:r>
              <a:rPr lang="en-US" sz="105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Michelle, 24, is from Canada. </a:t>
            </a:r>
            <a:pPr indent="0" marL="0">
              <a:lnSpc>
                <a:spcPct val="105000"/>
              </a:lnSpc>
              <a:spcAft>
                <a:spcPts val="700"/>
              </a:spcAft>
              <a:buNone/>
            </a:pPr>
            <a:r>
              <a:rPr lang="en-US" sz="1050" b="1" u="sng" dirty="0">
                <a:solidFill>
                  <a:srgbClr val="7B5CD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She lives</a:t>
            </a:r>
            <a:pPr indent="0" marL="0">
              <a:lnSpc>
                <a:spcPct val="105000"/>
              </a:lnSpc>
              <a:spcAft>
                <a:spcPts val="700"/>
              </a:spcAft>
              <a:buNone/>
            </a:pPr>
            <a:r>
              <a:rPr lang="en-US" sz="105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in London. My favourite thing about </a:t>
            </a:r>
            <a:pPr indent="0" marL="0">
              <a:lnSpc>
                <a:spcPct val="105000"/>
              </a:lnSpc>
              <a:spcAft>
                <a:spcPts val="700"/>
              </a:spcAft>
              <a:buNone/>
            </a:pPr>
            <a:r>
              <a:rPr lang="en-US" sz="1050" b="1" u="sng" dirty="0">
                <a:solidFill>
                  <a:srgbClr val="7B5CD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Britain is</a:t>
            </a:r>
            <a:pPr indent="0" marL="0">
              <a:lnSpc>
                <a:spcPct val="105000"/>
              </a:lnSpc>
              <a:spcAft>
                <a:spcPts val="700"/>
              </a:spcAft>
              <a:buNone/>
            </a:pPr>
            <a:r>
              <a:rPr lang="en-US" sz="105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the Scotch eggs. </a:t>
            </a:r>
            <a:pPr indent="0" marL="0">
              <a:lnSpc>
                <a:spcPct val="105000"/>
              </a:lnSpc>
              <a:spcAft>
                <a:spcPts val="700"/>
              </a:spcAft>
              <a:buNone/>
            </a:pPr>
            <a:r>
              <a:rPr lang="en-US" sz="1050" b="1" u="sng" dirty="0">
                <a:solidFill>
                  <a:srgbClr val="7B5CD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We don't have</a:t>
            </a:r>
            <a:pPr indent="0" marL="0">
              <a:lnSpc>
                <a:spcPct val="105000"/>
              </a:lnSpc>
              <a:spcAft>
                <a:spcPts val="700"/>
              </a:spcAft>
              <a:buNone/>
            </a:pPr>
            <a:r>
              <a:rPr lang="en-US" sz="105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</a:t>
            </a:r>
            <a:pPr indent="0" marL="0">
              <a:lnSpc>
                <a:spcPct val="105000"/>
              </a:lnSpc>
              <a:spcAft>
                <a:spcPts val="700"/>
              </a:spcAft>
              <a:buNone/>
            </a:pPr>
            <a:r>
              <a:rPr lang="en-US" sz="1050" b="1" u="sng" dirty="0">
                <a:solidFill>
                  <a:srgbClr val="7B5CD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Scotch eggs</a:t>
            </a:r>
            <a:pPr indent="0" marL="0">
              <a:lnSpc>
                <a:spcPct val="105000"/>
              </a:lnSpc>
              <a:spcAft>
                <a:spcPts val="700"/>
              </a:spcAft>
              <a:buNone/>
            </a:pPr>
            <a:r>
              <a:rPr lang="en-US" sz="105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where I come from. </a:t>
            </a:r>
            <a:pPr indent="0" marL="0">
              <a:lnSpc>
                <a:spcPct val="105000"/>
              </a:lnSpc>
              <a:spcAft>
                <a:spcPts val="700"/>
              </a:spcAft>
              <a:buNone/>
            </a:pPr>
            <a:r>
              <a:rPr lang="en-US" sz="1050" b="1" u="sng" dirty="0">
                <a:solidFill>
                  <a:srgbClr val="7B5CD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Everybody says</a:t>
            </a:r>
            <a:pPr indent="0" marL="0">
              <a:lnSpc>
                <a:spcPct val="105000"/>
              </a:lnSpc>
              <a:spcAft>
                <a:spcPts val="700"/>
              </a:spcAft>
              <a:buNone/>
            </a:pPr>
            <a:r>
              <a:rPr lang="en-US" sz="105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that British </a:t>
            </a:r>
            <a:pPr indent="0" marL="0">
              <a:lnSpc>
                <a:spcPct val="105000"/>
              </a:lnSpc>
              <a:spcAft>
                <a:spcPts val="700"/>
              </a:spcAft>
              <a:buNone/>
            </a:pPr>
            <a:r>
              <a:rPr lang="en-US" sz="1050" b="1" u="sng" dirty="0">
                <a:solidFill>
                  <a:srgbClr val="7B5CD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food is</a:t>
            </a:r>
            <a:pPr indent="0" marL="0">
              <a:lnSpc>
                <a:spcPct val="105000"/>
              </a:lnSpc>
              <a:spcAft>
                <a:spcPts val="700"/>
              </a:spcAft>
              <a:buNone/>
            </a:pPr>
            <a:r>
              <a:rPr lang="en-US" sz="105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awful, but </a:t>
            </a:r>
            <a:pPr indent="0" marL="0">
              <a:lnSpc>
                <a:spcPct val="105000"/>
              </a:lnSpc>
              <a:spcAft>
                <a:spcPts val="700"/>
              </a:spcAft>
              <a:buNone/>
            </a:pPr>
            <a:r>
              <a:rPr lang="en-US" sz="1050" b="1" u="sng" dirty="0">
                <a:solidFill>
                  <a:srgbClr val="7B5CD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 love</a:t>
            </a:r>
            <a:pPr indent="0" marL="0">
              <a:lnSpc>
                <a:spcPct val="105000"/>
              </a:lnSpc>
              <a:spcAft>
                <a:spcPts val="700"/>
              </a:spcAft>
              <a:buNone/>
            </a:pPr>
            <a:r>
              <a:rPr lang="en-US" sz="105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it, especially in pubs. </a:t>
            </a:r>
            <a:pPr indent="0" marL="0">
              <a:lnSpc>
                <a:spcPct val="105000"/>
              </a:lnSpc>
              <a:spcAft>
                <a:spcPts val="700"/>
              </a:spcAft>
              <a:buNone/>
            </a:pPr>
            <a:r>
              <a:rPr lang="en-US" sz="1050" b="1" u="sng" dirty="0">
                <a:solidFill>
                  <a:srgbClr val="7B5CD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shops</a:t>
            </a:r>
            <a:pPr indent="0" marL="0">
              <a:lnSpc>
                <a:spcPct val="105000"/>
              </a:lnSpc>
              <a:spcAft>
                <a:spcPts val="700"/>
              </a:spcAft>
              <a:buNone/>
            </a:pPr>
            <a:r>
              <a:rPr lang="en-US" sz="105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are great, too, for example, Topshop and Primark.</a:t>
            </a:r>
            <a:endParaRPr lang="en-US" sz="1050" dirty="0"/>
          </a:p>
          <a:p>
            <a:pPr indent="0" marL="0">
              <a:lnSpc>
                <a:spcPct val="105000"/>
              </a:lnSpc>
              <a:spcAft>
                <a:spcPts val="700"/>
              </a:spcAft>
              <a:buNone/>
            </a:pPr>
            <a:r>
              <a:rPr lang="en-US" sz="105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Lian Tang, 24, is from China. </a:t>
            </a:r>
            <a:pPr indent="0" marL="0">
              <a:lnSpc>
                <a:spcPct val="105000"/>
              </a:lnSpc>
              <a:spcAft>
                <a:spcPts val="700"/>
              </a:spcAft>
              <a:buNone/>
            </a:pPr>
            <a:r>
              <a:rPr lang="en-US" sz="1050" b="1" u="sng" dirty="0">
                <a:solidFill>
                  <a:srgbClr val="7B5CD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She lives</a:t>
            </a:r>
            <a:pPr indent="0" marL="0">
              <a:lnSpc>
                <a:spcPct val="105000"/>
              </a:lnSpc>
              <a:spcAft>
                <a:spcPts val="700"/>
              </a:spcAft>
              <a:buNone/>
            </a:pPr>
            <a:r>
              <a:rPr lang="en-US" sz="105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in Manchester. </a:t>
            </a:r>
            <a:pPr indent="0" marL="0">
              <a:lnSpc>
                <a:spcPct val="105000"/>
              </a:lnSpc>
              <a:spcAft>
                <a:spcPts val="700"/>
              </a:spcAft>
              <a:buNone/>
            </a:pPr>
            <a:r>
              <a:rPr lang="en-US" sz="1050" b="1" u="sng" dirty="0">
                <a:solidFill>
                  <a:srgbClr val="7B5CD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 love</a:t>
            </a:r>
            <a:pPr indent="0" marL="0">
              <a:lnSpc>
                <a:spcPct val="105000"/>
              </a:lnSpc>
              <a:spcAft>
                <a:spcPts val="700"/>
              </a:spcAft>
              <a:buNone/>
            </a:pPr>
            <a:r>
              <a:rPr lang="en-US" sz="105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the UK. Why? Because </a:t>
            </a:r>
            <a:pPr indent="0" marL="0">
              <a:lnSpc>
                <a:spcPct val="105000"/>
              </a:lnSpc>
              <a:spcAft>
                <a:spcPts val="700"/>
              </a:spcAft>
              <a:buNone/>
            </a:pPr>
            <a:r>
              <a:rPr lang="en-US" sz="1050" b="1" u="sng" dirty="0">
                <a:solidFill>
                  <a:srgbClr val="7B5CD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 like</a:t>
            </a:r>
            <a:pPr indent="0" marL="0">
              <a:lnSpc>
                <a:spcPct val="105000"/>
              </a:lnSpc>
              <a:spcAft>
                <a:spcPts val="700"/>
              </a:spcAft>
              <a:buNone/>
            </a:pPr>
            <a:r>
              <a:rPr lang="en-US" sz="105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the culture, the art, the history. I also love the beautiful scenery, for example in Cornwall and in Scotland. The </a:t>
            </a:r>
            <a:pPr indent="0" marL="0">
              <a:lnSpc>
                <a:spcPct val="105000"/>
              </a:lnSpc>
              <a:spcAft>
                <a:spcPts val="700"/>
              </a:spcAft>
              <a:buNone/>
            </a:pPr>
            <a:r>
              <a:rPr lang="en-US" sz="1050" b="1" u="sng" dirty="0">
                <a:solidFill>
                  <a:srgbClr val="7B5CD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only things</a:t>
            </a:r>
            <a:pPr indent="0" marL="0">
              <a:lnSpc>
                <a:spcPct val="105000"/>
              </a:lnSpc>
              <a:spcAft>
                <a:spcPts val="700"/>
              </a:spcAft>
              <a:buNone/>
            </a:pPr>
            <a:r>
              <a:rPr lang="en-US" sz="105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</a:t>
            </a:r>
            <a:pPr indent="0" marL="0">
              <a:lnSpc>
                <a:spcPct val="105000"/>
              </a:lnSpc>
              <a:spcAft>
                <a:spcPts val="700"/>
              </a:spcAft>
              <a:buNone/>
            </a:pPr>
            <a:r>
              <a:rPr lang="en-US" sz="1050" b="1" u="sng" dirty="0">
                <a:solidFill>
                  <a:srgbClr val="7B5CD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 don't like</a:t>
            </a:r>
            <a:pPr indent="0" marL="0">
              <a:lnSpc>
                <a:spcPct val="105000"/>
              </a:lnSpc>
              <a:spcAft>
                <a:spcPts val="700"/>
              </a:spcAft>
              <a:buNone/>
            </a:pPr>
            <a:r>
              <a:rPr lang="en-US" sz="105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about the UK are the weather and the food. I really </a:t>
            </a:r>
            <a:pPr indent="0" marL="0">
              <a:lnSpc>
                <a:spcPct val="105000"/>
              </a:lnSpc>
              <a:spcAft>
                <a:spcPts val="700"/>
              </a:spcAft>
              <a:buNone/>
            </a:pPr>
            <a:r>
              <a:rPr lang="en-US" sz="1050" b="1" u="sng" dirty="0">
                <a:solidFill>
                  <a:srgbClr val="7B5CD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don't like</a:t>
            </a:r>
            <a:pPr indent="0" marL="0">
              <a:lnSpc>
                <a:spcPct val="105000"/>
              </a:lnSpc>
              <a:spcAft>
                <a:spcPts val="700"/>
              </a:spcAft>
              <a:buNone/>
            </a:pPr>
            <a:r>
              <a:rPr lang="en-US" sz="105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fish and chips.</a:t>
            </a:r>
            <a:endParaRPr lang="en-US" sz="1050" dirty="0"/>
          </a:p>
        </p:txBody>
      </p:sp>
      <p:sp>
        <p:nvSpPr>
          <p:cNvPr id="14" name="R1_rdE339"/>
          <p:cNvSpPr/>
          <p:nvPr/>
        </p:nvSpPr>
        <p:spPr>
          <a:xfrm>
            <a:off x="457200" y="1527048"/>
            <a:ext cx="5486400" cy="3090672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spcAft>
                <a:spcPts val="400"/>
              </a:spcAft>
              <a:buNone/>
            </a:pPr>
            <a:r>
              <a:rPr lang="en-US" sz="1550" b="1" dirty="0">
                <a:solidFill>
                  <a:srgbClr val="1F6F4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What foreigners who live in Britain think (2)</a:t>
            </a:r>
            <a:endParaRPr lang="en-US" sz="1050" dirty="0"/>
          </a:p>
          <a:p>
            <a:pPr indent="0" marL="0">
              <a:lnSpc>
                <a:spcPct val="105000"/>
              </a:lnSpc>
              <a:spcAft>
                <a:spcPts val="700"/>
              </a:spcAft>
              <a:buNone/>
            </a:pPr>
            <a:r>
              <a:rPr lang="en-US" sz="105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Shurooq, 21, is from Oman. </a:t>
            </a:r>
            <a:pPr indent="0" marL="0">
              <a:lnSpc>
                <a:spcPct val="105000"/>
              </a:lnSpc>
              <a:spcAft>
                <a:spcPts val="700"/>
              </a:spcAft>
              <a:buNone/>
            </a:pPr>
            <a:r>
              <a:rPr lang="en-US" sz="1050" b="1" u="sng" dirty="0">
                <a:solidFill>
                  <a:srgbClr val="7B5CD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She lives</a:t>
            </a:r>
            <a:pPr indent="0" marL="0">
              <a:lnSpc>
                <a:spcPct val="105000"/>
              </a:lnSpc>
              <a:spcAft>
                <a:spcPts val="700"/>
              </a:spcAft>
              <a:buNone/>
            </a:pPr>
            <a:r>
              <a:rPr lang="en-US" sz="105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in Chorlton, Manchester. </a:t>
            </a:r>
            <a:pPr indent="0" marL="0">
              <a:lnSpc>
                <a:spcPct val="105000"/>
              </a:lnSpc>
              <a:spcAft>
                <a:spcPts val="700"/>
              </a:spcAft>
              <a:buNone/>
            </a:pPr>
            <a:r>
              <a:rPr lang="en-US" sz="1050" b="1" dirty="0">
                <a:solidFill>
                  <a:srgbClr val="1B2559"/>
                </a:solidFill>
                <a:highlight>
                  <a:srgbClr val="FFE066"/>
                </a:highlight>
                <a:latin typeface="Georgia" pitchFamily="34" charset="0"/>
                <a:ea typeface="Georgia" pitchFamily="34" charset="-122"/>
                <a:cs typeface="Georgia" pitchFamily="34" charset="-120"/>
              </a:rPr>
              <a:t>In the UK women have a lot of freedom</a:t>
            </a:r>
            <a:pPr indent="0" marL="0">
              <a:lnSpc>
                <a:spcPct val="105000"/>
              </a:lnSpc>
              <a:spcAft>
                <a:spcPts val="700"/>
              </a:spcAft>
              <a:buNone/>
            </a:pPr>
            <a:r>
              <a:rPr lang="en-US" sz="105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. In my country, if </a:t>
            </a:r>
            <a:pPr indent="0" marL="0">
              <a:lnSpc>
                <a:spcPct val="105000"/>
              </a:lnSpc>
              <a:spcAft>
                <a:spcPts val="700"/>
              </a:spcAft>
              <a:buNone/>
            </a:pPr>
            <a:r>
              <a:rPr lang="en-US" sz="1050" b="1" u="sng" dirty="0">
                <a:solidFill>
                  <a:srgbClr val="7B5CD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 want</a:t>
            </a:r>
            <a:pPr indent="0" marL="0">
              <a:lnSpc>
                <a:spcPct val="105000"/>
              </a:lnSpc>
              <a:spcAft>
                <a:spcPts val="700"/>
              </a:spcAft>
              <a:buNone/>
            </a:pPr>
            <a:r>
              <a:rPr lang="en-US" sz="105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to go to the bank I take my brother and </a:t>
            </a:r>
            <a:pPr indent="0" marL="0">
              <a:lnSpc>
                <a:spcPct val="105000"/>
              </a:lnSpc>
              <a:spcAft>
                <a:spcPts val="700"/>
              </a:spcAft>
              <a:buNone/>
            </a:pPr>
            <a:r>
              <a:rPr lang="en-US" sz="1050" b="1" u="sng" dirty="0">
                <a:solidFill>
                  <a:srgbClr val="7B5CD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he does</a:t>
            </a:r>
            <a:pPr indent="0" marL="0">
              <a:lnSpc>
                <a:spcPct val="105000"/>
              </a:lnSpc>
              <a:spcAft>
                <a:spcPts val="700"/>
              </a:spcAft>
              <a:buNone/>
            </a:pPr>
            <a:r>
              <a:rPr lang="en-US" sz="105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everything for me. Here </a:t>
            </a:r>
            <a:pPr indent="0" marL="0">
              <a:lnSpc>
                <a:spcPct val="105000"/>
              </a:lnSpc>
              <a:spcAft>
                <a:spcPts val="700"/>
              </a:spcAft>
              <a:buNone/>
            </a:pPr>
            <a:r>
              <a:rPr lang="en-US" sz="1050" b="1" u="sng" dirty="0">
                <a:solidFill>
                  <a:srgbClr val="7B5CD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 do</a:t>
            </a:r>
            <a:pPr indent="0" marL="0">
              <a:lnSpc>
                <a:spcPct val="105000"/>
              </a:lnSpc>
              <a:spcAft>
                <a:spcPts val="700"/>
              </a:spcAft>
              <a:buNone/>
            </a:pPr>
            <a:r>
              <a:rPr lang="en-US" sz="105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everything. </a:t>
            </a:r>
            <a:pPr indent="0" marL="0">
              <a:lnSpc>
                <a:spcPct val="105000"/>
              </a:lnSpc>
              <a:spcAft>
                <a:spcPts val="700"/>
              </a:spcAft>
              <a:buNone/>
            </a:pPr>
            <a:r>
              <a:rPr lang="en-US" sz="1050" b="1" dirty="0">
                <a:solidFill>
                  <a:srgbClr val="1B2559"/>
                </a:solidFill>
                <a:highlight>
                  <a:srgbClr val="FFE066"/>
                </a:highlight>
                <a:latin typeface="Georgia" pitchFamily="34" charset="0"/>
                <a:ea typeface="Georgia" pitchFamily="34" charset="-122"/>
                <a:cs typeface="Georgia" pitchFamily="34" charset="-120"/>
              </a:rPr>
              <a:t>I like the weather here</a:t>
            </a:r>
            <a:pPr indent="0" marL="0">
              <a:lnSpc>
                <a:spcPct val="105000"/>
              </a:lnSpc>
              <a:spcAft>
                <a:spcPts val="700"/>
              </a:spcAft>
              <a:buNone/>
            </a:pPr>
            <a:r>
              <a:rPr lang="en-US" sz="105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. </a:t>
            </a:r>
            <a:pPr indent="0" marL="0">
              <a:lnSpc>
                <a:spcPct val="105000"/>
              </a:lnSpc>
              <a:spcAft>
                <a:spcPts val="700"/>
              </a:spcAft>
              <a:buNone/>
            </a:pPr>
            <a:r>
              <a:rPr lang="en-US" sz="1050" b="1" u="sng" dirty="0">
                <a:solidFill>
                  <a:srgbClr val="7B5CD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 love</a:t>
            </a:r>
            <a:pPr indent="0" marL="0">
              <a:lnSpc>
                <a:spcPct val="105000"/>
              </a:lnSpc>
              <a:spcAft>
                <a:spcPts val="700"/>
              </a:spcAft>
              <a:buNone/>
            </a:pPr>
            <a:r>
              <a:rPr lang="en-US" sz="105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days when it rains, or it's cold. It's so different from the weather in Oman! The people are also nice and friendly.</a:t>
            </a:r>
            <a:endParaRPr lang="en-US" sz="1050" dirty="0"/>
          </a:p>
          <a:p>
            <a:pPr indent="0" marL="0">
              <a:lnSpc>
                <a:spcPct val="105000"/>
              </a:lnSpc>
              <a:spcAft>
                <a:spcPts val="700"/>
              </a:spcAft>
              <a:buNone/>
            </a:pPr>
            <a:r>
              <a:rPr lang="en-US" sz="105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Michelle, 24, is from Canada. </a:t>
            </a:r>
            <a:pPr indent="0" marL="0">
              <a:lnSpc>
                <a:spcPct val="105000"/>
              </a:lnSpc>
              <a:spcAft>
                <a:spcPts val="700"/>
              </a:spcAft>
              <a:buNone/>
            </a:pPr>
            <a:r>
              <a:rPr lang="en-US" sz="1050" b="1" u="sng" dirty="0">
                <a:solidFill>
                  <a:srgbClr val="7B5CD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She lives</a:t>
            </a:r>
            <a:pPr indent="0" marL="0">
              <a:lnSpc>
                <a:spcPct val="105000"/>
              </a:lnSpc>
              <a:spcAft>
                <a:spcPts val="700"/>
              </a:spcAft>
              <a:buNone/>
            </a:pPr>
            <a:r>
              <a:rPr lang="en-US" sz="105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in London. My favourite thing about </a:t>
            </a:r>
            <a:pPr indent="0" marL="0">
              <a:lnSpc>
                <a:spcPct val="105000"/>
              </a:lnSpc>
              <a:spcAft>
                <a:spcPts val="700"/>
              </a:spcAft>
              <a:buNone/>
            </a:pPr>
            <a:r>
              <a:rPr lang="en-US" sz="1050" b="1" u="sng" dirty="0">
                <a:solidFill>
                  <a:srgbClr val="7B5CD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Britain is</a:t>
            </a:r>
            <a:pPr indent="0" marL="0">
              <a:lnSpc>
                <a:spcPct val="105000"/>
              </a:lnSpc>
              <a:spcAft>
                <a:spcPts val="700"/>
              </a:spcAft>
              <a:buNone/>
            </a:pPr>
            <a:r>
              <a:rPr lang="en-US" sz="105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the Scotch eggs. </a:t>
            </a:r>
            <a:pPr indent="0" marL="0">
              <a:lnSpc>
                <a:spcPct val="105000"/>
              </a:lnSpc>
              <a:spcAft>
                <a:spcPts val="700"/>
              </a:spcAft>
              <a:buNone/>
            </a:pPr>
            <a:r>
              <a:rPr lang="en-US" sz="1050" b="1" u="sng" dirty="0">
                <a:solidFill>
                  <a:srgbClr val="7B5CD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We don't have</a:t>
            </a:r>
            <a:pPr indent="0" marL="0">
              <a:lnSpc>
                <a:spcPct val="105000"/>
              </a:lnSpc>
              <a:spcAft>
                <a:spcPts val="700"/>
              </a:spcAft>
              <a:buNone/>
            </a:pPr>
            <a:r>
              <a:rPr lang="en-US" sz="105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</a:t>
            </a:r>
            <a:pPr indent="0" marL="0">
              <a:lnSpc>
                <a:spcPct val="105000"/>
              </a:lnSpc>
              <a:spcAft>
                <a:spcPts val="700"/>
              </a:spcAft>
              <a:buNone/>
            </a:pPr>
            <a:r>
              <a:rPr lang="en-US" sz="1050" b="1" u="sng" dirty="0">
                <a:solidFill>
                  <a:srgbClr val="7B5CD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Scotch eggs</a:t>
            </a:r>
            <a:pPr indent="0" marL="0">
              <a:lnSpc>
                <a:spcPct val="105000"/>
              </a:lnSpc>
              <a:spcAft>
                <a:spcPts val="700"/>
              </a:spcAft>
              <a:buNone/>
            </a:pPr>
            <a:r>
              <a:rPr lang="en-US" sz="105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where I come from. </a:t>
            </a:r>
            <a:pPr indent="0" marL="0">
              <a:lnSpc>
                <a:spcPct val="105000"/>
              </a:lnSpc>
              <a:spcAft>
                <a:spcPts val="700"/>
              </a:spcAft>
              <a:buNone/>
            </a:pPr>
            <a:r>
              <a:rPr lang="en-US" sz="1050" b="1" dirty="0">
                <a:solidFill>
                  <a:srgbClr val="1B2559"/>
                </a:solidFill>
                <a:highlight>
                  <a:srgbClr val="FFE066"/>
                </a:highlight>
                <a:latin typeface="Georgia" pitchFamily="34" charset="0"/>
                <a:ea typeface="Georgia" pitchFamily="34" charset="-122"/>
                <a:cs typeface="Georgia" pitchFamily="34" charset="-120"/>
              </a:rPr>
              <a:t>Everybody says that British food is awful, but I love it</a:t>
            </a:r>
            <a:pPr indent="0" marL="0">
              <a:lnSpc>
                <a:spcPct val="105000"/>
              </a:lnSpc>
              <a:spcAft>
                <a:spcPts val="700"/>
              </a:spcAft>
              <a:buNone/>
            </a:pPr>
            <a:r>
              <a:rPr lang="en-US" sz="105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, especially in pubs. </a:t>
            </a:r>
            <a:pPr indent="0" marL="0">
              <a:lnSpc>
                <a:spcPct val="105000"/>
              </a:lnSpc>
              <a:spcAft>
                <a:spcPts val="700"/>
              </a:spcAft>
              <a:buNone/>
            </a:pPr>
            <a:r>
              <a:rPr lang="en-US" sz="1050" b="1" u="sng" dirty="0">
                <a:solidFill>
                  <a:srgbClr val="7B5CD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shops</a:t>
            </a:r>
            <a:pPr indent="0" marL="0">
              <a:lnSpc>
                <a:spcPct val="105000"/>
              </a:lnSpc>
              <a:spcAft>
                <a:spcPts val="700"/>
              </a:spcAft>
              <a:buNone/>
            </a:pPr>
            <a:r>
              <a:rPr lang="en-US" sz="105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are great, too, for example, Topshop and Primark.</a:t>
            </a:r>
            <a:endParaRPr lang="en-US" sz="1050" dirty="0"/>
          </a:p>
          <a:p>
            <a:pPr indent="0" marL="0">
              <a:lnSpc>
                <a:spcPct val="105000"/>
              </a:lnSpc>
              <a:spcAft>
                <a:spcPts val="700"/>
              </a:spcAft>
              <a:buNone/>
            </a:pPr>
            <a:r>
              <a:rPr lang="en-US" sz="105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Lian Tang, 24, is from China. </a:t>
            </a:r>
            <a:pPr indent="0" marL="0">
              <a:lnSpc>
                <a:spcPct val="105000"/>
              </a:lnSpc>
              <a:spcAft>
                <a:spcPts val="700"/>
              </a:spcAft>
              <a:buNone/>
            </a:pPr>
            <a:r>
              <a:rPr lang="en-US" sz="1050" b="1" u="sng" dirty="0">
                <a:solidFill>
                  <a:srgbClr val="7B5CD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She lives</a:t>
            </a:r>
            <a:pPr indent="0" marL="0">
              <a:lnSpc>
                <a:spcPct val="105000"/>
              </a:lnSpc>
              <a:spcAft>
                <a:spcPts val="700"/>
              </a:spcAft>
              <a:buNone/>
            </a:pPr>
            <a:r>
              <a:rPr lang="en-US" sz="105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in Manchester. </a:t>
            </a:r>
            <a:pPr indent="0" marL="0">
              <a:lnSpc>
                <a:spcPct val="105000"/>
              </a:lnSpc>
              <a:spcAft>
                <a:spcPts val="700"/>
              </a:spcAft>
              <a:buNone/>
            </a:pPr>
            <a:r>
              <a:rPr lang="en-US" sz="1050" b="1" u="sng" dirty="0">
                <a:solidFill>
                  <a:srgbClr val="7B5CD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 love</a:t>
            </a:r>
            <a:pPr indent="0" marL="0">
              <a:lnSpc>
                <a:spcPct val="105000"/>
              </a:lnSpc>
              <a:spcAft>
                <a:spcPts val="700"/>
              </a:spcAft>
              <a:buNone/>
            </a:pPr>
            <a:r>
              <a:rPr lang="en-US" sz="105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the UK. Why? Because </a:t>
            </a:r>
            <a:pPr indent="0" marL="0">
              <a:lnSpc>
                <a:spcPct val="105000"/>
              </a:lnSpc>
              <a:spcAft>
                <a:spcPts val="700"/>
              </a:spcAft>
              <a:buNone/>
            </a:pPr>
            <a:r>
              <a:rPr lang="en-US" sz="1050" b="1" u="sng" dirty="0">
                <a:solidFill>
                  <a:srgbClr val="7B5CD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 like</a:t>
            </a:r>
            <a:pPr indent="0" marL="0">
              <a:lnSpc>
                <a:spcPct val="105000"/>
              </a:lnSpc>
              <a:spcAft>
                <a:spcPts val="700"/>
              </a:spcAft>
              <a:buNone/>
            </a:pPr>
            <a:r>
              <a:rPr lang="en-US" sz="105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the culture, the art, the history. I also love the beautiful scenery, for example in Cornwall and in Scotland. </a:t>
            </a:r>
            <a:pPr indent="0" marL="0">
              <a:lnSpc>
                <a:spcPct val="105000"/>
              </a:lnSpc>
              <a:spcAft>
                <a:spcPts val="700"/>
              </a:spcAft>
              <a:buNone/>
            </a:pPr>
            <a:r>
              <a:rPr lang="en-US" sz="1050" b="1" dirty="0">
                <a:solidFill>
                  <a:srgbClr val="1B2559"/>
                </a:solidFill>
                <a:highlight>
                  <a:srgbClr val="FFE066"/>
                </a:highlight>
                <a:latin typeface="Georgia" pitchFamily="34" charset="0"/>
                <a:ea typeface="Georgia" pitchFamily="34" charset="-122"/>
                <a:cs typeface="Georgia" pitchFamily="34" charset="-120"/>
              </a:rPr>
              <a:t>The only things I don't like about the UK are the weather and the food</a:t>
            </a:r>
            <a:pPr indent="0" marL="0">
              <a:lnSpc>
                <a:spcPct val="105000"/>
              </a:lnSpc>
              <a:spcAft>
                <a:spcPts val="700"/>
              </a:spcAft>
              <a:buNone/>
            </a:pPr>
            <a:r>
              <a:rPr lang="en-US" sz="105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. I really </a:t>
            </a:r>
            <a:pPr indent="0" marL="0">
              <a:lnSpc>
                <a:spcPct val="105000"/>
              </a:lnSpc>
              <a:spcAft>
                <a:spcPts val="700"/>
              </a:spcAft>
              <a:buNone/>
            </a:pPr>
            <a:r>
              <a:rPr lang="en-US" sz="1050" b="1" u="sng" dirty="0">
                <a:solidFill>
                  <a:srgbClr val="7B5CD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don't like</a:t>
            </a:r>
            <a:pPr indent="0" marL="0">
              <a:lnSpc>
                <a:spcPct val="105000"/>
              </a:lnSpc>
              <a:spcAft>
                <a:spcPts val="700"/>
              </a:spcAft>
              <a:buNone/>
            </a:pPr>
            <a:r>
              <a:rPr lang="en-US" sz="105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fish and chips.</a:t>
            </a:r>
            <a:endParaRPr lang="en-US" sz="1050" dirty="0"/>
          </a:p>
        </p:txBody>
      </p:sp>
      <p:sp>
        <p:nvSpPr>
          <p:cNvPr id="15" name="bd_340"/>
          <p:cNvSpPr/>
          <p:nvPr/>
        </p:nvSpPr>
        <p:spPr>
          <a:xfrm>
            <a:off x="6172200" y="1541526"/>
            <a:ext cx="274320" cy="274320"/>
          </a:xfrm>
          <a:prstGeom prst="ellipse">
            <a:avLst/>
          </a:prstGeom>
          <a:solidFill>
            <a:srgbClr val="E8508F"/>
          </a:solidFill>
          <a:ln w="28575">
            <a:solidFill>
              <a:srgbClr val="F7A6C4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1</a:t>
            </a:r>
            <a:endParaRPr lang="en-US" sz="900" dirty="0"/>
          </a:p>
        </p:txBody>
      </p:sp>
      <p:sp>
        <p:nvSpPr>
          <p:cNvPr id="16" name="rq_341"/>
          <p:cNvSpPr/>
          <p:nvPr/>
        </p:nvSpPr>
        <p:spPr>
          <a:xfrm>
            <a:off x="6492240" y="1417320"/>
            <a:ext cx="2423160" cy="522732"/>
          </a:xfrm>
          <a:prstGeom prst="roundRect">
            <a:avLst>
              <a:gd name="adj" fmla="val 13994"/>
            </a:avLst>
          </a:prstGeom>
          <a:solidFill>
            <a:srgbClr val="FFFFFF"/>
          </a:solidFill>
          <a:ln w="28575">
            <a:solidFill>
              <a:srgbClr val="F7A6C4"/>
            </a:solidFill>
          </a:ln>
        </p:spPr>
        <p:txBody>
          <a:bodyPr wrap="square" lIns="76200" tIns="0" rIns="76200" bIns="0" rtlCol="0" anchor="ctr">
            <a:normAutofit/>
          </a:bodyPr>
          <a:lstStyle/>
          <a:p>
            <a:pPr indent="0" marL="0">
              <a:buNone/>
            </a:pPr>
            <a:r>
              <a:rPr lang="en-US" sz="11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Shurooq</a:t>
            </a:r>
            <a:endParaRPr lang="en-US" sz="1100" dirty="0"/>
          </a:p>
        </p:txBody>
      </p:sp>
      <p:sp>
        <p:nvSpPr>
          <p:cNvPr id="17" name="R1_chip342"/>
          <p:cNvSpPr/>
          <p:nvPr/>
        </p:nvSpPr>
        <p:spPr>
          <a:xfrm>
            <a:off x="6492240" y="1967484"/>
            <a:ext cx="2423160" cy="495300"/>
          </a:xfrm>
          <a:prstGeom prst="roundRect">
            <a:avLst>
              <a:gd name="adj" fmla="val 18462"/>
            </a:avLst>
          </a:prstGeom>
          <a:solidFill>
            <a:srgbClr val="E3F7EA"/>
          </a:solidFill>
          <a:ln w="28575">
            <a:solidFill>
              <a:srgbClr val="A8E5BE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✓ – freedom, the weather, nice and friendly people</a:t>
            </a:r>
            <a:endParaRPr lang="en-US" sz="900" dirty="0"/>
          </a:p>
        </p:txBody>
      </p:sp>
      <p:sp>
        <p:nvSpPr>
          <p:cNvPr id="18" name="bd_343"/>
          <p:cNvSpPr/>
          <p:nvPr/>
        </p:nvSpPr>
        <p:spPr>
          <a:xfrm>
            <a:off x="6172200" y="2678430"/>
            <a:ext cx="274320" cy="274320"/>
          </a:xfrm>
          <a:prstGeom prst="ellipse">
            <a:avLst/>
          </a:prstGeom>
          <a:solidFill>
            <a:srgbClr val="2F8DE4"/>
          </a:solidFill>
          <a:ln w="28575">
            <a:solidFill>
              <a:srgbClr val="A9D3F5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2</a:t>
            </a:r>
            <a:endParaRPr lang="en-US" sz="900" dirty="0"/>
          </a:p>
        </p:txBody>
      </p:sp>
      <p:sp>
        <p:nvSpPr>
          <p:cNvPr id="19" name="rq_344"/>
          <p:cNvSpPr/>
          <p:nvPr/>
        </p:nvSpPr>
        <p:spPr>
          <a:xfrm>
            <a:off x="6492240" y="2554224"/>
            <a:ext cx="2423160" cy="522732"/>
          </a:xfrm>
          <a:prstGeom prst="roundRect">
            <a:avLst>
              <a:gd name="adj" fmla="val 13994"/>
            </a:avLst>
          </a:prstGeom>
          <a:solidFill>
            <a:srgbClr val="FFFFFF"/>
          </a:solidFill>
          <a:ln w="28575">
            <a:solidFill>
              <a:srgbClr val="A9D3F5"/>
            </a:solidFill>
          </a:ln>
        </p:spPr>
        <p:txBody>
          <a:bodyPr wrap="square" lIns="76200" tIns="0" rIns="76200" bIns="0" rtlCol="0" anchor="ctr">
            <a:normAutofit/>
          </a:bodyPr>
          <a:lstStyle/>
          <a:p>
            <a:pPr indent="0" marL="0">
              <a:buNone/>
            </a:pPr>
            <a:r>
              <a:rPr lang="en-US" sz="11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Michelle</a:t>
            </a:r>
            <a:endParaRPr lang="en-US" sz="1100" dirty="0"/>
          </a:p>
        </p:txBody>
      </p:sp>
      <p:sp>
        <p:nvSpPr>
          <p:cNvPr id="20" name="R2_chip345"/>
          <p:cNvSpPr/>
          <p:nvPr/>
        </p:nvSpPr>
        <p:spPr>
          <a:xfrm>
            <a:off x="6492240" y="3104388"/>
            <a:ext cx="2423160" cy="495300"/>
          </a:xfrm>
          <a:prstGeom prst="roundRect">
            <a:avLst>
              <a:gd name="adj" fmla="val 18462"/>
            </a:avLst>
          </a:prstGeom>
          <a:solidFill>
            <a:srgbClr val="E3F7EA"/>
          </a:solidFill>
          <a:ln w="28575">
            <a:solidFill>
              <a:srgbClr val="A8E5BE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✓ – 'My favourite thing… Scotch eggs… I love it… The shops are great'</a:t>
            </a:r>
            <a:endParaRPr lang="en-US" sz="900" dirty="0"/>
          </a:p>
        </p:txBody>
      </p:sp>
      <p:sp>
        <p:nvSpPr>
          <p:cNvPr id="21" name="bd_346"/>
          <p:cNvSpPr/>
          <p:nvPr/>
        </p:nvSpPr>
        <p:spPr>
          <a:xfrm>
            <a:off x="6172200" y="3815334"/>
            <a:ext cx="274320" cy="274320"/>
          </a:xfrm>
          <a:prstGeom prst="ellipse">
            <a:avLst/>
          </a:prstGeom>
          <a:solidFill>
            <a:srgbClr val="2EB872"/>
          </a:solidFill>
          <a:ln w="28575">
            <a:solidFill>
              <a:srgbClr val="A8E5BE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3</a:t>
            </a:r>
            <a:endParaRPr lang="en-US" sz="900" dirty="0"/>
          </a:p>
        </p:txBody>
      </p:sp>
      <p:sp>
        <p:nvSpPr>
          <p:cNvPr id="22" name="rq_347"/>
          <p:cNvSpPr/>
          <p:nvPr/>
        </p:nvSpPr>
        <p:spPr>
          <a:xfrm>
            <a:off x="6492240" y="3691128"/>
            <a:ext cx="2423160" cy="522732"/>
          </a:xfrm>
          <a:prstGeom prst="roundRect">
            <a:avLst>
              <a:gd name="adj" fmla="val 13994"/>
            </a:avLst>
          </a:prstGeom>
          <a:solidFill>
            <a:srgbClr val="FFFFFF"/>
          </a:solidFill>
          <a:ln w="28575">
            <a:solidFill>
              <a:srgbClr val="A8E5BE"/>
            </a:solidFill>
          </a:ln>
        </p:spPr>
        <p:txBody>
          <a:bodyPr wrap="square" lIns="76200" tIns="0" rIns="76200" bIns="0" rtlCol="0" anchor="ctr">
            <a:normAutofit/>
          </a:bodyPr>
          <a:lstStyle/>
          <a:p>
            <a:pPr indent="0" marL="0">
              <a:buNone/>
            </a:pPr>
            <a:r>
              <a:rPr lang="en-US" sz="11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Lian Tang</a:t>
            </a:r>
            <a:endParaRPr lang="en-US" sz="1100" dirty="0"/>
          </a:p>
        </p:txBody>
      </p:sp>
      <p:sp>
        <p:nvSpPr>
          <p:cNvPr id="23" name="R3_chip348"/>
          <p:cNvSpPr/>
          <p:nvPr/>
        </p:nvSpPr>
        <p:spPr>
          <a:xfrm>
            <a:off x="6492240" y="4241292"/>
            <a:ext cx="2423160" cy="495300"/>
          </a:xfrm>
          <a:prstGeom prst="roundRect">
            <a:avLst>
              <a:gd name="adj" fmla="val 18462"/>
            </a:avLst>
          </a:prstGeom>
          <a:solidFill>
            <a:srgbClr val="E3F7EA"/>
          </a:solidFill>
          <a:ln w="28575">
            <a:solidFill>
              <a:srgbClr val="A8E5BE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✓✗ – likes the culture, art, history, scenery; doesn't like the weather and the food</a:t>
            </a:r>
            <a:endParaRPr lang="en-US" sz="900" dirty="0"/>
          </a:p>
        </p:txBody>
      </p:sp>
    </p:spTree>
  </p:cSld>
  <p:clrMapOvr>
    <a:masterClrMapping/>
  </p:clrMapOvr>
  <p:transition spd="med">
    <p:push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4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>
                      <p:stCondLst>
                        <p:cond delay="indefinite"/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4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bd_349"/>
          <p:cNvSpPr/>
          <p:nvPr/>
        </p:nvSpPr>
        <p:spPr>
          <a:xfrm>
            <a:off x="201168" y="164592"/>
            <a:ext cx="841248" cy="841248"/>
          </a:xfrm>
          <a:prstGeom prst="ellipse">
            <a:avLst/>
          </a:prstGeom>
          <a:solidFill>
            <a:srgbClr val="2F8DE4"/>
          </a:solidFill>
          <a:ln w="28575">
            <a:solidFill>
              <a:srgbClr val="A9D3F5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14</a:t>
            </a:r>
            <a:endParaRPr lang="en-US" sz="2200" dirty="0"/>
          </a:p>
        </p:txBody>
      </p:sp>
      <p:pic>
        <p:nvPicPr>
          <p:cNvPr id="4" name="brY_350" descr="/home/claude/lls-course/v2/assets/brush-yellow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46304"/>
            <a:ext cx="1517904" cy="621792"/>
          </a:xfrm>
          <a:prstGeom prst="rect">
            <a:avLst/>
          </a:prstGeom>
        </p:spPr>
      </p:pic>
      <p:sp>
        <p:nvSpPr>
          <p:cNvPr id="5" name="title_351"/>
          <p:cNvSpPr/>
          <p:nvPr/>
        </p:nvSpPr>
        <p:spPr>
          <a:xfrm>
            <a:off x="1261872" y="164592"/>
            <a:ext cx="124358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5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Who…?</a:t>
            </a:r>
            <a:endParaRPr lang="en-US" sz="2500" dirty="0"/>
          </a:p>
        </p:txBody>
      </p:sp>
      <p:pic>
        <p:nvPicPr>
          <p:cNvPr id="6" name="brP_352" descr="/home/claude/lls-course/v2/assets/brush-pink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07008" y="731520"/>
            <a:ext cx="4814316" cy="402336"/>
          </a:xfrm>
          <a:prstGeom prst="rect">
            <a:avLst/>
          </a:prstGeom>
        </p:spPr>
      </p:pic>
      <p:sp>
        <p:nvSpPr>
          <p:cNvPr id="7" name="ins_353"/>
          <p:cNvSpPr/>
          <p:nvPr/>
        </p:nvSpPr>
        <p:spPr>
          <a:xfrm>
            <a:off x="1353312" y="731520"/>
            <a:ext cx="455828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i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Read again. Complete the sentences with a name.</a:t>
            </a:r>
            <a:endParaRPr lang="en-US" sz="1250" dirty="0"/>
          </a:p>
        </p:txBody>
      </p:sp>
      <p:sp>
        <p:nvSpPr>
          <p:cNvPr id="8" name="insIT_354"/>
          <p:cNvSpPr/>
          <p:nvPr/>
        </p:nvSpPr>
        <p:spPr>
          <a:xfrm>
            <a:off x="1371600" y="1115568"/>
            <a:ext cx="5074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i="1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Rileggi. Completa le frasi con un nome.</a:t>
            </a:r>
            <a:endParaRPr lang="en-US" sz="950" dirty="0"/>
          </a:p>
        </p:txBody>
      </p:sp>
      <p:sp>
        <p:nvSpPr>
          <p:cNvPr id="9" name="note_355"/>
          <p:cNvSpPr/>
          <p:nvPr/>
        </p:nvSpPr>
        <p:spPr>
          <a:xfrm rot="180000">
            <a:off x="6382512" y="128016"/>
            <a:ext cx="2029968" cy="1024128"/>
          </a:xfrm>
          <a:prstGeom prst="rect">
            <a:avLst/>
          </a:prstGeom>
          <a:solidFill>
            <a:srgbClr val="FFC2DA"/>
          </a:solidFill>
          <a:ln>
            <a:solidFill>
              <a:srgbClr val="FFC2DA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50800" tIns="50800" rIns="50800" bIns="50800" rtlCol="0" anchor="ctr">
            <a:normAutofit/>
          </a:bodyPr>
          <a:lstStyle/>
          <a:p>
            <a:pPr algn="ctr" indent="0" marL="0">
              <a:buNone/>
            </a:pPr>
            <a:r>
              <a:rPr lang="en-US" sz="115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👀 READ</a:t>
            </a:r>
            <a:pPr algn="ctr" indent="0" marL="0">
              <a:buNone/>
            </a:pPr>
            <a:r>
              <a:rPr lang="en-US" sz="1200" dirty="0">
                <a:solidFill>
                  <a:srgbClr val="5B6785"/>
                </a:solidFill>
              </a:rPr>
              <a:t> → </a:t>
            </a:r>
            <a:pPr algn="ctr" indent="0" marL="0">
              <a:buNone/>
            </a:pPr>
            <a:r>
              <a:rPr lang="en-US" sz="115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🔍 FIND</a:t>
            </a:r>
            <a:endParaRPr lang="en-US" sz="115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⏱ 4 min   👥 pairs</a:t>
            </a:r>
            <a:endParaRPr lang="en-US" sz="115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🎯 Reading · Controlled practice</a:t>
            </a:r>
            <a:endParaRPr lang="en-US" sz="1150" dirty="0"/>
          </a:p>
        </p:txBody>
      </p:sp>
      <p:pic>
        <p:nvPicPr>
          <p:cNvPr id="10" name="logo_356" descr="/home/claude/lls-course/v2/img/logo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85632" y="128016"/>
            <a:ext cx="502920" cy="502920"/>
          </a:xfrm>
          <a:prstGeom prst="rect">
            <a:avLst/>
          </a:prstGeom>
        </p:spPr>
      </p:pic>
      <p:sp>
        <p:nvSpPr>
          <p:cNvPr id="11" name="foot_357"/>
          <p:cNvSpPr/>
          <p:nvPr/>
        </p:nvSpPr>
        <p:spPr>
          <a:xfrm>
            <a:off x="274320" y="4873752"/>
            <a:ext cx="6858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3A · Reading · detail   ·   📖 SB p.23 · 4b, 4c (TG key)</a:t>
            </a:r>
            <a:endParaRPr lang="en-US" sz="800" dirty="0"/>
          </a:p>
        </p:txBody>
      </p:sp>
      <p:sp>
        <p:nvSpPr>
          <p:cNvPr id="12" name="bd_358"/>
          <p:cNvSpPr/>
          <p:nvPr/>
        </p:nvSpPr>
        <p:spPr>
          <a:xfrm>
            <a:off x="320040" y="1390254"/>
            <a:ext cx="310896" cy="310896"/>
          </a:xfrm>
          <a:prstGeom prst="ellipse">
            <a:avLst/>
          </a:prstGeom>
          <a:solidFill>
            <a:srgbClr val="E8508F"/>
          </a:solidFill>
          <a:ln w="28575">
            <a:solidFill>
              <a:srgbClr val="F7A6C4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1</a:t>
            </a:r>
            <a:endParaRPr lang="en-US" sz="1000" dirty="0"/>
          </a:p>
        </p:txBody>
      </p:sp>
      <p:sp>
        <p:nvSpPr>
          <p:cNvPr id="13" name="q_359"/>
          <p:cNvSpPr/>
          <p:nvPr/>
        </p:nvSpPr>
        <p:spPr>
          <a:xfrm>
            <a:off x="704088" y="1417320"/>
            <a:ext cx="3776472" cy="256764"/>
          </a:xfrm>
          <a:prstGeom prst="roundRect">
            <a:avLst>
              <a:gd name="adj" fmla="val 35612"/>
            </a:avLst>
          </a:prstGeom>
          <a:solidFill>
            <a:srgbClr val="FFFFFF"/>
          </a:solidFill>
          <a:ln w="28575">
            <a:solidFill>
              <a:srgbClr val="F7A6C4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9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___ likes the weather.</a:t>
            </a:r>
            <a:endParaRPr lang="en-US" sz="900" dirty="0"/>
          </a:p>
        </p:txBody>
      </p:sp>
      <p:sp>
        <p:nvSpPr>
          <p:cNvPr id="14" name="R1_chip360"/>
          <p:cNvSpPr/>
          <p:nvPr/>
        </p:nvSpPr>
        <p:spPr>
          <a:xfrm>
            <a:off x="704088" y="1719804"/>
            <a:ext cx="3776472" cy="410748"/>
          </a:xfrm>
          <a:prstGeom prst="roundRect">
            <a:avLst>
              <a:gd name="adj" fmla="val 22262"/>
            </a:avLst>
          </a:prstGeom>
          <a:solidFill>
            <a:srgbClr val="E3F7EA"/>
          </a:solidFill>
          <a:ln w="28575">
            <a:solidFill>
              <a:srgbClr val="A8E5BE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Shurooq</a:t>
            </a:r>
            <a:endParaRPr lang="en-US" sz="1150" dirty="0"/>
          </a:p>
        </p:txBody>
      </p:sp>
      <p:sp>
        <p:nvSpPr>
          <p:cNvPr id="15" name="bd_361"/>
          <p:cNvSpPr/>
          <p:nvPr/>
        </p:nvSpPr>
        <p:spPr>
          <a:xfrm>
            <a:off x="320040" y="2231502"/>
            <a:ext cx="310896" cy="310896"/>
          </a:xfrm>
          <a:prstGeom prst="ellipse">
            <a:avLst/>
          </a:prstGeom>
          <a:solidFill>
            <a:srgbClr val="2F8DE4"/>
          </a:solidFill>
          <a:ln w="28575">
            <a:solidFill>
              <a:srgbClr val="A9D3F5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2</a:t>
            </a:r>
            <a:endParaRPr lang="en-US" sz="1000" dirty="0"/>
          </a:p>
        </p:txBody>
      </p:sp>
      <p:sp>
        <p:nvSpPr>
          <p:cNvPr id="16" name="q_362"/>
          <p:cNvSpPr/>
          <p:nvPr/>
        </p:nvSpPr>
        <p:spPr>
          <a:xfrm>
            <a:off x="704088" y="2258568"/>
            <a:ext cx="3776472" cy="256764"/>
          </a:xfrm>
          <a:prstGeom prst="roundRect">
            <a:avLst>
              <a:gd name="adj" fmla="val 35612"/>
            </a:avLst>
          </a:prstGeom>
          <a:solidFill>
            <a:srgbClr val="FFFFFF"/>
          </a:solidFill>
          <a:ln w="28575">
            <a:solidFill>
              <a:srgbClr val="A9D3F5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9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___ and ___ don't like the weather.</a:t>
            </a:r>
            <a:endParaRPr lang="en-US" sz="900" dirty="0"/>
          </a:p>
        </p:txBody>
      </p:sp>
      <p:sp>
        <p:nvSpPr>
          <p:cNvPr id="17" name="R2_chip363"/>
          <p:cNvSpPr/>
          <p:nvPr/>
        </p:nvSpPr>
        <p:spPr>
          <a:xfrm>
            <a:off x="704088" y="2561052"/>
            <a:ext cx="3776472" cy="410748"/>
          </a:xfrm>
          <a:prstGeom prst="roundRect">
            <a:avLst>
              <a:gd name="adj" fmla="val 22262"/>
            </a:avLst>
          </a:prstGeom>
          <a:solidFill>
            <a:srgbClr val="E3F7EA"/>
          </a:solidFill>
          <a:ln w="28575">
            <a:solidFill>
              <a:srgbClr val="A8E5BE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Khalal and Lian Tang</a:t>
            </a:r>
            <a:endParaRPr lang="en-US" sz="1150" dirty="0"/>
          </a:p>
        </p:txBody>
      </p:sp>
      <p:sp>
        <p:nvSpPr>
          <p:cNvPr id="18" name="bd_364"/>
          <p:cNvSpPr/>
          <p:nvPr/>
        </p:nvSpPr>
        <p:spPr>
          <a:xfrm>
            <a:off x="320040" y="3072750"/>
            <a:ext cx="310896" cy="310896"/>
          </a:xfrm>
          <a:prstGeom prst="ellipse">
            <a:avLst/>
          </a:prstGeom>
          <a:solidFill>
            <a:srgbClr val="2EB872"/>
          </a:solidFill>
          <a:ln w="28575">
            <a:solidFill>
              <a:srgbClr val="A8E5BE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3</a:t>
            </a:r>
            <a:endParaRPr lang="en-US" sz="1000" dirty="0"/>
          </a:p>
        </p:txBody>
      </p:sp>
      <p:sp>
        <p:nvSpPr>
          <p:cNvPr id="19" name="q_365"/>
          <p:cNvSpPr/>
          <p:nvPr/>
        </p:nvSpPr>
        <p:spPr>
          <a:xfrm>
            <a:off x="704088" y="3099816"/>
            <a:ext cx="3776472" cy="256764"/>
          </a:xfrm>
          <a:prstGeom prst="roundRect">
            <a:avLst>
              <a:gd name="adj" fmla="val 35612"/>
            </a:avLst>
          </a:prstGeom>
          <a:solidFill>
            <a:srgbClr val="FFFFFF"/>
          </a:solidFill>
          <a:ln w="28575">
            <a:solidFill>
              <a:srgbClr val="A8E5BE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9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___ loves the food.</a:t>
            </a:r>
            <a:endParaRPr lang="en-US" sz="900" dirty="0"/>
          </a:p>
        </p:txBody>
      </p:sp>
      <p:sp>
        <p:nvSpPr>
          <p:cNvPr id="20" name="R3_chip366"/>
          <p:cNvSpPr/>
          <p:nvPr/>
        </p:nvSpPr>
        <p:spPr>
          <a:xfrm>
            <a:off x="704088" y="3402300"/>
            <a:ext cx="3776472" cy="410748"/>
          </a:xfrm>
          <a:prstGeom prst="roundRect">
            <a:avLst>
              <a:gd name="adj" fmla="val 22262"/>
            </a:avLst>
          </a:prstGeom>
          <a:solidFill>
            <a:srgbClr val="E3F7EA"/>
          </a:solidFill>
          <a:ln w="28575">
            <a:solidFill>
              <a:srgbClr val="A8E5BE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Michelle</a:t>
            </a:r>
            <a:endParaRPr lang="en-US" sz="1150" dirty="0"/>
          </a:p>
        </p:txBody>
      </p:sp>
      <p:sp>
        <p:nvSpPr>
          <p:cNvPr id="21" name="bd_367"/>
          <p:cNvSpPr/>
          <p:nvPr/>
        </p:nvSpPr>
        <p:spPr>
          <a:xfrm>
            <a:off x="320040" y="3913998"/>
            <a:ext cx="310896" cy="310896"/>
          </a:xfrm>
          <a:prstGeom prst="ellipse">
            <a:avLst/>
          </a:prstGeom>
          <a:solidFill>
            <a:srgbClr val="F2B705"/>
          </a:solidFill>
          <a:ln w="28575">
            <a:solidFill>
              <a:srgbClr val="FFE07A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4</a:t>
            </a:r>
            <a:endParaRPr lang="en-US" sz="1000" dirty="0"/>
          </a:p>
        </p:txBody>
      </p:sp>
      <p:sp>
        <p:nvSpPr>
          <p:cNvPr id="22" name="q_368"/>
          <p:cNvSpPr/>
          <p:nvPr/>
        </p:nvSpPr>
        <p:spPr>
          <a:xfrm>
            <a:off x="704088" y="3941064"/>
            <a:ext cx="3776472" cy="256764"/>
          </a:xfrm>
          <a:prstGeom prst="roundRect">
            <a:avLst>
              <a:gd name="adj" fmla="val 35612"/>
            </a:avLst>
          </a:prstGeom>
          <a:solidFill>
            <a:srgbClr val="FFFFFF"/>
          </a:solidFill>
          <a:ln w="28575">
            <a:solidFill>
              <a:srgbClr val="FFE07A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9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___ and ___ don't like the food.</a:t>
            </a:r>
            <a:endParaRPr lang="en-US" sz="900" dirty="0"/>
          </a:p>
        </p:txBody>
      </p:sp>
      <p:sp>
        <p:nvSpPr>
          <p:cNvPr id="23" name="R4_chip369"/>
          <p:cNvSpPr/>
          <p:nvPr/>
        </p:nvSpPr>
        <p:spPr>
          <a:xfrm>
            <a:off x="704088" y="4243548"/>
            <a:ext cx="3776472" cy="410748"/>
          </a:xfrm>
          <a:prstGeom prst="roundRect">
            <a:avLst>
              <a:gd name="adj" fmla="val 22262"/>
            </a:avLst>
          </a:prstGeom>
          <a:solidFill>
            <a:srgbClr val="E3F7EA"/>
          </a:solidFill>
          <a:ln w="28575">
            <a:solidFill>
              <a:srgbClr val="A8E5BE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Khalal and Lian Tang</a:t>
            </a:r>
            <a:endParaRPr lang="en-US" sz="1150" dirty="0"/>
          </a:p>
        </p:txBody>
      </p:sp>
      <p:sp>
        <p:nvSpPr>
          <p:cNvPr id="24" name="bd_370"/>
          <p:cNvSpPr/>
          <p:nvPr/>
        </p:nvSpPr>
        <p:spPr>
          <a:xfrm>
            <a:off x="4709160" y="1390254"/>
            <a:ext cx="310896" cy="310896"/>
          </a:xfrm>
          <a:prstGeom prst="ellipse">
            <a:avLst/>
          </a:prstGeom>
          <a:solidFill>
            <a:srgbClr val="E8508F"/>
          </a:solidFill>
          <a:ln w="28575">
            <a:solidFill>
              <a:srgbClr val="F7A6C4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5</a:t>
            </a:r>
            <a:endParaRPr lang="en-US" sz="1000" dirty="0"/>
          </a:p>
        </p:txBody>
      </p:sp>
      <p:sp>
        <p:nvSpPr>
          <p:cNvPr id="25" name="q_371"/>
          <p:cNvSpPr/>
          <p:nvPr/>
        </p:nvSpPr>
        <p:spPr>
          <a:xfrm>
            <a:off x="5093208" y="1417320"/>
            <a:ext cx="3776472" cy="256764"/>
          </a:xfrm>
          <a:prstGeom prst="roundRect">
            <a:avLst>
              <a:gd name="adj" fmla="val 35612"/>
            </a:avLst>
          </a:prstGeom>
          <a:solidFill>
            <a:srgbClr val="FFFFFF"/>
          </a:solidFill>
          <a:ln w="28575">
            <a:solidFill>
              <a:srgbClr val="F7A6C4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9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___ and ___ think British people are friendly.</a:t>
            </a:r>
            <a:endParaRPr lang="en-US" sz="900" dirty="0"/>
          </a:p>
        </p:txBody>
      </p:sp>
      <p:sp>
        <p:nvSpPr>
          <p:cNvPr id="26" name="R5_chip372"/>
          <p:cNvSpPr/>
          <p:nvPr/>
        </p:nvSpPr>
        <p:spPr>
          <a:xfrm>
            <a:off x="5093208" y="1719804"/>
            <a:ext cx="3776472" cy="410748"/>
          </a:xfrm>
          <a:prstGeom prst="roundRect">
            <a:avLst>
              <a:gd name="adj" fmla="val 22262"/>
            </a:avLst>
          </a:prstGeom>
          <a:solidFill>
            <a:srgbClr val="E3F7EA"/>
          </a:solidFill>
          <a:ln w="28575">
            <a:solidFill>
              <a:srgbClr val="A8E5BE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Camille and Shurooq</a:t>
            </a:r>
            <a:endParaRPr lang="en-US" sz="1150" dirty="0"/>
          </a:p>
        </p:txBody>
      </p:sp>
      <p:sp>
        <p:nvSpPr>
          <p:cNvPr id="27" name="bd_373"/>
          <p:cNvSpPr/>
          <p:nvPr/>
        </p:nvSpPr>
        <p:spPr>
          <a:xfrm>
            <a:off x="4709160" y="2231502"/>
            <a:ext cx="310896" cy="310896"/>
          </a:xfrm>
          <a:prstGeom prst="ellipse">
            <a:avLst/>
          </a:prstGeom>
          <a:solidFill>
            <a:srgbClr val="2F8DE4"/>
          </a:solidFill>
          <a:ln w="28575">
            <a:solidFill>
              <a:srgbClr val="A9D3F5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6</a:t>
            </a:r>
            <a:endParaRPr lang="en-US" sz="1000" dirty="0"/>
          </a:p>
        </p:txBody>
      </p:sp>
      <p:sp>
        <p:nvSpPr>
          <p:cNvPr id="28" name="q_374"/>
          <p:cNvSpPr/>
          <p:nvPr/>
        </p:nvSpPr>
        <p:spPr>
          <a:xfrm>
            <a:off x="5093208" y="2258568"/>
            <a:ext cx="3776472" cy="256764"/>
          </a:xfrm>
          <a:prstGeom prst="roundRect">
            <a:avLst>
              <a:gd name="adj" fmla="val 35612"/>
            </a:avLst>
          </a:prstGeom>
          <a:solidFill>
            <a:srgbClr val="FFFFFF"/>
          </a:solidFill>
          <a:ln w="28575">
            <a:solidFill>
              <a:srgbClr val="A9D3F5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8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___ thinks British women live in a different way from her country.</a:t>
            </a:r>
            <a:endParaRPr lang="en-US" sz="800" dirty="0"/>
          </a:p>
        </p:txBody>
      </p:sp>
      <p:sp>
        <p:nvSpPr>
          <p:cNvPr id="29" name="R6_chip375"/>
          <p:cNvSpPr/>
          <p:nvPr/>
        </p:nvSpPr>
        <p:spPr>
          <a:xfrm>
            <a:off x="5093208" y="2561052"/>
            <a:ext cx="3776472" cy="410748"/>
          </a:xfrm>
          <a:prstGeom prst="roundRect">
            <a:avLst>
              <a:gd name="adj" fmla="val 22262"/>
            </a:avLst>
          </a:prstGeom>
          <a:solidFill>
            <a:srgbClr val="E3F7EA"/>
          </a:solidFill>
          <a:ln w="28575">
            <a:solidFill>
              <a:srgbClr val="A8E5BE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Shurooq</a:t>
            </a:r>
            <a:endParaRPr lang="en-US" sz="1150" dirty="0"/>
          </a:p>
        </p:txBody>
      </p:sp>
      <p:sp>
        <p:nvSpPr>
          <p:cNvPr id="30" name="bd_376"/>
          <p:cNvSpPr/>
          <p:nvPr/>
        </p:nvSpPr>
        <p:spPr>
          <a:xfrm>
            <a:off x="4709160" y="3072750"/>
            <a:ext cx="310896" cy="310896"/>
          </a:xfrm>
          <a:prstGeom prst="ellipse">
            <a:avLst/>
          </a:prstGeom>
          <a:solidFill>
            <a:srgbClr val="2EB872"/>
          </a:solidFill>
          <a:ln w="28575">
            <a:solidFill>
              <a:srgbClr val="A8E5BE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7</a:t>
            </a:r>
            <a:endParaRPr lang="en-US" sz="1000" dirty="0"/>
          </a:p>
        </p:txBody>
      </p:sp>
      <p:sp>
        <p:nvSpPr>
          <p:cNvPr id="31" name="q_377"/>
          <p:cNvSpPr/>
          <p:nvPr/>
        </p:nvSpPr>
        <p:spPr>
          <a:xfrm>
            <a:off x="5093208" y="3099816"/>
            <a:ext cx="3776472" cy="256764"/>
          </a:xfrm>
          <a:prstGeom prst="roundRect">
            <a:avLst>
              <a:gd name="adj" fmla="val 35612"/>
            </a:avLst>
          </a:prstGeom>
          <a:solidFill>
            <a:srgbClr val="FFFFFF"/>
          </a:solidFill>
          <a:ln w="28575">
            <a:solidFill>
              <a:srgbClr val="A8E5BE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9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___ doesn't think British people work hard.</a:t>
            </a:r>
            <a:endParaRPr lang="en-US" sz="900" dirty="0"/>
          </a:p>
        </p:txBody>
      </p:sp>
      <p:sp>
        <p:nvSpPr>
          <p:cNvPr id="32" name="R7_chip378"/>
          <p:cNvSpPr/>
          <p:nvPr/>
        </p:nvSpPr>
        <p:spPr>
          <a:xfrm>
            <a:off x="5093208" y="3402300"/>
            <a:ext cx="3776472" cy="410748"/>
          </a:xfrm>
          <a:prstGeom prst="roundRect">
            <a:avLst>
              <a:gd name="adj" fmla="val 22262"/>
            </a:avLst>
          </a:prstGeom>
          <a:solidFill>
            <a:srgbClr val="E3F7EA"/>
          </a:solidFill>
          <a:ln w="28575">
            <a:solidFill>
              <a:srgbClr val="A8E5BE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Erdal</a:t>
            </a:r>
            <a:endParaRPr lang="en-US" sz="1150" dirty="0"/>
          </a:p>
        </p:txBody>
      </p:sp>
    </p:spTree>
  </p:cSld>
  <p:clrMapOvr>
    <a:masterClrMapping/>
  </p:clrMapOvr>
  <p:transition spd="med">
    <p:push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4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4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4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4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bd_379"/>
          <p:cNvSpPr/>
          <p:nvPr/>
        </p:nvSpPr>
        <p:spPr>
          <a:xfrm>
            <a:off x="201168" y="164592"/>
            <a:ext cx="841248" cy="841248"/>
          </a:xfrm>
          <a:prstGeom prst="ellipse">
            <a:avLst/>
          </a:prstGeom>
          <a:solidFill>
            <a:srgbClr val="E8508F"/>
          </a:solidFill>
          <a:ln w="28575">
            <a:solidFill>
              <a:srgbClr val="F7A6C4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15</a:t>
            </a:r>
            <a:endParaRPr lang="en-US" sz="2200" dirty="0"/>
          </a:p>
        </p:txBody>
      </p:sp>
      <p:pic>
        <p:nvPicPr>
          <p:cNvPr id="4" name="brY_380" descr="/home/claude/lls-course/v2/assets/brush-yellow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46304"/>
            <a:ext cx="5449824" cy="621792"/>
          </a:xfrm>
          <a:prstGeom prst="rect">
            <a:avLst/>
          </a:prstGeom>
        </p:spPr>
      </p:pic>
      <p:sp>
        <p:nvSpPr>
          <p:cNvPr id="5" name="title_381"/>
          <p:cNvSpPr/>
          <p:nvPr/>
        </p:nvSpPr>
        <p:spPr>
          <a:xfrm>
            <a:off x="1261872" y="164592"/>
            <a:ext cx="517550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5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Things I like about my country</a:t>
            </a:r>
            <a:endParaRPr lang="en-US" sz="2500" dirty="0"/>
          </a:p>
        </p:txBody>
      </p:sp>
      <p:pic>
        <p:nvPicPr>
          <p:cNvPr id="6" name="brP_382" descr="/home/claude/lls-course/v2/assets/brush-pink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07008" y="731520"/>
            <a:ext cx="5257800" cy="402336"/>
          </a:xfrm>
          <a:prstGeom prst="rect">
            <a:avLst/>
          </a:prstGeom>
        </p:spPr>
      </p:pic>
      <p:sp>
        <p:nvSpPr>
          <p:cNvPr id="7" name="ins_383"/>
          <p:cNvSpPr/>
          <p:nvPr/>
        </p:nvSpPr>
        <p:spPr>
          <a:xfrm>
            <a:off x="1353312" y="731520"/>
            <a:ext cx="500176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00" i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Complete the sentences about Italy. Compare with a partner – say why!</a:t>
            </a:r>
            <a:endParaRPr lang="en-US" sz="1100" dirty="0"/>
          </a:p>
        </p:txBody>
      </p:sp>
      <p:sp>
        <p:nvSpPr>
          <p:cNvPr id="8" name="insIT_384"/>
          <p:cNvSpPr/>
          <p:nvPr/>
        </p:nvSpPr>
        <p:spPr>
          <a:xfrm>
            <a:off x="1371600" y="1115568"/>
            <a:ext cx="5074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i="1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Completa le frasi sull'Italia. Confronta con un compagno – di' perché!</a:t>
            </a:r>
            <a:endParaRPr lang="en-US" sz="950" dirty="0"/>
          </a:p>
        </p:txBody>
      </p:sp>
      <p:sp>
        <p:nvSpPr>
          <p:cNvPr id="9" name="note_385"/>
          <p:cNvSpPr/>
          <p:nvPr/>
        </p:nvSpPr>
        <p:spPr>
          <a:xfrm rot="180000">
            <a:off x="6382512" y="128016"/>
            <a:ext cx="2029968" cy="1024128"/>
          </a:xfrm>
          <a:prstGeom prst="rect">
            <a:avLst/>
          </a:prstGeom>
          <a:solidFill>
            <a:srgbClr val="FFC2DA"/>
          </a:solidFill>
          <a:ln>
            <a:solidFill>
              <a:srgbClr val="FFC2DA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50800" tIns="50800" rIns="50800" bIns="50800" rtlCol="0" anchor="ctr">
            <a:normAutofit/>
          </a:bodyPr>
          <a:lstStyle/>
          <a:p>
            <a:pPr algn="ctr" indent="0" marL="0">
              <a:buNone/>
            </a:pPr>
            <a:r>
              <a:rPr lang="en-US" sz="115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✍️ WRITE</a:t>
            </a:r>
            <a:pPr algn="ctr" indent="0" marL="0">
              <a:buNone/>
            </a:pPr>
            <a:r>
              <a:rPr lang="en-US" sz="1200" dirty="0">
                <a:solidFill>
                  <a:srgbClr val="5B6785"/>
                </a:solidFill>
              </a:rPr>
              <a:t> → </a:t>
            </a:r>
            <a:pPr algn="ctr" indent="0" marL="0">
              <a:buNone/>
            </a:pPr>
            <a:r>
              <a:rPr lang="en-US" sz="115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💬 TALK</a:t>
            </a:r>
            <a:endParaRPr lang="en-US" sz="115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⏱ 5 min   👥 pairs</a:t>
            </a:r>
            <a:endParaRPr lang="en-US" sz="115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🎯 Speaking · Communicative</a:t>
            </a:r>
            <a:endParaRPr lang="en-US" sz="1150" dirty="0"/>
          </a:p>
        </p:txBody>
      </p:sp>
      <p:pic>
        <p:nvPicPr>
          <p:cNvPr id="10" name="logo_386" descr="/home/claude/lls-course/v2/img/logo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85632" y="128016"/>
            <a:ext cx="502920" cy="502920"/>
          </a:xfrm>
          <a:prstGeom prst="rect">
            <a:avLst/>
          </a:prstGeom>
        </p:spPr>
      </p:pic>
      <p:sp>
        <p:nvSpPr>
          <p:cNvPr id="11" name="foot_387"/>
          <p:cNvSpPr/>
          <p:nvPr/>
        </p:nvSpPr>
        <p:spPr>
          <a:xfrm>
            <a:off x="274320" y="4873752"/>
            <a:ext cx="6858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3A · Speaking · my country   ·   📖 SB p.23 · 5a, 5b</a:t>
            </a:r>
            <a:endParaRPr lang="en-US" sz="800" dirty="0"/>
          </a:p>
        </p:txBody>
      </p:sp>
      <p:sp>
        <p:nvSpPr>
          <p:cNvPr id="12" name="pf_388"/>
          <p:cNvSpPr/>
          <p:nvPr/>
        </p:nvSpPr>
        <p:spPr>
          <a:xfrm rot="-120000">
            <a:off x="320040" y="1371600"/>
            <a:ext cx="2788920" cy="1325880"/>
          </a:xfrm>
          <a:prstGeom prst="roundRect">
            <a:avLst>
              <a:gd name="adj" fmla="val 11724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20000"/>
              </a:srgbClr>
            </a:outerShdw>
          </a:effectLst>
        </p:spPr>
      </p:sp>
      <p:pic>
        <p:nvPicPr>
          <p:cNvPr id="13" name="ph_389" descr="/home/claude/lls-course/v2/cache/red_3a_festival_jpg_649x297_31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 rot="-120000">
            <a:off x="365760" y="1417320"/>
            <a:ext cx="2697480" cy="1234440"/>
          </a:xfrm>
          <a:prstGeom prst="rect">
            <a:avLst/>
          </a:prstGeom>
        </p:spPr>
      </p:pic>
      <p:sp>
        <p:nvSpPr>
          <p:cNvPr id="14" name="cd_390"/>
          <p:cNvSpPr/>
          <p:nvPr/>
        </p:nvSpPr>
        <p:spPr>
          <a:xfrm>
            <a:off x="320040" y="2880360"/>
            <a:ext cx="2788920" cy="1874520"/>
          </a:xfrm>
          <a:prstGeom prst="roundRect">
            <a:avLst>
              <a:gd name="adj" fmla="val 6829"/>
            </a:avLst>
          </a:prstGeom>
          <a:solidFill>
            <a:srgbClr val="EEE8FB"/>
          </a:solidFill>
          <a:ln w="28575">
            <a:solidFill>
              <a:srgbClr val="CDBFF3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15" name="ii_391"/>
          <p:cNvSpPr/>
          <p:nvPr/>
        </p:nvSpPr>
        <p:spPr>
          <a:xfrm>
            <a:off x="411480" y="295351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💬</a:t>
            </a:r>
            <a:endParaRPr lang="en-US" sz="2200" dirty="0"/>
          </a:p>
        </p:txBody>
      </p:sp>
      <p:sp>
        <p:nvSpPr>
          <p:cNvPr id="16" name="ih_392"/>
          <p:cNvSpPr/>
          <p:nvPr/>
        </p:nvSpPr>
        <p:spPr>
          <a:xfrm>
            <a:off x="886968" y="2971800"/>
            <a:ext cx="2148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Useful phrases</a:t>
            </a:r>
            <a:endParaRPr lang="en-US" sz="1300" dirty="0"/>
          </a:p>
        </p:txBody>
      </p:sp>
      <p:sp>
        <p:nvSpPr>
          <p:cNvPr id="17" name="il_393"/>
          <p:cNvSpPr/>
          <p:nvPr/>
        </p:nvSpPr>
        <p:spPr>
          <a:xfrm>
            <a:off x="886968" y="3374136"/>
            <a:ext cx="2130552" cy="130759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My favourite thing about Italy is… because…</a:t>
            </a:r>
            <a:endParaRPr lang="en-US" sz="1050" dirty="0"/>
          </a:p>
          <a:p>
            <a:pPr marL="152400" indent="-152400">
              <a:spcBef>
                <a:spcPts val="600"/>
              </a:spcBef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I really love…</a:t>
            </a:r>
            <a:endParaRPr lang="en-US" sz="1050" dirty="0"/>
          </a:p>
          <a:p>
            <a:pPr marL="152400" indent="-152400">
              <a:spcBef>
                <a:spcPts val="600"/>
              </a:spcBef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One thing that I don't like is…</a:t>
            </a:r>
            <a:endParaRPr lang="en-US" sz="1050" dirty="0"/>
          </a:p>
          <a:p>
            <a:pPr marL="152400" indent="-152400">
              <a:spcBef>
                <a:spcPts val="600"/>
              </a:spcBef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Why? – Because…</a:t>
            </a:r>
            <a:endParaRPr lang="en-US" sz="1050" dirty="0"/>
          </a:p>
        </p:txBody>
      </p:sp>
      <p:sp>
        <p:nvSpPr>
          <p:cNvPr id="18" name="R1_qb394"/>
          <p:cNvSpPr/>
          <p:nvPr/>
        </p:nvSpPr>
        <p:spPr>
          <a:xfrm>
            <a:off x="3273552" y="1453896"/>
            <a:ext cx="329184" cy="329184"/>
          </a:xfrm>
          <a:prstGeom prst="ellipse">
            <a:avLst/>
          </a:prstGeom>
          <a:solidFill>
            <a:srgbClr val="E8508F"/>
          </a:solidFill>
          <a:ln w="28575">
            <a:solidFill>
              <a:srgbClr val="F7A6C4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1</a:t>
            </a:r>
            <a:endParaRPr lang="en-US" sz="1100" dirty="0"/>
          </a:p>
        </p:txBody>
      </p:sp>
      <p:sp>
        <p:nvSpPr>
          <p:cNvPr id="19" name="R1_sq395"/>
          <p:cNvSpPr/>
          <p:nvPr/>
        </p:nvSpPr>
        <p:spPr>
          <a:xfrm>
            <a:off x="3675888" y="1417320"/>
            <a:ext cx="5193792" cy="530352"/>
          </a:xfrm>
          <a:prstGeom prst="roundRect">
            <a:avLst>
              <a:gd name="adj" fmla="val 20690"/>
            </a:avLst>
          </a:prstGeom>
          <a:solidFill>
            <a:srgbClr val="FFFFFF"/>
          </a:solidFill>
          <a:ln w="28575">
            <a:solidFill>
              <a:srgbClr val="F7A6C4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127000" tIns="25400" rIns="127000" bIns="25400" rtlCol="0" anchor="ctr">
            <a:normAutofit/>
          </a:bodyPr>
          <a:lstStyle/>
          <a:p>
            <a:pPr indent="0" marL="0">
              <a:buNone/>
            </a:pPr>
            <a:r>
              <a:rPr lang="en-US" sz="9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My favourite thing about ___ is…</a:t>
            </a:r>
            <a:endParaRPr lang="en-US" sz="950" dirty="0"/>
          </a:p>
          <a:p>
            <a:pPr indent="0" marL="0">
              <a:buNone/>
            </a:pPr>
            <a:r>
              <a:rPr lang="en-US" sz="850" i="1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e.g. My favourite thing about Italy is the food, because I love pasta and real Italian pasta is fantastic.</a:t>
            </a:r>
            <a:endParaRPr lang="en-US" sz="950" dirty="0"/>
          </a:p>
        </p:txBody>
      </p:sp>
      <p:sp>
        <p:nvSpPr>
          <p:cNvPr id="20" name="R2_qb396"/>
          <p:cNvSpPr/>
          <p:nvPr/>
        </p:nvSpPr>
        <p:spPr>
          <a:xfrm>
            <a:off x="3273552" y="2057400"/>
            <a:ext cx="329184" cy="329184"/>
          </a:xfrm>
          <a:prstGeom prst="ellipse">
            <a:avLst/>
          </a:prstGeom>
          <a:solidFill>
            <a:srgbClr val="2F8DE4"/>
          </a:solidFill>
          <a:ln w="28575">
            <a:solidFill>
              <a:srgbClr val="A9D3F5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2</a:t>
            </a:r>
            <a:endParaRPr lang="en-US" sz="1100" dirty="0"/>
          </a:p>
        </p:txBody>
      </p:sp>
      <p:sp>
        <p:nvSpPr>
          <p:cNvPr id="21" name="R2_sq397"/>
          <p:cNvSpPr/>
          <p:nvPr/>
        </p:nvSpPr>
        <p:spPr>
          <a:xfrm>
            <a:off x="3675888" y="2020824"/>
            <a:ext cx="5193792" cy="530352"/>
          </a:xfrm>
          <a:prstGeom prst="roundRect">
            <a:avLst>
              <a:gd name="adj" fmla="val 20690"/>
            </a:avLst>
          </a:prstGeom>
          <a:solidFill>
            <a:srgbClr val="FFFFFF"/>
          </a:solidFill>
          <a:ln w="28575">
            <a:solidFill>
              <a:srgbClr val="A9D3F5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127000" tIns="25400" rIns="127000" bIns="25400" rtlCol="0" anchor="ctr">
            <a:normAutofit/>
          </a:bodyPr>
          <a:lstStyle/>
          <a:p>
            <a:pPr indent="0" marL="0">
              <a:buNone/>
            </a:pPr>
            <a:r>
              <a:rPr lang="en-US" sz="9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I really love… · I also like…</a:t>
            </a:r>
            <a:endParaRPr lang="en-US" sz="950" dirty="0"/>
          </a:p>
          <a:p>
            <a:pPr indent="0" marL="0">
              <a:buNone/>
            </a:pPr>
            <a:r>
              <a:rPr lang="en-US" sz="850" i="1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e.g. I really love the sea in Sicily.</a:t>
            </a:r>
            <a:endParaRPr lang="en-US" sz="950" dirty="0"/>
          </a:p>
        </p:txBody>
      </p:sp>
      <p:sp>
        <p:nvSpPr>
          <p:cNvPr id="22" name="R3_qb398"/>
          <p:cNvSpPr/>
          <p:nvPr/>
        </p:nvSpPr>
        <p:spPr>
          <a:xfrm>
            <a:off x="3273552" y="2660904"/>
            <a:ext cx="329184" cy="329184"/>
          </a:xfrm>
          <a:prstGeom prst="ellipse">
            <a:avLst/>
          </a:prstGeom>
          <a:solidFill>
            <a:srgbClr val="2EB872"/>
          </a:solidFill>
          <a:ln w="28575">
            <a:solidFill>
              <a:srgbClr val="A8E5BE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3</a:t>
            </a:r>
            <a:endParaRPr lang="en-US" sz="1100" dirty="0"/>
          </a:p>
        </p:txBody>
      </p:sp>
      <p:sp>
        <p:nvSpPr>
          <p:cNvPr id="23" name="R3_sq399"/>
          <p:cNvSpPr/>
          <p:nvPr/>
        </p:nvSpPr>
        <p:spPr>
          <a:xfrm>
            <a:off x="3675888" y="2624328"/>
            <a:ext cx="5193792" cy="530352"/>
          </a:xfrm>
          <a:prstGeom prst="roundRect">
            <a:avLst>
              <a:gd name="adj" fmla="val 20690"/>
            </a:avLst>
          </a:prstGeom>
          <a:solidFill>
            <a:srgbClr val="FFFFFF"/>
          </a:solidFill>
          <a:ln w="28575">
            <a:solidFill>
              <a:srgbClr val="A8E5BE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127000" tIns="25400" rIns="127000" bIns="25400" rtlCol="0" anchor="ctr">
            <a:normAutofit/>
          </a:bodyPr>
          <a:lstStyle/>
          <a:p>
            <a:pPr indent="0" marL="0">
              <a:buNone/>
            </a:pPr>
            <a:r>
              <a:rPr lang="en-US" sz="9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One thing that I don't like is… · I also don't like…</a:t>
            </a:r>
            <a:endParaRPr lang="en-US" sz="950" dirty="0"/>
          </a:p>
          <a:p>
            <a:pPr indent="0" marL="0">
              <a:buNone/>
            </a:pPr>
            <a:r>
              <a:rPr lang="en-US" sz="850" i="1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e.g. One thing that I don't like is the traffic in Palermo!</a:t>
            </a:r>
            <a:endParaRPr lang="en-US" sz="950" dirty="0"/>
          </a:p>
        </p:txBody>
      </p:sp>
      <p:sp>
        <p:nvSpPr>
          <p:cNvPr id="24" name="R4_qb400"/>
          <p:cNvSpPr/>
          <p:nvPr/>
        </p:nvSpPr>
        <p:spPr>
          <a:xfrm>
            <a:off x="3273552" y="3264408"/>
            <a:ext cx="329184" cy="329184"/>
          </a:xfrm>
          <a:prstGeom prst="ellipse">
            <a:avLst/>
          </a:prstGeom>
          <a:solidFill>
            <a:srgbClr val="F2B705"/>
          </a:solidFill>
          <a:ln w="28575">
            <a:solidFill>
              <a:srgbClr val="FFE07A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4</a:t>
            </a:r>
            <a:endParaRPr lang="en-US" sz="1100" dirty="0"/>
          </a:p>
        </p:txBody>
      </p:sp>
      <p:sp>
        <p:nvSpPr>
          <p:cNvPr id="25" name="R4_sq401"/>
          <p:cNvSpPr/>
          <p:nvPr/>
        </p:nvSpPr>
        <p:spPr>
          <a:xfrm>
            <a:off x="3675888" y="3227832"/>
            <a:ext cx="5193792" cy="530352"/>
          </a:xfrm>
          <a:prstGeom prst="roundRect">
            <a:avLst>
              <a:gd name="adj" fmla="val 20690"/>
            </a:avLst>
          </a:prstGeom>
          <a:solidFill>
            <a:srgbClr val="FFFFFF"/>
          </a:solidFill>
          <a:ln w="28575">
            <a:solidFill>
              <a:srgbClr val="FFE07A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127000" tIns="25400" rIns="127000" bIns="25400" rtlCol="0" anchor="ctr">
            <a:normAutofit/>
          </a:bodyPr>
          <a:lstStyle/>
          <a:p>
            <a:pPr indent="0" marL="0">
              <a:buNone/>
            </a:pPr>
            <a:r>
              <a:rPr lang="en-US" sz="9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Compare: do you like the same things?</a:t>
            </a:r>
            <a:endParaRPr lang="en-US" sz="950" dirty="0"/>
          </a:p>
          <a:p>
            <a:pPr indent="0" marL="0">
              <a:buNone/>
            </a:pPr>
            <a:r>
              <a:rPr lang="en-US" sz="850" i="1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e.g. Yes, we both love the food!</a:t>
            </a:r>
            <a:endParaRPr lang="en-US" sz="950" dirty="0"/>
          </a:p>
        </p:txBody>
      </p:sp>
    </p:spTree>
  </p:cSld>
  <p:clrMapOvr>
    <a:masterClrMapping/>
  </p:clrMapOvr>
  <p:transition spd="med">
    <p:push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4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4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4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4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4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4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bd_402"/>
          <p:cNvSpPr/>
          <p:nvPr/>
        </p:nvSpPr>
        <p:spPr>
          <a:xfrm>
            <a:off x="201168" y="164592"/>
            <a:ext cx="841248" cy="841248"/>
          </a:xfrm>
          <a:prstGeom prst="ellipse">
            <a:avLst/>
          </a:prstGeom>
          <a:solidFill>
            <a:srgbClr val="2F8DE4"/>
          </a:solidFill>
          <a:ln w="28575">
            <a:solidFill>
              <a:srgbClr val="A9D3F5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16</a:t>
            </a:r>
            <a:endParaRPr lang="en-US" sz="2200" dirty="0"/>
          </a:p>
        </p:txBody>
      </p:sp>
      <p:pic>
        <p:nvPicPr>
          <p:cNvPr id="4" name="brY_403" descr="/home/claude/lls-course/v2/assets/brush-yellow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46304"/>
            <a:ext cx="2147011" cy="621792"/>
          </a:xfrm>
          <a:prstGeom prst="rect">
            <a:avLst/>
          </a:prstGeom>
        </p:spPr>
      </p:pic>
      <p:sp>
        <p:nvSpPr>
          <p:cNvPr id="5" name="title_404"/>
          <p:cNvSpPr/>
          <p:nvPr/>
        </p:nvSpPr>
        <p:spPr>
          <a:xfrm>
            <a:off x="1261872" y="164592"/>
            <a:ext cx="1872691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5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3 · 2 · 1</a:t>
            </a:r>
            <a:endParaRPr lang="en-US" sz="2500" dirty="0"/>
          </a:p>
        </p:txBody>
      </p:sp>
      <p:pic>
        <p:nvPicPr>
          <p:cNvPr id="6" name="brP_405" descr="/home/claude/lls-course/v2/assets/brush-pink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07008" y="731520"/>
            <a:ext cx="3511296" cy="402336"/>
          </a:xfrm>
          <a:prstGeom prst="rect">
            <a:avLst/>
          </a:prstGeom>
        </p:spPr>
      </p:pic>
      <p:sp>
        <p:nvSpPr>
          <p:cNvPr id="7" name="ins_406"/>
          <p:cNvSpPr/>
          <p:nvPr/>
        </p:nvSpPr>
        <p:spPr>
          <a:xfrm>
            <a:off x="1353312" y="731520"/>
            <a:ext cx="325526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i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Books closed! Tell your partner…</a:t>
            </a:r>
            <a:endParaRPr lang="en-US" sz="1250" dirty="0"/>
          </a:p>
        </p:txBody>
      </p:sp>
      <p:sp>
        <p:nvSpPr>
          <p:cNvPr id="8" name="insIT_407"/>
          <p:cNvSpPr/>
          <p:nvPr/>
        </p:nvSpPr>
        <p:spPr>
          <a:xfrm>
            <a:off x="1371600" y="1115568"/>
            <a:ext cx="5074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i="1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Libri chiusi! Di' al compagno…</a:t>
            </a:r>
            <a:endParaRPr lang="en-US" sz="950" dirty="0"/>
          </a:p>
        </p:txBody>
      </p:sp>
      <p:sp>
        <p:nvSpPr>
          <p:cNvPr id="9" name="note_408"/>
          <p:cNvSpPr/>
          <p:nvPr/>
        </p:nvSpPr>
        <p:spPr>
          <a:xfrm rot="180000">
            <a:off x="6382512" y="128016"/>
            <a:ext cx="2029968" cy="749808"/>
          </a:xfrm>
          <a:prstGeom prst="rect">
            <a:avLst/>
          </a:prstGeom>
          <a:solidFill>
            <a:srgbClr val="FFC2DA"/>
          </a:solidFill>
          <a:ln>
            <a:solidFill>
              <a:srgbClr val="FFC2DA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50800" tIns="50800" rIns="50800" bIns="50800" rtlCol="0" anchor="ctr">
            <a:normAutofit/>
          </a:bodyPr>
          <a:lstStyle/>
          <a:p>
            <a:pPr algn="ctr" indent="0" marL="0">
              <a:buNone/>
            </a:pPr>
            <a:r>
              <a:rPr lang="en-US" sz="11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⏱ 2 min   👥 pairs</a:t>
            </a:r>
            <a:endParaRPr lang="en-US" sz="11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🎯 Revision · Retrieval</a:t>
            </a:r>
            <a:endParaRPr lang="en-US" sz="1100" dirty="0"/>
          </a:p>
        </p:txBody>
      </p:sp>
      <p:pic>
        <p:nvPicPr>
          <p:cNvPr id="10" name="logo_409" descr="/home/claude/lls-course/v2/img/logo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85632" y="128016"/>
            <a:ext cx="502920" cy="502920"/>
          </a:xfrm>
          <a:prstGeom prst="rect">
            <a:avLst/>
          </a:prstGeom>
        </p:spPr>
      </p:pic>
      <p:sp>
        <p:nvSpPr>
          <p:cNvPr id="11" name="foot_410"/>
          <p:cNvSpPr/>
          <p:nvPr/>
        </p:nvSpPr>
        <p:spPr>
          <a:xfrm>
            <a:off x="274320" y="4873752"/>
            <a:ext cx="6858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3A · Exit · what can you remember?</a:t>
            </a:r>
            <a:endParaRPr lang="en-US" sz="800" dirty="0"/>
          </a:p>
        </p:txBody>
      </p:sp>
      <p:sp>
        <p:nvSpPr>
          <p:cNvPr id="12" name="bd_411"/>
          <p:cNvSpPr/>
          <p:nvPr/>
        </p:nvSpPr>
        <p:spPr>
          <a:xfrm>
            <a:off x="457200" y="1508760"/>
            <a:ext cx="777240" cy="777240"/>
          </a:xfrm>
          <a:prstGeom prst="ellipse">
            <a:avLst/>
          </a:prstGeom>
          <a:solidFill>
            <a:srgbClr val="E8508F"/>
          </a:solidFill>
          <a:ln w="28575">
            <a:solidFill>
              <a:srgbClr val="F7A6C4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3</a:t>
            </a:r>
            <a:endParaRPr lang="en-US" sz="2600" dirty="0"/>
          </a:p>
        </p:txBody>
      </p:sp>
      <p:sp>
        <p:nvSpPr>
          <p:cNvPr id="13" name="rt_412"/>
          <p:cNvSpPr/>
          <p:nvPr/>
        </p:nvSpPr>
        <p:spPr>
          <a:xfrm>
            <a:off x="1417320" y="1581912"/>
            <a:ext cx="3931920" cy="64008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28575">
            <a:solidFill>
              <a:srgbClr val="F7A6C4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152400" tIns="0" rIns="152400" bIns="0" rtlCol="0" anchor="ctr">
            <a:norm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Tell me 3 verb phrases (play the guitar…).</a:t>
            </a:r>
            <a:endParaRPr lang="en-US" sz="1400" dirty="0"/>
          </a:p>
        </p:txBody>
      </p:sp>
      <p:sp>
        <p:nvSpPr>
          <p:cNvPr id="14" name="bd_413"/>
          <p:cNvSpPr/>
          <p:nvPr/>
        </p:nvSpPr>
        <p:spPr>
          <a:xfrm>
            <a:off x="457200" y="2468880"/>
            <a:ext cx="777240" cy="777240"/>
          </a:xfrm>
          <a:prstGeom prst="ellipse">
            <a:avLst/>
          </a:prstGeom>
          <a:solidFill>
            <a:srgbClr val="2F8DE4"/>
          </a:solidFill>
          <a:ln w="28575">
            <a:solidFill>
              <a:srgbClr val="A9D3F5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2</a:t>
            </a:r>
            <a:endParaRPr lang="en-US" sz="2600" dirty="0"/>
          </a:p>
        </p:txBody>
      </p:sp>
      <p:sp>
        <p:nvSpPr>
          <p:cNvPr id="15" name="rt_414"/>
          <p:cNvSpPr/>
          <p:nvPr/>
        </p:nvSpPr>
        <p:spPr>
          <a:xfrm>
            <a:off x="1417320" y="2542032"/>
            <a:ext cx="3931920" cy="64008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28575">
            <a:solidFill>
              <a:srgbClr val="A9D3F5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152400" tIns="0" rIns="152400" bIns="0" rtlCol="0" anchor="ctr">
            <a:norm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Tell me 2 things your partner does – and 1 thing he or she doesn't do.</a:t>
            </a:r>
            <a:endParaRPr lang="en-US" sz="1400" dirty="0"/>
          </a:p>
        </p:txBody>
      </p:sp>
      <p:sp>
        <p:nvSpPr>
          <p:cNvPr id="16" name="bd_415"/>
          <p:cNvSpPr/>
          <p:nvPr/>
        </p:nvSpPr>
        <p:spPr>
          <a:xfrm>
            <a:off x="457200" y="3429000"/>
            <a:ext cx="777240" cy="777240"/>
          </a:xfrm>
          <a:prstGeom prst="ellipse">
            <a:avLst/>
          </a:prstGeom>
          <a:solidFill>
            <a:srgbClr val="2EB872"/>
          </a:solidFill>
          <a:ln w="28575">
            <a:solidFill>
              <a:srgbClr val="A8E5BE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1</a:t>
            </a:r>
            <a:endParaRPr lang="en-US" sz="2600" dirty="0"/>
          </a:p>
        </p:txBody>
      </p:sp>
      <p:sp>
        <p:nvSpPr>
          <p:cNvPr id="17" name="rt_416"/>
          <p:cNvSpPr/>
          <p:nvPr/>
        </p:nvSpPr>
        <p:spPr>
          <a:xfrm>
            <a:off x="1417320" y="3502152"/>
            <a:ext cx="3931920" cy="64008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28575">
            <a:solidFill>
              <a:srgbClr val="A8E5BE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152400" tIns="0" rIns="152400" bIns="0" rtlCol="0" anchor="ctr">
            <a:norm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Tell me 1 thing you like about Italy – and why.</a:t>
            </a:r>
            <a:endParaRPr lang="en-US" sz="1400" dirty="0"/>
          </a:p>
        </p:txBody>
      </p:sp>
      <p:sp>
        <p:nvSpPr>
          <p:cNvPr id="18" name="cd_417"/>
          <p:cNvSpPr/>
          <p:nvPr/>
        </p:nvSpPr>
        <p:spPr>
          <a:xfrm>
            <a:off x="5669280" y="1417320"/>
            <a:ext cx="3200400" cy="1069848"/>
          </a:xfrm>
          <a:prstGeom prst="roundRect">
            <a:avLst>
              <a:gd name="adj" fmla="val 11966"/>
            </a:avLst>
          </a:prstGeom>
          <a:solidFill>
            <a:srgbClr val="EEE8FB"/>
          </a:solidFill>
          <a:ln w="28575">
            <a:solidFill>
              <a:srgbClr val="CDBFF3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19" name="ii_418"/>
          <p:cNvSpPr/>
          <p:nvPr/>
        </p:nvSpPr>
        <p:spPr>
          <a:xfrm>
            <a:off x="5760720" y="149047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📝</a:t>
            </a:r>
            <a:endParaRPr lang="en-US" sz="2200" dirty="0"/>
          </a:p>
        </p:txBody>
      </p:sp>
      <p:sp>
        <p:nvSpPr>
          <p:cNvPr id="20" name="ih_419"/>
          <p:cNvSpPr/>
          <p:nvPr/>
        </p:nvSpPr>
        <p:spPr>
          <a:xfrm>
            <a:off x="6236208" y="1508760"/>
            <a:ext cx="2560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Homework · Compiti</a:t>
            </a:r>
            <a:endParaRPr lang="en-US" sz="1400" dirty="0"/>
          </a:p>
        </p:txBody>
      </p:sp>
      <p:sp>
        <p:nvSpPr>
          <p:cNvPr id="21" name="il_420"/>
          <p:cNvSpPr/>
          <p:nvPr/>
        </p:nvSpPr>
        <p:spPr>
          <a:xfrm>
            <a:off x="6236208" y="1911096"/>
            <a:ext cx="254203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1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Workbook 3A pp.18–19: exercises 1–3</a:t>
            </a:r>
            <a:endParaRPr lang="en-US" sz="1150" dirty="0"/>
          </a:p>
        </p:txBody>
      </p:sp>
      <p:sp>
        <p:nvSpPr>
          <p:cNvPr id="22" name="st_421"/>
          <p:cNvSpPr/>
          <p:nvPr/>
        </p:nvSpPr>
        <p:spPr>
          <a:xfrm rot="-180000">
            <a:off x="5806440" y="2715768"/>
            <a:ext cx="2926080" cy="685800"/>
          </a:xfrm>
          <a:prstGeom prst="rect">
            <a:avLst/>
          </a:prstGeom>
          <a:solidFill>
            <a:srgbClr val="FFC2DA"/>
          </a:solidFill>
          <a:ln>
            <a:solidFill>
              <a:srgbClr val="FFC2DA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50800" tIns="50800" rIns="50800" bIns="50800" rtlCol="0" anchor="ctr">
            <a:normAutofit/>
          </a:bodyPr>
          <a:lstStyle/>
          <a:p>
            <a:pPr algn="ctr" indent="0" marL="0">
              <a:buNone/>
            </a:pPr>
            <a:r>
              <a:rPr lang="en-US" sz="11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Next lesson: 3B 9 to 5 – present simple questions (SB p.24)</a:t>
            </a:r>
            <a:endParaRPr lang="en-US" sz="1100" dirty="0"/>
          </a:p>
        </p:txBody>
      </p:sp>
    </p:spTree>
  </p:cSld>
  <p:clrMapOvr>
    <a:masterClrMapping/>
  </p:clrMapOvr>
  <p:transition spd="med">
    <p:push dir="l"/>
  </p:transition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bd_422"/>
          <p:cNvSpPr/>
          <p:nvPr/>
        </p:nvSpPr>
        <p:spPr>
          <a:xfrm>
            <a:off x="201168" y="164592"/>
            <a:ext cx="841248" cy="841248"/>
          </a:xfrm>
          <a:prstGeom prst="ellipse">
            <a:avLst/>
          </a:prstGeom>
          <a:solidFill>
            <a:srgbClr val="2EB872"/>
          </a:solidFill>
          <a:ln w="28575">
            <a:solidFill>
              <a:srgbClr val="A8E5BE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17</a:t>
            </a:r>
            <a:endParaRPr lang="en-US" sz="2200" dirty="0"/>
          </a:p>
        </p:txBody>
      </p:sp>
      <p:pic>
        <p:nvPicPr>
          <p:cNvPr id="4" name="brY_423" descr="/home/claude/lls-course/v2/assets/brush-yellow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46304"/>
            <a:ext cx="2304288" cy="621792"/>
          </a:xfrm>
          <a:prstGeom prst="rect">
            <a:avLst/>
          </a:prstGeom>
        </p:spPr>
      </p:pic>
      <p:sp>
        <p:nvSpPr>
          <p:cNvPr id="5" name="title_424"/>
          <p:cNvSpPr/>
          <p:nvPr/>
        </p:nvSpPr>
        <p:spPr>
          <a:xfrm>
            <a:off x="1261872" y="164592"/>
            <a:ext cx="202996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Today you…</a:t>
            </a:r>
            <a:endParaRPr lang="en-US" sz="2400" dirty="0"/>
          </a:p>
        </p:txBody>
      </p:sp>
      <p:pic>
        <p:nvPicPr>
          <p:cNvPr id="6" name="brP_425" descr="/home/claude/lls-course/v2/assets/brush-pink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07008" y="731520"/>
            <a:ext cx="4553712" cy="402336"/>
          </a:xfrm>
          <a:prstGeom prst="rect">
            <a:avLst/>
          </a:prstGeom>
        </p:spPr>
      </p:pic>
      <p:sp>
        <p:nvSpPr>
          <p:cNvPr id="7" name="ins_426"/>
          <p:cNvSpPr/>
          <p:nvPr/>
        </p:nvSpPr>
        <p:spPr>
          <a:xfrm>
            <a:off x="1353312" y="731520"/>
            <a:ext cx="4297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i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Can you do it now? Thumbs up or thumbs down!</a:t>
            </a:r>
            <a:endParaRPr lang="en-US" sz="1250" dirty="0"/>
          </a:p>
        </p:txBody>
      </p:sp>
      <p:sp>
        <p:nvSpPr>
          <p:cNvPr id="8" name="insIT_427"/>
          <p:cNvSpPr/>
          <p:nvPr/>
        </p:nvSpPr>
        <p:spPr>
          <a:xfrm>
            <a:off x="1371600" y="1115568"/>
            <a:ext cx="5074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i="1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Ora sai farlo? Pollice su o pollice giù!</a:t>
            </a:r>
            <a:endParaRPr lang="en-US" sz="950" dirty="0"/>
          </a:p>
        </p:txBody>
      </p:sp>
      <p:sp>
        <p:nvSpPr>
          <p:cNvPr id="9" name="note_428"/>
          <p:cNvSpPr/>
          <p:nvPr/>
        </p:nvSpPr>
        <p:spPr>
          <a:xfrm rot="180000">
            <a:off x="6382512" y="128016"/>
            <a:ext cx="2029968" cy="1024128"/>
          </a:xfrm>
          <a:prstGeom prst="rect">
            <a:avLst/>
          </a:prstGeom>
          <a:solidFill>
            <a:srgbClr val="FFC2DA"/>
          </a:solidFill>
          <a:ln>
            <a:solidFill>
              <a:srgbClr val="FFC2DA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50800" tIns="50800" rIns="50800" bIns="50800" rtlCol="0" anchor="ctr">
            <a:normAutofit/>
          </a:bodyPr>
          <a:lstStyle/>
          <a:p>
            <a:pPr algn="ctr" indent="0" marL="0">
              <a:buNone/>
            </a:pPr>
            <a:r>
              <a:rPr lang="en-US" sz="125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💡 THINK</a:t>
            </a:r>
            <a:pPr algn="ctr" indent="0" marL="0">
              <a:buNone/>
            </a:pPr>
            <a:r>
              <a:rPr lang="en-US" sz="125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 · PENSA</a:t>
            </a:r>
            <a:endParaRPr lang="en-US" sz="125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⏱ 1 min   🙋 whole class</a:t>
            </a:r>
            <a:endParaRPr lang="en-US" sz="125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🎯 Revision · Reflection</a:t>
            </a:r>
            <a:endParaRPr lang="en-US" sz="1250" dirty="0"/>
          </a:p>
        </p:txBody>
      </p:sp>
      <p:pic>
        <p:nvPicPr>
          <p:cNvPr id="10" name="logo_429" descr="/home/claude/lls-course/v2/img/logo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85632" y="128016"/>
            <a:ext cx="502920" cy="502920"/>
          </a:xfrm>
          <a:prstGeom prst="rect">
            <a:avLst/>
          </a:prstGeom>
        </p:spPr>
      </p:pic>
      <p:sp>
        <p:nvSpPr>
          <p:cNvPr id="11" name="foot_430"/>
          <p:cNvSpPr/>
          <p:nvPr/>
        </p:nvSpPr>
        <p:spPr>
          <a:xfrm>
            <a:off x="274320" y="4873752"/>
            <a:ext cx="6858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3A · Review · what did you do today?</a:t>
            </a:r>
            <a:endParaRPr lang="en-US" sz="800" dirty="0"/>
          </a:p>
        </p:txBody>
      </p:sp>
      <p:sp>
        <p:nvSpPr>
          <p:cNvPr id="12" name="cd_431"/>
          <p:cNvSpPr/>
          <p:nvPr/>
        </p:nvSpPr>
        <p:spPr>
          <a:xfrm>
            <a:off x="548640" y="1417320"/>
            <a:ext cx="6035040" cy="530352"/>
          </a:xfrm>
          <a:prstGeom prst="roundRect">
            <a:avLst>
              <a:gd name="adj" fmla="val 24138"/>
            </a:avLst>
          </a:prstGeom>
          <a:solidFill>
            <a:srgbClr val="FFFFFF"/>
          </a:solidFill>
          <a:ln w="28575">
            <a:solidFill>
              <a:srgbClr val="F7A6C4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13" name="te_432"/>
          <p:cNvSpPr/>
          <p:nvPr/>
        </p:nvSpPr>
        <p:spPr>
          <a:xfrm>
            <a:off x="640080" y="145389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🎸</a:t>
            </a:r>
            <a:endParaRPr lang="en-US" sz="1800" dirty="0"/>
          </a:p>
        </p:txBody>
      </p:sp>
      <p:sp>
        <p:nvSpPr>
          <p:cNvPr id="14" name="tt_433"/>
          <p:cNvSpPr/>
          <p:nvPr/>
        </p:nvSpPr>
        <p:spPr>
          <a:xfrm>
            <a:off x="1188720" y="1417320"/>
            <a:ext cx="475488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Learnt 24 verb phrases: play the guitar, wear glasses…</a:t>
            </a:r>
            <a:endParaRPr lang="en-US" sz="1350" dirty="0"/>
          </a:p>
        </p:txBody>
      </p:sp>
      <p:sp>
        <p:nvSpPr>
          <p:cNvPr id="15" name="R1_tk434"/>
          <p:cNvSpPr/>
          <p:nvPr/>
        </p:nvSpPr>
        <p:spPr>
          <a:xfrm>
            <a:off x="5989320" y="1453896"/>
            <a:ext cx="502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✅</a:t>
            </a:r>
            <a:endParaRPr lang="en-US" sz="1800" dirty="0"/>
          </a:p>
        </p:txBody>
      </p:sp>
      <p:sp>
        <p:nvSpPr>
          <p:cNvPr id="16" name="cd_435"/>
          <p:cNvSpPr/>
          <p:nvPr/>
        </p:nvSpPr>
        <p:spPr>
          <a:xfrm>
            <a:off x="548640" y="2020824"/>
            <a:ext cx="6035040" cy="530352"/>
          </a:xfrm>
          <a:prstGeom prst="roundRect">
            <a:avLst>
              <a:gd name="adj" fmla="val 24138"/>
            </a:avLst>
          </a:prstGeom>
          <a:solidFill>
            <a:srgbClr val="FFFFFF"/>
          </a:solidFill>
          <a:ln w="28575">
            <a:solidFill>
              <a:srgbClr val="A9D3F5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17" name="te_436"/>
          <p:cNvSpPr/>
          <p:nvPr/>
        </p:nvSpPr>
        <p:spPr>
          <a:xfrm>
            <a:off x="640080" y="20574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📖</a:t>
            </a:r>
            <a:endParaRPr lang="en-US" sz="1800" dirty="0"/>
          </a:p>
        </p:txBody>
      </p:sp>
      <p:sp>
        <p:nvSpPr>
          <p:cNvPr id="18" name="tt_437"/>
          <p:cNvSpPr/>
          <p:nvPr/>
        </p:nvSpPr>
        <p:spPr>
          <a:xfrm>
            <a:off x="1188720" y="2020824"/>
            <a:ext cx="475488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Read what Carola likes about Britain</a:t>
            </a:r>
            <a:endParaRPr lang="en-US" sz="1350" dirty="0"/>
          </a:p>
        </p:txBody>
      </p:sp>
      <p:sp>
        <p:nvSpPr>
          <p:cNvPr id="19" name="R2_tk438"/>
          <p:cNvSpPr/>
          <p:nvPr/>
        </p:nvSpPr>
        <p:spPr>
          <a:xfrm>
            <a:off x="5989320" y="2057400"/>
            <a:ext cx="502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✅</a:t>
            </a:r>
            <a:endParaRPr lang="en-US" sz="1800" dirty="0"/>
          </a:p>
        </p:txBody>
      </p:sp>
      <p:sp>
        <p:nvSpPr>
          <p:cNvPr id="20" name="cd_439"/>
          <p:cNvSpPr/>
          <p:nvPr/>
        </p:nvSpPr>
        <p:spPr>
          <a:xfrm>
            <a:off x="548640" y="2624328"/>
            <a:ext cx="6035040" cy="530352"/>
          </a:xfrm>
          <a:prstGeom prst="roundRect">
            <a:avLst>
              <a:gd name="adj" fmla="val 24138"/>
            </a:avLst>
          </a:prstGeom>
          <a:solidFill>
            <a:srgbClr val="FFFFFF"/>
          </a:solidFill>
          <a:ln w="28575">
            <a:solidFill>
              <a:srgbClr val="A8E5BE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21" name="te_440"/>
          <p:cNvSpPr/>
          <p:nvPr/>
        </p:nvSpPr>
        <p:spPr>
          <a:xfrm>
            <a:off x="640080" y="2660904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➕</a:t>
            </a:r>
            <a:endParaRPr lang="en-US" sz="1800" dirty="0"/>
          </a:p>
        </p:txBody>
      </p:sp>
      <p:sp>
        <p:nvSpPr>
          <p:cNvPr id="22" name="tt_441"/>
          <p:cNvSpPr/>
          <p:nvPr/>
        </p:nvSpPr>
        <p:spPr>
          <a:xfrm>
            <a:off x="1188720" y="2624328"/>
            <a:ext cx="475488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Used the present simple: I live / she lives / he doesn't…</a:t>
            </a:r>
            <a:endParaRPr lang="en-US" sz="1350" dirty="0"/>
          </a:p>
        </p:txBody>
      </p:sp>
      <p:sp>
        <p:nvSpPr>
          <p:cNvPr id="23" name="R3_tk442"/>
          <p:cNvSpPr/>
          <p:nvPr/>
        </p:nvSpPr>
        <p:spPr>
          <a:xfrm>
            <a:off x="5989320" y="2660904"/>
            <a:ext cx="502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✅</a:t>
            </a:r>
            <a:endParaRPr lang="en-US" sz="1800" dirty="0"/>
          </a:p>
        </p:txBody>
      </p:sp>
      <p:sp>
        <p:nvSpPr>
          <p:cNvPr id="24" name="cd_443"/>
          <p:cNvSpPr/>
          <p:nvPr/>
        </p:nvSpPr>
        <p:spPr>
          <a:xfrm>
            <a:off x="548640" y="3227832"/>
            <a:ext cx="6035040" cy="530352"/>
          </a:xfrm>
          <a:prstGeom prst="roundRect">
            <a:avLst>
              <a:gd name="adj" fmla="val 24138"/>
            </a:avLst>
          </a:prstGeom>
          <a:solidFill>
            <a:srgbClr val="FFFFFF"/>
          </a:solidFill>
          <a:ln w="28575">
            <a:solidFill>
              <a:srgbClr val="FFE07A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25" name="te_444"/>
          <p:cNvSpPr/>
          <p:nvPr/>
        </p:nvSpPr>
        <p:spPr>
          <a:xfrm>
            <a:off x="640080" y="326440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🐍</a:t>
            </a:r>
            <a:endParaRPr lang="en-US" sz="1800" dirty="0"/>
          </a:p>
        </p:txBody>
      </p:sp>
      <p:sp>
        <p:nvSpPr>
          <p:cNvPr id="26" name="tt_445"/>
          <p:cNvSpPr/>
          <p:nvPr/>
        </p:nvSpPr>
        <p:spPr>
          <a:xfrm>
            <a:off x="1188720" y="3227832"/>
            <a:ext cx="475488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Said -s: works /s/, lives /z/, watches /ɪz/</a:t>
            </a:r>
            <a:endParaRPr lang="en-US" sz="1350" dirty="0"/>
          </a:p>
        </p:txBody>
      </p:sp>
      <p:sp>
        <p:nvSpPr>
          <p:cNvPr id="27" name="R4_tk446"/>
          <p:cNvSpPr/>
          <p:nvPr/>
        </p:nvSpPr>
        <p:spPr>
          <a:xfrm>
            <a:off x="5989320" y="3264408"/>
            <a:ext cx="502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✅</a:t>
            </a:r>
            <a:endParaRPr lang="en-US" sz="1800" dirty="0"/>
          </a:p>
        </p:txBody>
      </p:sp>
      <p:sp>
        <p:nvSpPr>
          <p:cNvPr id="28" name="cd_447"/>
          <p:cNvSpPr/>
          <p:nvPr/>
        </p:nvSpPr>
        <p:spPr>
          <a:xfrm>
            <a:off x="548640" y="3831336"/>
            <a:ext cx="6035040" cy="530352"/>
          </a:xfrm>
          <a:prstGeom prst="roundRect">
            <a:avLst>
              <a:gd name="adj" fmla="val 24138"/>
            </a:avLst>
          </a:prstGeom>
          <a:solidFill>
            <a:srgbClr val="FFFFFF"/>
          </a:solidFill>
          <a:ln w="28575">
            <a:solidFill>
              <a:srgbClr val="F7A6C4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29" name="te_448"/>
          <p:cNvSpPr/>
          <p:nvPr/>
        </p:nvSpPr>
        <p:spPr>
          <a:xfrm>
            <a:off x="640080" y="386791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🇬🇧</a:t>
            </a:r>
            <a:endParaRPr lang="en-US" sz="1800" dirty="0"/>
          </a:p>
        </p:txBody>
      </p:sp>
      <p:sp>
        <p:nvSpPr>
          <p:cNvPr id="30" name="tt_449"/>
          <p:cNvSpPr/>
          <p:nvPr/>
        </p:nvSpPr>
        <p:spPr>
          <a:xfrm>
            <a:off x="1188720" y="3831336"/>
            <a:ext cx="475488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Read what foreigners think of Britain</a:t>
            </a:r>
            <a:endParaRPr lang="en-US" sz="1350" dirty="0"/>
          </a:p>
        </p:txBody>
      </p:sp>
      <p:sp>
        <p:nvSpPr>
          <p:cNvPr id="31" name="R5_tk450"/>
          <p:cNvSpPr/>
          <p:nvPr/>
        </p:nvSpPr>
        <p:spPr>
          <a:xfrm>
            <a:off x="5989320" y="3867912"/>
            <a:ext cx="502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✅</a:t>
            </a:r>
            <a:endParaRPr lang="en-US" sz="1800" dirty="0"/>
          </a:p>
        </p:txBody>
      </p:sp>
      <p:sp>
        <p:nvSpPr>
          <p:cNvPr id="32" name="st_451"/>
          <p:cNvSpPr/>
          <p:nvPr/>
        </p:nvSpPr>
        <p:spPr>
          <a:xfrm rot="180000">
            <a:off x="6949440" y="1691640"/>
            <a:ext cx="1828800" cy="1188720"/>
          </a:xfrm>
          <a:prstGeom prst="rect">
            <a:avLst/>
          </a:prstGeom>
          <a:solidFill>
            <a:srgbClr val="FFE07A"/>
          </a:solidFill>
          <a:ln>
            <a:solidFill>
              <a:srgbClr val="FFE07A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50800" tIns="50800" rIns="50800" bIns="50800" rtlCol="0" anchor="ctr">
            <a:normAutofit/>
          </a:bodyPr>
          <a:lstStyle/>
          <a:p>
            <a:pPr algn="ctr" indent="0" marL="0">
              <a:buNone/>
            </a:pPr>
            <a:r>
              <a:rPr lang="en-US" sz="13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👍  👌  👎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Can you do it now?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Ora sai farlo?</a:t>
            </a:r>
            <a:endParaRPr lang="en-US" sz="1300" dirty="0"/>
          </a:p>
        </p:txBody>
      </p:sp>
    </p:spTree>
  </p:cSld>
  <p:clrMapOvr>
    <a:masterClrMapping/>
  </p:clrMapOvr>
  <p:transition spd="med">
    <p:push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4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4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dv_452"/>
          <p:cNvSpPr/>
          <p:nvPr/>
        </p:nvSpPr>
        <p:spPr>
          <a:xfrm>
            <a:off x="4023360" y="914400"/>
            <a:ext cx="10972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400" dirty="0">
                <a:solidFill>
                  <a:srgbClr val="000000"/>
                </a:solidFill>
              </a:rPr>
              <a:t>⭐</a:t>
            </a:r>
            <a:endParaRPr lang="en-US" sz="5400" dirty="0"/>
          </a:p>
        </p:txBody>
      </p:sp>
      <p:sp>
        <p:nvSpPr>
          <p:cNvPr id="4" name="dvt_453"/>
          <p:cNvSpPr/>
          <p:nvPr/>
        </p:nvSpPr>
        <p:spPr>
          <a:xfrm>
            <a:off x="914400" y="1828800"/>
            <a:ext cx="7315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Optional extensions</a:t>
            </a:r>
            <a:endParaRPr lang="en-US" sz="3400" dirty="0"/>
          </a:p>
        </p:txBody>
      </p:sp>
      <p:sp>
        <p:nvSpPr>
          <p:cNvPr id="5" name="dvs_454"/>
          <p:cNvSpPr/>
          <p:nvPr/>
        </p:nvSpPr>
        <p:spPr>
          <a:xfrm>
            <a:off x="914400" y="260604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i="1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Only if there's time – the lesson is finished. · Solo se c'è tempo – la lezione è finita.</a:t>
            </a:r>
            <a:endParaRPr lang="en-US" sz="1250" dirty="0"/>
          </a:p>
        </p:txBody>
      </p:sp>
      <p:pic>
        <p:nvPicPr>
          <p:cNvPr id="6" name="logo_455" descr="/home/claude/lls-course/v2/img/log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85632" y="4526280"/>
            <a:ext cx="502920" cy="502920"/>
          </a:xfrm>
          <a:prstGeom prst="rect">
            <a:avLst/>
          </a:prstGeom>
        </p:spPr>
      </p:pic>
    </p:spTree>
  </p:cSld>
  <p:clrMapOvr>
    <a:masterClrMapping/>
  </p:clrMapOvr>
  <p:transition spd="med">
    <p:push dir="l"/>
  </p:transition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bd_456"/>
          <p:cNvSpPr/>
          <p:nvPr/>
        </p:nvSpPr>
        <p:spPr>
          <a:xfrm>
            <a:off x="201168" y="164592"/>
            <a:ext cx="841248" cy="841248"/>
          </a:xfrm>
          <a:prstGeom prst="ellipse">
            <a:avLst/>
          </a:prstGeom>
          <a:solidFill>
            <a:srgbClr val="E8508F"/>
          </a:solidFill>
          <a:ln w="28575">
            <a:solidFill>
              <a:srgbClr val="F7A6C4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19</a:t>
            </a:r>
            <a:endParaRPr lang="en-US" sz="2200" dirty="0"/>
          </a:p>
        </p:txBody>
      </p:sp>
      <p:pic>
        <p:nvPicPr>
          <p:cNvPr id="4" name="brY_457" descr="/home/claude/lls-course/v2/assets/brush-yellow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46304"/>
            <a:ext cx="3562502" cy="621792"/>
          </a:xfrm>
          <a:prstGeom prst="rect">
            <a:avLst/>
          </a:prstGeom>
        </p:spPr>
      </p:pic>
      <p:sp>
        <p:nvSpPr>
          <p:cNvPr id="5" name="title_458"/>
          <p:cNvSpPr/>
          <p:nvPr/>
        </p:nvSpPr>
        <p:spPr>
          <a:xfrm>
            <a:off x="1261872" y="164592"/>
            <a:ext cx="328818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5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I live… she lives!</a:t>
            </a:r>
            <a:endParaRPr lang="en-US" sz="2500" dirty="0"/>
          </a:p>
        </p:txBody>
      </p:sp>
      <p:pic>
        <p:nvPicPr>
          <p:cNvPr id="6" name="brP_459" descr="/home/claude/lls-course/v2/assets/brush-pink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07008" y="731520"/>
            <a:ext cx="4901184" cy="402336"/>
          </a:xfrm>
          <a:prstGeom prst="rect">
            <a:avLst/>
          </a:prstGeom>
        </p:spPr>
      </p:pic>
      <p:sp>
        <p:nvSpPr>
          <p:cNvPr id="7" name="ins_460"/>
          <p:cNvSpPr/>
          <p:nvPr/>
        </p:nvSpPr>
        <p:spPr>
          <a:xfrm>
            <a:off x="1353312" y="731520"/>
            <a:ext cx="464515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i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Change the sentence! Say it with the new person.</a:t>
            </a:r>
            <a:endParaRPr lang="en-US" sz="1250" dirty="0"/>
          </a:p>
        </p:txBody>
      </p:sp>
      <p:sp>
        <p:nvSpPr>
          <p:cNvPr id="8" name="insIT_461"/>
          <p:cNvSpPr/>
          <p:nvPr/>
        </p:nvSpPr>
        <p:spPr>
          <a:xfrm>
            <a:off x="1371600" y="1115568"/>
            <a:ext cx="5074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i="1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Cambia la frase! Dilla con la nuova persona.</a:t>
            </a:r>
            <a:endParaRPr lang="en-US" sz="950" dirty="0"/>
          </a:p>
        </p:txBody>
      </p:sp>
      <p:sp>
        <p:nvSpPr>
          <p:cNvPr id="9" name="note_462"/>
          <p:cNvSpPr/>
          <p:nvPr/>
        </p:nvSpPr>
        <p:spPr>
          <a:xfrm rot="180000">
            <a:off x="6382512" y="128016"/>
            <a:ext cx="2029968" cy="1024128"/>
          </a:xfrm>
          <a:prstGeom prst="rect">
            <a:avLst/>
          </a:prstGeom>
          <a:solidFill>
            <a:srgbClr val="FFC2DA"/>
          </a:solidFill>
          <a:ln>
            <a:solidFill>
              <a:srgbClr val="FFC2DA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50800" tIns="50800" rIns="50800" bIns="50800" rtlCol="0" anchor="ctr">
            <a:normAutofit/>
          </a:bodyPr>
          <a:lstStyle/>
          <a:p>
            <a:pPr algn="ctr" indent="0" marL="0">
              <a:buNone/>
            </a:pPr>
            <a:r>
              <a:rPr lang="en-US" sz="115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🔊 SAY IT</a:t>
            </a:r>
            <a:pPr algn="ctr" indent="0" marL="0">
              <a:buNone/>
            </a:pPr>
            <a:r>
              <a:rPr lang="en-US" sz="1200" dirty="0">
                <a:solidFill>
                  <a:srgbClr val="5B6785"/>
                </a:solidFill>
              </a:rPr>
              <a:t> → </a:t>
            </a:r>
            <a:pPr algn="ctr" indent="0" marL="0">
              <a:buNone/>
            </a:pPr>
            <a:r>
              <a:rPr lang="en-US" sz="115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🎲 PLAY</a:t>
            </a:r>
            <a:endParaRPr lang="en-US" sz="115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⏱ 3 min   🙋 whole class</a:t>
            </a:r>
            <a:endParaRPr lang="en-US" sz="115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🎯 Pronunciation · Communicative game</a:t>
            </a:r>
            <a:endParaRPr lang="en-US" sz="1150" dirty="0"/>
          </a:p>
        </p:txBody>
      </p:sp>
      <p:pic>
        <p:nvPicPr>
          <p:cNvPr id="10" name="logo_463" descr="/home/claude/lls-course/v2/img/logo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85632" y="128016"/>
            <a:ext cx="502920" cy="502920"/>
          </a:xfrm>
          <a:prstGeom prst="rect">
            <a:avLst/>
          </a:prstGeom>
        </p:spPr>
      </p:pic>
      <p:sp>
        <p:nvSpPr>
          <p:cNvPr id="11" name="foot_464"/>
          <p:cNvSpPr/>
          <p:nvPr/>
        </p:nvSpPr>
        <p:spPr>
          <a:xfrm>
            <a:off x="274320" y="4873752"/>
            <a:ext cx="6858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3A · Pronunciation · drill   ·   📖 SB p.22 · 3c · audio 3.7 (TG script)</a:t>
            </a:r>
            <a:endParaRPr lang="en-US" sz="800" dirty="0"/>
          </a:p>
        </p:txBody>
      </p:sp>
      <p:sp>
        <p:nvSpPr>
          <p:cNvPr id="12" name="ext_465"/>
          <p:cNvSpPr/>
          <p:nvPr/>
        </p:nvSpPr>
        <p:spPr>
          <a:xfrm>
            <a:off x="5120640" y="4727448"/>
            <a:ext cx="3291840" cy="310896"/>
          </a:xfrm>
          <a:prstGeom prst="roundRect">
            <a:avLst>
              <a:gd name="adj" fmla="val 50000"/>
            </a:avLst>
          </a:prstGeom>
          <a:solidFill>
            <a:srgbClr val="EEE8FB"/>
          </a:solidFill>
          <a:ln w="28575">
            <a:solidFill>
              <a:srgbClr val="CDBFF3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7B5CD6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⭐ OPTIONAL EXTENSION · only if there's time</a:t>
            </a:r>
            <a:endParaRPr lang="en-US" sz="1050" dirty="0"/>
          </a:p>
        </p:txBody>
      </p:sp>
      <p:sp>
        <p:nvSpPr>
          <p:cNvPr id="13" name="cd_466"/>
          <p:cNvSpPr/>
          <p:nvPr/>
        </p:nvSpPr>
        <p:spPr>
          <a:xfrm>
            <a:off x="320040" y="1417320"/>
            <a:ext cx="2697480" cy="2112264"/>
          </a:xfrm>
          <a:prstGeom prst="roundRect">
            <a:avLst>
              <a:gd name="adj" fmla="val 6061"/>
            </a:avLst>
          </a:prstGeom>
          <a:solidFill>
            <a:srgbClr val="EEE8FB"/>
          </a:solidFill>
          <a:ln w="28575">
            <a:solidFill>
              <a:srgbClr val="CDBFF3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14" name="ii_467"/>
          <p:cNvSpPr/>
          <p:nvPr/>
        </p:nvSpPr>
        <p:spPr>
          <a:xfrm>
            <a:off x="411480" y="149047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🎲</a:t>
            </a:r>
            <a:endParaRPr lang="en-US" sz="2200" dirty="0"/>
          </a:p>
        </p:txBody>
      </p:sp>
      <p:sp>
        <p:nvSpPr>
          <p:cNvPr id="15" name="ih_468"/>
          <p:cNvSpPr/>
          <p:nvPr/>
        </p:nvSpPr>
        <p:spPr>
          <a:xfrm>
            <a:off x="886968" y="1508760"/>
            <a:ext cx="2057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How to play</a:t>
            </a:r>
            <a:endParaRPr lang="en-US" sz="1400" dirty="0"/>
          </a:p>
        </p:txBody>
      </p:sp>
      <p:sp>
        <p:nvSpPr>
          <p:cNvPr id="16" name="il_469"/>
          <p:cNvSpPr/>
          <p:nvPr/>
        </p:nvSpPr>
        <p:spPr>
          <a:xfrm>
            <a:off x="886968" y="1911096"/>
            <a:ext cx="2039112" cy="154533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2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Teacher says a sentence + a new person.</a:t>
            </a:r>
            <a:endParaRPr lang="en-US" sz="1200" dirty="0"/>
          </a:p>
          <a:p>
            <a:pPr marL="152400" indent="-152400">
              <a:spcBef>
                <a:spcPts val="600"/>
              </a:spcBef>
              <a:spcAft>
                <a:spcPts val="200"/>
              </a:spcAft>
              <a:buSzPct val="100000"/>
              <a:buChar char="•"/>
            </a:pPr>
            <a:r>
              <a:rPr lang="en-US" sz="12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Class changes the sentence.</a:t>
            </a:r>
            <a:endParaRPr lang="en-US" sz="1200" dirty="0"/>
          </a:p>
          <a:p>
            <a:pPr marL="152400" indent="-152400">
              <a:spcBef>
                <a:spcPts val="600"/>
              </a:spcBef>
              <a:spcAft>
                <a:spcPts val="200"/>
              </a:spcAft>
              <a:buSzPct val="100000"/>
              <a:buChar char="•"/>
            </a:pPr>
            <a:r>
              <a:rPr lang="en-US" sz="12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Then individual students!</a:t>
            </a:r>
            <a:endParaRPr lang="en-US" sz="1200" dirty="0"/>
          </a:p>
        </p:txBody>
      </p:sp>
      <p:sp>
        <p:nvSpPr>
          <p:cNvPr id="17" name="bd_470"/>
          <p:cNvSpPr/>
          <p:nvPr/>
        </p:nvSpPr>
        <p:spPr>
          <a:xfrm>
            <a:off x="3246120" y="1401064"/>
            <a:ext cx="329184" cy="329184"/>
          </a:xfrm>
          <a:prstGeom prst="ellipse">
            <a:avLst/>
          </a:prstGeom>
          <a:solidFill>
            <a:srgbClr val="7B5CD6"/>
          </a:solidFill>
          <a:ln w="28575">
            <a:solidFill>
              <a:srgbClr val="CDBFF3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e.g.</a:t>
            </a:r>
            <a:endParaRPr lang="en-US" sz="500" dirty="0"/>
          </a:p>
        </p:txBody>
      </p:sp>
      <p:sp>
        <p:nvSpPr>
          <p:cNvPr id="18" name="gq_471"/>
          <p:cNvSpPr/>
          <p:nvPr/>
        </p:nvSpPr>
        <p:spPr>
          <a:xfrm>
            <a:off x="3657600" y="1417320"/>
            <a:ext cx="2514600" cy="296672"/>
          </a:xfrm>
          <a:prstGeom prst="roundRect">
            <a:avLst>
              <a:gd name="adj" fmla="val 30822"/>
            </a:avLst>
          </a:prstGeom>
          <a:solidFill>
            <a:srgbClr val="EEE8FB"/>
          </a:solidFill>
          <a:ln w="28575">
            <a:solidFill>
              <a:srgbClr val="CDBFF3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I live in a flat. – She</a:t>
            </a:r>
            <a:endParaRPr lang="en-US" sz="1100" dirty="0"/>
          </a:p>
        </p:txBody>
      </p:sp>
      <p:sp>
        <p:nvSpPr>
          <p:cNvPr id="19" name="chip_472"/>
          <p:cNvSpPr/>
          <p:nvPr/>
        </p:nvSpPr>
        <p:spPr>
          <a:xfrm>
            <a:off x="6263640" y="1417320"/>
            <a:ext cx="2560320" cy="296672"/>
          </a:xfrm>
          <a:prstGeom prst="roundRect">
            <a:avLst>
              <a:gd name="adj" fmla="val 30822"/>
            </a:avLst>
          </a:prstGeom>
          <a:solidFill>
            <a:srgbClr val="EEE8FB"/>
          </a:solidFill>
          <a:ln w="28575">
            <a:solidFill>
              <a:srgbClr val="CDBFF3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→ She lives in a flat.</a:t>
            </a:r>
            <a:endParaRPr lang="en-US" sz="1200" dirty="0"/>
          </a:p>
        </p:txBody>
      </p:sp>
      <p:sp>
        <p:nvSpPr>
          <p:cNvPr id="20" name="bd_473"/>
          <p:cNvSpPr/>
          <p:nvPr/>
        </p:nvSpPr>
        <p:spPr>
          <a:xfrm>
            <a:off x="3246120" y="1761744"/>
            <a:ext cx="329184" cy="329184"/>
          </a:xfrm>
          <a:prstGeom prst="ellipse">
            <a:avLst/>
          </a:prstGeom>
          <a:solidFill>
            <a:srgbClr val="E8508F"/>
          </a:solidFill>
          <a:ln w="28575">
            <a:solidFill>
              <a:srgbClr val="F7A6C4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1</a:t>
            </a:r>
            <a:endParaRPr lang="en-US" sz="1100" dirty="0"/>
          </a:p>
        </p:txBody>
      </p:sp>
      <p:sp>
        <p:nvSpPr>
          <p:cNvPr id="21" name="gq_474"/>
          <p:cNvSpPr/>
          <p:nvPr/>
        </p:nvSpPr>
        <p:spPr>
          <a:xfrm>
            <a:off x="3657600" y="1778000"/>
            <a:ext cx="2514600" cy="296672"/>
          </a:xfrm>
          <a:prstGeom prst="roundRect">
            <a:avLst>
              <a:gd name="adj" fmla="val 30822"/>
            </a:avLst>
          </a:prstGeom>
          <a:solidFill>
            <a:srgbClr val="FFFFFF"/>
          </a:solidFill>
          <a:ln w="28575">
            <a:solidFill>
              <a:srgbClr val="F7A6C4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I need a new phone. – He</a:t>
            </a:r>
            <a:endParaRPr lang="en-US" sz="1100" dirty="0"/>
          </a:p>
        </p:txBody>
      </p:sp>
      <p:sp>
        <p:nvSpPr>
          <p:cNvPr id="22" name="R1_chip475"/>
          <p:cNvSpPr/>
          <p:nvPr/>
        </p:nvSpPr>
        <p:spPr>
          <a:xfrm>
            <a:off x="6263640" y="1778000"/>
            <a:ext cx="2560320" cy="296672"/>
          </a:xfrm>
          <a:prstGeom prst="roundRect">
            <a:avLst>
              <a:gd name="adj" fmla="val 30822"/>
            </a:avLst>
          </a:prstGeom>
          <a:solidFill>
            <a:srgbClr val="FFE3EE"/>
          </a:solidFill>
          <a:ln w="28575">
            <a:solidFill>
              <a:srgbClr val="F7A6C4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→ He needs a new phone.</a:t>
            </a:r>
            <a:endParaRPr lang="en-US" sz="1200" dirty="0"/>
          </a:p>
        </p:txBody>
      </p:sp>
      <p:sp>
        <p:nvSpPr>
          <p:cNvPr id="23" name="bd_476"/>
          <p:cNvSpPr/>
          <p:nvPr/>
        </p:nvSpPr>
        <p:spPr>
          <a:xfrm>
            <a:off x="3246120" y="2122424"/>
            <a:ext cx="329184" cy="329184"/>
          </a:xfrm>
          <a:prstGeom prst="ellipse">
            <a:avLst/>
          </a:prstGeom>
          <a:solidFill>
            <a:srgbClr val="2F8DE4"/>
          </a:solidFill>
          <a:ln w="28575">
            <a:solidFill>
              <a:srgbClr val="A9D3F5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2</a:t>
            </a:r>
            <a:endParaRPr lang="en-US" sz="1100" dirty="0"/>
          </a:p>
        </p:txBody>
      </p:sp>
      <p:sp>
        <p:nvSpPr>
          <p:cNvPr id="24" name="gq_477"/>
          <p:cNvSpPr/>
          <p:nvPr/>
        </p:nvSpPr>
        <p:spPr>
          <a:xfrm>
            <a:off x="3657600" y="2138680"/>
            <a:ext cx="2514600" cy="296672"/>
          </a:xfrm>
          <a:prstGeom prst="roundRect">
            <a:avLst>
              <a:gd name="adj" fmla="val 30822"/>
            </a:avLst>
          </a:prstGeom>
          <a:solidFill>
            <a:srgbClr val="FFFFFF"/>
          </a:solidFill>
          <a:ln w="28575">
            <a:solidFill>
              <a:srgbClr val="A9D3F5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They work in an office. – She</a:t>
            </a:r>
            <a:endParaRPr lang="en-US" sz="1100" dirty="0"/>
          </a:p>
        </p:txBody>
      </p:sp>
      <p:sp>
        <p:nvSpPr>
          <p:cNvPr id="25" name="R2_chip478"/>
          <p:cNvSpPr/>
          <p:nvPr/>
        </p:nvSpPr>
        <p:spPr>
          <a:xfrm>
            <a:off x="6263640" y="2138680"/>
            <a:ext cx="2560320" cy="296672"/>
          </a:xfrm>
          <a:prstGeom prst="roundRect">
            <a:avLst>
              <a:gd name="adj" fmla="val 30822"/>
            </a:avLst>
          </a:prstGeom>
          <a:solidFill>
            <a:srgbClr val="FFE3EE"/>
          </a:solidFill>
          <a:ln w="28575">
            <a:solidFill>
              <a:srgbClr val="F7A6C4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→ She works in an office.</a:t>
            </a:r>
            <a:endParaRPr lang="en-US" sz="1200" dirty="0"/>
          </a:p>
        </p:txBody>
      </p:sp>
      <p:sp>
        <p:nvSpPr>
          <p:cNvPr id="26" name="bd_479"/>
          <p:cNvSpPr/>
          <p:nvPr/>
        </p:nvSpPr>
        <p:spPr>
          <a:xfrm>
            <a:off x="3246120" y="2483104"/>
            <a:ext cx="329184" cy="329184"/>
          </a:xfrm>
          <a:prstGeom prst="ellipse">
            <a:avLst/>
          </a:prstGeom>
          <a:solidFill>
            <a:srgbClr val="2EB872"/>
          </a:solidFill>
          <a:ln w="28575">
            <a:solidFill>
              <a:srgbClr val="A8E5BE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3</a:t>
            </a:r>
            <a:endParaRPr lang="en-US" sz="1100" dirty="0"/>
          </a:p>
        </p:txBody>
      </p:sp>
      <p:sp>
        <p:nvSpPr>
          <p:cNvPr id="27" name="gq_480"/>
          <p:cNvSpPr/>
          <p:nvPr/>
        </p:nvSpPr>
        <p:spPr>
          <a:xfrm>
            <a:off x="3657600" y="2499360"/>
            <a:ext cx="2514600" cy="296672"/>
          </a:xfrm>
          <a:prstGeom prst="roundRect">
            <a:avLst>
              <a:gd name="adj" fmla="val 30822"/>
            </a:avLst>
          </a:prstGeom>
          <a:solidFill>
            <a:srgbClr val="FFFFFF"/>
          </a:solidFill>
          <a:ln w="28575">
            <a:solidFill>
              <a:srgbClr val="A8E5BE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We wear glasses. – He</a:t>
            </a:r>
            <a:endParaRPr lang="en-US" sz="1100" dirty="0"/>
          </a:p>
        </p:txBody>
      </p:sp>
      <p:sp>
        <p:nvSpPr>
          <p:cNvPr id="28" name="R3_chip481"/>
          <p:cNvSpPr/>
          <p:nvPr/>
        </p:nvSpPr>
        <p:spPr>
          <a:xfrm>
            <a:off x="6263640" y="2499360"/>
            <a:ext cx="2560320" cy="296672"/>
          </a:xfrm>
          <a:prstGeom prst="roundRect">
            <a:avLst>
              <a:gd name="adj" fmla="val 30822"/>
            </a:avLst>
          </a:prstGeom>
          <a:solidFill>
            <a:srgbClr val="FFE3EE"/>
          </a:solidFill>
          <a:ln w="28575">
            <a:solidFill>
              <a:srgbClr val="F7A6C4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→ He wears glasses.</a:t>
            </a:r>
            <a:endParaRPr lang="en-US" sz="1200" dirty="0"/>
          </a:p>
        </p:txBody>
      </p:sp>
      <p:sp>
        <p:nvSpPr>
          <p:cNvPr id="29" name="bd_482"/>
          <p:cNvSpPr/>
          <p:nvPr/>
        </p:nvSpPr>
        <p:spPr>
          <a:xfrm>
            <a:off x="3246120" y="2843784"/>
            <a:ext cx="329184" cy="329184"/>
          </a:xfrm>
          <a:prstGeom prst="ellipse">
            <a:avLst/>
          </a:prstGeom>
          <a:solidFill>
            <a:srgbClr val="F2B705"/>
          </a:solidFill>
          <a:ln w="28575">
            <a:solidFill>
              <a:srgbClr val="FFE07A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4</a:t>
            </a:r>
            <a:endParaRPr lang="en-US" sz="1100" dirty="0"/>
          </a:p>
        </p:txBody>
      </p:sp>
      <p:sp>
        <p:nvSpPr>
          <p:cNvPr id="30" name="gq_483"/>
          <p:cNvSpPr/>
          <p:nvPr/>
        </p:nvSpPr>
        <p:spPr>
          <a:xfrm>
            <a:off x="3657600" y="2860040"/>
            <a:ext cx="2514600" cy="296672"/>
          </a:xfrm>
          <a:prstGeom prst="roundRect">
            <a:avLst>
              <a:gd name="adj" fmla="val 30822"/>
            </a:avLst>
          </a:prstGeom>
          <a:solidFill>
            <a:srgbClr val="FFFFFF"/>
          </a:solidFill>
          <a:ln w="28575">
            <a:solidFill>
              <a:srgbClr val="FFE07A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They finish at eight. – It</a:t>
            </a:r>
            <a:endParaRPr lang="en-US" sz="1100" dirty="0"/>
          </a:p>
        </p:txBody>
      </p:sp>
      <p:sp>
        <p:nvSpPr>
          <p:cNvPr id="31" name="R4_chip484"/>
          <p:cNvSpPr/>
          <p:nvPr/>
        </p:nvSpPr>
        <p:spPr>
          <a:xfrm>
            <a:off x="6263640" y="2860040"/>
            <a:ext cx="2560320" cy="296672"/>
          </a:xfrm>
          <a:prstGeom prst="roundRect">
            <a:avLst>
              <a:gd name="adj" fmla="val 30822"/>
            </a:avLst>
          </a:prstGeom>
          <a:solidFill>
            <a:srgbClr val="FFE3EE"/>
          </a:solidFill>
          <a:ln w="28575">
            <a:solidFill>
              <a:srgbClr val="F7A6C4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→ It finishes at eight.</a:t>
            </a:r>
            <a:endParaRPr lang="en-US" sz="1200" dirty="0"/>
          </a:p>
        </p:txBody>
      </p:sp>
      <p:sp>
        <p:nvSpPr>
          <p:cNvPr id="32" name="bd_485"/>
          <p:cNvSpPr/>
          <p:nvPr/>
        </p:nvSpPr>
        <p:spPr>
          <a:xfrm>
            <a:off x="3246120" y="3204464"/>
            <a:ext cx="329184" cy="329184"/>
          </a:xfrm>
          <a:prstGeom prst="ellipse">
            <a:avLst/>
          </a:prstGeom>
          <a:solidFill>
            <a:srgbClr val="E8508F"/>
          </a:solidFill>
          <a:ln w="28575">
            <a:solidFill>
              <a:srgbClr val="F7A6C4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5</a:t>
            </a:r>
            <a:endParaRPr lang="en-US" sz="1100" dirty="0"/>
          </a:p>
        </p:txBody>
      </p:sp>
      <p:sp>
        <p:nvSpPr>
          <p:cNvPr id="33" name="gq_486"/>
          <p:cNvSpPr/>
          <p:nvPr/>
        </p:nvSpPr>
        <p:spPr>
          <a:xfrm>
            <a:off x="3657600" y="3220720"/>
            <a:ext cx="2514600" cy="296672"/>
          </a:xfrm>
          <a:prstGeom prst="roundRect">
            <a:avLst>
              <a:gd name="adj" fmla="val 30822"/>
            </a:avLst>
          </a:prstGeom>
          <a:solidFill>
            <a:srgbClr val="FFFFFF"/>
          </a:solidFill>
          <a:ln w="28575">
            <a:solidFill>
              <a:srgbClr val="F7A6C4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They have two children. – He</a:t>
            </a:r>
            <a:endParaRPr lang="en-US" sz="1100" dirty="0"/>
          </a:p>
        </p:txBody>
      </p:sp>
      <p:sp>
        <p:nvSpPr>
          <p:cNvPr id="34" name="R5_chip487"/>
          <p:cNvSpPr/>
          <p:nvPr/>
        </p:nvSpPr>
        <p:spPr>
          <a:xfrm>
            <a:off x="6263640" y="3220720"/>
            <a:ext cx="2560320" cy="296672"/>
          </a:xfrm>
          <a:prstGeom prst="roundRect">
            <a:avLst>
              <a:gd name="adj" fmla="val 30822"/>
            </a:avLst>
          </a:prstGeom>
          <a:solidFill>
            <a:srgbClr val="FFE3EE"/>
          </a:solidFill>
          <a:ln w="28575">
            <a:solidFill>
              <a:srgbClr val="F7A6C4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→ He has two children.</a:t>
            </a:r>
            <a:endParaRPr lang="en-US" sz="1200" dirty="0"/>
          </a:p>
        </p:txBody>
      </p:sp>
      <p:sp>
        <p:nvSpPr>
          <p:cNvPr id="35" name="bd_488"/>
          <p:cNvSpPr/>
          <p:nvPr/>
        </p:nvSpPr>
        <p:spPr>
          <a:xfrm>
            <a:off x="3246120" y="3565144"/>
            <a:ext cx="329184" cy="329184"/>
          </a:xfrm>
          <a:prstGeom prst="ellipse">
            <a:avLst/>
          </a:prstGeom>
          <a:solidFill>
            <a:srgbClr val="2F8DE4"/>
          </a:solidFill>
          <a:ln w="28575">
            <a:solidFill>
              <a:srgbClr val="A9D3F5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6</a:t>
            </a:r>
            <a:endParaRPr lang="en-US" sz="1100" dirty="0"/>
          </a:p>
        </p:txBody>
      </p:sp>
      <p:sp>
        <p:nvSpPr>
          <p:cNvPr id="36" name="gq_489"/>
          <p:cNvSpPr/>
          <p:nvPr/>
        </p:nvSpPr>
        <p:spPr>
          <a:xfrm>
            <a:off x="3657600" y="3581400"/>
            <a:ext cx="2514600" cy="296672"/>
          </a:xfrm>
          <a:prstGeom prst="roundRect">
            <a:avLst>
              <a:gd name="adj" fmla="val 30822"/>
            </a:avLst>
          </a:prstGeom>
          <a:solidFill>
            <a:srgbClr val="FFFFFF"/>
          </a:solidFill>
          <a:ln w="28575">
            <a:solidFill>
              <a:srgbClr val="A9D3F5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We do homework. – She</a:t>
            </a:r>
            <a:endParaRPr lang="en-US" sz="1100" dirty="0"/>
          </a:p>
        </p:txBody>
      </p:sp>
      <p:sp>
        <p:nvSpPr>
          <p:cNvPr id="37" name="R6_chip490"/>
          <p:cNvSpPr/>
          <p:nvPr/>
        </p:nvSpPr>
        <p:spPr>
          <a:xfrm>
            <a:off x="6263640" y="3581400"/>
            <a:ext cx="2560320" cy="296672"/>
          </a:xfrm>
          <a:prstGeom prst="roundRect">
            <a:avLst>
              <a:gd name="adj" fmla="val 30822"/>
            </a:avLst>
          </a:prstGeom>
          <a:solidFill>
            <a:srgbClr val="FFE3EE"/>
          </a:solidFill>
          <a:ln w="28575">
            <a:solidFill>
              <a:srgbClr val="F7A6C4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→ She does homework.</a:t>
            </a:r>
            <a:endParaRPr lang="en-US" sz="1200" dirty="0"/>
          </a:p>
        </p:txBody>
      </p:sp>
      <p:sp>
        <p:nvSpPr>
          <p:cNvPr id="38" name="bd_491"/>
          <p:cNvSpPr/>
          <p:nvPr/>
        </p:nvSpPr>
        <p:spPr>
          <a:xfrm>
            <a:off x="3246120" y="3925824"/>
            <a:ext cx="329184" cy="329184"/>
          </a:xfrm>
          <a:prstGeom prst="ellipse">
            <a:avLst/>
          </a:prstGeom>
          <a:solidFill>
            <a:srgbClr val="2EB872"/>
          </a:solidFill>
          <a:ln w="28575">
            <a:solidFill>
              <a:srgbClr val="A8E5BE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7</a:t>
            </a:r>
            <a:endParaRPr lang="en-US" sz="1100" dirty="0"/>
          </a:p>
        </p:txBody>
      </p:sp>
      <p:sp>
        <p:nvSpPr>
          <p:cNvPr id="39" name="gq_492"/>
          <p:cNvSpPr/>
          <p:nvPr/>
        </p:nvSpPr>
        <p:spPr>
          <a:xfrm>
            <a:off x="3657600" y="3942080"/>
            <a:ext cx="2514600" cy="296672"/>
          </a:xfrm>
          <a:prstGeom prst="roundRect">
            <a:avLst>
              <a:gd name="adj" fmla="val 30822"/>
            </a:avLst>
          </a:prstGeom>
          <a:solidFill>
            <a:srgbClr val="FFFFFF"/>
          </a:solidFill>
          <a:ln w="28575">
            <a:solidFill>
              <a:srgbClr val="A8E5BE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They study French. – He</a:t>
            </a:r>
            <a:endParaRPr lang="en-US" sz="1100" dirty="0"/>
          </a:p>
        </p:txBody>
      </p:sp>
      <p:sp>
        <p:nvSpPr>
          <p:cNvPr id="40" name="R7_chip493"/>
          <p:cNvSpPr/>
          <p:nvPr/>
        </p:nvSpPr>
        <p:spPr>
          <a:xfrm>
            <a:off x="6263640" y="3942080"/>
            <a:ext cx="2560320" cy="296672"/>
          </a:xfrm>
          <a:prstGeom prst="roundRect">
            <a:avLst>
              <a:gd name="adj" fmla="val 30822"/>
            </a:avLst>
          </a:prstGeom>
          <a:solidFill>
            <a:srgbClr val="FFE3EE"/>
          </a:solidFill>
          <a:ln w="28575">
            <a:solidFill>
              <a:srgbClr val="F7A6C4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→ He studies French.</a:t>
            </a:r>
            <a:endParaRPr lang="en-US" sz="1200" dirty="0"/>
          </a:p>
        </p:txBody>
      </p:sp>
      <p:sp>
        <p:nvSpPr>
          <p:cNvPr id="41" name="bd_494"/>
          <p:cNvSpPr/>
          <p:nvPr/>
        </p:nvSpPr>
        <p:spPr>
          <a:xfrm>
            <a:off x="3246120" y="4286504"/>
            <a:ext cx="329184" cy="329184"/>
          </a:xfrm>
          <a:prstGeom prst="ellipse">
            <a:avLst/>
          </a:prstGeom>
          <a:solidFill>
            <a:srgbClr val="F2B705"/>
          </a:solidFill>
          <a:ln w="28575">
            <a:solidFill>
              <a:srgbClr val="FFE07A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8</a:t>
            </a:r>
            <a:endParaRPr lang="en-US" sz="1100" dirty="0"/>
          </a:p>
        </p:txBody>
      </p:sp>
      <p:sp>
        <p:nvSpPr>
          <p:cNvPr id="42" name="gq_495"/>
          <p:cNvSpPr/>
          <p:nvPr/>
        </p:nvSpPr>
        <p:spPr>
          <a:xfrm>
            <a:off x="3657600" y="4302760"/>
            <a:ext cx="2514600" cy="296672"/>
          </a:xfrm>
          <a:prstGeom prst="roundRect">
            <a:avLst>
              <a:gd name="adj" fmla="val 30822"/>
            </a:avLst>
          </a:prstGeom>
          <a:solidFill>
            <a:srgbClr val="FFFFFF"/>
          </a:solidFill>
          <a:ln w="28575">
            <a:solidFill>
              <a:srgbClr val="FFE07A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They go shopping. – She</a:t>
            </a:r>
            <a:endParaRPr lang="en-US" sz="1100" dirty="0"/>
          </a:p>
        </p:txBody>
      </p:sp>
      <p:sp>
        <p:nvSpPr>
          <p:cNvPr id="43" name="R8_chip496"/>
          <p:cNvSpPr/>
          <p:nvPr/>
        </p:nvSpPr>
        <p:spPr>
          <a:xfrm>
            <a:off x="6263640" y="4302760"/>
            <a:ext cx="2560320" cy="296672"/>
          </a:xfrm>
          <a:prstGeom prst="roundRect">
            <a:avLst>
              <a:gd name="adj" fmla="val 30822"/>
            </a:avLst>
          </a:prstGeom>
          <a:solidFill>
            <a:srgbClr val="FFE3EE"/>
          </a:solidFill>
          <a:ln w="28575">
            <a:solidFill>
              <a:srgbClr val="F7A6C4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→ She goes shopping.</a:t>
            </a:r>
            <a:endParaRPr lang="en-US" sz="1200" dirty="0"/>
          </a:p>
        </p:txBody>
      </p:sp>
    </p:spTree>
  </p:cSld>
  <p:clrMapOvr>
    <a:masterClrMapping/>
  </p:clrMapOvr>
  <p:transition spd="med">
    <p:push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4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4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4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4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400"/>
                                        <p:tgtEl>
                                          <p:spTgt spid="4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19</Slides>
  <Notes>19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19</vt:i4>
      </vt:variant>
    </vt:vector>
  </HeadingPairs>
  <TitlesOfParts>
    <vt:vector size="2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3A Britain: the good and the bad</dc:title>
  <dc:subject>PptxGenJS Presentation</dc:subject>
  <dc:creator>PptxGenJS</dc:creator>
  <cp:lastModifiedBy>PptxGenJS</cp:lastModifiedBy>
  <cp:revision>1</cp:revision>
  <dcterms:created xsi:type="dcterms:W3CDTF">2026-10-23T08:15:19Z</dcterms:created>
  <dcterms:modified xsi:type="dcterms:W3CDTF">2026-10-23T08:15:19Z</dcterms:modified>
</cp:coreProperties>
</file>