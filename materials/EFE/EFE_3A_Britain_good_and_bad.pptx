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Books closed. Ask: What do you think of when you hear 'Britain'? Write 4–5 ideas on the board (TG lead-in).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first with 'wallet': 'It's for money. My wallet is in my bag.' ICQs: Do you say a sentence or write it? (say) Alone or with a partner? (partner). 3 min. Then the imperatives box: elicit 2–3 examples, correct gently.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Books closed. DEMO: 'Drink… coffee, water, wine.' ICQ: How many things for each verb? (3). 2 min, then collect ideas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 p.22 ex. 1a. Play 3.1 once, pause after each sound. DEMO with sound 1 together. ICQs: Do you write a phrase or a number? (a phrase) Is there a sound or a person speaking? (sounds). Answers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answers. Then model and drill each phrase (TG).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 cook → c dinner (done). ICQs: Do you match verbs with words? (yes) Do you write a number or a letter? (a letter). Pairs, 3 min. Then open SB p.153 and do VB ex. a with the photos; play 3.2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Check. Then play 3.2 (all 24 phrases from VB p.153): students listen and repeat. Drill the difficult ones (take an umbrella, wear glasses).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Books closed. DEMO: 'TV' → class says 'watch TV' (done). Pause after each item, whole class answers; then repeat with individual students. Answers appear one per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for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Pre-teach: journalist, the BBC, freedom (TG). Students read IN THE BOOK p.22. Gap 1 is done. ICQs: Where is the text? (in the book, p.22) How many gaps? (8) 4 min, pairs check, then play 3.4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Check. Then ask: Which things do YOU like about Italy? (short, open).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 class, 3 min. Read the sentences aloud. ICQ: Do we look at all the words? (no, the blue verbs). Elicit answers in Italian if needed (TG: L1 is fine at this level). Answers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Highlight: only he / she / it changes. don't / doesn't + verb WITHOUT -s.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3 min. First line is done. ICQ: Which verb? (live). Then the spelling box: elicit goes, has, studies, watches. Answers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Check. Play 3.5: listen and repeat the examples (rhythm: 'She doesn't LIVE in a FLAT').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Individually 3 min, then check with a partner. ICQs: Do you change the verb? (yes, sometimes) What does 'not' mean? (negative: don't / doesn't). Answers next slide. Then GB p.129 a + b (TG answers) in class or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read the sentences aloud with the right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3.6: listen and repeat books /s/, keys /z/, watches /ɪz/. 3.7: DEMO 'I live in a flat. She…' → 'She lives in a flat.' Pause after each one; whole class, then individuals. Reassure: /ɪz/ in the right place matters most (watches, NOT lives /lɪvɪz/).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with 2 true sentences about you. ICQs: How many sentences? (6) All positive? (no, 3 negative). Partners tick / cross. Then CHANGE PARTNER: tell your new partner about your first partner (he / she + -s). Monitor for -s and doesn't.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with your own 3 sentences. ICQs: How many are true? (2) What do the others do? (guess the lie). 5–6 min. Point for each correct guess. Insist on he / she + -s when guessing: 'I think he doesn't play the guitar.'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student answers one line. Homework: Workbook 3A; Grammar Bank 3A p.129 a–b if not done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347472"/>
            <a:ext cx="8412480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3A  Britain: the good and the bad</a:t>
            </a:r>
            <a:endParaRPr lang="en-US" sz="2600" dirty="0"/>
          </a:p>
        </p:txBody>
      </p:sp>
      <p:pic>
        <p:nvPicPr>
          <p:cNvPr id="6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book (English File Elementary) · 3A · SB pp.22–23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97280" y="1554480"/>
            <a:ext cx="6766560" cy="2743200"/>
          </a:xfrm>
          <a:prstGeom prst="roundRect">
            <a:avLst>
              <a:gd name="adj" fmla="val 4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will…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20 everyday verb phrases (watch TV, play the guitar…)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talk about your life: I live… · I don't…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talk about other people: she lives… · he doesn't…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1097280" y="4572000"/>
            <a:ext cx="6766560" cy="1280160"/>
          </a:xfrm>
          <a:prstGeom prst="roundRect">
            <a:avLst>
              <a:gd name="adj" fmla="val 8571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What do you think of when you hear 'Britain'?</a:t>
            </a:r>
            <a:endParaRPr lang="en-US" sz="18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ti viene in mente quando senti 'Britain'?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503920" y="201168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000000"/>
                </a:solidFill>
              </a:rPr>
              <a:t>🇬🇧</a:t>
            </a:r>
            <a:endParaRPr lang="en-US" sz="1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F8FE0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693408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Remember last lesson?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word. Say what it means. Then make a sentence.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 una parola. Di' cosa significa. Poi fai una frase.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Revision of Revise and Check 1&amp;2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14884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FFE1EC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sunglasses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474720" y="214884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126480" y="214884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8778240" y="214884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822960" y="30175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FFE1EC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3474720" y="30175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126480" y="30175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778240" y="30175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Let's…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822960" y="4069080"/>
            <a:ext cx="10332720" cy="594360"/>
          </a:xfrm>
          <a:prstGeom prst="roundRect">
            <a:avLst>
              <a:gd name="adj" fmla="val 18462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wallet → It's for money. → My wallet is in my bag.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822960" y="4846320"/>
            <a:ext cx="10332720" cy="1143000"/>
          </a:xfrm>
          <a:prstGeom prst="roundRect">
            <a:avLst>
              <a:gd name="adj" fmla="val 96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turn: imperatives and Let's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advice or make a suggestion:  </a:t>
            </a:r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drive in Rome! · Let's have a coffee!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DB36F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4645152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can you…?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pairs. Say 3 things for each verb.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coppia. Dite 3 cose per ogni verbo.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Lead-in (TG optional lead-in)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28600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DRINK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2960" y="338328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coffee, water, juice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3520440" y="228600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EAT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3520440" y="338328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6217920" y="228600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E1EC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DRIVE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6217920" y="338328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915400" y="228600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8915400" y="3383280"/>
            <a:ext cx="2377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E94E8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the sound?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🎧 3.1. What are they doing? Choose a phrase from the box.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Ascolta. Cosa fanno? Scegli un'espressione dal riquadro.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1a · SB p.22 · audio 3.1 (sound effects)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194560"/>
            <a:ext cx="3840480" cy="3200400"/>
          </a:xfrm>
          <a:prstGeom prst="roundRect">
            <a:avLst>
              <a:gd name="adj" fmla="val 3429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like animals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watch TV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speak German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 the guitar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drink mineral water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5120640" y="2194560"/>
            <a:ext cx="5852160" cy="566928"/>
          </a:xfrm>
          <a:prstGeom prst="roundRect">
            <a:avLst>
              <a:gd name="adj" fmla="val 19355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speak German  (e.g.)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5120640" y="2880360"/>
            <a:ext cx="585216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____________________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5120640" y="3566160"/>
            <a:ext cx="585216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____________________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5120640" y="4251960"/>
            <a:ext cx="585216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____________________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5120640" y="4937760"/>
            <a:ext cx="585216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____________________</a:t>
            </a:r>
            <a:endParaRPr lang="en-US" sz="1900" dirty="0"/>
          </a:p>
        </p:txBody>
      </p:sp>
      <p:sp>
        <p:nvSpPr>
          <p:cNvPr id="20" name="Text 16"/>
          <p:cNvSpPr/>
          <p:nvPr/>
        </p:nvSpPr>
        <p:spPr>
          <a:xfrm>
            <a:off x="1417320" y="562356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E94E8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the sound?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</a:t>
            </a:r>
            <a:endParaRPr lang="en-US" sz="1200" dirty="0"/>
          </a:p>
        </p:txBody>
      </p:sp>
      <p:pic>
        <p:nvPicPr>
          <p:cNvPr id="9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1a · answers (TG)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503920" y="11887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DB36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ANSWERS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828800" y="1828800"/>
            <a:ext cx="777240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speak German</a:t>
            </a:r>
            <a:endParaRPr lang="en-US" sz="2200" dirty="0"/>
          </a:p>
        </p:txBody>
      </p:sp>
      <p:pic>
        <p:nvPicPr>
          <p:cNvPr id="14" name="Image 1" descr="ic_speak_Germ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892808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2606040"/>
            <a:ext cx="777240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drink mineral water</a:t>
            </a:r>
            <a:endParaRPr lang="en-US" sz="2200" dirty="0"/>
          </a:p>
        </p:txBody>
      </p:sp>
      <p:pic>
        <p:nvPicPr>
          <p:cNvPr id="16" name="Image 2" descr="ic_drink_mineral_w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670048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828800" y="3383280"/>
            <a:ext cx="777240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watch TV</a:t>
            </a:r>
            <a:endParaRPr lang="en-US" sz="2200" dirty="0"/>
          </a:p>
        </p:txBody>
      </p:sp>
      <p:pic>
        <p:nvPicPr>
          <p:cNvPr id="18" name="Image 3" descr="ic_watch_T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3447288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828800" y="4160520"/>
            <a:ext cx="777240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play the guitar</a:t>
            </a:r>
            <a:endParaRPr lang="en-US" sz="2200" dirty="0"/>
          </a:p>
        </p:txBody>
      </p:sp>
      <p:pic>
        <p:nvPicPr>
          <p:cNvPr id="20" name="Image 4" descr="ic_play_the_guit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4224528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828800" y="4937760"/>
            <a:ext cx="777240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like animals</a:t>
            </a:r>
            <a:endParaRPr lang="en-US" sz="2200" dirty="0"/>
          </a:p>
        </p:txBody>
      </p:sp>
      <p:pic>
        <p:nvPicPr>
          <p:cNvPr id="22" name="Image 5" descr="ic_like_animal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500176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F8FE0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98601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Which verb goes with…?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 verb (1–8) with a word (a–h). Write the letter.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Abbina un verbo (1–8) a una parola (a–h). Scrivi la lettera.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1b · collocations from Vocabulary Bank p.153 (verb phrases)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914400" y="2103120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cook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914400" y="2633472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do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914400" y="3163824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play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914400" y="3694176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wear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914400" y="4224528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take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914400" y="4754880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listen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914400" y="5285232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live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914400" y="5815584"/>
            <a:ext cx="2651760" cy="457200"/>
          </a:xfrm>
          <a:prstGeom prst="roundRect">
            <a:avLst>
              <a:gd name="adj" fmla="val 24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work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3749040" y="2103120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3749040" y="2633472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3749040" y="3163824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3749040" y="3694176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3749040" y="4224528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3749040" y="4754880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3749040" y="5285232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3749040" y="5815584"/>
            <a:ext cx="6400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5669280" y="2103120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to music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5669280" y="2633472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an umbrella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5669280" y="3163824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dinner</a:t>
            </a:r>
            <a:endParaRPr lang="en-US" sz="1800" dirty="0"/>
          </a:p>
        </p:txBody>
      </p:sp>
      <p:sp>
        <p:nvSpPr>
          <p:cNvPr id="33" name="Text 29"/>
          <p:cNvSpPr/>
          <p:nvPr/>
        </p:nvSpPr>
        <p:spPr>
          <a:xfrm>
            <a:off x="5669280" y="3694176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in an office</a:t>
            </a:r>
            <a:endParaRPr lang="en-US" sz="1800" dirty="0"/>
          </a:p>
        </p:txBody>
      </p:sp>
      <p:sp>
        <p:nvSpPr>
          <p:cNvPr id="34" name="Text 30"/>
          <p:cNvSpPr/>
          <p:nvPr/>
        </p:nvSpPr>
        <p:spPr>
          <a:xfrm>
            <a:off x="5669280" y="4224528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glasses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5669280" y="4754880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 in a flat</a:t>
            </a:r>
            <a:endParaRPr lang="en-US" sz="1800" dirty="0"/>
          </a:p>
        </p:txBody>
      </p:sp>
      <p:sp>
        <p:nvSpPr>
          <p:cNvPr id="36" name="Text 32"/>
          <p:cNvSpPr/>
          <p:nvPr/>
        </p:nvSpPr>
        <p:spPr>
          <a:xfrm>
            <a:off x="5669280" y="5285232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 homework</a:t>
            </a:r>
            <a:endParaRPr lang="en-US" sz="1800" dirty="0"/>
          </a:p>
        </p:txBody>
      </p:sp>
      <p:sp>
        <p:nvSpPr>
          <p:cNvPr id="37" name="Text 33"/>
          <p:cNvSpPr/>
          <p:nvPr/>
        </p:nvSpPr>
        <p:spPr>
          <a:xfrm>
            <a:off x="5669280" y="5815584"/>
            <a:ext cx="3840480" cy="457200"/>
          </a:xfrm>
          <a:prstGeom prst="roundRect">
            <a:avLst>
              <a:gd name="adj" fmla="val 24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the guitar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F8FE0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98601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Which verb goes with…?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200" dirty="0"/>
          </a:p>
        </p:txBody>
      </p:sp>
      <p:pic>
        <p:nvPicPr>
          <p:cNvPr id="9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1b answers · VB p.153 · audio 3.2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503920" y="11887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DB36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ANSWERS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097280" y="192024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cook dinner</a:t>
            </a:r>
            <a:endParaRPr lang="en-US" sz="2200" dirty="0"/>
          </a:p>
        </p:txBody>
      </p:sp>
      <p:pic>
        <p:nvPicPr>
          <p:cNvPr id="14" name="Image 1" descr="ic_cook_di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93392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192024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do homework</a:t>
            </a:r>
            <a:endParaRPr lang="en-US" sz="2200" dirty="0"/>
          </a:p>
        </p:txBody>
      </p:sp>
      <p:pic>
        <p:nvPicPr>
          <p:cNvPr id="16" name="Image 2" descr="ic_do_home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993392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278892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play the guitar</a:t>
            </a:r>
            <a:endParaRPr lang="en-US" sz="2200" dirty="0"/>
          </a:p>
        </p:txBody>
      </p:sp>
      <p:pic>
        <p:nvPicPr>
          <p:cNvPr id="18" name="Image 3" descr="ic_play_the_gui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862072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217920" y="278892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wear glasses</a:t>
            </a:r>
            <a:endParaRPr lang="en-US" sz="2200" dirty="0"/>
          </a:p>
        </p:txBody>
      </p:sp>
      <p:pic>
        <p:nvPicPr>
          <p:cNvPr id="20" name="Image 4" descr="ic_wear_glass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8440" y="2862072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097280" y="365760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take an umbrella</a:t>
            </a:r>
            <a:endParaRPr lang="en-US" sz="2200" dirty="0"/>
          </a:p>
        </p:txBody>
      </p:sp>
      <p:pic>
        <p:nvPicPr>
          <p:cNvPr id="22" name="Image 5" descr="ic_take_an_umbrel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730752"/>
            <a:ext cx="502920" cy="50292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17920" y="365760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listen to music</a:t>
            </a:r>
            <a:endParaRPr lang="en-US" sz="2200" dirty="0"/>
          </a:p>
        </p:txBody>
      </p:sp>
      <p:pic>
        <p:nvPicPr>
          <p:cNvPr id="24" name="Image 6" descr="ic_listen_to_musi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78440" y="3730752"/>
            <a:ext cx="502920" cy="50292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97280" y="452628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live in a flat</a:t>
            </a:r>
            <a:endParaRPr lang="en-US" sz="2200" dirty="0"/>
          </a:p>
        </p:txBody>
      </p:sp>
      <p:pic>
        <p:nvPicPr>
          <p:cNvPr id="26" name="Image 7" descr="ic_live_in_a_fla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599432"/>
            <a:ext cx="502920" cy="50292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217920" y="452628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work in an office</a:t>
            </a:r>
            <a:endParaRPr lang="en-US" sz="2200" dirty="0"/>
          </a:p>
        </p:txBody>
      </p:sp>
      <p:pic>
        <p:nvPicPr>
          <p:cNvPr id="28" name="Image 8" descr="ic_work_in_an_offi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78440" y="4599432"/>
            <a:ext cx="502920" cy="50292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1097280" y="5486400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listen and repeat 🎧 3.2 (all the phrases on p.153).</a:t>
            </a:r>
            <a:endParaRPr lang="en-US" sz="1700" dirty="0"/>
          </a:p>
        </p:txBody>
      </p:sp>
      <p:sp>
        <p:nvSpPr>
          <p:cNvPr id="30" name="Text 18"/>
          <p:cNvSpPr/>
          <p:nvPr/>
        </p:nvSpPr>
        <p:spPr>
          <a:xfrm>
            <a:off x="9372600" y="5486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3.2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DB36F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693408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the whole phrase!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🎧 3.3. You hear the end. Say the whole phrase.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Ascolta la fine. Di' l'espressione intera.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1c · audio 3.3 · books closed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914400" y="2148840"/>
            <a:ext cx="4937760" cy="54864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TV → watch TV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914400" y="288036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guitar  →  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480560" y="288036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water  →  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8046720" y="288036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music  →  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914400" y="365760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  →  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480560" y="365760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garden  →  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8046720" y="365760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vegetables  →  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914400" y="443484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cinema  →  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480560" y="443484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 →  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8046720" y="4434840"/>
            <a:ext cx="32918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 →  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1508760" y="5715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DB36F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693408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the whole phrase!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200" dirty="0"/>
          </a:p>
        </p:txBody>
      </p:sp>
      <p:pic>
        <p:nvPicPr>
          <p:cNvPr id="9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1c answers (TG)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503920" y="11887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DB36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ANSWERS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1828800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→ watch TV</a:t>
            </a:r>
            <a:endParaRPr lang="en-US" sz="1900" dirty="0"/>
          </a:p>
        </p:txBody>
      </p:sp>
      <p:pic>
        <p:nvPicPr>
          <p:cNvPr id="14" name="Image 1" descr="ic_watch_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83664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126480" y="1828800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guitar → play the guitar</a:t>
            </a:r>
            <a:endParaRPr lang="en-US" sz="1900" dirty="0"/>
          </a:p>
        </p:txBody>
      </p:sp>
      <p:pic>
        <p:nvPicPr>
          <p:cNvPr id="16" name="Image 2" descr="ic_play_the_gui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1883664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4400" y="2633472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water → drink mineral water</a:t>
            </a:r>
            <a:endParaRPr lang="en-US" sz="1900" dirty="0"/>
          </a:p>
        </p:txBody>
      </p:sp>
      <p:pic>
        <p:nvPicPr>
          <p:cNvPr id="18" name="Image 3" descr="ic_drink_mineral_wa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688336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126480" y="2633472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music → listen to music</a:t>
            </a:r>
            <a:endParaRPr lang="en-US" sz="1900" dirty="0"/>
          </a:p>
        </p:txBody>
      </p:sp>
      <p:pic>
        <p:nvPicPr>
          <p:cNvPr id="20" name="Image 4" descr="ic_listen_to_musi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0" y="2688336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914400" y="3438144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 → wear glasses</a:t>
            </a:r>
            <a:endParaRPr lang="en-US" sz="1900" dirty="0"/>
          </a:p>
        </p:txBody>
      </p:sp>
      <p:pic>
        <p:nvPicPr>
          <p:cNvPr id="22" name="Image 5" descr="ic_wear_glass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493008"/>
            <a:ext cx="502920" cy="50292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126480" y="3438144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garden → have a garden</a:t>
            </a:r>
            <a:endParaRPr lang="en-US" sz="1900" dirty="0"/>
          </a:p>
        </p:txBody>
      </p:sp>
      <p:pic>
        <p:nvPicPr>
          <p:cNvPr id="24" name="Image 6" descr="ic_have_a_gard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3493008"/>
            <a:ext cx="502920" cy="50292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914400" y="4242816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vegetables → eat vegetables</a:t>
            </a:r>
            <a:endParaRPr lang="en-US" sz="1900" dirty="0"/>
          </a:p>
        </p:txBody>
      </p:sp>
      <p:pic>
        <p:nvPicPr>
          <p:cNvPr id="26" name="Image 7" descr="ic_eat_vegetabl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297680"/>
            <a:ext cx="502920" cy="50292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126480" y="4242816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cinema → go to the cinema</a:t>
            </a:r>
            <a:endParaRPr lang="en-US" sz="1900" dirty="0"/>
          </a:p>
        </p:txBody>
      </p:sp>
      <p:pic>
        <p:nvPicPr>
          <p:cNvPr id="28" name="Image 8" descr="ic_go_to_the_cinem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69880" y="4297680"/>
            <a:ext cx="502920" cy="50292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914400" y="5047488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→ study history</a:t>
            </a:r>
            <a:endParaRPr lang="en-US" sz="1900" dirty="0"/>
          </a:p>
        </p:txBody>
      </p:sp>
      <p:pic>
        <p:nvPicPr>
          <p:cNvPr id="30" name="Image 9" descr="ic_study_histor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5102352"/>
            <a:ext cx="502920" cy="502920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6126480" y="5047488"/>
            <a:ext cx="4846320" cy="640080"/>
          </a:xfrm>
          <a:prstGeom prst="roundRect">
            <a:avLst>
              <a:gd name="adj" fmla="val 17143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→ do exercise</a:t>
            </a:r>
            <a:endParaRPr lang="en-US" sz="1900" dirty="0"/>
          </a:p>
        </p:txBody>
      </p:sp>
      <p:pic>
        <p:nvPicPr>
          <p:cNvPr id="32" name="Image 10" descr="ic_do_exercis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69880" y="5102352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E94E8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98601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does Carola like?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book at p.22. Read the article. Write a word from the box in each gap (1–8).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 il libro a p.22. Leggi l'articolo. Scrivi una parola del riquadro in ogni spazio (1–8).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2a · SB p.22 · then audio 3.4 to check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148840"/>
            <a:ext cx="3291840" cy="1097280"/>
          </a:xfrm>
          <a:prstGeom prst="roundRect">
            <a:avLst>
              <a:gd name="adj" fmla="val 12500"/>
            </a:avLst>
          </a:prstGeom>
          <a:solidFill>
            <a:srgbClr val="FFE1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94E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📖 SB p.22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822960" y="34747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BBC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Indian food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language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weather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gardens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freedom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572000" y="214884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multiculturalism  (e.g.)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8046720" y="214884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______________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572000" y="301752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______________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046720" y="301752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______________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572000" y="388620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______________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046720" y="388620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______________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572000" y="475488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______________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8046720" y="4754880"/>
            <a:ext cx="32004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______________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5166360" y="5715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E94E8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98601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does Carola like?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200" dirty="0"/>
          </a:p>
        </p:txBody>
      </p:sp>
      <p:pic>
        <p:nvPicPr>
          <p:cNvPr id="9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2b answers (TG)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503920" y="11887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DB36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ANSWERS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097280" y="182880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multiculturalism</a:t>
            </a:r>
            <a:endParaRPr lang="en-US" sz="2100" dirty="0"/>
          </a:p>
        </p:txBody>
      </p:sp>
      <p:pic>
        <p:nvPicPr>
          <p:cNvPr id="14" name="Image 1" descr="ic_multicultural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01952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182880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the language</a:t>
            </a:r>
            <a:endParaRPr lang="en-US" sz="2100" dirty="0"/>
          </a:p>
        </p:txBody>
      </p:sp>
      <p:pic>
        <p:nvPicPr>
          <p:cNvPr id="16" name="Image 2" descr="ic_the_langu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901952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269748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gardens</a:t>
            </a:r>
            <a:endParaRPr lang="en-US" sz="2100" dirty="0"/>
          </a:p>
        </p:txBody>
      </p:sp>
      <p:pic>
        <p:nvPicPr>
          <p:cNvPr id="18" name="Image 3" descr="ic_garde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770632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217920" y="269748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the freedom</a:t>
            </a:r>
            <a:endParaRPr lang="en-US" sz="2100" dirty="0"/>
          </a:p>
        </p:txBody>
      </p:sp>
      <p:pic>
        <p:nvPicPr>
          <p:cNvPr id="20" name="Image 4" descr="ic_the_freedo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8440" y="2770632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097280" y="356616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the BBC</a:t>
            </a:r>
            <a:endParaRPr lang="en-US" sz="2100" dirty="0"/>
          </a:p>
        </p:txBody>
      </p:sp>
      <p:pic>
        <p:nvPicPr>
          <p:cNvPr id="22" name="Image 5" descr="ic_the_BB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639312"/>
            <a:ext cx="502920" cy="50292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17920" y="356616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pubs</a:t>
            </a:r>
            <a:endParaRPr lang="en-US" sz="2100" dirty="0"/>
          </a:p>
        </p:txBody>
      </p:sp>
      <p:pic>
        <p:nvPicPr>
          <p:cNvPr id="24" name="Image 6" descr="ic_pub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78440" y="3639312"/>
            <a:ext cx="502920" cy="50292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97280" y="443484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the weather</a:t>
            </a:r>
            <a:endParaRPr lang="en-US" sz="2100" dirty="0"/>
          </a:p>
        </p:txBody>
      </p:sp>
      <p:pic>
        <p:nvPicPr>
          <p:cNvPr id="26" name="Image 7" descr="ic_the_weath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507992"/>
            <a:ext cx="502920" cy="50292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217920" y="4434840"/>
            <a:ext cx="475488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Indian food</a:t>
            </a:r>
            <a:endParaRPr lang="en-US" sz="2100" dirty="0"/>
          </a:p>
        </p:txBody>
      </p:sp>
      <p:pic>
        <p:nvPicPr>
          <p:cNvPr id="28" name="Image 8" descr="ic_Indian_foo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78440" y="4507992"/>
            <a:ext cx="502920" cy="50292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1097280" y="5486400"/>
            <a:ext cx="9875520" cy="548640"/>
          </a:xfrm>
          <a:prstGeom prst="roundRect">
            <a:avLst>
              <a:gd name="adj" fmla="val 20000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And you? What do you like about Italy?  I like…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F8FE0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at the verbs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sentences. Look at the blue verbs. Answer the 2 questions.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le frasi. Guarda i verbi blu. Rispondi alle 2 domande.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2c · SB p.22 (questions 1–2)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148840"/>
            <a:ext cx="5120640" cy="502920"/>
          </a:xfrm>
          <a:prstGeom prst="roundRect">
            <a:avLst>
              <a:gd name="adj" fmla="val 21818"/>
            </a:avLst>
          </a:prstGeom>
          <a:solidFill>
            <a:srgbClr val="E94E8B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you · we · they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6309360" y="2148840"/>
            <a:ext cx="5120640" cy="502920"/>
          </a:xfrm>
          <a:prstGeom prst="roundRect">
            <a:avLst>
              <a:gd name="adj" fmla="val 21818"/>
            </a:avLst>
          </a:prstGeom>
          <a:solidFill>
            <a:srgbClr val="2F8FE0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· she · it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822960" y="27889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pPr algn="ctr" indent="0" marL="0">
              <a:buNone/>
            </a:pPr>
            <a:r>
              <a:rPr lang="en-US" sz="2100" b="1" dirty="0">
                <a:solidFill>
                  <a:srgbClr val="2F8FE0"/>
                </a:solidFill>
                <a:highlight>
                  <a:srgbClr val="FFF3B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flat.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822960" y="33375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</a:t>
            </a:r>
            <a:pPr algn="ctr" indent="0" marL="0">
              <a:buNone/>
            </a:pPr>
            <a:r>
              <a:rPr lang="en-US" sz="2100" b="1" dirty="0">
                <a:solidFill>
                  <a:srgbClr val="2F8FE0"/>
                </a:solidFill>
                <a:highlight>
                  <a:srgbClr val="FFF3B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speak</a:t>
            </a:r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English.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822960" y="38862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pPr algn="ctr" indent="0" marL="0">
              <a:buNone/>
            </a:pPr>
            <a:r>
              <a:rPr lang="en-US" sz="2100" b="1" dirty="0">
                <a:solidFill>
                  <a:srgbClr val="2F8FE0"/>
                </a:solidFill>
                <a:highlight>
                  <a:srgbClr val="FFF3B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don't have</a:t>
            </a:r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garden.</a:t>
            </a:r>
            <a:endParaRPr lang="en-US" sz="2100" dirty="0"/>
          </a:p>
        </p:txBody>
      </p:sp>
      <p:sp>
        <p:nvSpPr>
          <p:cNvPr id="19" name="Text 15"/>
          <p:cNvSpPr/>
          <p:nvPr/>
        </p:nvSpPr>
        <p:spPr>
          <a:xfrm>
            <a:off x="6309360" y="27889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ctr" indent="0" marL="0">
              <a:buNone/>
            </a:pPr>
            <a:r>
              <a:rPr lang="en-US" sz="2100" b="1" dirty="0">
                <a:solidFill>
                  <a:srgbClr val="2F8FE0"/>
                </a:solidFill>
                <a:highlight>
                  <a:srgbClr val="FFF3B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lives</a:t>
            </a:r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London.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6309360" y="33375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</a:t>
            </a:r>
            <a:pPr algn="ctr" indent="0" marL="0">
              <a:buNone/>
            </a:pPr>
            <a:r>
              <a:rPr lang="en-US" sz="2100" b="1" dirty="0">
                <a:solidFill>
                  <a:srgbClr val="2F8FE0"/>
                </a:solidFill>
                <a:highlight>
                  <a:srgbClr val="FFF3B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cooks</a:t>
            </a:r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pasta.</a:t>
            </a:r>
            <a:endParaRPr lang="en-US" sz="2100" dirty="0"/>
          </a:p>
        </p:txBody>
      </p:sp>
      <p:sp>
        <p:nvSpPr>
          <p:cNvPr id="21" name="Text 17"/>
          <p:cNvSpPr/>
          <p:nvPr/>
        </p:nvSpPr>
        <p:spPr>
          <a:xfrm>
            <a:off x="6309360" y="38862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</a:t>
            </a:r>
            <a:pPr algn="ctr" indent="0" marL="0">
              <a:buNone/>
            </a:pPr>
            <a:r>
              <a:rPr lang="en-US" sz="2100" b="1" dirty="0">
                <a:solidFill>
                  <a:srgbClr val="2F8FE0"/>
                </a:solidFill>
                <a:highlight>
                  <a:srgbClr val="FFF3B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doesn't rain</a:t>
            </a:r>
            <a:pPr algn="ctr" indent="0" marL="0">
              <a:buNone/>
            </a:pPr>
            <a:r>
              <a:rPr lang="en-US" sz="21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day.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822960" y="4572000"/>
            <a:ext cx="10607040" cy="1691640"/>
          </a:xfrm>
          <a:prstGeom prst="roundRect">
            <a:avLst>
              <a:gd name="adj" fmla="val 6486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Why do lives and cooks end in -s?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a) because the subject is he / she / it      b) because it's the past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How do we make the negative?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I / you / we / they + ______ + verb      he / she / it + ______ + verb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F8FE0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at the verbs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200" dirty="0"/>
          </a:p>
        </p:txBody>
      </p:sp>
      <p:pic>
        <p:nvPicPr>
          <p:cNvPr id="9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2c answers (TG)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503920" y="11887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DB36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ANSWERS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097280" y="2011680"/>
            <a:ext cx="9875520" cy="2011680"/>
          </a:xfrm>
          <a:prstGeom prst="roundRect">
            <a:avLst>
              <a:gd name="adj" fmla="val 5455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a) The subject is he / she / it → verb + -s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 / you / we / they + don't + verb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he / she / it + doesn't + verb (no -s!)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1097280" y="4297680"/>
            <a:ext cx="9875520" cy="640080"/>
          </a:xfrm>
          <a:prstGeom prst="roundRect">
            <a:avLst>
              <a:gd name="adj" fmla="val 17143"/>
            </a:avLst>
          </a:prstGeom>
          <a:solidFill>
            <a:srgbClr val="FFE1EC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She doesn't works.   ✓ She doesn't work.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DB36F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Complete the rule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table with the verb live. Then check the spelling box.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la tabella con il verbo live. Poi guarda l'ortografia.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Grammar Bank 3A p.128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914400" y="2148840"/>
            <a:ext cx="6583680" cy="9144"/>
          </a:xfrm>
          <a:prstGeom prst="roundRect">
            <a:avLst>
              <a:gd name="adj" fmla="val 1200000"/>
            </a:avLst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914400" y="21488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3154680" y="21488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5394960" y="21488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914400" y="2807208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3154680" y="2807208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5394960" y="2807208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live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914400" y="3465576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3154680" y="3465576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5394960" y="3465576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914400" y="4123944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/ she / it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3154680" y="4123944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5394960" y="4123944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914400" y="4782312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/ they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3154680" y="4782312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</a:t>
            </a:r>
            <a:endParaRPr lang="en-US" sz="2000" dirty="0"/>
          </a:p>
        </p:txBody>
      </p:sp>
      <p:sp>
        <p:nvSpPr>
          <p:cNvPr id="29" name="Text 25"/>
          <p:cNvSpPr/>
          <p:nvPr/>
        </p:nvSpPr>
        <p:spPr>
          <a:xfrm>
            <a:off x="5394960" y="4782312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</a:t>
            </a:r>
            <a:endParaRPr lang="en-US" sz="2000" dirty="0"/>
          </a:p>
        </p:txBody>
      </p:sp>
      <p:sp>
        <p:nvSpPr>
          <p:cNvPr id="30" name="Text 26"/>
          <p:cNvSpPr/>
          <p:nvPr/>
        </p:nvSpPr>
        <p:spPr>
          <a:xfrm>
            <a:off x="8046720" y="214884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· he / she / it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→ ______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→ ______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→ ______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→ ______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DB36F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Complete the rule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200" dirty="0"/>
          </a:p>
        </p:txBody>
      </p:sp>
      <p:pic>
        <p:nvPicPr>
          <p:cNvPr id="9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Grammar Bank 3A p.128 · answers · audio 3.5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503920" y="11887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DB36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ANSWERS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201168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3154680" y="201168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5394960" y="201168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914400" y="2670048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3154680" y="2670048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5394960" y="2670048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live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914400" y="3328416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3154680" y="3328416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5394960" y="3328416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live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914400" y="3986784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/ she / it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3154680" y="3986784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5394960" y="3986784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live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914400" y="4645152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/ they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3154680" y="4645152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5394960" y="4645152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live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804672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→ goes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→ has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→ studies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→ watches</a:t>
            </a:r>
            <a:endParaRPr lang="en-US" sz="2000" dirty="0"/>
          </a:p>
        </p:txBody>
      </p:sp>
      <p:sp>
        <p:nvSpPr>
          <p:cNvPr id="29" name="Text 25"/>
          <p:cNvSpPr/>
          <p:nvPr/>
        </p:nvSpPr>
        <p:spPr>
          <a:xfrm>
            <a:off x="8641080" y="493776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3.5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E94E8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turn: + or −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sentences. Use the verb in brackets.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le frasi con il verbo tra parentesi.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controlled practice (then Grammar Bank 3A p.129 ex. a, b)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914400" y="214884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My brother  lives  in Milan. (live)  e.g.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6309360" y="214884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 ___ coffee. (not drink)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914400" y="301752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Anna ___ glasses. (wear)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309360" y="301752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We ___ TV in the morning. (not watch)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914400" y="388620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The shop ___ at 8. (close)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6309360" y="388620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My dad ___ the guitar. (not play)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914400" y="475488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She ___ history. (study)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E94E8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turn: + or −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200" dirty="0"/>
          </a:p>
        </p:txBody>
      </p:sp>
      <p:pic>
        <p:nvPicPr>
          <p:cNvPr id="9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practice answers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8503920" y="11887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DB36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ANSWERS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201168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My brother </a:t>
            </a:r>
            <a:pPr indent="0" marL="0">
              <a:buNone/>
            </a:pPr>
            <a:r>
              <a:rPr lang="en-US" sz="1900" b="1" dirty="0">
                <a:solidFill>
                  <a:srgbClr val="2DB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</a:t>
            </a:r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Milan.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309360" y="201168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 </a:t>
            </a:r>
            <a:pPr indent="0" marL="0">
              <a:buNone/>
            </a:pPr>
            <a:r>
              <a:rPr lang="en-US" sz="1900" b="1" dirty="0">
                <a:solidFill>
                  <a:srgbClr val="2DB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drink</a:t>
            </a:r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coffee.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914400" y="288036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Anna </a:t>
            </a:r>
            <a:pPr indent="0" marL="0">
              <a:buNone/>
            </a:pPr>
            <a:r>
              <a:rPr lang="en-US" sz="1900" b="1" dirty="0">
                <a:solidFill>
                  <a:srgbClr val="2DB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wears</a:t>
            </a:r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glasses.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309360" y="288036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We </a:t>
            </a:r>
            <a:pPr indent="0" marL="0">
              <a:buNone/>
            </a:pPr>
            <a:r>
              <a:rPr lang="en-US" sz="1900" b="1" dirty="0">
                <a:solidFill>
                  <a:srgbClr val="2DB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watch</a:t>
            </a:r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TV in the morning.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914400" y="374904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The shop </a:t>
            </a:r>
            <a:pPr indent="0" marL="0">
              <a:buNone/>
            </a:pPr>
            <a:r>
              <a:rPr lang="en-US" sz="1900" b="1" dirty="0">
                <a:solidFill>
                  <a:srgbClr val="2DB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</a:t>
            </a:r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8.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6309360" y="374904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My dad </a:t>
            </a:r>
            <a:pPr indent="0" marL="0">
              <a:buNone/>
            </a:pPr>
            <a:r>
              <a:rPr lang="en-US" sz="1900" b="1" dirty="0">
                <a:solidFill>
                  <a:srgbClr val="2DB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play</a:t>
            </a:r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guitar.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914400" y="4617720"/>
            <a:ext cx="5120640" cy="685800"/>
          </a:xfrm>
          <a:prstGeom prst="roundRect">
            <a:avLst>
              <a:gd name="adj" fmla="val 16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She </a:t>
            </a:r>
            <a:pPr indent="0" marL="0">
              <a:buNone/>
            </a:pPr>
            <a:r>
              <a:rPr lang="en-US" sz="1900" b="1" dirty="0">
                <a:solidFill>
                  <a:srgbClr val="2DB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</a:t>
            </a:r>
            <a:pPr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history.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F8FE0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400800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-s: /s/ /z/ or /ɪz/?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🎧 3.6 and repeat. Then 🎧 3.7: change the sentence.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Ascolta e ripeti. Poi cambia la frase.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Pronunciation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3a–c · SB p.22 · audio 3.6, 3.7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19456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/s/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· stops · likes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434840" y="219456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🐝 /z/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· plays · reads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8046720" y="219456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E1EC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/ɪz/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· finishes · closes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822960" y="3977640"/>
            <a:ext cx="10515600" cy="640080"/>
          </a:xfrm>
          <a:prstGeom prst="roundRect">
            <a:avLst>
              <a:gd name="adj" fmla="val 17143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3.7  e.g.  I live in a flat. She… → </a:t>
            </a:r>
            <a:pPr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lives in a flat.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417320" y="493776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3.6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160520" y="493776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3.7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DB36F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5522976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 and my partner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your partner 6 true sentences: 3 + and 3 −. Use the phrases on p.153.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Di' al compagno 6 frasi vere: 3 positive e 3 negative.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3d–e · SB p.23 · VB p.153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19456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about you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play tennis.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don't wear glasses.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09360" y="219456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E1EC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new partner: about your first partner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plays tennis.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doesn't wear glasses.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822960" y="43434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verbs:  </a:t>
            </a:r>
            <a:pPr indent="0" marL="0">
              <a:buNone/>
            </a:pPr>
            <a:r>
              <a:rPr lang="en-US" sz="18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work · speak · play · watch · eat · drink · have · like · go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E94E8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6400800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truths and a lie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3 sentences about you: 2 true, 1 false. The class guesses the lie.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Scrivi 3 frasi su di te: 2 vere, 1 falsa. La classe indovina la bugia.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· game</a:t>
            </a:r>
            <a:endParaRPr lang="en-US" sz="1200" dirty="0"/>
          </a:p>
        </p:txBody>
      </p:sp>
      <p:pic>
        <p:nvPicPr>
          <p:cNvPr id="11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game (Quick activities A–Z)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" y="219456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28575">
            <a:solidFill>
              <a:srgbClr val="DFE9F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(the teacher)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 speak German.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 don't drink coffee.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I have a garden.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09360" y="219456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FFF8D6"/>
          </a:solidFill>
          <a:ln w="28575">
            <a:solidFill>
              <a:srgbClr val="FFD23F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 number 2 is the lie.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 he drinks coffee!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5760720"/>
            <a:ext cx="2377440" cy="2377440"/>
          </a:xfrm>
          <a:prstGeom prst="ellipse">
            <a:avLst/>
          </a:prstGeom>
          <a:solidFill>
            <a:srgbClr val="FFF4FA"/>
          </a:solidFill>
          <a:ln w="12700">
            <a:solidFill>
              <a:srgbClr val="FFF4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74320"/>
            <a:ext cx="868680" cy="868680"/>
          </a:xfrm>
          <a:prstGeom prst="ellipse">
            <a:avLst/>
          </a:prstGeom>
          <a:solidFill>
            <a:srgbClr val="2F8FE0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25880" y="347472"/>
            <a:ext cx="3182112" cy="73152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347472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7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· 2 · 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1170432"/>
            <a:ext cx="9144000" cy="457200"/>
          </a:xfrm>
          <a:prstGeom prst="rect">
            <a:avLst/>
          </a:prstGeom>
          <a:solidFill>
            <a:srgbClr val="FFE1EC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me…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104120" y="384048"/>
            <a:ext cx="1417320" cy="384048"/>
          </a:xfrm>
          <a:prstGeom prst="roundRect">
            <a:avLst>
              <a:gd name="adj" fmla="val 23810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pic>
        <p:nvPicPr>
          <p:cNvPr id="10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0" y="292608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6576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 · exit · homework: Workbook 3A + Grammar Bank 3A p.129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914400" y="2103120"/>
            <a:ext cx="10241280" cy="731520"/>
          </a:xfrm>
          <a:prstGeom prst="roundRect">
            <a:avLst>
              <a:gd name="adj" fmla="val 15000"/>
            </a:avLst>
          </a:prstGeom>
          <a:solidFill>
            <a:srgbClr val="FFE1EC"/>
          </a:solidFill>
          <a:ln w="28575">
            <a:solidFill>
              <a:srgbClr val="E94E8B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Tell me 3 verb phrases (e.g. watch TV).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14400" y="3017520"/>
            <a:ext cx="10241280" cy="731520"/>
          </a:xfrm>
          <a:prstGeom prst="roundRect">
            <a:avLst>
              <a:gd name="adj" fmla="val 15000"/>
            </a:avLst>
          </a:prstGeom>
          <a:solidFill>
            <a:srgbClr val="E3F1FD"/>
          </a:solidFill>
          <a:ln w="28575">
            <a:solidFill>
              <a:srgbClr val="2F8FE0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Tell me 2 things your partner does or doesn't do.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914400" y="3931920"/>
            <a:ext cx="10241280" cy="731520"/>
          </a:xfrm>
          <a:prstGeom prst="roundRect">
            <a:avLst>
              <a:gd name="adj" fmla="val 15000"/>
            </a:avLst>
          </a:prstGeom>
          <a:solidFill>
            <a:srgbClr val="E2F6EA"/>
          </a:solidFill>
          <a:ln w="28575">
            <a:solidFill>
              <a:srgbClr val="2DB36F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Tell me 1 thing you like about Britain or Italy.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914400" y="5029200"/>
            <a:ext cx="10241280" cy="640080"/>
          </a:xfrm>
          <a:prstGeom prst="roundRect">
            <a:avLst>
              <a:gd name="adj" fmla="val 17143"/>
            </a:avLst>
          </a:prstGeom>
          <a:solidFill>
            <a:srgbClr val="F1ECFD"/>
          </a:solidFill>
          <a:ln w="28575">
            <a:solidFill>
              <a:srgbClr val="CDBDF2"/>
            </a:solidFill>
          </a:ln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Homework: Workbook 3A · Grammar Bank 3A p.129 (a, b)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2026-10-31T08:40:52Z</dcterms:created>
  <dcterms:modified xsi:type="dcterms:W3CDTF">2026-10-31T08:40:52Z</dcterms:modified>
</cp:coreProperties>
</file>