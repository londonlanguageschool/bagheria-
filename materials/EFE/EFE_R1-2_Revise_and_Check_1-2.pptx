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Revision lesson. TG: page 1 = a mini-test out of 50 (grammar 15, vocabulary 25, pronunciation 10). Students score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Files 1 &amp; 2 (3 min)
ACTIVE RECAP (3 min). ⭐ meaning ⭐⭐ sentence ⭐⭐⭐ negative or question ('Are your sunglasses expensive?').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Grammar · SB p.20 · 1–8 (5 min)
MINI-TEST 1 (5 min). Key (TG): 1c 2a 3c 4b 5a 6b 7c 8a. Ask WHY after each one (5: short answer Yes, I am – never Yes, 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Grammar · SB p.20 · 9–15 (4 min)
MINI-TEST 2 (4 min). Key (TG): 9b 10b 11c 12a 13c 14b 15a. Italian speakers: adjective BEFORE the noun, never + s (difficult exercises, not difficults).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Banks 1A–2C · the rules (4 min)
RULES (4 min). After the test: one row = one rule. Students say the rule,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Game · grammar auction (6 min)
AUCTION (6 min). Teach auction (asta) and bid (offerta). Teams bid €50–€500; click to reveal. A wrong sentence loses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SB p.20 a, b (4 min)
VOCAB (4 min). Item 1 is the example. One click per gap. Key (TG): a 1 from 2 to 3 in 4 at 5 off · b 1 Read 2 Work 3 Stand 4 Open 5 Answer. Then do the instructions: 'Stand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 odd one out (4 min)
ODD ONE OUT (4 min). Item 1 is the example. Also in the book: door, school, window, wall (school – the others are part of a classroom) · book, magazine, newspaper, wallet (wallet – the others you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opposites (2 min)
OPPOSITES (2 min). Key (TG). Then: 'My phone is cheap' – partner says the opposite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Pronunciation · sounds (3 min)
SOUNDS (3 min). Drill the 8 sound words (a). Key (TG): email /iː/ · fast /ɑː/ · page /dʒ/ · sit /ɪ/ · tissues /ʃ/.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Pronunciation · word stress (2 min)
STRESS (2 min). Key (TG): 1 address 2 Italy 3 expensive 4 sunglasses 5 thirteen. thirTEEN vs THIRty!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Plan your trip to New York (6 min)
READING (6 min). The T/F statements are exactly as in the book. Find the imperatives in the text (Go, Buy, Don't rent, Slow down, Sit, take…) – they're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Listening · Can you understand these people? (5 min)
LISTENING (5 min). Play 2.18 twice. Key (TG): 1b 2c 3c, a 4c. Script: Mallini spells M-A-L-L-I-N-I · Olga: originally from Russia – Moscow · Mairi: M-A-I-R-I, from Edinburgh, in Scotland · Jake: 'I'm very tidy. On my desk I have all of my pencils and my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Can you say this in English? (6 min)
CAN-DO (6 min). Pairs do all the tasks; tick only what they can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Elementary · SB pp.20–21</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R1-2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Revise and Check 1&amp;2</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Files 1 and 2: test, games, New York, street interviews</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do a mini-test on Files 1 and 2</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revise numbers, countries, things and adjectives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practise sounds and word stress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tips for a trip to New York</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people in the street</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remember 'sunglasses', 'Switzerland' and 'Let's go!'</a:t>
            </a:r>
            <a:endParaRPr lang="en-US" sz="1000" dirty="0"/>
          </a:p>
        </p:txBody>
      </p:sp>
      <p:sp>
        <p:nvSpPr>
          <p:cNvPr id="14" name="pf_12"/>
          <p:cNvSpPr/>
          <p:nvPr/>
        </p:nvSpPr>
        <p:spPr>
          <a:xfrm rot="90000">
            <a:off x="4846320" y="1610201"/>
            <a:ext cx="3977640" cy="1534478"/>
          </a:xfrm>
          <a:prstGeom prst="roundRect">
            <a:avLst>
              <a:gd name="adj" fmla="val 1013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red_r12_centralpark_jpg_935x347_31.png">    </p:cNvPr>
          <p:cNvPicPr>
            <a:picLocks noChangeAspect="1"/>
          </p:cNvPicPr>
          <p:nvPr/>
        </p:nvPicPr>
        <p:blipFill>
          <a:blip r:embed="rId4"/>
          <a:stretch>
            <a:fillRect/>
          </a:stretch>
        </p:blipFill>
        <p:spPr>
          <a:xfrm rot="90000">
            <a:off x="4892040" y="1655921"/>
            <a:ext cx="3886200" cy="1443038"/>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Files 1 and 2: names, countries, numbers, things, colours… What can you remember?</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Remember?</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Revision · Files 1 &amp; 2</a:t>
            </a:r>
            <a:endParaRPr lang="en-US" sz="800" dirty="0"/>
          </a:p>
        </p:txBody>
      </p:sp>
      <p:sp>
        <p:nvSpPr>
          <p:cNvPr id="12" name="pf_26"/>
          <p:cNvSpPr/>
          <p:nvPr/>
        </p:nvSpPr>
        <p:spPr>
          <a:xfrm rot="-120000">
            <a:off x="365760" y="1805268"/>
            <a:ext cx="2651760" cy="778585"/>
          </a:xfrm>
          <a:prstGeom prst="roundRect">
            <a:avLst>
              <a:gd name="adj" fmla="val 1996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red_r12_people_jpg_616x165_31.png">    </p:cNvPr>
          <p:cNvPicPr>
            <a:picLocks noChangeAspect="1"/>
          </p:cNvPicPr>
          <p:nvPr/>
        </p:nvPicPr>
        <p:blipFill>
          <a:blip r:embed="rId5"/>
          <a:stretch>
            <a:fillRect/>
          </a:stretch>
        </p:blipFill>
        <p:spPr>
          <a:xfrm rot="-120000">
            <a:off x="411480" y="1850988"/>
            <a:ext cx="2560320" cy="687145"/>
          </a:xfrm>
          <a:prstGeom prst="rect">
            <a:avLst/>
          </a:prstGeom>
        </p:spPr>
      </p:pic>
      <p:sp>
        <p:nvSpPr>
          <p:cNvPr id="14" name="cd_28"/>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Files 1 &amp; 2</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be · possessives · a / an · adjectives · imperatives</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019556"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surname</a:t>
            </a:r>
            <a:endParaRPr lang="en-US" sz="1200" dirty="0"/>
          </a:p>
        </p:txBody>
      </p:sp>
      <p:sp>
        <p:nvSpPr>
          <p:cNvPr id="20" name="w_34"/>
          <p:cNvSpPr/>
          <p:nvPr/>
        </p:nvSpPr>
        <p:spPr>
          <a:xfrm>
            <a:off x="4357116" y="1783080"/>
            <a:ext cx="136702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Switzerland</a:t>
            </a:r>
            <a:endParaRPr lang="en-US" sz="1200" dirty="0"/>
          </a:p>
        </p:txBody>
      </p:sp>
      <p:sp>
        <p:nvSpPr>
          <p:cNvPr id="21" name="w_35"/>
          <p:cNvSpPr/>
          <p:nvPr/>
        </p:nvSpPr>
        <p:spPr>
          <a:xfrm>
            <a:off x="5815584" y="1783080"/>
            <a:ext cx="1280160"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sunglasses</a:t>
            </a:r>
            <a:endParaRPr lang="en-US" sz="1200" dirty="0"/>
          </a:p>
        </p:txBody>
      </p:sp>
      <p:sp>
        <p:nvSpPr>
          <p:cNvPr id="22" name="w_36"/>
          <p:cNvSpPr/>
          <p:nvPr/>
        </p:nvSpPr>
        <p:spPr>
          <a:xfrm>
            <a:off x="7187184" y="1783080"/>
            <a:ext cx="932688"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wallet</a:t>
            </a:r>
            <a:endParaRPr lang="en-US" sz="1200" dirty="0"/>
          </a:p>
        </p:txBody>
      </p:sp>
      <p:sp>
        <p:nvSpPr>
          <p:cNvPr id="23" name="w_37"/>
          <p:cNvSpPr/>
          <p:nvPr/>
        </p:nvSpPr>
        <p:spPr>
          <a:xfrm>
            <a:off x="3246120" y="2185416"/>
            <a:ext cx="1280160"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headphones</a:t>
            </a:r>
            <a:endParaRPr lang="en-US" sz="1200" dirty="0"/>
          </a:p>
        </p:txBody>
      </p:sp>
      <p:sp>
        <p:nvSpPr>
          <p:cNvPr id="24" name="w_38"/>
          <p:cNvSpPr/>
          <p:nvPr/>
        </p:nvSpPr>
        <p:spPr>
          <a:xfrm>
            <a:off x="4617720" y="2185416"/>
            <a:ext cx="758952"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tidy</a:t>
            </a:r>
            <a:endParaRPr lang="en-US" sz="1200" dirty="0"/>
          </a:p>
        </p:txBody>
      </p:sp>
      <p:sp>
        <p:nvSpPr>
          <p:cNvPr id="25" name="w_39"/>
          <p:cNvSpPr/>
          <p:nvPr/>
        </p:nvSpPr>
        <p:spPr>
          <a:xfrm>
            <a:off x="5468112" y="2185416"/>
            <a:ext cx="1193292"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expensive</a:t>
            </a:r>
            <a:endParaRPr lang="en-US" sz="1200" dirty="0"/>
          </a:p>
        </p:txBody>
      </p:sp>
      <p:sp>
        <p:nvSpPr>
          <p:cNvPr id="26" name="w_40"/>
          <p:cNvSpPr/>
          <p:nvPr/>
        </p:nvSpPr>
        <p:spPr>
          <a:xfrm>
            <a:off x="6752844" y="2185416"/>
            <a:ext cx="1106424"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stressed</a:t>
            </a:r>
            <a:endParaRPr lang="en-US" sz="1200" dirty="0"/>
          </a:p>
        </p:txBody>
      </p:sp>
      <p:sp>
        <p:nvSpPr>
          <p:cNvPr id="27" name="lv_41"/>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4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Grammar test (1)</a:t>
            </a:r>
            <a:endParaRPr lang="en-US" sz="2500" dirty="0"/>
          </a:p>
        </p:txBody>
      </p:sp>
      <p:pic>
        <p:nvPicPr>
          <p:cNvPr id="6" name="brP_47"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48"/>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Mini-test! Choose a, b or c. Alone – 4 minutes.</a:t>
            </a:r>
            <a:endParaRPr lang="en-US" sz="1250" dirty="0"/>
          </a:p>
        </p:txBody>
      </p:sp>
      <p:sp>
        <p:nvSpPr>
          <p:cNvPr id="8" name="insIT_4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Mini-test! Scegli a, b o c. Da soli – 4 minuti.</a:t>
            </a:r>
            <a:endParaRPr lang="en-US" sz="950" dirty="0"/>
          </a:p>
        </p:txBody>
      </p:sp>
      <p:sp>
        <p:nvSpPr>
          <p:cNvPr id="9" name="note_5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5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Grammar · SB p.20 · 1–8   ·   📖 SB p.20 · Grammar 1–8 (TG key)</a:t>
            </a:r>
            <a:endParaRPr lang="en-US" sz="800" dirty="0"/>
          </a:p>
        </p:txBody>
      </p:sp>
      <p:sp>
        <p:nvSpPr>
          <p:cNvPr id="12" name="cd_53"/>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54"/>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Circle a, b or c</a:t>
            </a:r>
            <a:endParaRPr lang="en-US" sz="1700" dirty="0"/>
          </a:p>
        </p:txBody>
      </p:sp>
      <p:sp>
        <p:nvSpPr>
          <p:cNvPr id="14" name="ln_55"/>
          <p:cNvSpPr/>
          <p:nvPr/>
        </p:nvSpPr>
        <p:spPr>
          <a:xfrm>
            <a:off x="548640" y="1920240"/>
            <a:ext cx="5349240" cy="314878"/>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  Hello. </a:t>
            </a:r>
            <a:pPr indent="0" marL="0">
              <a:buNone/>
            </a:pPr>
            <a:r>
              <a:rPr lang="en-US" sz="1050" b="1" dirty="0">
                <a:solidFill>
                  <a:srgbClr val="2EB872"/>
                </a:solidFill>
                <a:latin typeface="Georgia" pitchFamily="34" charset="0"/>
                <a:ea typeface="Georgia" pitchFamily="34" charset="-122"/>
                <a:cs typeface="Georgia" pitchFamily="34" charset="-120"/>
              </a:rPr>
              <a:t> (1) ________ </a:t>
            </a:r>
            <a:pPr indent="0" marL="0">
              <a:buNone/>
            </a:pPr>
            <a:r>
              <a:rPr lang="en-US" sz="1050" dirty="0">
                <a:solidFill>
                  <a:srgbClr val="1B2559"/>
                </a:solidFill>
                <a:latin typeface="Georgia" pitchFamily="34" charset="0"/>
                <a:ea typeface="Georgia" pitchFamily="34" charset="-122"/>
                <a:cs typeface="Georgia" pitchFamily="34" charset="-120"/>
              </a:rPr>
              <a:t> your name?  (a What · b What are · c What's)</a:t>
            </a:r>
            <a:endParaRPr lang="en-US" sz="1050" dirty="0"/>
          </a:p>
        </p:txBody>
      </p:sp>
      <p:sp>
        <p:nvSpPr>
          <p:cNvPr id="15" name="R1_lnA56"/>
          <p:cNvSpPr/>
          <p:nvPr/>
        </p:nvSpPr>
        <p:spPr>
          <a:xfrm>
            <a:off x="548640" y="1920240"/>
            <a:ext cx="5349240" cy="314878"/>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  Hello.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c  What's</a:t>
            </a:r>
            <a:pPr indent="0" marL="0">
              <a:buNone/>
            </a:pPr>
            <a:r>
              <a:rPr lang="en-US" sz="1050" dirty="0">
                <a:solidFill>
                  <a:srgbClr val="1B2559"/>
                </a:solidFill>
                <a:latin typeface="Georgia" pitchFamily="34" charset="0"/>
                <a:ea typeface="Georgia" pitchFamily="34" charset="-122"/>
                <a:cs typeface="Georgia" pitchFamily="34" charset="-120"/>
              </a:rPr>
              <a:t> your name?  (a What · b What are · c What's)</a:t>
            </a:r>
            <a:endParaRPr lang="en-US" sz="1050" dirty="0"/>
          </a:p>
        </p:txBody>
      </p:sp>
      <p:sp>
        <p:nvSpPr>
          <p:cNvPr id="16" name="ln_57"/>
          <p:cNvSpPr/>
          <p:nvPr/>
        </p:nvSpPr>
        <p:spPr>
          <a:xfrm>
            <a:off x="548640" y="2235118"/>
            <a:ext cx="5349240" cy="332871"/>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2  Maria is German. </a:t>
            </a:r>
            <a:pPr indent="0" marL="0">
              <a:buNone/>
            </a:pPr>
            <a:r>
              <a:rPr lang="en-US" sz="1050" b="1" dirty="0">
                <a:solidFill>
                  <a:srgbClr val="2EB872"/>
                </a:solidFill>
                <a:latin typeface="Georgia" pitchFamily="34" charset="0"/>
                <a:ea typeface="Georgia" pitchFamily="34" charset="-122"/>
                <a:cs typeface="Georgia" pitchFamily="34" charset="-120"/>
              </a:rPr>
              <a:t> (2) ________ </a:t>
            </a:r>
            <a:pPr indent="0" marL="0">
              <a:buNone/>
            </a:pPr>
            <a:r>
              <a:rPr lang="en-US" sz="1050" dirty="0">
                <a:solidFill>
                  <a:srgbClr val="1B2559"/>
                </a:solidFill>
                <a:latin typeface="Georgia" pitchFamily="34" charset="0"/>
                <a:ea typeface="Georgia" pitchFamily="34" charset="-122"/>
                <a:cs typeface="Georgia" pitchFamily="34" charset="-120"/>
              </a:rPr>
              <a:t> a student.  (a She's · b He's · c It's)</a:t>
            </a:r>
            <a:endParaRPr lang="en-US" sz="1050" dirty="0"/>
          </a:p>
        </p:txBody>
      </p:sp>
      <p:sp>
        <p:nvSpPr>
          <p:cNvPr id="17" name="R2_lnA58"/>
          <p:cNvSpPr/>
          <p:nvPr/>
        </p:nvSpPr>
        <p:spPr>
          <a:xfrm>
            <a:off x="548640" y="2235118"/>
            <a:ext cx="5349240" cy="332871"/>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2  Maria is German.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a  She's</a:t>
            </a:r>
            <a:pPr indent="0" marL="0">
              <a:buNone/>
            </a:pPr>
            <a:r>
              <a:rPr lang="en-US" sz="1050" dirty="0">
                <a:solidFill>
                  <a:srgbClr val="1B2559"/>
                </a:solidFill>
                <a:latin typeface="Georgia" pitchFamily="34" charset="0"/>
                <a:ea typeface="Georgia" pitchFamily="34" charset="-122"/>
                <a:cs typeface="Georgia" pitchFamily="34" charset="-120"/>
              </a:rPr>
              <a:t> a student.  (a She's · b He's · c It's)</a:t>
            </a:r>
            <a:endParaRPr lang="en-US" sz="1050" dirty="0"/>
          </a:p>
        </p:txBody>
      </p:sp>
      <p:sp>
        <p:nvSpPr>
          <p:cNvPr id="18" name="ln_59"/>
          <p:cNvSpPr/>
          <p:nvPr/>
        </p:nvSpPr>
        <p:spPr>
          <a:xfrm>
            <a:off x="548640" y="2567989"/>
            <a:ext cx="5349240" cy="355362"/>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3  A Where </a:t>
            </a:r>
            <a:pPr indent="0" marL="0">
              <a:buNone/>
            </a:pPr>
            <a:r>
              <a:rPr lang="en-US" sz="1050" b="1" dirty="0">
                <a:solidFill>
                  <a:srgbClr val="2EB872"/>
                </a:solidFill>
                <a:latin typeface="Georgia" pitchFamily="34" charset="0"/>
                <a:ea typeface="Georgia" pitchFamily="34" charset="-122"/>
                <a:cs typeface="Georgia" pitchFamily="34" charset="-120"/>
              </a:rPr>
              <a:t> (3) ________ </a:t>
            </a:r>
            <a:pPr indent="0" marL="0">
              <a:buNone/>
            </a:pPr>
            <a:r>
              <a:rPr lang="en-US" sz="1050" dirty="0">
                <a:solidFill>
                  <a:srgbClr val="1B2559"/>
                </a:solidFill>
                <a:latin typeface="Georgia" pitchFamily="34" charset="0"/>
                <a:ea typeface="Georgia" pitchFamily="34" charset="-122"/>
                <a:cs typeface="Georgia" pitchFamily="34" charset="-120"/>
              </a:rPr>
              <a:t> from? B He's from Turkey.  (a he is · b is · c is he)</a:t>
            </a:r>
            <a:endParaRPr lang="en-US" sz="1050" dirty="0"/>
          </a:p>
        </p:txBody>
      </p:sp>
      <p:sp>
        <p:nvSpPr>
          <p:cNvPr id="19" name="R3_lnA60"/>
          <p:cNvSpPr/>
          <p:nvPr/>
        </p:nvSpPr>
        <p:spPr>
          <a:xfrm>
            <a:off x="548640" y="2567989"/>
            <a:ext cx="5349240" cy="355362"/>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3  A Where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c  is he</a:t>
            </a:r>
            <a:pPr indent="0" marL="0">
              <a:buNone/>
            </a:pPr>
            <a:r>
              <a:rPr lang="en-US" sz="1050" dirty="0">
                <a:solidFill>
                  <a:srgbClr val="1B2559"/>
                </a:solidFill>
                <a:latin typeface="Georgia" pitchFamily="34" charset="0"/>
                <a:ea typeface="Georgia" pitchFamily="34" charset="-122"/>
                <a:cs typeface="Georgia" pitchFamily="34" charset="-120"/>
              </a:rPr>
              <a:t> from? B He's from Turkey.  (a he is · b is · c is he)</a:t>
            </a:r>
            <a:endParaRPr lang="en-US" sz="1050" dirty="0"/>
          </a:p>
        </p:txBody>
      </p:sp>
      <p:sp>
        <p:nvSpPr>
          <p:cNvPr id="20" name="ln_61"/>
          <p:cNvSpPr/>
          <p:nvPr/>
        </p:nvSpPr>
        <p:spPr>
          <a:xfrm>
            <a:off x="548640" y="2923352"/>
            <a:ext cx="5349240" cy="377854"/>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4  They </a:t>
            </a:r>
            <a:pPr indent="0" marL="0">
              <a:buNone/>
            </a:pPr>
            <a:r>
              <a:rPr lang="en-US" sz="1050" b="1" dirty="0">
                <a:solidFill>
                  <a:srgbClr val="2EB872"/>
                </a:solidFill>
                <a:latin typeface="Georgia" pitchFamily="34" charset="0"/>
                <a:ea typeface="Georgia" pitchFamily="34" charset="-122"/>
                <a:cs typeface="Georgia" pitchFamily="34" charset="-120"/>
              </a:rPr>
              <a:t> (4) ________ </a:t>
            </a:r>
            <a:pPr indent="0" marL="0">
              <a:buNone/>
            </a:pPr>
            <a:r>
              <a:rPr lang="en-US" sz="1050" dirty="0">
                <a:solidFill>
                  <a:srgbClr val="1B2559"/>
                </a:solidFill>
                <a:latin typeface="Georgia" pitchFamily="34" charset="0"/>
                <a:ea typeface="Georgia" pitchFamily="34" charset="-122"/>
                <a:cs typeface="Georgia" pitchFamily="34" charset="-120"/>
              </a:rPr>
              <a:t> English, they're Scottish.  (a isn't · b aren't · c not are)</a:t>
            </a:r>
            <a:endParaRPr lang="en-US" sz="1050" dirty="0"/>
          </a:p>
        </p:txBody>
      </p:sp>
      <p:sp>
        <p:nvSpPr>
          <p:cNvPr id="21" name="R4_lnA62"/>
          <p:cNvSpPr/>
          <p:nvPr/>
        </p:nvSpPr>
        <p:spPr>
          <a:xfrm>
            <a:off x="548640" y="2923352"/>
            <a:ext cx="5349240" cy="377854"/>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4  They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b  aren't</a:t>
            </a:r>
            <a:pPr indent="0" marL="0">
              <a:buNone/>
            </a:pPr>
            <a:r>
              <a:rPr lang="en-US" sz="1050" dirty="0">
                <a:solidFill>
                  <a:srgbClr val="1B2559"/>
                </a:solidFill>
                <a:latin typeface="Georgia" pitchFamily="34" charset="0"/>
                <a:ea typeface="Georgia" pitchFamily="34" charset="-122"/>
                <a:cs typeface="Georgia" pitchFamily="34" charset="-120"/>
              </a:rPr>
              <a:t> English, they're Scottish.  (a isn't · b aren't · c not are)</a:t>
            </a:r>
            <a:endParaRPr lang="en-US" sz="1050" dirty="0"/>
          </a:p>
        </p:txBody>
      </p:sp>
      <p:sp>
        <p:nvSpPr>
          <p:cNvPr id="22" name="ln_63"/>
          <p:cNvSpPr/>
          <p:nvPr/>
        </p:nvSpPr>
        <p:spPr>
          <a:xfrm>
            <a:off x="548640" y="3301205"/>
            <a:ext cx="5349240" cy="332871"/>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5  A Are you from Paris? B Yes, </a:t>
            </a:r>
            <a:pPr indent="0" marL="0">
              <a:buNone/>
            </a:pPr>
            <a:r>
              <a:rPr lang="en-US" sz="1050" b="1" dirty="0">
                <a:solidFill>
                  <a:srgbClr val="2EB872"/>
                </a:solidFill>
                <a:latin typeface="Georgia" pitchFamily="34" charset="0"/>
                <a:ea typeface="Georgia" pitchFamily="34" charset="-122"/>
                <a:cs typeface="Georgia" pitchFamily="34" charset="-120"/>
              </a:rPr>
              <a:t> (5) ________ </a:t>
            </a:r>
            <a:pPr indent="0" marL="0">
              <a:buNone/>
            </a:pPr>
            <a:r>
              <a:rPr lang="en-US" sz="1050" dirty="0">
                <a:solidFill>
                  <a:srgbClr val="1B2559"/>
                </a:solidFill>
                <a:latin typeface="Georgia" pitchFamily="34" charset="0"/>
                <a:ea typeface="Georgia" pitchFamily="34" charset="-122"/>
                <a:cs typeface="Georgia" pitchFamily="34" charset="-120"/>
              </a:rPr>
              <a:t>.  (a I am · b I'm · c I are)</a:t>
            </a:r>
            <a:endParaRPr lang="en-US" sz="1050" dirty="0"/>
          </a:p>
        </p:txBody>
      </p:sp>
      <p:sp>
        <p:nvSpPr>
          <p:cNvPr id="23" name="R5_lnA64"/>
          <p:cNvSpPr/>
          <p:nvPr/>
        </p:nvSpPr>
        <p:spPr>
          <a:xfrm>
            <a:off x="548640" y="3301205"/>
            <a:ext cx="5349240" cy="332871"/>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5  A Are you from Paris? B Yes,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a  I am</a:t>
            </a:r>
            <a:pPr indent="0" marL="0">
              <a:buNone/>
            </a:pPr>
            <a:r>
              <a:rPr lang="en-US" sz="1050" dirty="0">
                <a:solidFill>
                  <a:srgbClr val="1B2559"/>
                </a:solidFill>
                <a:latin typeface="Georgia" pitchFamily="34" charset="0"/>
                <a:ea typeface="Georgia" pitchFamily="34" charset="-122"/>
                <a:cs typeface="Georgia" pitchFamily="34" charset="-120"/>
              </a:rPr>
              <a:t>.  (a I am · b I'm · c I are)</a:t>
            </a:r>
            <a:endParaRPr lang="en-US" sz="1050" dirty="0"/>
          </a:p>
        </p:txBody>
      </p:sp>
      <p:sp>
        <p:nvSpPr>
          <p:cNvPr id="24" name="ln_65"/>
          <p:cNvSpPr/>
          <p:nvPr/>
        </p:nvSpPr>
        <p:spPr>
          <a:xfrm>
            <a:off x="548640" y="3634076"/>
            <a:ext cx="5349240" cy="332871"/>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6  She's Brazilian. </a:t>
            </a:r>
            <a:pPr indent="0" marL="0">
              <a:buNone/>
            </a:pPr>
            <a:r>
              <a:rPr lang="en-US" sz="1050" b="1" dirty="0">
                <a:solidFill>
                  <a:srgbClr val="2EB872"/>
                </a:solidFill>
                <a:latin typeface="Georgia" pitchFamily="34" charset="0"/>
                <a:ea typeface="Georgia" pitchFamily="34" charset="-122"/>
                <a:cs typeface="Georgia" pitchFamily="34" charset="-120"/>
              </a:rPr>
              <a:t> (6) ________ </a:t>
            </a:r>
            <a:pPr indent="0" marL="0">
              <a:buNone/>
            </a:pPr>
            <a:r>
              <a:rPr lang="en-US" sz="1050" dirty="0">
                <a:solidFill>
                  <a:srgbClr val="1B2559"/>
                </a:solidFill>
                <a:latin typeface="Georgia" pitchFamily="34" charset="0"/>
                <a:ea typeface="Georgia" pitchFamily="34" charset="-122"/>
                <a:cs typeface="Georgia" pitchFamily="34" charset="-120"/>
              </a:rPr>
              <a:t> name's Daniela.  (a His · b Her · c Your)</a:t>
            </a:r>
            <a:endParaRPr lang="en-US" sz="1050" dirty="0"/>
          </a:p>
        </p:txBody>
      </p:sp>
      <p:sp>
        <p:nvSpPr>
          <p:cNvPr id="25" name="R6_lnA66"/>
          <p:cNvSpPr/>
          <p:nvPr/>
        </p:nvSpPr>
        <p:spPr>
          <a:xfrm>
            <a:off x="548640" y="3634076"/>
            <a:ext cx="5349240" cy="332871"/>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6  She's Brazilian.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b  Her</a:t>
            </a:r>
            <a:pPr indent="0" marL="0">
              <a:buNone/>
            </a:pPr>
            <a:r>
              <a:rPr lang="en-US" sz="1050" dirty="0">
                <a:solidFill>
                  <a:srgbClr val="1B2559"/>
                </a:solidFill>
                <a:latin typeface="Georgia" pitchFamily="34" charset="0"/>
                <a:ea typeface="Georgia" pitchFamily="34" charset="-122"/>
                <a:cs typeface="Georgia" pitchFamily="34" charset="-120"/>
              </a:rPr>
              <a:t> name's Daniela.  (a His · b Her · c Your)</a:t>
            </a:r>
            <a:endParaRPr lang="en-US" sz="1050" dirty="0"/>
          </a:p>
        </p:txBody>
      </p:sp>
      <p:sp>
        <p:nvSpPr>
          <p:cNvPr id="26" name="ln_67"/>
          <p:cNvSpPr/>
          <p:nvPr/>
        </p:nvSpPr>
        <p:spPr>
          <a:xfrm>
            <a:off x="548640" y="3966947"/>
            <a:ext cx="5349240" cy="368857"/>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7  We're from the USA. </a:t>
            </a:r>
            <a:pPr indent="0" marL="0">
              <a:buNone/>
            </a:pPr>
            <a:r>
              <a:rPr lang="en-US" sz="1050" b="1" dirty="0">
                <a:solidFill>
                  <a:srgbClr val="2EB872"/>
                </a:solidFill>
                <a:latin typeface="Georgia" pitchFamily="34" charset="0"/>
                <a:ea typeface="Georgia" pitchFamily="34" charset="-122"/>
                <a:cs typeface="Georgia" pitchFamily="34" charset="-120"/>
              </a:rPr>
              <a:t> (7) ________ </a:t>
            </a:r>
            <a:pPr indent="0" marL="0">
              <a:buNone/>
            </a:pPr>
            <a:r>
              <a:rPr lang="en-US" sz="1050" dirty="0">
                <a:solidFill>
                  <a:srgbClr val="1B2559"/>
                </a:solidFill>
                <a:latin typeface="Georgia" pitchFamily="34" charset="0"/>
                <a:ea typeface="Georgia" pitchFamily="34" charset="-122"/>
                <a:cs typeface="Georgia" pitchFamily="34" charset="-120"/>
              </a:rPr>
              <a:t> surname is Mackay.  (a Your · b Their · c Our)</a:t>
            </a:r>
            <a:endParaRPr lang="en-US" sz="1050" dirty="0"/>
          </a:p>
        </p:txBody>
      </p:sp>
      <p:sp>
        <p:nvSpPr>
          <p:cNvPr id="27" name="R7_lnA68"/>
          <p:cNvSpPr/>
          <p:nvPr/>
        </p:nvSpPr>
        <p:spPr>
          <a:xfrm>
            <a:off x="548640" y="3966947"/>
            <a:ext cx="5349240" cy="368857"/>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7  We're from the USA.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c  Our</a:t>
            </a:r>
            <a:pPr indent="0" marL="0">
              <a:buNone/>
            </a:pPr>
            <a:r>
              <a:rPr lang="en-US" sz="1050" dirty="0">
                <a:solidFill>
                  <a:srgbClr val="1B2559"/>
                </a:solidFill>
                <a:latin typeface="Georgia" pitchFamily="34" charset="0"/>
                <a:ea typeface="Georgia" pitchFamily="34" charset="-122"/>
                <a:cs typeface="Georgia" pitchFamily="34" charset="-120"/>
              </a:rPr>
              <a:t> surname is Mackay.  (a Your · b Their · c Our)</a:t>
            </a:r>
            <a:endParaRPr lang="en-US" sz="1050" dirty="0"/>
          </a:p>
        </p:txBody>
      </p:sp>
      <p:sp>
        <p:nvSpPr>
          <p:cNvPr id="28" name="ln_69"/>
          <p:cNvSpPr/>
          <p:nvPr/>
        </p:nvSpPr>
        <p:spPr>
          <a:xfrm>
            <a:off x="548640" y="4335805"/>
            <a:ext cx="5349240" cy="373355"/>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8  A What are they? B They're </a:t>
            </a:r>
            <a:pPr indent="0" marL="0">
              <a:buNone/>
            </a:pPr>
            <a:r>
              <a:rPr lang="en-US" sz="1050" b="1" dirty="0">
                <a:solidFill>
                  <a:srgbClr val="2EB872"/>
                </a:solidFill>
                <a:latin typeface="Georgia" pitchFamily="34" charset="0"/>
                <a:ea typeface="Georgia" pitchFamily="34" charset="-122"/>
                <a:cs typeface="Georgia" pitchFamily="34" charset="-120"/>
              </a:rPr>
              <a:t> (8) ________ </a:t>
            </a:r>
            <a:pPr indent="0" marL="0">
              <a:buNone/>
            </a:pPr>
            <a:r>
              <a:rPr lang="en-US" sz="1050" dirty="0">
                <a:solidFill>
                  <a:srgbClr val="1B2559"/>
                </a:solidFill>
                <a:latin typeface="Georgia" pitchFamily="34" charset="0"/>
                <a:ea typeface="Georgia" pitchFamily="34" charset="-122"/>
                <a:cs typeface="Georgia" pitchFamily="34" charset="-120"/>
              </a:rPr>
              <a:t>.  (a watches · b a watch · c watchs)</a:t>
            </a:r>
            <a:endParaRPr lang="en-US" sz="1050" dirty="0"/>
          </a:p>
        </p:txBody>
      </p:sp>
      <p:sp>
        <p:nvSpPr>
          <p:cNvPr id="29" name="R8_lnA70"/>
          <p:cNvSpPr/>
          <p:nvPr/>
        </p:nvSpPr>
        <p:spPr>
          <a:xfrm>
            <a:off x="548640" y="4335805"/>
            <a:ext cx="5349240" cy="373355"/>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8  A What are they? B They're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a  watches</a:t>
            </a:r>
            <a:pPr indent="0" marL="0">
              <a:buNone/>
            </a:pPr>
            <a:r>
              <a:rPr lang="en-US" sz="1050" dirty="0">
                <a:solidFill>
                  <a:srgbClr val="1B2559"/>
                </a:solidFill>
                <a:latin typeface="Georgia" pitchFamily="34" charset="0"/>
                <a:ea typeface="Georgia" pitchFamily="34" charset="-122"/>
                <a:cs typeface="Georgia" pitchFamily="34" charset="-120"/>
              </a:rPr>
              <a:t>.  (a watches · b a watch · c watchs)</a:t>
            </a:r>
            <a:endParaRPr lang="en-US" sz="1050" dirty="0"/>
          </a:p>
        </p:txBody>
      </p:sp>
      <p:sp>
        <p:nvSpPr>
          <p:cNvPr id="30" name="cd_71"/>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1" name="ii_72"/>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ih_73"/>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3" name="il_74"/>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Alone · no talking</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1 point each · ___ / 15</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6"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77"/>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Grammar test (2)</a:t>
            </a:r>
            <a:endParaRPr lang="en-US" sz="2500" dirty="0"/>
          </a:p>
        </p:txBody>
      </p:sp>
      <p:pic>
        <p:nvPicPr>
          <p:cNvPr id="6" name="brP_78"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79"/>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Mini-test! Choose a, b or c. Then count your score.</a:t>
            </a:r>
            <a:endParaRPr lang="en-US" sz="1250" dirty="0"/>
          </a:p>
        </p:txBody>
      </p:sp>
      <p:sp>
        <p:nvSpPr>
          <p:cNvPr id="8" name="insIT_8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Mini-test! Scegli a, b o c. Poi conta i punti.</a:t>
            </a:r>
            <a:endParaRPr lang="en-US" sz="950" dirty="0"/>
          </a:p>
        </p:txBody>
      </p:sp>
      <p:sp>
        <p:nvSpPr>
          <p:cNvPr id="9" name="note_8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Grammar · SB p.20 · 9–15   ·   📖 SB p.20 · Grammar 9–15 (TG key)</a:t>
            </a:r>
            <a:endParaRPr lang="en-US" sz="800" dirty="0"/>
          </a:p>
        </p:txBody>
      </p:sp>
      <p:sp>
        <p:nvSpPr>
          <p:cNvPr id="12" name="cd_84"/>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8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Circle a, b or c</a:t>
            </a:r>
            <a:endParaRPr lang="en-US" sz="1700" dirty="0"/>
          </a:p>
        </p:txBody>
      </p:sp>
      <p:sp>
        <p:nvSpPr>
          <p:cNvPr id="14" name="ln_86"/>
          <p:cNvSpPr/>
          <p:nvPr/>
        </p:nvSpPr>
        <p:spPr>
          <a:xfrm>
            <a:off x="548640" y="1920240"/>
            <a:ext cx="5349240" cy="402248"/>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9  A What is it? B It's </a:t>
            </a:r>
            <a:pPr indent="0" marL="0">
              <a:buNone/>
            </a:pPr>
            <a:r>
              <a:rPr lang="en-US" sz="1050" b="1" dirty="0">
                <a:solidFill>
                  <a:srgbClr val="2EB872"/>
                </a:solidFill>
                <a:latin typeface="Georgia" pitchFamily="34" charset="0"/>
                <a:ea typeface="Georgia" pitchFamily="34" charset="-122"/>
                <a:cs typeface="Georgia" pitchFamily="34" charset="-120"/>
              </a:rPr>
              <a:t> (9) ________ </a:t>
            </a:r>
            <a:pPr indent="0" marL="0">
              <a:buNone/>
            </a:pPr>
            <a:r>
              <a:rPr lang="en-US" sz="1050" dirty="0">
                <a:solidFill>
                  <a:srgbClr val="1B2559"/>
                </a:solidFill>
                <a:latin typeface="Georgia" pitchFamily="34" charset="0"/>
                <a:ea typeface="Georgia" pitchFamily="34" charset="-122"/>
                <a:cs typeface="Georgia" pitchFamily="34" charset="-120"/>
              </a:rPr>
              <a:t>.  (a a umbrella · b an umbrella · c umbrella)</a:t>
            </a:r>
            <a:endParaRPr lang="en-US" sz="1050" dirty="0"/>
          </a:p>
        </p:txBody>
      </p:sp>
      <p:sp>
        <p:nvSpPr>
          <p:cNvPr id="15" name="R1_lnA87"/>
          <p:cNvSpPr/>
          <p:nvPr/>
        </p:nvSpPr>
        <p:spPr>
          <a:xfrm>
            <a:off x="548640" y="1920240"/>
            <a:ext cx="5349240" cy="402248"/>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9  A What is it? B It's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b  an umbrella</a:t>
            </a:r>
            <a:pPr indent="0" marL="0">
              <a:buNone/>
            </a:pPr>
            <a:r>
              <a:rPr lang="en-US" sz="1050" dirty="0">
                <a:solidFill>
                  <a:srgbClr val="1B2559"/>
                </a:solidFill>
                <a:latin typeface="Georgia" pitchFamily="34" charset="0"/>
                <a:ea typeface="Georgia" pitchFamily="34" charset="-122"/>
                <a:cs typeface="Georgia" pitchFamily="34" charset="-120"/>
              </a:rPr>
              <a:t>.  (a a umbrella · b an umbrella · c umbrella)</a:t>
            </a:r>
            <a:endParaRPr lang="en-US" sz="1050" dirty="0"/>
          </a:p>
        </p:txBody>
      </p:sp>
      <p:sp>
        <p:nvSpPr>
          <p:cNvPr id="16" name="ln_88"/>
          <p:cNvSpPr/>
          <p:nvPr/>
        </p:nvSpPr>
        <p:spPr>
          <a:xfrm>
            <a:off x="548640" y="2322488"/>
            <a:ext cx="5349240" cy="393309"/>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10  It's an </a:t>
            </a:r>
            <a:pPr indent="0" marL="0">
              <a:buNone/>
            </a:pPr>
            <a:r>
              <a:rPr lang="en-US" sz="1050" b="1" dirty="0">
                <a:solidFill>
                  <a:srgbClr val="2EB872"/>
                </a:solidFill>
                <a:latin typeface="Georgia" pitchFamily="34" charset="0"/>
                <a:ea typeface="Georgia" pitchFamily="34" charset="-122"/>
                <a:cs typeface="Georgia" pitchFamily="34" charset="-120"/>
              </a:rPr>
              <a:t> (10) ________ </a:t>
            </a:r>
            <a:pPr indent="0" marL="0">
              <a:buNone/>
            </a:pPr>
            <a:r>
              <a:rPr lang="en-US" sz="1050" dirty="0">
                <a:solidFill>
                  <a:srgbClr val="1B2559"/>
                </a:solidFill>
                <a:latin typeface="Georgia" pitchFamily="34" charset="0"/>
                <a:ea typeface="Georgia" pitchFamily="34" charset="-122"/>
                <a:cs typeface="Georgia" pitchFamily="34" charset="-120"/>
              </a:rPr>
              <a:t>.  (a animal ugly · b ugly animal · c beautiful animal)</a:t>
            </a:r>
            <a:endParaRPr lang="en-US" sz="1050" dirty="0"/>
          </a:p>
        </p:txBody>
      </p:sp>
      <p:sp>
        <p:nvSpPr>
          <p:cNvPr id="17" name="R2_lnA89"/>
          <p:cNvSpPr/>
          <p:nvPr/>
        </p:nvSpPr>
        <p:spPr>
          <a:xfrm>
            <a:off x="548640" y="2322488"/>
            <a:ext cx="5349240" cy="393309"/>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10  It's an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b  ugly animal</a:t>
            </a:r>
            <a:pPr indent="0" marL="0">
              <a:buNone/>
            </a:pPr>
            <a:r>
              <a:rPr lang="en-US" sz="1050" dirty="0">
                <a:solidFill>
                  <a:srgbClr val="1B2559"/>
                </a:solidFill>
                <a:latin typeface="Georgia" pitchFamily="34" charset="0"/>
                <a:ea typeface="Georgia" pitchFamily="34" charset="-122"/>
                <a:cs typeface="Georgia" pitchFamily="34" charset="-120"/>
              </a:rPr>
              <a:t>.  (a animal ugly · b ugly animal · c beautiful animal)</a:t>
            </a:r>
            <a:endParaRPr lang="en-US" sz="1050" dirty="0"/>
          </a:p>
        </p:txBody>
      </p:sp>
      <p:sp>
        <p:nvSpPr>
          <p:cNvPr id="18" name="ln_90"/>
          <p:cNvSpPr/>
          <p:nvPr/>
        </p:nvSpPr>
        <p:spPr>
          <a:xfrm>
            <a:off x="548640" y="2715797"/>
            <a:ext cx="5349240" cy="393309"/>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11  I have a </a:t>
            </a:r>
            <a:pPr indent="0" marL="0">
              <a:buNone/>
            </a:pPr>
            <a:r>
              <a:rPr lang="en-US" sz="1050" b="1" dirty="0">
                <a:solidFill>
                  <a:srgbClr val="2EB872"/>
                </a:solidFill>
                <a:latin typeface="Georgia" pitchFamily="34" charset="0"/>
                <a:ea typeface="Georgia" pitchFamily="34" charset="-122"/>
                <a:cs typeface="Georgia" pitchFamily="34" charset="-120"/>
              </a:rPr>
              <a:t> (11) ________ </a:t>
            </a:r>
            <a:pPr indent="0" marL="0">
              <a:buNone/>
            </a:pPr>
            <a:r>
              <a:rPr lang="en-US" sz="1050" dirty="0">
                <a:solidFill>
                  <a:srgbClr val="1B2559"/>
                </a:solidFill>
                <a:latin typeface="Georgia" pitchFamily="34" charset="0"/>
                <a:ea typeface="Georgia" pitchFamily="34" charset="-122"/>
                <a:cs typeface="Georgia" pitchFamily="34" charset="-120"/>
              </a:rPr>
              <a:t>.  (a bag very big · b very bag big · c very big bag)</a:t>
            </a:r>
            <a:endParaRPr lang="en-US" sz="1050" dirty="0"/>
          </a:p>
        </p:txBody>
      </p:sp>
      <p:sp>
        <p:nvSpPr>
          <p:cNvPr id="19" name="R3_lnA91"/>
          <p:cNvSpPr/>
          <p:nvPr/>
        </p:nvSpPr>
        <p:spPr>
          <a:xfrm>
            <a:off x="548640" y="2715797"/>
            <a:ext cx="5349240" cy="393309"/>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11  I have a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c  very big bag</a:t>
            </a:r>
            <a:pPr indent="0" marL="0">
              <a:buNone/>
            </a:pPr>
            <a:r>
              <a:rPr lang="en-US" sz="1050" dirty="0">
                <a:solidFill>
                  <a:srgbClr val="1B2559"/>
                </a:solidFill>
                <a:latin typeface="Georgia" pitchFamily="34" charset="0"/>
                <a:ea typeface="Georgia" pitchFamily="34" charset="-122"/>
                <a:cs typeface="Georgia" pitchFamily="34" charset="-120"/>
              </a:rPr>
              <a:t>.  (a bag very big · b very bag big · c very big bag)</a:t>
            </a:r>
            <a:endParaRPr lang="en-US" sz="1050" dirty="0"/>
          </a:p>
        </p:txBody>
      </p:sp>
      <p:sp>
        <p:nvSpPr>
          <p:cNvPr id="20" name="ln_92"/>
          <p:cNvSpPr/>
          <p:nvPr/>
        </p:nvSpPr>
        <p:spPr>
          <a:xfrm>
            <a:off x="548640" y="3109107"/>
            <a:ext cx="5349240" cy="540800"/>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12  They're very </a:t>
            </a:r>
            <a:pPr indent="0" marL="0">
              <a:buNone/>
            </a:pPr>
            <a:r>
              <a:rPr lang="en-US" sz="1050" b="1" dirty="0">
                <a:solidFill>
                  <a:srgbClr val="2EB872"/>
                </a:solidFill>
                <a:latin typeface="Georgia" pitchFamily="34" charset="0"/>
                <a:ea typeface="Georgia" pitchFamily="34" charset="-122"/>
                <a:cs typeface="Georgia" pitchFamily="34" charset="-120"/>
              </a:rPr>
              <a:t> (12) ________ </a:t>
            </a:r>
            <a:pPr indent="0" marL="0">
              <a:buNone/>
            </a:pPr>
            <a:r>
              <a:rPr lang="en-US" sz="1050" dirty="0">
                <a:solidFill>
                  <a:srgbClr val="1B2559"/>
                </a:solidFill>
                <a:latin typeface="Georgia" pitchFamily="34" charset="0"/>
                <a:ea typeface="Georgia" pitchFamily="34" charset="-122"/>
                <a:cs typeface="Georgia" pitchFamily="34" charset="-120"/>
              </a:rPr>
              <a:t>.  (a difficult exercises · b exercises difficult · c difficults exercises)</a:t>
            </a:r>
            <a:endParaRPr lang="en-US" sz="1050" dirty="0"/>
          </a:p>
        </p:txBody>
      </p:sp>
      <p:sp>
        <p:nvSpPr>
          <p:cNvPr id="21" name="R4_lnA93"/>
          <p:cNvSpPr/>
          <p:nvPr/>
        </p:nvSpPr>
        <p:spPr>
          <a:xfrm>
            <a:off x="548640" y="3109107"/>
            <a:ext cx="5349240" cy="540800"/>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12  They're very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a  difficult exercises</a:t>
            </a:r>
            <a:pPr indent="0" marL="0">
              <a:buNone/>
            </a:pPr>
            <a:r>
              <a:rPr lang="en-US" sz="1050" dirty="0">
                <a:solidFill>
                  <a:srgbClr val="1B2559"/>
                </a:solidFill>
                <a:latin typeface="Georgia" pitchFamily="34" charset="0"/>
                <a:ea typeface="Georgia" pitchFamily="34" charset="-122"/>
                <a:cs typeface="Georgia" pitchFamily="34" charset="-120"/>
              </a:rPr>
              <a:t>.  (a difficult exercises · b exercises difficult · c difficults exercises)</a:t>
            </a:r>
            <a:endParaRPr lang="en-US" sz="1050" dirty="0"/>
          </a:p>
        </p:txBody>
      </p:sp>
      <p:sp>
        <p:nvSpPr>
          <p:cNvPr id="22" name="ln_94"/>
          <p:cNvSpPr/>
          <p:nvPr/>
        </p:nvSpPr>
        <p:spPr>
          <a:xfrm>
            <a:off x="548640" y="3649907"/>
            <a:ext cx="5349240" cy="335207"/>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13  </a:t>
            </a:r>
            <a:pPr indent="0" marL="0">
              <a:buNone/>
            </a:pPr>
            <a:r>
              <a:rPr lang="en-US" sz="1050" b="1" dirty="0">
                <a:solidFill>
                  <a:srgbClr val="2EB872"/>
                </a:solidFill>
                <a:latin typeface="Georgia" pitchFamily="34" charset="0"/>
                <a:ea typeface="Georgia" pitchFamily="34" charset="-122"/>
                <a:cs typeface="Georgia" pitchFamily="34" charset="-120"/>
              </a:rPr>
              <a:t> (13) ________ </a:t>
            </a:r>
            <a:pPr indent="0" marL="0">
              <a:buNone/>
            </a:pPr>
            <a:r>
              <a:rPr lang="en-US" sz="1050" dirty="0">
                <a:solidFill>
                  <a:srgbClr val="1B2559"/>
                </a:solidFill>
                <a:latin typeface="Georgia" pitchFamily="34" charset="0"/>
                <a:ea typeface="Georgia" pitchFamily="34" charset="-122"/>
                <a:cs typeface="Georgia" pitchFamily="34" charset="-120"/>
              </a:rPr>
              <a:t> careful! That dog's dangerous.  (a Have · b Be you · c Be)</a:t>
            </a:r>
            <a:endParaRPr lang="en-US" sz="1050" dirty="0"/>
          </a:p>
        </p:txBody>
      </p:sp>
      <p:sp>
        <p:nvSpPr>
          <p:cNvPr id="23" name="R5_lnA95"/>
          <p:cNvSpPr/>
          <p:nvPr/>
        </p:nvSpPr>
        <p:spPr>
          <a:xfrm>
            <a:off x="548640" y="3649907"/>
            <a:ext cx="5349240" cy="335207"/>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13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c  Be</a:t>
            </a:r>
            <a:pPr indent="0" marL="0">
              <a:buNone/>
            </a:pPr>
            <a:r>
              <a:rPr lang="en-US" sz="1050" dirty="0">
                <a:solidFill>
                  <a:srgbClr val="1B2559"/>
                </a:solidFill>
                <a:latin typeface="Georgia" pitchFamily="34" charset="0"/>
                <a:ea typeface="Georgia" pitchFamily="34" charset="-122"/>
                <a:cs typeface="Georgia" pitchFamily="34" charset="-120"/>
              </a:rPr>
              <a:t> careful! That dog's dangerous.  (a Have · b Be you · c Be)</a:t>
            </a:r>
            <a:endParaRPr lang="en-US" sz="1050" dirty="0"/>
          </a:p>
        </p:txBody>
      </p:sp>
      <p:sp>
        <p:nvSpPr>
          <p:cNvPr id="24" name="ln_96"/>
          <p:cNvSpPr/>
          <p:nvPr/>
        </p:nvSpPr>
        <p:spPr>
          <a:xfrm>
            <a:off x="548640" y="3985113"/>
            <a:ext cx="5349240" cy="375432"/>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14  </a:t>
            </a:r>
            <a:pPr indent="0" marL="0">
              <a:buNone/>
            </a:pPr>
            <a:r>
              <a:rPr lang="en-US" sz="1050" b="1" u="sng" dirty="0">
                <a:solidFill>
                  <a:srgbClr val="7B5CD6"/>
                </a:solidFill>
                <a:latin typeface="Georgia" pitchFamily="34" charset="0"/>
                <a:ea typeface="Georgia" pitchFamily="34" charset="-122"/>
                <a:cs typeface="Georgia" pitchFamily="34" charset="-120"/>
              </a:rPr>
              <a:t>Please</a:t>
            </a:r>
            <a:pPr indent="0" marL="0">
              <a:buNone/>
            </a:pPr>
            <a:r>
              <a:rPr lang="en-US" sz="1050" dirty="0">
                <a:solidFill>
                  <a:srgbClr val="1B2559"/>
                </a:solidFill>
                <a:latin typeface="Georgia" pitchFamily="34" charset="0"/>
                <a:ea typeface="Georgia" pitchFamily="34" charset="-122"/>
                <a:cs typeface="Georgia" pitchFamily="34" charset="-120"/>
              </a:rPr>
              <a:t> </a:t>
            </a:r>
            <a:pPr indent="0" marL="0">
              <a:buNone/>
            </a:pPr>
            <a:r>
              <a:rPr lang="en-US" sz="1050" b="1" dirty="0">
                <a:solidFill>
                  <a:srgbClr val="2EB872"/>
                </a:solidFill>
                <a:latin typeface="Georgia" pitchFamily="34" charset="0"/>
                <a:ea typeface="Georgia" pitchFamily="34" charset="-122"/>
                <a:cs typeface="Georgia" pitchFamily="34" charset="-120"/>
              </a:rPr>
              <a:t> (14) ________ </a:t>
            </a:r>
            <a:pPr indent="0" marL="0">
              <a:buNone/>
            </a:pPr>
            <a:r>
              <a:rPr lang="en-US" sz="1050" dirty="0">
                <a:solidFill>
                  <a:srgbClr val="1B2559"/>
                </a:solidFill>
                <a:latin typeface="Georgia" pitchFamily="34" charset="0"/>
                <a:ea typeface="Georgia" pitchFamily="34" charset="-122"/>
                <a:cs typeface="Georgia" pitchFamily="34" charset="-120"/>
              </a:rPr>
              <a:t> in the library.  (a not eat · b </a:t>
            </a:r>
            <a:pPr indent="0" marL="0">
              <a:buNone/>
            </a:pPr>
            <a:r>
              <a:rPr lang="en-US" sz="1050" b="1" u="sng" dirty="0">
                <a:solidFill>
                  <a:srgbClr val="7B5CD6"/>
                </a:solidFill>
                <a:latin typeface="Georgia" pitchFamily="34" charset="0"/>
                <a:ea typeface="Georgia" pitchFamily="34" charset="-122"/>
                <a:cs typeface="Georgia" pitchFamily="34" charset="-120"/>
              </a:rPr>
              <a:t>don't</a:t>
            </a:r>
            <a:pPr indent="0" marL="0">
              <a:buNone/>
            </a:pPr>
            <a:r>
              <a:rPr lang="en-US" sz="1050" dirty="0">
                <a:solidFill>
                  <a:srgbClr val="1B2559"/>
                </a:solidFill>
                <a:latin typeface="Georgia" pitchFamily="34" charset="0"/>
                <a:ea typeface="Georgia" pitchFamily="34" charset="-122"/>
                <a:cs typeface="Georgia" pitchFamily="34" charset="-120"/>
              </a:rPr>
              <a:t> eat · c no eat)</a:t>
            </a:r>
            <a:endParaRPr lang="en-US" sz="1050" dirty="0"/>
          </a:p>
        </p:txBody>
      </p:sp>
      <p:sp>
        <p:nvSpPr>
          <p:cNvPr id="25" name="R6_lnA97"/>
          <p:cNvSpPr/>
          <p:nvPr/>
        </p:nvSpPr>
        <p:spPr>
          <a:xfrm>
            <a:off x="548640" y="3985113"/>
            <a:ext cx="5349240" cy="375432"/>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14  </a:t>
            </a:r>
            <a:pPr indent="0" marL="0">
              <a:buNone/>
            </a:pPr>
            <a:r>
              <a:rPr lang="en-US" sz="1050" b="1" u="sng" dirty="0">
                <a:solidFill>
                  <a:srgbClr val="7B5CD6"/>
                </a:solidFill>
                <a:latin typeface="Georgia" pitchFamily="34" charset="0"/>
                <a:ea typeface="Georgia" pitchFamily="34" charset="-122"/>
                <a:cs typeface="Georgia" pitchFamily="34" charset="-120"/>
              </a:rPr>
              <a:t>Please</a:t>
            </a:r>
            <a:pPr indent="0" marL="0">
              <a:buNone/>
            </a:pPr>
            <a:r>
              <a:rPr lang="en-US" sz="1050" dirty="0">
                <a:solidFill>
                  <a:srgbClr val="1B2559"/>
                </a:solidFill>
                <a:latin typeface="Georgia" pitchFamily="34" charset="0"/>
                <a:ea typeface="Georgia" pitchFamily="34" charset="-122"/>
                <a:cs typeface="Georgia" pitchFamily="34" charset="-120"/>
              </a:rPr>
              <a:t>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b  don't eat</a:t>
            </a:r>
            <a:pPr indent="0" marL="0">
              <a:buNone/>
            </a:pPr>
            <a:r>
              <a:rPr lang="en-US" sz="1050" dirty="0">
                <a:solidFill>
                  <a:srgbClr val="1B2559"/>
                </a:solidFill>
                <a:latin typeface="Georgia" pitchFamily="34" charset="0"/>
                <a:ea typeface="Georgia" pitchFamily="34" charset="-122"/>
                <a:cs typeface="Georgia" pitchFamily="34" charset="-120"/>
              </a:rPr>
              <a:t> in the library.  (a not eat · b </a:t>
            </a:r>
            <a:pPr indent="0" marL="0">
              <a:buNone/>
            </a:pPr>
            <a:r>
              <a:rPr lang="en-US" sz="1050" b="1" u="sng" dirty="0">
                <a:solidFill>
                  <a:srgbClr val="7B5CD6"/>
                </a:solidFill>
                <a:latin typeface="Georgia" pitchFamily="34" charset="0"/>
                <a:ea typeface="Georgia" pitchFamily="34" charset="-122"/>
                <a:cs typeface="Georgia" pitchFamily="34" charset="-120"/>
              </a:rPr>
              <a:t>don't</a:t>
            </a:r>
            <a:pPr indent="0" marL="0">
              <a:buNone/>
            </a:pPr>
            <a:r>
              <a:rPr lang="en-US" sz="1050" dirty="0">
                <a:solidFill>
                  <a:srgbClr val="1B2559"/>
                </a:solidFill>
                <a:latin typeface="Georgia" pitchFamily="34" charset="0"/>
                <a:ea typeface="Georgia" pitchFamily="34" charset="-122"/>
                <a:cs typeface="Georgia" pitchFamily="34" charset="-120"/>
              </a:rPr>
              <a:t> eat · c no eat)</a:t>
            </a:r>
            <a:endParaRPr lang="en-US" sz="1050" dirty="0"/>
          </a:p>
        </p:txBody>
      </p:sp>
      <p:sp>
        <p:nvSpPr>
          <p:cNvPr id="26" name="ln_98"/>
          <p:cNvSpPr/>
          <p:nvPr/>
        </p:nvSpPr>
        <p:spPr>
          <a:xfrm>
            <a:off x="548640" y="4360545"/>
            <a:ext cx="5349240" cy="348615"/>
          </a:xfrm>
          <a:prstGeom prst="rect">
            <a:avLst/>
          </a:prstGeom>
          <a:no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15  I'm hungry. </a:t>
            </a:r>
            <a:pPr indent="0" marL="0">
              <a:buNone/>
            </a:pPr>
            <a:r>
              <a:rPr lang="en-US" sz="1050" b="1" dirty="0">
                <a:solidFill>
                  <a:srgbClr val="2EB872"/>
                </a:solidFill>
                <a:latin typeface="Georgia" pitchFamily="34" charset="0"/>
                <a:ea typeface="Georgia" pitchFamily="34" charset="-122"/>
                <a:cs typeface="Georgia" pitchFamily="34" charset="-120"/>
              </a:rPr>
              <a:t> (15) ________ </a:t>
            </a:r>
            <a:pPr indent="0" marL="0">
              <a:buNone/>
            </a:pPr>
            <a:r>
              <a:rPr lang="en-US" sz="1050" dirty="0">
                <a:solidFill>
                  <a:srgbClr val="1B2559"/>
                </a:solidFill>
                <a:latin typeface="Georgia" pitchFamily="34" charset="0"/>
                <a:ea typeface="Georgia" pitchFamily="34" charset="-122"/>
                <a:cs typeface="Georgia" pitchFamily="34" charset="-120"/>
              </a:rPr>
              <a:t> stop at the café.  (a </a:t>
            </a:r>
            <a:pPr indent="0" marL="0">
              <a:buNone/>
            </a:pPr>
            <a:r>
              <a:rPr lang="en-US" sz="1050" b="1" u="sng" dirty="0">
                <a:solidFill>
                  <a:srgbClr val="7B5CD6"/>
                </a:solidFill>
                <a:latin typeface="Georgia" pitchFamily="34" charset="0"/>
                <a:ea typeface="Georgia" pitchFamily="34" charset="-122"/>
                <a:cs typeface="Georgia" pitchFamily="34" charset="-120"/>
              </a:rPr>
              <a:t>Let's</a:t>
            </a:r>
            <a:pPr indent="0" marL="0">
              <a:buNone/>
            </a:pPr>
            <a:r>
              <a:rPr lang="en-US" sz="1050" dirty="0">
                <a:solidFill>
                  <a:srgbClr val="1B2559"/>
                </a:solidFill>
                <a:latin typeface="Georgia" pitchFamily="34" charset="0"/>
                <a:ea typeface="Georgia" pitchFamily="34" charset="-122"/>
                <a:cs typeface="Georgia" pitchFamily="34" charset="-120"/>
              </a:rPr>
              <a:t> · b Let · c </a:t>
            </a:r>
            <a:pPr indent="0" marL="0">
              <a:buNone/>
            </a:pPr>
            <a:r>
              <a:rPr lang="en-US" sz="1050" b="1" u="sng" dirty="0">
                <a:solidFill>
                  <a:srgbClr val="7B5CD6"/>
                </a:solidFill>
                <a:latin typeface="Georgia" pitchFamily="34" charset="0"/>
                <a:ea typeface="Georgia" pitchFamily="34" charset="-122"/>
                <a:cs typeface="Georgia" pitchFamily="34" charset="-120"/>
              </a:rPr>
              <a:t>Don't</a:t>
            </a:r>
            <a:pPr indent="0" marL="0">
              <a:buNone/>
            </a:pPr>
            <a:r>
              <a:rPr lang="en-US" sz="1050" dirty="0">
                <a:solidFill>
                  <a:srgbClr val="1B2559"/>
                </a:solidFill>
                <a:latin typeface="Georgia" pitchFamily="34" charset="0"/>
                <a:ea typeface="Georgia" pitchFamily="34" charset="-122"/>
                <a:cs typeface="Georgia" pitchFamily="34" charset="-120"/>
              </a:rPr>
              <a:t>)</a:t>
            </a:r>
            <a:endParaRPr lang="en-US" sz="1050" dirty="0"/>
          </a:p>
        </p:txBody>
      </p:sp>
      <p:sp>
        <p:nvSpPr>
          <p:cNvPr id="27" name="R7_lnA99"/>
          <p:cNvSpPr/>
          <p:nvPr/>
        </p:nvSpPr>
        <p:spPr>
          <a:xfrm>
            <a:off x="548640" y="4360545"/>
            <a:ext cx="5349240" cy="348615"/>
          </a:xfrm>
          <a:prstGeom prst="rect">
            <a:avLst/>
          </a:prstGeom>
          <a:solidFill>
            <a:srgbClr val="FFFFFF"/>
          </a:solidFill>
          <a:ln/>
        </p:spPr>
        <p:txBody>
          <a:bodyPr wrap="square" lIns="0" tIns="0" rIns="0" bIns="0" rtlCol="0" anchor="t"/>
          <a:lstStyle/>
          <a:p>
            <a:pPr indent="0" marL="0">
              <a:buNone/>
            </a:pPr>
            <a:r>
              <a:rPr lang="en-US" sz="1050" dirty="0">
                <a:solidFill>
                  <a:srgbClr val="1B2559"/>
                </a:solidFill>
                <a:latin typeface="Georgia" pitchFamily="34" charset="0"/>
                <a:ea typeface="Georgia" pitchFamily="34" charset="-122"/>
                <a:cs typeface="Georgia" pitchFamily="34" charset="-120"/>
              </a:rPr>
              <a:t>15  I'm hungry. </a:t>
            </a:r>
            <a:pPr indent="0" marL="0">
              <a:buNone/>
            </a:pPr>
            <a:r>
              <a:rPr lang="en-US" sz="1050" b="1" dirty="0">
                <a:solidFill>
                  <a:srgbClr val="1B2559"/>
                </a:solidFill>
                <a:highlight>
                  <a:srgbClr val="FFE066"/>
                </a:highlight>
                <a:latin typeface="Georgia" pitchFamily="34" charset="0"/>
                <a:ea typeface="Georgia" pitchFamily="34" charset="-122"/>
                <a:cs typeface="Georgia" pitchFamily="34" charset="-120"/>
              </a:rPr>
              <a:t>a  Let's</a:t>
            </a:r>
            <a:pPr indent="0" marL="0">
              <a:buNone/>
            </a:pPr>
            <a:r>
              <a:rPr lang="en-US" sz="1050" dirty="0">
                <a:solidFill>
                  <a:srgbClr val="1B2559"/>
                </a:solidFill>
                <a:latin typeface="Georgia" pitchFamily="34" charset="0"/>
                <a:ea typeface="Georgia" pitchFamily="34" charset="-122"/>
                <a:cs typeface="Georgia" pitchFamily="34" charset="-120"/>
              </a:rPr>
              <a:t> stop at the café.  (a </a:t>
            </a:r>
            <a:pPr indent="0" marL="0">
              <a:buNone/>
            </a:pPr>
            <a:r>
              <a:rPr lang="en-US" sz="1050" b="1" u="sng" dirty="0">
                <a:solidFill>
                  <a:srgbClr val="7B5CD6"/>
                </a:solidFill>
                <a:latin typeface="Georgia" pitchFamily="34" charset="0"/>
                <a:ea typeface="Georgia" pitchFamily="34" charset="-122"/>
                <a:cs typeface="Georgia" pitchFamily="34" charset="-120"/>
              </a:rPr>
              <a:t>Let's</a:t>
            </a:r>
            <a:pPr indent="0" marL="0">
              <a:buNone/>
            </a:pPr>
            <a:r>
              <a:rPr lang="en-US" sz="1050" dirty="0">
                <a:solidFill>
                  <a:srgbClr val="1B2559"/>
                </a:solidFill>
                <a:latin typeface="Georgia" pitchFamily="34" charset="0"/>
                <a:ea typeface="Georgia" pitchFamily="34" charset="-122"/>
                <a:cs typeface="Georgia" pitchFamily="34" charset="-120"/>
              </a:rPr>
              <a:t> · b Let · c </a:t>
            </a:r>
            <a:pPr indent="0" marL="0">
              <a:buNone/>
            </a:pPr>
            <a:r>
              <a:rPr lang="en-US" sz="1050" b="1" u="sng" dirty="0">
                <a:solidFill>
                  <a:srgbClr val="7B5CD6"/>
                </a:solidFill>
                <a:latin typeface="Georgia" pitchFamily="34" charset="0"/>
                <a:ea typeface="Georgia" pitchFamily="34" charset="-122"/>
                <a:cs typeface="Georgia" pitchFamily="34" charset="-120"/>
              </a:rPr>
              <a:t>Don't</a:t>
            </a:r>
            <a:pPr indent="0" marL="0">
              <a:buNone/>
            </a:pPr>
            <a:r>
              <a:rPr lang="en-US" sz="1050" dirty="0">
                <a:solidFill>
                  <a:srgbClr val="1B2559"/>
                </a:solidFill>
                <a:latin typeface="Georgia" pitchFamily="34" charset="0"/>
                <a:ea typeface="Georgia" pitchFamily="34" charset="-122"/>
                <a:cs typeface="Georgia" pitchFamily="34" charset="-120"/>
              </a:rPr>
              <a:t>)</a:t>
            </a:r>
            <a:endParaRPr lang="en-US" sz="1050" dirty="0"/>
          </a:p>
        </p:txBody>
      </p:sp>
      <p:sp>
        <p:nvSpPr>
          <p:cNvPr id="28" name="cd_100"/>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9" name="ii_10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10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103"/>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Count your points: ___ / 15</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13+ = excellent!</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05"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06"/>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rules</a:t>
            </a:r>
            <a:endParaRPr lang="en-US" sz="2500" dirty="0"/>
          </a:p>
        </p:txBody>
      </p:sp>
      <p:pic>
        <p:nvPicPr>
          <p:cNvPr id="6" name="brP_107"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108"/>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Why is it right? Say the rule – then click!</a:t>
            </a:r>
            <a:endParaRPr lang="en-US" sz="1250" dirty="0"/>
          </a:p>
        </p:txBody>
      </p:sp>
      <p:sp>
        <p:nvSpPr>
          <p:cNvPr id="8" name="insIT_10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Perché è giusto? Di' la regola – poi clicca!</a:t>
            </a:r>
            <a:endParaRPr lang="en-US" sz="950" dirty="0"/>
          </a:p>
        </p:txBody>
      </p:sp>
      <p:sp>
        <p:nvSpPr>
          <p:cNvPr id="9" name="note_11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Grammar Banks 1A–2C · the rules   ·   📖 Grammar Banks 1A–2C</a:t>
            </a:r>
            <a:endParaRPr lang="en-US" sz="800" dirty="0"/>
          </a:p>
        </p:txBody>
      </p:sp>
      <p:sp>
        <p:nvSpPr>
          <p:cNvPr id="12" name="cvl_113"/>
          <p:cNvSpPr/>
          <p:nvPr/>
        </p:nvSpPr>
        <p:spPr>
          <a:xfrm>
            <a:off x="320040" y="14173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Where is he</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from?</a:t>
            </a:r>
            <a:endParaRPr lang="en-US" sz="1250" dirty="0"/>
          </a:p>
        </p:txBody>
      </p:sp>
      <p:sp>
        <p:nvSpPr>
          <p:cNvPr id="13" name="cva_114"/>
          <p:cNvSpPr/>
          <p:nvPr/>
        </p:nvSpPr>
        <p:spPr>
          <a:xfrm>
            <a:off x="3364992" y="14173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question</a:t>
            </a:r>
            <a:endParaRPr lang="en-US" sz="1000" dirty="0"/>
          </a:p>
        </p:txBody>
      </p:sp>
      <p:sp>
        <p:nvSpPr>
          <p:cNvPr id="14" name="R1_cvb115"/>
          <p:cNvSpPr/>
          <p:nvPr/>
        </p:nvSpPr>
        <p:spPr>
          <a:xfrm>
            <a:off x="4443984" y="14173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verb before he / she</a:t>
            </a:r>
            <a:endParaRPr lang="en-US" sz="1000" dirty="0"/>
          </a:p>
        </p:txBody>
      </p:sp>
      <p:sp>
        <p:nvSpPr>
          <p:cNvPr id="15" name="R1_cvr116"/>
          <p:cNvSpPr/>
          <p:nvPr/>
        </p:nvSpPr>
        <p:spPr>
          <a:xfrm>
            <a:off x="5541264" y="14173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Where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is he</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from? – He</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's</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from Turkey.</a:t>
            </a:r>
            <a:endParaRPr lang="en-US" sz="1250" dirty="0"/>
          </a:p>
        </p:txBody>
      </p:sp>
      <p:sp>
        <p:nvSpPr>
          <p:cNvPr id="16" name="cvl_117"/>
          <p:cNvSpPr/>
          <p:nvPr/>
        </p:nvSpPr>
        <p:spPr>
          <a:xfrm>
            <a:off x="320040" y="192024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Yes, </a:t>
            </a:r>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I am</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a:t>
            </a:r>
            <a:endParaRPr lang="en-US" sz="1250" dirty="0"/>
          </a:p>
        </p:txBody>
      </p:sp>
      <p:sp>
        <p:nvSpPr>
          <p:cNvPr id="17" name="cva_118"/>
          <p:cNvSpPr/>
          <p:nvPr/>
        </p:nvSpPr>
        <p:spPr>
          <a:xfrm>
            <a:off x="3364992" y="192024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short answer</a:t>
            </a:r>
            <a:endParaRPr lang="en-US" sz="1000" dirty="0"/>
          </a:p>
        </p:txBody>
      </p:sp>
      <p:sp>
        <p:nvSpPr>
          <p:cNvPr id="18" name="R2_cvb119"/>
          <p:cNvSpPr/>
          <p:nvPr/>
        </p:nvSpPr>
        <p:spPr>
          <a:xfrm>
            <a:off x="4443984" y="192024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no contraction</a:t>
            </a:r>
            <a:endParaRPr lang="en-US" sz="1000" dirty="0"/>
          </a:p>
        </p:txBody>
      </p:sp>
      <p:sp>
        <p:nvSpPr>
          <p:cNvPr id="19" name="R2_cvr120"/>
          <p:cNvSpPr/>
          <p:nvPr/>
        </p:nvSpPr>
        <p:spPr>
          <a:xfrm>
            <a:off x="5541264" y="192024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Are you from Paris? – Yes,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I am</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 Yes, I'm)</a:t>
            </a:r>
            <a:endParaRPr lang="en-US" sz="1250" dirty="0"/>
          </a:p>
        </p:txBody>
      </p:sp>
      <p:sp>
        <p:nvSpPr>
          <p:cNvPr id="20" name="cvl_121"/>
          <p:cNvSpPr/>
          <p:nvPr/>
        </p:nvSpPr>
        <p:spPr>
          <a:xfrm>
            <a:off x="320040" y="242316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an</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umbrella</a:t>
            </a:r>
            <a:endParaRPr lang="en-US" sz="1250" dirty="0"/>
          </a:p>
        </p:txBody>
      </p:sp>
      <p:sp>
        <p:nvSpPr>
          <p:cNvPr id="21" name="cva_122"/>
          <p:cNvSpPr/>
          <p:nvPr/>
        </p:nvSpPr>
        <p:spPr>
          <a:xfrm>
            <a:off x="3364992" y="242316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a / an</a:t>
            </a:r>
            <a:endParaRPr lang="en-US" sz="1000" dirty="0"/>
          </a:p>
        </p:txBody>
      </p:sp>
      <p:sp>
        <p:nvSpPr>
          <p:cNvPr id="22" name="R3_cvb123"/>
          <p:cNvSpPr/>
          <p:nvPr/>
        </p:nvSpPr>
        <p:spPr>
          <a:xfrm>
            <a:off x="4443984" y="242316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an + vowel sound</a:t>
            </a:r>
            <a:endParaRPr lang="en-US" sz="1000" dirty="0"/>
          </a:p>
        </p:txBody>
      </p:sp>
      <p:sp>
        <p:nvSpPr>
          <p:cNvPr id="23" name="R3_cvr124"/>
          <p:cNvSpPr/>
          <p:nvPr/>
        </p:nvSpPr>
        <p:spPr>
          <a:xfrm>
            <a:off x="5541264" y="242316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It's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an</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umbrella. It's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watch.</a:t>
            </a:r>
            <a:endParaRPr lang="en-US" sz="1250" dirty="0"/>
          </a:p>
        </p:txBody>
      </p:sp>
      <p:sp>
        <p:nvSpPr>
          <p:cNvPr id="24" name="cvl_125"/>
          <p:cNvSpPr/>
          <p:nvPr/>
        </p:nvSpPr>
        <p:spPr>
          <a:xfrm>
            <a:off x="320040" y="292608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watches</a:t>
            </a:r>
            <a:endParaRPr lang="en-US" sz="1250" dirty="0"/>
          </a:p>
        </p:txBody>
      </p:sp>
      <p:sp>
        <p:nvSpPr>
          <p:cNvPr id="25" name="cva_126"/>
          <p:cNvSpPr/>
          <p:nvPr/>
        </p:nvSpPr>
        <p:spPr>
          <a:xfrm>
            <a:off x="3364992" y="292608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plural</a:t>
            </a:r>
            <a:endParaRPr lang="en-US" sz="1000" dirty="0"/>
          </a:p>
        </p:txBody>
      </p:sp>
      <p:sp>
        <p:nvSpPr>
          <p:cNvPr id="26" name="R4_cvb127"/>
          <p:cNvSpPr/>
          <p:nvPr/>
        </p:nvSpPr>
        <p:spPr>
          <a:xfrm>
            <a:off x="4443984" y="292608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 es after ch, sh, s, x</a:t>
            </a:r>
            <a:endParaRPr lang="en-US" sz="1000" dirty="0"/>
          </a:p>
        </p:txBody>
      </p:sp>
      <p:sp>
        <p:nvSpPr>
          <p:cNvPr id="27" name="R4_cvr128"/>
          <p:cNvSpPr/>
          <p:nvPr/>
        </p:nvSpPr>
        <p:spPr>
          <a:xfrm>
            <a:off x="5541264" y="292608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one watch → two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watches</a:t>
            </a:r>
            <a:endParaRPr lang="en-US" sz="1250" dirty="0"/>
          </a:p>
        </p:txBody>
      </p:sp>
      <p:sp>
        <p:nvSpPr>
          <p:cNvPr id="28" name="cvl_129"/>
          <p:cNvSpPr/>
          <p:nvPr/>
        </p:nvSpPr>
        <p:spPr>
          <a:xfrm>
            <a:off x="320040" y="342900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a </a:t>
            </a:r>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very big</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bag</a:t>
            </a:r>
            <a:endParaRPr lang="en-US" sz="1250" dirty="0"/>
          </a:p>
        </p:txBody>
      </p:sp>
      <p:sp>
        <p:nvSpPr>
          <p:cNvPr id="29" name="cva_130"/>
          <p:cNvSpPr/>
          <p:nvPr/>
        </p:nvSpPr>
        <p:spPr>
          <a:xfrm>
            <a:off x="3364992" y="342900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adjective</a:t>
            </a:r>
            <a:endParaRPr lang="en-US" sz="1000" dirty="0"/>
          </a:p>
        </p:txBody>
      </p:sp>
      <p:sp>
        <p:nvSpPr>
          <p:cNvPr id="30" name="R5_cvb131"/>
          <p:cNvSpPr/>
          <p:nvPr/>
        </p:nvSpPr>
        <p:spPr>
          <a:xfrm>
            <a:off x="4443984" y="342900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very + adj + noun</a:t>
            </a:r>
            <a:endParaRPr lang="en-US" sz="1000" dirty="0"/>
          </a:p>
        </p:txBody>
      </p:sp>
      <p:sp>
        <p:nvSpPr>
          <p:cNvPr id="31" name="R5_cvr132"/>
          <p:cNvSpPr/>
          <p:nvPr/>
        </p:nvSpPr>
        <p:spPr>
          <a:xfrm>
            <a:off x="5541264" y="342900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 have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 very big bag</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 a bag very big)</a:t>
            </a:r>
            <a:endParaRPr lang="en-US" sz="1250" dirty="0"/>
          </a:p>
        </p:txBody>
      </p:sp>
      <p:sp>
        <p:nvSpPr>
          <p:cNvPr id="32" name="cvl_133"/>
          <p:cNvSpPr/>
          <p:nvPr/>
        </p:nvSpPr>
        <p:spPr>
          <a:xfrm>
            <a:off x="320040" y="39319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Don't</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eat · </a:t>
            </a:r>
            <a:pPr algn="ctr" indent="0" marL="0">
              <a:buNone/>
            </a:pPr>
            <a:r>
              <a:rPr lang="en-US" sz="1250" b="1" dirty="0">
                <a:solidFill>
                  <a:srgbClr val="2F8DE4"/>
                </a:solidFill>
                <a:highlight>
                  <a:srgbClr val="FFF1A8"/>
                </a:highlight>
                <a:latin typeface="Segoe UI Semibold" pitchFamily="34" charset="0"/>
                <a:ea typeface="Segoe UI Semibold" pitchFamily="34" charset="-122"/>
                <a:cs typeface="Segoe UI Semibold" pitchFamily="34" charset="-120"/>
              </a:rPr>
              <a:t>Let's</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stop</a:t>
            </a:r>
            <a:endParaRPr lang="en-US" sz="1250" dirty="0"/>
          </a:p>
        </p:txBody>
      </p:sp>
      <p:sp>
        <p:nvSpPr>
          <p:cNvPr id="33" name="cva_134"/>
          <p:cNvSpPr/>
          <p:nvPr/>
        </p:nvSpPr>
        <p:spPr>
          <a:xfrm>
            <a:off x="3364992" y="39319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imperative</a:t>
            </a:r>
            <a:endParaRPr lang="en-US" sz="1000" dirty="0"/>
          </a:p>
        </p:txBody>
      </p:sp>
      <p:sp>
        <p:nvSpPr>
          <p:cNvPr id="34" name="R6_cvb135"/>
          <p:cNvSpPr/>
          <p:nvPr/>
        </p:nvSpPr>
        <p:spPr>
          <a:xfrm>
            <a:off x="4443984" y="39319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Don't + verb · Let's + verb</a:t>
            </a:r>
            <a:endParaRPr lang="en-US" sz="1000" dirty="0"/>
          </a:p>
        </p:txBody>
      </p:sp>
      <p:sp>
        <p:nvSpPr>
          <p:cNvPr id="35" name="R6_cvr136"/>
          <p:cNvSpPr/>
          <p:nvPr/>
        </p:nvSpPr>
        <p:spPr>
          <a:xfrm>
            <a:off x="5541264" y="39319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Please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don't eat</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in the library.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Let's stop</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at the café.</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38"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39"/>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auction</a:t>
            </a:r>
            <a:endParaRPr lang="en-US" sz="2400" dirty="0"/>
          </a:p>
        </p:txBody>
      </p:sp>
      <p:pic>
        <p:nvPicPr>
          <p:cNvPr id="6" name="brP_140"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141"/>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You have €1,000. Buy the CORRECT sentences!</a:t>
            </a:r>
            <a:endParaRPr lang="en-US" sz="1250" dirty="0"/>
          </a:p>
        </p:txBody>
      </p:sp>
      <p:sp>
        <p:nvSpPr>
          <p:cNvPr id="8" name="insIT_14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Avete 1.000 €. Comprate le frasi GIUSTE!</a:t>
            </a:r>
            <a:endParaRPr lang="en-US" sz="950" dirty="0"/>
          </a:p>
        </p:txBody>
      </p:sp>
      <p:sp>
        <p:nvSpPr>
          <p:cNvPr id="9" name="note_14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1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Game · grammar auction   ·   📖 Review of Grammar Banks 1A–2C</a:t>
            </a:r>
            <a:endParaRPr lang="en-US" sz="800" dirty="0"/>
          </a:p>
        </p:txBody>
      </p:sp>
      <p:sp>
        <p:nvSpPr>
          <p:cNvPr id="12" name="cd_146"/>
          <p:cNvSpPr/>
          <p:nvPr/>
        </p:nvSpPr>
        <p:spPr>
          <a:xfrm>
            <a:off x="320040" y="1417320"/>
            <a:ext cx="2697480" cy="1917192"/>
          </a:xfrm>
          <a:prstGeom prst="roundRect">
            <a:avLst>
              <a:gd name="adj" fmla="val 66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4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4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49"/>
          <p:cNvSpPr/>
          <p:nvPr/>
        </p:nvSpPr>
        <p:spPr>
          <a:xfrm>
            <a:off x="886968" y="1911096"/>
            <a:ext cx="2039112" cy="13502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Each team has €1,000.</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Bid for the sentences you think are CORRECT.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Most correct sentences wins!</a:t>
            </a:r>
            <a:endParaRPr lang="en-US" sz="1200" dirty="0"/>
          </a:p>
        </p:txBody>
      </p:sp>
      <p:sp>
        <p:nvSpPr>
          <p:cNvPr id="16" name="st_150"/>
          <p:cNvSpPr/>
          <p:nvPr/>
        </p:nvSpPr>
        <p:spPr>
          <a:xfrm rot="-180000">
            <a:off x="502920" y="3517392"/>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151"/>
          <p:cNvSpPr/>
          <p:nvPr/>
        </p:nvSpPr>
        <p:spPr>
          <a:xfrm>
            <a:off x="3246120" y="142360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8" name="gq_152"/>
          <p:cNvSpPr/>
          <p:nvPr/>
        </p:nvSpPr>
        <p:spPr>
          <a:xfrm>
            <a:off x="3657600" y="141732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She's a doctor. Her name's Anna.</a:t>
            </a:r>
            <a:endParaRPr lang="en-US" sz="950" dirty="0"/>
          </a:p>
        </p:txBody>
      </p:sp>
      <p:sp>
        <p:nvSpPr>
          <p:cNvPr id="19" name="R1_chip153"/>
          <p:cNvSpPr/>
          <p:nvPr/>
        </p:nvSpPr>
        <p:spPr>
          <a:xfrm>
            <a:off x="6263640" y="141732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t>
            </a:r>
            <a:endParaRPr lang="en-US" sz="1200" dirty="0"/>
          </a:p>
        </p:txBody>
      </p:sp>
      <p:sp>
        <p:nvSpPr>
          <p:cNvPr id="20" name="bd_154"/>
          <p:cNvSpPr/>
          <p:nvPr/>
        </p:nvSpPr>
        <p:spPr>
          <a:xfrm>
            <a:off x="3246120" y="182937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gq_155"/>
          <p:cNvSpPr/>
          <p:nvPr/>
        </p:nvSpPr>
        <p:spPr>
          <a:xfrm>
            <a:off x="3657600" y="182308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 have a car very fast.</a:t>
            </a:r>
            <a:endParaRPr lang="en-US" sz="950" dirty="0"/>
          </a:p>
        </p:txBody>
      </p:sp>
      <p:sp>
        <p:nvSpPr>
          <p:cNvPr id="22" name="R2_chip156"/>
          <p:cNvSpPr/>
          <p:nvPr/>
        </p:nvSpPr>
        <p:spPr>
          <a:xfrm>
            <a:off x="6263640" y="182308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 I have a very fast car.</a:t>
            </a:r>
            <a:endParaRPr lang="en-US" sz="1200" dirty="0"/>
          </a:p>
        </p:txBody>
      </p:sp>
      <p:sp>
        <p:nvSpPr>
          <p:cNvPr id="23" name="bd_157"/>
          <p:cNvSpPr/>
          <p:nvPr/>
        </p:nvSpPr>
        <p:spPr>
          <a:xfrm>
            <a:off x="3246120" y="2235137"/>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gq_158"/>
          <p:cNvSpPr/>
          <p:nvPr/>
        </p:nvSpPr>
        <p:spPr>
          <a:xfrm>
            <a:off x="3657600" y="222885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Is it a umbrella?</a:t>
            </a:r>
            <a:endParaRPr lang="en-US" sz="950" dirty="0"/>
          </a:p>
        </p:txBody>
      </p:sp>
      <p:sp>
        <p:nvSpPr>
          <p:cNvPr id="25" name="R3_chip159"/>
          <p:cNvSpPr/>
          <p:nvPr/>
        </p:nvSpPr>
        <p:spPr>
          <a:xfrm>
            <a:off x="6263640" y="222885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 an umbrella</a:t>
            </a:r>
            <a:endParaRPr lang="en-US" sz="1200" dirty="0"/>
          </a:p>
        </p:txBody>
      </p:sp>
      <p:sp>
        <p:nvSpPr>
          <p:cNvPr id="26" name="bd_160"/>
          <p:cNvSpPr/>
          <p:nvPr/>
        </p:nvSpPr>
        <p:spPr>
          <a:xfrm>
            <a:off x="3246120" y="2640901"/>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gq_161"/>
          <p:cNvSpPr/>
          <p:nvPr/>
        </p:nvSpPr>
        <p:spPr>
          <a:xfrm>
            <a:off x="3657600" y="263461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They aren't from Italy.</a:t>
            </a:r>
            <a:endParaRPr lang="en-US" sz="950" dirty="0"/>
          </a:p>
        </p:txBody>
      </p:sp>
      <p:sp>
        <p:nvSpPr>
          <p:cNvPr id="28" name="R4_chip162"/>
          <p:cNvSpPr/>
          <p:nvPr/>
        </p:nvSpPr>
        <p:spPr>
          <a:xfrm>
            <a:off x="6263640" y="263461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t>
            </a:r>
            <a:endParaRPr lang="en-US" sz="1200" dirty="0"/>
          </a:p>
        </p:txBody>
      </p:sp>
      <p:sp>
        <p:nvSpPr>
          <p:cNvPr id="29" name="bd_163"/>
          <p:cNvSpPr/>
          <p:nvPr/>
        </p:nvSpPr>
        <p:spPr>
          <a:xfrm>
            <a:off x="3246120" y="304666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gq_164"/>
          <p:cNvSpPr/>
          <p:nvPr/>
        </p:nvSpPr>
        <p:spPr>
          <a:xfrm>
            <a:off x="3657600" y="304038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Where she is from?</a:t>
            </a:r>
            <a:endParaRPr lang="en-US" sz="950" dirty="0"/>
          </a:p>
        </p:txBody>
      </p:sp>
      <p:sp>
        <p:nvSpPr>
          <p:cNvPr id="31" name="R5_chip165"/>
          <p:cNvSpPr/>
          <p:nvPr/>
        </p:nvSpPr>
        <p:spPr>
          <a:xfrm>
            <a:off x="6263640" y="304038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 Where is she from?</a:t>
            </a:r>
            <a:endParaRPr lang="en-US" sz="1200" dirty="0"/>
          </a:p>
        </p:txBody>
      </p:sp>
      <p:sp>
        <p:nvSpPr>
          <p:cNvPr id="32" name="bd_166"/>
          <p:cNvSpPr/>
          <p:nvPr/>
        </p:nvSpPr>
        <p:spPr>
          <a:xfrm>
            <a:off x="3246120" y="345243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gq_167"/>
          <p:cNvSpPr/>
          <p:nvPr/>
        </p:nvSpPr>
        <p:spPr>
          <a:xfrm>
            <a:off x="3657600" y="344614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Let's go to the cinema!</a:t>
            </a:r>
            <a:endParaRPr lang="en-US" sz="950" dirty="0"/>
          </a:p>
        </p:txBody>
      </p:sp>
      <p:sp>
        <p:nvSpPr>
          <p:cNvPr id="34" name="R6_chip168"/>
          <p:cNvSpPr/>
          <p:nvPr/>
        </p:nvSpPr>
        <p:spPr>
          <a:xfrm>
            <a:off x="6263640" y="344614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t>
            </a:r>
            <a:endParaRPr lang="en-US" sz="1200" dirty="0"/>
          </a:p>
        </p:txBody>
      </p:sp>
      <p:sp>
        <p:nvSpPr>
          <p:cNvPr id="35" name="bd_169"/>
          <p:cNvSpPr/>
          <p:nvPr/>
        </p:nvSpPr>
        <p:spPr>
          <a:xfrm>
            <a:off x="3246120" y="385819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6" name="gq_170"/>
          <p:cNvSpPr/>
          <p:nvPr/>
        </p:nvSpPr>
        <p:spPr>
          <a:xfrm>
            <a:off x="3657600" y="385191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Not open the window, please.</a:t>
            </a:r>
            <a:endParaRPr lang="en-US" sz="950" dirty="0"/>
          </a:p>
        </p:txBody>
      </p:sp>
      <p:sp>
        <p:nvSpPr>
          <p:cNvPr id="37" name="R7_chip171"/>
          <p:cNvSpPr/>
          <p:nvPr/>
        </p:nvSpPr>
        <p:spPr>
          <a:xfrm>
            <a:off x="6263640" y="385191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 Don't open the window.</a:t>
            </a:r>
            <a:endParaRPr lang="en-US" sz="1150" dirty="0"/>
          </a:p>
        </p:txBody>
      </p:sp>
      <p:sp>
        <p:nvSpPr>
          <p:cNvPr id="38" name="bd_172"/>
          <p:cNvSpPr/>
          <p:nvPr/>
        </p:nvSpPr>
        <p:spPr>
          <a:xfrm>
            <a:off x="3246120" y="426396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39" name="gq_173"/>
          <p:cNvSpPr/>
          <p:nvPr/>
        </p:nvSpPr>
        <p:spPr>
          <a:xfrm>
            <a:off x="3657600" y="425767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They're very expensive sunglasses.</a:t>
            </a:r>
            <a:endParaRPr lang="en-US" sz="950" dirty="0"/>
          </a:p>
        </p:txBody>
      </p:sp>
      <p:sp>
        <p:nvSpPr>
          <p:cNvPr id="40" name="R8_chip174"/>
          <p:cNvSpPr/>
          <p:nvPr/>
        </p:nvSpPr>
        <p:spPr>
          <a:xfrm>
            <a:off x="6263640" y="425767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76"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177"/>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Little words</a:t>
            </a:r>
            <a:endParaRPr lang="en-US" sz="2500" dirty="0"/>
          </a:p>
        </p:txBody>
      </p:sp>
      <p:pic>
        <p:nvPicPr>
          <p:cNvPr id="6" name="brP_178"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79"/>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with at, from, in, off or to. Then the verbs.</a:t>
            </a:r>
            <a:endParaRPr lang="en-US" sz="1250" dirty="0"/>
          </a:p>
        </p:txBody>
      </p:sp>
      <p:sp>
        <p:nvSpPr>
          <p:cNvPr id="8" name="insIT_18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con at, from, in, off o to. Poi i verbi.</a:t>
            </a:r>
            <a:endParaRPr lang="en-US" sz="950" dirty="0"/>
          </a:p>
        </p:txBody>
      </p:sp>
      <p:sp>
        <p:nvSpPr>
          <p:cNvPr id="9" name="note_18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1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Vocabulary · SB p.20 a, b   ·   📖 SB p.20 · Vocabulary a, b (TG key)</a:t>
            </a:r>
            <a:endParaRPr lang="en-US" sz="800" dirty="0"/>
          </a:p>
        </p:txBody>
      </p:sp>
      <p:sp>
        <p:nvSpPr>
          <p:cNvPr id="12" name="cd_184"/>
          <p:cNvSpPr/>
          <p:nvPr/>
        </p:nvSpPr>
        <p:spPr>
          <a:xfrm>
            <a:off x="320040" y="1417320"/>
            <a:ext cx="854964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185"/>
          <p:cNvSpPr/>
          <p:nvPr/>
        </p:nvSpPr>
        <p:spPr>
          <a:xfrm>
            <a:off x="45720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a · at, from, in, off, to</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 I'm</a:t>
            </a:r>
            <a:pPr indent="0" marL="0">
              <a:lnSpc>
                <a:spcPct val="105000"/>
              </a:lnSpc>
              <a:spcAft>
                <a:spcPts val="700"/>
              </a:spcAft>
              <a:buNone/>
            </a:pPr>
            <a:r>
              <a:rPr lang="en-US" sz="1300" b="1" dirty="0">
                <a:solidFill>
                  <a:srgbClr val="7B5CD6"/>
                </a:solidFill>
                <a:highlight>
                  <a:srgbClr val="EEE8FB"/>
                </a:highlight>
                <a:latin typeface="Georgia" pitchFamily="34" charset="0"/>
                <a:ea typeface="Georgia" pitchFamily="34" charset="-122"/>
                <a:cs typeface="Georgia" pitchFamily="34" charset="-120"/>
              </a:rPr>
              <a:t> (1) from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Japan.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 Nice</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meet you.</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 What's bonjour</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English?</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 Look</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board.</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Please</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 turn</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your phone.</a:t>
            </a:r>
            <a:endParaRPr lang="en-US" sz="1300" dirty="0"/>
          </a:p>
        </p:txBody>
      </p:sp>
      <p:sp>
        <p:nvSpPr>
          <p:cNvPr id="14" name="R1_rdA186"/>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a · at, from, in, off, to</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 I'm</a:t>
            </a:r>
            <a:pPr indent="0" marL="0">
              <a:lnSpc>
                <a:spcPct val="105000"/>
              </a:lnSpc>
              <a:spcAft>
                <a:spcPts val="700"/>
              </a:spcAft>
              <a:buNone/>
            </a:pPr>
            <a:r>
              <a:rPr lang="en-US" sz="1300" b="1" dirty="0">
                <a:solidFill>
                  <a:srgbClr val="7B5CD6"/>
                </a:solidFill>
                <a:highlight>
                  <a:srgbClr val="EEE8FB"/>
                </a:highlight>
                <a:latin typeface="Georgia" pitchFamily="34" charset="0"/>
                <a:ea typeface="Georgia" pitchFamily="34" charset="-122"/>
                <a:cs typeface="Georgia" pitchFamily="34" charset="-120"/>
              </a:rPr>
              <a:t> (1) from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Japan.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 Nice</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(2) to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meet you.</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 What's bonjour</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English?</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 Look</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board.</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Please</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 turn</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your phone.</a:t>
            </a:r>
            <a:endParaRPr lang="en-US" sz="1300" dirty="0"/>
          </a:p>
        </p:txBody>
      </p:sp>
      <p:sp>
        <p:nvSpPr>
          <p:cNvPr id="15" name="R2_rdA187"/>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a · at, from, in, off, to</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 I'm</a:t>
            </a:r>
            <a:pPr indent="0" marL="0">
              <a:lnSpc>
                <a:spcPct val="105000"/>
              </a:lnSpc>
              <a:spcAft>
                <a:spcPts val="700"/>
              </a:spcAft>
              <a:buNone/>
            </a:pPr>
            <a:r>
              <a:rPr lang="en-US" sz="1300" b="1" dirty="0">
                <a:solidFill>
                  <a:srgbClr val="7B5CD6"/>
                </a:solidFill>
                <a:highlight>
                  <a:srgbClr val="EEE8FB"/>
                </a:highlight>
                <a:latin typeface="Georgia" pitchFamily="34" charset="0"/>
                <a:ea typeface="Georgia" pitchFamily="34" charset="-122"/>
                <a:cs typeface="Georgia" pitchFamily="34" charset="-120"/>
              </a:rPr>
              <a:t> (1) from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Japan.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 Nice</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(2) to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meet you.</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 What's bonjour</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(3) in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English?</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 Look</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board.</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Please</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 turn</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your phone.</a:t>
            </a:r>
            <a:endParaRPr lang="en-US" sz="1300" dirty="0"/>
          </a:p>
        </p:txBody>
      </p:sp>
      <p:sp>
        <p:nvSpPr>
          <p:cNvPr id="16" name="R3_rdA188"/>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a · at, from, in, off, to</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 I'm</a:t>
            </a:r>
            <a:pPr indent="0" marL="0">
              <a:lnSpc>
                <a:spcPct val="105000"/>
              </a:lnSpc>
              <a:spcAft>
                <a:spcPts val="700"/>
              </a:spcAft>
              <a:buNone/>
            </a:pPr>
            <a:r>
              <a:rPr lang="en-US" sz="1300" b="1" dirty="0">
                <a:solidFill>
                  <a:srgbClr val="7B5CD6"/>
                </a:solidFill>
                <a:highlight>
                  <a:srgbClr val="EEE8FB"/>
                </a:highlight>
                <a:latin typeface="Georgia" pitchFamily="34" charset="0"/>
                <a:ea typeface="Georgia" pitchFamily="34" charset="-122"/>
                <a:cs typeface="Georgia" pitchFamily="34" charset="-120"/>
              </a:rPr>
              <a:t> (1) from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Japan.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 Nice</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(2) to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meet you.</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 What's bonjour</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(3) in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English?</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 Look</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(4) at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board.</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Please</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 turn</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your phone.</a:t>
            </a:r>
            <a:endParaRPr lang="en-US" sz="1300" dirty="0"/>
          </a:p>
        </p:txBody>
      </p:sp>
      <p:sp>
        <p:nvSpPr>
          <p:cNvPr id="17" name="R4_rdA189"/>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a · at, from, in, off, to</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 I'm</a:t>
            </a:r>
            <a:pPr indent="0" marL="0">
              <a:lnSpc>
                <a:spcPct val="105000"/>
              </a:lnSpc>
              <a:spcAft>
                <a:spcPts val="700"/>
              </a:spcAft>
              <a:buNone/>
            </a:pPr>
            <a:r>
              <a:rPr lang="en-US" sz="1300" b="1" dirty="0">
                <a:solidFill>
                  <a:srgbClr val="7B5CD6"/>
                </a:solidFill>
                <a:highlight>
                  <a:srgbClr val="EEE8FB"/>
                </a:highlight>
                <a:latin typeface="Georgia" pitchFamily="34" charset="0"/>
                <a:ea typeface="Georgia" pitchFamily="34" charset="-122"/>
                <a:cs typeface="Georgia" pitchFamily="34" charset="-120"/>
              </a:rPr>
              <a:t> (1) from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Japan.</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 Nice</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(2) to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meet you.</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 What's bonjour</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(3) in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English?</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 Look</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(4) at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board.</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Please</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 turn</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(5) off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your phone.</a:t>
            </a:r>
            <a:endParaRPr lang="en-US" sz="1300" dirty="0"/>
          </a:p>
        </p:txBody>
      </p:sp>
      <p:sp>
        <p:nvSpPr>
          <p:cNvPr id="18" name="rd_190"/>
          <p:cNvSpPr/>
          <p:nvPr/>
        </p:nvSpPr>
        <p:spPr>
          <a:xfrm>
            <a:off x="473202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19" name="R5_rdA191"/>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(6) Read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20" name="R6_rdA192"/>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(6) Read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(7) Work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21" name="R7_rdA193"/>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(6) Read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(7) Work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(8) Stand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22" name="R8_rdA194"/>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(6) Read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(7) Work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(8) Stand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(9) Open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23" name="R9_rdA195"/>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00" b="1" dirty="0">
                <a:solidFill>
                  <a:srgbClr val="1F6F43"/>
                </a:solidFill>
                <a:latin typeface="Georgia" pitchFamily="34" charset="0"/>
                <a:ea typeface="Georgia" pitchFamily="34" charset="-122"/>
                <a:cs typeface="Georgia" pitchFamily="34" charset="-120"/>
              </a:rPr>
              <a:t>b · Answer, Open, Read, Stand, Work</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(6) Read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text.</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(7) Work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in pairs.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(8) Stand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up.</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(9) Open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door.</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300" b="1" dirty="0">
                <a:solidFill>
                  <a:srgbClr val="1B2559"/>
                </a:solidFill>
                <a:highlight>
                  <a:srgbClr val="FFE066"/>
                </a:highlight>
                <a:latin typeface="Georgia" pitchFamily="34" charset="0"/>
                <a:ea typeface="Georgia" pitchFamily="34" charset="-122"/>
                <a:cs typeface="Georgia" pitchFamily="34" charset="-120"/>
              </a:rPr>
              <a:t> (10) Answer </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the questions.</a:t>
            </a:r>
            <a:endParaRPr lang="en-US" sz="1300" dirty="0"/>
          </a:p>
        </p:txBody>
      </p:sp>
      <p:sp>
        <p:nvSpPr>
          <p:cNvPr id="24" name="rdl_196"/>
          <p:cNvSpPr/>
          <p:nvPr/>
        </p:nvSpPr>
        <p:spPr>
          <a:xfrm>
            <a:off x="4594860" y="1600200"/>
            <a:ext cx="0" cy="2999232"/>
          </a:xfrm>
          <a:prstGeom prst="line">
            <a:avLst/>
          </a:prstGeom>
          <a:noFill/>
          <a:ln w="28575">
            <a:solidFill>
              <a:srgbClr val="A8E5BE"/>
            </a:solidFill>
            <a:prstDash val="solid"/>
          </a:ln>
        </p:spPr>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9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19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Odd one out</a:t>
            </a:r>
            <a:endParaRPr lang="en-US" sz="2500" dirty="0"/>
          </a:p>
        </p:txBody>
      </p:sp>
      <p:pic>
        <p:nvPicPr>
          <p:cNvPr id="6" name="brP_200"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01"/>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which word is different? Say WHY!</a:t>
            </a:r>
            <a:endParaRPr lang="en-US" sz="1250" dirty="0"/>
          </a:p>
        </p:txBody>
      </p:sp>
      <p:sp>
        <p:nvSpPr>
          <p:cNvPr id="8" name="insIT_2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quale parola è diversa? Dite PERCHÉ!</a:t>
            </a:r>
            <a:endParaRPr lang="en-US" sz="950" dirty="0"/>
          </a:p>
        </p:txBody>
      </p:sp>
      <p:sp>
        <p:nvSpPr>
          <p:cNvPr id="9" name="note_20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2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Vocabulary · odd one out   ·   📖 SB p.20 · Vocabulary c (TG key)</a:t>
            </a:r>
            <a:endParaRPr lang="en-US" sz="800" dirty="0"/>
          </a:p>
        </p:txBody>
      </p:sp>
      <p:sp>
        <p:nvSpPr>
          <p:cNvPr id="12" name="cd_206"/>
          <p:cNvSpPr/>
          <p:nvPr/>
        </p:nvSpPr>
        <p:spPr>
          <a:xfrm>
            <a:off x="320040" y="1417320"/>
            <a:ext cx="2697480" cy="1722120"/>
          </a:xfrm>
          <a:prstGeom prst="roundRect">
            <a:avLst>
              <a:gd name="adj" fmla="val 743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0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0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209"/>
          <p:cNvSpPr/>
          <p:nvPr/>
        </p:nvSpPr>
        <p:spPr>
          <a:xfrm>
            <a:off x="886968" y="1911096"/>
            <a:ext cx="2039112" cy="1155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Read the 4 words.</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Find the different one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Say why = 1 more point!</a:t>
            </a:r>
            <a:endParaRPr lang="en-US" sz="1200" dirty="0"/>
          </a:p>
        </p:txBody>
      </p:sp>
      <p:sp>
        <p:nvSpPr>
          <p:cNvPr id="16" name="st_210"/>
          <p:cNvSpPr/>
          <p:nvPr/>
        </p:nvSpPr>
        <p:spPr>
          <a:xfrm rot="-180000">
            <a:off x="502920" y="3322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211"/>
          <p:cNvSpPr/>
          <p:nvPr/>
        </p:nvSpPr>
        <p:spPr>
          <a:xfrm>
            <a:off x="3246120" y="140106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212"/>
          <p:cNvSpPr/>
          <p:nvPr/>
        </p:nvSpPr>
        <p:spPr>
          <a:xfrm>
            <a:off x="3657600" y="1417320"/>
            <a:ext cx="2514600" cy="296672"/>
          </a:xfrm>
          <a:prstGeom prst="roundRect">
            <a:avLst>
              <a:gd name="adj" fmla="val 30822"/>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one · book · six · three</a:t>
            </a:r>
            <a:endParaRPr lang="en-US" sz="900" dirty="0"/>
          </a:p>
        </p:txBody>
      </p:sp>
      <p:sp>
        <p:nvSpPr>
          <p:cNvPr id="19" name="chip_213"/>
          <p:cNvSpPr/>
          <p:nvPr/>
        </p:nvSpPr>
        <p:spPr>
          <a:xfrm>
            <a:off x="6263640" y="1417320"/>
            <a:ext cx="2560320" cy="296672"/>
          </a:xfrm>
          <a:prstGeom prst="roundRect">
            <a:avLst>
              <a:gd name="adj" fmla="val 30822"/>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book (the book's example)</a:t>
            </a:r>
            <a:endParaRPr lang="en-US" sz="900" dirty="0"/>
          </a:p>
        </p:txBody>
      </p:sp>
      <p:sp>
        <p:nvSpPr>
          <p:cNvPr id="20" name="bd_214"/>
          <p:cNvSpPr/>
          <p:nvPr/>
        </p:nvSpPr>
        <p:spPr>
          <a:xfrm>
            <a:off x="3246120" y="176174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215"/>
          <p:cNvSpPr/>
          <p:nvPr/>
        </p:nvSpPr>
        <p:spPr>
          <a:xfrm>
            <a:off x="3657600" y="1778000"/>
            <a:ext cx="2514600" cy="296672"/>
          </a:xfrm>
          <a:prstGeom prst="roundRect">
            <a:avLst>
              <a:gd name="adj" fmla="val 3082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eight · file · seven · two</a:t>
            </a:r>
            <a:endParaRPr lang="en-US" sz="900" dirty="0"/>
          </a:p>
        </p:txBody>
      </p:sp>
      <p:sp>
        <p:nvSpPr>
          <p:cNvPr id="22" name="R1_chip216"/>
          <p:cNvSpPr/>
          <p:nvPr/>
        </p:nvSpPr>
        <p:spPr>
          <a:xfrm>
            <a:off x="6263640" y="177800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file (the others are numbers)</a:t>
            </a:r>
            <a:endParaRPr lang="en-US" sz="900" dirty="0"/>
          </a:p>
        </p:txBody>
      </p:sp>
      <p:sp>
        <p:nvSpPr>
          <p:cNvPr id="23" name="bd_217"/>
          <p:cNvSpPr/>
          <p:nvPr/>
        </p:nvSpPr>
        <p:spPr>
          <a:xfrm>
            <a:off x="3246120" y="212242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218"/>
          <p:cNvSpPr/>
          <p:nvPr/>
        </p:nvSpPr>
        <p:spPr>
          <a:xfrm>
            <a:off x="3657600" y="2138680"/>
            <a:ext cx="2514600" cy="296672"/>
          </a:xfrm>
          <a:prstGeom prst="roundRect">
            <a:avLst>
              <a:gd name="adj" fmla="val 3082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Brazil · Chinese · Hungary · Switzerland</a:t>
            </a:r>
            <a:endParaRPr lang="en-US" sz="850" dirty="0"/>
          </a:p>
        </p:txBody>
      </p:sp>
      <p:sp>
        <p:nvSpPr>
          <p:cNvPr id="25" name="R2_chip219"/>
          <p:cNvSpPr/>
          <p:nvPr/>
        </p:nvSpPr>
        <p:spPr>
          <a:xfrm>
            <a:off x="6263640" y="213868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Chinese (the others are countries)</a:t>
            </a:r>
            <a:endParaRPr lang="en-US" sz="900" dirty="0"/>
          </a:p>
        </p:txBody>
      </p:sp>
      <p:sp>
        <p:nvSpPr>
          <p:cNvPr id="26" name="bd_220"/>
          <p:cNvSpPr/>
          <p:nvPr/>
        </p:nvSpPr>
        <p:spPr>
          <a:xfrm>
            <a:off x="3246120" y="24831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221"/>
          <p:cNvSpPr/>
          <p:nvPr/>
        </p:nvSpPr>
        <p:spPr>
          <a:xfrm>
            <a:off x="3657600" y="2499360"/>
            <a:ext cx="2514600" cy="296672"/>
          </a:xfrm>
          <a:prstGeom prst="roundRect">
            <a:avLst>
              <a:gd name="adj" fmla="val 3082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France · Italian · Japanese · Polish</a:t>
            </a:r>
            <a:endParaRPr lang="en-US" sz="900" dirty="0"/>
          </a:p>
        </p:txBody>
      </p:sp>
      <p:sp>
        <p:nvSpPr>
          <p:cNvPr id="28" name="R3_chip222"/>
          <p:cNvSpPr/>
          <p:nvPr/>
        </p:nvSpPr>
        <p:spPr>
          <a:xfrm>
            <a:off x="6263640" y="249936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France (the others are nationalities)</a:t>
            </a:r>
            <a:endParaRPr lang="en-US" sz="900" dirty="0"/>
          </a:p>
        </p:txBody>
      </p:sp>
      <p:sp>
        <p:nvSpPr>
          <p:cNvPr id="29" name="bd_223"/>
          <p:cNvSpPr/>
          <p:nvPr/>
        </p:nvSpPr>
        <p:spPr>
          <a:xfrm>
            <a:off x="3246120" y="284378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224"/>
          <p:cNvSpPr/>
          <p:nvPr/>
        </p:nvSpPr>
        <p:spPr>
          <a:xfrm>
            <a:off x="3657600" y="2860040"/>
            <a:ext cx="2514600" cy="296672"/>
          </a:xfrm>
          <a:prstGeom prst="roundRect">
            <a:avLst>
              <a:gd name="adj" fmla="val 3082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Africa · Asia · Europe · Ireland</a:t>
            </a:r>
            <a:endParaRPr lang="en-US" sz="900" dirty="0"/>
          </a:p>
        </p:txBody>
      </p:sp>
      <p:sp>
        <p:nvSpPr>
          <p:cNvPr id="31" name="R4_chip225"/>
          <p:cNvSpPr/>
          <p:nvPr/>
        </p:nvSpPr>
        <p:spPr>
          <a:xfrm>
            <a:off x="6263640" y="286004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Ireland (the others are continents)</a:t>
            </a:r>
            <a:endParaRPr lang="en-US" sz="900" dirty="0"/>
          </a:p>
        </p:txBody>
      </p:sp>
      <p:sp>
        <p:nvSpPr>
          <p:cNvPr id="32" name="bd_226"/>
          <p:cNvSpPr/>
          <p:nvPr/>
        </p:nvSpPr>
        <p:spPr>
          <a:xfrm>
            <a:off x="3246120" y="320446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227"/>
          <p:cNvSpPr/>
          <p:nvPr/>
        </p:nvSpPr>
        <p:spPr>
          <a:xfrm>
            <a:off x="3657600" y="3220720"/>
            <a:ext cx="2514600" cy="296672"/>
          </a:xfrm>
          <a:prstGeom prst="roundRect">
            <a:avLst>
              <a:gd name="adj" fmla="val 3082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sixteen · forty · eighty · ninety</a:t>
            </a:r>
            <a:endParaRPr lang="en-US" sz="900" dirty="0"/>
          </a:p>
        </p:txBody>
      </p:sp>
      <p:sp>
        <p:nvSpPr>
          <p:cNvPr id="34" name="R5_chip228"/>
          <p:cNvSpPr/>
          <p:nvPr/>
        </p:nvSpPr>
        <p:spPr>
          <a:xfrm>
            <a:off x="6263640" y="322072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sixteen (the others are tens)</a:t>
            </a:r>
            <a:endParaRPr lang="en-US" sz="900" dirty="0"/>
          </a:p>
        </p:txBody>
      </p:sp>
      <p:sp>
        <p:nvSpPr>
          <p:cNvPr id="35" name="bd_229"/>
          <p:cNvSpPr/>
          <p:nvPr/>
        </p:nvSpPr>
        <p:spPr>
          <a:xfrm>
            <a:off x="3246120" y="35651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230"/>
          <p:cNvSpPr/>
          <p:nvPr/>
        </p:nvSpPr>
        <p:spPr>
          <a:xfrm>
            <a:off x="3657600" y="3581400"/>
            <a:ext cx="2514600" cy="296672"/>
          </a:xfrm>
          <a:prstGeom prst="roundRect">
            <a:avLst>
              <a:gd name="adj" fmla="val 3082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Friday · Italy · Monday · Wednesday</a:t>
            </a:r>
            <a:endParaRPr lang="en-US" sz="900" dirty="0"/>
          </a:p>
        </p:txBody>
      </p:sp>
      <p:sp>
        <p:nvSpPr>
          <p:cNvPr id="37" name="R6_chip231"/>
          <p:cNvSpPr/>
          <p:nvPr/>
        </p:nvSpPr>
        <p:spPr>
          <a:xfrm>
            <a:off x="6263640" y="358140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Italy (the others are days)</a:t>
            </a:r>
            <a:endParaRPr lang="en-US" sz="900" dirty="0"/>
          </a:p>
        </p:txBody>
      </p:sp>
      <p:sp>
        <p:nvSpPr>
          <p:cNvPr id="38" name="bd_232"/>
          <p:cNvSpPr/>
          <p:nvPr/>
        </p:nvSpPr>
        <p:spPr>
          <a:xfrm>
            <a:off x="3246120" y="392582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233"/>
          <p:cNvSpPr/>
          <p:nvPr/>
        </p:nvSpPr>
        <p:spPr>
          <a:xfrm>
            <a:off x="3657600" y="3942080"/>
            <a:ext cx="2514600" cy="296672"/>
          </a:xfrm>
          <a:prstGeom prst="roundRect">
            <a:avLst>
              <a:gd name="adj" fmla="val 3082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glasses · headphones · purse · scissors</a:t>
            </a:r>
            <a:endParaRPr lang="en-US" sz="850" dirty="0"/>
          </a:p>
        </p:txBody>
      </p:sp>
      <p:sp>
        <p:nvSpPr>
          <p:cNvPr id="40" name="R7_chip234"/>
          <p:cNvSpPr/>
          <p:nvPr/>
        </p:nvSpPr>
        <p:spPr>
          <a:xfrm>
            <a:off x="6263640" y="394208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purse (the others are always plural)</a:t>
            </a:r>
            <a:endParaRPr lang="en-US" sz="900" dirty="0"/>
          </a:p>
        </p:txBody>
      </p:sp>
      <p:sp>
        <p:nvSpPr>
          <p:cNvPr id="41" name="bd_235"/>
          <p:cNvSpPr/>
          <p:nvPr/>
        </p:nvSpPr>
        <p:spPr>
          <a:xfrm>
            <a:off x="3246120" y="428650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236"/>
          <p:cNvSpPr/>
          <p:nvPr/>
        </p:nvSpPr>
        <p:spPr>
          <a:xfrm>
            <a:off x="3657600" y="4302760"/>
            <a:ext cx="2514600" cy="296672"/>
          </a:xfrm>
          <a:prstGeom prst="roundRect">
            <a:avLst>
              <a:gd name="adj" fmla="val 3082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angry · happy · stressed · tired</a:t>
            </a:r>
            <a:endParaRPr lang="en-US" sz="900" dirty="0"/>
          </a:p>
        </p:txBody>
      </p:sp>
      <p:sp>
        <p:nvSpPr>
          <p:cNvPr id="43" name="R8_chip237"/>
          <p:cNvSpPr/>
          <p:nvPr/>
        </p:nvSpPr>
        <p:spPr>
          <a:xfrm>
            <a:off x="6263640" y="430276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happy (the others are negative)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39"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240"/>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Opposites</a:t>
            </a:r>
            <a:endParaRPr lang="en-US" sz="2500" dirty="0"/>
          </a:p>
        </p:txBody>
      </p:sp>
      <p:pic>
        <p:nvPicPr>
          <p:cNvPr id="6" name="brP_241"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242"/>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opposite adjective.</a:t>
            </a:r>
            <a:endParaRPr lang="en-US" sz="1250" dirty="0"/>
          </a:p>
        </p:txBody>
      </p:sp>
      <p:sp>
        <p:nvSpPr>
          <p:cNvPr id="8" name="insIT_24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l'aggettivo contrario.</a:t>
            </a:r>
            <a:endParaRPr lang="en-US" sz="950" dirty="0"/>
          </a:p>
        </p:txBody>
      </p:sp>
      <p:sp>
        <p:nvSpPr>
          <p:cNvPr id="9" name="note_24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4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4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Vocabulary · opposites   ·   📖 SB p.20 · Vocabulary d (TG key)</a:t>
            </a:r>
            <a:endParaRPr lang="en-US" sz="800" dirty="0"/>
          </a:p>
        </p:txBody>
      </p:sp>
      <p:sp>
        <p:nvSpPr>
          <p:cNvPr id="12" name="cd_247"/>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4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4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50"/>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big → small</a:t>
            </a:r>
            <a:endParaRPr lang="en-US" sz="1050" dirty="0"/>
          </a:p>
        </p:txBody>
      </p:sp>
      <p:sp>
        <p:nvSpPr>
          <p:cNvPr id="16" name="bd_251"/>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7" name="q_252"/>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good</a:t>
            </a:r>
            <a:endParaRPr lang="en-US" sz="1150" dirty="0"/>
          </a:p>
        </p:txBody>
      </p:sp>
      <p:sp>
        <p:nvSpPr>
          <p:cNvPr id="18" name="R1_chip253"/>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bad</a:t>
            </a:r>
            <a:endParaRPr lang="en-US" sz="1050" dirty="0"/>
          </a:p>
        </p:txBody>
      </p:sp>
      <p:sp>
        <p:nvSpPr>
          <p:cNvPr id="19" name="bd_254"/>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0" name="q_255"/>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expensive</a:t>
            </a:r>
            <a:endParaRPr lang="en-US" sz="1150" dirty="0"/>
          </a:p>
        </p:txBody>
      </p:sp>
      <p:sp>
        <p:nvSpPr>
          <p:cNvPr id="21" name="R2_chip256"/>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cheap</a:t>
            </a:r>
            <a:endParaRPr lang="en-US" sz="1050" dirty="0"/>
          </a:p>
        </p:txBody>
      </p:sp>
      <p:sp>
        <p:nvSpPr>
          <p:cNvPr id="22" name="bd_257"/>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q_258"/>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dirty</a:t>
            </a:r>
            <a:endParaRPr lang="en-US" sz="1150" dirty="0"/>
          </a:p>
        </p:txBody>
      </p:sp>
      <p:sp>
        <p:nvSpPr>
          <p:cNvPr id="24" name="R3_chip259"/>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clean</a:t>
            </a:r>
            <a:endParaRPr lang="en-US" sz="1050" dirty="0"/>
          </a:p>
        </p:txBody>
      </p:sp>
      <p:sp>
        <p:nvSpPr>
          <p:cNvPr id="25" name="bd_260"/>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q_261"/>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high</a:t>
            </a:r>
            <a:endParaRPr lang="en-US" sz="1150" dirty="0"/>
          </a:p>
        </p:txBody>
      </p:sp>
      <p:sp>
        <p:nvSpPr>
          <p:cNvPr id="27" name="R4_chip262"/>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low</a:t>
            </a:r>
            <a:endParaRPr lang="en-US" sz="1050" dirty="0"/>
          </a:p>
        </p:txBody>
      </p:sp>
      <p:sp>
        <p:nvSpPr>
          <p:cNvPr id="28" name="bd_263"/>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9" name="q_264"/>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left</a:t>
            </a:r>
            <a:endParaRPr lang="en-US" sz="1150" dirty="0"/>
          </a:p>
        </p:txBody>
      </p:sp>
      <p:sp>
        <p:nvSpPr>
          <p:cNvPr id="30" name="R5_chip265"/>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right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67"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68"/>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Which sound?</a:t>
            </a:r>
            <a:endParaRPr lang="en-US" sz="2400" dirty="0"/>
          </a:p>
        </p:txBody>
      </p:sp>
      <p:pic>
        <p:nvPicPr>
          <p:cNvPr id="6" name="brP_269" descr="/home/claude/lls-course/v2/assets/brush-pink.png">    </p:cNvPr>
          <p:cNvPicPr>
            <a:picLocks noChangeAspect="1"/>
          </p:cNvPicPr>
          <p:nvPr/>
        </p:nvPicPr>
        <p:blipFill>
          <a:blip r:embed="rId3"/>
          <a:stretch>
            <a:fillRect/>
          </a:stretch>
        </p:blipFill>
        <p:spPr>
          <a:xfrm>
            <a:off x="1207008" y="731520"/>
            <a:ext cx="4901184" cy="402336"/>
          </a:xfrm>
          <a:prstGeom prst="rect">
            <a:avLst/>
          </a:prstGeom>
        </p:spPr>
      </p:pic>
      <p:sp>
        <p:nvSpPr>
          <p:cNvPr id="7" name="ins_270"/>
          <p:cNvSpPr/>
          <p:nvPr/>
        </p:nvSpPr>
        <p:spPr>
          <a:xfrm>
            <a:off x="1353312" y="731520"/>
            <a:ext cx="464515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words. Which sound are the pink letters?</a:t>
            </a:r>
            <a:endParaRPr lang="en-US" sz="1250" dirty="0"/>
          </a:p>
        </p:txBody>
      </p:sp>
      <p:sp>
        <p:nvSpPr>
          <p:cNvPr id="8" name="insIT_27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le parole. Che suono hanno le lettere rosa?</a:t>
            </a:r>
            <a:endParaRPr lang="en-US" sz="950" dirty="0"/>
          </a:p>
        </p:txBody>
      </p:sp>
      <p:sp>
        <p:nvSpPr>
          <p:cNvPr id="9" name="note_27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Guided discovery</a:t>
            </a:r>
            <a:endParaRPr lang="en-US" sz="1150" dirty="0"/>
          </a:p>
        </p:txBody>
      </p:sp>
      <p:pic>
        <p:nvPicPr>
          <p:cNvPr id="10" name="logo_27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Pronunciation · sounds   ·   📖 SB p.20 · Pronunciation a, c (TG key)</a:t>
            </a:r>
            <a:endParaRPr lang="en-US" sz="800" dirty="0"/>
          </a:p>
        </p:txBody>
      </p:sp>
      <p:sp>
        <p:nvSpPr>
          <p:cNvPr id="12" name="cd_275"/>
          <p:cNvSpPr/>
          <p:nvPr/>
        </p:nvSpPr>
        <p:spPr>
          <a:xfrm>
            <a:off x="320040" y="1417320"/>
            <a:ext cx="2697480" cy="2295144"/>
          </a:xfrm>
          <a:prstGeom prst="roundRect">
            <a:avLst>
              <a:gd name="adj" fmla="val 55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7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7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sounds</a:t>
            </a:r>
            <a:endParaRPr lang="en-US" sz="1300" dirty="0"/>
          </a:p>
        </p:txBody>
      </p:sp>
      <p:sp>
        <p:nvSpPr>
          <p:cNvPr id="15" name="lg_278"/>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fish /ɪ/</a:t>
            </a:r>
            <a:endParaRPr lang="en-US" sz="1050" dirty="0"/>
          </a:p>
        </p:txBody>
      </p:sp>
      <p:sp>
        <p:nvSpPr>
          <p:cNvPr id="16" name="lg_279"/>
          <p:cNvSpPr/>
          <p:nvPr/>
        </p:nvSpPr>
        <p:spPr>
          <a:xfrm>
            <a:off x="1719072" y="1984248"/>
            <a:ext cx="1188720" cy="310896"/>
          </a:xfrm>
          <a:prstGeom prst="roundRect">
            <a:avLst>
              <a:gd name="adj" fmla="val 50000"/>
            </a:avLst>
          </a:prstGeom>
          <a:solidFill>
            <a:srgbClr val="FFC2D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tree /iː/</a:t>
            </a:r>
            <a:endParaRPr lang="en-US" sz="1050" dirty="0"/>
          </a:p>
        </p:txBody>
      </p:sp>
      <p:sp>
        <p:nvSpPr>
          <p:cNvPr id="17" name="lg_280"/>
          <p:cNvSpPr/>
          <p:nvPr/>
        </p:nvSpPr>
        <p:spPr>
          <a:xfrm>
            <a:off x="457200" y="2368296"/>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car /ɑː/</a:t>
            </a:r>
            <a:endParaRPr lang="en-US" sz="1050" dirty="0"/>
          </a:p>
        </p:txBody>
      </p:sp>
      <p:sp>
        <p:nvSpPr>
          <p:cNvPr id="18" name="lg_281"/>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shower /ʃ/</a:t>
            </a:r>
            <a:endParaRPr lang="en-US" sz="1050" dirty="0"/>
          </a:p>
        </p:txBody>
      </p:sp>
      <p:sp>
        <p:nvSpPr>
          <p:cNvPr id="19" name="lg_282"/>
          <p:cNvSpPr/>
          <p:nvPr/>
        </p:nvSpPr>
        <p:spPr>
          <a:xfrm>
            <a:off x="457200" y="2752344"/>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jazz /dʒ/</a:t>
            </a:r>
            <a:endParaRPr lang="en-US" sz="1050" dirty="0"/>
          </a:p>
        </p:txBody>
      </p:sp>
      <p:sp>
        <p:nvSpPr>
          <p:cNvPr id="20" name="sq_283"/>
          <p:cNvSpPr/>
          <p:nvPr/>
        </p:nvSpPr>
        <p:spPr>
          <a:xfrm>
            <a:off x="3246120" y="1417320"/>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e.g. </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e</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mail</a:t>
            </a:r>
            <a:endParaRPr lang="en-US" sz="1200" dirty="0"/>
          </a:p>
        </p:txBody>
      </p:sp>
      <p:sp>
        <p:nvSpPr>
          <p:cNvPr id="21" name="R1_tag284"/>
          <p:cNvSpPr/>
          <p:nvPr/>
        </p:nvSpPr>
        <p:spPr>
          <a:xfrm>
            <a:off x="7178040" y="1417320"/>
            <a:ext cx="1691640" cy="475488"/>
          </a:xfrm>
          <a:prstGeom prst="roundRect">
            <a:avLst>
              <a:gd name="adj" fmla="val 48077"/>
            </a:avLst>
          </a:prstGeom>
          <a:solidFill>
            <a:srgbClr val="FFC2D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tree /iː/</a:t>
            </a:r>
            <a:endParaRPr lang="en-US" sz="1150" dirty="0"/>
          </a:p>
        </p:txBody>
      </p:sp>
      <p:sp>
        <p:nvSpPr>
          <p:cNvPr id="22" name="sq_285"/>
          <p:cNvSpPr/>
          <p:nvPr/>
        </p:nvSpPr>
        <p:spPr>
          <a:xfrm>
            <a:off x="3246120" y="1956816"/>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a</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st</a:t>
            </a:r>
            <a:endParaRPr lang="en-US" sz="1200" dirty="0"/>
          </a:p>
        </p:txBody>
      </p:sp>
      <p:sp>
        <p:nvSpPr>
          <p:cNvPr id="23" name="R2_tag286"/>
          <p:cNvSpPr/>
          <p:nvPr/>
        </p:nvSpPr>
        <p:spPr>
          <a:xfrm>
            <a:off x="7178040" y="1956816"/>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car /ɑː/</a:t>
            </a:r>
            <a:endParaRPr lang="en-US" sz="1150" dirty="0"/>
          </a:p>
        </p:txBody>
      </p:sp>
      <p:sp>
        <p:nvSpPr>
          <p:cNvPr id="24" name="sq_287"/>
          <p:cNvSpPr/>
          <p:nvPr/>
        </p:nvSpPr>
        <p:spPr>
          <a:xfrm>
            <a:off x="3246120" y="2496312"/>
            <a:ext cx="3840480" cy="475488"/>
          </a:xfrm>
          <a:prstGeom prst="roundRect">
            <a:avLst>
              <a:gd name="adj" fmla="val 19231"/>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pa</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g</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e</a:t>
            </a:r>
            <a:endParaRPr lang="en-US" sz="1200" dirty="0"/>
          </a:p>
        </p:txBody>
      </p:sp>
      <p:sp>
        <p:nvSpPr>
          <p:cNvPr id="25" name="R3_tag288"/>
          <p:cNvSpPr/>
          <p:nvPr/>
        </p:nvSpPr>
        <p:spPr>
          <a:xfrm>
            <a:off x="7178040" y="2496312"/>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jazz /dʒ/</a:t>
            </a:r>
            <a:endParaRPr lang="en-US" sz="1150" dirty="0"/>
          </a:p>
        </p:txBody>
      </p:sp>
      <p:sp>
        <p:nvSpPr>
          <p:cNvPr id="26" name="sq_289"/>
          <p:cNvSpPr/>
          <p:nvPr/>
        </p:nvSpPr>
        <p:spPr>
          <a:xfrm>
            <a:off x="3246120" y="3035808"/>
            <a:ext cx="3840480" cy="475488"/>
          </a:xfrm>
          <a:prstGeom prst="roundRect">
            <a:avLst>
              <a:gd name="adj" fmla="val 19231"/>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i</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27" name="R4_tag290"/>
          <p:cNvSpPr/>
          <p:nvPr/>
        </p:nvSpPr>
        <p:spPr>
          <a:xfrm>
            <a:off x="7178040" y="3035808"/>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fish /ɪ/</a:t>
            </a:r>
            <a:endParaRPr lang="en-US" sz="1150" dirty="0"/>
          </a:p>
        </p:txBody>
      </p:sp>
      <p:sp>
        <p:nvSpPr>
          <p:cNvPr id="28" name="sq_291"/>
          <p:cNvSpPr/>
          <p:nvPr/>
        </p:nvSpPr>
        <p:spPr>
          <a:xfrm>
            <a:off x="3246120" y="3575304"/>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ti</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ss</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ues</a:t>
            </a:r>
            <a:endParaRPr lang="en-US" sz="1200" dirty="0"/>
          </a:p>
        </p:txBody>
      </p:sp>
      <p:sp>
        <p:nvSpPr>
          <p:cNvPr id="29" name="R5_tag292"/>
          <p:cNvSpPr/>
          <p:nvPr/>
        </p:nvSpPr>
        <p:spPr>
          <a:xfrm>
            <a:off x="7178040" y="3575304"/>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shower /ʃ/</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94"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295"/>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Word stress</a:t>
            </a:r>
            <a:endParaRPr lang="en-US" sz="2500" dirty="0"/>
          </a:p>
        </p:txBody>
      </p:sp>
      <p:pic>
        <p:nvPicPr>
          <p:cNvPr id="6" name="brP_296"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297"/>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Underline the stressed syllable. Say the word!</a:t>
            </a:r>
            <a:endParaRPr lang="en-US" sz="1250" dirty="0"/>
          </a:p>
        </p:txBody>
      </p:sp>
      <p:sp>
        <p:nvSpPr>
          <p:cNvPr id="8" name="insIT_29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Sottolinea la sillaba accentata. Di' la parola!</a:t>
            </a:r>
            <a:endParaRPr lang="en-US" sz="950" dirty="0"/>
          </a:p>
        </p:txBody>
      </p:sp>
      <p:sp>
        <p:nvSpPr>
          <p:cNvPr id="9" name="note_29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Controlled practice</a:t>
            </a:r>
            <a:endParaRPr lang="en-US" sz="1150" dirty="0"/>
          </a:p>
        </p:txBody>
      </p:sp>
      <p:pic>
        <p:nvPicPr>
          <p:cNvPr id="10" name="logo_3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Pronunciation · word stress   ·   📖 SB p.20 · Pronunciation d (TG key)</a:t>
            </a:r>
            <a:endParaRPr lang="en-US" sz="800" dirty="0"/>
          </a:p>
        </p:txBody>
      </p:sp>
      <p:sp>
        <p:nvSpPr>
          <p:cNvPr id="12" name="cd_302"/>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0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0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305"/>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Ja|pan → JaPAN</a:t>
            </a:r>
            <a:endParaRPr lang="en-US" sz="1050" dirty="0"/>
          </a:p>
        </p:txBody>
      </p:sp>
      <p:sp>
        <p:nvSpPr>
          <p:cNvPr id="16" name="bd_306"/>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7" name="q_307"/>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a|ddress</a:t>
            </a:r>
            <a:endParaRPr lang="en-US" sz="1150" dirty="0"/>
          </a:p>
        </p:txBody>
      </p:sp>
      <p:sp>
        <p:nvSpPr>
          <p:cNvPr id="18" name="R1_chip308"/>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aDDRESS</a:t>
            </a:r>
            <a:endParaRPr lang="en-US" sz="1050" dirty="0"/>
          </a:p>
        </p:txBody>
      </p:sp>
      <p:sp>
        <p:nvSpPr>
          <p:cNvPr id="19" name="bd_309"/>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0" name="q_310"/>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I|ta|ly</a:t>
            </a:r>
            <a:endParaRPr lang="en-US" sz="1150" dirty="0"/>
          </a:p>
        </p:txBody>
      </p:sp>
      <p:sp>
        <p:nvSpPr>
          <p:cNvPr id="21" name="R2_chip311"/>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Italy (I-ta-ly)</a:t>
            </a:r>
            <a:endParaRPr lang="en-US" sz="1050" dirty="0"/>
          </a:p>
        </p:txBody>
      </p:sp>
      <p:sp>
        <p:nvSpPr>
          <p:cNvPr id="22" name="bd_312"/>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q_313"/>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ex|pen|sive</a:t>
            </a:r>
            <a:endParaRPr lang="en-US" sz="1150" dirty="0"/>
          </a:p>
        </p:txBody>
      </p:sp>
      <p:sp>
        <p:nvSpPr>
          <p:cNvPr id="24" name="R3_chip314"/>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exPENsive</a:t>
            </a:r>
            <a:endParaRPr lang="en-US" sz="1050" dirty="0"/>
          </a:p>
        </p:txBody>
      </p:sp>
      <p:sp>
        <p:nvSpPr>
          <p:cNvPr id="25" name="bd_315"/>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q_316"/>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sun|gla|sses</a:t>
            </a:r>
            <a:endParaRPr lang="en-US" sz="1150" dirty="0"/>
          </a:p>
        </p:txBody>
      </p:sp>
      <p:sp>
        <p:nvSpPr>
          <p:cNvPr id="27" name="R4_chip317"/>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SUNglasses</a:t>
            </a:r>
            <a:endParaRPr lang="en-US" sz="1050" dirty="0"/>
          </a:p>
        </p:txBody>
      </p:sp>
      <p:sp>
        <p:nvSpPr>
          <p:cNvPr id="28" name="bd_318"/>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9" name="q_319"/>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thir|teen</a:t>
            </a:r>
            <a:endParaRPr lang="en-US" sz="1150" dirty="0"/>
          </a:p>
        </p:txBody>
      </p:sp>
      <p:sp>
        <p:nvSpPr>
          <p:cNvPr id="30" name="R5_chip320"/>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thirTEEN</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22"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23"/>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Plan your trip to New York</a:t>
            </a:r>
            <a:endParaRPr lang="en-US" sz="2500" dirty="0"/>
          </a:p>
        </p:txBody>
      </p:sp>
      <p:pic>
        <p:nvPicPr>
          <p:cNvPr id="6" name="brP_32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2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Read the article. What kind of people is it for? True or false?</a:t>
            </a:r>
            <a:endParaRPr lang="en-US" sz="1200" dirty="0"/>
          </a:p>
        </p:txBody>
      </p:sp>
      <p:sp>
        <p:nvSpPr>
          <p:cNvPr id="8" name="insIT_3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l'articolo. Per chi è? Vero o falso?</a:t>
            </a:r>
            <a:endParaRPr lang="en-US" sz="950" dirty="0"/>
          </a:p>
        </p:txBody>
      </p:sp>
      <p:sp>
        <p:nvSpPr>
          <p:cNvPr id="9" name="note_32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3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Reading · Plan your trip to New York   ·   📖 SB p.21 · Can you understand this text? a, b (TG key)</a:t>
            </a:r>
            <a:endParaRPr lang="en-US" sz="800" dirty="0"/>
          </a:p>
        </p:txBody>
      </p:sp>
      <p:sp>
        <p:nvSpPr>
          <p:cNvPr id="12" name="cd_33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3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Plan your trip to New York with these top tips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Go to the Rockefeller Center It's cheap, and from the top floor you can see Central Park, the Empire State Building, and more. Remember to take your camera!</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Buy your tickets for the Statue of Liberty online The Statue of Liberty is an American icon, but there are always long queues for tickets. Buy them on the internet before you go.</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Explore the city on foot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Don't</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rent a car in New York City. The best thing is to walk – but good shoes are very important! Slow down and listen to the city. Sit on the grass in Central Park on a sunny day. But if you are tired, take a bus or the subway!</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Visit Coney Island Go to Coney Island beach by subway (an hour) and have a delicious New York hot dog. If it's hot, go for a swim in the Atlantic!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Have a meal at Good Enough to Eat Good Enough to Eat on 83rd Street is a great traditional American restaurant serving breakfast, lunch, and dinner. It has salads, sandwiches, steak, and more.</a:t>
            </a:r>
            <a:endParaRPr lang="en-US" sz="950" dirty="0"/>
          </a:p>
        </p:txBody>
      </p:sp>
      <p:sp>
        <p:nvSpPr>
          <p:cNvPr id="14" name="R1_rdE33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Plan your trip to New York with these top tips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Go to the Rockefeller Center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It's cheap</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from the top floor you can see Central Park, the Empire State Building, and more.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Remember to take your camera!</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Buy your tickets for the Statue of Liberty online The Statue of Liberty is an American icon, but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there are always long queues for tickets</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Buy them on the internet before you go.</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Explore the city on foot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Don't rent a car in New York City</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The best thing is to walk – but good shoes are very important! Slow down and listen to the city. Sit on the grass in Central Park on a sunny day. But if you are tired, take a bus or the subway!</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Visit Coney Island Go to Coney Island beach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by subway (an hour)</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have a delicious New York hot dog. If it's hot, go for a swim in the Atlantic!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Have a meal at Good Enough to Eat Good Enough to Eat on 83rd Street is a great traditional American restaurant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serving breakfast, lunch, and dinner</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It has salads, sandwiches, steak, and more.</a:t>
            </a:r>
            <a:endParaRPr lang="en-US" sz="950" dirty="0"/>
          </a:p>
        </p:txBody>
      </p:sp>
      <p:sp>
        <p:nvSpPr>
          <p:cNvPr id="15" name="bd_333"/>
          <p:cNvSpPr/>
          <p:nvPr/>
        </p:nvSpPr>
        <p:spPr>
          <a:xfrm>
            <a:off x="6172200" y="1379111"/>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1</a:t>
            </a:r>
            <a:endParaRPr lang="en-US" sz="900" dirty="0"/>
          </a:p>
        </p:txBody>
      </p:sp>
      <p:sp>
        <p:nvSpPr>
          <p:cNvPr id="16" name="rq_334"/>
          <p:cNvSpPr/>
          <p:nvPr/>
        </p:nvSpPr>
        <p:spPr>
          <a:xfrm>
            <a:off x="6492240" y="1417320"/>
            <a:ext cx="2423160" cy="197902"/>
          </a:xfrm>
          <a:prstGeom prst="roundRect">
            <a:avLst>
              <a:gd name="adj" fmla="val 36964"/>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a What kind of people is it for?</a:t>
            </a:r>
            <a:endParaRPr lang="en-US" sz="900" dirty="0"/>
          </a:p>
        </p:txBody>
      </p:sp>
      <p:sp>
        <p:nvSpPr>
          <p:cNvPr id="17" name="R1_chip335"/>
          <p:cNvSpPr/>
          <p:nvPr/>
        </p:nvSpPr>
        <p:spPr>
          <a:xfrm>
            <a:off x="6492240" y="1642654"/>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tourists / visitors to New York</a:t>
            </a:r>
            <a:endParaRPr lang="en-US" sz="900" dirty="0"/>
          </a:p>
        </p:txBody>
      </p:sp>
      <p:sp>
        <p:nvSpPr>
          <p:cNvPr id="18" name="bd_336"/>
          <p:cNvSpPr/>
          <p:nvPr/>
        </p:nvSpPr>
        <p:spPr>
          <a:xfrm>
            <a:off x="6172200" y="1866356"/>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2</a:t>
            </a:r>
            <a:endParaRPr lang="en-US" sz="900" dirty="0"/>
          </a:p>
        </p:txBody>
      </p:sp>
      <p:sp>
        <p:nvSpPr>
          <p:cNvPr id="19" name="rq_337"/>
          <p:cNvSpPr/>
          <p:nvPr/>
        </p:nvSpPr>
        <p:spPr>
          <a:xfrm>
            <a:off x="6492240" y="1904565"/>
            <a:ext cx="2423160" cy="197902"/>
          </a:xfrm>
          <a:prstGeom prst="roundRect">
            <a:avLst>
              <a:gd name="adj" fmla="val 36964"/>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1 The Rockefeller Center is quite expensive.</a:t>
            </a:r>
            <a:endParaRPr lang="en-US" sz="700" dirty="0"/>
          </a:p>
        </p:txBody>
      </p:sp>
      <p:sp>
        <p:nvSpPr>
          <p:cNvPr id="20" name="R2_chip338"/>
          <p:cNvSpPr/>
          <p:nvPr/>
        </p:nvSpPr>
        <p:spPr>
          <a:xfrm>
            <a:off x="6492240" y="2129899"/>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F – 'It's cheap'</a:t>
            </a:r>
            <a:endParaRPr lang="en-US" sz="900" dirty="0"/>
          </a:p>
        </p:txBody>
      </p:sp>
      <p:sp>
        <p:nvSpPr>
          <p:cNvPr id="21" name="bd_339"/>
          <p:cNvSpPr/>
          <p:nvPr/>
        </p:nvSpPr>
        <p:spPr>
          <a:xfrm>
            <a:off x="6172200" y="2353600"/>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3</a:t>
            </a:r>
            <a:endParaRPr lang="en-US" sz="900" dirty="0"/>
          </a:p>
        </p:txBody>
      </p:sp>
      <p:sp>
        <p:nvSpPr>
          <p:cNvPr id="22" name="rq_340"/>
          <p:cNvSpPr/>
          <p:nvPr/>
        </p:nvSpPr>
        <p:spPr>
          <a:xfrm>
            <a:off x="6492240" y="2391809"/>
            <a:ext cx="2423160" cy="197902"/>
          </a:xfrm>
          <a:prstGeom prst="roundRect">
            <a:avLst>
              <a:gd name="adj" fmla="val 36964"/>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2 It's a good place to take photos.</a:t>
            </a:r>
            <a:endParaRPr lang="en-US" sz="900" dirty="0"/>
          </a:p>
        </p:txBody>
      </p:sp>
      <p:sp>
        <p:nvSpPr>
          <p:cNvPr id="23" name="R3_chip341"/>
          <p:cNvSpPr/>
          <p:nvPr/>
        </p:nvSpPr>
        <p:spPr>
          <a:xfrm>
            <a:off x="6492240" y="2617143"/>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850" b="1" dirty="0">
                <a:solidFill>
                  <a:srgbClr val="1B2559"/>
                </a:solidFill>
                <a:latin typeface="Segoe UI Semibold" pitchFamily="34" charset="0"/>
                <a:ea typeface="Segoe UI Semibold" pitchFamily="34" charset="-122"/>
                <a:cs typeface="Segoe UI Semibold" pitchFamily="34" charset="-120"/>
              </a:rPr>
              <a:t>T – 'Remember to take your camera!'</a:t>
            </a:r>
            <a:endParaRPr lang="en-US" sz="850" dirty="0"/>
          </a:p>
        </p:txBody>
      </p:sp>
      <p:sp>
        <p:nvSpPr>
          <p:cNvPr id="24" name="bd_342"/>
          <p:cNvSpPr/>
          <p:nvPr/>
        </p:nvSpPr>
        <p:spPr>
          <a:xfrm>
            <a:off x="6172200" y="2840845"/>
            <a:ext cx="274320" cy="274320"/>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4</a:t>
            </a:r>
            <a:endParaRPr lang="en-US" sz="900" dirty="0"/>
          </a:p>
        </p:txBody>
      </p:sp>
      <p:sp>
        <p:nvSpPr>
          <p:cNvPr id="25" name="rq_343"/>
          <p:cNvSpPr/>
          <p:nvPr/>
        </p:nvSpPr>
        <p:spPr>
          <a:xfrm>
            <a:off x="6492240" y="2879054"/>
            <a:ext cx="2423160" cy="197902"/>
          </a:xfrm>
          <a:prstGeom prst="roundRect">
            <a:avLst>
              <a:gd name="adj" fmla="val 36964"/>
            </a:avLst>
          </a:prstGeom>
          <a:solidFill>
            <a:srgbClr val="FFFFFF"/>
          </a:solidFill>
          <a:ln w="28575">
            <a:solidFill>
              <a:srgbClr val="FFE07A"/>
            </a:solidFill>
          </a:ln>
        </p:spPr>
        <p:txBody>
          <a:bodyPr wrap="square" lIns="76200" tIns="0" rIns="762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3 A lot of people stand and wait to get tickets for the Statue of Liberty.</a:t>
            </a:r>
            <a:endParaRPr lang="en-US" sz="700" dirty="0"/>
          </a:p>
        </p:txBody>
      </p:sp>
      <p:sp>
        <p:nvSpPr>
          <p:cNvPr id="26" name="R4_chip344"/>
          <p:cNvSpPr/>
          <p:nvPr/>
        </p:nvSpPr>
        <p:spPr>
          <a:xfrm>
            <a:off x="6492240" y="3104388"/>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 – 'long queues for tickets'</a:t>
            </a:r>
            <a:endParaRPr lang="en-US" sz="900" dirty="0"/>
          </a:p>
        </p:txBody>
      </p:sp>
      <p:sp>
        <p:nvSpPr>
          <p:cNvPr id="27" name="bd_345"/>
          <p:cNvSpPr/>
          <p:nvPr/>
        </p:nvSpPr>
        <p:spPr>
          <a:xfrm>
            <a:off x="6172200" y="3328089"/>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5</a:t>
            </a:r>
            <a:endParaRPr lang="en-US" sz="900" dirty="0"/>
          </a:p>
        </p:txBody>
      </p:sp>
      <p:sp>
        <p:nvSpPr>
          <p:cNvPr id="28" name="rq_346"/>
          <p:cNvSpPr/>
          <p:nvPr/>
        </p:nvSpPr>
        <p:spPr>
          <a:xfrm>
            <a:off x="6492240" y="3366298"/>
            <a:ext cx="2423160" cy="197902"/>
          </a:xfrm>
          <a:prstGeom prst="roundRect">
            <a:avLst>
              <a:gd name="adj" fmla="val 36964"/>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750" b="1" dirty="0">
                <a:solidFill>
                  <a:srgbClr val="1B2559"/>
                </a:solidFill>
                <a:latin typeface="Segoe UI Semibold" pitchFamily="34" charset="0"/>
                <a:ea typeface="Segoe UI Semibold" pitchFamily="34" charset="-122"/>
                <a:cs typeface="Segoe UI Semibold" pitchFamily="34" charset="-120"/>
              </a:rPr>
              <a:t>4 It's a good idea to drive in New York City.</a:t>
            </a:r>
            <a:endParaRPr lang="en-US" sz="750" dirty="0"/>
          </a:p>
        </p:txBody>
      </p:sp>
      <p:sp>
        <p:nvSpPr>
          <p:cNvPr id="29" name="R5_chip347"/>
          <p:cNvSpPr/>
          <p:nvPr/>
        </p:nvSpPr>
        <p:spPr>
          <a:xfrm>
            <a:off x="6492240" y="3591633"/>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F – 'Don't rent a car'</a:t>
            </a:r>
            <a:endParaRPr lang="en-US" sz="900" dirty="0"/>
          </a:p>
        </p:txBody>
      </p:sp>
      <p:sp>
        <p:nvSpPr>
          <p:cNvPr id="30" name="bd_348"/>
          <p:cNvSpPr/>
          <p:nvPr/>
        </p:nvSpPr>
        <p:spPr>
          <a:xfrm>
            <a:off x="6172200" y="3815334"/>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6</a:t>
            </a:r>
            <a:endParaRPr lang="en-US" sz="900" dirty="0"/>
          </a:p>
        </p:txBody>
      </p:sp>
      <p:sp>
        <p:nvSpPr>
          <p:cNvPr id="31" name="rq_349"/>
          <p:cNvSpPr/>
          <p:nvPr/>
        </p:nvSpPr>
        <p:spPr>
          <a:xfrm>
            <a:off x="6492240" y="3853543"/>
            <a:ext cx="2423160" cy="197902"/>
          </a:xfrm>
          <a:prstGeom prst="roundRect">
            <a:avLst>
              <a:gd name="adj" fmla="val 36964"/>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5 It's easy to walk to Coney Island from New York.</a:t>
            </a:r>
            <a:endParaRPr lang="en-US" sz="700" dirty="0"/>
          </a:p>
        </p:txBody>
      </p:sp>
      <p:sp>
        <p:nvSpPr>
          <p:cNvPr id="32" name="R6_chip350"/>
          <p:cNvSpPr/>
          <p:nvPr/>
        </p:nvSpPr>
        <p:spPr>
          <a:xfrm>
            <a:off x="6492240" y="4078877"/>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F – 'by subway (an hour)'</a:t>
            </a:r>
            <a:endParaRPr lang="en-US" sz="900" dirty="0"/>
          </a:p>
        </p:txBody>
      </p:sp>
      <p:sp>
        <p:nvSpPr>
          <p:cNvPr id="33" name="bd_351"/>
          <p:cNvSpPr/>
          <p:nvPr/>
        </p:nvSpPr>
        <p:spPr>
          <a:xfrm>
            <a:off x="6172200" y="4302579"/>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7</a:t>
            </a:r>
            <a:endParaRPr lang="en-US" sz="900" dirty="0"/>
          </a:p>
        </p:txBody>
      </p:sp>
      <p:sp>
        <p:nvSpPr>
          <p:cNvPr id="34" name="rq_352"/>
          <p:cNvSpPr/>
          <p:nvPr/>
        </p:nvSpPr>
        <p:spPr>
          <a:xfrm>
            <a:off x="6492240" y="4340787"/>
            <a:ext cx="2423160" cy="197902"/>
          </a:xfrm>
          <a:prstGeom prst="roundRect">
            <a:avLst>
              <a:gd name="adj" fmla="val 36964"/>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700" b="1" dirty="0">
                <a:solidFill>
                  <a:srgbClr val="1B2559"/>
                </a:solidFill>
                <a:latin typeface="Segoe UI Semibold" pitchFamily="34" charset="0"/>
                <a:ea typeface="Segoe UI Semibold" pitchFamily="34" charset="-122"/>
                <a:cs typeface="Segoe UI Semibold" pitchFamily="34" charset="-120"/>
              </a:rPr>
              <a:t>6 Good Enough to Eat is open from morning to night.</a:t>
            </a:r>
            <a:endParaRPr lang="en-US" sz="700" dirty="0"/>
          </a:p>
        </p:txBody>
      </p:sp>
      <p:sp>
        <p:nvSpPr>
          <p:cNvPr id="35" name="R7_chip353"/>
          <p:cNvSpPr/>
          <p:nvPr/>
        </p:nvSpPr>
        <p:spPr>
          <a:xfrm>
            <a:off x="6492240" y="4566122"/>
            <a:ext cx="2423160" cy="170470"/>
          </a:xfrm>
          <a:prstGeom prst="roundRect">
            <a:avLst>
              <a:gd name="adj" fmla="val 5364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 – 'breakfast, lunch, and dinner'</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4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55"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56"/>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Street interviews</a:t>
            </a:r>
            <a:endParaRPr lang="en-US" sz="2500" dirty="0"/>
          </a:p>
        </p:txBody>
      </p:sp>
      <p:pic>
        <p:nvPicPr>
          <p:cNvPr id="6" name="brP_357"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58"/>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4 people. Choose a, b or c.</a:t>
            </a:r>
            <a:endParaRPr lang="en-US" sz="1250" dirty="0"/>
          </a:p>
        </p:txBody>
      </p:sp>
      <p:sp>
        <p:nvSpPr>
          <p:cNvPr id="8" name="insIT_35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4 persone. Scegli a, b o c.</a:t>
            </a:r>
            <a:endParaRPr lang="en-US" sz="950" dirty="0"/>
          </a:p>
        </p:txBody>
      </p:sp>
      <p:sp>
        <p:nvSpPr>
          <p:cNvPr id="9" name="note_36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36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62"/>
          <p:cNvSpPr/>
          <p:nvPr/>
        </p:nvSpPr>
        <p:spPr>
          <a:xfrm>
            <a:off x="274320" y="4873752"/>
            <a:ext cx="6858000" cy="219456"/>
          </a:xfrm>
          <a:prstGeom prst="rect">
            <a:avLst/>
          </a:prstGeom>
          <a:noFill/>
          <a:ln/>
        </p:spPr>
        <p:txBody>
          <a:bodyPr wrap="square" lIns="0" tIns="0" rIns="0" bIns="0" rtlCol="0" anchor="ctr"/>
          <a:lstStyle/>
          <a:p>
            <a:pPr indent="0" marL="0">
              <a:buNone/>
            </a:pPr>
            <a:r>
              <a:rPr lang="en-US" sz="750" dirty="0">
                <a:solidFill>
                  <a:srgbClr val="5B6785"/>
                </a:solidFill>
                <a:latin typeface="Segoe UI Semibold" pitchFamily="34" charset="0"/>
                <a:ea typeface="Segoe UI Semibold" pitchFamily="34" charset="-122"/>
                <a:cs typeface="Segoe UI Semibold" pitchFamily="34" charset="-120"/>
              </a:rPr>
              <a:t>R1-2 · Listening · Can you understand these people?   ·   📖 SB p.21 · Can you understand these people? · audio 2.18 (TG script p.39)</a:t>
            </a:r>
            <a:endParaRPr lang="en-US" sz="750" dirty="0"/>
          </a:p>
        </p:txBody>
      </p:sp>
      <p:sp>
        <p:nvSpPr>
          <p:cNvPr id="12" name="ap_363"/>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2.18  ·  play twice</a:t>
            </a:r>
            <a:endParaRPr lang="en-US" sz="1100" dirty="0"/>
          </a:p>
        </p:txBody>
      </p:sp>
      <p:sp>
        <p:nvSpPr>
          <p:cNvPr id="13" name="ah_364"/>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65"/>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366"/>
          <p:cNvSpPr/>
          <p:nvPr/>
        </p:nvSpPr>
        <p:spPr>
          <a:xfrm rot="-90000">
            <a:off x="411480" y="2553512"/>
            <a:ext cx="2697480" cy="790855"/>
          </a:xfrm>
          <a:prstGeom prst="roundRect">
            <a:avLst>
              <a:gd name="adj" fmla="val 19656"/>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367" descr="/home/claude/lls-course/v2/cache/red_r12_people_jpg_627x168_31.png">    </p:cNvPr>
          <p:cNvPicPr>
            <a:picLocks noChangeAspect="1"/>
          </p:cNvPicPr>
          <p:nvPr/>
        </p:nvPicPr>
        <p:blipFill>
          <a:blip r:embed="rId11"/>
          <a:stretch>
            <a:fillRect/>
          </a:stretch>
        </p:blipFill>
        <p:spPr>
          <a:xfrm rot="-90000">
            <a:off x="457200" y="2599232"/>
            <a:ext cx="2606040" cy="699415"/>
          </a:xfrm>
          <a:prstGeom prst="rect">
            <a:avLst/>
          </a:prstGeom>
        </p:spPr>
      </p:pic>
      <p:sp>
        <p:nvSpPr>
          <p:cNvPr id="19" name="cd_368"/>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369"/>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70"/>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Listen for spelling and places!</a:t>
            </a:r>
            <a:endParaRPr lang="en-US" sz="1200" dirty="0"/>
          </a:p>
        </p:txBody>
      </p:sp>
      <p:sp>
        <p:nvSpPr>
          <p:cNvPr id="22" name="gq_371"/>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Her name is… a Malini b Mallini c Malinni</a:t>
            </a:r>
            <a:endParaRPr lang="en-US" sz="1200" dirty="0"/>
          </a:p>
        </p:txBody>
      </p:sp>
      <p:sp>
        <p:nvSpPr>
          <p:cNvPr id="23" name="R1_chip372"/>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 Mallini (M-A-L-L-I-N-I)</a:t>
            </a:r>
            <a:endParaRPr lang="en-US" sz="1200" dirty="0"/>
          </a:p>
        </p:txBody>
      </p:sp>
      <p:sp>
        <p:nvSpPr>
          <p:cNvPr id="24" name="gq_373"/>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Olga is from… a Mexico b Monaco c Moscow</a:t>
            </a:r>
            <a:endParaRPr lang="en-US" sz="1200" dirty="0"/>
          </a:p>
        </p:txBody>
      </p:sp>
      <p:sp>
        <p:nvSpPr>
          <p:cNvPr id="25" name="R2_chip374"/>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 Moscow</a:t>
            </a:r>
            <a:endParaRPr lang="en-US" sz="1200" dirty="0"/>
          </a:p>
        </p:txBody>
      </p:sp>
      <p:sp>
        <p:nvSpPr>
          <p:cNvPr id="26" name="gq_375"/>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3 Her name is… a Mary b Marie c Mairi. She's… a Scottish b English c Irish</a:t>
            </a:r>
            <a:endParaRPr lang="en-US" sz="1150" dirty="0"/>
          </a:p>
        </p:txBody>
      </p:sp>
      <p:sp>
        <p:nvSpPr>
          <p:cNvPr id="27" name="R3_chip376"/>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 Mairi · a Scottish (from Edinburgh)</a:t>
            </a:r>
            <a:endParaRPr lang="en-US" sz="1200" dirty="0"/>
          </a:p>
        </p:txBody>
      </p:sp>
      <p:sp>
        <p:nvSpPr>
          <p:cNvPr id="28" name="gq_377"/>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Jake is… a very untidy b tidy c very tidy</a:t>
            </a:r>
            <a:endParaRPr lang="en-US" sz="1200" dirty="0"/>
          </a:p>
        </p:txBody>
      </p:sp>
      <p:sp>
        <p:nvSpPr>
          <p:cNvPr id="29" name="R4_chip378"/>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 very tidy</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audio>
              <p:cMediaNode vol="80000">
                <p:cTn id="33" fill="hold" display="0">
                  <p:stCondLst>
                    <p:cond delay="indefinite"/>
                  </p:stCondLst>
                  <p:endCondLst>
                    <p:cond evt="onStopAudio" delay="0">
                      <p:tgtEl>
                        <p:sldTgt/>
                      </p:tgtEl>
                    </p:cond>
                  </p:endCondLst>
                </p:cTn>
                <p:tgtEl>
                  <p:spTgt spid="14"/>
                </p:tgtEl>
              </p:cMediaNode>
            </p:audio>
            <p:audio>
              <p:cMediaNode vol="80000">
                <p:cTn id="34" fill="hold" display="0">
                  <p:stCondLst>
                    <p:cond delay="indefinite"/>
                  </p:stCondLst>
                  <p:endCondLst>
                    <p:cond evt="onStopAudio" delay="0">
                      <p:tgtEl>
                        <p:sldTgt/>
                      </p:tgtEl>
                    </p:cond>
                  </p:endCondLst>
                </p:cTn>
                <p:tgtEl>
                  <p:spTgt spid="1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80"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81"/>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Can you…?</a:t>
            </a:r>
            <a:endParaRPr lang="en-US" sz="2400" dirty="0"/>
          </a:p>
        </p:txBody>
      </p:sp>
      <p:pic>
        <p:nvPicPr>
          <p:cNvPr id="6" name="brP_38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8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Can you say this in English? Do the tasks with a partner – then tick!</a:t>
            </a:r>
            <a:endParaRPr lang="en-US" sz="1100" dirty="0"/>
          </a:p>
        </p:txBody>
      </p:sp>
      <p:sp>
        <p:nvSpPr>
          <p:cNvPr id="8" name="insIT_38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Sai dirlo in inglese? Fai i compiti con un compagno – poi spunta!</a:t>
            </a:r>
            <a:endParaRPr lang="en-US" sz="950" dirty="0"/>
          </a:p>
        </p:txBody>
      </p:sp>
      <p:sp>
        <p:nvSpPr>
          <p:cNvPr id="9" name="note_38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38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8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Speaking · Can you say this in English?   ·   📖 SB p.21 · Can you say this in English? 1–6</a:t>
            </a:r>
            <a:endParaRPr lang="en-US" sz="800" dirty="0"/>
          </a:p>
        </p:txBody>
      </p:sp>
      <p:sp>
        <p:nvSpPr>
          <p:cNvPr id="12" name="cd_388"/>
          <p:cNvSpPr/>
          <p:nvPr/>
        </p:nvSpPr>
        <p:spPr>
          <a:xfrm>
            <a:off x="320040" y="1417320"/>
            <a:ext cx="2788920" cy="2215896"/>
          </a:xfrm>
          <a:prstGeom prst="roundRect">
            <a:avLst>
              <a:gd name="adj" fmla="val 57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8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90"/>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391"/>
          <p:cNvSpPr/>
          <p:nvPr/>
        </p:nvSpPr>
        <p:spPr>
          <a:xfrm>
            <a:off x="886968" y="1911096"/>
            <a:ext cx="2130552" cy="1648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My first name is… / My surname is…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It's spelt…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I'm from…</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Open… / Don't…!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This is my friend…</a:t>
            </a:r>
            <a:endParaRPr lang="en-US" sz="1150" dirty="0"/>
          </a:p>
        </p:txBody>
      </p:sp>
      <p:sp>
        <p:nvSpPr>
          <p:cNvPr id="16" name="R1_qb392"/>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393"/>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count from 0–20 · count from 20–100 (20, 30, etc.)</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zero, one, two… twenty, thirty, forty…</a:t>
            </a:r>
            <a:endParaRPr lang="en-US" sz="950" dirty="0"/>
          </a:p>
        </p:txBody>
      </p:sp>
      <p:sp>
        <p:nvSpPr>
          <p:cNvPr id="18" name="R2_qb394"/>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395"/>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say the days of the week</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Monday, Tuesday, Wednesday…</a:t>
            </a:r>
            <a:endParaRPr lang="en-US" sz="950" dirty="0"/>
          </a:p>
        </p:txBody>
      </p:sp>
      <p:sp>
        <p:nvSpPr>
          <p:cNvPr id="20" name="R3_qb396"/>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397"/>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give three instructions, two + and one –</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Open your book. Stand up. Don't talk!</a:t>
            </a:r>
            <a:endParaRPr lang="en-US" sz="950" dirty="0"/>
          </a:p>
        </p:txBody>
      </p:sp>
      <p:sp>
        <p:nvSpPr>
          <p:cNvPr id="22" name="R4_qb398"/>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3" name="R4_sq399"/>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introduce yourself and another person</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Hi, I'm Rosa. This is Marco.</a:t>
            </a:r>
            <a:endParaRPr lang="en-US" sz="950" dirty="0"/>
          </a:p>
        </p:txBody>
      </p:sp>
      <p:sp>
        <p:nvSpPr>
          <p:cNvPr id="24" name="R5_qb400"/>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5" name="R5_sq401"/>
          <p:cNvSpPr/>
          <p:nvPr/>
        </p:nvSpPr>
        <p:spPr>
          <a:xfrm>
            <a:off x="3675888" y="3831336"/>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answer the questions: What's your first name / surname? How do you spell it? Where are you from?</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My surname's Rossi – R-O-S-S-I. I'm from Bagheria.</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03"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04"/>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05"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06"/>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0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408"/>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40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1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Exit · what can you remember?</a:t>
            </a:r>
            <a:endParaRPr lang="en-US" sz="800" dirty="0"/>
          </a:p>
        </p:txBody>
      </p:sp>
      <p:sp>
        <p:nvSpPr>
          <p:cNvPr id="12" name="bd_411"/>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412"/>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things in your bag – with a / an.</a:t>
            </a:r>
            <a:endParaRPr lang="en-US" sz="1400" dirty="0"/>
          </a:p>
        </p:txBody>
      </p:sp>
      <p:sp>
        <p:nvSpPr>
          <p:cNvPr id="14" name="bd_413"/>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414"/>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tips for New York (imperatives).</a:t>
            </a:r>
            <a:endParaRPr lang="en-US" sz="1400" dirty="0"/>
          </a:p>
        </p:txBody>
      </p:sp>
      <p:sp>
        <p:nvSpPr>
          <p:cNvPr id="16" name="bd_415"/>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416"/>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sentence with Let's…</a:t>
            </a:r>
            <a:endParaRPr lang="en-US" sz="1400" dirty="0"/>
          </a:p>
        </p:txBody>
      </p:sp>
      <p:sp>
        <p:nvSpPr>
          <p:cNvPr id="18" name="cd_417"/>
          <p:cNvSpPr/>
          <p:nvPr/>
        </p:nvSpPr>
        <p:spPr>
          <a:xfrm>
            <a:off x="5669280" y="1417320"/>
            <a:ext cx="320040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418"/>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419"/>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420"/>
          <p:cNvSpPr/>
          <p:nvPr/>
        </p:nvSpPr>
        <p:spPr>
          <a:xfrm>
            <a:off x="6236208" y="1911096"/>
            <a:ext cx="254203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redo the Files 1–2 exercises you got wrong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Write 5 sentences about you</a:t>
            </a:r>
            <a:endParaRPr lang="en-US" sz="1150" dirty="0"/>
          </a:p>
        </p:txBody>
      </p:sp>
      <p:sp>
        <p:nvSpPr>
          <p:cNvPr id="22" name="st_421"/>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3A Britain: the good and the bad (SB p.22)</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23"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24"/>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25"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26"/>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42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4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R1-2 · Review · what did you do today?</a:t>
            </a:r>
            <a:endParaRPr lang="en-US" sz="800" dirty="0"/>
          </a:p>
        </p:txBody>
      </p:sp>
      <p:sp>
        <p:nvSpPr>
          <p:cNvPr id="12" name="cd_431"/>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32"/>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33"/>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Did a mini-test on Files 1 and 2</a:t>
            </a:r>
            <a:endParaRPr lang="en-US" sz="1350" dirty="0"/>
          </a:p>
        </p:txBody>
      </p:sp>
      <p:sp>
        <p:nvSpPr>
          <p:cNvPr id="15" name="R1_tk434"/>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35"/>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36"/>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37"/>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Revised numbers, countries, things and adjectives</a:t>
            </a:r>
            <a:endParaRPr lang="en-US" sz="1350" dirty="0"/>
          </a:p>
        </p:txBody>
      </p:sp>
      <p:sp>
        <p:nvSpPr>
          <p:cNvPr id="19" name="R2_tk438"/>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39"/>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40"/>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41"/>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sounds and word stress</a:t>
            </a:r>
            <a:endParaRPr lang="en-US" sz="1350" dirty="0"/>
          </a:p>
        </p:txBody>
      </p:sp>
      <p:sp>
        <p:nvSpPr>
          <p:cNvPr id="23" name="R3_tk442"/>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43"/>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44"/>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45"/>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tips for a trip to New York</a:t>
            </a:r>
            <a:endParaRPr lang="en-US" sz="1350" dirty="0"/>
          </a:p>
        </p:txBody>
      </p:sp>
      <p:sp>
        <p:nvSpPr>
          <p:cNvPr id="27" name="R4_tk446"/>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47"/>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48"/>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49"/>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people in the street</a:t>
            </a:r>
            <a:endParaRPr lang="en-US" sz="1350" dirty="0"/>
          </a:p>
        </p:txBody>
      </p:sp>
      <p:sp>
        <p:nvSpPr>
          <p:cNvPr id="31" name="R5_tk450"/>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51"/>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R1-2 Revise and Check 1&amp;2</dc:title>
  <dc:subject>PptxGenJS Presentation</dc:subject>
  <dc:creator>PptxGenJS</dc:creator>
  <cp:lastModifiedBy>PptxGenJS</cp:lastModifiedBy>
  <cp:revision>1</cp:revision>
  <dcterms:created xsi:type="dcterms:W3CDTF">2026-10-23T08:12:03Z</dcterms:created>
  <dcterms:modified xsi:type="dcterms:W3CDTF">2026-10-23T08:12:03Z</dcterms:modified>
</cp:coreProperties>
</file>