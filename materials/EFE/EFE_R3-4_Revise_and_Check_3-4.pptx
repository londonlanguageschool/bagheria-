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Revision lesson: page 1 = a mini-test (grammar 15, vocabulary, pronunciation). Students score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Files 3 &amp; 4 (3 min)
ACTIVE RECAP (3 min). ⭐ meaning ⭐⭐ sentence ⭐⭐⭐ question ('How often do you have a shower?').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Grammar · SB p.36 · 1–8 (5 min)
MINI-TEST 1 (5 min). Key: 1b 2a 3c 4a 5b 6c 7b 8a. Ask WHY after each one (6: QuASI – What does he do?).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· SB p.36 · 9–15 (4 min)
MINI-TEST 2 (4 min). Key: 9b 10c 11c 12b 13b 14a 15c. Italian traps: 13 (be + never) and 14 (adverb before the verb).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Banks 3A–4C · the rules (4 min)
RULES (4 min). After the test: one row = one rule. Students say the rule, then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Game · grammar auction (6 min)
AUCTION (6 min). Teams bid €50–€500; click to reveal. A wrong sentence loses the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· SB p.36 a, b (5 min)
VOCAB (5 min). One click per gap. Key (SB): a 1 On 2 at 3 up 4 in 5 to · b 1 get 2 take 3 have 4 do 5 go 6 play 7 listen 8 see 9 read 10 wear.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Vocabulary · odd one out (4 min)
ODD ONE OUT (4 min). Key (SB).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Vocabulary · question words (3 min)
QUESTIONS (3 min). Key (SB): 1 Where 2 What 3 Who 4 How many 5 Why. Then pairs ask and answer all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sounds (3 min)
SOUNDS (3 min). Drill the sound words in a first (bird, computer, up, clock · house, flower, chess, witch). Key (SB): brother /ʌ/ · nephew /f/ · teacher /ə/ · which /w/ · work /ɜː/.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Pronunciation · word stress (2 min)
STRESS (2 min). Key (SB).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Reading · A life in the day (7 min)
READING (7 min). The T/F statements are as in the book; key from the SB answer key. Find the adverbs of frequency in the text (usually, never) – they're highlighted. Would you like his life?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Listening · Can you understand these people? (5 min)
LISTENING (5 min). Play 4.23 twice (audio to come – read the script if needed). Key (SB): 1c 2a 3c 4a 5b. Trap in 1: in Marketing ≠ in a market!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Speaking · Can you say this in English? (5 min)
CAN-DO (5 min). Pairs do all the tasks; tick only what they can do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pp.36–37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R3-4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Revise and Check 3&amp;4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Files 3 and 4: test, games, David Guetta, interviews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📝  do a mini-test on Files 3 and 4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revise verb phrases, family and question words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practise sounds and word stress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read about a superstar DJ's day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check: can you say it in English?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remember 'nephew', 'Whose is it?' and 'hardly ever'!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r34_dj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Files 3 and 4: jobs, family, daily routine… What can you remember?</a:t>
            </a:r>
            <a:endParaRPr lang="en-US" sz="15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Remember?</a:t>
            </a:r>
            <a:endParaRPr lang="en-US" sz="25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Revision · Files 3 &amp; 4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371600"/>
            <a:ext cx="265176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4c_dance_jpg_61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Files 3 &amp; 4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· word order · 's · at / in / on · adverbs of frequency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nurse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357116" y="17830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lawyer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554980" y="1783080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nephew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6839712" y="1783080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aunt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3246120" y="2185416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dressed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4704588" y="2185416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shower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6336792" y="2185416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hardly ever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3246120" y="2587752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twice a week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46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test (1)</a:t>
            </a:r>
            <a:endParaRPr lang="en-US" sz="2500" dirty="0"/>
          </a:p>
        </p:txBody>
      </p:sp>
      <p:pic>
        <p:nvPicPr>
          <p:cNvPr id="6" name="brP_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48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Choose a, b or c. Alone – 4 minutes.</a:t>
            </a:r>
            <a:endParaRPr lang="en-US" sz="1250" dirty="0"/>
          </a:p>
        </p:txBody>
      </p:sp>
      <p:sp>
        <p:nvSpPr>
          <p:cNvPr id="8" name="insIT_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Scegli a, b o c. Da soli – 4 minuti.</a:t>
            </a:r>
            <a:endParaRPr lang="en-US" sz="950" dirty="0"/>
          </a:p>
        </p:txBody>
      </p:sp>
      <p:sp>
        <p:nvSpPr>
          <p:cNvPr id="9" name="note_5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5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Grammar · SB p.36 · 1–8   ·   📖 SB p.36 · Grammar 1–8 (SB key)</a:t>
            </a:r>
            <a:endParaRPr lang="en-US" sz="800" dirty="0"/>
          </a:p>
        </p:txBody>
      </p:sp>
      <p:sp>
        <p:nvSpPr>
          <p:cNvPr id="12" name="cd_53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54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a, b or c</a:t>
            </a:r>
            <a:endParaRPr lang="en-US" sz="1700" dirty="0"/>
          </a:p>
        </p:txBody>
      </p:sp>
      <p:sp>
        <p:nvSpPr>
          <p:cNvPr id="14" name="ln_55"/>
          <p:cNvSpPr/>
          <p:nvPr/>
        </p:nvSpPr>
        <p:spPr>
          <a:xfrm>
            <a:off x="548640" y="1920240"/>
            <a:ext cx="5349240" cy="294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I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live near here.  (a not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50" dirty="0"/>
          </a:p>
        </p:txBody>
      </p:sp>
      <p:sp>
        <p:nvSpPr>
          <p:cNvPr id="15" name="R1_lnA56"/>
          <p:cNvSpPr/>
          <p:nvPr/>
        </p:nvSpPr>
        <p:spPr>
          <a:xfrm>
            <a:off x="548640" y="1920240"/>
            <a:ext cx="5349240" cy="2945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I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don't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live near here.  (a not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ln_57"/>
          <p:cNvSpPr/>
          <p:nvPr/>
        </p:nvSpPr>
        <p:spPr>
          <a:xfrm>
            <a:off x="548640" y="2214750"/>
            <a:ext cx="5349240" cy="30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My sister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three children.  (a has · b have · c haves)</a:t>
            </a:r>
            <a:endParaRPr lang="en-US" sz="1150" dirty="0"/>
          </a:p>
        </p:txBody>
      </p:sp>
      <p:sp>
        <p:nvSpPr>
          <p:cNvPr id="17" name="R2_lnA58"/>
          <p:cNvSpPr/>
          <p:nvPr/>
        </p:nvSpPr>
        <p:spPr>
          <a:xfrm>
            <a:off x="548640" y="2214750"/>
            <a:ext cx="5349240" cy="3078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My sister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has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three children.  (a has · b have · c haves)</a:t>
            </a:r>
            <a:endParaRPr lang="en-US" sz="1150" dirty="0"/>
          </a:p>
        </p:txBody>
      </p:sp>
      <p:sp>
        <p:nvSpPr>
          <p:cNvPr id="18" name="ln_59"/>
          <p:cNvSpPr/>
          <p:nvPr/>
        </p:nvSpPr>
        <p:spPr>
          <a:xfrm>
            <a:off x="548640" y="2522647"/>
            <a:ext cx="5349240" cy="388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English?  (a Are they speak · b Speak they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speak)</a:t>
            </a:r>
            <a:endParaRPr lang="en-US" sz="1150" dirty="0"/>
          </a:p>
        </p:txBody>
      </p:sp>
      <p:sp>
        <p:nvSpPr>
          <p:cNvPr id="19" name="R3_lnA60"/>
          <p:cNvSpPr/>
          <p:nvPr/>
        </p:nvSpPr>
        <p:spPr>
          <a:xfrm>
            <a:off x="548640" y="2522647"/>
            <a:ext cx="5349240" cy="3882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Do they speak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English?  (a Are they speak · b Speak they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speak)</a:t>
            </a:r>
            <a:endParaRPr lang="en-US" sz="1150" dirty="0"/>
          </a:p>
        </p:txBody>
      </p:sp>
      <p:sp>
        <p:nvSpPr>
          <p:cNvPr id="20" name="ln_61"/>
          <p:cNvSpPr/>
          <p:nvPr/>
        </p:nvSpPr>
        <p:spPr>
          <a:xfrm>
            <a:off x="548640" y="2910864"/>
            <a:ext cx="5349240" cy="258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sister work?  (a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Is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R4_lnA62"/>
          <p:cNvSpPr/>
          <p:nvPr/>
        </p:nvSpPr>
        <p:spPr>
          <a:xfrm>
            <a:off x="548640" y="2910864"/>
            <a:ext cx="5349240" cy="2588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sister work?  (a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Is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50" dirty="0"/>
          </a:p>
        </p:txBody>
      </p:sp>
      <p:sp>
        <p:nvSpPr>
          <p:cNvPr id="22" name="ln_63"/>
          <p:cNvSpPr/>
          <p:nvPr/>
        </p:nvSpPr>
        <p:spPr>
          <a:xfrm>
            <a:off x="548640" y="3169676"/>
            <a:ext cx="5349240" cy="303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A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work here? B Yes, I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(a work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am)</a:t>
            </a:r>
            <a:endParaRPr lang="en-US" sz="1150" dirty="0"/>
          </a:p>
        </p:txBody>
      </p:sp>
      <p:sp>
        <p:nvSpPr>
          <p:cNvPr id="23" name="R5_lnA64"/>
          <p:cNvSpPr/>
          <p:nvPr/>
        </p:nvSpPr>
        <p:spPr>
          <a:xfrm>
            <a:off x="548640" y="3169676"/>
            <a:ext cx="5349240" cy="3034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A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work here? B Yes, I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(a work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am)</a:t>
            </a:r>
            <a:endParaRPr lang="en-US" sz="1150" dirty="0"/>
          </a:p>
        </p:txBody>
      </p:sp>
      <p:sp>
        <p:nvSpPr>
          <p:cNvPr id="24" name="ln_65"/>
          <p:cNvSpPr/>
          <p:nvPr/>
        </p:nvSpPr>
        <p:spPr>
          <a:xfrm>
            <a:off x="548640" y="3473111"/>
            <a:ext cx="534924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A What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B He's an engineer.  (a he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50" dirty="0"/>
          </a:p>
        </p:txBody>
      </p:sp>
      <p:sp>
        <p:nvSpPr>
          <p:cNvPr id="25" name="R6_lnA66"/>
          <p:cNvSpPr/>
          <p:nvPr/>
        </p:nvSpPr>
        <p:spPr>
          <a:xfrm>
            <a:off x="548640" y="3473111"/>
            <a:ext cx="5349240" cy="4016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A What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does he 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B He's an engineer.  (a he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· c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50" dirty="0"/>
          </a:p>
        </p:txBody>
      </p:sp>
      <p:sp>
        <p:nvSpPr>
          <p:cNvPr id="26" name="ln_67"/>
          <p:cNvSpPr/>
          <p:nvPr/>
        </p:nvSpPr>
        <p:spPr>
          <a:xfrm>
            <a:off x="548640" y="3874715"/>
            <a:ext cx="5349240" cy="38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What languages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(a speak you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speak · c you speak)</a:t>
            </a:r>
            <a:endParaRPr lang="en-US" sz="1150" dirty="0"/>
          </a:p>
        </p:txBody>
      </p:sp>
      <p:sp>
        <p:nvSpPr>
          <p:cNvPr id="27" name="R7_lnA68"/>
          <p:cNvSpPr/>
          <p:nvPr/>
        </p:nvSpPr>
        <p:spPr>
          <a:xfrm>
            <a:off x="548640" y="3874715"/>
            <a:ext cx="5349240" cy="3837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What languages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do you speak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(a speak you · b </a:t>
            </a:r>
            <a:pPr indent="0" marL="0">
              <a:buNone/>
            </a:pPr>
            <a:r>
              <a:rPr lang="en-US" sz="11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speak · c you speak)</a:t>
            </a:r>
            <a:endParaRPr lang="en-US" sz="1150" dirty="0"/>
          </a:p>
        </p:txBody>
      </p:sp>
      <p:sp>
        <p:nvSpPr>
          <p:cNvPr id="28" name="ln_69"/>
          <p:cNvSpPr/>
          <p:nvPr/>
        </p:nvSpPr>
        <p:spPr>
          <a:xfrm>
            <a:off x="548640" y="4258471"/>
            <a:ext cx="5349240" cy="45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Bill is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(a Carla's husband · b husband's Carla · c the Carla's husband)</a:t>
            </a:r>
            <a:endParaRPr lang="en-US" sz="1150" dirty="0"/>
          </a:p>
        </p:txBody>
      </p:sp>
      <p:sp>
        <p:nvSpPr>
          <p:cNvPr id="29" name="R8_lnA70"/>
          <p:cNvSpPr/>
          <p:nvPr/>
        </p:nvSpPr>
        <p:spPr>
          <a:xfrm>
            <a:off x="548640" y="4258471"/>
            <a:ext cx="5349240" cy="45068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Bill is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Carla's husband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(a Carla's husband · b husband's Carla · c the Carla's husband)</a:t>
            </a:r>
            <a:endParaRPr lang="en-US" sz="1150" dirty="0"/>
          </a:p>
        </p:txBody>
      </p:sp>
      <p:sp>
        <p:nvSpPr>
          <p:cNvPr id="30" name="cd_71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ii_72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2" name="ih_73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3" name="il_74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Alone · no talking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point each · ___ / 15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77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test (2)</a:t>
            </a:r>
            <a:endParaRPr lang="en-US" sz="2500" dirty="0"/>
          </a:p>
        </p:txBody>
      </p:sp>
      <p:pic>
        <p:nvPicPr>
          <p:cNvPr id="6" name="brP_7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79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Choose a, b or c. Then count your score.</a:t>
            </a:r>
            <a:endParaRPr lang="en-US" sz="1250" dirty="0"/>
          </a:p>
        </p:txBody>
      </p:sp>
      <p:sp>
        <p:nvSpPr>
          <p:cNvPr id="8" name="insIT_8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Scegli a, b o c. Poi conta i punti.</a:t>
            </a:r>
            <a:endParaRPr lang="en-US" sz="950" dirty="0"/>
          </a:p>
        </p:txBody>
      </p:sp>
      <p:sp>
        <p:nvSpPr>
          <p:cNvPr id="9" name="note_8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8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Grammar · SB p.36 · 9–15   ·   📖 SB p.36 · Grammar 9–15 (SB key)</a:t>
            </a:r>
            <a:endParaRPr lang="en-US" sz="800" dirty="0"/>
          </a:p>
        </p:txBody>
      </p:sp>
      <p:sp>
        <p:nvSpPr>
          <p:cNvPr id="12" name="cd_84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85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a, b or c</a:t>
            </a:r>
            <a:endParaRPr lang="en-US" sz="1700" dirty="0"/>
          </a:p>
        </p:txBody>
      </p:sp>
      <p:sp>
        <p:nvSpPr>
          <p:cNvPr id="14" name="ln_86"/>
          <p:cNvSpPr/>
          <p:nvPr/>
        </p:nvSpPr>
        <p:spPr>
          <a:xfrm>
            <a:off x="548640" y="1920240"/>
            <a:ext cx="5349240" cy="38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This is my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house.  (a parent's · b parents' · c parents)</a:t>
            </a:r>
            <a:endParaRPr lang="en-US" sz="1100" dirty="0"/>
          </a:p>
        </p:txBody>
      </p:sp>
      <p:sp>
        <p:nvSpPr>
          <p:cNvPr id="15" name="R1_lnA87"/>
          <p:cNvSpPr/>
          <p:nvPr/>
        </p:nvSpPr>
        <p:spPr>
          <a:xfrm>
            <a:off x="548640" y="1920240"/>
            <a:ext cx="5349240" cy="3876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This is my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parents'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house.  (a parent's · b parents' · c parents)</a:t>
            </a:r>
            <a:endParaRPr lang="en-US" sz="1100" dirty="0"/>
          </a:p>
        </p:txBody>
      </p:sp>
      <p:sp>
        <p:nvSpPr>
          <p:cNvPr id="16" name="ln_88"/>
          <p:cNvSpPr/>
          <p:nvPr/>
        </p:nvSpPr>
        <p:spPr>
          <a:xfrm>
            <a:off x="548640" y="2307870"/>
            <a:ext cx="5349240" cy="312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this book?  (a Who's · b Who · c Whose)</a:t>
            </a:r>
            <a:endParaRPr lang="en-US" sz="1100" dirty="0"/>
          </a:p>
        </p:txBody>
      </p:sp>
      <p:sp>
        <p:nvSpPr>
          <p:cNvPr id="17" name="R2_lnA89"/>
          <p:cNvSpPr/>
          <p:nvPr/>
        </p:nvSpPr>
        <p:spPr>
          <a:xfrm>
            <a:off x="548640" y="2307870"/>
            <a:ext cx="5349240" cy="3121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Whose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this book?  (a Who's · b Who · c Whose)</a:t>
            </a:r>
            <a:endParaRPr lang="en-US" sz="1100" dirty="0"/>
          </a:p>
        </p:txBody>
      </p:sp>
      <p:sp>
        <p:nvSpPr>
          <p:cNvPr id="18" name="ln_90"/>
          <p:cNvSpPr/>
          <p:nvPr/>
        </p:nvSpPr>
        <p:spPr>
          <a:xfrm>
            <a:off x="548640" y="2619987"/>
            <a:ext cx="5349240" cy="36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We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lunch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o'clock.  (a in · b on · c at)</a:t>
            </a:r>
            <a:endParaRPr lang="en-US" sz="1100" dirty="0"/>
          </a:p>
        </p:txBody>
      </p:sp>
      <p:sp>
        <p:nvSpPr>
          <p:cNvPr id="19" name="R3_lnA91"/>
          <p:cNvSpPr/>
          <p:nvPr/>
        </p:nvSpPr>
        <p:spPr>
          <a:xfrm>
            <a:off x="548640" y="2619987"/>
            <a:ext cx="5349240" cy="36749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We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lunch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at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o'clock.  (a in · b on · c at)</a:t>
            </a:r>
            <a:endParaRPr lang="en-US" sz="1100" dirty="0"/>
          </a:p>
        </p:txBody>
      </p:sp>
      <p:sp>
        <p:nvSpPr>
          <p:cNvPr id="20" name="ln_92"/>
          <p:cNvSpPr/>
          <p:nvPr/>
        </p:nvSpPr>
        <p:spPr>
          <a:xfrm>
            <a:off x="548640" y="2987480"/>
            <a:ext cx="5349240" cy="317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What time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bed?  (a in · b to · c at)</a:t>
            </a:r>
            <a:endParaRPr lang="en-US" sz="1100" dirty="0"/>
          </a:p>
        </p:txBody>
      </p:sp>
      <p:sp>
        <p:nvSpPr>
          <p:cNvPr id="21" name="R4_lnA93"/>
          <p:cNvSpPr/>
          <p:nvPr/>
        </p:nvSpPr>
        <p:spPr>
          <a:xfrm>
            <a:off x="548640" y="2987480"/>
            <a:ext cx="5349240" cy="3171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What time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to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bed?  (a in · b to · c at)</a:t>
            </a:r>
            <a:endParaRPr lang="en-US" sz="1100" dirty="0"/>
          </a:p>
        </p:txBody>
      </p:sp>
      <p:sp>
        <p:nvSpPr>
          <p:cNvPr id="22" name="ln_94"/>
          <p:cNvSpPr/>
          <p:nvPr/>
        </p:nvSpPr>
        <p:spPr>
          <a:xfrm>
            <a:off x="548640" y="3304632"/>
            <a:ext cx="5349240" cy="42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She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late for class.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· b is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isn't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R5_lnA95"/>
          <p:cNvSpPr/>
          <p:nvPr/>
        </p:nvSpPr>
        <p:spPr>
          <a:xfrm>
            <a:off x="548640" y="3304632"/>
            <a:ext cx="5349240" cy="42790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She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is 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late for class.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· b is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isn't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ln_96"/>
          <p:cNvSpPr/>
          <p:nvPr/>
        </p:nvSpPr>
        <p:spPr>
          <a:xfrm>
            <a:off x="548640" y="3732535"/>
            <a:ext cx="5349240" cy="47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I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early.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get up · b get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up · c get up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R6_lnA97"/>
          <p:cNvSpPr/>
          <p:nvPr/>
        </p:nvSpPr>
        <p:spPr>
          <a:xfrm>
            <a:off x="548640" y="3732535"/>
            <a:ext cx="5349240" cy="4782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I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usually get up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early.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get up · b get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up · c get up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6" name="ln_98"/>
          <p:cNvSpPr/>
          <p:nvPr/>
        </p:nvSpPr>
        <p:spPr>
          <a:xfrm>
            <a:off x="548640" y="4210779"/>
            <a:ext cx="5349240" cy="498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I have an English class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(a one a week · b one the week · c once a week)</a:t>
            </a:r>
            <a:endParaRPr lang="en-US" sz="1100" dirty="0"/>
          </a:p>
        </p:txBody>
      </p:sp>
      <p:sp>
        <p:nvSpPr>
          <p:cNvPr id="27" name="R7_lnA99"/>
          <p:cNvSpPr/>
          <p:nvPr/>
        </p:nvSpPr>
        <p:spPr>
          <a:xfrm>
            <a:off x="548640" y="4210779"/>
            <a:ext cx="5349240" cy="4983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I have an English class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once a week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(a one a week · b one the week · c once a week)</a:t>
            </a:r>
            <a:endParaRPr lang="en-US" sz="1100" dirty="0"/>
          </a:p>
        </p:txBody>
      </p:sp>
      <p:sp>
        <p:nvSpPr>
          <p:cNvPr id="28" name="cd_100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ii_101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0" name="ih_102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1" name="il_103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Count your points: ___ / 15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13+ = excellent!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10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rules</a:t>
            </a:r>
            <a:endParaRPr lang="en-US" sz="2500" dirty="0"/>
          </a:p>
        </p:txBody>
      </p:sp>
      <p:pic>
        <p:nvPicPr>
          <p:cNvPr id="6" name="brP_10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108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is it right? Say the rule – then click!</a:t>
            </a:r>
            <a:endParaRPr lang="en-US" sz="1250" dirty="0"/>
          </a:p>
        </p:txBody>
      </p:sp>
      <p:sp>
        <p:nvSpPr>
          <p:cNvPr id="8" name="insIT_10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Perché è giusto? Di' la regola – poi clicca!</a:t>
            </a:r>
            <a:endParaRPr lang="en-US" sz="950" dirty="0"/>
          </a:p>
        </p:txBody>
      </p:sp>
      <p:sp>
        <p:nvSpPr>
          <p:cNvPr id="9" name="note_11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</a:t>
            </a:r>
            <a:endParaRPr lang="en-US" sz="1150" dirty="0"/>
          </a:p>
        </p:txBody>
      </p:sp>
      <p:pic>
        <p:nvPicPr>
          <p:cNvPr id="10" name="logo_11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Grammar Banks 3A–4C · the rules   ·   📖 Grammar Banks 3A–4C</a:t>
            </a:r>
            <a:endParaRPr lang="en-US" sz="800" dirty="0"/>
          </a:p>
        </p:txBody>
      </p:sp>
      <p:sp>
        <p:nvSpPr>
          <p:cNvPr id="12" name="cvl_113"/>
          <p:cNvSpPr/>
          <p:nvPr/>
        </p:nvSpPr>
        <p:spPr>
          <a:xfrm>
            <a:off x="320040" y="14173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live · she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live</a:t>
            </a:r>
            <a:endParaRPr lang="en-US" sz="1250" dirty="0"/>
          </a:p>
        </p:txBody>
      </p:sp>
      <p:sp>
        <p:nvSpPr>
          <p:cNvPr id="13" name="cva_114"/>
          <p:cNvSpPr/>
          <p:nvPr/>
        </p:nvSpPr>
        <p:spPr>
          <a:xfrm>
            <a:off x="3364992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simple −</a:t>
            </a:r>
            <a:endParaRPr lang="en-US" sz="1000" dirty="0"/>
          </a:p>
        </p:txBody>
      </p:sp>
      <p:sp>
        <p:nvSpPr>
          <p:cNvPr id="14" name="R1_cvb115"/>
          <p:cNvSpPr/>
          <p:nvPr/>
        </p:nvSpPr>
        <p:spPr>
          <a:xfrm>
            <a:off x="4443984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don't / doesn't + verb</a:t>
            </a:r>
            <a:endParaRPr lang="en-US" sz="1000" dirty="0"/>
          </a:p>
        </p:txBody>
      </p:sp>
      <p:sp>
        <p:nvSpPr>
          <p:cNvPr id="15" name="R1_cvr116"/>
          <p:cNvSpPr/>
          <p:nvPr/>
        </p:nvSpPr>
        <p:spPr>
          <a:xfrm>
            <a:off x="5541264" y="14173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sister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work. (✗ doesn't works)</a:t>
            </a:r>
            <a:endParaRPr lang="en-US" sz="1250" dirty="0"/>
          </a:p>
        </p:txBody>
      </p:sp>
      <p:sp>
        <p:nvSpPr>
          <p:cNvPr id="16" name="cvl_117"/>
          <p:cNvSpPr/>
          <p:nvPr/>
        </p:nvSpPr>
        <p:spPr>
          <a:xfrm>
            <a:off x="320040" y="192024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he do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250" dirty="0"/>
          </a:p>
        </p:txBody>
      </p:sp>
      <p:sp>
        <p:nvSpPr>
          <p:cNvPr id="17" name="cva_118"/>
          <p:cNvSpPr/>
          <p:nvPr/>
        </p:nvSpPr>
        <p:spPr>
          <a:xfrm>
            <a:off x="3364992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question</a:t>
            </a:r>
            <a:endParaRPr lang="en-US" sz="1000" dirty="0"/>
          </a:p>
        </p:txBody>
      </p:sp>
      <p:sp>
        <p:nvSpPr>
          <p:cNvPr id="18" name="R2_cvb119"/>
          <p:cNvSpPr/>
          <p:nvPr/>
        </p:nvSpPr>
        <p:spPr>
          <a:xfrm>
            <a:off x="4443984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QuASI</a:t>
            </a:r>
            <a:endParaRPr lang="en-US" sz="1000" dirty="0"/>
          </a:p>
        </p:txBody>
      </p:sp>
      <p:sp>
        <p:nvSpPr>
          <p:cNvPr id="19" name="R2_cvr120"/>
          <p:cNvSpPr/>
          <p:nvPr/>
        </p:nvSpPr>
        <p:spPr>
          <a:xfrm>
            <a:off x="5541264" y="192024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live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 ·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she speak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German?</a:t>
            </a:r>
            <a:endParaRPr lang="en-US" sz="1250" dirty="0"/>
          </a:p>
        </p:txBody>
      </p:sp>
      <p:sp>
        <p:nvSpPr>
          <p:cNvPr id="20" name="cvl_121"/>
          <p:cNvSpPr/>
          <p:nvPr/>
        </p:nvSpPr>
        <p:spPr>
          <a:xfrm>
            <a:off x="320040" y="242316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parents'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house</a:t>
            </a:r>
            <a:endParaRPr lang="en-US" sz="1250" dirty="0"/>
          </a:p>
        </p:txBody>
      </p:sp>
      <p:sp>
        <p:nvSpPr>
          <p:cNvPr id="21" name="cva_122"/>
          <p:cNvSpPr/>
          <p:nvPr/>
        </p:nvSpPr>
        <p:spPr>
          <a:xfrm>
            <a:off x="3364992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possessive</a:t>
            </a:r>
            <a:endParaRPr lang="en-US" sz="1000" dirty="0"/>
          </a:p>
        </p:txBody>
      </p:sp>
      <p:sp>
        <p:nvSpPr>
          <p:cNvPr id="22" name="R3_cvb123"/>
          <p:cNvSpPr/>
          <p:nvPr/>
        </p:nvSpPr>
        <p:spPr>
          <a:xfrm>
            <a:off x="4443984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's · plural s'</a:t>
            </a:r>
            <a:endParaRPr lang="en-US" sz="1000" dirty="0"/>
          </a:p>
        </p:txBody>
      </p:sp>
      <p:sp>
        <p:nvSpPr>
          <p:cNvPr id="23" name="R3_cvr124"/>
          <p:cNvSpPr/>
          <p:nvPr/>
        </p:nvSpPr>
        <p:spPr>
          <a:xfrm>
            <a:off x="5541264" y="242316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Carla's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husband · my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parents'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car</a:t>
            </a:r>
            <a:endParaRPr lang="en-US" sz="1250" dirty="0"/>
          </a:p>
        </p:txBody>
      </p:sp>
      <p:sp>
        <p:nvSpPr>
          <p:cNvPr id="24" name="cvl_125"/>
          <p:cNvSpPr/>
          <p:nvPr/>
        </p:nvSpPr>
        <p:spPr>
          <a:xfrm>
            <a:off x="320040" y="292608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it?</a:t>
            </a:r>
            <a:endParaRPr lang="en-US" sz="1250" dirty="0"/>
          </a:p>
        </p:txBody>
      </p:sp>
      <p:sp>
        <p:nvSpPr>
          <p:cNvPr id="25" name="cva_126"/>
          <p:cNvSpPr/>
          <p:nvPr/>
        </p:nvSpPr>
        <p:spPr>
          <a:xfrm>
            <a:off x="3364992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/ Who's</a:t>
            </a:r>
            <a:endParaRPr lang="en-US" sz="1000" dirty="0"/>
          </a:p>
        </p:txBody>
      </p:sp>
      <p:sp>
        <p:nvSpPr>
          <p:cNvPr id="26" name="R4_cvb127"/>
          <p:cNvSpPr/>
          <p:nvPr/>
        </p:nvSpPr>
        <p:spPr>
          <a:xfrm>
            <a:off x="4443984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= di chi</a:t>
            </a:r>
            <a:endParaRPr lang="en-US" sz="1000" dirty="0"/>
          </a:p>
        </p:txBody>
      </p:sp>
      <p:sp>
        <p:nvSpPr>
          <p:cNvPr id="27" name="R4_cvr128"/>
          <p:cNvSpPr/>
          <p:nvPr/>
        </p:nvSpPr>
        <p:spPr>
          <a:xfrm>
            <a:off x="5541264" y="292608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book is it? ·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that? (= Who is)</a:t>
            </a:r>
            <a:endParaRPr lang="en-US" sz="1250" dirty="0"/>
          </a:p>
        </p:txBody>
      </p:sp>
      <p:sp>
        <p:nvSpPr>
          <p:cNvPr id="28" name="cvl_129"/>
          <p:cNvSpPr/>
          <p:nvPr/>
        </p:nvSpPr>
        <p:spPr>
          <a:xfrm>
            <a:off x="320040" y="342900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two ·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morning ·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Monday</a:t>
            </a:r>
            <a:endParaRPr lang="en-US" sz="1250" dirty="0"/>
          </a:p>
        </p:txBody>
      </p:sp>
      <p:sp>
        <p:nvSpPr>
          <p:cNvPr id="29" name="cva_130"/>
          <p:cNvSpPr/>
          <p:nvPr/>
        </p:nvSpPr>
        <p:spPr>
          <a:xfrm>
            <a:off x="3364992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time</a:t>
            </a:r>
            <a:endParaRPr lang="en-US" sz="1000" dirty="0"/>
          </a:p>
        </p:txBody>
      </p:sp>
      <p:sp>
        <p:nvSpPr>
          <p:cNvPr id="30" name="R5_cvb131"/>
          <p:cNvSpPr/>
          <p:nvPr/>
        </p:nvSpPr>
        <p:spPr>
          <a:xfrm>
            <a:off x="4443984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/ in / on</a:t>
            </a:r>
            <a:endParaRPr lang="en-US" sz="1000" dirty="0"/>
          </a:p>
        </p:txBody>
      </p:sp>
      <p:sp>
        <p:nvSpPr>
          <p:cNvPr id="31" name="R5_cvr132"/>
          <p:cNvSpPr/>
          <p:nvPr/>
        </p:nvSpPr>
        <p:spPr>
          <a:xfrm>
            <a:off x="5541264" y="342900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bed ·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home · go home</a:t>
            </a:r>
            <a:endParaRPr lang="en-US" sz="1250" dirty="0"/>
          </a:p>
        </p:txBody>
      </p:sp>
      <p:sp>
        <p:nvSpPr>
          <p:cNvPr id="32" name="cvl_133"/>
          <p:cNvSpPr/>
          <p:nvPr/>
        </p:nvSpPr>
        <p:spPr>
          <a:xfrm>
            <a:off x="320040" y="39319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never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late · I </a:t>
            </a:r>
            <a:pPr algn="ctr" indent="0" marL="0">
              <a:buNone/>
            </a:pPr>
            <a:r>
              <a:rPr lang="en-US" sz="12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usually get up</a:t>
            </a:r>
            <a:endParaRPr lang="en-US" sz="1250" dirty="0"/>
          </a:p>
        </p:txBody>
      </p:sp>
      <p:sp>
        <p:nvSpPr>
          <p:cNvPr id="33" name="cva_134"/>
          <p:cNvSpPr/>
          <p:nvPr/>
        </p:nvSpPr>
        <p:spPr>
          <a:xfrm>
            <a:off x="3364992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adverbs</a:t>
            </a:r>
            <a:endParaRPr lang="en-US" sz="1000" dirty="0"/>
          </a:p>
        </p:txBody>
      </p:sp>
      <p:sp>
        <p:nvSpPr>
          <p:cNvPr id="34" name="R6_cvb135"/>
          <p:cNvSpPr/>
          <p:nvPr/>
        </p:nvSpPr>
        <p:spPr>
          <a:xfrm>
            <a:off x="4443984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be · before verb</a:t>
            </a:r>
            <a:endParaRPr lang="en-US" sz="1000" dirty="0"/>
          </a:p>
        </p:txBody>
      </p:sp>
      <p:sp>
        <p:nvSpPr>
          <p:cNvPr id="35" name="R6_cvr136"/>
          <p:cNvSpPr/>
          <p:nvPr/>
        </p:nvSpPr>
        <p:spPr>
          <a:xfrm>
            <a:off x="5541264" y="39319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have class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once a week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(end)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3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139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auction</a:t>
            </a:r>
            <a:endParaRPr lang="en-US" sz="2400" dirty="0"/>
          </a:p>
        </p:txBody>
      </p:sp>
      <p:pic>
        <p:nvPicPr>
          <p:cNvPr id="6" name="brP_14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141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have €1,000. Buy the CORRECT sentences!</a:t>
            </a:r>
            <a:endParaRPr lang="en-US" sz="1250" dirty="0"/>
          </a:p>
        </p:txBody>
      </p:sp>
      <p:sp>
        <p:nvSpPr>
          <p:cNvPr id="8" name="insIT_14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Avete 1.000 €. Comprate le frasi GIUSTE!</a:t>
            </a:r>
            <a:endParaRPr lang="en-US" sz="950" dirty="0"/>
          </a:p>
        </p:txBody>
      </p:sp>
      <p:sp>
        <p:nvSpPr>
          <p:cNvPr id="9" name="note_14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14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Game · grammar auction   ·   📖 Review of Grammar Banks 3A–4C</a:t>
            </a:r>
            <a:endParaRPr lang="en-US" sz="800" dirty="0"/>
          </a:p>
        </p:txBody>
      </p:sp>
      <p:sp>
        <p:nvSpPr>
          <p:cNvPr id="12" name="cd_146"/>
          <p:cNvSpPr/>
          <p:nvPr/>
        </p:nvSpPr>
        <p:spPr>
          <a:xfrm>
            <a:off x="320040" y="1417320"/>
            <a:ext cx="2697480" cy="1917192"/>
          </a:xfrm>
          <a:prstGeom prst="roundRect">
            <a:avLst>
              <a:gd name="adj" fmla="val 66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4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4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49"/>
          <p:cNvSpPr/>
          <p:nvPr/>
        </p:nvSpPr>
        <p:spPr>
          <a:xfrm>
            <a:off x="886968" y="1911096"/>
            <a:ext cx="2039112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team has €1,000.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Bid for the sentences you think are CORRECT.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Most correct sentences wins!</a:t>
            </a:r>
            <a:endParaRPr lang="en-US" sz="1200" dirty="0"/>
          </a:p>
        </p:txBody>
      </p:sp>
      <p:sp>
        <p:nvSpPr>
          <p:cNvPr id="16" name="st_150"/>
          <p:cNvSpPr/>
          <p:nvPr/>
        </p:nvSpPr>
        <p:spPr>
          <a:xfrm rot="-180000">
            <a:off x="502920" y="3517392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151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gq_152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your brother work?</a:t>
            </a:r>
            <a:endParaRPr lang="en-US" sz="1050" dirty="0"/>
          </a:p>
        </p:txBody>
      </p:sp>
      <p:sp>
        <p:nvSpPr>
          <p:cNvPr id="19" name="R1_chip153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</a:t>
            </a:r>
            <a:endParaRPr lang="en-US" sz="950" dirty="0"/>
          </a:p>
        </p:txBody>
      </p:sp>
      <p:sp>
        <p:nvSpPr>
          <p:cNvPr id="20" name="bd_154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gq_155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don't like dogs.</a:t>
            </a:r>
            <a:endParaRPr lang="en-US" sz="1100" dirty="0"/>
          </a:p>
        </p:txBody>
      </p:sp>
      <p:sp>
        <p:nvSpPr>
          <p:cNvPr id="22" name="R2_chip156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She doesn't like dogs.</a:t>
            </a:r>
            <a:endParaRPr lang="en-US" sz="950" dirty="0"/>
          </a:p>
        </p:txBody>
      </p:sp>
      <p:sp>
        <p:nvSpPr>
          <p:cNvPr id="23" name="bd_157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gq_158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go always to the gym.</a:t>
            </a:r>
            <a:endParaRPr lang="en-US" sz="1100" dirty="0"/>
          </a:p>
        </p:txBody>
      </p:sp>
      <p:sp>
        <p:nvSpPr>
          <p:cNvPr id="25" name="R3_chip159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I always go to the gym.</a:t>
            </a:r>
            <a:endParaRPr lang="en-US" sz="950" dirty="0"/>
          </a:p>
        </p:txBody>
      </p:sp>
      <p:sp>
        <p:nvSpPr>
          <p:cNvPr id="26" name="bd_160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gq_161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my cousin's car.</a:t>
            </a:r>
            <a:endParaRPr lang="en-US" sz="1100" dirty="0"/>
          </a:p>
        </p:txBody>
      </p:sp>
      <p:sp>
        <p:nvSpPr>
          <p:cNvPr id="28" name="R4_chip162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</a:t>
            </a:r>
            <a:endParaRPr lang="en-US" sz="950" dirty="0"/>
          </a:p>
        </p:txBody>
      </p:sp>
      <p:sp>
        <p:nvSpPr>
          <p:cNvPr id="29" name="bd_163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gq_164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you like?</a:t>
            </a:r>
            <a:endParaRPr lang="en-US" sz="1100" dirty="0"/>
          </a:p>
        </p:txBody>
      </p:sp>
      <p:sp>
        <p:nvSpPr>
          <p:cNvPr id="31" name="R5_chip165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What kind of music do you like?</a:t>
            </a:r>
            <a:endParaRPr lang="en-US" sz="950" dirty="0"/>
          </a:p>
        </p:txBody>
      </p:sp>
      <p:sp>
        <p:nvSpPr>
          <p:cNvPr id="32" name="bd_166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gq_167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hardly ever tired.</a:t>
            </a:r>
            <a:endParaRPr lang="en-US" sz="1100" dirty="0"/>
          </a:p>
        </p:txBody>
      </p:sp>
      <p:sp>
        <p:nvSpPr>
          <p:cNvPr id="34" name="R6_chip168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</a:t>
            </a:r>
            <a:endParaRPr lang="en-US" sz="950" dirty="0"/>
          </a:p>
        </p:txBody>
      </p:sp>
      <p:sp>
        <p:nvSpPr>
          <p:cNvPr id="35" name="bd_169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gq_170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have lunch in Sunday.</a:t>
            </a:r>
            <a:endParaRPr lang="en-US" sz="1100" dirty="0"/>
          </a:p>
        </p:txBody>
      </p:sp>
      <p:sp>
        <p:nvSpPr>
          <p:cNvPr id="37" name="R7_chip171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on Sunday</a:t>
            </a:r>
            <a:endParaRPr lang="en-US" sz="950" dirty="0"/>
          </a:p>
        </p:txBody>
      </p:sp>
      <p:sp>
        <p:nvSpPr>
          <p:cNvPr id="38" name="bd_172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39" name="gq_173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that man? – My uncle.</a:t>
            </a:r>
            <a:endParaRPr lang="en-US" sz="1100" dirty="0"/>
          </a:p>
        </p:txBody>
      </p:sp>
      <p:sp>
        <p:nvSpPr>
          <p:cNvPr id="40" name="R8_chip174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7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177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Little words, big verbs</a:t>
            </a:r>
            <a:endParaRPr lang="en-US" sz="2500" dirty="0"/>
          </a:p>
        </p:txBody>
      </p:sp>
      <p:pic>
        <p:nvPicPr>
          <p:cNvPr id="6" name="brP_17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179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at, in, on, to or up. Then the verbs.</a:t>
            </a:r>
            <a:endParaRPr lang="en-US" sz="1250" dirty="0"/>
          </a:p>
        </p:txBody>
      </p:sp>
      <p:sp>
        <p:nvSpPr>
          <p:cNvPr id="8" name="insIT_18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at, in, on, to o up. Poi i verbi.</a:t>
            </a:r>
            <a:endParaRPr lang="en-US" sz="950" dirty="0"/>
          </a:p>
        </p:txBody>
      </p:sp>
      <p:sp>
        <p:nvSpPr>
          <p:cNvPr id="9" name="note_18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18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Vocabulary · SB p.36 a, b   ·   📖 SB p.36 · Vocabulary a, b (SB key)</a:t>
            </a:r>
            <a:endParaRPr lang="en-US" sz="800" dirty="0"/>
          </a:p>
        </p:txBody>
      </p:sp>
      <p:sp>
        <p:nvSpPr>
          <p:cNvPr id="12" name="cd_184"/>
          <p:cNvSpPr/>
          <p:nvPr/>
        </p:nvSpPr>
        <p:spPr>
          <a:xfrm>
            <a:off x="320040" y="1417320"/>
            <a:ext cx="854964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85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at, in, on, to, up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Saturday night I go to the cinema.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 a student.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brother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work?</a:t>
            </a:r>
            <a:endParaRPr lang="en-US" sz="1200" dirty="0"/>
          </a:p>
        </p:txBody>
      </p:sp>
      <p:sp>
        <p:nvSpPr>
          <p:cNvPr id="14" name="R1_rdA186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at, in, on, to, up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Saturday night I go to the cinema.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 a student.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brother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work?</a:t>
            </a:r>
            <a:endParaRPr lang="en-US" sz="1200" dirty="0"/>
          </a:p>
        </p:txBody>
      </p:sp>
      <p:sp>
        <p:nvSpPr>
          <p:cNvPr id="15" name="R2_rdA187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at, in, on, to, up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Saturday night I go to the cinema.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 a student.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brother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work?</a:t>
            </a:r>
            <a:endParaRPr lang="en-US" sz="1200" dirty="0"/>
          </a:p>
        </p:txBody>
      </p:sp>
      <p:sp>
        <p:nvSpPr>
          <p:cNvPr id="16" name="R3_rdA188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at, in, on, to, up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Saturday night I go to the cinema.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 a student.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up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brother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work?</a:t>
            </a:r>
            <a:endParaRPr lang="en-US" sz="1200" dirty="0"/>
          </a:p>
        </p:txBody>
      </p:sp>
      <p:sp>
        <p:nvSpPr>
          <p:cNvPr id="17" name="R4_rdA189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at, in, on, to, up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Saturday night I go to the cinema.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 a student.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up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brother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work?</a:t>
            </a:r>
            <a:endParaRPr lang="en-US" sz="1200" dirty="0"/>
          </a:p>
        </p:txBody>
      </p:sp>
      <p:sp>
        <p:nvSpPr>
          <p:cNvPr id="18" name="R5_rdA190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at, in, on, to, up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Saturday night I go to the cinema.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 a student.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up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brother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go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to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work?</a:t>
            </a:r>
            <a:endParaRPr lang="en-US" sz="1200" dirty="0"/>
          </a:p>
        </p:txBody>
      </p:sp>
      <p:sp>
        <p:nvSpPr>
          <p:cNvPr id="19" name="rd_191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0" name="R6_rdA192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1" name="R7_rdA193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2" name="R8_rdA194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3" name="R9_rdA195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4" name="R10_rdA196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go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5" name="R11_rdA197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go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6" name="R12_rdA198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go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(12) listen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7" name="R13_rdA199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go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(12) listen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(13) see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8" name="R14_rdA200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go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(12) listen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(13) see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(14) read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29" name="R15_rdA201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do, get, go, have, listen, play, read, see, take, wear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dressed · 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dog for a walk · 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shower · 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homework · 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go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shopping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guitar · 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(12) listen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· 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(13) see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friends · 9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(14) read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newspaper · 10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(15)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glasses</a:t>
            </a:r>
            <a:endParaRPr lang="en-US" sz="1200" dirty="0"/>
          </a:p>
        </p:txBody>
      </p:sp>
      <p:sp>
        <p:nvSpPr>
          <p:cNvPr id="30" name="rdl_202"/>
          <p:cNvSpPr/>
          <p:nvPr/>
        </p:nvSpPr>
        <p:spPr>
          <a:xfrm>
            <a:off x="4594860" y="1600200"/>
            <a:ext cx="0" cy="2999232"/>
          </a:xfrm>
          <a:prstGeom prst="line">
            <a:avLst/>
          </a:prstGeom>
          <a:noFill/>
          <a:ln w="28575">
            <a:solidFill>
              <a:srgbClr val="A8E5BE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05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Odd one out</a:t>
            </a:r>
            <a:endParaRPr lang="en-US" sz="2500" dirty="0"/>
          </a:p>
        </p:txBody>
      </p:sp>
      <p:pic>
        <p:nvPicPr>
          <p:cNvPr id="6" name="brP_20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07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which word is different? Say WHY!</a:t>
            </a:r>
            <a:endParaRPr lang="en-US" sz="1250" dirty="0"/>
          </a:p>
        </p:txBody>
      </p:sp>
      <p:sp>
        <p:nvSpPr>
          <p:cNvPr id="8" name="insIT_20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quale parola è diversa? Dite PERCHÉ!</a:t>
            </a:r>
            <a:endParaRPr lang="en-US" sz="950" dirty="0"/>
          </a:p>
        </p:txBody>
      </p:sp>
      <p:sp>
        <p:nvSpPr>
          <p:cNvPr id="9" name="note_20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Communicative game</a:t>
            </a:r>
            <a:endParaRPr lang="en-US" sz="1250" dirty="0"/>
          </a:p>
        </p:txBody>
      </p:sp>
      <p:pic>
        <p:nvPicPr>
          <p:cNvPr id="10" name="logo_21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Vocabulary · odd one out   ·   📖 SB p.36 · Vocabulary c (SB key)</a:t>
            </a:r>
            <a:endParaRPr lang="en-US" sz="800" dirty="0"/>
          </a:p>
        </p:txBody>
      </p:sp>
      <p:sp>
        <p:nvSpPr>
          <p:cNvPr id="12" name="cd_212"/>
          <p:cNvSpPr/>
          <p:nvPr/>
        </p:nvSpPr>
        <p:spPr>
          <a:xfrm>
            <a:off x="320040" y="1417320"/>
            <a:ext cx="2697480" cy="1722120"/>
          </a:xfrm>
          <a:prstGeom prst="roundRect">
            <a:avLst>
              <a:gd name="adj" fmla="val 743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1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1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15"/>
          <p:cNvSpPr/>
          <p:nvPr/>
        </p:nvSpPr>
        <p:spPr>
          <a:xfrm>
            <a:off x="886968" y="1911096"/>
            <a:ext cx="2039112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4 words.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different one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why = 1 more point!</a:t>
            </a:r>
            <a:endParaRPr lang="en-US" sz="1200" dirty="0"/>
          </a:p>
        </p:txBody>
      </p:sp>
      <p:sp>
        <p:nvSpPr>
          <p:cNvPr id="16" name="st_216"/>
          <p:cNvSpPr/>
          <p:nvPr/>
        </p:nvSpPr>
        <p:spPr>
          <a:xfrm rot="-180000">
            <a:off x="502920" y="3322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217"/>
          <p:cNvSpPr/>
          <p:nvPr/>
        </p:nvSpPr>
        <p:spPr>
          <a:xfrm>
            <a:off x="3246120" y="1545336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218"/>
          <p:cNvSpPr/>
          <p:nvPr/>
        </p:nvSpPr>
        <p:spPr>
          <a:xfrm>
            <a:off x="3657600" y="1417320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brother · grandfather · niece · uncle</a:t>
            </a:r>
            <a:endParaRPr lang="en-US" sz="1250" dirty="0"/>
          </a:p>
        </p:txBody>
      </p:sp>
      <p:sp>
        <p:nvSpPr>
          <p:cNvPr id="19" name="chip_219"/>
          <p:cNvSpPr/>
          <p:nvPr/>
        </p:nvSpPr>
        <p:spPr>
          <a:xfrm>
            <a:off x="6263640" y="1417320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niece (the others are male relatives)</a:t>
            </a:r>
            <a:endParaRPr lang="en-US" sz="1200" dirty="0"/>
          </a:p>
        </p:txBody>
      </p:sp>
      <p:sp>
        <p:nvSpPr>
          <p:cNvPr id="20" name="bd_220"/>
          <p:cNvSpPr/>
          <p:nvPr/>
        </p:nvSpPr>
        <p:spPr>
          <a:xfrm>
            <a:off x="3246120" y="2194560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21"/>
          <p:cNvSpPr/>
          <p:nvPr/>
        </p:nvSpPr>
        <p:spPr>
          <a:xfrm>
            <a:off x="3657600" y="2066544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aunt · husband · mother-in-law · stepsister</a:t>
            </a:r>
            <a:endParaRPr lang="en-US" sz="1250" dirty="0"/>
          </a:p>
        </p:txBody>
      </p:sp>
      <p:sp>
        <p:nvSpPr>
          <p:cNvPr id="22" name="R1_chip222"/>
          <p:cNvSpPr/>
          <p:nvPr/>
        </p:nvSpPr>
        <p:spPr>
          <a:xfrm>
            <a:off x="6263640" y="2066544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husband (the others are female relatives)</a:t>
            </a:r>
            <a:endParaRPr lang="en-US" sz="1200" dirty="0"/>
          </a:p>
        </p:txBody>
      </p:sp>
      <p:sp>
        <p:nvSpPr>
          <p:cNvPr id="23" name="bd_223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24"/>
          <p:cNvSpPr/>
          <p:nvPr/>
        </p:nvSpPr>
        <p:spPr>
          <a:xfrm>
            <a:off x="3657600" y="2715768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 · cleaner · factory · pilot</a:t>
            </a:r>
            <a:endParaRPr lang="en-US" sz="1250" dirty="0"/>
          </a:p>
        </p:txBody>
      </p:sp>
      <p:sp>
        <p:nvSpPr>
          <p:cNvPr id="25" name="R2_chip225"/>
          <p:cNvSpPr/>
          <p:nvPr/>
        </p:nvSpPr>
        <p:spPr>
          <a:xfrm>
            <a:off x="6263640" y="2715768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factory (the others are jobs)</a:t>
            </a:r>
            <a:endParaRPr lang="en-US" sz="1200" dirty="0"/>
          </a:p>
        </p:txBody>
      </p:sp>
      <p:sp>
        <p:nvSpPr>
          <p:cNvPr id="26" name="bd_226"/>
          <p:cNvSpPr/>
          <p:nvPr/>
        </p:nvSpPr>
        <p:spPr>
          <a:xfrm>
            <a:off x="3246120" y="3493008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27"/>
          <p:cNvSpPr/>
          <p:nvPr/>
        </p:nvSpPr>
        <p:spPr>
          <a:xfrm>
            <a:off x="3657600" y="3364992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always · early · often · never</a:t>
            </a:r>
            <a:endParaRPr lang="en-US" sz="1250" dirty="0"/>
          </a:p>
        </p:txBody>
      </p:sp>
      <p:sp>
        <p:nvSpPr>
          <p:cNvPr id="28" name="R3_chip228"/>
          <p:cNvSpPr/>
          <p:nvPr/>
        </p:nvSpPr>
        <p:spPr>
          <a:xfrm>
            <a:off x="6263640" y="3364992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early (the others are adverbs of frequency)</a:t>
            </a:r>
            <a:endParaRPr lang="en-US" sz="1200" dirty="0"/>
          </a:p>
        </p:txBody>
      </p:sp>
      <p:sp>
        <p:nvSpPr>
          <p:cNvPr id="29" name="bd_229"/>
          <p:cNvSpPr/>
          <p:nvPr/>
        </p:nvSpPr>
        <p:spPr>
          <a:xfrm>
            <a:off x="3246120" y="41422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30"/>
          <p:cNvSpPr/>
          <p:nvPr/>
        </p:nvSpPr>
        <p:spPr>
          <a:xfrm>
            <a:off x="3657600" y="4014216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April · August · July · Monday</a:t>
            </a:r>
            <a:endParaRPr lang="en-US" sz="1250" dirty="0"/>
          </a:p>
        </p:txBody>
      </p:sp>
      <p:sp>
        <p:nvSpPr>
          <p:cNvPr id="31" name="R4_chip231"/>
          <p:cNvSpPr/>
          <p:nvPr/>
        </p:nvSpPr>
        <p:spPr>
          <a:xfrm>
            <a:off x="6263640" y="4014216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Monday (the others are months)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3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34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Question words</a:t>
            </a:r>
            <a:endParaRPr lang="en-US" sz="2500" dirty="0"/>
          </a:p>
        </p:txBody>
      </p:sp>
      <p:pic>
        <p:nvPicPr>
          <p:cNvPr id="6" name="brP_23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3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How many, Who, Why, What or Where. Then ask a partner!</a:t>
            </a:r>
            <a:endParaRPr lang="en-US" sz="1100" dirty="0"/>
          </a:p>
        </p:txBody>
      </p:sp>
      <p:sp>
        <p:nvSpPr>
          <p:cNvPr id="8" name="insIT_23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How many, Who, Why, What o Where. Poi chiedi!</a:t>
            </a:r>
            <a:endParaRPr lang="en-US" sz="950" dirty="0"/>
          </a:p>
        </p:txBody>
      </p:sp>
      <p:sp>
        <p:nvSpPr>
          <p:cNvPr id="9" name="note_23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Vocabulary · question words   ·   📖 SB p.36 · Vocabulary d (SB key)</a:t>
            </a:r>
            <a:endParaRPr lang="en-US" sz="800" dirty="0"/>
          </a:p>
        </p:txBody>
      </p:sp>
      <p:sp>
        <p:nvSpPr>
          <p:cNvPr id="12" name="cd_241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4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4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bd_244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q_245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 you live?</a:t>
            </a:r>
            <a:endParaRPr lang="en-US" sz="1150" dirty="0"/>
          </a:p>
        </p:txBody>
      </p:sp>
      <p:sp>
        <p:nvSpPr>
          <p:cNvPr id="17" name="R1_chip246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</a:t>
            </a:r>
            <a:endParaRPr lang="en-US" sz="1050" dirty="0"/>
          </a:p>
        </p:txBody>
      </p:sp>
      <p:sp>
        <p:nvSpPr>
          <p:cNvPr id="18" name="bd_247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q_248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does your father do?</a:t>
            </a:r>
            <a:endParaRPr lang="en-US" sz="1150" dirty="0"/>
          </a:p>
        </p:txBody>
      </p:sp>
      <p:sp>
        <p:nvSpPr>
          <p:cNvPr id="20" name="R2_chip249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</a:t>
            </a:r>
            <a:endParaRPr lang="en-US" sz="1050" dirty="0"/>
          </a:p>
        </p:txBody>
      </p:sp>
      <p:sp>
        <p:nvSpPr>
          <p:cNvPr id="21" name="bd_250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q_251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is your favourite family member?</a:t>
            </a:r>
            <a:endParaRPr lang="en-US" sz="1150" dirty="0"/>
          </a:p>
        </p:txBody>
      </p:sp>
      <p:sp>
        <p:nvSpPr>
          <p:cNvPr id="23" name="R3_chip252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</a:t>
            </a:r>
            <a:endParaRPr lang="en-US" sz="1050" dirty="0"/>
          </a:p>
        </p:txBody>
      </p:sp>
      <p:sp>
        <p:nvSpPr>
          <p:cNvPr id="24" name="bd_253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q_254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hours do you work?</a:t>
            </a:r>
            <a:endParaRPr lang="en-US" sz="1150" dirty="0"/>
          </a:p>
        </p:txBody>
      </p:sp>
      <p:sp>
        <p:nvSpPr>
          <p:cNvPr id="26" name="R4_chip255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</a:t>
            </a:r>
            <a:endParaRPr lang="en-US" sz="1050" dirty="0"/>
          </a:p>
        </p:txBody>
      </p:sp>
      <p:sp>
        <p:nvSpPr>
          <p:cNvPr id="27" name="bd_256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q_257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 you want to learn English?</a:t>
            </a:r>
            <a:endParaRPr lang="en-US" sz="1150" dirty="0"/>
          </a:p>
        </p:txBody>
      </p:sp>
      <p:sp>
        <p:nvSpPr>
          <p:cNvPr id="29" name="R5_chip258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6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61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sound?</a:t>
            </a:r>
            <a:endParaRPr lang="en-US" sz="2400" dirty="0"/>
          </a:p>
        </p:txBody>
      </p:sp>
      <p:pic>
        <p:nvPicPr>
          <p:cNvPr id="6" name="brP_26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263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sound do the pink letters have?</a:t>
            </a:r>
            <a:endParaRPr lang="en-US" sz="1250" dirty="0"/>
          </a:p>
        </p:txBody>
      </p:sp>
      <p:sp>
        <p:nvSpPr>
          <p:cNvPr id="8" name="insIT_26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 suono hanno le lettere rosa?</a:t>
            </a:r>
            <a:endParaRPr lang="en-US" sz="950" dirty="0"/>
          </a:p>
        </p:txBody>
      </p:sp>
      <p:sp>
        <p:nvSpPr>
          <p:cNvPr id="9" name="note_26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6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Pronunciation · sounds   ·   📖 SB p.36 · Pronunciation a, c (SB key)</a:t>
            </a:r>
            <a:endParaRPr lang="en-US" sz="800" dirty="0"/>
          </a:p>
        </p:txBody>
      </p:sp>
      <p:sp>
        <p:nvSpPr>
          <p:cNvPr id="12" name="cd_268"/>
          <p:cNvSpPr/>
          <p:nvPr/>
        </p:nvSpPr>
        <p:spPr>
          <a:xfrm>
            <a:off x="320040" y="1417320"/>
            <a:ext cx="2697480" cy="2295144"/>
          </a:xfrm>
          <a:prstGeom prst="roundRect">
            <a:avLst>
              <a:gd name="adj" fmla="val 557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6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7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lg_271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050" dirty="0"/>
          </a:p>
        </p:txBody>
      </p:sp>
      <p:sp>
        <p:nvSpPr>
          <p:cNvPr id="16" name="lg_272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🌸 flower /f/</a:t>
            </a:r>
            <a:endParaRPr lang="en-US" sz="1050" dirty="0"/>
          </a:p>
        </p:txBody>
      </p:sp>
      <p:sp>
        <p:nvSpPr>
          <p:cNvPr id="17" name="lg_273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050" dirty="0"/>
          </a:p>
        </p:txBody>
      </p:sp>
      <p:sp>
        <p:nvSpPr>
          <p:cNvPr id="18" name="lg_274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A8E6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🧙 witch /w/</a:t>
            </a:r>
            <a:endParaRPr lang="en-US" sz="1050" dirty="0"/>
          </a:p>
        </p:txBody>
      </p:sp>
      <p:sp>
        <p:nvSpPr>
          <p:cNvPr id="19" name="lg_275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050" dirty="0"/>
          </a:p>
        </p:txBody>
      </p:sp>
      <p:sp>
        <p:nvSpPr>
          <p:cNvPr id="20" name="sq_276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ther</a:t>
            </a:r>
            <a:endParaRPr lang="en-US" sz="1200" dirty="0"/>
          </a:p>
        </p:txBody>
      </p:sp>
      <p:sp>
        <p:nvSpPr>
          <p:cNvPr id="21" name="R1_tag277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150" dirty="0"/>
          </a:p>
        </p:txBody>
      </p:sp>
      <p:sp>
        <p:nvSpPr>
          <p:cNvPr id="22" name="sq_278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ew</a:t>
            </a:r>
            <a:endParaRPr lang="en-US" sz="1200" dirty="0"/>
          </a:p>
        </p:txBody>
      </p:sp>
      <p:sp>
        <p:nvSpPr>
          <p:cNvPr id="23" name="R2_tag279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🌸 flower /f/</a:t>
            </a:r>
            <a:endParaRPr lang="en-US" sz="1150" dirty="0"/>
          </a:p>
        </p:txBody>
      </p:sp>
      <p:sp>
        <p:nvSpPr>
          <p:cNvPr id="24" name="sq_280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</a:t>
            </a:r>
            <a:endParaRPr lang="en-US" sz="1200" dirty="0"/>
          </a:p>
        </p:txBody>
      </p:sp>
      <p:sp>
        <p:nvSpPr>
          <p:cNvPr id="25" name="R3_tag281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  <p:sp>
        <p:nvSpPr>
          <p:cNvPr id="26" name="sq_282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ich</a:t>
            </a:r>
            <a:endParaRPr lang="en-US" sz="1200" dirty="0"/>
          </a:p>
        </p:txBody>
      </p:sp>
      <p:sp>
        <p:nvSpPr>
          <p:cNvPr id="27" name="R4_tag283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A8E6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🧙 witch /w/</a:t>
            </a:r>
            <a:endParaRPr lang="en-US" sz="1150" dirty="0"/>
          </a:p>
        </p:txBody>
      </p:sp>
      <p:sp>
        <p:nvSpPr>
          <p:cNvPr id="28" name="sq_284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</a:t>
            </a:r>
            <a:endParaRPr lang="en-US" sz="1200" dirty="0"/>
          </a:p>
        </p:txBody>
      </p:sp>
      <p:sp>
        <p:nvSpPr>
          <p:cNvPr id="29" name="R5_tag285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8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88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 stress</a:t>
            </a:r>
            <a:endParaRPr lang="en-US" sz="2500" dirty="0"/>
          </a:p>
        </p:txBody>
      </p:sp>
      <p:pic>
        <p:nvPicPr>
          <p:cNvPr id="6" name="brP_28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290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Underline the stressed syllable. Say the word!</a:t>
            </a:r>
            <a:endParaRPr lang="en-US" sz="1250" dirty="0"/>
          </a:p>
        </p:txBody>
      </p:sp>
      <p:sp>
        <p:nvSpPr>
          <p:cNvPr id="8" name="insIT_29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Sottolinea la sillaba accentata. Di' la parola!</a:t>
            </a:r>
            <a:endParaRPr lang="en-US" sz="950" dirty="0"/>
          </a:p>
        </p:txBody>
      </p:sp>
      <p:sp>
        <p:nvSpPr>
          <p:cNvPr id="9" name="note_29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29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9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Pronunciation · word stress   ·   📖 SB p.36 · Pronunciation d (SB key)</a:t>
            </a:r>
            <a:endParaRPr lang="en-US" sz="800" dirty="0"/>
          </a:p>
        </p:txBody>
      </p:sp>
      <p:sp>
        <p:nvSpPr>
          <p:cNvPr id="12" name="cd_295"/>
          <p:cNvSpPr/>
          <p:nvPr/>
        </p:nvSpPr>
        <p:spPr>
          <a:xfrm>
            <a:off x="320040" y="1417320"/>
            <a:ext cx="2697480" cy="768096"/>
          </a:xfrm>
          <a:prstGeom prst="roundRect">
            <a:avLst>
              <a:gd name="adj" fmla="val 1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9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9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98"/>
          <p:cNvSpPr/>
          <p:nvPr/>
        </p:nvSpPr>
        <p:spPr>
          <a:xfrm>
            <a:off x="886968" y="191109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be|cause → beCAUSE</a:t>
            </a:r>
            <a:endParaRPr lang="en-US" sz="1050" dirty="0"/>
          </a:p>
        </p:txBody>
      </p:sp>
      <p:sp>
        <p:nvSpPr>
          <p:cNvPr id="16" name="bd_29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30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be|cause</a:t>
            </a:r>
            <a:endParaRPr lang="en-US" sz="1150" dirty="0"/>
          </a:p>
        </p:txBody>
      </p:sp>
      <p:sp>
        <p:nvSpPr>
          <p:cNvPr id="18" name="R1_chip30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</a:t>
            </a:r>
            <a:endParaRPr lang="en-US" sz="1050" dirty="0"/>
          </a:p>
        </p:txBody>
      </p:sp>
      <p:sp>
        <p:nvSpPr>
          <p:cNvPr id="19" name="bd_30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30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den|tist</a:t>
            </a:r>
            <a:endParaRPr lang="en-US" sz="1150" dirty="0"/>
          </a:p>
        </p:txBody>
      </p:sp>
      <p:sp>
        <p:nvSpPr>
          <p:cNvPr id="21" name="R2_chip30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DENtist</a:t>
            </a:r>
            <a:endParaRPr lang="en-US" sz="1050" dirty="0"/>
          </a:p>
        </p:txBody>
      </p:sp>
      <p:sp>
        <p:nvSpPr>
          <p:cNvPr id="22" name="bd_30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30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un|em|ployed</a:t>
            </a:r>
            <a:endParaRPr lang="en-US" sz="1150" dirty="0"/>
          </a:p>
        </p:txBody>
      </p:sp>
      <p:sp>
        <p:nvSpPr>
          <p:cNvPr id="24" name="R3_chip30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unemPLOYED</a:t>
            </a:r>
            <a:endParaRPr lang="en-US" sz="1050" dirty="0"/>
          </a:p>
        </p:txBody>
      </p:sp>
      <p:sp>
        <p:nvSpPr>
          <p:cNvPr id="25" name="bd_30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30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po|lice|man</a:t>
            </a:r>
            <a:endParaRPr lang="en-US" sz="1150" dirty="0"/>
          </a:p>
        </p:txBody>
      </p:sp>
      <p:sp>
        <p:nvSpPr>
          <p:cNvPr id="27" name="R4_chip31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poLICEman</a:t>
            </a:r>
            <a:endParaRPr lang="en-US" sz="1050" dirty="0"/>
          </a:p>
        </p:txBody>
      </p:sp>
      <p:sp>
        <p:nvSpPr>
          <p:cNvPr id="28" name="bd_31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q_31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grand|mo|ther</a:t>
            </a:r>
            <a:endParaRPr lang="en-US" sz="1150" dirty="0"/>
          </a:p>
        </p:txBody>
      </p:sp>
      <p:sp>
        <p:nvSpPr>
          <p:cNvPr id="30" name="R5_chip31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GRANDmother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316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superstar DJ</a:t>
            </a:r>
            <a:endParaRPr lang="en-US" sz="2500" dirty="0"/>
          </a:p>
        </p:txBody>
      </p:sp>
      <p:pic>
        <p:nvPicPr>
          <p:cNvPr id="6" name="brP_3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1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 once. What is unusual about David Guetta's life? Then: true or false?</a:t>
            </a:r>
            <a:endParaRPr lang="en-US" sz="1100" dirty="0"/>
          </a:p>
        </p:txBody>
      </p:sp>
      <p:sp>
        <p:nvSpPr>
          <p:cNvPr id="8" name="insIT_3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l'articolo. Cosa c'è di insolito? Poi: vero o falso?</a:t>
            </a:r>
            <a:endParaRPr lang="en-US" sz="950" dirty="0"/>
          </a:p>
        </p:txBody>
      </p:sp>
      <p:sp>
        <p:nvSpPr>
          <p:cNvPr id="9" name="note_32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for detail</a:t>
            </a:r>
            <a:endParaRPr lang="en-US" sz="1150" dirty="0"/>
          </a:p>
        </p:txBody>
      </p:sp>
      <p:pic>
        <p:nvPicPr>
          <p:cNvPr id="10" name="logo_3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Reading · A life in the day   ·   📖 SB p.37 · Can you understand this text? a, b (SB key)</a:t>
            </a:r>
            <a:endParaRPr lang="en-US" sz="800" dirty="0"/>
          </a:p>
        </p:txBody>
      </p:sp>
      <p:sp>
        <p:nvSpPr>
          <p:cNvPr id="12" name="cd_323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2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life in the day: the superstar DJ David Guetta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wake up at about 1.00 p.m., and the first thing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go outside. I live in Ibiza and I like having breakfast in the sun.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fruit juice, eggs, fruit, and tea.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drink coffee. After breakfast, I answer my emails for an hour, then I go to the gym.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listen to music in the house, or even in the car, because music is my job. On a typical day I spend two or three hours in my studio, then another four hours at a nightclub. My work starts in the evening.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dinner in a restaurant, and then I go to the club. I try to have a normal life, but my job isn't normal. I arrive at a club like a secret agent – I go in through the back door and Security takes me to the stage.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finish work at 4.00 in the morning. Security takes me out, and then I go home. After about four hours playing music I'm very excited. My manager says, 'Go home and sleep', but that's impossible. First I need to calm down. When I get home I have a cup of tea, brush my teeth and say, 'Thank you for this wonderful life'. I am 47 now, but I want to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when I'm 60 or 80. I want to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forever.</a:t>
            </a:r>
            <a:endParaRPr lang="en-US" sz="1000" dirty="0"/>
          </a:p>
        </p:txBody>
      </p:sp>
      <p:sp>
        <p:nvSpPr>
          <p:cNvPr id="14" name="R1_rdE32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life in the day: the superstar DJ David Guetta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wake up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at about 1.00 p.m.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first thing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go outside. I live in Ibiza and I like having breakfast in the sun.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fruit juice, eggs, fruit, and tea.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drink coffee. After breakfast, I answer my emails for an hour,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then I go to the gym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listen to music in the house, or even in the car, because music is my job. On a typical day I spend two or three hours in my studio, then another four hours at a nightclub. My work starts in the evening.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usually have dinner in a restaurant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then I go to the club. I try to have a normal life, but my job isn't normal. I arrive at a club like a secret agent – I go in through the back door and Security takes me to the stage.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finish work at 4.00 in the morning. Security takes me out, and then I go home. After about four hours playing music I'm very excited. My manager says, 'Go home and sleep',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but that's impossible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First I need to calm down. When I get home I have a cup of tea, brush my teeth and say, 'Thank you for this wonderful life'. I am 47 now, but I want to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when I'm 60 or 80.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want to do this forever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bd_326"/>
          <p:cNvSpPr/>
          <p:nvPr/>
        </p:nvSpPr>
        <p:spPr>
          <a:xfrm>
            <a:off x="6172200" y="1363885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rq_327"/>
          <p:cNvSpPr/>
          <p:nvPr/>
        </p:nvSpPr>
        <p:spPr>
          <a:xfrm>
            <a:off x="6492240" y="1417320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What is unusual about his life?</a:t>
            </a:r>
            <a:endParaRPr lang="en-US" sz="900" dirty="0"/>
          </a:p>
        </p:txBody>
      </p:sp>
      <p:sp>
        <p:nvSpPr>
          <p:cNvPr id="17" name="R1_chip328"/>
          <p:cNvSpPr/>
          <p:nvPr/>
        </p:nvSpPr>
        <p:spPr>
          <a:xfrm>
            <a:off x="6492240" y="1612202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wakes up at 1 p.m., his work starts in the evening, he arrives at the club in secret and finishes at 4 a.m.</a:t>
            </a:r>
            <a:endParaRPr lang="en-US" sz="700" dirty="0"/>
          </a:p>
        </p:txBody>
      </p:sp>
      <p:sp>
        <p:nvSpPr>
          <p:cNvPr id="18" name="bd_329"/>
          <p:cNvSpPr/>
          <p:nvPr/>
        </p:nvSpPr>
        <p:spPr>
          <a:xfrm>
            <a:off x="6172200" y="1790224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rq_330"/>
          <p:cNvSpPr/>
          <p:nvPr/>
        </p:nvSpPr>
        <p:spPr>
          <a:xfrm>
            <a:off x="6492240" y="1843659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He gets up in the afternoon.</a:t>
            </a:r>
            <a:endParaRPr lang="en-US" sz="900" dirty="0"/>
          </a:p>
        </p:txBody>
      </p:sp>
      <p:sp>
        <p:nvSpPr>
          <p:cNvPr id="20" name="R2_chip331"/>
          <p:cNvSpPr/>
          <p:nvPr/>
        </p:nvSpPr>
        <p:spPr>
          <a:xfrm>
            <a:off x="6492240" y="2038540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'at about 1.00 p.m.'</a:t>
            </a:r>
            <a:endParaRPr lang="en-US" sz="750" dirty="0"/>
          </a:p>
        </p:txBody>
      </p:sp>
      <p:sp>
        <p:nvSpPr>
          <p:cNvPr id="21" name="bd_332"/>
          <p:cNvSpPr/>
          <p:nvPr/>
        </p:nvSpPr>
        <p:spPr>
          <a:xfrm>
            <a:off x="6172200" y="2216563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rq_333"/>
          <p:cNvSpPr/>
          <p:nvPr/>
        </p:nvSpPr>
        <p:spPr>
          <a:xfrm>
            <a:off x="6492240" y="2269998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He only eats fruit for breakfast.</a:t>
            </a:r>
            <a:endParaRPr lang="en-US" sz="900" dirty="0"/>
          </a:p>
        </p:txBody>
      </p:sp>
      <p:sp>
        <p:nvSpPr>
          <p:cNvPr id="23" name="R3_chip334"/>
          <p:cNvSpPr/>
          <p:nvPr/>
        </p:nvSpPr>
        <p:spPr>
          <a:xfrm>
            <a:off x="6492240" y="2464879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juice, eggs, fruit and tea</a:t>
            </a:r>
            <a:endParaRPr lang="en-US" sz="750" dirty="0"/>
          </a:p>
        </p:txBody>
      </p:sp>
      <p:sp>
        <p:nvSpPr>
          <p:cNvPr id="24" name="bd_335"/>
          <p:cNvSpPr/>
          <p:nvPr/>
        </p:nvSpPr>
        <p:spPr>
          <a:xfrm>
            <a:off x="6172200" y="2642902"/>
            <a:ext cx="274320" cy="274320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rq_336"/>
          <p:cNvSpPr/>
          <p:nvPr/>
        </p:nvSpPr>
        <p:spPr>
          <a:xfrm>
            <a:off x="6492240" y="2696337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He does exercise every day.</a:t>
            </a:r>
            <a:endParaRPr lang="en-US" sz="900" dirty="0"/>
          </a:p>
        </p:txBody>
      </p:sp>
      <p:sp>
        <p:nvSpPr>
          <p:cNvPr id="26" name="R4_chip337"/>
          <p:cNvSpPr/>
          <p:nvPr/>
        </p:nvSpPr>
        <p:spPr>
          <a:xfrm>
            <a:off x="6492240" y="2891219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'then I go to the gym'</a:t>
            </a:r>
            <a:endParaRPr lang="en-US" sz="750" dirty="0"/>
          </a:p>
        </p:txBody>
      </p:sp>
      <p:sp>
        <p:nvSpPr>
          <p:cNvPr id="27" name="bd_338"/>
          <p:cNvSpPr/>
          <p:nvPr/>
        </p:nvSpPr>
        <p:spPr>
          <a:xfrm>
            <a:off x="6172200" y="3069241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rq_339"/>
          <p:cNvSpPr/>
          <p:nvPr/>
        </p:nvSpPr>
        <p:spPr>
          <a:xfrm>
            <a:off x="6492240" y="3122676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He works six to seven hours a day.</a:t>
            </a:r>
            <a:endParaRPr lang="en-US" sz="900" dirty="0"/>
          </a:p>
        </p:txBody>
      </p:sp>
      <p:sp>
        <p:nvSpPr>
          <p:cNvPr id="29" name="R5_chip340"/>
          <p:cNvSpPr/>
          <p:nvPr/>
        </p:nvSpPr>
        <p:spPr>
          <a:xfrm>
            <a:off x="6492240" y="3317558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2–3 hours in the studio + 4 at a club</a:t>
            </a:r>
            <a:endParaRPr lang="en-US" sz="750" dirty="0"/>
          </a:p>
        </p:txBody>
      </p:sp>
      <p:sp>
        <p:nvSpPr>
          <p:cNvPr id="30" name="bd_341"/>
          <p:cNvSpPr/>
          <p:nvPr/>
        </p:nvSpPr>
        <p:spPr>
          <a:xfrm>
            <a:off x="6172200" y="3495580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rq_342"/>
          <p:cNvSpPr/>
          <p:nvPr/>
        </p:nvSpPr>
        <p:spPr>
          <a:xfrm>
            <a:off x="6492240" y="3549015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He eats out in the evening.</a:t>
            </a:r>
            <a:endParaRPr lang="en-US" sz="900" dirty="0"/>
          </a:p>
        </p:txBody>
      </p:sp>
      <p:sp>
        <p:nvSpPr>
          <p:cNvPr id="32" name="R6_chip343"/>
          <p:cNvSpPr/>
          <p:nvPr/>
        </p:nvSpPr>
        <p:spPr>
          <a:xfrm>
            <a:off x="6492240" y="3743897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'dinner in a restaurant'</a:t>
            </a:r>
            <a:endParaRPr lang="en-US" sz="750" dirty="0"/>
          </a:p>
        </p:txBody>
      </p:sp>
      <p:sp>
        <p:nvSpPr>
          <p:cNvPr id="33" name="bd_344"/>
          <p:cNvSpPr/>
          <p:nvPr/>
        </p:nvSpPr>
        <p:spPr>
          <a:xfrm>
            <a:off x="6172200" y="3921919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rq_345"/>
          <p:cNvSpPr/>
          <p:nvPr/>
        </p:nvSpPr>
        <p:spPr>
          <a:xfrm>
            <a:off x="6492240" y="3975354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When he finishes work he goes home and sleeps.</a:t>
            </a:r>
            <a:endParaRPr lang="en-US" sz="700" dirty="0"/>
          </a:p>
        </p:txBody>
      </p:sp>
      <p:sp>
        <p:nvSpPr>
          <p:cNvPr id="35" name="R7_chip346"/>
          <p:cNvSpPr/>
          <p:nvPr/>
        </p:nvSpPr>
        <p:spPr>
          <a:xfrm>
            <a:off x="6492240" y="4170236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'that's impossible'</a:t>
            </a:r>
            <a:endParaRPr lang="en-US" sz="750" dirty="0"/>
          </a:p>
        </p:txBody>
      </p:sp>
      <p:sp>
        <p:nvSpPr>
          <p:cNvPr id="36" name="bd_347"/>
          <p:cNvSpPr/>
          <p:nvPr/>
        </p:nvSpPr>
        <p:spPr>
          <a:xfrm>
            <a:off x="6172200" y="4348258"/>
            <a:ext cx="274320" cy="274320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rq_348"/>
          <p:cNvSpPr/>
          <p:nvPr/>
        </p:nvSpPr>
        <p:spPr>
          <a:xfrm>
            <a:off x="6492240" y="4401693"/>
            <a:ext cx="2423160" cy="167449"/>
          </a:xfrm>
          <a:prstGeom prst="roundRect">
            <a:avLst>
              <a:gd name="adj" fmla="val 436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He doesn't want to change his life.</a:t>
            </a:r>
            <a:endParaRPr lang="en-US" sz="900" dirty="0"/>
          </a:p>
        </p:txBody>
      </p:sp>
      <p:sp>
        <p:nvSpPr>
          <p:cNvPr id="38" name="R8_chip349"/>
          <p:cNvSpPr/>
          <p:nvPr/>
        </p:nvSpPr>
        <p:spPr>
          <a:xfrm>
            <a:off x="6492240" y="4596575"/>
            <a:ext cx="2423160" cy="140017"/>
          </a:xfrm>
          <a:prstGeom prst="roundRect">
            <a:avLst>
              <a:gd name="adj" fmla="val 6530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'I want to do this forever'</a:t>
            </a:r>
            <a:endParaRPr lang="en-US" sz="7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5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5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352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Street interviews</a:t>
            </a:r>
            <a:endParaRPr lang="en-US" sz="2500" dirty="0"/>
          </a:p>
        </p:txBody>
      </p:sp>
      <p:pic>
        <p:nvPicPr>
          <p:cNvPr id="6" name="brP_35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354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or listen to 5 people. Choose a, b or c.</a:t>
            </a:r>
            <a:endParaRPr lang="en-US" sz="1250" dirty="0"/>
          </a:p>
        </p:txBody>
      </p:sp>
      <p:sp>
        <p:nvSpPr>
          <p:cNvPr id="8" name="insIT_35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o ascolta 5 persone. Scegli a, b o c.</a:t>
            </a:r>
            <a:endParaRPr lang="en-US" sz="950" dirty="0"/>
          </a:p>
        </p:txBody>
      </p:sp>
      <p:sp>
        <p:nvSpPr>
          <p:cNvPr id="9" name="note_35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3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Listening · Can you understand these people?   ·   📖 SB p.37 · Can you understand these people? · audio 4.23 (SB key + script)</a:t>
            </a:r>
            <a:endParaRPr lang="en-US" sz="750" dirty="0"/>
          </a:p>
        </p:txBody>
      </p:sp>
      <p:sp>
        <p:nvSpPr>
          <p:cNvPr id="12" name="ap_359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4.23  ·  play twice</a:t>
            </a:r>
            <a:endParaRPr lang="en-US" sz="1100" dirty="0"/>
          </a:p>
        </p:txBody>
      </p:sp>
      <p:sp>
        <p:nvSpPr>
          <p:cNvPr id="13" name="pf_360"/>
          <p:cNvSpPr/>
          <p:nvPr/>
        </p:nvSpPr>
        <p:spPr>
          <a:xfrm rot="-90000">
            <a:off x="411480" y="2468880"/>
            <a:ext cx="2697480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4" name="ph_361" descr="/home/claude/lls-course/v2/cache/red_r34_people_jpg_627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2514600"/>
            <a:ext cx="2606040" cy="868680"/>
          </a:xfrm>
          <a:prstGeom prst="rect">
            <a:avLst/>
          </a:prstGeom>
        </p:spPr>
      </p:pic>
      <p:sp>
        <p:nvSpPr>
          <p:cNvPr id="15" name="cd_362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63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ih_364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for numbers and times!</a:t>
            </a:r>
            <a:endParaRPr lang="en-US" sz="1200" dirty="0"/>
          </a:p>
        </p:txBody>
      </p:sp>
      <p:sp>
        <p:nvSpPr>
          <p:cNvPr id="18" name="gq_365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Talitha works… a 27 hours a week b in a market c 37 hours a week</a:t>
            </a:r>
            <a:endParaRPr lang="en-US" sz="1200" dirty="0"/>
          </a:p>
        </p:txBody>
      </p:sp>
      <p:sp>
        <p:nvSpPr>
          <p:cNvPr id="19" name="R1_chip366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37 hours a week (she works in marketing)</a:t>
            </a:r>
            <a:endParaRPr lang="en-US" sz="1150" dirty="0"/>
          </a:p>
        </p:txBody>
      </p:sp>
      <p:sp>
        <p:nvSpPr>
          <p:cNvPr id="20" name="gq_367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Joelle has… a a 13-year-old sister b a 30-year-old sister c three sisters</a:t>
            </a:r>
            <a:endParaRPr lang="en-US" sz="1200" dirty="0"/>
          </a:p>
        </p:txBody>
      </p:sp>
      <p:sp>
        <p:nvSpPr>
          <p:cNvPr id="21" name="R2_chip368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a 13-year-old sister</a:t>
            </a:r>
            <a:endParaRPr lang="en-US" sz="1200" dirty="0"/>
          </a:p>
        </p:txBody>
      </p:sp>
      <p:sp>
        <p:nvSpPr>
          <p:cNvPr id="22" name="gq_369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Sophie usually gets up at ___ at weekends. a 7.30 b 9.00 c 9.30</a:t>
            </a:r>
            <a:endParaRPr lang="en-US" sz="1200" dirty="0"/>
          </a:p>
        </p:txBody>
      </p:sp>
      <p:sp>
        <p:nvSpPr>
          <p:cNvPr id="23" name="R3_chip370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9.30 ('half past nine, ten o'clock')</a:t>
            </a:r>
            <a:endParaRPr lang="en-US" sz="1200" dirty="0"/>
          </a:p>
        </p:txBody>
      </p:sp>
      <p:sp>
        <p:nvSpPr>
          <p:cNvPr id="24" name="gq_371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Brian… a goes to the gym and does yoga b plays football and does yoga c goes to the gym and plays a team sport</a:t>
            </a:r>
            <a:endParaRPr lang="en-US" sz="850" dirty="0"/>
          </a:p>
        </p:txBody>
      </p:sp>
      <p:sp>
        <p:nvSpPr>
          <p:cNvPr id="25" name="R4_chip372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gym three times + yoga</a:t>
            </a:r>
            <a:endParaRPr lang="en-US" sz="1200" dirty="0"/>
          </a:p>
        </p:txBody>
      </p:sp>
      <p:sp>
        <p:nvSpPr>
          <p:cNvPr id="26" name="gq_373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Tom likes ___ in New York. a the taxis b the people c the food</a:t>
            </a:r>
            <a:endParaRPr lang="en-US" sz="1200" dirty="0"/>
          </a:p>
        </p:txBody>
      </p:sp>
      <p:sp>
        <p:nvSpPr>
          <p:cNvPr id="27" name="R5_chip374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the people ('The variety. The people. Change.')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7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77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you…?</a:t>
            </a:r>
            <a:endParaRPr lang="en-US" sz="2400" dirty="0"/>
          </a:p>
        </p:txBody>
      </p:sp>
      <p:pic>
        <p:nvPicPr>
          <p:cNvPr id="6" name="brP_37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7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say this in English? Do the tasks with a partner – then tick!</a:t>
            </a:r>
            <a:endParaRPr lang="en-US" sz="1100" dirty="0"/>
          </a:p>
        </p:txBody>
      </p:sp>
      <p:sp>
        <p:nvSpPr>
          <p:cNvPr id="8" name="insIT_38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 dirlo in inglese? Fai i compiti con un compagno – poi spunta!</a:t>
            </a:r>
            <a:endParaRPr lang="en-US" sz="950" dirty="0"/>
          </a:p>
        </p:txBody>
      </p:sp>
      <p:sp>
        <p:nvSpPr>
          <p:cNvPr id="9" name="note_38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38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8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Speaking · Can you say this in English?   ·   📖 SB p.37 · Can you say this in English? 1–4</a:t>
            </a:r>
            <a:endParaRPr lang="en-US" sz="800" dirty="0"/>
          </a:p>
        </p:txBody>
      </p:sp>
      <p:sp>
        <p:nvSpPr>
          <p:cNvPr id="12" name="cd_384"/>
          <p:cNvSpPr/>
          <p:nvPr/>
        </p:nvSpPr>
        <p:spPr>
          <a:xfrm>
            <a:off x="320040" y="1417320"/>
            <a:ext cx="2788920" cy="2215896"/>
          </a:xfrm>
          <a:prstGeom prst="roundRect">
            <a:avLst>
              <a:gd name="adj" fmla="val 57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8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386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387"/>
          <p:cNvSpPr/>
          <p:nvPr/>
        </p:nvSpPr>
        <p:spPr>
          <a:xfrm>
            <a:off x="886968" y="1911096"/>
            <a:ext cx="2130552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live in… I'm a…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usually get up at…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Monday mornings I…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sports do you play?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do you like?</a:t>
            </a:r>
            <a:endParaRPr lang="en-US" sz="1150" dirty="0"/>
          </a:p>
        </p:txBody>
      </p:sp>
      <p:sp>
        <p:nvSpPr>
          <p:cNvPr id="16" name="R1_qb388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389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where you live and what you do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live in Bagheria. I'm a teacher.</a:t>
            </a:r>
            <a:endParaRPr lang="en-US" sz="1000" dirty="0"/>
          </a:p>
        </p:txBody>
      </p:sp>
      <p:sp>
        <p:nvSpPr>
          <p:cNvPr id="18" name="R2_qb390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391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what time you usually get up and go to bed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usually get up at seven and go to bed at eleven.</a:t>
            </a:r>
            <a:endParaRPr lang="en-US" sz="1000" dirty="0"/>
          </a:p>
        </p:txBody>
      </p:sp>
      <p:sp>
        <p:nvSpPr>
          <p:cNvPr id="20" name="R3_qb392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393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what you do on a typical Monday morning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First I have a coffee, then I go to work.</a:t>
            </a:r>
            <a:endParaRPr lang="en-US" sz="1000" dirty="0"/>
          </a:p>
        </p:txBody>
      </p:sp>
      <p:sp>
        <p:nvSpPr>
          <p:cNvPr id="22" name="R4_qb394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395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ask: What sports…? What languages…? What kind of music…? What TV programmes…?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What kind of music do you like? – Rock!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9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98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9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00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0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02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0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0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Exit · what can you remember?</a:t>
            </a:r>
            <a:endParaRPr lang="en-US" sz="800" dirty="0"/>
          </a:p>
        </p:txBody>
      </p:sp>
      <p:sp>
        <p:nvSpPr>
          <p:cNvPr id="12" name="bd_405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06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things David Guetta does every day.</a:t>
            </a:r>
            <a:endParaRPr lang="en-US" sz="1400" dirty="0"/>
          </a:p>
        </p:txBody>
      </p:sp>
      <p:sp>
        <p:nvSpPr>
          <p:cNvPr id="14" name="bd_407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08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family words and 2 jobs.</a:t>
            </a:r>
            <a:endParaRPr lang="en-US" sz="1400" dirty="0"/>
          </a:p>
        </p:txBody>
      </p:sp>
      <p:sp>
        <p:nvSpPr>
          <p:cNvPr id="16" name="bd_409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10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me 1 question with How often…?</a:t>
            </a:r>
            <a:endParaRPr lang="en-US" sz="1400" dirty="0"/>
          </a:p>
        </p:txBody>
      </p:sp>
      <p:sp>
        <p:nvSpPr>
          <p:cNvPr id="18" name="cd_411"/>
          <p:cNvSpPr/>
          <p:nvPr/>
        </p:nvSpPr>
        <p:spPr>
          <a:xfrm>
            <a:off x="5669280" y="1417320"/>
            <a:ext cx="3200400" cy="1426464"/>
          </a:xfrm>
          <a:prstGeom prst="roundRect">
            <a:avLst>
              <a:gd name="adj" fmla="val 897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12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13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14"/>
          <p:cNvSpPr/>
          <p:nvPr/>
        </p:nvSpPr>
        <p:spPr>
          <a:xfrm>
            <a:off x="6236208" y="1911096"/>
            <a:ext cx="2542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Workbook: redo the Files 3–4 exercises you got wrong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about your typical day</a:t>
            </a:r>
            <a:endParaRPr lang="en-US" sz="1150" dirty="0"/>
          </a:p>
        </p:txBody>
      </p:sp>
      <p:sp>
        <p:nvSpPr>
          <p:cNvPr id="22" name="st_415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5A Vote for me! – can / can't (SB p.38)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1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18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1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20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2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2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2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2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 · Review · what did you do today?</a:t>
            </a:r>
            <a:endParaRPr lang="en-US" sz="800" dirty="0"/>
          </a:p>
        </p:txBody>
      </p:sp>
      <p:sp>
        <p:nvSpPr>
          <p:cNvPr id="12" name="cd_425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26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t_427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a mini-test on Files 3 and 4</a:t>
            </a:r>
            <a:endParaRPr lang="en-US" sz="1350" dirty="0"/>
          </a:p>
        </p:txBody>
      </p:sp>
      <p:sp>
        <p:nvSpPr>
          <p:cNvPr id="15" name="R1_tk428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29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30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8" name="tt_431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Revised verb phrases, family and question words</a:t>
            </a:r>
            <a:endParaRPr lang="en-US" sz="1350" dirty="0"/>
          </a:p>
        </p:txBody>
      </p:sp>
      <p:sp>
        <p:nvSpPr>
          <p:cNvPr id="19" name="R2_tk432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33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34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2" name="tt_435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sounds and word stress</a:t>
            </a:r>
            <a:endParaRPr lang="en-US" sz="1350" dirty="0"/>
          </a:p>
        </p:txBody>
      </p:sp>
      <p:sp>
        <p:nvSpPr>
          <p:cNvPr id="23" name="R3_tk436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37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38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6" name="tt_439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a superstar DJ's day</a:t>
            </a:r>
            <a:endParaRPr lang="en-US" sz="1350" dirty="0"/>
          </a:p>
        </p:txBody>
      </p:sp>
      <p:sp>
        <p:nvSpPr>
          <p:cNvPr id="27" name="R4_tk440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41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42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0" name="tt_443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Checked: can you say it in English?</a:t>
            </a:r>
            <a:endParaRPr lang="en-US" sz="1350" dirty="0"/>
          </a:p>
        </p:txBody>
      </p:sp>
      <p:sp>
        <p:nvSpPr>
          <p:cNvPr id="31" name="R5_tk444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45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R3-4 Revise and Check 3&amp;4</dc:title>
  <dc:subject>PptxGenJS Presentation</dc:subject>
  <dc:creator>PptxGenJS</dc:creator>
  <cp:lastModifiedBy>PptxGenJS</cp:lastModifiedBy>
  <cp:revision>1</cp:revision>
  <dcterms:created xsi:type="dcterms:W3CDTF">2026-10-23T08:39:12Z</dcterms:created>
  <dcterms:modified xsi:type="dcterms:W3CDTF">2026-10-23T08:39:12Z</dcterms:modified>
</cp:coreProperties>
</file>