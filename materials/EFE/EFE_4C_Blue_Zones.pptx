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Speech bubbles on the page: How often do you eat fish? – Hardly ever. Maybe once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ACTIVE RECAP (3 min). Pairs: tell your partner 3 things about yesterday morning with a time.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Vocabulary · months (5 min)
MONTHS (4 min). Capital letters in English! Key 1b (SB): July, September, October, November, December. 1c: round the class – My birthday's in… (in +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Bank p.157 · expressions of frequency (3 min)
EXPRESSIONS (3 min). once = 1 time, twice = 2 times. Never say 'one time a week' / 'two times a week' at this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Bank p.157 · adverbs of frequency (4 min)
ADVERBS (4 min). Pairs say the second half before you click. Play 4.19 to repeat the 6 adverbs: hardly ever = quasi mai (NOT 'hardly' = difficilmente).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 position of adverbs (4 min)
TEENAGERS (4 min). Read, then: are teenagers in Italy similar? 2b rule (SB key): 1 adverbs of frequency go before a main verb, after the verb be; 2 expressions of frequency go at the end of a phrase or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Bank 4C · the rule (4 min)
RULE (4 min). Italian puts sempre after the verb (vado sempre) – English: I always go. But with be: I'm always tired. Students say it,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Grammar Bank 4C p.131 · b (5 min)
GRAMMAR BANK b (5 min). Prompts made from the SB key. Alone, then click once per sentence. Is no. 8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Pronunciation · the letter h (4 min)
LETTER H (4 min). Italians drop the h! Breathe on your hand: house. Key 3b (SB): in hour the h is not pronounced. Sentences (4.22): Harry's a hairdresser. He hardly ever has breakfast. He's often in a hurry. He usually has half an hour for lunch. He often has a hamburger for dinner. Harry isn't very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Speaking · about me (4 min)
ABOUT ME (4 min). Then partners ask How often…? and answer with an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What are their secrets? (4 min)
BLUE ZONES (4 min). Key (SB): Alexis is 102 and María is 97. Ask: Sardinia is in Italy – why do people live a long time there? What about Sicily?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Speaking · their secrets (5 min)
SECRETS (5 min). The full articles are Communication A p.104 (Ikaria) / B p.110 (Nicoya) – use them if you have the books in class (A and B read and tell). Words for 4c from the SB key. Click for the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Video listening · The island of Okinawa (6 min)
VIDEO (6 min). The Okinawa documentary isn't in our files yet – ask Cole / use the Teacher's Resource Centre or the class DVD. Key from the SB answer key. 5c: what does Okinawa have in common with Ikaria and Nicoya? Is your lifestyle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Game · find someone who (6 min)
FIND SOMEONE WHO (6 min, extra). Feedback: full sentences with the adverb in the right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Elementary · SB pp.34–35 · VB p.157</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4C</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3000" dirty="0">
                <a:solidFill>
                  <a:srgbClr val="1B2559"/>
                </a:solidFill>
                <a:latin typeface="Arial Rounded MT Bold" pitchFamily="34" charset="0"/>
                <a:ea typeface="Arial Rounded MT Bold" pitchFamily="34" charset="-122"/>
                <a:cs typeface="Arial Rounded MT Bold" pitchFamily="34" charset="-120"/>
              </a:rPr>
              <a:t>Blue Zones</a:t>
            </a:r>
            <a:endParaRPr lang="en-US" sz="30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Adverbs and expressions of frequency · months</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the months: January, February…</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how often: always, hardly ever, twice a week</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put the adverb in the right place</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h: house, happy, hungry</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about places where people live to 100</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Hardly ever. Maybe once a month. My grandmother is 94!</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red_4c_dance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often do you eat fish? Who's the oldest person you know?</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Revision · last lesson</a:t>
            </a:r>
            <a:endParaRPr lang="en-US" sz="800" dirty="0"/>
          </a:p>
        </p:txBody>
      </p:sp>
      <p:sp>
        <p:nvSpPr>
          <p:cNvPr id="12" name="pf_26"/>
          <p:cNvSpPr/>
          <p:nvPr/>
        </p:nvSpPr>
        <p:spPr>
          <a:xfrm rot="-120000">
            <a:off x="1107831" y="1371600"/>
            <a:ext cx="1167618" cy="1645920"/>
          </a:xfrm>
          <a:prstGeom prst="roundRect">
            <a:avLst>
              <a:gd name="adj" fmla="val 1331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red_4b_clock_jpg_259x374_31.png">    </p:cNvPr>
          <p:cNvPicPr>
            <a:picLocks noChangeAspect="1"/>
          </p:cNvPicPr>
          <p:nvPr/>
        </p:nvPicPr>
        <p:blipFill>
          <a:blip r:embed="rId5"/>
          <a:stretch>
            <a:fillRect/>
          </a:stretch>
        </p:blipFill>
        <p:spPr>
          <a:xfrm rot="-120000">
            <a:off x="1153551" y="1417320"/>
            <a:ext cx="1076178" cy="1554480"/>
          </a:xfrm>
          <a:prstGeom prst="rect">
            <a:avLst/>
          </a:prstGeom>
        </p:spPr>
      </p:pic>
      <p:sp>
        <p:nvSpPr>
          <p:cNvPr id="14" name="cd_28"/>
          <p:cNvSpPr/>
          <p:nvPr/>
        </p:nvSpPr>
        <p:spPr>
          <a:xfrm>
            <a:off x="320040" y="3200400"/>
            <a:ext cx="2743200" cy="1223264"/>
          </a:xfrm>
          <a:prstGeom prst="roundRect">
            <a:avLst>
              <a:gd name="adj" fmla="val 1046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656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4B: From morning to night</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daily routine · at, in, on</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932688"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up</a:t>
            </a:r>
            <a:endParaRPr lang="en-US" sz="1200" dirty="0"/>
          </a:p>
        </p:txBody>
      </p:sp>
      <p:sp>
        <p:nvSpPr>
          <p:cNvPr id="20" name="w_34"/>
          <p:cNvSpPr/>
          <p:nvPr/>
        </p:nvSpPr>
        <p:spPr>
          <a:xfrm>
            <a:off x="4270248" y="1783080"/>
            <a:ext cx="154076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have a shower</a:t>
            </a:r>
            <a:endParaRPr lang="en-US" sz="1200" dirty="0"/>
          </a:p>
        </p:txBody>
      </p:sp>
      <p:sp>
        <p:nvSpPr>
          <p:cNvPr id="21" name="w_35"/>
          <p:cNvSpPr/>
          <p:nvPr/>
        </p:nvSpPr>
        <p:spPr>
          <a:xfrm>
            <a:off x="5902452" y="1783080"/>
            <a:ext cx="136702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dressed</a:t>
            </a:r>
            <a:endParaRPr lang="en-US" sz="1200" dirty="0"/>
          </a:p>
        </p:txBody>
      </p:sp>
      <p:sp>
        <p:nvSpPr>
          <p:cNvPr id="22" name="w_36"/>
          <p:cNvSpPr/>
          <p:nvPr/>
        </p:nvSpPr>
        <p:spPr>
          <a:xfrm>
            <a:off x="7360920" y="1783080"/>
            <a:ext cx="1367028"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to work</a:t>
            </a:r>
            <a:endParaRPr lang="en-US" sz="1200" dirty="0"/>
          </a:p>
        </p:txBody>
      </p:sp>
      <p:sp>
        <p:nvSpPr>
          <p:cNvPr id="23" name="w_37"/>
          <p:cNvSpPr/>
          <p:nvPr/>
        </p:nvSpPr>
        <p:spPr>
          <a:xfrm>
            <a:off x="3246120" y="2185416"/>
            <a:ext cx="1106424"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home</a:t>
            </a:r>
            <a:endParaRPr lang="en-US" sz="1200" dirty="0"/>
          </a:p>
        </p:txBody>
      </p:sp>
      <p:sp>
        <p:nvSpPr>
          <p:cNvPr id="24" name="w_38"/>
          <p:cNvSpPr/>
          <p:nvPr/>
        </p:nvSpPr>
        <p:spPr>
          <a:xfrm>
            <a:off x="4443984" y="2185416"/>
            <a:ext cx="180136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do the housework</a:t>
            </a:r>
            <a:endParaRPr lang="en-US" sz="1200" dirty="0"/>
          </a:p>
        </p:txBody>
      </p:sp>
      <p:sp>
        <p:nvSpPr>
          <p:cNvPr id="25" name="w_39"/>
          <p:cNvSpPr/>
          <p:nvPr/>
        </p:nvSpPr>
        <p:spPr>
          <a:xfrm>
            <a:off x="6336792" y="2185416"/>
            <a:ext cx="136702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have a bath</a:t>
            </a:r>
            <a:endParaRPr lang="en-US" sz="1200" dirty="0"/>
          </a:p>
        </p:txBody>
      </p:sp>
      <p:sp>
        <p:nvSpPr>
          <p:cNvPr id="26" name="w_40"/>
          <p:cNvSpPr/>
          <p:nvPr/>
        </p:nvSpPr>
        <p:spPr>
          <a:xfrm>
            <a:off x="3246120" y="2587752"/>
            <a:ext cx="1193292"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go to bed</a:t>
            </a:r>
            <a:endParaRPr lang="en-US" sz="1200" dirty="0"/>
          </a:p>
        </p:txBody>
      </p:sp>
      <p:sp>
        <p:nvSpPr>
          <p:cNvPr id="27" name="lv_41"/>
          <p:cNvSpPr/>
          <p:nvPr/>
        </p:nvSpPr>
        <p:spPr>
          <a:xfrm>
            <a:off x="324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30" name="cd_44"/>
          <p:cNvSpPr/>
          <p:nvPr/>
        </p:nvSpPr>
        <p:spPr>
          <a:xfrm>
            <a:off x="3246120" y="3575304"/>
            <a:ext cx="5623560" cy="1179576"/>
          </a:xfrm>
          <a:prstGeom prst="roundRect">
            <a:avLst>
              <a:gd name="adj" fmla="val 10853"/>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rh_45"/>
          <p:cNvSpPr/>
          <p:nvPr/>
        </p:nvSpPr>
        <p:spPr>
          <a:xfrm>
            <a:off x="3337560" y="3648456"/>
            <a:ext cx="5440680"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at, in, on</a:t>
            </a:r>
            <a:endParaRPr lang="en-US" sz="1100" dirty="0"/>
          </a:p>
        </p:txBody>
      </p:sp>
      <p:sp>
        <p:nvSpPr>
          <p:cNvPr id="32" name="R1_rl46"/>
          <p:cNvSpPr/>
          <p:nvPr/>
        </p:nvSpPr>
        <p:spPr>
          <a:xfrm>
            <a:off x="3383280" y="4032504"/>
            <a:ext cx="5349240" cy="649224"/>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at</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seven o'clock ·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at</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night ·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at</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 weekend</a:t>
            </a:r>
            <a:endParaRPr lang="en-US" sz="1100" dirty="0"/>
          </a:p>
          <a:p>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in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 morning ·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in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July</a:t>
            </a:r>
            <a:endParaRPr lang="en-US" sz="1100" dirty="0"/>
          </a:p>
          <a:p>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on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Monday ·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on</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Tuesday morning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8"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9"/>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January, February…</a:t>
            </a:r>
            <a:endParaRPr lang="en-US" sz="2400" dirty="0"/>
          </a:p>
        </p:txBody>
      </p:sp>
      <p:pic>
        <p:nvPicPr>
          <p:cNvPr id="6" name="brP_5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5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Complete the months. Then say them. Which five are stressed on the 2nd syllable?</a:t>
            </a:r>
            <a:endParaRPr lang="en-US" sz="1100" dirty="0"/>
          </a:p>
        </p:txBody>
      </p:sp>
      <p:sp>
        <p:nvSpPr>
          <p:cNvPr id="8" name="insIT_5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i mesi. Poi dilli. Quali cinque hanno l'accento sulla 2ª sillaba?</a:t>
            </a:r>
            <a:endParaRPr lang="en-US" sz="950" dirty="0"/>
          </a:p>
        </p:txBody>
      </p:sp>
      <p:sp>
        <p:nvSpPr>
          <p:cNvPr id="9" name="note_5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5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Vocabulary · months   ·   📖 SB p.34 · 1a–1c · audio 4.16 (SB key)</a:t>
            </a:r>
            <a:endParaRPr lang="en-US" sz="800" dirty="0"/>
          </a:p>
        </p:txBody>
      </p:sp>
      <p:sp>
        <p:nvSpPr>
          <p:cNvPr id="12" name="cd_56"/>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59"/>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JAN → January</a:t>
            </a:r>
            <a:endParaRPr lang="en-US" sz="1050" dirty="0"/>
          </a:p>
        </p:txBody>
      </p:sp>
      <p:sp>
        <p:nvSpPr>
          <p:cNvPr id="16" name="pf_60"/>
          <p:cNvSpPr/>
          <p:nvPr/>
        </p:nvSpPr>
        <p:spPr>
          <a:xfrm rot="-90000">
            <a:off x="365760" y="2368296"/>
            <a:ext cx="2606040" cy="1746504"/>
          </a:xfrm>
          <a:prstGeom prst="roundRect">
            <a:avLst>
              <a:gd name="adj" fmla="val 8901"/>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61" descr="/home/claude/lls-course/v2/cache/red_4c_diary_jpg_605x398_31.png">    </p:cNvPr>
          <p:cNvPicPr>
            <a:picLocks noChangeAspect="1"/>
          </p:cNvPicPr>
          <p:nvPr/>
        </p:nvPicPr>
        <p:blipFill>
          <a:blip r:embed="rId5"/>
          <a:stretch>
            <a:fillRect/>
          </a:stretch>
        </p:blipFill>
        <p:spPr>
          <a:xfrm rot="-90000">
            <a:off x="411480" y="2414016"/>
            <a:ext cx="2514600" cy="1655064"/>
          </a:xfrm>
          <a:prstGeom prst="rect">
            <a:avLst/>
          </a:prstGeom>
        </p:spPr>
      </p:pic>
      <p:sp>
        <p:nvSpPr>
          <p:cNvPr id="18" name="ap_62"/>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4.16</a:t>
            </a:r>
            <a:endParaRPr lang="en-US" sz="1100" dirty="0"/>
          </a:p>
        </p:txBody>
      </p:sp>
      <p:sp>
        <p:nvSpPr>
          <p:cNvPr id="19" name="bd_63"/>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q_64"/>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JAN · FEB · MAR</a:t>
            </a:r>
            <a:endParaRPr lang="en-US" sz="1150" dirty="0"/>
          </a:p>
        </p:txBody>
      </p:sp>
      <p:sp>
        <p:nvSpPr>
          <p:cNvPr id="21" name="R1_chip65"/>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January · February · March</a:t>
            </a:r>
            <a:endParaRPr lang="en-US" sz="1050" dirty="0"/>
          </a:p>
        </p:txBody>
      </p:sp>
      <p:sp>
        <p:nvSpPr>
          <p:cNvPr id="22" name="bd_66"/>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q_67"/>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APR · MAY · JUN</a:t>
            </a:r>
            <a:endParaRPr lang="en-US" sz="1150" dirty="0"/>
          </a:p>
        </p:txBody>
      </p:sp>
      <p:sp>
        <p:nvSpPr>
          <p:cNvPr id="24" name="R2_chip68"/>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April · May · June</a:t>
            </a:r>
            <a:endParaRPr lang="en-US" sz="1050" dirty="0"/>
          </a:p>
        </p:txBody>
      </p:sp>
      <p:sp>
        <p:nvSpPr>
          <p:cNvPr id="25" name="bd_69"/>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q_70"/>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JUL · AUG · SEP</a:t>
            </a:r>
            <a:endParaRPr lang="en-US" sz="1150" dirty="0"/>
          </a:p>
        </p:txBody>
      </p:sp>
      <p:sp>
        <p:nvSpPr>
          <p:cNvPr id="27" name="R3_chip71"/>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July · August · September</a:t>
            </a:r>
            <a:endParaRPr lang="en-US" sz="1050" dirty="0"/>
          </a:p>
        </p:txBody>
      </p:sp>
      <p:sp>
        <p:nvSpPr>
          <p:cNvPr id="28" name="bd_72"/>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9" name="q_73"/>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OCT · NOV · DEC</a:t>
            </a:r>
            <a:endParaRPr lang="en-US" sz="1150" dirty="0"/>
          </a:p>
        </p:txBody>
      </p:sp>
      <p:sp>
        <p:nvSpPr>
          <p:cNvPr id="30" name="R4_chip74"/>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October · November · December</a:t>
            </a:r>
            <a:endParaRPr lang="en-US" sz="1050" dirty="0"/>
          </a:p>
        </p:txBody>
      </p:sp>
      <p:sp>
        <p:nvSpPr>
          <p:cNvPr id="31" name="bd_75"/>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2" name="q_76"/>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Stressed on the 2nd syllable?</a:t>
            </a:r>
            <a:endParaRPr lang="en-US" sz="1150" dirty="0"/>
          </a:p>
        </p:txBody>
      </p:sp>
      <p:sp>
        <p:nvSpPr>
          <p:cNvPr id="33" name="R5_chip77"/>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JuLY · SepTEMber · OcTOber · NoVEMber · DeCEMber</a:t>
            </a:r>
            <a:endParaRPr lang="en-US" sz="1050" dirty="0"/>
          </a:p>
        </p:txBody>
      </p:sp>
      <p:sp>
        <p:nvSpPr>
          <p:cNvPr id="34" name="bd_78"/>
          <p:cNvSpPr/>
          <p:nvPr/>
        </p:nvSpPr>
        <p:spPr>
          <a:xfrm>
            <a:off x="3246120" y="40050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5" name="q_79"/>
          <p:cNvSpPr/>
          <p:nvPr/>
        </p:nvSpPr>
        <p:spPr>
          <a:xfrm>
            <a:off x="3630168" y="393192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Say your birthday month round the class!</a:t>
            </a:r>
            <a:endParaRPr lang="en-US" sz="1150" dirty="0"/>
          </a:p>
        </p:txBody>
      </p:sp>
      <p:sp>
        <p:nvSpPr>
          <p:cNvPr id="36" name="R6_chip80"/>
          <p:cNvSpPr/>
          <p:nvPr/>
        </p:nvSpPr>
        <p:spPr>
          <a:xfrm>
            <a:off x="5806440" y="39319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My birthday's in March.</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2"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83"/>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often?</a:t>
            </a:r>
            <a:endParaRPr lang="en-US" sz="2500" dirty="0"/>
          </a:p>
        </p:txBody>
      </p:sp>
      <p:pic>
        <p:nvPicPr>
          <p:cNvPr id="6" name="brP_84"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85"/>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How often? Say the expression, then click!</a:t>
            </a:r>
            <a:endParaRPr lang="en-US" sz="1250" dirty="0"/>
          </a:p>
        </p:txBody>
      </p:sp>
      <p:sp>
        <p:nvSpPr>
          <p:cNvPr id="8" name="insIT_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Quanto spesso? Di' l'espressione, poi clicca!</a:t>
            </a:r>
            <a:endParaRPr lang="en-US" sz="950" dirty="0"/>
          </a:p>
        </p:txBody>
      </p:sp>
      <p:sp>
        <p:nvSpPr>
          <p:cNvPr id="9" name="note_8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Vocabulary Bank p.157 · expressions of frequency   ·   📖 VB p.157 · Time Part 2 · audio 4.17 (SB key)</a:t>
            </a:r>
            <a:endParaRPr lang="en-US" sz="800" dirty="0"/>
          </a:p>
        </p:txBody>
      </p:sp>
      <p:sp>
        <p:nvSpPr>
          <p:cNvPr id="12" name="cd_90"/>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9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9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93"/>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950" dirty="0">
                <a:solidFill>
                  <a:srgbClr val="1B2559"/>
                </a:solidFill>
                <a:latin typeface="Segoe UI Semibold" pitchFamily="34" charset="0"/>
                <a:ea typeface="Segoe UI Semibold" pitchFamily="34" charset="-122"/>
                <a:cs typeface="Segoe UI Semibold" pitchFamily="34" charset="-120"/>
              </a:rPr>
              <a:t>1 time a week = once a week · 2 times = twice · 3+ = three times</a:t>
            </a:r>
            <a:endParaRPr lang="en-US" sz="950" dirty="0"/>
          </a:p>
        </p:txBody>
      </p:sp>
      <p:sp>
        <p:nvSpPr>
          <p:cNvPr id="16" name="ap_94"/>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4.17</a:t>
            </a:r>
            <a:endParaRPr lang="en-US" sz="1100" dirty="0"/>
          </a:p>
        </p:txBody>
      </p:sp>
      <p:sp>
        <p:nvSpPr>
          <p:cNvPr id="17" name="bd_95"/>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96"/>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every 🌞</a:t>
            </a:r>
            <a:endParaRPr lang="en-US" sz="1150" dirty="0"/>
          </a:p>
        </p:txBody>
      </p:sp>
      <p:sp>
        <p:nvSpPr>
          <p:cNvPr id="19" name="R1_chip97"/>
          <p:cNvSpPr/>
          <p:nvPr/>
        </p:nvSpPr>
        <p:spPr>
          <a:xfrm>
            <a:off x="5806440" y="14173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every day</a:t>
            </a:r>
            <a:endParaRPr lang="en-US" sz="1050" dirty="0"/>
          </a:p>
        </p:txBody>
      </p:sp>
      <p:sp>
        <p:nvSpPr>
          <p:cNvPr id="20" name="bd_98"/>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99"/>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every 7 days</a:t>
            </a:r>
            <a:endParaRPr lang="en-US" sz="1150" dirty="0"/>
          </a:p>
        </p:txBody>
      </p:sp>
      <p:sp>
        <p:nvSpPr>
          <p:cNvPr id="22" name="R2_chip100"/>
          <p:cNvSpPr/>
          <p:nvPr/>
        </p:nvSpPr>
        <p:spPr>
          <a:xfrm>
            <a:off x="5806440" y="18288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every week</a:t>
            </a:r>
            <a:endParaRPr lang="en-US" sz="1050" dirty="0"/>
          </a:p>
        </p:txBody>
      </p:sp>
      <p:sp>
        <p:nvSpPr>
          <p:cNvPr id="23" name="bd_101"/>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102"/>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every 30 days</a:t>
            </a:r>
            <a:endParaRPr lang="en-US" sz="1150" dirty="0"/>
          </a:p>
        </p:txBody>
      </p:sp>
      <p:sp>
        <p:nvSpPr>
          <p:cNvPr id="25" name="R3_chip103"/>
          <p:cNvSpPr/>
          <p:nvPr/>
        </p:nvSpPr>
        <p:spPr>
          <a:xfrm>
            <a:off x="5806440" y="22402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every month</a:t>
            </a:r>
            <a:endParaRPr lang="en-US" sz="1050" dirty="0"/>
          </a:p>
        </p:txBody>
      </p:sp>
      <p:sp>
        <p:nvSpPr>
          <p:cNvPr id="26" name="bd_104"/>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105"/>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every 365 days</a:t>
            </a:r>
            <a:endParaRPr lang="en-US" sz="1150" dirty="0"/>
          </a:p>
        </p:txBody>
      </p:sp>
      <p:sp>
        <p:nvSpPr>
          <p:cNvPr id="28" name="R4_chip106"/>
          <p:cNvSpPr/>
          <p:nvPr/>
        </p:nvSpPr>
        <p:spPr>
          <a:xfrm>
            <a:off x="5806440" y="265176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every year</a:t>
            </a:r>
            <a:endParaRPr lang="en-US" sz="1050" dirty="0"/>
          </a:p>
        </p:txBody>
      </p:sp>
      <p:sp>
        <p:nvSpPr>
          <p:cNvPr id="29" name="bd_107"/>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108"/>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week: 1 time</a:t>
            </a:r>
            <a:endParaRPr lang="en-US" sz="1150" dirty="0"/>
          </a:p>
        </p:txBody>
      </p:sp>
      <p:sp>
        <p:nvSpPr>
          <p:cNvPr id="31" name="R5_chip109"/>
          <p:cNvSpPr/>
          <p:nvPr/>
        </p:nvSpPr>
        <p:spPr>
          <a:xfrm>
            <a:off x="5806440" y="306324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once a week</a:t>
            </a:r>
            <a:endParaRPr lang="en-US" sz="1050" dirty="0"/>
          </a:p>
        </p:txBody>
      </p:sp>
      <p:sp>
        <p:nvSpPr>
          <p:cNvPr id="32" name="bd_110"/>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111"/>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week: 2 times</a:t>
            </a:r>
            <a:endParaRPr lang="en-US" sz="1150" dirty="0"/>
          </a:p>
        </p:txBody>
      </p:sp>
      <p:sp>
        <p:nvSpPr>
          <p:cNvPr id="34" name="R6_chip112"/>
          <p:cNvSpPr/>
          <p:nvPr/>
        </p:nvSpPr>
        <p:spPr>
          <a:xfrm>
            <a:off x="5806440" y="34747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twice a week</a:t>
            </a:r>
            <a:endParaRPr lang="en-US" sz="1050" dirty="0"/>
          </a:p>
        </p:txBody>
      </p:sp>
      <p:sp>
        <p:nvSpPr>
          <p:cNvPr id="35" name="bd_113"/>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114"/>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week: 3 times</a:t>
            </a:r>
            <a:endParaRPr lang="en-US" sz="1150" dirty="0"/>
          </a:p>
        </p:txBody>
      </p:sp>
      <p:sp>
        <p:nvSpPr>
          <p:cNvPr id="37" name="R7_chip115"/>
          <p:cNvSpPr/>
          <p:nvPr/>
        </p:nvSpPr>
        <p:spPr>
          <a:xfrm>
            <a:off x="5806440" y="38862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three times a week</a:t>
            </a:r>
            <a:endParaRPr lang="en-US" sz="1050" dirty="0"/>
          </a:p>
        </p:txBody>
      </p:sp>
      <p:sp>
        <p:nvSpPr>
          <p:cNvPr id="38" name="bd_116"/>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9" name="q_117"/>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year: 4 times</a:t>
            </a:r>
            <a:endParaRPr lang="en-US" sz="1150" dirty="0"/>
          </a:p>
        </p:txBody>
      </p:sp>
      <p:sp>
        <p:nvSpPr>
          <p:cNvPr id="40" name="R8_chip118"/>
          <p:cNvSpPr/>
          <p:nvPr/>
        </p:nvSpPr>
        <p:spPr>
          <a:xfrm>
            <a:off x="5806440" y="42976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four times a year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9"/>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0"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21"/>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Always or never?</a:t>
            </a:r>
            <a:endParaRPr lang="en-US" sz="2500" dirty="0"/>
          </a:p>
        </p:txBody>
      </p:sp>
      <p:pic>
        <p:nvPicPr>
          <p:cNvPr id="6" name="brP_12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2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Match the sentences. Then put the adverbs in order: 100% → 0%.</a:t>
            </a:r>
            <a:endParaRPr lang="en-US" sz="1100" dirty="0"/>
          </a:p>
        </p:txBody>
      </p:sp>
      <p:sp>
        <p:nvSpPr>
          <p:cNvPr id="8" name="insIT_12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Abbina le frasi. Poi metti gli avverbi in ordine: 100% → 0%.</a:t>
            </a:r>
            <a:endParaRPr lang="en-US" sz="950" dirty="0"/>
          </a:p>
        </p:txBody>
      </p:sp>
      <p:sp>
        <p:nvSpPr>
          <p:cNvPr id="9" name="note_12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1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Vocabulary Bank p.157 · adverbs of frequency   ·   📖 VB p.157 · Time Part 3 · audio 4.18, 4.19 (SB key)</a:t>
            </a:r>
            <a:endParaRPr lang="en-US" sz="800" dirty="0"/>
          </a:p>
        </p:txBody>
      </p:sp>
      <p:sp>
        <p:nvSpPr>
          <p:cNvPr id="12" name="cd_128"/>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2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30"/>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31"/>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100% always · usually · often · sometimes · hardly ever · never 0%</a:t>
            </a:r>
            <a:endParaRPr lang="en-US" sz="850" dirty="0"/>
          </a:p>
        </p:txBody>
      </p:sp>
      <p:sp>
        <p:nvSpPr>
          <p:cNvPr id="16" name="ap_132"/>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4.18</a:t>
            </a:r>
            <a:endParaRPr lang="en-US" sz="1100" dirty="0"/>
          </a:p>
        </p:txBody>
      </p:sp>
      <p:sp>
        <p:nvSpPr>
          <p:cNvPr id="17" name="bd_133"/>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134"/>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always get up at seven o'clock during the week.</a:t>
            </a:r>
            <a:endParaRPr lang="en-US" sz="1050" dirty="0"/>
          </a:p>
        </p:txBody>
      </p:sp>
      <p:sp>
        <p:nvSpPr>
          <p:cNvPr id="19" name="R1_chip135"/>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 start work at eight o'clock every day.</a:t>
            </a:r>
            <a:endParaRPr lang="en-US" sz="1050" dirty="0"/>
          </a:p>
        </p:txBody>
      </p:sp>
      <p:sp>
        <p:nvSpPr>
          <p:cNvPr id="20" name="bd_136"/>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137"/>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often go to the cinema after work.</a:t>
            </a:r>
            <a:endParaRPr lang="en-US" sz="1050" dirty="0"/>
          </a:p>
        </p:txBody>
      </p:sp>
      <p:sp>
        <p:nvSpPr>
          <p:cNvPr id="22" name="R2_chip138"/>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About seven or eight times a month.</a:t>
            </a:r>
            <a:endParaRPr lang="en-US" sz="1050" dirty="0"/>
          </a:p>
        </p:txBody>
      </p:sp>
      <p:sp>
        <p:nvSpPr>
          <p:cNvPr id="23" name="bd_139"/>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140"/>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usually finish work at six o'clock.</a:t>
            </a:r>
            <a:endParaRPr lang="en-US" sz="1050" dirty="0"/>
          </a:p>
        </p:txBody>
      </p:sp>
      <p:sp>
        <p:nvSpPr>
          <p:cNvPr id="25" name="R3_chip141"/>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But on Fridays we stop at three o'clock.</a:t>
            </a:r>
            <a:endParaRPr lang="en-US" sz="1050" dirty="0"/>
          </a:p>
        </p:txBody>
      </p:sp>
      <p:sp>
        <p:nvSpPr>
          <p:cNvPr id="26" name="bd_142"/>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143"/>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sometimes meet a friend for lunch.</a:t>
            </a:r>
            <a:endParaRPr lang="en-US" sz="1050" dirty="0"/>
          </a:p>
        </p:txBody>
      </p:sp>
      <p:sp>
        <p:nvSpPr>
          <p:cNvPr id="28" name="R4_chip144"/>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About once or twice a month.</a:t>
            </a:r>
            <a:endParaRPr lang="en-US" sz="1050" dirty="0"/>
          </a:p>
        </p:txBody>
      </p:sp>
      <p:sp>
        <p:nvSpPr>
          <p:cNvPr id="29" name="bd_145"/>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146"/>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hardly ever go to the theatre.</a:t>
            </a:r>
            <a:endParaRPr lang="en-US" sz="1050" dirty="0"/>
          </a:p>
        </p:txBody>
      </p:sp>
      <p:sp>
        <p:nvSpPr>
          <p:cNvPr id="31" name="R5_chip147"/>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Only once or twice a year.</a:t>
            </a:r>
            <a:endParaRPr lang="en-US" sz="1050" dirty="0"/>
          </a:p>
        </p:txBody>
      </p:sp>
      <p:sp>
        <p:nvSpPr>
          <p:cNvPr id="32" name="bd_148"/>
          <p:cNvSpPr/>
          <p:nvPr/>
        </p:nvSpPr>
        <p:spPr>
          <a:xfrm>
            <a:off x="3246120" y="40050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149"/>
          <p:cNvSpPr/>
          <p:nvPr/>
        </p:nvSpPr>
        <p:spPr>
          <a:xfrm>
            <a:off x="3630168" y="393192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 never have coffee.</a:t>
            </a:r>
            <a:endParaRPr lang="en-US" sz="1050" dirty="0"/>
          </a:p>
        </p:txBody>
      </p:sp>
      <p:sp>
        <p:nvSpPr>
          <p:cNvPr id="34" name="R6_chip150"/>
          <p:cNvSpPr/>
          <p:nvPr/>
        </p:nvSpPr>
        <p:spPr>
          <a:xfrm>
            <a:off x="5806440" y="39319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 don't like it.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2"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53"/>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Teenagers in trouble</a:t>
            </a:r>
            <a:endParaRPr lang="en-US" sz="2500" dirty="0"/>
          </a:p>
        </p:txBody>
      </p:sp>
      <p:pic>
        <p:nvPicPr>
          <p:cNvPr id="6" name="brP_15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5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text about teenagers in the USA. Are teenagers in your country similar?</a:t>
            </a:r>
            <a:endParaRPr lang="en-US" sz="1100" dirty="0"/>
          </a:p>
        </p:txBody>
      </p:sp>
      <p:sp>
        <p:nvSpPr>
          <p:cNvPr id="8" name="insIT_1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testo sugli adolescenti americani. In Italia è uguale?</a:t>
            </a:r>
            <a:endParaRPr lang="en-US" sz="950" dirty="0"/>
          </a:p>
        </p:txBody>
      </p:sp>
      <p:sp>
        <p:nvSpPr>
          <p:cNvPr id="9" name="note_1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Reading → grammar</a:t>
            </a:r>
            <a:endParaRPr lang="en-US" sz="1150" dirty="0"/>
          </a:p>
        </p:txBody>
      </p:sp>
      <p:pic>
        <p:nvPicPr>
          <p:cNvPr id="10" name="logo_1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Grammar · position of adverbs   ·   📖 SB p.34 · 2a, 2b (SB key)</a:t>
            </a:r>
            <a:endParaRPr lang="en-US" sz="800" dirty="0"/>
          </a:p>
        </p:txBody>
      </p:sp>
      <p:sp>
        <p:nvSpPr>
          <p:cNvPr id="12" name="cd_16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16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Teenagers in trouble</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American teenagers may, for the first time in the nation's history, live shorter lives than their parents because of their unhealthy lifestyles. According to recent research:</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96% spend more than five hours looking at a screen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every day</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86%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hardly ever</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eat fruit or green vegetables.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75% don't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usually</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sleep for eight hours a day – the average is seven hours.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34% eat fast food at least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once a day</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33% drink more than four sugary drinks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every day</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31% are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often</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very stressed.</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25% </a:t>
            </a:r>
            <a:pPr indent="0" marL="0">
              <a:lnSpc>
                <a:spcPct val="105000"/>
              </a:lnSpc>
              <a:spcAft>
                <a:spcPts val="700"/>
              </a:spcAft>
              <a:buNone/>
            </a:pPr>
            <a:r>
              <a:rPr lang="en-US" sz="950" b="1" u="sng" dirty="0">
                <a:solidFill>
                  <a:srgbClr val="7B5CD6"/>
                </a:solidFill>
                <a:latin typeface="Georgia" pitchFamily="34" charset="0"/>
                <a:ea typeface="Georgia" pitchFamily="34" charset="-122"/>
                <a:cs typeface="Georgia" pitchFamily="34" charset="-120"/>
              </a:rPr>
              <a:t>never</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do sport or exercise.</a:t>
            </a:r>
            <a:endParaRPr lang="en-US" sz="950" dirty="0"/>
          </a:p>
        </p:txBody>
      </p:sp>
      <p:sp>
        <p:nvSpPr>
          <p:cNvPr id="14" name="cd_162"/>
          <p:cNvSpPr/>
          <p:nvPr/>
        </p:nvSpPr>
        <p:spPr>
          <a:xfrm>
            <a:off x="6263640" y="1417320"/>
            <a:ext cx="2606040" cy="1876552"/>
          </a:xfrm>
          <a:prstGeom prst="roundRect">
            <a:avLst>
              <a:gd name="adj" fmla="val 6822"/>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163"/>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64"/>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Where's the adverb?</a:t>
            </a:r>
            <a:endParaRPr lang="en-US" sz="1300" dirty="0"/>
          </a:p>
        </p:txBody>
      </p:sp>
      <p:sp>
        <p:nvSpPr>
          <p:cNvPr id="17" name="il_165"/>
          <p:cNvSpPr/>
          <p:nvPr/>
        </p:nvSpPr>
        <p:spPr>
          <a:xfrm>
            <a:off x="6830568" y="1911096"/>
            <a:ext cx="1947672" cy="130962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hardly ever eat · never do · don't usually sleep</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are often stressed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every day · once a day</a:t>
            </a:r>
            <a:endParaRPr lang="en-US" sz="1150" dirty="0"/>
          </a:p>
        </p:txBody>
      </p:sp>
      <p:sp>
        <p:nvSpPr>
          <p:cNvPr id="18" name="R1_chip166"/>
          <p:cNvSpPr/>
          <p:nvPr/>
        </p:nvSpPr>
        <p:spPr>
          <a:xfrm>
            <a:off x="6263640" y="3403600"/>
            <a:ext cx="2606040" cy="1005840"/>
          </a:xfrm>
          <a:prstGeom prst="roundRect">
            <a:avLst>
              <a:gd name="adj" fmla="val 909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Adverbs: before the main verb, after be. Expressions: at the end.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68"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169"/>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Before the verb, after be</a:t>
            </a:r>
            <a:endParaRPr lang="en-US" sz="2500" dirty="0"/>
          </a:p>
        </p:txBody>
      </p:sp>
      <p:pic>
        <p:nvPicPr>
          <p:cNvPr id="6" name="brP_17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7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Put the adverb in the right place. Say it, then click!</a:t>
            </a:r>
            <a:endParaRPr lang="en-US" sz="1250" dirty="0"/>
          </a:p>
        </p:txBody>
      </p:sp>
      <p:sp>
        <p:nvSpPr>
          <p:cNvPr id="8" name="insIT_17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Metti l'avverbio al posto giusto. Dillo, poi clicca!</a:t>
            </a:r>
            <a:endParaRPr lang="en-US" sz="950" dirty="0"/>
          </a:p>
        </p:txBody>
      </p:sp>
      <p:sp>
        <p:nvSpPr>
          <p:cNvPr id="9" name="note_17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7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7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Grammar Bank 4C · the rule   ·   📖 Grammar Bank 4C p.130 · audio 4.20 (SB script)</a:t>
            </a:r>
            <a:endParaRPr lang="en-US" sz="800" dirty="0"/>
          </a:p>
        </p:txBody>
      </p:sp>
      <p:sp>
        <p:nvSpPr>
          <p:cNvPr id="12" name="cvl_176"/>
          <p:cNvSpPr/>
          <p:nvPr/>
        </p:nvSpPr>
        <p:spPr>
          <a:xfrm>
            <a:off x="320040" y="14173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 watch TV in the evening. (always)</a:t>
            </a:r>
            <a:endParaRPr lang="en-US" sz="1250" dirty="0"/>
          </a:p>
        </p:txBody>
      </p:sp>
      <p:sp>
        <p:nvSpPr>
          <p:cNvPr id="13" name="cva_177"/>
          <p:cNvSpPr/>
          <p:nvPr/>
        </p:nvSpPr>
        <p:spPr>
          <a:xfrm>
            <a:off x="3364992" y="14173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main verb</a:t>
            </a:r>
            <a:endParaRPr lang="en-US" sz="1000" dirty="0"/>
          </a:p>
        </p:txBody>
      </p:sp>
      <p:sp>
        <p:nvSpPr>
          <p:cNvPr id="14" name="R1_cvb178"/>
          <p:cNvSpPr/>
          <p:nvPr/>
        </p:nvSpPr>
        <p:spPr>
          <a:xfrm>
            <a:off x="4443984" y="14173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before</a:t>
            </a:r>
            <a:endParaRPr lang="en-US" sz="1000" dirty="0"/>
          </a:p>
        </p:txBody>
      </p:sp>
      <p:sp>
        <p:nvSpPr>
          <p:cNvPr id="15" name="R1_cvr179"/>
          <p:cNvSpPr/>
          <p:nvPr/>
        </p:nvSpPr>
        <p:spPr>
          <a:xfrm>
            <a:off x="5541264" y="14173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always watch</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TV in the evening.</a:t>
            </a:r>
            <a:endParaRPr lang="en-US" sz="1250" dirty="0"/>
          </a:p>
        </p:txBody>
      </p:sp>
      <p:sp>
        <p:nvSpPr>
          <p:cNvPr id="16" name="cvl_180"/>
          <p:cNvSpPr/>
          <p:nvPr/>
        </p:nvSpPr>
        <p:spPr>
          <a:xfrm>
            <a:off x="320040" y="192024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sleep eight hours? (usually)</a:t>
            </a:r>
            <a:endParaRPr lang="en-US" sz="1250" dirty="0"/>
          </a:p>
        </p:txBody>
      </p:sp>
      <p:sp>
        <p:nvSpPr>
          <p:cNvPr id="17" name="cva_181"/>
          <p:cNvSpPr/>
          <p:nvPr/>
        </p:nvSpPr>
        <p:spPr>
          <a:xfrm>
            <a:off x="3364992" y="192024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question</a:t>
            </a:r>
            <a:endParaRPr lang="en-US" sz="1000" dirty="0"/>
          </a:p>
        </p:txBody>
      </p:sp>
      <p:sp>
        <p:nvSpPr>
          <p:cNvPr id="18" name="R2_cvb182"/>
          <p:cNvSpPr/>
          <p:nvPr/>
        </p:nvSpPr>
        <p:spPr>
          <a:xfrm>
            <a:off x="4443984" y="192024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before verb</a:t>
            </a:r>
            <a:endParaRPr lang="en-US" sz="1000" dirty="0"/>
          </a:p>
        </p:txBody>
      </p:sp>
      <p:sp>
        <p:nvSpPr>
          <p:cNvPr id="19" name="R2_cvr183"/>
          <p:cNvSpPr/>
          <p:nvPr/>
        </p:nvSpPr>
        <p:spPr>
          <a:xfrm>
            <a:off x="5541264" y="192024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usually sleep</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eight hours a day?</a:t>
            </a:r>
            <a:endParaRPr lang="en-US" sz="1250" dirty="0"/>
          </a:p>
        </p:txBody>
      </p:sp>
      <p:sp>
        <p:nvSpPr>
          <p:cNvPr id="20" name="cvl_184"/>
          <p:cNvSpPr/>
          <p:nvPr/>
        </p:nvSpPr>
        <p:spPr>
          <a:xfrm>
            <a:off x="320040" y="242316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She doesn't go to bed late. (often)</a:t>
            </a:r>
            <a:endParaRPr lang="en-US" sz="1250" dirty="0"/>
          </a:p>
        </p:txBody>
      </p:sp>
      <p:sp>
        <p:nvSpPr>
          <p:cNvPr id="21" name="cva_185"/>
          <p:cNvSpPr/>
          <p:nvPr/>
        </p:nvSpPr>
        <p:spPr>
          <a:xfrm>
            <a:off x="3364992" y="242316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negative</a:t>
            </a:r>
            <a:endParaRPr lang="en-US" sz="1000" dirty="0"/>
          </a:p>
        </p:txBody>
      </p:sp>
      <p:sp>
        <p:nvSpPr>
          <p:cNvPr id="22" name="R3_cvb186"/>
          <p:cNvSpPr/>
          <p:nvPr/>
        </p:nvSpPr>
        <p:spPr>
          <a:xfrm>
            <a:off x="4443984" y="242316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after don't</a:t>
            </a:r>
            <a:endParaRPr lang="en-US" sz="1000" dirty="0"/>
          </a:p>
        </p:txBody>
      </p:sp>
      <p:sp>
        <p:nvSpPr>
          <p:cNvPr id="23" name="R3_cvr187"/>
          <p:cNvSpPr/>
          <p:nvPr/>
        </p:nvSpPr>
        <p:spPr>
          <a:xfrm>
            <a:off x="5541264" y="242316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She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doesn't often go</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to bed late.</a:t>
            </a:r>
            <a:endParaRPr lang="en-US" sz="1250" dirty="0"/>
          </a:p>
        </p:txBody>
      </p:sp>
      <p:sp>
        <p:nvSpPr>
          <p:cNvPr id="24" name="cvl_188"/>
          <p:cNvSpPr/>
          <p:nvPr/>
        </p:nvSpPr>
        <p:spPr>
          <a:xfrm>
            <a:off x="320040" y="292608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They're late. (hardly ever)</a:t>
            </a:r>
            <a:endParaRPr lang="en-US" sz="1250" dirty="0"/>
          </a:p>
        </p:txBody>
      </p:sp>
      <p:sp>
        <p:nvSpPr>
          <p:cNvPr id="25" name="cva_189"/>
          <p:cNvSpPr/>
          <p:nvPr/>
        </p:nvSpPr>
        <p:spPr>
          <a:xfrm>
            <a:off x="3364992" y="292608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be</a:t>
            </a:r>
            <a:endParaRPr lang="en-US" sz="1000" dirty="0"/>
          </a:p>
        </p:txBody>
      </p:sp>
      <p:sp>
        <p:nvSpPr>
          <p:cNvPr id="26" name="R4_cvb190"/>
          <p:cNvSpPr/>
          <p:nvPr/>
        </p:nvSpPr>
        <p:spPr>
          <a:xfrm>
            <a:off x="4443984" y="292608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after</a:t>
            </a:r>
            <a:endParaRPr lang="en-US" sz="1000" dirty="0"/>
          </a:p>
        </p:txBody>
      </p:sp>
      <p:sp>
        <p:nvSpPr>
          <p:cNvPr id="27" name="R4_cvr191"/>
          <p:cNvSpPr/>
          <p:nvPr/>
        </p:nvSpPr>
        <p:spPr>
          <a:xfrm>
            <a:off x="5541264" y="292608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They're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hardly ever</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late.</a:t>
            </a:r>
            <a:endParaRPr lang="en-US" sz="1250" dirty="0"/>
          </a:p>
        </p:txBody>
      </p:sp>
      <p:sp>
        <p:nvSpPr>
          <p:cNvPr id="28" name="cvl_192"/>
          <p:cNvSpPr/>
          <p:nvPr/>
        </p:nvSpPr>
        <p:spPr>
          <a:xfrm>
            <a:off x="320040" y="342900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He isn't stressed. (often)</a:t>
            </a:r>
            <a:endParaRPr lang="en-US" sz="1250" dirty="0"/>
          </a:p>
        </p:txBody>
      </p:sp>
      <p:sp>
        <p:nvSpPr>
          <p:cNvPr id="29" name="cva_193"/>
          <p:cNvSpPr/>
          <p:nvPr/>
        </p:nvSpPr>
        <p:spPr>
          <a:xfrm>
            <a:off x="3364992" y="342900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be −</a:t>
            </a:r>
            <a:endParaRPr lang="en-US" sz="1000" dirty="0"/>
          </a:p>
        </p:txBody>
      </p:sp>
      <p:sp>
        <p:nvSpPr>
          <p:cNvPr id="30" name="R5_cvb194"/>
          <p:cNvSpPr/>
          <p:nvPr/>
        </p:nvSpPr>
        <p:spPr>
          <a:xfrm>
            <a:off x="4443984" y="342900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after isn't</a:t>
            </a:r>
            <a:endParaRPr lang="en-US" sz="1000" dirty="0"/>
          </a:p>
        </p:txBody>
      </p:sp>
      <p:sp>
        <p:nvSpPr>
          <p:cNvPr id="31" name="R5_cvr195"/>
          <p:cNvSpPr/>
          <p:nvPr/>
        </p:nvSpPr>
        <p:spPr>
          <a:xfrm>
            <a:off x="5541264" y="342900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He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isn't often</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stressed.</a:t>
            </a:r>
            <a:endParaRPr lang="en-US" sz="1250" dirty="0"/>
          </a:p>
        </p:txBody>
      </p:sp>
      <p:sp>
        <p:nvSpPr>
          <p:cNvPr id="32" name="cvl_196"/>
          <p:cNvSpPr/>
          <p:nvPr/>
        </p:nvSpPr>
        <p:spPr>
          <a:xfrm>
            <a:off x="320040" y="39319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 have English classes. (twice a week)</a:t>
            </a:r>
            <a:endParaRPr lang="en-US" sz="1250" dirty="0"/>
          </a:p>
        </p:txBody>
      </p:sp>
      <p:sp>
        <p:nvSpPr>
          <p:cNvPr id="33" name="cva_197"/>
          <p:cNvSpPr/>
          <p:nvPr/>
        </p:nvSpPr>
        <p:spPr>
          <a:xfrm>
            <a:off x="3364992" y="39319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expression</a:t>
            </a:r>
            <a:endParaRPr lang="en-US" sz="1000" dirty="0"/>
          </a:p>
        </p:txBody>
      </p:sp>
      <p:sp>
        <p:nvSpPr>
          <p:cNvPr id="34" name="R6_cvb198"/>
          <p:cNvSpPr/>
          <p:nvPr/>
        </p:nvSpPr>
        <p:spPr>
          <a:xfrm>
            <a:off x="4443984" y="39319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end</a:t>
            </a:r>
            <a:endParaRPr lang="en-US" sz="1000" dirty="0"/>
          </a:p>
        </p:txBody>
      </p:sp>
      <p:sp>
        <p:nvSpPr>
          <p:cNvPr id="35" name="R6_cvr199"/>
          <p:cNvSpPr/>
          <p:nvPr/>
        </p:nvSpPr>
        <p:spPr>
          <a:xfrm>
            <a:off x="5541264" y="39319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 have English classes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twice a week</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0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0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Bank practice</a:t>
            </a:r>
            <a:endParaRPr lang="en-US" sz="2400" dirty="0"/>
          </a:p>
        </p:txBody>
      </p:sp>
      <p:pic>
        <p:nvPicPr>
          <p:cNvPr id="6" name="brP_203"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04"/>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Grammar Bank 4C b: rewrite with the adverb or expression.</a:t>
            </a:r>
            <a:endParaRPr lang="en-US" sz="1200" dirty="0"/>
          </a:p>
        </p:txBody>
      </p:sp>
      <p:sp>
        <p:nvSpPr>
          <p:cNvPr id="8" name="insIT_20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Grammar Bank 4C b: riscrivi con l'avverbio.</a:t>
            </a:r>
            <a:endParaRPr lang="en-US" sz="950" dirty="0"/>
          </a:p>
        </p:txBody>
      </p:sp>
      <p:sp>
        <p:nvSpPr>
          <p:cNvPr id="9" name="note_20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20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0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Grammar Bank 4C p.131 · b   ·   📖 Grammar Bank 4C p.131 · b (SB key)</a:t>
            </a:r>
            <a:endParaRPr lang="en-US" sz="800" dirty="0"/>
          </a:p>
        </p:txBody>
      </p:sp>
      <p:sp>
        <p:nvSpPr>
          <p:cNvPr id="12" name="cd_209"/>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1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Put it in the right place</a:t>
            </a:r>
            <a:endParaRPr lang="en-US" sz="1700" dirty="0"/>
          </a:p>
        </p:txBody>
      </p:sp>
      <p:sp>
        <p:nvSpPr>
          <p:cNvPr id="14" name="ln_211"/>
          <p:cNvSpPr/>
          <p:nvPr/>
        </p:nvSpPr>
        <p:spPr>
          <a:xfrm>
            <a:off x="548640" y="1920240"/>
            <a:ext cx="5349240" cy="285821"/>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1  I am late for class. (</a:t>
            </a:r>
            <a:pPr indent="0" marL="0">
              <a:buNone/>
            </a:pPr>
            <a:r>
              <a:rPr lang="en-US" sz="1000" b="1" u="sng" dirty="0">
                <a:solidFill>
                  <a:srgbClr val="7B5CD6"/>
                </a:solidFill>
                <a:latin typeface="Georgia" pitchFamily="34" charset="0"/>
                <a:ea typeface="Georgia" pitchFamily="34" charset="-122"/>
                <a:cs typeface="Georgia" pitchFamily="34" charset="-120"/>
              </a:rPr>
              <a:t>never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(1) ________ </a:t>
            </a:r>
            <a:endParaRPr lang="en-US" sz="1000" dirty="0"/>
          </a:p>
        </p:txBody>
      </p:sp>
      <p:sp>
        <p:nvSpPr>
          <p:cNvPr id="15" name="R1_lnA212"/>
          <p:cNvSpPr/>
          <p:nvPr/>
        </p:nvSpPr>
        <p:spPr>
          <a:xfrm>
            <a:off x="548640" y="1920240"/>
            <a:ext cx="5349240" cy="285821"/>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1  I am late for class. (</a:t>
            </a:r>
            <a:pPr indent="0" marL="0">
              <a:buNone/>
            </a:pPr>
            <a:r>
              <a:rPr lang="en-US" sz="1000" b="1" u="sng" dirty="0">
                <a:solidFill>
                  <a:srgbClr val="7B5CD6"/>
                </a:solidFill>
                <a:latin typeface="Georgia" pitchFamily="34" charset="0"/>
                <a:ea typeface="Georgia" pitchFamily="34" charset="-122"/>
                <a:cs typeface="Georgia" pitchFamily="34" charset="-120"/>
              </a:rPr>
              <a:t>never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I am never late for class.</a:t>
            </a:r>
            <a:endParaRPr lang="en-US" sz="1000" dirty="0"/>
          </a:p>
        </p:txBody>
      </p:sp>
      <p:sp>
        <p:nvSpPr>
          <p:cNvPr id="16" name="ln_213"/>
          <p:cNvSpPr/>
          <p:nvPr/>
        </p:nvSpPr>
        <p:spPr>
          <a:xfrm>
            <a:off x="548640" y="2206061"/>
            <a:ext cx="5349240" cy="311805"/>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2  We eat fast food. (</a:t>
            </a:r>
            <a:pPr indent="0" marL="0">
              <a:buNone/>
            </a:pPr>
            <a:r>
              <a:rPr lang="en-US" sz="1000" b="1" u="sng" dirty="0">
                <a:solidFill>
                  <a:srgbClr val="7B5CD6"/>
                </a:solidFill>
                <a:latin typeface="Georgia" pitchFamily="34" charset="0"/>
                <a:ea typeface="Georgia" pitchFamily="34" charset="-122"/>
                <a:cs typeface="Georgia" pitchFamily="34" charset="-120"/>
              </a:rPr>
              <a:t>hardly 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(2) ________ </a:t>
            </a:r>
            <a:endParaRPr lang="en-US" sz="1000" dirty="0"/>
          </a:p>
        </p:txBody>
      </p:sp>
      <p:sp>
        <p:nvSpPr>
          <p:cNvPr id="17" name="R2_lnA214"/>
          <p:cNvSpPr/>
          <p:nvPr/>
        </p:nvSpPr>
        <p:spPr>
          <a:xfrm>
            <a:off x="548640" y="2206061"/>
            <a:ext cx="5349240" cy="311805"/>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2  We eat fast food. (</a:t>
            </a:r>
            <a:pPr indent="0" marL="0">
              <a:buNone/>
            </a:pPr>
            <a:r>
              <a:rPr lang="en-US" sz="1000" b="1" u="sng" dirty="0">
                <a:solidFill>
                  <a:srgbClr val="7B5CD6"/>
                </a:solidFill>
                <a:latin typeface="Georgia" pitchFamily="34" charset="0"/>
                <a:ea typeface="Georgia" pitchFamily="34" charset="-122"/>
                <a:cs typeface="Georgia" pitchFamily="34" charset="-120"/>
              </a:rPr>
              <a:t>hardly 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We hardly ever eat fast food.</a:t>
            </a:r>
            <a:endParaRPr lang="en-US" sz="1000" dirty="0"/>
          </a:p>
        </p:txBody>
      </p:sp>
      <p:sp>
        <p:nvSpPr>
          <p:cNvPr id="18" name="ln_215"/>
          <p:cNvSpPr/>
          <p:nvPr/>
        </p:nvSpPr>
        <p:spPr>
          <a:xfrm>
            <a:off x="548640" y="2517866"/>
            <a:ext cx="5349240" cy="381095"/>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3  What time do you finish work? (</a:t>
            </a:r>
            <a:pPr indent="0" marL="0">
              <a:buNone/>
            </a:pPr>
            <a:r>
              <a:rPr lang="en-US" sz="1000" b="1" u="sng" dirty="0">
                <a:solidFill>
                  <a:srgbClr val="7B5CD6"/>
                </a:solidFill>
                <a:latin typeface="Georgia" pitchFamily="34" charset="0"/>
                <a:ea typeface="Georgia" pitchFamily="34" charset="-122"/>
                <a:cs typeface="Georgia" pitchFamily="34" charset="-120"/>
              </a:rPr>
              <a:t>usually</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(3) ________ </a:t>
            </a:r>
            <a:endParaRPr lang="en-US" sz="1000" dirty="0"/>
          </a:p>
        </p:txBody>
      </p:sp>
      <p:sp>
        <p:nvSpPr>
          <p:cNvPr id="19" name="R3_lnA216"/>
          <p:cNvSpPr/>
          <p:nvPr/>
        </p:nvSpPr>
        <p:spPr>
          <a:xfrm>
            <a:off x="548640" y="2517866"/>
            <a:ext cx="5349240" cy="381095"/>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3  What time do you finish work? (</a:t>
            </a:r>
            <a:pPr indent="0" marL="0">
              <a:buNone/>
            </a:pPr>
            <a:r>
              <a:rPr lang="en-US" sz="1000" b="1" u="sng" dirty="0">
                <a:solidFill>
                  <a:srgbClr val="7B5CD6"/>
                </a:solidFill>
                <a:latin typeface="Georgia" pitchFamily="34" charset="0"/>
                <a:ea typeface="Georgia" pitchFamily="34" charset="-122"/>
                <a:cs typeface="Georgia" pitchFamily="34" charset="-120"/>
              </a:rPr>
              <a:t>usually</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What time do you usually finish work?</a:t>
            </a:r>
            <a:endParaRPr lang="en-US" sz="1000" dirty="0"/>
          </a:p>
        </p:txBody>
      </p:sp>
      <p:sp>
        <p:nvSpPr>
          <p:cNvPr id="20" name="ln_217"/>
          <p:cNvSpPr/>
          <p:nvPr/>
        </p:nvSpPr>
        <p:spPr>
          <a:xfrm>
            <a:off x="548640" y="2898960"/>
            <a:ext cx="5349240" cy="398417"/>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4  My parents don't go out at night. (</a:t>
            </a:r>
            <a:pPr indent="0" marL="0">
              <a:buNone/>
            </a:pPr>
            <a:r>
              <a:rPr lang="en-US" sz="1000" b="1" u="sng" dirty="0">
                <a:solidFill>
                  <a:srgbClr val="7B5CD6"/>
                </a:solidFill>
                <a:latin typeface="Georgia" pitchFamily="34" charset="0"/>
                <a:ea typeface="Georgia" pitchFamily="34" charset="-122"/>
                <a:cs typeface="Georgia" pitchFamily="34" charset="-120"/>
              </a:rPr>
              <a:t>often</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(4) ________ </a:t>
            </a:r>
            <a:endParaRPr lang="en-US" sz="1000" dirty="0"/>
          </a:p>
        </p:txBody>
      </p:sp>
      <p:sp>
        <p:nvSpPr>
          <p:cNvPr id="21" name="R4_lnA218"/>
          <p:cNvSpPr/>
          <p:nvPr/>
        </p:nvSpPr>
        <p:spPr>
          <a:xfrm>
            <a:off x="548640" y="2898960"/>
            <a:ext cx="5349240" cy="398417"/>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4  My parents don't go out at night. (</a:t>
            </a:r>
            <a:pPr indent="0" marL="0">
              <a:buNone/>
            </a:pPr>
            <a:r>
              <a:rPr lang="en-US" sz="1000" b="1" u="sng" dirty="0">
                <a:solidFill>
                  <a:srgbClr val="7B5CD6"/>
                </a:solidFill>
                <a:latin typeface="Georgia" pitchFamily="34" charset="0"/>
                <a:ea typeface="Georgia" pitchFamily="34" charset="-122"/>
                <a:cs typeface="Georgia" pitchFamily="34" charset="-120"/>
              </a:rPr>
              <a:t>often</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My parents don't often go out at night.</a:t>
            </a:r>
            <a:endParaRPr lang="en-US" sz="1000" dirty="0"/>
          </a:p>
        </p:txBody>
      </p:sp>
      <p:sp>
        <p:nvSpPr>
          <p:cNvPr id="22" name="ln_219"/>
          <p:cNvSpPr/>
          <p:nvPr/>
        </p:nvSpPr>
        <p:spPr>
          <a:xfrm>
            <a:off x="548640" y="3297378"/>
            <a:ext cx="5349240" cy="415740"/>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5  My brother is hungry at lunchtime. (</a:t>
            </a:r>
            <a:pPr indent="0" marL="0">
              <a:buNone/>
            </a:pPr>
            <a:r>
              <a:rPr lang="en-US" sz="1000" b="1" u="sng" dirty="0">
                <a:solidFill>
                  <a:srgbClr val="7B5CD6"/>
                </a:solidFill>
                <a:latin typeface="Georgia" pitchFamily="34" charset="0"/>
                <a:ea typeface="Georgia" pitchFamily="34" charset="-122"/>
                <a:cs typeface="Georgia" pitchFamily="34" charset="-120"/>
              </a:rPr>
              <a:t>always</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(5) ________ </a:t>
            </a:r>
            <a:endParaRPr lang="en-US" sz="1000" dirty="0"/>
          </a:p>
        </p:txBody>
      </p:sp>
      <p:sp>
        <p:nvSpPr>
          <p:cNvPr id="23" name="R5_lnA220"/>
          <p:cNvSpPr/>
          <p:nvPr/>
        </p:nvSpPr>
        <p:spPr>
          <a:xfrm>
            <a:off x="548640" y="3297378"/>
            <a:ext cx="5349240" cy="415740"/>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5  My brother is hungry at lunchtime. (</a:t>
            </a:r>
            <a:pPr indent="0" marL="0">
              <a:buNone/>
            </a:pPr>
            <a:r>
              <a:rPr lang="en-US" sz="1000" b="1" u="sng" dirty="0">
                <a:solidFill>
                  <a:srgbClr val="7B5CD6"/>
                </a:solidFill>
                <a:latin typeface="Georgia" pitchFamily="34" charset="0"/>
                <a:ea typeface="Georgia" pitchFamily="34" charset="-122"/>
                <a:cs typeface="Georgia" pitchFamily="34" charset="-120"/>
              </a:rPr>
              <a:t>always</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My brother is always hungry at lunchtime.</a:t>
            </a:r>
            <a:endParaRPr lang="en-US" sz="1000" dirty="0"/>
          </a:p>
        </p:txBody>
      </p:sp>
      <p:sp>
        <p:nvSpPr>
          <p:cNvPr id="24" name="ln_221"/>
          <p:cNvSpPr/>
          <p:nvPr/>
        </p:nvSpPr>
        <p:spPr>
          <a:xfrm>
            <a:off x="548640" y="3713117"/>
            <a:ext cx="5349240" cy="337788"/>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6  We don't do our homework. (</a:t>
            </a:r>
            <a:pPr indent="0" marL="0">
              <a:buNone/>
            </a:pPr>
            <a:r>
              <a:rPr lang="en-US" sz="1000" b="1" u="sng" dirty="0">
                <a:solidFill>
                  <a:srgbClr val="7B5CD6"/>
                </a:solidFill>
                <a:latin typeface="Georgia" pitchFamily="34" charset="0"/>
                <a:ea typeface="Georgia" pitchFamily="34" charset="-122"/>
                <a:cs typeface="Georgia" pitchFamily="34" charset="-120"/>
              </a:rPr>
              <a:t>always</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(6) ________ </a:t>
            </a:r>
            <a:endParaRPr lang="en-US" sz="1000" dirty="0"/>
          </a:p>
        </p:txBody>
      </p:sp>
      <p:sp>
        <p:nvSpPr>
          <p:cNvPr id="25" name="R6_lnA222"/>
          <p:cNvSpPr/>
          <p:nvPr/>
        </p:nvSpPr>
        <p:spPr>
          <a:xfrm>
            <a:off x="548640" y="3713117"/>
            <a:ext cx="5349240" cy="337788"/>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6  We don't do our homework. (</a:t>
            </a:r>
            <a:pPr indent="0" marL="0">
              <a:buNone/>
            </a:pPr>
            <a:r>
              <a:rPr lang="en-US" sz="1000" b="1" u="sng" dirty="0">
                <a:solidFill>
                  <a:srgbClr val="7B5CD6"/>
                </a:solidFill>
                <a:latin typeface="Georgia" pitchFamily="34" charset="0"/>
                <a:ea typeface="Georgia" pitchFamily="34" charset="-122"/>
                <a:cs typeface="Georgia" pitchFamily="34" charset="-120"/>
              </a:rPr>
              <a:t>always</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We don't always do our homework.</a:t>
            </a:r>
            <a:endParaRPr lang="en-US" sz="1000" dirty="0"/>
          </a:p>
        </p:txBody>
      </p:sp>
      <p:sp>
        <p:nvSpPr>
          <p:cNvPr id="26" name="ln_223"/>
          <p:cNvSpPr/>
          <p:nvPr/>
        </p:nvSpPr>
        <p:spPr>
          <a:xfrm>
            <a:off x="548640" y="4050906"/>
            <a:ext cx="5349240" cy="311805"/>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7  Do you drive to work? (</a:t>
            </a:r>
            <a:pPr indent="0" marL="0">
              <a:buNone/>
            </a:pPr>
            <a:r>
              <a:rPr lang="en-US" sz="1000" b="1" u="sng" dirty="0">
                <a:solidFill>
                  <a:srgbClr val="7B5CD6"/>
                </a:solidFill>
                <a:latin typeface="Georgia" pitchFamily="34" charset="0"/>
                <a:ea typeface="Georgia" pitchFamily="34" charset="-122"/>
                <a:cs typeface="Georgia" pitchFamily="34" charset="-120"/>
              </a:rPr>
              <a:t>usually</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(7) ________ </a:t>
            </a:r>
            <a:endParaRPr lang="en-US" sz="1000" dirty="0"/>
          </a:p>
        </p:txBody>
      </p:sp>
      <p:sp>
        <p:nvSpPr>
          <p:cNvPr id="27" name="R7_lnA224"/>
          <p:cNvSpPr/>
          <p:nvPr/>
        </p:nvSpPr>
        <p:spPr>
          <a:xfrm>
            <a:off x="548640" y="4050906"/>
            <a:ext cx="5349240" cy="311805"/>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7  Do you drive to work? (</a:t>
            </a:r>
            <a:pPr indent="0" marL="0">
              <a:buNone/>
            </a:pPr>
            <a:r>
              <a:rPr lang="en-US" sz="1000" b="1" u="sng" dirty="0">
                <a:solidFill>
                  <a:srgbClr val="7B5CD6"/>
                </a:solidFill>
                <a:latin typeface="Georgia" pitchFamily="34" charset="0"/>
                <a:ea typeface="Georgia" pitchFamily="34" charset="-122"/>
                <a:cs typeface="Georgia" pitchFamily="34" charset="-120"/>
              </a:rPr>
              <a:t>usually</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Do you usually drive to work?</a:t>
            </a:r>
            <a:endParaRPr lang="en-US" sz="1000" dirty="0"/>
          </a:p>
        </p:txBody>
      </p:sp>
      <p:sp>
        <p:nvSpPr>
          <p:cNvPr id="28" name="ln_225"/>
          <p:cNvSpPr/>
          <p:nvPr/>
        </p:nvSpPr>
        <p:spPr>
          <a:xfrm>
            <a:off x="548640" y="4362710"/>
            <a:ext cx="5349240" cy="346450"/>
          </a:xfrm>
          <a:prstGeom prst="rect">
            <a:avLst/>
          </a:prstGeom>
          <a:no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8  Our teacher is angry. (</a:t>
            </a:r>
            <a:pPr indent="0" marL="0">
              <a:buNone/>
            </a:pPr>
            <a:r>
              <a:rPr lang="en-US" sz="1000" b="1" u="sng" dirty="0">
                <a:solidFill>
                  <a:srgbClr val="7B5CD6"/>
                </a:solidFill>
                <a:latin typeface="Georgia" pitchFamily="34" charset="0"/>
                <a:ea typeface="Georgia" pitchFamily="34" charset="-122"/>
                <a:cs typeface="Georgia" pitchFamily="34" charset="-120"/>
              </a:rPr>
              <a:t>hardly 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2EB872"/>
                </a:solidFill>
                <a:latin typeface="Georgia" pitchFamily="34" charset="0"/>
                <a:ea typeface="Georgia" pitchFamily="34" charset="-122"/>
                <a:cs typeface="Georgia" pitchFamily="34" charset="-120"/>
              </a:rPr>
              <a:t> (8) ________ </a:t>
            </a:r>
            <a:endParaRPr lang="en-US" sz="1000" dirty="0"/>
          </a:p>
        </p:txBody>
      </p:sp>
      <p:sp>
        <p:nvSpPr>
          <p:cNvPr id="29" name="R8_lnA226"/>
          <p:cNvSpPr/>
          <p:nvPr/>
        </p:nvSpPr>
        <p:spPr>
          <a:xfrm>
            <a:off x="548640" y="4362710"/>
            <a:ext cx="5349240" cy="346450"/>
          </a:xfrm>
          <a:prstGeom prst="rect">
            <a:avLst/>
          </a:prstGeom>
          <a:solidFill>
            <a:srgbClr val="FFFFFF"/>
          </a:solidFill>
          <a:ln/>
        </p:spPr>
        <p:txBody>
          <a:bodyPr wrap="square" lIns="0" tIns="0" rIns="0" bIns="0" rtlCol="0" anchor="t"/>
          <a:lstStyle/>
          <a:p>
            <a:pPr indent="0" marL="0">
              <a:buNone/>
            </a:pPr>
            <a:r>
              <a:rPr lang="en-US" sz="1000" dirty="0">
                <a:solidFill>
                  <a:srgbClr val="1B2559"/>
                </a:solidFill>
                <a:latin typeface="Georgia" pitchFamily="34" charset="0"/>
                <a:ea typeface="Georgia" pitchFamily="34" charset="-122"/>
                <a:cs typeface="Georgia" pitchFamily="34" charset="-120"/>
              </a:rPr>
              <a:t>8  Our teacher is angry. (</a:t>
            </a:r>
            <a:pPr indent="0" marL="0">
              <a:buNone/>
            </a:pPr>
            <a:r>
              <a:rPr lang="en-US" sz="1000" b="1" u="sng" dirty="0">
                <a:solidFill>
                  <a:srgbClr val="7B5CD6"/>
                </a:solidFill>
                <a:latin typeface="Georgia" pitchFamily="34" charset="0"/>
                <a:ea typeface="Georgia" pitchFamily="34" charset="-122"/>
                <a:cs typeface="Georgia" pitchFamily="34" charset="-120"/>
              </a:rPr>
              <a:t>hardly ever</a:t>
            </a:r>
            <a:pPr indent="0" marL="0">
              <a:buNone/>
            </a:pPr>
            <a:r>
              <a:rPr lang="en-US" sz="1000" dirty="0">
                <a:solidFill>
                  <a:srgbClr val="1B2559"/>
                </a:solidFill>
                <a:latin typeface="Georgia" pitchFamily="34" charset="0"/>
                <a:ea typeface="Georgia" pitchFamily="34" charset="-122"/>
                <a:cs typeface="Georgia" pitchFamily="34" charset="-120"/>
              </a:rPr>
              <a:t>) → </a:t>
            </a:r>
            <a:pPr indent="0" marL="0">
              <a:buNone/>
            </a:pPr>
            <a:r>
              <a:rPr lang="en-US" sz="1000" b="1" dirty="0">
                <a:solidFill>
                  <a:srgbClr val="1B2559"/>
                </a:solidFill>
                <a:highlight>
                  <a:srgbClr val="FFE066"/>
                </a:highlight>
                <a:latin typeface="Georgia" pitchFamily="34" charset="0"/>
                <a:ea typeface="Georgia" pitchFamily="34" charset="-122"/>
                <a:cs typeface="Georgia" pitchFamily="34" charset="-120"/>
              </a:rPr>
              <a:t>Our teacher is hardly ever angry.</a:t>
            </a:r>
            <a:endParaRPr lang="en-US" sz="1000" dirty="0"/>
          </a:p>
        </p:txBody>
      </p:sp>
      <p:sp>
        <p:nvSpPr>
          <p:cNvPr id="30" name="pf_227"/>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1" name="ph_228" descr="/home/claude/lls-course/v2/cache/red_4c_teen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32" name="cd_229"/>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3" name="ii_23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4" name="ih_23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5" name="il_232"/>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adverb + main verb</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be + adverb</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34"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35"/>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Harry's a hairdresser</a:t>
            </a:r>
            <a:endParaRPr lang="en-US" sz="2500" dirty="0"/>
          </a:p>
        </p:txBody>
      </p:sp>
      <p:pic>
        <p:nvPicPr>
          <p:cNvPr id="6" name="brP_23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3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Where is h NOT pronounced? Then practise the sentences.</a:t>
            </a:r>
            <a:endParaRPr lang="en-US" sz="1100" dirty="0"/>
          </a:p>
        </p:txBody>
      </p:sp>
      <p:sp>
        <p:nvSpPr>
          <p:cNvPr id="8" name="insIT_23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Dove NON si pronuncia la h? Poi esercitati.</a:t>
            </a:r>
            <a:endParaRPr lang="en-US" sz="950" dirty="0"/>
          </a:p>
        </p:txBody>
      </p:sp>
      <p:sp>
        <p:nvSpPr>
          <p:cNvPr id="9" name="note_23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Guided discovery</a:t>
            </a:r>
            <a:endParaRPr lang="en-US" sz="1150" dirty="0"/>
          </a:p>
        </p:txBody>
      </p:sp>
      <p:pic>
        <p:nvPicPr>
          <p:cNvPr id="10" name="logo_24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4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Pronunciation · the letter h   ·   📖 SB p.35 · 3a, 3b · audio 4.21, 4.22 (SB key)</a:t>
            </a:r>
            <a:endParaRPr lang="en-US" sz="800" dirty="0"/>
          </a:p>
        </p:txBody>
      </p:sp>
      <p:sp>
        <p:nvSpPr>
          <p:cNvPr id="12" name="cd_242"/>
          <p:cNvSpPr/>
          <p:nvPr/>
        </p:nvSpPr>
        <p:spPr>
          <a:xfrm>
            <a:off x="320040" y="1417320"/>
            <a:ext cx="2697480" cy="1527048"/>
          </a:xfrm>
          <a:prstGeom prst="roundRect">
            <a:avLst>
              <a:gd name="adj" fmla="val 838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4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4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letter h</a:t>
            </a:r>
            <a:endParaRPr lang="en-US" sz="1300" dirty="0"/>
          </a:p>
        </p:txBody>
      </p:sp>
      <p:sp>
        <p:nvSpPr>
          <p:cNvPr id="15" name="ap_245"/>
          <p:cNvSpPr/>
          <p:nvPr/>
        </p:nvSpPr>
        <p:spPr>
          <a:xfrm>
            <a:off x="365760" y="3081528"/>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4.22</a:t>
            </a:r>
            <a:endParaRPr lang="en-US" sz="1100" dirty="0"/>
          </a:p>
        </p:txBody>
      </p:sp>
      <p:sp>
        <p:nvSpPr>
          <p:cNvPr id="16" name="lg_246"/>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/h/ house</a:t>
            </a:r>
            <a:endParaRPr lang="en-US" sz="1050" dirty="0"/>
          </a:p>
        </p:txBody>
      </p:sp>
      <p:sp>
        <p:nvSpPr>
          <p:cNvPr id="17" name="lg_247"/>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silent h</a:t>
            </a:r>
            <a:endParaRPr lang="en-US" sz="1050" dirty="0"/>
          </a:p>
        </p:txBody>
      </p:sp>
      <p:sp>
        <p:nvSpPr>
          <p:cNvPr id="18" name="sq_248"/>
          <p:cNvSpPr/>
          <p:nvPr/>
        </p:nvSpPr>
        <p:spPr>
          <a:xfrm>
            <a:off x="3246120" y="1417320"/>
            <a:ext cx="3840480" cy="265176"/>
          </a:xfrm>
          <a:prstGeom prst="roundRect">
            <a:avLst>
              <a:gd name="adj" fmla="val 34483"/>
            </a:avLst>
          </a:prstGeom>
          <a:solidFill>
            <a:srgbClr val="FFFFFF"/>
          </a:solidFill>
          <a:ln w="28575">
            <a:solidFill>
              <a:srgbClr val="F7A6C4"/>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ow</a:t>
            </a:r>
            <a:endParaRPr lang="en-US" sz="1200" dirty="0"/>
          </a:p>
        </p:txBody>
      </p:sp>
      <p:sp>
        <p:nvSpPr>
          <p:cNvPr id="19" name="R1_tag249"/>
          <p:cNvSpPr/>
          <p:nvPr/>
        </p:nvSpPr>
        <p:spPr>
          <a:xfrm>
            <a:off x="7178040" y="1417320"/>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20" name="sq_250"/>
          <p:cNvSpPr/>
          <p:nvPr/>
        </p:nvSpPr>
        <p:spPr>
          <a:xfrm>
            <a:off x="3246120" y="1746504"/>
            <a:ext cx="3840480" cy="265176"/>
          </a:xfrm>
          <a:prstGeom prst="roundRect">
            <a:avLst>
              <a:gd name="adj" fmla="val 34483"/>
            </a:avLst>
          </a:prstGeom>
          <a:solidFill>
            <a:srgbClr val="FFFFFF"/>
          </a:solidFill>
          <a:ln w="28575">
            <a:solidFill>
              <a:srgbClr val="A9D3F5"/>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ardly</a:t>
            </a:r>
            <a:endParaRPr lang="en-US" sz="1200" dirty="0"/>
          </a:p>
        </p:txBody>
      </p:sp>
      <p:sp>
        <p:nvSpPr>
          <p:cNvPr id="21" name="R2_tag251"/>
          <p:cNvSpPr/>
          <p:nvPr/>
        </p:nvSpPr>
        <p:spPr>
          <a:xfrm>
            <a:off x="7178040" y="1746504"/>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22" name="sq_252"/>
          <p:cNvSpPr/>
          <p:nvPr/>
        </p:nvSpPr>
        <p:spPr>
          <a:xfrm>
            <a:off x="3246120" y="2075688"/>
            <a:ext cx="3840480" cy="265176"/>
          </a:xfrm>
          <a:prstGeom prst="roundRect">
            <a:avLst>
              <a:gd name="adj" fmla="val 34483"/>
            </a:avLst>
          </a:prstGeom>
          <a:solidFill>
            <a:srgbClr val="FFFFFF"/>
          </a:solidFill>
          <a:ln w="28575">
            <a:solidFill>
              <a:srgbClr val="A8E5BE"/>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appy</a:t>
            </a:r>
            <a:endParaRPr lang="en-US" sz="1200" dirty="0"/>
          </a:p>
        </p:txBody>
      </p:sp>
      <p:sp>
        <p:nvSpPr>
          <p:cNvPr id="23" name="R3_tag253"/>
          <p:cNvSpPr/>
          <p:nvPr/>
        </p:nvSpPr>
        <p:spPr>
          <a:xfrm>
            <a:off x="7178040" y="2075688"/>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24" name="sq_254"/>
          <p:cNvSpPr/>
          <p:nvPr/>
        </p:nvSpPr>
        <p:spPr>
          <a:xfrm>
            <a:off x="3246120" y="2404872"/>
            <a:ext cx="3840480" cy="265176"/>
          </a:xfrm>
          <a:prstGeom prst="roundRect">
            <a:avLst>
              <a:gd name="adj" fmla="val 34483"/>
            </a:avLst>
          </a:prstGeom>
          <a:solidFill>
            <a:srgbClr val="FFFFFF"/>
          </a:solidFill>
          <a:ln w="28575">
            <a:solidFill>
              <a:srgbClr val="FFE07A"/>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ealthy</a:t>
            </a:r>
            <a:endParaRPr lang="en-US" sz="1200" dirty="0"/>
          </a:p>
        </p:txBody>
      </p:sp>
      <p:sp>
        <p:nvSpPr>
          <p:cNvPr id="25" name="R4_tag255"/>
          <p:cNvSpPr/>
          <p:nvPr/>
        </p:nvSpPr>
        <p:spPr>
          <a:xfrm>
            <a:off x="7178040" y="2404872"/>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26" name="sq_256"/>
          <p:cNvSpPr/>
          <p:nvPr/>
        </p:nvSpPr>
        <p:spPr>
          <a:xfrm>
            <a:off x="3246120" y="2734056"/>
            <a:ext cx="3840480" cy="265176"/>
          </a:xfrm>
          <a:prstGeom prst="roundRect">
            <a:avLst>
              <a:gd name="adj" fmla="val 34483"/>
            </a:avLst>
          </a:prstGeom>
          <a:solidFill>
            <a:srgbClr val="FFFFFF"/>
          </a:solidFill>
          <a:ln w="28575">
            <a:solidFill>
              <a:srgbClr val="F7A6C4"/>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igh</a:t>
            </a:r>
            <a:endParaRPr lang="en-US" sz="1200" dirty="0"/>
          </a:p>
        </p:txBody>
      </p:sp>
      <p:sp>
        <p:nvSpPr>
          <p:cNvPr id="27" name="R5_tag257"/>
          <p:cNvSpPr/>
          <p:nvPr/>
        </p:nvSpPr>
        <p:spPr>
          <a:xfrm>
            <a:off x="7178040" y="2734056"/>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28" name="sq_258"/>
          <p:cNvSpPr/>
          <p:nvPr/>
        </p:nvSpPr>
        <p:spPr>
          <a:xfrm>
            <a:off x="3246120" y="3063240"/>
            <a:ext cx="3840480" cy="265176"/>
          </a:xfrm>
          <a:prstGeom prst="roundRect">
            <a:avLst>
              <a:gd name="adj" fmla="val 34483"/>
            </a:avLst>
          </a:prstGeom>
          <a:solidFill>
            <a:srgbClr val="FFFFFF"/>
          </a:solidFill>
          <a:ln w="28575">
            <a:solidFill>
              <a:srgbClr val="A9D3F5"/>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ave</a:t>
            </a:r>
            <a:endParaRPr lang="en-US" sz="1200" dirty="0"/>
          </a:p>
        </p:txBody>
      </p:sp>
      <p:sp>
        <p:nvSpPr>
          <p:cNvPr id="29" name="R6_tag259"/>
          <p:cNvSpPr/>
          <p:nvPr/>
        </p:nvSpPr>
        <p:spPr>
          <a:xfrm>
            <a:off x="7178040" y="3063240"/>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30" name="sq_260"/>
          <p:cNvSpPr/>
          <p:nvPr/>
        </p:nvSpPr>
        <p:spPr>
          <a:xfrm>
            <a:off x="3246120" y="3392424"/>
            <a:ext cx="3840480" cy="265176"/>
          </a:xfrm>
          <a:prstGeom prst="roundRect">
            <a:avLst>
              <a:gd name="adj" fmla="val 34483"/>
            </a:avLst>
          </a:prstGeom>
          <a:solidFill>
            <a:srgbClr val="FFFFFF"/>
          </a:solidFill>
          <a:ln w="28575">
            <a:solidFill>
              <a:srgbClr val="A8E5BE"/>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ungry</a:t>
            </a:r>
            <a:endParaRPr lang="en-US" sz="1200" dirty="0"/>
          </a:p>
        </p:txBody>
      </p:sp>
      <p:sp>
        <p:nvSpPr>
          <p:cNvPr id="31" name="R7_tag261"/>
          <p:cNvSpPr/>
          <p:nvPr/>
        </p:nvSpPr>
        <p:spPr>
          <a:xfrm>
            <a:off x="7178040" y="3392424"/>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32" name="sq_262"/>
          <p:cNvSpPr/>
          <p:nvPr/>
        </p:nvSpPr>
        <p:spPr>
          <a:xfrm>
            <a:off x="3246120" y="3721608"/>
            <a:ext cx="3840480" cy="265176"/>
          </a:xfrm>
          <a:prstGeom prst="roundRect">
            <a:avLst>
              <a:gd name="adj" fmla="val 34483"/>
            </a:avLst>
          </a:prstGeom>
          <a:solidFill>
            <a:srgbClr val="FFFFFF"/>
          </a:solidFill>
          <a:ln w="28575">
            <a:solidFill>
              <a:srgbClr val="FFE07A"/>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our</a:t>
            </a:r>
            <a:endParaRPr lang="en-US" sz="1200" dirty="0"/>
          </a:p>
        </p:txBody>
      </p:sp>
      <p:sp>
        <p:nvSpPr>
          <p:cNvPr id="33" name="R8_tag263"/>
          <p:cNvSpPr/>
          <p:nvPr/>
        </p:nvSpPr>
        <p:spPr>
          <a:xfrm>
            <a:off x="7178040" y="3721608"/>
            <a:ext cx="1691640" cy="265176"/>
          </a:xfrm>
          <a:prstGeom prst="roundRect">
            <a:avLst>
              <a:gd name="adj" fmla="val 8620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silent h</a:t>
            </a:r>
            <a:endParaRPr lang="en-US" sz="1150" dirty="0"/>
          </a:p>
        </p:txBody>
      </p:sp>
      <p:sp>
        <p:nvSpPr>
          <p:cNvPr id="34" name="sq_264"/>
          <p:cNvSpPr/>
          <p:nvPr/>
        </p:nvSpPr>
        <p:spPr>
          <a:xfrm>
            <a:off x="3246120" y="4050792"/>
            <a:ext cx="3840480" cy="265176"/>
          </a:xfrm>
          <a:prstGeom prst="roundRect">
            <a:avLst>
              <a:gd name="adj" fmla="val 34483"/>
            </a:avLst>
          </a:prstGeom>
          <a:solidFill>
            <a:srgbClr val="FFFFFF"/>
          </a:solidFill>
          <a:ln w="28575">
            <a:solidFill>
              <a:srgbClr val="F7A6C4"/>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arry's a </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airdresser.</a:t>
            </a:r>
            <a:endParaRPr lang="en-US" sz="1200" dirty="0"/>
          </a:p>
        </p:txBody>
      </p:sp>
      <p:sp>
        <p:nvSpPr>
          <p:cNvPr id="35" name="R9_tag265"/>
          <p:cNvSpPr/>
          <p:nvPr/>
        </p:nvSpPr>
        <p:spPr>
          <a:xfrm>
            <a:off x="7178040" y="4050792"/>
            <a:ext cx="1691640" cy="265176"/>
          </a:xfrm>
          <a:prstGeom prst="roundRect">
            <a:avLst>
              <a:gd name="adj" fmla="val 8620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 house</a:t>
            </a:r>
            <a:endParaRPr lang="en-US" sz="1150" dirty="0"/>
          </a:p>
        </p:txBody>
      </p:sp>
      <p:sp>
        <p:nvSpPr>
          <p:cNvPr id="36" name="sq_266"/>
          <p:cNvSpPr/>
          <p:nvPr/>
        </p:nvSpPr>
        <p:spPr>
          <a:xfrm>
            <a:off x="3246120" y="4379976"/>
            <a:ext cx="3840480" cy="265176"/>
          </a:xfrm>
          <a:prstGeom prst="roundRect">
            <a:avLst>
              <a:gd name="adj" fmla="val 34483"/>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He usually has half an </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our for lunch.</a:t>
            </a:r>
            <a:endParaRPr lang="en-US" sz="1200" dirty="0"/>
          </a:p>
        </p:txBody>
      </p:sp>
      <p:sp>
        <p:nvSpPr>
          <p:cNvPr id="37" name="R10_tag267"/>
          <p:cNvSpPr/>
          <p:nvPr/>
        </p:nvSpPr>
        <p:spPr>
          <a:xfrm>
            <a:off x="7178040" y="4379976"/>
            <a:ext cx="1691640" cy="265176"/>
          </a:xfrm>
          <a:prstGeom prst="roundRect">
            <a:avLst>
              <a:gd name="adj" fmla="val 8620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silent h</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4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69"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70"/>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I'm not usually at home…</a:t>
            </a:r>
            <a:endParaRPr lang="en-US" sz="2500" dirty="0"/>
          </a:p>
        </p:txBody>
      </p:sp>
      <p:pic>
        <p:nvPicPr>
          <p:cNvPr id="6" name="brP_27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7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Make true sentences about you with a verb phrase + an adverb or expression of frequency.</a:t>
            </a:r>
            <a:endParaRPr lang="en-US" sz="1100" dirty="0"/>
          </a:p>
        </p:txBody>
      </p:sp>
      <p:sp>
        <p:nvSpPr>
          <p:cNvPr id="8" name="insIT_2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Fai frasi vere su di te con un avverbio o espressione di frequenza.</a:t>
            </a:r>
            <a:endParaRPr lang="en-US" sz="950" dirty="0"/>
          </a:p>
        </p:txBody>
      </p:sp>
      <p:sp>
        <p:nvSpPr>
          <p:cNvPr id="9" name="note_27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2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Speaking · about me   ·   📖 SB p.35 · 3c</a:t>
            </a:r>
            <a:endParaRPr lang="en-US" sz="800" dirty="0"/>
          </a:p>
        </p:txBody>
      </p:sp>
      <p:sp>
        <p:nvSpPr>
          <p:cNvPr id="12" name="pf_277"/>
          <p:cNvSpPr/>
          <p:nvPr/>
        </p:nvSpPr>
        <p:spPr>
          <a:xfrm rot="-120000">
            <a:off x="767729" y="1371600"/>
            <a:ext cx="1893542"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8" descr="/home/claude/lls-course/v2/cache/red_4c_teen_jpg_434x297_31.png">    </p:cNvPr>
          <p:cNvPicPr>
            <a:picLocks noChangeAspect="1"/>
          </p:cNvPicPr>
          <p:nvPr/>
        </p:nvPicPr>
        <p:blipFill>
          <a:blip r:embed="rId5"/>
          <a:stretch>
            <a:fillRect/>
          </a:stretch>
        </p:blipFill>
        <p:spPr>
          <a:xfrm rot="-120000">
            <a:off x="813449" y="1417320"/>
            <a:ext cx="1802102" cy="1234440"/>
          </a:xfrm>
          <a:prstGeom prst="rect">
            <a:avLst/>
          </a:prstGeom>
        </p:spPr>
      </p:pic>
      <p:sp>
        <p:nvSpPr>
          <p:cNvPr id="14" name="cd_279"/>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80"/>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81"/>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282"/>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be at home on Saturday night</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be in a hurry</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do housework</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go to the hairdresser</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have a healthy lunch</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have a hot bath</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sleep for eight hours</a:t>
            </a:r>
            <a:endParaRPr lang="en-US" sz="700" dirty="0"/>
          </a:p>
        </p:txBody>
      </p:sp>
      <p:sp>
        <p:nvSpPr>
          <p:cNvPr id="18" name="R1_qb283"/>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284"/>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be at home on Saturday night</a:t>
            </a:r>
            <a:endParaRPr lang="en-US" sz="1400" dirty="0"/>
          </a:p>
          <a:p>
            <a:pPr indent="0" marL="0">
              <a:buNone/>
            </a:pPr>
            <a:r>
              <a:rPr lang="en-US" sz="1150" i="1" dirty="0">
                <a:solidFill>
                  <a:srgbClr val="5B6785"/>
                </a:solidFill>
                <a:latin typeface="Segoe UI Semibold" pitchFamily="34" charset="0"/>
                <a:ea typeface="Segoe UI Semibold" pitchFamily="34" charset="-122"/>
                <a:cs typeface="Segoe UI Semibold" pitchFamily="34" charset="-120"/>
              </a:rPr>
              <a:t>e.g. I'm not usually at home on Saturday night.</a:t>
            </a:r>
            <a:endParaRPr lang="en-US" sz="1400" dirty="0"/>
          </a:p>
        </p:txBody>
      </p:sp>
      <p:sp>
        <p:nvSpPr>
          <p:cNvPr id="20" name="R2_qb285"/>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286"/>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go to the hairdresser</a:t>
            </a:r>
            <a:endParaRPr lang="en-US" sz="1400" dirty="0"/>
          </a:p>
          <a:p>
            <a:pPr indent="0" marL="0">
              <a:buNone/>
            </a:pPr>
            <a:r>
              <a:rPr lang="en-US" sz="1150" i="1" dirty="0">
                <a:solidFill>
                  <a:srgbClr val="5B6785"/>
                </a:solidFill>
                <a:latin typeface="Segoe UI Semibold" pitchFamily="34" charset="0"/>
                <a:ea typeface="Segoe UI Semibold" pitchFamily="34" charset="-122"/>
                <a:cs typeface="Segoe UI Semibold" pitchFamily="34" charset="-120"/>
              </a:rPr>
              <a:t>e.g. I go to the hairdresser once a month.</a:t>
            </a:r>
            <a:endParaRPr lang="en-US" sz="1400" dirty="0"/>
          </a:p>
        </p:txBody>
      </p:sp>
      <p:sp>
        <p:nvSpPr>
          <p:cNvPr id="22" name="R3_qb287"/>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288"/>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have a healthy lunch · sleep for eight hours</a:t>
            </a:r>
            <a:endParaRPr lang="en-US" sz="1400" dirty="0"/>
          </a:p>
          <a:p>
            <a:pPr indent="0" marL="0">
              <a:buNone/>
            </a:pPr>
            <a:r>
              <a:rPr lang="en-US" sz="1150" i="1" dirty="0">
                <a:solidFill>
                  <a:srgbClr val="5B6785"/>
                </a:solidFill>
                <a:latin typeface="Segoe UI Semibold" pitchFamily="34" charset="0"/>
                <a:ea typeface="Segoe UI Semibold" pitchFamily="34" charset="-122"/>
                <a:cs typeface="Segoe UI Semibold" pitchFamily="34" charset="-120"/>
              </a:rPr>
              <a:t>e.g. I hardly ever sleep for eight hours!</a:t>
            </a:r>
            <a:endParaRPr lang="en-US" sz="1400" dirty="0"/>
          </a:p>
        </p:txBody>
      </p:sp>
      <p:sp>
        <p:nvSpPr>
          <p:cNvPr id="24" name="R4_qb289"/>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290"/>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Now ask: How often do you…?</a:t>
            </a:r>
            <a:endParaRPr lang="en-US" sz="1400" dirty="0"/>
          </a:p>
          <a:p>
            <a:pPr indent="0" marL="0">
              <a:buNone/>
            </a:pPr>
            <a:r>
              <a:rPr lang="en-US" sz="1150" i="1" dirty="0">
                <a:solidFill>
                  <a:srgbClr val="5B6785"/>
                </a:solidFill>
                <a:latin typeface="Segoe UI Semibold" pitchFamily="34" charset="0"/>
                <a:ea typeface="Segoe UI Semibold" pitchFamily="34" charset="-122"/>
                <a:cs typeface="Segoe UI Semibold" pitchFamily="34" charset="-120"/>
              </a:rPr>
              <a:t>e.g. How often do you have a hot bath? – Never!</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9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29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are their secrets?</a:t>
            </a:r>
            <a:endParaRPr lang="en-US" sz="2500" dirty="0"/>
          </a:p>
        </p:txBody>
      </p:sp>
      <p:pic>
        <p:nvPicPr>
          <p:cNvPr id="6" name="brP_29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9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text. What are the 'Blue Zones'? How old do you think Alexis and María are?</a:t>
            </a:r>
            <a:endParaRPr lang="en-US" sz="1100" dirty="0"/>
          </a:p>
        </p:txBody>
      </p:sp>
      <p:sp>
        <p:nvSpPr>
          <p:cNvPr id="8" name="insIT_29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testo. Cosa sono le 'Blue Zones'? Quanti anni hanno Alexis e María?</a:t>
            </a:r>
            <a:endParaRPr lang="en-US" sz="950" dirty="0"/>
          </a:p>
        </p:txBody>
      </p:sp>
      <p:sp>
        <p:nvSpPr>
          <p:cNvPr id="9" name="note_29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a:t>
            </a:r>
            <a:endParaRPr lang="en-US" sz="1150" dirty="0"/>
          </a:p>
        </p:txBody>
      </p:sp>
      <p:pic>
        <p:nvPicPr>
          <p:cNvPr id="10" name="logo_2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Reading · What are their secrets?   ·   📖 SB p.35 · 4a (SB key)</a:t>
            </a:r>
            <a:endParaRPr lang="en-US" sz="800" dirty="0"/>
          </a:p>
        </p:txBody>
      </p:sp>
      <p:sp>
        <p:nvSpPr>
          <p:cNvPr id="12" name="cd_30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0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800" b="1" dirty="0">
                <a:solidFill>
                  <a:srgbClr val="1F6F43"/>
                </a:solidFill>
                <a:latin typeface="Georgia" pitchFamily="34" charset="0"/>
                <a:ea typeface="Georgia" pitchFamily="34" charset="-122"/>
                <a:cs typeface="Georgia" pitchFamily="34" charset="-120"/>
              </a:rPr>
              <a:t>What are their secrets?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What do the Greek island of Ikaria, the Nicoya peninsula in Costa Rica, and the island of Okinawa in Japan have in common? The answer is that, together with Loma Linda in California and Sardinia in Italy, they are the five so-called 'Blue Zones', the best places in the world to live if you want to have a long and healthy life. Many people there live until they are 100 or more. So what are their secrets?</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Alexis is a builder from Ikaria.</a:t>
            </a:r>
            <a:endParaRPr lang="en-US" sz="1300" dirty="0"/>
          </a:p>
          <a:p>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María from Nicoya cooks and goes to the market </a:t>
            </a:r>
            <a:pPr indent="0" marL="0">
              <a:lnSpc>
                <a:spcPct val="105000"/>
              </a:lnSpc>
              <a:spcAft>
                <a:spcPts val="700"/>
              </a:spcAft>
              <a:buNone/>
            </a:pPr>
            <a:r>
              <a:rPr lang="en-US" sz="1300" b="1" u="sng" dirty="0">
                <a:solidFill>
                  <a:srgbClr val="7B5CD6"/>
                </a:solidFill>
                <a:latin typeface="Georgia" pitchFamily="34" charset="0"/>
                <a:ea typeface="Georgia" pitchFamily="34" charset="-122"/>
                <a:cs typeface="Georgia" pitchFamily="34" charset="-120"/>
              </a:rPr>
              <a:t>every day</a:t>
            </a:r>
            <a:pPr indent="0" marL="0">
              <a:lnSpc>
                <a:spcPct val="105000"/>
              </a:lnSpc>
              <a:spcAft>
                <a:spcPts val="700"/>
              </a:spcAft>
              <a:buNone/>
            </a:pPr>
            <a:r>
              <a:rPr lang="en-US" sz="1300" dirty="0">
                <a:solidFill>
                  <a:srgbClr val="1B2559"/>
                </a:solidFill>
                <a:latin typeface="Georgia" pitchFamily="34" charset="0"/>
                <a:ea typeface="Georgia" pitchFamily="34" charset="-122"/>
                <a:cs typeface="Georgia" pitchFamily="34" charset="-120"/>
              </a:rPr>
              <a:t>.</a:t>
            </a:r>
            <a:endParaRPr lang="en-US" sz="1300" dirty="0"/>
          </a:p>
        </p:txBody>
      </p:sp>
      <p:sp>
        <p:nvSpPr>
          <p:cNvPr id="14" name="cd_302"/>
          <p:cNvSpPr/>
          <p:nvPr/>
        </p:nvSpPr>
        <p:spPr>
          <a:xfrm>
            <a:off x="6263640" y="1417320"/>
            <a:ext cx="2606040" cy="1163320"/>
          </a:xfrm>
          <a:prstGeom prst="roundRect">
            <a:avLst>
              <a:gd name="adj" fmla="val 1100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03"/>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4"/>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Guess!</a:t>
            </a:r>
            <a:endParaRPr lang="en-US" sz="1300" dirty="0"/>
          </a:p>
        </p:txBody>
      </p:sp>
      <p:sp>
        <p:nvSpPr>
          <p:cNvPr id="17" name="il_305"/>
          <p:cNvSpPr/>
          <p:nvPr/>
        </p:nvSpPr>
        <p:spPr>
          <a:xfrm>
            <a:off x="6830568" y="1911096"/>
            <a:ext cx="1947672" cy="5963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Sardinia is a Blue Zone – why?</a:t>
            </a:r>
            <a:endParaRPr lang="en-US" sz="1150" dirty="0"/>
          </a:p>
        </p:txBody>
      </p:sp>
      <p:sp>
        <p:nvSpPr>
          <p:cNvPr id="18" name="R1_chip306"/>
          <p:cNvSpPr/>
          <p:nvPr/>
        </p:nvSpPr>
        <p:spPr>
          <a:xfrm>
            <a:off x="6263640" y="2690368"/>
            <a:ext cx="2606040" cy="1005840"/>
          </a:xfrm>
          <a:prstGeom prst="roundRect">
            <a:avLst>
              <a:gd name="adj" fmla="val 909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Blue Zones = 5 places where many people live a long time. Alexis is 102 · María is 97.</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08"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09"/>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Food and exercise</a:t>
            </a:r>
            <a:endParaRPr lang="en-US" sz="2500" dirty="0"/>
          </a:p>
        </p:txBody>
      </p:sp>
      <p:pic>
        <p:nvPicPr>
          <p:cNvPr id="6" name="brP_31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1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What do people in Blue Zones eat and do? Make two lists with your partner.</a:t>
            </a:r>
            <a:endParaRPr lang="en-US" sz="1100" dirty="0"/>
          </a:p>
        </p:txBody>
      </p:sp>
      <p:sp>
        <p:nvSpPr>
          <p:cNvPr id="8" name="insIT_3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mangiano e fanno nelle Blue Zones? Fate due liste.</a:t>
            </a:r>
            <a:endParaRPr lang="en-US" sz="950" dirty="0"/>
          </a:p>
        </p:txBody>
      </p:sp>
      <p:sp>
        <p:nvSpPr>
          <p:cNvPr id="9" name="note_31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150" dirty="0"/>
          </a:p>
        </p:txBody>
      </p:sp>
      <p:pic>
        <p:nvPicPr>
          <p:cNvPr id="10" name="logo_3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Speaking · their secrets   ·   📖 SB p.35 · 4c (SB key – words from the Communication articles pp.104, 110)</a:t>
            </a:r>
            <a:endParaRPr lang="en-US" sz="800" dirty="0"/>
          </a:p>
        </p:txBody>
      </p:sp>
      <p:sp>
        <p:nvSpPr>
          <p:cNvPr id="12" name="pf_316"/>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17" descr="/home/claude/lls-course/v2/cache/red_4c_maria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4" name="cd_318"/>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19"/>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20"/>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21"/>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They often eat…</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They hardly ever…</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They walk everywhere.</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They work in their gardens.</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They drink herbal tea / red wine.</a:t>
            </a:r>
            <a:endParaRPr lang="en-US" sz="950" dirty="0"/>
          </a:p>
        </p:txBody>
      </p:sp>
      <p:sp>
        <p:nvSpPr>
          <p:cNvPr id="18" name="R1_qb322"/>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23"/>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Food and drink?</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potatoes, green vegetables, fish, rice, sweet potatoes, eggs, cheese, fruit, herbal tea, red wine, water</a:t>
            </a:r>
            <a:endParaRPr lang="en-US" sz="1000" dirty="0"/>
          </a:p>
        </p:txBody>
      </p:sp>
      <p:sp>
        <p:nvSpPr>
          <p:cNvPr id="20" name="R2_qb324"/>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25"/>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Physical exercise?</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work in their gardens, walk everywhere, ride horses, go to a gym, do exercise</a:t>
            </a:r>
            <a:endParaRPr lang="en-US" sz="1000" dirty="0"/>
          </a:p>
        </p:txBody>
      </p:sp>
      <p:sp>
        <p:nvSpPr>
          <p:cNvPr id="22" name="R3_qb326"/>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327"/>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And you? How often do you eat fish? Do you walk everywhere?</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hardly ever walk – I always drive!</a:t>
            </a:r>
            <a:endParaRPr lang="en-US" sz="1000" dirty="0"/>
          </a:p>
        </p:txBody>
      </p:sp>
      <p:sp>
        <p:nvSpPr>
          <p:cNvPr id="24" name="R4_qb328"/>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329"/>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Would you like to live in a Blue Zone?</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I'd like to live in Ikaria!</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3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33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island of Okinawa</a:t>
            </a:r>
            <a:endParaRPr lang="en-US" sz="2500" dirty="0"/>
          </a:p>
        </p:txBody>
      </p:sp>
      <p:pic>
        <p:nvPicPr>
          <p:cNvPr id="6" name="brP_333"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34"/>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Video: The island of Okinawa. True or false? Then correct the false sentences.</a:t>
            </a:r>
            <a:endParaRPr lang="en-US" sz="1100" dirty="0"/>
          </a:p>
        </p:txBody>
      </p:sp>
      <p:sp>
        <p:nvSpPr>
          <p:cNvPr id="8" name="insIT_33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Video: L'isola di Okinawa. Vero o falso? Poi correggi le false.</a:t>
            </a:r>
            <a:endParaRPr lang="en-US" sz="950" dirty="0"/>
          </a:p>
        </p:txBody>
      </p:sp>
      <p:sp>
        <p:nvSpPr>
          <p:cNvPr id="9" name="note_33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WATCH</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3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Video listening · The island of Okinawa   ·   📖 SB p.35 · 5a, 5b (SB key) · video not in our files yet</a:t>
            </a:r>
            <a:endParaRPr lang="en-US" sz="800" dirty="0"/>
          </a:p>
        </p:txBody>
      </p:sp>
      <p:sp>
        <p:nvSpPr>
          <p:cNvPr id="12" name="cd_339"/>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4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4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pf_342"/>
          <p:cNvSpPr/>
          <p:nvPr/>
        </p:nvSpPr>
        <p:spPr>
          <a:xfrm rot="-90000">
            <a:off x="365760" y="2639432"/>
            <a:ext cx="2606040" cy="1752872"/>
          </a:xfrm>
          <a:prstGeom prst="roundRect">
            <a:avLst>
              <a:gd name="adj" fmla="val 886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343" descr="/home/claude/lls-course/v2/cache/red_4c_okinawa_jpg_605x400_31.png">    </p:cNvPr>
          <p:cNvPicPr>
            <a:picLocks noChangeAspect="1"/>
          </p:cNvPicPr>
          <p:nvPr/>
        </p:nvPicPr>
        <p:blipFill>
          <a:blip r:embed="rId5"/>
          <a:stretch>
            <a:fillRect/>
          </a:stretch>
        </p:blipFill>
        <p:spPr>
          <a:xfrm rot="-90000">
            <a:off x="411480" y="2685152"/>
            <a:ext cx="2514600" cy="1661432"/>
          </a:xfrm>
          <a:prstGeom prst="rect">
            <a:avLst/>
          </a:prstGeom>
        </p:spPr>
      </p:pic>
      <p:sp>
        <p:nvSpPr>
          <p:cNvPr id="17" name="bd_344"/>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345"/>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island of Okinawa is north of Japan.</a:t>
            </a:r>
            <a:endParaRPr lang="en-US" sz="900" dirty="0"/>
          </a:p>
        </p:txBody>
      </p:sp>
      <p:sp>
        <p:nvSpPr>
          <p:cNvPr id="19" name="R1_chip346"/>
          <p:cNvSpPr/>
          <p:nvPr/>
        </p:nvSpPr>
        <p:spPr>
          <a:xfrm>
            <a:off x="5806440" y="14173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it's south of Japan.</a:t>
            </a:r>
            <a:endParaRPr lang="en-US" sz="1050" dirty="0"/>
          </a:p>
        </p:txBody>
      </p:sp>
      <p:sp>
        <p:nvSpPr>
          <p:cNvPr id="20" name="bd_347"/>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348"/>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70-year-old Okinawans have the bodies of 50-year-olds.</a:t>
            </a:r>
            <a:endParaRPr lang="en-US" sz="900" dirty="0"/>
          </a:p>
        </p:txBody>
      </p:sp>
      <p:sp>
        <p:nvSpPr>
          <p:cNvPr id="22" name="R2_chip349"/>
          <p:cNvSpPr/>
          <p:nvPr/>
        </p:nvSpPr>
        <p:spPr>
          <a:xfrm>
            <a:off x="5806440" y="18288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a:t>
            </a:r>
            <a:endParaRPr lang="en-US" sz="1050" dirty="0"/>
          </a:p>
        </p:txBody>
      </p:sp>
      <p:sp>
        <p:nvSpPr>
          <p:cNvPr id="23" name="bd_350"/>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351"/>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Hara hachi means stop eating before you're full.</a:t>
            </a:r>
            <a:endParaRPr lang="en-US" sz="900" dirty="0"/>
          </a:p>
        </p:txBody>
      </p:sp>
      <p:sp>
        <p:nvSpPr>
          <p:cNvPr id="25" name="R3_chip352"/>
          <p:cNvSpPr/>
          <p:nvPr/>
        </p:nvSpPr>
        <p:spPr>
          <a:xfrm>
            <a:off x="5806440" y="22402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a:t>
            </a:r>
            <a:endParaRPr lang="en-US" sz="1050" dirty="0"/>
          </a:p>
        </p:txBody>
      </p:sp>
      <p:sp>
        <p:nvSpPr>
          <p:cNvPr id="26" name="bd_353"/>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354"/>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Okinawans don't eat meat or fish.</a:t>
            </a:r>
            <a:endParaRPr lang="en-US" sz="900" dirty="0"/>
          </a:p>
        </p:txBody>
      </p:sp>
      <p:sp>
        <p:nvSpPr>
          <p:cNvPr id="28" name="R4_chip355"/>
          <p:cNvSpPr/>
          <p:nvPr/>
        </p:nvSpPr>
        <p:spPr>
          <a:xfrm>
            <a:off x="5806440" y="265176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they eat fish.</a:t>
            </a:r>
            <a:endParaRPr lang="en-US" sz="1050" dirty="0"/>
          </a:p>
        </p:txBody>
      </p:sp>
      <p:sp>
        <p:nvSpPr>
          <p:cNvPr id="29" name="bd_356"/>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357"/>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They eat a lot of seaweed.</a:t>
            </a:r>
            <a:endParaRPr lang="en-US" sz="900" dirty="0"/>
          </a:p>
        </p:txBody>
      </p:sp>
      <p:sp>
        <p:nvSpPr>
          <p:cNvPr id="31" name="R5_chip358"/>
          <p:cNvSpPr/>
          <p:nvPr/>
        </p:nvSpPr>
        <p:spPr>
          <a:xfrm>
            <a:off x="5806440" y="306324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a:t>
            </a:r>
            <a:endParaRPr lang="en-US" sz="1050" dirty="0"/>
          </a:p>
        </p:txBody>
      </p:sp>
      <p:sp>
        <p:nvSpPr>
          <p:cNvPr id="32" name="bd_359"/>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360"/>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They do yoga every day.</a:t>
            </a:r>
            <a:endParaRPr lang="en-US" sz="900" dirty="0"/>
          </a:p>
        </p:txBody>
      </p:sp>
      <p:sp>
        <p:nvSpPr>
          <p:cNvPr id="34" name="R6_chip361"/>
          <p:cNvSpPr/>
          <p:nvPr/>
        </p:nvSpPr>
        <p:spPr>
          <a:xfrm>
            <a:off x="5806440" y="34747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t'ai chi or martial arts.</a:t>
            </a:r>
            <a:endParaRPr lang="en-US" sz="1050" dirty="0"/>
          </a:p>
        </p:txBody>
      </p:sp>
      <p:sp>
        <p:nvSpPr>
          <p:cNvPr id="35" name="bd_362"/>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363"/>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Okinawans are often in a hurry.</a:t>
            </a:r>
            <a:endParaRPr lang="en-US" sz="900" dirty="0"/>
          </a:p>
        </p:txBody>
      </p:sp>
      <p:sp>
        <p:nvSpPr>
          <p:cNvPr id="37" name="R7_chip364"/>
          <p:cNvSpPr/>
          <p:nvPr/>
        </p:nvSpPr>
        <p:spPr>
          <a:xfrm>
            <a:off x="5806440" y="38862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they're never in a hurry.</a:t>
            </a:r>
            <a:endParaRPr lang="en-US" sz="1050" dirty="0"/>
          </a:p>
        </p:txBody>
      </p:sp>
      <p:sp>
        <p:nvSpPr>
          <p:cNvPr id="38" name="bd_365"/>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9" name="q_366"/>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00" b="1" dirty="0">
                <a:solidFill>
                  <a:srgbClr val="1B2559"/>
                </a:solidFill>
                <a:latin typeface="Segoe UI Semibold" pitchFamily="34" charset="0"/>
                <a:ea typeface="Segoe UI Semibold" pitchFamily="34" charset="-122"/>
                <a:cs typeface="Segoe UI Semibold" pitchFamily="34" charset="-120"/>
              </a:rPr>
              <a:t>When Okinawans reach 100 they have a ceremony called kajimaya.</a:t>
            </a:r>
            <a:endParaRPr lang="en-US" sz="800" dirty="0"/>
          </a:p>
        </p:txBody>
      </p:sp>
      <p:sp>
        <p:nvSpPr>
          <p:cNvPr id="40" name="R8_chip367"/>
          <p:cNvSpPr/>
          <p:nvPr/>
        </p:nvSpPr>
        <p:spPr>
          <a:xfrm>
            <a:off x="5806440" y="42976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at 97.</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69"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70"/>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371"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72"/>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3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374"/>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3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Exit · what can you remember?</a:t>
            </a:r>
            <a:endParaRPr lang="en-US" sz="800" dirty="0"/>
          </a:p>
        </p:txBody>
      </p:sp>
      <p:sp>
        <p:nvSpPr>
          <p:cNvPr id="12" name="bd_377"/>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378"/>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months stressed on the 2nd syllable.</a:t>
            </a:r>
            <a:endParaRPr lang="en-US" sz="1400" dirty="0"/>
          </a:p>
        </p:txBody>
      </p:sp>
      <p:sp>
        <p:nvSpPr>
          <p:cNvPr id="14" name="bd_379"/>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380"/>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true sentences: I always… / I'm never…</a:t>
            </a:r>
            <a:endParaRPr lang="en-US" sz="1400" dirty="0"/>
          </a:p>
        </p:txBody>
      </p:sp>
      <p:sp>
        <p:nvSpPr>
          <p:cNvPr id="16" name="bd_381"/>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382"/>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secret of the Blue Zones.</a:t>
            </a:r>
            <a:endParaRPr lang="en-US" sz="1400" dirty="0"/>
          </a:p>
        </p:txBody>
      </p:sp>
      <p:sp>
        <p:nvSpPr>
          <p:cNvPr id="18" name="cd_383"/>
          <p:cNvSpPr/>
          <p:nvPr/>
        </p:nvSpPr>
        <p:spPr>
          <a:xfrm>
            <a:off x="5669280" y="1417320"/>
            <a:ext cx="3200400" cy="976376"/>
          </a:xfrm>
          <a:prstGeom prst="roundRect">
            <a:avLst>
              <a:gd name="adj" fmla="val 1311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384"/>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385"/>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386"/>
          <p:cNvSpPr/>
          <p:nvPr/>
        </p:nvSpPr>
        <p:spPr>
          <a:xfrm>
            <a:off x="6236208" y="1911096"/>
            <a:ext cx="2542032" cy="40944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4C pp.30–31</a:t>
            </a:r>
            <a:endParaRPr lang="en-US" sz="1150" dirty="0"/>
          </a:p>
        </p:txBody>
      </p:sp>
      <p:sp>
        <p:nvSpPr>
          <p:cNvPr id="22" name="st_387"/>
          <p:cNvSpPr/>
          <p:nvPr/>
        </p:nvSpPr>
        <p:spPr>
          <a:xfrm rot="-180000">
            <a:off x="5806440" y="2715768"/>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Revise and Check 3&amp;4 (SB pp.36–37)</a:t>
            </a:r>
            <a:endParaRPr lang="en-US" sz="11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8"/>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8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9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391"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392"/>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39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39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3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Review · what did you do today?</a:t>
            </a:r>
            <a:endParaRPr lang="en-US" sz="800" dirty="0"/>
          </a:p>
        </p:txBody>
      </p:sp>
      <p:sp>
        <p:nvSpPr>
          <p:cNvPr id="12" name="cd_397"/>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398"/>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399"/>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the months: January, February…</a:t>
            </a:r>
            <a:endParaRPr lang="en-US" sz="1350" dirty="0"/>
          </a:p>
        </p:txBody>
      </p:sp>
      <p:sp>
        <p:nvSpPr>
          <p:cNvPr id="15" name="R1_tk400"/>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01"/>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02"/>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03"/>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how often: always, hardly ever, twice a week</a:t>
            </a:r>
            <a:endParaRPr lang="en-US" sz="1350" dirty="0"/>
          </a:p>
        </p:txBody>
      </p:sp>
      <p:sp>
        <p:nvSpPr>
          <p:cNvPr id="19" name="R2_tk404"/>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05"/>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06"/>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07"/>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put the adverb in the right place</a:t>
            </a:r>
            <a:endParaRPr lang="en-US" sz="1350" dirty="0"/>
          </a:p>
        </p:txBody>
      </p:sp>
      <p:sp>
        <p:nvSpPr>
          <p:cNvPr id="23" name="R3_tk408"/>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09"/>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10"/>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11"/>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h: house, happy, hungry</a:t>
            </a:r>
            <a:endParaRPr lang="en-US" sz="1350" dirty="0"/>
          </a:p>
        </p:txBody>
      </p:sp>
      <p:sp>
        <p:nvSpPr>
          <p:cNvPr id="27" name="R4_tk412"/>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13"/>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14"/>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15"/>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places where people live to 100</a:t>
            </a:r>
            <a:endParaRPr lang="en-US" sz="1350" dirty="0"/>
          </a:p>
        </p:txBody>
      </p:sp>
      <p:sp>
        <p:nvSpPr>
          <p:cNvPr id="31" name="R5_tk416"/>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17"/>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418"/>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419"/>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420"/>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421"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23"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24"/>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Find someone who…</a:t>
            </a:r>
            <a:endParaRPr lang="en-US" sz="2250" dirty="0"/>
          </a:p>
        </p:txBody>
      </p:sp>
      <p:pic>
        <p:nvPicPr>
          <p:cNvPr id="6" name="brP_425"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426"/>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How often…? Find someone who! Stand up and ask.</a:t>
            </a:r>
            <a:endParaRPr lang="en-US" sz="1250" dirty="0"/>
          </a:p>
        </p:txBody>
      </p:sp>
      <p:sp>
        <p:nvSpPr>
          <p:cNvPr id="8" name="insIT_4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How often…? Trova qualcuno che! Alzati e chiedi.</a:t>
            </a:r>
            <a:endParaRPr lang="en-US" sz="950" dirty="0"/>
          </a:p>
        </p:txBody>
      </p:sp>
      <p:sp>
        <p:nvSpPr>
          <p:cNvPr id="9" name="note_42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4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4C · Game · find someone who   ·   📖 Extra · zero-prep game</a:t>
            </a:r>
            <a:endParaRPr lang="en-US" sz="800" dirty="0"/>
          </a:p>
        </p:txBody>
      </p:sp>
      <p:sp>
        <p:nvSpPr>
          <p:cNvPr id="12" name="ext_431"/>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432"/>
          <p:cNvSpPr/>
          <p:nvPr/>
        </p:nvSpPr>
        <p:spPr>
          <a:xfrm>
            <a:off x="320040" y="1417320"/>
            <a:ext cx="2697480" cy="1645920"/>
          </a:xfrm>
          <a:prstGeom prst="roundRect">
            <a:avLst>
              <a:gd name="adj" fmla="val 77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43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43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6" name="il_435"/>
          <p:cNvSpPr/>
          <p:nvPr/>
        </p:nvSpPr>
        <p:spPr>
          <a:xfrm>
            <a:off x="886968" y="1911096"/>
            <a:ext cx="2039112" cy="10789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Find a different person for each line. Write the name.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First to 6 names wins!</a:t>
            </a:r>
            <a:endParaRPr lang="en-US" sz="1200" dirty="0"/>
          </a:p>
        </p:txBody>
      </p:sp>
      <p:sp>
        <p:nvSpPr>
          <p:cNvPr id="17" name="pf_436"/>
          <p:cNvSpPr/>
          <p:nvPr/>
        </p:nvSpPr>
        <p:spPr>
          <a:xfrm rot="-120000">
            <a:off x="790215" y="3200400"/>
            <a:ext cx="1711411"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437" descr="/home/claude/lls-course/v2/cache/red_4c_dance_jpg_390x253_31.png">    </p:cNvPr>
          <p:cNvPicPr>
            <a:picLocks noChangeAspect="1"/>
          </p:cNvPicPr>
          <p:nvPr/>
        </p:nvPicPr>
        <p:blipFill>
          <a:blip r:embed="rId5"/>
          <a:stretch>
            <a:fillRect/>
          </a:stretch>
        </p:blipFill>
        <p:spPr>
          <a:xfrm rot="-120000">
            <a:off x="835935" y="3246120"/>
            <a:ext cx="1619971" cy="1051560"/>
          </a:xfrm>
          <a:prstGeom prst="rect">
            <a:avLst/>
          </a:prstGeom>
        </p:spPr>
      </p:pic>
      <p:sp>
        <p:nvSpPr>
          <p:cNvPr id="19" name="bd_438"/>
          <p:cNvSpPr/>
          <p:nvPr/>
        </p:nvSpPr>
        <p:spPr>
          <a:xfrm>
            <a:off x="3246120" y="14912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439"/>
          <p:cNvSpPr/>
          <p:nvPr/>
        </p:nvSpPr>
        <p:spPr>
          <a:xfrm>
            <a:off x="3657600" y="14173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…eats fish twice a week</a:t>
            </a:r>
            <a:endParaRPr lang="en-US" sz="1250" dirty="0"/>
          </a:p>
        </p:txBody>
      </p:sp>
      <p:sp>
        <p:nvSpPr>
          <p:cNvPr id="21" name="R1_chip440"/>
          <p:cNvSpPr/>
          <p:nvPr/>
        </p:nvSpPr>
        <p:spPr>
          <a:xfrm>
            <a:off x="6263640" y="14173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How often do you eat fish?</a:t>
            </a:r>
            <a:endParaRPr lang="en-US" sz="1200" dirty="0"/>
          </a:p>
        </p:txBody>
      </p:sp>
      <p:sp>
        <p:nvSpPr>
          <p:cNvPr id="22" name="bd_441"/>
          <p:cNvSpPr/>
          <p:nvPr/>
        </p:nvSpPr>
        <p:spPr>
          <a:xfrm>
            <a:off x="3246120" y="203225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442"/>
          <p:cNvSpPr/>
          <p:nvPr/>
        </p:nvSpPr>
        <p:spPr>
          <a:xfrm>
            <a:off x="3657600" y="195834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…hardly ever sleeps eight hours</a:t>
            </a:r>
            <a:endParaRPr lang="en-US" sz="1250" dirty="0"/>
          </a:p>
        </p:txBody>
      </p:sp>
      <p:sp>
        <p:nvSpPr>
          <p:cNvPr id="24" name="R2_chip443"/>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Do you usually sleep for eight hours?</a:t>
            </a:r>
            <a:endParaRPr lang="en-US" sz="1200" dirty="0"/>
          </a:p>
        </p:txBody>
      </p:sp>
      <p:sp>
        <p:nvSpPr>
          <p:cNvPr id="25" name="bd_444"/>
          <p:cNvSpPr/>
          <p:nvPr/>
        </p:nvSpPr>
        <p:spPr>
          <a:xfrm>
            <a:off x="3246120" y="257327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445"/>
          <p:cNvSpPr/>
          <p:nvPr/>
        </p:nvSpPr>
        <p:spPr>
          <a:xfrm>
            <a:off x="3657600" y="249936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…goes to the gym three times a week</a:t>
            </a:r>
            <a:endParaRPr lang="en-US" sz="1250" dirty="0"/>
          </a:p>
        </p:txBody>
      </p:sp>
      <p:sp>
        <p:nvSpPr>
          <p:cNvPr id="27" name="R3_chip446"/>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How often do you go to the gym?</a:t>
            </a:r>
            <a:endParaRPr lang="en-US" sz="1200" dirty="0"/>
          </a:p>
        </p:txBody>
      </p:sp>
      <p:sp>
        <p:nvSpPr>
          <p:cNvPr id="28" name="bd_447"/>
          <p:cNvSpPr/>
          <p:nvPr/>
        </p:nvSpPr>
        <p:spPr>
          <a:xfrm>
            <a:off x="3246120" y="311429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448"/>
          <p:cNvSpPr/>
          <p:nvPr/>
        </p:nvSpPr>
        <p:spPr>
          <a:xfrm>
            <a:off x="3657600" y="304038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never late</a:t>
            </a:r>
            <a:endParaRPr lang="en-US" sz="1250" dirty="0"/>
          </a:p>
        </p:txBody>
      </p:sp>
      <p:sp>
        <p:nvSpPr>
          <p:cNvPr id="30" name="R4_chip449"/>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Are you ever late?</a:t>
            </a:r>
            <a:endParaRPr lang="en-US" sz="1200" dirty="0"/>
          </a:p>
        </p:txBody>
      </p:sp>
      <p:sp>
        <p:nvSpPr>
          <p:cNvPr id="31" name="bd_450"/>
          <p:cNvSpPr/>
          <p:nvPr/>
        </p:nvSpPr>
        <p:spPr>
          <a:xfrm>
            <a:off x="3246120" y="365531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451"/>
          <p:cNvSpPr/>
          <p:nvPr/>
        </p:nvSpPr>
        <p:spPr>
          <a:xfrm>
            <a:off x="3657600" y="358140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…always walks to work</a:t>
            </a:r>
            <a:endParaRPr lang="en-US" sz="1250" dirty="0"/>
          </a:p>
        </p:txBody>
      </p:sp>
      <p:sp>
        <p:nvSpPr>
          <p:cNvPr id="33" name="R5_chip452"/>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How do you go to work?</a:t>
            </a:r>
            <a:endParaRPr lang="en-US" sz="1200" dirty="0"/>
          </a:p>
        </p:txBody>
      </p:sp>
      <p:sp>
        <p:nvSpPr>
          <p:cNvPr id="34" name="bd_453"/>
          <p:cNvSpPr/>
          <p:nvPr/>
        </p:nvSpPr>
        <p:spPr>
          <a:xfrm>
            <a:off x="3246120" y="419633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454"/>
          <p:cNvSpPr/>
          <p:nvPr/>
        </p:nvSpPr>
        <p:spPr>
          <a:xfrm>
            <a:off x="3657600" y="412242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…has a birthday in the summer</a:t>
            </a:r>
            <a:endParaRPr lang="en-US" sz="1250" dirty="0"/>
          </a:p>
        </p:txBody>
      </p:sp>
      <p:sp>
        <p:nvSpPr>
          <p:cNvPr id="36" name="R6_chip455"/>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When's your birthday?</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4C Blue Zones</dc:title>
  <dc:subject>PptxGenJS Presentation</dc:subject>
  <dc:creator>PptxGenJS</dc:creator>
  <cp:lastModifiedBy>PptxGenJS</cp:lastModifiedBy>
  <cp:revision>1</cp:revision>
  <dcterms:created xsi:type="dcterms:W3CDTF">2026-10-23T08:36:29Z</dcterms:created>
  <dcterms:modified xsi:type="dcterms:W3CDTF">2026-10-23T08:36:29Z</dcterms:modified>
</cp:coreProperties>
</file>