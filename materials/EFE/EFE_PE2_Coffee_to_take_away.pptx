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eg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OPENING (2 min)
OPENING (2 min). TG lead-in: what do you remember about Episode 1? Who's Rob? Where does he work / live? Who's Jenny? Where is she from?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Revision · last lesson (3 min)
ACTIVE RECAP (3 min). Each word: students ask a partner a real question with it before you click (Why do you study English?).
HOW TO RUN IT (active recap): pairs. Words: A points at a word, B says what it means (⭐); then a sentence with it (⭐⭐); strong students make it negative or a question (⭐⭐⭐). Grammar: pairs make their own example for each use (offer, plan…) BEFORE you click – then click to show the model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Vocabulary Bank p.157 · telling the time (5 min)
TIME (5 min). TG notes: right side of the clock (12 → half past) = past; left side (half past → 12) = to. half /hɑːf/ (silent l), quarter /ˈkwɔːtə/. o'clock = 'of the clock'. British people often leave out a: It's (a) quarter to ten. Play 3.26 to check, then again to repeat. VB Time box: What time is it? / What's the time? · at 9.00 · in the morning / afternoon / evening · at night.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Speaking · What's the time? (4 min)
CLOCKS (4 min). Zero-prep version of the Communication activity (or use pp.104 / 109). Drill What's the time? first. Click for 4 extra times to test the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Listening · Rob and Jenny meet (6 min)
MEET (5 min). Play 3.27 once: what do they decide? Then 2b – teach late first. Key (TG). Time from the script: 'What time is it?' – 'Nine fifteen.' (= quarter past nine).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Buying a coffee · the menu (3 min)
MENU (3 min). TG: UK coffee shops use Italian words (latte, cappuccino). regular = normal size. Prices in pounds and pence (prices come in PE3). EXTRA IDEA (TG): A How much is a single espresso? B Two forty-five. How much is…?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Listening · buying a coffee (3 min)
COFFEE (3 min). Books closed, questions on the slide. Play 3.28 once, again if needed. Key (TG).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Buying a coffee · You hear · You say (4 min)
YOU HEAR (4 min). Students guess first, then play again. TG key 1 help 2 Single 3 Regular 4 here 5 change. Go through line by line: What would you like? = offering; Can I have…? = asking; How much is it? / How much is that? = the total price.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Buying a coffee · You say (4 min)
REPEAT (4 min). 3.29 = 3.28 with pauses: students repeat the You say phrases at the beep. 3e: threes read the conversation and swap 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 Speaking · at the coffee shop (8 min)
ROLE-PLAY (6 min). TG: A keeps the book open; B and C closed. Each group performs once; best group performs for the class. Real fun: change the café to a Bagheria bar – how do you order there?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 Listening · first day in the office (5 min)
OFFICE (5 min). Photo first: where is Jenny? Who are the others? (maybe / I think). Play once to listen, again pausing for answers. Key (TG).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Social English (3 min)
SOCIAL ENGLISH (3 min). Pairs decide, play 3.31 to check (TG key 1 R 2 K 3 D 4 D). Play again to repeat. Italian? Eccoci. / È la prima volta…? / Vuoi qualcosa da bere? / Ci sentiamo dopo.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Social English · practice (3 min)
PRACTICE (3 min). TG key A 3 B 4 C 2 D 1. Pairs practise all four, then change the place: Bagheria, Palermo…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 Exit · Can you…? (2 min)
EXIT (2 min). CAN YOU…? tell the time · order food and drink in a café · meet and introduce people. File 3 Quick Test / Test available in the TG resources.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15. Review · what did you do today? (1 min)
TODAY YOU… (1 min). Read each line (one per click: the tick appears). Students show thumbs up / middle / down: can they do it now? Note any thumbs down for the next lesson's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audio" Target="../media/media-3-5.mp3"/><Relationship Id="rId6" Type="http://schemas.microsoft.com/office/2007/relationships/media" Target="../media/media-3-5.mp3"/><Relationship Id="rId7" Type="http://schemas.openxmlformats.org/officeDocument/2006/relationships/image" Target="../media/image-3-7.png"/><Relationship Id="rId8" Type="http://schemas.openxmlformats.org/officeDocument/2006/relationships/audio" Target="../media/media-3-8.mp3"/><Relationship Id="rId9" Type="http://schemas.microsoft.com/office/2007/relationships/media" Target="../media/media-3-8.mp3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audio" Target="../media/media-5-6.mp3"/><Relationship Id="rId7" Type="http://schemas.microsoft.com/office/2007/relationships/media" Target="../media/media-5-6.mp3"/><Relationship Id="rId8" Type="http://schemas.openxmlformats.org/officeDocument/2006/relationships/image" Target="../media/image-5-8.png"/><Relationship Id="rId9" Type="http://schemas.openxmlformats.org/officeDocument/2006/relationships/audio" Target="../media/media-5-9.mp3"/><Relationship Id="rId10" Type="http://schemas.microsoft.com/office/2007/relationships/media" Target="../media/media-5-9.mp3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audio" Target="../media/media-7-6.mp3"/><Relationship Id="rId7" Type="http://schemas.microsoft.com/office/2007/relationships/media" Target="../media/media-7-6.mp3"/><Relationship Id="rId8" Type="http://schemas.openxmlformats.org/officeDocument/2006/relationships/image" Target="../media/image-7-8.png"/><Relationship Id="rId9" Type="http://schemas.openxmlformats.org/officeDocument/2006/relationships/audio" Target="../media/media-7-9.mp3"/><Relationship Id="rId10" Type="http://schemas.microsoft.com/office/2007/relationships/media" Target="../media/media-7-9.mp3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audio" Target="../media/media-11-5.mp3"/><Relationship Id="rId6" Type="http://schemas.microsoft.com/office/2007/relationships/media" Target="../media/media-11-5.mp3"/><Relationship Id="rId7" Type="http://schemas.openxmlformats.org/officeDocument/2006/relationships/image" Target="../media/image-11-7.png"/><Relationship Id="rId8" Type="http://schemas.openxmlformats.org/officeDocument/2006/relationships/audio" Target="../media/media-11-8.mp3"/><Relationship Id="rId9" Type="http://schemas.microsoft.com/office/2007/relationships/media" Target="../media/media-11-8.mp3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audio" Target="../media/media-12-5.mp3"/><Relationship Id="rId6" Type="http://schemas.microsoft.com/office/2007/relationships/media" Target="../media/media-12-5.mp3"/><Relationship Id="rId7" Type="http://schemas.openxmlformats.org/officeDocument/2006/relationships/image" Target="../media/image-12-7.png"/><Relationship Id="rId8" Type="http://schemas.openxmlformats.org/officeDocument/2006/relationships/audio" Target="../media/media-12-8.mp3"/><Relationship Id="rId9" Type="http://schemas.microsoft.com/office/2007/relationships/media" Target="../media/media-12-8.mp3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rs_1"/>
          <p:cNvSpPr/>
          <p:nvPr/>
        </p:nvSpPr>
        <p:spPr>
          <a:xfrm>
            <a:off x="411480" y="292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English File Elementary · SB pp.28–29 · VB p.157</a:t>
            </a:r>
            <a:endParaRPr lang="en-US" sz="1000" dirty="0"/>
          </a:p>
        </p:txBody>
      </p:sp>
      <p:sp>
        <p:nvSpPr>
          <p:cNvPr id="4" name="bd_2"/>
          <p:cNvSpPr/>
          <p:nvPr/>
        </p:nvSpPr>
        <p:spPr>
          <a:xfrm>
            <a:off x="365760" y="640080"/>
            <a:ext cx="1051560" cy="105156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PE2</a:t>
            </a:r>
            <a:endParaRPr lang="en-US" sz="2000" dirty="0"/>
          </a:p>
        </p:txBody>
      </p:sp>
      <p:pic>
        <p:nvPicPr>
          <p:cNvPr id="5" name="bry_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713232"/>
            <a:ext cx="3566160" cy="868680"/>
          </a:xfrm>
          <a:prstGeom prst="rect">
            <a:avLst/>
          </a:prstGeom>
        </p:spPr>
      </p:pic>
      <p:sp>
        <p:nvSpPr>
          <p:cNvPr id="6" name="t_4"/>
          <p:cNvSpPr/>
          <p:nvPr/>
        </p:nvSpPr>
        <p:spPr>
          <a:xfrm>
            <a:off x="1645920" y="731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Coffee to take away</a:t>
            </a:r>
            <a:endParaRPr lang="en-US" sz="1900" dirty="0"/>
          </a:p>
        </p:txBody>
      </p:sp>
      <p:pic>
        <p:nvPicPr>
          <p:cNvPr id="7" name="brp_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517904"/>
            <a:ext cx="3017520" cy="384048"/>
          </a:xfrm>
          <a:prstGeom prst="rect">
            <a:avLst/>
          </a:prstGeom>
        </p:spPr>
      </p:pic>
      <p:sp>
        <p:nvSpPr>
          <p:cNvPr id="8" name="st_6"/>
          <p:cNvSpPr/>
          <p:nvPr/>
        </p:nvSpPr>
        <p:spPr>
          <a:xfrm>
            <a:off x="1691640" y="15179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Telling the time · buying a coffee</a:t>
            </a:r>
            <a:endParaRPr lang="en-US" sz="1250" dirty="0"/>
          </a:p>
        </p:txBody>
      </p:sp>
      <p:sp>
        <p:nvSpPr>
          <p:cNvPr id="9" name="cd_7"/>
          <p:cNvSpPr/>
          <p:nvPr/>
        </p:nvSpPr>
        <p:spPr>
          <a:xfrm>
            <a:off x="365760" y="2148840"/>
            <a:ext cx="4206240" cy="1691640"/>
          </a:xfrm>
          <a:prstGeom prst="roundRect">
            <a:avLst>
              <a:gd name="adj" fmla="val 7568"/>
            </a:avLst>
          </a:prstGeom>
          <a:solidFill>
            <a:srgbClr val="E3F1FD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0" name="ii_8"/>
          <p:cNvSpPr/>
          <p:nvPr/>
        </p:nvSpPr>
        <p:spPr>
          <a:xfrm>
            <a:off x="45720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ih_9"/>
          <p:cNvSpPr/>
          <p:nvPr/>
        </p:nvSpPr>
        <p:spPr>
          <a:xfrm>
            <a:off x="932688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you're going to…</a:t>
            </a:r>
            <a:endParaRPr lang="en-US" sz="1600" dirty="0"/>
          </a:p>
        </p:txBody>
      </p:sp>
      <p:sp>
        <p:nvSpPr>
          <p:cNvPr id="12" name="il_10"/>
          <p:cNvSpPr/>
          <p:nvPr/>
        </p:nvSpPr>
        <p:spPr>
          <a:xfrm>
            <a:off x="932688" y="2642616"/>
            <a:ext cx="35478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🕘  tell the time: quarter past six, twenty to nine</a:t>
            </a:r>
            <a:endParaRPr lang="en-US" sz="10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☕  order food and drink in a café</a:t>
            </a:r>
            <a:endParaRPr lang="en-US" sz="10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🤝  meet and introduce people</a:t>
            </a:r>
            <a:endParaRPr lang="en-US" sz="10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 listen to Rob and Jenny: episode 2</a:t>
            </a:r>
            <a:endParaRPr lang="en-US" sz="1050" dirty="0"/>
          </a:p>
        </p:txBody>
      </p:sp>
      <p:sp>
        <p:nvSpPr>
          <p:cNvPr id="13" name="R1_ex11"/>
          <p:cNvSpPr/>
          <p:nvPr/>
        </p:nvSpPr>
        <p:spPr>
          <a:xfrm>
            <a:off x="365760" y="3950208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52400" tIns="25400" rIns="1524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8508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EXAMPLE  </a:t>
            </a:r>
            <a:pPr indent="0" marL="0">
              <a:buNone/>
            </a:pPr>
            <a:r>
              <a:rPr lang="en-US" sz="13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It's half past seven. I love a cappuccino – but only in the morning!</a:t>
            </a:r>
            <a:endParaRPr lang="en-US" sz="1000" dirty="0"/>
          </a:p>
        </p:txBody>
      </p:sp>
      <p:sp>
        <p:nvSpPr>
          <p:cNvPr id="14" name="pf_12"/>
          <p:cNvSpPr/>
          <p:nvPr/>
        </p:nvSpPr>
        <p:spPr>
          <a:xfrm rot="90000">
            <a:off x="4846320" y="1177124"/>
            <a:ext cx="3977640" cy="2400631"/>
          </a:xfrm>
          <a:prstGeom prst="roundRect">
            <a:avLst>
              <a:gd name="adj" fmla="val 647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13" descr="/home/claude/lls-course/v2/cache/red_pe2_coffee_jpg_935x556_3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">
            <a:off x="4892040" y="1222844"/>
            <a:ext cx="3886200" cy="2309191"/>
          </a:xfrm>
          <a:prstGeom prst="rect">
            <a:avLst/>
          </a:prstGeom>
        </p:spPr>
      </p:pic>
      <p:sp>
        <p:nvSpPr>
          <p:cNvPr id="16" name="bb_14"/>
          <p:cNvSpPr/>
          <p:nvPr/>
        </p:nvSpPr>
        <p:spPr>
          <a:xfrm>
            <a:off x="5120640" y="3611880"/>
            <a:ext cx="3566160" cy="822960"/>
          </a:xfrm>
          <a:prstGeom prst="wedgeRoundRectCallout">
            <a:avLst/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lIns="127000" tIns="50800" rIns="1270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time is it now? What's your favourite coffee?</a:t>
            </a:r>
            <a:endParaRPr lang="en-US" sz="1600" dirty="0"/>
          </a:p>
        </p:txBody>
      </p:sp>
      <p:sp>
        <p:nvSpPr>
          <p:cNvPr id="17" name="st_15"/>
          <p:cNvSpPr/>
          <p:nvPr/>
        </p:nvSpPr>
        <p:spPr>
          <a:xfrm rot="360000">
            <a:off x="7543800" y="502920"/>
            <a:ext cx="1325880" cy="38404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 · PENSA</a:t>
            </a:r>
            <a:endParaRPr lang="en-US" sz="950" dirty="0"/>
          </a:p>
        </p:txBody>
      </p:sp>
      <p:pic>
        <p:nvPicPr>
          <p:cNvPr id="18" name="logo_16" descr="/home/claude/lls-course/v2/img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800" dirty="0"/>
          </a:p>
        </p:txBody>
      </p:sp>
      <p:pic>
        <p:nvPicPr>
          <p:cNvPr id="4" name="brY_1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19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 last lesson?</a:t>
            </a:r>
            <a:endParaRPr lang="en-US" sz="2400" dirty="0"/>
          </a:p>
        </p:txBody>
      </p:sp>
      <p:pic>
        <p:nvPicPr>
          <p:cNvPr id="6" name="brP_2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1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remember? Say it – then use it in a sentence!</a:t>
            </a:r>
            <a:endParaRPr lang="en-US" sz="1250" dirty="0"/>
          </a:p>
        </p:txBody>
      </p:sp>
      <p:sp>
        <p:nvSpPr>
          <p:cNvPr id="8" name="insIT_2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 ricordi? Dillo – poi usalo in una frase!</a:t>
            </a:r>
            <a:endParaRPr lang="en-US" sz="950" dirty="0"/>
          </a:p>
        </p:txBody>
      </p:sp>
      <p:sp>
        <p:nvSpPr>
          <p:cNvPr id="9" name="note_2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Retrieval</a:t>
            </a:r>
            <a:endParaRPr lang="en-US" sz="1150" dirty="0"/>
          </a:p>
        </p:txBody>
      </p:sp>
      <p:pic>
        <p:nvPicPr>
          <p:cNvPr id="10" name="logo_2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PE2 · Revision · last lesson</a:t>
            </a:r>
            <a:endParaRPr lang="en-US" sz="800" dirty="0"/>
          </a:p>
        </p:txBody>
      </p:sp>
      <p:sp>
        <p:nvSpPr>
          <p:cNvPr id="12" name="pf_26"/>
          <p:cNvSpPr/>
          <p:nvPr/>
        </p:nvSpPr>
        <p:spPr>
          <a:xfrm rot="-120000">
            <a:off x="1019488" y="1371600"/>
            <a:ext cx="1344304" cy="1645920"/>
          </a:xfrm>
          <a:prstGeom prst="roundRect">
            <a:avLst>
              <a:gd name="adj" fmla="val 115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27" descr="/home/claude/lls-course/v2/cache/red_3c_cafe_jpg_301x374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1065208" y="1417320"/>
            <a:ext cx="1252864" cy="1554480"/>
          </a:xfrm>
          <a:prstGeom prst="rect">
            <a:avLst/>
          </a:prstGeom>
        </p:spPr>
      </p:pic>
      <p:sp>
        <p:nvSpPr>
          <p:cNvPr id="14" name="cd_28"/>
          <p:cNvSpPr/>
          <p:nvPr/>
        </p:nvSpPr>
        <p:spPr>
          <a:xfrm>
            <a:off x="320040" y="3200400"/>
            <a:ext cx="2743200" cy="1402080"/>
          </a:xfrm>
          <a:prstGeom prst="roundRect">
            <a:avLst>
              <a:gd name="adj" fmla="val 9130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29"/>
          <p:cNvSpPr/>
          <p:nvPr/>
        </p:nvSpPr>
        <p:spPr>
          <a:xfrm>
            <a:off x="41148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6" name="ih_30"/>
          <p:cNvSpPr/>
          <p:nvPr/>
        </p:nvSpPr>
        <p:spPr>
          <a:xfrm>
            <a:off x="886968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Last lesson…</a:t>
            </a:r>
            <a:endParaRPr lang="en-US" sz="1300" dirty="0"/>
          </a:p>
        </p:txBody>
      </p:sp>
      <p:sp>
        <p:nvSpPr>
          <p:cNvPr id="17" name="il_31"/>
          <p:cNvSpPr/>
          <p:nvPr/>
        </p:nvSpPr>
        <p:spPr>
          <a:xfrm>
            <a:off x="886968" y="3694176"/>
            <a:ext cx="2084832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3C: Love me, love my dog</a:t>
            </a:r>
            <a:endParaRPr lang="en-US" sz="11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word order in questions · question words</a:t>
            </a:r>
            <a:endParaRPr lang="en-US" sz="1100" dirty="0"/>
          </a:p>
        </p:txBody>
      </p:sp>
      <p:sp>
        <p:nvSpPr>
          <p:cNvPr id="18" name="kw_32"/>
          <p:cNvSpPr/>
          <p:nvPr/>
        </p:nvSpPr>
        <p:spPr>
          <a:xfrm>
            <a:off x="3246120" y="1417320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🔤 Can you remember these words? What do they mean?</a:t>
            </a:r>
            <a:endParaRPr lang="en-US" sz="1200" dirty="0"/>
          </a:p>
        </p:txBody>
      </p:sp>
      <p:sp>
        <p:nvSpPr>
          <p:cNvPr id="19" name="w_33"/>
          <p:cNvSpPr/>
          <p:nvPr/>
        </p:nvSpPr>
        <p:spPr>
          <a:xfrm>
            <a:off x="3246120" y="1783080"/>
            <a:ext cx="1106424" cy="347472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many</a:t>
            </a:r>
            <a:endParaRPr lang="en-US" sz="1200" dirty="0"/>
          </a:p>
        </p:txBody>
      </p:sp>
      <p:sp>
        <p:nvSpPr>
          <p:cNvPr id="20" name="w_34"/>
          <p:cNvSpPr/>
          <p:nvPr/>
        </p:nvSpPr>
        <p:spPr>
          <a:xfrm>
            <a:off x="4443984" y="1783080"/>
            <a:ext cx="1453896" cy="347472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kind of</a:t>
            </a:r>
            <a:endParaRPr lang="en-US" sz="1200" dirty="0"/>
          </a:p>
        </p:txBody>
      </p:sp>
      <p:sp>
        <p:nvSpPr>
          <p:cNvPr id="21" name="w_35"/>
          <p:cNvSpPr/>
          <p:nvPr/>
        </p:nvSpPr>
        <p:spPr>
          <a:xfrm>
            <a:off x="5989320" y="1783080"/>
            <a:ext cx="845820" cy="347472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Which</a:t>
            </a:r>
            <a:endParaRPr lang="en-US" sz="1200" dirty="0"/>
          </a:p>
        </p:txBody>
      </p:sp>
      <p:sp>
        <p:nvSpPr>
          <p:cNvPr id="22" name="w_36"/>
          <p:cNvSpPr/>
          <p:nvPr/>
        </p:nvSpPr>
        <p:spPr>
          <a:xfrm>
            <a:off x="6926580" y="1783080"/>
            <a:ext cx="672084" cy="347472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</a:t>
            </a:r>
            <a:endParaRPr lang="en-US" sz="1200" dirty="0"/>
          </a:p>
        </p:txBody>
      </p:sp>
      <p:sp>
        <p:nvSpPr>
          <p:cNvPr id="23" name="w_37"/>
          <p:cNvSpPr/>
          <p:nvPr/>
        </p:nvSpPr>
        <p:spPr>
          <a:xfrm>
            <a:off x="7690104" y="1783080"/>
            <a:ext cx="672084" cy="347472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</a:t>
            </a:r>
            <a:endParaRPr lang="en-US" sz="1200" dirty="0"/>
          </a:p>
        </p:txBody>
      </p:sp>
      <p:sp>
        <p:nvSpPr>
          <p:cNvPr id="24" name="w_38"/>
          <p:cNvSpPr/>
          <p:nvPr/>
        </p:nvSpPr>
        <p:spPr>
          <a:xfrm>
            <a:off x="3246120" y="2185416"/>
            <a:ext cx="758952" cy="347472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When</a:t>
            </a:r>
            <a:endParaRPr lang="en-US" sz="1200" dirty="0"/>
          </a:p>
        </p:txBody>
      </p:sp>
      <p:sp>
        <p:nvSpPr>
          <p:cNvPr id="25" name="w_39"/>
          <p:cNvSpPr/>
          <p:nvPr/>
        </p:nvSpPr>
        <p:spPr>
          <a:xfrm>
            <a:off x="4096512" y="2185416"/>
            <a:ext cx="845820" cy="347472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</a:t>
            </a:r>
            <a:endParaRPr lang="en-US" sz="1200" dirty="0"/>
          </a:p>
        </p:txBody>
      </p:sp>
      <p:sp>
        <p:nvSpPr>
          <p:cNvPr id="26" name="w_40"/>
          <p:cNvSpPr/>
          <p:nvPr/>
        </p:nvSpPr>
        <p:spPr>
          <a:xfrm>
            <a:off x="5033772" y="2185416"/>
            <a:ext cx="1019556" cy="347472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old</a:t>
            </a:r>
            <a:endParaRPr lang="en-US" sz="1200" dirty="0"/>
          </a:p>
        </p:txBody>
      </p:sp>
      <p:sp>
        <p:nvSpPr>
          <p:cNvPr id="27" name="lv_41"/>
          <p:cNvSpPr/>
          <p:nvPr/>
        </p:nvSpPr>
        <p:spPr>
          <a:xfrm>
            <a:off x="3246120" y="2642616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⭐ </a:t>
            </a:r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does it mean?</a:t>
            </a:r>
            <a:endParaRPr lang="en-US" sz="1000" dirty="0"/>
          </a:p>
        </p:txBody>
      </p:sp>
      <p:sp>
        <p:nvSpPr>
          <p:cNvPr id="28" name="lv_42"/>
          <p:cNvSpPr/>
          <p:nvPr/>
        </p:nvSpPr>
        <p:spPr>
          <a:xfrm>
            <a:off x="5151120" y="2642616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⭐⭐ </a:t>
            </a:r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 it in a sentence.</a:t>
            </a:r>
            <a:endParaRPr lang="en-US" sz="1000" dirty="0"/>
          </a:p>
        </p:txBody>
      </p:sp>
      <p:sp>
        <p:nvSpPr>
          <p:cNvPr id="29" name="lv_43"/>
          <p:cNvSpPr/>
          <p:nvPr/>
        </p:nvSpPr>
        <p:spPr>
          <a:xfrm>
            <a:off x="7056120" y="2642616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⭐⭐⭐ 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it negative or a question!</a:t>
            </a:r>
            <a:endParaRPr lang="en-US" sz="950" dirty="0"/>
          </a:p>
        </p:txBody>
      </p:sp>
      <p:sp>
        <p:nvSpPr>
          <p:cNvPr id="30" name="cd_44"/>
          <p:cNvSpPr/>
          <p:nvPr/>
        </p:nvSpPr>
        <p:spPr>
          <a:xfrm>
            <a:off x="3246120" y="3172968"/>
            <a:ext cx="5623560" cy="1581912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1" name="rh_45"/>
          <p:cNvSpPr/>
          <p:nvPr/>
        </p:nvSpPr>
        <p:spPr>
          <a:xfrm>
            <a:off x="3337560" y="3246120"/>
            <a:ext cx="5440680" cy="310896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Your turn: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QuASI</a:t>
            </a:r>
            <a:endParaRPr lang="en-US" sz="1100" dirty="0"/>
          </a:p>
        </p:txBody>
      </p:sp>
      <p:sp>
        <p:nvSpPr>
          <p:cNvPr id="32" name="R1_rl46"/>
          <p:cNvSpPr/>
          <p:nvPr/>
        </p:nvSpPr>
        <p:spPr>
          <a:xfrm>
            <a:off x="3383280" y="3630168"/>
            <a:ext cx="5349240" cy="10515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do you live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?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kind of music do you like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?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old is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Barry?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800" dirty="0"/>
          </a:p>
        </p:txBody>
      </p:sp>
      <p:pic>
        <p:nvPicPr>
          <p:cNvPr id="4" name="brY_4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247949" cy="621792"/>
          </a:xfrm>
          <a:prstGeom prst="rect">
            <a:avLst/>
          </a:prstGeom>
        </p:spPr>
      </p:pic>
      <p:sp>
        <p:nvSpPr>
          <p:cNvPr id="5" name="title_49"/>
          <p:cNvSpPr/>
          <p:nvPr/>
        </p:nvSpPr>
        <p:spPr>
          <a:xfrm>
            <a:off x="1261872" y="164592"/>
            <a:ext cx="29736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time is it?</a:t>
            </a:r>
            <a:endParaRPr lang="en-US" sz="2500" dirty="0"/>
          </a:p>
        </p:txBody>
      </p:sp>
      <p:pic>
        <p:nvPicPr>
          <p:cNvPr id="6" name="brP_5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640580" cy="402336"/>
          </a:xfrm>
          <a:prstGeom prst="rect">
            <a:avLst/>
          </a:prstGeom>
        </p:spPr>
      </p:pic>
      <p:sp>
        <p:nvSpPr>
          <p:cNvPr id="7" name="ins_51"/>
          <p:cNvSpPr/>
          <p:nvPr/>
        </p:nvSpPr>
        <p:spPr>
          <a:xfrm>
            <a:off x="1353312" y="731520"/>
            <a:ext cx="43845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Look at the clocks. Say the time, then click!</a:t>
            </a:r>
            <a:endParaRPr lang="en-US" sz="1250" dirty="0"/>
          </a:p>
        </p:txBody>
      </p:sp>
      <p:sp>
        <p:nvSpPr>
          <p:cNvPr id="8" name="insIT_5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Guarda gli orologi. Di' l'ora, poi clicca!</a:t>
            </a:r>
            <a:endParaRPr lang="en-US" sz="950" dirty="0"/>
          </a:p>
        </p:txBody>
      </p:sp>
      <p:sp>
        <p:nvSpPr>
          <p:cNvPr id="9" name="note_5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🙋 whole class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 · Controlled practice</a:t>
            </a:r>
            <a:endParaRPr lang="en-US" sz="1150" dirty="0"/>
          </a:p>
        </p:txBody>
      </p:sp>
      <p:pic>
        <p:nvPicPr>
          <p:cNvPr id="10" name="logo_5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5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PE2 · Vocabulary Bank p.157 · telling the time   ·   📖 SB p.28 · 1a, 1b · VB p.157 Part 1 · audio 3.26 (TG script)</a:t>
            </a:r>
            <a:endParaRPr lang="en-US" sz="800" dirty="0"/>
          </a:p>
        </p:txBody>
      </p:sp>
      <p:sp>
        <p:nvSpPr>
          <p:cNvPr id="12" name="cd_56"/>
          <p:cNvSpPr/>
          <p:nvPr/>
        </p:nvSpPr>
        <p:spPr>
          <a:xfrm>
            <a:off x="320040" y="1417320"/>
            <a:ext cx="2697480" cy="768096"/>
          </a:xfrm>
          <a:prstGeom prst="roundRect">
            <a:avLst>
              <a:gd name="adj" fmla="val 16667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57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4" name="ih_58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5" name="il_59"/>
          <p:cNvSpPr/>
          <p:nvPr/>
        </p:nvSpPr>
        <p:spPr>
          <a:xfrm>
            <a:off x="886968" y="1911096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9.00 → It's nine o'clock.</a:t>
            </a:r>
            <a:endParaRPr lang="en-US" sz="1050" dirty="0"/>
          </a:p>
        </p:txBody>
      </p:sp>
      <p:sp>
        <p:nvSpPr>
          <p:cNvPr id="16" name="ap_60"/>
          <p:cNvSpPr/>
          <p:nvPr/>
        </p:nvSpPr>
        <p:spPr>
          <a:xfrm>
            <a:off x="365760" y="4297680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3.26</a:t>
            </a:r>
            <a:endParaRPr lang="en-US" sz="1100" dirty="0"/>
          </a:p>
        </p:txBody>
      </p:sp>
      <p:sp>
        <p:nvSpPr>
          <p:cNvPr id="17" name="ah_61"/>
          <p:cNvSpPr/>
          <p:nvPr/>
        </p:nvSpPr>
        <p:spPr>
          <a:xfrm>
            <a:off x="4636008" y="457200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</a:t>
            </a:r>
            <a:endParaRPr lang="en-US" sz="1000" dirty="0"/>
          </a:p>
        </p:txBody>
      </p:sp>
      <p:pic>
        <p:nvPicPr>
          <p:cNvPr id="18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687568" y="4553712"/>
            <a:ext cx="411480" cy="411480"/>
          </a:xfrm>
          <a:prstGeom prst="rect">
            <a:avLst/>
          </a:prstGeom>
        </p:spPr>
      </p:pic>
      <p:sp>
        <p:nvSpPr>
          <p:cNvPr id="19" name="ah_62"/>
          <p:cNvSpPr/>
          <p:nvPr/>
        </p:nvSpPr>
        <p:spPr>
          <a:xfrm>
            <a:off x="7470648" y="45720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🐢 slower</a:t>
            </a:r>
            <a:endParaRPr lang="en-US" sz="1000" dirty="0"/>
          </a:p>
        </p:txBody>
      </p:sp>
      <p:pic>
        <p:nvPicPr>
          <p:cNvPr id="20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476488" y="4553712"/>
            <a:ext cx="411480" cy="411480"/>
          </a:xfrm>
          <a:prstGeom prst="rect">
            <a:avLst/>
          </a:prstGeom>
        </p:spPr>
      </p:pic>
      <p:sp>
        <p:nvSpPr>
          <p:cNvPr id="21" name="bd_63"/>
          <p:cNvSpPr/>
          <p:nvPr/>
        </p:nvSpPr>
        <p:spPr>
          <a:xfrm>
            <a:off x="3246120" y="142189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q_64"/>
          <p:cNvSpPr/>
          <p:nvPr/>
        </p:nvSpPr>
        <p:spPr>
          <a:xfrm>
            <a:off x="3630168" y="1417320"/>
            <a:ext cx="2103120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6.00</a:t>
            </a:r>
            <a:endParaRPr lang="en-US" sz="1150" dirty="0"/>
          </a:p>
        </p:txBody>
      </p:sp>
      <p:sp>
        <p:nvSpPr>
          <p:cNvPr id="23" name="R1_chip65"/>
          <p:cNvSpPr/>
          <p:nvPr/>
        </p:nvSpPr>
        <p:spPr>
          <a:xfrm>
            <a:off x="5806440" y="1417320"/>
            <a:ext cx="3063240" cy="320040"/>
          </a:xfrm>
          <a:prstGeom prst="roundRect">
            <a:avLst>
              <a:gd name="adj" fmla="val 28571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It's six o'clock.</a:t>
            </a:r>
            <a:endParaRPr lang="en-US" sz="1050" dirty="0"/>
          </a:p>
        </p:txBody>
      </p:sp>
      <p:sp>
        <p:nvSpPr>
          <p:cNvPr id="24" name="bd_66"/>
          <p:cNvSpPr/>
          <p:nvPr/>
        </p:nvSpPr>
        <p:spPr>
          <a:xfrm>
            <a:off x="3246120" y="178765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q_67"/>
          <p:cNvSpPr/>
          <p:nvPr/>
        </p:nvSpPr>
        <p:spPr>
          <a:xfrm>
            <a:off x="3630168" y="1783080"/>
            <a:ext cx="2103120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6.10</a:t>
            </a:r>
            <a:endParaRPr lang="en-US" sz="1150" dirty="0"/>
          </a:p>
        </p:txBody>
      </p:sp>
      <p:sp>
        <p:nvSpPr>
          <p:cNvPr id="26" name="R2_chip68"/>
          <p:cNvSpPr/>
          <p:nvPr/>
        </p:nvSpPr>
        <p:spPr>
          <a:xfrm>
            <a:off x="5806440" y="1783080"/>
            <a:ext cx="3063240" cy="320040"/>
          </a:xfrm>
          <a:prstGeom prst="roundRect">
            <a:avLst>
              <a:gd name="adj" fmla="val 28571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It's ten past six.</a:t>
            </a:r>
            <a:endParaRPr lang="en-US" sz="1050" dirty="0"/>
          </a:p>
        </p:txBody>
      </p:sp>
      <p:sp>
        <p:nvSpPr>
          <p:cNvPr id="27" name="bd_69"/>
          <p:cNvSpPr/>
          <p:nvPr/>
        </p:nvSpPr>
        <p:spPr>
          <a:xfrm>
            <a:off x="3246120" y="21534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q_70"/>
          <p:cNvSpPr/>
          <p:nvPr/>
        </p:nvSpPr>
        <p:spPr>
          <a:xfrm>
            <a:off x="3630168" y="2148840"/>
            <a:ext cx="2103120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6.15</a:t>
            </a:r>
            <a:endParaRPr lang="en-US" sz="1150" dirty="0"/>
          </a:p>
        </p:txBody>
      </p:sp>
      <p:sp>
        <p:nvSpPr>
          <p:cNvPr id="29" name="R3_chip71"/>
          <p:cNvSpPr/>
          <p:nvPr/>
        </p:nvSpPr>
        <p:spPr>
          <a:xfrm>
            <a:off x="5806440" y="2148840"/>
            <a:ext cx="3063240" cy="320040"/>
          </a:xfrm>
          <a:prstGeom prst="roundRect">
            <a:avLst>
              <a:gd name="adj" fmla="val 28571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It's quarter past six.</a:t>
            </a:r>
            <a:endParaRPr lang="en-US" sz="1050" dirty="0"/>
          </a:p>
        </p:txBody>
      </p:sp>
      <p:sp>
        <p:nvSpPr>
          <p:cNvPr id="30" name="bd_72"/>
          <p:cNvSpPr/>
          <p:nvPr/>
        </p:nvSpPr>
        <p:spPr>
          <a:xfrm>
            <a:off x="3246120" y="251917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q_73"/>
          <p:cNvSpPr/>
          <p:nvPr/>
        </p:nvSpPr>
        <p:spPr>
          <a:xfrm>
            <a:off x="3630168" y="2514600"/>
            <a:ext cx="2103120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6.20</a:t>
            </a:r>
            <a:endParaRPr lang="en-US" sz="1150" dirty="0"/>
          </a:p>
        </p:txBody>
      </p:sp>
      <p:sp>
        <p:nvSpPr>
          <p:cNvPr id="32" name="R4_chip74"/>
          <p:cNvSpPr/>
          <p:nvPr/>
        </p:nvSpPr>
        <p:spPr>
          <a:xfrm>
            <a:off x="5806440" y="2514600"/>
            <a:ext cx="3063240" cy="320040"/>
          </a:xfrm>
          <a:prstGeom prst="roundRect">
            <a:avLst>
              <a:gd name="adj" fmla="val 28571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It's twenty past six.</a:t>
            </a:r>
            <a:endParaRPr lang="en-US" sz="1050" dirty="0"/>
          </a:p>
        </p:txBody>
      </p:sp>
      <p:sp>
        <p:nvSpPr>
          <p:cNvPr id="33" name="bd_75"/>
          <p:cNvSpPr/>
          <p:nvPr/>
        </p:nvSpPr>
        <p:spPr>
          <a:xfrm>
            <a:off x="3246120" y="288493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q_76"/>
          <p:cNvSpPr/>
          <p:nvPr/>
        </p:nvSpPr>
        <p:spPr>
          <a:xfrm>
            <a:off x="3630168" y="2880360"/>
            <a:ext cx="2103120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6.30</a:t>
            </a:r>
            <a:endParaRPr lang="en-US" sz="1150" dirty="0"/>
          </a:p>
        </p:txBody>
      </p:sp>
      <p:sp>
        <p:nvSpPr>
          <p:cNvPr id="35" name="R5_chip77"/>
          <p:cNvSpPr/>
          <p:nvPr/>
        </p:nvSpPr>
        <p:spPr>
          <a:xfrm>
            <a:off x="5806440" y="2880360"/>
            <a:ext cx="3063240" cy="320040"/>
          </a:xfrm>
          <a:prstGeom prst="roundRect">
            <a:avLst>
              <a:gd name="adj" fmla="val 28571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It's half past six.</a:t>
            </a:r>
            <a:endParaRPr lang="en-US" sz="1050" dirty="0"/>
          </a:p>
        </p:txBody>
      </p:sp>
      <p:sp>
        <p:nvSpPr>
          <p:cNvPr id="36" name="bd_78"/>
          <p:cNvSpPr/>
          <p:nvPr/>
        </p:nvSpPr>
        <p:spPr>
          <a:xfrm>
            <a:off x="3246120" y="325069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q_79"/>
          <p:cNvSpPr/>
          <p:nvPr/>
        </p:nvSpPr>
        <p:spPr>
          <a:xfrm>
            <a:off x="3630168" y="3246120"/>
            <a:ext cx="2103120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6.35</a:t>
            </a:r>
            <a:endParaRPr lang="en-US" sz="1150" dirty="0"/>
          </a:p>
        </p:txBody>
      </p:sp>
      <p:sp>
        <p:nvSpPr>
          <p:cNvPr id="38" name="R6_chip80"/>
          <p:cNvSpPr/>
          <p:nvPr/>
        </p:nvSpPr>
        <p:spPr>
          <a:xfrm>
            <a:off x="5806440" y="3246120"/>
            <a:ext cx="3063240" cy="320040"/>
          </a:xfrm>
          <a:prstGeom prst="roundRect">
            <a:avLst>
              <a:gd name="adj" fmla="val 28571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It's twenty-five to seven.</a:t>
            </a:r>
            <a:endParaRPr lang="en-US" sz="1050" dirty="0"/>
          </a:p>
        </p:txBody>
      </p:sp>
      <p:sp>
        <p:nvSpPr>
          <p:cNvPr id="39" name="bd_81"/>
          <p:cNvSpPr/>
          <p:nvPr/>
        </p:nvSpPr>
        <p:spPr>
          <a:xfrm>
            <a:off x="3246120" y="361645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000" dirty="0"/>
          </a:p>
        </p:txBody>
      </p:sp>
      <p:sp>
        <p:nvSpPr>
          <p:cNvPr id="40" name="q_82"/>
          <p:cNvSpPr/>
          <p:nvPr/>
        </p:nvSpPr>
        <p:spPr>
          <a:xfrm>
            <a:off x="3630168" y="3611880"/>
            <a:ext cx="2103120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6.45</a:t>
            </a:r>
            <a:endParaRPr lang="en-US" sz="1150" dirty="0"/>
          </a:p>
        </p:txBody>
      </p:sp>
      <p:sp>
        <p:nvSpPr>
          <p:cNvPr id="41" name="R7_chip83"/>
          <p:cNvSpPr/>
          <p:nvPr/>
        </p:nvSpPr>
        <p:spPr>
          <a:xfrm>
            <a:off x="5806440" y="3611880"/>
            <a:ext cx="3063240" cy="320040"/>
          </a:xfrm>
          <a:prstGeom prst="roundRect">
            <a:avLst>
              <a:gd name="adj" fmla="val 28571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It's quarter to seven.</a:t>
            </a:r>
            <a:endParaRPr lang="en-US" sz="1050" dirty="0"/>
          </a:p>
        </p:txBody>
      </p:sp>
      <p:sp>
        <p:nvSpPr>
          <p:cNvPr id="42" name="bd_84"/>
          <p:cNvSpPr/>
          <p:nvPr/>
        </p:nvSpPr>
        <p:spPr>
          <a:xfrm>
            <a:off x="3246120" y="398221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1000" dirty="0"/>
          </a:p>
        </p:txBody>
      </p:sp>
      <p:sp>
        <p:nvSpPr>
          <p:cNvPr id="43" name="q_85"/>
          <p:cNvSpPr/>
          <p:nvPr/>
        </p:nvSpPr>
        <p:spPr>
          <a:xfrm>
            <a:off x="3630168" y="3977640"/>
            <a:ext cx="2103120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6.55</a:t>
            </a:r>
            <a:endParaRPr lang="en-US" sz="1150" dirty="0"/>
          </a:p>
        </p:txBody>
      </p:sp>
      <p:sp>
        <p:nvSpPr>
          <p:cNvPr id="44" name="R8_chip86"/>
          <p:cNvSpPr/>
          <p:nvPr/>
        </p:nvSpPr>
        <p:spPr>
          <a:xfrm>
            <a:off x="5806440" y="3977640"/>
            <a:ext cx="3063240" cy="320040"/>
          </a:xfrm>
          <a:prstGeom prst="roundRect">
            <a:avLst>
              <a:gd name="adj" fmla="val 28571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It's five to seven.</a:t>
            </a:r>
            <a:endParaRPr lang="en-US" sz="1050" dirty="0"/>
          </a:p>
        </p:txBody>
      </p:sp>
      <p:sp>
        <p:nvSpPr>
          <p:cNvPr id="45" name="bd_87"/>
          <p:cNvSpPr/>
          <p:nvPr/>
        </p:nvSpPr>
        <p:spPr>
          <a:xfrm>
            <a:off x="3246120" y="43479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9</a:t>
            </a:r>
            <a:endParaRPr lang="en-US" sz="1000" dirty="0"/>
          </a:p>
        </p:txBody>
      </p:sp>
      <p:sp>
        <p:nvSpPr>
          <p:cNvPr id="46" name="q_88"/>
          <p:cNvSpPr/>
          <p:nvPr/>
        </p:nvSpPr>
        <p:spPr>
          <a:xfrm>
            <a:off x="3630168" y="4343400"/>
            <a:ext cx="2103120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6.03</a:t>
            </a:r>
            <a:endParaRPr lang="en-US" sz="1150" dirty="0"/>
          </a:p>
        </p:txBody>
      </p:sp>
      <p:sp>
        <p:nvSpPr>
          <p:cNvPr id="47" name="R9_chip89"/>
          <p:cNvSpPr/>
          <p:nvPr/>
        </p:nvSpPr>
        <p:spPr>
          <a:xfrm>
            <a:off x="5806440" y="4343400"/>
            <a:ext cx="3063240" cy="320040"/>
          </a:xfrm>
          <a:prstGeom prst="roundRect">
            <a:avLst>
              <a:gd name="adj" fmla="val 28571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It's three minutes past six.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2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7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audio>
              <p:cMediaNode vol="80000">
                <p:cTn id="5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>
                <p:cTn id="5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9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2800" dirty="0"/>
          </a:p>
        </p:txBody>
      </p:sp>
      <p:pic>
        <p:nvPicPr>
          <p:cNvPr id="4" name="brY_9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92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Clock race</a:t>
            </a:r>
            <a:endParaRPr lang="en-US" sz="2500" dirty="0"/>
          </a:p>
        </p:txBody>
      </p:sp>
      <p:pic>
        <p:nvPicPr>
          <p:cNvPr id="6" name="brP_9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94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What's the time? A draws a time on a clock. B says it. Swap!</a:t>
            </a:r>
            <a:endParaRPr lang="en-US" sz="1200" dirty="0"/>
          </a:p>
        </p:txBody>
      </p:sp>
      <p:sp>
        <p:nvSpPr>
          <p:cNvPr id="8" name="insIT_95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Che ore sono? A disegna un orario. B lo dice. Scambiatevi!</a:t>
            </a:r>
            <a:endParaRPr lang="en-US" sz="950" dirty="0"/>
          </a:p>
        </p:txBody>
      </p:sp>
      <p:sp>
        <p:nvSpPr>
          <p:cNvPr id="9" name="note_96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🎲 PLAY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 game</a:t>
            </a:r>
            <a:endParaRPr lang="en-US" sz="1150" dirty="0"/>
          </a:p>
        </p:txBody>
      </p:sp>
      <p:pic>
        <p:nvPicPr>
          <p:cNvPr id="10" name="logo_9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9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PE2 · Speaking · What's the time?   ·   📖 SB p.28 · 1c · Communication What's the time? A p.104 · B p.109</a:t>
            </a:r>
            <a:endParaRPr lang="en-US" sz="800" dirty="0"/>
          </a:p>
        </p:txBody>
      </p:sp>
      <p:sp>
        <p:nvSpPr>
          <p:cNvPr id="12" name="cd_99"/>
          <p:cNvSpPr/>
          <p:nvPr/>
        </p:nvSpPr>
        <p:spPr>
          <a:xfrm>
            <a:off x="320040" y="1417320"/>
            <a:ext cx="2697480" cy="2502408"/>
          </a:xfrm>
          <a:prstGeom prst="roundRect">
            <a:avLst>
              <a:gd name="adj" fmla="val 5116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100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4" name="ih_101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5" name="il_102"/>
          <p:cNvSpPr/>
          <p:nvPr/>
        </p:nvSpPr>
        <p:spPr>
          <a:xfrm>
            <a:off x="886968" y="1911096"/>
            <a:ext cx="2039112" cy="193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Pairs, face to face. A draws 3 clocks (or writes 3 digital times).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 asks: What's the time? / What time is it? – A answers.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Then compare: are the clocks the same?</a:t>
            </a:r>
            <a:endParaRPr lang="en-US" sz="1200" dirty="0"/>
          </a:p>
        </p:txBody>
      </p:sp>
      <p:sp>
        <p:nvSpPr>
          <p:cNvPr id="16" name="bd_103"/>
          <p:cNvSpPr/>
          <p:nvPr/>
        </p:nvSpPr>
        <p:spPr>
          <a:xfrm>
            <a:off x="3246120" y="1572768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gq_104"/>
          <p:cNvSpPr/>
          <p:nvPr/>
        </p:nvSpPr>
        <p:spPr>
          <a:xfrm>
            <a:off x="3657600" y="1417320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7.25</a:t>
            </a:r>
            <a:endParaRPr lang="en-US" sz="1250" dirty="0"/>
          </a:p>
        </p:txBody>
      </p:sp>
      <p:sp>
        <p:nvSpPr>
          <p:cNvPr id="18" name="R1_chip105"/>
          <p:cNvSpPr/>
          <p:nvPr/>
        </p:nvSpPr>
        <p:spPr>
          <a:xfrm>
            <a:off x="6263640" y="141732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It's twenty-five past seven.</a:t>
            </a:r>
            <a:endParaRPr lang="en-US" sz="1200" dirty="0"/>
          </a:p>
        </p:txBody>
      </p:sp>
      <p:sp>
        <p:nvSpPr>
          <p:cNvPr id="19" name="bd_106"/>
          <p:cNvSpPr/>
          <p:nvPr/>
        </p:nvSpPr>
        <p:spPr>
          <a:xfrm>
            <a:off x="3246120" y="2276856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gq_107"/>
          <p:cNvSpPr/>
          <p:nvPr/>
        </p:nvSpPr>
        <p:spPr>
          <a:xfrm>
            <a:off x="3657600" y="2121408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11.40</a:t>
            </a:r>
            <a:endParaRPr lang="en-US" sz="1250" dirty="0"/>
          </a:p>
        </p:txBody>
      </p:sp>
      <p:sp>
        <p:nvSpPr>
          <p:cNvPr id="21" name="R2_chip108"/>
          <p:cNvSpPr/>
          <p:nvPr/>
        </p:nvSpPr>
        <p:spPr>
          <a:xfrm>
            <a:off x="6263640" y="2121408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It's twenty to twelve.</a:t>
            </a:r>
            <a:endParaRPr lang="en-US" sz="1200" dirty="0"/>
          </a:p>
        </p:txBody>
      </p:sp>
      <p:sp>
        <p:nvSpPr>
          <p:cNvPr id="22" name="bd_109"/>
          <p:cNvSpPr/>
          <p:nvPr/>
        </p:nvSpPr>
        <p:spPr>
          <a:xfrm>
            <a:off x="3246120" y="298094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gq_110"/>
          <p:cNvSpPr/>
          <p:nvPr/>
        </p:nvSpPr>
        <p:spPr>
          <a:xfrm>
            <a:off x="3657600" y="2825496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2.45</a:t>
            </a:r>
            <a:endParaRPr lang="en-US" sz="1250" dirty="0"/>
          </a:p>
        </p:txBody>
      </p:sp>
      <p:sp>
        <p:nvSpPr>
          <p:cNvPr id="24" name="R3_chip111"/>
          <p:cNvSpPr/>
          <p:nvPr/>
        </p:nvSpPr>
        <p:spPr>
          <a:xfrm>
            <a:off x="6263640" y="2825496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It's quarter to three.</a:t>
            </a:r>
            <a:endParaRPr lang="en-US" sz="1200" dirty="0"/>
          </a:p>
        </p:txBody>
      </p:sp>
      <p:sp>
        <p:nvSpPr>
          <p:cNvPr id="25" name="bd_112"/>
          <p:cNvSpPr/>
          <p:nvPr/>
        </p:nvSpPr>
        <p:spPr>
          <a:xfrm>
            <a:off x="3246120" y="3685032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gq_113"/>
          <p:cNvSpPr/>
          <p:nvPr/>
        </p:nvSpPr>
        <p:spPr>
          <a:xfrm>
            <a:off x="3657600" y="3529584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9.05</a:t>
            </a:r>
            <a:endParaRPr lang="en-US" sz="1250" dirty="0"/>
          </a:p>
        </p:txBody>
      </p:sp>
      <p:sp>
        <p:nvSpPr>
          <p:cNvPr id="27" name="R4_chip114"/>
          <p:cNvSpPr/>
          <p:nvPr/>
        </p:nvSpPr>
        <p:spPr>
          <a:xfrm>
            <a:off x="6263640" y="3529584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It's five past nine.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15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2800" dirty="0"/>
          </a:p>
        </p:txBody>
      </p:sp>
      <p:pic>
        <p:nvPicPr>
          <p:cNvPr id="4" name="brY_116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562502" cy="621792"/>
          </a:xfrm>
          <a:prstGeom prst="rect">
            <a:avLst/>
          </a:prstGeom>
        </p:spPr>
      </p:pic>
      <p:sp>
        <p:nvSpPr>
          <p:cNvPr id="5" name="title_117"/>
          <p:cNvSpPr/>
          <p:nvPr/>
        </p:nvSpPr>
        <p:spPr>
          <a:xfrm>
            <a:off x="1261872" y="164592"/>
            <a:ext cx="3288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Rob and Jenny meet</a:t>
            </a:r>
            <a:endParaRPr lang="en-US" sz="2400" dirty="0"/>
          </a:p>
        </p:txBody>
      </p:sp>
      <p:pic>
        <p:nvPicPr>
          <p:cNvPr id="6" name="brP_118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119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Listen. What do Rob and Jenny decide to do? Then listen again: why…?</a:t>
            </a:r>
            <a:endParaRPr lang="en-US" sz="1100" dirty="0"/>
          </a:p>
        </p:txBody>
      </p:sp>
      <p:sp>
        <p:nvSpPr>
          <p:cNvPr id="8" name="insIT_120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Ascolta. Cosa decidono di fare Rob e Jenny? Poi ascolta di nuovo: perché…?</a:t>
            </a:r>
            <a:endParaRPr lang="en-US" sz="950" dirty="0"/>
          </a:p>
        </p:txBody>
      </p:sp>
      <p:sp>
        <p:nvSpPr>
          <p:cNvPr id="9" name="note_121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6 min   👤 alone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Listening · Controlled practice</a:t>
            </a:r>
            <a:endParaRPr lang="en-US" sz="1150" dirty="0"/>
          </a:p>
        </p:txBody>
      </p:sp>
      <p:pic>
        <p:nvPicPr>
          <p:cNvPr id="10" name="logo_122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2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PE2 · Listening · Rob and Jenny meet   ·   📖 SB p.28 · 2a, 2b · audio 3.27 (TG key + script)</a:t>
            </a:r>
            <a:endParaRPr lang="en-US" sz="800" dirty="0"/>
          </a:p>
        </p:txBody>
      </p:sp>
      <p:sp>
        <p:nvSpPr>
          <p:cNvPr id="12" name="pf_124"/>
          <p:cNvSpPr/>
          <p:nvPr/>
        </p:nvSpPr>
        <p:spPr>
          <a:xfrm rot="-90000">
            <a:off x="365760" y="1804449"/>
            <a:ext cx="2606040" cy="1786062"/>
          </a:xfrm>
          <a:prstGeom prst="roundRect">
            <a:avLst>
              <a:gd name="adj" fmla="val 87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125" descr="/home/claude/lls-course/v2/cache/red_pe2_meet_jpg_605x408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11480" y="1850169"/>
            <a:ext cx="2514600" cy="1694622"/>
          </a:xfrm>
          <a:prstGeom prst="rect">
            <a:avLst/>
          </a:prstGeom>
        </p:spPr>
      </p:pic>
      <p:sp>
        <p:nvSpPr>
          <p:cNvPr id="14" name="ap_126"/>
          <p:cNvSpPr/>
          <p:nvPr/>
        </p:nvSpPr>
        <p:spPr>
          <a:xfrm>
            <a:off x="365760" y="4297680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3.27</a:t>
            </a:r>
            <a:endParaRPr lang="en-US" sz="1100" dirty="0"/>
          </a:p>
        </p:txBody>
      </p:sp>
      <p:sp>
        <p:nvSpPr>
          <p:cNvPr id="15" name="ah_127"/>
          <p:cNvSpPr/>
          <p:nvPr/>
        </p:nvSpPr>
        <p:spPr>
          <a:xfrm>
            <a:off x="4636008" y="457200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</a:t>
            </a:r>
            <a:endParaRPr lang="en-US" sz="1000" dirty="0"/>
          </a:p>
        </p:txBody>
      </p:sp>
      <p:pic>
        <p:nvPicPr>
          <p:cNvPr id="16" name="Media 0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687568" y="4553712"/>
            <a:ext cx="411480" cy="411480"/>
          </a:xfrm>
          <a:prstGeom prst="rect">
            <a:avLst/>
          </a:prstGeom>
        </p:spPr>
      </p:pic>
      <p:sp>
        <p:nvSpPr>
          <p:cNvPr id="17" name="ah_128"/>
          <p:cNvSpPr/>
          <p:nvPr/>
        </p:nvSpPr>
        <p:spPr>
          <a:xfrm>
            <a:off x="7470648" y="45720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🐢 slower</a:t>
            </a:r>
            <a:endParaRPr lang="en-US" sz="1000" dirty="0"/>
          </a:p>
        </p:txBody>
      </p:sp>
      <p:pic>
        <p:nvPicPr>
          <p:cNvPr id="18" name="Media 1">
            <a:hlinkClick r:id="" action="ppaction://media"/>
          </p:cNvPr>
          <p:cNvPicPr>
            <a:picLocks noChangeAspect="1"/>
          </p:cNvPicPr>
          <p:nvPr>
            <a:audi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8476488" y="4553712"/>
            <a:ext cx="411480" cy="411480"/>
          </a:xfrm>
          <a:prstGeom prst="rect">
            <a:avLst/>
          </a:prstGeom>
        </p:spPr>
      </p:pic>
      <p:sp>
        <p:nvSpPr>
          <p:cNvPr id="19" name="bd_129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q_130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 they decide to do?</a:t>
            </a:r>
            <a:endParaRPr lang="en-US" sz="1150" dirty="0"/>
          </a:p>
        </p:txBody>
      </p:sp>
      <p:sp>
        <p:nvSpPr>
          <p:cNvPr id="21" name="R1_chip131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They go for a coffee.</a:t>
            </a:r>
            <a:endParaRPr lang="en-US" sz="1050" dirty="0"/>
          </a:p>
        </p:txBody>
      </p:sp>
      <p:sp>
        <p:nvSpPr>
          <p:cNvPr id="22" name="bd_132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q_133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is Rob late?</a:t>
            </a:r>
            <a:endParaRPr lang="en-US" sz="1150" dirty="0"/>
          </a:p>
        </p:txBody>
      </p:sp>
      <p:sp>
        <p:nvSpPr>
          <p:cNvPr id="24" name="R2_chip134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Because the traffic is terrible.</a:t>
            </a:r>
            <a:endParaRPr lang="en-US" sz="1050" dirty="0"/>
          </a:p>
        </p:txBody>
      </p:sp>
      <p:sp>
        <p:nvSpPr>
          <p:cNvPr id="25" name="bd_135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q_136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doesn't Jenny like the hotel breakfast?</a:t>
            </a:r>
            <a:endParaRPr lang="en-US" sz="1150" dirty="0"/>
          </a:p>
        </p:txBody>
      </p:sp>
      <p:sp>
        <p:nvSpPr>
          <p:cNvPr id="27" name="R3_chip137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Because the hotel coffee isn't great.</a:t>
            </a:r>
            <a:endParaRPr lang="en-US" sz="1050" dirty="0"/>
          </a:p>
        </p:txBody>
      </p:sp>
      <p:sp>
        <p:nvSpPr>
          <p:cNvPr id="28" name="bd_138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q_139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is Jenny busy after 9.30?</a:t>
            </a:r>
            <a:endParaRPr lang="en-US" sz="1150" dirty="0"/>
          </a:p>
        </p:txBody>
      </p:sp>
      <p:sp>
        <p:nvSpPr>
          <p:cNvPr id="30" name="R4_chip140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Because she has a meeting with Daniel.</a:t>
            </a:r>
            <a:endParaRPr lang="en-US" sz="1050" dirty="0"/>
          </a:p>
        </p:txBody>
      </p:sp>
      <p:sp>
        <p:nvSpPr>
          <p:cNvPr id="31" name="bd_141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q_142"/>
          <p:cNvSpPr/>
          <p:nvPr/>
        </p:nvSpPr>
        <p:spPr>
          <a:xfrm>
            <a:off x="3630168" y="34290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does Rob say 'Don't worry'?</a:t>
            </a:r>
            <a:endParaRPr lang="en-US" sz="1150" dirty="0"/>
          </a:p>
        </p:txBody>
      </p:sp>
      <p:sp>
        <p:nvSpPr>
          <p:cNvPr id="33" name="R5_chip143"/>
          <p:cNvSpPr/>
          <p:nvPr/>
        </p:nvSpPr>
        <p:spPr>
          <a:xfrm>
            <a:off x="5806440" y="34290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Because they have lots of time – the office is very near.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7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audio>
              <p:cMediaNode vol="80000">
                <p:cTn id="3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  <p:audio>
              <p:cMediaNode vol="80000">
                <p:cTn id="3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4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2800" dirty="0"/>
          </a:p>
        </p:txBody>
      </p:sp>
      <p:pic>
        <p:nvPicPr>
          <p:cNvPr id="4" name="brY_14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1989734" cy="621792"/>
          </a:xfrm>
          <a:prstGeom prst="rect">
            <a:avLst/>
          </a:prstGeom>
        </p:spPr>
      </p:pic>
      <p:sp>
        <p:nvSpPr>
          <p:cNvPr id="5" name="title_146"/>
          <p:cNvSpPr/>
          <p:nvPr/>
        </p:nvSpPr>
        <p:spPr>
          <a:xfrm>
            <a:off x="1261872" y="164592"/>
            <a:ext cx="17154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menu</a:t>
            </a:r>
            <a:endParaRPr lang="en-US" sz="2500" dirty="0"/>
          </a:p>
        </p:txBody>
      </p:sp>
      <p:pic>
        <p:nvPicPr>
          <p:cNvPr id="6" name="brP_14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148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Look at the menu. Do you know all the things? Ask: How much is…?</a:t>
            </a:r>
            <a:endParaRPr lang="en-US" sz="1100" dirty="0"/>
          </a:p>
        </p:txBody>
      </p:sp>
      <p:sp>
        <p:nvSpPr>
          <p:cNvPr id="8" name="insIT_14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Guarda il menu. Conosci tutto? Chiedi: How much is…?</a:t>
            </a:r>
            <a:endParaRPr lang="en-US" sz="950" dirty="0"/>
          </a:p>
        </p:txBody>
      </p:sp>
      <p:sp>
        <p:nvSpPr>
          <p:cNvPr id="9" name="note_150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LOOK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</a:t>
            </a:r>
            <a:endParaRPr lang="en-US" sz="1150" dirty="0"/>
          </a:p>
        </p:txBody>
      </p:sp>
      <p:pic>
        <p:nvPicPr>
          <p:cNvPr id="10" name="logo_15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5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PE2 · Buying a coffee · the menu   ·   📖 SB p.28 · 3a (TG notes)</a:t>
            </a:r>
            <a:endParaRPr lang="en-US" sz="800" dirty="0"/>
          </a:p>
        </p:txBody>
      </p:sp>
      <p:sp>
        <p:nvSpPr>
          <p:cNvPr id="12" name="pf_153"/>
          <p:cNvSpPr/>
          <p:nvPr/>
        </p:nvSpPr>
        <p:spPr>
          <a:xfrm rot="-120000">
            <a:off x="933483" y="1371600"/>
            <a:ext cx="1562034" cy="1325880"/>
          </a:xfrm>
          <a:prstGeom prst="roundRect">
            <a:avLst>
              <a:gd name="adj" fmla="val 117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154" descr="/home/claude/lls-course/v2/cache/red_pe2_menu_jpg_354x297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979203" y="1417320"/>
            <a:ext cx="1470594" cy="1234440"/>
          </a:xfrm>
          <a:prstGeom prst="rect">
            <a:avLst/>
          </a:prstGeom>
        </p:spPr>
      </p:pic>
      <p:sp>
        <p:nvSpPr>
          <p:cNvPr id="14" name="cd_155"/>
          <p:cNvSpPr/>
          <p:nvPr/>
        </p:nvSpPr>
        <p:spPr>
          <a:xfrm>
            <a:off x="320040" y="2880360"/>
            <a:ext cx="2788920" cy="1874520"/>
          </a:xfrm>
          <a:prstGeom prst="roundRect">
            <a:avLst>
              <a:gd name="adj" fmla="val 6829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156"/>
          <p:cNvSpPr/>
          <p:nvPr/>
        </p:nvSpPr>
        <p:spPr>
          <a:xfrm>
            <a:off x="4114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6" name="ih_157"/>
          <p:cNvSpPr/>
          <p:nvPr/>
        </p:nvSpPr>
        <p:spPr>
          <a:xfrm>
            <a:off x="886968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7" name="il_158"/>
          <p:cNvSpPr/>
          <p:nvPr/>
        </p:nvSpPr>
        <p:spPr>
          <a:xfrm>
            <a:off x="886968" y="3374136"/>
            <a:ext cx="213055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much is a single espresso?</a:t>
            </a:r>
            <a:endParaRPr lang="en-US" sz="9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forty-five.</a:t>
            </a:r>
            <a:endParaRPr lang="en-US" sz="9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regular = normal size</a:t>
            </a:r>
            <a:endParaRPr lang="en-US" sz="9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large = big</a:t>
            </a:r>
            <a:endParaRPr lang="en-US" sz="9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£2.80 = two pounds eighty</a:t>
            </a:r>
            <a:endParaRPr lang="en-US" sz="900" dirty="0"/>
          </a:p>
        </p:txBody>
      </p:sp>
      <p:sp>
        <p:nvSpPr>
          <p:cNvPr id="18" name="R1_qb159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R1_sq160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much is a large latte?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Three sixty-five.</a:t>
            </a:r>
            <a:endParaRPr lang="en-US" sz="1250" dirty="0"/>
          </a:p>
        </p:txBody>
      </p:sp>
      <p:sp>
        <p:nvSpPr>
          <p:cNvPr id="20" name="R2_qb161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R2_sq162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much is a regular tea?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Two sixty-five.</a:t>
            </a:r>
            <a:endParaRPr lang="en-US" sz="1250" dirty="0"/>
          </a:p>
        </p:txBody>
      </p:sp>
      <p:sp>
        <p:nvSpPr>
          <p:cNvPr id="22" name="R3_qb163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R3_sq164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much is a brownie?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Three pounds.</a:t>
            </a:r>
            <a:endParaRPr lang="en-US" sz="1250" dirty="0"/>
          </a:p>
        </p:txBody>
      </p:sp>
      <p:sp>
        <p:nvSpPr>
          <p:cNvPr id="24" name="R4_qb165"/>
          <p:cNvSpPr/>
          <p:nvPr/>
        </p:nvSpPr>
        <p:spPr>
          <a:xfrm>
            <a:off x="327355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R4_sq166"/>
          <p:cNvSpPr/>
          <p:nvPr/>
        </p:nvSpPr>
        <p:spPr>
          <a:xfrm>
            <a:off x="3675888" y="3227832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Coffee names in the UK are Italian! Which ones?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espresso, latte, cappuccino… and Americano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6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2800" dirty="0"/>
          </a:p>
        </p:txBody>
      </p:sp>
      <p:pic>
        <p:nvPicPr>
          <p:cNvPr id="4" name="brY_16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562502" cy="621792"/>
          </a:xfrm>
          <a:prstGeom prst="rect">
            <a:avLst/>
          </a:prstGeom>
        </p:spPr>
      </p:pic>
      <p:sp>
        <p:nvSpPr>
          <p:cNvPr id="5" name="title_169"/>
          <p:cNvSpPr/>
          <p:nvPr/>
        </p:nvSpPr>
        <p:spPr>
          <a:xfrm>
            <a:off x="1261872" y="164592"/>
            <a:ext cx="3288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do they have?</a:t>
            </a:r>
            <a:endParaRPr lang="en-US" sz="2500" dirty="0"/>
          </a:p>
        </p:txBody>
      </p:sp>
      <p:pic>
        <p:nvPicPr>
          <p:cNvPr id="6" name="brP_17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171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to Rob and Jenny buying coffee. Answer the questions.</a:t>
            </a:r>
            <a:endParaRPr lang="en-US" sz="1100" dirty="0"/>
          </a:p>
        </p:txBody>
      </p:sp>
      <p:sp>
        <p:nvSpPr>
          <p:cNvPr id="8" name="insIT_17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 Rob e Jenny che comprano il caffè. Rispondi.</a:t>
            </a:r>
            <a:endParaRPr lang="en-US" sz="950" dirty="0"/>
          </a:p>
        </p:txBody>
      </p:sp>
      <p:sp>
        <p:nvSpPr>
          <p:cNvPr id="9" name="note_17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👤 alone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Listening · Controlled practice</a:t>
            </a:r>
            <a:endParaRPr lang="en-US" sz="1150" dirty="0"/>
          </a:p>
        </p:txBody>
      </p:sp>
      <p:pic>
        <p:nvPicPr>
          <p:cNvPr id="10" name="logo_17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7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PE2 · Listening · buying a coffee   ·   📖 SB p.29 · 3b · audio 3.28 (TG key)</a:t>
            </a:r>
            <a:endParaRPr lang="en-US" sz="800" dirty="0"/>
          </a:p>
        </p:txBody>
      </p:sp>
      <p:sp>
        <p:nvSpPr>
          <p:cNvPr id="12" name="pf_176"/>
          <p:cNvSpPr/>
          <p:nvPr/>
        </p:nvSpPr>
        <p:spPr>
          <a:xfrm rot="-90000">
            <a:off x="365760" y="1904669"/>
            <a:ext cx="2606040" cy="1585623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177" descr="/home/claude/lls-course/v2/cache/red_pe2_coffee_jpg_605x359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11480" y="1950389"/>
            <a:ext cx="2514600" cy="1494183"/>
          </a:xfrm>
          <a:prstGeom prst="rect">
            <a:avLst/>
          </a:prstGeom>
        </p:spPr>
      </p:pic>
      <p:sp>
        <p:nvSpPr>
          <p:cNvPr id="14" name="ap_178"/>
          <p:cNvSpPr/>
          <p:nvPr/>
        </p:nvSpPr>
        <p:spPr>
          <a:xfrm>
            <a:off x="365760" y="4297680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3.28</a:t>
            </a:r>
            <a:endParaRPr lang="en-US" sz="1100" dirty="0"/>
          </a:p>
        </p:txBody>
      </p:sp>
      <p:sp>
        <p:nvSpPr>
          <p:cNvPr id="15" name="ah_179"/>
          <p:cNvSpPr/>
          <p:nvPr/>
        </p:nvSpPr>
        <p:spPr>
          <a:xfrm>
            <a:off x="4636008" y="457200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</a:t>
            </a:r>
            <a:endParaRPr lang="en-US" sz="1000" dirty="0"/>
          </a:p>
        </p:txBody>
      </p:sp>
      <p:pic>
        <p:nvPicPr>
          <p:cNvPr id="16" name="Media 0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687568" y="4553712"/>
            <a:ext cx="411480" cy="411480"/>
          </a:xfrm>
          <a:prstGeom prst="rect">
            <a:avLst/>
          </a:prstGeom>
        </p:spPr>
      </p:pic>
      <p:sp>
        <p:nvSpPr>
          <p:cNvPr id="17" name="ah_180"/>
          <p:cNvSpPr/>
          <p:nvPr/>
        </p:nvSpPr>
        <p:spPr>
          <a:xfrm>
            <a:off x="7470648" y="45720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🐢 slower</a:t>
            </a:r>
            <a:endParaRPr lang="en-US" sz="1000" dirty="0"/>
          </a:p>
        </p:txBody>
      </p:sp>
      <p:pic>
        <p:nvPicPr>
          <p:cNvPr id="18" name="Media 1">
            <a:hlinkClick r:id="" action="ppaction://media"/>
          </p:cNvPr>
          <p:cNvPicPr>
            <a:picLocks noChangeAspect="1"/>
          </p:cNvPicPr>
          <p:nvPr>
            <a:audi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8476488" y="4553712"/>
            <a:ext cx="411480" cy="411480"/>
          </a:xfrm>
          <a:prstGeom prst="rect">
            <a:avLst/>
          </a:prstGeom>
        </p:spPr>
      </p:pic>
      <p:sp>
        <p:nvSpPr>
          <p:cNvPr id="19" name="bd_181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q_182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kinds of coffee do Jenny and Rob have?</a:t>
            </a:r>
            <a:endParaRPr lang="en-US" sz="1150" dirty="0"/>
          </a:p>
        </p:txBody>
      </p:sp>
      <p:sp>
        <p:nvSpPr>
          <p:cNvPr id="21" name="R1_chip183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Jenny: a double espresso. Rob: a large latte.</a:t>
            </a:r>
            <a:endParaRPr lang="en-US" sz="1050" dirty="0"/>
          </a:p>
        </p:txBody>
      </p:sp>
      <p:sp>
        <p:nvSpPr>
          <p:cNvPr id="22" name="bd_184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q_185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 they have to eat?</a:t>
            </a:r>
            <a:endParaRPr lang="en-US" sz="1150" dirty="0"/>
          </a:p>
        </p:txBody>
      </p:sp>
      <p:sp>
        <p:nvSpPr>
          <p:cNvPr id="24" name="R2_chip186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Jenny: nothing. Rob: a brownie and a croissant.</a:t>
            </a:r>
            <a:endParaRPr lang="en-US" sz="1050" dirty="0"/>
          </a:p>
        </p:txBody>
      </p:sp>
      <p:sp>
        <p:nvSpPr>
          <p:cNvPr id="25" name="bd_187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q_188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much is it?</a:t>
            </a:r>
            <a:endParaRPr lang="en-US" sz="1150" dirty="0"/>
          </a:p>
        </p:txBody>
      </p:sp>
      <p:sp>
        <p:nvSpPr>
          <p:cNvPr id="27" name="R3_chip189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£12.45 (twelve forty-five)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7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9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2800" dirty="0"/>
          </a:p>
        </p:txBody>
      </p:sp>
      <p:pic>
        <p:nvPicPr>
          <p:cNvPr id="4" name="brY_19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090672" cy="621792"/>
          </a:xfrm>
          <a:prstGeom prst="rect">
            <a:avLst/>
          </a:prstGeom>
        </p:spPr>
      </p:pic>
      <p:sp>
        <p:nvSpPr>
          <p:cNvPr id="5" name="title_192"/>
          <p:cNvSpPr/>
          <p:nvPr/>
        </p:nvSpPr>
        <p:spPr>
          <a:xfrm>
            <a:off x="1261872" y="16459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I help you?</a:t>
            </a:r>
            <a:endParaRPr lang="en-US" sz="2500" dirty="0"/>
          </a:p>
        </p:txBody>
      </p:sp>
      <p:pic>
        <p:nvPicPr>
          <p:cNvPr id="6" name="brP_19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553712" cy="402336"/>
          </a:xfrm>
          <a:prstGeom prst="rect">
            <a:avLst/>
          </a:prstGeom>
        </p:spPr>
      </p:pic>
      <p:sp>
        <p:nvSpPr>
          <p:cNvPr id="7" name="ins_194"/>
          <p:cNvSpPr/>
          <p:nvPr/>
        </p:nvSpPr>
        <p:spPr>
          <a:xfrm>
            <a:off x="1353312" y="7315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again. Complete the You hear phrases.</a:t>
            </a:r>
            <a:endParaRPr lang="en-US" sz="1250" dirty="0"/>
          </a:p>
        </p:txBody>
      </p:sp>
      <p:sp>
        <p:nvSpPr>
          <p:cNvPr id="8" name="insIT_195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 di nuovo. Completa le frasi del barista.</a:t>
            </a:r>
            <a:endParaRPr lang="en-US" sz="950" dirty="0"/>
          </a:p>
        </p:txBody>
      </p:sp>
      <p:sp>
        <p:nvSpPr>
          <p:cNvPr id="9" name="note_196"/>
          <p:cNvSpPr/>
          <p:nvPr/>
        </p:nvSpPr>
        <p:spPr>
          <a:xfrm rot="180000">
            <a:off x="6382512" y="128016"/>
            <a:ext cx="2029968" cy="74980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✏️ FILL THE GAPS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👤 alone</a:t>
            </a:r>
            <a:endParaRPr lang="en-US" sz="1150" dirty="0"/>
          </a:p>
        </p:txBody>
      </p:sp>
      <p:pic>
        <p:nvPicPr>
          <p:cNvPr id="10" name="logo_19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9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PE2 · Buying a coffee · You hear · You say   ·   📖 SB p.29 · 3c · audio 3.28 (TG key)</a:t>
            </a:r>
            <a:endParaRPr lang="en-US" sz="800" dirty="0"/>
          </a:p>
        </p:txBody>
      </p:sp>
      <p:sp>
        <p:nvSpPr>
          <p:cNvPr id="12" name="cd_199"/>
          <p:cNvSpPr/>
          <p:nvPr/>
        </p:nvSpPr>
        <p:spPr>
          <a:xfrm>
            <a:off x="320040" y="1417320"/>
            <a:ext cx="5760720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d_200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the coffee shop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Can I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would you like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Jenny?   JENNY  An espresso, please.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double?   JENNY  Double.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I have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latte, please?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large?   ROB  Large.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To have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take away?   ROB  To take away.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Anything else?   JENNY  No, thanks.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  A brownie for me, please… and a croissant.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OK.   ROB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much is that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That's £12.45, please.   ROB  Sorry, how much?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£12.45. Thank you. And your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 ROB  Thanks.</a:t>
            </a:r>
            <a:endParaRPr lang="en-US" sz="950" dirty="0"/>
          </a:p>
        </p:txBody>
      </p:sp>
      <p:sp>
        <p:nvSpPr>
          <p:cNvPr id="14" name="R2_rdA201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the coffee shop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Can I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help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would you like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Jenny?   JENNY  An espresso, please.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double?   JENNY  Double.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I have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latte, please?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large?   ROB  Large.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To have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take away?   ROB  To take away.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Anything else?   JENNY  No, thanks.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  A brownie for me, please… and a croissant.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OK.   ROB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much is that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That's £12.45, please.   ROB  Sorry, how much?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£12.45. Thank you. And your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 ROB  Thanks.</a:t>
            </a:r>
            <a:endParaRPr lang="en-US" sz="950" dirty="0"/>
          </a:p>
        </p:txBody>
      </p:sp>
      <p:sp>
        <p:nvSpPr>
          <p:cNvPr id="15" name="R3_rdA202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the coffee shop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Can I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help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would you like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Jenny?   JENNY  An espresso, please.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Single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double?   JENNY  Double.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I have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latte, please?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large?   ROB  Large.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To have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take away?   ROB  To take away.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Anything else?   JENNY  No, thanks.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  A brownie for me, please… and a croissant.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OK.   ROB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much is that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That's £12.45, please.   ROB  Sorry, how much?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£12.45. Thank you. And your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 ROB  Thanks.</a:t>
            </a:r>
            <a:endParaRPr lang="en-US" sz="950" dirty="0"/>
          </a:p>
        </p:txBody>
      </p:sp>
      <p:sp>
        <p:nvSpPr>
          <p:cNvPr id="16" name="R4_rdA203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the coffee shop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Can I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help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would you like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Jenny?   JENNY  An espresso, please.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Single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double?   JENNY  Double.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I have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latte, please?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Regular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large?   ROB  Large.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To have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take away?   ROB  To take away.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Anything else?   JENNY  No, thanks.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  A brownie for me, please… and a croissant.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OK.   ROB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much is that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That's £12.45, please.   ROB  Sorry, how much?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£12.45. Thank you. And your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 ROB  Thanks.</a:t>
            </a:r>
            <a:endParaRPr lang="en-US" sz="950" dirty="0"/>
          </a:p>
        </p:txBody>
      </p:sp>
      <p:sp>
        <p:nvSpPr>
          <p:cNvPr id="17" name="R5_rdA204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the coffee shop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Can I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help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would you like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Jenny?   JENNY  An espresso, please.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Single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double?   JENNY  Double.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I have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latte, please?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Regular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large?   ROB  Large.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To have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here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take away?   ROB  To take away.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Anything else?   JENNY  No, thanks.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  A brownie for me, please… and a croissant.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OK.   ROB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much is that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That's £12.45, please.   ROB  Sorry, how much?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£12.45. Thank you. And your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 ROB  Thanks.</a:t>
            </a:r>
            <a:endParaRPr lang="en-US" sz="950" dirty="0"/>
          </a:p>
        </p:txBody>
      </p:sp>
      <p:sp>
        <p:nvSpPr>
          <p:cNvPr id="18" name="R6_rdA205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the coffee shop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Can I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help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would you like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Jenny?   JENNY  An espresso, please.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Single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double?   JENNY  Double.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I have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latte, please?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Regular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large?   ROB  Large.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To have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here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take away?   ROB  To take away.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Anything else?   JENNY  No, thanks.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  A brownie for me, please… and a croissant.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OK.   ROB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much is that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That's £12.45, please.   ROB  Sorry, how much?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 £12.45. Thank you. And your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change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 ROB  Thanks.</a:t>
            </a:r>
            <a:endParaRPr lang="en-US" sz="950" dirty="0"/>
          </a:p>
        </p:txBody>
      </p:sp>
      <p:sp>
        <p:nvSpPr>
          <p:cNvPr id="19" name="cd_206"/>
          <p:cNvSpPr/>
          <p:nvPr/>
        </p:nvSpPr>
        <p:spPr>
          <a:xfrm>
            <a:off x="6263640" y="1417320"/>
            <a:ext cx="2606040" cy="2139696"/>
          </a:xfrm>
          <a:prstGeom prst="roundRect">
            <a:avLst>
              <a:gd name="adj" fmla="val 5983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0" name="ii_207"/>
          <p:cNvSpPr/>
          <p:nvPr/>
        </p:nvSpPr>
        <p:spPr>
          <a:xfrm>
            <a:off x="63550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☕</a:t>
            </a:r>
            <a:endParaRPr lang="en-US" sz="2200" dirty="0"/>
          </a:p>
        </p:txBody>
      </p:sp>
      <p:sp>
        <p:nvSpPr>
          <p:cNvPr id="21" name="ih_208"/>
          <p:cNvSpPr/>
          <p:nvPr/>
        </p:nvSpPr>
        <p:spPr>
          <a:xfrm>
            <a:off x="6830568" y="1508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</a:t>
            </a:r>
            <a:endParaRPr lang="en-US" sz="1300" dirty="0"/>
          </a:p>
        </p:txBody>
      </p:sp>
      <p:sp>
        <p:nvSpPr>
          <p:cNvPr id="22" name="il_209"/>
          <p:cNvSpPr/>
          <p:nvPr/>
        </p:nvSpPr>
        <p:spPr>
          <a:xfrm>
            <a:off x="6830568" y="1911096"/>
            <a:ext cx="194767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would you like? = offer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I have…? = ask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much is it / that?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barista = a person who works in a coffee shop</a:t>
            </a:r>
            <a:endParaRPr lang="en-US" sz="1150" dirty="0"/>
          </a:p>
        </p:txBody>
      </p:sp>
      <p:sp>
        <p:nvSpPr>
          <p:cNvPr id="23" name="R1_chip210"/>
          <p:cNvSpPr/>
          <p:nvPr/>
        </p:nvSpPr>
        <p:spPr>
          <a:xfrm>
            <a:off x="6263640" y="3666744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I have a cappuccino, please?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1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9</a:t>
            </a:r>
            <a:endParaRPr lang="en-US" sz="2800" dirty="0"/>
          </a:p>
        </p:txBody>
      </p:sp>
      <p:pic>
        <p:nvPicPr>
          <p:cNvPr id="4" name="brY_21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090672" cy="621792"/>
          </a:xfrm>
          <a:prstGeom prst="rect">
            <a:avLst/>
          </a:prstGeom>
        </p:spPr>
      </p:pic>
      <p:sp>
        <p:nvSpPr>
          <p:cNvPr id="5" name="title_213"/>
          <p:cNvSpPr/>
          <p:nvPr/>
        </p:nvSpPr>
        <p:spPr>
          <a:xfrm>
            <a:off x="1261872" y="16459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Copy the rhythm</a:t>
            </a:r>
            <a:endParaRPr lang="en-US" sz="2500" dirty="0"/>
          </a:p>
        </p:txBody>
      </p:sp>
      <p:pic>
        <p:nvPicPr>
          <p:cNvPr id="6" name="brP_21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15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and repeat the You say phrases. Copy the rhythm. Then practise in threes.</a:t>
            </a:r>
            <a:endParaRPr lang="en-US" sz="1100" dirty="0"/>
          </a:p>
        </p:txBody>
      </p:sp>
      <p:sp>
        <p:nvSpPr>
          <p:cNvPr id="8" name="insIT_216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 e ripeti le frasi del cliente. Poi esercitatevi in tre.</a:t>
            </a:r>
            <a:endParaRPr lang="en-US" sz="950" dirty="0"/>
          </a:p>
        </p:txBody>
      </p:sp>
      <p:sp>
        <p:nvSpPr>
          <p:cNvPr id="9" name="note_217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👨‍👩‍👧 groups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</a:t>
            </a:r>
            <a:endParaRPr lang="en-US" sz="1150" dirty="0"/>
          </a:p>
        </p:txBody>
      </p:sp>
      <p:pic>
        <p:nvPicPr>
          <p:cNvPr id="10" name="logo_218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19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PE2 · Buying a coffee · You say   ·   📖 SB p.29 · 3d, 3e · audio 3.29 (repeat pauses)</a:t>
            </a:r>
            <a:endParaRPr lang="en-US" sz="800" dirty="0"/>
          </a:p>
        </p:txBody>
      </p:sp>
      <p:sp>
        <p:nvSpPr>
          <p:cNvPr id="12" name="pf_220"/>
          <p:cNvSpPr/>
          <p:nvPr/>
        </p:nvSpPr>
        <p:spPr>
          <a:xfrm rot="-120000">
            <a:off x="320040" y="1371600"/>
            <a:ext cx="2788920" cy="1325880"/>
          </a:xfrm>
          <a:prstGeom prst="roundRect">
            <a:avLst>
              <a:gd name="adj" fmla="val 117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221" descr="/home/claude/lls-course/v2/cache/red_pe2_coffee_jpg_649x297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365760" y="1417320"/>
            <a:ext cx="2697480" cy="1234440"/>
          </a:xfrm>
          <a:prstGeom prst="rect">
            <a:avLst/>
          </a:prstGeom>
        </p:spPr>
      </p:pic>
      <p:sp>
        <p:nvSpPr>
          <p:cNvPr id="14" name="cd_222"/>
          <p:cNvSpPr/>
          <p:nvPr/>
        </p:nvSpPr>
        <p:spPr>
          <a:xfrm>
            <a:off x="320040" y="2880360"/>
            <a:ext cx="2788920" cy="1765808"/>
          </a:xfrm>
          <a:prstGeom prst="roundRect">
            <a:avLst>
              <a:gd name="adj" fmla="val 7250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223"/>
          <p:cNvSpPr/>
          <p:nvPr/>
        </p:nvSpPr>
        <p:spPr>
          <a:xfrm>
            <a:off x="4114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6" name="ih_224"/>
          <p:cNvSpPr/>
          <p:nvPr/>
        </p:nvSpPr>
        <p:spPr>
          <a:xfrm>
            <a:off x="886968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7" name="il_225"/>
          <p:cNvSpPr/>
          <p:nvPr/>
        </p:nvSpPr>
        <p:spPr>
          <a:xfrm>
            <a:off x="886968" y="3374136"/>
            <a:ext cx="2130552" cy="119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= the barista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 = Rob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 = Jenny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Then swap roles!</a:t>
            </a:r>
            <a:endParaRPr lang="en-US" sz="1150" dirty="0"/>
          </a:p>
        </p:txBody>
      </p:sp>
      <p:sp>
        <p:nvSpPr>
          <p:cNvPr id="18" name="R1_qb226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R1_sq227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would you like, Jenny?</a:t>
            </a:r>
            <a:endParaRPr lang="en-US" sz="1400" dirty="0"/>
          </a:p>
          <a:p>
            <a:pPr indent="0" marL="0">
              <a:buNone/>
            </a:pPr>
            <a:r>
              <a:rPr lang="en-US" sz="11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An espresso, please.</a:t>
            </a:r>
            <a:endParaRPr lang="en-US" sz="1400" dirty="0"/>
          </a:p>
        </p:txBody>
      </p:sp>
      <p:sp>
        <p:nvSpPr>
          <p:cNvPr id="20" name="R2_qb228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R2_sq229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I have a latte, please?</a:t>
            </a:r>
            <a:endParaRPr lang="en-US" sz="1400" dirty="0"/>
          </a:p>
          <a:p>
            <a:pPr indent="0" marL="0">
              <a:buNone/>
            </a:pPr>
            <a:r>
              <a:rPr lang="en-US" sz="11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Large. / To take away.</a:t>
            </a:r>
            <a:endParaRPr lang="en-US" sz="1400" dirty="0"/>
          </a:p>
        </p:txBody>
      </p:sp>
      <p:sp>
        <p:nvSpPr>
          <p:cNvPr id="22" name="R3_qb230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R3_sq231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much is that?</a:t>
            </a:r>
            <a:endParaRPr lang="en-US" sz="1400" dirty="0"/>
          </a:p>
          <a:p>
            <a:pPr indent="0" marL="0">
              <a:buNone/>
            </a:pPr>
            <a:r>
              <a:rPr lang="en-US" sz="11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Sorry, how much?</a:t>
            </a:r>
            <a:endParaRPr lang="en-US" sz="1400" dirty="0"/>
          </a:p>
        </p:txBody>
      </p:sp>
      <p:sp>
        <p:nvSpPr>
          <p:cNvPr id="24" name="R4_qb232"/>
          <p:cNvSpPr/>
          <p:nvPr/>
        </p:nvSpPr>
        <p:spPr>
          <a:xfrm>
            <a:off x="327355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R4_sq233"/>
          <p:cNvSpPr/>
          <p:nvPr/>
        </p:nvSpPr>
        <p:spPr>
          <a:xfrm>
            <a:off x="3675888" y="3227832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No, thanks. / Thanks.</a:t>
            </a:r>
            <a:endParaRPr lang="en-US" sz="1400" dirty="0"/>
          </a:p>
          <a:p>
            <a:pPr indent="0" marL="0">
              <a:buNone/>
            </a:pPr>
            <a:r>
              <a:rPr lang="en-US" sz="11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Copy the rhythm!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3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10</a:t>
            </a:r>
            <a:endParaRPr lang="en-US" sz="2200" dirty="0"/>
          </a:p>
        </p:txBody>
      </p:sp>
      <p:pic>
        <p:nvPicPr>
          <p:cNvPr id="4" name="brY_23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562502" cy="621792"/>
          </a:xfrm>
          <a:prstGeom prst="rect">
            <a:avLst/>
          </a:prstGeom>
        </p:spPr>
      </p:pic>
      <p:sp>
        <p:nvSpPr>
          <p:cNvPr id="5" name="title_236"/>
          <p:cNvSpPr/>
          <p:nvPr/>
        </p:nvSpPr>
        <p:spPr>
          <a:xfrm>
            <a:off x="1261872" y="164592"/>
            <a:ext cx="3288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At the coffee shop</a:t>
            </a:r>
            <a:endParaRPr lang="en-US" sz="2500" dirty="0"/>
          </a:p>
        </p:txBody>
      </p:sp>
      <p:pic>
        <p:nvPicPr>
          <p:cNvPr id="6" name="brP_23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38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Role-play! A is the barista (book open). B invites C for a drink. Use the menu!</a:t>
            </a:r>
            <a:endParaRPr lang="en-US" sz="1100" dirty="0"/>
          </a:p>
        </p:txBody>
      </p:sp>
      <p:sp>
        <p:nvSpPr>
          <p:cNvPr id="8" name="insIT_23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Role-play! A è il barista. B offre da bere a C. Usate il menu!</a:t>
            </a:r>
            <a:endParaRPr lang="en-US" sz="950" dirty="0"/>
          </a:p>
        </p:txBody>
      </p:sp>
      <p:sp>
        <p:nvSpPr>
          <p:cNvPr id="9" name="note_240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🎲 PLAY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8 min   👨‍👩‍👧 groups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 game</a:t>
            </a:r>
            <a:endParaRPr lang="en-US" sz="1150" dirty="0"/>
          </a:p>
        </p:txBody>
      </p:sp>
      <p:pic>
        <p:nvPicPr>
          <p:cNvPr id="10" name="logo_24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4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PE2 · Speaking · at the coffee shop   ·   📖 SB p.29 · 3f</a:t>
            </a:r>
            <a:endParaRPr lang="en-US" sz="800" dirty="0"/>
          </a:p>
        </p:txBody>
      </p:sp>
      <p:sp>
        <p:nvSpPr>
          <p:cNvPr id="12" name="cd_243"/>
          <p:cNvSpPr/>
          <p:nvPr/>
        </p:nvSpPr>
        <p:spPr>
          <a:xfrm>
            <a:off x="320040" y="1417320"/>
            <a:ext cx="2697480" cy="2514600"/>
          </a:xfrm>
          <a:prstGeom prst="roundRect">
            <a:avLst>
              <a:gd name="adj" fmla="val 5091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244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4" name="ih_245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5" name="il_246"/>
          <p:cNvSpPr/>
          <p:nvPr/>
        </p:nvSpPr>
        <p:spPr>
          <a:xfrm>
            <a:off x="886968" y="1911096"/>
            <a:ext cx="2039112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Groups of 3. A = barista, book open. B and C close their books.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begins: Can I help you? · B asks C: What would you like?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Order 2 drinks + something to eat. Pay! Then change roles.</a:t>
            </a:r>
            <a:endParaRPr lang="en-US" sz="1150" dirty="0"/>
          </a:p>
        </p:txBody>
      </p:sp>
      <p:sp>
        <p:nvSpPr>
          <p:cNvPr id="16" name="pf_247"/>
          <p:cNvSpPr/>
          <p:nvPr/>
        </p:nvSpPr>
        <p:spPr>
          <a:xfrm rot="-120000">
            <a:off x="973836" y="4069080"/>
            <a:ext cx="1344168" cy="1143000"/>
          </a:xfrm>
          <a:prstGeom prst="roundRect">
            <a:avLst>
              <a:gd name="adj" fmla="val 13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7" name="ph_248" descr="/home/claude/lls-course/v2/cache/red_pe2_menu_jpg_301x253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1019556" y="4114800"/>
            <a:ext cx="1252728" cy="1051560"/>
          </a:xfrm>
          <a:prstGeom prst="rect">
            <a:avLst/>
          </a:prstGeom>
        </p:spPr>
      </p:pic>
      <p:sp>
        <p:nvSpPr>
          <p:cNvPr id="18" name="bd_249"/>
          <p:cNvSpPr/>
          <p:nvPr/>
        </p:nvSpPr>
        <p:spPr>
          <a:xfrm>
            <a:off x="3246120" y="1572768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gq_250"/>
          <p:cNvSpPr/>
          <p:nvPr/>
        </p:nvSpPr>
        <p:spPr>
          <a:xfrm>
            <a:off x="3657600" y="1417320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I help you?</a:t>
            </a:r>
            <a:endParaRPr lang="en-US" sz="1250" dirty="0"/>
          </a:p>
        </p:txBody>
      </p:sp>
      <p:sp>
        <p:nvSpPr>
          <p:cNvPr id="20" name="R1_chip251"/>
          <p:cNvSpPr/>
          <p:nvPr/>
        </p:nvSpPr>
        <p:spPr>
          <a:xfrm>
            <a:off x="6263640" y="141732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What would you like, Marco?</a:t>
            </a:r>
            <a:endParaRPr lang="en-US" sz="1200" dirty="0"/>
          </a:p>
        </p:txBody>
      </p:sp>
      <p:sp>
        <p:nvSpPr>
          <p:cNvPr id="21" name="bd_252"/>
          <p:cNvSpPr/>
          <p:nvPr/>
        </p:nvSpPr>
        <p:spPr>
          <a:xfrm>
            <a:off x="3246120" y="2276856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gq_253"/>
          <p:cNvSpPr/>
          <p:nvPr/>
        </p:nvSpPr>
        <p:spPr>
          <a:xfrm>
            <a:off x="3657600" y="2121408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Single or double? · Regular or large?</a:t>
            </a:r>
            <a:endParaRPr lang="en-US" sz="1250" dirty="0"/>
          </a:p>
        </p:txBody>
      </p:sp>
      <p:sp>
        <p:nvSpPr>
          <p:cNvPr id="23" name="R2_chip254"/>
          <p:cNvSpPr/>
          <p:nvPr/>
        </p:nvSpPr>
        <p:spPr>
          <a:xfrm>
            <a:off x="6263640" y="2121408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A large cappuccino, please.</a:t>
            </a:r>
            <a:endParaRPr lang="en-US" sz="1200" dirty="0"/>
          </a:p>
        </p:txBody>
      </p:sp>
      <p:sp>
        <p:nvSpPr>
          <p:cNvPr id="24" name="bd_255"/>
          <p:cNvSpPr/>
          <p:nvPr/>
        </p:nvSpPr>
        <p:spPr>
          <a:xfrm>
            <a:off x="3246120" y="298094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gq_256"/>
          <p:cNvSpPr/>
          <p:nvPr/>
        </p:nvSpPr>
        <p:spPr>
          <a:xfrm>
            <a:off x="3657600" y="2825496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 have here or take away?</a:t>
            </a:r>
            <a:endParaRPr lang="en-US" sz="1250" dirty="0"/>
          </a:p>
        </p:txBody>
      </p:sp>
      <p:sp>
        <p:nvSpPr>
          <p:cNvPr id="26" name="R3_chip257"/>
          <p:cNvSpPr/>
          <p:nvPr/>
        </p:nvSpPr>
        <p:spPr>
          <a:xfrm>
            <a:off x="6263640" y="2825496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To have here.</a:t>
            </a:r>
            <a:endParaRPr lang="en-US" sz="1200" dirty="0"/>
          </a:p>
        </p:txBody>
      </p:sp>
      <p:sp>
        <p:nvSpPr>
          <p:cNvPr id="27" name="bd_258"/>
          <p:cNvSpPr/>
          <p:nvPr/>
        </p:nvSpPr>
        <p:spPr>
          <a:xfrm>
            <a:off x="3246120" y="3685032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gq_259"/>
          <p:cNvSpPr/>
          <p:nvPr/>
        </p:nvSpPr>
        <p:spPr>
          <a:xfrm>
            <a:off x="3657600" y="3529584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Anything else? · That's £…, please.</a:t>
            </a:r>
            <a:endParaRPr lang="en-US" sz="1250" dirty="0"/>
          </a:p>
        </p:txBody>
      </p:sp>
      <p:sp>
        <p:nvSpPr>
          <p:cNvPr id="29" name="R4_chip260"/>
          <p:cNvSpPr/>
          <p:nvPr/>
        </p:nvSpPr>
        <p:spPr>
          <a:xfrm>
            <a:off x="6263640" y="3529584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Sorry, how much?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6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11</a:t>
            </a:r>
            <a:endParaRPr lang="en-US" sz="2200" dirty="0"/>
          </a:p>
        </p:txBody>
      </p:sp>
      <p:pic>
        <p:nvPicPr>
          <p:cNvPr id="4" name="brY_26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348886" cy="621792"/>
          </a:xfrm>
          <a:prstGeom prst="rect">
            <a:avLst/>
          </a:prstGeom>
        </p:spPr>
      </p:pic>
      <p:sp>
        <p:nvSpPr>
          <p:cNvPr id="5" name="title_263"/>
          <p:cNvSpPr/>
          <p:nvPr/>
        </p:nvSpPr>
        <p:spPr>
          <a:xfrm>
            <a:off x="1261872" y="164592"/>
            <a:ext cx="40745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First day in the office</a:t>
            </a:r>
            <a:endParaRPr lang="en-US" sz="2500" dirty="0"/>
          </a:p>
        </p:txBody>
      </p:sp>
      <p:pic>
        <p:nvPicPr>
          <p:cNvPr id="6" name="brP_26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65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Listen. Jenny's first day in the office. Answer the questions.</a:t>
            </a:r>
            <a:endParaRPr lang="en-US" sz="1200" dirty="0"/>
          </a:p>
        </p:txBody>
      </p:sp>
      <p:sp>
        <p:nvSpPr>
          <p:cNvPr id="8" name="insIT_266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Ascolta. Il primo giorno di Jenny in ufficio. Rispondi.</a:t>
            </a:r>
            <a:endParaRPr lang="en-US" sz="950" dirty="0"/>
          </a:p>
        </p:txBody>
      </p:sp>
      <p:sp>
        <p:nvSpPr>
          <p:cNvPr id="9" name="note_267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👤 alone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Listening · for detail</a:t>
            </a:r>
            <a:endParaRPr lang="en-US" sz="1150" dirty="0"/>
          </a:p>
        </p:txBody>
      </p:sp>
      <p:pic>
        <p:nvPicPr>
          <p:cNvPr id="10" name="logo_268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69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PE2 · Listening · first day in the office   ·   📖 SB p.29 · 4a · audio 3.30 (TG key + script)</a:t>
            </a:r>
            <a:endParaRPr lang="en-US" sz="800" dirty="0"/>
          </a:p>
        </p:txBody>
      </p:sp>
      <p:sp>
        <p:nvSpPr>
          <p:cNvPr id="12" name="ap_270"/>
          <p:cNvSpPr/>
          <p:nvPr/>
        </p:nvSpPr>
        <p:spPr>
          <a:xfrm>
            <a:off x="365760" y="1417320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3.30  ·  play twice</a:t>
            </a:r>
            <a:endParaRPr lang="en-US" sz="1100" dirty="0"/>
          </a:p>
        </p:txBody>
      </p:sp>
      <p:sp>
        <p:nvSpPr>
          <p:cNvPr id="13" name="ah_271"/>
          <p:cNvSpPr/>
          <p:nvPr/>
        </p:nvSpPr>
        <p:spPr>
          <a:xfrm>
            <a:off x="4636008" y="457200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</a:t>
            </a:r>
            <a:endParaRPr lang="en-US" sz="1000" dirty="0"/>
          </a:p>
        </p:txBody>
      </p:sp>
      <p:pic>
        <p:nvPicPr>
          <p:cNvPr id="14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687568" y="4553712"/>
            <a:ext cx="411480" cy="411480"/>
          </a:xfrm>
          <a:prstGeom prst="rect">
            <a:avLst/>
          </a:prstGeom>
        </p:spPr>
      </p:pic>
      <p:sp>
        <p:nvSpPr>
          <p:cNvPr id="15" name="ah_272"/>
          <p:cNvSpPr/>
          <p:nvPr/>
        </p:nvSpPr>
        <p:spPr>
          <a:xfrm>
            <a:off x="7470648" y="45720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🐢 slower</a:t>
            </a:r>
            <a:endParaRPr lang="en-US" sz="1000" dirty="0"/>
          </a:p>
        </p:txBody>
      </p:sp>
      <p:pic>
        <p:nvPicPr>
          <p:cNvPr id="16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476488" y="4553712"/>
            <a:ext cx="411480" cy="411480"/>
          </a:xfrm>
          <a:prstGeom prst="rect">
            <a:avLst/>
          </a:prstGeom>
        </p:spPr>
      </p:pic>
      <p:sp>
        <p:nvSpPr>
          <p:cNvPr id="17" name="pf_273"/>
          <p:cNvSpPr/>
          <p:nvPr/>
        </p:nvSpPr>
        <p:spPr>
          <a:xfrm rot="-90000">
            <a:off x="411480" y="2057400"/>
            <a:ext cx="2697480" cy="1783080"/>
          </a:xfrm>
          <a:prstGeom prst="roundRect">
            <a:avLst>
              <a:gd name="adj" fmla="val 87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8" name="ph_274" descr="/home/claude/lls-course/v2/cache/red_pe2_office_jpg_627x407_3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-90000">
            <a:off x="457200" y="2103120"/>
            <a:ext cx="2606040" cy="1691640"/>
          </a:xfrm>
          <a:prstGeom prst="rect">
            <a:avLst/>
          </a:prstGeom>
        </p:spPr>
      </p:pic>
      <p:sp>
        <p:nvSpPr>
          <p:cNvPr id="19" name="cd_275"/>
          <p:cNvSpPr/>
          <p:nvPr/>
        </p:nvSpPr>
        <p:spPr>
          <a:xfrm>
            <a:off x="320040" y="4023360"/>
            <a:ext cx="2788920" cy="731520"/>
          </a:xfrm>
          <a:prstGeom prst="roundRect">
            <a:avLst>
              <a:gd name="adj" fmla="val 17500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0" name="ii_276"/>
          <p:cNvSpPr/>
          <p:nvPr/>
        </p:nvSpPr>
        <p:spPr>
          <a:xfrm>
            <a:off x="41148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1" name="ih_277"/>
          <p:cNvSpPr/>
          <p:nvPr/>
        </p:nvSpPr>
        <p:spPr>
          <a:xfrm>
            <a:off x="886968" y="4114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 are the people? Maybe… / I think…</a:t>
            </a:r>
            <a:endParaRPr lang="en-US" sz="1200" dirty="0"/>
          </a:p>
        </p:txBody>
      </p:sp>
      <p:sp>
        <p:nvSpPr>
          <p:cNvPr id="22" name="gq_278"/>
          <p:cNvSpPr/>
          <p:nvPr/>
        </p:nvSpPr>
        <p:spPr>
          <a:xfrm>
            <a:off x="3383280" y="1417320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What's Karen's job?</a:t>
            </a:r>
            <a:endParaRPr lang="en-US" sz="1200" dirty="0"/>
          </a:p>
        </p:txBody>
      </p:sp>
      <p:sp>
        <p:nvSpPr>
          <p:cNvPr id="23" name="R1_chip279"/>
          <p:cNvSpPr/>
          <p:nvPr/>
        </p:nvSpPr>
        <p:spPr>
          <a:xfrm>
            <a:off x="6812280" y="1417320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She's an administrator.</a:t>
            </a:r>
            <a:endParaRPr lang="en-US" sz="1200" dirty="0"/>
          </a:p>
        </p:txBody>
      </p:sp>
      <p:sp>
        <p:nvSpPr>
          <p:cNvPr id="24" name="gq_280"/>
          <p:cNvSpPr/>
          <p:nvPr/>
        </p:nvSpPr>
        <p:spPr>
          <a:xfrm>
            <a:off x="3383280" y="1938528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in Europe does Jenny have family?</a:t>
            </a:r>
            <a:endParaRPr lang="en-US" sz="1200" dirty="0"/>
          </a:p>
        </p:txBody>
      </p:sp>
      <p:sp>
        <p:nvSpPr>
          <p:cNvPr id="25" name="R2_chip281"/>
          <p:cNvSpPr/>
          <p:nvPr/>
        </p:nvSpPr>
        <p:spPr>
          <a:xfrm>
            <a:off x="6812280" y="1938528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 Poland.</a:t>
            </a:r>
            <a:endParaRPr lang="en-US" sz="1200" dirty="0"/>
          </a:p>
        </p:txBody>
      </p:sp>
      <p:sp>
        <p:nvSpPr>
          <p:cNvPr id="26" name="gq_282"/>
          <p:cNvSpPr/>
          <p:nvPr/>
        </p:nvSpPr>
        <p:spPr>
          <a:xfrm>
            <a:off x="3383280" y="2459736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does she live in New York?</a:t>
            </a:r>
            <a:endParaRPr lang="en-US" sz="1200" dirty="0"/>
          </a:p>
        </p:txBody>
      </p:sp>
      <p:sp>
        <p:nvSpPr>
          <p:cNvPr id="27" name="R3_chip283"/>
          <p:cNvSpPr/>
          <p:nvPr/>
        </p:nvSpPr>
        <p:spPr>
          <a:xfrm>
            <a:off x="6812280" y="2459736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 Manhattan.</a:t>
            </a:r>
            <a:endParaRPr lang="en-US" sz="1200" dirty="0"/>
          </a:p>
        </p:txBody>
      </p:sp>
      <p:sp>
        <p:nvSpPr>
          <p:cNvPr id="28" name="gq_284"/>
          <p:cNvSpPr/>
          <p:nvPr/>
        </p:nvSpPr>
        <p:spPr>
          <a:xfrm>
            <a:off x="3383280" y="2980944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Does Karen have family in New York?</a:t>
            </a:r>
            <a:endParaRPr lang="en-US" sz="1200" dirty="0"/>
          </a:p>
        </p:txBody>
      </p:sp>
      <p:sp>
        <p:nvSpPr>
          <p:cNvPr id="29" name="R4_chip285"/>
          <p:cNvSpPr/>
          <p:nvPr/>
        </p:nvSpPr>
        <p:spPr>
          <a:xfrm>
            <a:off x="6812280" y="2980944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Yes – a sister in Brooklyn.</a:t>
            </a:r>
            <a:endParaRPr lang="en-US" sz="1200" dirty="0"/>
          </a:p>
        </p:txBody>
      </p:sp>
      <p:sp>
        <p:nvSpPr>
          <p:cNvPr id="30" name="gq_286"/>
          <p:cNvSpPr/>
          <p:nvPr/>
        </p:nvSpPr>
        <p:spPr>
          <a:xfrm>
            <a:off x="3383280" y="3502152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does Daniel offer Jenny to drink?</a:t>
            </a:r>
            <a:endParaRPr lang="en-US" sz="1200" dirty="0"/>
          </a:p>
        </p:txBody>
      </p:sp>
      <p:sp>
        <p:nvSpPr>
          <p:cNvPr id="31" name="R5_chip287"/>
          <p:cNvSpPr/>
          <p:nvPr/>
        </p:nvSpPr>
        <p:spPr>
          <a:xfrm>
            <a:off x="6812280" y="3502152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Tea, coffee, or water.</a:t>
            </a:r>
            <a:endParaRPr lang="en-US" sz="1200" dirty="0"/>
          </a:p>
        </p:txBody>
      </p:sp>
      <p:sp>
        <p:nvSpPr>
          <p:cNvPr id="32" name="gq_288"/>
          <p:cNvSpPr/>
          <p:nvPr/>
        </p:nvSpPr>
        <p:spPr>
          <a:xfrm>
            <a:off x="3383280" y="4023360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time is his next meeting?</a:t>
            </a:r>
            <a:endParaRPr lang="en-US" sz="1200" dirty="0"/>
          </a:p>
        </p:txBody>
      </p:sp>
      <p:sp>
        <p:nvSpPr>
          <p:cNvPr id="33" name="R6_chip289"/>
          <p:cNvSpPr/>
          <p:nvPr/>
        </p:nvSpPr>
        <p:spPr>
          <a:xfrm>
            <a:off x="6812280" y="4023360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 twelve o'clock.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7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audio>
              <p:cMediaNode vol="80000">
                <p:cTn id="4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  <p:audio>
              <p:cMediaNode vol="80000">
                <p:cTn id="4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9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12</a:t>
            </a:r>
            <a:endParaRPr lang="en-US" sz="2200" dirty="0"/>
          </a:p>
        </p:txBody>
      </p:sp>
      <p:pic>
        <p:nvPicPr>
          <p:cNvPr id="4" name="brY_29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618842" cy="621792"/>
          </a:xfrm>
          <a:prstGeom prst="rect">
            <a:avLst/>
          </a:prstGeom>
        </p:spPr>
      </p:pic>
      <p:sp>
        <p:nvSpPr>
          <p:cNvPr id="5" name="title_292"/>
          <p:cNvSpPr/>
          <p:nvPr/>
        </p:nvSpPr>
        <p:spPr>
          <a:xfrm>
            <a:off x="1261872" y="164592"/>
            <a:ext cx="2344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 says it?</a:t>
            </a:r>
            <a:endParaRPr lang="en-US" sz="2500" dirty="0"/>
          </a:p>
        </p:txBody>
      </p:sp>
      <p:pic>
        <p:nvPicPr>
          <p:cNvPr id="6" name="brP_29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94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Social English: who says it – Rob, Karen or Daniel? Then listen and repeat.</a:t>
            </a:r>
            <a:endParaRPr lang="en-US" sz="1100" dirty="0"/>
          </a:p>
        </p:txBody>
      </p:sp>
      <p:sp>
        <p:nvSpPr>
          <p:cNvPr id="8" name="insIT_295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Social English: chi lo dice – Rob, Karen o Daniel? Poi ascolta e ripeti.</a:t>
            </a:r>
            <a:endParaRPr lang="en-US" sz="950" dirty="0"/>
          </a:p>
        </p:txBody>
      </p:sp>
      <p:sp>
        <p:nvSpPr>
          <p:cNvPr id="9" name="note_296"/>
          <p:cNvSpPr/>
          <p:nvPr/>
        </p:nvSpPr>
        <p:spPr>
          <a:xfrm rot="180000">
            <a:off x="6382512" y="128016"/>
            <a:ext cx="2029968" cy="74980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50" dirty="0"/>
          </a:p>
        </p:txBody>
      </p:sp>
      <p:pic>
        <p:nvPicPr>
          <p:cNvPr id="10" name="logo_29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9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PE2 · Social English   ·   📖 SB p.29 · 4b, 4c · audio 3.31 (TG key)</a:t>
            </a:r>
            <a:endParaRPr lang="en-US" sz="800" dirty="0"/>
          </a:p>
        </p:txBody>
      </p:sp>
      <p:sp>
        <p:nvSpPr>
          <p:cNvPr id="12" name="cd_299"/>
          <p:cNvSpPr/>
          <p:nvPr/>
        </p:nvSpPr>
        <p:spPr>
          <a:xfrm>
            <a:off x="320040" y="1417320"/>
            <a:ext cx="2697480" cy="768096"/>
          </a:xfrm>
          <a:prstGeom prst="roundRect">
            <a:avLst>
              <a:gd name="adj" fmla="val 16667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300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4" name="ih_301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5" name="ap_302"/>
          <p:cNvSpPr/>
          <p:nvPr/>
        </p:nvSpPr>
        <p:spPr>
          <a:xfrm>
            <a:off x="365760" y="4297680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3.31</a:t>
            </a:r>
            <a:endParaRPr lang="en-US" sz="1100" dirty="0"/>
          </a:p>
        </p:txBody>
      </p:sp>
      <p:sp>
        <p:nvSpPr>
          <p:cNvPr id="16" name="ah_303"/>
          <p:cNvSpPr/>
          <p:nvPr/>
        </p:nvSpPr>
        <p:spPr>
          <a:xfrm>
            <a:off x="4636008" y="457200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</a:t>
            </a:r>
            <a:endParaRPr lang="en-US" sz="1000" dirty="0"/>
          </a:p>
        </p:txBody>
      </p:sp>
      <p:pic>
        <p:nvPicPr>
          <p:cNvPr id="17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687568" y="4553712"/>
            <a:ext cx="411480" cy="411480"/>
          </a:xfrm>
          <a:prstGeom prst="rect">
            <a:avLst/>
          </a:prstGeom>
        </p:spPr>
      </p:pic>
      <p:sp>
        <p:nvSpPr>
          <p:cNvPr id="18" name="ah_304"/>
          <p:cNvSpPr/>
          <p:nvPr/>
        </p:nvSpPr>
        <p:spPr>
          <a:xfrm>
            <a:off x="7470648" y="45720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🐢 slower</a:t>
            </a:r>
            <a:endParaRPr lang="en-US" sz="1000" dirty="0"/>
          </a:p>
        </p:txBody>
      </p:sp>
      <p:pic>
        <p:nvPicPr>
          <p:cNvPr id="19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476488" y="4553712"/>
            <a:ext cx="411480" cy="411480"/>
          </a:xfrm>
          <a:prstGeom prst="rect">
            <a:avLst/>
          </a:prstGeom>
        </p:spPr>
      </p:pic>
      <p:sp>
        <p:nvSpPr>
          <p:cNvPr id="20" name="bd_305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q_306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Here we are.</a:t>
            </a:r>
            <a:endParaRPr lang="en-US" sz="1150" dirty="0"/>
          </a:p>
        </p:txBody>
      </p:sp>
      <p:sp>
        <p:nvSpPr>
          <p:cNvPr id="22" name="R1_chip307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 – Rob</a:t>
            </a:r>
            <a:endParaRPr lang="en-US" sz="1050" dirty="0"/>
          </a:p>
        </p:txBody>
      </p:sp>
      <p:sp>
        <p:nvSpPr>
          <p:cNvPr id="23" name="bd_308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q_309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 this your first time in the UK?</a:t>
            </a:r>
            <a:endParaRPr lang="en-US" sz="1150" dirty="0"/>
          </a:p>
        </p:txBody>
      </p:sp>
      <p:sp>
        <p:nvSpPr>
          <p:cNvPr id="25" name="R2_chip310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 – Karen</a:t>
            </a:r>
            <a:endParaRPr lang="en-US" sz="1050" dirty="0"/>
          </a:p>
        </p:txBody>
      </p:sp>
      <p:sp>
        <p:nvSpPr>
          <p:cNvPr id="26" name="bd_311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q_312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Would you like something to drink?</a:t>
            </a:r>
            <a:endParaRPr lang="en-US" sz="1150" dirty="0"/>
          </a:p>
        </p:txBody>
      </p:sp>
      <p:sp>
        <p:nvSpPr>
          <p:cNvPr id="28" name="R3_chip313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 – Daniel</a:t>
            </a:r>
            <a:endParaRPr lang="en-US" sz="1050" dirty="0"/>
          </a:p>
        </p:txBody>
      </p:sp>
      <p:sp>
        <p:nvSpPr>
          <p:cNvPr id="29" name="bd_314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q_315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Talk to you later.</a:t>
            </a:r>
            <a:endParaRPr lang="en-US" sz="1150" dirty="0"/>
          </a:p>
        </p:txBody>
      </p:sp>
      <p:sp>
        <p:nvSpPr>
          <p:cNvPr id="31" name="R4_chip316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 – Daniel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7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8000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1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13</a:t>
            </a:r>
            <a:endParaRPr lang="en-US" sz="2200" dirty="0"/>
          </a:p>
        </p:txBody>
      </p:sp>
      <p:pic>
        <p:nvPicPr>
          <p:cNvPr id="4" name="brY_31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1832458" cy="621792"/>
          </a:xfrm>
          <a:prstGeom prst="rect">
            <a:avLst/>
          </a:prstGeom>
        </p:spPr>
      </p:pic>
      <p:sp>
        <p:nvSpPr>
          <p:cNvPr id="5" name="title_319"/>
          <p:cNvSpPr/>
          <p:nvPr/>
        </p:nvSpPr>
        <p:spPr>
          <a:xfrm>
            <a:off x="1261872" y="164592"/>
            <a:ext cx="15581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Say it!</a:t>
            </a:r>
            <a:endParaRPr lang="en-US" sz="2500" dirty="0"/>
          </a:p>
        </p:txBody>
      </p:sp>
      <p:pic>
        <p:nvPicPr>
          <p:cNvPr id="6" name="brP_32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21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Complete the conversations with a Social English phrase. Then practise!</a:t>
            </a:r>
            <a:endParaRPr lang="en-US" sz="1100" dirty="0"/>
          </a:p>
        </p:txBody>
      </p:sp>
      <p:sp>
        <p:nvSpPr>
          <p:cNvPr id="8" name="insIT_32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Completa i dialoghi con una frase. Poi esercitatevi!</a:t>
            </a:r>
            <a:endParaRPr lang="en-US" sz="950" dirty="0"/>
          </a:p>
        </p:txBody>
      </p:sp>
      <p:sp>
        <p:nvSpPr>
          <p:cNvPr id="9" name="note_323"/>
          <p:cNvSpPr/>
          <p:nvPr/>
        </p:nvSpPr>
        <p:spPr>
          <a:xfrm rot="180000">
            <a:off x="6382512" y="128016"/>
            <a:ext cx="2029968" cy="74980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50" dirty="0"/>
          </a:p>
        </p:txBody>
      </p:sp>
      <p:pic>
        <p:nvPicPr>
          <p:cNvPr id="10" name="logo_32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2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PE2 · Social English · practice   ·   📖 SB p.29 · 4d (TG key A3 B4 C2 D1)</a:t>
            </a:r>
            <a:endParaRPr lang="en-US" sz="800" dirty="0"/>
          </a:p>
        </p:txBody>
      </p:sp>
      <p:sp>
        <p:nvSpPr>
          <p:cNvPr id="12" name="cd_326"/>
          <p:cNvSpPr/>
          <p:nvPr/>
        </p:nvSpPr>
        <p:spPr>
          <a:xfrm>
            <a:off x="320040" y="1417320"/>
            <a:ext cx="2697480" cy="1371600"/>
          </a:xfrm>
          <a:prstGeom prst="roundRect">
            <a:avLst>
              <a:gd name="adj" fmla="val 9333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327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4" name="ih_328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5" name="il_329"/>
          <p:cNvSpPr/>
          <p:nvPr/>
        </p:nvSpPr>
        <p:spPr>
          <a:xfrm>
            <a:off x="886968" y="1911096"/>
            <a:ext cx="20391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Here we are. · Is this your first time in the UK? · Would you like something to drink? · Talk to you later.</a:t>
            </a:r>
            <a:endParaRPr lang="en-US" sz="1050" dirty="0"/>
          </a:p>
        </p:txBody>
      </p:sp>
      <p:sp>
        <p:nvSpPr>
          <p:cNvPr id="16" name="bd_330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q_331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 Sit down. ___ – No, thanks, I'm fine.</a:t>
            </a:r>
            <a:endParaRPr lang="en-US" sz="900" dirty="0"/>
          </a:p>
        </p:txBody>
      </p:sp>
      <p:sp>
        <p:nvSpPr>
          <p:cNvPr id="18" name="R1_chip332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Would you like something to drink?</a:t>
            </a:r>
            <a:endParaRPr lang="en-US" sz="1050" dirty="0"/>
          </a:p>
        </p:txBody>
      </p:sp>
      <p:sp>
        <p:nvSpPr>
          <p:cNvPr id="19" name="bd_333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q_334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  ___ Bye. – Bye.</a:t>
            </a:r>
            <a:endParaRPr lang="en-US" sz="900" dirty="0"/>
          </a:p>
        </p:txBody>
      </p:sp>
      <p:sp>
        <p:nvSpPr>
          <p:cNvPr id="21" name="R2_chip335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Talk to you later.</a:t>
            </a:r>
            <a:endParaRPr lang="en-US" sz="1050" dirty="0"/>
          </a:p>
        </p:txBody>
      </p:sp>
      <p:sp>
        <p:nvSpPr>
          <p:cNvPr id="22" name="bd_336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q_337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  Nice to meet you. ___ – No, it isn't. I know London very well.</a:t>
            </a:r>
            <a:endParaRPr lang="en-US" sz="900" dirty="0"/>
          </a:p>
        </p:txBody>
      </p:sp>
      <p:sp>
        <p:nvSpPr>
          <p:cNvPr id="24" name="R3_chip338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 this your first time in the UK?</a:t>
            </a:r>
            <a:endParaRPr lang="en-US" sz="1050" dirty="0"/>
          </a:p>
        </p:txBody>
      </p:sp>
      <p:sp>
        <p:nvSpPr>
          <p:cNvPr id="25" name="bd_339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q_340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  OK. ___ This is your hotel. – Oh, it's very nice.</a:t>
            </a:r>
            <a:endParaRPr lang="en-US" sz="900" dirty="0"/>
          </a:p>
        </p:txBody>
      </p:sp>
      <p:sp>
        <p:nvSpPr>
          <p:cNvPr id="27" name="R4_chip341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Here we are.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4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14</a:t>
            </a:r>
            <a:endParaRPr lang="en-US" sz="2200" dirty="0"/>
          </a:p>
        </p:txBody>
      </p:sp>
      <p:pic>
        <p:nvPicPr>
          <p:cNvPr id="4" name="brY_34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344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· 2 · 1</a:t>
            </a:r>
            <a:endParaRPr lang="en-US" sz="2500" dirty="0"/>
          </a:p>
        </p:txBody>
      </p:sp>
      <p:pic>
        <p:nvPicPr>
          <p:cNvPr id="6" name="brP_34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511296" cy="402336"/>
          </a:xfrm>
          <a:prstGeom prst="rect">
            <a:avLst/>
          </a:prstGeom>
        </p:spPr>
      </p:pic>
      <p:sp>
        <p:nvSpPr>
          <p:cNvPr id="7" name="ins_346"/>
          <p:cNvSpPr/>
          <p:nvPr/>
        </p:nvSpPr>
        <p:spPr>
          <a:xfrm>
            <a:off x="1353312" y="731520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Books closed! Tell your partner…</a:t>
            </a:r>
            <a:endParaRPr lang="en-US" sz="1250" dirty="0"/>
          </a:p>
        </p:txBody>
      </p:sp>
      <p:sp>
        <p:nvSpPr>
          <p:cNvPr id="8" name="insIT_347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Libri chiusi! Di' al compagno…</a:t>
            </a:r>
            <a:endParaRPr lang="en-US" sz="950" dirty="0"/>
          </a:p>
        </p:txBody>
      </p:sp>
      <p:sp>
        <p:nvSpPr>
          <p:cNvPr id="9" name="note_348"/>
          <p:cNvSpPr/>
          <p:nvPr/>
        </p:nvSpPr>
        <p:spPr>
          <a:xfrm rot="180000">
            <a:off x="6382512" y="128016"/>
            <a:ext cx="2029968" cy="74980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Retrieval</a:t>
            </a:r>
            <a:endParaRPr lang="en-US" sz="1100" dirty="0"/>
          </a:p>
        </p:txBody>
      </p:sp>
      <p:pic>
        <p:nvPicPr>
          <p:cNvPr id="10" name="logo_34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5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PE2 · Exit · Can you…?</a:t>
            </a:r>
            <a:endParaRPr lang="en-US" sz="800" dirty="0"/>
          </a:p>
        </p:txBody>
      </p:sp>
      <p:sp>
        <p:nvSpPr>
          <p:cNvPr id="12" name="bd_351"/>
          <p:cNvSpPr/>
          <p:nvPr/>
        </p:nvSpPr>
        <p:spPr>
          <a:xfrm>
            <a:off x="457200" y="1508760"/>
            <a:ext cx="777240" cy="77724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rt_352"/>
          <p:cNvSpPr/>
          <p:nvPr/>
        </p:nvSpPr>
        <p:spPr>
          <a:xfrm>
            <a:off x="1417320" y="158191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3 times: 7.15, 8.30, 9.45.</a:t>
            </a:r>
            <a:endParaRPr lang="en-US" sz="1400" dirty="0"/>
          </a:p>
        </p:txBody>
      </p:sp>
      <p:sp>
        <p:nvSpPr>
          <p:cNvPr id="14" name="bd_353"/>
          <p:cNvSpPr/>
          <p:nvPr/>
        </p:nvSpPr>
        <p:spPr>
          <a:xfrm>
            <a:off x="457200" y="2468880"/>
            <a:ext cx="777240" cy="777240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rt_354"/>
          <p:cNvSpPr/>
          <p:nvPr/>
        </p:nvSpPr>
        <p:spPr>
          <a:xfrm>
            <a:off x="1417320" y="254203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2 Order 2 things in a café.</a:t>
            </a:r>
            <a:endParaRPr lang="en-US" sz="1400" dirty="0"/>
          </a:p>
        </p:txBody>
      </p:sp>
      <p:sp>
        <p:nvSpPr>
          <p:cNvPr id="16" name="bd_355"/>
          <p:cNvSpPr/>
          <p:nvPr/>
        </p:nvSpPr>
        <p:spPr>
          <a:xfrm>
            <a:off x="457200" y="3429000"/>
            <a:ext cx="777240" cy="777240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2600" dirty="0"/>
          </a:p>
        </p:txBody>
      </p:sp>
      <p:sp>
        <p:nvSpPr>
          <p:cNvPr id="17" name="rt_356"/>
          <p:cNvSpPr/>
          <p:nvPr/>
        </p:nvSpPr>
        <p:spPr>
          <a:xfrm>
            <a:off x="1417320" y="350215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1 Introduce your partner to someone: This is…</a:t>
            </a:r>
            <a:endParaRPr lang="en-US" sz="1400" dirty="0"/>
          </a:p>
        </p:txBody>
      </p:sp>
      <p:sp>
        <p:nvSpPr>
          <p:cNvPr id="18" name="cd_357"/>
          <p:cNvSpPr/>
          <p:nvPr/>
        </p:nvSpPr>
        <p:spPr>
          <a:xfrm>
            <a:off x="5669280" y="1417320"/>
            <a:ext cx="3200400" cy="1069848"/>
          </a:xfrm>
          <a:prstGeom prst="roundRect">
            <a:avLst>
              <a:gd name="adj" fmla="val 11966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9" name="ii_358"/>
          <p:cNvSpPr/>
          <p:nvPr/>
        </p:nvSpPr>
        <p:spPr>
          <a:xfrm>
            <a:off x="57607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0" name="ih_359"/>
          <p:cNvSpPr/>
          <p:nvPr/>
        </p:nvSpPr>
        <p:spPr>
          <a:xfrm>
            <a:off x="6236208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Homework · Compiti</a:t>
            </a:r>
            <a:endParaRPr lang="en-US" sz="1400" dirty="0"/>
          </a:p>
        </p:txBody>
      </p:sp>
      <p:sp>
        <p:nvSpPr>
          <p:cNvPr id="21" name="il_360"/>
          <p:cNvSpPr/>
          <p:nvPr/>
        </p:nvSpPr>
        <p:spPr>
          <a:xfrm>
            <a:off x="6236208" y="1911096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Workbook Practical English 2 + Can you remember? 1–3</a:t>
            </a:r>
            <a:endParaRPr lang="en-US" sz="1150" dirty="0"/>
          </a:p>
        </p:txBody>
      </p:sp>
      <p:sp>
        <p:nvSpPr>
          <p:cNvPr id="22" name="st_361"/>
          <p:cNvSpPr/>
          <p:nvPr/>
        </p:nvSpPr>
        <p:spPr>
          <a:xfrm rot="-180000">
            <a:off x="5806440" y="2715768"/>
            <a:ext cx="2926080" cy="68580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Next lesson: 4A Who's who? – possessive 's, family (SB p.30)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6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15</a:t>
            </a:r>
            <a:endParaRPr lang="en-US" sz="2200" dirty="0"/>
          </a:p>
        </p:txBody>
      </p:sp>
      <p:pic>
        <p:nvPicPr>
          <p:cNvPr id="4" name="brY_36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364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you…</a:t>
            </a:r>
            <a:endParaRPr lang="en-US" sz="2400" dirty="0"/>
          </a:p>
        </p:txBody>
      </p:sp>
      <p:pic>
        <p:nvPicPr>
          <p:cNvPr id="6" name="brP_36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553712" cy="402336"/>
          </a:xfrm>
          <a:prstGeom prst="rect">
            <a:avLst/>
          </a:prstGeom>
        </p:spPr>
      </p:pic>
      <p:sp>
        <p:nvSpPr>
          <p:cNvPr id="7" name="ins_366"/>
          <p:cNvSpPr/>
          <p:nvPr/>
        </p:nvSpPr>
        <p:spPr>
          <a:xfrm>
            <a:off x="1353312" y="7315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do it now? Thumbs up or thumbs down!</a:t>
            </a:r>
            <a:endParaRPr lang="en-US" sz="1250" dirty="0"/>
          </a:p>
        </p:txBody>
      </p:sp>
      <p:sp>
        <p:nvSpPr>
          <p:cNvPr id="8" name="insIT_367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Ora sai farlo? Pollice su o pollice giù!</a:t>
            </a:r>
            <a:endParaRPr lang="en-US" sz="950" dirty="0"/>
          </a:p>
        </p:txBody>
      </p:sp>
      <p:sp>
        <p:nvSpPr>
          <p:cNvPr id="9" name="note_368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PENSA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1 min   🙋 whole class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Reflection</a:t>
            </a:r>
            <a:endParaRPr lang="en-US" sz="1250" dirty="0"/>
          </a:p>
        </p:txBody>
      </p:sp>
      <p:pic>
        <p:nvPicPr>
          <p:cNvPr id="10" name="logo_36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7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PE2 · Review · what did you do today?</a:t>
            </a:r>
            <a:endParaRPr lang="en-US" sz="800" dirty="0"/>
          </a:p>
        </p:txBody>
      </p:sp>
      <p:sp>
        <p:nvSpPr>
          <p:cNvPr id="12" name="cd_371"/>
          <p:cNvSpPr/>
          <p:nvPr/>
        </p:nvSpPr>
        <p:spPr>
          <a:xfrm>
            <a:off x="548640" y="1417320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te_372"/>
          <p:cNvSpPr/>
          <p:nvPr/>
        </p:nvSpPr>
        <p:spPr>
          <a:xfrm>
            <a:off x="64008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🕘</a:t>
            </a:r>
            <a:endParaRPr lang="en-US" sz="1800" dirty="0"/>
          </a:p>
        </p:txBody>
      </p:sp>
      <p:sp>
        <p:nvSpPr>
          <p:cNvPr id="14" name="tt_373"/>
          <p:cNvSpPr/>
          <p:nvPr/>
        </p:nvSpPr>
        <p:spPr>
          <a:xfrm>
            <a:off x="1188720" y="14173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Told the time: quarter past six, twenty to nine</a:t>
            </a:r>
            <a:endParaRPr lang="en-US" sz="1350" dirty="0"/>
          </a:p>
        </p:txBody>
      </p:sp>
      <p:sp>
        <p:nvSpPr>
          <p:cNvPr id="15" name="R1_tk374"/>
          <p:cNvSpPr/>
          <p:nvPr/>
        </p:nvSpPr>
        <p:spPr>
          <a:xfrm>
            <a:off x="5989320" y="1453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6" name="cd_375"/>
          <p:cNvSpPr/>
          <p:nvPr/>
        </p:nvSpPr>
        <p:spPr>
          <a:xfrm>
            <a:off x="548640" y="2020824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te_376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☕</a:t>
            </a:r>
            <a:endParaRPr lang="en-US" sz="1800" dirty="0"/>
          </a:p>
        </p:txBody>
      </p:sp>
      <p:sp>
        <p:nvSpPr>
          <p:cNvPr id="18" name="tt_377"/>
          <p:cNvSpPr/>
          <p:nvPr/>
        </p:nvSpPr>
        <p:spPr>
          <a:xfrm>
            <a:off x="1188720" y="202082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Practised order food and drink in a café</a:t>
            </a:r>
            <a:endParaRPr lang="en-US" sz="1350" dirty="0"/>
          </a:p>
        </p:txBody>
      </p:sp>
      <p:sp>
        <p:nvSpPr>
          <p:cNvPr id="19" name="R2_tk378"/>
          <p:cNvSpPr/>
          <p:nvPr/>
        </p:nvSpPr>
        <p:spPr>
          <a:xfrm>
            <a:off x="5989320" y="2057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0" name="cd_379"/>
          <p:cNvSpPr/>
          <p:nvPr/>
        </p:nvSpPr>
        <p:spPr>
          <a:xfrm>
            <a:off x="548640" y="2624328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te_380"/>
          <p:cNvSpPr/>
          <p:nvPr/>
        </p:nvSpPr>
        <p:spPr>
          <a:xfrm>
            <a:off x="64008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22" name="tt_381"/>
          <p:cNvSpPr/>
          <p:nvPr/>
        </p:nvSpPr>
        <p:spPr>
          <a:xfrm>
            <a:off x="1188720" y="262432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Met and introduce people</a:t>
            </a:r>
            <a:endParaRPr lang="en-US" sz="1350" dirty="0"/>
          </a:p>
        </p:txBody>
      </p:sp>
      <p:sp>
        <p:nvSpPr>
          <p:cNvPr id="23" name="R3_tk382"/>
          <p:cNvSpPr/>
          <p:nvPr/>
        </p:nvSpPr>
        <p:spPr>
          <a:xfrm>
            <a:off x="5989320" y="26609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4" name="cd_383"/>
          <p:cNvSpPr/>
          <p:nvPr/>
        </p:nvSpPr>
        <p:spPr>
          <a:xfrm>
            <a:off x="548640" y="3227832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5" name="te_384"/>
          <p:cNvSpPr/>
          <p:nvPr/>
        </p:nvSpPr>
        <p:spPr>
          <a:xfrm>
            <a:off x="64008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🎧</a:t>
            </a:r>
            <a:endParaRPr lang="en-US" sz="1800" dirty="0"/>
          </a:p>
        </p:txBody>
      </p:sp>
      <p:sp>
        <p:nvSpPr>
          <p:cNvPr id="26" name="tt_385"/>
          <p:cNvSpPr/>
          <p:nvPr/>
        </p:nvSpPr>
        <p:spPr>
          <a:xfrm>
            <a:off x="1188720" y="322783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Listened to Rob and Jenny: episode 2</a:t>
            </a:r>
            <a:endParaRPr lang="en-US" sz="1350" dirty="0"/>
          </a:p>
        </p:txBody>
      </p:sp>
      <p:sp>
        <p:nvSpPr>
          <p:cNvPr id="27" name="R4_tk386"/>
          <p:cNvSpPr/>
          <p:nvPr/>
        </p:nvSpPr>
        <p:spPr>
          <a:xfrm>
            <a:off x="5989320" y="32644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8" name="st_387"/>
          <p:cNvSpPr/>
          <p:nvPr/>
        </p:nvSpPr>
        <p:spPr>
          <a:xfrm rot="180000">
            <a:off x="6949440" y="1691640"/>
            <a:ext cx="1828800" cy="1188720"/>
          </a:xfrm>
          <a:prstGeom prst="rect">
            <a:avLst/>
          </a:prstGeom>
          <a:solidFill>
            <a:srgbClr val="FFE07A"/>
          </a:solidFill>
          <a:ln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👍  👌  👎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you do it now?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Ora sai farlo?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PE2 Coffee to take away</dc:title>
  <dc:subject>PptxGenJS Presentation</dc:subject>
  <dc:creator>PptxGenJS</dc:creator>
  <cp:lastModifiedBy>PptxGenJS</cp:lastModifiedBy>
  <cp:revision>1</cp:revision>
  <dcterms:created xsi:type="dcterms:W3CDTF">2026-10-23T08:29:12Z</dcterms:created>
  <dcterms:modified xsi:type="dcterms:W3CDTF">2026-10-23T08:29:12Z</dcterms:modified>
</cp:coreProperties>
</file>