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TG lead-in: board sentences true for you: I'M A TEACHER. I WORK IN… I WORK … HOURS A DAY. I LIKE MY JOB VERY MUCH. job = noun, work = verb; a teacher (a before jobs!).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Words: ⭐ ⭐⭐ ⭐⭐⭐. Grammar: students tell their partner 2 things about a friend (+ and −) first, then click.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Grammar · He works at night, but she works during the day… (6 min)
INTERVIEW (6 min). 1a: what's Carl's job? (click 1: police officer). 1b: 1 is the example (What do you do? = What's your job?). Glossary: overtime = extra hours. Play 3.8 to check; one click per gap. Key (TG): 2 Do you work long hours? 3 What does your husband do? 4 Does he have free weekends? 5 Do you have time together?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Grammar · noticing (3 min)
NOTICING (3 min). 1d from memory. 1f (TG): About Jess: Do you…? About Carl: Does he…? 1e: quick personal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Grammar Bank 3B · the rule (3 min)
RULE (3 min). Play 3.9 for listen and repeat. TG: auxiliary = 'helper'; do / does help to make questions and negatives – they don't translate. Short answers make yes/no polite.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Grammar Bank 3B p.129 · b (5 min)
GRAMMAR BANK b (5 min). Prompts from the TG answers. Alone, then click once per question; pairs ask and answer them (short answers!).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Vocabulary · jobs (2 min)
JOBS (2 min). Key (TG). Underline the stress: poLICE officer, ACtor, adMINistrator.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Vocabulary Bank p.154 · jobs (4 min)
VB JOBS (4 min). 12 of the 30 jobs (the full list is audio 3.10 – play it to drill all 30). VB c (3.11): What do you do? I'm a… / I work for… / in… / at… · I'm unemployed / retired / a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Speaking · mingle (4 min)
MINGLE (4 min). Board the 2 questions (TG). Full-sentence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Pronunciation · /ɜː/ and /ə/ (3 min)
/ɜː/ /ə/ (3 min). Box: ur, ir, er = /ɜː/ when stressed (university) · or after w = /ɜː/ (work) · er, or = /ə/ when unstressed (teacher). TG: work, word, world are often mispronounced.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Pronunciation · sentences (2 min)
SENTENCES (2 min). Play 3.13, pause, repeat; pairs practise.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Listening · His job, her job (Alex) (5 min)
ALEX (5 min). 4a: underline the 9 questions they ask Alex; 4b: ✓ ✗ D. TG key. The team: David (teacher), Kate (unemployed), Lorna (writer); one minute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Listening · His job, her job (Sue) (4 min)
SUE (4 min). TG key. 4d next slide: sentences about them + 30 seconds to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Listening · guess the jobs (4 min)
GUESS (4 min). 4d: sentences (sometimes BEFORE the verb). 30 seconds to guess each job; board ideas. 4e: play 3.16, pause after 'Are you a footballer, Alex?' and before Sue's answer. Show of hands: who guessed right?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Speaking · His job, her job (7 min)
GAME (7 min). Round 1: Do you…? Round 2 (TG): a person they know – Does he / she…? Demonstrate by letting them ask YOU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Exit · what can you remember? (2 min)
EXIT (2 min). Pairs, books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audio" Target="../media/media-5-5.mp3"/><Relationship Id="rId6" Type="http://schemas.microsoft.com/office/2007/relationships/media" Target="../media/media-5-5.mp3"/><Relationship Id="rId7" Type="http://schemas.openxmlformats.org/officeDocument/2006/relationships/image" Target="../media/image-5-7.png"/><Relationship Id="rId8" Type="http://schemas.openxmlformats.org/officeDocument/2006/relationships/audio" Target="../media/media-5-8.mp3"/><Relationship Id="rId9" Type="http://schemas.microsoft.com/office/2007/relationships/media" Target="../media/media-5-8.mp3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audio" Target="../media/media-8-5.mp3"/><Relationship Id="rId6" Type="http://schemas.microsoft.com/office/2007/relationships/media" Target="../media/media-8-5.mp3"/><Relationship Id="rId7" Type="http://schemas.openxmlformats.org/officeDocument/2006/relationships/image" Target="../media/image-8-7.png"/><Relationship Id="rId8" Type="http://schemas.openxmlformats.org/officeDocument/2006/relationships/audio" Target="../media/media-8-8.mp3"/><Relationship Id="rId9" Type="http://schemas.microsoft.com/office/2007/relationships/media" Target="../media/media-8-8.mp3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audio" Target="../media/media-10-5.mp3"/><Relationship Id="rId6" Type="http://schemas.microsoft.com/office/2007/relationships/media" Target="../media/media-10-5.mp3"/><Relationship Id="rId7" Type="http://schemas.openxmlformats.org/officeDocument/2006/relationships/image" Target="../media/image-10-7.png"/><Relationship Id="rId8" Type="http://schemas.openxmlformats.org/officeDocument/2006/relationships/audio" Target="../media/media-10-8.mp3"/><Relationship Id="rId9" Type="http://schemas.microsoft.com/office/2007/relationships/media" Target="../media/media-10-8.mp3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audio" Target="../media/media-11-5.mp3"/><Relationship Id="rId6" Type="http://schemas.microsoft.com/office/2007/relationships/media" Target="../media/media-11-5.mp3"/><Relationship Id="rId7" Type="http://schemas.openxmlformats.org/officeDocument/2006/relationships/image" Target="../media/image-11-7.png"/><Relationship Id="rId8" Type="http://schemas.openxmlformats.org/officeDocument/2006/relationships/audio" Target="../media/media-11-8.mp3"/><Relationship Id="rId9" Type="http://schemas.microsoft.com/office/2007/relationships/media" Target="../media/media-11-8.mp3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audio" Target="../media/media-12-5.mp3"/><Relationship Id="rId6" Type="http://schemas.microsoft.com/office/2007/relationships/media" Target="../media/media-12-5.mp3"/><Relationship Id="rId7" Type="http://schemas.openxmlformats.org/officeDocument/2006/relationships/image" Target="../media/image-12-7.png"/><Relationship Id="rId8" Type="http://schemas.openxmlformats.org/officeDocument/2006/relationships/audio" Target="../media/media-12-8.mp3"/><Relationship Id="rId9" Type="http://schemas.microsoft.com/office/2007/relationships/media" Target="../media/media-12-8.mp3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audio" Target="../media/media-13-5.mp3"/><Relationship Id="rId6" Type="http://schemas.microsoft.com/office/2007/relationships/media" Target="../media/media-13-5.mp3"/><Relationship Id="rId7" Type="http://schemas.openxmlformats.org/officeDocument/2006/relationships/image" Target="../media/image-13-7.png"/><Relationship Id="rId8" Type="http://schemas.openxmlformats.org/officeDocument/2006/relationships/audio" Target="../media/media-13-8.mp3"/><Relationship Id="rId9" Type="http://schemas.microsoft.com/office/2007/relationships/media" Target="../media/media-13-8.mp3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audio" Target="../media/media-14-5.mp3"/><Relationship Id="rId6" Type="http://schemas.microsoft.com/office/2007/relationships/media" Target="../media/media-14-5.mp3"/><Relationship Id="rId7" Type="http://schemas.openxmlformats.org/officeDocument/2006/relationships/image" Target="../media/image-14-7.png"/><Relationship Id="rId8" Type="http://schemas.openxmlformats.org/officeDocument/2006/relationships/audio" Target="../media/media-14-8.mp3"/><Relationship Id="rId9" Type="http://schemas.microsoft.com/office/2007/relationships/media" Target="../media/media-14-8.mp3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Elementary · SB pp.24–25 · VB p.154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3B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 to 5</a:t>
            </a:r>
            <a:endParaRPr lang="en-US" sz="30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simple questions · jobs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 ask questions: Do you…? Does he…?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👮  learn 30 jobs: a nurse, an engineer…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🐦  say /ɜː/ and /ə/: nurse, doctor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 listen to a game show: His job, her job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🎲  play the game: guess the job!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No, I don't. I work in an office from nine to five.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1205812"/>
            <a:ext cx="3977640" cy="2343257"/>
          </a:xfrm>
          <a:prstGeom prst="roundRect">
            <a:avLst>
              <a:gd name="adj" fmla="val 6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red_3b_jobs_jpg_935x542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1251532"/>
            <a:ext cx="3886200" cy="2251817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work at night? What do you do?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1031194" y="1371600"/>
            <a:ext cx="1320892" cy="1645920"/>
          </a:xfrm>
          <a:prstGeom prst="roundRect">
            <a:avLst>
              <a:gd name="adj" fmla="val 117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red_3a_carola_jpg_296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076914" y="1417320"/>
            <a:ext cx="1229452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508760"/>
          </a:xfrm>
          <a:prstGeom prst="roundRect">
            <a:avLst>
              <a:gd name="adj" fmla="val 84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3A: Britain: the good and the bad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simple + and − · verb phrases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wear glasses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791456" y="1783080"/>
            <a:ext cx="1714500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 the guitar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6597396" y="1783080"/>
            <a:ext cx="1801368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 an umbrella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3246120" y="2185416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housework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4791456" y="2185416"/>
            <a:ext cx="1714500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music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6597396" y="2185416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sorry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3246120" y="2587752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in a flat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4965192" y="2587752"/>
            <a:ext cx="188823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 in an office</a:t>
            </a:r>
            <a:endParaRPr lang="en-US" sz="1200" dirty="0"/>
          </a:p>
        </p:txBody>
      </p:sp>
      <p:sp>
        <p:nvSpPr>
          <p:cNvPr id="27" name="lv_41"/>
          <p:cNvSpPr/>
          <p:nvPr/>
        </p:nvSpPr>
        <p:spPr>
          <a:xfrm>
            <a:off x="324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42"/>
          <p:cNvSpPr/>
          <p:nvPr/>
        </p:nvSpPr>
        <p:spPr>
          <a:xfrm>
            <a:off x="5151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705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30" name="cd_44"/>
          <p:cNvSpPr/>
          <p:nvPr/>
        </p:nvSpPr>
        <p:spPr>
          <a:xfrm>
            <a:off x="3246120" y="3575304"/>
            <a:ext cx="5623560" cy="1179576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rh_45"/>
          <p:cNvSpPr/>
          <p:nvPr/>
        </p:nvSpPr>
        <p:spPr>
          <a:xfrm>
            <a:off x="3337560" y="3648456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present simple + and −</a:t>
            </a:r>
            <a:endParaRPr lang="en-US" sz="1100" dirty="0"/>
          </a:p>
        </p:txBody>
      </p:sp>
      <p:sp>
        <p:nvSpPr>
          <p:cNvPr id="32" name="rf_46"/>
          <p:cNvSpPr/>
          <p:nvPr/>
        </p:nvSpPr>
        <p:spPr>
          <a:xfrm>
            <a:off x="3383280" y="399592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 he / she / it + s · a doesn't + verb</a:t>
            </a:r>
            <a:endParaRPr lang="en-US" sz="1050" dirty="0"/>
          </a:p>
        </p:txBody>
      </p:sp>
      <p:sp>
        <p:nvSpPr>
          <p:cNvPr id="33" name="R1_rl47"/>
          <p:cNvSpPr/>
          <p:nvPr/>
        </p:nvSpPr>
        <p:spPr>
          <a:xfrm>
            <a:off x="3383280" y="4325112"/>
            <a:ext cx="53492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lives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a flat.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doesn't work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on Saturdays.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50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works at night…</a:t>
            </a:r>
            <a:endParaRPr lang="en-US" sz="2500" dirty="0"/>
          </a:p>
        </p:txBody>
      </p:sp>
      <p:pic>
        <p:nvPicPr>
          <p:cNvPr id="6" name="brP_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5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interview. What's Carl's job? Complete 1–5 with the questions.</a:t>
            </a:r>
            <a:endParaRPr lang="en-US" sz="1100" dirty="0"/>
          </a:p>
        </p:txBody>
      </p:sp>
      <p:sp>
        <p:nvSpPr>
          <p:cNvPr id="8" name="insIT_5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l'intervista. Che lavoro fa Carl? Completa 1–5 con le domande.</a:t>
            </a:r>
            <a:endParaRPr lang="en-US" sz="950" dirty="0"/>
          </a:p>
        </p:txBody>
      </p:sp>
      <p:sp>
        <p:nvSpPr>
          <p:cNvPr id="9" name="note_5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Reading → grammar</a:t>
            </a:r>
            <a:endParaRPr lang="en-US" sz="1150" dirty="0"/>
          </a:p>
        </p:txBody>
      </p:sp>
      <p:pic>
        <p:nvPicPr>
          <p:cNvPr id="10" name="logo_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Grammar · He works at night, but she works during the day…   ·   📖 SB p.24 · 1a, 1b, 1c · audio 3.8 (the interview is on the slide · TG key)</a:t>
            </a:r>
            <a:endParaRPr lang="en-US" sz="700" dirty="0"/>
          </a:p>
        </p:txBody>
      </p:sp>
      <p:sp>
        <p:nvSpPr>
          <p:cNvPr id="12" name="cd_57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5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works at night, but she works during the day…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What do you do, Jess?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work in an office. I'm an administrator.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I don't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 work normal hours, from 9.00 to 5.00, Monday to Friday.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He's a police officer. He works at night, from 8.00 p.m. to 6.00 in the morning.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he doesn't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Well, he has two free days, but they're Wednesday and Thursday. He works Saturday and Sunday – they're busy nights for police officers.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really, except when we're on vacation. I'm in bed when he comes home; he's in bed when I leave home in the morning. We don't eat together. That's awful. Sometimes I don't cook, I just have cookies for dinner.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think of any good things about your different hours? Yes, we earn more money because Carl does a lot of overtime.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any suggestions for couples like you? Have a whiteboard in your hall or your kitchen and write down all the housework. Then tick things when you do them. That way, the dogs don't eat twice!</a:t>
            </a:r>
            <a:endParaRPr lang="en-US" sz="950" dirty="0"/>
          </a:p>
        </p:txBody>
      </p:sp>
      <p:sp>
        <p:nvSpPr>
          <p:cNvPr id="14" name="R2_rdA5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works at night, but she works during the day…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What do you do, Jess?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work in an office. I'm an administrator.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Do you work long hours?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I don't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 work normal hours, from 9.00 to 5.00, Monday to Friday.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He's a police officer. He works at night, from 8.00 p.m. to 6.00 in the morning.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he doesn't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Well, he has two free days, but they're Wednesday and Thursday. He works Saturday and Sunday – they're busy nights for police officers.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really, except when we're on vacation. I'm in bed when he comes home; he's in bed when I leave home in the morning. We don't eat together. That's awful. Sometimes I don't cook, I just have cookies for dinner.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think of any good things about your different hours? Yes, we earn more money because Carl does a lot of overtime.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any suggestions for couples like you? Have a whiteboard in your hall or your kitchen and write down all the housework. Then tick things when you do them. That way, the dogs don't eat twice!</a:t>
            </a:r>
            <a:endParaRPr lang="en-US" sz="950" dirty="0"/>
          </a:p>
        </p:txBody>
      </p:sp>
      <p:sp>
        <p:nvSpPr>
          <p:cNvPr id="15" name="R3_rdA6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works at night, but she works during the day…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What do you do, Jess?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work in an office. I'm an administrator.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Do you work long hours?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I don't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 work normal hours, from 9.00 to 5.00, Monday to Friday.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What does your husband do?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He's a police officer. He works at night, from 8.00 p.m. to 6.00 in the morning.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he doesn't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Well, he has two free days, but they're Wednesday and Thursday. He works Saturday and Sunday – they're busy nights for police officers.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really, except when we're on vacation. I'm in bed when he comes home; he's in bed when I leave home in the morning. We don't eat together. That's awful. Sometimes I don't cook, I just have cookies for dinner.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think of any good things about your different hours? Yes, we earn more money because Carl does a lot of overtime.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any suggestions for couples like you? Have a whiteboard in your hall or your kitchen and write down all the housework. Then tick things when you do them. That way, the dogs don't eat twice!</a:t>
            </a:r>
            <a:endParaRPr lang="en-US" sz="950" dirty="0"/>
          </a:p>
        </p:txBody>
      </p:sp>
      <p:sp>
        <p:nvSpPr>
          <p:cNvPr id="16" name="R4_rdA6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works at night, but she works during the day…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What do you do, Jess?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work in an office. I'm an administrator.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Do you work long hours?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I don't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 work normal hours, from 9.00 to 5.00, Monday to Friday.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What does your husband do?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He's a police officer. He works at night, from 8.00 p.m. to 6.00 in the morning.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Does he have free weekends?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he doesn't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Well, he has two free days, but they're Wednesday and Thursday. He works Saturday and Sunday – they're busy nights for police officers.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really, except when we're on vacation. I'm in bed when he comes home; he's in bed when I leave home in the morning. We don't eat together. That's awful. Sometimes I don't cook, I just have cookies for dinner.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think of any good things about your different hours? Yes, we earn more money because Carl does a lot of overtime.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any suggestions for couples like you? Have a whiteboard in your hall or your kitchen and write down all the housework. Then tick things when you do them. That way, the dogs don't eat twice!</a:t>
            </a:r>
            <a:endParaRPr lang="en-US" sz="950" dirty="0"/>
          </a:p>
        </p:txBody>
      </p:sp>
      <p:sp>
        <p:nvSpPr>
          <p:cNvPr id="17" name="R5_rdA6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works at night, but she works during the day…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What do you do, Jess?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work in an office. I'm an administrator.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Do you work long hours?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I don't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 work normal hours, from 9.00 to 5.00, Monday to Friday.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What does your husband do?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He's a police officer. He works at night, from 8.00 p.m. to 6.00 in the morning.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Does he have free weekends?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No, he doesn't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Well, he has two free days, but they're Wednesday and Thursday. He works Saturday and Sunday – they're busy nights for police officers.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Do you have time together?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really, except when we're on vacation. I'm in bed when he comes home; he's in bed when I leave home in the morning. We don't eat together. That's awful. Sometimes I don't cook, I just have cookies for dinner.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think of any good things about your different hours? Yes, we earn more money because Carl does a lot of overtime.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any suggestions for couples like you? Have a whiteboard in your hall or your kitchen and write down all the housework. Then tick things when you do them. That way, the dogs don't eat twice!</a:t>
            </a:r>
            <a:endParaRPr lang="en-US" sz="950" dirty="0"/>
          </a:p>
        </p:txBody>
      </p:sp>
      <p:sp>
        <p:nvSpPr>
          <p:cNvPr id="18" name="cd_63"/>
          <p:cNvSpPr/>
          <p:nvPr/>
        </p:nvSpPr>
        <p:spPr>
          <a:xfrm>
            <a:off x="6263640" y="1417320"/>
            <a:ext cx="2606040" cy="2377440"/>
          </a:xfrm>
          <a:prstGeom prst="roundRect">
            <a:avLst>
              <a:gd name="adj" fmla="val 53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64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ih_65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questions</a:t>
            </a:r>
            <a:endParaRPr lang="en-US" sz="1300" dirty="0"/>
          </a:p>
        </p:txBody>
      </p:sp>
      <p:sp>
        <p:nvSpPr>
          <p:cNvPr id="21" name="il_66"/>
          <p:cNvSpPr/>
          <p:nvPr/>
        </p:nvSpPr>
        <p:spPr>
          <a:xfrm>
            <a:off x="6830568" y="1911096"/>
            <a:ext cx="194767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have time together?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he have free weekends?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do, Jess? ✓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your husband do?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long hours?</a:t>
            </a:r>
            <a:endParaRPr lang="en-US" sz="1050" dirty="0"/>
          </a:p>
        </p:txBody>
      </p:sp>
      <p:sp>
        <p:nvSpPr>
          <p:cNvPr id="22" name="R1_chip67"/>
          <p:cNvSpPr/>
          <p:nvPr/>
        </p:nvSpPr>
        <p:spPr>
          <a:xfrm>
            <a:off x="6263640" y="3904488"/>
            <a:ext cx="2606040" cy="850392"/>
          </a:xfrm>
          <a:prstGeom prst="roundRect">
            <a:avLst>
              <a:gd name="adj" fmla="val 1075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Carl is a police officer.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6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70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you…? Does he…?</a:t>
            </a:r>
            <a:endParaRPr lang="en-US" sz="2100" dirty="0"/>
          </a:p>
        </p:txBody>
      </p:sp>
      <p:pic>
        <p:nvPicPr>
          <p:cNvPr id="6" name="brP_7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7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 the interview. How does Jess answer? Then: about Jess, Carl, or both?</a:t>
            </a:r>
            <a:endParaRPr lang="en-US" sz="1100" dirty="0"/>
          </a:p>
        </p:txBody>
      </p:sp>
      <p:sp>
        <p:nvSpPr>
          <p:cNvPr id="8" name="insIT_7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Copri l'intervista. Come risponde Jess? Poi: su Jess, Carl o entrambi?</a:t>
            </a:r>
            <a:endParaRPr lang="en-US" sz="950" dirty="0"/>
          </a:p>
        </p:txBody>
      </p:sp>
      <p:sp>
        <p:nvSpPr>
          <p:cNvPr id="9" name="note_7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</a:t>
            </a:r>
            <a:endParaRPr lang="en-US" sz="1150" dirty="0"/>
          </a:p>
        </p:txBody>
      </p:sp>
      <p:pic>
        <p:nvPicPr>
          <p:cNvPr id="10" name="logo_7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7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Grammar · noticing   ·   📖 SB p.25 · 1d, 1e, 1f (TG key)</a:t>
            </a:r>
            <a:endParaRPr lang="en-US" sz="800" dirty="0"/>
          </a:p>
        </p:txBody>
      </p:sp>
      <p:sp>
        <p:nvSpPr>
          <p:cNvPr id="12" name="pf_77"/>
          <p:cNvSpPr/>
          <p:nvPr/>
        </p:nvSpPr>
        <p:spPr>
          <a:xfrm rot="-120000">
            <a:off x="1027011" y="1371600"/>
            <a:ext cx="1374977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78" descr="/home/claude/lls-course/v2/cache/red_3b_jess_carl_jpg_30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072731" y="1417320"/>
            <a:ext cx="1283537" cy="1234440"/>
          </a:xfrm>
          <a:prstGeom prst="rect">
            <a:avLst/>
          </a:prstGeom>
        </p:spPr>
      </p:pic>
      <p:sp>
        <p:nvSpPr>
          <p:cNvPr id="14" name="cd_79"/>
          <p:cNvSpPr/>
          <p:nvPr/>
        </p:nvSpPr>
        <p:spPr>
          <a:xfrm>
            <a:off x="320040" y="2880360"/>
            <a:ext cx="2788920" cy="1689608"/>
          </a:xfrm>
          <a:prstGeom prst="roundRect">
            <a:avLst>
              <a:gd name="adj" fmla="val 757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80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81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82"/>
          <p:cNvSpPr/>
          <p:nvPr/>
        </p:nvSpPr>
        <p:spPr>
          <a:xfrm>
            <a:off x="886968" y="3374136"/>
            <a:ext cx="2130552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No, I don't. / Yes, I do.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No, he doesn't. / Yes, he does.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About Jess: Do you…?</a:t>
            </a:r>
            <a:endParaRPr lang="en-US" sz="1150" dirty="0"/>
          </a:p>
        </p:txBody>
      </p:sp>
      <p:sp>
        <p:nvSpPr>
          <p:cNvPr id="18" name="R1_qb83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84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do, Jess? · Do you work long hours?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About Jess → Do you…?</a:t>
            </a:r>
            <a:endParaRPr lang="en-US" sz="1200" dirty="0"/>
          </a:p>
        </p:txBody>
      </p:sp>
      <p:sp>
        <p:nvSpPr>
          <p:cNvPr id="20" name="R2_qb85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86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your husband do? · Does he have free weekends?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About Carl → Does he…?</a:t>
            </a:r>
            <a:endParaRPr lang="en-US" sz="1150" dirty="0"/>
          </a:p>
        </p:txBody>
      </p:sp>
      <p:sp>
        <p:nvSpPr>
          <p:cNvPr id="22" name="R3_qb87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88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have time together?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About Jess and Carl → Do you (two)…?</a:t>
            </a:r>
            <a:endParaRPr lang="en-US" sz="1200" dirty="0"/>
          </a:p>
        </p:txBody>
      </p:sp>
      <p:sp>
        <p:nvSpPr>
          <p:cNvPr id="24" name="R4_qb89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90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or study at night? What problems do you have?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study at night – I'm always tired!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9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9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93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or does?</a:t>
            </a:r>
            <a:endParaRPr lang="en-US" sz="2500" dirty="0"/>
          </a:p>
        </p:txBody>
      </p:sp>
      <p:pic>
        <p:nvPicPr>
          <p:cNvPr id="6" name="brP_9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337560" cy="402336"/>
          </a:xfrm>
          <a:prstGeom prst="rect">
            <a:avLst/>
          </a:prstGeom>
        </p:spPr>
      </p:pic>
      <p:sp>
        <p:nvSpPr>
          <p:cNvPr id="7" name="ins_95"/>
          <p:cNvSpPr/>
          <p:nvPr/>
        </p:nvSpPr>
        <p:spPr>
          <a:xfrm>
            <a:off x="1353312" y="73152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examples. Then click!</a:t>
            </a:r>
            <a:endParaRPr lang="en-US" sz="1250" dirty="0"/>
          </a:p>
        </p:txBody>
      </p:sp>
      <p:sp>
        <p:nvSpPr>
          <p:cNvPr id="8" name="insIT_9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gli esempi. Poi clicca!</a:t>
            </a:r>
            <a:endParaRPr lang="en-US" sz="950" dirty="0"/>
          </a:p>
        </p:txBody>
      </p:sp>
      <p:sp>
        <p:nvSpPr>
          <p:cNvPr id="9" name="note_9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GUARDA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250" dirty="0"/>
          </a:p>
        </p:txBody>
      </p:sp>
      <p:pic>
        <p:nvPicPr>
          <p:cNvPr id="10" name="logo_9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9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Grammar Bank 3B · the rule   ·   📖 Grammar Bank 3B p.128 · audio 3.9 (TG notes)</a:t>
            </a:r>
            <a:endParaRPr lang="en-US" sz="800" dirty="0"/>
          </a:p>
        </p:txBody>
      </p:sp>
      <p:sp>
        <p:nvSpPr>
          <p:cNvPr id="12" name="ah_100"/>
          <p:cNvSpPr/>
          <p:nvPr/>
        </p:nvSpPr>
        <p:spPr>
          <a:xfrm>
            <a:off x="3675888" y="45720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3.9   ▶ normal</a:t>
            </a:r>
            <a:endParaRPr lang="en-US" sz="10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4" name="ah_101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5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6" name="cd_102"/>
          <p:cNvSpPr/>
          <p:nvPr/>
        </p:nvSpPr>
        <p:spPr>
          <a:xfrm>
            <a:off x="3200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rh_103"/>
          <p:cNvSpPr/>
          <p:nvPr/>
        </p:nvSpPr>
        <p:spPr>
          <a:xfrm>
            <a:off x="4297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· you · we · they</a:t>
            </a:r>
            <a:endParaRPr lang="en-US" sz="1250" dirty="0"/>
          </a:p>
        </p:txBody>
      </p:sp>
      <p:sp>
        <p:nvSpPr>
          <p:cNvPr id="18" name="R1_rx104"/>
          <p:cNvSpPr/>
          <p:nvPr/>
        </p:nvSpPr>
        <p:spPr>
          <a:xfrm>
            <a:off x="4572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long hours?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Yes, I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/ No, I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R1_ri105"/>
          <p:cNvSpPr/>
          <p:nvPr/>
        </p:nvSpPr>
        <p:spPr>
          <a:xfrm>
            <a:off x="4114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+ soggetto + verbo</a:t>
            </a:r>
            <a:endParaRPr lang="en-US" sz="1100" dirty="0"/>
          </a:p>
        </p:txBody>
      </p:sp>
      <p:sp>
        <p:nvSpPr>
          <p:cNvPr id="20" name="cd_106"/>
          <p:cNvSpPr/>
          <p:nvPr/>
        </p:nvSpPr>
        <p:spPr>
          <a:xfrm>
            <a:off x="46634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107"/>
          <p:cNvSpPr/>
          <p:nvPr/>
        </p:nvSpPr>
        <p:spPr>
          <a:xfrm>
            <a:off x="47731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· she · it</a:t>
            </a:r>
            <a:endParaRPr lang="en-US" sz="1250" dirty="0"/>
          </a:p>
        </p:txBody>
      </p:sp>
      <p:sp>
        <p:nvSpPr>
          <p:cNvPr id="22" name="R2_rx108"/>
          <p:cNvSpPr/>
          <p:nvPr/>
        </p:nvSpPr>
        <p:spPr>
          <a:xfrm>
            <a:off x="48006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he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free weekends?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Yes, he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 / No, he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doesn't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your husband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R2_ri109"/>
          <p:cNvSpPr/>
          <p:nvPr/>
        </p:nvSpPr>
        <p:spPr>
          <a:xfrm>
            <a:off x="47548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+ soggetto + verbo (senza s!)</a:t>
            </a:r>
            <a:endParaRPr lang="en-US" sz="1100" dirty="0"/>
          </a:p>
        </p:txBody>
      </p:sp>
      <p:sp>
        <p:nvSpPr>
          <p:cNvPr id="24" name="R3_wc110"/>
          <p:cNvSpPr/>
          <p:nvPr/>
        </p:nvSpPr>
        <p:spPr>
          <a:xfrm>
            <a:off x="320040" y="4544568"/>
            <a:ext cx="3172968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R3_w111"/>
          <p:cNvSpPr/>
          <p:nvPr/>
        </p:nvSpPr>
        <p:spPr>
          <a:xfrm>
            <a:off x="457200" y="454456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Does he works? → ✓ Does he work?   ·   ✗ Do you work? Yes. → ✓ Yes, I do. (more polite)   ·   do / does = 'helper' – no meaning</a:t>
            </a:r>
            <a:endParaRPr lang="en-US" sz="7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1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1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14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Bank practice</a:t>
            </a:r>
            <a:endParaRPr lang="en-US" sz="2400" dirty="0"/>
          </a:p>
        </p:txBody>
      </p:sp>
      <p:pic>
        <p:nvPicPr>
          <p:cNvPr id="6" name="brP_11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16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3B: Do or Does? Then make the questions.</a:t>
            </a:r>
            <a:endParaRPr lang="en-US" sz="1250" dirty="0"/>
          </a:p>
        </p:txBody>
      </p:sp>
      <p:sp>
        <p:nvSpPr>
          <p:cNvPr id="8" name="insIT_11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3B: Do o Does? Poi fai le domande.</a:t>
            </a:r>
            <a:endParaRPr lang="en-US" sz="950" dirty="0"/>
          </a:p>
        </p:txBody>
      </p:sp>
      <p:sp>
        <p:nvSpPr>
          <p:cNvPr id="9" name="note_11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11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2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Grammar Bank 3B p.129 · b   ·   📖 Grammar Bank 3B p.129 · b (TG key)</a:t>
            </a:r>
            <a:endParaRPr lang="en-US" sz="800" dirty="0"/>
          </a:p>
        </p:txBody>
      </p:sp>
      <p:sp>
        <p:nvSpPr>
          <p:cNvPr id="12" name="cd_121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122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question</a:t>
            </a:r>
            <a:endParaRPr lang="en-US" sz="1700" dirty="0"/>
          </a:p>
        </p:txBody>
      </p:sp>
      <p:sp>
        <p:nvSpPr>
          <p:cNvPr id="14" name="ln_123"/>
          <p:cNvSpPr/>
          <p:nvPr/>
        </p:nvSpPr>
        <p:spPr>
          <a:xfrm>
            <a:off x="548640" y="1920240"/>
            <a:ext cx="5349240" cy="23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he / like tennis? →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endParaRPr lang="en-US" sz="1200" dirty="0"/>
          </a:p>
        </p:txBody>
      </p:sp>
      <p:sp>
        <p:nvSpPr>
          <p:cNvPr id="15" name="R1_lnA124"/>
          <p:cNvSpPr/>
          <p:nvPr/>
        </p:nvSpPr>
        <p:spPr>
          <a:xfrm>
            <a:off x="548640" y="1920240"/>
            <a:ext cx="5349240" cy="23643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he / like tennis? →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Does he like tennis?</a:t>
            </a:r>
            <a:endParaRPr lang="en-US" sz="1200" dirty="0"/>
          </a:p>
        </p:txBody>
      </p:sp>
      <p:sp>
        <p:nvSpPr>
          <p:cNvPr id="16" name="ln_125"/>
          <p:cNvSpPr/>
          <p:nvPr/>
        </p:nvSpPr>
        <p:spPr>
          <a:xfrm>
            <a:off x="548640" y="2156671"/>
            <a:ext cx="5349240" cy="25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she / speak German? →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endParaRPr lang="en-US" sz="1200" dirty="0"/>
          </a:p>
        </p:txBody>
      </p:sp>
      <p:sp>
        <p:nvSpPr>
          <p:cNvPr id="17" name="R2_lnA126"/>
          <p:cNvSpPr/>
          <p:nvPr/>
        </p:nvSpPr>
        <p:spPr>
          <a:xfrm>
            <a:off x="548640" y="2156671"/>
            <a:ext cx="5349240" cy="25573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she / speak German? →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Does she speak German?</a:t>
            </a:r>
            <a:endParaRPr lang="en-US" sz="1200" dirty="0"/>
          </a:p>
        </p:txBody>
      </p:sp>
      <p:sp>
        <p:nvSpPr>
          <p:cNvPr id="18" name="ln_127"/>
          <p:cNvSpPr/>
          <p:nvPr/>
        </p:nvSpPr>
        <p:spPr>
          <a:xfrm>
            <a:off x="548640" y="2412402"/>
            <a:ext cx="5349240" cy="22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you / eat pizzas? →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endParaRPr lang="en-US" sz="1200" dirty="0"/>
          </a:p>
        </p:txBody>
      </p:sp>
      <p:sp>
        <p:nvSpPr>
          <p:cNvPr id="19" name="R3_lnA128"/>
          <p:cNvSpPr/>
          <p:nvPr/>
        </p:nvSpPr>
        <p:spPr>
          <a:xfrm>
            <a:off x="548640" y="2412402"/>
            <a:ext cx="5349240" cy="2267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you / eat pizzas? →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 you eat pizzas?</a:t>
            </a:r>
            <a:endParaRPr lang="en-US" sz="1200" dirty="0"/>
          </a:p>
        </p:txBody>
      </p:sp>
      <p:sp>
        <p:nvSpPr>
          <p:cNvPr id="20" name="ln_129"/>
          <p:cNvSpPr/>
          <p:nvPr/>
        </p:nvSpPr>
        <p:spPr>
          <a:xfrm>
            <a:off x="548640" y="2639183"/>
            <a:ext cx="5349240" cy="25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they / cook lasagne? →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endParaRPr lang="en-US" sz="1200" dirty="0"/>
          </a:p>
        </p:txBody>
      </p:sp>
      <p:sp>
        <p:nvSpPr>
          <p:cNvPr id="21" name="R4_lnA130"/>
          <p:cNvSpPr/>
          <p:nvPr/>
        </p:nvSpPr>
        <p:spPr>
          <a:xfrm>
            <a:off x="548640" y="2639183"/>
            <a:ext cx="5349240" cy="25573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they / cook lasagne? →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 they cook lasagne?</a:t>
            </a:r>
            <a:endParaRPr lang="en-US" sz="1200" dirty="0"/>
          </a:p>
        </p:txBody>
      </p:sp>
      <p:sp>
        <p:nvSpPr>
          <p:cNvPr id="22" name="ln_131"/>
          <p:cNvSpPr/>
          <p:nvPr/>
        </p:nvSpPr>
        <p:spPr>
          <a:xfrm>
            <a:off x="548640" y="2894914"/>
            <a:ext cx="5349240" cy="2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she / live in a house? →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endParaRPr lang="en-US" sz="1200" dirty="0"/>
          </a:p>
        </p:txBody>
      </p:sp>
      <p:sp>
        <p:nvSpPr>
          <p:cNvPr id="23" name="R5_lnA132"/>
          <p:cNvSpPr/>
          <p:nvPr/>
        </p:nvSpPr>
        <p:spPr>
          <a:xfrm>
            <a:off x="548640" y="2894914"/>
            <a:ext cx="5349240" cy="2846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she / live in a house? →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Does she live in a house?</a:t>
            </a:r>
            <a:endParaRPr lang="en-US" sz="1200" dirty="0"/>
          </a:p>
        </p:txBody>
      </p:sp>
      <p:sp>
        <p:nvSpPr>
          <p:cNvPr id="24" name="ln_133"/>
          <p:cNvSpPr/>
          <p:nvPr/>
        </p:nvSpPr>
        <p:spPr>
          <a:xfrm>
            <a:off x="548640" y="3179597"/>
            <a:ext cx="5349240" cy="265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you / want an iPhone? →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endParaRPr lang="en-US" sz="1200" dirty="0"/>
          </a:p>
        </p:txBody>
      </p:sp>
      <p:sp>
        <p:nvSpPr>
          <p:cNvPr id="25" name="R6_lnA134"/>
          <p:cNvSpPr/>
          <p:nvPr/>
        </p:nvSpPr>
        <p:spPr>
          <a:xfrm>
            <a:off x="548640" y="3179597"/>
            <a:ext cx="5349240" cy="2653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you / want an iPhone? →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 you want an iPhone?</a:t>
            </a:r>
            <a:endParaRPr lang="en-US" sz="1200" dirty="0"/>
          </a:p>
        </p:txBody>
      </p:sp>
      <p:sp>
        <p:nvSpPr>
          <p:cNvPr id="26" name="ln_135"/>
          <p:cNvSpPr/>
          <p:nvPr/>
        </p:nvSpPr>
        <p:spPr>
          <a:xfrm>
            <a:off x="548640" y="3444978"/>
            <a:ext cx="5349240" cy="22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he / drive fast? →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endParaRPr lang="en-US" sz="1200" dirty="0"/>
          </a:p>
        </p:txBody>
      </p:sp>
      <p:sp>
        <p:nvSpPr>
          <p:cNvPr id="27" name="R7_lnA136"/>
          <p:cNvSpPr/>
          <p:nvPr/>
        </p:nvSpPr>
        <p:spPr>
          <a:xfrm>
            <a:off x="548640" y="3444978"/>
            <a:ext cx="5349240" cy="2267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he / drive fast? →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Does he drive fast?</a:t>
            </a:r>
            <a:endParaRPr lang="en-US" sz="1200" dirty="0"/>
          </a:p>
        </p:txBody>
      </p:sp>
      <p:sp>
        <p:nvSpPr>
          <p:cNvPr id="28" name="ln_137"/>
          <p:cNvSpPr/>
          <p:nvPr/>
        </p:nvSpPr>
        <p:spPr>
          <a:xfrm>
            <a:off x="548640" y="3671759"/>
            <a:ext cx="5349240" cy="31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she / drink it with milk? →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endParaRPr lang="en-US" sz="1200" dirty="0"/>
          </a:p>
        </p:txBody>
      </p:sp>
      <p:sp>
        <p:nvSpPr>
          <p:cNvPr id="29" name="R8_lnA138"/>
          <p:cNvSpPr/>
          <p:nvPr/>
        </p:nvSpPr>
        <p:spPr>
          <a:xfrm>
            <a:off x="548640" y="3671759"/>
            <a:ext cx="5349240" cy="31363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she / drink it with milk? →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Does she drink it with milk?</a:t>
            </a:r>
            <a:endParaRPr lang="en-US" sz="1200" dirty="0"/>
          </a:p>
        </p:txBody>
      </p:sp>
      <p:sp>
        <p:nvSpPr>
          <p:cNvPr id="30" name="ln_139"/>
          <p:cNvSpPr/>
          <p:nvPr/>
        </p:nvSpPr>
        <p:spPr>
          <a:xfrm>
            <a:off x="548640" y="3985392"/>
            <a:ext cx="5349240" cy="303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you / have boys or girls? →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endParaRPr lang="en-US" sz="1200" dirty="0"/>
          </a:p>
        </p:txBody>
      </p:sp>
      <p:sp>
        <p:nvSpPr>
          <p:cNvPr id="31" name="R9_lnA140"/>
          <p:cNvSpPr/>
          <p:nvPr/>
        </p:nvSpPr>
        <p:spPr>
          <a:xfrm>
            <a:off x="548640" y="3985392"/>
            <a:ext cx="5349240" cy="30398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you / have boys or girls? →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 you have boys or girls?</a:t>
            </a:r>
            <a:endParaRPr lang="en-US" sz="1200" dirty="0"/>
          </a:p>
        </p:txBody>
      </p:sp>
      <p:sp>
        <p:nvSpPr>
          <p:cNvPr id="32" name="ln_141"/>
          <p:cNvSpPr/>
          <p:nvPr/>
        </p:nvSpPr>
        <p:spPr>
          <a:xfrm>
            <a:off x="548640" y="4289374"/>
            <a:ext cx="5349240" cy="41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you / listen to music on your phone? → </a:t>
            </a:r>
            <a:pPr indent="0" marL="0"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endParaRPr lang="en-US" sz="1200" dirty="0"/>
          </a:p>
        </p:txBody>
      </p:sp>
      <p:sp>
        <p:nvSpPr>
          <p:cNvPr id="33" name="R10_lnA142"/>
          <p:cNvSpPr/>
          <p:nvPr/>
        </p:nvSpPr>
        <p:spPr>
          <a:xfrm>
            <a:off x="548640" y="4289374"/>
            <a:ext cx="5349240" cy="4197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you / listen to music on your phone? → </a:t>
            </a:r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Do you listen to music on your phone?</a:t>
            </a:r>
            <a:endParaRPr lang="en-US" sz="1200" dirty="0"/>
          </a:p>
        </p:txBody>
      </p:sp>
      <p:sp>
        <p:nvSpPr>
          <p:cNvPr id="34" name="pf_143"/>
          <p:cNvSpPr/>
          <p:nvPr/>
        </p:nvSpPr>
        <p:spPr>
          <a:xfrm rot="120000">
            <a:off x="6942108" y="1417320"/>
            <a:ext cx="1294825" cy="1508760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5" name="ph_144" descr="/home/claude/lls-course/v2/cache/red_3b_police_car_jpg_290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6987828" y="1463040"/>
            <a:ext cx="1203385" cy="1417320"/>
          </a:xfrm>
          <a:prstGeom prst="rect">
            <a:avLst/>
          </a:prstGeom>
        </p:spPr>
      </p:pic>
      <p:sp>
        <p:nvSpPr>
          <p:cNvPr id="36" name="cd_145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ii_146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8" name="ih_147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9" name="il_148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+ I / you / we / they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+ he / she / it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4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5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151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works where?</a:t>
            </a:r>
            <a:endParaRPr lang="en-US" sz="2300" dirty="0"/>
          </a:p>
        </p:txBody>
      </p:sp>
      <p:pic>
        <p:nvPicPr>
          <p:cNvPr id="6" name="brP_15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153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the sentences with a job from the list.</a:t>
            </a:r>
            <a:endParaRPr lang="en-US" sz="1250" dirty="0"/>
          </a:p>
        </p:txBody>
      </p:sp>
      <p:sp>
        <p:nvSpPr>
          <p:cNvPr id="8" name="insIT_15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le frasi con un lavoro della lista.</a:t>
            </a:r>
            <a:endParaRPr lang="en-US" sz="950" dirty="0"/>
          </a:p>
        </p:txBody>
      </p:sp>
      <p:sp>
        <p:nvSpPr>
          <p:cNvPr id="9" name="note_15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15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5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Vocabulary · jobs   ·   📖 SB p.25 · 2a (TG key)</a:t>
            </a:r>
            <a:endParaRPr lang="en-US" sz="800" dirty="0"/>
          </a:p>
        </p:txBody>
      </p:sp>
      <p:sp>
        <p:nvSpPr>
          <p:cNvPr id="12" name="cd_158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5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16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161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actor · administrator · police officer · receptionist · teacher</a:t>
            </a:r>
            <a:endParaRPr lang="en-US" sz="1000" dirty="0"/>
          </a:p>
        </p:txBody>
      </p:sp>
      <p:sp>
        <p:nvSpPr>
          <p:cNvPr id="16" name="bd_162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163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___ works in the street, or in a police station.</a:t>
            </a:r>
            <a:endParaRPr lang="en-US" sz="1050" dirty="0"/>
          </a:p>
        </p:txBody>
      </p:sp>
      <p:sp>
        <p:nvSpPr>
          <p:cNvPr id="18" name="R1_chip164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police officer</a:t>
            </a:r>
            <a:endParaRPr lang="en-US" sz="1050" dirty="0"/>
          </a:p>
        </p:txBody>
      </p:sp>
      <p:sp>
        <p:nvSpPr>
          <p:cNvPr id="19" name="bd_165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166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___ works in a theatre.</a:t>
            </a:r>
            <a:endParaRPr lang="en-US" sz="1050" dirty="0"/>
          </a:p>
        </p:txBody>
      </p:sp>
      <p:sp>
        <p:nvSpPr>
          <p:cNvPr id="21" name="R2_chip167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actor</a:t>
            </a:r>
            <a:endParaRPr lang="en-US" sz="1050" dirty="0"/>
          </a:p>
        </p:txBody>
      </p:sp>
      <p:sp>
        <p:nvSpPr>
          <p:cNvPr id="22" name="bd_168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169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___ works in a school.</a:t>
            </a:r>
            <a:endParaRPr lang="en-US" sz="1050" dirty="0"/>
          </a:p>
        </p:txBody>
      </p:sp>
      <p:sp>
        <p:nvSpPr>
          <p:cNvPr id="24" name="R3_chip170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</a:t>
            </a:r>
            <a:endParaRPr lang="en-US" sz="1050" dirty="0"/>
          </a:p>
        </p:txBody>
      </p:sp>
      <p:sp>
        <p:nvSpPr>
          <p:cNvPr id="25" name="bd_171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q_172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___ works in a hotel.</a:t>
            </a:r>
            <a:endParaRPr lang="en-US" sz="1050" dirty="0"/>
          </a:p>
        </p:txBody>
      </p:sp>
      <p:sp>
        <p:nvSpPr>
          <p:cNvPr id="27" name="R4_chip173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receptionist</a:t>
            </a:r>
            <a:endParaRPr lang="en-US" sz="1050" dirty="0"/>
          </a:p>
        </p:txBody>
      </p:sp>
      <p:sp>
        <p:nvSpPr>
          <p:cNvPr id="28" name="bd_174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q_175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___ works in an office.</a:t>
            </a:r>
            <a:endParaRPr lang="en-US" sz="1050" dirty="0"/>
          </a:p>
        </p:txBody>
      </p:sp>
      <p:sp>
        <p:nvSpPr>
          <p:cNvPr id="30" name="R5_chip176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administrator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7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360627" cy="621792"/>
          </a:xfrm>
          <a:prstGeom prst="rect">
            <a:avLst/>
          </a:prstGeom>
        </p:spPr>
      </p:pic>
      <p:sp>
        <p:nvSpPr>
          <p:cNvPr id="5" name="title_179"/>
          <p:cNvSpPr/>
          <p:nvPr/>
        </p:nvSpPr>
        <p:spPr>
          <a:xfrm>
            <a:off x="1261872" y="164592"/>
            <a:ext cx="10863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Jobs</a:t>
            </a:r>
            <a:endParaRPr lang="en-US" sz="2500" dirty="0"/>
          </a:p>
        </p:txBody>
      </p:sp>
      <p:pic>
        <p:nvPicPr>
          <p:cNvPr id="6" name="brP_18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8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say the job in English (harder) – or in Italian (easier). Click!</a:t>
            </a:r>
            <a:endParaRPr lang="en-US" sz="1100" dirty="0"/>
          </a:p>
        </p:txBody>
      </p:sp>
      <p:sp>
        <p:nvSpPr>
          <p:cNvPr id="8" name="insIT_18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di' il lavoro in inglese – o in italiano. Clicca!</a:t>
            </a:r>
            <a:endParaRPr lang="en-US" sz="950" dirty="0"/>
          </a:p>
        </p:txBody>
      </p:sp>
      <p:sp>
        <p:nvSpPr>
          <p:cNvPr id="9" name="note_18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CONTROLLA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TPRS · meaning</a:t>
            </a:r>
            <a:endParaRPr lang="en-US" sz="1250" dirty="0"/>
          </a:p>
        </p:txBody>
      </p:sp>
      <p:pic>
        <p:nvPicPr>
          <p:cNvPr id="10" name="logo_18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8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Vocabulary Bank p.154 · jobs   ·   📖 VB p.154 · Jobs · audio 3.10 (TG list)</a:t>
            </a:r>
            <a:endParaRPr lang="en-US" sz="800" dirty="0"/>
          </a:p>
        </p:txBody>
      </p:sp>
      <p:sp>
        <p:nvSpPr>
          <p:cNvPr id="12" name="cd_186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e_187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14" name="en_188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 accountant</a:t>
            </a:r>
            <a:endParaRPr lang="en-US" sz="1200" dirty="0"/>
          </a:p>
        </p:txBody>
      </p:sp>
      <p:sp>
        <p:nvSpPr>
          <p:cNvPr id="15" name="R1_it189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commercialista</a:t>
            </a:r>
            <a:endParaRPr lang="en-US" sz="1000" dirty="0"/>
          </a:p>
        </p:txBody>
      </p:sp>
      <p:sp>
        <p:nvSpPr>
          <p:cNvPr id="16" name="cd_190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e_191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8" name="en_192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 architect</a:t>
            </a:r>
            <a:endParaRPr lang="en-US" sz="1200" dirty="0"/>
          </a:p>
        </p:txBody>
      </p:sp>
      <p:sp>
        <p:nvSpPr>
          <p:cNvPr id="19" name="R2_it193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architetto</a:t>
            </a:r>
            <a:endParaRPr lang="en-US" sz="1000" dirty="0"/>
          </a:p>
        </p:txBody>
      </p:sp>
      <p:sp>
        <p:nvSpPr>
          <p:cNvPr id="20" name="cd_194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e_195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👷</a:t>
            </a:r>
            <a:endParaRPr lang="en-US" sz="2000" dirty="0"/>
          </a:p>
        </p:txBody>
      </p:sp>
      <p:sp>
        <p:nvSpPr>
          <p:cNvPr id="22" name="en_196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builder</a:t>
            </a:r>
            <a:endParaRPr lang="en-US" sz="1200" dirty="0"/>
          </a:p>
        </p:txBody>
      </p:sp>
      <p:sp>
        <p:nvSpPr>
          <p:cNvPr id="23" name="R3_it197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muratore</a:t>
            </a:r>
            <a:endParaRPr lang="en-US" sz="1000" dirty="0"/>
          </a:p>
        </p:txBody>
      </p:sp>
      <p:sp>
        <p:nvSpPr>
          <p:cNvPr id="24" name="cd_198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e_199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26" name="en_200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cleaner</a:t>
            </a:r>
            <a:endParaRPr lang="en-US" sz="1200" dirty="0"/>
          </a:p>
        </p:txBody>
      </p:sp>
      <p:sp>
        <p:nvSpPr>
          <p:cNvPr id="27" name="R4_it201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addetto/a alle pulizie</a:t>
            </a:r>
            <a:endParaRPr lang="en-US" sz="950" dirty="0"/>
          </a:p>
        </p:txBody>
      </p:sp>
      <p:sp>
        <p:nvSpPr>
          <p:cNvPr id="28" name="cd_202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e_203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🦷</a:t>
            </a:r>
            <a:endParaRPr lang="en-US" sz="2000" dirty="0"/>
          </a:p>
        </p:txBody>
      </p:sp>
      <p:sp>
        <p:nvSpPr>
          <p:cNvPr id="30" name="en_204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dentist</a:t>
            </a:r>
            <a:endParaRPr lang="en-US" sz="1200" dirty="0"/>
          </a:p>
        </p:txBody>
      </p:sp>
      <p:sp>
        <p:nvSpPr>
          <p:cNvPr id="31" name="R5_it205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dentista</a:t>
            </a:r>
            <a:endParaRPr lang="en-US" sz="1000" dirty="0"/>
          </a:p>
        </p:txBody>
      </p:sp>
      <p:sp>
        <p:nvSpPr>
          <p:cNvPr id="32" name="cd_206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e_207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34" name="en_208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 engineer</a:t>
            </a:r>
            <a:endParaRPr lang="en-US" sz="1200" dirty="0"/>
          </a:p>
        </p:txBody>
      </p:sp>
      <p:sp>
        <p:nvSpPr>
          <p:cNvPr id="35" name="R6_it209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ingegnere</a:t>
            </a:r>
            <a:endParaRPr lang="en-US" sz="1000" dirty="0"/>
          </a:p>
        </p:txBody>
      </p:sp>
      <p:sp>
        <p:nvSpPr>
          <p:cNvPr id="36" name="cd_210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e_211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✈️</a:t>
            </a:r>
            <a:endParaRPr lang="en-US" sz="2000" dirty="0"/>
          </a:p>
        </p:txBody>
      </p:sp>
      <p:sp>
        <p:nvSpPr>
          <p:cNvPr id="38" name="en_212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flight attendant</a:t>
            </a:r>
            <a:endParaRPr lang="en-US" sz="1200" dirty="0"/>
          </a:p>
        </p:txBody>
      </p:sp>
      <p:sp>
        <p:nvSpPr>
          <p:cNvPr id="39" name="R7_it213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assistente di volo</a:t>
            </a:r>
            <a:endParaRPr lang="en-US" sz="1000" dirty="0"/>
          </a:p>
        </p:txBody>
      </p:sp>
      <p:sp>
        <p:nvSpPr>
          <p:cNvPr id="40" name="cd_214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1" name="e_215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💇</a:t>
            </a:r>
            <a:endParaRPr lang="en-US" sz="2000" dirty="0"/>
          </a:p>
        </p:txBody>
      </p:sp>
      <p:sp>
        <p:nvSpPr>
          <p:cNvPr id="42" name="en_216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hairdresser</a:t>
            </a:r>
            <a:endParaRPr lang="en-US" sz="1200" dirty="0"/>
          </a:p>
        </p:txBody>
      </p:sp>
      <p:sp>
        <p:nvSpPr>
          <p:cNvPr id="43" name="R8_it217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parrucchiere</a:t>
            </a:r>
            <a:endParaRPr lang="en-US" sz="1000" dirty="0"/>
          </a:p>
        </p:txBody>
      </p:sp>
      <p:sp>
        <p:nvSpPr>
          <p:cNvPr id="44" name="cd_218"/>
          <p:cNvSpPr/>
          <p:nvPr/>
        </p:nvSpPr>
        <p:spPr>
          <a:xfrm>
            <a:off x="320040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5" name="e_219"/>
          <p:cNvSpPr/>
          <p:nvPr/>
        </p:nvSpPr>
        <p:spPr>
          <a:xfrm>
            <a:off x="393192" y="317296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46" name="en_220"/>
          <p:cNvSpPr/>
          <p:nvPr/>
        </p:nvSpPr>
        <p:spPr>
          <a:xfrm>
            <a:off x="978408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lawyer</a:t>
            </a:r>
            <a:endParaRPr lang="en-US" sz="1200" dirty="0"/>
          </a:p>
        </p:txBody>
      </p:sp>
      <p:sp>
        <p:nvSpPr>
          <p:cNvPr id="47" name="R9_it221"/>
          <p:cNvSpPr/>
          <p:nvPr/>
        </p:nvSpPr>
        <p:spPr>
          <a:xfrm>
            <a:off x="978408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avvocato</a:t>
            </a:r>
            <a:endParaRPr lang="en-US" sz="1000" dirty="0"/>
          </a:p>
        </p:txBody>
      </p:sp>
      <p:sp>
        <p:nvSpPr>
          <p:cNvPr id="48" name="cd_222"/>
          <p:cNvSpPr/>
          <p:nvPr/>
        </p:nvSpPr>
        <p:spPr>
          <a:xfrm>
            <a:off x="2487168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9" name="e_223"/>
          <p:cNvSpPr/>
          <p:nvPr/>
        </p:nvSpPr>
        <p:spPr>
          <a:xfrm>
            <a:off x="2560320" y="317296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50" name="en_224"/>
          <p:cNvSpPr/>
          <p:nvPr/>
        </p:nvSpPr>
        <p:spPr>
          <a:xfrm>
            <a:off x="3145536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shop assistant</a:t>
            </a:r>
            <a:endParaRPr lang="en-US" sz="1200" dirty="0"/>
          </a:p>
        </p:txBody>
      </p:sp>
      <p:sp>
        <p:nvSpPr>
          <p:cNvPr id="51" name="R10_it225"/>
          <p:cNvSpPr/>
          <p:nvPr/>
        </p:nvSpPr>
        <p:spPr>
          <a:xfrm>
            <a:off x="3145536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commesso/a</a:t>
            </a:r>
            <a:endParaRPr lang="en-US" sz="1000" dirty="0"/>
          </a:p>
        </p:txBody>
      </p:sp>
      <p:sp>
        <p:nvSpPr>
          <p:cNvPr id="52" name="cd_226"/>
          <p:cNvSpPr/>
          <p:nvPr/>
        </p:nvSpPr>
        <p:spPr>
          <a:xfrm>
            <a:off x="4654296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3" name="e_227"/>
          <p:cNvSpPr/>
          <p:nvPr/>
        </p:nvSpPr>
        <p:spPr>
          <a:xfrm>
            <a:off x="4727448" y="317296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🐶</a:t>
            </a:r>
            <a:endParaRPr lang="en-US" sz="2000" dirty="0"/>
          </a:p>
        </p:txBody>
      </p:sp>
      <p:sp>
        <p:nvSpPr>
          <p:cNvPr id="54" name="en_228"/>
          <p:cNvSpPr/>
          <p:nvPr/>
        </p:nvSpPr>
        <p:spPr>
          <a:xfrm>
            <a:off x="5312664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vet</a:t>
            </a:r>
            <a:endParaRPr lang="en-US" sz="1200" dirty="0"/>
          </a:p>
        </p:txBody>
      </p:sp>
      <p:sp>
        <p:nvSpPr>
          <p:cNvPr id="55" name="R11_it229"/>
          <p:cNvSpPr/>
          <p:nvPr/>
        </p:nvSpPr>
        <p:spPr>
          <a:xfrm>
            <a:off x="5312664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veterinario</a:t>
            </a:r>
            <a:endParaRPr lang="en-US" sz="1000" dirty="0"/>
          </a:p>
        </p:txBody>
      </p:sp>
      <p:sp>
        <p:nvSpPr>
          <p:cNvPr id="56" name="cd_230"/>
          <p:cNvSpPr/>
          <p:nvPr/>
        </p:nvSpPr>
        <p:spPr>
          <a:xfrm>
            <a:off x="6821424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7" name="e_231"/>
          <p:cNvSpPr/>
          <p:nvPr/>
        </p:nvSpPr>
        <p:spPr>
          <a:xfrm>
            <a:off x="6894576" y="317296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🍽️</a:t>
            </a:r>
            <a:endParaRPr lang="en-US" sz="2000" dirty="0"/>
          </a:p>
        </p:txBody>
      </p:sp>
      <p:sp>
        <p:nvSpPr>
          <p:cNvPr id="58" name="en_232"/>
          <p:cNvSpPr/>
          <p:nvPr/>
        </p:nvSpPr>
        <p:spPr>
          <a:xfrm>
            <a:off x="7479792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waiter / a waitress</a:t>
            </a:r>
            <a:endParaRPr lang="en-US" sz="1000" dirty="0"/>
          </a:p>
        </p:txBody>
      </p:sp>
      <p:sp>
        <p:nvSpPr>
          <p:cNvPr id="59" name="R12_it233"/>
          <p:cNvSpPr/>
          <p:nvPr/>
        </p:nvSpPr>
        <p:spPr>
          <a:xfrm>
            <a:off x="7479792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cameriere / cameriera</a:t>
            </a:r>
            <a:endParaRPr lang="en-US" sz="900" dirty="0"/>
          </a:p>
        </p:txBody>
      </p:sp>
      <p:sp>
        <p:nvSpPr>
          <p:cNvPr id="60" name="ap_234"/>
          <p:cNvSpPr/>
          <p:nvPr/>
        </p:nvSpPr>
        <p:spPr>
          <a:xfrm>
            <a:off x="320040" y="448056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3.10</a:t>
            </a:r>
            <a:endParaRPr lang="en-US" sz="1100" dirty="0"/>
          </a:p>
        </p:txBody>
      </p:sp>
      <p:sp>
        <p:nvSpPr>
          <p:cNvPr id="61" name="ah_235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62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63" name="ah_236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64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65" name="R13_wc237"/>
          <p:cNvSpPr/>
          <p:nvPr/>
        </p:nvSpPr>
        <p:spPr>
          <a:xfrm>
            <a:off x="320040" y="39319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6" name="R13_w238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a + consonant sound (a nurse) · an + vowel sound (an engineer)   ·   compound nouns: stress on the FIRST word – FACtory worker, FLIGHT attendant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5" dur="1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80" dur="1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audio>
              <p:cMediaNode vol="80000">
                <p:cTn id="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  <p:audio>
              <p:cMediaNode vol="80000">
                <p:cTn id="8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3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4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241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 you do?</a:t>
            </a:r>
            <a:endParaRPr lang="en-US" sz="2500" dirty="0"/>
          </a:p>
        </p:txBody>
      </p:sp>
      <p:pic>
        <p:nvPicPr>
          <p:cNvPr id="6" name="brP_24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4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 up! Ask three students: What do you do? What do your parents do?</a:t>
            </a:r>
            <a:endParaRPr lang="en-US" sz="1100" dirty="0"/>
          </a:p>
        </p:txBody>
      </p:sp>
      <p:sp>
        <p:nvSpPr>
          <p:cNvPr id="8" name="insIT_24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piedi! Chiedi a tre studenti: What do you do? What do your parents do?</a:t>
            </a:r>
            <a:endParaRPr lang="en-US" sz="950" dirty="0"/>
          </a:p>
        </p:txBody>
      </p:sp>
      <p:sp>
        <p:nvSpPr>
          <p:cNvPr id="9" name="note_24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24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4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Speaking · mingle   ·   📖 SB p.25 · 2c · VB p.154 c (3.11)</a:t>
            </a:r>
            <a:endParaRPr lang="en-US" sz="800" dirty="0"/>
          </a:p>
        </p:txBody>
      </p:sp>
      <p:sp>
        <p:nvSpPr>
          <p:cNvPr id="12" name="cd_248"/>
          <p:cNvSpPr/>
          <p:nvPr/>
        </p:nvSpPr>
        <p:spPr>
          <a:xfrm>
            <a:off x="320040" y="1417320"/>
            <a:ext cx="2788920" cy="2215896"/>
          </a:xfrm>
          <a:prstGeom prst="roundRect">
            <a:avLst>
              <a:gd name="adj" fmla="val 577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4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250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251"/>
          <p:cNvSpPr/>
          <p:nvPr/>
        </p:nvSpPr>
        <p:spPr>
          <a:xfrm>
            <a:off x="886968" y="1911096"/>
            <a:ext cx="2130552" cy="1648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a / an…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work for… / in… / at…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a student. I study…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unemployed / retired.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mum is a… My dad works in…</a:t>
            </a:r>
            <a:endParaRPr lang="en-US" sz="1150" dirty="0"/>
          </a:p>
        </p:txBody>
      </p:sp>
      <p:sp>
        <p:nvSpPr>
          <p:cNvPr id="16" name="R1_qb252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253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do?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a nurse. I work in a hospital in Palermo.</a:t>
            </a:r>
            <a:endParaRPr lang="en-US" sz="1400" dirty="0"/>
          </a:p>
        </p:txBody>
      </p:sp>
      <p:sp>
        <p:nvSpPr>
          <p:cNvPr id="18" name="R2_qb254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255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your parents do?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My mum's retired and my dad's a builder.</a:t>
            </a:r>
            <a:endParaRPr lang="en-US" sz="1400" dirty="0"/>
          </a:p>
        </p:txBody>
      </p:sp>
      <p:sp>
        <p:nvSpPr>
          <p:cNvPr id="20" name="R3_qb256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257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3 students. Then tell the class one thing!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Marco's dad is a chef!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5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260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Bird or computer?</a:t>
            </a:r>
            <a:endParaRPr lang="en-US" sz="2500" dirty="0"/>
          </a:p>
        </p:txBody>
      </p:sp>
      <p:pic>
        <p:nvPicPr>
          <p:cNvPr id="6" name="brP_26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262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words. /ɜː/ bird or /ə/ computer?</a:t>
            </a:r>
            <a:endParaRPr lang="en-US" sz="1250" dirty="0"/>
          </a:p>
        </p:txBody>
      </p:sp>
      <p:sp>
        <p:nvSpPr>
          <p:cNvPr id="8" name="insIT_26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le parole. /ɜː/ bird o /ə/ computer?</a:t>
            </a:r>
            <a:endParaRPr lang="en-US" sz="950" dirty="0"/>
          </a:p>
        </p:txBody>
      </p:sp>
      <p:sp>
        <p:nvSpPr>
          <p:cNvPr id="9" name="note_26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Guided discovery</a:t>
            </a:r>
            <a:endParaRPr lang="en-US" sz="1150" dirty="0"/>
          </a:p>
        </p:txBody>
      </p:sp>
      <p:pic>
        <p:nvPicPr>
          <p:cNvPr id="10" name="logo_26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6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Pronunciation · /ɜː/ and /ə/   ·   📖 SB p.25 · 3a · audio 3.12</a:t>
            </a:r>
            <a:endParaRPr lang="en-US" sz="800" dirty="0"/>
          </a:p>
        </p:txBody>
      </p:sp>
      <p:sp>
        <p:nvSpPr>
          <p:cNvPr id="12" name="cd_267"/>
          <p:cNvSpPr/>
          <p:nvPr/>
        </p:nvSpPr>
        <p:spPr>
          <a:xfrm>
            <a:off x="320040" y="1417320"/>
            <a:ext cx="2697480" cy="1527048"/>
          </a:xfrm>
          <a:prstGeom prst="roundRect">
            <a:avLst>
              <a:gd name="adj" fmla="val 83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6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26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sounds</a:t>
            </a:r>
            <a:endParaRPr lang="en-US" sz="1300" dirty="0"/>
          </a:p>
        </p:txBody>
      </p:sp>
      <p:sp>
        <p:nvSpPr>
          <p:cNvPr id="15" name="ap_270"/>
          <p:cNvSpPr/>
          <p:nvPr/>
        </p:nvSpPr>
        <p:spPr>
          <a:xfrm>
            <a:off x="365760" y="3081528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3.12</a:t>
            </a:r>
            <a:endParaRPr lang="en-US" sz="1100" dirty="0"/>
          </a:p>
        </p:txBody>
      </p:sp>
      <p:sp>
        <p:nvSpPr>
          <p:cNvPr id="16" name="ah_271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8" name="ah_272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9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0" name="lg_273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🐦 bird /ɜː/</a:t>
            </a:r>
            <a:endParaRPr lang="en-US" sz="1050" dirty="0"/>
          </a:p>
        </p:txBody>
      </p:sp>
      <p:sp>
        <p:nvSpPr>
          <p:cNvPr id="21" name="lg_274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💻 computer /ə/</a:t>
            </a:r>
            <a:endParaRPr lang="en-US" sz="1050" dirty="0"/>
          </a:p>
        </p:txBody>
      </p:sp>
      <p:sp>
        <p:nvSpPr>
          <p:cNvPr id="22" name="sq_275"/>
          <p:cNvSpPr/>
          <p:nvPr/>
        </p:nvSpPr>
        <p:spPr>
          <a:xfrm>
            <a:off x="3246120" y="1417320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n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ur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</a:t>
            </a:r>
            <a:endParaRPr lang="en-US" sz="1200" dirty="0"/>
          </a:p>
        </p:txBody>
      </p:sp>
      <p:sp>
        <p:nvSpPr>
          <p:cNvPr id="23" name="R1_tag276"/>
          <p:cNvSpPr/>
          <p:nvPr/>
        </p:nvSpPr>
        <p:spPr>
          <a:xfrm>
            <a:off x="7178040" y="1417320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🐦 bird /ɜː/</a:t>
            </a:r>
            <a:endParaRPr lang="en-US" sz="1150" dirty="0"/>
          </a:p>
        </p:txBody>
      </p:sp>
      <p:sp>
        <p:nvSpPr>
          <p:cNvPr id="24" name="sq_277"/>
          <p:cNvSpPr/>
          <p:nvPr/>
        </p:nvSpPr>
        <p:spPr>
          <a:xfrm>
            <a:off x="3246120" y="1716578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ir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ty</a:t>
            </a:r>
            <a:endParaRPr lang="en-US" sz="1200" dirty="0"/>
          </a:p>
        </p:txBody>
      </p:sp>
      <p:sp>
        <p:nvSpPr>
          <p:cNvPr id="25" name="R2_tag278"/>
          <p:cNvSpPr/>
          <p:nvPr/>
        </p:nvSpPr>
        <p:spPr>
          <a:xfrm>
            <a:off x="7178040" y="1716578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🐦 bird /ɜː/</a:t>
            </a:r>
            <a:endParaRPr lang="en-US" sz="1150" dirty="0"/>
          </a:p>
        </p:txBody>
      </p:sp>
      <p:sp>
        <p:nvSpPr>
          <p:cNvPr id="26" name="sq_279"/>
          <p:cNvSpPr/>
          <p:nvPr/>
        </p:nvSpPr>
        <p:spPr>
          <a:xfrm>
            <a:off x="3246120" y="2015836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</a:t>
            </a:r>
            <a:endParaRPr lang="en-US" sz="1200" dirty="0"/>
          </a:p>
        </p:txBody>
      </p:sp>
      <p:sp>
        <p:nvSpPr>
          <p:cNvPr id="27" name="R3_tag280"/>
          <p:cNvSpPr/>
          <p:nvPr/>
        </p:nvSpPr>
        <p:spPr>
          <a:xfrm>
            <a:off x="7178040" y="2015836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🐦 bird /ɜː/</a:t>
            </a:r>
            <a:endParaRPr lang="en-US" sz="1150" dirty="0"/>
          </a:p>
        </p:txBody>
      </p:sp>
      <p:sp>
        <p:nvSpPr>
          <p:cNvPr id="28" name="sq_281"/>
          <p:cNvSpPr/>
          <p:nvPr/>
        </p:nvSpPr>
        <p:spPr>
          <a:xfrm>
            <a:off x="3246120" y="2315095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</a:t>
            </a:r>
            <a:endParaRPr lang="en-US" sz="1200" dirty="0"/>
          </a:p>
        </p:txBody>
      </p:sp>
      <p:sp>
        <p:nvSpPr>
          <p:cNvPr id="29" name="R4_tag282"/>
          <p:cNvSpPr/>
          <p:nvPr/>
        </p:nvSpPr>
        <p:spPr>
          <a:xfrm>
            <a:off x="7178040" y="2315095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🐦 bird /ɜː/</a:t>
            </a:r>
            <a:endParaRPr lang="en-US" sz="1150" dirty="0"/>
          </a:p>
        </p:txBody>
      </p:sp>
      <p:sp>
        <p:nvSpPr>
          <p:cNvPr id="30" name="sq_283"/>
          <p:cNvSpPr/>
          <p:nvPr/>
        </p:nvSpPr>
        <p:spPr>
          <a:xfrm>
            <a:off x="3246120" y="2614353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our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nalist</a:t>
            </a:r>
            <a:endParaRPr lang="en-US" sz="1200" dirty="0"/>
          </a:p>
        </p:txBody>
      </p:sp>
      <p:sp>
        <p:nvSpPr>
          <p:cNvPr id="31" name="R5_tag284"/>
          <p:cNvSpPr/>
          <p:nvPr/>
        </p:nvSpPr>
        <p:spPr>
          <a:xfrm>
            <a:off x="7178040" y="2614353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🐦 bird /ɜː/</a:t>
            </a:r>
            <a:endParaRPr lang="en-US" sz="1150" dirty="0"/>
          </a:p>
        </p:txBody>
      </p:sp>
      <p:sp>
        <p:nvSpPr>
          <p:cNvPr id="32" name="sq_285"/>
          <p:cNvSpPr/>
          <p:nvPr/>
        </p:nvSpPr>
        <p:spPr>
          <a:xfrm>
            <a:off x="3246120" y="2913611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lawy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</a:t>
            </a:r>
            <a:endParaRPr lang="en-US" sz="1200" dirty="0"/>
          </a:p>
        </p:txBody>
      </p:sp>
      <p:sp>
        <p:nvSpPr>
          <p:cNvPr id="33" name="R6_tag286"/>
          <p:cNvSpPr/>
          <p:nvPr/>
        </p:nvSpPr>
        <p:spPr>
          <a:xfrm>
            <a:off x="7178040" y="2913611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💻 computer /ə/</a:t>
            </a:r>
            <a:endParaRPr lang="en-US" sz="1150" dirty="0"/>
          </a:p>
        </p:txBody>
      </p:sp>
      <p:sp>
        <p:nvSpPr>
          <p:cNvPr id="34" name="sq_287"/>
          <p:cNvSpPr/>
          <p:nvPr/>
        </p:nvSpPr>
        <p:spPr>
          <a:xfrm>
            <a:off x="3246120" y="3212869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driv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</a:t>
            </a:r>
            <a:endParaRPr lang="en-US" sz="1200" dirty="0"/>
          </a:p>
        </p:txBody>
      </p:sp>
      <p:sp>
        <p:nvSpPr>
          <p:cNvPr id="35" name="R7_tag288"/>
          <p:cNvSpPr/>
          <p:nvPr/>
        </p:nvSpPr>
        <p:spPr>
          <a:xfrm>
            <a:off x="7178040" y="3212869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💻 computer /ə/</a:t>
            </a:r>
            <a:endParaRPr lang="en-US" sz="1150" dirty="0"/>
          </a:p>
        </p:txBody>
      </p:sp>
      <p:sp>
        <p:nvSpPr>
          <p:cNvPr id="36" name="sq_289"/>
          <p:cNvSpPr/>
          <p:nvPr/>
        </p:nvSpPr>
        <p:spPr>
          <a:xfrm>
            <a:off x="3246120" y="3512127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</a:t>
            </a:r>
            <a:endParaRPr lang="en-US" sz="1200" dirty="0"/>
          </a:p>
        </p:txBody>
      </p:sp>
      <p:sp>
        <p:nvSpPr>
          <p:cNvPr id="37" name="R8_tag290"/>
          <p:cNvSpPr/>
          <p:nvPr/>
        </p:nvSpPr>
        <p:spPr>
          <a:xfrm>
            <a:off x="7178040" y="3512127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💻 computer /ə/</a:t>
            </a:r>
            <a:endParaRPr lang="en-US" sz="1150" dirty="0"/>
          </a:p>
        </p:txBody>
      </p:sp>
      <p:sp>
        <p:nvSpPr>
          <p:cNvPr id="38" name="sq_291"/>
          <p:cNvSpPr/>
          <p:nvPr/>
        </p:nvSpPr>
        <p:spPr>
          <a:xfrm>
            <a:off x="3246120" y="3811385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doct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</a:t>
            </a:r>
            <a:endParaRPr lang="en-US" sz="1200" dirty="0"/>
          </a:p>
        </p:txBody>
      </p:sp>
      <p:sp>
        <p:nvSpPr>
          <p:cNvPr id="39" name="R9_tag292"/>
          <p:cNvSpPr/>
          <p:nvPr/>
        </p:nvSpPr>
        <p:spPr>
          <a:xfrm>
            <a:off x="7178040" y="3811385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💻 computer /ə/</a:t>
            </a:r>
            <a:endParaRPr lang="en-US" sz="1150" dirty="0"/>
          </a:p>
        </p:txBody>
      </p:sp>
      <p:sp>
        <p:nvSpPr>
          <p:cNvPr id="40" name="sq_293"/>
          <p:cNvSpPr/>
          <p:nvPr/>
        </p:nvSpPr>
        <p:spPr>
          <a:xfrm>
            <a:off x="3246120" y="4110644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</a:t>
            </a:r>
            <a:endParaRPr lang="en-US" sz="1200" dirty="0"/>
          </a:p>
        </p:txBody>
      </p:sp>
      <p:sp>
        <p:nvSpPr>
          <p:cNvPr id="41" name="R10_tag294"/>
          <p:cNvSpPr/>
          <p:nvPr/>
        </p:nvSpPr>
        <p:spPr>
          <a:xfrm>
            <a:off x="7178040" y="4110644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💻 computer /ə/</a:t>
            </a:r>
            <a:endParaRPr lang="en-US" sz="1150" dirty="0"/>
          </a:p>
        </p:txBody>
      </p:sp>
      <p:sp>
        <p:nvSpPr>
          <p:cNvPr id="42" name="sq_295"/>
          <p:cNvSpPr/>
          <p:nvPr/>
        </p:nvSpPr>
        <p:spPr>
          <a:xfrm>
            <a:off x="3246120" y="4409902"/>
            <a:ext cx="3840480" cy="235250"/>
          </a:xfrm>
          <a:prstGeom prst="roundRect">
            <a:avLst>
              <a:gd name="adj" fmla="val 388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administrat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</a:t>
            </a:r>
            <a:endParaRPr lang="en-US" sz="1200" dirty="0"/>
          </a:p>
        </p:txBody>
      </p:sp>
      <p:sp>
        <p:nvSpPr>
          <p:cNvPr id="43" name="R11_tag296"/>
          <p:cNvSpPr/>
          <p:nvPr/>
        </p:nvSpPr>
        <p:spPr>
          <a:xfrm>
            <a:off x="7178040" y="4409902"/>
            <a:ext cx="1691640" cy="235250"/>
          </a:xfrm>
          <a:prstGeom prst="roundRect">
            <a:avLst>
              <a:gd name="adj" fmla="val 97173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💻 computer /ə/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7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>
                <p:cTn id="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9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832458" cy="621792"/>
          </a:xfrm>
          <a:prstGeom prst="rect">
            <a:avLst/>
          </a:prstGeom>
        </p:spPr>
      </p:pic>
      <p:sp>
        <p:nvSpPr>
          <p:cNvPr id="5" name="title_299"/>
          <p:cNvSpPr/>
          <p:nvPr/>
        </p:nvSpPr>
        <p:spPr>
          <a:xfrm>
            <a:off x="1261872" y="164592"/>
            <a:ext cx="1558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it!</a:t>
            </a:r>
            <a:endParaRPr lang="en-US" sz="2500" dirty="0"/>
          </a:p>
        </p:txBody>
      </p:sp>
      <p:pic>
        <p:nvPicPr>
          <p:cNvPr id="6" name="brP_30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161788" cy="402336"/>
          </a:xfrm>
          <a:prstGeom prst="rect">
            <a:avLst/>
          </a:prstGeom>
        </p:spPr>
      </p:pic>
      <p:sp>
        <p:nvSpPr>
          <p:cNvPr id="7" name="ins_301"/>
          <p:cNvSpPr/>
          <p:nvPr/>
        </p:nvSpPr>
        <p:spPr>
          <a:xfrm>
            <a:off x="1353312" y="731520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sentences. Then practise saying them.</a:t>
            </a:r>
            <a:endParaRPr lang="en-US" sz="1250" dirty="0"/>
          </a:p>
        </p:txBody>
      </p:sp>
      <p:sp>
        <p:nvSpPr>
          <p:cNvPr id="8" name="insIT_30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le frasi. Poi esercitati.</a:t>
            </a:r>
            <a:endParaRPr lang="en-US" sz="950" dirty="0"/>
          </a:p>
        </p:txBody>
      </p:sp>
      <p:sp>
        <p:nvSpPr>
          <p:cNvPr id="9" name="note_30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Controlled practice</a:t>
            </a:r>
            <a:endParaRPr lang="en-US" sz="1150" dirty="0"/>
          </a:p>
        </p:txBody>
      </p:sp>
      <p:pic>
        <p:nvPicPr>
          <p:cNvPr id="10" name="logo_30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0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Pronunciation · sentences   ·   📖 SB p.25 · 3b · audio 3.13</a:t>
            </a:r>
            <a:endParaRPr lang="en-US" sz="800" dirty="0"/>
          </a:p>
        </p:txBody>
      </p:sp>
      <p:sp>
        <p:nvSpPr>
          <p:cNvPr id="12" name="cd_306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0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30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309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Pink letters: /ɜː/ or /ə/? Listen and copy!</a:t>
            </a:r>
            <a:endParaRPr lang="en-US" sz="1050" dirty="0"/>
          </a:p>
        </p:txBody>
      </p:sp>
      <p:sp>
        <p:nvSpPr>
          <p:cNvPr id="16" name="ap_310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3.13</a:t>
            </a:r>
            <a:endParaRPr lang="en-US" sz="1100" dirty="0"/>
          </a:p>
        </p:txBody>
      </p:sp>
      <p:sp>
        <p:nvSpPr>
          <p:cNvPr id="17" name="ah_311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8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9" name="ah_312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20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1" name="bd_313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314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23" name="R1_chip315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Doctors and lawyers earn a lot.</a:t>
            </a:r>
            <a:endParaRPr lang="en-US" sz="1050" dirty="0"/>
          </a:p>
        </p:txBody>
      </p:sp>
      <p:sp>
        <p:nvSpPr>
          <p:cNvPr id="24" name="bd_316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317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R2_chip318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Journalists work all over the world.</a:t>
            </a:r>
            <a:endParaRPr lang="en-US" sz="1050" dirty="0"/>
          </a:p>
        </p:txBody>
      </p:sp>
      <p:sp>
        <p:nvSpPr>
          <p:cNvPr id="27" name="bd_319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320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R3_chip321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a teacher. Her name's Ursula.</a:t>
            </a:r>
            <a:endParaRPr lang="en-US" sz="1050" dirty="0"/>
          </a:p>
        </p:txBody>
      </p:sp>
      <p:sp>
        <p:nvSpPr>
          <p:cNvPr id="30" name="bd_322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323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50" dirty="0"/>
          </a:p>
        </p:txBody>
      </p:sp>
      <p:sp>
        <p:nvSpPr>
          <p:cNvPr id="32" name="R4_chip324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a taxi driver. He works thirty hours a week.</a:t>
            </a:r>
            <a:endParaRPr lang="en-US" sz="1050" dirty="0"/>
          </a:p>
        </p:txBody>
      </p:sp>
      <p:sp>
        <p:nvSpPr>
          <p:cNvPr id="33" name="bd_325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326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150" dirty="0"/>
          </a:p>
        </p:txBody>
      </p:sp>
      <p:sp>
        <p:nvSpPr>
          <p:cNvPr id="35" name="R5_chip327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a waiter in a burger restaurant.</a:t>
            </a:r>
            <a:endParaRPr lang="en-US" sz="1050" dirty="0"/>
          </a:p>
        </p:txBody>
      </p:sp>
      <p:sp>
        <p:nvSpPr>
          <p:cNvPr id="36" name="bd_328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329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150" dirty="0"/>
          </a:p>
        </p:txBody>
      </p:sp>
      <p:sp>
        <p:nvSpPr>
          <p:cNvPr id="38" name="R6_chip330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study German at university.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3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333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Alex's job</a:t>
            </a:r>
            <a:endParaRPr lang="en-US" sz="2500" dirty="0"/>
          </a:p>
        </p:txBody>
      </p:sp>
      <p:pic>
        <p:nvPicPr>
          <p:cNvPr id="6" name="brP_33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3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Part 1 of His job, her job. What are Alex's answers? ✓ ✗ or D (it depends).</a:t>
            </a:r>
            <a:endParaRPr lang="en-US" sz="1100" dirty="0"/>
          </a:p>
        </p:txBody>
      </p:sp>
      <p:sp>
        <p:nvSpPr>
          <p:cNvPr id="8" name="insIT_33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la Parte 1. Cosa risponde Alex? ✓ ✗ o D (dipende).</a:t>
            </a:r>
            <a:endParaRPr lang="en-US" sz="950" dirty="0"/>
          </a:p>
        </p:txBody>
      </p:sp>
      <p:sp>
        <p:nvSpPr>
          <p:cNvPr id="9" name="note_33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33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3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Listening · His job, her job (Alex)   ·   📖 SB p.25 · 4a, 4b · audio 3.14 (TG key + script)</a:t>
            </a:r>
            <a:endParaRPr lang="en-US" sz="800" dirty="0"/>
          </a:p>
        </p:txBody>
      </p:sp>
      <p:sp>
        <p:nvSpPr>
          <p:cNvPr id="12" name="ap_340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3.14  ·  play twice</a:t>
            </a:r>
            <a:endParaRPr lang="en-US" sz="1100" dirty="0"/>
          </a:p>
        </p:txBody>
      </p:sp>
      <p:sp>
        <p:nvSpPr>
          <p:cNvPr id="13" name="ah_341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342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pf_343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8" name="ph_344" descr="/home/claude/lls-course/v2/cache/red_3b_jobs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19" name="cd_345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346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ih_347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Alex says only yes, no, or it depends.</a:t>
            </a:r>
            <a:endParaRPr lang="en-US" sz="1200" dirty="0"/>
          </a:p>
        </p:txBody>
      </p:sp>
      <p:sp>
        <p:nvSpPr>
          <p:cNvPr id="22" name="gq_348"/>
          <p:cNvSpPr/>
          <p:nvPr/>
        </p:nvSpPr>
        <p:spPr>
          <a:xfrm>
            <a:off x="3383280" y="1417320"/>
            <a:ext cx="33375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in an office?</a:t>
            </a:r>
            <a:endParaRPr lang="en-US" sz="1200" dirty="0"/>
          </a:p>
        </p:txBody>
      </p:sp>
      <p:sp>
        <p:nvSpPr>
          <p:cNvPr id="23" name="R1_chip349"/>
          <p:cNvSpPr/>
          <p:nvPr/>
        </p:nvSpPr>
        <p:spPr>
          <a:xfrm>
            <a:off x="6812280" y="1417320"/>
            <a:ext cx="2057400" cy="301752"/>
          </a:xfrm>
          <a:prstGeom prst="roundRect">
            <a:avLst>
              <a:gd name="adj" fmla="val 30303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(the book's example)</a:t>
            </a:r>
            <a:endParaRPr lang="en-US" sz="1100" dirty="0"/>
          </a:p>
        </p:txBody>
      </p:sp>
      <p:sp>
        <p:nvSpPr>
          <p:cNvPr id="24" name="gq_350"/>
          <p:cNvSpPr/>
          <p:nvPr/>
        </p:nvSpPr>
        <p:spPr>
          <a:xfrm>
            <a:off x="3383280" y="1783080"/>
            <a:ext cx="33375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in the evening?</a:t>
            </a:r>
            <a:endParaRPr lang="en-US" sz="1200" dirty="0"/>
          </a:p>
        </p:txBody>
      </p:sp>
      <p:sp>
        <p:nvSpPr>
          <p:cNvPr id="25" name="R2_chip351"/>
          <p:cNvSpPr/>
          <p:nvPr/>
        </p:nvSpPr>
        <p:spPr>
          <a:xfrm>
            <a:off x="6812280" y="1783080"/>
            <a:ext cx="2057400" cy="301752"/>
          </a:xfrm>
          <a:prstGeom prst="roundRect">
            <a:avLst>
              <a:gd name="adj" fmla="val 30303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– 'It depends. Yes, sometimes.'</a:t>
            </a:r>
            <a:endParaRPr lang="en-US" sz="850" dirty="0"/>
          </a:p>
        </p:txBody>
      </p:sp>
      <p:sp>
        <p:nvSpPr>
          <p:cNvPr id="26" name="gq_352"/>
          <p:cNvSpPr/>
          <p:nvPr/>
        </p:nvSpPr>
        <p:spPr>
          <a:xfrm>
            <a:off x="3383280" y="2148840"/>
            <a:ext cx="33375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make things?</a:t>
            </a:r>
            <a:endParaRPr lang="en-US" sz="1200" dirty="0"/>
          </a:p>
        </p:txBody>
      </p:sp>
      <p:sp>
        <p:nvSpPr>
          <p:cNvPr id="27" name="R3_chip353"/>
          <p:cNvSpPr/>
          <p:nvPr/>
        </p:nvSpPr>
        <p:spPr>
          <a:xfrm>
            <a:off x="6812280" y="2148840"/>
            <a:ext cx="2057400" cy="301752"/>
          </a:xfrm>
          <a:prstGeom prst="roundRect">
            <a:avLst>
              <a:gd name="adj" fmla="val 30303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gq_354"/>
          <p:cNvSpPr/>
          <p:nvPr/>
        </p:nvSpPr>
        <p:spPr>
          <a:xfrm>
            <a:off x="3383280" y="2514600"/>
            <a:ext cx="33375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wear a uniform or special clothes?</a:t>
            </a:r>
            <a:endParaRPr lang="en-US" sz="1050" dirty="0"/>
          </a:p>
        </p:txBody>
      </p:sp>
      <p:sp>
        <p:nvSpPr>
          <p:cNvPr id="29" name="R4_chip355"/>
          <p:cNvSpPr/>
          <p:nvPr/>
        </p:nvSpPr>
        <p:spPr>
          <a:xfrm>
            <a:off x="6812280" y="2514600"/>
            <a:ext cx="2057400" cy="301752"/>
          </a:xfrm>
          <a:prstGeom prst="roundRect">
            <a:avLst>
              <a:gd name="adj" fmla="val 30303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– special clothes</a:t>
            </a:r>
            <a:endParaRPr lang="en-US" sz="1200" dirty="0"/>
          </a:p>
        </p:txBody>
      </p:sp>
      <p:sp>
        <p:nvSpPr>
          <p:cNvPr id="30" name="gq_356"/>
          <p:cNvSpPr/>
          <p:nvPr/>
        </p:nvSpPr>
        <p:spPr>
          <a:xfrm>
            <a:off x="3383280" y="2880360"/>
            <a:ext cx="33375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drive?</a:t>
            </a:r>
            <a:endParaRPr lang="en-US" sz="1200" dirty="0"/>
          </a:p>
        </p:txBody>
      </p:sp>
      <p:sp>
        <p:nvSpPr>
          <p:cNvPr id="31" name="R5_chip357"/>
          <p:cNvSpPr/>
          <p:nvPr/>
        </p:nvSpPr>
        <p:spPr>
          <a:xfrm>
            <a:off x="6812280" y="2880360"/>
            <a:ext cx="2057400" cy="301752"/>
          </a:xfrm>
          <a:prstGeom prst="roundRect">
            <a:avLst>
              <a:gd name="adj" fmla="val 30303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</a:t>
            </a:r>
            <a:endParaRPr lang="en-US" sz="1200" dirty="0"/>
          </a:p>
        </p:txBody>
      </p:sp>
      <p:sp>
        <p:nvSpPr>
          <p:cNvPr id="32" name="gq_358"/>
          <p:cNvSpPr/>
          <p:nvPr/>
        </p:nvSpPr>
        <p:spPr>
          <a:xfrm>
            <a:off x="3383280" y="3246120"/>
            <a:ext cx="33375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in a team?</a:t>
            </a:r>
            <a:endParaRPr lang="en-US" sz="1200" dirty="0"/>
          </a:p>
        </p:txBody>
      </p:sp>
      <p:sp>
        <p:nvSpPr>
          <p:cNvPr id="33" name="R6_chip359"/>
          <p:cNvSpPr/>
          <p:nvPr/>
        </p:nvSpPr>
        <p:spPr>
          <a:xfrm>
            <a:off x="6812280" y="3246120"/>
            <a:ext cx="2057400" cy="301752"/>
          </a:xfrm>
          <a:prstGeom prst="roundRect">
            <a:avLst>
              <a:gd name="adj" fmla="val 30303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– with ten other people</a:t>
            </a:r>
            <a:endParaRPr lang="en-US" sz="1000" dirty="0"/>
          </a:p>
        </p:txBody>
      </p:sp>
      <p:sp>
        <p:nvSpPr>
          <p:cNvPr id="34" name="gq_360"/>
          <p:cNvSpPr/>
          <p:nvPr/>
        </p:nvSpPr>
        <p:spPr>
          <a:xfrm>
            <a:off x="3383280" y="3611880"/>
            <a:ext cx="33375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have special qualifications?</a:t>
            </a:r>
            <a:endParaRPr lang="en-US" sz="1200" dirty="0"/>
          </a:p>
        </p:txBody>
      </p:sp>
      <p:sp>
        <p:nvSpPr>
          <p:cNvPr id="35" name="R7_chip361"/>
          <p:cNvSpPr/>
          <p:nvPr/>
        </p:nvSpPr>
        <p:spPr>
          <a:xfrm>
            <a:off x="6812280" y="3611880"/>
            <a:ext cx="2057400" cy="301752"/>
          </a:xfrm>
          <a:prstGeom prst="roundRect">
            <a:avLst>
              <a:gd name="adj" fmla="val 30303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</a:t>
            </a:r>
            <a:endParaRPr lang="en-US" sz="1200" dirty="0"/>
          </a:p>
        </p:txBody>
      </p:sp>
      <p:sp>
        <p:nvSpPr>
          <p:cNvPr id="36" name="gq_362"/>
          <p:cNvSpPr/>
          <p:nvPr/>
        </p:nvSpPr>
        <p:spPr>
          <a:xfrm>
            <a:off x="3383280" y="3977640"/>
            <a:ext cx="33375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speak foreign languages?</a:t>
            </a:r>
            <a:endParaRPr lang="en-US" sz="1200" dirty="0"/>
          </a:p>
        </p:txBody>
      </p:sp>
      <p:sp>
        <p:nvSpPr>
          <p:cNvPr id="37" name="R8_chip363"/>
          <p:cNvSpPr/>
          <p:nvPr/>
        </p:nvSpPr>
        <p:spPr>
          <a:xfrm>
            <a:off x="6812280" y="3977640"/>
            <a:ext cx="2057400" cy="301752"/>
          </a:xfrm>
          <a:prstGeom prst="roundRect">
            <a:avLst>
              <a:gd name="adj" fmla="val 30303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– only English</a:t>
            </a:r>
            <a:endParaRPr lang="en-US" sz="1200" dirty="0"/>
          </a:p>
        </p:txBody>
      </p:sp>
      <p:sp>
        <p:nvSpPr>
          <p:cNvPr id="38" name="gq_364"/>
          <p:cNvSpPr/>
          <p:nvPr/>
        </p:nvSpPr>
        <p:spPr>
          <a:xfrm>
            <a:off x="3383280" y="4343400"/>
            <a:ext cx="333756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travel?</a:t>
            </a:r>
            <a:endParaRPr lang="en-US" sz="1200" dirty="0"/>
          </a:p>
        </p:txBody>
      </p:sp>
      <p:sp>
        <p:nvSpPr>
          <p:cNvPr id="39" name="R9_chip365"/>
          <p:cNvSpPr/>
          <p:nvPr/>
        </p:nvSpPr>
        <p:spPr>
          <a:xfrm>
            <a:off x="6812280" y="4343400"/>
            <a:ext cx="2057400" cy="301752"/>
          </a:xfrm>
          <a:prstGeom prst="roundRect">
            <a:avLst>
              <a:gd name="adj" fmla="val 30303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– at weekends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6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368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Sue's job</a:t>
            </a:r>
            <a:endParaRPr lang="en-US" sz="2500" dirty="0"/>
          </a:p>
        </p:txBody>
      </p:sp>
      <p:pic>
        <p:nvPicPr>
          <p:cNvPr id="6" name="brP_36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370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Part 2. Do the same for Sue.</a:t>
            </a:r>
            <a:endParaRPr lang="en-US" sz="1250" dirty="0"/>
          </a:p>
        </p:txBody>
      </p:sp>
      <p:sp>
        <p:nvSpPr>
          <p:cNvPr id="8" name="insIT_37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la Parte 2. Fai lo stesso per Sue.</a:t>
            </a:r>
            <a:endParaRPr lang="en-US" sz="950" dirty="0"/>
          </a:p>
        </p:txBody>
      </p:sp>
      <p:sp>
        <p:nvSpPr>
          <p:cNvPr id="9" name="note_37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37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7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Listening · His job, her job (Sue)   ·   📖 SB p.25 · 4c · audio 3.15 (TG key)</a:t>
            </a:r>
            <a:endParaRPr lang="en-US" sz="800" dirty="0"/>
          </a:p>
        </p:txBody>
      </p:sp>
      <p:sp>
        <p:nvSpPr>
          <p:cNvPr id="12" name="ap_375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3.15  ·  play twice</a:t>
            </a:r>
            <a:endParaRPr lang="en-US" sz="1100" dirty="0"/>
          </a:p>
        </p:txBody>
      </p:sp>
      <p:sp>
        <p:nvSpPr>
          <p:cNvPr id="13" name="ah_376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377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pf_378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8" name="ph_379" descr="/home/claude/lls-course/v2/cache/red_3b_jobs_jpg_627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19" name="cd_380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381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ih_382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Then guess: what are their jobs?</a:t>
            </a:r>
            <a:endParaRPr lang="en-US" sz="1200" dirty="0"/>
          </a:p>
        </p:txBody>
      </p:sp>
      <p:sp>
        <p:nvSpPr>
          <p:cNvPr id="22" name="gq_383"/>
          <p:cNvSpPr/>
          <p:nvPr/>
        </p:nvSpPr>
        <p:spPr>
          <a:xfrm>
            <a:off x="3383280" y="1417320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outside?</a:t>
            </a:r>
            <a:endParaRPr lang="en-US" sz="1200" dirty="0"/>
          </a:p>
        </p:txBody>
      </p:sp>
      <p:sp>
        <p:nvSpPr>
          <p:cNvPr id="23" name="R1_chip384"/>
          <p:cNvSpPr/>
          <p:nvPr/>
        </p:nvSpPr>
        <p:spPr>
          <a:xfrm>
            <a:off x="6812280" y="1417320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– it depends</a:t>
            </a:r>
            <a:endParaRPr lang="en-US" sz="1200" dirty="0"/>
          </a:p>
        </p:txBody>
      </p:sp>
      <p:sp>
        <p:nvSpPr>
          <p:cNvPr id="24" name="gq_385"/>
          <p:cNvSpPr/>
          <p:nvPr/>
        </p:nvSpPr>
        <p:spPr>
          <a:xfrm>
            <a:off x="3383280" y="1887583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at the weekend?</a:t>
            </a:r>
            <a:endParaRPr lang="en-US" sz="1200" dirty="0"/>
          </a:p>
        </p:txBody>
      </p:sp>
      <p:sp>
        <p:nvSpPr>
          <p:cNvPr id="25" name="R2_chip386"/>
          <p:cNvSpPr/>
          <p:nvPr/>
        </p:nvSpPr>
        <p:spPr>
          <a:xfrm>
            <a:off x="6812280" y="1887583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gq_387"/>
          <p:cNvSpPr/>
          <p:nvPr/>
        </p:nvSpPr>
        <p:spPr>
          <a:xfrm>
            <a:off x="3383280" y="2357846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with the public?</a:t>
            </a:r>
            <a:endParaRPr lang="en-US" sz="1200" dirty="0"/>
          </a:p>
        </p:txBody>
      </p:sp>
      <p:sp>
        <p:nvSpPr>
          <p:cNvPr id="27" name="R3_chip388"/>
          <p:cNvSpPr/>
          <p:nvPr/>
        </p:nvSpPr>
        <p:spPr>
          <a:xfrm>
            <a:off x="6812280" y="2357846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gq_389"/>
          <p:cNvSpPr/>
          <p:nvPr/>
        </p:nvSpPr>
        <p:spPr>
          <a:xfrm>
            <a:off x="3383280" y="2828109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have good holidays?</a:t>
            </a:r>
            <a:endParaRPr lang="en-US" sz="1200" dirty="0"/>
          </a:p>
        </p:txBody>
      </p:sp>
      <p:sp>
        <p:nvSpPr>
          <p:cNvPr id="29" name="R4_chip390"/>
          <p:cNvSpPr/>
          <p:nvPr/>
        </p:nvSpPr>
        <p:spPr>
          <a:xfrm>
            <a:off x="6812280" y="2828109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– 'I never have any holidays.'</a:t>
            </a:r>
            <a:endParaRPr lang="en-US" sz="1200" dirty="0"/>
          </a:p>
        </p:txBody>
      </p:sp>
      <p:sp>
        <p:nvSpPr>
          <p:cNvPr id="30" name="gq_391"/>
          <p:cNvSpPr/>
          <p:nvPr/>
        </p:nvSpPr>
        <p:spPr>
          <a:xfrm>
            <a:off x="3383280" y="3298371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at night?</a:t>
            </a:r>
            <a:endParaRPr lang="en-US" sz="1200" dirty="0"/>
          </a:p>
        </p:txBody>
      </p:sp>
      <p:sp>
        <p:nvSpPr>
          <p:cNvPr id="31" name="R5_chip392"/>
          <p:cNvSpPr/>
          <p:nvPr/>
        </p:nvSpPr>
        <p:spPr>
          <a:xfrm>
            <a:off x="6812280" y="3298371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– 'Sometimes. It depends.'</a:t>
            </a:r>
            <a:endParaRPr lang="en-US" sz="1200" dirty="0"/>
          </a:p>
        </p:txBody>
      </p:sp>
      <p:sp>
        <p:nvSpPr>
          <p:cNvPr id="32" name="gq_393"/>
          <p:cNvSpPr/>
          <p:nvPr/>
        </p:nvSpPr>
        <p:spPr>
          <a:xfrm>
            <a:off x="3383280" y="3768634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earn a lot of money?</a:t>
            </a:r>
            <a:endParaRPr lang="en-US" sz="1200" dirty="0"/>
          </a:p>
        </p:txBody>
      </p:sp>
      <p:sp>
        <p:nvSpPr>
          <p:cNvPr id="33" name="R6_chip394"/>
          <p:cNvSpPr/>
          <p:nvPr/>
        </p:nvSpPr>
        <p:spPr>
          <a:xfrm>
            <a:off x="6812280" y="3768634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– 'No, nothing! I don't have a salary.'</a:t>
            </a:r>
            <a:endParaRPr lang="en-US" sz="1200" dirty="0"/>
          </a:p>
        </p:txBody>
      </p:sp>
      <p:sp>
        <p:nvSpPr>
          <p:cNvPr id="34" name="gq_395"/>
          <p:cNvSpPr/>
          <p:nvPr/>
        </p:nvSpPr>
        <p:spPr>
          <a:xfrm>
            <a:off x="3383280" y="4238897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like your job?</a:t>
            </a:r>
            <a:endParaRPr lang="en-US" sz="1200" dirty="0"/>
          </a:p>
        </p:txBody>
      </p:sp>
      <p:sp>
        <p:nvSpPr>
          <p:cNvPr id="35" name="R7_chip396"/>
          <p:cNvSpPr/>
          <p:nvPr/>
        </p:nvSpPr>
        <p:spPr>
          <a:xfrm>
            <a:off x="6812280" y="4238897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– 'I love it.'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4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4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9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9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399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 they do?</a:t>
            </a:r>
            <a:endParaRPr lang="en-US" sz="2500" dirty="0"/>
          </a:p>
        </p:txBody>
      </p:sp>
      <p:pic>
        <p:nvPicPr>
          <p:cNvPr id="6" name="brP_40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0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sentences about Alex and Sue. What do you think their jobs are? Then listen!</a:t>
            </a:r>
            <a:endParaRPr lang="en-US" sz="1100" dirty="0"/>
          </a:p>
        </p:txBody>
      </p:sp>
      <p:sp>
        <p:nvSpPr>
          <p:cNvPr id="8" name="insIT_40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frasi su Alex e Sue. Che lavoro fanno? Poi ascolta!</a:t>
            </a:r>
            <a:endParaRPr lang="en-US" sz="950" dirty="0"/>
          </a:p>
        </p:txBody>
      </p:sp>
      <p:sp>
        <p:nvSpPr>
          <p:cNvPr id="9" name="note_40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Controlled practice</a:t>
            </a:r>
            <a:endParaRPr lang="en-US" sz="1150" dirty="0"/>
          </a:p>
        </p:txBody>
      </p:sp>
      <p:pic>
        <p:nvPicPr>
          <p:cNvPr id="10" name="logo_40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0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Listening · guess the jobs   ·   📖 SB p.25 · 4d, 4e · audio 3.16 (TG key)</a:t>
            </a:r>
            <a:endParaRPr lang="en-US" sz="800" dirty="0"/>
          </a:p>
        </p:txBody>
      </p:sp>
      <p:sp>
        <p:nvSpPr>
          <p:cNvPr id="12" name="ap_406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3.16</a:t>
            </a:r>
            <a:endParaRPr lang="en-US" sz="1100" dirty="0"/>
          </a:p>
        </p:txBody>
      </p:sp>
      <p:sp>
        <p:nvSpPr>
          <p:cNvPr id="13" name="ah_407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408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bd_409"/>
          <p:cNvSpPr/>
          <p:nvPr/>
        </p:nvSpPr>
        <p:spPr>
          <a:xfrm>
            <a:off x="320040" y="1440729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q_410"/>
          <p:cNvSpPr/>
          <p:nvPr/>
        </p:nvSpPr>
        <p:spPr>
          <a:xfrm>
            <a:off x="704088" y="1417320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Alex / office</a:t>
            </a:r>
            <a:endParaRPr lang="en-US" sz="1200" dirty="0"/>
          </a:p>
        </p:txBody>
      </p:sp>
      <p:sp>
        <p:nvSpPr>
          <p:cNvPr id="19" name="R1_chip411"/>
          <p:cNvSpPr/>
          <p:nvPr/>
        </p:nvSpPr>
        <p:spPr>
          <a:xfrm>
            <a:off x="704088" y="1820753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Alex doesn't work in an office. He sometimes works in the evening.</a:t>
            </a:r>
            <a:endParaRPr lang="en-US" sz="1100" dirty="0"/>
          </a:p>
        </p:txBody>
      </p:sp>
      <p:sp>
        <p:nvSpPr>
          <p:cNvPr id="20" name="bd_412"/>
          <p:cNvSpPr/>
          <p:nvPr/>
        </p:nvSpPr>
        <p:spPr>
          <a:xfrm>
            <a:off x="320040" y="2562393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q_413"/>
          <p:cNvSpPr/>
          <p:nvPr/>
        </p:nvSpPr>
        <p:spPr>
          <a:xfrm>
            <a:off x="704088" y="2538984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Alex: team? special clothes? travel?</a:t>
            </a:r>
            <a:endParaRPr lang="en-US" sz="1200" dirty="0"/>
          </a:p>
        </p:txBody>
      </p:sp>
      <p:sp>
        <p:nvSpPr>
          <p:cNvPr id="22" name="R2_chip414"/>
          <p:cNvSpPr/>
          <p:nvPr/>
        </p:nvSpPr>
        <p:spPr>
          <a:xfrm>
            <a:off x="704088" y="2942417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works in a team. He wears special clothes. He travels at weekends.</a:t>
            </a:r>
            <a:endParaRPr lang="en-US" sz="1100" dirty="0"/>
          </a:p>
        </p:txBody>
      </p:sp>
      <p:sp>
        <p:nvSpPr>
          <p:cNvPr id="23" name="bd_415"/>
          <p:cNvSpPr/>
          <p:nvPr/>
        </p:nvSpPr>
        <p:spPr>
          <a:xfrm>
            <a:off x="320040" y="3684057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q_416"/>
          <p:cNvSpPr/>
          <p:nvPr/>
        </p:nvSpPr>
        <p:spPr>
          <a:xfrm>
            <a:off x="704088" y="3660648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Alex: drive? languages? make things?</a:t>
            </a:r>
            <a:endParaRPr lang="en-US" sz="1200" dirty="0"/>
          </a:p>
        </p:txBody>
      </p:sp>
      <p:sp>
        <p:nvSpPr>
          <p:cNvPr id="25" name="R3_chip417"/>
          <p:cNvSpPr/>
          <p:nvPr/>
        </p:nvSpPr>
        <p:spPr>
          <a:xfrm>
            <a:off x="704088" y="4064081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doesn't drive in his job. He doesn't speak foreign languages. He doesn't make things.</a:t>
            </a:r>
            <a:endParaRPr lang="en-US" sz="1100" dirty="0"/>
          </a:p>
        </p:txBody>
      </p:sp>
      <p:sp>
        <p:nvSpPr>
          <p:cNvPr id="26" name="bd_418"/>
          <p:cNvSpPr/>
          <p:nvPr/>
        </p:nvSpPr>
        <p:spPr>
          <a:xfrm>
            <a:off x="4709160" y="1440729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q_419"/>
          <p:cNvSpPr/>
          <p:nvPr/>
        </p:nvSpPr>
        <p:spPr>
          <a:xfrm>
            <a:off x="5093208" y="1417320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Sue: weekend? holidays? money?</a:t>
            </a:r>
            <a:endParaRPr lang="en-US" sz="1200" dirty="0"/>
          </a:p>
        </p:txBody>
      </p:sp>
      <p:sp>
        <p:nvSpPr>
          <p:cNvPr id="28" name="R4_chip420"/>
          <p:cNvSpPr/>
          <p:nvPr/>
        </p:nvSpPr>
        <p:spPr>
          <a:xfrm>
            <a:off x="5093208" y="1820753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works at the weekend. She doesn't have any holidays. She doesn't earn any money.</a:t>
            </a:r>
            <a:endParaRPr lang="en-US" sz="1100" dirty="0"/>
          </a:p>
        </p:txBody>
      </p:sp>
      <p:sp>
        <p:nvSpPr>
          <p:cNvPr id="29" name="bd_421"/>
          <p:cNvSpPr/>
          <p:nvPr/>
        </p:nvSpPr>
        <p:spPr>
          <a:xfrm>
            <a:off x="4709160" y="2562393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q_422"/>
          <p:cNvSpPr/>
          <p:nvPr/>
        </p:nvSpPr>
        <p:spPr>
          <a:xfrm>
            <a:off x="5093208" y="2538984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Alex's job?</a:t>
            </a:r>
            <a:endParaRPr lang="en-US" sz="1200" dirty="0"/>
          </a:p>
        </p:txBody>
      </p:sp>
      <p:sp>
        <p:nvSpPr>
          <p:cNvPr id="31" name="R5_chip423"/>
          <p:cNvSpPr/>
          <p:nvPr/>
        </p:nvSpPr>
        <p:spPr>
          <a:xfrm>
            <a:off x="5093208" y="2942417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a footballer!</a:t>
            </a:r>
            <a:endParaRPr lang="en-US" sz="1100" dirty="0"/>
          </a:p>
        </p:txBody>
      </p:sp>
      <p:sp>
        <p:nvSpPr>
          <p:cNvPr id="32" name="bd_424"/>
          <p:cNvSpPr/>
          <p:nvPr/>
        </p:nvSpPr>
        <p:spPr>
          <a:xfrm>
            <a:off x="4709160" y="3684057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q_425"/>
          <p:cNvSpPr/>
          <p:nvPr/>
        </p:nvSpPr>
        <p:spPr>
          <a:xfrm>
            <a:off x="5093208" y="3660648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Sue's job?</a:t>
            </a:r>
            <a:endParaRPr lang="en-US" sz="1200" dirty="0"/>
          </a:p>
        </p:txBody>
      </p:sp>
      <p:sp>
        <p:nvSpPr>
          <p:cNvPr id="34" name="R6_chip426"/>
          <p:cNvSpPr/>
          <p:nvPr/>
        </p:nvSpPr>
        <p:spPr>
          <a:xfrm>
            <a:off x="5093208" y="4064081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a mum – a full-time mother!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2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2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429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my job!</a:t>
            </a:r>
            <a:endParaRPr lang="en-US" sz="2500" dirty="0"/>
          </a:p>
        </p:txBody>
      </p:sp>
      <p:pic>
        <p:nvPicPr>
          <p:cNvPr id="6" name="brP_43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3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 His job, her job! Choose a job. The group asks questions – 2 minutes.</a:t>
            </a:r>
            <a:endParaRPr lang="en-US" sz="1100" dirty="0"/>
          </a:p>
        </p:txBody>
      </p:sp>
      <p:sp>
        <p:nvSpPr>
          <p:cNvPr id="8" name="insIT_43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Giocate a His job, her job! Scegli un lavoro. Il gruppo fa domande – 2 minuti.</a:t>
            </a:r>
            <a:endParaRPr lang="en-US" sz="950" dirty="0"/>
          </a:p>
        </p:txBody>
      </p:sp>
      <p:sp>
        <p:nvSpPr>
          <p:cNvPr id="9" name="note_43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👨‍👩‍👧 groups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43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3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Speaking · His job, her job   ·   📖 SB p.25 · 5a, 5b</a:t>
            </a:r>
            <a:endParaRPr lang="en-US" sz="800" dirty="0"/>
          </a:p>
        </p:txBody>
      </p:sp>
      <p:sp>
        <p:nvSpPr>
          <p:cNvPr id="12" name="cd_436"/>
          <p:cNvSpPr/>
          <p:nvPr/>
        </p:nvSpPr>
        <p:spPr>
          <a:xfrm>
            <a:off x="320040" y="1417320"/>
            <a:ext cx="2697480" cy="2307336"/>
          </a:xfrm>
          <a:prstGeom prst="roundRect">
            <a:avLst>
              <a:gd name="adj" fmla="val 554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43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43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439"/>
          <p:cNvSpPr/>
          <p:nvPr/>
        </p:nvSpPr>
        <p:spPr>
          <a:xfrm>
            <a:off x="886968" y="1911096"/>
            <a:ext cx="2039112" cy="1740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Groups of 4. Each student secretly chooses a job (VB p.154).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others ask the questions from the chart: Do you work at night?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minutes – then guess!</a:t>
            </a:r>
            <a:endParaRPr lang="en-US" sz="1150" dirty="0"/>
          </a:p>
        </p:txBody>
      </p:sp>
      <p:sp>
        <p:nvSpPr>
          <p:cNvPr id="16" name="bd_440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gq_441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work outside? · Do you work at night?</a:t>
            </a:r>
            <a:endParaRPr lang="en-US" sz="1200" dirty="0"/>
          </a:p>
        </p:txBody>
      </p:sp>
      <p:sp>
        <p:nvSpPr>
          <p:cNvPr id="18" name="R1_chip442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Yes, I do. / No, I don't. / It depends.</a:t>
            </a:r>
            <a:endParaRPr lang="en-US" sz="1200" dirty="0"/>
          </a:p>
        </p:txBody>
      </p:sp>
      <p:sp>
        <p:nvSpPr>
          <p:cNvPr id="19" name="bd_443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gq_444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wear a uniform? · Do you drive?</a:t>
            </a:r>
            <a:endParaRPr lang="en-US" sz="1200" dirty="0"/>
          </a:p>
        </p:txBody>
      </p:sp>
      <p:sp>
        <p:nvSpPr>
          <p:cNvPr id="21" name="R2_chip445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Are you a police officer?</a:t>
            </a:r>
            <a:endParaRPr lang="en-US" sz="1200" dirty="0"/>
          </a:p>
        </p:txBody>
      </p:sp>
      <p:sp>
        <p:nvSpPr>
          <p:cNvPr id="22" name="bd_446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gq_447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Round 2: think of a person you know with one of the jobs.</a:t>
            </a:r>
            <a:endParaRPr lang="en-US" sz="1200" dirty="0"/>
          </a:p>
        </p:txBody>
      </p:sp>
      <p:sp>
        <p:nvSpPr>
          <p:cNvPr id="24" name="R3_chip448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Man or woman?</a:t>
            </a:r>
            <a:endParaRPr lang="en-US" sz="1200" dirty="0"/>
          </a:p>
        </p:txBody>
      </p:sp>
      <p:sp>
        <p:nvSpPr>
          <p:cNvPr id="25" name="bd_449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gq_450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 he / she work at the weekend?</a:t>
            </a:r>
            <a:endParaRPr lang="en-US" sz="1200" dirty="0"/>
          </a:p>
        </p:txBody>
      </p:sp>
      <p:sp>
        <p:nvSpPr>
          <p:cNvPr id="27" name="R4_chip451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Does she speak foreign languages?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5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5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54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5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456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45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458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45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6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Exit · what can you remember?</a:t>
            </a:r>
            <a:endParaRPr lang="en-US" sz="800" dirty="0"/>
          </a:p>
        </p:txBody>
      </p:sp>
      <p:sp>
        <p:nvSpPr>
          <p:cNvPr id="12" name="bd_461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462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jobs – with a or an.</a:t>
            </a:r>
            <a:endParaRPr lang="en-US" sz="1400" dirty="0"/>
          </a:p>
        </p:txBody>
      </p:sp>
      <p:sp>
        <p:nvSpPr>
          <p:cNvPr id="14" name="bd_463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464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questions: one with Do you…?, one with Does he…?</a:t>
            </a:r>
            <a:endParaRPr lang="en-US" sz="1400" dirty="0"/>
          </a:p>
        </p:txBody>
      </p:sp>
      <p:sp>
        <p:nvSpPr>
          <p:cNvPr id="16" name="bd_465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466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about Alex's job – or Sue's!</a:t>
            </a:r>
            <a:endParaRPr lang="en-US" sz="1400" dirty="0"/>
          </a:p>
        </p:txBody>
      </p:sp>
      <p:sp>
        <p:nvSpPr>
          <p:cNvPr id="18" name="cd_467"/>
          <p:cNvSpPr/>
          <p:nvPr/>
        </p:nvSpPr>
        <p:spPr>
          <a:xfrm>
            <a:off x="5669280" y="1417320"/>
            <a:ext cx="3200400" cy="1069848"/>
          </a:xfrm>
          <a:prstGeom prst="roundRect">
            <a:avLst>
              <a:gd name="adj" fmla="val 1196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68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69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70"/>
          <p:cNvSpPr/>
          <p:nvPr/>
        </p:nvSpPr>
        <p:spPr>
          <a:xfrm>
            <a:off x="6236208" y="1911096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3B pp.20–21: exercises 1–3</a:t>
            </a:r>
            <a:endParaRPr lang="en-US" sz="1150" dirty="0"/>
          </a:p>
        </p:txBody>
      </p:sp>
      <p:sp>
        <p:nvSpPr>
          <p:cNvPr id="22" name="st_471"/>
          <p:cNvSpPr/>
          <p:nvPr/>
        </p:nvSpPr>
        <p:spPr>
          <a:xfrm rot="-180000">
            <a:off x="5806440" y="2715768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3C Love me, love my dog – word order in questions (SB p.26)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7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7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74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7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76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7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7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7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8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3B · Review · what did you do today?</a:t>
            </a:r>
            <a:endParaRPr lang="en-US" sz="800" dirty="0"/>
          </a:p>
        </p:txBody>
      </p:sp>
      <p:sp>
        <p:nvSpPr>
          <p:cNvPr id="12" name="cd_481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82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4" name="tt_483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Asked questions: Do you…? Does he…?</a:t>
            </a:r>
            <a:endParaRPr lang="en-US" sz="1350" dirty="0"/>
          </a:p>
        </p:txBody>
      </p:sp>
      <p:sp>
        <p:nvSpPr>
          <p:cNvPr id="15" name="R1_tk484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85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86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👮</a:t>
            </a:r>
            <a:endParaRPr lang="en-US" sz="1800" dirty="0"/>
          </a:p>
        </p:txBody>
      </p:sp>
      <p:sp>
        <p:nvSpPr>
          <p:cNvPr id="18" name="tt_487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30 jobs: a nurse, an engineer…</a:t>
            </a:r>
            <a:endParaRPr lang="en-US" sz="1350" dirty="0"/>
          </a:p>
        </p:txBody>
      </p:sp>
      <p:sp>
        <p:nvSpPr>
          <p:cNvPr id="19" name="R2_tk488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89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90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🐦</a:t>
            </a:r>
            <a:endParaRPr lang="en-US" sz="1800" dirty="0"/>
          </a:p>
        </p:txBody>
      </p:sp>
      <p:sp>
        <p:nvSpPr>
          <p:cNvPr id="22" name="tt_491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/ɜː/ and /ə/: nurse, doctor</a:t>
            </a:r>
            <a:endParaRPr lang="en-US" sz="1350" dirty="0"/>
          </a:p>
        </p:txBody>
      </p:sp>
      <p:sp>
        <p:nvSpPr>
          <p:cNvPr id="23" name="R3_tk492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93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94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26" name="tt_495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game show: His job, her job</a:t>
            </a:r>
            <a:endParaRPr lang="en-US" sz="1350" dirty="0"/>
          </a:p>
        </p:txBody>
      </p:sp>
      <p:sp>
        <p:nvSpPr>
          <p:cNvPr id="27" name="R4_tk496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97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98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🎲</a:t>
            </a:r>
            <a:endParaRPr lang="en-US" sz="1800" dirty="0"/>
          </a:p>
        </p:txBody>
      </p:sp>
      <p:sp>
        <p:nvSpPr>
          <p:cNvPr id="30" name="tt_499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Played the game: guess the job!</a:t>
            </a:r>
            <a:endParaRPr lang="en-US" sz="1350" dirty="0"/>
          </a:p>
        </p:txBody>
      </p:sp>
      <p:sp>
        <p:nvSpPr>
          <p:cNvPr id="31" name="R5_tk500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501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3B 9 to 5</dc:title>
  <dc:subject>PptxGenJS Presentation</dc:subject>
  <dc:creator>PptxGenJS</dc:creator>
  <cp:lastModifiedBy>PptxGenJS</cp:lastModifiedBy>
  <cp:revision>1</cp:revision>
  <dcterms:created xsi:type="dcterms:W3CDTF">2026-10-23T08:19:04Z</dcterms:created>
  <dcterms:modified xsi:type="dcterms:W3CDTF">2026-10-23T08:19:04Z</dcterms:modified>
</cp:coreProperties>
</file>