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Show the photo: Friday, friends, the weekend starts! Ask the THINK question; take 4–5 answers in any form (don't correct the grammar yet). Write two good answers on the board – you'll come back to them at the rule slide. Read the 'Today you're going to…' list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lessons (3 min)
REVISION (3 min). Read the examples. Quick check: ask 4 students a Do or Be question (Are you hungry? Do you have a dog? Is it cold today? Do you play an instrument?). Pairs make one more example for each column. Today: plans for the weekend.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· free time (3 min)
VOCABULARY (3 min). Click once per tile: the Italian appears. Before clicking, mime the activity and let the class say it in English. Point at the 'Watch out' line: go shopping (not go to shopping), do homework (not make). Choral drill 4–5 of the phrases.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game (3 min)
GAME 1 (3 min). Two teams. A student from team A faces the screen; the rest of team A faces the class. Click to show each word: 30 seconds to mime it. Full phrase in English = 1 point (just 'shopping' = half point). Then team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Speaking · class story (TPRS) (4 min)
TPRS CLASS STORY (4 min). Click once per line. For each line: 1) say it with drama, 2) ask the grey questions round the class (yes/no → either/or → open), 3) let students change details ('Is Marco visiting Nonna? No? Who is he visiting?') and use their ideas in the next lines. Students hear 'going to' (plans) and present continuous with a time (arrangements) 15+ times BEFORE the rule. Last question: personalise.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Reading · the group chat (on this slide) (4 min)
READING + GAPS (4 min). The text is ON THE SLIDE. Gist first (30 seconds): 'What are they going to do on Saturday evening?' (a pizza at 7). Then pairs complete 1–5 with the box – 2 words don't fit (went = past, do). Click once per gap: the answer appears in the text. Answers: 1 are you doing · 2 'm going · 3 're meeting · 4 'm having · 5 going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Reading · detail (3 min)
DETAIL (3 min). Pairs answer from the chat on the last slide (they can go back). Click once per answer. Short answers are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· noticing (3 min)
GUIDED DISCOVERY (3 min) before the rule. Pairs decide: is it just an idea (plan) or organised with a time / other people (arrangement)? Click once per sentence. Then ask: which verb form do the pink ones use? (going to) And the green ones? (am/is/are + -ing).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plans and arrangements (4 min)
RULE (4 min), built from the story and the chat. Click once per column. CCQs: 'We're meeting at 3 – do Sofia and Anna know the time?' (yes) 'Is it organised?' (yes) → present continuous. 'I'm going to have a lie-in – is there a time?' (no) 'Did Marco decide?' (yes) → going to. Tell them: both are correct in many sentences – the important thing is NOT to use the Italian present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Grammar · practice (4 min)
CONTROLLED PRACTICE (4 min). Pairs write the answers, then click once per sentence. Accept both forms where both are natural (e.g. c 'Are you going to do'). Ask for each: is it a plan or an arrangement? Clue words: a time or a day + other people = arrangement.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Pronunciation · going to /ɡəʊɪŋ tə/ (4 min)
PRONUNCIATION (4 min). No recording: YOU read each sentence twice at natural speed. Students write only the stressed words, then rebuild the sentence. Click 1 = big words, click 2 = full sentence. Drill: 'going to' is fast and weak /ɡəʊɪŋ tə/; 'to' is /tə/, not /tu:/. Italian speakers stress every word – exaggerate the big ones, whisper the small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Writing · reply to the chat (4 min)
WRITING (4 min). Each student writes a 3–4 line reply to the group chat from slide 6, answering the 4 prompts (click once per prompt to show sentence starters). Then read it to a partner. Fast finishers: write Sunday's plans too. Collect 2–3 replies and read them out (good for error correction).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Grammar game (3 min)
GAME 2 (3 min). 📅 = in the diary (arrangement → present continuous). 💭 = an idea (plan → going to). ❓ = make a question. Click to show a model answer after each round. Point for a correct full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Speaking · my weekend (5 min)
FREER PRACTICE (5 min). First, each student writes 3 things in a mini-diary on paper (Sat morning / Sat afternoon / Sun…), leaving at least one slot free. Questions appear one per click as models. Mingle: find someone free at the same time and make an arrangement ('Let's go to the cinema at 5!'). Feedback: 3 students tell the class their new arrangement. Note 4–5 errors for correction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B1 Preliminary style (5 min)
EXAM-STYLE SPEAKING (5 min). Like B1 Preliminary Part 1: short answers + one extra detail. Questions appear one per click; about 1 minute each. Model the first one with a strong student. Push for 'because…' and 'with…'.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Exit · what can you remember? (2 min)
RETRIEVAL EXIT (2 min). Books closed. Pairs: 3 words, 2 sentences, 1 question. Share a few. Set homework from the portal (B1.1 Young easier homework).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Extra game (4 min)
EXTRA (if there's time). Model first: think of 'going to the beach with my cousins on Sunday'. Students ask Are you going to…? / Are you meeting…? / Is it on Saturday? Click to show model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B1.1 Young · LLS course · LLS original lesson · no book needed</a:t>
            </a:r>
            <a:endParaRPr lang="en-US" sz="95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Y1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Weekend plans</a:t>
            </a:r>
            <a:endParaRPr lang="en-US" sz="25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Free time, plans and arrangements</a:t>
            </a:r>
            <a:endParaRPr lang="en-US" sz="120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🎮  learn 12 free-time words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📱  read a group chat about the weekend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listen to a class story and answer questions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🗓  talk about plans: I'm going to… / I'm meeting…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find a friend for your weekend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sleep a lot and play football on Sunday!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spare_future_friends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Friday afternoon. What are you going to do this weekend?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lessons?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Revision · last lessons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742950" y="1371600"/>
            <a:ext cx="1897380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spare_life_teenage_jpg_435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88670" y="1417320"/>
            <a:ext cx="1805940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508760"/>
          </a:xfrm>
          <a:prstGeom prst="roundRect">
            <a:avLst>
              <a:gd name="adj" fmla="val 84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Oct: Do or Be in questions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Oct: family + plans with going to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58521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3922776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4773168" y="1783080"/>
            <a:ext cx="585216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5449824" y="1783080"/>
            <a:ext cx="58521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6126480" y="1783080"/>
            <a:ext cx="67208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6890004" y="17830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going to</a:t>
            </a:r>
            <a:endParaRPr lang="en-US" sz="1200" dirty="0"/>
          </a:p>
        </p:txBody>
      </p:sp>
      <p:sp>
        <p:nvSpPr>
          <p:cNvPr id="25" name="lv_39"/>
          <p:cNvSpPr/>
          <p:nvPr/>
        </p:nvSpPr>
        <p:spPr>
          <a:xfrm>
            <a:off x="3246120" y="2240280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6" name="lv_40"/>
          <p:cNvSpPr/>
          <p:nvPr/>
        </p:nvSpPr>
        <p:spPr>
          <a:xfrm>
            <a:off x="5151120" y="2240280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7" name="lv_41"/>
          <p:cNvSpPr/>
          <p:nvPr/>
        </p:nvSpPr>
        <p:spPr>
          <a:xfrm>
            <a:off x="7056120" y="2240280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28" name="cd_42"/>
          <p:cNvSpPr/>
          <p:nvPr/>
        </p:nvSpPr>
        <p:spPr>
          <a:xfrm>
            <a:off x="3246120" y="2770632"/>
            <a:ext cx="2756916" cy="198424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rh_43"/>
          <p:cNvSpPr/>
          <p:nvPr/>
        </p:nvSpPr>
        <p:spPr>
          <a:xfrm>
            <a:off x="3337560" y="2843784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or Be?</a:t>
            </a:r>
            <a:endParaRPr lang="en-US" sz="1100" dirty="0"/>
          </a:p>
        </p:txBody>
      </p:sp>
      <p:sp>
        <p:nvSpPr>
          <p:cNvPr id="30" name="R1_rl44"/>
          <p:cNvSpPr/>
          <p:nvPr/>
        </p:nvSpPr>
        <p:spPr>
          <a:xfrm>
            <a:off x="3383280" y="3227832"/>
            <a:ext cx="2482596" cy="1453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like football? – Yes, I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tired? – No, I'm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your brother at school? – Yes, he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cd_45"/>
          <p:cNvSpPr/>
          <p:nvPr/>
        </p:nvSpPr>
        <p:spPr>
          <a:xfrm>
            <a:off x="6112764" y="2770632"/>
            <a:ext cx="2756916" cy="198424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2" name="rh_46"/>
          <p:cNvSpPr/>
          <p:nvPr/>
        </p:nvSpPr>
        <p:spPr>
          <a:xfrm>
            <a:off x="6204204" y="2843784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Plans</a:t>
            </a:r>
            <a:endParaRPr lang="en-US" sz="1100" dirty="0"/>
          </a:p>
        </p:txBody>
      </p:sp>
      <p:sp>
        <p:nvSpPr>
          <p:cNvPr id="33" name="R2_rl47"/>
          <p:cNvSpPr/>
          <p:nvPr/>
        </p:nvSpPr>
        <p:spPr>
          <a:xfrm>
            <a:off x="6249924" y="3227832"/>
            <a:ext cx="2482596" cy="1453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going to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study tonight.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cousin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going to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visit us.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going to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watch the match?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Weekend words</a:t>
            </a:r>
            <a:endParaRPr lang="en-US" sz="24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it in English. Then click for the Italian.</a:t>
            </a:r>
            <a:endParaRPr lang="en-US" sz="125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Dillo in inglese. Poi clicca per l'italiano.</a:t>
            </a:r>
            <a:endParaRPr lang="en-US" sz="950" dirty="0"/>
          </a:p>
        </p:txBody>
      </p:sp>
      <p:sp>
        <p:nvSpPr>
          <p:cNvPr id="9" name="note_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CONTROLLA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TPRS · meaning</a:t>
            </a:r>
            <a:endParaRPr lang="en-US" sz="1250" dirty="0"/>
          </a:p>
        </p:txBody>
      </p:sp>
      <p:pic>
        <p:nvPicPr>
          <p:cNvPr id="10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Vocabulary · free time</a:t>
            </a:r>
            <a:endParaRPr lang="en-US" sz="800" dirty="0"/>
          </a:p>
        </p:txBody>
      </p:sp>
      <p:sp>
        <p:nvSpPr>
          <p:cNvPr id="12" name="cd_57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58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⚽</a:t>
            </a:r>
            <a:endParaRPr lang="en-US" sz="2000" dirty="0"/>
          </a:p>
        </p:txBody>
      </p:sp>
      <p:sp>
        <p:nvSpPr>
          <p:cNvPr id="14" name="en_59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 football</a:t>
            </a:r>
            <a:endParaRPr lang="en-US" sz="1200" dirty="0"/>
          </a:p>
        </p:txBody>
      </p:sp>
      <p:sp>
        <p:nvSpPr>
          <p:cNvPr id="15" name="R1_it60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giocare a calcio</a:t>
            </a:r>
            <a:endParaRPr lang="en-US" sz="1000" dirty="0"/>
          </a:p>
        </p:txBody>
      </p:sp>
      <p:sp>
        <p:nvSpPr>
          <p:cNvPr id="16" name="cd_61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e_62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8" name="en_63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 video games</a:t>
            </a:r>
            <a:endParaRPr lang="en-US" sz="1150" dirty="0"/>
          </a:p>
        </p:txBody>
      </p:sp>
      <p:sp>
        <p:nvSpPr>
          <p:cNvPr id="19" name="R2_it64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giocare ai videogiochi</a:t>
            </a:r>
            <a:endParaRPr lang="en-US" sz="900" dirty="0"/>
          </a:p>
        </p:txBody>
      </p:sp>
      <p:sp>
        <p:nvSpPr>
          <p:cNvPr id="20" name="cd_65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e_66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22" name="en_67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shopping</a:t>
            </a:r>
            <a:endParaRPr lang="en-US" sz="1200" dirty="0"/>
          </a:p>
        </p:txBody>
      </p:sp>
      <p:sp>
        <p:nvSpPr>
          <p:cNvPr id="23" name="R3_it68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shopping</a:t>
            </a:r>
            <a:endParaRPr lang="en-US" sz="1000" dirty="0"/>
          </a:p>
        </p:txBody>
      </p:sp>
      <p:sp>
        <p:nvSpPr>
          <p:cNvPr id="24" name="cd_69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70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🍕</a:t>
            </a:r>
            <a:endParaRPr lang="en-US" sz="2000" dirty="0"/>
          </a:p>
        </p:txBody>
      </p:sp>
      <p:sp>
        <p:nvSpPr>
          <p:cNvPr id="26" name="en_71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out for a pizza</a:t>
            </a:r>
            <a:endParaRPr lang="en-US" sz="1200" dirty="0"/>
          </a:p>
        </p:txBody>
      </p:sp>
      <p:sp>
        <p:nvSpPr>
          <p:cNvPr id="27" name="R4_it72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uscire a mangiare una pizza</a:t>
            </a:r>
            <a:endParaRPr lang="en-US" sz="800" dirty="0"/>
          </a:p>
        </p:txBody>
      </p:sp>
      <p:sp>
        <p:nvSpPr>
          <p:cNvPr id="28" name="cd_73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e_74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30" name="en_75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the cinema</a:t>
            </a:r>
            <a:endParaRPr lang="en-US" sz="1200" dirty="0"/>
          </a:p>
        </p:txBody>
      </p:sp>
      <p:sp>
        <p:nvSpPr>
          <p:cNvPr id="31" name="R5_it76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al cinema</a:t>
            </a:r>
            <a:endParaRPr lang="en-US" sz="1000" dirty="0"/>
          </a:p>
        </p:txBody>
      </p:sp>
      <p:sp>
        <p:nvSpPr>
          <p:cNvPr id="32" name="cd_77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78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🏖️</a:t>
            </a:r>
            <a:endParaRPr lang="en-US" sz="2000" dirty="0"/>
          </a:p>
        </p:txBody>
      </p:sp>
      <p:sp>
        <p:nvSpPr>
          <p:cNvPr id="34" name="en_79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the beach</a:t>
            </a:r>
            <a:endParaRPr lang="en-US" sz="1200" dirty="0"/>
          </a:p>
        </p:txBody>
      </p:sp>
      <p:sp>
        <p:nvSpPr>
          <p:cNvPr id="35" name="R6_it80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al mare</a:t>
            </a:r>
            <a:endParaRPr lang="en-US" sz="1000" dirty="0"/>
          </a:p>
        </p:txBody>
      </p:sp>
      <p:sp>
        <p:nvSpPr>
          <p:cNvPr id="36" name="cd_81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e_82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👵</a:t>
            </a:r>
            <a:endParaRPr lang="en-US" sz="2000" dirty="0"/>
          </a:p>
        </p:txBody>
      </p:sp>
      <p:sp>
        <p:nvSpPr>
          <p:cNvPr id="38" name="en_83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visit my grandparents</a:t>
            </a:r>
            <a:endParaRPr lang="en-US" sz="1000" dirty="0"/>
          </a:p>
        </p:txBody>
      </p:sp>
      <p:sp>
        <p:nvSpPr>
          <p:cNvPr id="39" name="R7_it84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dai nonni</a:t>
            </a:r>
            <a:endParaRPr lang="en-US" sz="1000" dirty="0"/>
          </a:p>
        </p:txBody>
      </p:sp>
      <p:sp>
        <p:nvSpPr>
          <p:cNvPr id="40" name="cd_85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1" name="e_86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😴</a:t>
            </a:r>
            <a:endParaRPr lang="en-US" sz="2000" dirty="0"/>
          </a:p>
        </p:txBody>
      </p:sp>
      <p:sp>
        <p:nvSpPr>
          <p:cNvPr id="42" name="en_87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lie-in</a:t>
            </a:r>
            <a:endParaRPr lang="en-US" sz="1200" dirty="0"/>
          </a:p>
        </p:txBody>
      </p:sp>
      <p:sp>
        <p:nvSpPr>
          <p:cNvPr id="43" name="R8_it88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dormire fino a tardi</a:t>
            </a:r>
            <a:endParaRPr lang="en-US" sz="1000" dirty="0"/>
          </a:p>
        </p:txBody>
      </p:sp>
      <p:sp>
        <p:nvSpPr>
          <p:cNvPr id="44" name="cd_89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90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46" name="en_91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my homework</a:t>
            </a:r>
            <a:endParaRPr lang="en-US" sz="1200" dirty="0"/>
          </a:p>
        </p:txBody>
      </p:sp>
      <p:sp>
        <p:nvSpPr>
          <p:cNvPr id="47" name="R9_it92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i compiti</a:t>
            </a:r>
            <a:endParaRPr lang="en-US" sz="1000" dirty="0"/>
          </a:p>
        </p:txBody>
      </p:sp>
      <p:sp>
        <p:nvSpPr>
          <p:cNvPr id="48" name="cd_93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9" name="e_94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🎂</a:t>
            </a:r>
            <a:endParaRPr lang="en-US" sz="2000" dirty="0"/>
          </a:p>
        </p:txBody>
      </p:sp>
      <p:sp>
        <p:nvSpPr>
          <p:cNvPr id="50" name="en_95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a party</a:t>
            </a:r>
            <a:endParaRPr lang="en-US" sz="1200" dirty="0"/>
          </a:p>
        </p:txBody>
      </p:sp>
      <p:sp>
        <p:nvSpPr>
          <p:cNvPr id="51" name="R10_it96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a una festa</a:t>
            </a:r>
            <a:endParaRPr lang="en-US" sz="1000" dirty="0"/>
          </a:p>
        </p:txBody>
      </p:sp>
      <p:sp>
        <p:nvSpPr>
          <p:cNvPr id="52" name="cd_97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3" name="e_98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🏋️</a:t>
            </a:r>
            <a:endParaRPr lang="en-US" sz="2000" dirty="0"/>
          </a:p>
        </p:txBody>
      </p:sp>
      <p:sp>
        <p:nvSpPr>
          <p:cNvPr id="54" name="en_99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the gym</a:t>
            </a:r>
            <a:endParaRPr lang="en-US" sz="1200" dirty="0"/>
          </a:p>
        </p:txBody>
      </p:sp>
      <p:sp>
        <p:nvSpPr>
          <p:cNvPr id="55" name="R11_it100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in palestra</a:t>
            </a:r>
            <a:endParaRPr lang="en-US" sz="1000" dirty="0"/>
          </a:p>
        </p:txBody>
      </p:sp>
      <p:sp>
        <p:nvSpPr>
          <p:cNvPr id="56" name="cd_101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7" name="e_102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58" name="en_103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tidy my room</a:t>
            </a:r>
            <a:endParaRPr lang="en-US" sz="1200" dirty="0"/>
          </a:p>
        </p:txBody>
      </p:sp>
      <p:sp>
        <p:nvSpPr>
          <p:cNvPr id="59" name="R12_it104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riordinare la camera</a:t>
            </a:r>
            <a:endParaRPr lang="en-US" sz="1000" dirty="0"/>
          </a:p>
        </p:txBody>
      </p:sp>
      <p:sp>
        <p:nvSpPr>
          <p:cNvPr id="60" name="R13_wc105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1" name="R13_w106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go shopping / go swimming (no to!)  ·  have a lie-in = stay in bed late  ·  do homework (not make)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10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989734" cy="621792"/>
          </a:xfrm>
          <a:prstGeom prst="rect">
            <a:avLst/>
          </a:prstGeom>
        </p:spPr>
      </p:pic>
      <p:sp>
        <p:nvSpPr>
          <p:cNvPr id="5" name="title_109"/>
          <p:cNvSpPr/>
          <p:nvPr/>
        </p:nvSpPr>
        <p:spPr>
          <a:xfrm>
            <a:off x="1261872" y="164592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Mime it!</a:t>
            </a:r>
            <a:endParaRPr lang="en-US" sz="2500" dirty="0"/>
          </a:p>
        </p:txBody>
      </p:sp>
      <p:pic>
        <p:nvPicPr>
          <p:cNvPr id="6" name="brP_11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11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Mime an activity. Your team guesses!</a:t>
            </a:r>
            <a:endParaRPr lang="en-US" sz="1250" dirty="0"/>
          </a:p>
        </p:txBody>
      </p:sp>
      <p:sp>
        <p:nvSpPr>
          <p:cNvPr id="8" name="insIT_11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Mima un'attività. La tua squadra indovina!</a:t>
            </a:r>
            <a:endParaRPr lang="en-US" sz="950" dirty="0"/>
          </a:p>
        </p:txBody>
      </p:sp>
      <p:sp>
        <p:nvSpPr>
          <p:cNvPr id="9" name="note_11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Communicative game</a:t>
            </a:r>
            <a:endParaRPr lang="en-US" sz="1250" dirty="0"/>
          </a:p>
        </p:txBody>
      </p:sp>
      <p:pic>
        <p:nvPicPr>
          <p:cNvPr id="10" name="logo_11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1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Vocabulary game</a:t>
            </a:r>
            <a:endParaRPr lang="en-US" sz="800" dirty="0"/>
          </a:p>
        </p:txBody>
      </p:sp>
      <p:sp>
        <p:nvSpPr>
          <p:cNvPr id="12" name="cd_116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1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1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19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student looks at the word.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Uno studente guarda la parola.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Mime it. No talking!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Mimala. Non parlare!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guesses in English = 1 point.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0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squadra indovina in inglese = 1 punto.</a:t>
            </a:r>
            <a:endParaRPr lang="en-US" sz="1000" dirty="0"/>
          </a:p>
        </p:txBody>
      </p:sp>
      <p:sp>
        <p:nvSpPr>
          <p:cNvPr id="16" name="pf_120"/>
          <p:cNvSpPr/>
          <p:nvPr/>
        </p:nvSpPr>
        <p:spPr>
          <a:xfrm rot="-120000">
            <a:off x="943471" y="4069080"/>
            <a:ext cx="1404898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121" descr="/home/claude/lls-course/v2/cache/spare_life_celebrations_jpg_316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989191" y="4114800"/>
            <a:ext cx="1313458" cy="1051560"/>
          </a:xfrm>
          <a:prstGeom prst="rect">
            <a:avLst/>
          </a:prstGeom>
        </p:spPr>
      </p:pic>
      <p:sp>
        <p:nvSpPr>
          <p:cNvPr id="18" name="rl_122"/>
          <p:cNvSpPr/>
          <p:nvPr/>
        </p:nvSpPr>
        <p:spPr>
          <a:xfrm>
            <a:off x="324612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</a:t>
            </a:r>
            <a:endParaRPr lang="en-US" sz="1100" dirty="0"/>
          </a:p>
        </p:txBody>
      </p:sp>
      <p:sp>
        <p:nvSpPr>
          <p:cNvPr id="19" name="R1_w123"/>
          <p:cNvSpPr/>
          <p:nvPr/>
        </p:nvSpPr>
        <p:spPr>
          <a:xfrm>
            <a:off x="324612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lie-in</a:t>
            </a:r>
            <a:endParaRPr lang="en-US" sz="1700" dirty="0"/>
          </a:p>
        </p:txBody>
      </p:sp>
      <p:sp>
        <p:nvSpPr>
          <p:cNvPr id="20" name="R3_w124"/>
          <p:cNvSpPr/>
          <p:nvPr/>
        </p:nvSpPr>
        <p:spPr>
          <a:xfrm>
            <a:off x="324612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shopping</a:t>
            </a:r>
            <a:endParaRPr lang="en-US" sz="1700" dirty="0"/>
          </a:p>
        </p:txBody>
      </p:sp>
      <p:sp>
        <p:nvSpPr>
          <p:cNvPr id="21" name="R5_w125"/>
          <p:cNvSpPr/>
          <p:nvPr/>
        </p:nvSpPr>
        <p:spPr>
          <a:xfrm>
            <a:off x="324612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tidy my room</a:t>
            </a:r>
            <a:endParaRPr lang="en-US" sz="1700" dirty="0"/>
          </a:p>
        </p:txBody>
      </p:sp>
      <p:sp>
        <p:nvSpPr>
          <p:cNvPr id="22" name="R7_w126"/>
          <p:cNvSpPr/>
          <p:nvPr/>
        </p:nvSpPr>
        <p:spPr>
          <a:xfrm>
            <a:off x="324612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the gym</a:t>
            </a:r>
            <a:endParaRPr lang="en-US" sz="1700" dirty="0"/>
          </a:p>
        </p:txBody>
      </p:sp>
      <p:sp>
        <p:nvSpPr>
          <p:cNvPr id="23" name="rl_127"/>
          <p:cNvSpPr/>
          <p:nvPr/>
        </p:nvSpPr>
        <p:spPr>
          <a:xfrm>
            <a:off x="608076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</a:t>
            </a:r>
            <a:endParaRPr lang="en-US" sz="1100" dirty="0"/>
          </a:p>
        </p:txBody>
      </p:sp>
      <p:sp>
        <p:nvSpPr>
          <p:cNvPr id="24" name="R2_w128"/>
          <p:cNvSpPr/>
          <p:nvPr/>
        </p:nvSpPr>
        <p:spPr>
          <a:xfrm>
            <a:off x="608076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 video games</a:t>
            </a:r>
            <a:endParaRPr lang="en-US" sz="1700" dirty="0"/>
          </a:p>
        </p:txBody>
      </p:sp>
      <p:sp>
        <p:nvSpPr>
          <p:cNvPr id="25" name="R4_w129"/>
          <p:cNvSpPr/>
          <p:nvPr/>
        </p:nvSpPr>
        <p:spPr>
          <a:xfrm>
            <a:off x="608076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out for a pizza</a:t>
            </a:r>
            <a:endParaRPr lang="en-US" sz="1700" dirty="0"/>
          </a:p>
        </p:txBody>
      </p:sp>
      <p:sp>
        <p:nvSpPr>
          <p:cNvPr id="26" name="R6_w130"/>
          <p:cNvSpPr/>
          <p:nvPr/>
        </p:nvSpPr>
        <p:spPr>
          <a:xfrm>
            <a:off x="608076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visit my grandparents</a:t>
            </a:r>
            <a:endParaRPr lang="en-US" sz="1700" dirty="0"/>
          </a:p>
        </p:txBody>
      </p:sp>
      <p:sp>
        <p:nvSpPr>
          <p:cNvPr id="27" name="R8_w131"/>
          <p:cNvSpPr/>
          <p:nvPr/>
        </p:nvSpPr>
        <p:spPr>
          <a:xfrm>
            <a:off x="608076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to a party</a:t>
            </a:r>
            <a:endParaRPr lang="en-US" sz="1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3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34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Marco's busy Saturday</a:t>
            </a:r>
            <a:endParaRPr lang="en-US" sz="2500" dirty="0"/>
          </a:p>
        </p:txBody>
      </p:sp>
      <p:pic>
        <p:nvPicPr>
          <p:cNvPr id="6" name="brP_13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136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13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note_13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TPRS · story</a:t>
            </a:r>
            <a:endParaRPr lang="en-US" sz="1150" dirty="0"/>
          </a:p>
        </p:txBody>
      </p:sp>
      <p:pic>
        <p:nvPicPr>
          <p:cNvPr id="10" name="logo_13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Speaking · class story (TPRS)</a:t>
            </a:r>
            <a:endParaRPr lang="en-US" sz="800" dirty="0"/>
          </a:p>
        </p:txBody>
      </p:sp>
      <p:sp>
        <p:nvSpPr>
          <p:cNvPr id="12" name="pf_141"/>
          <p:cNvSpPr/>
          <p:nvPr/>
        </p:nvSpPr>
        <p:spPr>
          <a:xfrm rot="-90000">
            <a:off x="1122700" y="1417320"/>
            <a:ext cx="1137881" cy="1280160"/>
          </a:xfrm>
          <a:prstGeom prst="roundRect">
            <a:avLst>
              <a:gd name="adj" fmla="val 136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42" descr="/home/claude/lls-course/v2/cache/1b1_diary_jpg_252x286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1168420" y="1463040"/>
            <a:ext cx="1046441" cy="1188720"/>
          </a:xfrm>
          <a:prstGeom prst="rect">
            <a:avLst/>
          </a:prstGeom>
        </p:spPr>
      </p:pic>
      <p:sp>
        <p:nvSpPr>
          <p:cNvPr id="14" name="cd_143"/>
          <p:cNvSpPr/>
          <p:nvPr/>
        </p:nvSpPr>
        <p:spPr>
          <a:xfrm>
            <a:off x="320040" y="2834640"/>
            <a:ext cx="2697480" cy="1920240"/>
          </a:xfrm>
          <a:prstGeom prst="roundRect">
            <a:avLst>
              <a:gd name="adj" fmla="val 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44"/>
          <p:cNvSpPr/>
          <p:nvPr/>
        </p:nvSpPr>
        <p:spPr>
          <a:xfrm>
            <a:off x="4114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ih_145"/>
          <p:cNvSpPr/>
          <p:nvPr/>
        </p:nvSpPr>
        <p:spPr>
          <a:xfrm>
            <a:off x="886968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7" name="il_146"/>
          <p:cNvSpPr/>
          <p:nvPr/>
        </p:nvSpPr>
        <p:spPr>
          <a:xfrm>
            <a:off x="886968" y="3328416"/>
            <a:ext cx="20391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going to (play)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ha intenzione di (giocare)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meeting (at 4 o'clock)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si incontra (già organizzato)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has a lie-in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dorme fino a tardi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coming?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Vieni?</a:t>
            </a:r>
            <a:endParaRPr lang="en-US" sz="7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on Saturday?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Cosa fai sabato?</a:t>
            </a:r>
            <a:endParaRPr lang="en-US" sz="700" dirty="0"/>
          </a:p>
        </p:txBody>
      </p:sp>
      <p:sp>
        <p:nvSpPr>
          <p:cNvPr id="18" name="R1_sb147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R1_sl148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Friday. Marco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going to have a lie-in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on Saturday. That's his big plan!</a:t>
            </a:r>
            <a:endParaRPr lang="en-US" sz="100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Is it Friday or Saturday? · What's Marco's plan?</a:t>
            </a:r>
            <a:endParaRPr lang="en-US" sz="1000" dirty="0"/>
          </a:p>
        </p:txBody>
      </p:sp>
      <p:sp>
        <p:nvSpPr>
          <p:cNvPr id="20" name="R2_sb149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R2_sl150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his mum says: 'We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're visiting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Nonna at 10 o'clock. It's in the diary!'</a:t>
            </a:r>
            <a:endParaRPr lang="en-US" sz="10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Is Marco happy? · Who are they visiting? · What time?</a:t>
            </a:r>
            <a:endParaRPr lang="en-US" sz="1050" dirty="0"/>
          </a:p>
        </p:txBody>
      </p:sp>
      <p:sp>
        <p:nvSpPr>
          <p:cNvPr id="22" name="R3_sb151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R3_sl152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his friend Sara texts: 'We</a:t>
            </a:r>
            <a:pPr indent="0" marL="0">
              <a:buNone/>
            </a:pPr>
            <a:r>
              <a:rPr lang="en-US" sz="9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're meeting</a:t>
            </a:r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at the cinema at 4. </a:t>
            </a:r>
            <a:pPr indent="0" marL="0">
              <a:buNone/>
            </a:pPr>
            <a:r>
              <a:rPr lang="en-US" sz="9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</a:t>
            </a:r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indent="0" marL="0">
              <a:buNone/>
            </a:pPr>
            <a:r>
              <a:rPr lang="en-US" sz="9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coming</a:t>
            </a:r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?'</a:t>
            </a:r>
            <a:endParaRPr lang="en-US" sz="9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Who texts Marco? · Where are they meeting? · What time?</a:t>
            </a:r>
            <a:endParaRPr lang="en-US" sz="900" dirty="0"/>
          </a:p>
        </p:txBody>
      </p:sp>
      <p:sp>
        <p:nvSpPr>
          <p:cNvPr id="24" name="R4_sb153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R4_sl154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Marco says: 'Yes! And after the cinema I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going to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eat a big pizza!'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Is Marco going to eat a pizza or a burger? · When?</a:t>
            </a:r>
            <a:endParaRPr lang="en-US" sz="1100" dirty="0"/>
          </a:p>
        </p:txBody>
      </p:sp>
      <p:sp>
        <p:nvSpPr>
          <p:cNvPr id="26" name="R5_sb155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R5_sl156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Saturday morning: Nonna makes cannoli. Marco eats five! He isn't hungry for pizza…</a:t>
            </a:r>
            <a:endParaRPr lang="en-US" sz="9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How many cannoli? · Is he going to eat the pizza now?</a:t>
            </a:r>
            <a:endParaRPr lang="en-US" sz="900" dirty="0"/>
          </a:p>
        </p:txBody>
      </p:sp>
      <p:sp>
        <p:nvSpPr>
          <p:cNvPr id="28" name="R6_sb157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R6_sl158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Sara asks: 'What </a:t>
            </a:r>
            <a:pPr indent="0" marL="0">
              <a:buNone/>
            </a:pPr>
            <a:r>
              <a:rPr lang="en-US" sz="9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</a:t>
            </a:r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indent="0" marL="0">
              <a:buNone/>
            </a:pPr>
            <a:r>
              <a:rPr lang="en-US" sz="9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doing</a:t>
            </a:r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on Sunday?' Marco: 'I</a:t>
            </a:r>
            <a:pPr indent="0" marL="0">
              <a:buNone/>
            </a:pPr>
            <a:r>
              <a:rPr lang="en-US" sz="9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going to have</a:t>
            </a:r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lie-in… finally!'</a:t>
            </a:r>
            <a:endParaRPr lang="en-US" sz="9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And you – what are you doing on Sunday?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6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161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Saturday? 📱</a:t>
            </a:r>
            <a:endParaRPr lang="en-US" sz="2500" dirty="0"/>
          </a:p>
        </p:txBody>
      </p:sp>
      <p:pic>
        <p:nvPicPr>
          <p:cNvPr id="6" name="brP_16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6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group chat. Complete 1–5 with the words in the box.</a:t>
            </a:r>
            <a:endParaRPr lang="en-US" sz="1200" dirty="0"/>
          </a:p>
        </p:txBody>
      </p:sp>
      <p:sp>
        <p:nvSpPr>
          <p:cNvPr id="8" name="insIT_16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chat. Completa 1–5 con le parole del riquadro.</a:t>
            </a:r>
            <a:endParaRPr lang="en-US" sz="950" dirty="0"/>
          </a:p>
        </p:txBody>
      </p:sp>
      <p:sp>
        <p:nvSpPr>
          <p:cNvPr id="9" name="note_16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TPRS · reading</a:t>
            </a:r>
            <a:endParaRPr lang="en-US" sz="1150" dirty="0"/>
          </a:p>
        </p:txBody>
      </p:sp>
      <p:pic>
        <p:nvPicPr>
          <p:cNvPr id="10" name="logo_16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6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Reading · the group chat (on this slide)</a:t>
            </a:r>
            <a:endParaRPr lang="en-US" sz="800" dirty="0"/>
          </a:p>
        </p:txBody>
      </p:sp>
      <p:sp>
        <p:nvSpPr>
          <p:cNvPr id="12" name="cd_168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169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Group chat: 'SATURDAY!!!'</a:t>
            </a:r>
            <a:endParaRPr lang="en-US" sz="1700" dirty="0"/>
          </a:p>
        </p:txBody>
      </p:sp>
      <p:sp>
        <p:nvSpPr>
          <p:cNvPr id="14" name="ln_170"/>
          <p:cNvSpPr/>
          <p:nvPr/>
        </p:nvSpPr>
        <p:spPr>
          <a:xfrm>
            <a:off x="548640" y="1920240"/>
            <a:ext cx="5349240" cy="42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Giulia: Hi guys! What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Saturday? 🤔</a:t>
            </a:r>
            <a:endParaRPr lang="en-US" sz="1300" dirty="0"/>
          </a:p>
        </p:txBody>
      </p:sp>
      <p:sp>
        <p:nvSpPr>
          <p:cNvPr id="15" name="R1_lnA171"/>
          <p:cNvSpPr/>
          <p:nvPr/>
        </p:nvSpPr>
        <p:spPr>
          <a:xfrm>
            <a:off x="548640" y="1920240"/>
            <a:ext cx="5349240" cy="4296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Giulia: Hi guys! What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are you doing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Saturday? 🤔</a:t>
            </a:r>
            <a:endParaRPr lang="en-US" sz="1300" dirty="0"/>
          </a:p>
        </p:txBody>
      </p:sp>
      <p:sp>
        <p:nvSpPr>
          <p:cNvPr id="16" name="ln_172"/>
          <p:cNvSpPr/>
          <p:nvPr/>
        </p:nvSpPr>
        <p:spPr>
          <a:xfrm>
            <a:off x="548640" y="2349884"/>
            <a:ext cx="5349240" cy="48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Luca: I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gym in the morning. Then nothing! 😎</a:t>
            </a:r>
            <a:endParaRPr lang="en-US" sz="1300" dirty="0"/>
          </a:p>
        </p:txBody>
      </p:sp>
      <p:sp>
        <p:nvSpPr>
          <p:cNvPr id="17" name="R2_lnA173"/>
          <p:cNvSpPr/>
          <p:nvPr/>
        </p:nvSpPr>
        <p:spPr>
          <a:xfrm>
            <a:off x="548640" y="2349884"/>
            <a:ext cx="5349240" cy="4899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Luca: I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'm going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gym in the morning. Then nothing! 😎</a:t>
            </a:r>
            <a:endParaRPr lang="en-US" sz="1300" dirty="0"/>
          </a:p>
        </p:txBody>
      </p:sp>
      <p:sp>
        <p:nvSpPr>
          <p:cNvPr id="18" name="ln_174"/>
          <p:cNvSpPr/>
          <p:nvPr/>
        </p:nvSpPr>
        <p:spPr>
          <a:xfrm>
            <a:off x="548640" y="2839830"/>
            <a:ext cx="5349240" cy="48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Sofia: Me and Anna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the beach at 3. Come! 🏖️</a:t>
            </a:r>
            <a:endParaRPr lang="en-US" sz="1300" dirty="0"/>
          </a:p>
        </p:txBody>
      </p:sp>
      <p:sp>
        <p:nvSpPr>
          <p:cNvPr id="19" name="R3_lnA175"/>
          <p:cNvSpPr/>
          <p:nvPr/>
        </p:nvSpPr>
        <p:spPr>
          <a:xfrm>
            <a:off x="548640" y="2839830"/>
            <a:ext cx="5349240" cy="4899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Sofia: Me and Anna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're meeting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the beach at 3. Come! 🏖️</a:t>
            </a:r>
            <a:endParaRPr lang="en-US" sz="1300" dirty="0"/>
          </a:p>
        </p:txBody>
      </p:sp>
      <p:sp>
        <p:nvSpPr>
          <p:cNvPr id="20" name="ln_176"/>
          <p:cNvSpPr/>
          <p:nvPr/>
        </p:nvSpPr>
        <p:spPr>
          <a:xfrm>
            <a:off x="548640" y="3329775"/>
            <a:ext cx="5349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Giulia: Sorry, I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lunch at my nonna's. But I'm free after 5!</a:t>
            </a:r>
            <a:endParaRPr lang="en-US" sz="1300" dirty="0"/>
          </a:p>
        </p:txBody>
      </p:sp>
      <p:sp>
        <p:nvSpPr>
          <p:cNvPr id="21" name="R4_lnA177"/>
          <p:cNvSpPr/>
          <p:nvPr/>
        </p:nvSpPr>
        <p:spPr>
          <a:xfrm>
            <a:off x="548640" y="3329775"/>
            <a:ext cx="5349240" cy="5577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Giulia: Sorry, I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'm having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lunch at my nonna's. But I'm free after 5!</a:t>
            </a:r>
            <a:endParaRPr lang="en-US" sz="1300" dirty="0"/>
          </a:p>
        </p:txBody>
      </p:sp>
      <p:sp>
        <p:nvSpPr>
          <p:cNvPr id="22" name="ln_178"/>
          <p:cNvSpPr/>
          <p:nvPr/>
        </p:nvSpPr>
        <p:spPr>
          <a:xfrm>
            <a:off x="548640" y="3887559"/>
            <a:ext cx="5349240" cy="520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Luca: OK! Let's get a pizza at 7? I'm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book a table. 🍕</a:t>
            </a:r>
            <a:endParaRPr lang="en-US" sz="1300" dirty="0"/>
          </a:p>
        </p:txBody>
      </p:sp>
      <p:sp>
        <p:nvSpPr>
          <p:cNvPr id="23" name="R5_lnA179"/>
          <p:cNvSpPr/>
          <p:nvPr/>
        </p:nvSpPr>
        <p:spPr>
          <a:xfrm>
            <a:off x="548640" y="3887559"/>
            <a:ext cx="5349240" cy="5200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Luca: OK! Let's get a pizza at 7? I'm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going to</a:t>
            </a:r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book a table. 🍕</a:t>
            </a:r>
            <a:endParaRPr lang="en-US" sz="1300" dirty="0"/>
          </a:p>
        </p:txBody>
      </p:sp>
      <p:sp>
        <p:nvSpPr>
          <p:cNvPr id="24" name="ln_180"/>
          <p:cNvSpPr/>
          <p:nvPr/>
        </p:nvSpPr>
        <p:spPr>
          <a:xfrm>
            <a:off x="548640" y="4407655"/>
            <a:ext cx="5349240" cy="30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Sofia: Yesss! See you at 7! 🎉</a:t>
            </a:r>
            <a:endParaRPr lang="en-US" sz="1300" dirty="0"/>
          </a:p>
        </p:txBody>
      </p:sp>
      <p:sp>
        <p:nvSpPr>
          <p:cNvPr id="25" name="cd_181"/>
          <p:cNvSpPr/>
          <p:nvPr/>
        </p:nvSpPr>
        <p:spPr>
          <a:xfrm>
            <a:off x="6263640" y="1417320"/>
            <a:ext cx="2651760" cy="1773936"/>
          </a:xfrm>
          <a:prstGeom prst="roundRect">
            <a:avLst>
              <a:gd name="adj" fmla="val 7216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6" name="bkh_182"/>
          <p:cNvSpPr/>
          <p:nvPr/>
        </p:nvSpPr>
        <p:spPr>
          <a:xfrm>
            <a:off x="6373368" y="14721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🧺 Word box · 2 words don't fit!</a:t>
            </a:r>
            <a:endParaRPr lang="en-US" sz="1100" dirty="0"/>
          </a:p>
        </p:txBody>
      </p:sp>
      <p:sp>
        <p:nvSpPr>
          <p:cNvPr id="27" name="bk_183"/>
          <p:cNvSpPr/>
          <p:nvPr/>
        </p:nvSpPr>
        <p:spPr>
          <a:xfrm>
            <a:off x="6373368" y="1819656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doing</a:t>
            </a:r>
            <a:endParaRPr lang="en-US" sz="1050" dirty="0"/>
          </a:p>
        </p:txBody>
      </p:sp>
      <p:sp>
        <p:nvSpPr>
          <p:cNvPr id="28" name="bk_184"/>
          <p:cNvSpPr/>
          <p:nvPr/>
        </p:nvSpPr>
        <p:spPr>
          <a:xfrm>
            <a:off x="7626096" y="1819656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endParaRPr lang="en-US" sz="1050" dirty="0"/>
          </a:p>
        </p:txBody>
      </p:sp>
      <p:sp>
        <p:nvSpPr>
          <p:cNvPr id="29" name="bk_185"/>
          <p:cNvSpPr/>
          <p:nvPr/>
        </p:nvSpPr>
        <p:spPr>
          <a:xfrm>
            <a:off x="6373368" y="214884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going to</a:t>
            </a:r>
            <a:endParaRPr lang="en-US" sz="1050" dirty="0"/>
          </a:p>
        </p:txBody>
      </p:sp>
      <p:sp>
        <p:nvSpPr>
          <p:cNvPr id="30" name="bk_186"/>
          <p:cNvSpPr/>
          <p:nvPr/>
        </p:nvSpPr>
        <p:spPr>
          <a:xfrm>
            <a:off x="7626096" y="214884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going</a:t>
            </a:r>
            <a:endParaRPr lang="en-US" sz="1050" dirty="0"/>
          </a:p>
        </p:txBody>
      </p:sp>
      <p:sp>
        <p:nvSpPr>
          <p:cNvPr id="31" name="bk_187"/>
          <p:cNvSpPr/>
          <p:nvPr/>
        </p:nvSpPr>
        <p:spPr>
          <a:xfrm>
            <a:off x="6373368" y="2478024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having</a:t>
            </a:r>
            <a:endParaRPr lang="en-US" sz="1050" dirty="0"/>
          </a:p>
        </p:txBody>
      </p:sp>
      <p:sp>
        <p:nvSpPr>
          <p:cNvPr id="32" name="bk_188"/>
          <p:cNvSpPr/>
          <p:nvPr/>
        </p:nvSpPr>
        <p:spPr>
          <a:xfrm>
            <a:off x="7626096" y="2478024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're meeting</a:t>
            </a:r>
            <a:endParaRPr lang="en-US" sz="1050" dirty="0"/>
          </a:p>
        </p:txBody>
      </p:sp>
      <p:sp>
        <p:nvSpPr>
          <p:cNvPr id="33" name="bk_189"/>
          <p:cNvSpPr/>
          <p:nvPr/>
        </p:nvSpPr>
        <p:spPr>
          <a:xfrm>
            <a:off x="6373368" y="2807208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went</a:t>
            </a:r>
            <a:endParaRPr lang="en-US" sz="1050" dirty="0"/>
          </a:p>
        </p:txBody>
      </p:sp>
      <p:sp>
        <p:nvSpPr>
          <p:cNvPr id="34" name="cd_190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ii_191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6" name="ih_192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7" name="il_193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 a table = prenotare un tavolo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free = libero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96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doing what?</a:t>
            </a:r>
            <a:endParaRPr lang="en-US" sz="2500" dirty="0"/>
          </a:p>
        </p:txBody>
      </p:sp>
      <p:pic>
        <p:nvPicPr>
          <p:cNvPr id="6" name="brP_1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198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the questions about the chat.</a:t>
            </a:r>
            <a:endParaRPr lang="en-US" sz="1250" dirty="0"/>
          </a:p>
        </p:txBody>
      </p:sp>
      <p:sp>
        <p:nvSpPr>
          <p:cNvPr id="8" name="insIT_19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Rispondi alle domande sulla chat.</a:t>
            </a:r>
            <a:endParaRPr lang="en-US" sz="950" dirty="0"/>
          </a:p>
        </p:txBody>
      </p:sp>
      <p:sp>
        <p:nvSpPr>
          <p:cNvPr id="9" name="note_20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Controlled practice</a:t>
            </a:r>
            <a:endParaRPr lang="en-US" sz="1250" dirty="0"/>
          </a:p>
        </p:txBody>
      </p:sp>
      <p:pic>
        <p:nvPicPr>
          <p:cNvPr id="10" name="logo_20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0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Reading · detail</a:t>
            </a:r>
            <a:endParaRPr lang="en-US" sz="800" dirty="0"/>
          </a:p>
        </p:txBody>
      </p:sp>
      <p:sp>
        <p:nvSpPr>
          <p:cNvPr id="12" name="cd_203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0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0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06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is Luca going in the morning? → To the gym.</a:t>
            </a:r>
            <a:endParaRPr lang="en-US" sz="1050" dirty="0"/>
          </a:p>
        </p:txBody>
      </p:sp>
      <p:sp>
        <p:nvSpPr>
          <p:cNvPr id="16" name="pf_207"/>
          <p:cNvSpPr/>
          <p:nvPr/>
        </p:nvSpPr>
        <p:spPr>
          <a:xfrm rot="-90000">
            <a:off x="365760" y="2569464"/>
            <a:ext cx="2606040" cy="2093976"/>
          </a:xfrm>
          <a:prstGeom prst="roundRect">
            <a:avLst>
              <a:gd name="adj" fmla="val 7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208" descr="/home/claude/lls-course/v2/cache/2b2_bake_sale_jpg_605x48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615184"/>
            <a:ext cx="2514600" cy="2002536"/>
          </a:xfrm>
          <a:prstGeom prst="rect">
            <a:avLst/>
          </a:prstGeom>
        </p:spPr>
      </p:pic>
      <p:sp>
        <p:nvSpPr>
          <p:cNvPr id="18" name="bd_209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q_210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is going to the beach?</a:t>
            </a:r>
            <a:endParaRPr lang="en-US" sz="1150" dirty="0"/>
          </a:p>
        </p:txBody>
      </p:sp>
      <p:sp>
        <p:nvSpPr>
          <p:cNvPr id="20" name="R1_chip211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Sofia and Anna</a:t>
            </a:r>
            <a:endParaRPr lang="en-US" sz="1050" dirty="0"/>
          </a:p>
        </p:txBody>
      </p:sp>
      <p:sp>
        <p:nvSpPr>
          <p:cNvPr id="21" name="bd_212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q_213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are they meeting?</a:t>
            </a:r>
            <a:endParaRPr lang="en-US" sz="1150" dirty="0"/>
          </a:p>
        </p:txBody>
      </p:sp>
      <p:sp>
        <p:nvSpPr>
          <p:cNvPr id="23" name="R2_chip214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3 o'clock</a:t>
            </a:r>
            <a:endParaRPr lang="en-US" sz="1050" dirty="0"/>
          </a:p>
        </p:txBody>
      </p:sp>
      <p:sp>
        <p:nvSpPr>
          <p:cNvPr id="24" name="bd_215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q_216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can't Giulia go to the beach?</a:t>
            </a:r>
            <a:endParaRPr lang="en-US" sz="1150" dirty="0"/>
          </a:p>
        </p:txBody>
      </p:sp>
      <p:sp>
        <p:nvSpPr>
          <p:cNvPr id="26" name="R3_chip217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having lunch at her nonna's.</a:t>
            </a:r>
            <a:endParaRPr lang="en-US" sz="1050" dirty="0"/>
          </a:p>
        </p:txBody>
      </p:sp>
      <p:sp>
        <p:nvSpPr>
          <p:cNvPr id="27" name="bd_218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q_219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is Giulia free?</a:t>
            </a:r>
            <a:endParaRPr lang="en-US" sz="1150" dirty="0"/>
          </a:p>
        </p:txBody>
      </p:sp>
      <p:sp>
        <p:nvSpPr>
          <p:cNvPr id="29" name="R4_chip220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5</a:t>
            </a:r>
            <a:endParaRPr lang="en-US" sz="1050" dirty="0"/>
          </a:p>
        </p:txBody>
      </p:sp>
      <p:sp>
        <p:nvSpPr>
          <p:cNvPr id="30" name="bd_221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q_222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Luca going to do?</a:t>
            </a:r>
            <a:endParaRPr lang="en-US" sz="1150" dirty="0"/>
          </a:p>
        </p:txBody>
      </p:sp>
      <p:sp>
        <p:nvSpPr>
          <p:cNvPr id="32" name="R5_chip223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 a table for pizza</a:t>
            </a:r>
            <a:endParaRPr lang="en-US" sz="1050" dirty="0"/>
          </a:p>
        </p:txBody>
      </p:sp>
      <p:sp>
        <p:nvSpPr>
          <p:cNvPr id="33" name="bd_224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q_225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is the pizza?</a:t>
            </a:r>
            <a:endParaRPr lang="en-US" sz="1150" dirty="0"/>
          </a:p>
        </p:txBody>
      </p:sp>
      <p:sp>
        <p:nvSpPr>
          <p:cNvPr id="35" name="R6_chip226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7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2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229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or arrangement?</a:t>
            </a:r>
            <a:endParaRPr lang="en-US" sz="2500" dirty="0"/>
          </a:p>
        </p:txBody>
      </p:sp>
      <p:pic>
        <p:nvPicPr>
          <p:cNvPr id="6" name="brP_23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88052" cy="402336"/>
          </a:xfrm>
          <a:prstGeom prst="rect">
            <a:avLst/>
          </a:prstGeom>
        </p:spPr>
      </p:pic>
      <p:sp>
        <p:nvSpPr>
          <p:cNvPr id="7" name="ins_231"/>
          <p:cNvSpPr/>
          <p:nvPr/>
        </p:nvSpPr>
        <p:spPr>
          <a:xfrm>
            <a:off x="1353312" y="731520"/>
            <a:ext cx="4732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it a plan or an arrangement? Match the colour.</a:t>
            </a:r>
            <a:endParaRPr lang="en-US" sz="1250" dirty="0"/>
          </a:p>
        </p:txBody>
      </p:sp>
      <p:sp>
        <p:nvSpPr>
          <p:cNvPr id="8" name="insIT_23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È un piano o un appuntamento? Abbina il colore.</a:t>
            </a:r>
            <a:endParaRPr lang="en-US" sz="950" dirty="0"/>
          </a:p>
        </p:txBody>
      </p:sp>
      <p:sp>
        <p:nvSpPr>
          <p:cNvPr id="9" name="note_23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ABBINA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23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Grammar · noticing</a:t>
            </a:r>
            <a:endParaRPr lang="en-US" sz="800" dirty="0"/>
          </a:p>
        </p:txBody>
      </p:sp>
      <p:sp>
        <p:nvSpPr>
          <p:cNvPr id="12" name="cd_236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3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3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colours</a:t>
            </a:r>
            <a:endParaRPr lang="en-US" sz="1300" dirty="0"/>
          </a:p>
        </p:txBody>
      </p:sp>
      <p:sp>
        <p:nvSpPr>
          <p:cNvPr id="15" name="lg_239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(my idea)</a:t>
            </a:r>
            <a:endParaRPr lang="en-US" sz="1050" dirty="0"/>
          </a:p>
        </p:txBody>
      </p:sp>
      <p:sp>
        <p:nvSpPr>
          <p:cNvPr id="16" name="lg_240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arrangement (in the diary)</a:t>
            </a:r>
            <a:endParaRPr lang="en-US" sz="950" dirty="0"/>
          </a:p>
        </p:txBody>
      </p:sp>
      <p:sp>
        <p:nvSpPr>
          <p:cNvPr id="17" name="sq_241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Marco is going to have a lie-in.</a:t>
            </a:r>
            <a:endParaRPr lang="en-US" sz="1200" dirty="0"/>
          </a:p>
        </p:txBody>
      </p:sp>
      <p:sp>
        <p:nvSpPr>
          <p:cNvPr id="18" name="R1_tag242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(my idea)</a:t>
            </a:r>
            <a:endParaRPr lang="en-US" sz="1150" dirty="0"/>
          </a:p>
        </p:txBody>
      </p:sp>
      <p:sp>
        <p:nvSpPr>
          <p:cNvPr id="19" name="sq_243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We're visiting Nonna at 10 o'clock.</a:t>
            </a:r>
            <a:endParaRPr lang="en-US" sz="1200" dirty="0"/>
          </a:p>
        </p:txBody>
      </p:sp>
      <p:sp>
        <p:nvSpPr>
          <p:cNvPr id="20" name="R2_tag244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arrangement (in the diary)</a:t>
            </a:r>
            <a:endParaRPr lang="en-US" sz="1150" dirty="0"/>
          </a:p>
        </p:txBody>
      </p:sp>
      <p:sp>
        <p:nvSpPr>
          <p:cNvPr id="21" name="sq_245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We're meeting at the cinema at 4.</a:t>
            </a:r>
            <a:endParaRPr lang="en-US" sz="1200" dirty="0"/>
          </a:p>
        </p:txBody>
      </p:sp>
      <p:sp>
        <p:nvSpPr>
          <p:cNvPr id="22" name="R3_tag246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arrangement (in the diary)</a:t>
            </a:r>
            <a:endParaRPr lang="en-US" sz="1150" dirty="0"/>
          </a:p>
        </p:txBody>
      </p:sp>
      <p:sp>
        <p:nvSpPr>
          <p:cNvPr id="23" name="sq_247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 I'm going to eat a big pizza!</a:t>
            </a:r>
            <a:endParaRPr lang="en-US" sz="1200" dirty="0"/>
          </a:p>
        </p:txBody>
      </p:sp>
      <p:sp>
        <p:nvSpPr>
          <p:cNvPr id="24" name="R4_tag248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(my idea)</a:t>
            </a:r>
            <a:endParaRPr lang="en-US" sz="1150" dirty="0"/>
          </a:p>
        </p:txBody>
      </p:sp>
      <p:sp>
        <p:nvSpPr>
          <p:cNvPr id="25" name="sq_249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  I'm having lunch at my nonna's.</a:t>
            </a:r>
            <a:endParaRPr lang="en-US" sz="1200" dirty="0"/>
          </a:p>
        </p:txBody>
      </p:sp>
      <p:sp>
        <p:nvSpPr>
          <p:cNvPr id="26" name="R5_tag250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arrangement (in the diary)</a:t>
            </a:r>
            <a:endParaRPr lang="en-US" sz="1150" dirty="0"/>
          </a:p>
        </p:txBody>
      </p:sp>
      <p:sp>
        <p:nvSpPr>
          <p:cNvPr id="27" name="sq_251"/>
          <p:cNvSpPr/>
          <p:nvPr/>
        </p:nvSpPr>
        <p:spPr>
          <a:xfrm>
            <a:off x="3246120" y="411480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 I'm going to book a table.</a:t>
            </a:r>
            <a:endParaRPr lang="en-US" sz="1200" dirty="0"/>
          </a:p>
        </p:txBody>
      </p:sp>
      <p:sp>
        <p:nvSpPr>
          <p:cNvPr id="28" name="R6_tag252"/>
          <p:cNvSpPr/>
          <p:nvPr/>
        </p:nvSpPr>
        <p:spPr>
          <a:xfrm>
            <a:off x="7178040" y="411480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(my idea)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5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255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Plans or arrangements?</a:t>
            </a:r>
            <a:endParaRPr lang="en-US" sz="2400" dirty="0"/>
          </a:p>
        </p:txBody>
      </p:sp>
      <p:pic>
        <p:nvPicPr>
          <p:cNvPr id="6" name="brP_25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257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examples. Which one is in the diary?</a:t>
            </a:r>
            <a:endParaRPr lang="en-US" sz="1250" dirty="0"/>
          </a:p>
        </p:txBody>
      </p:sp>
      <p:sp>
        <p:nvSpPr>
          <p:cNvPr id="8" name="insIT_25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gli esempi. Quale è già in agenda?</a:t>
            </a:r>
            <a:endParaRPr lang="en-US" sz="950" dirty="0"/>
          </a:p>
        </p:txBody>
      </p:sp>
      <p:sp>
        <p:nvSpPr>
          <p:cNvPr id="9" name="note_25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26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Grammar · plans and arrangements</a:t>
            </a:r>
            <a:endParaRPr lang="en-US" sz="800" dirty="0"/>
          </a:p>
        </p:txBody>
      </p:sp>
      <p:sp>
        <p:nvSpPr>
          <p:cNvPr id="12" name="cd_262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h_263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going to</a:t>
            </a:r>
            <a:endParaRPr lang="en-US" sz="1250" dirty="0"/>
          </a:p>
        </p:txBody>
      </p:sp>
      <p:sp>
        <p:nvSpPr>
          <p:cNvPr id="14" name="pf_264"/>
          <p:cNvSpPr/>
          <p:nvPr/>
        </p:nvSpPr>
        <p:spPr>
          <a:xfrm>
            <a:off x="1805149" y="1938528"/>
            <a:ext cx="1236022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65" descr="/home/claude/lls-course/v2/cache/spare_future_aims_jpg_275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869" y="1984248"/>
            <a:ext cx="1144582" cy="868680"/>
          </a:xfrm>
          <a:prstGeom prst="rect">
            <a:avLst/>
          </a:prstGeom>
        </p:spPr>
      </p:pic>
      <p:sp>
        <p:nvSpPr>
          <p:cNvPr id="16" name="ru_266"/>
          <p:cNvSpPr/>
          <p:nvPr/>
        </p:nvSpPr>
        <p:spPr>
          <a:xfrm>
            <a:off x="411480" y="2926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PLAN: I decided, but no time or place yet</a:t>
            </a:r>
            <a:endParaRPr lang="en-US" sz="1050" dirty="0"/>
          </a:p>
        </p:txBody>
      </p:sp>
      <p:sp>
        <p:nvSpPr>
          <p:cNvPr id="17" name="R1_rx267"/>
          <p:cNvSpPr/>
          <p:nvPr/>
        </p:nvSpPr>
        <p:spPr>
          <a:xfrm>
            <a:off x="411480" y="331927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have a lie-in.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Luca is going to book a table.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going to watch the match?</a:t>
            </a:r>
            <a:endParaRPr lang="en-US" sz="1050" dirty="0"/>
          </a:p>
        </p:txBody>
      </p:sp>
      <p:sp>
        <p:nvSpPr>
          <p:cNvPr id="18" name="R1_ri268"/>
          <p:cNvSpPr/>
          <p:nvPr/>
        </p:nvSpPr>
        <p:spPr>
          <a:xfrm>
            <a:off x="41148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intenzione (ho deciso)</a:t>
            </a:r>
            <a:endParaRPr lang="en-US" sz="900" dirty="0"/>
          </a:p>
        </p:txBody>
      </p:sp>
      <p:sp>
        <p:nvSpPr>
          <p:cNvPr id="19" name="cd_269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rh_270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continuous + time</a:t>
            </a:r>
            <a:endParaRPr lang="en-US" sz="1250" dirty="0"/>
          </a:p>
        </p:txBody>
      </p:sp>
      <p:sp>
        <p:nvSpPr>
          <p:cNvPr id="21" name="pf_271"/>
          <p:cNvSpPr/>
          <p:nvPr/>
        </p:nvSpPr>
        <p:spPr>
          <a:xfrm>
            <a:off x="6338487" y="1938528"/>
            <a:ext cx="856147" cy="960120"/>
          </a:xfrm>
          <a:prstGeom prst="roundRect">
            <a:avLst>
              <a:gd name="adj" fmla="val 181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2" name="ph_272" descr="/home/claude/lls-course/v2/cache/1b1_diary_jpg_184x209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207" y="1984248"/>
            <a:ext cx="764707" cy="868680"/>
          </a:xfrm>
          <a:prstGeom prst="rect">
            <a:avLst/>
          </a:prstGeom>
        </p:spPr>
      </p:pic>
      <p:sp>
        <p:nvSpPr>
          <p:cNvPr id="23" name="ru_273"/>
          <p:cNvSpPr/>
          <p:nvPr/>
        </p:nvSpPr>
        <p:spPr>
          <a:xfrm>
            <a:off x="4754880" y="2926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ARRANGEMENT: day, time, people – it's in the diary</a:t>
            </a:r>
            <a:endParaRPr lang="en-US" sz="1050" dirty="0"/>
          </a:p>
        </p:txBody>
      </p:sp>
      <p:sp>
        <p:nvSpPr>
          <p:cNvPr id="24" name="R2_rx274"/>
          <p:cNvSpPr/>
          <p:nvPr/>
        </p:nvSpPr>
        <p:spPr>
          <a:xfrm>
            <a:off x="4754880" y="331927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We're meeting at the beach at 3.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having lunch at my nonna's on Saturday.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on Sunday?</a:t>
            </a:r>
            <a:endParaRPr lang="en-US" sz="1050" dirty="0"/>
          </a:p>
        </p:txBody>
      </p:sp>
      <p:sp>
        <p:nvSpPr>
          <p:cNvPr id="25" name="R2_ri275"/>
          <p:cNvSpPr/>
          <p:nvPr/>
        </p:nvSpPr>
        <p:spPr>
          <a:xfrm>
            <a:off x="475488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già organizzato (in agenda)</a:t>
            </a:r>
            <a:endParaRPr lang="en-US" sz="900" dirty="0"/>
          </a:p>
        </p:txBody>
      </p:sp>
      <p:sp>
        <p:nvSpPr>
          <p:cNvPr id="26" name="R3_wc276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R3_w277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Italian present ≠ English:  ✗ Saturday I go to the beach → ✓ On Saturday I'm going to the beach.   ✗ What do you do on Saturday? (habit) → ✓ What are you doing on Saturday? (plan)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7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280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Plans and arrangements</a:t>
            </a:r>
            <a:endParaRPr lang="en-US" sz="2400" dirty="0"/>
          </a:p>
        </p:txBody>
      </p:sp>
      <p:pic>
        <p:nvPicPr>
          <p:cNvPr id="6" name="brP_28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88052" cy="402336"/>
          </a:xfrm>
          <a:prstGeom prst="rect">
            <a:avLst/>
          </a:prstGeom>
        </p:spPr>
      </p:pic>
      <p:sp>
        <p:nvSpPr>
          <p:cNvPr id="7" name="ins_282"/>
          <p:cNvSpPr/>
          <p:nvPr/>
        </p:nvSpPr>
        <p:spPr>
          <a:xfrm>
            <a:off x="1353312" y="731520"/>
            <a:ext cx="4732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going to or the present continuous.</a:t>
            </a:r>
            <a:endParaRPr lang="en-US" sz="1250" dirty="0"/>
          </a:p>
        </p:txBody>
      </p:sp>
      <p:sp>
        <p:nvSpPr>
          <p:cNvPr id="8" name="insIT_28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going to o il present continuous.</a:t>
            </a:r>
            <a:endParaRPr lang="en-US" sz="950" dirty="0"/>
          </a:p>
        </p:txBody>
      </p:sp>
      <p:sp>
        <p:nvSpPr>
          <p:cNvPr id="9" name="note_28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COMPLETA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250" dirty="0"/>
          </a:p>
        </p:txBody>
      </p:sp>
      <p:pic>
        <p:nvPicPr>
          <p:cNvPr id="10" name="logo_28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8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Grammar · practice</a:t>
            </a:r>
            <a:endParaRPr lang="en-US" sz="800" dirty="0"/>
          </a:p>
        </p:txBody>
      </p:sp>
      <p:sp>
        <p:nvSpPr>
          <p:cNvPr id="12" name="pf_287"/>
          <p:cNvSpPr/>
          <p:nvPr/>
        </p:nvSpPr>
        <p:spPr>
          <a:xfrm rot="-90000">
            <a:off x="411480" y="1417320"/>
            <a:ext cx="2697480" cy="2423160"/>
          </a:xfrm>
          <a:prstGeom prst="roundRect">
            <a:avLst>
              <a:gd name="adj" fmla="val 64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88" descr="/home/claude/lls-course/v2/cache/spare_future_decisions_jpg_627x56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1463040"/>
            <a:ext cx="2606040" cy="2331720"/>
          </a:xfrm>
          <a:prstGeom prst="rect">
            <a:avLst/>
          </a:prstGeom>
        </p:spPr>
      </p:pic>
      <p:sp>
        <p:nvSpPr>
          <p:cNvPr id="14" name="cd_289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0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6" name="ih_291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Try first, then check!</a:t>
            </a:r>
            <a:endParaRPr lang="en-US" sz="1200" dirty="0"/>
          </a:p>
        </p:txBody>
      </p:sp>
      <p:sp>
        <p:nvSpPr>
          <p:cNvPr id="17" name="gq_292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I ___ (play) football with my cousins on Sunday at 10.</a:t>
            </a:r>
            <a:endParaRPr lang="en-US" sz="1200" dirty="0"/>
          </a:p>
        </p:txBody>
      </p:sp>
      <p:sp>
        <p:nvSpPr>
          <p:cNvPr id="18" name="R1_chip293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playing</a:t>
            </a:r>
            <a:endParaRPr lang="en-US" sz="1200" dirty="0"/>
          </a:p>
        </p:txBody>
      </p:sp>
      <p:sp>
        <p:nvSpPr>
          <p:cNvPr id="19" name="gq_294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One day I ___ (learn) to play the guitar.</a:t>
            </a:r>
            <a:endParaRPr lang="en-US" sz="1200" dirty="0"/>
          </a:p>
        </p:txBody>
      </p:sp>
      <p:sp>
        <p:nvSpPr>
          <p:cNvPr id="20" name="R2_chip295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going to learn</a:t>
            </a:r>
            <a:endParaRPr lang="en-US" sz="1200" dirty="0"/>
          </a:p>
        </p:txBody>
      </p:sp>
      <p:sp>
        <p:nvSpPr>
          <p:cNvPr id="21" name="gq_296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___ you ___ (do) anything on Saturday night?</a:t>
            </a:r>
            <a:endParaRPr lang="en-US" sz="1200" dirty="0"/>
          </a:p>
        </p:txBody>
      </p:sp>
      <p:sp>
        <p:nvSpPr>
          <p:cNvPr id="22" name="R3_chip297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doing</a:t>
            </a:r>
            <a:endParaRPr lang="en-US" sz="1200" dirty="0"/>
          </a:p>
        </p:txBody>
      </p:sp>
      <p:sp>
        <p:nvSpPr>
          <p:cNvPr id="23" name="gq_298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 My sister ___ (have) a party on Friday at 8.</a:t>
            </a:r>
            <a:endParaRPr lang="en-US" sz="1200" dirty="0"/>
          </a:p>
        </p:txBody>
      </p:sp>
      <p:sp>
        <p:nvSpPr>
          <p:cNvPr id="24" name="R4_chip299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's having</a:t>
            </a:r>
            <a:endParaRPr lang="en-US" sz="1200" dirty="0"/>
          </a:p>
        </p:txBody>
      </p:sp>
      <p:sp>
        <p:nvSpPr>
          <p:cNvPr id="25" name="gq_300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  I'm tired. I ___ (go) to bed early tonight.</a:t>
            </a:r>
            <a:endParaRPr lang="en-US" sz="1200" dirty="0"/>
          </a:p>
        </p:txBody>
      </p:sp>
      <p:sp>
        <p:nvSpPr>
          <p:cNvPr id="26" name="R5_chip301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going to go</a:t>
            </a:r>
            <a:endParaRPr lang="en-US" sz="1200" dirty="0"/>
          </a:p>
        </p:txBody>
      </p:sp>
      <p:sp>
        <p:nvSpPr>
          <p:cNvPr id="27" name="gq_302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 We ___ (not / go) to the beach – it's raining!</a:t>
            </a:r>
            <a:endParaRPr lang="en-US" sz="1200" dirty="0"/>
          </a:p>
        </p:txBody>
      </p:sp>
      <p:sp>
        <p:nvSpPr>
          <p:cNvPr id="28" name="R6_chip303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aren't going to go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0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306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 like a Brit!</a:t>
            </a:r>
            <a:endParaRPr lang="en-US" sz="2500" dirty="0"/>
          </a:p>
        </p:txBody>
      </p:sp>
      <p:pic>
        <p:nvPicPr>
          <p:cNvPr id="6" name="brP_30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308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teacher. Write only the BIG words.</a:t>
            </a:r>
            <a:endParaRPr lang="en-US" sz="1250" dirty="0"/>
          </a:p>
        </p:txBody>
      </p:sp>
      <p:sp>
        <p:nvSpPr>
          <p:cNvPr id="8" name="insIT_30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l'insegnante. Scrivi solo le parole forti.</a:t>
            </a:r>
            <a:endParaRPr lang="en-US" sz="950" dirty="0"/>
          </a:p>
        </p:txBody>
      </p:sp>
      <p:sp>
        <p:nvSpPr>
          <p:cNvPr id="9" name="note_31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Drilling</a:t>
            </a:r>
            <a:endParaRPr lang="en-US" sz="1150" dirty="0"/>
          </a:p>
        </p:txBody>
      </p:sp>
      <p:pic>
        <p:nvPicPr>
          <p:cNvPr id="10" name="logo_31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1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Pronunciation · going to /ɡəʊɪŋ tə/</a:t>
            </a:r>
            <a:endParaRPr lang="en-US" sz="800" dirty="0"/>
          </a:p>
        </p:txBody>
      </p:sp>
      <p:sp>
        <p:nvSpPr>
          <p:cNvPr id="12" name="cd_313"/>
          <p:cNvSpPr/>
          <p:nvPr/>
        </p:nvSpPr>
        <p:spPr>
          <a:xfrm>
            <a:off x="320040" y="141732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1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</a:t>
            </a:r>
            <a:endParaRPr lang="en-US" sz="2200" dirty="0"/>
          </a:p>
        </p:txBody>
      </p:sp>
      <p:sp>
        <p:nvSpPr>
          <p:cNvPr id="14" name="ih_315"/>
          <p:cNvSpPr/>
          <p:nvPr/>
        </p:nvSpPr>
        <p:spPr>
          <a:xfrm>
            <a:off x="886968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teacher reads it twice</a:t>
            </a:r>
            <a:endParaRPr lang="en-US" sz="1150" dirty="0"/>
          </a:p>
        </p:txBody>
      </p:sp>
      <p:sp>
        <p:nvSpPr>
          <p:cNvPr id="15" name="cd_316"/>
          <p:cNvSpPr/>
          <p:nvPr/>
        </p:nvSpPr>
        <p:spPr>
          <a:xfrm>
            <a:off x="320040" y="2011680"/>
            <a:ext cx="2743200" cy="1463040"/>
          </a:xfrm>
          <a:prstGeom prst="roundRect">
            <a:avLst>
              <a:gd name="adj" fmla="val 87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17"/>
          <p:cNvSpPr/>
          <p:nvPr/>
        </p:nvSpPr>
        <p:spPr>
          <a:xfrm>
            <a:off x="4114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7" name="ih_318"/>
          <p:cNvSpPr/>
          <p:nvPr/>
        </p:nvSpPr>
        <p:spPr>
          <a:xfrm>
            <a:off x="886968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Big words = STRESSED</a:t>
            </a:r>
            <a:endParaRPr lang="en-US" sz="1250" dirty="0"/>
          </a:p>
        </p:txBody>
      </p:sp>
      <p:sp>
        <p:nvSpPr>
          <p:cNvPr id="18" name="il_319"/>
          <p:cNvSpPr/>
          <p:nvPr/>
        </p:nvSpPr>
        <p:spPr>
          <a:xfrm>
            <a:off x="886968" y="2505456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nouns, verbs, adjectives are strong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to, a, the, of are weak and fast</a:t>
            </a:r>
            <a:endParaRPr lang="en-US" sz="1050" dirty="0"/>
          </a:p>
        </p:txBody>
      </p:sp>
      <p:sp>
        <p:nvSpPr>
          <p:cNvPr id="19" name="pf_320"/>
          <p:cNvSpPr/>
          <p:nvPr/>
        </p:nvSpPr>
        <p:spPr>
          <a:xfrm rot="-120000">
            <a:off x="1207432" y="3611880"/>
            <a:ext cx="968417" cy="1143000"/>
          </a:xfrm>
          <a:prstGeom prst="roundRect">
            <a:avLst>
              <a:gd name="adj" fmla="val 160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321" descr="/home/claude/lls-course/v2/cache/1b1_birthday_jpg_211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253152" y="3657600"/>
            <a:ext cx="876977" cy="1051560"/>
          </a:xfrm>
          <a:prstGeom prst="rect">
            <a:avLst/>
          </a:prstGeom>
        </p:spPr>
      </p:pic>
      <p:sp>
        <p:nvSpPr>
          <p:cNvPr id="21" name="bd_322"/>
          <p:cNvSpPr/>
          <p:nvPr/>
        </p:nvSpPr>
        <p:spPr>
          <a:xfrm>
            <a:off x="3291840" y="144475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R1_sw323"/>
          <p:cNvSpPr/>
          <p:nvPr/>
        </p:nvSpPr>
        <p:spPr>
          <a:xfrm>
            <a:off x="3749040" y="141732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going</a:t>
            </a:r>
            <a:endParaRPr lang="en-US" sz="1150" dirty="0"/>
          </a:p>
        </p:txBody>
      </p:sp>
      <p:sp>
        <p:nvSpPr>
          <p:cNvPr id="23" name="R1_sw324"/>
          <p:cNvSpPr/>
          <p:nvPr/>
        </p:nvSpPr>
        <p:spPr>
          <a:xfrm>
            <a:off x="4773168" y="141732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PARty</a:t>
            </a:r>
            <a:endParaRPr lang="en-US" sz="1150" dirty="0"/>
          </a:p>
        </p:txBody>
      </p:sp>
      <p:sp>
        <p:nvSpPr>
          <p:cNvPr id="24" name="R1_sw325"/>
          <p:cNvSpPr/>
          <p:nvPr/>
        </p:nvSpPr>
        <p:spPr>
          <a:xfrm>
            <a:off x="5797296" y="141732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SATurday</a:t>
            </a:r>
            <a:endParaRPr lang="en-US" sz="1150" dirty="0"/>
          </a:p>
        </p:txBody>
      </p:sp>
      <p:sp>
        <p:nvSpPr>
          <p:cNvPr id="25" name="R2_sf326"/>
          <p:cNvSpPr/>
          <p:nvPr/>
        </p:nvSpPr>
        <p:spPr>
          <a:xfrm>
            <a:off x="3749040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a party on Saturday.</a:t>
            </a:r>
            <a:endParaRPr lang="en-US" sz="1100" dirty="0"/>
          </a:p>
        </p:txBody>
      </p:sp>
      <p:sp>
        <p:nvSpPr>
          <p:cNvPr id="26" name="bd_327"/>
          <p:cNvSpPr/>
          <p:nvPr/>
        </p:nvSpPr>
        <p:spPr>
          <a:xfrm>
            <a:off x="3291840" y="2221992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R3_sw328"/>
          <p:cNvSpPr/>
          <p:nvPr/>
        </p:nvSpPr>
        <p:spPr>
          <a:xfrm>
            <a:off x="3749040" y="219456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</a:t>
            </a:r>
            <a:endParaRPr lang="en-US" sz="1150" dirty="0"/>
          </a:p>
        </p:txBody>
      </p:sp>
      <p:sp>
        <p:nvSpPr>
          <p:cNvPr id="28" name="R3_sw329"/>
          <p:cNvSpPr/>
          <p:nvPr/>
        </p:nvSpPr>
        <p:spPr>
          <a:xfrm>
            <a:off x="4773168" y="219456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DOing</a:t>
            </a:r>
            <a:endParaRPr lang="en-US" sz="1150" dirty="0"/>
          </a:p>
        </p:txBody>
      </p:sp>
      <p:sp>
        <p:nvSpPr>
          <p:cNvPr id="29" name="R3_sw330"/>
          <p:cNvSpPr/>
          <p:nvPr/>
        </p:nvSpPr>
        <p:spPr>
          <a:xfrm>
            <a:off x="5797296" y="219456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WEEKend</a:t>
            </a:r>
            <a:endParaRPr lang="en-US" sz="1150" dirty="0"/>
          </a:p>
        </p:txBody>
      </p:sp>
      <p:sp>
        <p:nvSpPr>
          <p:cNvPr id="30" name="R4_sf331"/>
          <p:cNvSpPr/>
          <p:nvPr/>
        </p:nvSpPr>
        <p:spPr>
          <a:xfrm>
            <a:off x="3749040" y="25877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at the weekend?</a:t>
            </a:r>
            <a:endParaRPr lang="en-US" sz="1100" dirty="0"/>
          </a:p>
        </p:txBody>
      </p:sp>
      <p:sp>
        <p:nvSpPr>
          <p:cNvPr id="31" name="bd_332"/>
          <p:cNvSpPr/>
          <p:nvPr/>
        </p:nvSpPr>
        <p:spPr>
          <a:xfrm>
            <a:off x="3291840" y="299923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R5_sw333"/>
          <p:cNvSpPr/>
          <p:nvPr/>
        </p:nvSpPr>
        <p:spPr>
          <a:xfrm>
            <a:off x="3749040" y="297180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MEETing</a:t>
            </a:r>
            <a:endParaRPr lang="en-US" sz="1150" dirty="0"/>
          </a:p>
        </p:txBody>
      </p:sp>
      <p:sp>
        <p:nvSpPr>
          <p:cNvPr id="33" name="R5_sw334"/>
          <p:cNvSpPr/>
          <p:nvPr/>
        </p:nvSpPr>
        <p:spPr>
          <a:xfrm>
            <a:off x="4773168" y="297180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FRIENDS</a:t>
            </a:r>
            <a:endParaRPr lang="en-US" sz="1150" dirty="0"/>
          </a:p>
        </p:txBody>
      </p:sp>
      <p:sp>
        <p:nvSpPr>
          <p:cNvPr id="34" name="R5_sw335"/>
          <p:cNvSpPr/>
          <p:nvPr/>
        </p:nvSpPr>
        <p:spPr>
          <a:xfrm>
            <a:off x="5797296" y="297180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FOUR</a:t>
            </a:r>
            <a:endParaRPr lang="en-US" sz="1150" dirty="0"/>
          </a:p>
        </p:txBody>
      </p:sp>
      <p:sp>
        <p:nvSpPr>
          <p:cNvPr id="35" name="R6_sf336"/>
          <p:cNvSpPr/>
          <p:nvPr/>
        </p:nvSpPr>
        <p:spPr>
          <a:xfrm>
            <a:off x="3749040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We're meeting our friends at four.</a:t>
            </a:r>
            <a:endParaRPr lang="en-US" sz="1100" dirty="0"/>
          </a:p>
        </p:txBody>
      </p:sp>
      <p:sp>
        <p:nvSpPr>
          <p:cNvPr id="36" name="bd_337"/>
          <p:cNvSpPr/>
          <p:nvPr/>
        </p:nvSpPr>
        <p:spPr>
          <a:xfrm>
            <a:off x="3291840" y="377647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R7_sw338"/>
          <p:cNvSpPr/>
          <p:nvPr/>
        </p:nvSpPr>
        <p:spPr>
          <a:xfrm>
            <a:off x="3749040" y="374904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GOing</a:t>
            </a:r>
            <a:endParaRPr lang="en-US" sz="1150" dirty="0"/>
          </a:p>
        </p:txBody>
      </p:sp>
      <p:sp>
        <p:nvSpPr>
          <p:cNvPr id="38" name="R7_sw339"/>
          <p:cNvSpPr/>
          <p:nvPr/>
        </p:nvSpPr>
        <p:spPr>
          <a:xfrm>
            <a:off x="4773168" y="374904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BUY</a:t>
            </a:r>
            <a:endParaRPr lang="en-US" sz="1150" dirty="0"/>
          </a:p>
        </p:txBody>
      </p:sp>
      <p:sp>
        <p:nvSpPr>
          <p:cNvPr id="39" name="R7_sw340"/>
          <p:cNvSpPr/>
          <p:nvPr/>
        </p:nvSpPr>
        <p:spPr>
          <a:xfrm>
            <a:off x="5797296" y="3749040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TRAINers</a:t>
            </a:r>
            <a:endParaRPr lang="en-US" sz="1150" dirty="0"/>
          </a:p>
        </p:txBody>
      </p:sp>
      <p:sp>
        <p:nvSpPr>
          <p:cNvPr id="40" name="R8_sf341"/>
          <p:cNvSpPr/>
          <p:nvPr/>
        </p:nvSpPr>
        <p:spPr>
          <a:xfrm>
            <a:off x="3749040" y="4142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buy some new trainers.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4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344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reply 📱</a:t>
            </a:r>
            <a:endParaRPr lang="en-US" sz="2500" dirty="0"/>
          </a:p>
        </p:txBody>
      </p:sp>
      <p:pic>
        <p:nvPicPr>
          <p:cNvPr id="6" name="brP_34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4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a reply to the group chat. Then read it to your partner.</a:t>
            </a:r>
            <a:endParaRPr lang="en-US" sz="1200" dirty="0"/>
          </a:p>
        </p:txBody>
      </p:sp>
      <p:sp>
        <p:nvSpPr>
          <p:cNvPr id="8" name="insIT_34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una risposta nella chat. Poi leggila al compagno.</a:t>
            </a:r>
            <a:endParaRPr lang="en-US" sz="950" dirty="0"/>
          </a:p>
        </p:txBody>
      </p:sp>
      <p:sp>
        <p:nvSpPr>
          <p:cNvPr id="9" name="note_34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SCRIVI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Writing · Controlled practice</a:t>
            </a:r>
            <a:endParaRPr lang="en-US" sz="1250" dirty="0"/>
          </a:p>
        </p:txBody>
      </p:sp>
      <p:pic>
        <p:nvPicPr>
          <p:cNvPr id="10" name="logo_34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5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Writing · reply to the chat</a:t>
            </a:r>
            <a:endParaRPr lang="en-US" sz="800" dirty="0"/>
          </a:p>
        </p:txBody>
      </p:sp>
      <p:sp>
        <p:nvSpPr>
          <p:cNvPr id="12" name="cd_351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5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5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54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Hi! I'm playing football on Saturday at 10, but I'm free after 6. I'm going to come to the pizza! 🍕</a:t>
            </a:r>
            <a:endParaRPr lang="en-US" sz="850" dirty="0"/>
          </a:p>
        </p:txBody>
      </p:sp>
      <p:sp>
        <p:nvSpPr>
          <p:cNvPr id="16" name="pf_355"/>
          <p:cNvSpPr/>
          <p:nvPr/>
        </p:nvSpPr>
        <p:spPr>
          <a:xfrm rot="-90000">
            <a:off x="742769" y="2770632"/>
            <a:ext cx="1852022" cy="1892808"/>
          </a:xfrm>
          <a:prstGeom prst="roundRect">
            <a:avLst>
              <a:gd name="adj" fmla="val 83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356" descr="/home/claude/lls-course/v2/cache/spare_future_technology_jpg_424x43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788489" y="2816352"/>
            <a:ext cx="1760582" cy="1801368"/>
          </a:xfrm>
          <a:prstGeom prst="rect">
            <a:avLst/>
          </a:prstGeom>
        </p:spPr>
      </p:pic>
      <p:sp>
        <p:nvSpPr>
          <p:cNvPr id="18" name="bd_357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q_358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on Saturday morning?</a:t>
            </a:r>
            <a:endParaRPr lang="en-US" sz="1150" dirty="0"/>
          </a:p>
        </p:txBody>
      </p:sp>
      <p:sp>
        <p:nvSpPr>
          <p:cNvPr id="20" name="R1_chip359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I'm… / I'm going to…</a:t>
            </a:r>
            <a:endParaRPr lang="en-US" sz="1050" dirty="0"/>
          </a:p>
        </p:txBody>
      </p:sp>
      <p:sp>
        <p:nvSpPr>
          <p:cNvPr id="21" name="bd_360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q_361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free in the afternoon?</a:t>
            </a:r>
            <a:endParaRPr lang="en-US" sz="1150" dirty="0"/>
          </a:p>
        </p:txBody>
      </p:sp>
      <p:sp>
        <p:nvSpPr>
          <p:cNvPr id="23" name="R2_chip362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I'm free! / Sorry, I'm…</a:t>
            </a:r>
            <a:endParaRPr lang="en-US" sz="1050" dirty="0"/>
          </a:p>
        </p:txBody>
      </p:sp>
      <p:sp>
        <p:nvSpPr>
          <p:cNvPr id="24" name="bd_363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q_364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coming to the pizza at 7?</a:t>
            </a:r>
            <a:endParaRPr lang="en-US" sz="1150" dirty="0"/>
          </a:p>
        </p:txBody>
      </p:sp>
      <p:sp>
        <p:nvSpPr>
          <p:cNvPr id="26" name="R3_chip365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Yes! / I can't, because…</a:t>
            </a:r>
            <a:endParaRPr lang="en-US" sz="1050" dirty="0"/>
          </a:p>
        </p:txBody>
      </p:sp>
      <p:sp>
        <p:nvSpPr>
          <p:cNvPr id="27" name="bd_366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q_367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question for your friends</a:t>
            </a:r>
            <a:endParaRPr lang="en-US" sz="1150" dirty="0"/>
          </a:p>
        </p:txBody>
      </p:sp>
      <p:sp>
        <p:nvSpPr>
          <p:cNvPr id="29" name="R4_chip368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on Sunday?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7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371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Diary race!</a:t>
            </a:r>
            <a:endParaRPr lang="en-US" sz="2500" dirty="0"/>
          </a:p>
        </p:txBody>
      </p:sp>
      <p:pic>
        <p:nvPicPr>
          <p:cNvPr id="6" name="brP_37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373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situation. Say the sentence!</a:t>
            </a:r>
            <a:endParaRPr lang="en-US" sz="1250" dirty="0"/>
          </a:p>
        </p:txBody>
      </p:sp>
      <p:sp>
        <p:nvSpPr>
          <p:cNvPr id="8" name="insIT_37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situazione. Di' la frase!</a:t>
            </a:r>
            <a:endParaRPr lang="en-US" sz="950" dirty="0"/>
          </a:p>
        </p:txBody>
      </p:sp>
      <p:sp>
        <p:nvSpPr>
          <p:cNvPr id="9" name="note_37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 game</a:t>
            </a:r>
            <a:endParaRPr lang="en-US" sz="1250" dirty="0"/>
          </a:p>
        </p:txBody>
      </p:sp>
      <p:pic>
        <p:nvPicPr>
          <p:cNvPr id="10" name="logo_37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Grammar game</a:t>
            </a:r>
            <a:endParaRPr lang="en-US" sz="800" dirty="0"/>
          </a:p>
        </p:txBody>
      </p:sp>
      <p:sp>
        <p:nvSpPr>
          <p:cNvPr id="12" name="cd_378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7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38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381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diary note.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1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l'appunto in agenda.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say a full sentence in 10 seconds.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1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dite una frase completa in 10 secondi.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sentence = 1 point.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11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Frase corretta = 1 punto.</a:t>
            </a:r>
            <a:endParaRPr lang="en-US" sz="1100" dirty="0"/>
          </a:p>
        </p:txBody>
      </p:sp>
      <p:sp>
        <p:nvSpPr>
          <p:cNvPr id="16" name="st_382"/>
          <p:cNvSpPr/>
          <p:nvPr/>
        </p:nvSpPr>
        <p:spPr>
          <a:xfrm rot="-180000">
            <a:off x="502920" y="4114800"/>
            <a:ext cx="2286000" cy="59436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383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384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📅 Sat 4 pm · cinema with Sara</a:t>
            </a:r>
            <a:endParaRPr lang="en-US" sz="1250" dirty="0"/>
          </a:p>
        </p:txBody>
      </p:sp>
      <p:sp>
        <p:nvSpPr>
          <p:cNvPr id="19" name="chip_385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going to the cinema with Sara on Saturday at 4.</a:t>
            </a:r>
            <a:endParaRPr lang="en-US" sz="1200" dirty="0"/>
          </a:p>
        </p:txBody>
      </p:sp>
      <p:sp>
        <p:nvSpPr>
          <p:cNvPr id="20" name="bd_386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387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💭 idea: buy new trainers</a:t>
            </a:r>
            <a:endParaRPr lang="en-US" sz="1250" dirty="0"/>
          </a:p>
        </p:txBody>
      </p:sp>
      <p:sp>
        <p:nvSpPr>
          <p:cNvPr id="22" name="R1_chip388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going to buy new trainers.</a:t>
            </a:r>
            <a:endParaRPr lang="en-US" sz="1200" dirty="0"/>
          </a:p>
        </p:txBody>
      </p:sp>
      <p:sp>
        <p:nvSpPr>
          <p:cNvPr id="23" name="bd_389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390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📅 Sun 1 pm · lunch at Nonna's</a:t>
            </a:r>
            <a:endParaRPr lang="en-US" sz="1250" dirty="0"/>
          </a:p>
        </p:txBody>
      </p:sp>
      <p:sp>
        <p:nvSpPr>
          <p:cNvPr id="25" name="R2_chip391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We're having lunch at Nonna's on Sunday.</a:t>
            </a:r>
            <a:endParaRPr lang="en-US" sz="1200" dirty="0"/>
          </a:p>
        </p:txBody>
      </p:sp>
      <p:sp>
        <p:nvSpPr>
          <p:cNvPr id="26" name="bd_392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393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💭 idea: start the gym</a:t>
            </a:r>
            <a:endParaRPr lang="en-US" sz="1250" dirty="0"/>
          </a:p>
        </p:txBody>
      </p:sp>
      <p:sp>
        <p:nvSpPr>
          <p:cNvPr id="28" name="R3_chip394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going to start the gym.</a:t>
            </a:r>
            <a:endParaRPr lang="en-US" sz="1200" dirty="0"/>
          </a:p>
        </p:txBody>
      </p:sp>
      <p:sp>
        <p:nvSpPr>
          <p:cNvPr id="29" name="bd_395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396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📅 Fri 6 pm · football training</a:t>
            </a:r>
            <a:endParaRPr lang="en-US" sz="1250" dirty="0"/>
          </a:p>
        </p:txBody>
      </p:sp>
      <p:sp>
        <p:nvSpPr>
          <p:cNvPr id="31" name="R4_chip397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playing football on Friday at 6.</a:t>
            </a:r>
            <a:endParaRPr lang="en-US" sz="1200" dirty="0"/>
          </a:p>
        </p:txBody>
      </p:sp>
      <p:sp>
        <p:nvSpPr>
          <p:cNvPr id="32" name="bd_398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399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ask Luca: Saturday night?</a:t>
            </a:r>
            <a:endParaRPr lang="en-US" sz="1250" dirty="0"/>
          </a:p>
        </p:txBody>
      </p:sp>
      <p:sp>
        <p:nvSpPr>
          <p:cNvPr id="34" name="R5_chip400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What are you doing on Saturday night?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0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403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Are you free on Saturday?</a:t>
            </a:r>
            <a:endParaRPr lang="en-US" sz="2500" dirty="0"/>
          </a:p>
        </p:txBody>
      </p:sp>
      <p:pic>
        <p:nvPicPr>
          <p:cNvPr id="6" name="brP_40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0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Fill your diary. Then find a friend for your weekend!</a:t>
            </a:r>
            <a:endParaRPr lang="en-US" sz="1250" dirty="0"/>
          </a:p>
        </p:txBody>
      </p:sp>
      <p:sp>
        <p:nvSpPr>
          <p:cNvPr id="8" name="insIT_40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Compila l'agenda. Poi trova un amico per il weekend!</a:t>
            </a:r>
            <a:endParaRPr lang="en-US" sz="950" dirty="0"/>
          </a:p>
        </p:txBody>
      </p:sp>
      <p:sp>
        <p:nvSpPr>
          <p:cNvPr id="9" name="note_40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🚶 mingle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4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Speaking · my weekend</a:t>
            </a:r>
            <a:endParaRPr lang="en-US" sz="800" dirty="0"/>
          </a:p>
        </p:txBody>
      </p:sp>
      <p:sp>
        <p:nvSpPr>
          <p:cNvPr id="12" name="pf_410"/>
          <p:cNvSpPr/>
          <p:nvPr/>
        </p:nvSpPr>
        <p:spPr>
          <a:xfrm rot="-120000">
            <a:off x="862615" y="1371600"/>
            <a:ext cx="170377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411" descr="/home/claude/lls-course/v2/cache/4a1_selfie_jpg_388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908335" y="1417320"/>
            <a:ext cx="1612330" cy="1234440"/>
          </a:xfrm>
          <a:prstGeom prst="rect">
            <a:avLst/>
          </a:prstGeom>
        </p:spPr>
      </p:pic>
      <p:sp>
        <p:nvSpPr>
          <p:cNvPr id="14" name="cd_412"/>
          <p:cNvSpPr/>
          <p:nvPr/>
        </p:nvSpPr>
        <p:spPr>
          <a:xfrm>
            <a:off x="320040" y="2880360"/>
            <a:ext cx="2788920" cy="1350264"/>
          </a:xfrm>
          <a:prstGeom prst="roundRect">
            <a:avLst>
              <a:gd name="adj" fmla="val 948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13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414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415"/>
          <p:cNvSpPr/>
          <p:nvPr/>
        </p:nvSpPr>
        <p:spPr>
          <a:xfrm>
            <a:off x="886968" y="3374136"/>
            <a:ext cx="2130552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Sorry, I'm busy. I'm… · I'm free! · Let's… · Shall we…?</a:t>
            </a:r>
            <a:endParaRPr lang="en-US" sz="1150" dirty="0"/>
          </a:p>
        </p:txBody>
      </p:sp>
      <p:sp>
        <p:nvSpPr>
          <p:cNvPr id="18" name="R1_qb416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417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on Saturday morning?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having a lie-in!</a:t>
            </a:r>
            <a:endParaRPr lang="en-US" sz="1400" dirty="0"/>
          </a:p>
        </p:txBody>
      </p:sp>
      <p:sp>
        <p:nvSpPr>
          <p:cNvPr id="20" name="R2_qb418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419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doing anything on Saturday afternoon?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Yes, I'm meeting my friends at 4.</a:t>
            </a:r>
            <a:endParaRPr lang="en-US" sz="1400" dirty="0"/>
          </a:p>
        </p:txBody>
      </p:sp>
      <p:sp>
        <p:nvSpPr>
          <p:cNvPr id="22" name="R3_qb420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421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going to do on Sunday?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visit my grandparents.</a:t>
            </a:r>
            <a:endParaRPr lang="en-US" sz="1400" dirty="0"/>
          </a:p>
        </p:txBody>
      </p:sp>
      <p:sp>
        <p:nvSpPr>
          <p:cNvPr id="24" name="R4_qb422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423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free on Sunday evening?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Yes! Let's go out for a pizza.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2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2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426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about…</a:t>
            </a:r>
            <a:endParaRPr lang="en-US" sz="2500" dirty="0"/>
          </a:p>
        </p:txBody>
      </p:sp>
      <p:pic>
        <p:nvPicPr>
          <p:cNvPr id="6" name="brP_42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428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 in pairs. Give one extra detail!</a:t>
            </a:r>
            <a:endParaRPr lang="en-US" sz="1250" dirty="0"/>
          </a:p>
        </p:txBody>
      </p:sp>
      <p:sp>
        <p:nvSpPr>
          <p:cNvPr id="8" name="insIT_42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Parlate in coppia. Aggiungete un dettaglio!</a:t>
            </a:r>
            <a:endParaRPr lang="en-US" sz="950" dirty="0"/>
          </a:p>
        </p:txBody>
      </p:sp>
      <p:sp>
        <p:nvSpPr>
          <p:cNvPr id="9" name="note_43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43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3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Speaking · B1 Preliminary style</a:t>
            </a:r>
            <a:endParaRPr lang="en-US" sz="800" dirty="0"/>
          </a:p>
        </p:txBody>
      </p:sp>
      <p:sp>
        <p:nvSpPr>
          <p:cNvPr id="12" name="pf_433"/>
          <p:cNvSpPr/>
          <p:nvPr/>
        </p:nvSpPr>
        <p:spPr>
          <a:xfrm rot="-120000">
            <a:off x="927735" y="1371600"/>
            <a:ext cx="157353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434" descr="/home/claude/lls-course/v2/cache/spare_life_hopes_jpg_357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973455" y="1417320"/>
            <a:ext cx="1482090" cy="1234440"/>
          </a:xfrm>
          <a:prstGeom prst="rect">
            <a:avLst/>
          </a:prstGeom>
        </p:spPr>
      </p:pic>
      <p:sp>
        <p:nvSpPr>
          <p:cNvPr id="14" name="cd_435"/>
          <p:cNvSpPr/>
          <p:nvPr/>
        </p:nvSpPr>
        <p:spPr>
          <a:xfrm>
            <a:off x="320040" y="2880360"/>
            <a:ext cx="2788920" cy="1163320"/>
          </a:xfrm>
          <a:prstGeom prst="roundRect">
            <a:avLst>
              <a:gd name="adj" fmla="val 1100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36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437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438"/>
          <p:cNvSpPr/>
          <p:nvPr/>
        </p:nvSpPr>
        <p:spPr>
          <a:xfrm>
            <a:off x="886968" y="3374136"/>
            <a:ext cx="2130552" cy="59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because… · with… · I think… · maybe…</a:t>
            </a:r>
            <a:endParaRPr lang="en-US" sz="1150" dirty="0"/>
          </a:p>
        </p:txBody>
      </p:sp>
      <p:sp>
        <p:nvSpPr>
          <p:cNvPr id="18" name="R1_qb439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440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going to do after school today?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do my homework, then I'm going to play video games.</a:t>
            </a:r>
            <a:endParaRPr lang="en-US" sz="1050" dirty="0"/>
          </a:p>
        </p:txBody>
      </p:sp>
      <p:sp>
        <p:nvSpPr>
          <p:cNvPr id="20" name="R2_qb441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442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doing next weekend?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a party on Saturday – it's my friend's birthday.</a:t>
            </a:r>
            <a:endParaRPr lang="en-US" sz="1050" dirty="0"/>
          </a:p>
        </p:txBody>
      </p:sp>
      <p:sp>
        <p:nvSpPr>
          <p:cNvPr id="22" name="R3_qb443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444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are you going to go in the summer?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the beach every day, because it's hot!</a:t>
            </a:r>
            <a:endParaRPr lang="en-US" sz="1050" dirty="0"/>
          </a:p>
        </p:txBody>
      </p:sp>
      <p:sp>
        <p:nvSpPr>
          <p:cNvPr id="24" name="R4_qb445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446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going to do when you're 18?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Maybe I'm going to learn to drive.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4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45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4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note_453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5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5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Exit · what can you remember?</a:t>
            </a:r>
            <a:endParaRPr lang="en-US" sz="800" dirty="0"/>
          </a:p>
        </p:txBody>
      </p:sp>
      <p:sp>
        <p:nvSpPr>
          <p:cNvPr id="12" name="bd_456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57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weekend words (no looking!)</a:t>
            </a:r>
            <a:endParaRPr lang="en-US" sz="1400" dirty="0"/>
          </a:p>
        </p:txBody>
      </p:sp>
      <p:sp>
        <p:nvSpPr>
          <p:cNvPr id="14" name="bd_458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59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sentences: one plan (going to), one arrangement (+ time)</a:t>
            </a:r>
            <a:endParaRPr lang="en-US" sz="1400" dirty="0"/>
          </a:p>
        </p:txBody>
      </p:sp>
      <p:sp>
        <p:nvSpPr>
          <p:cNvPr id="16" name="bd_460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61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question to ask a friend about Saturday</a:t>
            </a:r>
            <a:endParaRPr lang="en-US" sz="1400" dirty="0"/>
          </a:p>
        </p:txBody>
      </p:sp>
      <p:sp>
        <p:nvSpPr>
          <p:cNvPr id="18" name="cd_462"/>
          <p:cNvSpPr/>
          <p:nvPr/>
        </p:nvSpPr>
        <p:spPr>
          <a:xfrm>
            <a:off x="5669280" y="1417320"/>
            <a:ext cx="3200400" cy="1837944"/>
          </a:xfrm>
          <a:prstGeom prst="roundRect">
            <a:avLst>
              <a:gd name="adj" fmla="val 696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63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64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65"/>
          <p:cNvSpPr/>
          <p:nvPr/>
        </p:nvSpPr>
        <p:spPr>
          <a:xfrm>
            <a:off x="6236208" y="1911096"/>
            <a:ext cx="25420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your weekend diary: 5 sentences (going to + present continuous)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 the 12 weekend words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Easier homework in the LLS app</a:t>
            </a:r>
            <a:endParaRPr lang="en-US" sz="1150" dirty="0"/>
          </a:p>
        </p:txBody>
      </p:sp>
      <p:sp>
        <p:nvSpPr>
          <p:cNvPr id="22" name="st_466"/>
          <p:cNvSpPr/>
          <p:nvPr/>
        </p:nvSpPr>
        <p:spPr>
          <a:xfrm rot="-180000">
            <a:off x="5806440" y="3483864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what did you do at the weekend? (past simple)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69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71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7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7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Review · what did you do today?</a:t>
            </a:r>
            <a:endParaRPr lang="en-US" sz="800" dirty="0"/>
          </a:p>
        </p:txBody>
      </p:sp>
      <p:sp>
        <p:nvSpPr>
          <p:cNvPr id="12" name="cd_476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77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4" name="tt_478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12 free-time words</a:t>
            </a:r>
            <a:endParaRPr lang="en-US" sz="1350" dirty="0"/>
          </a:p>
        </p:txBody>
      </p:sp>
      <p:sp>
        <p:nvSpPr>
          <p:cNvPr id="15" name="R1_tk479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80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81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8" name="tt_482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 group chat about the weekend</a:t>
            </a:r>
            <a:endParaRPr lang="en-US" sz="1350" dirty="0"/>
          </a:p>
        </p:txBody>
      </p:sp>
      <p:sp>
        <p:nvSpPr>
          <p:cNvPr id="19" name="R2_tk483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84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85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2" name="tt_486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3" name="R3_tk487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88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89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🗓</a:t>
            </a:r>
            <a:endParaRPr lang="en-US" sz="1800" dirty="0"/>
          </a:p>
        </p:txBody>
      </p:sp>
      <p:sp>
        <p:nvSpPr>
          <p:cNvPr id="26" name="tt_490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plans: I'm going to… / I'm meeting…</a:t>
            </a:r>
            <a:endParaRPr lang="en-US" sz="1350" dirty="0"/>
          </a:p>
        </p:txBody>
      </p:sp>
      <p:sp>
        <p:nvSpPr>
          <p:cNvPr id="27" name="R4_tk491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92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93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0" name="tt_494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 a friend for your weekend</a:t>
            </a:r>
            <a:endParaRPr lang="en-US" sz="1350" dirty="0"/>
          </a:p>
        </p:txBody>
      </p:sp>
      <p:sp>
        <p:nvSpPr>
          <p:cNvPr id="31" name="R5_tk495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96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497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498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499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500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0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50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503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my weekend!</a:t>
            </a:r>
            <a:endParaRPr lang="en-US" sz="2250" dirty="0"/>
          </a:p>
        </p:txBody>
      </p:sp>
      <p:pic>
        <p:nvPicPr>
          <p:cNvPr id="6" name="brP_50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505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yes/no questions. Guess the plan!</a:t>
            </a:r>
            <a:endParaRPr lang="en-US" sz="1250" dirty="0"/>
          </a:p>
        </p:txBody>
      </p:sp>
      <p:sp>
        <p:nvSpPr>
          <p:cNvPr id="8" name="insIT_50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domande sì/no. Indovina il piano!</a:t>
            </a:r>
            <a:endParaRPr lang="en-US" sz="950" dirty="0"/>
          </a:p>
        </p:txBody>
      </p:sp>
      <p:sp>
        <p:nvSpPr>
          <p:cNvPr id="9" name="note_50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250" dirty="0"/>
          </a:p>
        </p:txBody>
      </p:sp>
      <p:pic>
        <p:nvPicPr>
          <p:cNvPr id="10" name="logo_5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Y1 · Extra game</a:t>
            </a:r>
            <a:endParaRPr lang="en-US" sz="800" dirty="0"/>
          </a:p>
        </p:txBody>
      </p:sp>
      <p:sp>
        <p:nvSpPr>
          <p:cNvPr id="12" name="ext_510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cd_511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ii_51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5" name="ih_51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6" name="il_514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student thinks of a weekend plan.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Uno studente pensa a un piano per il weekend.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class asks yes/no questions: Are you going to…? Are you meeting…?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classe fa domande sì/no.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in 10 questions = 1 point.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Indovinate in 10 domande = 1 punto.</a:t>
            </a:r>
            <a:endParaRPr lang="en-US" sz="900" dirty="0"/>
          </a:p>
        </p:txBody>
      </p:sp>
      <p:sp>
        <p:nvSpPr>
          <p:cNvPr id="17" name="st_515"/>
          <p:cNvSpPr/>
          <p:nvPr/>
        </p:nvSpPr>
        <p:spPr>
          <a:xfrm rot="-180000">
            <a:off x="502920" y="4114800"/>
            <a:ext cx="2286000" cy="59436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8" name="bd_516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9" name="gq_517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going to play a sport?</a:t>
            </a:r>
            <a:endParaRPr lang="en-US" sz="1250" dirty="0"/>
          </a:p>
        </p:txBody>
      </p:sp>
      <p:sp>
        <p:nvSpPr>
          <p:cNvPr id="20" name="chip_518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Yes, I am. / No, I'm not.</a:t>
            </a:r>
            <a:endParaRPr lang="en-US" sz="1200" dirty="0"/>
          </a:p>
        </p:txBody>
      </p:sp>
      <p:sp>
        <p:nvSpPr>
          <p:cNvPr id="21" name="bd_519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gq_520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meeting friends?</a:t>
            </a:r>
            <a:endParaRPr lang="en-US" sz="1250" dirty="0"/>
          </a:p>
        </p:txBody>
      </p:sp>
      <p:sp>
        <p:nvSpPr>
          <p:cNvPr id="23" name="R1_chip521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Yes, I am.</a:t>
            </a:r>
            <a:endParaRPr lang="en-US" sz="1200" dirty="0"/>
          </a:p>
        </p:txBody>
      </p:sp>
      <p:sp>
        <p:nvSpPr>
          <p:cNvPr id="24" name="bd_522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gq_523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it in the evening?</a:t>
            </a:r>
            <a:endParaRPr lang="en-US" sz="1250" dirty="0"/>
          </a:p>
        </p:txBody>
      </p:sp>
      <p:sp>
        <p:nvSpPr>
          <p:cNvPr id="26" name="R2_chip524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No, it isn't.</a:t>
            </a:r>
            <a:endParaRPr lang="en-US" sz="1200" dirty="0"/>
          </a:p>
        </p:txBody>
      </p:sp>
      <p:sp>
        <p:nvSpPr>
          <p:cNvPr id="27" name="bd_525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gq_526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going to the beach?</a:t>
            </a:r>
            <a:endParaRPr lang="en-US" sz="1250" dirty="0"/>
          </a:p>
        </p:txBody>
      </p:sp>
      <p:sp>
        <p:nvSpPr>
          <p:cNvPr id="29" name="R3_chip527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Yes! 🏖️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 Weekend plans</dc:title>
  <dc:subject>PptxGenJS Presentation</dc:subject>
  <dc:creator>PptxGenJS</dc:creator>
  <cp:lastModifiedBy>PptxGenJS</cp:lastModifiedBy>
  <cp:revision>1</cp:revision>
  <dcterms:created xsi:type="dcterms:W3CDTF">2026-10-21T09:56:37Z</dcterms:created>
  <dcterms:modified xsi:type="dcterms:W3CDTF">2026-10-21T09:56:37Z</dcterms:modified>
</cp:coreProperties>
</file>