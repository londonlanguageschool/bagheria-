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Show the photo: Friday, friends, the weekend starts! Ask the THINK question; take 4–5 answers in any form (don't correct the grammar yet). Write two good answers on the board – you'll come back to them at the rule slide. Read the 'Today you're going to…' list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lessons (3 min)
REVISION (3 min). Read the examples. Quick check: ask 4 students a Do or Be question (Are you hungry? Do you have a dog? Is it cold today? Do you play an instrument?). Pairs make one more example for each column. Today: plans for the weekend.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Vocabulary · free time (3 min)
VOCABULARY (3 min). Click once per tile: the Italian appears. Before clicking, mime the activity and let the class say it in English. Point at the 'Watch out' line: go shopping (not go to shopping), do homework (not make). Choral drill 4–5 of the phrases.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Vocabulary game (3 min)
GAME 1 (3 min). Two teams. A student from team A faces the screen; the rest of team A faces the class. Click to show each word: 30 seconds to mime it. Full phrase in English = 1 point (just 'shopping' = half point). Then team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Speaking · class story (TPRS) (4 min)
TPRS CLASS STORY (4 min). Click once per line. For each line: 1) say it with drama, 2) ask the grey questions round the class (yes/no → either/or → open), 3) let students change details ('Is Marco visiting Nonna? No? Who is he visiting?') and use their ideas in the next lines. Students hear 'going to' (plans) and present continuous with a time (arrangements) 15+ times BEFORE the rule. Last question: personalise.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Reading · the group chat (on this slide) (4 min)
READING + GAPS (4 min). The text is ON THE SLIDE. Gist first (30 seconds): 'What are they going to do on Saturday evening?' (a pizza at 7). Then pairs complete 1–5 with the box – 2 words don't fit (went = past, do). Click once per gap: the answer appears in the text. Answers: 1 are you doing · 2 'm going · 3 're meeting · 4 'm having · 5 going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Reading · detail (3 min)
DETAIL (3 min). Pairs answer from the chat on the last slide (they can go back). Click once per answer. Short answers are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Grammar · noticing (3 min)
GUIDED DISCOVERY (3 min) before the rule. Pairs decide: is it just an idea (plan) or organised with a time / other people (arrangement)? Click once per sentence. Then ask: which verb form do the pink ones use? (going to) And the green ones? (am/is/are + -ing).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Grammar · plans and arrangements (4 min)
RULE (4 min), built from the story and the chat. Click once per column. CCQs: 'We're meeting at 3 – do Sofia and Anna know the time?' (yes) 'Is it organised?' (yes) → present continuous. 'I'm going to have a lie-in – is there a time?' (no) 'Did Marco decide?' (yes) → going to. Tell them: both are correct in many sentences – the important thing is NOT to use the Italian present simple.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Grammar · practice (4 min)
CONTROLLED PRACTICE (4 min). Pairs write the answers, then click once per sentence. Accept both forms where both are natural (e.g. c 'Are you going to do'). Ask for each: is it a plan or an arrangement? Clue words: a time or a day + other people = arrangement.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Pronunciation · going to /ɡəʊɪŋ tə/ (4 min)
PRONUNCIATION (4 min). No recording: YOU read each sentence twice at natural speed. Students write only the stressed words, then rebuild the sentence. Click 1 = big words, click 2 = full sentence. Drill: 'going to' is fast and weak /ɡəʊɪŋ tə/; 'to' is /tə/, not /tu:/. Italian speakers stress every word – exaggerate the big ones, whisper the small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Writing · reply to the chat (4 min)
WRITING (4 min). Each student writes a 3–4 line reply to the group chat from slide 6, answering the 4 prompts (click once per prompt to show sentence starters). Then read it to a partner. Fast finishers: write Sunday's plans too. Collect 2–3 replies and read them out (good for error correction).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Grammar game (3 min)
GAME 2 (3 min). 📅 = in the diary (arrangement → present continuous). 💭 = an idea (plan → going to). ❓ = make a question. Click to show a model answer after each round. Point for a correct full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Speaking · my weekend (5 min)
FREER PRACTICE (5 min). First, each student writes 3 things in a mini-diary on paper (Sat morning / Sat afternoon / Sun…), leaving at least one slot free. Questions appear one per click as models. Mingle: find someone free at the same time and make an arrangement ('Let's go to the cinema at 5!'). Feedback: 3 students tell the class their new arrangement. Note 4–5 errors for correction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Speaking · B1 Preliminary style (5 min)
EXAM-STYLE SPEAKING (5 min). Like B1 Preliminary Part 1: short answers + one extra detail. Questions appear one per click; about 1 minute each. Model the first one with a strong student. Push for 'because…' and 'with…'.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Exit · what can you remember? (2 min)
RETRIEVAL EXIT (2 min). Books closed. Pairs: 3 words, 2 sentences, 1 question. Share a few. Set homework from the portal (B1.1 Young easier homework).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Extra game (4 min)
EXTRA (if there's time). Model first: think of 'going to the beach with my cousins on Sunday'. Students ask Are you going to…? / Are you meeting…? / Is it on Saturday? Click to show model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B1.1 Young · LLS course · LLS original lesson · no book needed</a:t>
            </a:r>
            <a:endParaRPr lang="en-US" sz="95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Y1</a:t>
            </a:r>
            <a:endParaRPr lang="en-US" sz="28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Weekend plans</a:t>
            </a:r>
            <a:endParaRPr lang="en-US" sz="25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Free time, plans and arrangements</a:t>
            </a:r>
            <a:endParaRPr lang="en-US" sz="120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🎮  learn 12 free-time words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📱  read a group chat about the weekend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🗓  talk about plans: I'm going to… / I'm meeting…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find a friend for your weekend</a:t>
            </a:r>
            <a:endParaRPr lang="en-US" sz="100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going to sleep a lot and play football on Sunday!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spare_future_friends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It's Friday afternoon. What are you going to do this weekend?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lessons?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161788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49057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examples. Make one more with your partner.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gli esempi. Fanne uno in più con il compagno.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Y1 · Revision · last lessons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spare_life_teenage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12 Oct: Do or Be in questions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Oct: family + plans with going to</a:t>
            </a:r>
            <a:endParaRPr lang="en-US" sz="100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 or Be?</a:t>
            </a:r>
            <a:endParaRPr lang="en-US" sz="120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you like football? – Yes, I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you tired? – No, I'm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your brother at school? – Yes, he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Plans</a:t>
            </a:r>
            <a:endParaRPr lang="en-US" sz="12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going to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study tonight.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cousin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going to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visit us.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you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going to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watch the match?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475488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3794760" y="4178808"/>
            <a:ext cx="630936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does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4498848" y="4178808"/>
            <a:ext cx="475488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5047488" y="4178808"/>
            <a:ext cx="475488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5596128" y="4178808"/>
            <a:ext cx="553212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6222492" y="417880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going to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49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Weekend words</a:t>
            </a:r>
            <a:endParaRPr lang="en-US" sz="2400" dirty="0"/>
          </a:p>
        </p:txBody>
      </p:sp>
      <p:pic>
        <p:nvPicPr>
          <p:cNvPr id="6" name="brP_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727448" cy="402336"/>
          </a:xfrm>
          <a:prstGeom prst="rect">
            <a:avLst/>
          </a:prstGeom>
        </p:spPr>
      </p:pic>
      <p:sp>
        <p:nvSpPr>
          <p:cNvPr id="7" name="ins_51"/>
          <p:cNvSpPr/>
          <p:nvPr/>
        </p:nvSpPr>
        <p:spPr>
          <a:xfrm>
            <a:off x="1353312" y="731520"/>
            <a:ext cx="4471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it in English. Then click for the Italian.</a:t>
            </a:r>
            <a:endParaRPr lang="en-US" sz="1250" dirty="0"/>
          </a:p>
        </p:txBody>
      </p:sp>
      <p:sp>
        <p:nvSpPr>
          <p:cNvPr id="8" name="insIT_5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Dillo in inglese. Poi clicca per l'italiano.</a:t>
            </a:r>
            <a:endParaRPr lang="en-US" sz="950" dirty="0"/>
          </a:p>
        </p:txBody>
      </p:sp>
      <p:sp>
        <p:nvSpPr>
          <p:cNvPr id="9" name="cmd_5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0" name="meta_5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sp>
        <p:nvSpPr>
          <p:cNvPr id="11" name="tag_5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meaning</a:t>
            </a:r>
            <a:endParaRPr lang="en-US" sz="700" dirty="0"/>
          </a:p>
        </p:txBody>
      </p:sp>
      <p:pic>
        <p:nvPicPr>
          <p:cNvPr id="12" name="logo_5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Y1 · Vocabulary · free time</a:t>
            </a:r>
            <a:endParaRPr lang="en-US" sz="800" dirty="0"/>
          </a:p>
        </p:txBody>
      </p:sp>
      <p:sp>
        <p:nvSpPr>
          <p:cNvPr id="14" name="cd_58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e_59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⚽</a:t>
            </a:r>
            <a:endParaRPr lang="en-US" sz="2000" dirty="0"/>
          </a:p>
        </p:txBody>
      </p:sp>
      <p:sp>
        <p:nvSpPr>
          <p:cNvPr id="16" name="en_60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 football</a:t>
            </a:r>
            <a:endParaRPr lang="en-US" sz="1200" dirty="0"/>
          </a:p>
        </p:txBody>
      </p:sp>
      <p:sp>
        <p:nvSpPr>
          <p:cNvPr id="17" name="R1_it61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giocare a calcio</a:t>
            </a:r>
            <a:endParaRPr lang="en-US" sz="1000" dirty="0"/>
          </a:p>
        </p:txBody>
      </p:sp>
      <p:sp>
        <p:nvSpPr>
          <p:cNvPr id="18" name="cd_62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e_63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🎮</a:t>
            </a:r>
            <a:endParaRPr lang="en-US" sz="2000" dirty="0"/>
          </a:p>
        </p:txBody>
      </p:sp>
      <p:sp>
        <p:nvSpPr>
          <p:cNvPr id="20" name="en_64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 video games</a:t>
            </a:r>
            <a:endParaRPr lang="en-US" sz="1150" dirty="0"/>
          </a:p>
        </p:txBody>
      </p:sp>
      <p:sp>
        <p:nvSpPr>
          <p:cNvPr id="21" name="R2_it65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giocare ai videogiochi</a:t>
            </a:r>
            <a:endParaRPr lang="en-US" sz="900" dirty="0"/>
          </a:p>
        </p:txBody>
      </p:sp>
      <p:sp>
        <p:nvSpPr>
          <p:cNvPr id="22" name="cd_66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e_67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🛍️</a:t>
            </a:r>
            <a:endParaRPr lang="en-US" sz="2000" dirty="0"/>
          </a:p>
        </p:txBody>
      </p:sp>
      <p:sp>
        <p:nvSpPr>
          <p:cNvPr id="24" name="en_68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go shopping</a:t>
            </a:r>
            <a:endParaRPr lang="en-US" sz="1200" dirty="0"/>
          </a:p>
        </p:txBody>
      </p:sp>
      <p:sp>
        <p:nvSpPr>
          <p:cNvPr id="25" name="R3_it69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fare shopping</a:t>
            </a:r>
            <a:endParaRPr lang="en-US" sz="1000" dirty="0"/>
          </a:p>
        </p:txBody>
      </p:sp>
      <p:sp>
        <p:nvSpPr>
          <p:cNvPr id="26" name="cd_70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e_71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🍕</a:t>
            </a:r>
            <a:endParaRPr lang="en-US" sz="2000" dirty="0"/>
          </a:p>
        </p:txBody>
      </p:sp>
      <p:sp>
        <p:nvSpPr>
          <p:cNvPr id="28" name="en_72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go out for a pizza</a:t>
            </a:r>
            <a:endParaRPr lang="en-US" sz="1200" dirty="0"/>
          </a:p>
        </p:txBody>
      </p:sp>
      <p:sp>
        <p:nvSpPr>
          <p:cNvPr id="29" name="R4_it73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uscire a mangiare una pizza</a:t>
            </a:r>
            <a:endParaRPr lang="en-US" sz="800" dirty="0"/>
          </a:p>
        </p:txBody>
      </p:sp>
      <p:sp>
        <p:nvSpPr>
          <p:cNvPr id="30" name="cd_74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e_75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🎬</a:t>
            </a:r>
            <a:endParaRPr lang="en-US" sz="2000" dirty="0"/>
          </a:p>
        </p:txBody>
      </p:sp>
      <p:sp>
        <p:nvSpPr>
          <p:cNvPr id="32" name="en_76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go to the cinema</a:t>
            </a:r>
            <a:endParaRPr lang="en-US" sz="1200" dirty="0"/>
          </a:p>
        </p:txBody>
      </p:sp>
      <p:sp>
        <p:nvSpPr>
          <p:cNvPr id="33" name="R5_it77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andare al cinema</a:t>
            </a:r>
            <a:endParaRPr lang="en-US" sz="1000" dirty="0"/>
          </a:p>
        </p:txBody>
      </p:sp>
      <p:sp>
        <p:nvSpPr>
          <p:cNvPr id="34" name="cd_78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e_79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🏖️</a:t>
            </a:r>
            <a:endParaRPr lang="en-US" sz="2000" dirty="0"/>
          </a:p>
        </p:txBody>
      </p:sp>
      <p:sp>
        <p:nvSpPr>
          <p:cNvPr id="36" name="en_80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go to the beach</a:t>
            </a:r>
            <a:endParaRPr lang="en-US" sz="1200" dirty="0"/>
          </a:p>
        </p:txBody>
      </p:sp>
      <p:sp>
        <p:nvSpPr>
          <p:cNvPr id="37" name="R6_it81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andare al mare</a:t>
            </a:r>
            <a:endParaRPr lang="en-US" sz="1000" dirty="0"/>
          </a:p>
        </p:txBody>
      </p:sp>
      <p:sp>
        <p:nvSpPr>
          <p:cNvPr id="38" name="cd_82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9" name="e_83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👵</a:t>
            </a:r>
            <a:endParaRPr lang="en-US" sz="2000" dirty="0"/>
          </a:p>
        </p:txBody>
      </p:sp>
      <p:sp>
        <p:nvSpPr>
          <p:cNvPr id="40" name="en_84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visit my grandparents</a:t>
            </a:r>
            <a:endParaRPr lang="en-US" sz="1000" dirty="0"/>
          </a:p>
        </p:txBody>
      </p:sp>
      <p:sp>
        <p:nvSpPr>
          <p:cNvPr id="41" name="R7_it85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andare dai nonni</a:t>
            </a:r>
            <a:endParaRPr lang="en-US" sz="1000" dirty="0"/>
          </a:p>
        </p:txBody>
      </p:sp>
      <p:sp>
        <p:nvSpPr>
          <p:cNvPr id="42" name="cd_86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3" name="e_87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😴</a:t>
            </a:r>
            <a:endParaRPr lang="en-US" sz="2000" dirty="0"/>
          </a:p>
        </p:txBody>
      </p:sp>
      <p:sp>
        <p:nvSpPr>
          <p:cNvPr id="44" name="en_88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have a lie-in</a:t>
            </a:r>
            <a:endParaRPr lang="en-US" sz="1200" dirty="0"/>
          </a:p>
        </p:txBody>
      </p:sp>
      <p:sp>
        <p:nvSpPr>
          <p:cNvPr id="45" name="R8_it89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dormire fino a tardi</a:t>
            </a:r>
            <a:endParaRPr lang="en-US" sz="1000" dirty="0"/>
          </a:p>
        </p:txBody>
      </p:sp>
      <p:sp>
        <p:nvSpPr>
          <p:cNvPr id="46" name="cd_90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7" name="e_91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📚</a:t>
            </a:r>
            <a:endParaRPr lang="en-US" sz="2000" dirty="0"/>
          </a:p>
        </p:txBody>
      </p:sp>
      <p:sp>
        <p:nvSpPr>
          <p:cNvPr id="48" name="en_92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 my homework</a:t>
            </a:r>
            <a:endParaRPr lang="en-US" sz="1200" dirty="0"/>
          </a:p>
        </p:txBody>
      </p:sp>
      <p:sp>
        <p:nvSpPr>
          <p:cNvPr id="49" name="R9_it93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fare i compiti</a:t>
            </a:r>
            <a:endParaRPr lang="en-US" sz="1000" dirty="0"/>
          </a:p>
        </p:txBody>
      </p:sp>
      <p:sp>
        <p:nvSpPr>
          <p:cNvPr id="50" name="cd_94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1" name="e_95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🎂</a:t>
            </a:r>
            <a:endParaRPr lang="en-US" sz="2000" dirty="0"/>
          </a:p>
        </p:txBody>
      </p:sp>
      <p:sp>
        <p:nvSpPr>
          <p:cNvPr id="52" name="en_96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go to a party</a:t>
            </a:r>
            <a:endParaRPr lang="en-US" sz="1200" dirty="0"/>
          </a:p>
        </p:txBody>
      </p:sp>
      <p:sp>
        <p:nvSpPr>
          <p:cNvPr id="53" name="R10_it97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andare a una festa</a:t>
            </a:r>
            <a:endParaRPr lang="en-US" sz="1000" dirty="0"/>
          </a:p>
        </p:txBody>
      </p:sp>
      <p:sp>
        <p:nvSpPr>
          <p:cNvPr id="54" name="cd_98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5" name="e_99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🏋️</a:t>
            </a:r>
            <a:endParaRPr lang="en-US" sz="2000" dirty="0"/>
          </a:p>
        </p:txBody>
      </p:sp>
      <p:sp>
        <p:nvSpPr>
          <p:cNvPr id="56" name="en_100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go to the gym</a:t>
            </a:r>
            <a:endParaRPr lang="en-US" sz="1200" dirty="0"/>
          </a:p>
        </p:txBody>
      </p:sp>
      <p:sp>
        <p:nvSpPr>
          <p:cNvPr id="57" name="R11_it101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andare in palestra</a:t>
            </a:r>
            <a:endParaRPr lang="en-US" sz="1000" dirty="0"/>
          </a:p>
        </p:txBody>
      </p:sp>
      <p:sp>
        <p:nvSpPr>
          <p:cNvPr id="58" name="cd_102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9" name="e_103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🧹</a:t>
            </a:r>
            <a:endParaRPr lang="en-US" sz="2000" dirty="0"/>
          </a:p>
        </p:txBody>
      </p:sp>
      <p:sp>
        <p:nvSpPr>
          <p:cNvPr id="60" name="en_104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tidy my room</a:t>
            </a:r>
            <a:endParaRPr lang="en-US" sz="1200" dirty="0"/>
          </a:p>
        </p:txBody>
      </p:sp>
      <p:sp>
        <p:nvSpPr>
          <p:cNvPr id="61" name="R12_it105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riordinare la camera</a:t>
            </a:r>
            <a:endParaRPr lang="en-US" sz="1000" dirty="0"/>
          </a:p>
        </p:txBody>
      </p:sp>
      <p:sp>
        <p:nvSpPr>
          <p:cNvPr id="62" name="R13_wc106"/>
          <p:cNvSpPr/>
          <p:nvPr/>
        </p:nvSpPr>
        <p:spPr>
          <a:xfrm>
            <a:off x="320040" y="39319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3" name="R13_w107"/>
          <p:cNvSpPr/>
          <p:nvPr/>
        </p:nvSpPr>
        <p:spPr>
          <a:xfrm>
            <a:off x="457200" y="39319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go shopping / go swimming (no to!)  ·  have a lie-in = stay in bed late  ·  do homework (not make)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0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10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1989734" cy="621792"/>
          </a:xfrm>
          <a:prstGeom prst="rect">
            <a:avLst/>
          </a:prstGeom>
        </p:spPr>
      </p:pic>
      <p:sp>
        <p:nvSpPr>
          <p:cNvPr id="5" name="title_110"/>
          <p:cNvSpPr/>
          <p:nvPr/>
        </p:nvSpPr>
        <p:spPr>
          <a:xfrm>
            <a:off x="1261872" y="164592"/>
            <a:ext cx="17154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Mime it!</a:t>
            </a:r>
            <a:endParaRPr lang="en-US" sz="2500" dirty="0"/>
          </a:p>
        </p:txBody>
      </p:sp>
      <p:pic>
        <p:nvPicPr>
          <p:cNvPr id="6" name="brP_11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112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Mime an activity. Your team guesses!</a:t>
            </a:r>
            <a:endParaRPr lang="en-US" sz="1250" dirty="0"/>
          </a:p>
        </p:txBody>
      </p:sp>
      <p:sp>
        <p:nvSpPr>
          <p:cNvPr id="8" name="insIT_11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Mima un'attività. La tua squadra indovina!</a:t>
            </a:r>
            <a:endParaRPr lang="en-US" sz="950" dirty="0"/>
          </a:p>
        </p:txBody>
      </p:sp>
      <p:sp>
        <p:nvSpPr>
          <p:cNvPr id="9" name="cmd_11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115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1" name="tag_116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11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1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Y1 · Vocabulary game</a:t>
            </a:r>
            <a:endParaRPr lang="en-US" sz="800" dirty="0"/>
          </a:p>
        </p:txBody>
      </p:sp>
      <p:sp>
        <p:nvSpPr>
          <p:cNvPr id="14" name="cd_119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2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12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122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student looks at the word.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Uno studente guarda la parola.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Mime it. No talking!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Mimala. Non parlare!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 guesses in English = 1 point.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 squadra indovina in inglese = 1 punto.</a:t>
            </a:r>
            <a:endParaRPr lang="en-US" sz="1000" dirty="0"/>
          </a:p>
        </p:txBody>
      </p:sp>
      <p:sp>
        <p:nvSpPr>
          <p:cNvPr id="18" name="pf_123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124" descr="/home/claude/lls-course/v2/cache/spare_life_celebrations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0" name="rl_125"/>
          <p:cNvSpPr/>
          <p:nvPr/>
        </p:nvSpPr>
        <p:spPr>
          <a:xfrm>
            <a:off x="324612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</a:t>
            </a:r>
            <a:endParaRPr lang="en-US" sz="1100" dirty="0"/>
          </a:p>
        </p:txBody>
      </p:sp>
      <p:sp>
        <p:nvSpPr>
          <p:cNvPr id="21" name="R1_w126"/>
          <p:cNvSpPr/>
          <p:nvPr/>
        </p:nvSpPr>
        <p:spPr>
          <a:xfrm>
            <a:off x="324612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have a lie-in</a:t>
            </a:r>
            <a:endParaRPr lang="en-US" sz="1700" dirty="0"/>
          </a:p>
        </p:txBody>
      </p:sp>
      <p:sp>
        <p:nvSpPr>
          <p:cNvPr id="22" name="R3_w127"/>
          <p:cNvSpPr/>
          <p:nvPr/>
        </p:nvSpPr>
        <p:spPr>
          <a:xfrm>
            <a:off x="324612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go shopping</a:t>
            </a:r>
            <a:endParaRPr lang="en-US" sz="1700" dirty="0"/>
          </a:p>
        </p:txBody>
      </p:sp>
      <p:sp>
        <p:nvSpPr>
          <p:cNvPr id="23" name="R5_w128"/>
          <p:cNvSpPr/>
          <p:nvPr/>
        </p:nvSpPr>
        <p:spPr>
          <a:xfrm>
            <a:off x="324612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tidy my room</a:t>
            </a:r>
            <a:endParaRPr lang="en-US" sz="1700" dirty="0"/>
          </a:p>
        </p:txBody>
      </p:sp>
      <p:sp>
        <p:nvSpPr>
          <p:cNvPr id="24" name="R7_w129"/>
          <p:cNvSpPr/>
          <p:nvPr/>
        </p:nvSpPr>
        <p:spPr>
          <a:xfrm>
            <a:off x="324612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go to the gym</a:t>
            </a:r>
            <a:endParaRPr lang="en-US" sz="1700" dirty="0"/>
          </a:p>
        </p:txBody>
      </p:sp>
      <p:sp>
        <p:nvSpPr>
          <p:cNvPr id="25" name="rl_130"/>
          <p:cNvSpPr/>
          <p:nvPr/>
        </p:nvSpPr>
        <p:spPr>
          <a:xfrm>
            <a:off x="608076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</a:t>
            </a:r>
            <a:endParaRPr lang="en-US" sz="1100" dirty="0"/>
          </a:p>
        </p:txBody>
      </p:sp>
      <p:sp>
        <p:nvSpPr>
          <p:cNvPr id="26" name="R2_w131"/>
          <p:cNvSpPr/>
          <p:nvPr/>
        </p:nvSpPr>
        <p:spPr>
          <a:xfrm>
            <a:off x="608076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 video games</a:t>
            </a:r>
            <a:endParaRPr lang="en-US" sz="1700" dirty="0"/>
          </a:p>
        </p:txBody>
      </p:sp>
      <p:sp>
        <p:nvSpPr>
          <p:cNvPr id="27" name="R4_w132"/>
          <p:cNvSpPr/>
          <p:nvPr/>
        </p:nvSpPr>
        <p:spPr>
          <a:xfrm>
            <a:off x="608076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go out for a pizza</a:t>
            </a:r>
            <a:endParaRPr lang="en-US" sz="1700" dirty="0"/>
          </a:p>
        </p:txBody>
      </p:sp>
      <p:sp>
        <p:nvSpPr>
          <p:cNvPr id="28" name="R6_w133"/>
          <p:cNvSpPr/>
          <p:nvPr/>
        </p:nvSpPr>
        <p:spPr>
          <a:xfrm>
            <a:off x="608076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visit my grandparents</a:t>
            </a:r>
            <a:endParaRPr lang="en-US" sz="1700" dirty="0"/>
          </a:p>
        </p:txBody>
      </p:sp>
      <p:sp>
        <p:nvSpPr>
          <p:cNvPr id="29" name="R8_w134"/>
          <p:cNvSpPr/>
          <p:nvPr/>
        </p:nvSpPr>
        <p:spPr>
          <a:xfrm>
            <a:off x="608076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go to a party</a:t>
            </a:r>
            <a:endParaRPr lang="en-US" sz="1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3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3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37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Marco's busy Saturday</a:t>
            </a:r>
            <a:endParaRPr lang="en-US" sz="2500" dirty="0"/>
          </a:p>
        </p:txBody>
      </p:sp>
      <p:pic>
        <p:nvPicPr>
          <p:cNvPr id="6" name="brP_13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139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14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cmd_14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142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143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2" name="tag_144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story</a:t>
            </a:r>
            <a:endParaRPr lang="en-US" sz="850" dirty="0"/>
          </a:p>
        </p:txBody>
      </p:sp>
      <p:pic>
        <p:nvPicPr>
          <p:cNvPr id="13" name="logo_14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4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Y1 · Speaking · class story (TPRS)</a:t>
            </a:r>
            <a:endParaRPr lang="en-US" sz="800" dirty="0"/>
          </a:p>
        </p:txBody>
      </p:sp>
      <p:sp>
        <p:nvSpPr>
          <p:cNvPr id="15" name="cd_147"/>
          <p:cNvSpPr/>
          <p:nvPr/>
        </p:nvSpPr>
        <p:spPr>
          <a:xfrm>
            <a:off x="320040" y="1417320"/>
            <a:ext cx="2697480" cy="2468880"/>
          </a:xfrm>
          <a:prstGeom prst="roundRect">
            <a:avLst>
              <a:gd name="adj" fmla="val 518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14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7" name="ih_14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8" name="il_150"/>
          <p:cNvSpPr/>
          <p:nvPr/>
        </p:nvSpPr>
        <p:spPr>
          <a:xfrm>
            <a:off x="886968" y="1892808"/>
            <a:ext cx="203911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going to (play)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 intenzione di (giocare)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meeting (at 4 o'clock)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 incontra (già organizzato)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has a lie-in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dorme fino a tardi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coming?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Vieni?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are you doing on Saturday?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Cosa fai sabato?</a:t>
            </a:r>
            <a:endParaRPr lang="en-US" sz="900" dirty="0"/>
          </a:p>
        </p:txBody>
      </p:sp>
      <p:sp>
        <p:nvSpPr>
          <p:cNvPr id="19" name="R1_sb151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R1_sl152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Friday. Marco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going to have a lie-in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on Saturday. That's his big plan!</a:t>
            </a:r>
            <a:endParaRPr lang="en-US" sz="10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it Friday or Saturday? · What's Marco's plan?</a:t>
            </a:r>
            <a:endParaRPr lang="en-US" sz="1000" dirty="0"/>
          </a:p>
        </p:txBody>
      </p:sp>
      <p:sp>
        <p:nvSpPr>
          <p:cNvPr id="21" name="R2_sb153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R2_sl154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But his mum says: 'We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're visiting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Nonna at 10 o'clock. It's in the diary!'</a:t>
            </a:r>
            <a:endParaRPr lang="en-US" sz="105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Marco happy? · Who are they visiting? · What time?</a:t>
            </a:r>
            <a:endParaRPr lang="en-US" sz="1050" dirty="0"/>
          </a:p>
        </p:txBody>
      </p:sp>
      <p:sp>
        <p:nvSpPr>
          <p:cNvPr id="23" name="R3_sb155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R3_sl156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Then his friend Sara texts: 'We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're meeting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at the cinema at 4.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you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coming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?'</a:t>
            </a:r>
            <a:endParaRPr lang="en-US" sz="95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Who texts Marco? · Where are they meeting? · What time?</a:t>
            </a:r>
            <a:endParaRPr lang="en-US" sz="950" dirty="0"/>
          </a:p>
        </p:txBody>
      </p:sp>
      <p:sp>
        <p:nvSpPr>
          <p:cNvPr id="25" name="R4_sb157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R4_sl158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Marco says: 'Yes! And after the cinema I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'm going to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eat a big pizza!'</a:t>
            </a:r>
            <a:endParaRPr lang="en-US" sz="105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Marco going to eat a pizza or a burger? · When?</a:t>
            </a:r>
            <a:endParaRPr lang="en-US" sz="1050" dirty="0"/>
          </a:p>
        </p:txBody>
      </p:sp>
      <p:sp>
        <p:nvSpPr>
          <p:cNvPr id="27" name="R5_sb159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R5_sl160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Saturday morning: Nonna makes cannoli. Marco eats five! He isn't hungry for pizza…</a:t>
            </a:r>
            <a:endParaRPr lang="en-US" sz="95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How many cannoli? · Is he going to eat the pizza now?</a:t>
            </a:r>
            <a:endParaRPr lang="en-US" sz="950" dirty="0"/>
          </a:p>
        </p:txBody>
      </p:sp>
      <p:sp>
        <p:nvSpPr>
          <p:cNvPr id="29" name="R6_sb161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R6_sl162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Sara asks: 'What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you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doing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on Sunday?' Marco: 'I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'm going to have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lie-in… finally!'</a:t>
            </a:r>
            <a:endParaRPr lang="en-US" sz="95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And you – what are you doing on Sunday?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6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6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165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Saturday? 📱</a:t>
            </a:r>
            <a:endParaRPr lang="en-US" sz="2500" dirty="0"/>
          </a:p>
        </p:txBody>
      </p:sp>
      <p:pic>
        <p:nvPicPr>
          <p:cNvPr id="6" name="brP_16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167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group chat. Complete 1–5 with the words in the box.</a:t>
            </a:r>
            <a:endParaRPr lang="en-US" sz="1200" dirty="0"/>
          </a:p>
        </p:txBody>
      </p:sp>
      <p:sp>
        <p:nvSpPr>
          <p:cNvPr id="8" name="insIT_16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chat. Completa 1–5 con le parole del riquadro.</a:t>
            </a:r>
            <a:endParaRPr lang="en-US" sz="950" dirty="0"/>
          </a:p>
        </p:txBody>
      </p:sp>
      <p:sp>
        <p:nvSpPr>
          <p:cNvPr id="9" name="cmd_16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170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1" name="meta_171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2" name="tag_172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50" dirty="0"/>
          </a:p>
        </p:txBody>
      </p:sp>
      <p:pic>
        <p:nvPicPr>
          <p:cNvPr id="13" name="logo_17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7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Y1 · Reading · the group chat (on this slide)</a:t>
            </a:r>
            <a:endParaRPr lang="en-US" sz="800" dirty="0"/>
          </a:p>
        </p:txBody>
      </p:sp>
      <p:sp>
        <p:nvSpPr>
          <p:cNvPr id="15" name="cd_175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sh_176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💬 Group chat: 'SATURDAY!!!'</a:t>
            </a:r>
            <a:endParaRPr lang="en-US" sz="1700" dirty="0"/>
          </a:p>
        </p:txBody>
      </p:sp>
      <p:sp>
        <p:nvSpPr>
          <p:cNvPr id="17" name="ln_177"/>
          <p:cNvSpPr/>
          <p:nvPr/>
        </p:nvSpPr>
        <p:spPr>
          <a:xfrm>
            <a:off x="548640" y="19202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Giulia: Hi guys! What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 Saturday? 🤔</a:t>
            </a:r>
            <a:endParaRPr lang="en-US" sz="1150" dirty="0"/>
          </a:p>
        </p:txBody>
      </p:sp>
      <p:sp>
        <p:nvSpPr>
          <p:cNvPr id="18" name="R1_lnA178"/>
          <p:cNvSpPr/>
          <p:nvPr/>
        </p:nvSpPr>
        <p:spPr>
          <a:xfrm>
            <a:off x="548640" y="192024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Giulia: Hi guys! What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are you doing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 Saturday? 🤔</a:t>
            </a:r>
            <a:endParaRPr lang="en-US" sz="1150" dirty="0"/>
          </a:p>
        </p:txBody>
      </p:sp>
      <p:sp>
        <p:nvSpPr>
          <p:cNvPr id="19" name="ln_179"/>
          <p:cNvSpPr/>
          <p:nvPr/>
        </p:nvSpPr>
        <p:spPr>
          <a:xfrm>
            <a:off x="548640" y="238506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Luca: I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the gym in the morning. Then nothing! 😎</a:t>
            </a:r>
            <a:endParaRPr lang="en-US" sz="1150" dirty="0"/>
          </a:p>
        </p:txBody>
      </p:sp>
      <p:sp>
        <p:nvSpPr>
          <p:cNvPr id="20" name="R2_lnA180"/>
          <p:cNvSpPr/>
          <p:nvPr/>
        </p:nvSpPr>
        <p:spPr>
          <a:xfrm>
            <a:off x="548640" y="238506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Luca: I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'm going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the gym in the morning. Then nothing! 😎</a:t>
            </a:r>
            <a:endParaRPr lang="en-US" sz="1150" dirty="0"/>
          </a:p>
        </p:txBody>
      </p:sp>
      <p:sp>
        <p:nvSpPr>
          <p:cNvPr id="21" name="ln_181"/>
          <p:cNvSpPr/>
          <p:nvPr/>
        </p:nvSpPr>
        <p:spPr>
          <a:xfrm>
            <a:off x="548640" y="284988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Sofia: Me and Anna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at the beach at 3. Come! 🏖️</a:t>
            </a:r>
            <a:endParaRPr lang="en-US" sz="1150" dirty="0"/>
          </a:p>
        </p:txBody>
      </p:sp>
      <p:sp>
        <p:nvSpPr>
          <p:cNvPr id="22" name="R3_lnA182"/>
          <p:cNvSpPr/>
          <p:nvPr/>
        </p:nvSpPr>
        <p:spPr>
          <a:xfrm>
            <a:off x="548640" y="284988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Sofia: Me and Anna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're meeting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at the beach at 3. Come! 🏖️</a:t>
            </a:r>
            <a:endParaRPr lang="en-US" sz="1150" dirty="0"/>
          </a:p>
        </p:txBody>
      </p:sp>
      <p:sp>
        <p:nvSpPr>
          <p:cNvPr id="23" name="ln_183"/>
          <p:cNvSpPr/>
          <p:nvPr/>
        </p:nvSpPr>
        <p:spPr>
          <a:xfrm>
            <a:off x="548640" y="331470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Giulia: Sorry, I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lunch at my nonna's. But I'm free after 5!</a:t>
            </a:r>
            <a:endParaRPr lang="en-US" sz="1150" dirty="0"/>
          </a:p>
        </p:txBody>
      </p:sp>
      <p:sp>
        <p:nvSpPr>
          <p:cNvPr id="24" name="R4_lnA184"/>
          <p:cNvSpPr/>
          <p:nvPr/>
        </p:nvSpPr>
        <p:spPr>
          <a:xfrm>
            <a:off x="548640" y="331470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Giulia: Sorry, I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'm having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lunch at my nonna's. But I'm free after 5!</a:t>
            </a:r>
            <a:endParaRPr lang="en-US" sz="1150" dirty="0"/>
          </a:p>
        </p:txBody>
      </p:sp>
      <p:sp>
        <p:nvSpPr>
          <p:cNvPr id="25" name="ln_185"/>
          <p:cNvSpPr/>
          <p:nvPr/>
        </p:nvSpPr>
        <p:spPr>
          <a:xfrm>
            <a:off x="548640" y="377952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Luca: OK! Let's get a pizza at 7? I'm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book a table. 🍕</a:t>
            </a:r>
            <a:endParaRPr lang="en-US" sz="1150" dirty="0"/>
          </a:p>
        </p:txBody>
      </p:sp>
      <p:sp>
        <p:nvSpPr>
          <p:cNvPr id="26" name="R5_lnA186"/>
          <p:cNvSpPr/>
          <p:nvPr/>
        </p:nvSpPr>
        <p:spPr>
          <a:xfrm>
            <a:off x="548640" y="377952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Luca: OK! Let's get a pizza at 7? I'm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going to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book a table. 🍕</a:t>
            </a:r>
            <a:endParaRPr lang="en-US" sz="1150" dirty="0"/>
          </a:p>
        </p:txBody>
      </p:sp>
      <p:sp>
        <p:nvSpPr>
          <p:cNvPr id="27" name="ln_187"/>
          <p:cNvSpPr/>
          <p:nvPr/>
        </p:nvSpPr>
        <p:spPr>
          <a:xfrm>
            <a:off x="548640" y="42443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Sofia: Yesss! See you at 7! 🎉</a:t>
            </a:r>
            <a:endParaRPr lang="en-US" sz="1150" dirty="0"/>
          </a:p>
        </p:txBody>
      </p:sp>
      <p:sp>
        <p:nvSpPr>
          <p:cNvPr id="28" name="cd_188"/>
          <p:cNvSpPr/>
          <p:nvPr/>
        </p:nvSpPr>
        <p:spPr>
          <a:xfrm>
            <a:off x="6263640" y="1417320"/>
            <a:ext cx="2651760" cy="1773936"/>
          </a:xfrm>
          <a:prstGeom prst="roundRect">
            <a:avLst>
              <a:gd name="adj" fmla="val 7216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bkh_189"/>
          <p:cNvSpPr/>
          <p:nvPr/>
        </p:nvSpPr>
        <p:spPr>
          <a:xfrm>
            <a:off x="6373368" y="147218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🧺 Word box · 2 words don't fit!</a:t>
            </a:r>
            <a:endParaRPr lang="en-US" sz="1100" dirty="0"/>
          </a:p>
        </p:txBody>
      </p:sp>
      <p:sp>
        <p:nvSpPr>
          <p:cNvPr id="30" name="bk_190"/>
          <p:cNvSpPr/>
          <p:nvPr/>
        </p:nvSpPr>
        <p:spPr>
          <a:xfrm>
            <a:off x="6373368" y="1819656"/>
            <a:ext cx="1179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doing</a:t>
            </a:r>
            <a:endParaRPr lang="en-US" sz="1050" dirty="0"/>
          </a:p>
        </p:txBody>
      </p:sp>
      <p:sp>
        <p:nvSpPr>
          <p:cNvPr id="31" name="bk_191"/>
          <p:cNvSpPr/>
          <p:nvPr/>
        </p:nvSpPr>
        <p:spPr>
          <a:xfrm>
            <a:off x="7626096" y="1819656"/>
            <a:ext cx="1179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</a:t>
            </a:r>
            <a:endParaRPr lang="en-US" sz="1050" dirty="0"/>
          </a:p>
        </p:txBody>
      </p:sp>
      <p:sp>
        <p:nvSpPr>
          <p:cNvPr id="32" name="bk_192"/>
          <p:cNvSpPr/>
          <p:nvPr/>
        </p:nvSpPr>
        <p:spPr>
          <a:xfrm>
            <a:off x="6373368" y="2148840"/>
            <a:ext cx="1179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going to</a:t>
            </a:r>
            <a:endParaRPr lang="en-US" sz="1050" dirty="0"/>
          </a:p>
        </p:txBody>
      </p:sp>
      <p:sp>
        <p:nvSpPr>
          <p:cNvPr id="33" name="bk_193"/>
          <p:cNvSpPr/>
          <p:nvPr/>
        </p:nvSpPr>
        <p:spPr>
          <a:xfrm>
            <a:off x="7626096" y="2148840"/>
            <a:ext cx="1179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'm going</a:t>
            </a:r>
            <a:endParaRPr lang="en-US" sz="1050" dirty="0"/>
          </a:p>
        </p:txBody>
      </p:sp>
      <p:sp>
        <p:nvSpPr>
          <p:cNvPr id="34" name="bk_194"/>
          <p:cNvSpPr/>
          <p:nvPr/>
        </p:nvSpPr>
        <p:spPr>
          <a:xfrm>
            <a:off x="6373368" y="2478024"/>
            <a:ext cx="1179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'm having</a:t>
            </a:r>
            <a:endParaRPr lang="en-US" sz="1050" dirty="0"/>
          </a:p>
        </p:txBody>
      </p:sp>
      <p:sp>
        <p:nvSpPr>
          <p:cNvPr id="35" name="bk_195"/>
          <p:cNvSpPr/>
          <p:nvPr/>
        </p:nvSpPr>
        <p:spPr>
          <a:xfrm>
            <a:off x="7626096" y="2478024"/>
            <a:ext cx="1179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're meeting</a:t>
            </a:r>
            <a:endParaRPr lang="en-US" sz="1050" dirty="0"/>
          </a:p>
        </p:txBody>
      </p:sp>
      <p:sp>
        <p:nvSpPr>
          <p:cNvPr id="36" name="bk_196"/>
          <p:cNvSpPr/>
          <p:nvPr/>
        </p:nvSpPr>
        <p:spPr>
          <a:xfrm>
            <a:off x="6373368" y="2807208"/>
            <a:ext cx="1179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went</a:t>
            </a:r>
            <a:endParaRPr lang="en-US" sz="1050" dirty="0"/>
          </a:p>
        </p:txBody>
      </p:sp>
      <p:sp>
        <p:nvSpPr>
          <p:cNvPr id="37" name="cd_197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8" name="ii_198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9" name="ih_199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40" name="il_200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 a table = prenotare un tavolo</a:t>
            </a:r>
            <a:endParaRPr lang="en-US" sz="8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free = libero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0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20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203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Who's doing what?</a:t>
            </a:r>
            <a:endParaRPr lang="en-US" sz="2500" dirty="0"/>
          </a:p>
        </p:txBody>
      </p:sp>
      <p:pic>
        <p:nvPicPr>
          <p:cNvPr id="6" name="brP_20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205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Answer the questions about the chat.</a:t>
            </a:r>
            <a:endParaRPr lang="en-US" sz="1250" dirty="0"/>
          </a:p>
        </p:txBody>
      </p:sp>
      <p:sp>
        <p:nvSpPr>
          <p:cNvPr id="8" name="insIT_20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Rispondi alle domande sulla chat.</a:t>
            </a:r>
            <a:endParaRPr lang="en-US" sz="950" dirty="0"/>
          </a:p>
        </p:txBody>
      </p:sp>
      <p:sp>
        <p:nvSpPr>
          <p:cNvPr id="9" name="cmd_20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208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209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2" name="logo_21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1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Y1 · Reading · detail</a:t>
            </a:r>
            <a:endParaRPr lang="en-US" sz="800" dirty="0"/>
          </a:p>
        </p:txBody>
      </p:sp>
      <p:sp>
        <p:nvSpPr>
          <p:cNvPr id="14" name="cd_212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1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21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215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is Luca going in the morning? → To the gym.</a:t>
            </a:r>
            <a:endParaRPr lang="en-US" sz="1050" dirty="0"/>
          </a:p>
        </p:txBody>
      </p:sp>
      <p:sp>
        <p:nvSpPr>
          <p:cNvPr id="18" name="pf_216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217" descr="/home/claude/lls-course/v2/cache/2b2_bake_sale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218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219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 is going to the beach?</a:t>
            </a:r>
            <a:endParaRPr lang="en-US" sz="1150" dirty="0"/>
          </a:p>
        </p:txBody>
      </p:sp>
      <p:sp>
        <p:nvSpPr>
          <p:cNvPr id="22" name="R1_chip220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Sofia and Anna</a:t>
            </a:r>
            <a:endParaRPr lang="en-US" sz="1000" dirty="0"/>
          </a:p>
        </p:txBody>
      </p:sp>
      <p:sp>
        <p:nvSpPr>
          <p:cNvPr id="23" name="bd_221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222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time are they meeting?</a:t>
            </a:r>
            <a:endParaRPr lang="en-US" sz="1150" dirty="0"/>
          </a:p>
        </p:txBody>
      </p:sp>
      <p:sp>
        <p:nvSpPr>
          <p:cNvPr id="25" name="R2_chip223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3 o'clock</a:t>
            </a:r>
            <a:endParaRPr lang="en-US" sz="1000" dirty="0"/>
          </a:p>
        </p:txBody>
      </p:sp>
      <p:sp>
        <p:nvSpPr>
          <p:cNvPr id="26" name="bd_224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225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can't Giulia go to the beach?</a:t>
            </a:r>
            <a:endParaRPr lang="en-US" sz="1150" dirty="0"/>
          </a:p>
        </p:txBody>
      </p:sp>
      <p:sp>
        <p:nvSpPr>
          <p:cNvPr id="28" name="R3_chip226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She's having lunch at her nonna's.</a:t>
            </a:r>
            <a:endParaRPr lang="en-US" sz="1000" dirty="0"/>
          </a:p>
        </p:txBody>
      </p:sp>
      <p:sp>
        <p:nvSpPr>
          <p:cNvPr id="29" name="bd_227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228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is Giulia free?</a:t>
            </a:r>
            <a:endParaRPr lang="en-US" sz="1150" dirty="0"/>
          </a:p>
        </p:txBody>
      </p:sp>
      <p:sp>
        <p:nvSpPr>
          <p:cNvPr id="31" name="R4_chip229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after 5</a:t>
            </a:r>
            <a:endParaRPr lang="en-US" sz="1000" dirty="0"/>
          </a:p>
        </p:txBody>
      </p:sp>
      <p:sp>
        <p:nvSpPr>
          <p:cNvPr id="32" name="bd_230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231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is Luca going to do?</a:t>
            </a:r>
            <a:endParaRPr lang="en-US" sz="1150" dirty="0"/>
          </a:p>
        </p:txBody>
      </p:sp>
      <p:sp>
        <p:nvSpPr>
          <p:cNvPr id="34" name="R5_chip232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 a table for pizza</a:t>
            </a:r>
            <a:endParaRPr lang="en-US" sz="1000" dirty="0"/>
          </a:p>
        </p:txBody>
      </p:sp>
      <p:sp>
        <p:nvSpPr>
          <p:cNvPr id="35" name="bd_233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234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time is the pizza?</a:t>
            </a:r>
            <a:endParaRPr lang="en-US" sz="1150" dirty="0"/>
          </a:p>
        </p:txBody>
      </p:sp>
      <p:sp>
        <p:nvSpPr>
          <p:cNvPr id="37" name="R6_chip235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7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3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3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238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Plan or arrangement?</a:t>
            </a:r>
            <a:endParaRPr lang="en-US" sz="2500" dirty="0"/>
          </a:p>
        </p:txBody>
      </p:sp>
      <p:pic>
        <p:nvPicPr>
          <p:cNvPr id="6" name="brP_23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88052" cy="402336"/>
          </a:xfrm>
          <a:prstGeom prst="rect">
            <a:avLst/>
          </a:prstGeom>
        </p:spPr>
      </p:pic>
      <p:sp>
        <p:nvSpPr>
          <p:cNvPr id="7" name="ins_240"/>
          <p:cNvSpPr/>
          <p:nvPr/>
        </p:nvSpPr>
        <p:spPr>
          <a:xfrm>
            <a:off x="1353312" y="731520"/>
            <a:ext cx="47320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it a plan or an arrangement? Match the colour.</a:t>
            </a:r>
            <a:endParaRPr lang="en-US" sz="1250" dirty="0"/>
          </a:p>
        </p:txBody>
      </p:sp>
      <p:sp>
        <p:nvSpPr>
          <p:cNvPr id="8" name="insIT_24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È un piano o un appuntamento? Abbina il colore.</a:t>
            </a:r>
            <a:endParaRPr lang="en-US" sz="950" dirty="0"/>
          </a:p>
        </p:txBody>
      </p:sp>
      <p:sp>
        <p:nvSpPr>
          <p:cNvPr id="9" name="cmd_24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🔗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MATCH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ABBINA</a:t>
            </a:r>
            <a:endParaRPr lang="en-US" sz="1100" dirty="0"/>
          </a:p>
        </p:txBody>
      </p:sp>
      <p:sp>
        <p:nvSpPr>
          <p:cNvPr id="10" name="meta_243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244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2" name="logo_24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4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Y1 · Grammar · noticing</a:t>
            </a:r>
            <a:endParaRPr lang="en-US" sz="800" dirty="0"/>
          </a:p>
        </p:txBody>
      </p:sp>
      <p:sp>
        <p:nvSpPr>
          <p:cNvPr id="14" name="cd_247"/>
          <p:cNvSpPr/>
          <p:nvPr/>
        </p:nvSpPr>
        <p:spPr>
          <a:xfrm>
            <a:off x="320040" y="1417320"/>
            <a:ext cx="2697480" cy="1527048"/>
          </a:xfrm>
          <a:prstGeom prst="roundRect">
            <a:avLst>
              <a:gd name="adj" fmla="val 838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4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6" name="ih_24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colours</a:t>
            </a:r>
            <a:endParaRPr lang="en-US" sz="1300" dirty="0"/>
          </a:p>
        </p:txBody>
      </p:sp>
      <p:sp>
        <p:nvSpPr>
          <p:cNvPr id="17" name="il_250"/>
          <p:cNvSpPr/>
          <p:nvPr/>
        </p:nvSpPr>
        <p:spPr>
          <a:xfrm>
            <a:off x="886968" y="1892808"/>
            <a:ext cx="203911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8" name="lg_251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plan (my idea)</a:t>
            </a:r>
            <a:endParaRPr lang="en-US" sz="1050" dirty="0"/>
          </a:p>
        </p:txBody>
      </p:sp>
      <p:sp>
        <p:nvSpPr>
          <p:cNvPr id="19" name="lg_252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arrangement (in the diary)</a:t>
            </a:r>
            <a:endParaRPr lang="en-US" sz="950" dirty="0"/>
          </a:p>
        </p:txBody>
      </p:sp>
      <p:sp>
        <p:nvSpPr>
          <p:cNvPr id="20" name="sq_253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Marco is going to have a lie-in.</a:t>
            </a:r>
            <a:endParaRPr lang="en-US" sz="1200" dirty="0"/>
          </a:p>
        </p:txBody>
      </p:sp>
      <p:sp>
        <p:nvSpPr>
          <p:cNvPr id="21" name="R1_tag254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plan (my idea)</a:t>
            </a:r>
            <a:endParaRPr lang="en-US" sz="1150" dirty="0"/>
          </a:p>
        </p:txBody>
      </p:sp>
      <p:sp>
        <p:nvSpPr>
          <p:cNvPr id="22" name="sq_255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We're visiting Nonna at 10 o'clock.</a:t>
            </a:r>
            <a:endParaRPr lang="en-US" sz="1200" dirty="0"/>
          </a:p>
        </p:txBody>
      </p:sp>
      <p:sp>
        <p:nvSpPr>
          <p:cNvPr id="23" name="R2_tag256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arrangement (in the diary)</a:t>
            </a:r>
            <a:endParaRPr lang="en-US" sz="1150" dirty="0"/>
          </a:p>
        </p:txBody>
      </p:sp>
      <p:sp>
        <p:nvSpPr>
          <p:cNvPr id="24" name="sq_257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 We're meeting at the cinema at 4.</a:t>
            </a:r>
            <a:endParaRPr lang="en-US" sz="1200" dirty="0"/>
          </a:p>
        </p:txBody>
      </p:sp>
      <p:sp>
        <p:nvSpPr>
          <p:cNvPr id="25" name="R3_tag258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arrangement (in the diary)</a:t>
            </a:r>
            <a:endParaRPr lang="en-US" sz="1150" dirty="0"/>
          </a:p>
        </p:txBody>
      </p:sp>
      <p:sp>
        <p:nvSpPr>
          <p:cNvPr id="26" name="sq_259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  I'm going to eat a big pizza!</a:t>
            </a:r>
            <a:endParaRPr lang="en-US" sz="1200" dirty="0"/>
          </a:p>
        </p:txBody>
      </p:sp>
      <p:sp>
        <p:nvSpPr>
          <p:cNvPr id="27" name="R4_tag260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plan (my idea)</a:t>
            </a:r>
            <a:endParaRPr lang="en-US" sz="1150" dirty="0"/>
          </a:p>
        </p:txBody>
      </p:sp>
      <p:sp>
        <p:nvSpPr>
          <p:cNvPr id="28" name="sq_261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  I'm having lunch at my nonna's.</a:t>
            </a:r>
            <a:endParaRPr lang="en-US" sz="1200" dirty="0"/>
          </a:p>
        </p:txBody>
      </p:sp>
      <p:sp>
        <p:nvSpPr>
          <p:cNvPr id="29" name="R5_tag262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arrangement (in the diary)</a:t>
            </a:r>
            <a:endParaRPr lang="en-US" sz="1150" dirty="0"/>
          </a:p>
        </p:txBody>
      </p:sp>
      <p:sp>
        <p:nvSpPr>
          <p:cNvPr id="30" name="sq_263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 I'm going to book a table.</a:t>
            </a:r>
            <a:endParaRPr lang="en-US" sz="1200" dirty="0"/>
          </a:p>
        </p:txBody>
      </p:sp>
      <p:sp>
        <p:nvSpPr>
          <p:cNvPr id="31" name="R6_tag264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plan (my idea)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6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6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267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Plans or arrangements?</a:t>
            </a:r>
            <a:endParaRPr lang="en-US" sz="2400" dirty="0"/>
          </a:p>
        </p:txBody>
      </p:sp>
      <p:pic>
        <p:nvPicPr>
          <p:cNvPr id="6" name="brP_26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01184" cy="402336"/>
          </a:xfrm>
          <a:prstGeom prst="rect">
            <a:avLst/>
          </a:prstGeom>
        </p:spPr>
      </p:pic>
      <p:sp>
        <p:nvSpPr>
          <p:cNvPr id="7" name="ins_269"/>
          <p:cNvSpPr/>
          <p:nvPr/>
        </p:nvSpPr>
        <p:spPr>
          <a:xfrm>
            <a:off x="1353312" y="73152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examples. Which one is in the diary?</a:t>
            </a:r>
            <a:endParaRPr lang="en-US" sz="1250" dirty="0"/>
          </a:p>
        </p:txBody>
      </p:sp>
      <p:sp>
        <p:nvSpPr>
          <p:cNvPr id="8" name="insIT_27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gli esempi. Quale è già in agenda?</a:t>
            </a:r>
            <a:endParaRPr lang="en-US" sz="950" dirty="0"/>
          </a:p>
        </p:txBody>
      </p:sp>
      <p:sp>
        <p:nvSpPr>
          <p:cNvPr id="9" name="cmd_27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meta_272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1" name="tag_273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2" name="logo_27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Y1 · Grammar · plans and arrangements</a:t>
            </a:r>
            <a:endParaRPr lang="en-US" sz="800" dirty="0"/>
          </a:p>
        </p:txBody>
      </p:sp>
      <p:sp>
        <p:nvSpPr>
          <p:cNvPr id="14" name="cd_276"/>
          <p:cNvSpPr/>
          <p:nvPr/>
        </p:nvSpPr>
        <p:spPr>
          <a:xfrm>
            <a:off x="320040" y="1417320"/>
            <a:ext cx="420624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rh_277"/>
          <p:cNvSpPr/>
          <p:nvPr/>
        </p:nvSpPr>
        <p:spPr>
          <a:xfrm>
            <a:off x="429768" y="1508760"/>
            <a:ext cx="39867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 going to</a:t>
            </a:r>
            <a:endParaRPr lang="en-US" sz="1250" dirty="0"/>
          </a:p>
        </p:txBody>
      </p:sp>
      <p:sp>
        <p:nvSpPr>
          <p:cNvPr id="16" name="pf_278"/>
          <p:cNvSpPr/>
          <p:nvPr/>
        </p:nvSpPr>
        <p:spPr>
          <a:xfrm>
            <a:off x="429768" y="1938528"/>
            <a:ext cx="39867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279" descr="/home/claude/lls-course/v2/cache/spare_future_aims_jpg_937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1984248"/>
            <a:ext cx="3895344" cy="868680"/>
          </a:xfrm>
          <a:prstGeom prst="rect">
            <a:avLst/>
          </a:prstGeom>
        </p:spPr>
      </p:pic>
      <p:sp>
        <p:nvSpPr>
          <p:cNvPr id="18" name="ru_280"/>
          <p:cNvSpPr/>
          <p:nvPr/>
        </p:nvSpPr>
        <p:spPr>
          <a:xfrm>
            <a:off x="411480" y="292608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PLAN: I decided, but no time or place yet</a:t>
            </a:r>
            <a:endParaRPr lang="en-US" sz="1050" dirty="0"/>
          </a:p>
        </p:txBody>
      </p:sp>
      <p:sp>
        <p:nvSpPr>
          <p:cNvPr id="19" name="R1_rx281"/>
          <p:cNvSpPr/>
          <p:nvPr/>
        </p:nvSpPr>
        <p:spPr>
          <a:xfrm>
            <a:off x="411480" y="3319272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going to have a lie-in.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Luca is going to book a table.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going to watch the match?</a:t>
            </a:r>
            <a:endParaRPr lang="en-US" sz="1050" dirty="0"/>
          </a:p>
        </p:txBody>
      </p:sp>
      <p:sp>
        <p:nvSpPr>
          <p:cNvPr id="20" name="R1_ri282"/>
          <p:cNvSpPr/>
          <p:nvPr/>
        </p:nvSpPr>
        <p:spPr>
          <a:xfrm>
            <a:off x="411480" y="40873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intenzione (ho deciso)</a:t>
            </a:r>
            <a:endParaRPr lang="en-US" sz="900" dirty="0"/>
          </a:p>
        </p:txBody>
      </p:sp>
      <p:sp>
        <p:nvSpPr>
          <p:cNvPr id="21" name="cd_283"/>
          <p:cNvSpPr/>
          <p:nvPr/>
        </p:nvSpPr>
        <p:spPr>
          <a:xfrm>
            <a:off x="4663440" y="1417320"/>
            <a:ext cx="420624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rh_284"/>
          <p:cNvSpPr/>
          <p:nvPr/>
        </p:nvSpPr>
        <p:spPr>
          <a:xfrm>
            <a:off x="4773168" y="1508760"/>
            <a:ext cx="39867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present continuous + time</a:t>
            </a:r>
            <a:endParaRPr lang="en-US" sz="1250" dirty="0"/>
          </a:p>
        </p:txBody>
      </p:sp>
      <p:sp>
        <p:nvSpPr>
          <p:cNvPr id="23" name="pf_285"/>
          <p:cNvSpPr/>
          <p:nvPr/>
        </p:nvSpPr>
        <p:spPr>
          <a:xfrm>
            <a:off x="4773168" y="1938528"/>
            <a:ext cx="39867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286" descr="/home/claude/lls-course/v2/cache/1b1_diary_jpg_937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8888" y="1984248"/>
            <a:ext cx="3895344" cy="868680"/>
          </a:xfrm>
          <a:prstGeom prst="rect">
            <a:avLst/>
          </a:prstGeom>
        </p:spPr>
      </p:pic>
      <p:sp>
        <p:nvSpPr>
          <p:cNvPr id="25" name="ru_287"/>
          <p:cNvSpPr/>
          <p:nvPr/>
        </p:nvSpPr>
        <p:spPr>
          <a:xfrm>
            <a:off x="4754880" y="292608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 ARRANGEMENT: day, time, people – it's in the diary</a:t>
            </a:r>
            <a:endParaRPr lang="en-US" sz="1050" dirty="0"/>
          </a:p>
        </p:txBody>
      </p:sp>
      <p:sp>
        <p:nvSpPr>
          <p:cNvPr id="26" name="R2_rx288"/>
          <p:cNvSpPr/>
          <p:nvPr/>
        </p:nvSpPr>
        <p:spPr>
          <a:xfrm>
            <a:off x="4754880" y="3319272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We're meeting at the beach at 3.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having lunch at my nonna's on Saturday.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are you doing on Sunday?</a:t>
            </a:r>
            <a:endParaRPr lang="en-US" sz="1050" dirty="0"/>
          </a:p>
        </p:txBody>
      </p:sp>
      <p:sp>
        <p:nvSpPr>
          <p:cNvPr id="27" name="R2_ri289"/>
          <p:cNvSpPr/>
          <p:nvPr/>
        </p:nvSpPr>
        <p:spPr>
          <a:xfrm>
            <a:off x="4754880" y="40873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già organizzato (in agenda)</a:t>
            </a:r>
            <a:endParaRPr lang="en-US" sz="900" dirty="0"/>
          </a:p>
        </p:txBody>
      </p:sp>
      <p:sp>
        <p:nvSpPr>
          <p:cNvPr id="28" name="R3_wc290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R3_w291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Italian present ≠ English:  ✗ Saturday I go to the beach → ✓ On Saturday I'm going to the beach.   ✗ What do you do on Saturday? (habit) → ✓ What are you doing on Saturday? (plan)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9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9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294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Plans and arrangements</a:t>
            </a:r>
            <a:endParaRPr lang="en-US" sz="2400" dirty="0"/>
          </a:p>
        </p:txBody>
      </p:sp>
      <p:pic>
        <p:nvPicPr>
          <p:cNvPr id="6" name="brP_29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88052" cy="402336"/>
          </a:xfrm>
          <a:prstGeom prst="rect">
            <a:avLst/>
          </a:prstGeom>
        </p:spPr>
      </p:pic>
      <p:sp>
        <p:nvSpPr>
          <p:cNvPr id="7" name="ins_296"/>
          <p:cNvSpPr/>
          <p:nvPr/>
        </p:nvSpPr>
        <p:spPr>
          <a:xfrm>
            <a:off x="1353312" y="731520"/>
            <a:ext cx="47320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Complete with going to or the present continuous.</a:t>
            </a:r>
            <a:endParaRPr lang="en-US" sz="1250" dirty="0"/>
          </a:p>
        </p:txBody>
      </p:sp>
      <p:sp>
        <p:nvSpPr>
          <p:cNvPr id="8" name="insIT_29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Completa con going to o il present continuous.</a:t>
            </a:r>
            <a:endParaRPr lang="en-US" sz="950" dirty="0"/>
          </a:p>
        </p:txBody>
      </p:sp>
      <p:sp>
        <p:nvSpPr>
          <p:cNvPr id="9" name="cmd_29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0" name="meta_299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300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2" name="logo_30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0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Y1 · Grammar · practice</a:t>
            </a:r>
            <a:endParaRPr lang="en-US" sz="800" dirty="0"/>
          </a:p>
        </p:txBody>
      </p:sp>
      <p:sp>
        <p:nvSpPr>
          <p:cNvPr id="14" name="pf_303"/>
          <p:cNvSpPr/>
          <p:nvPr/>
        </p:nvSpPr>
        <p:spPr>
          <a:xfrm rot="-90000">
            <a:off x="411480" y="1417320"/>
            <a:ext cx="2697480" cy="2423160"/>
          </a:xfrm>
          <a:prstGeom prst="roundRect">
            <a:avLst>
              <a:gd name="adj" fmla="val 64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304" descr="/home/claude/lls-course/v2/cache/spare_future_decisions_jpg_627x56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57200" y="1463040"/>
            <a:ext cx="2606040" cy="2331720"/>
          </a:xfrm>
          <a:prstGeom prst="rect">
            <a:avLst/>
          </a:prstGeom>
        </p:spPr>
      </p:pic>
      <p:sp>
        <p:nvSpPr>
          <p:cNvPr id="16" name="cd_305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06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18" name="ih_307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Try first, then check!</a:t>
            </a:r>
            <a:endParaRPr lang="en-US" sz="1200" dirty="0"/>
          </a:p>
        </p:txBody>
      </p:sp>
      <p:sp>
        <p:nvSpPr>
          <p:cNvPr id="19" name="il_308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0" name="gq_309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I ___ (play) football with my cousins on Sunday at 10.</a:t>
            </a:r>
            <a:endParaRPr lang="en-US" sz="1200" dirty="0"/>
          </a:p>
        </p:txBody>
      </p:sp>
      <p:sp>
        <p:nvSpPr>
          <p:cNvPr id="21" name="R1_chip310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'm playing</a:t>
            </a:r>
            <a:endParaRPr lang="en-US" sz="1200" dirty="0"/>
          </a:p>
        </p:txBody>
      </p:sp>
      <p:sp>
        <p:nvSpPr>
          <p:cNvPr id="22" name="gq_311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One day I ___ (learn) to play the guitar.</a:t>
            </a:r>
            <a:endParaRPr lang="en-US" sz="1200" dirty="0"/>
          </a:p>
        </p:txBody>
      </p:sp>
      <p:sp>
        <p:nvSpPr>
          <p:cNvPr id="23" name="R2_chip312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'm going to learn</a:t>
            </a:r>
            <a:endParaRPr lang="en-US" sz="1200" dirty="0"/>
          </a:p>
        </p:txBody>
      </p:sp>
      <p:sp>
        <p:nvSpPr>
          <p:cNvPr id="24" name="gq_313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 ___ you ___ (do) anything on Saturday night?</a:t>
            </a:r>
            <a:endParaRPr lang="en-US" sz="1200" dirty="0"/>
          </a:p>
        </p:txBody>
      </p:sp>
      <p:sp>
        <p:nvSpPr>
          <p:cNvPr id="25" name="R3_chip314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doing</a:t>
            </a:r>
            <a:endParaRPr lang="en-US" sz="1200" dirty="0"/>
          </a:p>
        </p:txBody>
      </p:sp>
      <p:sp>
        <p:nvSpPr>
          <p:cNvPr id="26" name="gq_315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  My sister ___ (have) a party on Friday at 8.</a:t>
            </a:r>
            <a:endParaRPr lang="en-US" sz="1200" dirty="0"/>
          </a:p>
        </p:txBody>
      </p:sp>
      <p:sp>
        <p:nvSpPr>
          <p:cNvPr id="27" name="R4_chip316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's having</a:t>
            </a:r>
            <a:endParaRPr lang="en-US" sz="1200" dirty="0"/>
          </a:p>
        </p:txBody>
      </p:sp>
      <p:sp>
        <p:nvSpPr>
          <p:cNvPr id="28" name="gq_317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  I'm tired. I ___ (go) to bed early tonight.</a:t>
            </a:r>
            <a:endParaRPr lang="en-US" sz="1200" dirty="0"/>
          </a:p>
        </p:txBody>
      </p:sp>
      <p:sp>
        <p:nvSpPr>
          <p:cNvPr id="29" name="R5_chip318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'm going to go</a:t>
            </a:r>
            <a:endParaRPr lang="en-US" sz="1200" dirty="0"/>
          </a:p>
        </p:txBody>
      </p:sp>
      <p:sp>
        <p:nvSpPr>
          <p:cNvPr id="30" name="gq_319"/>
          <p:cNvSpPr/>
          <p:nvPr/>
        </p:nvSpPr>
        <p:spPr>
          <a:xfrm>
            <a:off x="3383280" y="402336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 We ___ (not / go) to the beach – it's raining!</a:t>
            </a:r>
            <a:endParaRPr lang="en-US" sz="1200" dirty="0"/>
          </a:p>
        </p:txBody>
      </p:sp>
      <p:sp>
        <p:nvSpPr>
          <p:cNvPr id="31" name="R6_chip320"/>
          <p:cNvSpPr/>
          <p:nvPr/>
        </p:nvSpPr>
        <p:spPr>
          <a:xfrm>
            <a:off x="6812280" y="402336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aren't going to go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2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2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323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 like a Brit!</a:t>
            </a:r>
            <a:endParaRPr lang="en-US" sz="2500" dirty="0"/>
          </a:p>
        </p:txBody>
      </p:sp>
      <p:pic>
        <p:nvPicPr>
          <p:cNvPr id="6" name="brP_32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01184" cy="402336"/>
          </a:xfrm>
          <a:prstGeom prst="rect">
            <a:avLst/>
          </a:prstGeom>
        </p:spPr>
      </p:pic>
      <p:sp>
        <p:nvSpPr>
          <p:cNvPr id="7" name="ins_325"/>
          <p:cNvSpPr/>
          <p:nvPr/>
        </p:nvSpPr>
        <p:spPr>
          <a:xfrm>
            <a:off x="1353312" y="73152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teacher. Write only the BIG words.</a:t>
            </a:r>
            <a:endParaRPr lang="en-US" sz="1250" dirty="0"/>
          </a:p>
        </p:txBody>
      </p:sp>
      <p:sp>
        <p:nvSpPr>
          <p:cNvPr id="8" name="insIT_32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l'insegnante. Scrivi solo le parole forti.</a:t>
            </a:r>
            <a:endParaRPr lang="en-US" sz="950" dirty="0"/>
          </a:p>
        </p:txBody>
      </p:sp>
      <p:sp>
        <p:nvSpPr>
          <p:cNvPr id="9" name="cmd_32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328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1" name="meta_329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2" name="tag_330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Drilling</a:t>
            </a:r>
            <a:endParaRPr lang="en-US" sz="850" dirty="0"/>
          </a:p>
        </p:txBody>
      </p:sp>
      <p:pic>
        <p:nvPicPr>
          <p:cNvPr id="13" name="logo_33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3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Y1 · Pronunciation · going to /ɡəʊɪŋ tə/</a:t>
            </a:r>
            <a:endParaRPr lang="en-US" sz="800" dirty="0"/>
          </a:p>
        </p:txBody>
      </p:sp>
      <p:sp>
        <p:nvSpPr>
          <p:cNvPr id="15" name="cd_333"/>
          <p:cNvSpPr/>
          <p:nvPr/>
        </p:nvSpPr>
        <p:spPr>
          <a:xfrm>
            <a:off x="320040" y="1417320"/>
            <a:ext cx="2743200" cy="502920"/>
          </a:xfrm>
          <a:prstGeom prst="roundRect">
            <a:avLst>
              <a:gd name="adj" fmla="val 25455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3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🗣</a:t>
            </a:r>
            <a:endParaRPr lang="en-US" sz="2200" dirty="0"/>
          </a:p>
        </p:txBody>
      </p:sp>
      <p:sp>
        <p:nvSpPr>
          <p:cNvPr id="17" name="ih_335"/>
          <p:cNvSpPr/>
          <p:nvPr/>
        </p:nvSpPr>
        <p:spPr>
          <a:xfrm>
            <a:off x="886968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teacher reads it twice</a:t>
            </a:r>
            <a:endParaRPr lang="en-US" sz="1150" dirty="0"/>
          </a:p>
        </p:txBody>
      </p:sp>
      <p:sp>
        <p:nvSpPr>
          <p:cNvPr id="18" name="il_336"/>
          <p:cNvSpPr/>
          <p:nvPr/>
        </p:nvSpPr>
        <p:spPr>
          <a:xfrm>
            <a:off x="886968" y="1892808"/>
            <a:ext cx="2084832" cy="-45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9" name="cd_337"/>
          <p:cNvSpPr/>
          <p:nvPr/>
        </p:nvSpPr>
        <p:spPr>
          <a:xfrm>
            <a:off x="320040" y="2011680"/>
            <a:ext cx="2743200" cy="1463040"/>
          </a:xfrm>
          <a:prstGeom prst="roundRect">
            <a:avLst>
              <a:gd name="adj" fmla="val 8750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338"/>
          <p:cNvSpPr/>
          <p:nvPr/>
        </p:nvSpPr>
        <p:spPr>
          <a:xfrm>
            <a:off x="411480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🔊</a:t>
            </a:r>
            <a:endParaRPr lang="en-US" sz="2200" dirty="0"/>
          </a:p>
        </p:txBody>
      </p:sp>
      <p:sp>
        <p:nvSpPr>
          <p:cNvPr id="21" name="ih_339"/>
          <p:cNvSpPr/>
          <p:nvPr/>
        </p:nvSpPr>
        <p:spPr>
          <a:xfrm>
            <a:off x="886968" y="2103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Big words = STRESSED</a:t>
            </a:r>
            <a:endParaRPr lang="en-US" sz="1250" dirty="0"/>
          </a:p>
        </p:txBody>
      </p:sp>
      <p:sp>
        <p:nvSpPr>
          <p:cNvPr id="22" name="il_340"/>
          <p:cNvSpPr/>
          <p:nvPr/>
        </p:nvSpPr>
        <p:spPr>
          <a:xfrm>
            <a:off x="886968" y="2487168"/>
            <a:ext cx="2084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nouns, verbs, adjectives are strong</a:t>
            </a:r>
            <a:endParaRPr lang="en-US" sz="10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to, a, the, of are weak and fast</a:t>
            </a:r>
            <a:endParaRPr lang="en-US" sz="1050" dirty="0"/>
          </a:p>
        </p:txBody>
      </p:sp>
      <p:sp>
        <p:nvSpPr>
          <p:cNvPr id="23" name="pf_341"/>
          <p:cNvSpPr/>
          <p:nvPr/>
        </p:nvSpPr>
        <p:spPr>
          <a:xfrm rot="-120000">
            <a:off x="777240" y="3611880"/>
            <a:ext cx="182880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342" descr="/home/claude/lls-course/v2/cache/1b1_birthday_jpg_418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822960" y="3657600"/>
            <a:ext cx="1737360" cy="1051560"/>
          </a:xfrm>
          <a:prstGeom prst="rect">
            <a:avLst/>
          </a:prstGeom>
        </p:spPr>
      </p:pic>
      <p:sp>
        <p:nvSpPr>
          <p:cNvPr id="25" name="bd_343"/>
          <p:cNvSpPr/>
          <p:nvPr/>
        </p:nvSpPr>
        <p:spPr>
          <a:xfrm>
            <a:off x="3291840" y="1444752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R1_sw344"/>
          <p:cNvSpPr/>
          <p:nvPr/>
        </p:nvSpPr>
        <p:spPr>
          <a:xfrm>
            <a:off x="3749040" y="141732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going</a:t>
            </a:r>
            <a:endParaRPr lang="en-US" sz="1150" dirty="0"/>
          </a:p>
        </p:txBody>
      </p:sp>
      <p:sp>
        <p:nvSpPr>
          <p:cNvPr id="27" name="R1_sw345"/>
          <p:cNvSpPr/>
          <p:nvPr/>
        </p:nvSpPr>
        <p:spPr>
          <a:xfrm>
            <a:off x="4773168" y="141732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PARty</a:t>
            </a:r>
            <a:endParaRPr lang="en-US" sz="1150" dirty="0"/>
          </a:p>
        </p:txBody>
      </p:sp>
      <p:sp>
        <p:nvSpPr>
          <p:cNvPr id="28" name="R1_sw346"/>
          <p:cNvSpPr/>
          <p:nvPr/>
        </p:nvSpPr>
        <p:spPr>
          <a:xfrm>
            <a:off x="5797296" y="141732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SATurday</a:t>
            </a:r>
            <a:endParaRPr lang="en-US" sz="1150" dirty="0"/>
          </a:p>
        </p:txBody>
      </p:sp>
      <p:sp>
        <p:nvSpPr>
          <p:cNvPr id="29" name="R2_sf347"/>
          <p:cNvSpPr/>
          <p:nvPr/>
        </p:nvSpPr>
        <p:spPr>
          <a:xfrm>
            <a:off x="3749040" y="18105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going to a party on Saturday.</a:t>
            </a:r>
            <a:endParaRPr lang="en-US" sz="1100" dirty="0"/>
          </a:p>
        </p:txBody>
      </p:sp>
      <p:sp>
        <p:nvSpPr>
          <p:cNvPr id="30" name="bd_348"/>
          <p:cNvSpPr/>
          <p:nvPr/>
        </p:nvSpPr>
        <p:spPr>
          <a:xfrm>
            <a:off x="3291840" y="222199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R3_sw349"/>
          <p:cNvSpPr/>
          <p:nvPr/>
        </p:nvSpPr>
        <p:spPr>
          <a:xfrm>
            <a:off x="3749040" y="219456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</a:t>
            </a:r>
            <a:endParaRPr lang="en-US" sz="1150" dirty="0"/>
          </a:p>
        </p:txBody>
      </p:sp>
      <p:sp>
        <p:nvSpPr>
          <p:cNvPr id="32" name="R3_sw350"/>
          <p:cNvSpPr/>
          <p:nvPr/>
        </p:nvSpPr>
        <p:spPr>
          <a:xfrm>
            <a:off x="4773168" y="219456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DOing</a:t>
            </a:r>
            <a:endParaRPr lang="en-US" sz="1150" dirty="0"/>
          </a:p>
        </p:txBody>
      </p:sp>
      <p:sp>
        <p:nvSpPr>
          <p:cNvPr id="33" name="R3_sw351"/>
          <p:cNvSpPr/>
          <p:nvPr/>
        </p:nvSpPr>
        <p:spPr>
          <a:xfrm>
            <a:off x="5797296" y="219456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WEEKend</a:t>
            </a:r>
            <a:endParaRPr lang="en-US" sz="1150" dirty="0"/>
          </a:p>
        </p:txBody>
      </p:sp>
      <p:sp>
        <p:nvSpPr>
          <p:cNvPr id="34" name="R4_sf352"/>
          <p:cNvSpPr/>
          <p:nvPr/>
        </p:nvSpPr>
        <p:spPr>
          <a:xfrm>
            <a:off x="3749040" y="25877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are you doing at the weekend?</a:t>
            </a:r>
            <a:endParaRPr lang="en-US" sz="1100" dirty="0"/>
          </a:p>
        </p:txBody>
      </p:sp>
      <p:sp>
        <p:nvSpPr>
          <p:cNvPr id="35" name="bd_353"/>
          <p:cNvSpPr/>
          <p:nvPr/>
        </p:nvSpPr>
        <p:spPr>
          <a:xfrm>
            <a:off x="3291840" y="2999232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36" name="R5_sw354"/>
          <p:cNvSpPr/>
          <p:nvPr/>
        </p:nvSpPr>
        <p:spPr>
          <a:xfrm>
            <a:off x="3749040" y="297180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MEETing</a:t>
            </a:r>
            <a:endParaRPr lang="en-US" sz="1150" dirty="0"/>
          </a:p>
        </p:txBody>
      </p:sp>
      <p:sp>
        <p:nvSpPr>
          <p:cNvPr id="37" name="R5_sw355"/>
          <p:cNvSpPr/>
          <p:nvPr/>
        </p:nvSpPr>
        <p:spPr>
          <a:xfrm>
            <a:off x="4773168" y="297180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FRIENDS</a:t>
            </a:r>
            <a:endParaRPr lang="en-US" sz="1150" dirty="0"/>
          </a:p>
        </p:txBody>
      </p:sp>
      <p:sp>
        <p:nvSpPr>
          <p:cNvPr id="38" name="R5_sw356"/>
          <p:cNvSpPr/>
          <p:nvPr/>
        </p:nvSpPr>
        <p:spPr>
          <a:xfrm>
            <a:off x="5797296" y="297180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FOUR</a:t>
            </a:r>
            <a:endParaRPr lang="en-US" sz="1150" dirty="0"/>
          </a:p>
        </p:txBody>
      </p:sp>
      <p:sp>
        <p:nvSpPr>
          <p:cNvPr id="39" name="R6_sf357"/>
          <p:cNvSpPr/>
          <p:nvPr/>
        </p:nvSpPr>
        <p:spPr>
          <a:xfrm>
            <a:off x="3749040" y="33649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We're meeting our friends at four.</a:t>
            </a:r>
            <a:endParaRPr lang="en-US" sz="1100" dirty="0"/>
          </a:p>
        </p:txBody>
      </p:sp>
      <p:sp>
        <p:nvSpPr>
          <p:cNvPr id="40" name="bd_358"/>
          <p:cNvSpPr/>
          <p:nvPr/>
        </p:nvSpPr>
        <p:spPr>
          <a:xfrm>
            <a:off x="3291840" y="3776472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R7_sw359"/>
          <p:cNvSpPr/>
          <p:nvPr/>
        </p:nvSpPr>
        <p:spPr>
          <a:xfrm>
            <a:off x="3749040" y="374904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GOing</a:t>
            </a:r>
            <a:endParaRPr lang="en-US" sz="1150" dirty="0"/>
          </a:p>
        </p:txBody>
      </p:sp>
      <p:sp>
        <p:nvSpPr>
          <p:cNvPr id="42" name="R7_sw360"/>
          <p:cNvSpPr/>
          <p:nvPr/>
        </p:nvSpPr>
        <p:spPr>
          <a:xfrm>
            <a:off x="4773168" y="374904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BUY</a:t>
            </a:r>
            <a:endParaRPr lang="en-US" sz="1150" dirty="0"/>
          </a:p>
        </p:txBody>
      </p:sp>
      <p:sp>
        <p:nvSpPr>
          <p:cNvPr id="43" name="R7_sw361"/>
          <p:cNvSpPr/>
          <p:nvPr/>
        </p:nvSpPr>
        <p:spPr>
          <a:xfrm>
            <a:off x="5797296" y="374904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TRAINers</a:t>
            </a:r>
            <a:endParaRPr lang="en-US" sz="1150" dirty="0"/>
          </a:p>
        </p:txBody>
      </p:sp>
      <p:sp>
        <p:nvSpPr>
          <p:cNvPr id="44" name="R8_sf362"/>
          <p:cNvSpPr/>
          <p:nvPr/>
        </p:nvSpPr>
        <p:spPr>
          <a:xfrm>
            <a:off x="3749040" y="41422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going to buy some new trainers.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6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6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365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reply 📱</a:t>
            </a:r>
            <a:endParaRPr lang="en-US" sz="2500" dirty="0"/>
          </a:p>
        </p:txBody>
      </p:sp>
      <p:pic>
        <p:nvPicPr>
          <p:cNvPr id="6" name="brP_36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367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a reply to the group chat. Then read it to your partner.</a:t>
            </a:r>
            <a:endParaRPr lang="en-US" sz="1200" dirty="0"/>
          </a:p>
        </p:txBody>
      </p:sp>
      <p:sp>
        <p:nvSpPr>
          <p:cNvPr id="8" name="insIT_36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Scrivi una risposta nella chat. Poi leggila al compagno.</a:t>
            </a:r>
            <a:endParaRPr lang="en-US" sz="950" dirty="0"/>
          </a:p>
        </p:txBody>
      </p:sp>
      <p:sp>
        <p:nvSpPr>
          <p:cNvPr id="9" name="cmd_36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100" dirty="0"/>
          </a:p>
        </p:txBody>
      </p:sp>
      <p:sp>
        <p:nvSpPr>
          <p:cNvPr id="10" name="meta_370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950" dirty="0"/>
          </a:p>
        </p:txBody>
      </p:sp>
      <p:sp>
        <p:nvSpPr>
          <p:cNvPr id="11" name="tag_371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Writing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50" dirty="0"/>
          </a:p>
        </p:txBody>
      </p:sp>
      <p:pic>
        <p:nvPicPr>
          <p:cNvPr id="12" name="logo_37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7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Y1 · Writing · reply to the chat</a:t>
            </a:r>
            <a:endParaRPr lang="en-US" sz="800" dirty="0"/>
          </a:p>
        </p:txBody>
      </p:sp>
      <p:sp>
        <p:nvSpPr>
          <p:cNvPr id="14" name="cd_374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7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37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377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Hi! I'm playing football on Saturday at 10, but I'm free after 6. I'm going to come to the pizza! 🍕</a:t>
            </a:r>
            <a:endParaRPr lang="en-US" sz="850" dirty="0"/>
          </a:p>
        </p:txBody>
      </p:sp>
      <p:sp>
        <p:nvSpPr>
          <p:cNvPr id="18" name="pf_378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379" descr="/home/claude/lls-course/v2/cache/spare_future_technology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380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381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are you doing on Saturday morning?</a:t>
            </a:r>
            <a:endParaRPr lang="en-US" sz="1150" dirty="0"/>
          </a:p>
        </p:txBody>
      </p:sp>
      <p:sp>
        <p:nvSpPr>
          <p:cNvPr id="22" name="R1_chip382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I'm… / I'm going to…</a:t>
            </a:r>
            <a:endParaRPr lang="en-US" sz="1000" dirty="0"/>
          </a:p>
        </p:txBody>
      </p:sp>
      <p:sp>
        <p:nvSpPr>
          <p:cNvPr id="23" name="bd_383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384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free in the afternoon?</a:t>
            </a:r>
            <a:endParaRPr lang="en-US" sz="1150" dirty="0"/>
          </a:p>
        </p:txBody>
      </p:sp>
      <p:sp>
        <p:nvSpPr>
          <p:cNvPr id="25" name="R2_chip385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Yes, I'm free! / Sorry, I'm…</a:t>
            </a:r>
            <a:endParaRPr lang="en-US" sz="1000" dirty="0"/>
          </a:p>
        </p:txBody>
      </p:sp>
      <p:sp>
        <p:nvSpPr>
          <p:cNvPr id="26" name="bd_386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387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coming to the pizza at 7?</a:t>
            </a:r>
            <a:endParaRPr lang="en-US" sz="1150" dirty="0"/>
          </a:p>
        </p:txBody>
      </p:sp>
      <p:sp>
        <p:nvSpPr>
          <p:cNvPr id="28" name="R3_chip388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Yes! / I can't, because…</a:t>
            </a:r>
            <a:endParaRPr lang="en-US" sz="1000" dirty="0"/>
          </a:p>
        </p:txBody>
      </p:sp>
      <p:sp>
        <p:nvSpPr>
          <p:cNvPr id="29" name="bd_389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390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question for your friends</a:t>
            </a:r>
            <a:endParaRPr lang="en-US" sz="1150" dirty="0"/>
          </a:p>
        </p:txBody>
      </p:sp>
      <p:sp>
        <p:nvSpPr>
          <p:cNvPr id="31" name="R4_chip391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are you doing on Sunday?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9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9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461565" cy="621792"/>
          </a:xfrm>
          <a:prstGeom prst="rect">
            <a:avLst/>
          </a:prstGeom>
        </p:spPr>
      </p:pic>
      <p:sp>
        <p:nvSpPr>
          <p:cNvPr id="5" name="title_394"/>
          <p:cNvSpPr/>
          <p:nvPr/>
        </p:nvSpPr>
        <p:spPr>
          <a:xfrm>
            <a:off x="1261872" y="164592"/>
            <a:ext cx="21872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Diary race!</a:t>
            </a:r>
            <a:endParaRPr lang="en-US" sz="2500" dirty="0"/>
          </a:p>
        </p:txBody>
      </p:sp>
      <p:pic>
        <p:nvPicPr>
          <p:cNvPr id="6" name="brP_39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396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situation. Say the sentence!</a:t>
            </a:r>
            <a:endParaRPr lang="en-US" sz="1250" dirty="0"/>
          </a:p>
        </p:txBody>
      </p:sp>
      <p:sp>
        <p:nvSpPr>
          <p:cNvPr id="8" name="insIT_39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situazione. Di' la frase!</a:t>
            </a:r>
            <a:endParaRPr lang="en-US" sz="950" dirty="0"/>
          </a:p>
        </p:txBody>
      </p:sp>
      <p:sp>
        <p:nvSpPr>
          <p:cNvPr id="9" name="cmd_39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399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1" name="tag_400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40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0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Y1 · Grammar game</a:t>
            </a:r>
            <a:endParaRPr lang="en-US" sz="800" dirty="0"/>
          </a:p>
        </p:txBody>
      </p:sp>
      <p:sp>
        <p:nvSpPr>
          <p:cNvPr id="14" name="cd_403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0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40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406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diary note.</a:t>
            </a:r>
            <a:endParaRPr lang="en-US" sz="11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l'appunto in agenda.</a:t>
            </a:r>
            <a:endParaRPr lang="en-US" sz="11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Teams: say a full sentence in 10 seconds.</a:t>
            </a:r>
            <a:endParaRPr lang="en-US" sz="11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Squadre: dite una frase completa in 10 secondi.</a:t>
            </a:r>
            <a:endParaRPr lang="en-US" sz="11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sentence = 1 point.</a:t>
            </a:r>
            <a:endParaRPr lang="en-US" sz="11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Frase corretta = 1 punto.</a:t>
            </a:r>
            <a:endParaRPr lang="en-US" sz="1100" dirty="0"/>
          </a:p>
        </p:txBody>
      </p:sp>
      <p:sp>
        <p:nvSpPr>
          <p:cNvPr id="18" name="st_407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408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409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📅 Sat 4 pm · cinema with Sara</a:t>
            </a:r>
            <a:endParaRPr lang="en-US" sz="1100" dirty="0"/>
          </a:p>
        </p:txBody>
      </p:sp>
      <p:sp>
        <p:nvSpPr>
          <p:cNvPr id="21" name="R1_chip410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I'm going to the cinema with Sara on Saturday at 4.</a:t>
            </a:r>
            <a:endParaRPr lang="en-US" sz="1100" dirty="0"/>
          </a:p>
        </p:txBody>
      </p:sp>
      <p:sp>
        <p:nvSpPr>
          <p:cNvPr id="22" name="bd_411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412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💭 idea: buy new trainers</a:t>
            </a:r>
            <a:endParaRPr lang="en-US" sz="1100" dirty="0"/>
          </a:p>
        </p:txBody>
      </p:sp>
      <p:sp>
        <p:nvSpPr>
          <p:cNvPr id="24" name="R2_chip413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I'm going to buy new trainers.</a:t>
            </a:r>
            <a:endParaRPr lang="en-US" sz="1100" dirty="0"/>
          </a:p>
        </p:txBody>
      </p:sp>
      <p:sp>
        <p:nvSpPr>
          <p:cNvPr id="25" name="bd_414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415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📅 Sun 1 pm · lunch at Nonna's</a:t>
            </a:r>
            <a:endParaRPr lang="en-US" sz="1100" dirty="0"/>
          </a:p>
        </p:txBody>
      </p:sp>
      <p:sp>
        <p:nvSpPr>
          <p:cNvPr id="27" name="R3_chip416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We're having lunch at Nonna's on Sunday.</a:t>
            </a:r>
            <a:endParaRPr lang="en-US" sz="1100" dirty="0"/>
          </a:p>
        </p:txBody>
      </p:sp>
      <p:sp>
        <p:nvSpPr>
          <p:cNvPr id="28" name="bd_417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418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💭 idea: start the gym</a:t>
            </a:r>
            <a:endParaRPr lang="en-US" sz="1100" dirty="0"/>
          </a:p>
        </p:txBody>
      </p:sp>
      <p:sp>
        <p:nvSpPr>
          <p:cNvPr id="30" name="R4_chip419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I'm going to start the gym.</a:t>
            </a:r>
            <a:endParaRPr lang="en-US" sz="1100" dirty="0"/>
          </a:p>
        </p:txBody>
      </p:sp>
      <p:sp>
        <p:nvSpPr>
          <p:cNvPr id="31" name="bd_420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421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📅 Fri 6 pm · football training</a:t>
            </a:r>
            <a:endParaRPr lang="en-US" sz="1100" dirty="0"/>
          </a:p>
        </p:txBody>
      </p:sp>
      <p:sp>
        <p:nvSpPr>
          <p:cNvPr id="33" name="R5_chip422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I'm playing football on Friday at 6.</a:t>
            </a:r>
            <a:endParaRPr lang="en-US" sz="1100" dirty="0"/>
          </a:p>
        </p:txBody>
      </p:sp>
      <p:sp>
        <p:nvSpPr>
          <p:cNvPr id="34" name="bd_423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424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ask Luca: Saturday night?</a:t>
            </a:r>
            <a:endParaRPr lang="en-US" sz="1100" dirty="0"/>
          </a:p>
        </p:txBody>
      </p:sp>
      <p:sp>
        <p:nvSpPr>
          <p:cNvPr id="36" name="R6_chip425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are you doing on Saturday night?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2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2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428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Are you free on Saturday?</a:t>
            </a:r>
            <a:endParaRPr lang="en-US" sz="2500" dirty="0"/>
          </a:p>
        </p:txBody>
      </p:sp>
      <p:pic>
        <p:nvPicPr>
          <p:cNvPr id="6" name="brP_42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430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Fill your diary. Then find a friend for your weekend!</a:t>
            </a:r>
            <a:endParaRPr lang="en-US" sz="1250" dirty="0"/>
          </a:p>
        </p:txBody>
      </p:sp>
      <p:sp>
        <p:nvSpPr>
          <p:cNvPr id="8" name="insIT_43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Compila l'agenda. Poi trova un amico per il weekend!</a:t>
            </a:r>
            <a:endParaRPr lang="en-US" sz="950" dirty="0"/>
          </a:p>
        </p:txBody>
      </p:sp>
      <p:sp>
        <p:nvSpPr>
          <p:cNvPr id="9" name="cmd_43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433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🚶 mingle</a:t>
            </a:r>
            <a:endParaRPr lang="en-US" sz="950" dirty="0"/>
          </a:p>
        </p:txBody>
      </p:sp>
      <p:sp>
        <p:nvSpPr>
          <p:cNvPr id="11" name="tag_434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43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3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Y1 · Speaking · my weekend</a:t>
            </a:r>
            <a:endParaRPr lang="en-US" sz="800" dirty="0"/>
          </a:p>
        </p:txBody>
      </p:sp>
      <p:sp>
        <p:nvSpPr>
          <p:cNvPr id="14" name="pf_437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438" descr="/home/claude/lls-course/v2/cache/4a1_selfie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439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440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441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442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Sorry, I'm busy. I'm… · I'm free! · Let's… · Shall we…?</a:t>
            </a:r>
            <a:endParaRPr lang="en-US" sz="1050" dirty="0"/>
          </a:p>
        </p:txBody>
      </p:sp>
      <p:sp>
        <p:nvSpPr>
          <p:cNvPr id="20" name="R1_qb443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444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are you doing on Saturday morning?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having a lie-in!</a:t>
            </a:r>
            <a:endParaRPr lang="en-US" sz="1250" dirty="0"/>
          </a:p>
        </p:txBody>
      </p:sp>
      <p:sp>
        <p:nvSpPr>
          <p:cNvPr id="22" name="R2_qb445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446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doing anything on Saturday afternoon?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I'm meeting my friends at 4.</a:t>
            </a:r>
            <a:endParaRPr lang="en-US" sz="1250" dirty="0"/>
          </a:p>
        </p:txBody>
      </p:sp>
      <p:sp>
        <p:nvSpPr>
          <p:cNvPr id="24" name="R3_qb447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448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are you going to do on Sunday?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going to visit my grandparents.</a:t>
            </a:r>
            <a:endParaRPr lang="en-US" sz="1250" dirty="0"/>
          </a:p>
        </p:txBody>
      </p:sp>
      <p:sp>
        <p:nvSpPr>
          <p:cNvPr id="26" name="R4_qb449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450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free on Sunday evening?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Yes! Let's go out for a pizza.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5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5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453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about…</a:t>
            </a:r>
            <a:endParaRPr lang="en-US" sz="2500" dirty="0"/>
          </a:p>
        </p:txBody>
      </p:sp>
      <p:pic>
        <p:nvPicPr>
          <p:cNvPr id="6" name="brP_45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455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 in pairs. Give one extra detail!</a:t>
            </a:r>
            <a:endParaRPr lang="en-US" sz="1250" dirty="0"/>
          </a:p>
        </p:txBody>
      </p:sp>
      <p:sp>
        <p:nvSpPr>
          <p:cNvPr id="8" name="insIT_45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Parlate in coppia. Aggiungete un dettaglio!</a:t>
            </a:r>
            <a:endParaRPr lang="en-US" sz="950" dirty="0"/>
          </a:p>
        </p:txBody>
      </p:sp>
      <p:sp>
        <p:nvSpPr>
          <p:cNvPr id="9" name="cmd_45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458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459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46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6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Y1 · Speaking · B1 Preliminary style</a:t>
            </a:r>
            <a:endParaRPr lang="en-US" sz="800" dirty="0"/>
          </a:p>
        </p:txBody>
      </p:sp>
      <p:sp>
        <p:nvSpPr>
          <p:cNvPr id="14" name="pf_462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463" descr="/home/claude/lls-course/v2/cache/spare_life_hopes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464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465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466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467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because… · with… · I think… · maybe…</a:t>
            </a:r>
            <a:endParaRPr lang="en-US" sz="1050" dirty="0"/>
          </a:p>
        </p:txBody>
      </p:sp>
      <p:sp>
        <p:nvSpPr>
          <p:cNvPr id="20" name="R1_qb468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469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are you going to do after school today?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going to do my homework, then I'm going to play video games.</a:t>
            </a:r>
            <a:endParaRPr lang="en-US" sz="1250" dirty="0"/>
          </a:p>
        </p:txBody>
      </p:sp>
      <p:sp>
        <p:nvSpPr>
          <p:cNvPr id="22" name="R2_qb470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471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are you doing next weekend?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going to a party on Saturday – it's my friend's birthday.</a:t>
            </a:r>
            <a:endParaRPr lang="en-US" sz="1250" dirty="0"/>
          </a:p>
        </p:txBody>
      </p:sp>
      <p:sp>
        <p:nvSpPr>
          <p:cNvPr id="24" name="R3_qb472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473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are you going to go in the summer?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going to the beach every day, because it's hot!</a:t>
            </a:r>
            <a:endParaRPr lang="en-US" sz="1250" dirty="0"/>
          </a:p>
        </p:txBody>
      </p:sp>
      <p:sp>
        <p:nvSpPr>
          <p:cNvPr id="26" name="R4_qb474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475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are you going to do when you're 18?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Maybe I'm going to learn to drive.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7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7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78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47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480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48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482"/>
          <p:cNvSpPr/>
          <p:nvPr/>
        </p:nvSpPr>
        <p:spPr>
          <a:xfrm>
            <a:off x="6510528" y="182880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483"/>
          <p:cNvSpPr/>
          <p:nvPr/>
        </p:nvSpPr>
        <p:spPr>
          <a:xfrm>
            <a:off x="6510528" y="420624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1" name="logo_48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48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Y1 · Exit · what can you remember?</a:t>
            </a:r>
            <a:endParaRPr lang="en-US" sz="800" dirty="0"/>
          </a:p>
        </p:txBody>
      </p:sp>
      <p:sp>
        <p:nvSpPr>
          <p:cNvPr id="13" name="bd_486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487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weekend words (no looking!)</a:t>
            </a:r>
            <a:endParaRPr lang="en-US" sz="1400" dirty="0"/>
          </a:p>
        </p:txBody>
      </p:sp>
      <p:sp>
        <p:nvSpPr>
          <p:cNvPr id="15" name="bd_488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489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sentences: one plan (going to), one arrangement (+ time)</a:t>
            </a:r>
            <a:endParaRPr lang="en-US" sz="1400" dirty="0"/>
          </a:p>
        </p:txBody>
      </p:sp>
      <p:sp>
        <p:nvSpPr>
          <p:cNvPr id="17" name="bd_490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491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question to ask a friend about Saturday</a:t>
            </a:r>
            <a:endParaRPr lang="en-US" sz="1400" dirty="0"/>
          </a:p>
        </p:txBody>
      </p:sp>
      <p:sp>
        <p:nvSpPr>
          <p:cNvPr id="19" name="cd_492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493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494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495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your weekend diary: 5 sentences (going to + present continuous)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 the 12 weekend words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Easier homework in the LLS app</a:t>
            </a:r>
            <a:endParaRPr lang="en-US" sz="1150" dirty="0"/>
          </a:p>
        </p:txBody>
      </p:sp>
      <p:sp>
        <p:nvSpPr>
          <p:cNvPr id="23" name="st_496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what did you do at the weekend? (past simple)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9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49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499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50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501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50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50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50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50" dirty="0"/>
          </a:p>
        </p:txBody>
      </p:sp>
      <p:sp>
        <p:nvSpPr>
          <p:cNvPr id="11" name="tag_50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Reflection</a:t>
            </a:r>
            <a:endParaRPr lang="en-US" sz="850" dirty="0"/>
          </a:p>
        </p:txBody>
      </p:sp>
      <p:pic>
        <p:nvPicPr>
          <p:cNvPr id="12" name="logo_50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0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Y1 · Review · what did you do today?</a:t>
            </a:r>
            <a:endParaRPr lang="en-US" sz="800" dirty="0"/>
          </a:p>
        </p:txBody>
      </p:sp>
      <p:sp>
        <p:nvSpPr>
          <p:cNvPr id="14" name="cd_508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509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🎮</a:t>
            </a:r>
            <a:endParaRPr lang="en-US" sz="1800" dirty="0"/>
          </a:p>
        </p:txBody>
      </p:sp>
      <p:sp>
        <p:nvSpPr>
          <p:cNvPr id="16" name="tt_510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12 free-time words</a:t>
            </a:r>
            <a:endParaRPr lang="en-US" sz="1350" dirty="0"/>
          </a:p>
        </p:txBody>
      </p:sp>
      <p:sp>
        <p:nvSpPr>
          <p:cNvPr id="17" name="R1_tk511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512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51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20" name="tt_514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a group chat about the weekend</a:t>
            </a:r>
            <a:endParaRPr lang="en-US" sz="1350" dirty="0"/>
          </a:p>
        </p:txBody>
      </p:sp>
      <p:sp>
        <p:nvSpPr>
          <p:cNvPr id="21" name="R2_tk515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516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517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4" name="tt_518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25" name="R3_tk519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cd_520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te_521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🗓</a:t>
            </a:r>
            <a:endParaRPr lang="en-US" sz="1800" dirty="0"/>
          </a:p>
        </p:txBody>
      </p:sp>
      <p:sp>
        <p:nvSpPr>
          <p:cNvPr id="28" name="tt_522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Talked about plans: I'm going to… / I'm meeting…</a:t>
            </a:r>
            <a:endParaRPr lang="en-US" sz="1350" dirty="0"/>
          </a:p>
        </p:txBody>
      </p:sp>
      <p:sp>
        <p:nvSpPr>
          <p:cNvPr id="29" name="R4_tk523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0" name="cd_524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te_525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32" name="tt_526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Found a friend for your weekend</a:t>
            </a:r>
            <a:endParaRPr lang="en-US" sz="1350" dirty="0"/>
          </a:p>
        </p:txBody>
      </p:sp>
      <p:sp>
        <p:nvSpPr>
          <p:cNvPr id="33" name="R5_tk527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st_528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2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3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531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my weekend!</a:t>
            </a:r>
            <a:endParaRPr lang="en-US" sz="2250" dirty="0"/>
          </a:p>
        </p:txBody>
      </p:sp>
      <p:pic>
        <p:nvPicPr>
          <p:cNvPr id="6" name="brP_53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533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yes/no questions. Guess the plan!</a:t>
            </a:r>
            <a:endParaRPr lang="en-US" sz="1250" dirty="0"/>
          </a:p>
        </p:txBody>
      </p:sp>
      <p:sp>
        <p:nvSpPr>
          <p:cNvPr id="8" name="insIT_53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 domande sì/no. Indovina il piano!</a:t>
            </a:r>
            <a:endParaRPr lang="en-US" sz="950" dirty="0"/>
          </a:p>
        </p:txBody>
      </p:sp>
      <p:sp>
        <p:nvSpPr>
          <p:cNvPr id="9" name="cmd_53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536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950" dirty="0"/>
          </a:p>
        </p:txBody>
      </p:sp>
      <p:sp>
        <p:nvSpPr>
          <p:cNvPr id="11" name="tag_537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53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3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Y1 · Extra game</a:t>
            </a:r>
            <a:endParaRPr lang="en-US" sz="800" dirty="0"/>
          </a:p>
        </p:txBody>
      </p:sp>
      <p:sp>
        <p:nvSpPr>
          <p:cNvPr id="14" name="st_540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cd_541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54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54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544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student thinks of a weekend plan.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Uno studente pensa a un piano per il weekend.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class asks yes/no questions: Are you going to…? Are you meeting…?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 classe fa domande sì/no.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in 10 questions = 1 point.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Indovinate in 10 domande = 1 punto.</a:t>
            </a:r>
            <a:endParaRPr lang="en-US" sz="900" dirty="0"/>
          </a:p>
        </p:txBody>
      </p:sp>
      <p:sp>
        <p:nvSpPr>
          <p:cNvPr id="19" name="st_545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20" name="bd_546"/>
          <p:cNvSpPr/>
          <p:nvPr/>
        </p:nvSpPr>
        <p:spPr>
          <a:xfrm>
            <a:off x="3246120" y="1508760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547"/>
          <p:cNvSpPr/>
          <p:nvPr/>
        </p:nvSpPr>
        <p:spPr>
          <a:xfrm>
            <a:off x="3657600" y="1417320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going to play a sport?</a:t>
            </a:r>
            <a:endParaRPr lang="en-US" sz="1100" dirty="0"/>
          </a:p>
        </p:txBody>
      </p:sp>
      <p:sp>
        <p:nvSpPr>
          <p:cNvPr id="22" name="R1_chip548"/>
          <p:cNvSpPr/>
          <p:nvPr/>
        </p:nvSpPr>
        <p:spPr>
          <a:xfrm>
            <a:off x="6263640" y="1417320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Yes, I am. / No, I'm not.</a:t>
            </a:r>
            <a:endParaRPr lang="en-US" sz="1100" dirty="0"/>
          </a:p>
        </p:txBody>
      </p:sp>
      <p:sp>
        <p:nvSpPr>
          <p:cNvPr id="23" name="bd_549"/>
          <p:cNvSpPr/>
          <p:nvPr/>
        </p:nvSpPr>
        <p:spPr>
          <a:xfrm>
            <a:off x="3246120" y="208483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550"/>
          <p:cNvSpPr/>
          <p:nvPr/>
        </p:nvSpPr>
        <p:spPr>
          <a:xfrm>
            <a:off x="3657600" y="1993392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meeting friends?</a:t>
            </a:r>
            <a:endParaRPr lang="en-US" sz="1100" dirty="0"/>
          </a:p>
        </p:txBody>
      </p:sp>
      <p:sp>
        <p:nvSpPr>
          <p:cNvPr id="25" name="R2_chip551"/>
          <p:cNvSpPr/>
          <p:nvPr/>
        </p:nvSpPr>
        <p:spPr>
          <a:xfrm>
            <a:off x="6263640" y="1993392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Yes, I am.</a:t>
            </a:r>
            <a:endParaRPr lang="en-US" sz="1100" dirty="0"/>
          </a:p>
        </p:txBody>
      </p:sp>
      <p:sp>
        <p:nvSpPr>
          <p:cNvPr id="26" name="bd_552"/>
          <p:cNvSpPr/>
          <p:nvPr/>
        </p:nvSpPr>
        <p:spPr>
          <a:xfrm>
            <a:off x="3246120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553"/>
          <p:cNvSpPr/>
          <p:nvPr/>
        </p:nvSpPr>
        <p:spPr>
          <a:xfrm>
            <a:off x="3657600" y="2569464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it in the evening?</a:t>
            </a:r>
            <a:endParaRPr lang="en-US" sz="1100" dirty="0"/>
          </a:p>
        </p:txBody>
      </p:sp>
      <p:sp>
        <p:nvSpPr>
          <p:cNvPr id="28" name="R3_chip554"/>
          <p:cNvSpPr/>
          <p:nvPr/>
        </p:nvSpPr>
        <p:spPr>
          <a:xfrm>
            <a:off x="6263640" y="2569464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No, it isn't.</a:t>
            </a:r>
            <a:endParaRPr lang="en-US" sz="1100" dirty="0"/>
          </a:p>
        </p:txBody>
      </p:sp>
      <p:sp>
        <p:nvSpPr>
          <p:cNvPr id="29" name="bd_555"/>
          <p:cNvSpPr/>
          <p:nvPr/>
        </p:nvSpPr>
        <p:spPr>
          <a:xfrm>
            <a:off x="3246120" y="32369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556"/>
          <p:cNvSpPr/>
          <p:nvPr/>
        </p:nvSpPr>
        <p:spPr>
          <a:xfrm>
            <a:off x="3657600" y="3145536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going to the beach?</a:t>
            </a:r>
            <a:endParaRPr lang="en-US" sz="1100" dirty="0"/>
          </a:p>
        </p:txBody>
      </p:sp>
      <p:sp>
        <p:nvSpPr>
          <p:cNvPr id="31" name="R4_chip557"/>
          <p:cNvSpPr/>
          <p:nvPr/>
        </p:nvSpPr>
        <p:spPr>
          <a:xfrm>
            <a:off x="6263640" y="3145536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Yes! 🏖️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Y1 Weekend plans</dc:title>
  <dc:subject>PptxGenJS Presentation</dc:subject>
  <dc:creator>PptxGenJS</dc:creator>
  <cp:lastModifiedBy>PptxGenJS</cp:lastModifiedBy>
  <cp:revision>1</cp:revision>
  <dcterms:created xsi:type="dcterms:W3CDTF">2026-10-15T09:16:17Z</dcterms:created>
  <dcterms:modified xsi:type="dcterms:W3CDTF">2026-10-15T09:16:17Z</dcterms:modified>
</cp:coreProperties>
</file>