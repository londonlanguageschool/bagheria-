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LESSON 4 (60 min). Aims: cutting verbs, imperatives (+, –, polite), understanding a real chef on video.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Lesson 3 (5 min)
REVISION (5 min). VARIATION: constraint challenge — exactly five words makes them build full answers with some/any/much/many. Partner counts on their fingers.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VOCABULARY · Cutting verbs (8 min)
VOCABULARY (8 min). They match orally, click 1. Then teacher says a verb, they mime; then they say a verb + food (Slice the bread!) and the teacher mimes — deliberately wrong sometimes so they correct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VOCABULARY · Upgrade (5 min)
UPGRADE THE LANGUAGE (6 min). VARIATION: upgrade + vocabulary branching (finely, thinly, roughly). Many answers possible — click 1 for examples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VOCABULARY · More prep verbs (6 min)
VOCABULARY (6 min). Click 1. Collocations: wash the salad, drain the pasta, pour the sauce, squeeze a lemon, spread butter, sprinkle parmesan, wrap it in cling film, label the container.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GRAMMAR · Imperatives (5 min)
GRAMMAR (6 min). Note: in a busy kitchen short imperatives are normal and not rude — but 'please' and 'Could you…' are for calmer moments and for front of 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GRAMMAR · Be the teacher (5 min)
GRAMMAR PRACTICE (5 min). VARIATION: spot the error / student as teacher.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READING · A recipe card (6 min)
READING (6 min). Then: how do YOU make bruschetta? What's different? (mild controversy — garlic or no garlic?)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LISTENING · A real chef (7 min)
VIDEO (8 min). Preview first (link checked October 2026; it is not an official channel and could be removed). Watch twice: 1) general, 2) write commands. Then each chef teaches the partner how they chop an onion, using imperatives.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SPEAKING · Role-play (8 min)
ROLE-PLAY (10 min). VARIATION: opposites — B does the wrong thing, A gives negative + positive imperatives. Then use the real prep list from their restaurant.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Exit · what can you remember? (3 min)
EXIT (3 min). Homework sheet L4 in the portal.
Can-dos: I can use cutting verbs: chop, slice, dice… · I can give and understand commands. · I can follow a real chef's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OPTIONAL EXTENSIONS
The lesson ended on the previous slide ("Today you…"). Use the next slides only if there is time left, or keep them for a quick start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GAME · Listen and act (6 min)
GAME (6 min). VARIATION: change the energy. Speed up; add negative commands: Chef says: don't touch the knife!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Game · exact instructions (8 min)
EXTRA (8 min). Funny and precise — forces sequencing words (first, then) for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Kitchen English · Lesson 4 of 10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L4</a:t>
            </a:r>
            <a:endParaRPr lang="en-US" sz="28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Kitchen commands</a:t>
            </a:r>
            <a:endParaRPr lang="en-US" sz="21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cutting verbs · imperatives: do / don't / please · the prep list</a:t>
            </a:r>
            <a:endParaRPr lang="en-US" sz="10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42616"/>
            <a:ext cx="35478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🔑  learn cutting verbs</a:t>
            </a:r>
            <a:endParaRPr lang="en-US" sz="12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🧩  practise imperatives: do / don't / please</a:t>
            </a:r>
            <a:endParaRPr lang="en-US" sz="12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 practise speaking: the prep list</a:t>
            </a:r>
            <a:endParaRPr lang="en-US" sz="125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Chop! Slice! Faster! Don't touch that!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777240"/>
            <a:ext cx="3977640" cy="3200400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chef_ic_knife_png_935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892040" y="822960"/>
            <a:ext cx="3886200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does the head chef say all day?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Five words only!</a:t>
            </a:r>
            <a:endParaRPr lang="en-US" sz="25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93108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40370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Answer in EXACTLY five words. Count them!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Rispondi con ESATTAMENTE cinque parole. Contale!</a:t>
            </a:r>
            <a:endParaRPr lang="en-US" sz="950" dirty="0"/>
          </a:p>
        </p:txBody>
      </p:sp>
      <p:sp>
        <p:nvSpPr>
          <p:cNvPr id="9" name="cmd_23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💬 </a:t>
            </a:r>
            <a:pPr algn="ctr" indent="0" marL="0">
              <a:buNone/>
            </a:pPr>
            <a:r>
              <a:rPr lang="en-US" sz="95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950" dirty="0"/>
          </a:p>
        </p:txBody>
      </p:sp>
      <p:sp>
        <p:nvSpPr>
          <p:cNvPr id="10" name="meta_24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950" dirty="0"/>
          </a:p>
        </p:txBody>
      </p:sp>
      <p:sp>
        <p:nvSpPr>
          <p:cNvPr id="11" name="tag_25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</a:t>
            </a:r>
            <a:pPr algn="ctr" indent="0" marL="0">
              <a:buNone/>
            </a:pPr>
            <a:r>
              <a:rPr lang="en-US" sz="8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</a:t>
            </a:r>
            <a:endParaRPr lang="en-US" sz="800" dirty="0"/>
          </a:p>
        </p:txBody>
      </p:sp>
      <p:pic>
        <p:nvPicPr>
          <p:cNvPr id="12" name="logo_2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L4 · REVISION · Lesson 3</a:t>
            </a:r>
            <a:endParaRPr lang="en-US" sz="800" dirty="0"/>
          </a:p>
        </p:txBody>
      </p:sp>
      <p:sp>
        <p:nvSpPr>
          <p:cNvPr id="14" name="R1_qb28"/>
          <p:cNvSpPr/>
          <p:nvPr/>
        </p:nvSpPr>
        <p:spPr>
          <a:xfrm>
            <a:off x="57607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R1_sq29"/>
          <p:cNvSpPr/>
          <p:nvPr/>
        </p:nvSpPr>
        <p:spPr>
          <a:xfrm>
            <a:off x="978408" y="1417320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many eggs are in a carbonara for four?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We need four eggs, Chef. = 5 ✓</a:t>
            </a:r>
            <a:endParaRPr lang="en-US" sz="1400" dirty="0"/>
          </a:p>
        </p:txBody>
      </p:sp>
      <p:sp>
        <p:nvSpPr>
          <p:cNvPr id="16" name="R2_qb30"/>
          <p:cNvSpPr/>
          <p:nvPr/>
        </p:nvSpPr>
        <p:spPr>
          <a:xfrm>
            <a:off x="57607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R2_sq31"/>
          <p:cNvSpPr/>
          <p:nvPr/>
        </p:nvSpPr>
        <p:spPr>
          <a:xfrm>
            <a:off x="978408" y="2020824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much salt do you put in pasta water?</a:t>
            </a:r>
            <a:endParaRPr lang="en-US" sz="1400" dirty="0"/>
          </a:p>
        </p:txBody>
      </p:sp>
      <p:sp>
        <p:nvSpPr>
          <p:cNvPr id="18" name="R3_qb32"/>
          <p:cNvSpPr/>
          <p:nvPr/>
        </p:nvSpPr>
        <p:spPr>
          <a:xfrm>
            <a:off x="57607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R3_sq33"/>
          <p:cNvSpPr/>
          <p:nvPr/>
        </p:nvSpPr>
        <p:spPr>
          <a:xfrm>
            <a:off x="978408" y="2624328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we got any cream?</a:t>
            </a:r>
            <a:endParaRPr lang="en-US" sz="1400" dirty="0"/>
          </a:p>
        </p:txBody>
      </p:sp>
      <p:sp>
        <p:nvSpPr>
          <p:cNvPr id="20" name="R4_qb34"/>
          <p:cNvSpPr/>
          <p:nvPr/>
        </p:nvSpPr>
        <p:spPr>
          <a:xfrm>
            <a:off x="57607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R4_sq35"/>
          <p:cNvSpPr/>
          <p:nvPr/>
        </p:nvSpPr>
        <p:spPr>
          <a:xfrm>
            <a:off x="978408" y="3227832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have you run out of this week?</a:t>
            </a:r>
            <a:endParaRPr lang="en-US" sz="1400" dirty="0"/>
          </a:p>
        </p:txBody>
      </p:sp>
      <p:sp>
        <p:nvSpPr>
          <p:cNvPr id="22" name="R5_qb36"/>
          <p:cNvSpPr/>
          <p:nvPr/>
        </p:nvSpPr>
        <p:spPr>
          <a:xfrm>
            <a:off x="576072" y="3867912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R5_sq37"/>
          <p:cNvSpPr/>
          <p:nvPr/>
        </p:nvSpPr>
        <p:spPr>
          <a:xfrm>
            <a:off x="978408" y="3831336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much flour is in your pizza dough?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3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40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Chop, slice, dice…</a:t>
            </a:r>
            <a:endParaRPr lang="en-US" sz="2500" dirty="0"/>
          </a:p>
        </p:txBody>
      </p:sp>
      <p:pic>
        <p:nvPicPr>
          <p:cNvPr id="6" name="brP_4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076956" cy="402336"/>
          </a:xfrm>
          <a:prstGeom prst="rect">
            <a:avLst/>
          </a:prstGeom>
        </p:spPr>
      </p:pic>
      <p:sp>
        <p:nvSpPr>
          <p:cNvPr id="7" name="ins_42"/>
          <p:cNvSpPr/>
          <p:nvPr/>
        </p:nvSpPr>
        <p:spPr>
          <a:xfrm>
            <a:off x="1353312" y="731520"/>
            <a:ext cx="28209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Match. Then mime each verb!</a:t>
            </a:r>
            <a:endParaRPr lang="en-US" sz="1250" dirty="0"/>
          </a:p>
        </p:txBody>
      </p:sp>
      <p:sp>
        <p:nvSpPr>
          <p:cNvPr id="8" name="insIT_4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Abbina. Poi mima ogni verbo!</a:t>
            </a:r>
            <a:endParaRPr lang="en-US" sz="950" dirty="0"/>
          </a:p>
        </p:txBody>
      </p:sp>
      <p:sp>
        <p:nvSpPr>
          <p:cNvPr id="9" name="cmd_44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💡 </a:t>
            </a:r>
            <a:pPr algn="ctr" indent="0" marL="0">
              <a:buNone/>
            </a:pPr>
            <a:r>
              <a:rPr lang="en-US" sz="9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950" dirty="0"/>
          </a:p>
        </p:txBody>
      </p:sp>
      <p:sp>
        <p:nvSpPr>
          <p:cNvPr id="10" name="meta_45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8 min   👥 pairs</a:t>
            </a:r>
            <a:endParaRPr lang="en-US" sz="950" dirty="0"/>
          </a:p>
        </p:txBody>
      </p:sp>
      <p:sp>
        <p:nvSpPr>
          <p:cNvPr id="11" name="tag_46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</a:t>
            </a:r>
            <a:pPr algn="ctr" indent="0" marL="0">
              <a:buNone/>
            </a:pPr>
            <a:r>
              <a:rPr lang="en-US" sz="7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Controlled practice</a:t>
            </a:r>
            <a:endParaRPr lang="en-US" sz="750" dirty="0"/>
          </a:p>
        </p:txBody>
      </p:sp>
      <p:pic>
        <p:nvPicPr>
          <p:cNvPr id="12" name="logo_4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4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L4 · VOCABULARY · Cutting verbs</a:t>
            </a:r>
            <a:endParaRPr lang="en-US" sz="800" dirty="0"/>
          </a:p>
        </p:txBody>
      </p:sp>
      <p:sp>
        <p:nvSpPr>
          <p:cNvPr id="14" name="bd_49"/>
          <p:cNvSpPr/>
          <p:nvPr/>
        </p:nvSpPr>
        <p:spPr>
          <a:xfrm>
            <a:off x="548640" y="14447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q_50"/>
          <p:cNvSpPr/>
          <p:nvPr/>
        </p:nvSpPr>
        <p:spPr>
          <a:xfrm>
            <a:off x="932688" y="1417320"/>
            <a:ext cx="32918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chop</a:t>
            </a:r>
            <a:endParaRPr lang="en-US" sz="1300" dirty="0"/>
          </a:p>
        </p:txBody>
      </p:sp>
      <p:sp>
        <p:nvSpPr>
          <p:cNvPr id="16" name="R1_chip51"/>
          <p:cNvSpPr/>
          <p:nvPr/>
        </p:nvSpPr>
        <p:spPr>
          <a:xfrm>
            <a:off x="4297680" y="1417320"/>
            <a:ext cx="448056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tritare / tagliare a pezzi</a:t>
            </a:r>
            <a:endParaRPr lang="en-US" sz="1200" dirty="0"/>
          </a:p>
        </p:txBody>
      </p:sp>
      <p:sp>
        <p:nvSpPr>
          <p:cNvPr id="17" name="bd_52"/>
          <p:cNvSpPr/>
          <p:nvPr/>
        </p:nvSpPr>
        <p:spPr>
          <a:xfrm>
            <a:off x="548640" y="185623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q_53"/>
          <p:cNvSpPr/>
          <p:nvPr/>
        </p:nvSpPr>
        <p:spPr>
          <a:xfrm>
            <a:off x="932688" y="1828800"/>
            <a:ext cx="32918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slice</a:t>
            </a:r>
            <a:endParaRPr lang="en-US" sz="1300" dirty="0"/>
          </a:p>
        </p:txBody>
      </p:sp>
      <p:sp>
        <p:nvSpPr>
          <p:cNvPr id="19" name="R2_chip54"/>
          <p:cNvSpPr/>
          <p:nvPr/>
        </p:nvSpPr>
        <p:spPr>
          <a:xfrm>
            <a:off x="4297680" y="1828800"/>
            <a:ext cx="448056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tagliare a fette</a:t>
            </a:r>
            <a:endParaRPr lang="en-US" sz="1200" dirty="0"/>
          </a:p>
        </p:txBody>
      </p:sp>
      <p:sp>
        <p:nvSpPr>
          <p:cNvPr id="20" name="bd_55"/>
          <p:cNvSpPr/>
          <p:nvPr/>
        </p:nvSpPr>
        <p:spPr>
          <a:xfrm>
            <a:off x="548640" y="22677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q_56"/>
          <p:cNvSpPr/>
          <p:nvPr/>
        </p:nvSpPr>
        <p:spPr>
          <a:xfrm>
            <a:off x="932688" y="2240280"/>
            <a:ext cx="32918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dice</a:t>
            </a:r>
            <a:endParaRPr lang="en-US" sz="1300" dirty="0"/>
          </a:p>
        </p:txBody>
      </p:sp>
      <p:sp>
        <p:nvSpPr>
          <p:cNvPr id="22" name="R3_chip57"/>
          <p:cNvSpPr/>
          <p:nvPr/>
        </p:nvSpPr>
        <p:spPr>
          <a:xfrm>
            <a:off x="4297680" y="2240280"/>
            <a:ext cx="448056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tagliare a cubetti</a:t>
            </a:r>
            <a:endParaRPr lang="en-US" sz="1200" dirty="0"/>
          </a:p>
        </p:txBody>
      </p:sp>
      <p:sp>
        <p:nvSpPr>
          <p:cNvPr id="23" name="bd_58"/>
          <p:cNvSpPr/>
          <p:nvPr/>
        </p:nvSpPr>
        <p:spPr>
          <a:xfrm>
            <a:off x="548640" y="267919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q_59"/>
          <p:cNvSpPr/>
          <p:nvPr/>
        </p:nvSpPr>
        <p:spPr>
          <a:xfrm>
            <a:off x="932688" y="2651760"/>
            <a:ext cx="32918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peel</a:t>
            </a:r>
            <a:endParaRPr lang="en-US" sz="1300" dirty="0"/>
          </a:p>
        </p:txBody>
      </p:sp>
      <p:sp>
        <p:nvSpPr>
          <p:cNvPr id="25" name="R4_chip60"/>
          <p:cNvSpPr/>
          <p:nvPr/>
        </p:nvSpPr>
        <p:spPr>
          <a:xfrm>
            <a:off x="4297680" y="2651760"/>
            <a:ext cx="448056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pelare / sbucciare</a:t>
            </a:r>
            <a:endParaRPr lang="en-US" sz="1200" dirty="0"/>
          </a:p>
        </p:txBody>
      </p:sp>
      <p:sp>
        <p:nvSpPr>
          <p:cNvPr id="26" name="bd_61"/>
          <p:cNvSpPr/>
          <p:nvPr/>
        </p:nvSpPr>
        <p:spPr>
          <a:xfrm>
            <a:off x="548640" y="30906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q_62"/>
          <p:cNvSpPr/>
          <p:nvPr/>
        </p:nvSpPr>
        <p:spPr>
          <a:xfrm>
            <a:off x="932688" y="3063240"/>
            <a:ext cx="32918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grate</a:t>
            </a:r>
            <a:endParaRPr lang="en-US" sz="1300" dirty="0"/>
          </a:p>
        </p:txBody>
      </p:sp>
      <p:sp>
        <p:nvSpPr>
          <p:cNvPr id="28" name="R5_chip63"/>
          <p:cNvSpPr/>
          <p:nvPr/>
        </p:nvSpPr>
        <p:spPr>
          <a:xfrm>
            <a:off x="4297680" y="3063240"/>
            <a:ext cx="448056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grattugiare</a:t>
            </a:r>
            <a:endParaRPr lang="en-US" sz="1200" dirty="0"/>
          </a:p>
        </p:txBody>
      </p:sp>
      <p:sp>
        <p:nvSpPr>
          <p:cNvPr id="29" name="bd_64"/>
          <p:cNvSpPr/>
          <p:nvPr/>
        </p:nvSpPr>
        <p:spPr>
          <a:xfrm>
            <a:off x="548640" y="350215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q_65"/>
          <p:cNvSpPr/>
          <p:nvPr/>
        </p:nvSpPr>
        <p:spPr>
          <a:xfrm>
            <a:off x="932688" y="3474720"/>
            <a:ext cx="32918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crush</a:t>
            </a:r>
            <a:endParaRPr lang="en-US" sz="1300" dirty="0"/>
          </a:p>
        </p:txBody>
      </p:sp>
      <p:sp>
        <p:nvSpPr>
          <p:cNvPr id="31" name="R6_chip66"/>
          <p:cNvSpPr/>
          <p:nvPr/>
        </p:nvSpPr>
        <p:spPr>
          <a:xfrm>
            <a:off x="4297680" y="3474720"/>
            <a:ext cx="448056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schiacciare (aglio)</a:t>
            </a:r>
            <a:endParaRPr lang="en-US" sz="1200" dirty="0"/>
          </a:p>
        </p:txBody>
      </p:sp>
      <p:sp>
        <p:nvSpPr>
          <p:cNvPr id="32" name="bd_67"/>
          <p:cNvSpPr/>
          <p:nvPr/>
        </p:nvSpPr>
        <p:spPr>
          <a:xfrm>
            <a:off x="548640" y="391363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q_68"/>
          <p:cNvSpPr/>
          <p:nvPr/>
        </p:nvSpPr>
        <p:spPr>
          <a:xfrm>
            <a:off x="932688" y="3886200"/>
            <a:ext cx="32918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mince</a:t>
            </a:r>
            <a:endParaRPr lang="en-US" sz="1300" dirty="0"/>
          </a:p>
        </p:txBody>
      </p:sp>
      <p:sp>
        <p:nvSpPr>
          <p:cNvPr id="34" name="R7_chip69"/>
          <p:cNvSpPr/>
          <p:nvPr/>
        </p:nvSpPr>
        <p:spPr>
          <a:xfrm>
            <a:off x="4297680" y="3886200"/>
            <a:ext cx="448056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macinare (carne)</a:t>
            </a:r>
            <a:endParaRPr lang="en-US" sz="1200" dirty="0"/>
          </a:p>
        </p:txBody>
      </p:sp>
      <p:sp>
        <p:nvSpPr>
          <p:cNvPr id="35" name="bd_70"/>
          <p:cNvSpPr/>
          <p:nvPr/>
        </p:nvSpPr>
        <p:spPr>
          <a:xfrm>
            <a:off x="548640" y="432511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q_71"/>
          <p:cNvSpPr/>
          <p:nvPr/>
        </p:nvSpPr>
        <p:spPr>
          <a:xfrm>
            <a:off x="932688" y="4297680"/>
            <a:ext cx="32918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fillet</a:t>
            </a:r>
            <a:endParaRPr lang="en-US" sz="1300" dirty="0"/>
          </a:p>
        </p:txBody>
      </p:sp>
      <p:sp>
        <p:nvSpPr>
          <p:cNvPr id="37" name="R8_chip72"/>
          <p:cNvSpPr/>
          <p:nvPr/>
        </p:nvSpPr>
        <p:spPr>
          <a:xfrm>
            <a:off x="4297680" y="4297680"/>
            <a:ext cx="448056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sfilettare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7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7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75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it like a chef</a:t>
            </a:r>
            <a:endParaRPr lang="en-US" sz="2500" dirty="0"/>
          </a:p>
        </p:txBody>
      </p:sp>
      <p:pic>
        <p:nvPicPr>
          <p:cNvPr id="6" name="brP_7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032504" cy="402336"/>
          </a:xfrm>
          <a:prstGeom prst="rect">
            <a:avLst/>
          </a:prstGeom>
        </p:spPr>
      </p:pic>
      <p:sp>
        <p:nvSpPr>
          <p:cNvPr id="7" name="ins_77"/>
          <p:cNvSpPr/>
          <p:nvPr/>
        </p:nvSpPr>
        <p:spPr>
          <a:xfrm>
            <a:off x="1353312" y="731520"/>
            <a:ext cx="3776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it more precise. 'Cut' is boring!</a:t>
            </a:r>
            <a:endParaRPr lang="en-US" sz="1250" dirty="0"/>
          </a:p>
        </p:txBody>
      </p:sp>
      <p:sp>
        <p:nvSpPr>
          <p:cNvPr id="8" name="insIT_7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Rendila più precisa. 'Cut' è noioso!</a:t>
            </a:r>
            <a:endParaRPr lang="en-US" sz="950" dirty="0"/>
          </a:p>
        </p:txBody>
      </p:sp>
      <p:sp>
        <p:nvSpPr>
          <p:cNvPr id="9" name="cmd_79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💡 </a:t>
            </a:r>
            <a:pPr algn="ctr" indent="0" marL="0">
              <a:buNone/>
            </a:pPr>
            <a:r>
              <a:rPr lang="en-US" sz="9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950" dirty="0"/>
          </a:p>
        </p:txBody>
      </p:sp>
      <p:sp>
        <p:nvSpPr>
          <p:cNvPr id="10" name="meta_80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950" dirty="0"/>
          </a:p>
        </p:txBody>
      </p:sp>
      <p:sp>
        <p:nvSpPr>
          <p:cNvPr id="11" name="tag_81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</a:t>
            </a:r>
            <a:pPr algn="ctr" indent="0" marL="0">
              <a:buNone/>
            </a:pPr>
            <a:r>
              <a:rPr lang="en-US" sz="7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Controlled practice</a:t>
            </a:r>
            <a:endParaRPr lang="en-US" sz="750" dirty="0"/>
          </a:p>
        </p:txBody>
      </p:sp>
      <p:pic>
        <p:nvPicPr>
          <p:cNvPr id="12" name="logo_8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8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L4 · VOCABULARY · Upgrade</a:t>
            </a:r>
            <a:endParaRPr lang="en-US" sz="800" dirty="0"/>
          </a:p>
        </p:txBody>
      </p:sp>
      <p:sp>
        <p:nvSpPr>
          <p:cNvPr id="14" name="bd_84"/>
          <p:cNvSpPr/>
          <p:nvPr/>
        </p:nvSpPr>
        <p:spPr>
          <a:xfrm>
            <a:off x="548640" y="1545336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q_85"/>
          <p:cNvSpPr/>
          <p:nvPr/>
        </p:nvSpPr>
        <p:spPr>
          <a:xfrm>
            <a:off x="932688" y="1417320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Cut the onion.</a:t>
            </a:r>
            <a:endParaRPr lang="en-US" sz="1300" dirty="0"/>
          </a:p>
        </p:txBody>
      </p:sp>
      <p:sp>
        <p:nvSpPr>
          <p:cNvPr id="16" name="R1_chip86"/>
          <p:cNvSpPr/>
          <p:nvPr/>
        </p:nvSpPr>
        <p:spPr>
          <a:xfrm>
            <a:off x="4297680" y="1417320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Finely dice the onion.</a:t>
            </a:r>
            <a:endParaRPr lang="en-US" sz="1200" dirty="0"/>
          </a:p>
        </p:txBody>
      </p:sp>
      <p:sp>
        <p:nvSpPr>
          <p:cNvPr id="17" name="bd_87"/>
          <p:cNvSpPr/>
          <p:nvPr/>
        </p:nvSpPr>
        <p:spPr>
          <a:xfrm>
            <a:off x="548640" y="2157984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q_88"/>
          <p:cNvSpPr/>
          <p:nvPr/>
        </p:nvSpPr>
        <p:spPr>
          <a:xfrm>
            <a:off x="932688" y="2029968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Cut the bread.</a:t>
            </a:r>
            <a:endParaRPr lang="en-US" sz="1300" dirty="0"/>
          </a:p>
        </p:txBody>
      </p:sp>
      <p:sp>
        <p:nvSpPr>
          <p:cNvPr id="19" name="R2_chip89"/>
          <p:cNvSpPr/>
          <p:nvPr/>
        </p:nvSpPr>
        <p:spPr>
          <a:xfrm>
            <a:off x="4297680" y="2029968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Slice the bread thinly.</a:t>
            </a:r>
            <a:endParaRPr lang="en-US" sz="1200" dirty="0"/>
          </a:p>
        </p:txBody>
      </p:sp>
      <p:sp>
        <p:nvSpPr>
          <p:cNvPr id="20" name="bd_90"/>
          <p:cNvSpPr/>
          <p:nvPr/>
        </p:nvSpPr>
        <p:spPr>
          <a:xfrm>
            <a:off x="548640" y="277063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q_91"/>
          <p:cNvSpPr/>
          <p:nvPr/>
        </p:nvSpPr>
        <p:spPr>
          <a:xfrm>
            <a:off x="932688" y="2642616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Cut the garlic.</a:t>
            </a:r>
            <a:endParaRPr lang="en-US" sz="1300" dirty="0"/>
          </a:p>
        </p:txBody>
      </p:sp>
      <p:sp>
        <p:nvSpPr>
          <p:cNvPr id="22" name="R3_chip92"/>
          <p:cNvSpPr/>
          <p:nvPr/>
        </p:nvSpPr>
        <p:spPr>
          <a:xfrm>
            <a:off x="4297680" y="2642616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Peel and crush the garlic.</a:t>
            </a:r>
            <a:endParaRPr lang="en-US" sz="1200" dirty="0"/>
          </a:p>
        </p:txBody>
      </p:sp>
      <p:sp>
        <p:nvSpPr>
          <p:cNvPr id="23" name="bd_93"/>
          <p:cNvSpPr/>
          <p:nvPr/>
        </p:nvSpPr>
        <p:spPr>
          <a:xfrm>
            <a:off x="548640" y="3383280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q_94"/>
          <p:cNvSpPr/>
          <p:nvPr/>
        </p:nvSpPr>
        <p:spPr>
          <a:xfrm>
            <a:off x="932688" y="3255264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Cut the cheese.</a:t>
            </a:r>
            <a:endParaRPr lang="en-US" sz="1300" dirty="0"/>
          </a:p>
        </p:txBody>
      </p:sp>
      <p:sp>
        <p:nvSpPr>
          <p:cNvPr id="25" name="R4_chip95"/>
          <p:cNvSpPr/>
          <p:nvPr/>
        </p:nvSpPr>
        <p:spPr>
          <a:xfrm>
            <a:off x="4297680" y="3255264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Grate the parmesan.</a:t>
            </a:r>
            <a:endParaRPr lang="en-US" sz="1200" dirty="0"/>
          </a:p>
        </p:txBody>
      </p:sp>
      <p:sp>
        <p:nvSpPr>
          <p:cNvPr id="26" name="bd_96"/>
          <p:cNvSpPr/>
          <p:nvPr/>
        </p:nvSpPr>
        <p:spPr>
          <a:xfrm>
            <a:off x="548640" y="3995928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q_97"/>
          <p:cNvSpPr/>
          <p:nvPr/>
        </p:nvSpPr>
        <p:spPr>
          <a:xfrm>
            <a:off x="932688" y="3867912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Cut the fish.</a:t>
            </a:r>
            <a:endParaRPr lang="en-US" sz="1300" dirty="0"/>
          </a:p>
        </p:txBody>
      </p:sp>
      <p:sp>
        <p:nvSpPr>
          <p:cNvPr id="28" name="R5_chip98"/>
          <p:cNvSpPr/>
          <p:nvPr/>
        </p:nvSpPr>
        <p:spPr>
          <a:xfrm>
            <a:off x="4297680" y="3867912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Fillet the sea bass.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9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0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101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Wash, drain, pour…</a:t>
            </a:r>
            <a:endParaRPr lang="en-US" sz="2500" dirty="0"/>
          </a:p>
        </p:txBody>
      </p:sp>
      <p:pic>
        <p:nvPicPr>
          <p:cNvPr id="6" name="brP_10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03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Match the verbs. Then mime one – your partner says the command!</a:t>
            </a:r>
            <a:endParaRPr lang="en-US" sz="1100" dirty="0"/>
          </a:p>
        </p:txBody>
      </p:sp>
      <p:sp>
        <p:nvSpPr>
          <p:cNvPr id="8" name="insIT_10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Abbina. Poi mima un verbo – il collega dà il comando!</a:t>
            </a:r>
            <a:endParaRPr lang="en-US" sz="950" dirty="0"/>
          </a:p>
        </p:txBody>
      </p:sp>
      <p:sp>
        <p:nvSpPr>
          <p:cNvPr id="9" name="cmd_105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💡 </a:t>
            </a:r>
            <a:pPr algn="ctr" indent="0" marL="0">
              <a:buNone/>
            </a:pPr>
            <a:r>
              <a:rPr lang="en-US" sz="9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950" dirty="0"/>
          </a:p>
        </p:txBody>
      </p:sp>
      <p:sp>
        <p:nvSpPr>
          <p:cNvPr id="10" name="meta_106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👥 pairs</a:t>
            </a:r>
            <a:endParaRPr lang="en-US" sz="950" dirty="0"/>
          </a:p>
        </p:txBody>
      </p:sp>
      <p:sp>
        <p:nvSpPr>
          <p:cNvPr id="11" name="tag_107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</a:t>
            </a:r>
            <a:pPr algn="ctr" indent="0" marL="0">
              <a:buNone/>
            </a:pPr>
            <a:r>
              <a:rPr lang="en-US" sz="7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Controlled practice</a:t>
            </a:r>
            <a:endParaRPr lang="en-US" sz="750" dirty="0"/>
          </a:p>
        </p:txBody>
      </p:sp>
      <p:pic>
        <p:nvPicPr>
          <p:cNvPr id="12" name="logo_10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10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L4 · VOCABULARY · More prep verbs</a:t>
            </a:r>
            <a:endParaRPr lang="en-US" sz="800" dirty="0"/>
          </a:p>
        </p:txBody>
      </p:sp>
      <p:sp>
        <p:nvSpPr>
          <p:cNvPr id="14" name="bd_110"/>
          <p:cNvSpPr/>
          <p:nvPr/>
        </p:nvSpPr>
        <p:spPr>
          <a:xfrm>
            <a:off x="548640" y="14447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q_111"/>
          <p:cNvSpPr/>
          <p:nvPr/>
        </p:nvSpPr>
        <p:spPr>
          <a:xfrm>
            <a:off x="932688" y="1417320"/>
            <a:ext cx="32918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wash</a:t>
            </a:r>
            <a:endParaRPr lang="en-US" sz="1300" dirty="0"/>
          </a:p>
        </p:txBody>
      </p:sp>
      <p:sp>
        <p:nvSpPr>
          <p:cNvPr id="16" name="R1_chip112"/>
          <p:cNvSpPr/>
          <p:nvPr/>
        </p:nvSpPr>
        <p:spPr>
          <a:xfrm>
            <a:off x="4297680" y="1417320"/>
            <a:ext cx="448056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lavare</a:t>
            </a:r>
            <a:endParaRPr lang="en-US" sz="1200" dirty="0"/>
          </a:p>
        </p:txBody>
      </p:sp>
      <p:sp>
        <p:nvSpPr>
          <p:cNvPr id="17" name="bd_113"/>
          <p:cNvSpPr/>
          <p:nvPr/>
        </p:nvSpPr>
        <p:spPr>
          <a:xfrm>
            <a:off x="548640" y="185623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q_114"/>
          <p:cNvSpPr/>
          <p:nvPr/>
        </p:nvSpPr>
        <p:spPr>
          <a:xfrm>
            <a:off x="932688" y="1828800"/>
            <a:ext cx="32918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drain</a:t>
            </a:r>
            <a:endParaRPr lang="en-US" sz="1300" dirty="0"/>
          </a:p>
        </p:txBody>
      </p:sp>
      <p:sp>
        <p:nvSpPr>
          <p:cNvPr id="19" name="R2_chip115"/>
          <p:cNvSpPr/>
          <p:nvPr/>
        </p:nvSpPr>
        <p:spPr>
          <a:xfrm>
            <a:off x="4297680" y="1828800"/>
            <a:ext cx="448056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scolare</a:t>
            </a:r>
            <a:endParaRPr lang="en-US" sz="1200" dirty="0"/>
          </a:p>
        </p:txBody>
      </p:sp>
      <p:sp>
        <p:nvSpPr>
          <p:cNvPr id="20" name="bd_116"/>
          <p:cNvSpPr/>
          <p:nvPr/>
        </p:nvSpPr>
        <p:spPr>
          <a:xfrm>
            <a:off x="548640" y="22677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q_117"/>
          <p:cNvSpPr/>
          <p:nvPr/>
        </p:nvSpPr>
        <p:spPr>
          <a:xfrm>
            <a:off x="932688" y="2240280"/>
            <a:ext cx="32918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pour</a:t>
            </a:r>
            <a:endParaRPr lang="en-US" sz="1300" dirty="0"/>
          </a:p>
        </p:txBody>
      </p:sp>
      <p:sp>
        <p:nvSpPr>
          <p:cNvPr id="22" name="R3_chip118"/>
          <p:cNvSpPr/>
          <p:nvPr/>
        </p:nvSpPr>
        <p:spPr>
          <a:xfrm>
            <a:off x="4297680" y="2240280"/>
            <a:ext cx="448056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versare</a:t>
            </a:r>
            <a:endParaRPr lang="en-US" sz="1200" dirty="0"/>
          </a:p>
        </p:txBody>
      </p:sp>
      <p:sp>
        <p:nvSpPr>
          <p:cNvPr id="23" name="bd_119"/>
          <p:cNvSpPr/>
          <p:nvPr/>
        </p:nvSpPr>
        <p:spPr>
          <a:xfrm>
            <a:off x="548640" y="267919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q_120"/>
          <p:cNvSpPr/>
          <p:nvPr/>
        </p:nvSpPr>
        <p:spPr>
          <a:xfrm>
            <a:off x="932688" y="2651760"/>
            <a:ext cx="32918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squeeze</a:t>
            </a:r>
            <a:endParaRPr lang="en-US" sz="1300" dirty="0"/>
          </a:p>
        </p:txBody>
      </p:sp>
      <p:sp>
        <p:nvSpPr>
          <p:cNvPr id="25" name="R4_chip121"/>
          <p:cNvSpPr/>
          <p:nvPr/>
        </p:nvSpPr>
        <p:spPr>
          <a:xfrm>
            <a:off x="4297680" y="2651760"/>
            <a:ext cx="448056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spremere</a:t>
            </a:r>
            <a:endParaRPr lang="en-US" sz="1200" dirty="0"/>
          </a:p>
        </p:txBody>
      </p:sp>
      <p:sp>
        <p:nvSpPr>
          <p:cNvPr id="26" name="bd_122"/>
          <p:cNvSpPr/>
          <p:nvPr/>
        </p:nvSpPr>
        <p:spPr>
          <a:xfrm>
            <a:off x="548640" y="30906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q_123"/>
          <p:cNvSpPr/>
          <p:nvPr/>
        </p:nvSpPr>
        <p:spPr>
          <a:xfrm>
            <a:off x="932688" y="3063240"/>
            <a:ext cx="32918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spread</a:t>
            </a:r>
            <a:endParaRPr lang="en-US" sz="1300" dirty="0"/>
          </a:p>
        </p:txBody>
      </p:sp>
      <p:sp>
        <p:nvSpPr>
          <p:cNvPr id="28" name="R5_chip124"/>
          <p:cNvSpPr/>
          <p:nvPr/>
        </p:nvSpPr>
        <p:spPr>
          <a:xfrm>
            <a:off x="4297680" y="3063240"/>
            <a:ext cx="448056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spalmare</a:t>
            </a:r>
            <a:endParaRPr lang="en-US" sz="1200" dirty="0"/>
          </a:p>
        </p:txBody>
      </p:sp>
      <p:sp>
        <p:nvSpPr>
          <p:cNvPr id="29" name="bd_125"/>
          <p:cNvSpPr/>
          <p:nvPr/>
        </p:nvSpPr>
        <p:spPr>
          <a:xfrm>
            <a:off x="548640" y="350215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q_126"/>
          <p:cNvSpPr/>
          <p:nvPr/>
        </p:nvSpPr>
        <p:spPr>
          <a:xfrm>
            <a:off x="932688" y="3474720"/>
            <a:ext cx="32918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sprinkle</a:t>
            </a:r>
            <a:endParaRPr lang="en-US" sz="1300" dirty="0"/>
          </a:p>
        </p:txBody>
      </p:sp>
      <p:sp>
        <p:nvSpPr>
          <p:cNvPr id="31" name="R6_chip127"/>
          <p:cNvSpPr/>
          <p:nvPr/>
        </p:nvSpPr>
        <p:spPr>
          <a:xfrm>
            <a:off x="4297680" y="3474720"/>
            <a:ext cx="448056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cospargere</a:t>
            </a:r>
            <a:endParaRPr lang="en-US" sz="1200" dirty="0"/>
          </a:p>
        </p:txBody>
      </p:sp>
      <p:sp>
        <p:nvSpPr>
          <p:cNvPr id="32" name="bd_128"/>
          <p:cNvSpPr/>
          <p:nvPr/>
        </p:nvSpPr>
        <p:spPr>
          <a:xfrm>
            <a:off x="548640" y="391363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q_129"/>
          <p:cNvSpPr/>
          <p:nvPr/>
        </p:nvSpPr>
        <p:spPr>
          <a:xfrm>
            <a:off x="932688" y="3886200"/>
            <a:ext cx="32918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wrap</a:t>
            </a:r>
            <a:endParaRPr lang="en-US" sz="1300" dirty="0"/>
          </a:p>
        </p:txBody>
      </p:sp>
      <p:sp>
        <p:nvSpPr>
          <p:cNvPr id="34" name="R7_chip130"/>
          <p:cNvSpPr/>
          <p:nvPr/>
        </p:nvSpPr>
        <p:spPr>
          <a:xfrm>
            <a:off x="4297680" y="3886200"/>
            <a:ext cx="448056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avvolgere (pellicola)</a:t>
            </a:r>
            <a:endParaRPr lang="en-US" sz="1200" dirty="0"/>
          </a:p>
        </p:txBody>
      </p:sp>
      <p:sp>
        <p:nvSpPr>
          <p:cNvPr id="35" name="bd_131"/>
          <p:cNvSpPr/>
          <p:nvPr/>
        </p:nvSpPr>
        <p:spPr>
          <a:xfrm>
            <a:off x="548640" y="432511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q_132"/>
          <p:cNvSpPr/>
          <p:nvPr/>
        </p:nvSpPr>
        <p:spPr>
          <a:xfrm>
            <a:off x="932688" y="4297680"/>
            <a:ext cx="32918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label</a:t>
            </a:r>
            <a:endParaRPr lang="en-US" sz="1300" dirty="0"/>
          </a:p>
        </p:txBody>
      </p:sp>
      <p:sp>
        <p:nvSpPr>
          <p:cNvPr id="37" name="R8_chip133"/>
          <p:cNvSpPr/>
          <p:nvPr/>
        </p:nvSpPr>
        <p:spPr>
          <a:xfrm>
            <a:off x="4297680" y="4297680"/>
            <a:ext cx="448056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etichettare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3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3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719779" cy="621792"/>
          </a:xfrm>
          <a:prstGeom prst="rect">
            <a:avLst/>
          </a:prstGeom>
        </p:spPr>
      </p:pic>
      <p:sp>
        <p:nvSpPr>
          <p:cNvPr id="5" name="title_136"/>
          <p:cNvSpPr/>
          <p:nvPr/>
        </p:nvSpPr>
        <p:spPr>
          <a:xfrm>
            <a:off x="1261872" y="164592"/>
            <a:ext cx="3445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it! Don't do it!</a:t>
            </a:r>
            <a:endParaRPr lang="en-US" sz="2500" dirty="0"/>
          </a:p>
        </p:txBody>
      </p:sp>
      <p:sp>
        <p:nvSpPr>
          <p:cNvPr id="6" name="meta_137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🙋 whole class</a:t>
            </a:r>
            <a:endParaRPr lang="en-US" sz="950" dirty="0"/>
          </a:p>
        </p:txBody>
      </p:sp>
      <p:sp>
        <p:nvSpPr>
          <p:cNvPr id="7" name="tag_138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</a:t>
            </a:r>
            <a:pPr algn="ctr" indent="0" marL="0">
              <a:buNone/>
            </a:pPr>
            <a:r>
              <a:rPr lang="en-US" sz="7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Guided discovery</a:t>
            </a:r>
            <a:endParaRPr lang="en-US" sz="750" dirty="0"/>
          </a:p>
        </p:txBody>
      </p:sp>
      <p:pic>
        <p:nvPicPr>
          <p:cNvPr id="8" name="logo_139" descr="/home/claude/lls-course/v2/img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9" name="foot_14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L4 · GRAMMAR · Imperatives</a:t>
            </a:r>
            <a:endParaRPr lang="en-US" sz="800" dirty="0"/>
          </a:p>
        </p:txBody>
      </p:sp>
      <p:sp>
        <p:nvSpPr>
          <p:cNvPr id="10" name="cd_141"/>
          <p:cNvSpPr/>
          <p:nvPr/>
        </p:nvSpPr>
        <p:spPr>
          <a:xfrm>
            <a:off x="320040" y="1417320"/>
            <a:ext cx="2758440" cy="301752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1" name="rh_142"/>
          <p:cNvSpPr/>
          <p:nvPr/>
        </p:nvSpPr>
        <p:spPr>
          <a:xfrm>
            <a:off x="429768" y="1508760"/>
            <a:ext cx="2538984" cy="365760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+ Do it!</a:t>
            </a:r>
            <a:endParaRPr lang="en-US" sz="1250" dirty="0"/>
          </a:p>
        </p:txBody>
      </p:sp>
      <p:sp>
        <p:nvSpPr>
          <p:cNvPr id="12" name="R1_rx143"/>
          <p:cNvSpPr/>
          <p:nvPr/>
        </p:nvSpPr>
        <p:spPr>
          <a:xfrm>
            <a:off x="457200" y="2011680"/>
            <a:ext cx="2484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verb – no subject!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Chop the onions.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Turn on the oven.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Peel the potatoes.</a:t>
            </a:r>
            <a:endParaRPr lang="en-US" sz="1400" dirty="0"/>
          </a:p>
        </p:txBody>
      </p:sp>
      <p:sp>
        <p:nvSpPr>
          <p:cNvPr id="13" name="cd_144"/>
          <p:cNvSpPr/>
          <p:nvPr/>
        </p:nvSpPr>
        <p:spPr>
          <a:xfrm>
            <a:off x="3215640" y="1417320"/>
            <a:ext cx="2758440" cy="301752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4" name="rh_145"/>
          <p:cNvSpPr/>
          <p:nvPr/>
        </p:nvSpPr>
        <p:spPr>
          <a:xfrm>
            <a:off x="3325368" y="1508760"/>
            <a:ext cx="2538984" cy="365760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– Don't!</a:t>
            </a:r>
            <a:endParaRPr lang="en-US" sz="1250" dirty="0"/>
          </a:p>
        </p:txBody>
      </p:sp>
      <p:sp>
        <p:nvSpPr>
          <p:cNvPr id="15" name="R2_rx146"/>
          <p:cNvSpPr/>
          <p:nvPr/>
        </p:nvSpPr>
        <p:spPr>
          <a:xfrm>
            <a:off x="3352800" y="2011680"/>
            <a:ext cx="2484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+ verb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touch that – it's hot!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use the red board for fish.</a:t>
            </a:r>
            <a:endParaRPr lang="en-US" sz="1400" dirty="0"/>
          </a:p>
        </p:txBody>
      </p:sp>
      <p:sp>
        <p:nvSpPr>
          <p:cNvPr id="16" name="cd_147"/>
          <p:cNvSpPr/>
          <p:nvPr/>
        </p:nvSpPr>
        <p:spPr>
          <a:xfrm>
            <a:off x="6111240" y="1417320"/>
            <a:ext cx="2758440" cy="301752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rh_148"/>
          <p:cNvSpPr/>
          <p:nvPr/>
        </p:nvSpPr>
        <p:spPr>
          <a:xfrm>
            <a:off x="6220968" y="1508760"/>
            <a:ext cx="2538984" cy="365760"/>
          </a:xfrm>
          <a:prstGeom prst="roundRect">
            <a:avLst>
              <a:gd name="adj" fmla="val 50000"/>
            </a:avLst>
          </a:prstGeom>
          <a:solidFill>
            <a:srgbClr val="2EB87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Polite</a:t>
            </a:r>
            <a:endParaRPr lang="en-US" sz="1250" dirty="0"/>
          </a:p>
        </p:txBody>
      </p:sp>
      <p:sp>
        <p:nvSpPr>
          <p:cNvPr id="18" name="R3_rx149"/>
          <p:cNvSpPr/>
          <p:nvPr/>
        </p:nvSpPr>
        <p:spPr>
          <a:xfrm>
            <a:off x="6248400" y="2011680"/>
            <a:ext cx="2484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Please + verb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Could you slice the bread, please?</a:t>
            </a:r>
            <a:endParaRPr lang="en-US" sz="1400" dirty="0"/>
          </a:p>
        </p:txBody>
      </p:sp>
      <p:sp>
        <p:nvSpPr>
          <p:cNvPr id="19" name="R3_ri150"/>
          <p:cNvSpPr/>
          <p:nvPr/>
        </p:nvSpPr>
        <p:spPr>
          <a:xfrm>
            <a:off x="6202680" y="4023360"/>
            <a:ext cx="257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Answer: Yes, Chef! / Heard!</a:t>
            </a:r>
            <a:endParaRPr lang="en-US" sz="1100" dirty="0"/>
          </a:p>
        </p:txBody>
      </p:sp>
      <p:sp>
        <p:nvSpPr>
          <p:cNvPr id="20" name="R4_wc151"/>
          <p:cNvSpPr/>
          <p:nvPr/>
        </p:nvSpPr>
        <p:spPr>
          <a:xfrm>
            <a:off x="320040" y="4544568"/>
            <a:ext cx="8549640" cy="329184"/>
          </a:xfrm>
          <a:prstGeom prst="roundRect">
            <a:avLst>
              <a:gd name="adj" fmla="val 38889"/>
            </a:avLst>
          </a:prstGeom>
          <a:solidFill>
            <a:srgbClr val="FFE3EE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R4_w152"/>
          <p:cNvSpPr/>
          <p:nvPr/>
        </p:nvSpPr>
        <p:spPr>
          <a:xfrm>
            <a:off x="457200" y="4544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✗ You chop the onions! (rude) → ✓ Chop the onions, please.     ✗ No touch! → ✓ Don't touch!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5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5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663440" cy="621792"/>
          </a:xfrm>
          <a:prstGeom prst="rect">
            <a:avLst/>
          </a:prstGeom>
        </p:spPr>
      </p:pic>
      <p:sp>
        <p:nvSpPr>
          <p:cNvPr id="5" name="title_155"/>
          <p:cNvSpPr/>
          <p:nvPr/>
        </p:nvSpPr>
        <p:spPr>
          <a:xfrm>
            <a:off x="1261872" y="16459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Fix the commis's commands</a:t>
            </a:r>
            <a:endParaRPr lang="en-US" sz="2250" dirty="0"/>
          </a:p>
        </p:txBody>
      </p:sp>
      <p:pic>
        <p:nvPicPr>
          <p:cNvPr id="6" name="brP_15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119372" cy="402336"/>
          </a:xfrm>
          <a:prstGeom prst="rect">
            <a:avLst/>
          </a:prstGeom>
        </p:spPr>
      </p:pic>
      <p:sp>
        <p:nvSpPr>
          <p:cNvPr id="7" name="ins_157"/>
          <p:cNvSpPr/>
          <p:nvPr/>
        </p:nvSpPr>
        <p:spPr>
          <a:xfrm>
            <a:off x="1353312" y="731520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Each command has a mistake. Correct it!</a:t>
            </a:r>
            <a:endParaRPr lang="en-US" sz="1250" dirty="0"/>
          </a:p>
        </p:txBody>
      </p:sp>
      <p:sp>
        <p:nvSpPr>
          <p:cNvPr id="8" name="insIT_15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Ogni comando ha un errore. Correggilo!</a:t>
            </a:r>
            <a:endParaRPr lang="en-US" sz="950" dirty="0"/>
          </a:p>
        </p:txBody>
      </p:sp>
      <p:sp>
        <p:nvSpPr>
          <p:cNvPr id="9" name="cmd_159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✍️ </a:t>
            </a:r>
            <a:pPr algn="ctr" indent="0" marL="0">
              <a:buNone/>
            </a:pPr>
            <a:r>
              <a:rPr lang="en-US" sz="95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WRITE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SCRIVI</a:t>
            </a:r>
            <a:endParaRPr lang="en-US" sz="950" dirty="0"/>
          </a:p>
        </p:txBody>
      </p:sp>
      <p:sp>
        <p:nvSpPr>
          <p:cNvPr id="10" name="meta_160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950" dirty="0"/>
          </a:p>
        </p:txBody>
      </p:sp>
      <p:sp>
        <p:nvSpPr>
          <p:cNvPr id="11" name="tag_161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</a:t>
            </a:r>
            <a:pPr algn="ctr" indent="0" marL="0">
              <a:buNone/>
            </a:pPr>
            <a:r>
              <a:rPr lang="en-US" sz="7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Controlled practice</a:t>
            </a:r>
            <a:endParaRPr lang="en-US" sz="750" dirty="0"/>
          </a:p>
        </p:txBody>
      </p:sp>
      <p:pic>
        <p:nvPicPr>
          <p:cNvPr id="12" name="logo_16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16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L4 · GRAMMAR · Be the teacher</a:t>
            </a:r>
            <a:endParaRPr lang="en-US" sz="800" dirty="0"/>
          </a:p>
        </p:txBody>
      </p:sp>
      <p:sp>
        <p:nvSpPr>
          <p:cNvPr id="14" name="bd_164"/>
          <p:cNvSpPr/>
          <p:nvPr/>
        </p:nvSpPr>
        <p:spPr>
          <a:xfrm>
            <a:off x="548640" y="1545336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q_165"/>
          <p:cNvSpPr/>
          <p:nvPr/>
        </p:nvSpPr>
        <p:spPr>
          <a:xfrm>
            <a:off x="932688" y="1417320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chop the onions!</a:t>
            </a:r>
            <a:endParaRPr lang="en-US" sz="1300" dirty="0"/>
          </a:p>
        </p:txBody>
      </p:sp>
      <p:sp>
        <p:nvSpPr>
          <p:cNvPr id="16" name="R1_chip166"/>
          <p:cNvSpPr/>
          <p:nvPr/>
        </p:nvSpPr>
        <p:spPr>
          <a:xfrm>
            <a:off x="4297680" y="1417320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Chop the onions, please.</a:t>
            </a:r>
            <a:endParaRPr lang="en-US" sz="1200" dirty="0"/>
          </a:p>
        </p:txBody>
      </p:sp>
      <p:sp>
        <p:nvSpPr>
          <p:cNvPr id="17" name="bd_167"/>
          <p:cNvSpPr/>
          <p:nvPr/>
        </p:nvSpPr>
        <p:spPr>
          <a:xfrm>
            <a:off x="548640" y="2157984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q_168"/>
          <p:cNvSpPr/>
          <p:nvPr/>
        </p:nvSpPr>
        <p:spPr>
          <a:xfrm>
            <a:off x="932688" y="2029968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touch the oven!</a:t>
            </a:r>
            <a:endParaRPr lang="en-US" sz="1300" dirty="0"/>
          </a:p>
        </p:txBody>
      </p:sp>
      <p:sp>
        <p:nvSpPr>
          <p:cNvPr id="19" name="R2_chip169"/>
          <p:cNvSpPr/>
          <p:nvPr/>
        </p:nvSpPr>
        <p:spPr>
          <a:xfrm>
            <a:off x="4297680" y="2029968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touch the oven!</a:t>
            </a:r>
            <a:endParaRPr lang="en-US" sz="1200" dirty="0"/>
          </a:p>
        </p:txBody>
      </p:sp>
      <p:sp>
        <p:nvSpPr>
          <p:cNvPr id="20" name="bd_170"/>
          <p:cNvSpPr/>
          <p:nvPr/>
        </p:nvSpPr>
        <p:spPr>
          <a:xfrm>
            <a:off x="548640" y="277063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q_171"/>
          <p:cNvSpPr/>
          <p:nvPr/>
        </p:nvSpPr>
        <p:spPr>
          <a:xfrm>
            <a:off x="932688" y="2642616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to use the red board.</a:t>
            </a:r>
            <a:endParaRPr lang="en-US" sz="1300" dirty="0"/>
          </a:p>
        </p:txBody>
      </p:sp>
      <p:sp>
        <p:nvSpPr>
          <p:cNvPr id="22" name="R3_chip172"/>
          <p:cNvSpPr/>
          <p:nvPr/>
        </p:nvSpPr>
        <p:spPr>
          <a:xfrm>
            <a:off x="4297680" y="2642616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use the red board.</a:t>
            </a:r>
            <a:endParaRPr lang="en-US" sz="1200" dirty="0"/>
          </a:p>
        </p:txBody>
      </p:sp>
      <p:sp>
        <p:nvSpPr>
          <p:cNvPr id="23" name="bd_173"/>
          <p:cNvSpPr/>
          <p:nvPr/>
        </p:nvSpPr>
        <p:spPr>
          <a:xfrm>
            <a:off x="548640" y="3383280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q_174"/>
          <p:cNvSpPr/>
          <p:nvPr/>
        </p:nvSpPr>
        <p:spPr>
          <a:xfrm>
            <a:off x="932688" y="3255264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Please you wash the pans.</a:t>
            </a:r>
            <a:endParaRPr lang="en-US" sz="1300" dirty="0"/>
          </a:p>
        </p:txBody>
      </p:sp>
      <p:sp>
        <p:nvSpPr>
          <p:cNvPr id="25" name="R4_chip175"/>
          <p:cNvSpPr/>
          <p:nvPr/>
        </p:nvSpPr>
        <p:spPr>
          <a:xfrm>
            <a:off x="4297680" y="3255264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Please wash the pans.</a:t>
            </a:r>
            <a:endParaRPr lang="en-US" sz="1200" dirty="0"/>
          </a:p>
        </p:txBody>
      </p:sp>
      <p:sp>
        <p:nvSpPr>
          <p:cNvPr id="26" name="bd_176"/>
          <p:cNvSpPr/>
          <p:nvPr/>
        </p:nvSpPr>
        <p:spPr>
          <a:xfrm>
            <a:off x="548640" y="3995928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q_177"/>
          <p:cNvSpPr/>
          <p:nvPr/>
        </p:nvSpPr>
        <p:spPr>
          <a:xfrm>
            <a:off x="932688" y="3867912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 forget the labels!</a:t>
            </a:r>
            <a:endParaRPr lang="en-US" sz="1300" dirty="0"/>
          </a:p>
        </p:txBody>
      </p:sp>
      <p:sp>
        <p:nvSpPr>
          <p:cNvPr id="28" name="R5_chip178"/>
          <p:cNvSpPr/>
          <p:nvPr/>
        </p:nvSpPr>
        <p:spPr>
          <a:xfrm>
            <a:off x="4297680" y="3867912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forget the labels!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18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81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Bruschetta in 6 steps</a:t>
            </a:r>
            <a:endParaRPr lang="en-US" sz="2500" dirty="0"/>
          </a:p>
        </p:txBody>
      </p:sp>
      <p:pic>
        <p:nvPicPr>
          <p:cNvPr id="6" name="brP_18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466844" cy="402336"/>
          </a:xfrm>
          <a:prstGeom prst="rect">
            <a:avLst/>
          </a:prstGeom>
        </p:spPr>
      </p:pic>
      <p:sp>
        <p:nvSpPr>
          <p:cNvPr id="7" name="ins_183"/>
          <p:cNvSpPr/>
          <p:nvPr/>
        </p:nvSpPr>
        <p:spPr>
          <a:xfrm>
            <a:off x="1353312" y="731520"/>
            <a:ext cx="42108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recipe card. Answer the questions.</a:t>
            </a:r>
            <a:endParaRPr lang="en-US" sz="1250" dirty="0"/>
          </a:p>
        </p:txBody>
      </p:sp>
      <p:sp>
        <p:nvSpPr>
          <p:cNvPr id="8" name="insIT_18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la ricetta e rispondi.</a:t>
            </a:r>
            <a:endParaRPr lang="en-US" sz="950" dirty="0"/>
          </a:p>
        </p:txBody>
      </p:sp>
      <p:sp>
        <p:nvSpPr>
          <p:cNvPr id="9" name="cmd_185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👀 </a:t>
            </a:r>
            <a:pPr algn="ctr" indent="0" marL="0">
              <a:buNone/>
            </a:pPr>
            <a:r>
              <a:rPr lang="en-US" sz="95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LEGGI</a:t>
            </a:r>
            <a:endParaRPr lang="en-US" sz="950" dirty="0"/>
          </a:p>
        </p:txBody>
      </p:sp>
      <p:sp>
        <p:nvSpPr>
          <p:cNvPr id="10" name="meta_186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👤 alone</a:t>
            </a:r>
            <a:endParaRPr lang="en-US" sz="950" dirty="0"/>
          </a:p>
        </p:txBody>
      </p:sp>
      <p:sp>
        <p:nvSpPr>
          <p:cNvPr id="11" name="tag_187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</a:t>
            </a:r>
            <a:pPr algn="ctr" indent="0" marL="0">
              <a:buNone/>
            </a:pPr>
            <a:r>
              <a:rPr lang="en-US" sz="8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</a:t>
            </a:r>
            <a:endParaRPr lang="en-US" sz="800" dirty="0"/>
          </a:p>
        </p:txBody>
      </p:sp>
      <p:pic>
        <p:nvPicPr>
          <p:cNvPr id="12" name="logo_18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18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L4 · READING · A recipe card</a:t>
            </a:r>
            <a:endParaRPr lang="en-US" sz="800" dirty="0"/>
          </a:p>
        </p:txBody>
      </p:sp>
      <p:sp>
        <p:nvSpPr>
          <p:cNvPr id="14" name="cd_190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rd_191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🍅 Bruschetta (for 4)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Slice the bread – not too thin!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Toast it on the grill for two minutes.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Peel a clove of garlic and rub it on the hot bread.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Dice four ripe tomatoes. Don't use the hard centre.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Mix the tomatoes with salt, basil and olive oil.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Spread the mix on the bread. Serve immediately – don't wait, or the bread gets soft!</a:t>
            </a:r>
            <a:endParaRPr lang="en-US" sz="1200" dirty="0"/>
          </a:p>
        </p:txBody>
      </p:sp>
      <p:sp>
        <p:nvSpPr>
          <p:cNvPr id="16" name="bd_192"/>
          <p:cNvSpPr/>
          <p:nvPr/>
        </p:nvSpPr>
        <p:spPr>
          <a:xfrm>
            <a:off x="6172200" y="1427836"/>
            <a:ext cx="274320" cy="27432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rq_193"/>
          <p:cNvSpPr/>
          <p:nvPr/>
        </p:nvSpPr>
        <p:spPr>
          <a:xfrm>
            <a:off x="6492240" y="1417320"/>
            <a:ext cx="2423160" cy="295351"/>
          </a:xfrm>
          <a:prstGeom prst="roundRect">
            <a:avLst>
              <a:gd name="adj" fmla="val 2476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do you cook the bread?</a:t>
            </a:r>
            <a:endParaRPr lang="en-US" sz="900" dirty="0"/>
          </a:p>
        </p:txBody>
      </p:sp>
      <p:sp>
        <p:nvSpPr>
          <p:cNvPr id="18" name="R1_chip194"/>
          <p:cNvSpPr/>
          <p:nvPr/>
        </p:nvSpPr>
        <p:spPr>
          <a:xfrm>
            <a:off x="6492240" y="1740103"/>
            <a:ext cx="2423160" cy="267919"/>
          </a:xfrm>
          <a:prstGeom prst="roundRect">
            <a:avLst>
              <a:gd name="adj" fmla="val 3413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the grill, 2 min</a:t>
            </a:r>
            <a:endParaRPr lang="en-US" sz="1000" dirty="0"/>
          </a:p>
        </p:txBody>
      </p:sp>
      <p:sp>
        <p:nvSpPr>
          <p:cNvPr id="19" name="bd_195"/>
          <p:cNvSpPr/>
          <p:nvPr/>
        </p:nvSpPr>
        <p:spPr>
          <a:xfrm>
            <a:off x="6172200" y="2109978"/>
            <a:ext cx="274320" cy="27432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rq_196"/>
          <p:cNvSpPr/>
          <p:nvPr/>
        </p:nvSpPr>
        <p:spPr>
          <a:xfrm>
            <a:off x="6492240" y="2099462"/>
            <a:ext cx="2423160" cy="295351"/>
          </a:xfrm>
          <a:prstGeom prst="roundRect">
            <a:avLst>
              <a:gd name="adj" fmla="val 2476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 you do with the garlic?</a:t>
            </a:r>
            <a:endParaRPr lang="en-US" sz="900" dirty="0"/>
          </a:p>
        </p:txBody>
      </p:sp>
      <p:sp>
        <p:nvSpPr>
          <p:cNvPr id="21" name="R2_chip197"/>
          <p:cNvSpPr/>
          <p:nvPr/>
        </p:nvSpPr>
        <p:spPr>
          <a:xfrm>
            <a:off x="6492240" y="2422246"/>
            <a:ext cx="2423160" cy="267919"/>
          </a:xfrm>
          <a:prstGeom prst="roundRect">
            <a:avLst>
              <a:gd name="adj" fmla="val 3413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peel it, rub it on the bread</a:t>
            </a:r>
            <a:endParaRPr lang="en-US" sz="1000" dirty="0"/>
          </a:p>
        </p:txBody>
      </p:sp>
      <p:sp>
        <p:nvSpPr>
          <p:cNvPr id="22" name="bd_198"/>
          <p:cNvSpPr/>
          <p:nvPr/>
        </p:nvSpPr>
        <p:spPr>
          <a:xfrm>
            <a:off x="6172200" y="2792120"/>
            <a:ext cx="274320" cy="27432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rq_199"/>
          <p:cNvSpPr/>
          <p:nvPr/>
        </p:nvSpPr>
        <p:spPr>
          <a:xfrm>
            <a:off x="6492240" y="2781605"/>
            <a:ext cx="2423160" cy="295351"/>
          </a:xfrm>
          <a:prstGeom prst="roundRect">
            <a:avLst>
              <a:gd name="adj" fmla="val 24768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part of the tomato don't you use?</a:t>
            </a:r>
            <a:endParaRPr lang="en-US" sz="800" dirty="0"/>
          </a:p>
        </p:txBody>
      </p:sp>
      <p:sp>
        <p:nvSpPr>
          <p:cNvPr id="24" name="R3_chip200"/>
          <p:cNvSpPr/>
          <p:nvPr/>
        </p:nvSpPr>
        <p:spPr>
          <a:xfrm>
            <a:off x="6492240" y="3104388"/>
            <a:ext cx="2423160" cy="267919"/>
          </a:xfrm>
          <a:prstGeom prst="roundRect">
            <a:avLst>
              <a:gd name="adj" fmla="val 3413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hard centre</a:t>
            </a:r>
            <a:endParaRPr lang="en-US" sz="1000" dirty="0"/>
          </a:p>
        </p:txBody>
      </p:sp>
      <p:sp>
        <p:nvSpPr>
          <p:cNvPr id="25" name="bd_201"/>
          <p:cNvSpPr/>
          <p:nvPr/>
        </p:nvSpPr>
        <p:spPr>
          <a:xfrm>
            <a:off x="6172200" y="3474263"/>
            <a:ext cx="274320" cy="274320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rq_202"/>
          <p:cNvSpPr/>
          <p:nvPr/>
        </p:nvSpPr>
        <p:spPr>
          <a:xfrm>
            <a:off x="6492240" y="3463747"/>
            <a:ext cx="2423160" cy="295351"/>
          </a:xfrm>
          <a:prstGeom prst="roundRect">
            <a:avLst>
              <a:gd name="adj" fmla="val 24768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Find 2 negative commands.</a:t>
            </a:r>
            <a:endParaRPr lang="en-US" sz="900" dirty="0"/>
          </a:p>
        </p:txBody>
      </p:sp>
      <p:sp>
        <p:nvSpPr>
          <p:cNvPr id="27" name="R4_chip203"/>
          <p:cNvSpPr/>
          <p:nvPr/>
        </p:nvSpPr>
        <p:spPr>
          <a:xfrm>
            <a:off x="6492240" y="3786530"/>
            <a:ext cx="2423160" cy="267919"/>
          </a:xfrm>
          <a:prstGeom prst="roundRect">
            <a:avLst>
              <a:gd name="adj" fmla="val 3413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use… / don't wait</a:t>
            </a:r>
            <a:endParaRPr lang="en-US" sz="1000" dirty="0"/>
          </a:p>
        </p:txBody>
      </p:sp>
      <p:sp>
        <p:nvSpPr>
          <p:cNvPr id="28" name="bd_204"/>
          <p:cNvSpPr/>
          <p:nvPr/>
        </p:nvSpPr>
        <p:spPr>
          <a:xfrm>
            <a:off x="6172200" y="4156405"/>
            <a:ext cx="274320" cy="27432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rq_205"/>
          <p:cNvSpPr/>
          <p:nvPr/>
        </p:nvSpPr>
        <p:spPr>
          <a:xfrm>
            <a:off x="6492240" y="4145890"/>
            <a:ext cx="2423160" cy="295351"/>
          </a:xfrm>
          <a:prstGeom prst="roundRect">
            <a:avLst>
              <a:gd name="adj" fmla="val 2476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serve it immediately?</a:t>
            </a:r>
            <a:endParaRPr lang="en-US" sz="900" dirty="0"/>
          </a:p>
        </p:txBody>
      </p:sp>
      <p:sp>
        <p:nvSpPr>
          <p:cNvPr id="30" name="R5_chip206"/>
          <p:cNvSpPr/>
          <p:nvPr/>
        </p:nvSpPr>
        <p:spPr>
          <a:xfrm>
            <a:off x="6492240" y="4468673"/>
            <a:ext cx="2423160" cy="267919"/>
          </a:xfrm>
          <a:prstGeom prst="roundRect">
            <a:avLst>
              <a:gd name="adj" fmla="val 3413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 the bread gets soft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0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0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209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chop an onion</a:t>
            </a:r>
            <a:endParaRPr lang="en-US" sz="2500" dirty="0"/>
          </a:p>
        </p:txBody>
      </p:sp>
      <p:pic>
        <p:nvPicPr>
          <p:cNvPr id="6" name="brP_21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771900" cy="402336"/>
          </a:xfrm>
          <a:prstGeom prst="rect">
            <a:avLst/>
          </a:prstGeom>
        </p:spPr>
      </p:pic>
      <p:sp>
        <p:nvSpPr>
          <p:cNvPr id="7" name="ins_211"/>
          <p:cNvSpPr/>
          <p:nvPr/>
        </p:nvSpPr>
        <p:spPr>
          <a:xfrm>
            <a:off x="1353312" y="731520"/>
            <a:ext cx="35158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Watch. Write the commands you hear.</a:t>
            </a:r>
            <a:endParaRPr lang="en-US" sz="1250" dirty="0"/>
          </a:p>
        </p:txBody>
      </p:sp>
      <p:sp>
        <p:nvSpPr>
          <p:cNvPr id="8" name="insIT_21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Guarda. Scrivi i comandi che senti.</a:t>
            </a:r>
            <a:endParaRPr lang="en-US" sz="950" dirty="0"/>
          </a:p>
        </p:txBody>
      </p:sp>
      <p:sp>
        <p:nvSpPr>
          <p:cNvPr id="9" name="cmd_213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🎬 </a:t>
            </a:r>
            <a:pPr algn="ctr" indent="0" marL="0">
              <a:buNone/>
            </a:pPr>
            <a:r>
              <a:rPr lang="en-US" sz="80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WATCH</a:t>
            </a:r>
            <a:pPr algn="ctr"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GUARDA IL VIDEO</a:t>
            </a:r>
            <a:endParaRPr lang="en-US" sz="800" dirty="0"/>
          </a:p>
        </p:txBody>
      </p:sp>
      <p:sp>
        <p:nvSpPr>
          <p:cNvPr id="10" name="meta_214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7 min   🙋 whole class</a:t>
            </a:r>
            <a:endParaRPr lang="en-US" sz="950" dirty="0"/>
          </a:p>
        </p:txBody>
      </p:sp>
      <p:sp>
        <p:nvSpPr>
          <p:cNvPr id="11" name="tag_215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</a:t>
            </a:r>
            <a:pPr algn="ctr" indent="0" marL="0">
              <a:buNone/>
            </a:pPr>
            <a:r>
              <a:rPr lang="en-US" sz="8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</a:t>
            </a:r>
            <a:endParaRPr lang="en-US" sz="800" dirty="0"/>
          </a:p>
        </p:txBody>
      </p:sp>
      <p:pic>
        <p:nvPicPr>
          <p:cNvPr id="12" name="logo_21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1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L4 · LISTENING · A real chef</a:t>
            </a:r>
            <a:endParaRPr lang="en-US" sz="800" dirty="0"/>
          </a:p>
        </p:txBody>
      </p:sp>
      <p:sp>
        <p:nvSpPr>
          <p:cNvPr id="14" name="cd_218"/>
          <p:cNvSpPr/>
          <p:nvPr/>
        </p:nvSpPr>
        <p:spPr>
          <a:xfrm>
            <a:off x="320040" y="1417320"/>
            <a:ext cx="2788920" cy="1508760"/>
          </a:xfrm>
          <a:prstGeom prst="roundRect">
            <a:avLst>
              <a:gd name="adj" fmla="val 848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19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220"/>
          <p:cNvSpPr/>
          <p:nvPr/>
        </p:nvSpPr>
        <p:spPr>
          <a:xfrm>
            <a:off x="886968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221"/>
          <p:cNvSpPr/>
          <p:nvPr/>
        </p:nvSpPr>
        <p:spPr>
          <a:xfrm>
            <a:off x="886968" y="1911096"/>
            <a:ext cx="21305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Gordon Ramsay: How to Chop an Onion (about 2 min)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https://www.youtube.com/watch?v=TwGBt3V0yvc</a:t>
            </a:r>
            <a:endParaRPr lang="en-US" sz="1150" dirty="0"/>
          </a:p>
        </p:txBody>
      </p:sp>
      <p:sp>
        <p:nvSpPr>
          <p:cNvPr id="18" name="R1_qb222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223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 3 imperatives you hear: Cut…, Keep…, Don't…</a:t>
            </a:r>
            <a:endParaRPr lang="en-US" sz="1400" dirty="0"/>
          </a:p>
        </p:txBody>
      </p:sp>
      <p:sp>
        <p:nvSpPr>
          <p:cNvPr id="20" name="R2_qb224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225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cutting verbs does he use?</a:t>
            </a:r>
            <a:endParaRPr lang="en-US" sz="1400" dirty="0"/>
          </a:p>
        </p:txBody>
      </p:sp>
      <p:sp>
        <p:nvSpPr>
          <p:cNvPr id="22" name="R3_qb226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227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his way the same as yours? What's different?</a:t>
            </a:r>
            <a:endParaRPr lang="en-US" sz="1400" dirty="0"/>
          </a:p>
        </p:txBody>
      </p:sp>
      <p:sp>
        <p:nvSpPr>
          <p:cNvPr id="24" name="R4_qb228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R4_sq229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Now teach your partner in English!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3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3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719779" cy="621792"/>
          </a:xfrm>
          <a:prstGeom prst="rect">
            <a:avLst/>
          </a:prstGeom>
        </p:spPr>
      </p:pic>
      <p:sp>
        <p:nvSpPr>
          <p:cNvPr id="5" name="title_232"/>
          <p:cNvSpPr/>
          <p:nvPr/>
        </p:nvSpPr>
        <p:spPr>
          <a:xfrm>
            <a:off x="1261872" y="164592"/>
            <a:ext cx="3445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terrible commis</a:t>
            </a:r>
            <a:endParaRPr lang="en-US" sz="2500" dirty="0"/>
          </a:p>
        </p:txBody>
      </p:sp>
      <p:pic>
        <p:nvPicPr>
          <p:cNvPr id="6" name="brP_23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34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is a terrible commis. A corrects him / her. Then swap!</a:t>
            </a:r>
            <a:endParaRPr lang="en-US" sz="1250" dirty="0"/>
          </a:p>
        </p:txBody>
      </p:sp>
      <p:sp>
        <p:nvSpPr>
          <p:cNvPr id="8" name="insIT_23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è un pessimo commis. A lo corregge. Poi scambiatevi!</a:t>
            </a:r>
            <a:endParaRPr lang="en-US" sz="950" dirty="0"/>
          </a:p>
        </p:txBody>
      </p:sp>
      <p:sp>
        <p:nvSpPr>
          <p:cNvPr id="9" name="cmd_236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💬 </a:t>
            </a:r>
            <a:pPr algn="ctr" indent="0" marL="0">
              <a:buNone/>
            </a:pPr>
            <a:r>
              <a:rPr lang="en-US" sz="95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950" dirty="0"/>
          </a:p>
        </p:txBody>
      </p:sp>
      <p:sp>
        <p:nvSpPr>
          <p:cNvPr id="10" name="meta_237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8 min   🏆 teams</a:t>
            </a:r>
            <a:endParaRPr lang="en-US" sz="950" dirty="0"/>
          </a:p>
        </p:txBody>
      </p:sp>
      <p:sp>
        <p:nvSpPr>
          <p:cNvPr id="11" name="tag_238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</a:t>
            </a:r>
            <a:pPr algn="ctr" indent="0" marL="0">
              <a:buNone/>
            </a:pPr>
            <a:r>
              <a:rPr lang="en-US" sz="7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Guided discovery</a:t>
            </a:r>
            <a:endParaRPr lang="en-US" sz="750" dirty="0"/>
          </a:p>
        </p:txBody>
      </p:sp>
      <p:pic>
        <p:nvPicPr>
          <p:cNvPr id="12" name="logo_23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4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L4 · SPEAKING · Role-play</a:t>
            </a:r>
            <a:endParaRPr lang="en-US" sz="800" dirty="0"/>
          </a:p>
        </p:txBody>
      </p:sp>
      <p:sp>
        <p:nvSpPr>
          <p:cNvPr id="14" name="cd_241"/>
          <p:cNvSpPr/>
          <p:nvPr/>
        </p:nvSpPr>
        <p:spPr>
          <a:xfrm>
            <a:off x="320040" y="1417320"/>
            <a:ext cx="2606040" cy="2535936"/>
          </a:xfrm>
          <a:prstGeom prst="roundRect">
            <a:avLst>
              <a:gd name="adj" fmla="val 504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42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243"/>
          <p:cNvSpPr/>
          <p:nvPr/>
        </p:nvSpPr>
        <p:spPr>
          <a:xfrm>
            <a:off x="8869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244"/>
          <p:cNvSpPr/>
          <p:nvPr/>
        </p:nvSpPr>
        <p:spPr>
          <a:xfrm>
            <a:off x="886968" y="1911096"/>
            <a:ext cx="1947672" cy="1969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Don't…!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 like that – like this.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it again, please.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Faster!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Well done.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Sorry, Chef. / Heard!</a:t>
            </a:r>
            <a:endParaRPr lang="en-US" sz="1200" dirty="0"/>
          </a:p>
        </p:txBody>
      </p:sp>
      <p:sp>
        <p:nvSpPr>
          <p:cNvPr id="18" name="who_245"/>
          <p:cNvSpPr/>
          <p:nvPr/>
        </p:nvSpPr>
        <p:spPr>
          <a:xfrm>
            <a:off x="3108960" y="1463040"/>
            <a:ext cx="914400" cy="365760"/>
          </a:xfrm>
          <a:prstGeom prst="roundRect">
            <a:avLst>
              <a:gd name="adj" fmla="val 30000"/>
            </a:avLst>
          </a:prstGeom>
          <a:solidFill>
            <a:srgbClr val="FFE3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</a:t>
            </a:r>
            <a:endParaRPr lang="en-US" sz="950" dirty="0"/>
          </a:p>
        </p:txBody>
      </p:sp>
      <p:sp>
        <p:nvSpPr>
          <p:cNvPr id="19" name="sl_246"/>
          <p:cNvSpPr/>
          <p:nvPr/>
        </p:nvSpPr>
        <p:spPr>
          <a:xfrm>
            <a:off x="4114800" y="1444752"/>
            <a:ext cx="47548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Peel the carrots, please.</a:t>
            </a:r>
            <a:endParaRPr lang="en-US" sz="1150" dirty="0"/>
          </a:p>
        </p:txBody>
      </p:sp>
      <p:sp>
        <p:nvSpPr>
          <p:cNvPr id="20" name="who_247"/>
          <p:cNvSpPr/>
          <p:nvPr/>
        </p:nvSpPr>
        <p:spPr>
          <a:xfrm>
            <a:off x="3108960" y="1920240"/>
            <a:ext cx="914400" cy="365760"/>
          </a:xfrm>
          <a:prstGeom prst="roundRect">
            <a:avLst>
              <a:gd name="adj" fmla="val 30000"/>
            </a:avLst>
          </a:prstGeom>
          <a:solidFill>
            <a:srgbClr val="FFE3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</a:t>
            </a:r>
            <a:endParaRPr lang="en-US" sz="950" dirty="0"/>
          </a:p>
        </p:txBody>
      </p:sp>
      <p:sp>
        <p:nvSpPr>
          <p:cNvPr id="21" name="sl_248"/>
          <p:cNvSpPr/>
          <p:nvPr/>
        </p:nvSpPr>
        <p:spPr>
          <a:xfrm>
            <a:off x="4114800" y="1901952"/>
            <a:ext cx="47548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Yes, Chef! (starts eating a carrot)</a:t>
            </a:r>
            <a:endParaRPr lang="en-US" sz="1150" dirty="0"/>
          </a:p>
        </p:txBody>
      </p:sp>
      <p:sp>
        <p:nvSpPr>
          <p:cNvPr id="22" name="who_249"/>
          <p:cNvSpPr/>
          <p:nvPr/>
        </p:nvSpPr>
        <p:spPr>
          <a:xfrm>
            <a:off x="3108960" y="2377440"/>
            <a:ext cx="914400" cy="365760"/>
          </a:xfrm>
          <a:prstGeom prst="roundRect">
            <a:avLst>
              <a:gd name="adj" fmla="val 30000"/>
            </a:avLst>
          </a:prstGeom>
          <a:solidFill>
            <a:srgbClr val="FFE3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</a:t>
            </a:r>
            <a:endParaRPr lang="en-US" sz="950" dirty="0"/>
          </a:p>
        </p:txBody>
      </p:sp>
      <p:sp>
        <p:nvSpPr>
          <p:cNvPr id="23" name="sl_250"/>
          <p:cNvSpPr/>
          <p:nvPr/>
        </p:nvSpPr>
        <p:spPr>
          <a:xfrm>
            <a:off x="4114800" y="2359152"/>
            <a:ext cx="47548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eat them! Peel them!</a:t>
            </a:r>
            <a:endParaRPr lang="en-US" sz="1150" dirty="0"/>
          </a:p>
        </p:txBody>
      </p:sp>
      <p:sp>
        <p:nvSpPr>
          <p:cNvPr id="24" name="who_251"/>
          <p:cNvSpPr/>
          <p:nvPr/>
        </p:nvSpPr>
        <p:spPr>
          <a:xfrm>
            <a:off x="3108960" y="2834640"/>
            <a:ext cx="914400" cy="365760"/>
          </a:xfrm>
          <a:prstGeom prst="roundRect">
            <a:avLst>
              <a:gd name="adj" fmla="val 30000"/>
            </a:avLst>
          </a:prstGeom>
          <a:solidFill>
            <a:srgbClr val="FFE3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</a:t>
            </a:r>
            <a:endParaRPr lang="en-US" sz="950" dirty="0"/>
          </a:p>
        </p:txBody>
      </p:sp>
      <p:sp>
        <p:nvSpPr>
          <p:cNvPr id="25" name="sl_252"/>
          <p:cNvSpPr/>
          <p:nvPr/>
        </p:nvSpPr>
        <p:spPr>
          <a:xfrm>
            <a:off x="4114800" y="2816352"/>
            <a:ext cx="47548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Sorry, Chef. Do I slice the mushrooms now?</a:t>
            </a:r>
            <a:endParaRPr lang="en-US" sz="1150" dirty="0"/>
          </a:p>
        </p:txBody>
      </p:sp>
      <p:sp>
        <p:nvSpPr>
          <p:cNvPr id="26" name="who_253"/>
          <p:cNvSpPr/>
          <p:nvPr/>
        </p:nvSpPr>
        <p:spPr>
          <a:xfrm>
            <a:off x="3108960" y="3291840"/>
            <a:ext cx="914400" cy="365760"/>
          </a:xfrm>
          <a:prstGeom prst="roundRect">
            <a:avLst>
              <a:gd name="adj" fmla="val 30000"/>
            </a:avLst>
          </a:prstGeom>
          <a:solidFill>
            <a:srgbClr val="FFE3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</a:t>
            </a:r>
            <a:endParaRPr lang="en-US" sz="950" dirty="0"/>
          </a:p>
        </p:txBody>
      </p:sp>
      <p:sp>
        <p:nvSpPr>
          <p:cNvPr id="27" name="sl_254"/>
          <p:cNvSpPr/>
          <p:nvPr/>
        </p:nvSpPr>
        <p:spPr>
          <a:xfrm>
            <a:off x="4114800" y="3273552"/>
            <a:ext cx="47548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No! Don't slice them – wash them first.</a:t>
            </a:r>
            <a:endParaRPr lang="en-US" sz="1150" dirty="0"/>
          </a:p>
        </p:txBody>
      </p:sp>
      <p:sp>
        <p:nvSpPr>
          <p:cNvPr id="28" name="who_255"/>
          <p:cNvSpPr/>
          <p:nvPr/>
        </p:nvSpPr>
        <p:spPr>
          <a:xfrm>
            <a:off x="3108960" y="3749040"/>
            <a:ext cx="914400" cy="365760"/>
          </a:xfrm>
          <a:prstGeom prst="roundRect">
            <a:avLst>
              <a:gd name="adj" fmla="val 30000"/>
            </a:avLst>
          </a:prstGeom>
          <a:solidFill>
            <a:srgbClr val="FFE3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</a:t>
            </a:r>
            <a:endParaRPr lang="en-US" sz="950" dirty="0"/>
          </a:p>
        </p:txBody>
      </p:sp>
      <p:sp>
        <p:nvSpPr>
          <p:cNvPr id="29" name="sl_256"/>
          <p:cNvSpPr/>
          <p:nvPr/>
        </p:nvSpPr>
        <p:spPr>
          <a:xfrm>
            <a:off x="4114800" y="3730752"/>
            <a:ext cx="47548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Heard, Chef!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5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25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259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26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2295144" cy="402336"/>
          </a:xfrm>
          <a:prstGeom prst="rect">
            <a:avLst/>
          </a:prstGeom>
        </p:spPr>
      </p:pic>
      <p:sp>
        <p:nvSpPr>
          <p:cNvPr id="7" name="ins_261"/>
          <p:cNvSpPr/>
          <p:nvPr/>
        </p:nvSpPr>
        <p:spPr>
          <a:xfrm>
            <a:off x="1353312" y="731520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Tell your partner…</a:t>
            </a:r>
            <a:endParaRPr lang="en-US" sz="1250" dirty="0"/>
          </a:p>
        </p:txBody>
      </p:sp>
      <p:sp>
        <p:nvSpPr>
          <p:cNvPr id="8" name="insIT_26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Di' al collega…</a:t>
            </a:r>
            <a:endParaRPr lang="en-US" sz="950" dirty="0"/>
          </a:p>
        </p:txBody>
      </p:sp>
      <p:sp>
        <p:nvSpPr>
          <p:cNvPr id="9" name="meta_263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0" name="tag_264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</a:t>
            </a:r>
            <a:pPr algn="ctr" indent="0" marL="0">
              <a:buNone/>
            </a:pPr>
            <a:r>
              <a:rPr lang="en-US" sz="9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Retrieval</a:t>
            </a:r>
            <a:endParaRPr lang="en-US" sz="950" dirty="0"/>
          </a:p>
        </p:txBody>
      </p:sp>
      <p:pic>
        <p:nvPicPr>
          <p:cNvPr id="11" name="logo_26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2" name="foot_26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L4 · Exit · what can you remember?</a:t>
            </a:r>
            <a:endParaRPr lang="en-US" sz="800" dirty="0"/>
          </a:p>
        </p:txBody>
      </p:sp>
      <p:sp>
        <p:nvSpPr>
          <p:cNvPr id="13" name="bd_267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rt_268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3 new words from today.</a:t>
            </a:r>
            <a:endParaRPr lang="en-US" sz="1400" dirty="0"/>
          </a:p>
        </p:txBody>
      </p:sp>
      <p:sp>
        <p:nvSpPr>
          <p:cNvPr id="15" name="bd_269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rt_270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2 sentences with today's grammar.</a:t>
            </a:r>
            <a:endParaRPr lang="en-US" sz="1400" dirty="0"/>
          </a:p>
        </p:txBody>
      </p:sp>
      <p:sp>
        <p:nvSpPr>
          <p:cNvPr id="17" name="bd_271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8" name="rt_272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1 thing you'll say at work this week.</a:t>
            </a:r>
            <a:endParaRPr lang="en-US" sz="1400" dirty="0"/>
          </a:p>
        </p:txBody>
      </p:sp>
      <p:sp>
        <p:nvSpPr>
          <p:cNvPr id="19" name="cd_273"/>
          <p:cNvSpPr/>
          <p:nvPr/>
        </p:nvSpPr>
        <p:spPr>
          <a:xfrm>
            <a:off x="5669280" y="1417320"/>
            <a:ext cx="3200400" cy="1069848"/>
          </a:xfrm>
          <a:prstGeom prst="roundRect">
            <a:avLst>
              <a:gd name="adj" fmla="val 11966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274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1" name="ih_275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2" name="il_276"/>
          <p:cNvSpPr/>
          <p:nvPr/>
        </p:nvSpPr>
        <p:spPr>
          <a:xfrm>
            <a:off x="6236208" y="1911096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 your prep list for tomorrow with 8 commands: Dice 5 kilos of onions…</a:t>
            </a:r>
            <a:endParaRPr lang="en-US" sz="950" dirty="0"/>
          </a:p>
        </p:txBody>
      </p:sp>
      <p:sp>
        <p:nvSpPr>
          <p:cNvPr id="23" name="st_277"/>
          <p:cNvSpPr/>
          <p:nvPr/>
        </p:nvSpPr>
        <p:spPr>
          <a:xfrm rot="-180000">
            <a:off x="5806440" y="2715768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L5 · Cooking methods &amp; recipes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7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27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280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28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282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28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cmd_284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💡 </a:t>
            </a:r>
            <a:pPr algn="ctr" indent="0" marL="0">
              <a:buNone/>
            </a:pPr>
            <a:r>
              <a:rPr lang="en-US" sz="9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950" dirty="0"/>
          </a:p>
        </p:txBody>
      </p:sp>
      <p:sp>
        <p:nvSpPr>
          <p:cNvPr id="10" name="meta_285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950" dirty="0"/>
          </a:p>
        </p:txBody>
      </p:sp>
      <p:sp>
        <p:nvSpPr>
          <p:cNvPr id="11" name="tag_286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</a:t>
            </a:r>
            <a:pPr algn="ctr" indent="0" marL="0">
              <a:buNone/>
            </a:pPr>
            <a:r>
              <a:rPr lang="en-US" sz="9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Reflection</a:t>
            </a:r>
            <a:endParaRPr lang="en-US" sz="950" dirty="0"/>
          </a:p>
        </p:txBody>
      </p:sp>
      <p:pic>
        <p:nvPicPr>
          <p:cNvPr id="12" name="logo_28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8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L4 · Review · what did you do today?</a:t>
            </a:r>
            <a:endParaRPr lang="en-US" sz="800" dirty="0"/>
          </a:p>
        </p:txBody>
      </p:sp>
      <p:sp>
        <p:nvSpPr>
          <p:cNvPr id="14" name="cd_289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te_290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6" name="tt_291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Learnt cutting verbs</a:t>
            </a:r>
            <a:endParaRPr lang="en-US" sz="1350" dirty="0"/>
          </a:p>
        </p:txBody>
      </p:sp>
      <p:sp>
        <p:nvSpPr>
          <p:cNvPr id="17" name="R1_tk292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8" name="cd_293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te_294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20" name="tt_295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Practised imperatives: do / don't / please</a:t>
            </a:r>
            <a:endParaRPr lang="en-US" sz="1350" dirty="0"/>
          </a:p>
        </p:txBody>
      </p:sp>
      <p:sp>
        <p:nvSpPr>
          <p:cNvPr id="21" name="R2_tk296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2" name="cd_297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3" name="te_298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4" name="tt_299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Practised speaking: the prep list</a:t>
            </a:r>
            <a:endParaRPr lang="en-US" sz="1350" dirty="0"/>
          </a:p>
        </p:txBody>
      </p:sp>
      <p:sp>
        <p:nvSpPr>
          <p:cNvPr id="25" name="R3_tk300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6" name="st_301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v_302"/>
          <p:cNvSpPr/>
          <p:nvPr/>
        </p:nvSpPr>
        <p:spPr>
          <a:xfrm>
            <a:off x="4023360" y="9144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⭐</a:t>
            </a:r>
            <a:endParaRPr lang="en-US" sz="5400" dirty="0"/>
          </a:p>
        </p:txBody>
      </p:sp>
      <p:sp>
        <p:nvSpPr>
          <p:cNvPr id="4" name="dvt_303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Optional extensions</a:t>
            </a:r>
            <a:endParaRPr lang="en-US" sz="3400" dirty="0"/>
          </a:p>
        </p:txBody>
      </p:sp>
      <p:sp>
        <p:nvSpPr>
          <p:cNvPr id="5" name="dvs_304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Only if there's time – the lesson is finished. · Solo se c'è tempo – la lezione è finita.</a:t>
            </a:r>
            <a:endParaRPr lang="en-US" sz="1250" dirty="0"/>
          </a:p>
        </p:txBody>
      </p:sp>
      <p:pic>
        <p:nvPicPr>
          <p:cNvPr id="6" name="logo_305" descr="/home/claude/lls-course/v2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0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30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308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Chef says…</a:t>
            </a:r>
            <a:endParaRPr lang="en-US" sz="2500" dirty="0"/>
          </a:p>
        </p:txBody>
      </p:sp>
      <p:pic>
        <p:nvPicPr>
          <p:cNvPr id="6" name="brP_30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06240" cy="402336"/>
          </a:xfrm>
          <a:prstGeom prst="rect">
            <a:avLst/>
          </a:prstGeom>
        </p:spPr>
      </p:pic>
      <p:sp>
        <p:nvSpPr>
          <p:cNvPr id="7" name="ins_310"/>
          <p:cNvSpPr/>
          <p:nvPr/>
        </p:nvSpPr>
        <p:spPr>
          <a:xfrm>
            <a:off x="1353312" y="731520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the action only if I say 'Chef says'!</a:t>
            </a:r>
            <a:endParaRPr lang="en-US" sz="1250" dirty="0"/>
          </a:p>
        </p:txBody>
      </p:sp>
      <p:sp>
        <p:nvSpPr>
          <p:cNvPr id="8" name="insIT_31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 il gesto solo se dico 'Chef says'!</a:t>
            </a:r>
            <a:endParaRPr lang="en-US" sz="950" dirty="0"/>
          </a:p>
        </p:txBody>
      </p:sp>
      <p:sp>
        <p:nvSpPr>
          <p:cNvPr id="9" name="cmd_312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🎲 </a:t>
            </a:r>
            <a:pPr algn="ctr" indent="0" marL="0">
              <a:buNone/>
            </a:pPr>
            <a:r>
              <a:rPr lang="en-US" sz="95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950" dirty="0"/>
          </a:p>
        </p:txBody>
      </p:sp>
      <p:sp>
        <p:nvSpPr>
          <p:cNvPr id="10" name="meta_313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🏆 teams</a:t>
            </a:r>
            <a:endParaRPr lang="en-US" sz="950" dirty="0"/>
          </a:p>
        </p:txBody>
      </p:sp>
      <p:sp>
        <p:nvSpPr>
          <p:cNvPr id="11" name="tag_314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</a:t>
            </a:r>
            <a:pPr algn="ctr" indent="0" marL="0">
              <a:buNone/>
            </a:pPr>
            <a:r>
              <a:rPr lang="en-US" sz="8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</a:t>
            </a:r>
            <a:endParaRPr lang="en-US" sz="800" dirty="0"/>
          </a:p>
        </p:txBody>
      </p:sp>
      <p:pic>
        <p:nvPicPr>
          <p:cNvPr id="12" name="logo_31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31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L4 · GAME · Listen and act</a:t>
            </a:r>
            <a:endParaRPr lang="en-US" sz="800" dirty="0"/>
          </a:p>
        </p:txBody>
      </p:sp>
      <p:sp>
        <p:nvSpPr>
          <p:cNvPr id="14" name="ext_317"/>
          <p:cNvSpPr/>
          <p:nvPr/>
        </p:nvSpPr>
        <p:spPr>
          <a:xfrm>
            <a:off x="5120640" y="47274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OPTIONAL EXTENSION · only if there's time</a:t>
            </a:r>
            <a:endParaRPr lang="en-US" sz="1050" dirty="0"/>
          </a:p>
        </p:txBody>
      </p:sp>
      <p:sp>
        <p:nvSpPr>
          <p:cNvPr id="15" name="R1_qb318"/>
          <p:cNvSpPr/>
          <p:nvPr/>
        </p:nvSpPr>
        <p:spPr>
          <a:xfrm>
            <a:off x="57607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R1_sq319"/>
          <p:cNvSpPr/>
          <p:nvPr/>
        </p:nvSpPr>
        <p:spPr>
          <a:xfrm>
            <a:off x="978408" y="1417320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Chef says: chop the carrots! → mime it.</a:t>
            </a:r>
            <a:endParaRPr lang="en-US" sz="1400" dirty="0"/>
          </a:p>
        </p:txBody>
      </p:sp>
      <p:sp>
        <p:nvSpPr>
          <p:cNvPr id="17" name="R2_qb320"/>
          <p:cNvSpPr/>
          <p:nvPr/>
        </p:nvSpPr>
        <p:spPr>
          <a:xfrm>
            <a:off x="57607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R2_sq321"/>
          <p:cNvSpPr/>
          <p:nvPr/>
        </p:nvSpPr>
        <p:spPr>
          <a:xfrm>
            <a:off x="978408" y="2020824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Peel the potatoes! (no 'Chef says') → don't move!</a:t>
            </a:r>
            <a:endParaRPr lang="en-US" sz="1400" dirty="0"/>
          </a:p>
        </p:txBody>
      </p:sp>
      <p:sp>
        <p:nvSpPr>
          <p:cNvPr id="19" name="R3_qb322"/>
          <p:cNvSpPr/>
          <p:nvPr/>
        </p:nvSpPr>
        <p:spPr>
          <a:xfrm>
            <a:off x="57607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R3_sq323"/>
          <p:cNvSpPr/>
          <p:nvPr/>
        </p:nvSpPr>
        <p:spPr>
          <a:xfrm>
            <a:off x="978408" y="2624328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Answer 'Yes, Chef!' every time.</a:t>
            </a:r>
            <a:endParaRPr lang="en-US" sz="1400" dirty="0"/>
          </a:p>
        </p:txBody>
      </p:sp>
      <p:sp>
        <p:nvSpPr>
          <p:cNvPr id="21" name="R4_qb324"/>
          <p:cNvSpPr/>
          <p:nvPr/>
        </p:nvSpPr>
        <p:spPr>
          <a:xfrm>
            <a:off x="57607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R4_sq325"/>
          <p:cNvSpPr/>
          <p:nvPr/>
        </p:nvSpPr>
        <p:spPr>
          <a:xfrm>
            <a:off x="978408" y="3227832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Then the chefs give the commands to the teacher!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2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32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328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robot chef</a:t>
            </a:r>
            <a:endParaRPr lang="en-US" sz="2500" dirty="0"/>
          </a:p>
        </p:txBody>
      </p:sp>
      <p:pic>
        <p:nvPicPr>
          <p:cNvPr id="6" name="brP_32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074920" cy="402336"/>
          </a:xfrm>
          <a:prstGeom prst="rect">
            <a:avLst/>
          </a:prstGeom>
        </p:spPr>
      </p:pic>
      <p:sp>
        <p:nvSpPr>
          <p:cNvPr id="7" name="ins_330"/>
          <p:cNvSpPr/>
          <p:nvPr/>
        </p:nvSpPr>
        <p:spPr>
          <a:xfrm>
            <a:off x="1353312" y="731520"/>
            <a:ext cx="4818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robot does EXACTLY what you say. Nothing more!</a:t>
            </a:r>
            <a:endParaRPr lang="en-US" sz="1250" dirty="0"/>
          </a:p>
        </p:txBody>
      </p:sp>
      <p:sp>
        <p:nvSpPr>
          <p:cNvPr id="8" name="insIT_33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Il robot fa ESATTAMENTE ciò che dici!</a:t>
            </a:r>
            <a:endParaRPr lang="en-US" sz="950" dirty="0"/>
          </a:p>
        </p:txBody>
      </p:sp>
      <p:sp>
        <p:nvSpPr>
          <p:cNvPr id="9" name="cmd_332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🎲 </a:t>
            </a:r>
            <a:pPr algn="ctr" indent="0" marL="0">
              <a:buNone/>
            </a:pPr>
            <a:r>
              <a:rPr lang="en-US" sz="95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950" dirty="0"/>
          </a:p>
        </p:txBody>
      </p:sp>
      <p:sp>
        <p:nvSpPr>
          <p:cNvPr id="10" name="meta_333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8 min   🏆 teams</a:t>
            </a:r>
            <a:endParaRPr lang="en-US" sz="950" dirty="0"/>
          </a:p>
        </p:txBody>
      </p:sp>
      <p:sp>
        <p:nvSpPr>
          <p:cNvPr id="11" name="tag_334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</a:t>
            </a:r>
            <a:pPr algn="ctr" indent="0" marL="0">
              <a:buNone/>
            </a:pPr>
            <a:r>
              <a:rPr lang="en-US" sz="8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</a:t>
            </a:r>
            <a:endParaRPr lang="en-US" sz="800" dirty="0"/>
          </a:p>
        </p:txBody>
      </p:sp>
      <p:pic>
        <p:nvPicPr>
          <p:cNvPr id="12" name="logo_33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33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L4 · Game · exact instructions</a:t>
            </a:r>
            <a:endParaRPr lang="en-US" sz="800" dirty="0"/>
          </a:p>
        </p:txBody>
      </p:sp>
      <p:sp>
        <p:nvSpPr>
          <p:cNvPr id="14" name="ext_337"/>
          <p:cNvSpPr/>
          <p:nvPr/>
        </p:nvSpPr>
        <p:spPr>
          <a:xfrm>
            <a:off x="5120640" y="47274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OPTIONAL EXTENSION · only if there's time</a:t>
            </a:r>
            <a:endParaRPr lang="en-US" sz="1050" dirty="0"/>
          </a:p>
        </p:txBody>
      </p:sp>
      <p:sp>
        <p:nvSpPr>
          <p:cNvPr id="15" name="R1_qb338"/>
          <p:cNvSpPr/>
          <p:nvPr/>
        </p:nvSpPr>
        <p:spPr>
          <a:xfrm>
            <a:off x="57607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R1_sq339"/>
          <p:cNvSpPr/>
          <p:nvPr/>
        </p:nvSpPr>
        <p:spPr>
          <a:xfrm>
            <a:off x="978408" y="1417320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teacher (then a chef) is a robot.</a:t>
            </a:r>
            <a:endParaRPr lang="en-US" sz="1400" dirty="0"/>
          </a:p>
        </p:txBody>
      </p:sp>
      <p:sp>
        <p:nvSpPr>
          <p:cNvPr id="17" name="R2_qb340"/>
          <p:cNvSpPr/>
          <p:nvPr/>
        </p:nvSpPr>
        <p:spPr>
          <a:xfrm>
            <a:off x="57607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R2_sq341"/>
          <p:cNvSpPr/>
          <p:nvPr/>
        </p:nvSpPr>
        <p:spPr>
          <a:xfrm>
            <a:off x="978408" y="2020824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Give commands to make a sandwich or a coffee.</a:t>
            </a:r>
            <a:endParaRPr lang="en-US" sz="1400" dirty="0"/>
          </a:p>
        </p:txBody>
      </p:sp>
      <p:sp>
        <p:nvSpPr>
          <p:cNvPr id="19" name="R3_qb342"/>
          <p:cNvSpPr/>
          <p:nvPr/>
        </p:nvSpPr>
        <p:spPr>
          <a:xfrm>
            <a:off x="57607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R3_sq343"/>
          <p:cNvSpPr/>
          <p:nvPr/>
        </p:nvSpPr>
        <p:spPr>
          <a:xfrm>
            <a:off x="978408" y="2624328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robot does exactly what you say: Open the bread. → the robot can't! Which bread? How?</a:t>
            </a:r>
            <a:endParaRPr lang="en-US" sz="1400" dirty="0"/>
          </a:p>
        </p:txBody>
      </p:sp>
      <p:sp>
        <p:nvSpPr>
          <p:cNvPr id="21" name="R4_qb344"/>
          <p:cNvSpPr/>
          <p:nvPr/>
        </p:nvSpPr>
        <p:spPr>
          <a:xfrm>
            <a:off x="57607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R4_sq345"/>
          <p:cNvSpPr/>
          <p:nvPr/>
        </p:nvSpPr>
        <p:spPr>
          <a:xfrm>
            <a:off x="978408" y="3227832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Finish the job with clear imperatives. Then swap.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L4 Kitchen commands</dc:title>
  <dc:subject>PptxGenJS Presentation</dc:subject>
  <dc:creator>PptxGenJS</dc:creator>
  <cp:lastModifiedBy>PptxGenJS</cp:lastModifiedBy>
  <cp:revision>1</cp:revision>
  <dcterms:created xsi:type="dcterms:W3CDTF">2026-10-20T06:41:56Z</dcterms:created>
  <dcterms:modified xsi:type="dcterms:W3CDTF">2026-10-20T06:41:56Z</dcterms:modified>
</cp:coreProperties>
</file>