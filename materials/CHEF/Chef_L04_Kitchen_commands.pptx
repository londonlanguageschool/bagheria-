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LESSON 4 (60 min). Aims: cutting verbs, imperatives (+, –, polite), understanding a real chef on video.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Lesson 3 (5 min)
REVISION (5 min). VARIATION: constraint challenge — exactly five words makes them build full answers with some/any/much/many. Partner counts on their fingers.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VOCABULARY · Cutting verbs (8 min)
VOCABULARY (8 min). They match orally, click 1. Then teacher says a verb, they mime; then they say a verb + food (Slice the bread!) and the teacher mimes — deliberately wrong sometimes so they correct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Upgrade (5 min)
UPGRADE THE LANGUAGE (6 min). VARIATION: upgrade + vocabulary branching (finely, thinly, roughly). Many answers possible — click 1 for examples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More prep verbs (6 min)
VOCABULARY (6 min). Click 1. Collocations: wash the salad, drain the pasta, pour the sauce, squeeze a lemon, spread butter, sprinkle parmesan, wrap it in cling film, label the container.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Imperatives (5 min)
GRAMMAR (6 min). Note: in a busy kitchen short imperatives are normal and not rude — but 'please' and 'Could you…' are for calmer moments and for front of house.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Be the teacher (5 min)
GRAMMAR PRACTICE (5 min). VARIATION: spot the error / student as teacher.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READING · A recipe card (6 min)
READING (6 min). Then: how do YOU make bruschetta? What's different? (mild controversy — garlic or no garlic?)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LISTENING · A real chef (7 min)
VIDEO (8 min). Preview first (link checked October 2026; it is not an official channel and could be removed). Watch twice: 1) general, 2) write commands. Then each chef teaches the partner how they chop an onion, using imperatives.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· Role-play (8 min)
ROLE-PLAY (10 min). VARIATION: opposites — B does the wrong thing, A gives negative + positive imperatives. Then use the real prep list from their restaurant.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Exit · what can you remember? (3 min)
EXIT (3 min). Homework sheet L4 in the portal.
Can-dos: I can use cutting verbs: chop, slice, dice… · I can give and understand commands. · I can follow a real chef's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GAME · Listen and act (6 min)
GAME (6 min). VARIATION: change the energy. Speed up; add negative commands: Chef says: don't touch the knife!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Game · exact instructions (8 min)
EXTRA (8 min). Funny and precise — forces sequencing words (first, then) for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English · Lesson 4 of 10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L4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Kitchen commands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cutting verbs · imperatives: do / don't / please · the prep list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🔑  learn cutting verbs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🧩  practise imperatives: do / don't / please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the prep list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Chop! Slice! Faster! Don't touch that!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chef_ic_knife_pn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the head chef say all day?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Five words only!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in EXACTLY five words. Count them!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 con ESATTAMENTE cinque parole. Contale!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Communicative</a:t>
            </a:r>
            <a:endParaRPr lang="en-US" sz="12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L4 · REVISION · Lesson 3</a:t>
            </a:r>
            <a:endParaRPr lang="en-US" sz="800" dirty="0"/>
          </a:p>
        </p:txBody>
      </p:sp>
      <p:sp>
        <p:nvSpPr>
          <p:cNvPr id="12" name="R1_qb26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R1_sq27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many eggs are in a carbonara for four?</a:t>
            </a:r>
            <a:endParaRPr lang="en-US" sz="1400" dirty="0"/>
          </a:p>
          <a:p>
            <a:pPr indent="0" marL="0">
              <a:buNone/>
            </a:pPr>
            <a:r>
              <a:rPr lang="en-US" sz="11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We need four eggs, Chef. = 5 ✓</a:t>
            </a:r>
            <a:endParaRPr lang="en-US" sz="1400" dirty="0"/>
          </a:p>
        </p:txBody>
      </p:sp>
      <p:sp>
        <p:nvSpPr>
          <p:cNvPr id="14" name="R2_qb28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R2_sq29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salt do you put in pasta water?</a:t>
            </a:r>
            <a:endParaRPr lang="en-US" sz="1400" dirty="0"/>
          </a:p>
        </p:txBody>
      </p:sp>
      <p:sp>
        <p:nvSpPr>
          <p:cNvPr id="16" name="R3_qb30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R3_sq31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we got any cream?</a:t>
            </a:r>
            <a:endParaRPr lang="en-US" sz="1400" dirty="0"/>
          </a:p>
        </p:txBody>
      </p:sp>
      <p:sp>
        <p:nvSpPr>
          <p:cNvPr id="18" name="R4_qb32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R4_sq33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have you run out of this week?</a:t>
            </a:r>
            <a:endParaRPr lang="en-US" sz="1400" dirty="0"/>
          </a:p>
        </p:txBody>
      </p:sp>
      <p:sp>
        <p:nvSpPr>
          <p:cNvPr id="20" name="R5_qb34"/>
          <p:cNvSpPr/>
          <p:nvPr/>
        </p:nvSpPr>
        <p:spPr>
          <a:xfrm>
            <a:off x="576072" y="386791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R5_sq35"/>
          <p:cNvSpPr/>
          <p:nvPr/>
        </p:nvSpPr>
        <p:spPr>
          <a:xfrm>
            <a:off x="978408" y="3831336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flour is in your pizza dough?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3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8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Chop, slice, dice…</a:t>
            </a:r>
            <a:endParaRPr lang="en-US" sz="2500" dirty="0"/>
          </a:p>
        </p:txBody>
      </p:sp>
      <p:pic>
        <p:nvPicPr>
          <p:cNvPr id="6" name="brP_3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076956" cy="402336"/>
          </a:xfrm>
          <a:prstGeom prst="rect">
            <a:avLst/>
          </a:prstGeom>
        </p:spPr>
      </p:pic>
      <p:sp>
        <p:nvSpPr>
          <p:cNvPr id="7" name="ins_40"/>
          <p:cNvSpPr/>
          <p:nvPr/>
        </p:nvSpPr>
        <p:spPr>
          <a:xfrm>
            <a:off x="1353312" y="731520"/>
            <a:ext cx="28209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Match. Then mime each verb!</a:t>
            </a:r>
            <a:endParaRPr lang="en-US" sz="1250" dirty="0"/>
          </a:p>
        </p:txBody>
      </p:sp>
      <p:sp>
        <p:nvSpPr>
          <p:cNvPr id="8" name="insIT_4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Abbina. Poi mima ogni verbo!</a:t>
            </a:r>
            <a:endParaRPr lang="en-US" sz="950" dirty="0"/>
          </a:p>
        </p:txBody>
      </p:sp>
      <p:sp>
        <p:nvSpPr>
          <p:cNvPr id="9" name="note_4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250" dirty="0"/>
          </a:p>
        </p:txBody>
      </p:sp>
      <p:pic>
        <p:nvPicPr>
          <p:cNvPr id="10" name="logo_4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L4 · VOCABULARY · Cutting verbs</a:t>
            </a:r>
            <a:endParaRPr lang="en-US" sz="800" dirty="0"/>
          </a:p>
        </p:txBody>
      </p:sp>
      <p:sp>
        <p:nvSpPr>
          <p:cNvPr id="12" name="bd_45"/>
          <p:cNvSpPr/>
          <p:nvPr/>
        </p:nvSpPr>
        <p:spPr>
          <a:xfrm>
            <a:off x="54864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46"/>
          <p:cNvSpPr/>
          <p:nvPr/>
        </p:nvSpPr>
        <p:spPr>
          <a:xfrm>
            <a:off x="932688" y="14173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chop</a:t>
            </a:r>
            <a:endParaRPr lang="en-US" sz="1300" dirty="0"/>
          </a:p>
        </p:txBody>
      </p:sp>
      <p:sp>
        <p:nvSpPr>
          <p:cNvPr id="14" name="R1_chip47"/>
          <p:cNvSpPr/>
          <p:nvPr/>
        </p:nvSpPr>
        <p:spPr>
          <a:xfrm>
            <a:off x="4297680" y="14173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tritare / tagliare a pezzi</a:t>
            </a:r>
            <a:endParaRPr lang="en-US" sz="1200" dirty="0"/>
          </a:p>
        </p:txBody>
      </p:sp>
      <p:sp>
        <p:nvSpPr>
          <p:cNvPr id="15" name="bd_48"/>
          <p:cNvSpPr/>
          <p:nvPr/>
        </p:nvSpPr>
        <p:spPr>
          <a:xfrm>
            <a:off x="54864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49"/>
          <p:cNvSpPr/>
          <p:nvPr/>
        </p:nvSpPr>
        <p:spPr>
          <a:xfrm>
            <a:off x="932688" y="18288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slice</a:t>
            </a:r>
            <a:endParaRPr lang="en-US" sz="1300" dirty="0"/>
          </a:p>
        </p:txBody>
      </p:sp>
      <p:sp>
        <p:nvSpPr>
          <p:cNvPr id="17" name="R2_chip50"/>
          <p:cNvSpPr/>
          <p:nvPr/>
        </p:nvSpPr>
        <p:spPr>
          <a:xfrm>
            <a:off x="4297680" y="18288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tagliare a fette</a:t>
            </a:r>
            <a:endParaRPr lang="en-US" sz="1200" dirty="0"/>
          </a:p>
        </p:txBody>
      </p:sp>
      <p:sp>
        <p:nvSpPr>
          <p:cNvPr id="18" name="bd_51"/>
          <p:cNvSpPr/>
          <p:nvPr/>
        </p:nvSpPr>
        <p:spPr>
          <a:xfrm>
            <a:off x="54864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52"/>
          <p:cNvSpPr/>
          <p:nvPr/>
        </p:nvSpPr>
        <p:spPr>
          <a:xfrm>
            <a:off x="932688" y="22402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dice</a:t>
            </a:r>
            <a:endParaRPr lang="en-US" sz="1300" dirty="0"/>
          </a:p>
        </p:txBody>
      </p:sp>
      <p:sp>
        <p:nvSpPr>
          <p:cNvPr id="20" name="R3_chip53"/>
          <p:cNvSpPr/>
          <p:nvPr/>
        </p:nvSpPr>
        <p:spPr>
          <a:xfrm>
            <a:off x="4297680" y="22402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tagliare a cubetti</a:t>
            </a:r>
            <a:endParaRPr lang="en-US" sz="1200" dirty="0"/>
          </a:p>
        </p:txBody>
      </p:sp>
      <p:sp>
        <p:nvSpPr>
          <p:cNvPr id="21" name="bd_54"/>
          <p:cNvSpPr/>
          <p:nvPr/>
        </p:nvSpPr>
        <p:spPr>
          <a:xfrm>
            <a:off x="54864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55"/>
          <p:cNvSpPr/>
          <p:nvPr/>
        </p:nvSpPr>
        <p:spPr>
          <a:xfrm>
            <a:off x="932688" y="265176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peel</a:t>
            </a:r>
            <a:endParaRPr lang="en-US" sz="1300" dirty="0"/>
          </a:p>
        </p:txBody>
      </p:sp>
      <p:sp>
        <p:nvSpPr>
          <p:cNvPr id="23" name="R4_chip56"/>
          <p:cNvSpPr/>
          <p:nvPr/>
        </p:nvSpPr>
        <p:spPr>
          <a:xfrm>
            <a:off x="4297680" y="265176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pelare / sbucciare</a:t>
            </a:r>
            <a:endParaRPr lang="en-US" sz="1200" dirty="0"/>
          </a:p>
        </p:txBody>
      </p:sp>
      <p:sp>
        <p:nvSpPr>
          <p:cNvPr id="24" name="bd_57"/>
          <p:cNvSpPr/>
          <p:nvPr/>
        </p:nvSpPr>
        <p:spPr>
          <a:xfrm>
            <a:off x="54864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58"/>
          <p:cNvSpPr/>
          <p:nvPr/>
        </p:nvSpPr>
        <p:spPr>
          <a:xfrm>
            <a:off x="932688" y="306324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grate</a:t>
            </a:r>
            <a:endParaRPr lang="en-US" sz="1300" dirty="0"/>
          </a:p>
        </p:txBody>
      </p:sp>
      <p:sp>
        <p:nvSpPr>
          <p:cNvPr id="26" name="R5_chip59"/>
          <p:cNvSpPr/>
          <p:nvPr/>
        </p:nvSpPr>
        <p:spPr>
          <a:xfrm>
            <a:off x="4297680" y="306324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grattugiare</a:t>
            </a:r>
            <a:endParaRPr lang="en-US" sz="1200" dirty="0"/>
          </a:p>
        </p:txBody>
      </p:sp>
      <p:sp>
        <p:nvSpPr>
          <p:cNvPr id="27" name="bd_60"/>
          <p:cNvSpPr/>
          <p:nvPr/>
        </p:nvSpPr>
        <p:spPr>
          <a:xfrm>
            <a:off x="54864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61"/>
          <p:cNvSpPr/>
          <p:nvPr/>
        </p:nvSpPr>
        <p:spPr>
          <a:xfrm>
            <a:off x="932688" y="34747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crush</a:t>
            </a:r>
            <a:endParaRPr lang="en-US" sz="1300" dirty="0"/>
          </a:p>
        </p:txBody>
      </p:sp>
      <p:sp>
        <p:nvSpPr>
          <p:cNvPr id="29" name="R6_chip62"/>
          <p:cNvSpPr/>
          <p:nvPr/>
        </p:nvSpPr>
        <p:spPr>
          <a:xfrm>
            <a:off x="4297680" y="34747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schiacciare (aglio)</a:t>
            </a:r>
            <a:endParaRPr lang="en-US" sz="1200" dirty="0"/>
          </a:p>
        </p:txBody>
      </p:sp>
      <p:sp>
        <p:nvSpPr>
          <p:cNvPr id="30" name="bd_63"/>
          <p:cNvSpPr/>
          <p:nvPr/>
        </p:nvSpPr>
        <p:spPr>
          <a:xfrm>
            <a:off x="54864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q_64"/>
          <p:cNvSpPr/>
          <p:nvPr/>
        </p:nvSpPr>
        <p:spPr>
          <a:xfrm>
            <a:off x="932688" y="38862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mince</a:t>
            </a:r>
            <a:endParaRPr lang="en-US" sz="1300" dirty="0"/>
          </a:p>
        </p:txBody>
      </p:sp>
      <p:sp>
        <p:nvSpPr>
          <p:cNvPr id="32" name="R7_chip65"/>
          <p:cNvSpPr/>
          <p:nvPr/>
        </p:nvSpPr>
        <p:spPr>
          <a:xfrm>
            <a:off x="4297680" y="38862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macinare (carne)</a:t>
            </a:r>
            <a:endParaRPr lang="en-US" sz="1200" dirty="0"/>
          </a:p>
        </p:txBody>
      </p:sp>
      <p:sp>
        <p:nvSpPr>
          <p:cNvPr id="33" name="bd_66"/>
          <p:cNvSpPr/>
          <p:nvPr/>
        </p:nvSpPr>
        <p:spPr>
          <a:xfrm>
            <a:off x="54864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q_67"/>
          <p:cNvSpPr/>
          <p:nvPr/>
        </p:nvSpPr>
        <p:spPr>
          <a:xfrm>
            <a:off x="932688" y="42976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fillet</a:t>
            </a:r>
            <a:endParaRPr lang="en-US" sz="1300" dirty="0"/>
          </a:p>
        </p:txBody>
      </p:sp>
      <p:sp>
        <p:nvSpPr>
          <p:cNvPr id="35" name="R8_chip68"/>
          <p:cNvSpPr/>
          <p:nvPr/>
        </p:nvSpPr>
        <p:spPr>
          <a:xfrm>
            <a:off x="4297680" y="42976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sfilettare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71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 like a chef</a:t>
            </a:r>
            <a:endParaRPr lang="en-US" sz="2500" dirty="0"/>
          </a:p>
        </p:txBody>
      </p:sp>
      <p:pic>
        <p:nvPicPr>
          <p:cNvPr id="6" name="brP_7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73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more precise. 'Cut' is boring!</a:t>
            </a:r>
            <a:endParaRPr lang="en-US" sz="1250" dirty="0"/>
          </a:p>
        </p:txBody>
      </p:sp>
      <p:sp>
        <p:nvSpPr>
          <p:cNvPr id="8" name="insIT_7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Rendila più precisa. 'Cut' è noioso!</a:t>
            </a:r>
            <a:endParaRPr lang="en-US" sz="950" dirty="0"/>
          </a:p>
        </p:txBody>
      </p:sp>
      <p:sp>
        <p:nvSpPr>
          <p:cNvPr id="9" name="note_7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250" dirty="0"/>
          </a:p>
        </p:txBody>
      </p:sp>
      <p:pic>
        <p:nvPicPr>
          <p:cNvPr id="10" name="logo_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L4 · VOCABULARY · Upgrade</a:t>
            </a:r>
            <a:endParaRPr lang="en-US" sz="800" dirty="0"/>
          </a:p>
        </p:txBody>
      </p:sp>
      <p:sp>
        <p:nvSpPr>
          <p:cNvPr id="12" name="bd_78"/>
          <p:cNvSpPr/>
          <p:nvPr/>
        </p:nvSpPr>
        <p:spPr>
          <a:xfrm>
            <a:off x="548640" y="154533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79"/>
          <p:cNvSpPr/>
          <p:nvPr/>
        </p:nvSpPr>
        <p:spPr>
          <a:xfrm>
            <a:off x="932688" y="1417320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Cut the onion.</a:t>
            </a:r>
            <a:endParaRPr lang="en-US" sz="1300" dirty="0"/>
          </a:p>
        </p:txBody>
      </p:sp>
      <p:sp>
        <p:nvSpPr>
          <p:cNvPr id="14" name="R1_chip80"/>
          <p:cNvSpPr/>
          <p:nvPr/>
        </p:nvSpPr>
        <p:spPr>
          <a:xfrm>
            <a:off x="4297680" y="1417320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Finely dice the onion.</a:t>
            </a:r>
            <a:endParaRPr lang="en-US" sz="1200" dirty="0"/>
          </a:p>
        </p:txBody>
      </p:sp>
      <p:sp>
        <p:nvSpPr>
          <p:cNvPr id="15" name="bd_81"/>
          <p:cNvSpPr/>
          <p:nvPr/>
        </p:nvSpPr>
        <p:spPr>
          <a:xfrm>
            <a:off x="548640" y="2157984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82"/>
          <p:cNvSpPr/>
          <p:nvPr/>
        </p:nvSpPr>
        <p:spPr>
          <a:xfrm>
            <a:off x="932688" y="2029968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Cut the bread.</a:t>
            </a:r>
            <a:endParaRPr lang="en-US" sz="1300" dirty="0"/>
          </a:p>
        </p:txBody>
      </p:sp>
      <p:sp>
        <p:nvSpPr>
          <p:cNvPr id="17" name="R2_chip83"/>
          <p:cNvSpPr/>
          <p:nvPr/>
        </p:nvSpPr>
        <p:spPr>
          <a:xfrm>
            <a:off x="4297680" y="2029968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Slice the bread thinly.</a:t>
            </a:r>
            <a:endParaRPr lang="en-US" sz="1200" dirty="0"/>
          </a:p>
        </p:txBody>
      </p:sp>
      <p:sp>
        <p:nvSpPr>
          <p:cNvPr id="18" name="bd_84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85"/>
          <p:cNvSpPr/>
          <p:nvPr/>
        </p:nvSpPr>
        <p:spPr>
          <a:xfrm>
            <a:off x="932688" y="2642616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Cut the garlic.</a:t>
            </a:r>
            <a:endParaRPr lang="en-US" sz="1300" dirty="0"/>
          </a:p>
        </p:txBody>
      </p:sp>
      <p:sp>
        <p:nvSpPr>
          <p:cNvPr id="20" name="R3_chip86"/>
          <p:cNvSpPr/>
          <p:nvPr/>
        </p:nvSpPr>
        <p:spPr>
          <a:xfrm>
            <a:off x="4297680" y="2642616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Peel and crush the garlic.</a:t>
            </a:r>
            <a:endParaRPr lang="en-US" sz="1200" dirty="0"/>
          </a:p>
        </p:txBody>
      </p:sp>
      <p:sp>
        <p:nvSpPr>
          <p:cNvPr id="21" name="bd_87"/>
          <p:cNvSpPr/>
          <p:nvPr/>
        </p:nvSpPr>
        <p:spPr>
          <a:xfrm>
            <a:off x="548640" y="3383280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88"/>
          <p:cNvSpPr/>
          <p:nvPr/>
        </p:nvSpPr>
        <p:spPr>
          <a:xfrm>
            <a:off x="932688" y="3255264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Cut the cheese.</a:t>
            </a:r>
            <a:endParaRPr lang="en-US" sz="1300" dirty="0"/>
          </a:p>
        </p:txBody>
      </p:sp>
      <p:sp>
        <p:nvSpPr>
          <p:cNvPr id="23" name="R4_chip89"/>
          <p:cNvSpPr/>
          <p:nvPr/>
        </p:nvSpPr>
        <p:spPr>
          <a:xfrm>
            <a:off x="4297680" y="3255264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Grate the parmesan.</a:t>
            </a:r>
            <a:endParaRPr lang="en-US" sz="1200" dirty="0"/>
          </a:p>
        </p:txBody>
      </p:sp>
      <p:sp>
        <p:nvSpPr>
          <p:cNvPr id="24" name="bd_90"/>
          <p:cNvSpPr/>
          <p:nvPr/>
        </p:nvSpPr>
        <p:spPr>
          <a:xfrm>
            <a:off x="548640" y="3995928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91"/>
          <p:cNvSpPr/>
          <p:nvPr/>
        </p:nvSpPr>
        <p:spPr>
          <a:xfrm>
            <a:off x="932688" y="3867912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Cut the fish.</a:t>
            </a:r>
            <a:endParaRPr lang="en-US" sz="1300" dirty="0"/>
          </a:p>
        </p:txBody>
      </p:sp>
      <p:sp>
        <p:nvSpPr>
          <p:cNvPr id="26" name="R5_chip92"/>
          <p:cNvSpPr/>
          <p:nvPr/>
        </p:nvSpPr>
        <p:spPr>
          <a:xfrm>
            <a:off x="4297680" y="3867912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Fillet the sea bass.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9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9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95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Wash, drain, pour…</a:t>
            </a:r>
            <a:endParaRPr lang="en-US" sz="2500" dirty="0"/>
          </a:p>
        </p:txBody>
      </p:sp>
      <p:pic>
        <p:nvPicPr>
          <p:cNvPr id="6" name="brP_9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97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Match the verbs. Then mime one – your partner says the command!</a:t>
            </a:r>
            <a:endParaRPr lang="en-US" sz="1100" dirty="0"/>
          </a:p>
        </p:txBody>
      </p:sp>
      <p:sp>
        <p:nvSpPr>
          <p:cNvPr id="8" name="insIT_9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Abbina. Poi mima un verbo – il collega dà il comando!</a:t>
            </a:r>
            <a:endParaRPr lang="en-US" sz="950" dirty="0"/>
          </a:p>
        </p:txBody>
      </p:sp>
      <p:sp>
        <p:nvSpPr>
          <p:cNvPr id="9" name="note_9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250" dirty="0"/>
          </a:p>
        </p:txBody>
      </p:sp>
      <p:pic>
        <p:nvPicPr>
          <p:cNvPr id="10" name="logo_1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L4 · VOCABULARY · More prep verbs</a:t>
            </a:r>
            <a:endParaRPr lang="en-US" sz="800" dirty="0"/>
          </a:p>
        </p:txBody>
      </p:sp>
      <p:sp>
        <p:nvSpPr>
          <p:cNvPr id="12" name="bd_102"/>
          <p:cNvSpPr/>
          <p:nvPr/>
        </p:nvSpPr>
        <p:spPr>
          <a:xfrm>
            <a:off x="54864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103"/>
          <p:cNvSpPr/>
          <p:nvPr/>
        </p:nvSpPr>
        <p:spPr>
          <a:xfrm>
            <a:off x="932688" y="14173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wash</a:t>
            </a:r>
            <a:endParaRPr lang="en-US" sz="1300" dirty="0"/>
          </a:p>
        </p:txBody>
      </p:sp>
      <p:sp>
        <p:nvSpPr>
          <p:cNvPr id="14" name="R1_chip104"/>
          <p:cNvSpPr/>
          <p:nvPr/>
        </p:nvSpPr>
        <p:spPr>
          <a:xfrm>
            <a:off x="4297680" y="14173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lavare</a:t>
            </a:r>
            <a:endParaRPr lang="en-US" sz="1200" dirty="0"/>
          </a:p>
        </p:txBody>
      </p:sp>
      <p:sp>
        <p:nvSpPr>
          <p:cNvPr id="15" name="bd_105"/>
          <p:cNvSpPr/>
          <p:nvPr/>
        </p:nvSpPr>
        <p:spPr>
          <a:xfrm>
            <a:off x="54864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106"/>
          <p:cNvSpPr/>
          <p:nvPr/>
        </p:nvSpPr>
        <p:spPr>
          <a:xfrm>
            <a:off x="932688" y="18288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drain</a:t>
            </a:r>
            <a:endParaRPr lang="en-US" sz="1300" dirty="0"/>
          </a:p>
        </p:txBody>
      </p:sp>
      <p:sp>
        <p:nvSpPr>
          <p:cNvPr id="17" name="R2_chip107"/>
          <p:cNvSpPr/>
          <p:nvPr/>
        </p:nvSpPr>
        <p:spPr>
          <a:xfrm>
            <a:off x="4297680" y="18288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scolare</a:t>
            </a:r>
            <a:endParaRPr lang="en-US" sz="1200" dirty="0"/>
          </a:p>
        </p:txBody>
      </p:sp>
      <p:sp>
        <p:nvSpPr>
          <p:cNvPr id="18" name="bd_108"/>
          <p:cNvSpPr/>
          <p:nvPr/>
        </p:nvSpPr>
        <p:spPr>
          <a:xfrm>
            <a:off x="54864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109"/>
          <p:cNvSpPr/>
          <p:nvPr/>
        </p:nvSpPr>
        <p:spPr>
          <a:xfrm>
            <a:off x="932688" y="22402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pour</a:t>
            </a:r>
            <a:endParaRPr lang="en-US" sz="1300" dirty="0"/>
          </a:p>
        </p:txBody>
      </p:sp>
      <p:sp>
        <p:nvSpPr>
          <p:cNvPr id="20" name="R3_chip110"/>
          <p:cNvSpPr/>
          <p:nvPr/>
        </p:nvSpPr>
        <p:spPr>
          <a:xfrm>
            <a:off x="4297680" y="22402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versare</a:t>
            </a:r>
            <a:endParaRPr lang="en-US" sz="1200" dirty="0"/>
          </a:p>
        </p:txBody>
      </p:sp>
      <p:sp>
        <p:nvSpPr>
          <p:cNvPr id="21" name="bd_111"/>
          <p:cNvSpPr/>
          <p:nvPr/>
        </p:nvSpPr>
        <p:spPr>
          <a:xfrm>
            <a:off x="54864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112"/>
          <p:cNvSpPr/>
          <p:nvPr/>
        </p:nvSpPr>
        <p:spPr>
          <a:xfrm>
            <a:off x="932688" y="265176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squeeze</a:t>
            </a:r>
            <a:endParaRPr lang="en-US" sz="1300" dirty="0"/>
          </a:p>
        </p:txBody>
      </p:sp>
      <p:sp>
        <p:nvSpPr>
          <p:cNvPr id="23" name="R4_chip113"/>
          <p:cNvSpPr/>
          <p:nvPr/>
        </p:nvSpPr>
        <p:spPr>
          <a:xfrm>
            <a:off x="4297680" y="265176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spremere</a:t>
            </a:r>
            <a:endParaRPr lang="en-US" sz="1200" dirty="0"/>
          </a:p>
        </p:txBody>
      </p:sp>
      <p:sp>
        <p:nvSpPr>
          <p:cNvPr id="24" name="bd_114"/>
          <p:cNvSpPr/>
          <p:nvPr/>
        </p:nvSpPr>
        <p:spPr>
          <a:xfrm>
            <a:off x="54864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115"/>
          <p:cNvSpPr/>
          <p:nvPr/>
        </p:nvSpPr>
        <p:spPr>
          <a:xfrm>
            <a:off x="932688" y="306324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spread</a:t>
            </a:r>
            <a:endParaRPr lang="en-US" sz="1300" dirty="0"/>
          </a:p>
        </p:txBody>
      </p:sp>
      <p:sp>
        <p:nvSpPr>
          <p:cNvPr id="26" name="R5_chip116"/>
          <p:cNvSpPr/>
          <p:nvPr/>
        </p:nvSpPr>
        <p:spPr>
          <a:xfrm>
            <a:off x="4297680" y="306324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spalmare</a:t>
            </a:r>
            <a:endParaRPr lang="en-US" sz="1200" dirty="0"/>
          </a:p>
        </p:txBody>
      </p:sp>
      <p:sp>
        <p:nvSpPr>
          <p:cNvPr id="27" name="bd_117"/>
          <p:cNvSpPr/>
          <p:nvPr/>
        </p:nvSpPr>
        <p:spPr>
          <a:xfrm>
            <a:off x="54864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118"/>
          <p:cNvSpPr/>
          <p:nvPr/>
        </p:nvSpPr>
        <p:spPr>
          <a:xfrm>
            <a:off x="932688" y="34747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sprinkle</a:t>
            </a:r>
            <a:endParaRPr lang="en-US" sz="1300" dirty="0"/>
          </a:p>
        </p:txBody>
      </p:sp>
      <p:sp>
        <p:nvSpPr>
          <p:cNvPr id="29" name="R6_chip119"/>
          <p:cNvSpPr/>
          <p:nvPr/>
        </p:nvSpPr>
        <p:spPr>
          <a:xfrm>
            <a:off x="4297680" y="34747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cospargere</a:t>
            </a:r>
            <a:endParaRPr lang="en-US" sz="1200" dirty="0"/>
          </a:p>
        </p:txBody>
      </p:sp>
      <p:sp>
        <p:nvSpPr>
          <p:cNvPr id="30" name="bd_120"/>
          <p:cNvSpPr/>
          <p:nvPr/>
        </p:nvSpPr>
        <p:spPr>
          <a:xfrm>
            <a:off x="54864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q_121"/>
          <p:cNvSpPr/>
          <p:nvPr/>
        </p:nvSpPr>
        <p:spPr>
          <a:xfrm>
            <a:off x="932688" y="38862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wrap</a:t>
            </a:r>
            <a:endParaRPr lang="en-US" sz="1300" dirty="0"/>
          </a:p>
        </p:txBody>
      </p:sp>
      <p:sp>
        <p:nvSpPr>
          <p:cNvPr id="32" name="R7_chip122"/>
          <p:cNvSpPr/>
          <p:nvPr/>
        </p:nvSpPr>
        <p:spPr>
          <a:xfrm>
            <a:off x="4297680" y="38862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avvolgere (pellicola)</a:t>
            </a:r>
            <a:endParaRPr lang="en-US" sz="1200" dirty="0"/>
          </a:p>
        </p:txBody>
      </p:sp>
      <p:sp>
        <p:nvSpPr>
          <p:cNvPr id="33" name="bd_123"/>
          <p:cNvSpPr/>
          <p:nvPr/>
        </p:nvSpPr>
        <p:spPr>
          <a:xfrm>
            <a:off x="54864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q_124"/>
          <p:cNvSpPr/>
          <p:nvPr/>
        </p:nvSpPr>
        <p:spPr>
          <a:xfrm>
            <a:off x="932688" y="42976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label</a:t>
            </a:r>
            <a:endParaRPr lang="en-US" sz="1300" dirty="0"/>
          </a:p>
        </p:txBody>
      </p:sp>
      <p:sp>
        <p:nvSpPr>
          <p:cNvPr id="35" name="R8_chip125"/>
          <p:cNvSpPr/>
          <p:nvPr/>
        </p:nvSpPr>
        <p:spPr>
          <a:xfrm>
            <a:off x="4297680" y="42976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etichettare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28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it! Don't do it!</a:t>
            </a:r>
            <a:endParaRPr lang="en-US" sz="2500" dirty="0"/>
          </a:p>
        </p:txBody>
      </p:sp>
      <p:sp>
        <p:nvSpPr>
          <p:cNvPr id="6" name="note_129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100" dirty="0"/>
          </a:p>
        </p:txBody>
      </p:sp>
      <p:pic>
        <p:nvPicPr>
          <p:cNvPr id="7" name="logo_130" descr="/home/claude/lls-course/v2/img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8" name="foot_1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L4 · GRAMMAR · Imperatives</a:t>
            </a:r>
            <a:endParaRPr lang="en-US" sz="800" dirty="0"/>
          </a:p>
        </p:txBody>
      </p:sp>
      <p:sp>
        <p:nvSpPr>
          <p:cNvPr id="9" name="cd_132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rh_133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Do it!</a:t>
            </a:r>
            <a:endParaRPr lang="en-US" sz="1250" dirty="0"/>
          </a:p>
        </p:txBody>
      </p:sp>
      <p:sp>
        <p:nvSpPr>
          <p:cNvPr id="11" name="R1_rx134"/>
          <p:cNvSpPr/>
          <p:nvPr/>
        </p:nvSpPr>
        <p:spPr>
          <a:xfrm>
            <a:off x="4572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verb – no subject!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Chop the onions.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Turn on the oven.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Peel the potatoes.</a:t>
            </a:r>
            <a:endParaRPr lang="en-US" sz="1400" dirty="0"/>
          </a:p>
        </p:txBody>
      </p:sp>
      <p:sp>
        <p:nvSpPr>
          <p:cNvPr id="12" name="cd_135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136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– Don't!</a:t>
            </a:r>
            <a:endParaRPr lang="en-US" sz="1250" dirty="0"/>
          </a:p>
        </p:txBody>
      </p:sp>
      <p:sp>
        <p:nvSpPr>
          <p:cNvPr id="14" name="R2_rx137"/>
          <p:cNvSpPr/>
          <p:nvPr/>
        </p:nvSpPr>
        <p:spPr>
          <a:xfrm>
            <a:off x="33528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+ verb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touch that – it's hot!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use the red board for fish.</a:t>
            </a:r>
            <a:endParaRPr lang="en-US" sz="1400" dirty="0"/>
          </a:p>
        </p:txBody>
      </p:sp>
      <p:sp>
        <p:nvSpPr>
          <p:cNvPr id="15" name="cd_138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rh_139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Polite</a:t>
            </a:r>
            <a:endParaRPr lang="en-US" sz="1250" dirty="0"/>
          </a:p>
        </p:txBody>
      </p:sp>
      <p:sp>
        <p:nvSpPr>
          <p:cNvPr id="17" name="R3_rx140"/>
          <p:cNvSpPr/>
          <p:nvPr/>
        </p:nvSpPr>
        <p:spPr>
          <a:xfrm>
            <a:off x="62484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Please + verb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 you slice the bread, please?</a:t>
            </a:r>
            <a:endParaRPr lang="en-US" sz="1400" dirty="0"/>
          </a:p>
        </p:txBody>
      </p:sp>
      <p:sp>
        <p:nvSpPr>
          <p:cNvPr id="18" name="R3_ri141"/>
          <p:cNvSpPr/>
          <p:nvPr/>
        </p:nvSpPr>
        <p:spPr>
          <a:xfrm>
            <a:off x="62026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Answer: Yes, Chef! / Heard!</a:t>
            </a:r>
            <a:endParaRPr lang="en-US" sz="1100" dirty="0"/>
          </a:p>
        </p:txBody>
      </p:sp>
      <p:sp>
        <p:nvSpPr>
          <p:cNvPr id="19" name="R4_wc142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4_w143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You chop the onions! (rude) → ✓ Chop the onions, please.     ✗ No touch! → ✓ Don't touch!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4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46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Fix the commis's commands</a:t>
            </a:r>
            <a:endParaRPr lang="en-US" sz="2250" dirty="0"/>
          </a:p>
        </p:txBody>
      </p:sp>
      <p:pic>
        <p:nvPicPr>
          <p:cNvPr id="6" name="brP_14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14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command has a mistake. Correct it!</a:t>
            </a:r>
            <a:endParaRPr lang="en-US" sz="1250" dirty="0"/>
          </a:p>
        </p:txBody>
      </p:sp>
      <p:sp>
        <p:nvSpPr>
          <p:cNvPr id="8" name="insIT_14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Ogni comando ha un errore. Correggilo!</a:t>
            </a:r>
            <a:endParaRPr lang="en-US" sz="950" dirty="0"/>
          </a:p>
        </p:txBody>
      </p:sp>
      <p:sp>
        <p:nvSpPr>
          <p:cNvPr id="9" name="note_15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SCRIVI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250" dirty="0"/>
          </a:p>
        </p:txBody>
      </p:sp>
      <p:pic>
        <p:nvPicPr>
          <p:cNvPr id="10" name="logo_15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5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L4 · GRAMMAR · Be the teacher</a:t>
            </a:r>
            <a:endParaRPr lang="en-US" sz="800" dirty="0"/>
          </a:p>
        </p:txBody>
      </p:sp>
      <p:sp>
        <p:nvSpPr>
          <p:cNvPr id="12" name="bd_153"/>
          <p:cNvSpPr/>
          <p:nvPr/>
        </p:nvSpPr>
        <p:spPr>
          <a:xfrm>
            <a:off x="548640" y="154533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154"/>
          <p:cNvSpPr/>
          <p:nvPr/>
        </p:nvSpPr>
        <p:spPr>
          <a:xfrm>
            <a:off x="932688" y="1417320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chop the onions!</a:t>
            </a:r>
            <a:endParaRPr lang="en-US" sz="1300" dirty="0"/>
          </a:p>
        </p:txBody>
      </p:sp>
      <p:sp>
        <p:nvSpPr>
          <p:cNvPr id="14" name="R1_chip155"/>
          <p:cNvSpPr/>
          <p:nvPr/>
        </p:nvSpPr>
        <p:spPr>
          <a:xfrm>
            <a:off x="4297680" y="1417320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Chop the onions, please.</a:t>
            </a:r>
            <a:endParaRPr lang="en-US" sz="1200" dirty="0"/>
          </a:p>
        </p:txBody>
      </p:sp>
      <p:sp>
        <p:nvSpPr>
          <p:cNvPr id="15" name="bd_156"/>
          <p:cNvSpPr/>
          <p:nvPr/>
        </p:nvSpPr>
        <p:spPr>
          <a:xfrm>
            <a:off x="548640" y="2157984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157"/>
          <p:cNvSpPr/>
          <p:nvPr/>
        </p:nvSpPr>
        <p:spPr>
          <a:xfrm>
            <a:off x="932688" y="2029968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touch the oven!</a:t>
            </a:r>
            <a:endParaRPr lang="en-US" sz="1300" dirty="0"/>
          </a:p>
        </p:txBody>
      </p:sp>
      <p:sp>
        <p:nvSpPr>
          <p:cNvPr id="17" name="R2_chip158"/>
          <p:cNvSpPr/>
          <p:nvPr/>
        </p:nvSpPr>
        <p:spPr>
          <a:xfrm>
            <a:off x="4297680" y="2029968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touch the oven!</a:t>
            </a:r>
            <a:endParaRPr lang="en-US" sz="1200" dirty="0"/>
          </a:p>
        </p:txBody>
      </p:sp>
      <p:sp>
        <p:nvSpPr>
          <p:cNvPr id="18" name="bd_159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160"/>
          <p:cNvSpPr/>
          <p:nvPr/>
        </p:nvSpPr>
        <p:spPr>
          <a:xfrm>
            <a:off x="932688" y="2642616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to use the red board.</a:t>
            </a:r>
            <a:endParaRPr lang="en-US" sz="1300" dirty="0"/>
          </a:p>
        </p:txBody>
      </p:sp>
      <p:sp>
        <p:nvSpPr>
          <p:cNvPr id="20" name="R3_chip161"/>
          <p:cNvSpPr/>
          <p:nvPr/>
        </p:nvSpPr>
        <p:spPr>
          <a:xfrm>
            <a:off x="4297680" y="2642616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use the red board.</a:t>
            </a:r>
            <a:endParaRPr lang="en-US" sz="1200" dirty="0"/>
          </a:p>
        </p:txBody>
      </p:sp>
      <p:sp>
        <p:nvSpPr>
          <p:cNvPr id="21" name="bd_162"/>
          <p:cNvSpPr/>
          <p:nvPr/>
        </p:nvSpPr>
        <p:spPr>
          <a:xfrm>
            <a:off x="548640" y="3383280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163"/>
          <p:cNvSpPr/>
          <p:nvPr/>
        </p:nvSpPr>
        <p:spPr>
          <a:xfrm>
            <a:off x="932688" y="3255264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Please you wash the pans.</a:t>
            </a:r>
            <a:endParaRPr lang="en-US" sz="1300" dirty="0"/>
          </a:p>
        </p:txBody>
      </p:sp>
      <p:sp>
        <p:nvSpPr>
          <p:cNvPr id="23" name="R4_chip164"/>
          <p:cNvSpPr/>
          <p:nvPr/>
        </p:nvSpPr>
        <p:spPr>
          <a:xfrm>
            <a:off x="4297680" y="3255264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Please wash the pans.</a:t>
            </a:r>
            <a:endParaRPr lang="en-US" sz="1200" dirty="0"/>
          </a:p>
        </p:txBody>
      </p:sp>
      <p:sp>
        <p:nvSpPr>
          <p:cNvPr id="24" name="bd_165"/>
          <p:cNvSpPr/>
          <p:nvPr/>
        </p:nvSpPr>
        <p:spPr>
          <a:xfrm>
            <a:off x="548640" y="3995928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166"/>
          <p:cNvSpPr/>
          <p:nvPr/>
        </p:nvSpPr>
        <p:spPr>
          <a:xfrm>
            <a:off x="932688" y="3867912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forget the labels!</a:t>
            </a:r>
            <a:endParaRPr lang="en-US" sz="1300" dirty="0"/>
          </a:p>
        </p:txBody>
      </p:sp>
      <p:sp>
        <p:nvSpPr>
          <p:cNvPr id="26" name="R5_chip167"/>
          <p:cNvSpPr/>
          <p:nvPr/>
        </p:nvSpPr>
        <p:spPr>
          <a:xfrm>
            <a:off x="4297680" y="3867912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forget the labels!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6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70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Bruschetta in 6 steps</a:t>
            </a:r>
            <a:endParaRPr lang="en-US" sz="2500" dirty="0"/>
          </a:p>
        </p:txBody>
      </p:sp>
      <p:pic>
        <p:nvPicPr>
          <p:cNvPr id="6" name="brP_17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172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recipe card. Answer the questions.</a:t>
            </a:r>
            <a:endParaRPr lang="en-US" sz="1250" dirty="0"/>
          </a:p>
        </p:txBody>
      </p:sp>
      <p:sp>
        <p:nvSpPr>
          <p:cNvPr id="8" name="insIT_17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ricetta e rispondi.</a:t>
            </a:r>
            <a:endParaRPr lang="en-US" sz="950" dirty="0"/>
          </a:p>
        </p:txBody>
      </p:sp>
      <p:sp>
        <p:nvSpPr>
          <p:cNvPr id="9" name="note_17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Communicative</a:t>
            </a:r>
            <a:endParaRPr lang="en-US" sz="1250" dirty="0"/>
          </a:p>
        </p:txBody>
      </p:sp>
      <p:pic>
        <p:nvPicPr>
          <p:cNvPr id="10" name="logo_17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7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L4 · READING · A recipe card</a:t>
            </a:r>
            <a:endParaRPr lang="en-US" sz="800" dirty="0"/>
          </a:p>
        </p:txBody>
      </p:sp>
      <p:sp>
        <p:nvSpPr>
          <p:cNvPr id="12" name="cd_177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178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🍅 Bruschetta (for 4)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Slice the bread – not too thin!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Toast it on the grill for two minutes.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Peel a clove of garlic and rub it on the hot bread.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Dice four ripe tomatoes. Don't use the hard centre.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Mix the tomatoes with salt, basil and olive oil.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Spread the mix on the bread. Serve immediately – don't wait, or the bread gets soft!</a:t>
            </a:r>
            <a:endParaRPr lang="en-US" sz="1200" dirty="0"/>
          </a:p>
        </p:txBody>
      </p:sp>
      <p:sp>
        <p:nvSpPr>
          <p:cNvPr id="14" name="bd_179"/>
          <p:cNvSpPr/>
          <p:nvPr/>
        </p:nvSpPr>
        <p:spPr>
          <a:xfrm>
            <a:off x="6172200" y="1427836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rq_180"/>
          <p:cNvSpPr/>
          <p:nvPr/>
        </p:nvSpPr>
        <p:spPr>
          <a:xfrm>
            <a:off x="6492240" y="141732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you cook the bread?</a:t>
            </a:r>
            <a:endParaRPr lang="en-US" sz="900" dirty="0"/>
          </a:p>
        </p:txBody>
      </p:sp>
      <p:sp>
        <p:nvSpPr>
          <p:cNvPr id="16" name="R1_chip181"/>
          <p:cNvSpPr/>
          <p:nvPr/>
        </p:nvSpPr>
        <p:spPr>
          <a:xfrm>
            <a:off x="6492240" y="174010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grill, 2 min</a:t>
            </a:r>
            <a:endParaRPr lang="en-US" sz="1000" dirty="0"/>
          </a:p>
        </p:txBody>
      </p:sp>
      <p:sp>
        <p:nvSpPr>
          <p:cNvPr id="17" name="bd_182"/>
          <p:cNvSpPr/>
          <p:nvPr/>
        </p:nvSpPr>
        <p:spPr>
          <a:xfrm>
            <a:off x="6172200" y="2109978"/>
            <a:ext cx="274320" cy="27432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rq_183"/>
          <p:cNvSpPr/>
          <p:nvPr/>
        </p:nvSpPr>
        <p:spPr>
          <a:xfrm>
            <a:off x="6492240" y="2099462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do with the garlic?</a:t>
            </a:r>
            <a:endParaRPr lang="en-US" sz="900" dirty="0"/>
          </a:p>
        </p:txBody>
      </p:sp>
      <p:sp>
        <p:nvSpPr>
          <p:cNvPr id="19" name="R2_chip184"/>
          <p:cNvSpPr/>
          <p:nvPr/>
        </p:nvSpPr>
        <p:spPr>
          <a:xfrm>
            <a:off x="6492240" y="2422246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peel it, rub it on the bread</a:t>
            </a:r>
            <a:endParaRPr lang="en-US" sz="1000" dirty="0"/>
          </a:p>
        </p:txBody>
      </p:sp>
      <p:sp>
        <p:nvSpPr>
          <p:cNvPr id="20" name="bd_185"/>
          <p:cNvSpPr/>
          <p:nvPr/>
        </p:nvSpPr>
        <p:spPr>
          <a:xfrm>
            <a:off x="6172200" y="2792120"/>
            <a:ext cx="274320" cy="27432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rq_186"/>
          <p:cNvSpPr/>
          <p:nvPr/>
        </p:nvSpPr>
        <p:spPr>
          <a:xfrm>
            <a:off x="6492240" y="2781605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part of the tomato don't you use?</a:t>
            </a:r>
            <a:endParaRPr lang="en-US" sz="800" dirty="0"/>
          </a:p>
        </p:txBody>
      </p:sp>
      <p:sp>
        <p:nvSpPr>
          <p:cNvPr id="22" name="R3_chip187"/>
          <p:cNvSpPr/>
          <p:nvPr/>
        </p:nvSpPr>
        <p:spPr>
          <a:xfrm>
            <a:off x="6492240" y="3104388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hard centre</a:t>
            </a:r>
            <a:endParaRPr lang="en-US" sz="1000" dirty="0"/>
          </a:p>
        </p:txBody>
      </p:sp>
      <p:sp>
        <p:nvSpPr>
          <p:cNvPr id="23" name="bd_188"/>
          <p:cNvSpPr/>
          <p:nvPr/>
        </p:nvSpPr>
        <p:spPr>
          <a:xfrm>
            <a:off x="6172200" y="3474263"/>
            <a:ext cx="274320" cy="274320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rq_189"/>
          <p:cNvSpPr/>
          <p:nvPr/>
        </p:nvSpPr>
        <p:spPr>
          <a:xfrm>
            <a:off x="6492240" y="3463747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2 negative commands.</a:t>
            </a:r>
            <a:endParaRPr lang="en-US" sz="900" dirty="0"/>
          </a:p>
        </p:txBody>
      </p:sp>
      <p:sp>
        <p:nvSpPr>
          <p:cNvPr id="25" name="R4_chip190"/>
          <p:cNvSpPr/>
          <p:nvPr/>
        </p:nvSpPr>
        <p:spPr>
          <a:xfrm>
            <a:off x="6492240" y="3786530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use… / don't wait</a:t>
            </a:r>
            <a:endParaRPr lang="en-US" sz="1000" dirty="0"/>
          </a:p>
        </p:txBody>
      </p:sp>
      <p:sp>
        <p:nvSpPr>
          <p:cNvPr id="26" name="bd_191"/>
          <p:cNvSpPr/>
          <p:nvPr/>
        </p:nvSpPr>
        <p:spPr>
          <a:xfrm>
            <a:off x="6172200" y="4156405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rq_192"/>
          <p:cNvSpPr/>
          <p:nvPr/>
        </p:nvSpPr>
        <p:spPr>
          <a:xfrm>
            <a:off x="6492240" y="414589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serve it immediately?</a:t>
            </a:r>
            <a:endParaRPr lang="en-US" sz="900" dirty="0"/>
          </a:p>
        </p:txBody>
      </p:sp>
      <p:sp>
        <p:nvSpPr>
          <p:cNvPr id="28" name="R5_chip193"/>
          <p:cNvSpPr/>
          <p:nvPr/>
        </p:nvSpPr>
        <p:spPr>
          <a:xfrm>
            <a:off x="6492240" y="446867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 the bread gets soft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1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96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chop an onion</a:t>
            </a:r>
            <a:endParaRPr lang="en-US" sz="2500" dirty="0"/>
          </a:p>
        </p:txBody>
      </p:sp>
      <p:pic>
        <p:nvPicPr>
          <p:cNvPr id="6" name="brP_1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198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Watch. Write the commands you hear.</a:t>
            </a:r>
            <a:endParaRPr lang="en-US" sz="1250" dirty="0"/>
          </a:p>
        </p:txBody>
      </p:sp>
      <p:sp>
        <p:nvSpPr>
          <p:cNvPr id="8" name="insIT_19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Guarda. Scrivi i comandi che senti.</a:t>
            </a:r>
            <a:endParaRPr lang="en-US" sz="950" dirty="0"/>
          </a:p>
        </p:txBody>
      </p:sp>
      <p:sp>
        <p:nvSpPr>
          <p:cNvPr id="9" name="note_20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WATCH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 IL VIDEO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Communicative</a:t>
            </a:r>
            <a:endParaRPr lang="en-US" sz="1250" dirty="0"/>
          </a:p>
        </p:txBody>
      </p:sp>
      <p:pic>
        <p:nvPicPr>
          <p:cNvPr id="10" name="logo_20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0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L4 · LISTENING · A real chef</a:t>
            </a:r>
            <a:endParaRPr lang="en-US" sz="800" dirty="0"/>
          </a:p>
        </p:txBody>
      </p:sp>
      <p:sp>
        <p:nvSpPr>
          <p:cNvPr id="12" name="cd_203"/>
          <p:cNvSpPr/>
          <p:nvPr/>
        </p:nvSpPr>
        <p:spPr>
          <a:xfrm>
            <a:off x="320040" y="1417320"/>
            <a:ext cx="2788920" cy="1508760"/>
          </a:xfrm>
          <a:prstGeom prst="roundRect">
            <a:avLst>
              <a:gd name="adj" fmla="val 848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0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4" name="ih_205"/>
          <p:cNvSpPr/>
          <p:nvPr/>
        </p:nvSpPr>
        <p:spPr>
          <a:xfrm>
            <a:off x="886968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5" name="il_206"/>
          <p:cNvSpPr/>
          <p:nvPr/>
        </p:nvSpPr>
        <p:spPr>
          <a:xfrm>
            <a:off x="886968" y="1911096"/>
            <a:ext cx="213055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Gordon Ramsay: How to Chop an Onion (about 2 min)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https://www.youtube.com/watch?v=TwGBt3V0yvc</a:t>
            </a:r>
            <a:endParaRPr lang="en-US" sz="1150" dirty="0"/>
          </a:p>
        </p:txBody>
      </p:sp>
      <p:sp>
        <p:nvSpPr>
          <p:cNvPr id="16" name="R1_qb207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R1_sq208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3 imperatives you hear: Cut…, Keep…, Don't…</a:t>
            </a:r>
            <a:endParaRPr lang="en-US" sz="1400" dirty="0"/>
          </a:p>
        </p:txBody>
      </p:sp>
      <p:sp>
        <p:nvSpPr>
          <p:cNvPr id="18" name="R2_qb209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R2_sq210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cutting verbs does he use?</a:t>
            </a:r>
            <a:endParaRPr lang="en-US" sz="1400" dirty="0"/>
          </a:p>
        </p:txBody>
      </p:sp>
      <p:sp>
        <p:nvSpPr>
          <p:cNvPr id="20" name="R3_qb211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R3_sq212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his way the same as yours? What's different?</a:t>
            </a:r>
            <a:endParaRPr lang="en-US" sz="1400" dirty="0"/>
          </a:p>
        </p:txBody>
      </p:sp>
      <p:sp>
        <p:nvSpPr>
          <p:cNvPr id="22" name="R4_qb213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R4_sq214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teach your partner in English!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17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terrible commis</a:t>
            </a:r>
            <a:endParaRPr lang="en-US" sz="2500" dirty="0"/>
          </a:p>
        </p:txBody>
      </p:sp>
      <p:pic>
        <p:nvPicPr>
          <p:cNvPr id="6" name="brP_2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is a terrible commis. A corrects him / her. Then swap!</a:t>
            </a:r>
            <a:endParaRPr lang="en-US" sz="1250" dirty="0"/>
          </a:p>
        </p:txBody>
      </p:sp>
      <p:sp>
        <p:nvSpPr>
          <p:cNvPr id="8" name="insIT_22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è un pessimo commis. A lo corregge. Poi scambiatevi!</a:t>
            </a:r>
            <a:endParaRPr lang="en-US" sz="950" dirty="0"/>
          </a:p>
        </p:txBody>
      </p:sp>
      <p:sp>
        <p:nvSpPr>
          <p:cNvPr id="9" name="note_22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Guided discovery</a:t>
            </a:r>
            <a:endParaRPr lang="en-US" sz="1250" dirty="0"/>
          </a:p>
        </p:txBody>
      </p:sp>
      <p:pic>
        <p:nvPicPr>
          <p:cNvPr id="10" name="logo_2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L4 · SPEAKING · Role-play</a:t>
            </a:r>
            <a:endParaRPr lang="en-US" sz="800" dirty="0"/>
          </a:p>
        </p:txBody>
      </p:sp>
      <p:sp>
        <p:nvSpPr>
          <p:cNvPr id="12" name="cd_224"/>
          <p:cNvSpPr/>
          <p:nvPr/>
        </p:nvSpPr>
        <p:spPr>
          <a:xfrm>
            <a:off x="320040" y="1417320"/>
            <a:ext cx="2606040" cy="2535936"/>
          </a:xfrm>
          <a:prstGeom prst="roundRect">
            <a:avLst>
              <a:gd name="adj" fmla="val 504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2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4" name="ih_226"/>
          <p:cNvSpPr/>
          <p:nvPr/>
        </p:nvSpPr>
        <p:spPr>
          <a:xfrm>
            <a:off x="886968" y="1508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5" name="il_227"/>
          <p:cNvSpPr/>
          <p:nvPr/>
        </p:nvSpPr>
        <p:spPr>
          <a:xfrm>
            <a:off x="886968" y="1911096"/>
            <a:ext cx="1947672" cy="1969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Don't…!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like that – like this.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it again, please.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Faster!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Well done.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Sorry, Chef. / Heard!</a:t>
            </a:r>
            <a:endParaRPr lang="en-US" sz="1200" dirty="0"/>
          </a:p>
        </p:txBody>
      </p:sp>
      <p:sp>
        <p:nvSpPr>
          <p:cNvPr id="16" name="who_228"/>
          <p:cNvSpPr/>
          <p:nvPr/>
        </p:nvSpPr>
        <p:spPr>
          <a:xfrm>
            <a:off x="3108960" y="14630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17" name="sl_229"/>
          <p:cNvSpPr/>
          <p:nvPr/>
        </p:nvSpPr>
        <p:spPr>
          <a:xfrm>
            <a:off x="4114800" y="1444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Peel the carrots, please.</a:t>
            </a:r>
            <a:endParaRPr lang="en-US" sz="1150" dirty="0"/>
          </a:p>
        </p:txBody>
      </p:sp>
      <p:sp>
        <p:nvSpPr>
          <p:cNvPr id="18" name="who_230"/>
          <p:cNvSpPr/>
          <p:nvPr/>
        </p:nvSpPr>
        <p:spPr>
          <a:xfrm>
            <a:off x="3108960" y="19202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19" name="sl_231"/>
          <p:cNvSpPr/>
          <p:nvPr/>
        </p:nvSpPr>
        <p:spPr>
          <a:xfrm>
            <a:off x="4114800" y="19019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Chef! (starts eating a carrot)</a:t>
            </a:r>
            <a:endParaRPr lang="en-US" sz="1150" dirty="0"/>
          </a:p>
        </p:txBody>
      </p:sp>
      <p:sp>
        <p:nvSpPr>
          <p:cNvPr id="20" name="who_232"/>
          <p:cNvSpPr/>
          <p:nvPr/>
        </p:nvSpPr>
        <p:spPr>
          <a:xfrm>
            <a:off x="3108960" y="23774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21" name="sl_233"/>
          <p:cNvSpPr/>
          <p:nvPr/>
        </p:nvSpPr>
        <p:spPr>
          <a:xfrm>
            <a:off x="4114800" y="23591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eat them! Peel them!</a:t>
            </a:r>
            <a:endParaRPr lang="en-US" sz="1150" dirty="0"/>
          </a:p>
        </p:txBody>
      </p:sp>
      <p:sp>
        <p:nvSpPr>
          <p:cNvPr id="22" name="who_234"/>
          <p:cNvSpPr/>
          <p:nvPr/>
        </p:nvSpPr>
        <p:spPr>
          <a:xfrm>
            <a:off x="3108960" y="28346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23" name="sl_235"/>
          <p:cNvSpPr/>
          <p:nvPr/>
        </p:nvSpPr>
        <p:spPr>
          <a:xfrm>
            <a:off x="4114800" y="28163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Sorry, Chef. Do I slice the mushrooms now?</a:t>
            </a:r>
            <a:endParaRPr lang="en-US" sz="1150" dirty="0"/>
          </a:p>
        </p:txBody>
      </p:sp>
      <p:sp>
        <p:nvSpPr>
          <p:cNvPr id="24" name="who_236"/>
          <p:cNvSpPr/>
          <p:nvPr/>
        </p:nvSpPr>
        <p:spPr>
          <a:xfrm>
            <a:off x="3108960" y="32918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25" name="sl_237"/>
          <p:cNvSpPr/>
          <p:nvPr/>
        </p:nvSpPr>
        <p:spPr>
          <a:xfrm>
            <a:off x="4114800" y="32735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No! Don't slice them – wash them first.</a:t>
            </a:r>
            <a:endParaRPr lang="en-US" sz="1150" dirty="0"/>
          </a:p>
        </p:txBody>
      </p:sp>
      <p:sp>
        <p:nvSpPr>
          <p:cNvPr id="26" name="who_238"/>
          <p:cNvSpPr/>
          <p:nvPr/>
        </p:nvSpPr>
        <p:spPr>
          <a:xfrm>
            <a:off x="3108960" y="37490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27" name="sl_239"/>
          <p:cNvSpPr/>
          <p:nvPr/>
        </p:nvSpPr>
        <p:spPr>
          <a:xfrm>
            <a:off x="4114800" y="3730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Heard, Chef!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242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2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44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partner…</a:t>
            </a:r>
            <a:endParaRPr lang="en-US" sz="1250" dirty="0"/>
          </a:p>
        </p:txBody>
      </p:sp>
      <p:sp>
        <p:nvSpPr>
          <p:cNvPr id="8" name="insIT_24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al collega…</a:t>
            </a:r>
            <a:endParaRPr lang="en-US" sz="950" dirty="0"/>
          </a:p>
        </p:txBody>
      </p:sp>
      <p:sp>
        <p:nvSpPr>
          <p:cNvPr id="9" name="note_246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24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4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L4 · Exit · what can you remember?</a:t>
            </a:r>
            <a:endParaRPr lang="en-US" sz="800" dirty="0"/>
          </a:p>
        </p:txBody>
      </p:sp>
      <p:sp>
        <p:nvSpPr>
          <p:cNvPr id="12" name="bd_249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250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new words from today.</a:t>
            </a:r>
            <a:endParaRPr lang="en-US" sz="1400" dirty="0"/>
          </a:p>
        </p:txBody>
      </p:sp>
      <p:sp>
        <p:nvSpPr>
          <p:cNvPr id="14" name="bd_251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252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sentences with today's grammar.</a:t>
            </a:r>
            <a:endParaRPr lang="en-US" sz="1400" dirty="0"/>
          </a:p>
        </p:txBody>
      </p:sp>
      <p:sp>
        <p:nvSpPr>
          <p:cNvPr id="16" name="bd_253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254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you'll say at work this week.</a:t>
            </a:r>
            <a:endParaRPr lang="en-US" sz="1400" dirty="0"/>
          </a:p>
        </p:txBody>
      </p:sp>
      <p:sp>
        <p:nvSpPr>
          <p:cNvPr id="18" name="cd_255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256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257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258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your prep list for tomorrow with 8 commands: Dice 5 kilos of onions…</a:t>
            </a:r>
            <a:endParaRPr lang="en-US" sz="950" dirty="0"/>
          </a:p>
        </p:txBody>
      </p:sp>
      <p:sp>
        <p:nvSpPr>
          <p:cNvPr id="22" name="st_259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L5 · Cooking methods &amp; recipes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26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62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26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64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26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26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26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6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L4 · Review · what did you do today?</a:t>
            </a:r>
            <a:endParaRPr lang="en-US" sz="800" dirty="0"/>
          </a:p>
        </p:txBody>
      </p:sp>
      <p:sp>
        <p:nvSpPr>
          <p:cNvPr id="12" name="cd_269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270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14" name="tt_271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cutting verbs</a:t>
            </a:r>
            <a:endParaRPr lang="en-US" sz="1350" dirty="0"/>
          </a:p>
        </p:txBody>
      </p:sp>
      <p:sp>
        <p:nvSpPr>
          <p:cNvPr id="15" name="R1_tk272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273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274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🧩</a:t>
            </a:r>
            <a:endParaRPr lang="en-US" sz="1800" dirty="0"/>
          </a:p>
        </p:txBody>
      </p:sp>
      <p:sp>
        <p:nvSpPr>
          <p:cNvPr id="18" name="tt_275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imperatives: do / don't / please</a:t>
            </a:r>
            <a:endParaRPr lang="en-US" sz="1350" dirty="0"/>
          </a:p>
        </p:txBody>
      </p:sp>
      <p:sp>
        <p:nvSpPr>
          <p:cNvPr id="19" name="R2_tk276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277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278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2" name="tt_279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the prep list</a:t>
            </a:r>
            <a:endParaRPr lang="en-US" sz="1350" dirty="0"/>
          </a:p>
        </p:txBody>
      </p:sp>
      <p:sp>
        <p:nvSpPr>
          <p:cNvPr id="23" name="R3_tk280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st_281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282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28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284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285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2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88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Chef says…</a:t>
            </a:r>
            <a:endParaRPr lang="en-US" sz="2500" dirty="0"/>
          </a:p>
        </p:txBody>
      </p:sp>
      <p:pic>
        <p:nvPicPr>
          <p:cNvPr id="6" name="brP_2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90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the action only if I say 'Chef says'!</a:t>
            </a:r>
            <a:endParaRPr lang="en-US" sz="1250" dirty="0"/>
          </a:p>
        </p:txBody>
      </p:sp>
      <p:sp>
        <p:nvSpPr>
          <p:cNvPr id="8" name="insIT_29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il gesto solo se dico 'Chef says'!</a:t>
            </a:r>
            <a:endParaRPr lang="en-US" sz="950" dirty="0"/>
          </a:p>
        </p:txBody>
      </p:sp>
      <p:sp>
        <p:nvSpPr>
          <p:cNvPr id="9" name="note_29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Communicative</a:t>
            </a:r>
            <a:endParaRPr lang="en-US" sz="1250" dirty="0"/>
          </a:p>
        </p:txBody>
      </p:sp>
      <p:pic>
        <p:nvPicPr>
          <p:cNvPr id="10" name="logo_2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L4 · GAME · Listen and act</a:t>
            </a:r>
            <a:endParaRPr lang="en-US" sz="800" dirty="0"/>
          </a:p>
        </p:txBody>
      </p:sp>
      <p:sp>
        <p:nvSpPr>
          <p:cNvPr id="12" name="ext_295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R1_qb296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R1_sq297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says: chop the carrots! → mime it.</a:t>
            </a:r>
            <a:endParaRPr lang="en-US" sz="1400" dirty="0"/>
          </a:p>
        </p:txBody>
      </p:sp>
      <p:sp>
        <p:nvSpPr>
          <p:cNvPr id="15" name="R2_qb298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R2_sq299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Peel the potatoes! (no 'Chef says') → don't move!</a:t>
            </a:r>
            <a:endParaRPr lang="en-US" sz="1400" dirty="0"/>
          </a:p>
        </p:txBody>
      </p:sp>
      <p:sp>
        <p:nvSpPr>
          <p:cNvPr id="17" name="R3_qb300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R3_sq301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'Yes, Chef!' every time.</a:t>
            </a:r>
            <a:endParaRPr lang="en-US" sz="1400" dirty="0"/>
          </a:p>
        </p:txBody>
      </p:sp>
      <p:sp>
        <p:nvSpPr>
          <p:cNvPr id="19" name="R4_qb302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R4_sq303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the chefs give the commands to the teacher!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3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306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robot chef</a:t>
            </a:r>
            <a:endParaRPr lang="en-US" sz="2500" dirty="0"/>
          </a:p>
        </p:txBody>
      </p:sp>
      <p:pic>
        <p:nvPicPr>
          <p:cNvPr id="6" name="brP_3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308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robot does EXACTLY what you say. Nothing more!</a:t>
            </a:r>
            <a:endParaRPr lang="en-US" sz="1250" dirty="0"/>
          </a:p>
        </p:txBody>
      </p:sp>
      <p:sp>
        <p:nvSpPr>
          <p:cNvPr id="8" name="insIT_3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robot fa ESATTAMENTE ciò che dici!</a:t>
            </a:r>
            <a:endParaRPr lang="en-US" sz="950" dirty="0"/>
          </a:p>
        </p:txBody>
      </p:sp>
      <p:sp>
        <p:nvSpPr>
          <p:cNvPr id="9" name="note_31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31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1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L4 · Game · exact instructions</a:t>
            </a:r>
            <a:endParaRPr lang="en-US" sz="800" dirty="0"/>
          </a:p>
        </p:txBody>
      </p:sp>
      <p:sp>
        <p:nvSpPr>
          <p:cNvPr id="12" name="ext_313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R1_qb314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R1_sq315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teacher (then a chef) is a robot.</a:t>
            </a:r>
            <a:endParaRPr lang="en-US" sz="1400" dirty="0"/>
          </a:p>
        </p:txBody>
      </p:sp>
      <p:sp>
        <p:nvSpPr>
          <p:cNvPr id="15" name="R2_qb316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R2_sq317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commands to make a sandwich or a coffee.</a:t>
            </a:r>
            <a:endParaRPr lang="en-US" sz="1400" dirty="0"/>
          </a:p>
        </p:txBody>
      </p:sp>
      <p:sp>
        <p:nvSpPr>
          <p:cNvPr id="17" name="R3_qb318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R3_sq319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robot does exactly what you say: Open the bread. → the robot can't! Which bread? How?</a:t>
            </a:r>
            <a:endParaRPr lang="en-US" sz="1400" dirty="0"/>
          </a:p>
        </p:txBody>
      </p:sp>
      <p:sp>
        <p:nvSpPr>
          <p:cNvPr id="19" name="R4_qb320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R4_sq321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Finish the job with clear imperatives. Then swap.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L4 Kitchen commands</dc:title>
  <dc:subject>PptxGenJS Presentation</dc:subject>
  <dc:creator>PptxGenJS</dc:creator>
  <cp:lastModifiedBy>PptxGenJS</cp:lastModifiedBy>
  <cp:revision>1</cp:revision>
  <dcterms:created xsi:type="dcterms:W3CDTF">2026-10-21T09:56:04Z</dcterms:created>
  <dcterms:modified xsi:type="dcterms:W3CDTF">2026-10-21T09:56:04Z</dcterms:modified>
</cp:coreProperties>
</file>