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 (60 min). Aims: cutting verbs, imperatives (+, –, polite), understanding a real chef on video.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REVISION (5 min). VARIATION: constraint challenge — exactly five words makes them build full answers with some/any/much/many. Partner counts on their fingers.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(8 min). They match orally, click 1. Then teacher says a verb, they mime; then they say a verb + food (Slice the bread!) and the teacher mimes — deliberately wrong sometimes so they correct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UPGRADE THE LANGUAGE (6 min). VARIATION: upgrade + vocabulary branching (finely, thinly, roughly). Many answers possible — click 1 for examples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(6 min). Click 1. Collocations: wash the salad, drain the pasta, pour the sauce, squeeze a lemon, spread butter, sprinkle parmesan, wrap it in cling film, label the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(6 min). Note: in a busy kitchen short imperatives are normal and not rude — but 'please' and 'Could you…' are for calmer moments and for front of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PRACTICE (5 min). VARIATION: spot the error / student as teacher.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(6 min). Then: how do YOU make bruschetta? What's different? (mild controversy — garlic or no garlic?)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(8 min). Preview first (link checked October 2026; it is not an official channel and could be removed). Watch twice: 1) general, 2) write commands. Then each chef teaches the partner how they chop an onion, using imperatives.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ROLE-PLAY (10 min). VARIATION: opposites — B does the wrong thing, A gives negative + positive imperatives. Then use the real prep list from their restaurant.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(3 min). Homework sheet L4 in the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(6 min). VARIATION: change the energy. Speed up; add negative commands: Chef says: don't touch the knife!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(8 min). Funny and precise — forces sequencing words (first, then) for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wGBt3V0yvc" TargetMode="External"/><Relationship Id="rId4" Type="http://schemas.openxmlformats.org/officeDocument/2006/relationships/hyperlink" Target="https://www.youtube.com/watch?v=TwGBt3V0yvc" TargetMode="External"/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sp>
        <p:nvSpPr>
          <p:cNvPr id="3" name="logoBack_2"/>
          <p:cNvSpPr/>
          <p:nvPr/>
        </p:nvSpPr>
        <p:spPr>
          <a:xfrm>
            <a:off x="8229600" y="155448"/>
            <a:ext cx="676656" cy="6766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B3F0"/>
            </a:solidFill>
            <a:prstDash val="solid"/>
          </a:ln>
        </p:spPr>
      </p:sp>
      <p:pic>
        <p:nvPicPr>
          <p:cNvPr id="4" name="logo_3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5" name="footer_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2B24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6" name="unit_5"/>
          <p:cNvSpPr txBox="1"/>
          <p:nvPr/>
        </p:nvSpPr>
        <p:spPr>
          <a:xfrm>
            <a:off x="411480" y="320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D8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L4</a:t>
            </a:r>
            <a:endParaRPr lang="en-US" sz="5400" dirty="0"/>
          </a:p>
        </p:txBody>
      </p:sp>
      <p:sp>
        <p:nvSpPr>
          <p:cNvPr id="7" name="course_6"/>
          <p:cNvSpPr txBox="1"/>
          <p:nvPr/>
        </p:nvSpPr>
        <p:spPr>
          <a:xfrm>
            <a:off x="1828800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E2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KITCHEN ENGLISH · Lesson 4 of 10</a:t>
            </a:r>
            <a:endParaRPr lang="en-US" sz="1200" dirty="0"/>
          </a:p>
        </p:txBody>
      </p:sp>
      <p:sp>
        <p:nvSpPr>
          <p:cNvPr id="8" name="title_7"/>
          <p:cNvSpPr txBox="1"/>
          <p:nvPr/>
        </p:nvSpPr>
        <p:spPr>
          <a:xfrm rot="-180000">
            <a:off x="411480" y="1325880"/>
            <a:ext cx="4590288" cy="777240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KITCHEN COMMANDS</a:t>
            </a:r>
            <a:endParaRPr lang="en-US" sz="2800" dirty="0"/>
          </a:p>
        </p:txBody>
      </p:sp>
      <p:sp>
        <p:nvSpPr>
          <p:cNvPr id="9" name="stamp_8"/>
          <p:cNvSpPr txBox="1"/>
          <p:nvPr/>
        </p:nvSpPr>
        <p:spPr>
          <a:xfrm>
            <a:off x="457200" y="2468880"/>
            <a:ext cx="3044952" cy="384048"/>
          </a:xfrm>
          <a:prstGeom prst="roundRect">
            <a:avLst>
              <a:gd name="adj" fmla="val 14286"/>
            </a:avLst>
          </a:prstGeom>
          <a:solidFill>
            <a:srgbClr val="2B2440"/>
          </a:solidFill>
          <a:ln w="38100">
            <a:solidFill>
              <a:srgbClr val="48BDF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cutting verbs</a:t>
            </a:r>
            <a:endParaRPr lang="en-US" sz="1200" dirty="0"/>
          </a:p>
        </p:txBody>
      </p:sp>
      <p:sp>
        <p:nvSpPr>
          <p:cNvPr id="10" name="stamp_9"/>
          <p:cNvSpPr txBox="1"/>
          <p:nvPr/>
        </p:nvSpPr>
        <p:spPr>
          <a:xfrm>
            <a:off x="457200" y="2944368"/>
            <a:ext cx="4572000" cy="384048"/>
          </a:xfrm>
          <a:prstGeom prst="roundRect">
            <a:avLst>
              <a:gd name="adj" fmla="val 14286"/>
            </a:avLst>
          </a:prstGeom>
          <a:solidFill>
            <a:srgbClr val="2B2440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imperatives: do / don't / please</a:t>
            </a:r>
            <a:endParaRPr lang="en-US" sz="1200" dirty="0"/>
          </a:p>
        </p:txBody>
      </p:sp>
      <p:sp>
        <p:nvSpPr>
          <p:cNvPr id="11" name="stamp_10"/>
          <p:cNvSpPr txBox="1"/>
          <p:nvPr/>
        </p:nvSpPr>
        <p:spPr>
          <a:xfrm>
            <a:off x="457200" y="3419856"/>
            <a:ext cx="2852928" cy="384048"/>
          </a:xfrm>
          <a:prstGeom prst="roundRect">
            <a:avLst>
              <a:gd name="adj" fmla="val 14286"/>
            </a:avLst>
          </a:prstGeom>
          <a:solidFill>
            <a:srgbClr val="2B2440"/>
          </a:solidFill>
          <a:ln w="38100">
            <a:solidFill>
              <a:srgbClr val="EF2F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SPEAKING · the prep list</a:t>
            </a:r>
            <a:endParaRPr lang="en-US" sz="1200" dirty="0"/>
          </a:p>
        </p:txBody>
      </p:sp>
      <p:sp>
        <p:nvSpPr>
          <p:cNvPr id="12" name="iconBack_11"/>
          <p:cNvSpPr/>
          <p:nvPr/>
        </p:nvSpPr>
        <p:spPr>
          <a:xfrm>
            <a:off x="5669280" y="685800"/>
            <a:ext cx="1737360" cy="1737360"/>
          </a:xfrm>
          <a:prstGeom prst="ellipse">
            <a:avLst/>
          </a:prstGeom>
          <a:solidFill>
            <a:srgbClr val="FFD84D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3" name="icon_12" descr="knif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033272"/>
            <a:ext cx="1042416" cy="1042416"/>
          </a:xfrm>
          <a:prstGeom prst="rect">
            <a:avLst/>
          </a:prstGeom>
        </p:spPr>
      </p:pic>
      <p:sp>
        <p:nvSpPr>
          <p:cNvPr id="14" name="iconBack_13"/>
          <p:cNvSpPr/>
          <p:nvPr/>
        </p:nvSpPr>
        <p:spPr>
          <a:xfrm>
            <a:off x="7315200" y="150876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5" name="icon_14" descr="garl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728216"/>
            <a:ext cx="658368" cy="658368"/>
          </a:xfrm>
          <a:prstGeom prst="rect">
            <a:avLst/>
          </a:prstGeom>
        </p:spPr>
      </p:pic>
      <p:sp>
        <p:nvSpPr>
          <p:cNvPr id="16" name="iconBack_15"/>
          <p:cNvSpPr/>
          <p:nvPr/>
        </p:nvSpPr>
        <p:spPr>
          <a:xfrm>
            <a:off x="5486400" y="2514600"/>
            <a:ext cx="960120" cy="960120"/>
          </a:xfrm>
          <a:prstGeom prst="ellipse">
            <a:avLst/>
          </a:prstGeom>
          <a:solidFill>
            <a:srgbClr val="C9B3F0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7" name="icon_16" descr="clip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8424" y="2706624"/>
            <a:ext cx="576072" cy="576072"/>
          </a:xfrm>
          <a:prstGeom prst="rect">
            <a:avLst/>
          </a:prstGeom>
        </p:spPr>
      </p:pic>
      <p:sp>
        <p:nvSpPr>
          <p:cNvPr id="18" name="R1_q"/>
          <p:cNvSpPr txBox="1"/>
          <p:nvPr/>
        </p:nvSpPr>
        <p:spPr>
          <a:xfrm>
            <a:off x="5120640" y="3337560"/>
            <a:ext cx="2377440" cy="777240"/>
          </a:xfrm>
          <a:prstGeom prst="wedgeRoundRectCallout">
            <a:avLst/>
          </a:prstGeom>
          <a:solidFill>
            <a:srgbClr val="48BDF2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head chef say all day?</a:t>
            </a:r>
            <a:endParaRPr lang="en-US" sz="1400" dirty="0"/>
          </a:p>
        </p:txBody>
      </p:sp>
      <p:sp>
        <p:nvSpPr>
          <p:cNvPr id="19" name="R2_a"/>
          <p:cNvSpPr txBox="1"/>
          <p:nvPr/>
        </p:nvSpPr>
        <p:spPr>
          <a:xfrm>
            <a:off x="6629400" y="4069080"/>
            <a:ext cx="2148840" cy="594360"/>
          </a:xfrm>
          <a:prstGeom prst="wedgeRoundRectCallou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Chop! Slice! Faster! Don't touch that!</a:t>
            </a:r>
            <a:endParaRPr lang="en-US" sz="1300" dirty="0"/>
          </a:p>
        </p:txBody>
      </p:sp>
      <p:sp>
        <p:nvSpPr>
          <p:cNvPr id="20" name="tnote_17"/>
          <p:cNvSpPr txBox="1"/>
          <p:nvPr/>
        </p:nvSpPr>
        <p:spPr>
          <a:xfrm>
            <a:off x="411480" y="477316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timings, answers and tips are in the slide notes.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8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9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20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REVISION · Lesson 3</a:t>
            </a:r>
            <a:endParaRPr lang="en-US" sz="1100" dirty="0"/>
          </a:p>
        </p:txBody>
      </p:sp>
      <p:sp>
        <p:nvSpPr>
          <p:cNvPr id="5" name="timer_21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22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23"/>
          <p:cNvSpPr txBox="1"/>
          <p:nvPr/>
        </p:nvSpPr>
        <p:spPr>
          <a:xfrm rot="90000">
            <a:off x="320040" y="676656"/>
            <a:ext cx="3282696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words only!</a:t>
            </a:r>
            <a:endParaRPr lang="en-US" sz="2000" dirty="0"/>
          </a:p>
        </p:txBody>
      </p:sp>
      <p:sp>
        <p:nvSpPr>
          <p:cNvPr id="8" name="tape_24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25"/>
          <p:cNvSpPr/>
          <p:nvPr/>
        </p:nvSpPr>
        <p:spPr>
          <a:xfrm rot="-720000">
            <a:off x="3035808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26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27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EF2F2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PARLA!</a:t>
            </a:r>
            <a:endParaRPr lang="en-US" sz="1500" dirty="0"/>
          </a:p>
        </p:txBody>
      </p:sp>
      <p:sp>
        <p:nvSpPr>
          <p:cNvPr id="12" name="signB_28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EXACTLY five words. Count them!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Rispondi con ESATTAMENTE cinque parole. Contale!</a:t>
            </a:r>
            <a:endParaRPr lang="en-US" sz="1250" dirty="0"/>
          </a:p>
        </p:txBody>
      </p:sp>
      <p:sp>
        <p:nvSpPr>
          <p:cNvPr id="13" name="box_29"/>
          <p:cNvSpPr txBox="1"/>
          <p:nvPr/>
        </p:nvSpPr>
        <p:spPr>
          <a:xfrm>
            <a:off x="2788920" y="1371600"/>
            <a:ext cx="6035040" cy="555955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How many eggs are in a carbonara for four?</a:t>
            </a:r>
            <a:endParaRPr lang="en-US" sz="1400" dirty="0"/>
          </a:p>
        </p:txBody>
      </p:sp>
      <p:sp>
        <p:nvSpPr>
          <p:cNvPr id="14" name="box_30"/>
          <p:cNvSpPr txBox="1"/>
          <p:nvPr/>
        </p:nvSpPr>
        <p:spPr>
          <a:xfrm>
            <a:off x="2788920" y="2055571"/>
            <a:ext cx="6035040" cy="555955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How much salt do you put in pasta water?</a:t>
            </a:r>
            <a:endParaRPr lang="en-US" sz="1400" dirty="0"/>
          </a:p>
        </p:txBody>
      </p:sp>
      <p:sp>
        <p:nvSpPr>
          <p:cNvPr id="15" name="box_31"/>
          <p:cNvSpPr txBox="1"/>
          <p:nvPr/>
        </p:nvSpPr>
        <p:spPr>
          <a:xfrm>
            <a:off x="2788920" y="2739542"/>
            <a:ext cx="6035040" cy="555955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Have we got any cream?</a:t>
            </a:r>
            <a:endParaRPr lang="en-US" sz="1400" dirty="0"/>
          </a:p>
        </p:txBody>
      </p:sp>
      <p:sp>
        <p:nvSpPr>
          <p:cNvPr id="16" name="box_32"/>
          <p:cNvSpPr txBox="1"/>
          <p:nvPr/>
        </p:nvSpPr>
        <p:spPr>
          <a:xfrm>
            <a:off x="2788920" y="3423514"/>
            <a:ext cx="6035040" cy="555955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What have you run out of this week?</a:t>
            </a:r>
            <a:endParaRPr lang="en-US" sz="1400" dirty="0"/>
          </a:p>
        </p:txBody>
      </p:sp>
      <p:sp>
        <p:nvSpPr>
          <p:cNvPr id="17" name="box_33"/>
          <p:cNvSpPr txBox="1"/>
          <p:nvPr/>
        </p:nvSpPr>
        <p:spPr>
          <a:xfrm>
            <a:off x="2788920" y="4107485"/>
            <a:ext cx="6035040" cy="555955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How much flour is in your pizza dough?</a:t>
            </a:r>
            <a:endParaRPr lang="en-US" sz="1400" dirty="0"/>
          </a:p>
        </p:txBody>
      </p:sp>
      <p:sp>
        <p:nvSpPr>
          <p:cNvPr id="18" name="sticky_34"/>
          <p:cNvSpPr txBox="1"/>
          <p:nvPr/>
        </p:nvSpPr>
        <p:spPr>
          <a:xfrm rot="-120000">
            <a:off x="411480" y="4023360"/>
            <a:ext cx="2194560" cy="640080"/>
          </a:xfrm>
          <a:prstGeom prst="rect">
            <a:avLst/>
          </a:prstGeom>
          <a:solidFill>
            <a:srgbClr val="FFD84D"/>
          </a:solidFill>
          <a:ln w="12700">
            <a:solidFill>
              <a:srgbClr val="B7950B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four eggs, Chef. = 5 ✓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35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36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37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Cutting verbs</a:t>
            </a:r>
            <a:endParaRPr lang="en-US" sz="1100" dirty="0"/>
          </a:p>
        </p:txBody>
      </p:sp>
      <p:sp>
        <p:nvSpPr>
          <p:cNvPr id="5" name="timer_38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8 min</a:t>
            </a:r>
            <a:endParaRPr lang="en-US" sz="1200" dirty="0"/>
          </a:p>
        </p:txBody>
      </p:sp>
      <p:sp>
        <p:nvSpPr>
          <p:cNvPr id="6" name="footer_39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40"/>
          <p:cNvSpPr txBox="1"/>
          <p:nvPr/>
        </p:nvSpPr>
        <p:spPr>
          <a:xfrm rot="90000">
            <a:off x="320040" y="676656"/>
            <a:ext cx="3630168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Chop, slice, dice…</a:t>
            </a:r>
            <a:endParaRPr lang="en-US" sz="2000" dirty="0"/>
          </a:p>
        </p:txBody>
      </p:sp>
      <p:sp>
        <p:nvSpPr>
          <p:cNvPr id="8" name="tape_41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42"/>
          <p:cNvSpPr/>
          <p:nvPr/>
        </p:nvSpPr>
        <p:spPr>
          <a:xfrm rot="-720000">
            <a:off x="3383280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43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44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2" name="signB_45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Match. Then mime each verb!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Abbina. Poi mima ogni verbo!</a:t>
            </a:r>
            <a:endParaRPr lang="en-US" sz="1250" dirty="0"/>
          </a:p>
        </p:txBody>
      </p:sp>
      <p:sp>
        <p:nvSpPr>
          <p:cNvPr id="13" name="iconBack_46"/>
          <p:cNvSpPr/>
          <p:nvPr/>
        </p:nvSpPr>
        <p:spPr>
          <a:xfrm>
            <a:off x="2788920" y="137160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14" name="icon_47" descr="knif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872" y="1441552"/>
            <a:ext cx="209855" cy="209855"/>
          </a:xfrm>
          <a:prstGeom prst="rect">
            <a:avLst/>
          </a:prstGeom>
        </p:spPr>
      </p:pic>
      <p:sp>
        <p:nvSpPr>
          <p:cNvPr id="15" name="box_48"/>
          <p:cNvSpPr txBox="1"/>
          <p:nvPr/>
        </p:nvSpPr>
        <p:spPr>
          <a:xfrm>
            <a:off x="3193542" y="1371600"/>
            <a:ext cx="2311146" cy="34975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chop</a:t>
            </a:r>
            <a:endParaRPr lang="en-US" sz="1250" dirty="0"/>
          </a:p>
        </p:txBody>
      </p:sp>
      <p:sp>
        <p:nvSpPr>
          <p:cNvPr id="16" name="R1_m0"/>
          <p:cNvSpPr txBox="1"/>
          <p:nvPr/>
        </p:nvSpPr>
        <p:spPr>
          <a:xfrm>
            <a:off x="5577840" y="138988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tritare / tagliare a pezzi</a:t>
            </a:r>
            <a:endParaRPr lang="en-US" sz="1150" dirty="0"/>
          </a:p>
        </p:txBody>
      </p:sp>
      <p:sp>
        <p:nvSpPr>
          <p:cNvPr id="17" name="iconBack_49"/>
          <p:cNvSpPr/>
          <p:nvPr/>
        </p:nvSpPr>
        <p:spPr>
          <a:xfrm>
            <a:off x="2788920" y="179451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18" name="icon_50" descr="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8872" y="1864462"/>
            <a:ext cx="209855" cy="209855"/>
          </a:xfrm>
          <a:prstGeom prst="rect">
            <a:avLst/>
          </a:prstGeom>
        </p:spPr>
      </p:pic>
      <p:sp>
        <p:nvSpPr>
          <p:cNvPr id="19" name="box_51"/>
          <p:cNvSpPr txBox="1"/>
          <p:nvPr/>
        </p:nvSpPr>
        <p:spPr>
          <a:xfrm>
            <a:off x="3193542" y="1794510"/>
            <a:ext cx="2311146" cy="34975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slice</a:t>
            </a:r>
            <a:endParaRPr lang="en-US" sz="1250" dirty="0"/>
          </a:p>
        </p:txBody>
      </p:sp>
      <p:sp>
        <p:nvSpPr>
          <p:cNvPr id="20" name="R1_m1"/>
          <p:cNvSpPr txBox="1"/>
          <p:nvPr/>
        </p:nvSpPr>
        <p:spPr>
          <a:xfrm>
            <a:off x="5577840" y="181279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tagliare a fette</a:t>
            </a:r>
            <a:endParaRPr lang="en-US" sz="1150" dirty="0"/>
          </a:p>
        </p:txBody>
      </p:sp>
      <p:sp>
        <p:nvSpPr>
          <p:cNvPr id="21" name="iconBack_52"/>
          <p:cNvSpPr/>
          <p:nvPr/>
        </p:nvSpPr>
        <p:spPr>
          <a:xfrm>
            <a:off x="2788920" y="221742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22" name="icon_53" descr="potat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8872" y="2287372"/>
            <a:ext cx="209855" cy="209855"/>
          </a:xfrm>
          <a:prstGeom prst="rect">
            <a:avLst/>
          </a:prstGeom>
        </p:spPr>
      </p:pic>
      <p:sp>
        <p:nvSpPr>
          <p:cNvPr id="23" name="box_54"/>
          <p:cNvSpPr txBox="1"/>
          <p:nvPr/>
        </p:nvSpPr>
        <p:spPr>
          <a:xfrm>
            <a:off x="3193542" y="2217420"/>
            <a:ext cx="2311146" cy="349758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dice</a:t>
            </a:r>
            <a:endParaRPr lang="en-US" sz="1250" dirty="0"/>
          </a:p>
        </p:txBody>
      </p:sp>
      <p:sp>
        <p:nvSpPr>
          <p:cNvPr id="24" name="R1_m2"/>
          <p:cNvSpPr txBox="1"/>
          <p:nvPr/>
        </p:nvSpPr>
        <p:spPr>
          <a:xfrm>
            <a:off x="5577840" y="223570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tagliare a cubetti</a:t>
            </a:r>
            <a:endParaRPr lang="en-US" sz="1150" dirty="0"/>
          </a:p>
        </p:txBody>
      </p:sp>
      <p:sp>
        <p:nvSpPr>
          <p:cNvPr id="25" name="iconBack_55"/>
          <p:cNvSpPr/>
          <p:nvPr/>
        </p:nvSpPr>
        <p:spPr>
          <a:xfrm>
            <a:off x="2788920" y="264033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26" name="icon_56" descr="carr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8872" y="2710282"/>
            <a:ext cx="209855" cy="209855"/>
          </a:xfrm>
          <a:prstGeom prst="rect">
            <a:avLst/>
          </a:prstGeom>
        </p:spPr>
      </p:pic>
      <p:sp>
        <p:nvSpPr>
          <p:cNvPr id="27" name="box_57"/>
          <p:cNvSpPr txBox="1"/>
          <p:nvPr/>
        </p:nvSpPr>
        <p:spPr>
          <a:xfrm>
            <a:off x="3193542" y="2640330"/>
            <a:ext cx="2311146" cy="349758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peel</a:t>
            </a:r>
            <a:endParaRPr lang="en-US" sz="1250" dirty="0"/>
          </a:p>
        </p:txBody>
      </p:sp>
      <p:sp>
        <p:nvSpPr>
          <p:cNvPr id="28" name="R1_m3"/>
          <p:cNvSpPr txBox="1"/>
          <p:nvPr/>
        </p:nvSpPr>
        <p:spPr>
          <a:xfrm>
            <a:off x="5577840" y="265861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pelare / sbucciare</a:t>
            </a:r>
            <a:endParaRPr lang="en-US" sz="1150" dirty="0"/>
          </a:p>
        </p:txBody>
      </p:sp>
      <p:sp>
        <p:nvSpPr>
          <p:cNvPr id="29" name="iconBack_58"/>
          <p:cNvSpPr/>
          <p:nvPr/>
        </p:nvSpPr>
        <p:spPr>
          <a:xfrm>
            <a:off x="2788920" y="306324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30" name="icon_59" descr="chees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58872" y="3133192"/>
            <a:ext cx="209855" cy="209855"/>
          </a:xfrm>
          <a:prstGeom prst="rect">
            <a:avLst/>
          </a:prstGeom>
        </p:spPr>
      </p:pic>
      <p:sp>
        <p:nvSpPr>
          <p:cNvPr id="31" name="box_60"/>
          <p:cNvSpPr txBox="1"/>
          <p:nvPr/>
        </p:nvSpPr>
        <p:spPr>
          <a:xfrm>
            <a:off x="3193542" y="3063240"/>
            <a:ext cx="2311146" cy="349758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grate</a:t>
            </a:r>
            <a:endParaRPr lang="en-US" sz="1250" dirty="0"/>
          </a:p>
        </p:txBody>
      </p:sp>
      <p:sp>
        <p:nvSpPr>
          <p:cNvPr id="32" name="R1_m4"/>
          <p:cNvSpPr txBox="1"/>
          <p:nvPr/>
        </p:nvSpPr>
        <p:spPr>
          <a:xfrm>
            <a:off x="5577840" y="308152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grattugiare</a:t>
            </a:r>
            <a:endParaRPr lang="en-US" sz="1150" dirty="0"/>
          </a:p>
        </p:txBody>
      </p:sp>
      <p:sp>
        <p:nvSpPr>
          <p:cNvPr id="33" name="iconBack_61"/>
          <p:cNvSpPr/>
          <p:nvPr/>
        </p:nvSpPr>
        <p:spPr>
          <a:xfrm>
            <a:off x="2788920" y="348615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34" name="icon_62" descr="garlic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8872" y="3556102"/>
            <a:ext cx="209855" cy="209855"/>
          </a:xfrm>
          <a:prstGeom prst="rect">
            <a:avLst/>
          </a:prstGeom>
        </p:spPr>
      </p:pic>
      <p:sp>
        <p:nvSpPr>
          <p:cNvPr id="35" name="box_63"/>
          <p:cNvSpPr txBox="1"/>
          <p:nvPr/>
        </p:nvSpPr>
        <p:spPr>
          <a:xfrm>
            <a:off x="3193542" y="3486150"/>
            <a:ext cx="2311146" cy="349758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crush</a:t>
            </a:r>
            <a:endParaRPr lang="en-US" sz="1250" dirty="0"/>
          </a:p>
        </p:txBody>
      </p:sp>
      <p:sp>
        <p:nvSpPr>
          <p:cNvPr id="36" name="R1_m5"/>
          <p:cNvSpPr txBox="1"/>
          <p:nvPr/>
        </p:nvSpPr>
        <p:spPr>
          <a:xfrm>
            <a:off x="5577840" y="350443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schiacciare (aglio)</a:t>
            </a:r>
            <a:endParaRPr lang="en-US" sz="1150" dirty="0"/>
          </a:p>
        </p:txBody>
      </p:sp>
      <p:sp>
        <p:nvSpPr>
          <p:cNvPr id="37" name="iconBack_64"/>
          <p:cNvSpPr/>
          <p:nvPr/>
        </p:nvSpPr>
        <p:spPr>
          <a:xfrm>
            <a:off x="2788920" y="390906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38" name="icon_65" descr="stea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8872" y="3979012"/>
            <a:ext cx="209855" cy="209855"/>
          </a:xfrm>
          <a:prstGeom prst="rect">
            <a:avLst/>
          </a:prstGeom>
        </p:spPr>
      </p:pic>
      <p:sp>
        <p:nvSpPr>
          <p:cNvPr id="39" name="box_66"/>
          <p:cNvSpPr txBox="1"/>
          <p:nvPr/>
        </p:nvSpPr>
        <p:spPr>
          <a:xfrm>
            <a:off x="3193542" y="3909060"/>
            <a:ext cx="2311146" cy="34975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mince</a:t>
            </a:r>
            <a:endParaRPr lang="en-US" sz="1250" dirty="0"/>
          </a:p>
        </p:txBody>
      </p:sp>
      <p:sp>
        <p:nvSpPr>
          <p:cNvPr id="40" name="R1_m6"/>
          <p:cNvSpPr txBox="1"/>
          <p:nvPr/>
        </p:nvSpPr>
        <p:spPr>
          <a:xfrm>
            <a:off x="5577840" y="392734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macinare (carne)</a:t>
            </a:r>
            <a:endParaRPr lang="en-US" sz="1150" dirty="0"/>
          </a:p>
        </p:txBody>
      </p:sp>
      <p:sp>
        <p:nvSpPr>
          <p:cNvPr id="41" name="iconBack_67"/>
          <p:cNvSpPr/>
          <p:nvPr/>
        </p:nvSpPr>
        <p:spPr>
          <a:xfrm>
            <a:off x="2788920" y="4331970"/>
            <a:ext cx="349758" cy="34975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42" name="icon_68" descr="fish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58872" y="4401922"/>
            <a:ext cx="209855" cy="209855"/>
          </a:xfrm>
          <a:prstGeom prst="rect">
            <a:avLst/>
          </a:prstGeom>
        </p:spPr>
      </p:pic>
      <p:sp>
        <p:nvSpPr>
          <p:cNvPr id="43" name="box_69"/>
          <p:cNvSpPr txBox="1"/>
          <p:nvPr/>
        </p:nvSpPr>
        <p:spPr>
          <a:xfrm>
            <a:off x="3193542" y="4331970"/>
            <a:ext cx="2311146" cy="34975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fillet</a:t>
            </a:r>
            <a:endParaRPr lang="en-US" sz="1250" dirty="0"/>
          </a:p>
        </p:txBody>
      </p:sp>
      <p:sp>
        <p:nvSpPr>
          <p:cNvPr id="44" name="R1_m7"/>
          <p:cNvSpPr txBox="1"/>
          <p:nvPr/>
        </p:nvSpPr>
        <p:spPr>
          <a:xfrm>
            <a:off x="5577840" y="4350258"/>
            <a:ext cx="3246120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sfilettare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70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71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72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Upgrade</a:t>
            </a:r>
            <a:endParaRPr lang="en-US" sz="1100" dirty="0"/>
          </a:p>
        </p:txBody>
      </p:sp>
      <p:sp>
        <p:nvSpPr>
          <p:cNvPr id="5" name="timer_73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7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75"/>
          <p:cNvSpPr txBox="1"/>
          <p:nvPr/>
        </p:nvSpPr>
        <p:spPr>
          <a:xfrm rot="90000">
            <a:off x="320040" y="676656"/>
            <a:ext cx="3630168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 it like a chef</a:t>
            </a:r>
            <a:endParaRPr lang="en-US" sz="2000" dirty="0"/>
          </a:p>
        </p:txBody>
      </p:sp>
      <p:sp>
        <p:nvSpPr>
          <p:cNvPr id="8" name="tape_76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77"/>
          <p:cNvSpPr/>
          <p:nvPr/>
        </p:nvSpPr>
        <p:spPr>
          <a:xfrm rot="-720000">
            <a:off x="3383280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78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79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2" name="signB_80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more precise. 'Cut' is boring!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Rendila più precisa. 'Cut' è noioso!</a:t>
            </a:r>
            <a:endParaRPr lang="en-US" sz="1250" dirty="0"/>
          </a:p>
        </p:txBody>
      </p:sp>
      <p:sp>
        <p:nvSpPr>
          <p:cNvPr id="13" name="box_81"/>
          <p:cNvSpPr txBox="1"/>
          <p:nvPr/>
        </p:nvSpPr>
        <p:spPr>
          <a:xfrm>
            <a:off x="2788920" y="1371600"/>
            <a:ext cx="2534717" cy="555955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Cut the onion.</a:t>
            </a:r>
            <a:endParaRPr lang="en-US" sz="1350" dirty="0"/>
          </a:p>
        </p:txBody>
      </p:sp>
      <p:sp>
        <p:nvSpPr>
          <p:cNvPr id="14" name="R1_a0"/>
          <p:cNvSpPr txBox="1"/>
          <p:nvPr/>
        </p:nvSpPr>
        <p:spPr>
          <a:xfrm>
            <a:off x="5378501" y="1408176"/>
            <a:ext cx="3445459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Finely dice the onion.</a:t>
            </a:r>
            <a:endParaRPr lang="en-US" sz="1200" dirty="0"/>
          </a:p>
        </p:txBody>
      </p:sp>
      <p:sp>
        <p:nvSpPr>
          <p:cNvPr id="15" name="box_82"/>
          <p:cNvSpPr txBox="1"/>
          <p:nvPr/>
        </p:nvSpPr>
        <p:spPr>
          <a:xfrm>
            <a:off x="2788920" y="2055571"/>
            <a:ext cx="2534717" cy="555955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Cut the bread.</a:t>
            </a:r>
            <a:endParaRPr lang="en-US" sz="1350" dirty="0"/>
          </a:p>
        </p:txBody>
      </p:sp>
      <p:sp>
        <p:nvSpPr>
          <p:cNvPr id="16" name="R1_a1"/>
          <p:cNvSpPr txBox="1"/>
          <p:nvPr/>
        </p:nvSpPr>
        <p:spPr>
          <a:xfrm>
            <a:off x="5378501" y="2092147"/>
            <a:ext cx="3445459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the bread thinly.</a:t>
            </a:r>
            <a:endParaRPr lang="en-US" sz="1200" dirty="0"/>
          </a:p>
        </p:txBody>
      </p:sp>
      <p:sp>
        <p:nvSpPr>
          <p:cNvPr id="17" name="box_83"/>
          <p:cNvSpPr txBox="1"/>
          <p:nvPr/>
        </p:nvSpPr>
        <p:spPr>
          <a:xfrm>
            <a:off x="2788920" y="2739542"/>
            <a:ext cx="2534717" cy="555955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Cut the garlic.</a:t>
            </a:r>
            <a:endParaRPr lang="en-US" sz="1350" dirty="0"/>
          </a:p>
        </p:txBody>
      </p:sp>
      <p:sp>
        <p:nvSpPr>
          <p:cNvPr id="18" name="R1_a2"/>
          <p:cNvSpPr txBox="1"/>
          <p:nvPr/>
        </p:nvSpPr>
        <p:spPr>
          <a:xfrm>
            <a:off x="5378501" y="2776118"/>
            <a:ext cx="3445459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Peel and crush the garlic.</a:t>
            </a:r>
            <a:endParaRPr lang="en-US" sz="1200" dirty="0"/>
          </a:p>
        </p:txBody>
      </p:sp>
      <p:sp>
        <p:nvSpPr>
          <p:cNvPr id="19" name="box_84"/>
          <p:cNvSpPr txBox="1"/>
          <p:nvPr/>
        </p:nvSpPr>
        <p:spPr>
          <a:xfrm>
            <a:off x="2788920" y="3423514"/>
            <a:ext cx="2534717" cy="555955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Cut the cheese.</a:t>
            </a:r>
            <a:endParaRPr lang="en-US" sz="1350" dirty="0"/>
          </a:p>
        </p:txBody>
      </p:sp>
      <p:sp>
        <p:nvSpPr>
          <p:cNvPr id="20" name="R1_a3"/>
          <p:cNvSpPr txBox="1"/>
          <p:nvPr/>
        </p:nvSpPr>
        <p:spPr>
          <a:xfrm>
            <a:off x="5378501" y="3460090"/>
            <a:ext cx="3445459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Grate the parmesan.</a:t>
            </a:r>
            <a:endParaRPr lang="en-US" sz="1200" dirty="0"/>
          </a:p>
        </p:txBody>
      </p:sp>
      <p:sp>
        <p:nvSpPr>
          <p:cNvPr id="21" name="box_85"/>
          <p:cNvSpPr txBox="1"/>
          <p:nvPr/>
        </p:nvSpPr>
        <p:spPr>
          <a:xfrm>
            <a:off x="2788920" y="4107485"/>
            <a:ext cx="2534717" cy="555955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Cut the fish.</a:t>
            </a:r>
            <a:endParaRPr lang="en-US" sz="1350" dirty="0"/>
          </a:p>
        </p:txBody>
      </p:sp>
      <p:sp>
        <p:nvSpPr>
          <p:cNvPr id="22" name="R1_a4"/>
          <p:cNvSpPr txBox="1"/>
          <p:nvPr/>
        </p:nvSpPr>
        <p:spPr>
          <a:xfrm>
            <a:off x="5378501" y="4144061"/>
            <a:ext cx="3445459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the sea bass.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86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87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88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More prep verbs</a:t>
            </a:r>
            <a:endParaRPr lang="en-US" sz="1100" dirty="0"/>
          </a:p>
        </p:txBody>
      </p:sp>
      <p:sp>
        <p:nvSpPr>
          <p:cNvPr id="5" name="timer_89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90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91"/>
          <p:cNvSpPr txBox="1"/>
          <p:nvPr/>
        </p:nvSpPr>
        <p:spPr>
          <a:xfrm rot="90000">
            <a:off x="320040" y="676656"/>
            <a:ext cx="3630168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Wash, drain, pour…</a:t>
            </a:r>
            <a:endParaRPr lang="en-US" sz="2000" dirty="0"/>
          </a:p>
        </p:txBody>
      </p:sp>
      <p:sp>
        <p:nvSpPr>
          <p:cNvPr id="8" name="tape_92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93"/>
          <p:cNvSpPr/>
          <p:nvPr/>
        </p:nvSpPr>
        <p:spPr>
          <a:xfrm rot="-720000">
            <a:off x="3383280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94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95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2" name="signB_96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verbs. Then mime one – your partner says the command!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Abbina. Poi mima un verbo – il collega dà il comando!</a:t>
            </a:r>
            <a:endParaRPr lang="en-US" sz="1250" dirty="0"/>
          </a:p>
        </p:txBody>
      </p:sp>
      <p:sp>
        <p:nvSpPr>
          <p:cNvPr id="13" name="box_97"/>
          <p:cNvSpPr txBox="1"/>
          <p:nvPr/>
        </p:nvSpPr>
        <p:spPr>
          <a:xfrm>
            <a:off x="2788920" y="1371600"/>
            <a:ext cx="2534717" cy="34975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wash</a:t>
            </a:r>
            <a:endParaRPr lang="en-US" sz="1250" dirty="0"/>
          </a:p>
        </p:txBody>
      </p:sp>
      <p:sp>
        <p:nvSpPr>
          <p:cNvPr id="14" name="R1_m0"/>
          <p:cNvSpPr txBox="1"/>
          <p:nvPr/>
        </p:nvSpPr>
        <p:spPr>
          <a:xfrm>
            <a:off x="5396789" y="138988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lavare</a:t>
            </a:r>
            <a:endParaRPr lang="en-US" sz="1150" dirty="0"/>
          </a:p>
        </p:txBody>
      </p:sp>
      <p:sp>
        <p:nvSpPr>
          <p:cNvPr id="15" name="box_98"/>
          <p:cNvSpPr txBox="1"/>
          <p:nvPr/>
        </p:nvSpPr>
        <p:spPr>
          <a:xfrm>
            <a:off x="2788920" y="1794510"/>
            <a:ext cx="2534717" cy="34975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drain</a:t>
            </a:r>
            <a:endParaRPr lang="en-US" sz="1250" dirty="0"/>
          </a:p>
        </p:txBody>
      </p:sp>
      <p:sp>
        <p:nvSpPr>
          <p:cNvPr id="16" name="R1_m1"/>
          <p:cNvSpPr txBox="1"/>
          <p:nvPr/>
        </p:nvSpPr>
        <p:spPr>
          <a:xfrm>
            <a:off x="5396789" y="181279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scolare</a:t>
            </a:r>
            <a:endParaRPr lang="en-US" sz="1150" dirty="0"/>
          </a:p>
        </p:txBody>
      </p:sp>
      <p:sp>
        <p:nvSpPr>
          <p:cNvPr id="17" name="box_99"/>
          <p:cNvSpPr txBox="1"/>
          <p:nvPr/>
        </p:nvSpPr>
        <p:spPr>
          <a:xfrm>
            <a:off x="2788920" y="2217420"/>
            <a:ext cx="2534717" cy="349758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pour</a:t>
            </a:r>
            <a:endParaRPr lang="en-US" sz="1250" dirty="0"/>
          </a:p>
        </p:txBody>
      </p:sp>
      <p:sp>
        <p:nvSpPr>
          <p:cNvPr id="18" name="R1_m2"/>
          <p:cNvSpPr txBox="1"/>
          <p:nvPr/>
        </p:nvSpPr>
        <p:spPr>
          <a:xfrm>
            <a:off x="5396789" y="223570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versare</a:t>
            </a:r>
            <a:endParaRPr lang="en-US" sz="1150" dirty="0"/>
          </a:p>
        </p:txBody>
      </p:sp>
      <p:sp>
        <p:nvSpPr>
          <p:cNvPr id="19" name="box_100"/>
          <p:cNvSpPr txBox="1"/>
          <p:nvPr/>
        </p:nvSpPr>
        <p:spPr>
          <a:xfrm>
            <a:off x="2788920" y="2640330"/>
            <a:ext cx="2534717" cy="349758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squeeze</a:t>
            </a:r>
            <a:endParaRPr lang="en-US" sz="1250" dirty="0"/>
          </a:p>
        </p:txBody>
      </p:sp>
      <p:sp>
        <p:nvSpPr>
          <p:cNvPr id="20" name="R1_m3"/>
          <p:cNvSpPr txBox="1"/>
          <p:nvPr/>
        </p:nvSpPr>
        <p:spPr>
          <a:xfrm>
            <a:off x="5396789" y="265861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spremere</a:t>
            </a:r>
            <a:endParaRPr lang="en-US" sz="1150" dirty="0"/>
          </a:p>
        </p:txBody>
      </p:sp>
      <p:sp>
        <p:nvSpPr>
          <p:cNvPr id="21" name="box_101"/>
          <p:cNvSpPr txBox="1"/>
          <p:nvPr/>
        </p:nvSpPr>
        <p:spPr>
          <a:xfrm>
            <a:off x="2788920" y="3063240"/>
            <a:ext cx="2534717" cy="349758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spread</a:t>
            </a:r>
            <a:endParaRPr lang="en-US" sz="1250" dirty="0"/>
          </a:p>
        </p:txBody>
      </p:sp>
      <p:sp>
        <p:nvSpPr>
          <p:cNvPr id="22" name="R1_m4"/>
          <p:cNvSpPr txBox="1"/>
          <p:nvPr/>
        </p:nvSpPr>
        <p:spPr>
          <a:xfrm>
            <a:off x="5396789" y="308152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spalmare</a:t>
            </a:r>
            <a:endParaRPr lang="en-US" sz="1150" dirty="0"/>
          </a:p>
        </p:txBody>
      </p:sp>
      <p:sp>
        <p:nvSpPr>
          <p:cNvPr id="23" name="box_102"/>
          <p:cNvSpPr txBox="1"/>
          <p:nvPr/>
        </p:nvSpPr>
        <p:spPr>
          <a:xfrm>
            <a:off x="2788920" y="3486150"/>
            <a:ext cx="2534717" cy="349758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sprinkle</a:t>
            </a:r>
            <a:endParaRPr lang="en-US" sz="1250" dirty="0"/>
          </a:p>
        </p:txBody>
      </p:sp>
      <p:sp>
        <p:nvSpPr>
          <p:cNvPr id="24" name="R1_m5"/>
          <p:cNvSpPr txBox="1"/>
          <p:nvPr/>
        </p:nvSpPr>
        <p:spPr>
          <a:xfrm>
            <a:off x="5396789" y="350443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cospargere</a:t>
            </a:r>
            <a:endParaRPr lang="en-US" sz="1150" dirty="0"/>
          </a:p>
        </p:txBody>
      </p:sp>
      <p:sp>
        <p:nvSpPr>
          <p:cNvPr id="25" name="box_103"/>
          <p:cNvSpPr txBox="1"/>
          <p:nvPr/>
        </p:nvSpPr>
        <p:spPr>
          <a:xfrm>
            <a:off x="2788920" y="3909060"/>
            <a:ext cx="2534717" cy="34975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wrap</a:t>
            </a:r>
            <a:endParaRPr lang="en-US" sz="1250" dirty="0"/>
          </a:p>
        </p:txBody>
      </p:sp>
      <p:sp>
        <p:nvSpPr>
          <p:cNvPr id="26" name="R1_m6"/>
          <p:cNvSpPr txBox="1"/>
          <p:nvPr/>
        </p:nvSpPr>
        <p:spPr>
          <a:xfrm>
            <a:off x="5396789" y="392734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avvolgere (pellicola)</a:t>
            </a:r>
            <a:endParaRPr lang="en-US" sz="1150" dirty="0"/>
          </a:p>
        </p:txBody>
      </p:sp>
      <p:sp>
        <p:nvSpPr>
          <p:cNvPr id="27" name="box_104"/>
          <p:cNvSpPr txBox="1"/>
          <p:nvPr/>
        </p:nvSpPr>
        <p:spPr>
          <a:xfrm>
            <a:off x="2788920" y="4331970"/>
            <a:ext cx="2534717" cy="34975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label</a:t>
            </a:r>
            <a:endParaRPr lang="en-US" sz="1250" dirty="0"/>
          </a:p>
        </p:txBody>
      </p:sp>
      <p:sp>
        <p:nvSpPr>
          <p:cNvPr id="28" name="R1_m7"/>
          <p:cNvSpPr txBox="1"/>
          <p:nvPr/>
        </p:nvSpPr>
        <p:spPr>
          <a:xfrm>
            <a:off x="5396789" y="4350258"/>
            <a:ext cx="3427171" cy="313182"/>
          </a:xfrm>
          <a:prstGeom prst="roundRect">
            <a:avLst>
              <a:gd name="adj" fmla="val 1751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etichettare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05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06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07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Imperatives</a:t>
            </a:r>
            <a:endParaRPr lang="en-US" sz="1100" dirty="0"/>
          </a:p>
        </p:txBody>
      </p:sp>
      <p:sp>
        <p:nvSpPr>
          <p:cNvPr id="5" name="timer_108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109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110"/>
          <p:cNvSpPr txBox="1"/>
          <p:nvPr/>
        </p:nvSpPr>
        <p:spPr>
          <a:xfrm rot="90000">
            <a:off x="320040" y="676656"/>
            <a:ext cx="3803904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 it! Don't do it!</a:t>
            </a:r>
            <a:endParaRPr lang="en-US" sz="2000" dirty="0"/>
          </a:p>
        </p:txBody>
      </p:sp>
      <p:sp>
        <p:nvSpPr>
          <p:cNvPr id="8" name="tape_111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12"/>
          <p:cNvSpPr/>
          <p:nvPr/>
        </p:nvSpPr>
        <p:spPr>
          <a:xfrm rot="-720000">
            <a:off x="3557016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rh_113"/>
          <p:cNvSpPr txBox="1"/>
          <p:nvPr/>
        </p:nvSpPr>
        <p:spPr>
          <a:xfrm>
            <a:off x="320040" y="1371600"/>
            <a:ext cx="2749296" cy="384048"/>
          </a:xfrm>
          <a:prstGeom prst="rect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 Do it!</a:t>
            </a:r>
            <a:endParaRPr lang="en-US" sz="1300" dirty="0"/>
          </a:p>
        </p:txBody>
      </p:sp>
      <p:sp>
        <p:nvSpPr>
          <p:cNvPr id="11" name="rb_114"/>
          <p:cNvSpPr txBox="1"/>
          <p:nvPr/>
        </p:nvSpPr>
        <p:spPr>
          <a:xfrm>
            <a:off x="320040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– no subject!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 the onions.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the oven.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Peel the potatoes.</a:t>
            </a:r>
            <a:endParaRPr lang="en-US" sz="1350" dirty="0"/>
          </a:p>
        </p:txBody>
      </p:sp>
      <p:sp>
        <p:nvSpPr>
          <p:cNvPr id="12" name="rh_115"/>
          <p:cNvSpPr txBox="1"/>
          <p:nvPr/>
        </p:nvSpPr>
        <p:spPr>
          <a:xfrm>
            <a:off x="3197352" y="1371600"/>
            <a:ext cx="2749296" cy="384048"/>
          </a:xfrm>
          <a:prstGeom prst="rect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 Don't!</a:t>
            </a:r>
            <a:endParaRPr lang="en-US" sz="1300" dirty="0"/>
          </a:p>
        </p:txBody>
      </p:sp>
      <p:sp>
        <p:nvSpPr>
          <p:cNvPr id="13" name="rb_116"/>
          <p:cNvSpPr txBox="1"/>
          <p:nvPr/>
        </p:nvSpPr>
        <p:spPr>
          <a:xfrm>
            <a:off x="3197352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+ verb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touch that – it's hot!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use the red board for fish.</a:t>
            </a:r>
            <a:endParaRPr lang="en-US" sz="1350" dirty="0"/>
          </a:p>
        </p:txBody>
      </p:sp>
      <p:sp>
        <p:nvSpPr>
          <p:cNvPr id="14" name="rh_117"/>
          <p:cNvSpPr txBox="1"/>
          <p:nvPr/>
        </p:nvSpPr>
        <p:spPr>
          <a:xfrm>
            <a:off x="6074664" y="1371600"/>
            <a:ext cx="2749296" cy="384048"/>
          </a:xfrm>
          <a:prstGeom prst="rect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Polite</a:t>
            </a:r>
            <a:endParaRPr lang="en-US" sz="1300" dirty="0"/>
          </a:p>
        </p:txBody>
      </p:sp>
      <p:sp>
        <p:nvSpPr>
          <p:cNvPr id="15" name="rb_118"/>
          <p:cNvSpPr txBox="1"/>
          <p:nvPr/>
        </p:nvSpPr>
        <p:spPr>
          <a:xfrm>
            <a:off x="6074664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+ verb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you slice the bread, please?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Yes, Chef! / Heard!</a:t>
            </a:r>
            <a:endParaRPr lang="en-US" sz="1350" dirty="0"/>
          </a:p>
        </p:txBody>
      </p:sp>
      <p:sp>
        <p:nvSpPr>
          <p:cNvPr id="16" name="watch_119"/>
          <p:cNvSpPr txBox="1"/>
          <p:nvPr/>
        </p:nvSpPr>
        <p:spPr>
          <a:xfrm>
            <a:off x="320040" y="4133088"/>
            <a:ext cx="8503920" cy="530352"/>
          </a:xfrm>
          <a:prstGeom prst="rect">
            <a:avLst/>
          </a:prstGeom>
          <a:solidFill>
            <a:srgbClr val="FFE4E6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out! 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You chop the onions! (rude) → ✓ Chop the onions, please.     ✗ No touch! → ✓ Don't touch!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20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21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22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Be the teacher</a:t>
            </a:r>
            <a:endParaRPr lang="en-US" sz="1100" dirty="0"/>
          </a:p>
        </p:txBody>
      </p:sp>
      <p:sp>
        <p:nvSpPr>
          <p:cNvPr id="5" name="timer_123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12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125"/>
          <p:cNvSpPr txBox="1"/>
          <p:nvPr/>
        </p:nvSpPr>
        <p:spPr>
          <a:xfrm rot="90000">
            <a:off x="320040" y="676656"/>
            <a:ext cx="4846320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Fix the commis's commands</a:t>
            </a:r>
            <a:endParaRPr lang="en-US" sz="2000" dirty="0"/>
          </a:p>
        </p:txBody>
      </p:sp>
      <p:sp>
        <p:nvSpPr>
          <p:cNvPr id="8" name="tape_126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27"/>
          <p:cNvSpPr/>
          <p:nvPr/>
        </p:nvSpPr>
        <p:spPr>
          <a:xfrm rot="-720000">
            <a:off x="4599432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128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129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6D3FC0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SCRIVI!</a:t>
            </a:r>
            <a:endParaRPr lang="en-US" sz="1500" dirty="0"/>
          </a:p>
        </p:txBody>
      </p:sp>
      <p:sp>
        <p:nvSpPr>
          <p:cNvPr id="12" name="signB_130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has a mistake. Correct it!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comando ha un errore. Correggilo!</a:t>
            </a:r>
            <a:endParaRPr lang="en-US" sz="1250" dirty="0"/>
          </a:p>
        </p:txBody>
      </p:sp>
      <p:sp>
        <p:nvSpPr>
          <p:cNvPr id="13" name="box_131"/>
          <p:cNvSpPr txBox="1"/>
          <p:nvPr/>
        </p:nvSpPr>
        <p:spPr>
          <a:xfrm>
            <a:off x="2788920" y="1371600"/>
            <a:ext cx="3017520" cy="555955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You chop the onions!</a:t>
            </a:r>
            <a:endParaRPr lang="en-US" sz="1350" dirty="0"/>
          </a:p>
        </p:txBody>
      </p:sp>
      <p:sp>
        <p:nvSpPr>
          <p:cNvPr id="14" name="R1_a0"/>
          <p:cNvSpPr txBox="1"/>
          <p:nvPr/>
        </p:nvSpPr>
        <p:spPr>
          <a:xfrm>
            <a:off x="5861304" y="1408176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 the onions, please.</a:t>
            </a:r>
            <a:endParaRPr lang="en-US" sz="1200" dirty="0"/>
          </a:p>
        </p:txBody>
      </p:sp>
      <p:sp>
        <p:nvSpPr>
          <p:cNvPr id="15" name="box_132"/>
          <p:cNvSpPr txBox="1"/>
          <p:nvPr/>
        </p:nvSpPr>
        <p:spPr>
          <a:xfrm>
            <a:off x="2788920" y="2055571"/>
            <a:ext cx="3017520" cy="555955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No touch the oven!</a:t>
            </a:r>
            <a:endParaRPr lang="en-US" sz="1350" dirty="0"/>
          </a:p>
        </p:txBody>
      </p:sp>
      <p:sp>
        <p:nvSpPr>
          <p:cNvPr id="16" name="R1_a1"/>
          <p:cNvSpPr txBox="1"/>
          <p:nvPr/>
        </p:nvSpPr>
        <p:spPr>
          <a:xfrm>
            <a:off x="5861304" y="2092147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touch the oven!</a:t>
            </a:r>
            <a:endParaRPr lang="en-US" sz="1200" dirty="0"/>
          </a:p>
        </p:txBody>
      </p:sp>
      <p:sp>
        <p:nvSpPr>
          <p:cNvPr id="17" name="box_133"/>
          <p:cNvSpPr txBox="1"/>
          <p:nvPr/>
        </p:nvSpPr>
        <p:spPr>
          <a:xfrm>
            <a:off x="2788920" y="2739542"/>
            <a:ext cx="3017520" cy="555955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Don't to use the red board.</a:t>
            </a:r>
            <a:endParaRPr lang="en-US" sz="1350" dirty="0"/>
          </a:p>
        </p:txBody>
      </p:sp>
      <p:sp>
        <p:nvSpPr>
          <p:cNvPr id="18" name="R1_a2"/>
          <p:cNvSpPr txBox="1"/>
          <p:nvPr/>
        </p:nvSpPr>
        <p:spPr>
          <a:xfrm>
            <a:off x="5861304" y="2776118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use the red board.</a:t>
            </a:r>
            <a:endParaRPr lang="en-US" sz="1200" dirty="0"/>
          </a:p>
        </p:txBody>
      </p:sp>
      <p:sp>
        <p:nvSpPr>
          <p:cNvPr id="19" name="box_134"/>
          <p:cNvSpPr txBox="1"/>
          <p:nvPr/>
        </p:nvSpPr>
        <p:spPr>
          <a:xfrm>
            <a:off x="2788920" y="3423514"/>
            <a:ext cx="3017520" cy="555955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Please you wash the pans.</a:t>
            </a:r>
            <a:endParaRPr lang="en-US" sz="1350" dirty="0"/>
          </a:p>
        </p:txBody>
      </p:sp>
      <p:sp>
        <p:nvSpPr>
          <p:cNvPr id="20" name="R1_a3"/>
          <p:cNvSpPr txBox="1"/>
          <p:nvPr/>
        </p:nvSpPr>
        <p:spPr>
          <a:xfrm>
            <a:off x="5861304" y="3460090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wash the pans.</a:t>
            </a:r>
            <a:endParaRPr lang="en-US" sz="1200" dirty="0"/>
          </a:p>
        </p:txBody>
      </p:sp>
      <p:sp>
        <p:nvSpPr>
          <p:cNvPr id="21" name="box_135"/>
          <p:cNvSpPr txBox="1"/>
          <p:nvPr/>
        </p:nvSpPr>
        <p:spPr>
          <a:xfrm>
            <a:off x="2788920" y="4107485"/>
            <a:ext cx="3017520" cy="555955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Not forget the labels!</a:t>
            </a:r>
            <a:endParaRPr lang="en-US" sz="1350" dirty="0"/>
          </a:p>
        </p:txBody>
      </p:sp>
      <p:sp>
        <p:nvSpPr>
          <p:cNvPr id="22" name="R1_a4"/>
          <p:cNvSpPr txBox="1"/>
          <p:nvPr/>
        </p:nvSpPr>
        <p:spPr>
          <a:xfrm>
            <a:off x="5861304" y="4144061"/>
            <a:ext cx="296265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forget the labels!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36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37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38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READING · A recipe card</a:t>
            </a:r>
            <a:endParaRPr lang="en-US" sz="1100" dirty="0"/>
          </a:p>
        </p:txBody>
      </p:sp>
      <p:sp>
        <p:nvSpPr>
          <p:cNvPr id="5" name="timer_139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140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141"/>
          <p:cNvSpPr txBox="1"/>
          <p:nvPr/>
        </p:nvSpPr>
        <p:spPr>
          <a:xfrm rot="90000">
            <a:off x="320040" y="676656"/>
            <a:ext cx="4151376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Bruschetta in 6 steps</a:t>
            </a:r>
            <a:endParaRPr lang="en-US" sz="2000" dirty="0"/>
          </a:p>
        </p:txBody>
      </p:sp>
      <p:sp>
        <p:nvSpPr>
          <p:cNvPr id="8" name="tape_142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43"/>
          <p:cNvSpPr/>
          <p:nvPr/>
        </p:nvSpPr>
        <p:spPr>
          <a:xfrm rot="-720000">
            <a:off x="3904488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rsign_144"/>
          <p:cNvSpPr txBox="1"/>
          <p:nvPr/>
        </p:nvSpPr>
        <p:spPr>
          <a:xfrm>
            <a:off x="320040" y="1298448"/>
            <a:ext cx="8503920" cy="384048"/>
          </a:xfrm>
          <a:prstGeom prst="rect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READ! LEGGI!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recipe card. Answer the questions.  </a:t>
            </a:r>
            <a:pPr indent="0" marL="0">
              <a:buNone/>
            </a:pPr>
            <a:r>
              <a:rPr lang="en-US" sz="11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la ricetta e rispondi.</a:t>
            </a:r>
            <a:endParaRPr lang="en-US" sz="1200" dirty="0"/>
          </a:p>
        </p:txBody>
      </p:sp>
      <p:sp>
        <p:nvSpPr>
          <p:cNvPr id="11" name="rtext_145"/>
          <p:cNvSpPr txBox="1"/>
          <p:nvPr/>
        </p:nvSpPr>
        <p:spPr>
          <a:xfrm rot="-30000">
            <a:off x="320040" y="1810512"/>
            <a:ext cx="4343400" cy="2880360"/>
          </a:xfrm>
          <a:prstGeom prst="rect">
            <a:avLst/>
          </a:prstGeom>
          <a:solidFill>
            <a:srgbClr val="FFFDF5"/>
          </a:solidFill>
          <a:ln w="190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14300" tIns="114300" rIns="114300" bIns="1143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 Bruschetta (for 4)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Slice the bread – not too thin!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Toast it on the grill for two minutes.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Peel a clove of garlic and rub it on the hot bread.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Dice four ripe tomatoes. Don't use the hard centre.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Mix the tomatoes with salt, basil and olive oil.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Spread the mix on the bread. Serve immediately – don't wait, or the bread gets soft!</a:t>
            </a:r>
            <a:endParaRPr lang="en-US" sz="1300" dirty="0"/>
          </a:p>
        </p:txBody>
      </p:sp>
      <p:sp>
        <p:nvSpPr>
          <p:cNvPr id="12" name="box_146"/>
          <p:cNvSpPr txBox="1"/>
          <p:nvPr/>
        </p:nvSpPr>
        <p:spPr>
          <a:xfrm>
            <a:off x="4828032" y="1810512"/>
            <a:ext cx="2317638" cy="51755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How do you cook the bread?</a:t>
            </a:r>
            <a:endParaRPr lang="en-US" sz="1150" dirty="0"/>
          </a:p>
        </p:txBody>
      </p:sp>
      <p:sp>
        <p:nvSpPr>
          <p:cNvPr id="13" name="R1_ra0"/>
          <p:cNvSpPr txBox="1"/>
          <p:nvPr/>
        </p:nvSpPr>
        <p:spPr>
          <a:xfrm>
            <a:off x="7191390" y="1837944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grill, 2 min</a:t>
            </a:r>
            <a:endParaRPr lang="en-US" sz="1050" dirty="0"/>
          </a:p>
        </p:txBody>
      </p:sp>
      <p:sp>
        <p:nvSpPr>
          <p:cNvPr id="14" name="box_147"/>
          <p:cNvSpPr txBox="1"/>
          <p:nvPr/>
        </p:nvSpPr>
        <p:spPr>
          <a:xfrm>
            <a:off x="4828032" y="2401214"/>
            <a:ext cx="2317638" cy="51755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What do you do with the garlic?</a:t>
            </a:r>
            <a:endParaRPr lang="en-US" sz="1150" dirty="0"/>
          </a:p>
        </p:txBody>
      </p:sp>
      <p:sp>
        <p:nvSpPr>
          <p:cNvPr id="15" name="R1_ra1"/>
          <p:cNvSpPr txBox="1"/>
          <p:nvPr/>
        </p:nvSpPr>
        <p:spPr>
          <a:xfrm>
            <a:off x="7191390" y="2428646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peel it, rub it on the bread</a:t>
            </a:r>
            <a:endParaRPr lang="en-US" sz="1050" dirty="0"/>
          </a:p>
        </p:txBody>
      </p:sp>
      <p:sp>
        <p:nvSpPr>
          <p:cNvPr id="16" name="box_148"/>
          <p:cNvSpPr txBox="1"/>
          <p:nvPr/>
        </p:nvSpPr>
        <p:spPr>
          <a:xfrm>
            <a:off x="4828032" y="2991917"/>
            <a:ext cx="2317638" cy="51755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Which part of the tomato don't you use?</a:t>
            </a:r>
            <a:endParaRPr lang="en-US" sz="1150" dirty="0"/>
          </a:p>
        </p:txBody>
      </p:sp>
      <p:sp>
        <p:nvSpPr>
          <p:cNvPr id="17" name="R1_ra2"/>
          <p:cNvSpPr txBox="1"/>
          <p:nvPr/>
        </p:nvSpPr>
        <p:spPr>
          <a:xfrm>
            <a:off x="7191390" y="3019349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centre</a:t>
            </a:r>
            <a:endParaRPr lang="en-US" sz="1050" dirty="0"/>
          </a:p>
        </p:txBody>
      </p:sp>
      <p:sp>
        <p:nvSpPr>
          <p:cNvPr id="18" name="box_149"/>
          <p:cNvSpPr txBox="1"/>
          <p:nvPr/>
        </p:nvSpPr>
        <p:spPr>
          <a:xfrm>
            <a:off x="4828032" y="3582619"/>
            <a:ext cx="2317638" cy="51755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Find 2 negative commands.</a:t>
            </a:r>
            <a:endParaRPr lang="en-US" sz="1150" dirty="0"/>
          </a:p>
        </p:txBody>
      </p:sp>
      <p:sp>
        <p:nvSpPr>
          <p:cNvPr id="19" name="R1_ra3"/>
          <p:cNvSpPr txBox="1"/>
          <p:nvPr/>
        </p:nvSpPr>
        <p:spPr>
          <a:xfrm>
            <a:off x="7191390" y="3610051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use… / don't wait</a:t>
            </a:r>
            <a:endParaRPr lang="en-US" sz="1050" dirty="0"/>
          </a:p>
        </p:txBody>
      </p:sp>
      <p:sp>
        <p:nvSpPr>
          <p:cNvPr id="20" name="box_150"/>
          <p:cNvSpPr txBox="1"/>
          <p:nvPr/>
        </p:nvSpPr>
        <p:spPr>
          <a:xfrm>
            <a:off x="4828032" y="4173322"/>
            <a:ext cx="2317638" cy="51755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Why serve it immediately?</a:t>
            </a:r>
            <a:endParaRPr lang="en-US" sz="1150" dirty="0"/>
          </a:p>
        </p:txBody>
      </p:sp>
      <p:sp>
        <p:nvSpPr>
          <p:cNvPr id="21" name="R1_ra4"/>
          <p:cNvSpPr txBox="1"/>
          <p:nvPr/>
        </p:nvSpPr>
        <p:spPr>
          <a:xfrm>
            <a:off x="7191390" y="4200754"/>
            <a:ext cx="1632570" cy="462686"/>
          </a:xfrm>
          <a:prstGeom prst="roundRect">
            <a:avLst>
              <a:gd name="adj" fmla="val 1185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the bread gets soft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51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52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53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LISTENING · A real chef</a:t>
            </a:r>
            <a:endParaRPr lang="en-US" sz="1100" dirty="0"/>
          </a:p>
        </p:txBody>
      </p:sp>
      <p:sp>
        <p:nvSpPr>
          <p:cNvPr id="5" name="timer_154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7 min</a:t>
            </a:r>
            <a:endParaRPr lang="en-US" sz="1200" dirty="0"/>
          </a:p>
        </p:txBody>
      </p:sp>
      <p:sp>
        <p:nvSpPr>
          <p:cNvPr id="6" name="footer_155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156"/>
          <p:cNvSpPr txBox="1"/>
          <p:nvPr/>
        </p:nvSpPr>
        <p:spPr>
          <a:xfrm rot="90000">
            <a:off x="320040" y="676656"/>
            <a:ext cx="3977640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chop an onion</a:t>
            </a:r>
            <a:endParaRPr lang="en-US" sz="2000" dirty="0"/>
          </a:p>
        </p:txBody>
      </p:sp>
      <p:sp>
        <p:nvSpPr>
          <p:cNvPr id="8" name="tape_157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58"/>
          <p:cNvSpPr/>
          <p:nvPr/>
        </p:nvSpPr>
        <p:spPr>
          <a:xfrm rot="-720000">
            <a:off x="3730752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159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160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F59E0B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WATCH!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GUARDA!</a:t>
            </a:r>
            <a:endParaRPr lang="en-US" sz="1500" dirty="0"/>
          </a:p>
        </p:txBody>
      </p:sp>
      <p:sp>
        <p:nvSpPr>
          <p:cNvPr id="12" name="signB_161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Watch. Write the commands you hear.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Guarda. Scrivi i comandi che senti.</a:t>
            </a:r>
            <a:endParaRPr lang="en-US" sz="1250" dirty="0"/>
          </a:p>
        </p:txBody>
      </p:sp>
      <p:sp>
        <p:nvSpPr>
          <p:cNvPr id="13" name="screen_162"/>
          <p:cNvSpPr/>
          <p:nvPr/>
        </p:nvSpPr>
        <p:spPr>
          <a:xfrm>
            <a:off x="2788920" y="137160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1F1630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4" name="play_163">
            <a:hlinkClick r:id="rId3" tooltip="Gordon Ramsay: How to Chop an Onion"/>
          </p:cNvPr>
          <p:cNvSpPr txBox="1"/>
          <p:nvPr/>
        </p:nvSpPr>
        <p:spPr>
          <a:xfrm>
            <a:off x="3749040" y="1874520"/>
            <a:ext cx="822960" cy="822960"/>
          </a:xfrm>
          <a:prstGeom prst="ellipse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Gordon Ramsay: How to Chop an On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600" dirty="0"/>
          </a:p>
        </p:txBody>
      </p:sp>
      <p:sp>
        <p:nvSpPr>
          <p:cNvPr id="15" name="vt_164"/>
          <p:cNvSpPr txBox="1"/>
          <p:nvPr/>
        </p:nvSpPr>
        <p:spPr>
          <a:xfrm>
            <a:off x="2788920" y="3310128"/>
            <a:ext cx="27432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Gordon Ramsay: How to Chop an Onion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· about 2 min · click ▶ to open</a:t>
            </a:r>
            <a:endParaRPr lang="en-US" sz="1200" dirty="0"/>
          </a:p>
        </p:txBody>
      </p:sp>
      <p:sp>
        <p:nvSpPr>
          <p:cNvPr id="16" name="wyw_165"/>
          <p:cNvSpPr txBox="1"/>
          <p:nvPr/>
        </p:nvSpPr>
        <p:spPr>
          <a:xfrm>
            <a:off x="5669280" y="1371600"/>
            <a:ext cx="3154680" cy="347472"/>
          </a:xfrm>
          <a:prstGeom prst="rect">
            <a:avLst/>
          </a:prstGeom>
          <a:solidFill>
            <a:srgbClr val="F59E0B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While you watch · Mentre guardi</a:t>
            </a:r>
            <a:endParaRPr lang="en-US" sz="1150" dirty="0"/>
          </a:p>
        </p:txBody>
      </p:sp>
      <p:sp>
        <p:nvSpPr>
          <p:cNvPr id="17" name="box_166"/>
          <p:cNvSpPr txBox="1"/>
          <p:nvPr/>
        </p:nvSpPr>
        <p:spPr>
          <a:xfrm>
            <a:off x="5669280" y="1810512"/>
            <a:ext cx="3154680" cy="713232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Write 3 imperatives you hear: Cut…, Keep…, Don't…</a:t>
            </a:r>
            <a:endParaRPr lang="en-US" sz="1250" dirty="0"/>
          </a:p>
        </p:txBody>
      </p:sp>
      <p:sp>
        <p:nvSpPr>
          <p:cNvPr id="18" name="box_167"/>
          <p:cNvSpPr txBox="1"/>
          <p:nvPr/>
        </p:nvSpPr>
        <p:spPr>
          <a:xfrm>
            <a:off x="5669280" y="2615184"/>
            <a:ext cx="3154680" cy="713232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Which cutting verbs does he use?</a:t>
            </a:r>
            <a:endParaRPr lang="en-US" sz="1250" dirty="0"/>
          </a:p>
        </p:txBody>
      </p:sp>
      <p:sp>
        <p:nvSpPr>
          <p:cNvPr id="19" name="box_168"/>
          <p:cNvSpPr txBox="1"/>
          <p:nvPr/>
        </p:nvSpPr>
        <p:spPr>
          <a:xfrm>
            <a:off x="5669280" y="3419856"/>
            <a:ext cx="3154680" cy="713232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Is his way the same as yours? What's different?</a:t>
            </a:r>
            <a:endParaRPr lang="en-US" sz="1250" dirty="0"/>
          </a:p>
        </p:txBody>
      </p:sp>
      <p:sp>
        <p:nvSpPr>
          <p:cNvPr id="20" name="bubble_169"/>
          <p:cNvSpPr txBox="1"/>
          <p:nvPr/>
        </p:nvSpPr>
        <p:spPr>
          <a:xfrm>
            <a:off x="2788920" y="4069080"/>
            <a:ext cx="2743200" cy="603504"/>
          </a:xfrm>
          <a:prstGeom prst="round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teach your partner in English!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70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71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72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SPEAKING · Role-play</a:t>
            </a:r>
            <a:endParaRPr lang="en-US" sz="1100" dirty="0"/>
          </a:p>
        </p:txBody>
      </p:sp>
      <p:sp>
        <p:nvSpPr>
          <p:cNvPr id="5" name="timer_173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8 min</a:t>
            </a:r>
            <a:endParaRPr lang="en-US" sz="1200" dirty="0"/>
          </a:p>
        </p:txBody>
      </p:sp>
      <p:sp>
        <p:nvSpPr>
          <p:cNvPr id="6" name="footer_17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7" name="title_175"/>
          <p:cNvSpPr txBox="1"/>
          <p:nvPr/>
        </p:nvSpPr>
        <p:spPr>
          <a:xfrm rot="90000">
            <a:off x="320040" y="676656"/>
            <a:ext cx="3803904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terrible commis</a:t>
            </a:r>
            <a:endParaRPr lang="en-US" sz="2000" dirty="0"/>
          </a:p>
        </p:txBody>
      </p:sp>
      <p:sp>
        <p:nvSpPr>
          <p:cNvPr id="8" name="tape_176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9" name="tape_177"/>
          <p:cNvSpPr/>
          <p:nvPr/>
        </p:nvSpPr>
        <p:spPr>
          <a:xfrm rot="-720000">
            <a:off x="3557016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post_178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1" name="signA_179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EF2F2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PARLA!</a:t>
            </a:r>
            <a:endParaRPr lang="en-US" sz="1500" dirty="0"/>
          </a:p>
        </p:txBody>
      </p:sp>
      <p:sp>
        <p:nvSpPr>
          <p:cNvPr id="12" name="signB_180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is a terrible commis. A corrects him / her. Then swap!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è un pessimo commis. A lo corregge. Poi scambiatevi!</a:t>
            </a:r>
            <a:endParaRPr lang="en-US" sz="1250" dirty="0"/>
          </a:p>
        </p:txBody>
      </p:sp>
      <p:sp>
        <p:nvSpPr>
          <p:cNvPr id="13" name="line_181"/>
          <p:cNvSpPr txBox="1"/>
          <p:nvPr/>
        </p:nvSpPr>
        <p:spPr>
          <a:xfrm>
            <a:off x="2788920" y="1371600"/>
            <a:ext cx="3611880" cy="490728"/>
          </a:xfrm>
          <a:prstGeom prst="roundRect">
            <a:avLst>
              <a:gd name="adj" fmla="val 14907"/>
            </a:avLst>
          </a:prstGeom>
          <a:solidFill>
            <a:srgbClr val="FFF1F2"/>
          </a:solidFill>
          <a:ln w="15875">
            <a:solidFill>
              <a:srgbClr val="111111"/>
            </a:solidFill>
          </a:ln>
        </p:spPr>
        <p:txBody>
          <a:bodyPr wrap="square" lIns="88900" tIns="88900" rIns="88900" bIns="889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Peel the carrots, please.</a:t>
            </a:r>
            <a:endParaRPr lang="en-US" sz="1250" dirty="0"/>
          </a:p>
        </p:txBody>
      </p:sp>
      <p:sp>
        <p:nvSpPr>
          <p:cNvPr id="14" name="line_182"/>
          <p:cNvSpPr txBox="1"/>
          <p:nvPr/>
        </p:nvSpPr>
        <p:spPr>
          <a:xfrm>
            <a:off x="3108960" y="1935480"/>
            <a:ext cx="3611880" cy="490728"/>
          </a:xfrm>
          <a:prstGeom prst="roundRect">
            <a:avLst>
              <a:gd name="adj" fmla="val 14907"/>
            </a:avLst>
          </a:prstGeom>
          <a:solidFill>
            <a:srgbClr val="EFF6FF"/>
          </a:solidFill>
          <a:ln w="15875">
            <a:solidFill>
              <a:srgbClr val="111111"/>
            </a:solidFill>
          </a:ln>
        </p:spPr>
        <p:txBody>
          <a:bodyPr wrap="square" lIns="88900" tIns="88900" rIns="88900" bIns="889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Chef! (starts eating a carrot)</a:t>
            </a:r>
            <a:endParaRPr lang="en-US" sz="1250" dirty="0"/>
          </a:p>
        </p:txBody>
      </p:sp>
      <p:sp>
        <p:nvSpPr>
          <p:cNvPr id="15" name="line_183"/>
          <p:cNvSpPr txBox="1"/>
          <p:nvPr/>
        </p:nvSpPr>
        <p:spPr>
          <a:xfrm>
            <a:off x="2788920" y="2499360"/>
            <a:ext cx="3611880" cy="490728"/>
          </a:xfrm>
          <a:prstGeom prst="roundRect">
            <a:avLst>
              <a:gd name="adj" fmla="val 14907"/>
            </a:avLst>
          </a:prstGeom>
          <a:solidFill>
            <a:srgbClr val="FFF1F2"/>
          </a:solidFill>
          <a:ln w="15875">
            <a:solidFill>
              <a:srgbClr val="111111"/>
            </a:solidFill>
          </a:ln>
        </p:spPr>
        <p:txBody>
          <a:bodyPr wrap="square" lIns="88900" tIns="88900" rIns="88900" bIns="889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eat them! Peel them!</a:t>
            </a:r>
            <a:endParaRPr lang="en-US" sz="1250" dirty="0"/>
          </a:p>
        </p:txBody>
      </p:sp>
      <p:sp>
        <p:nvSpPr>
          <p:cNvPr id="16" name="line_184"/>
          <p:cNvSpPr txBox="1"/>
          <p:nvPr/>
        </p:nvSpPr>
        <p:spPr>
          <a:xfrm>
            <a:off x="3108960" y="3063240"/>
            <a:ext cx="3611880" cy="490728"/>
          </a:xfrm>
          <a:prstGeom prst="roundRect">
            <a:avLst>
              <a:gd name="adj" fmla="val 14907"/>
            </a:avLst>
          </a:prstGeom>
          <a:solidFill>
            <a:srgbClr val="EFF6FF"/>
          </a:solidFill>
          <a:ln w="15875">
            <a:solidFill>
              <a:srgbClr val="111111"/>
            </a:solidFill>
          </a:ln>
        </p:spPr>
        <p:txBody>
          <a:bodyPr wrap="square" lIns="88900" tIns="88900" rIns="88900" bIns="889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Sorry, Chef. Do I slice the mushrooms now?</a:t>
            </a:r>
            <a:endParaRPr lang="en-US" sz="1250" dirty="0"/>
          </a:p>
        </p:txBody>
      </p:sp>
      <p:sp>
        <p:nvSpPr>
          <p:cNvPr id="17" name="line_185"/>
          <p:cNvSpPr txBox="1"/>
          <p:nvPr/>
        </p:nvSpPr>
        <p:spPr>
          <a:xfrm>
            <a:off x="2788920" y="3627120"/>
            <a:ext cx="3611880" cy="490728"/>
          </a:xfrm>
          <a:prstGeom prst="roundRect">
            <a:avLst>
              <a:gd name="adj" fmla="val 14907"/>
            </a:avLst>
          </a:prstGeom>
          <a:solidFill>
            <a:srgbClr val="FFF1F2"/>
          </a:solidFill>
          <a:ln w="15875">
            <a:solidFill>
              <a:srgbClr val="111111"/>
            </a:solidFill>
          </a:ln>
        </p:spPr>
        <p:txBody>
          <a:bodyPr wrap="square" lIns="88900" tIns="88900" rIns="88900" bIns="889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No! Don't slice them – wash them first.</a:t>
            </a:r>
            <a:endParaRPr lang="en-US" sz="1250" dirty="0"/>
          </a:p>
        </p:txBody>
      </p:sp>
      <p:sp>
        <p:nvSpPr>
          <p:cNvPr id="18" name="line_186"/>
          <p:cNvSpPr txBox="1"/>
          <p:nvPr/>
        </p:nvSpPr>
        <p:spPr>
          <a:xfrm>
            <a:off x="3108960" y="4191000"/>
            <a:ext cx="3611880" cy="490728"/>
          </a:xfrm>
          <a:prstGeom prst="roundRect">
            <a:avLst>
              <a:gd name="adj" fmla="val 14907"/>
            </a:avLst>
          </a:prstGeom>
          <a:solidFill>
            <a:srgbClr val="EFF6FF"/>
          </a:solidFill>
          <a:ln w="15875">
            <a:solidFill>
              <a:srgbClr val="111111"/>
            </a:solidFill>
          </a:ln>
        </p:spPr>
        <p:txBody>
          <a:bodyPr wrap="square" lIns="88900" tIns="88900" rIns="88900" bIns="889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2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Heard, Chef!</a:t>
            </a:r>
            <a:endParaRPr lang="en-US" sz="1250" dirty="0"/>
          </a:p>
        </p:txBody>
      </p:sp>
      <p:sp>
        <p:nvSpPr>
          <p:cNvPr id="19" name="phrases_187"/>
          <p:cNvSpPr txBox="1"/>
          <p:nvPr/>
        </p:nvSpPr>
        <p:spPr>
          <a:xfrm rot="90000">
            <a:off x="6858000" y="1371600"/>
            <a:ext cx="1965960" cy="3310128"/>
          </a:xfrm>
          <a:prstGeom prst="rect">
            <a:avLst/>
          </a:prstGeom>
          <a:solidFill>
            <a:srgbClr val="FFD84D"/>
          </a:solidFill>
          <a:ln w="12700">
            <a:solidFill>
              <a:srgbClr val="B7950B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phrases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Don't…!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like that – like this.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again, please.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Faster!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done.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Sorry, Chef. / Heard!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88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89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footer_190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5" name="title_191"/>
          <p:cNvSpPr txBox="1"/>
          <p:nvPr/>
        </p:nvSpPr>
        <p:spPr>
          <a:xfrm rot="90000">
            <a:off x="320040" y="676656"/>
            <a:ext cx="4151376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what you can do!</a:t>
            </a:r>
            <a:endParaRPr lang="en-US" sz="2000" dirty="0"/>
          </a:p>
        </p:txBody>
      </p:sp>
      <p:sp>
        <p:nvSpPr>
          <p:cNvPr id="6" name="tape_192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7" name="tape_193"/>
          <p:cNvSpPr/>
          <p:nvPr/>
        </p:nvSpPr>
        <p:spPr>
          <a:xfrm rot="-720000">
            <a:off x="3904488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8" name="sub_194"/>
          <p:cNvSpPr txBox="1"/>
          <p:nvPr/>
        </p:nvSpPr>
        <p:spPr>
          <a:xfrm>
            <a:off x="36576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cosa sai fare adesso!</a:t>
            </a:r>
            <a:endParaRPr lang="en-US" sz="1200" dirty="0"/>
          </a:p>
        </p:txBody>
      </p:sp>
      <p:sp>
        <p:nvSpPr>
          <p:cNvPr id="9" name="box_195"/>
          <p:cNvSpPr txBox="1"/>
          <p:nvPr/>
        </p:nvSpPr>
        <p:spPr>
          <a:xfrm>
            <a:off x="365760" y="1600200"/>
            <a:ext cx="4846320" cy="54864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use cutting verbs: chop, slice, dice…</a:t>
            </a:r>
            <a:endParaRPr lang="en-US" sz="1350" dirty="0"/>
          </a:p>
        </p:txBody>
      </p:sp>
      <p:sp>
        <p:nvSpPr>
          <p:cNvPr id="10" name="faces_196"/>
          <p:cNvSpPr txBox="1"/>
          <p:nvPr/>
        </p:nvSpPr>
        <p:spPr>
          <a:xfrm>
            <a:off x="5230368" y="160020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1" name="box_197"/>
          <p:cNvSpPr txBox="1"/>
          <p:nvPr/>
        </p:nvSpPr>
        <p:spPr>
          <a:xfrm>
            <a:off x="365760" y="2240280"/>
            <a:ext cx="4846320" cy="54864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give and understand commands.</a:t>
            </a:r>
            <a:endParaRPr lang="en-US" sz="1350" dirty="0"/>
          </a:p>
        </p:txBody>
      </p:sp>
      <p:sp>
        <p:nvSpPr>
          <p:cNvPr id="12" name="faces_198"/>
          <p:cNvSpPr txBox="1"/>
          <p:nvPr/>
        </p:nvSpPr>
        <p:spPr>
          <a:xfrm>
            <a:off x="5230368" y="2240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3" name="box_199"/>
          <p:cNvSpPr txBox="1"/>
          <p:nvPr/>
        </p:nvSpPr>
        <p:spPr>
          <a:xfrm>
            <a:off x="365760" y="2880360"/>
            <a:ext cx="4846320" cy="54864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follow a real chef's video.</a:t>
            </a:r>
            <a:endParaRPr lang="en-US" sz="1350" dirty="0"/>
          </a:p>
        </p:txBody>
      </p:sp>
      <p:sp>
        <p:nvSpPr>
          <p:cNvPr id="14" name="faces_200"/>
          <p:cNvSpPr txBox="1"/>
          <p:nvPr/>
        </p:nvSpPr>
        <p:spPr>
          <a:xfrm>
            <a:off x="5230368" y="28803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5" name="hw_201"/>
          <p:cNvSpPr txBox="1"/>
          <p:nvPr/>
        </p:nvSpPr>
        <p:spPr>
          <a:xfrm rot="90000">
            <a:off x="6446520" y="1325880"/>
            <a:ext cx="2377440" cy="2651760"/>
          </a:xfrm>
          <a:prstGeom prst="rect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14300" tIns="114300" rIns="114300" bIns="1143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D8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HOMEWORK · COMPITI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prep list for tomorrow with 8 commands: Dice 5 kilos of onions…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teacher can attach the homework sheet in the portal.</a:t>
            </a:r>
            <a:endParaRPr lang="en-US" sz="1250" dirty="0"/>
          </a:p>
        </p:txBody>
      </p:sp>
      <p:sp>
        <p:nvSpPr>
          <p:cNvPr id="16" name="stamp_202"/>
          <p:cNvSpPr txBox="1"/>
          <p:nvPr/>
        </p:nvSpPr>
        <p:spPr>
          <a:xfrm>
            <a:off x="365760" y="3657600"/>
            <a:ext cx="43891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8100">
            <a:solidFill>
              <a:srgbClr val="6D3FC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lesson: L5 · Cooking methods &amp; recipes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203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204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205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 · GAME · Listen and act</a:t>
            </a:r>
            <a:endParaRPr lang="en-US" sz="1100" dirty="0"/>
          </a:p>
        </p:txBody>
      </p:sp>
      <p:sp>
        <p:nvSpPr>
          <p:cNvPr id="5" name="timer_206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extra_207"/>
          <p:cNvSpPr txBox="1"/>
          <p:nvPr/>
        </p:nvSpPr>
        <p:spPr>
          <a:xfrm rot="360000">
            <a:off x="5943600" y="20116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1FA463"/>
          </a:solidFill>
          <a:ln w="31750">
            <a:solidFill>
              <a:srgbClr val="11111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</a:t>
            </a:r>
            <a:endParaRPr lang="en-US" sz="1300" dirty="0"/>
          </a:p>
        </p:txBody>
      </p:sp>
      <p:sp>
        <p:nvSpPr>
          <p:cNvPr id="7" name="footer_208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8" name="title_209"/>
          <p:cNvSpPr txBox="1"/>
          <p:nvPr/>
        </p:nvSpPr>
        <p:spPr>
          <a:xfrm rot="90000">
            <a:off x="320040" y="676656"/>
            <a:ext cx="2240280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Chef says…</a:t>
            </a:r>
            <a:endParaRPr lang="en-US" sz="2000" dirty="0"/>
          </a:p>
        </p:txBody>
      </p:sp>
      <p:sp>
        <p:nvSpPr>
          <p:cNvPr id="9" name="tape_210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tape_211"/>
          <p:cNvSpPr/>
          <p:nvPr/>
        </p:nvSpPr>
        <p:spPr>
          <a:xfrm rot="-720000">
            <a:off x="1993392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1" name="post_212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2" name="signA_213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1FA463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PLAY!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GIOCA!</a:t>
            </a:r>
            <a:endParaRPr lang="en-US" sz="1500" dirty="0"/>
          </a:p>
        </p:txBody>
      </p:sp>
      <p:sp>
        <p:nvSpPr>
          <p:cNvPr id="13" name="signB_214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action only if I say 'Chef says'!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 il gesto solo se dico 'Chef says'!</a:t>
            </a:r>
            <a:endParaRPr lang="en-US" sz="1250" dirty="0"/>
          </a:p>
        </p:txBody>
      </p:sp>
      <p:sp>
        <p:nvSpPr>
          <p:cNvPr id="14" name="iconBack_215"/>
          <p:cNvSpPr/>
          <p:nvPr/>
        </p:nvSpPr>
        <p:spPr>
          <a:xfrm>
            <a:off x="685800" y="3246120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5" name="icon_216" descr="toqu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74720"/>
            <a:ext cx="685800" cy="685800"/>
          </a:xfrm>
          <a:prstGeom prst="rect">
            <a:avLst/>
          </a:prstGeom>
        </p:spPr>
      </p:pic>
      <p:sp>
        <p:nvSpPr>
          <p:cNvPr id="16" name="num_217"/>
          <p:cNvSpPr txBox="1"/>
          <p:nvPr/>
        </p:nvSpPr>
        <p:spPr>
          <a:xfrm>
            <a:off x="2788920" y="1490472"/>
            <a:ext cx="384048" cy="384048"/>
          </a:xfrm>
          <a:prstGeom prst="ellipse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box_218"/>
          <p:cNvSpPr txBox="1"/>
          <p:nvPr/>
        </p:nvSpPr>
        <p:spPr>
          <a:xfrm>
            <a:off x="3264408" y="1371600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says: chop the carrots! → mime it.</a:t>
            </a:r>
            <a:endParaRPr lang="en-US" sz="1300" dirty="0"/>
          </a:p>
        </p:txBody>
      </p:sp>
      <p:sp>
        <p:nvSpPr>
          <p:cNvPr id="18" name="num_219"/>
          <p:cNvSpPr txBox="1"/>
          <p:nvPr/>
        </p:nvSpPr>
        <p:spPr>
          <a:xfrm>
            <a:off x="2788920" y="2203704"/>
            <a:ext cx="384048" cy="384048"/>
          </a:xfrm>
          <a:prstGeom prst="ellipse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box_220"/>
          <p:cNvSpPr txBox="1"/>
          <p:nvPr/>
        </p:nvSpPr>
        <p:spPr>
          <a:xfrm>
            <a:off x="3264408" y="2084832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Peel the potatoes! (no 'Chef says') → don't move!</a:t>
            </a:r>
            <a:endParaRPr lang="en-US" sz="1300" dirty="0"/>
          </a:p>
        </p:txBody>
      </p:sp>
      <p:sp>
        <p:nvSpPr>
          <p:cNvPr id="20" name="num_221"/>
          <p:cNvSpPr txBox="1"/>
          <p:nvPr/>
        </p:nvSpPr>
        <p:spPr>
          <a:xfrm>
            <a:off x="2788920" y="2916936"/>
            <a:ext cx="384048" cy="384048"/>
          </a:xfrm>
          <a:prstGeom prst="ellipse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box_222"/>
          <p:cNvSpPr txBox="1"/>
          <p:nvPr/>
        </p:nvSpPr>
        <p:spPr>
          <a:xfrm>
            <a:off x="3264408" y="2798064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'Yes, Chef!' every time.</a:t>
            </a:r>
            <a:endParaRPr lang="en-US" sz="1300" dirty="0"/>
          </a:p>
        </p:txBody>
      </p:sp>
      <p:sp>
        <p:nvSpPr>
          <p:cNvPr id="22" name="num_223"/>
          <p:cNvSpPr txBox="1"/>
          <p:nvPr/>
        </p:nvSpPr>
        <p:spPr>
          <a:xfrm>
            <a:off x="2788920" y="3630168"/>
            <a:ext cx="384048" cy="384048"/>
          </a:xfrm>
          <a:prstGeom prst="ellipse">
            <a:avLst/>
          </a:prstGeom>
          <a:solidFill>
            <a:srgbClr val="F59E0B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box_224"/>
          <p:cNvSpPr txBox="1"/>
          <p:nvPr/>
        </p:nvSpPr>
        <p:spPr>
          <a:xfrm>
            <a:off x="3264408" y="3511296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chefs give the commands to the teacher!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225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226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227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 · Game · exact instructions</a:t>
            </a:r>
            <a:endParaRPr lang="en-US" sz="1100" dirty="0"/>
          </a:p>
        </p:txBody>
      </p:sp>
      <p:sp>
        <p:nvSpPr>
          <p:cNvPr id="5" name="timer_228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8 min</a:t>
            </a:r>
            <a:endParaRPr lang="en-US" sz="1200" dirty="0"/>
          </a:p>
        </p:txBody>
      </p:sp>
      <p:sp>
        <p:nvSpPr>
          <p:cNvPr id="6" name="extra_229"/>
          <p:cNvSpPr txBox="1"/>
          <p:nvPr/>
        </p:nvSpPr>
        <p:spPr>
          <a:xfrm rot="360000">
            <a:off x="5943600" y="20116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1FA463"/>
          </a:solidFill>
          <a:ln w="31750">
            <a:solidFill>
              <a:srgbClr val="11111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</a:t>
            </a:r>
            <a:endParaRPr lang="en-US" sz="1300" dirty="0"/>
          </a:p>
        </p:txBody>
      </p:sp>
      <p:sp>
        <p:nvSpPr>
          <p:cNvPr id="7" name="footer_230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L4</a:t>
            </a:r>
            <a:endParaRPr lang="en-US" sz="1000" dirty="0"/>
          </a:p>
        </p:txBody>
      </p:sp>
      <p:sp>
        <p:nvSpPr>
          <p:cNvPr id="8" name="title_231"/>
          <p:cNvSpPr txBox="1"/>
          <p:nvPr/>
        </p:nvSpPr>
        <p:spPr>
          <a:xfrm rot="90000">
            <a:off x="320040" y="676656"/>
            <a:ext cx="2935224" cy="530352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robot chef</a:t>
            </a:r>
            <a:endParaRPr lang="en-US" sz="2000" dirty="0"/>
          </a:p>
        </p:txBody>
      </p:sp>
      <p:sp>
        <p:nvSpPr>
          <p:cNvPr id="9" name="tape_232"/>
          <p:cNvSpPr/>
          <p:nvPr/>
        </p:nvSpPr>
        <p:spPr>
          <a:xfrm rot="-720000">
            <a:off x="210312" y="585216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0" name="tape_233"/>
          <p:cNvSpPr/>
          <p:nvPr/>
        </p:nvSpPr>
        <p:spPr>
          <a:xfrm rot="-720000">
            <a:off x="2688336" y="1069848"/>
            <a:ext cx="685800" cy="219456"/>
          </a:xfrm>
          <a:prstGeom prst="rect">
            <a:avLst/>
          </a:prstGeom>
          <a:solidFill>
            <a:srgbClr val="C9B3F0">
              <a:alpha val="80000"/>
            </a:srgbClr>
          </a:solidFill>
          <a:ln w="6350">
            <a:solidFill>
              <a:srgbClr val="C9B3F0"/>
            </a:solidFill>
            <a:prstDash val="solid"/>
          </a:ln>
        </p:spPr>
      </p:sp>
      <p:sp>
        <p:nvSpPr>
          <p:cNvPr id="11" name="post_234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2" name="signA_235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1FA463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PLAY!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GIOCA!</a:t>
            </a:r>
            <a:endParaRPr lang="en-US" sz="1500" dirty="0"/>
          </a:p>
        </p:txBody>
      </p:sp>
      <p:sp>
        <p:nvSpPr>
          <p:cNvPr id="13" name="signB_236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does EXACTLY what you say. Nothing more!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robot fa ESATTAMENTE ciò che dici!</a:t>
            </a:r>
            <a:endParaRPr lang="en-US" sz="1250" dirty="0"/>
          </a:p>
        </p:txBody>
      </p:sp>
      <p:sp>
        <p:nvSpPr>
          <p:cNvPr id="14" name="iconBack_237"/>
          <p:cNvSpPr/>
          <p:nvPr/>
        </p:nvSpPr>
        <p:spPr>
          <a:xfrm>
            <a:off x="685800" y="3246120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5" name="icon_238" descr="b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74720"/>
            <a:ext cx="685800" cy="685800"/>
          </a:xfrm>
          <a:prstGeom prst="rect">
            <a:avLst/>
          </a:prstGeom>
        </p:spPr>
      </p:pic>
      <p:sp>
        <p:nvSpPr>
          <p:cNvPr id="16" name="num_239"/>
          <p:cNvSpPr txBox="1"/>
          <p:nvPr/>
        </p:nvSpPr>
        <p:spPr>
          <a:xfrm>
            <a:off x="2788920" y="1490472"/>
            <a:ext cx="384048" cy="384048"/>
          </a:xfrm>
          <a:prstGeom prst="ellipse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box_240"/>
          <p:cNvSpPr txBox="1"/>
          <p:nvPr/>
        </p:nvSpPr>
        <p:spPr>
          <a:xfrm>
            <a:off x="3264408" y="1371600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(then a chef) is a robot.</a:t>
            </a:r>
            <a:endParaRPr lang="en-US" sz="1300" dirty="0"/>
          </a:p>
        </p:txBody>
      </p:sp>
      <p:sp>
        <p:nvSpPr>
          <p:cNvPr id="18" name="num_241"/>
          <p:cNvSpPr txBox="1"/>
          <p:nvPr/>
        </p:nvSpPr>
        <p:spPr>
          <a:xfrm>
            <a:off x="2788920" y="2203704"/>
            <a:ext cx="384048" cy="384048"/>
          </a:xfrm>
          <a:prstGeom prst="ellipse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box_242"/>
          <p:cNvSpPr txBox="1"/>
          <p:nvPr/>
        </p:nvSpPr>
        <p:spPr>
          <a:xfrm>
            <a:off x="3264408" y="2084832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commands to make a sandwich or a coffee.</a:t>
            </a:r>
            <a:endParaRPr lang="en-US" sz="1300" dirty="0"/>
          </a:p>
        </p:txBody>
      </p:sp>
      <p:sp>
        <p:nvSpPr>
          <p:cNvPr id="20" name="num_243"/>
          <p:cNvSpPr txBox="1"/>
          <p:nvPr/>
        </p:nvSpPr>
        <p:spPr>
          <a:xfrm>
            <a:off x="2788920" y="2916936"/>
            <a:ext cx="384048" cy="384048"/>
          </a:xfrm>
          <a:prstGeom prst="ellipse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box_244"/>
          <p:cNvSpPr txBox="1"/>
          <p:nvPr/>
        </p:nvSpPr>
        <p:spPr>
          <a:xfrm>
            <a:off x="3264408" y="2798064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does exactly what you say: Open the bread. → the robot can't! Which bread? How?</a:t>
            </a:r>
            <a:endParaRPr lang="en-US" sz="1300" dirty="0"/>
          </a:p>
        </p:txBody>
      </p:sp>
      <p:sp>
        <p:nvSpPr>
          <p:cNvPr id="22" name="num_245"/>
          <p:cNvSpPr txBox="1"/>
          <p:nvPr/>
        </p:nvSpPr>
        <p:spPr>
          <a:xfrm>
            <a:off x="2788920" y="3630168"/>
            <a:ext cx="384048" cy="384048"/>
          </a:xfrm>
          <a:prstGeom prst="ellipse">
            <a:avLst/>
          </a:prstGeom>
          <a:solidFill>
            <a:srgbClr val="F59E0B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box_246"/>
          <p:cNvSpPr txBox="1"/>
          <p:nvPr/>
        </p:nvSpPr>
        <p:spPr>
          <a:xfrm>
            <a:off x="3264408" y="3511296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job with clear imperatives. Then swap.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London Language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Kitchen English L4 Kitchen commands</dc:title>
  <dc:subject>PptxGenJS Presentation</dc:subject>
  <dc:creator>London Language School</dc:creator>
  <cp:lastModifiedBy>London Language School</cp:lastModifiedBy>
  <cp:revision>1</cp:revision>
  <dcterms:created xsi:type="dcterms:W3CDTF">2026-10-05T06:50:56Z</dcterms:created>
  <dcterms:modified xsi:type="dcterms:W3CDTF">2026-10-05T06:50:56Z</dcterms:modified>
</cp:coreProperties>
</file>