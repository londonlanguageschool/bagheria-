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3 (60 min). Aims: ingredients, countable/uncountable, some/any, how much/how many, checking a delivery.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2 (2 min)
REVISION part 1 (2 min). VARIATION: memory disruption. Show for 20 seconds, then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REVISION · Lesson 2 (3 min)
REVISION part 2 (3 min). Students say what's missing AND where it was: The ladle was next to the knife. Click 1: answers. Then: What other equipment do you remember from last lesson? (tongs, peeler, grater, sieve, chopping board…)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Ingredients (8 min)
VOCABULARY (8 min). Then categorise quickly: vegetables, fruit, meat &amp; poultry, fish &amp; seafood, dairy, dry store. Elicit 2 more words for each group (onion, pepper, pork, lamb, cod, cream, rice, sugar, oil).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Containers &amp; quantities (6 min)
VOCABULARY (6 min). Click 1. This is how we count uncountable food: two bottles of oil (not two oils). Italian: sacchetto, bottiglia, scatola, lattina, cartone, mazzo, spicchio, pizzico.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Countable / uncountable (6 min)
GRAMMAR (6 min). Quick test: say a word, they say 'much' or 'many' (rice → much, prawns → many, garlic → much / cloves of garlic → many).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Practice (5 min)
PRACTICE (5 min). Pairs, then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A supplier's email (6 min)
READING (6 min). Students answer with How much / How many language. Follow-up: Would you accept limes instead of lemons? For which dishes?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Creative cooking (10 min)
GAME (10 min). VARIATION: student-generated content + curiosity gap. Click 4 times to open the basket (fish, lemon, cheese, chilli — the famous 'no cheese with fish' rule makes it fun: let them argue). Round 2: teacher chooses 4 new ingredients.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Role-play (8 min)
ROLE-PLAY (10 min). Second time: use the real order from their restaurant. Third time: B invents 2 problems (wrong amount, out of 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L3 in the portal.
Can-dos: I can name ingredients and food groups. · I can use some / any and How much / How many. · I can check stock and a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Food talk (6 min)
SPEAKING (6 min). VARIATION: negative experiences + follow-ups — people have more to say about what they hate. Keep it light; don't push for personal stories.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memory (6 min)
EXTRA (6 min). Memory chain — used only in this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3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L3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Ingredients</a:t>
            </a:r>
            <a:endParaRPr lang="en-US" sz="30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and ingredients · countable / uncountable · the delivery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food and ingredients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countable / uncountable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the delivery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Chef. We've run out!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box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we got any butter?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 for 20 seconds…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and remember! You have 20 seconds.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e ricorda! Hai 20 secondi.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TPRS · meaning</a:t>
            </a:r>
            <a:endParaRPr lang="en-US" sz="110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REVISION · Lesson 2</a:t>
            </a:r>
            <a:endParaRPr lang="en-US" sz="800" dirty="0"/>
          </a:p>
        </p:txBody>
      </p:sp>
      <p:sp>
        <p:nvSpPr>
          <p:cNvPr id="12" name="cd_26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27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14" name="en_28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knife</a:t>
            </a:r>
            <a:endParaRPr lang="en-US" sz="1200" dirty="0"/>
          </a:p>
        </p:txBody>
      </p:sp>
      <p:sp>
        <p:nvSpPr>
          <p:cNvPr id="15" name="R1_it29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6" name="cd_30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31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8" name="en_32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ladle</a:t>
            </a:r>
            <a:endParaRPr lang="en-US" sz="1200" dirty="0"/>
          </a:p>
        </p:txBody>
      </p:sp>
      <p:sp>
        <p:nvSpPr>
          <p:cNvPr id="19" name="R2_it33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0" name="cd_34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35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22" name="en_36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whisk</a:t>
            </a:r>
            <a:endParaRPr lang="en-US" sz="1200" dirty="0"/>
          </a:p>
        </p:txBody>
      </p:sp>
      <p:sp>
        <p:nvSpPr>
          <p:cNvPr id="23" name="R3_it37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4" name="cd_38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3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6" name="en_4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scales</a:t>
            </a:r>
            <a:endParaRPr lang="en-US" sz="1200" dirty="0"/>
          </a:p>
        </p:txBody>
      </p:sp>
      <p:sp>
        <p:nvSpPr>
          <p:cNvPr id="27" name="R4_it41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8" name="cd_42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43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0" name="en_44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oven</a:t>
            </a:r>
            <a:endParaRPr lang="en-US" sz="1200" dirty="0"/>
          </a:p>
        </p:txBody>
      </p:sp>
      <p:sp>
        <p:nvSpPr>
          <p:cNvPr id="31" name="R5_it45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2" name="cd_46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47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🧊</a:t>
            </a:r>
            <a:endParaRPr lang="en-US" sz="2000" dirty="0"/>
          </a:p>
        </p:txBody>
      </p:sp>
      <p:sp>
        <p:nvSpPr>
          <p:cNvPr id="34" name="en_48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fridge</a:t>
            </a:r>
            <a:endParaRPr lang="en-US" sz="1200" dirty="0"/>
          </a:p>
        </p:txBody>
      </p:sp>
      <p:sp>
        <p:nvSpPr>
          <p:cNvPr id="35" name="R6_it49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6" name="cd_50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51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8" name="en_52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saucepan</a:t>
            </a:r>
            <a:endParaRPr lang="en-US" sz="1200" dirty="0"/>
          </a:p>
        </p:txBody>
      </p:sp>
      <p:sp>
        <p:nvSpPr>
          <p:cNvPr id="39" name="R7_it53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0" name="cd_54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55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42" name="en_56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microwave</a:t>
            </a:r>
            <a:endParaRPr lang="en-US" sz="1200" dirty="0"/>
          </a:p>
        </p:txBody>
      </p:sp>
      <p:sp>
        <p:nvSpPr>
          <p:cNvPr id="43" name="R8_it57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4" name="cd_58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59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6" name="en_60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wooden spoon</a:t>
            </a:r>
            <a:endParaRPr lang="en-US" sz="1200" dirty="0"/>
          </a:p>
        </p:txBody>
      </p:sp>
      <p:sp>
        <p:nvSpPr>
          <p:cNvPr id="47" name="R9_it61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8" name="cd_62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63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🧤</a:t>
            </a:r>
            <a:endParaRPr lang="en-US" sz="2000" dirty="0"/>
          </a:p>
        </p:txBody>
      </p:sp>
      <p:sp>
        <p:nvSpPr>
          <p:cNvPr id="50" name="en_64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oven gloves</a:t>
            </a:r>
            <a:endParaRPr lang="en-US" sz="1200" dirty="0"/>
          </a:p>
        </p:txBody>
      </p:sp>
      <p:sp>
        <p:nvSpPr>
          <p:cNvPr id="51" name="R10_it65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52" name="cd_66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67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4" name="en_68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cleaver</a:t>
            </a:r>
            <a:endParaRPr lang="en-US" sz="1200" dirty="0"/>
          </a:p>
        </p:txBody>
      </p:sp>
      <p:sp>
        <p:nvSpPr>
          <p:cNvPr id="55" name="R11_it69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56" name="cd_70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71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8" name="en_72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hob</a:t>
            </a:r>
            <a:endParaRPr lang="en-US" sz="1200" dirty="0"/>
          </a:p>
        </p:txBody>
      </p:sp>
      <p:sp>
        <p:nvSpPr>
          <p:cNvPr id="59" name="R12_it73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7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7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missing?</a:t>
            </a:r>
            <a:endParaRPr lang="en-US" sz="2500" dirty="0"/>
          </a:p>
        </p:txBody>
      </p:sp>
      <p:pic>
        <p:nvPicPr>
          <p:cNvPr id="6" name="brP_7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7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things are missing. What are they? Where were they?</a:t>
            </a:r>
            <a:endParaRPr lang="en-US" sz="1250" dirty="0"/>
          </a:p>
        </p:txBody>
      </p:sp>
      <p:sp>
        <p:nvSpPr>
          <p:cNvPr id="8" name="insIT_7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Mancano 3 oggetti. Quali? Dov'erano?</a:t>
            </a:r>
            <a:endParaRPr lang="en-US" sz="950" dirty="0"/>
          </a:p>
        </p:txBody>
      </p:sp>
      <p:sp>
        <p:nvSpPr>
          <p:cNvPr id="9" name="note_80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TPRS · meaning</a:t>
            </a:r>
            <a:endParaRPr lang="en-US" sz="1100" dirty="0"/>
          </a:p>
        </p:txBody>
      </p:sp>
      <p:pic>
        <p:nvPicPr>
          <p:cNvPr id="10" name="logo_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REVISION · Lesson 2</a:t>
            </a:r>
            <a:endParaRPr lang="en-US" sz="800" dirty="0"/>
          </a:p>
        </p:txBody>
      </p:sp>
      <p:sp>
        <p:nvSpPr>
          <p:cNvPr id="12" name="cd_83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8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14" name="en_8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knife</a:t>
            </a:r>
            <a:endParaRPr lang="en-US" sz="1200" dirty="0"/>
          </a:p>
        </p:txBody>
      </p:sp>
      <p:sp>
        <p:nvSpPr>
          <p:cNvPr id="15" name="R1_it86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6" name="cd_87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8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8" name="en_8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00" dirty="0"/>
          </a:p>
        </p:txBody>
      </p:sp>
      <p:sp>
        <p:nvSpPr>
          <p:cNvPr id="19" name="R2_it90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ladle</a:t>
            </a:r>
            <a:endParaRPr lang="en-US" sz="1000" dirty="0"/>
          </a:p>
        </p:txBody>
      </p:sp>
      <p:sp>
        <p:nvSpPr>
          <p:cNvPr id="20" name="cd_91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2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22" name="en_93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whisk</a:t>
            </a:r>
            <a:endParaRPr lang="en-US" sz="1200" dirty="0"/>
          </a:p>
        </p:txBody>
      </p:sp>
      <p:sp>
        <p:nvSpPr>
          <p:cNvPr id="23" name="R3_it94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4" name="cd_95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9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6" name="en_9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scales</a:t>
            </a:r>
            <a:endParaRPr lang="en-US" sz="1200" dirty="0"/>
          </a:p>
        </p:txBody>
      </p:sp>
      <p:sp>
        <p:nvSpPr>
          <p:cNvPr id="27" name="R4_it98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8" name="cd_99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00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0" name="en_101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oven</a:t>
            </a:r>
            <a:endParaRPr lang="en-US" sz="1200" dirty="0"/>
          </a:p>
        </p:txBody>
      </p:sp>
      <p:sp>
        <p:nvSpPr>
          <p:cNvPr id="31" name="R5_it102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2" name="cd_103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04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4" name="en_105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R6_it106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fridge</a:t>
            </a:r>
            <a:endParaRPr lang="en-US" sz="1000" dirty="0"/>
          </a:p>
        </p:txBody>
      </p:sp>
      <p:sp>
        <p:nvSpPr>
          <p:cNvPr id="36" name="cd_107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108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8" name="en_109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saucepan</a:t>
            </a:r>
            <a:endParaRPr lang="en-US" sz="1200" dirty="0"/>
          </a:p>
        </p:txBody>
      </p:sp>
      <p:sp>
        <p:nvSpPr>
          <p:cNvPr id="39" name="R7_it110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0" name="cd_111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2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42" name="en_113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microwave</a:t>
            </a:r>
            <a:endParaRPr lang="en-US" sz="1200" dirty="0"/>
          </a:p>
        </p:txBody>
      </p:sp>
      <p:sp>
        <p:nvSpPr>
          <p:cNvPr id="43" name="R8_it114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4" name="cd_115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16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6" name="en_117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wooden spoon</a:t>
            </a:r>
            <a:endParaRPr lang="en-US" sz="1200" dirty="0"/>
          </a:p>
        </p:txBody>
      </p:sp>
      <p:sp>
        <p:nvSpPr>
          <p:cNvPr id="47" name="R9_it118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8" name="cd_119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20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0" name="en_121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00" dirty="0"/>
          </a:p>
        </p:txBody>
      </p:sp>
      <p:sp>
        <p:nvSpPr>
          <p:cNvPr id="51" name="R10_it122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oven gloves</a:t>
            </a:r>
            <a:endParaRPr lang="en-US" sz="1000" dirty="0"/>
          </a:p>
        </p:txBody>
      </p:sp>
      <p:sp>
        <p:nvSpPr>
          <p:cNvPr id="52" name="cd_123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124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4" name="en_125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cleaver</a:t>
            </a:r>
            <a:endParaRPr lang="en-US" sz="1200" dirty="0"/>
          </a:p>
        </p:txBody>
      </p:sp>
      <p:sp>
        <p:nvSpPr>
          <p:cNvPr id="55" name="R11_it126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56" name="cd_127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128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8" name="en_129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hob</a:t>
            </a:r>
            <a:endParaRPr lang="en-US" sz="1200" dirty="0"/>
          </a:p>
        </p:txBody>
      </p:sp>
      <p:sp>
        <p:nvSpPr>
          <p:cNvPr id="59" name="R12_it130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3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 the cold room</a:t>
            </a:r>
            <a:endParaRPr lang="en-US" sz="2500" dirty="0"/>
          </a:p>
        </p:txBody>
      </p:sp>
      <p:pic>
        <p:nvPicPr>
          <p:cNvPr id="6" name="brP_1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135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them in English. Which do you use every day?</a:t>
            </a:r>
            <a:endParaRPr lang="en-US" sz="1250" dirty="0"/>
          </a:p>
        </p:txBody>
      </p:sp>
      <p:sp>
        <p:nvSpPr>
          <p:cNvPr id="8" name="insIT_1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Dille in inglese. Quali usi ogni giorno?</a:t>
            </a:r>
            <a:endParaRPr lang="en-US" sz="950" dirty="0"/>
          </a:p>
        </p:txBody>
      </p:sp>
      <p:sp>
        <p:nvSpPr>
          <p:cNvPr id="9" name="note_1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1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VOCABULARY · Ingredients</a:t>
            </a:r>
            <a:endParaRPr lang="en-US" sz="800" dirty="0"/>
          </a:p>
        </p:txBody>
      </p:sp>
      <p:sp>
        <p:nvSpPr>
          <p:cNvPr id="12" name="cd_140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141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4" name="en_142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garlic</a:t>
            </a:r>
            <a:endParaRPr lang="en-US" sz="1200" dirty="0"/>
          </a:p>
        </p:txBody>
      </p:sp>
      <p:sp>
        <p:nvSpPr>
          <p:cNvPr id="15" name="R1_it143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aglio</a:t>
            </a:r>
            <a:endParaRPr lang="en-US" sz="1000" dirty="0"/>
          </a:p>
        </p:txBody>
      </p:sp>
      <p:sp>
        <p:nvSpPr>
          <p:cNvPr id="16" name="cd_144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145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8" name="en_146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carrot</a:t>
            </a:r>
            <a:endParaRPr lang="en-US" sz="1200" dirty="0"/>
          </a:p>
        </p:txBody>
      </p:sp>
      <p:sp>
        <p:nvSpPr>
          <p:cNvPr id="19" name="R2_it147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carota</a:t>
            </a:r>
            <a:endParaRPr lang="en-US" sz="1000" dirty="0"/>
          </a:p>
        </p:txBody>
      </p:sp>
      <p:sp>
        <p:nvSpPr>
          <p:cNvPr id="20" name="cd_148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49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2" name="en_150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potato</a:t>
            </a:r>
            <a:endParaRPr lang="en-US" sz="1200" dirty="0"/>
          </a:p>
        </p:txBody>
      </p:sp>
      <p:sp>
        <p:nvSpPr>
          <p:cNvPr id="23" name="R3_it151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patata</a:t>
            </a:r>
            <a:endParaRPr lang="en-US" sz="1000" dirty="0"/>
          </a:p>
        </p:txBody>
      </p:sp>
      <p:sp>
        <p:nvSpPr>
          <p:cNvPr id="24" name="cd_152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53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6" name="en_154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tomato</a:t>
            </a:r>
            <a:endParaRPr lang="en-US" sz="1200" dirty="0"/>
          </a:p>
        </p:txBody>
      </p:sp>
      <p:sp>
        <p:nvSpPr>
          <p:cNvPr id="27" name="R4_it155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pomodoro</a:t>
            </a:r>
            <a:endParaRPr lang="en-US" sz="1000" dirty="0"/>
          </a:p>
        </p:txBody>
      </p:sp>
      <p:sp>
        <p:nvSpPr>
          <p:cNvPr id="28" name="cd_156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57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0" name="en_158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lemon</a:t>
            </a:r>
            <a:endParaRPr lang="en-US" sz="1200" dirty="0"/>
          </a:p>
        </p:txBody>
      </p:sp>
      <p:sp>
        <p:nvSpPr>
          <p:cNvPr id="31" name="R5_it159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limone</a:t>
            </a:r>
            <a:endParaRPr lang="en-US" sz="1000" dirty="0"/>
          </a:p>
        </p:txBody>
      </p:sp>
      <p:sp>
        <p:nvSpPr>
          <p:cNvPr id="32" name="cd_160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61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4" name="en_162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herbs</a:t>
            </a:r>
            <a:endParaRPr lang="en-US" sz="1200" dirty="0"/>
          </a:p>
        </p:txBody>
      </p:sp>
      <p:sp>
        <p:nvSpPr>
          <p:cNvPr id="35" name="R6_it163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erbe aromatiche</a:t>
            </a:r>
            <a:endParaRPr lang="en-US" sz="1000" dirty="0"/>
          </a:p>
        </p:txBody>
      </p:sp>
      <p:sp>
        <p:nvSpPr>
          <p:cNvPr id="36" name="cd_164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165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8" name="en_166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beef</a:t>
            </a:r>
            <a:endParaRPr lang="en-US" sz="1200" dirty="0"/>
          </a:p>
        </p:txBody>
      </p:sp>
      <p:sp>
        <p:nvSpPr>
          <p:cNvPr id="39" name="R7_it167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manzo</a:t>
            </a:r>
            <a:endParaRPr lang="en-US" sz="1000" dirty="0"/>
          </a:p>
        </p:txBody>
      </p:sp>
      <p:sp>
        <p:nvSpPr>
          <p:cNvPr id="40" name="cd_168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69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🐔</a:t>
            </a:r>
            <a:endParaRPr lang="en-US" sz="2000" dirty="0"/>
          </a:p>
        </p:txBody>
      </p:sp>
      <p:sp>
        <p:nvSpPr>
          <p:cNvPr id="42" name="en_170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chicken</a:t>
            </a:r>
            <a:endParaRPr lang="en-US" sz="1200" dirty="0"/>
          </a:p>
        </p:txBody>
      </p:sp>
      <p:sp>
        <p:nvSpPr>
          <p:cNvPr id="43" name="R8_it171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pollo</a:t>
            </a:r>
            <a:endParaRPr lang="en-US" sz="1000" dirty="0"/>
          </a:p>
        </p:txBody>
      </p:sp>
      <p:sp>
        <p:nvSpPr>
          <p:cNvPr id="44" name="cd_172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73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6" name="en_174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</a:t>
            </a:r>
            <a:endParaRPr lang="en-US" sz="1200" dirty="0"/>
          </a:p>
        </p:txBody>
      </p:sp>
      <p:sp>
        <p:nvSpPr>
          <p:cNvPr id="47" name="R9_it175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pesce</a:t>
            </a:r>
            <a:endParaRPr lang="en-US" sz="1000" dirty="0"/>
          </a:p>
        </p:txBody>
      </p:sp>
      <p:sp>
        <p:nvSpPr>
          <p:cNvPr id="48" name="cd_176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77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0" name="en_178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prawns</a:t>
            </a:r>
            <a:endParaRPr lang="en-US" sz="1200" dirty="0"/>
          </a:p>
        </p:txBody>
      </p:sp>
      <p:sp>
        <p:nvSpPr>
          <p:cNvPr id="51" name="R10_it179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gamberi</a:t>
            </a:r>
            <a:endParaRPr lang="en-US" sz="1000" dirty="0"/>
          </a:p>
        </p:txBody>
      </p:sp>
      <p:sp>
        <p:nvSpPr>
          <p:cNvPr id="52" name="cd_180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181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4" name="en_182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mussels</a:t>
            </a:r>
            <a:endParaRPr lang="en-US" sz="1200" dirty="0"/>
          </a:p>
        </p:txBody>
      </p:sp>
      <p:sp>
        <p:nvSpPr>
          <p:cNvPr id="55" name="R11_it183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cozze</a:t>
            </a:r>
            <a:endParaRPr lang="en-US" sz="1000" dirty="0"/>
          </a:p>
        </p:txBody>
      </p:sp>
      <p:sp>
        <p:nvSpPr>
          <p:cNvPr id="56" name="cd_184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185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8" name="en_186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butter</a:t>
            </a:r>
            <a:endParaRPr lang="en-US" sz="1200" dirty="0"/>
          </a:p>
        </p:txBody>
      </p:sp>
      <p:sp>
        <p:nvSpPr>
          <p:cNvPr id="59" name="R12_it187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burro</a:t>
            </a:r>
            <a:endParaRPr lang="en-US" sz="1000" dirty="0"/>
          </a:p>
        </p:txBody>
      </p:sp>
      <p:sp>
        <p:nvSpPr>
          <p:cNvPr id="60" name="cd_188"/>
          <p:cNvSpPr/>
          <p:nvPr/>
        </p:nvSpPr>
        <p:spPr>
          <a:xfrm>
            <a:off x="320040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e_189"/>
          <p:cNvSpPr/>
          <p:nvPr/>
        </p:nvSpPr>
        <p:spPr>
          <a:xfrm>
            <a:off x="393192" y="39959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62" name="en_190"/>
          <p:cNvSpPr/>
          <p:nvPr/>
        </p:nvSpPr>
        <p:spPr>
          <a:xfrm>
            <a:off x="978408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cheese</a:t>
            </a:r>
            <a:endParaRPr lang="en-US" sz="1200" dirty="0"/>
          </a:p>
        </p:txBody>
      </p:sp>
      <p:sp>
        <p:nvSpPr>
          <p:cNvPr id="63" name="R13_it191"/>
          <p:cNvSpPr/>
          <p:nvPr/>
        </p:nvSpPr>
        <p:spPr>
          <a:xfrm>
            <a:off x="978408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formaggio</a:t>
            </a:r>
            <a:endParaRPr lang="en-US" sz="1000" dirty="0"/>
          </a:p>
        </p:txBody>
      </p:sp>
      <p:sp>
        <p:nvSpPr>
          <p:cNvPr id="64" name="cd_192"/>
          <p:cNvSpPr/>
          <p:nvPr/>
        </p:nvSpPr>
        <p:spPr>
          <a:xfrm>
            <a:off x="2487168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193"/>
          <p:cNvSpPr/>
          <p:nvPr/>
        </p:nvSpPr>
        <p:spPr>
          <a:xfrm>
            <a:off x="2560320" y="39959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66" name="en_194"/>
          <p:cNvSpPr/>
          <p:nvPr/>
        </p:nvSpPr>
        <p:spPr>
          <a:xfrm>
            <a:off x="3145536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milk</a:t>
            </a:r>
            <a:endParaRPr lang="en-US" sz="1200" dirty="0"/>
          </a:p>
        </p:txBody>
      </p:sp>
      <p:sp>
        <p:nvSpPr>
          <p:cNvPr id="67" name="R14_it195"/>
          <p:cNvSpPr/>
          <p:nvPr/>
        </p:nvSpPr>
        <p:spPr>
          <a:xfrm>
            <a:off x="3145536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latte</a:t>
            </a:r>
            <a:endParaRPr lang="en-US" sz="1000" dirty="0"/>
          </a:p>
        </p:txBody>
      </p:sp>
      <p:sp>
        <p:nvSpPr>
          <p:cNvPr id="68" name="cd_196"/>
          <p:cNvSpPr/>
          <p:nvPr/>
        </p:nvSpPr>
        <p:spPr>
          <a:xfrm>
            <a:off x="4654296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e_197"/>
          <p:cNvSpPr/>
          <p:nvPr/>
        </p:nvSpPr>
        <p:spPr>
          <a:xfrm>
            <a:off x="4727448" y="39959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70" name="en_198"/>
          <p:cNvSpPr/>
          <p:nvPr/>
        </p:nvSpPr>
        <p:spPr>
          <a:xfrm>
            <a:off x="5312664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egg</a:t>
            </a:r>
            <a:endParaRPr lang="en-US" sz="1200" dirty="0"/>
          </a:p>
        </p:txBody>
      </p:sp>
      <p:sp>
        <p:nvSpPr>
          <p:cNvPr id="71" name="R15_it199"/>
          <p:cNvSpPr/>
          <p:nvPr/>
        </p:nvSpPr>
        <p:spPr>
          <a:xfrm>
            <a:off x="5312664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uovo</a:t>
            </a:r>
            <a:endParaRPr lang="en-US" sz="1000" dirty="0"/>
          </a:p>
        </p:txBody>
      </p:sp>
      <p:sp>
        <p:nvSpPr>
          <p:cNvPr id="72" name="cd_200"/>
          <p:cNvSpPr/>
          <p:nvPr/>
        </p:nvSpPr>
        <p:spPr>
          <a:xfrm>
            <a:off x="6821424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3" name="e_201"/>
          <p:cNvSpPr/>
          <p:nvPr/>
        </p:nvSpPr>
        <p:spPr>
          <a:xfrm>
            <a:off x="6894576" y="39959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74" name="en_202"/>
          <p:cNvSpPr/>
          <p:nvPr/>
        </p:nvSpPr>
        <p:spPr>
          <a:xfrm>
            <a:off x="7479792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flour</a:t>
            </a:r>
            <a:endParaRPr lang="en-US" sz="1200" dirty="0"/>
          </a:p>
        </p:txBody>
      </p:sp>
      <p:sp>
        <p:nvSpPr>
          <p:cNvPr id="75" name="R16_it203"/>
          <p:cNvSpPr/>
          <p:nvPr/>
        </p:nvSpPr>
        <p:spPr>
          <a:xfrm>
            <a:off x="7479792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farina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2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06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bag of… a bottle of…</a:t>
            </a:r>
            <a:endParaRPr lang="en-US" sz="2500" dirty="0"/>
          </a:p>
        </p:txBody>
      </p:sp>
      <p:pic>
        <p:nvPicPr>
          <p:cNvPr id="6" name="brP_2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0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word? Then make an order: 'Two bags of flour, please.'</a:t>
            </a:r>
            <a:endParaRPr lang="en-US" sz="1200" dirty="0"/>
          </a:p>
        </p:txBody>
      </p:sp>
      <p:sp>
        <p:nvSpPr>
          <p:cNvPr id="8" name="insIT_2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parola? Poi fai un ordine.</a:t>
            </a:r>
            <a:endParaRPr lang="en-US" sz="950" dirty="0"/>
          </a:p>
        </p:txBody>
      </p:sp>
      <p:sp>
        <p:nvSpPr>
          <p:cNvPr id="9" name="note_2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2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VOCABULARY · Containers &amp; quantities</a:t>
            </a:r>
            <a:endParaRPr lang="en-US" sz="800" dirty="0"/>
          </a:p>
        </p:txBody>
      </p:sp>
      <p:sp>
        <p:nvSpPr>
          <p:cNvPr id="12" name="bd_213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214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flour</a:t>
            </a:r>
            <a:endParaRPr lang="en-US" sz="1300" dirty="0"/>
          </a:p>
        </p:txBody>
      </p:sp>
      <p:sp>
        <p:nvSpPr>
          <p:cNvPr id="14" name="R1_chip215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</a:t>
            </a:r>
            <a:endParaRPr lang="en-US" sz="1200" dirty="0"/>
          </a:p>
        </p:txBody>
      </p:sp>
      <p:sp>
        <p:nvSpPr>
          <p:cNvPr id="15" name="bd_216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217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olive oil</a:t>
            </a:r>
            <a:endParaRPr lang="en-US" sz="1300" dirty="0"/>
          </a:p>
        </p:txBody>
      </p:sp>
      <p:sp>
        <p:nvSpPr>
          <p:cNvPr id="17" name="R2_chip218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bottle</a:t>
            </a:r>
            <a:endParaRPr lang="en-US" sz="1200" dirty="0"/>
          </a:p>
        </p:txBody>
      </p:sp>
      <p:sp>
        <p:nvSpPr>
          <p:cNvPr id="18" name="bd_219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220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eggs</a:t>
            </a:r>
            <a:endParaRPr lang="en-US" sz="1300" dirty="0"/>
          </a:p>
        </p:txBody>
      </p:sp>
      <p:sp>
        <p:nvSpPr>
          <p:cNvPr id="20" name="R3_chip221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box</a:t>
            </a:r>
            <a:endParaRPr lang="en-US" sz="1200" dirty="0"/>
          </a:p>
        </p:txBody>
      </p:sp>
      <p:sp>
        <p:nvSpPr>
          <p:cNvPr id="21" name="bd_222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223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tomatoes</a:t>
            </a:r>
            <a:endParaRPr lang="en-US" sz="1300" dirty="0"/>
          </a:p>
        </p:txBody>
      </p:sp>
      <p:sp>
        <p:nvSpPr>
          <p:cNvPr id="23" name="R4_chip224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tin</a:t>
            </a:r>
            <a:endParaRPr lang="en-US" sz="1200" dirty="0"/>
          </a:p>
        </p:txBody>
      </p:sp>
      <p:sp>
        <p:nvSpPr>
          <p:cNvPr id="24" name="bd_225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226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milk</a:t>
            </a:r>
            <a:endParaRPr lang="en-US" sz="1300" dirty="0"/>
          </a:p>
        </p:txBody>
      </p:sp>
      <p:sp>
        <p:nvSpPr>
          <p:cNvPr id="26" name="R5_chip227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carton</a:t>
            </a:r>
            <a:endParaRPr lang="en-US" sz="1200" dirty="0"/>
          </a:p>
        </p:txBody>
      </p:sp>
      <p:sp>
        <p:nvSpPr>
          <p:cNvPr id="27" name="bd_228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229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basil</a:t>
            </a:r>
            <a:endParaRPr lang="en-US" sz="1300" dirty="0"/>
          </a:p>
        </p:txBody>
      </p:sp>
      <p:sp>
        <p:nvSpPr>
          <p:cNvPr id="29" name="R6_chip230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bunch</a:t>
            </a:r>
            <a:endParaRPr lang="en-US" sz="1200" dirty="0"/>
          </a:p>
        </p:txBody>
      </p:sp>
      <p:sp>
        <p:nvSpPr>
          <p:cNvPr id="30" name="bd_231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232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garlic</a:t>
            </a:r>
            <a:endParaRPr lang="en-US" sz="1300" dirty="0"/>
          </a:p>
        </p:txBody>
      </p:sp>
      <p:sp>
        <p:nvSpPr>
          <p:cNvPr id="32" name="R7_chip233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clove / head</a:t>
            </a:r>
            <a:endParaRPr lang="en-US" sz="1200" dirty="0"/>
          </a:p>
        </p:txBody>
      </p:sp>
      <p:sp>
        <p:nvSpPr>
          <p:cNvPr id="33" name="bd_234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235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salt</a:t>
            </a:r>
            <a:endParaRPr lang="en-US" sz="1300" dirty="0"/>
          </a:p>
        </p:txBody>
      </p:sp>
      <p:sp>
        <p:nvSpPr>
          <p:cNvPr id="35" name="R8_chip236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pinch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2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3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much? How many?</a:t>
            </a:r>
            <a:endParaRPr lang="en-US" sz="2100" dirty="0"/>
          </a:p>
        </p:txBody>
      </p:sp>
      <p:sp>
        <p:nvSpPr>
          <p:cNvPr id="6" name="note_240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241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2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GRAMMAR · Countable / uncountable</a:t>
            </a:r>
            <a:endParaRPr lang="en-US" sz="800" dirty="0"/>
          </a:p>
        </p:txBody>
      </p:sp>
      <p:sp>
        <p:nvSpPr>
          <p:cNvPr id="9" name="cd_243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244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Countable</a:t>
            </a:r>
            <a:endParaRPr lang="en-US" sz="1250" dirty="0"/>
          </a:p>
        </p:txBody>
      </p:sp>
      <p:sp>
        <p:nvSpPr>
          <p:cNvPr id="11" name="R1_rx245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onion – two onions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egg – six eggs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eggs?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few tomatoes</a:t>
            </a:r>
            <a:endParaRPr lang="en-US" sz="1400" dirty="0"/>
          </a:p>
        </p:txBody>
      </p:sp>
      <p:sp>
        <p:nvSpPr>
          <p:cNvPr id="12" name="cd_24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24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Uncountable</a:t>
            </a:r>
            <a:endParaRPr lang="en-US" sz="1250" dirty="0"/>
          </a:p>
        </p:txBody>
      </p:sp>
      <p:sp>
        <p:nvSpPr>
          <p:cNvPr id="14" name="R2_rx248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flour, butter, milk, rice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flour?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little salt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litres of milk</a:t>
            </a:r>
            <a:endParaRPr lang="en-US" sz="1400" dirty="0"/>
          </a:p>
        </p:txBody>
      </p:sp>
      <p:sp>
        <p:nvSpPr>
          <p:cNvPr id="15" name="R2_ri249"/>
          <p:cNvSpPr/>
          <p:nvPr/>
        </p:nvSpPr>
        <p:spPr>
          <a:xfrm>
            <a:off x="33070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(not: two milks)</a:t>
            </a:r>
            <a:endParaRPr lang="en-US" sz="1100" dirty="0"/>
          </a:p>
        </p:txBody>
      </p:sp>
      <p:sp>
        <p:nvSpPr>
          <p:cNvPr id="16" name="cd_250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251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some / any</a:t>
            </a:r>
            <a:endParaRPr lang="en-US" sz="1250" dirty="0"/>
          </a:p>
        </p:txBody>
      </p:sp>
      <p:sp>
        <p:nvSpPr>
          <p:cNvPr id="18" name="R3_rx252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We've got some cream.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– We haven't got any cream.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Have we got any cream?</a:t>
            </a:r>
            <a:endParaRPr lang="en-US" sz="1400" dirty="0"/>
          </a:p>
        </p:txBody>
      </p:sp>
      <p:sp>
        <p:nvSpPr>
          <p:cNvPr id="19" name="R3_ri253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We've run out of… = è finito</a:t>
            </a:r>
            <a:endParaRPr lang="en-US" sz="1100" dirty="0"/>
          </a:p>
        </p:txBody>
      </p:sp>
      <p:sp>
        <p:nvSpPr>
          <p:cNvPr id="20" name="R4_wc254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4_w255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How many butter? → ✓ How much butter?     ✗ some informations → ✓ some information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258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Stock check</a:t>
            </a:r>
            <a:endParaRPr lang="en-US" sz="2500" dirty="0"/>
          </a:p>
        </p:txBody>
      </p:sp>
      <p:pic>
        <p:nvPicPr>
          <p:cNvPr id="6" name="brP_2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60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some, any, much or many.</a:t>
            </a:r>
            <a:endParaRPr lang="en-US" sz="1250" dirty="0"/>
          </a:p>
        </p:txBody>
      </p:sp>
      <p:sp>
        <p:nvSpPr>
          <p:cNvPr id="8" name="insIT_2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some, any, much o many.</a:t>
            </a:r>
            <a:endParaRPr lang="en-US" sz="950" dirty="0"/>
          </a:p>
        </p:txBody>
      </p:sp>
      <p:sp>
        <p:nvSpPr>
          <p:cNvPr id="9" name="note_26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GRAMMAR · Practice</a:t>
            </a:r>
            <a:endParaRPr lang="en-US" sz="800" dirty="0"/>
          </a:p>
        </p:txBody>
      </p:sp>
      <p:sp>
        <p:nvSpPr>
          <p:cNvPr id="12" name="bd_265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266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we got ___ onions?</a:t>
            </a:r>
            <a:endParaRPr lang="en-US" sz="1300" dirty="0"/>
          </a:p>
        </p:txBody>
      </p:sp>
      <p:sp>
        <p:nvSpPr>
          <p:cNvPr id="14" name="R1_chip267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</a:t>
            </a:r>
            <a:endParaRPr lang="en-US" sz="1200" dirty="0"/>
          </a:p>
        </p:txBody>
      </p:sp>
      <p:sp>
        <p:nvSpPr>
          <p:cNvPr id="15" name="bd_268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269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___ butter do we need?</a:t>
            </a:r>
            <a:endParaRPr lang="en-US" sz="1300" dirty="0"/>
          </a:p>
        </p:txBody>
      </p:sp>
      <p:sp>
        <p:nvSpPr>
          <p:cNvPr id="17" name="R2_chip270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much</a:t>
            </a:r>
            <a:endParaRPr lang="en-US" sz="1200" dirty="0"/>
          </a:p>
        </p:txBody>
      </p:sp>
      <p:sp>
        <p:nvSpPr>
          <p:cNvPr id="18" name="bd_271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272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haven't got ___ cream.</a:t>
            </a:r>
            <a:endParaRPr lang="en-US" sz="1300" dirty="0"/>
          </a:p>
        </p:txBody>
      </p:sp>
      <p:sp>
        <p:nvSpPr>
          <p:cNvPr id="20" name="R3_chip273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</a:t>
            </a:r>
            <a:endParaRPr lang="en-US" sz="1200" dirty="0"/>
          </a:p>
        </p:txBody>
      </p:sp>
      <p:sp>
        <p:nvSpPr>
          <p:cNvPr id="21" name="bd_274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275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___ eggs are there?</a:t>
            </a:r>
            <a:endParaRPr lang="en-US" sz="1300" dirty="0"/>
          </a:p>
        </p:txBody>
      </p:sp>
      <p:sp>
        <p:nvSpPr>
          <p:cNvPr id="23" name="R4_chip276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many</a:t>
            </a:r>
            <a:endParaRPr lang="en-US" sz="1200" dirty="0"/>
          </a:p>
        </p:txBody>
      </p:sp>
      <p:sp>
        <p:nvSpPr>
          <p:cNvPr id="24" name="bd_277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278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 ___ milk in the fridge.</a:t>
            </a:r>
            <a:endParaRPr lang="en-US" sz="1300" dirty="0"/>
          </a:p>
        </p:txBody>
      </p:sp>
      <p:sp>
        <p:nvSpPr>
          <p:cNvPr id="26" name="R5_chip279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</a:t>
            </a:r>
            <a:endParaRPr lang="en-US" sz="1200" dirty="0"/>
          </a:p>
        </p:txBody>
      </p:sp>
      <p:sp>
        <p:nvSpPr>
          <p:cNvPr id="27" name="bd_280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281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need ___ more garlic.</a:t>
            </a:r>
            <a:endParaRPr lang="en-US" sz="1300" dirty="0"/>
          </a:p>
        </p:txBody>
      </p:sp>
      <p:sp>
        <p:nvSpPr>
          <p:cNvPr id="29" name="R6_chip282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8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Tomorrow's delivery</a:t>
            </a:r>
            <a:endParaRPr lang="en-US" sz="2500" dirty="0"/>
          </a:p>
        </p:txBody>
      </p:sp>
      <p:pic>
        <p:nvPicPr>
          <p:cNvPr id="6" name="brP_2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8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email. Answer the questions.</a:t>
            </a:r>
            <a:endParaRPr lang="en-US" sz="1250" dirty="0"/>
          </a:p>
        </p:txBody>
      </p:sp>
      <p:sp>
        <p:nvSpPr>
          <p:cNvPr id="8" name="insIT_2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l'email e rispondi.</a:t>
            </a:r>
            <a:endParaRPr lang="en-US" sz="950" dirty="0"/>
          </a:p>
        </p:txBody>
      </p:sp>
      <p:sp>
        <p:nvSpPr>
          <p:cNvPr id="9" name="note_28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Communicative</a:t>
            </a:r>
            <a:endParaRPr lang="en-US" sz="1250" dirty="0"/>
          </a:p>
        </p:txBody>
      </p:sp>
      <p:pic>
        <p:nvPicPr>
          <p:cNvPr id="10" name="logo_2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READING · A supplier's email</a:t>
            </a:r>
            <a:endParaRPr lang="en-US" sz="800" dirty="0"/>
          </a:p>
        </p:txBody>
      </p:sp>
      <p:sp>
        <p:nvSpPr>
          <p:cNvPr id="12" name="cd_292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293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Rosa, Bagheria Fresh Foods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Chef, thank you for your order. Tomorrow we are delivering 10 kilos of potatoes, 5 bags of flour, 4 litres of cream and 2 boxes of eggs. I'm sorry, but we haven't got any lemons this week. We've got some limes – do you want them? There isn't any fresh basil, but we've got some parsley. Delivery time: 7.30 a.m. Best wishes, Rosa</a:t>
            </a:r>
            <a:endParaRPr lang="en-US" sz="1500" dirty="0"/>
          </a:p>
        </p:txBody>
      </p:sp>
      <p:sp>
        <p:nvSpPr>
          <p:cNvPr id="14" name="bd_294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rq_295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kilos of potatoes?</a:t>
            </a:r>
            <a:endParaRPr lang="en-US" sz="1050" dirty="0"/>
          </a:p>
        </p:txBody>
      </p:sp>
      <p:sp>
        <p:nvSpPr>
          <p:cNvPr id="16" name="R1_chip296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kilos</a:t>
            </a:r>
            <a:endParaRPr lang="en-US" sz="1050" dirty="0"/>
          </a:p>
        </p:txBody>
      </p:sp>
      <p:sp>
        <p:nvSpPr>
          <p:cNvPr id="17" name="bd_297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rq_298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cream?</a:t>
            </a:r>
            <a:endParaRPr lang="en-US" sz="1050" dirty="0"/>
          </a:p>
        </p:txBody>
      </p:sp>
      <p:sp>
        <p:nvSpPr>
          <p:cNvPr id="19" name="R2_chip299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litres</a:t>
            </a:r>
            <a:endParaRPr lang="en-US" sz="1050" dirty="0"/>
          </a:p>
        </p:txBody>
      </p:sp>
      <p:sp>
        <p:nvSpPr>
          <p:cNvPr id="20" name="bd_300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rq_301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they got any lemons?</a:t>
            </a:r>
            <a:endParaRPr lang="en-US" sz="1050" dirty="0"/>
          </a:p>
        </p:txBody>
      </p:sp>
      <p:sp>
        <p:nvSpPr>
          <p:cNvPr id="22" name="R3_chip302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– limes instead</a:t>
            </a:r>
            <a:endParaRPr lang="en-US" sz="1050" dirty="0"/>
          </a:p>
        </p:txBody>
      </p:sp>
      <p:sp>
        <p:nvSpPr>
          <p:cNvPr id="23" name="bd_303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rq_304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herb can they send?</a:t>
            </a:r>
            <a:endParaRPr lang="en-US" sz="1050" dirty="0"/>
          </a:p>
        </p:txBody>
      </p:sp>
      <p:sp>
        <p:nvSpPr>
          <p:cNvPr id="25" name="R4_chip305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parsley</a:t>
            </a:r>
            <a:endParaRPr lang="en-US" sz="1050" dirty="0"/>
          </a:p>
        </p:txBody>
      </p:sp>
      <p:sp>
        <p:nvSpPr>
          <p:cNvPr id="26" name="bd_306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rq_307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 the delivery?</a:t>
            </a:r>
            <a:endParaRPr lang="en-US" sz="1050" dirty="0"/>
          </a:p>
        </p:txBody>
      </p:sp>
      <p:sp>
        <p:nvSpPr>
          <p:cNvPr id="28" name="R5_chip308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7.30 a.m.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1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Mystery basket</a:t>
            </a:r>
            <a:endParaRPr lang="en-US" sz="2500" dirty="0"/>
          </a:p>
        </p:txBody>
      </p:sp>
      <p:pic>
        <p:nvPicPr>
          <p:cNvPr id="6" name="brP_3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1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the basket! Create a dish with ALL 4 ingredients.</a:t>
            </a:r>
            <a:endParaRPr lang="en-US" sz="1250" dirty="0"/>
          </a:p>
        </p:txBody>
      </p:sp>
      <p:sp>
        <p:nvSpPr>
          <p:cNvPr id="8" name="insIT_3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Apri il cestino! Crea un piatto con TUTTI e 4 gli ingredienti.</a:t>
            </a:r>
            <a:endParaRPr lang="en-US" sz="950" dirty="0"/>
          </a:p>
        </p:txBody>
      </p:sp>
      <p:sp>
        <p:nvSpPr>
          <p:cNvPr id="9" name="note_31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10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3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GAME · Creative cooking</a:t>
            </a:r>
            <a:endParaRPr lang="en-US" sz="800" dirty="0"/>
          </a:p>
        </p:txBody>
      </p:sp>
      <p:sp>
        <p:nvSpPr>
          <p:cNvPr id="12" name="R1_qb31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319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· 🍋 lemon · 🧀 cheese · 🌶 chilli</a:t>
            </a: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e.g. Lemon sea bass with chilli and a parmesan crust!</a:t>
            </a:r>
            <a:endParaRPr lang="en-US" sz="1400" dirty="0"/>
          </a:p>
        </p:txBody>
      </p:sp>
      <p:sp>
        <p:nvSpPr>
          <p:cNvPr id="14" name="R2_qb320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321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your dish a name and a price.</a:t>
            </a:r>
            <a:endParaRPr lang="en-US" sz="1400" dirty="0"/>
          </a:p>
        </p:txBody>
      </p:sp>
      <p:sp>
        <p:nvSpPr>
          <p:cNvPr id="16" name="R3_qb322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323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the class how to make it: First… Then… Finally…</a:t>
            </a:r>
            <a:endParaRPr lang="en-US" sz="1400" dirty="0"/>
          </a:p>
        </p:txBody>
      </p:sp>
      <p:sp>
        <p:nvSpPr>
          <p:cNvPr id="18" name="R4_qb324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325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class votes: would you eat it?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328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delivery</a:t>
            </a:r>
            <a:endParaRPr lang="en-US" sz="2500" dirty="0"/>
          </a:p>
        </p:txBody>
      </p:sp>
      <p:pic>
        <p:nvPicPr>
          <p:cNvPr id="6" name="brP_3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30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has the order. B checks the delivery. Then swap!</a:t>
            </a:r>
            <a:endParaRPr lang="en-US" sz="1250" dirty="0"/>
          </a:p>
        </p:txBody>
      </p:sp>
      <p:sp>
        <p:nvSpPr>
          <p:cNvPr id="8" name="insIT_3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ha l'ordine. B controlla la consegna. Poi scambiatevi!</a:t>
            </a:r>
            <a:endParaRPr lang="en-US" sz="950" dirty="0"/>
          </a:p>
        </p:txBody>
      </p:sp>
      <p:sp>
        <p:nvSpPr>
          <p:cNvPr id="9" name="note_33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Guided discovery</a:t>
            </a:r>
            <a:endParaRPr lang="en-US" sz="1250" dirty="0"/>
          </a:p>
        </p:txBody>
      </p:sp>
      <p:pic>
        <p:nvPicPr>
          <p:cNvPr id="10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SPEAKING · Role-play</a:t>
            </a:r>
            <a:endParaRPr lang="en-US" sz="800" dirty="0"/>
          </a:p>
        </p:txBody>
      </p:sp>
      <p:sp>
        <p:nvSpPr>
          <p:cNvPr id="12" name="cd_335"/>
          <p:cNvSpPr/>
          <p:nvPr/>
        </p:nvSpPr>
        <p:spPr>
          <a:xfrm>
            <a:off x="320040" y="1417320"/>
            <a:ext cx="2606040" cy="3121152"/>
          </a:xfrm>
          <a:prstGeom prst="roundRect">
            <a:avLst>
              <a:gd name="adj" fmla="val 4912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3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337"/>
          <p:cNvSpPr/>
          <p:nvPr/>
        </p:nvSpPr>
        <p:spPr>
          <a:xfrm>
            <a:off x="8869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338"/>
          <p:cNvSpPr/>
          <p:nvPr/>
        </p:nvSpPr>
        <p:spPr>
          <a:xfrm>
            <a:off x="886968" y="1911096"/>
            <a:ext cx="1947672" cy="2554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We've run out of… (è finito)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low on… (ne abbiamo poco)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fresh?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out of date. (scaduto)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it in the fridge / freezer.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 it back!</a:t>
            </a:r>
            <a:endParaRPr lang="en-US" sz="1200" dirty="0"/>
          </a:p>
        </p:txBody>
      </p:sp>
      <p:sp>
        <p:nvSpPr>
          <p:cNvPr id="16" name="who_339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17" name="sl_340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kilos of potatoes are there?</a:t>
            </a:r>
            <a:endParaRPr lang="en-US" sz="1150" dirty="0"/>
          </a:p>
        </p:txBody>
      </p:sp>
      <p:sp>
        <p:nvSpPr>
          <p:cNvPr id="18" name="who_341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19" name="sl_342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ten kilos.</a:t>
            </a:r>
            <a:endParaRPr lang="en-US" sz="1150" dirty="0"/>
          </a:p>
        </p:txBody>
      </p:sp>
      <p:sp>
        <p:nvSpPr>
          <p:cNvPr id="20" name="who_343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1" name="sl_344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Good. And how much cream is there?</a:t>
            </a:r>
            <a:endParaRPr lang="en-US" sz="1150" dirty="0"/>
          </a:p>
        </p:txBody>
      </p:sp>
      <p:sp>
        <p:nvSpPr>
          <p:cNvPr id="22" name="who_345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3" name="sl_346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litres. But there aren't any lemons!</a:t>
            </a:r>
            <a:endParaRPr lang="en-US" sz="1150" dirty="0"/>
          </a:p>
        </p:txBody>
      </p:sp>
      <p:sp>
        <p:nvSpPr>
          <p:cNvPr id="24" name="who_347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5" name="sl_348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We've run out of lemons. Call the supplier, please.</a:t>
            </a:r>
            <a:endParaRPr lang="en-US" sz="1150" dirty="0"/>
          </a:p>
        </p:txBody>
      </p:sp>
      <p:sp>
        <p:nvSpPr>
          <p:cNvPr id="26" name="who_349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7" name="sl_350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Chef!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5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3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355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3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357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3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Exit · what can you remember?</a:t>
            </a:r>
            <a:endParaRPr lang="en-US" sz="800" dirty="0"/>
          </a:p>
        </p:txBody>
      </p:sp>
      <p:sp>
        <p:nvSpPr>
          <p:cNvPr id="12" name="bd_360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361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362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363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364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365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366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367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368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369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tomorrow's shopping list for your restaurant in English: 10 items with quantities.</a:t>
            </a:r>
            <a:endParaRPr lang="en-US" sz="900" dirty="0"/>
          </a:p>
        </p:txBody>
      </p:sp>
      <p:sp>
        <p:nvSpPr>
          <p:cNvPr id="22" name="st_370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L4 · Kitchen commands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7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3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375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3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3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3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Review · what did you do today?</a:t>
            </a:r>
            <a:endParaRPr lang="en-US" sz="800" dirty="0"/>
          </a:p>
        </p:txBody>
      </p:sp>
      <p:sp>
        <p:nvSpPr>
          <p:cNvPr id="12" name="cd_380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381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4" name="tt_382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food and ingredients</a:t>
            </a:r>
            <a:endParaRPr lang="en-US" sz="1350" dirty="0"/>
          </a:p>
        </p:txBody>
      </p:sp>
      <p:sp>
        <p:nvSpPr>
          <p:cNvPr id="15" name="R1_tk383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384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38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8" name="tt_386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countable / uncountable</a:t>
            </a:r>
            <a:endParaRPr lang="en-US" sz="1350" dirty="0"/>
          </a:p>
        </p:txBody>
      </p:sp>
      <p:sp>
        <p:nvSpPr>
          <p:cNvPr id="19" name="R2_tk387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388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389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390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the delivery</a:t>
            </a:r>
            <a:endParaRPr lang="en-US" sz="1350" dirty="0"/>
          </a:p>
        </p:txBody>
      </p:sp>
      <p:sp>
        <p:nvSpPr>
          <p:cNvPr id="23" name="R3_tk391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39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393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39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395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396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9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Food you love to hate</a:t>
            </a:r>
            <a:endParaRPr lang="en-US" sz="2500" dirty="0"/>
          </a:p>
        </p:txBody>
      </p:sp>
      <p:pic>
        <p:nvPicPr>
          <p:cNvPr id="6" name="brP_4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40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Answer. Your partner must ask a follow-up question!</a:t>
            </a:r>
            <a:endParaRPr lang="en-US" sz="1250" dirty="0"/>
          </a:p>
        </p:txBody>
      </p:sp>
      <p:sp>
        <p:nvSpPr>
          <p:cNvPr id="8" name="insIT_4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Rispondi. Il collega deve fare un'altra domanda!</a:t>
            </a:r>
            <a:endParaRPr lang="en-US" sz="950" dirty="0"/>
          </a:p>
        </p:txBody>
      </p:sp>
      <p:sp>
        <p:nvSpPr>
          <p:cNvPr id="9" name="note_40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SPEAKING · Food talk</a:t>
            </a:r>
            <a:endParaRPr lang="en-US" sz="800" dirty="0"/>
          </a:p>
        </p:txBody>
      </p:sp>
      <p:sp>
        <p:nvSpPr>
          <p:cNvPr id="12" name="ext_40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40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40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food you would never eat again. Why?</a:t>
            </a: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Follow up: Why? Really? What happened? Who disagrees?</a:t>
            </a:r>
            <a:endParaRPr lang="en-US" sz="1400" dirty="0"/>
          </a:p>
        </p:txBody>
      </p:sp>
      <p:sp>
        <p:nvSpPr>
          <p:cNvPr id="15" name="R2_qb40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41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ingredient you think is overrated.</a:t>
            </a:r>
            <a:endParaRPr lang="en-US" sz="1400" dirty="0"/>
          </a:p>
        </p:txBody>
      </p:sp>
      <p:sp>
        <p:nvSpPr>
          <p:cNvPr id="17" name="R3_qb41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41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strangest thing a customer has asked for.</a:t>
            </a:r>
            <a:endParaRPr lang="en-US" sz="1400" dirty="0"/>
          </a:p>
        </p:txBody>
      </p:sp>
      <p:sp>
        <p:nvSpPr>
          <p:cNvPr id="19" name="R4_qb41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41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ingredient you can't work without.</a:t>
            </a:r>
            <a:endParaRPr lang="en-US" sz="1400" dirty="0"/>
          </a:p>
        </p:txBody>
      </p:sp>
      <p:sp>
        <p:nvSpPr>
          <p:cNvPr id="21" name="R5_qb415"/>
          <p:cNvSpPr/>
          <p:nvPr/>
        </p:nvSpPr>
        <p:spPr>
          <a:xfrm>
            <a:off x="57607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R5_sq416"/>
          <p:cNvSpPr/>
          <p:nvPr/>
        </p:nvSpPr>
        <p:spPr>
          <a:xfrm>
            <a:off x="978408" y="3831336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food everyone loves, but you don't.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1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shopping list</a:t>
            </a:r>
            <a:endParaRPr lang="en-US" sz="2500" dirty="0"/>
          </a:p>
        </p:txBody>
      </p:sp>
      <p:pic>
        <p:nvPicPr>
          <p:cNvPr id="6" name="brP_4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Repeat the list and add one more item!</a:t>
            </a:r>
            <a:endParaRPr lang="en-US" sz="1250" dirty="0"/>
          </a:p>
        </p:txBody>
      </p:sp>
      <p:sp>
        <p:nvSpPr>
          <p:cNvPr id="8" name="insIT_4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Ripeti la lista e aggiungi un ingrediente!</a:t>
            </a:r>
            <a:endParaRPr lang="en-US" sz="950" dirty="0"/>
          </a:p>
        </p:txBody>
      </p:sp>
      <p:sp>
        <p:nvSpPr>
          <p:cNvPr id="9" name="note_4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Game · memory</a:t>
            </a:r>
            <a:endParaRPr lang="en-US" sz="800" dirty="0"/>
          </a:p>
        </p:txBody>
      </p:sp>
      <p:sp>
        <p:nvSpPr>
          <p:cNvPr id="12" name="ext_42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42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42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We need some onions.</a:t>
            </a:r>
            <a:endParaRPr lang="en-US" sz="1400" dirty="0"/>
          </a:p>
        </p:txBody>
      </p:sp>
      <p:sp>
        <p:nvSpPr>
          <p:cNvPr id="15" name="R2_qb42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43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B: We need some onions and a litre of milk.</a:t>
            </a:r>
            <a:endParaRPr lang="en-US" sz="1400" dirty="0"/>
          </a:p>
        </p:txBody>
      </p:sp>
      <p:sp>
        <p:nvSpPr>
          <p:cNvPr id="17" name="R3_qb43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43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We need some onions, a litre of milk and six eggs.</a:t>
            </a:r>
            <a:endParaRPr lang="en-US" sz="1400" dirty="0"/>
          </a:p>
        </p:txBody>
      </p:sp>
      <p:sp>
        <p:nvSpPr>
          <p:cNvPr id="19" name="R4_qb43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43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an item or say 'a milk'? You lose the round!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Ingredients</dc:title>
  <dc:subject>PptxGenJS Presentation</dc:subject>
  <dc:creator>PptxGenJS</dc:creator>
  <cp:lastModifiedBy>PptxGenJS</cp:lastModifiedBy>
  <cp:revision>1</cp:revision>
  <dcterms:created xsi:type="dcterms:W3CDTF">2026-10-21T09:56:04Z</dcterms:created>
  <dcterms:modified xsi:type="dcterms:W3CDTF">2026-10-21T09:56:04Z</dcterms:modified>
</cp:coreProperties>
</file>