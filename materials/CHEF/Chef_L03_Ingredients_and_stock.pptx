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3 (60 min). Aims: ingredients, countable/uncountable, some/any, how much/how many, checking a delivery.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2 (2 min)
REVISION part 1 (2 min). VARIATION: memory disruption. Show for 20 seconds, then go to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REVISION · Lesson 2 (3 min)
REVISION part 2 (3 min). Students say what's missing AND where it was: The ladle was next to the knife. Click 1: answers. Then: What other equipment do you remember from last lesson? (tongs, peeler, grater, sieve, chopping board…)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Ingredients (8 min)
VOCABULARY (8 min). Then categorise quickly: vegetables, fruit, meat &amp; poultry, fish &amp; seafood, dairy, dry store. Elicit 2 more words for each group (onion, pepper, pork, lamb, cod, cream, rice, sugar, oil).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Containers &amp; quantities (6 min)
VOCABULARY (6 min). Click 1. This is how we count uncountable food: two bottles of oil (not two oils). Italian: sacchetto, bottiglia, scatola, lattina, cartone, mazzo, spicchio, pizzico.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Countable / uncountable (6 min)
GRAMMAR (6 min). Quick test: say a word, they say 'much' or 'many' (rice → much, prawns → many, garlic → much / cloves of garlic → many).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Practice (5 min)
PRACTICE (5 min). Pairs, then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A supplier's email (6 min)
READING (6 min). Students answer with How much / How many language. Follow-up: Would you accept limes instead of lemons? For which dishes?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Creative cooking (10 min)
GAME (10 min). VARIATION: student-generated content + curiosity gap. Click 4 times to open the basket (fish, lemon, cheese, chilli — the famous 'no cheese with fish' rule makes it fun: let them argue). Round 2: teacher chooses 4 new ingredients.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Role-play (8 min)
ROLE-PLAY (10 min). Second time: use the real order from their restaurant. Third time: B invents 2 problems (wrong amount, out of 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Exit · what can you remember? (3 min)
EXIT (3 min). Homework sheet L3 in the portal.
Can-dos: I can name ingredients and food groups. · I can use some / any and How much / How many. · I can check stock and a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Food talk (6 min)
SPEAKING (6 min). VARIATION: negative experiences + follow-ups — people have more to say about what they hate. Keep it light; don't push for personal stories.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Game · memory (6 min)
EXTRA (6 min). Memory chain — used only in this lesson in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3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L3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Ingredients</a:t>
            </a:r>
            <a:endParaRPr lang="en-US" sz="30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and ingredients · countable / uncountable · the delivery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food and ingredients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countable / uncountable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the delivery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Chef. We've run out!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box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we got any butter?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 for 20 seconds…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and remember! You have 20 seconds.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e ricorda! Hai 20 secondi.</a:t>
            </a:r>
            <a:endParaRPr lang="en-US" sz="950" dirty="0"/>
          </a:p>
        </p:txBody>
      </p:sp>
      <p:sp>
        <p:nvSpPr>
          <p:cNvPr id="9" name="meta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80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REVISION · Lesson 2</a:t>
            </a:r>
            <a:endParaRPr lang="en-US" sz="800" dirty="0"/>
          </a:p>
        </p:txBody>
      </p:sp>
      <p:sp>
        <p:nvSpPr>
          <p:cNvPr id="13" name="cd_27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2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🔪</a:t>
            </a:r>
            <a:endParaRPr lang="en-US" sz="2000" dirty="0"/>
          </a:p>
        </p:txBody>
      </p:sp>
      <p:sp>
        <p:nvSpPr>
          <p:cNvPr id="15" name="en_2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knife</a:t>
            </a:r>
            <a:endParaRPr lang="en-US" sz="1200" dirty="0"/>
          </a:p>
        </p:txBody>
      </p:sp>
      <p:sp>
        <p:nvSpPr>
          <p:cNvPr id="16" name="R1_it30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7" name="cd_31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32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19" name="en_33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ladle</a:t>
            </a:r>
            <a:endParaRPr lang="en-US" sz="1200" dirty="0"/>
          </a:p>
        </p:txBody>
      </p:sp>
      <p:sp>
        <p:nvSpPr>
          <p:cNvPr id="20" name="R2_it34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1" name="cd_35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3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🥣</a:t>
            </a:r>
            <a:endParaRPr lang="en-US" sz="2000" dirty="0"/>
          </a:p>
        </p:txBody>
      </p:sp>
      <p:sp>
        <p:nvSpPr>
          <p:cNvPr id="23" name="en_3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whisk</a:t>
            </a:r>
            <a:endParaRPr lang="en-US" sz="1200" dirty="0"/>
          </a:p>
        </p:txBody>
      </p:sp>
      <p:sp>
        <p:nvSpPr>
          <p:cNvPr id="24" name="R3_it38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cd_39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4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7" name="en_4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scales</a:t>
            </a:r>
            <a:endParaRPr lang="en-US" sz="1200" dirty="0"/>
          </a:p>
        </p:txBody>
      </p:sp>
      <p:sp>
        <p:nvSpPr>
          <p:cNvPr id="28" name="R4_it42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9" name="cd_4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4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1" name="en_4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oven</a:t>
            </a:r>
            <a:endParaRPr lang="en-US" sz="1200" dirty="0"/>
          </a:p>
        </p:txBody>
      </p:sp>
      <p:sp>
        <p:nvSpPr>
          <p:cNvPr id="32" name="R5_it46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33" name="cd_47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48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🧊</a:t>
            </a:r>
            <a:endParaRPr lang="en-US" sz="2000" dirty="0"/>
          </a:p>
        </p:txBody>
      </p:sp>
      <p:sp>
        <p:nvSpPr>
          <p:cNvPr id="35" name="en_49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fridge</a:t>
            </a:r>
            <a:endParaRPr lang="en-US" sz="1200" dirty="0"/>
          </a:p>
        </p:txBody>
      </p:sp>
      <p:sp>
        <p:nvSpPr>
          <p:cNvPr id="36" name="R6_it50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37" name="cd_5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5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9" name="en_5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saucepan</a:t>
            </a:r>
            <a:endParaRPr lang="en-US" sz="1200" dirty="0"/>
          </a:p>
        </p:txBody>
      </p:sp>
      <p:sp>
        <p:nvSpPr>
          <p:cNvPr id="40" name="R7_it54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1" name="cd_55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56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📟</a:t>
            </a:r>
            <a:endParaRPr lang="en-US" sz="2000" dirty="0"/>
          </a:p>
        </p:txBody>
      </p:sp>
      <p:sp>
        <p:nvSpPr>
          <p:cNvPr id="43" name="en_57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microwave</a:t>
            </a:r>
            <a:endParaRPr lang="en-US" sz="1200" dirty="0"/>
          </a:p>
        </p:txBody>
      </p:sp>
      <p:sp>
        <p:nvSpPr>
          <p:cNvPr id="44" name="R8_it58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5" name="cd_59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60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7" name="en_61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wooden spoon</a:t>
            </a:r>
            <a:endParaRPr lang="en-US" sz="1200" dirty="0"/>
          </a:p>
        </p:txBody>
      </p:sp>
      <p:sp>
        <p:nvSpPr>
          <p:cNvPr id="48" name="R9_it62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9" name="cd_63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64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🧤</a:t>
            </a:r>
            <a:endParaRPr lang="en-US" sz="2000" dirty="0"/>
          </a:p>
        </p:txBody>
      </p:sp>
      <p:sp>
        <p:nvSpPr>
          <p:cNvPr id="51" name="en_65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oven gloves</a:t>
            </a:r>
            <a:endParaRPr lang="en-US" sz="1200" dirty="0"/>
          </a:p>
        </p:txBody>
      </p:sp>
      <p:sp>
        <p:nvSpPr>
          <p:cNvPr id="52" name="R10_it66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53" name="cd_67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68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5" name="en_69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cleaver</a:t>
            </a:r>
            <a:endParaRPr lang="en-US" sz="1200" dirty="0"/>
          </a:p>
        </p:txBody>
      </p:sp>
      <p:sp>
        <p:nvSpPr>
          <p:cNvPr id="56" name="R11_it70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57" name="cd_71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72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9" name="en_73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hob</a:t>
            </a:r>
            <a:endParaRPr lang="en-US" sz="1200" dirty="0"/>
          </a:p>
        </p:txBody>
      </p:sp>
      <p:sp>
        <p:nvSpPr>
          <p:cNvPr id="60" name="R12_it74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77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missing?</a:t>
            </a:r>
            <a:endParaRPr lang="en-US" sz="2500" dirty="0"/>
          </a:p>
        </p:txBody>
      </p:sp>
      <p:pic>
        <p:nvPicPr>
          <p:cNvPr id="6" name="brP_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7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things are missing. What are they? Where were they?</a:t>
            </a:r>
            <a:endParaRPr lang="en-US" sz="1250" dirty="0"/>
          </a:p>
        </p:txBody>
      </p:sp>
      <p:sp>
        <p:nvSpPr>
          <p:cNvPr id="8" name="insIT_8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Mancano 3 oggetti. Quali? Dov'erano?</a:t>
            </a:r>
            <a:endParaRPr lang="en-US" sz="950" dirty="0"/>
          </a:p>
        </p:txBody>
      </p:sp>
      <p:sp>
        <p:nvSpPr>
          <p:cNvPr id="9" name="meta_8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0" name="tag_8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800" dirty="0"/>
          </a:p>
        </p:txBody>
      </p:sp>
      <p:pic>
        <p:nvPicPr>
          <p:cNvPr id="11" name="logo_8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8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REVISION · Lesson 2</a:t>
            </a:r>
            <a:endParaRPr lang="en-US" sz="800" dirty="0"/>
          </a:p>
        </p:txBody>
      </p:sp>
      <p:sp>
        <p:nvSpPr>
          <p:cNvPr id="13" name="cd_8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8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🔪</a:t>
            </a:r>
            <a:endParaRPr lang="en-US" sz="2000" dirty="0"/>
          </a:p>
        </p:txBody>
      </p:sp>
      <p:sp>
        <p:nvSpPr>
          <p:cNvPr id="15" name="en_8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knife</a:t>
            </a:r>
            <a:endParaRPr lang="en-US" sz="1200" dirty="0"/>
          </a:p>
        </p:txBody>
      </p:sp>
      <p:sp>
        <p:nvSpPr>
          <p:cNvPr id="16" name="R1_it8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7" name="cd_8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9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19" name="en_9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00" dirty="0"/>
          </a:p>
        </p:txBody>
      </p:sp>
      <p:sp>
        <p:nvSpPr>
          <p:cNvPr id="20" name="R2_it9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ladle</a:t>
            </a:r>
            <a:endParaRPr lang="en-US" sz="1000" dirty="0"/>
          </a:p>
        </p:txBody>
      </p:sp>
      <p:sp>
        <p:nvSpPr>
          <p:cNvPr id="21" name="cd_9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9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🥣</a:t>
            </a:r>
            <a:endParaRPr lang="en-US" sz="2000" dirty="0"/>
          </a:p>
        </p:txBody>
      </p:sp>
      <p:sp>
        <p:nvSpPr>
          <p:cNvPr id="23" name="en_9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whisk</a:t>
            </a:r>
            <a:endParaRPr lang="en-US" sz="1200" dirty="0"/>
          </a:p>
        </p:txBody>
      </p:sp>
      <p:sp>
        <p:nvSpPr>
          <p:cNvPr id="24" name="R3_it9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cd_9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9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7" name="en_9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scales</a:t>
            </a:r>
            <a:endParaRPr lang="en-US" sz="1200" dirty="0"/>
          </a:p>
        </p:txBody>
      </p:sp>
      <p:sp>
        <p:nvSpPr>
          <p:cNvPr id="28" name="R4_it10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9" name="cd_10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10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1" name="en_10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oven</a:t>
            </a:r>
            <a:endParaRPr lang="en-US" sz="1200" dirty="0"/>
          </a:p>
        </p:txBody>
      </p:sp>
      <p:sp>
        <p:nvSpPr>
          <p:cNvPr id="32" name="R5_it10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33" name="cd_10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10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5" name="en_10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00" dirty="0"/>
          </a:p>
        </p:txBody>
      </p:sp>
      <p:sp>
        <p:nvSpPr>
          <p:cNvPr id="36" name="R6_it10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fridge</a:t>
            </a:r>
            <a:endParaRPr lang="en-US" sz="1000" dirty="0"/>
          </a:p>
        </p:txBody>
      </p:sp>
      <p:sp>
        <p:nvSpPr>
          <p:cNvPr id="37" name="cd_10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11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9" name="en_11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saucepan</a:t>
            </a:r>
            <a:endParaRPr lang="en-US" sz="1200" dirty="0"/>
          </a:p>
        </p:txBody>
      </p:sp>
      <p:sp>
        <p:nvSpPr>
          <p:cNvPr id="40" name="R7_it11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1" name="cd_11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11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📟</a:t>
            </a:r>
            <a:endParaRPr lang="en-US" sz="2000" dirty="0"/>
          </a:p>
        </p:txBody>
      </p:sp>
      <p:sp>
        <p:nvSpPr>
          <p:cNvPr id="43" name="en_11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microwave</a:t>
            </a:r>
            <a:endParaRPr lang="en-US" sz="1200" dirty="0"/>
          </a:p>
        </p:txBody>
      </p:sp>
      <p:sp>
        <p:nvSpPr>
          <p:cNvPr id="44" name="R8_it11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5" name="cd_11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1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7" name="en_11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wooden spoon</a:t>
            </a:r>
            <a:endParaRPr lang="en-US" sz="1200" dirty="0"/>
          </a:p>
        </p:txBody>
      </p:sp>
      <p:sp>
        <p:nvSpPr>
          <p:cNvPr id="48" name="R9_it12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49" name="cd_12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12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1" name="en_12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00" dirty="0"/>
          </a:p>
        </p:txBody>
      </p:sp>
      <p:sp>
        <p:nvSpPr>
          <p:cNvPr id="52" name="R10_it12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oven gloves</a:t>
            </a:r>
            <a:endParaRPr lang="en-US" sz="1000" dirty="0"/>
          </a:p>
        </p:txBody>
      </p:sp>
      <p:sp>
        <p:nvSpPr>
          <p:cNvPr id="53" name="cd_12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12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5" name="en_12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cleaver</a:t>
            </a:r>
            <a:endParaRPr lang="en-US" sz="1200" dirty="0"/>
          </a:p>
        </p:txBody>
      </p:sp>
      <p:sp>
        <p:nvSpPr>
          <p:cNvPr id="56" name="R11_it12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57" name="cd_12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13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9" name="en_13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hob</a:t>
            </a:r>
            <a:endParaRPr lang="en-US" sz="1200" dirty="0"/>
          </a:p>
        </p:txBody>
      </p:sp>
      <p:sp>
        <p:nvSpPr>
          <p:cNvPr id="60" name="R12_it13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1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35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 the cold room</a:t>
            </a:r>
            <a:endParaRPr lang="en-US" sz="2500" dirty="0"/>
          </a:p>
        </p:txBody>
      </p:sp>
      <p:pic>
        <p:nvPicPr>
          <p:cNvPr id="6" name="brP_1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137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them in English. Which do you use every day?</a:t>
            </a:r>
            <a:endParaRPr lang="en-US" sz="1250" dirty="0"/>
          </a:p>
        </p:txBody>
      </p:sp>
      <p:sp>
        <p:nvSpPr>
          <p:cNvPr id="8" name="insIT_1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Dille in inglese. Quali usi ogni giorno?</a:t>
            </a:r>
            <a:endParaRPr lang="en-US" sz="950" dirty="0"/>
          </a:p>
        </p:txBody>
      </p:sp>
      <p:sp>
        <p:nvSpPr>
          <p:cNvPr id="9" name="cmd_13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4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14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50" dirty="0"/>
          </a:p>
        </p:txBody>
      </p:sp>
      <p:pic>
        <p:nvPicPr>
          <p:cNvPr id="12" name="logo_1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VOCABULARY · Ingredients</a:t>
            </a:r>
            <a:endParaRPr lang="en-US" sz="800" dirty="0"/>
          </a:p>
        </p:txBody>
      </p:sp>
      <p:sp>
        <p:nvSpPr>
          <p:cNvPr id="14" name="cd_144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145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16" name="en_146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garlic</a:t>
            </a:r>
            <a:endParaRPr lang="en-US" sz="1200" dirty="0"/>
          </a:p>
        </p:txBody>
      </p:sp>
      <p:sp>
        <p:nvSpPr>
          <p:cNvPr id="17" name="R1_it147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aglio</a:t>
            </a:r>
            <a:endParaRPr lang="en-US" sz="1000" dirty="0"/>
          </a:p>
        </p:txBody>
      </p:sp>
      <p:sp>
        <p:nvSpPr>
          <p:cNvPr id="18" name="cd_148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4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0" name="en_15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carrot</a:t>
            </a:r>
            <a:endParaRPr lang="en-US" sz="1200" dirty="0"/>
          </a:p>
        </p:txBody>
      </p:sp>
      <p:sp>
        <p:nvSpPr>
          <p:cNvPr id="21" name="R2_it151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carota</a:t>
            </a:r>
            <a:endParaRPr lang="en-US" sz="1000" dirty="0"/>
          </a:p>
        </p:txBody>
      </p:sp>
      <p:sp>
        <p:nvSpPr>
          <p:cNvPr id="22" name="cd_152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153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4" name="en_154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potato</a:t>
            </a:r>
            <a:endParaRPr lang="en-US" sz="1200" dirty="0"/>
          </a:p>
        </p:txBody>
      </p:sp>
      <p:sp>
        <p:nvSpPr>
          <p:cNvPr id="25" name="R3_it155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patata</a:t>
            </a:r>
            <a:endParaRPr lang="en-US" sz="1000" dirty="0"/>
          </a:p>
        </p:txBody>
      </p:sp>
      <p:sp>
        <p:nvSpPr>
          <p:cNvPr id="26" name="cd_156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157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28" name="en_158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tomato</a:t>
            </a:r>
            <a:endParaRPr lang="en-US" sz="1200" dirty="0"/>
          </a:p>
        </p:txBody>
      </p:sp>
      <p:sp>
        <p:nvSpPr>
          <p:cNvPr id="29" name="R4_it159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pomodoro</a:t>
            </a:r>
            <a:endParaRPr lang="en-US" sz="1000" dirty="0"/>
          </a:p>
        </p:txBody>
      </p:sp>
      <p:sp>
        <p:nvSpPr>
          <p:cNvPr id="30" name="cd_160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61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2" name="en_162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lemon</a:t>
            </a:r>
            <a:endParaRPr lang="en-US" sz="1200" dirty="0"/>
          </a:p>
        </p:txBody>
      </p:sp>
      <p:sp>
        <p:nvSpPr>
          <p:cNvPr id="33" name="R5_it163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limone</a:t>
            </a:r>
            <a:endParaRPr lang="en-US" sz="1000" dirty="0"/>
          </a:p>
        </p:txBody>
      </p:sp>
      <p:sp>
        <p:nvSpPr>
          <p:cNvPr id="34" name="cd_164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65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6" name="en_166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herbs</a:t>
            </a:r>
            <a:endParaRPr lang="en-US" sz="1200" dirty="0"/>
          </a:p>
        </p:txBody>
      </p:sp>
      <p:sp>
        <p:nvSpPr>
          <p:cNvPr id="37" name="R6_it167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erbe aromatiche</a:t>
            </a:r>
            <a:endParaRPr lang="en-US" sz="1000" dirty="0"/>
          </a:p>
        </p:txBody>
      </p:sp>
      <p:sp>
        <p:nvSpPr>
          <p:cNvPr id="38" name="cd_168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69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0" name="en_170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beef</a:t>
            </a:r>
            <a:endParaRPr lang="en-US" sz="1200" dirty="0"/>
          </a:p>
        </p:txBody>
      </p:sp>
      <p:sp>
        <p:nvSpPr>
          <p:cNvPr id="41" name="R7_it171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manzo</a:t>
            </a:r>
            <a:endParaRPr lang="en-US" sz="1000" dirty="0"/>
          </a:p>
        </p:txBody>
      </p:sp>
      <p:sp>
        <p:nvSpPr>
          <p:cNvPr id="42" name="cd_172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173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🐔</a:t>
            </a:r>
            <a:endParaRPr lang="en-US" sz="2000" dirty="0"/>
          </a:p>
        </p:txBody>
      </p:sp>
      <p:sp>
        <p:nvSpPr>
          <p:cNvPr id="44" name="en_174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chicken</a:t>
            </a:r>
            <a:endParaRPr lang="en-US" sz="1200" dirty="0"/>
          </a:p>
        </p:txBody>
      </p:sp>
      <p:sp>
        <p:nvSpPr>
          <p:cNvPr id="45" name="R8_it175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pollo</a:t>
            </a:r>
            <a:endParaRPr lang="en-US" sz="1000" dirty="0"/>
          </a:p>
        </p:txBody>
      </p:sp>
      <p:sp>
        <p:nvSpPr>
          <p:cNvPr id="46" name="cd_176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177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8" name="en_178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fish</a:t>
            </a:r>
            <a:endParaRPr lang="en-US" sz="1200" dirty="0"/>
          </a:p>
        </p:txBody>
      </p:sp>
      <p:sp>
        <p:nvSpPr>
          <p:cNvPr id="49" name="R9_it179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pesce</a:t>
            </a:r>
            <a:endParaRPr lang="en-US" sz="1000" dirty="0"/>
          </a:p>
        </p:txBody>
      </p:sp>
      <p:sp>
        <p:nvSpPr>
          <p:cNvPr id="50" name="cd_180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81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2" name="en_182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prawns</a:t>
            </a:r>
            <a:endParaRPr lang="en-US" sz="1200" dirty="0"/>
          </a:p>
        </p:txBody>
      </p:sp>
      <p:sp>
        <p:nvSpPr>
          <p:cNvPr id="53" name="R10_it183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gamberi</a:t>
            </a:r>
            <a:endParaRPr lang="en-US" sz="1000" dirty="0"/>
          </a:p>
        </p:txBody>
      </p:sp>
      <p:sp>
        <p:nvSpPr>
          <p:cNvPr id="54" name="cd_184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185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56" name="en_186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mussels</a:t>
            </a:r>
            <a:endParaRPr lang="en-US" sz="1200" dirty="0"/>
          </a:p>
        </p:txBody>
      </p:sp>
      <p:sp>
        <p:nvSpPr>
          <p:cNvPr id="57" name="R11_it187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cozze</a:t>
            </a:r>
            <a:endParaRPr lang="en-US" sz="1000" dirty="0"/>
          </a:p>
        </p:txBody>
      </p:sp>
      <p:sp>
        <p:nvSpPr>
          <p:cNvPr id="58" name="cd_188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189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60" name="en_190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butter</a:t>
            </a:r>
            <a:endParaRPr lang="en-US" sz="1200" dirty="0"/>
          </a:p>
        </p:txBody>
      </p:sp>
      <p:sp>
        <p:nvSpPr>
          <p:cNvPr id="61" name="R12_it191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burro</a:t>
            </a:r>
            <a:endParaRPr lang="en-US" sz="1000" dirty="0"/>
          </a:p>
        </p:txBody>
      </p:sp>
      <p:sp>
        <p:nvSpPr>
          <p:cNvPr id="62" name="cd_192"/>
          <p:cNvSpPr/>
          <p:nvPr/>
        </p:nvSpPr>
        <p:spPr>
          <a:xfrm>
            <a:off x="320040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e_193"/>
          <p:cNvSpPr/>
          <p:nvPr/>
        </p:nvSpPr>
        <p:spPr>
          <a:xfrm>
            <a:off x="393192" y="39959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64" name="en_194"/>
          <p:cNvSpPr/>
          <p:nvPr/>
        </p:nvSpPr>
        <p:spPr>
          <a:xfrm>
            <a:off x="978408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cheese</a:t>
            </a:r>
            <a:endParaRPr lang="en-US" sz="1200" dirty="0"/>
          </a:p>
        </p:txBody>
      </p:sp>
      <p:sp>
        <p:nvSpPr>
          <p:cNvPr id="65" name="R13_it195"/>
          <p:cNvSpPr/>
          <p:nvPr/>
        </p:nvSpPr>
        <p:spPr>
          <a:xfrm>
            <a:off x="978408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formaggio</a:t>
            </a:r>
            <a:endParaRPr lang="en-US" sz="1000" dirty="0"/>
          </a:p>
        </p:txBody>
      </p:sp>
      <p:sp>
        <p:nvSpPr>
          <p:cNvPr id="66" name="cd_196"/>
          <p:cNvSpPr/>
          <p:nvPr/>
        </p:nvSpPr>
        <p:spPr>
          <a:xfrm>
            <a:off x="2487168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7" name="e_197"/>
          <p:cNvSpPr/>
          <p:nvPr/>
        </p:nvSpPr>
        <p:spPr>
          <a:xfrm>
            <a:off x="2560320" y="39959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68" name="en_198"/>
          <p:cNvSpPr/>
          <p:nvPr/>
        </p:nvSpPr>
        <p:spPr>
          <a:xfrm>
            <a:off x="3145536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milk</a:t>
            </a:r>
            <a:endParaRPr lang="en-US" sz="1200" dirty="0"/>
          </a:p>
        </p:txBody>
      </p:sp>
      <p:sp>
        <p:nvSpPr>
          <p:cNvPr id="69" name="R14_it199"/>
          <p:cNvSpPr/>
          <p:nvPr/>
        </p:nvSpPr>
        <p:spPr>
          <a:xfrm>
            <a:off x="3145536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latte</a:t>
            </a:r>
            <a:endParaRPr lang="en-US" sz="1000" dirty="0"/>
          </a:p>
        </p:txBody>
      </p:sp>
      <p:sp>
        <p:nvSpPr>
          <p:cNvPr id="70" name="cd_200"/>
          <p:cNvSpPr/>
          <p:nvPr/>
        </p:nvSpPr>
        <p:spPr>
          <a:xfrm>
            <a:off x="4654296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1" name="e_201"/>
          <p:cNvSpPr/>
          <p:nvPr/>
        </p:nvSpPr>
        <p:spPr>
          <a:xfrm>
            <a:off x="4727448" y="39959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72" name="en_202"/>
          <p:cNvSpPr/>
          <p:nvPr/>
        </p:nvSpPr>
        <p:spPr>
          <a:xfrm>
            <a:off x="5312664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egg</a:t>
            </a:r>
            <a:endParaRPr lang="en-US" sz="1200" dirty="0"/>
          </a:p>
        </p:txBody>
      </p:sp>
      <p:sp>
        <p:nvSpPr>
          <p:cNvPr id="73" name="R15_it203"/>
          <p:cNvSpPr/>
          <p:nvPr/>
        </p:nvSpPr>
        <p:spPr>
          <a:xfrm>
            <a:off x="5312664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uovo</a:t>
            </a:r>
            <a:endParaRPr lang="en-US" sz="1000" dirty="0"/>
          </a:p>
        </p:txBody>
      </p:sp>
      <p:sp>
        <p:nvSpPr>
          <p:cNvPr id="74" name="cd_204"/>
          <p:cNvSpPr/>
          <p:nvPr/>
        </p:nvSpPr>
        <p:spPr>
          <a:xfrm>
            <a:off x="6821424" y="388620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5" name="e_205"/>
          <p:cNvSpPr/>
          <p:nvPr/>
        </p:nvSpPr>
        <p:spPr>
          <a:xfrm>
            <a:off x="6894576" y="39959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76" name="en_206"/>
          <p:cNvSpPr/>
          <p:nvPr/>
        </p:nvSpPr>
        <p:spPr>
          <a:xfrm>
            <a:off x="7479792" y="39410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flour</a:t>
            </a:r>
            <a:endParaRPr lang="en-US" sz="1200" dirty="0"/>
          </a:p>
        </p:txBody>
      </p:sp>
      <p:sp>
        <p:nvSpPr>
          <p:cNvPr id="77" name="R16_it207"/>
          <p:cNvSpPr/>
          <p:nvPr/>
        </p:nvSpPr>
        <p:spPr>
          <a:xfrm>
            <a:off x="7479792" y="427024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farina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2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10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bag of… a bottle of…</a:t>
            </a:r>
            <a:endParaRPr lang="en-US" sz="2500" dirty="0"/>
          </a:p>
        </p:txBody>
      </p:sp>
      <p:pic>
        <p:nvPicPr>
          <p:cNvPr id="6" name="brP_2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word? Then make an order: 'Two bags of flour, please.'</a:t>
            </a:r>
            <a:endParaRPr lang="en-US" sz="1200" dirty="0"/>
          </a:p>
        </p:txBody>
      </p:sp>
      <p:sp>
        <p:nvSpPr>
          <p:cNvPr id="8" name="insIT_21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parola? Poi fai un ordine.</a:t>
            </a:r>
            <a:endParaRPr lang="en-US" sz="950" dirty="0"/>
          </a:p>
        </p:txBody>
      </p:sp>
      <p:sp>
        <p:nvSpPr>
          <p:cNvPr id="9" name="cmd_21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21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21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21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1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VOCABULARY · Containers &amp; quantities</a:t>
            </a:r>
            <a:endParaRPr lang="en-US" sz="800" dirty="0"/>
          </a:p>
        </p:txBody>
      </p:sp>
      <p:sp>
        <p:nvSpPr>
          <p:cNvPr id="14" name="bd_219"/>
          <p:cNvSpPr/>
          <p:nvPr/>
        </p:nvSpPr>
        <p:spPr>
          <a:xfrm>
            <a:off x="54864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220"/>
          <p:cNvSpPr/>
          <p:nvPr/>
        </p:nvSpPr>
        <p:spPr>
          <a:xfrm>
            <a:off x="932688" y="14173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flour</a:t>
            </a:r>
            <a:endParaRPr lang="en-US" sz="1300" dirty="0"/>
          </a:p>
        </p:txBody>
      </p:sp>
      <p:sp>
        <p:nvSpPr>
          <p:cNvPr id="16" name="R1_chip221"/>
          <p:cNvSpPr/>
          <p:nvPr/>
        </p:nvSpPr>
        <p:spPr>
          <a:xfrm>
            <a:off x="4297680" y="14173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bag</a:t>
            </a:r>
            <a:endParaRPr lang="en-US" sz="1200" dirty="0"/>
          </a:p>
        </p:txBody>
      </p:sp>
      <p:sp>
        <p:nvSpPr>
          <p:cNvPr id="17" name="bd_222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223"/>
          <p:cNvSpPr/>
          <p:nvPr/>
        </p:nvSpPr>
        <p:spPr>
          <a:xfrm>
            <a:off x="932688" y="18288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olive oil</a:t>
            </a:r>
            <a:endParaRPr lang="en-US" sz="1300" dirty="0"/>
          </a:p>
        </p:txBody>
      </p:sp>
      <p:sp>
        <p:nvSpPr>
          <p:cNvPr id="19" name="R2_chip224"/>
          <p:cNvSpPr/>
          <p:nvPr/>
        </p:nvSpPr>
        <p:spPr>
          <a:xfrm>
            <a:off x="4297680" y="18288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bottle</a:t>
            </a:r>
            <a:endParaRPr lang="en-US" sz="1200" dirty="0"/>
          </a:p>
        </p:txBody>
      </p:sp>
      <p:sp>
        <p:nvSpPr>
          <p:cNvPr id="20" name="bd_225"/>
          <p:cNvSpPr/>
          <p:nvPr/>
        </p:nvSpPr>
        <p:spPr>
          <a:xfrm>
            <a:off x="54864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226"/>
          <p:cNvSpPr/>
          <p:nvPr/>
        </p:nvSpPr>
        <p:spPr>
          <a:xfrm>
            <a:off x="932688" y="22402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eggs</a:t>
            </a:r>
            <a:endParaRPr lang="en-US" sz="1300" dirty="0"/>
          </a:p>
        </p:txBody>
      </p:sp>
      <p:sp>
        <p:nvSpPr>
          <p:cNvPr id="22" name="R3_chip227"/>
          <p:cNvSpPr/>
          <p:nvPr/>
        </p:nvSpPr>
        <p:spPr>
          <a:xfrm>
            <a:off x="4297680" y="22402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box</a:t>
            </a:r>
            <a:endParaRPr lang="en-US" sz="1200" dirty="0"/>
          </a:p>
        </p:txBody>
      </p:sp>
      <p:sp>
        <p:nvSpPr>
          <p:cNvPr id="23" name="bd_228"/>
          <p:cNvSpPr/>
          <p:nvPr/>
        </p:nvSpPr>
        <p:spPr>
          <a:xfrm>
            <a:off x="54864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229"/>
          <p:cNvSpPr/>
          <p:nvPr/>
        </p:nvSpPr>
        <p:spPr>
          <a:xfrm>
            <a:off x="932688" y="265176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tomatoes</a:t>
            </a:r>
            <a:endParaRPr lang="en-US" sz="1300" dirty="0"/>
          </a:p>
        </p:txBody>
      </p:sp>
      <p:sp>
        <p:nvSpPr>
          <p:cNvPr id="25" name="R4_chip230"/>
          <p:cNvSpPr/>
          <p:nvPr/>
        </p:nvSpPr>
        <p:spPr>
          <a:xfrm>
            <a:off x="4297680" y="265176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tin</a:t>
            </a:r>
            <a:endParaRPr lang="en-US" sz="1200" dirty="0"/>
          </a:p>
        </p:txBody>
      </p:sp>
      <p:sp>
        <p:nvSpPr>
          <p:cNvPr id="26" name="bd_231"/>
          <p:cNvSpPr/>
          <p:nvPr/>
        </p:nvSpPr>
        <p:spPr>
          <a:xfrm>
            <a:off x="54864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232"/>
          <p:cNvSpPr/>
          <p:nvPr/>
        </p:nvSpPr>
        <p:spPr>
          <a:xfrm>
            <a:off x="932688" y="306324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milk</a:t>
            </a:r>
            <a:endParaRPr lang="en-US" sz="1300" dirty="0"/>
          </a:p>
        </p:txBody>
      </p:sp>
      <p:sp>
        <p:nvSpPr>
          <p:cNvPr id="28" name="R5_chip233"/>
          <p:cNvSpPr/>
          <p:nvPr/>
        </p:nvSpPr>
        <p:spPr>
          <a:xfrm>
            <a:off x="4297680" y="306324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carton</a:t>
            </a:r>
            <a:endParaRPr lang="en-US" sz="1200" dirty="0"/>
          </a:p>
        </p:txBody>
      </p:sp>
      <p:sp>
        <p:nvSpPr>
          <p:cNvPr id="29" name="bd_234"/>
          <p:cNvSpPr/>
          <p:nvPr/>
        </p:nvSpPr>
        <p:spPr>
          <a:xfrm>
            <a:off x="54864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235"/>
          <p:cNvSpPr/>
          <p:nvPr/>
        </p:nvSpPr>
        <p:spPr>
          <a:xfrm>
            <a:off x="932688" y="34747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basil</a:t>
            </a:r>
            <a:endParaRPr lang="en-US" sz="1300" dirty="0"/>
          </a:p>
        </p:txBody>
      </p:sp>
      <p:sp>
        <p:nvSpPr>
          <p:cNvPr id="31" name="R6_chip236"/>
          <p:cNvSpPr/>
          <p:nvPr/>
        </p:nvSpPr>
        <p:spPr>
          <a:xfrm>
            <a:off x="4297680" y="34747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bunch</a:t>
            </a:r>
            <a:endParaRPr lang="en-US" sz="1200" dirty="0"/>
          </a:p>
        </p:txBody>
      </p:sp>
      <p:sp>
        <p:nvSpPr>
          <p:cNvPr id="32" name="bd_237"/>
          <p:cNvSpPr/>
          <p:nvPr/>
        </p:nvSpPr>
        <p:spPr>
          <a:xfrm>
            <a:off x="54864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q_238"/>
          <p:cNvSpPr/>
          <p:nvPr/>
        </p:nvSpPr>
        <p:spPr>
          <a:xfrm>
            <a:off x="932688" y="38862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garlic</a:t>
            </a:r>
            <a:endParaRPr lang="en-US" sz="1300" dirty="0"/>
          </a:p>
        </p:txBody>
      </p:sp>
      <p:sp>
        <p:nvSpPr>
          <p:cNvPr id="34" name="R7_chip239"/>
          <p:cNvSpPr/>
          <p:nvPr/>
        </p:nvSpPr>
        <p:spPr>
          <a:xfrm>
            <a:off x="4297680" y="38862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clove / head</a:t>
            </a:r>
            <a:endParaRPr lang="en-US" sz="1200" dirty="0"/>
          </a:p>
        </p:txBody>
      </p:sp>
      <p:sp>
        <p:nvSpPr>
          <p:cNvPr id="35" name="bd_240"/>
          <p:cNvSpPr/>
          <p:nvPr/>
        </p:nvSpPr>
        <p:spPr>
          <a:xfrm>
            <a:off x="54864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6" name="q_241"/>
          <p:cNvSpPr/>
          <p:nvPr/>
        </p:nvSpPr>
        <p:spPr>
          <a:xfrm>
            <a:off x="932688" y="42976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___ of salt</a:t>
            </a:r>
            <a:endParaRPr lang="en-US" sz="1300" dirty="0"/>
          </a:p>
        </p:txBody>
      </p:sp>
      <p:sp>
        <p:nvSpPr>
          <p:cNvPr id="37" name="R8_chip242"/>
          <p:cNvSpPr/>
          <p:nvPr/>
        </p:nvSpPr>
        <p:spPr>
          <a:xfrm>
            <a:off x="4297680" y="42976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pinch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2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4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much? How many?</a:t>
            </a:r>
            <a:endParaRPr lang="en-US" sz="2100" dirty="0"/>
          </a:p>
        </p:txBody>
      </p:sp>
      <p:sp>
        <p:nvSpPr>
          <p:cNvPr id="6" name="meta_24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🙋 whole class</a:t>
            </a:r>
            <a:endParaRPr lang="en-US" sz="950" dirty="0"/>
          </a:p>
        </p:txBody>
      </p:sp>
      <p:sp>
        <p:nvSpPr>
          <p:cNvPr id="7" name="tag_24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8" name="logo_248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9" name="foot_2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GRAMMAR · Countable / uncountable</a:t>
            </a:r>
            <a:endParaRPr lang="en-US" sz="800" dirty="0"/>
          </a:p>
        </p:txBody>
      </p:sp>
      <p:sp>
        <p:nvSpPr>
          <p:cNvPr id="10" name="cd_25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1" name="rh_25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Countable</a:t>
            </a:r>
            <a:endParaRPr lang="en-US" sz="1250" dirty="0"/>
          </a:p>
        </p:txBody>
      </p:sp>
      <p:sp>
        <p:nvSpPr>
          <p:cNvPr id="12" name="R1_rx252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onion – two onions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egg – six eggs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eggs?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few tomatoes</a:t>
            </a:r>
            <a:endParaRPr lang="en-US" sz="1400" dirty="0"/>
          </a:p>
        </p:txBody>
      </p:sp>
      <p:sp>
        <p:nvSpPr>
          <p:cNvPr id="13" name="cd_253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254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Uncountable</a:t>
            </a:r>
            <a:endParaRPr lang="en-US" sz="1250" dirty="0"/>
          </a:p>
        </p:txBody>
      </p:sp>
      <p:sp>
        <p:nvSpPr>
          <p:cNvPr id="15" name="R2_rx255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flour, butter, milk, rice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flour?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little salt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litres of milk</a:t>
            </a:r>
            <a:endParaRPr lang="en-US" sz="1400" dirty="0"/>
          </a:p>
        </p:txBody>
      </p:sp>
      <p:sp>
        <p:nvSpPr>
          <p:cNvPr id="16" name="R2_ri256"/>
          <p:cNvSpPr/>
          <p:nvPr/>
        </p:nvSpPr>
        <p:spPr>
          <a:xfrm>
            <a:off x="33070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(not: two milks)</a:t>
            </a:r>
            <a:endParaRPr lang="en-US" sz="1100" dirty="0"/>
          </a:p>
        </p:txBody>
      </p:sp>
      <p:sp>
        <p:nvSpPr>
          <p:cNvPr id="17" name="cd_257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rh_258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some / any</a:t>
            </a:r>
            <a:endParaRPr lang="en-US" sz="1250" dirty="0"/>
          </a:p>
        </p:txBody>
      </p:sp>
      <p:sp>
        <p:nvSpPr>
          <p:cNvPr id="19" name="R3_rx259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+ We've got some cream.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– We haven't got any cream.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Have we got any cream?</a:t>
            </a:r>
            <a:endParaRPr lang="en-US" sz="1400" dirty="0"/>
          </a:p>
        </p:txBody>
      </p:sp>
      <p:sp>
        <p:nvSpPr>
          <p:cNvPr id="20" name="R3_ri260"/>
          <p:cNvSpPr/>
          <p:nvPr/>
        </p:nvSpPr>
        <p:spPr>
          <a:xfrm>
            <a:off x="62026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We've run out of… = è finito</a:t>
            </a:r>
            <a:endParaRPr lang="en-US" sz="1100" dirty="0"/>
          </a:p>
        </p:txBody>
      </p:sp>
      <p:sp>
        <p:nvSpPr>
          <p:cNvPr id="21" name="R4_wc261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4_w262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How many butter? → ✓ How much butter?     ✗ some informations → ✓ some information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265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Stock check</a:t>
            </a:r>
            <a:endParaRPr lang="en-US" sz="2500" dirty="0"/>
          </a:p>
        </p:txBody>
      </p:sp>
      <p:pic>
        <p:nvPicPr>
          <p:cNvPr id="6" name="brP_2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67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with some, any, much or many.</a:t>
            </a:r>
            <a:endParaRPr lang="en-US" sz="1250" dirty="0"/>
          </a:p>
        </p:txBody>
      </p:sp>
      <p:sp>
        <p:nvSpPr>
          <p:cNvPr id="8" name="insIT_2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some, any, much o many.</a:t>
            </a:r>
            <a:endParaRPr lang="en-US" sz="950" dirty="0"/>
          </a:p>
        </p:txBody>
      </p:sp>
      <p:sp>
        <p:nvSpPr>
          <p:cNvPr id="9" name="cmd_26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✍️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950" dirty="0"/>
          </a:p>
        </p:txBody>
      </p:sp>
      <p:sp>
        <p:nvSpPr>
          <p:cNvPr id="10" name="meta_27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27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2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GRAMMAR · Practice</a:t>
            </a:r>
            <a:endParaRPr lang="en-US" sz="800" dirty="0"/>
          </a:p>
        </p:txBody>
      </p:sp>
      <p:sp>
        <p:nvSpPr>
          <p:cNvPr id="14" name="bd_274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275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we got ___ onions?</a:t>
            </a:r>
            <a:endParaRPr lang="en-US" sz="1300" dirty="0"/>
          </a:p>
        </p:txBody>
      </p:sp>
      <p:sp>
        <p:nvSpPr>
          <p:cNvPr id="16" name="R1_chip276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</a:t>
            </a:r>
            <a:endParaRPr lang="en-US" sz="1200" dirty="0"/>
          </a:p>
        </p:txBody>
      </p:sp>
      <p:sp>
        <p:nvSpPr>
          <p:cNvPr id="17" name="bd_277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278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___ butter do we need?</a:t>
            </a:r>
            <a:endParaRPr lang="en-US" sz="1300" dirty="0"/>
          </a:p>
        </p:txBody>
      </p:sp>
      <p:sp>
        <p:nvSpPr>
          <p:cNvPr id="19" name="R2_chip279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much</a:t>
            </a:r>
            <a:endParaRPr lang="en-US" sz="1200" dirty="0"/>
          </a:p>
        </p:txBody>
      </p:sp>
      <p:sp>
        <p:nvSpPr>
          <p:cNvPr id="20" name="bd_280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281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haven't got ___ cream.</a:t>
            </a:r>
            <a:endParaRPr lang="en-US" sz="1300" dirty="0"/>
          </a:p>
        </p:txBody>
      </p:sp>
      <p:sp>
        <p:nvSpPr>
          <p:cNvPr id="22" name="R3_chip282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</a:t>
            </a:r>
            <a:endParaRPr lang="en-US" sz="1200" dirty="0"/>
          </a:p>
        </p:txBody>
      </p:sp>
      <p:sp>
        <p:nvSpPr>
          <p:cNvPr id="23" name="bd_283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284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___ eggs are there?</a:t>
            </a:r>
            <a:endParaRPr lang="en-US" sz="1300" dirty="0"/>
          </a:p>
        </p:txBody>
      </p:sp>
      <p:sp>
        <p:nvSpPr>
          <p:cNvPr id="25" name="R4_chip285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many</a:t>
            </a:r>
            <a:endParaRPr lang="en-US" sz="1200" dirty="0"/>
          </a:p>
        </p:txBody>
      </p:sp>
      <p:sp>
        <p:nvSpPr>
          <p:cNvPr id="26" name="bd_286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287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There's ___ milk in the fridge.</a:t>
            </a:r>
            <a:endParaRPr lang="en-US" sz="1300" dirty="0"/>
          </a:p>
        </p:txBody>
      </p:sp>
      <p:sp>
        <p:nvSpPr>
          <p:cNvPr id="28" name="R5_chip288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</a:t>
            </a:r>
            <a:endParaRPr lang="en-US" sz="1200" dirty="0"/>
          </a:p>
        </p:txBody>
      </p:sp>
      <p:sp>
        <p:nvSpPr>
          <p:cNvPr id="29" name="bd_289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290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need ___ more garlic.</a:t>
            </a:r>
            <a:endParaRPr lang="en-US" sz="1300" dirty="0"/>
          </a:p>
        </p:txBody>
      </p:sp>
      <p:sp>
        <p:nvSpPr>
          <p:cNvPr id="31" name="R6_chip291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94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Tomorrow's delivery</a:t>
            </a:r>
            <a:endParaRPr lang="en-US" sz="2500" dirty="0"/>
          </a:p>
        </p:txBody>
      </p:sp>
      <p:pic>
        <p:nvPicPr>
          <p:cNvPr id="6" name="brP_2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96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email. Answer the questions.</a:t>
            </a:r>
            <a:endParaRPr lang="en-US" sz="1250" dirty="0"/>
          </a:p>
        </p:txBody>
      </p:sp>
      <p:sp>
        <p:nvSpPr>
          <p:cNvPr id="8" name="insIT_29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l'email e rispondi.</a:t>
            </a:r>
            <a:endParaRPr lang="en-US" sz="950" dirty="0"/>
          </a:p>
        </p:txBody>
      </p:sp>
      <p:sp>
        <p:nvSpPr>
          <p:cNvPr id="9" name="cmd_29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299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300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READING · A supplier's email</a:t>
            </a:r>
            <a:endParaRPr lang="en-US" sz="800" dirty="0"/>
          </a:p>
        </p:txBody>
      </p:sp>
      <p:sp>
        <p:nvSpPr>
          <p:cNvPr id="14" name="cd_303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d_304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From: Rosa, Bagheria Fresh Foods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Dear Chef, thank you for your order. Tomorrow we are delivering 10 kilos of potatoes, 5 bags of flour, 4 litres of cream and 2 boxes of eggs. I'm sorry, but we haven't got any lemons this week. We've got some limes – do you want them? There isn't any fresh basil, but we've got some parsley. Delivery time: 7.30 a.m. Best wishes, Rosa</a:t>
            </a:r>
            <a:endParaRPr lang="en-US" sz="1500" dirty="0"/>
          </a:p>
        </p:txBody>
      </p:sp>
      <p:sp>
        <p:nvSpPr>
          <p:cNvPr id="16" name="bd_305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rq_306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kilos of potatoes?</a:t>
            </a:r>
            <a:endParaRPr lang="en-US" sz="1050" dirty="0"/>
          </a:p>
        </p:txBody>
      </p:sp>
      <p:sp>
        <p:nvSpPr>
          <p:cNvPr id="18" name="R1_chip307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kilos</a:t>
            </a:r>
            <a:endParaRPr lang="en-US" sz="1050" dirty="0"/>
          </a:p>
        </p:txBody>
      </p:sp>
      <p:sp>
        <p:nvSpPr>
          <p:cNvPr id="19" name="bd_308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rq_309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cream?</a:t>
            </a:r>
            <a:endParaRPr lang="en-US" sz="1050" dirty="0"/>
          </a:p>
        </p:txBody>
      </p:sp>
      <p:sp>
        <p:nvSpPr>
          <p:cNvPr id="21" name="R2_chip310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litres</a:t>
            </a:r>
            <a:endParaRPr lang="en-US" sz="1050" dirty="0"/>
          </a:p>
        </p:txBody>
      </p:sp>
      <p:sp>
        <p:nvSpPr>
          <p:cNvPr id="22" name="bd_311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rq_312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they got any lemons?</a:t>
            </a:r>
            <a:endParaRPr lang="en-US" sz="1050" dirty="0"/>
          </a:p>
        </p:txBody>
      </p:sp>
      <p:sp>
        <p:nvSpPr>
          <p:cNvPr id="24" name="R3_chip313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– limes instead</a:t>
            </a:r>
            <a:endParaRPr lang="en-US" sz="1050" dirty="0"/>
          </a:p>
        </p:txBody>
      </p:sp>
      <p:sp>
        <p:nvSpPr>
          <p:cNvPr id="25" name="bd_314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rq_315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herb can they send?</a:t>
            </a:r>
            <a:endParaRPr lang="en-US" sz="1050" dirty="0"/>
          </a:p>
        </p:txBody>
      </p:sp>
      <p:sp>
        <p:nvSpPr>
          <p:cNvPr id="27" name="R4_chip316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parsley</a:t>
            </a:r>
            <a:endParaRPr lang="en-US" sz="1050" dirty="0"/>
          </a:p>
        </p:txBody>
      </p:sp>
      <p:sp>
        <p:nvSpPr>
          <p:cNvPr id="28" name="bd_317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rq_318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is the delivery?</a:t>
            </a:r>
            <a:endParaRPr lang="en-US" sz="1050" dirty="0"/>
          </a:p>
        </p:txBody>
      </p:sp>
      <p:sp>
        <p:nvSpPr>
          <p:cNvPr id="30" name="R5_chip319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7.30 a.m.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3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32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Mystery basket</a:t>
            </a:r>
            <a:endParaRPr lang="en-US" sz="2500" dirty="0"/>
          </a:p>
        </p:txBody>
      </p:sp>
      <p:pic>
        <p:nvPicPr>
          <p:cNvPr id="6" name="brP_3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2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the basket! Create a dish with ALL 4 ingredients.</a:t>
            </a:r>
            <a:endParaRPr lang="en-US" sz="1250" dirty="0"/>
          </a:p>
        </p:txBody>
      </p:sp>
      <p:sp>
        <p:nvSpPr>
          <p:cNvPr id="8" name="insIT_3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Apri il cestino! Crea un piatto con TUTTI e 4 gli ingredienti.</a:t>
            </a:r>
            <a:endParaRPr lang="en-US" sz="950" dirty="0"/>
          </a:p>
        </p:txBody>
      </p:sp>
      <p:sp>
        <p:nvSpPr>
          <p:cNvPr id="9" name="cmd_32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32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10 min   🏆 teams</a:t>
            </a:r>
            <a:endParaRPr lang="en-US" sz="950" dirty="0"/>
          </a:p>
        </p:txBody>
      </p:sp>
      <p:sp>
        <p:nvSpPr>
          <p:cNvPr id="11" name="tag_32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GAME · Creative cooking</a:t>
            </a:r>
            <a:endParaRPr lang="en-US" sz="800" dirty="0"/>
          </a:p>
        </p:txBody>
      </p:sp>
      <p:sp>
        <p:nvSpPr>
          <p:cNvPr id="14" name="R1_qb331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R1_sq332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🐟 fish · 🍋 lemon · 🧀 cheese · 🌶 chilli</a:t>
            </a:r>
            <a:endParaRPr lang="en-US" sz="1400" dirty="0"/>
          </a:p>
          <a:p>
            <a:pPr indent="0" marL="0">
              <a:buNone/>
            </a:pPr>
            <a:r>
              <a:rPr lang="en-US" sz="11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e.g. Lemon sea bass with chilli and a parmesan crust!</a:t>
            </a:r>
            <a:endParaRPr lang="en-US" sz="1400" dirty="0"/>
          </a:p>
        </p:txBody>
      </p:sp>
      <p:sp>
        <p:nvSpPr>
          <p:cNvPr id="16" name="R2_qb333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R2_sq334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your dish a name and a price.</a:t>
            </a:r>
            <a:endParaRPr lang="en-US" sz="1400" dirty="0"/>
          </a:p>
        </p:txBody>
      </p:sp>
      <p:sp>
        <p:nvSpPr>
          <p:cNvPr id="18" name="R3_qb335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R3_sq336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the class how to make it: First… Then… Finally…</a:t>
            </a:r>
            <a:endParaRPr lang="en-US" sz="1400" dirty="0"/>
          </a:p>
        </p:txBody>
      </p:sp>
      <p:sp>
        <p:nvSpPr>
          <p:cNvPr id="20" name="R4_qb337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R4_sq338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class votes: would you eat it?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4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341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delivery</a:t>
            </a:r>
            <a:endParaRPr lang="en-US" sz="2500" dirty="0"/>
          </a:p>
        </p:txBody>
      </p:sp>
      <p:pic>
        <p:nvPicPr>
          <p:cNvPr id="6" name="brP_34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343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has the order. B checks the delivery. Then swap!</a:t>
            </a:r>
            <a:endParaRPr lang="en-US" sz="1250" dirty="0"/>
          </a:p>
        </p:txBody>
      </p:sp>
      <p:sp>
        <p:nvSpPr>
          <p:cNvPr id="8" name="insIT_34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ha l'ordine. B controlla la consegna. Poi scambiatevi!</a:t>
            </a:r>
            <a:endParaRPr lang="en-US" sz="950" dirty="0"/>
          </a:p>
        </p:txBody>
      </p:sp>
      <p:sp>
        <p:nvSpPr>
          <p:cNvPr id="9" name="cmd_34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34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950" dirty="0"/>
          </a:p>
        </p:txBody>
      </p:sp>
      <p:sp>
        <p:nvSpPr>
          <p:cNvPr id="11" name="tag_34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3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SPEAKING · Role-play</a:t>
            </a:r>
            <a:endParaRPr lang="en-US" sz="800" dirty="0"/>
          </a:p>
        </p:txBody>
      </p:sp>
      <p:sp>
        <p:nvSpPr>
          <p:cNvPr id="14" name="cd_350"/>
          <p:cNvSpPr/>
          <p:nvPr/>
        </p:nvSpPr>
        <p:spPr>
          <a:xfrm>
            <a:off x="320040" y="1417320"/>
            <a:ext cx="2606040" cy="3121152"/>
          </a:xfrm>
          <a:prstGeom prst="roundRect">
            <a:avLst>
              <a:gd name="adj" fmla="val 4912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5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352"/>
          <p:cNvSpPr/>
          <p:nvPr/>
        </p:nvSpPr>
        <p:spPr>
          <a:xfrm>
            <a:off x="8869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353"/>
          <p:cNvSpPr/>
          <p:nvPr/>
        </p:nvSpPr>
        <p:spPr>
          <a:xfrm>
            <a:off x="886968" y="1911096"/>
            <a:ext cx="1947672" cy="2554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We've run out of… (è finito)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low on… (ne abbiamo poco)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fresh?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out of date. (scaduto)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it in the fridge / freezer.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 it back!</a:t>
            </a:r>
            <a:endParaRPr lang="en-US" sz="1200" dirty="0"/>
          </a:p>
        </p:txBody>
      </p:sp>
      <p:sp>
        <p:nvSpPr>
          <p:cNvPr id="18" name="who_354"/>
          <p:cNvSpPr/>
          <p:nvPr/>
        </p:nvSpPr>
        <p:spPr>
          <a:xfrm>
            <a:off x="3108960" y="1463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19" name="sl_355"/>
          <p:cNvSpPr/>
          <p:nvPr/>
        </p:nvSpPr>
        <p:spPr>
          <a:xfrm>
            <a:off x="4114800" y="1444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kilos of potatoes are there?</a:t>
            </a:r>
            <a:endParaRPr lang="en-US" sz="1150" dirty="0"/>
          </a:p>
        </p:txBody>
      </p:sp>
      <p:sp>
        <p:nvSpPr>
          <p:cNvPr id="20" name="who_356"/>
          <p:cNvSpPr/>
          <p:nvPr/>
        </p:nvSpPr>
        <p:spPr>
          <a:xfrm>
            <a:off x="3108960" y="19202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1" name="sl_357"/>
          <p:cNvSpPr/>
          <p:nvPr/>
        </p:nvSpPr>
        <p:spPr>
          <a:xfrm>
            <a:off x="4114800" y="1901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There are ten kilos.</a:t>
            </a:r>
            <a:endParaRPr lang="en-US" sz="1150" dirty="0"/>
          </a:p>
        </p:txBody>
      </p:sp>
      <p:sp>
        <p:nvSpPr>
          <p:cNvPr id="22" name="who_358"/>
          <p:cNvSpPr/>
          <p:nvPr/>
        </p:nvSpPr>
        <p:spPr>
          <a:xfrm>
            <a:off x="3108960" y="23774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l_359"/>
          <p:cNvSpPr/>
          <p:nvPr/>
        </p:nvSpPr>
        <p:spPr>
          <a:xfrm>
            <a:off x="4114800" y="23591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Good. And how much cream is there?</a:t>
            </a:r>
            <a:endParaRPr lang="en-US" sz="1150" dirty="0"/>
          </a:p>
        </p:txBody>
      </p:sp>
      <p:sp>
        <p:nvSpPr>
          <p:cNvPr id="24" name="who_360"/>
          <p:cNvSpPr/>
          <p:nvPr/>
        </p:nvSpPr>
        <p:spPr>
          <a:xfrm>
            <a:off x="3108960" y="28346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l_361"/>
          <p:cNvSpPr/>
          <p:nvPr/>
        </p:nvSpPr>
        <p:spPr>
          <a:xfrm>
            <a:off x="4114800" y="28163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litres. But there aren't any lemons!</a:t>
            </a:r>
            <a:endParaRPr lang="en-US" sz="1150" dirty="0"/>
          </a:p>
        </p:txBody>
      </p:sp>
      <p:sp>
        <p:nvSpPr>
          <p:cNvPr id="26" name="who_362"/>
          <p:cNvSpPr/>
          <p:nvPr/>
        </p:nvSpPr>
        <p:spPr>
          <a:xfrm>
            <a:off x="3108960" y="32918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7" name="sl_363"/>
          <p:cNvSpPr/>
          <p:nvPr/>
        </p:nvSpPr>
        <p:spPr>
          <a:xfrm>
            <a:off x="4114800" y="32735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We've run out of lemons. Call the supplier, please.</a:t>
            </a:r>
            <a:endParaRPr lang="en-US" sz="1150" dirty="0"/>
          </a:p>
        </p:txBody>
      </p:sp>
      <p:sp>
        <p:nvSpPr>
          <p:cNvPr id="28" name="who_364"/>
          <p:cNvSpPr/>
          <p:nvPr/>
        </p:nvSpPr>
        <p:spPr>
          <a:xfrm>
            <a:off x="3108960" y="3749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9" name="sl_365"/>
          <p:cNvSpPr/>
          <p:nvPr/>
        </p:nvSpPr>
        <p:spPr>
          <a:xfrm>
            <a:off x="4114800" y="3730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Chef!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6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36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36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370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37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meta_37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0" name="tag_37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3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Exit · what can you remember?</a:t>
            </a:r>
            <a:endParaRPr lang="en-US" sz="800" dirty="0"/>
          </a:p>
        </p:txBody>
      </p:sp>
      <p:sp>
        <p:nvSpPr>
          <p:cNvPr id="13" name="bd_37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37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5" name="bd_37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37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7" name="bd_38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38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9" name="cd_382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38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38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385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tomorrow's shopping list for your restaurant in English: 10 items with quantities.</a:t>
            </a:r>
            <a:endParaRPr lang="en-US" sz="900" dirty="0"/>
          </a:p>
        </p:txBody>
      </p:sp>
      <p:sp>
        <p:nvSpPr>
          <p:cNvPr id="23" name="st_386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L4 · Kitchen commands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8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3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39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39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39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9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39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3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Review · what did you do today?</a:t>
            </a:r>
            <a:endParaRPr lang="en-US" sz="800" dirty="0"/>
          </a:p>
        </p:txBody>
      </p:sp>
      <p:sp>
        <p:nvSpPr>
          <p:cNvPr id="14" name="cd_39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39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6" name="tt_40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food and ingredients</a:t>
            </a:r>
            <a:endParaRPr lang="en-US" sz="1350" dirty="0"/>
          </a:p>
        </p:txBody>
      </p:sp>
      <p:sp>
        <p:nvSpPr>
          <p:cNvPr id="17" name="R1_tk40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40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40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20" name="tt_40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countable / uncountable</a:t>
            </a:r>
            <a:endParaRPr lang="en-US" sz="1350" dirty="0"/>
          </a:p>
        </p:txBody>
      </p:sp>
      <p:sp>
        <p:nvSpPr>
          <p:cNvPr id="21" name="R2_tk40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40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40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t_40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the delivery</a:t>
            </a:r>
            <a:endParaRPr lang="en-US" sz="1350" dirty="0"/>
          </a:p>
        </p:txBody>
      </p:sp>
      <p:sp>
        <p:nvSpPr>
          <p:cNvPr id="25" name="R3_tk40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st_410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411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412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413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414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417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Food you love to hate</a:t>
            </a:r>
            <a:endParaRPr lang="en-US" sz="2500" dirty="0"/>
          </a:p>
        </p:txBody>
      </p:sp>
      <p:pic>
        <p:nvPicPr>
          <p:cNvPr id="6" name="brP_4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419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Answer. Your partner must ask a follow-up question!</a:t>
            </a:r>
            <a:endParaRPr lang="en-US" sz="1250" dirty="0"/>
          </a:p>
        </p:txBody>
      </p:sp>
      <p:sp>
        <p:nvSpPr>
          <p:cNvPr id="8" name="insIT_42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Rispondi. Il collega deve fare un'altra domanda!</a:t>
            </a:r>
            <a:endParaRPr lang="en-US" sz="950" dirty="0"/>
          </a:p>
        </p:txBody>
      </p:sp>
      <p:sp>
        <p:nvSpPr>
          <p:cNvPr id="9" name="cmd_42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42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42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SPEAKING · Food talk</a:t>
            </a:r>
            <a:endParaRPr lang="en-US" sz="800" dirty="0"/>
          </a:p>
        </p:txBody>
      </p:sp>
      <p:sp>
        <p:nvSpPr>
          <p:cNvPr id="14" name="ext_42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427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428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food you would never eat again. Why?</a:t>
            </a:r>
            <a:endParaRPr lang="en-US" sz="1400" dirty="0"/>
          </a:p>
          <a:p>
            <a:pPr indent="0" marL="0">
              <a:buNone/>
            </a:pPr>
            <a:r>
              <a:rPr lang="en-US" sz="11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Follow up: Why? Really? What happened? Who disagrees?</a:t>
            </a:r>
            <a:endParaRPr lang="en-US" sz="1400" dirty="0"/>
          </a:p>
        </p:txBody>
      </p:sp>
      <p:sp>
        <p:nvSpPr>
          <p:cNvPr id="17" name="R2_qb429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430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ingredient you think is overrated.</a:t>
            </a:r>
            <a:endParaRPr lang="en-US" sz="1400" dirty="0"/>
          </a:p>
        </p:txBody>
      </p:sp>
      <p:sp>
        <p:nvSpPr>
          <p:cNvPr id="19" name="R3_qb431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432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strangest thing a customer has asked for.</a:t>
            </a:r>
            <a:endParaRPr lang="en-US" sz="1400" dirty="0"/>
          </a:p>
        </p:txBody>
      </p:sp>
      <p:sp>
        <p:nvSpPr>
          <p:cNvPr id="21" name="R4_qb433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434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ingredient you can't work without.</a:t>
            </a:r>
            <a:endParaRPr lang="en-US" sz="1400" dirty="0"/>
          </a:p>
        </p:txBody>
      </p:sp>
      <p:sp>
        <p:nvSpPr>
          <p:cNvPr id="23" name="R5_qb435"/>
          <p:cNvSpPr/>
          <p:nvPr/>
        </p:nvSpPr>
        <p:spPr>
          <a:xfrm>
            <a:off x="57607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R5_sq436"/>
          <p:cNvSpPr/>
          <p:nvPr/>
        </p:nvSpPr>
        <p:spPr>
          <a:xfrm>
            <a:off x="978408" y="3831336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food everyone loves, but you don't.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3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39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shopping list</a:t>
            </a:r>
            <a:endParaRPr lang="en-US" sz="2500" dirty="0"/>
          </a:p>
        </p:txBody>
      </p:sp>
      <p:pic>
        <p:nvPicPr>
          <p:cNvPr id="6" name="brP_44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4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Repeat the list and add one more item!</a:t>
            </a:r>
            <a:endParaRPr lang="en-US" sz="1250" dirty="0"/>
          </a:p>
        </p:txBody>
      </p:sp>
      <p:sp>
        <p:nvSpPr>
          <p:cNvPr id="8" name="insIT_44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Ripeti la lista e aggiungi un ingrediente!</a:t>
            </a:r>
            <a:endParaRPr lang="en-US" sz="950" dirty="0"/>
          </a:p>
        </p:txBody>
      </p:sp>
      <p:sp>
        <p:nvSpPr>
          <p:cNvPr id="9" name="cmd_44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44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950" dirty="0"/>
          </a:p>
        </p:txBody>
      </p:sp>
      <p:sp>
        <p:nvSpPr>
          <p:cNvPr id="11" name="tag_44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4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L3 · Game · memory</a:t>
            </a:r>
            <a:endParaRPr lang="en-US" sz="800" dirty="0"/>
          </a:p>
        </p:txBody>
      </p:sp>
      <p:sp>
        <p:nvSpPr>
          <p:cNvPr id="14" name="ext_448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449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450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We need some onions.</a:t>
            </a:r>
            <a:endParaRPr lang="en-US" sz="1400" dirty="0"/>
          </a:p>
        </p:txBody>
      </p:sp>
      <p:sp>
        <p:nvSpPr>
          <p:cNvPr id="17" name="R2_qb451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452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B: We need some onions and a litre of milk.</a:t>
            </a:r>
            <a:endParaRPr lang="en-US" sz="1400" dirty="0"/>
          </a:p>
        </p:txBody>
      </p:sp>
      <p:sp>
        <p:nvSpPr>
          <p:cNvPr id="19" name="R3_qb453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454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We need some onions, a litre of milk and six eggs.</a:t>
            </a:r>
            <a:endParaRPr lang="en-US" sz="1400" dirty="0"/>
          </a:p>
        </p:txBody>
      </p:sp>
      <p:sp>
        <p:nvSpPr>
          <p:cNvPr id="21" name="R4_qb455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456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an item or say 'a milk'? You lose the round!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L3 Ingredients</dc:title>
  <dc:subject>PptxGenJS Presentation</dc:subject>
  <dc:creator>PptxGenJS</dc:creator>
  <cp:lastModifiedBy>PptxGenJS</cp:lastModifiedBy>
  <cp:revision>1</cp:revision>
  <dcterms:created xsi:type="dcterms:W3CDTF">2026-10-20T06:41:55Z</dcterms:created>
  <dcterms:modified xsi:type="dcterms:W3CDTF">2026-10-20T06:41:55Z</dcterms:modified>
</cp:coreProperties>
</file>