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LESSON 5 (60 min). Aims: cooking methods, recipe language, sequencing, for / until. (2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Lesson 4 (5 min)
REVISION (5 min). VARIATION: memory + upgrade. Revises chop, slice, dice, peel, grate, crush, mince, fillet and the 'upgrade' adverbs (finely, thinly, roughly).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VOCABULARY · Cooking methods (7 min)
VOCABULARY (8 min). Contrast bake vs roast (bake bread/cakes, roast meat/vegetables) and boil vs simmer.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PRONUNCIATION · Menu words (5 min)
PRONUNCIATION (5 min). VARIATION: phonological branching — sort by sound, not spelling. /ɪd/ only after t or d. Students add 2 more menu words for each sound.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GRAMMAR · Telling a recipe (5 min)
GRAMMAR (5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Practice (5 min)
GRAMMAR PRACTICE (5 min).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READING · A recipe (6 min)
READING (6 min). Answer: F C E A D B. Click 1. Note: F and C can swap (heat the oil first, then slice the garlic) — accept it with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READING · A menu (6 min)
READING (6 min). Menus use past participles: grilled, steamed, roast(ed), baked, pan-fried. Last question: personalisation + justify.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LISTENING · A famous recipe (7 min)
VIDEO (8 min). VARIATION: mild controversy — Italian chefs love judging British-made 'Italian' food. Preview first (link checked October 2026). Push them to justify: It isn't Italian because…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· Your recipe (9 min)
WRITING + SPEAKING (10 min). VARIATION: constraint challenge (no Italian). The partner must ask at least 2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Exit · what can you remember? (3 min)
EXIT (3 min). Homework sheet L5 in the portal.
Can-dos: I can name cooking methods. · I can follow a simple recipe in English. · I can explain my recipe step by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· Best and worst (6 min)
SPEAKING (6 min). VARIATION: opposites — 'the worst way' always gets laughs and longer answers. Ask: Who disagrees?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Writing · fun (8 min)
EXTRA (8 min). VARIATION: opposites + student-generated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Kitchen English · Lesson 5 of 10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L5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Cooking methods</a:t>
            </a:r>
            <a:endParaRPr lang="en-US" sz="22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cooking methods · first, then, finally · your signature dish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551432"/>
          </a:xfrm>
          <a:prstGeom prst="roundRect">
            <a:avLst>
              <a:gd name="adj" fmla="val 8251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🔑  learn cooking methods</a:t>
            </a:r>
            <a:endParaRPr lang="en-US" sz="12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🧩  practise first, then, finally</a:t>
            </a:r>
            <a:endParaRPr lang="en-US" sz="120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practise speaking: your signature dish</a:t>
            </a:r>
            <a:endParaRPr lang="en-US" sz="12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My… First, I…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chef_ic_pot_pn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your signature dish?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Mime it, say it!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a cutting verb + food. Your partner gives the command!</a:t>
            </a:r>
            <a:endParaRPr lang="en-US" sz="120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 un verbo + cibo. Il collega dà il comando!</a:t>
            </a:r>
            <a:endParaRPr lang="en-US" sz="950" dirty="0"/>
          </a:p>
        </p:txBody>
      </p:sp>
      <p:sp>
        <p:nvSpPr>
          <p:cNvPr id="9" name="note_23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🎲 PLAY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GIOCA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Communicative</a:t>
            </a:r>
            <a:endParaRPr lang="en-US" sz="1250" dirty="0"/>
          </a:p>
        </p:txBody>
      </p:sp>
      <p:pic>
        <p:nvPicPr>
          <p:cNvPr id="10" name="logo_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REVISION · Lesson 4</a:t>
            </a:r>
            <a:endParaRPr lang="en-US" sz="800" dirty="0"/>
          </a:p>
        </p:txBody>
      </p:sp>
      <p:sp>
        <p:nvSpPr>
          <p:cNvPr id="12" name="R1_qb26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R1_sq27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 A mimes: grating cheese.</a:t>
            </a:r>
            <a:endParaRPr lang="en-US" sz="1400" dirty="0"/>
          </a:p>
        </p:txBody>
      </p:sp>
      <p:sp>
        <p:nvSpPr>
          <p:cNvPr id="14" name="R2_qb28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R2_sq29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Chef B says the command: Grate the cheese!</a:t>
            </a:r>
            <a:endParaRPr lang="en-US" sz="1400" dirty="0"/>
          </a:p>
        </p:txBody>
      </p:sp>
      <p:sp>
        <p:nvSpPr>
          <p:cNvPr id="16" name="R3_qb30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R3_sq31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Upgrade it: Finely grate the parmesan, please! = 2 points</a:t>
            </a:r>
            <a:endParaRPr lang="en-US" sz="1400" dirty="0"/>
          </a:p>
        </p:txBody>
      </p:sp>
      <p:sp>
        <p:nvSpPr>
          <p:cNvPr id="18" name="R4_qb32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R4_sq33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mimes each. Highest score wins.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36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do you cook it?</a:t>
            </a:r>
            <a:endParaRPr lang="en-US" sz="2500" dirty="0"/>
          </a:p>
        </p:txBody>
      </p:sp>
      <p:pic>
        <p:nvPicPr>
          <p:cNvPr id="6" name="brP_3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38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verb. Click to check the Italian.</a:t>
            </a:r>
            <a:endParaRPr lang="en-US" sz="1250" dirty="0"/>
          </a:p>
        </p:txBody>
      </p:sp>
      <p:sp>
        <p:nvSpPr>
          <p:cNvPr id="8" name="insIT_3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il verbo. Clicca per l'italiano.</a:t>
            </a:r>
            <a:endParaRPr lang="en-US" sz="950" dirty="0"/>
          </a:p>
        </p:txBody>
      </p:sp>
      <p:sp>
        <p:nvSpPr>
          <p:cNvPr id="9" name="note_40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 · TPRS · meaning</a:t>
            </a:r>
            <a:endParaRPr lang="en-US" sz="1250" dirty="0"/>
          </a:p>
        </p:txBody>
      </p:sp>
      <p:pic>
        <p:nvPicPr>
          <p:cNvPr id="10" name="logo_4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VOCABULARY · Cooking methods</a:t>
            </a:r>
            <a:endParaRPr lang="en-US" sz="800" dirty="0"/>
          </a:p>
        </p:txBody>
      </p:sp>
      <p:sp>
        <p:nvSpPr>
          <p:cNvPr id="12" name="cd_43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e_44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🫕</a:t>
            </a:r>
            <a:endParaRPr lang="en-US" sz="2000" dirty="0"/>
          </a:p>
        </p:txBody>
      </p:sp>
      <p:sp>
        <p:nvSpPr>
          <p:cNvPr id="14" name="en_45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boil</a:t>
            </a:r>
            <a:endParaRPr lang="en-US" sz="1200" dirty="0"/>
          </a:p>
        </p:txBody>
      </p:sp>
      <p:sp>
        <p:nvSpPr>
          <p:cNvPr id="15" name="R1_it46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bollire</a:t>
            </a:r>
            <a:endParaRPr lang="en-US" sz="1000" dirty="0"/>
          </a:p>
        </p:txBody>
      </p:sp>
      <p:sp>
        <p:nvSpPr>
          <p:cNvPr id="16" name="cd_47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e_48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18" name="en_49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simmer</a:t>
            </a:r>
            <a:endParaRPr lang="en-US" sz="1200" dirty="0"/>
          </a:p>
        </p:txBody>
      </p:sp>
      <p:sp>
        <p:nvSpPr>
          <p:cNvPr id="19" name="R2_it50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cuocere a fuoco lento</a:t>
            </a:r>
            <a:endParaRPr lang="en-US" sz="900" dirty="0"/>
          </a:p>
        </p:txBody>
      </p:sp>
      <p:sp>
        <p:nvSpPr>
          <p:cNvPr id="20" name="cd_51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52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♨️</a:t>
            </a:r>
            <a:endParaRPr lang="en-US" sz="2000" dirty="0"/>
          </a:p>
        </p:txBody>
      </p:sp>
      <p:sp>
        <p:nvSpPr>
          <p:cNvPr id="22" name="en_53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steam</a:t>
            </a:r>
            <a:endParaRPr lang="en-US" sz="1200" dirty="0"/>
          </a:p>
        </p:txBody>
      </p:sp>
      <p:sp>
        <p:nvSpPr>
          <p:cNvPr id="23" name="R3_it54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cuocere al vapore</a:t>
            </a:r>
            <a:endParaRPr lang="en-US" sz="1000" dirty="0"/>
          </a:p>
        </p:txBody>
      </p:sp>
      <p:sp>
        <p:nvSpPr>
          <p:cNvPr id="24" name="cd_55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56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🍞</a:t>
            </a:r>
            <a:endParaRPr lang="en-US" sz="2000" dirty="0"/>
          </a:p>
        </p:txBody>
      </p:sp>
      <p:sp>
        <p:nvSpPr>
          <p:cNvPr id="26" name="en_57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bake</a:t>
            </a:r>
            <a:endParaRPr lang="en-US" sz="1200" dirty="0"/>
          </a:p>
        </p:txBody>
      </p:sp>
      <p:sp>
        <p:nvSpPr>
          <p:cNvPr id="27" name="R4_it58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cuocere al forno (pane, dolci)</a:t>
            </a:r>
            <a:endParaRPr lang="en-US" sz="800" dirty="0"/>
          </a:p>
        </p:txBody>
      </p:sp>
      <p:sp>
        <p:nvSpPr>
          <p:cNvPr id="28" name="cd_59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e_60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🍗</a:t>
            </a:r>
            <a:endParaRPr lang="en-US" sz="2000" dirty="0"/>
          </a:p>
        </p:txBody>
      </p:sp>
      <p:sp>
        <p:nvSpPr>
          <p:cNvPr id="30" name="en_61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roast</a:t>
            </a:r>
            <a:endParaRPr lang="en-US" sz="1200" dirty="0"/>
          </a:p>
        </p:txBody>
      </p:sp>
      <p:sp>
        <p:nvSpPr>
          <p:cNvPr id="31" name="R5_it62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arrostire</a:t>
            </a:r>
            <a:endParaRPr lang="en-US" sz="1000" dirty="0"/>
          </a:p>
        </p:txBody>
      </p:sp>
      <p:sp>
        <p:nvSpPr>
          <p:cNvPr id="32" name="cd_63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e_64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🥩</a:t>
            </a:r>
            <a:endParaRPr lang="en-US" sz="2000" dirty="0"/>
          </a:p>
        </p:txBody>
      </p:sp>
      <p:sp>
        <p:nvSpPr>
          <p:cNvPr id="34" name="en_65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grill</a:t>
            </a:r>
            <a:endParaRPr lang="en-US" sz="1200" dirty="0"/>
          </a:p>
        </p:txBody>
      </p:sp>
      <p:sp>
        <p:nvSpPr>
          <p:cNvPr id="35" name="R6_it66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grigliare</a:t>
            </a:r>
            <a:endParaRPr lang="en-US" sz="1000" dirty="0"/>
          </a:p>
        </p:txBody>
      </p:sp>
      <p:sp>
        <p:nvSpPr>
          <p:cNvPr id="36" name="cd_67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e_68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38" name="en_69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fry</a:t>
            </a:r>
            <a:endParaRPr lang="en-US" sz="1200" dirty="0"/>
          </a:p>
        </p:txBody>
      </p:sp>
      <p:sp>
        <p:nvSpPr>
          <p:cNvPr id="39" name="R7_it70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friggere / saltare</a:t>
            </a:r>
            <a:endParaRPr lang="en-US" sz="1000" dirty="0"/>
          </a:p>
        </p:txBody>
      </p:sp>
      <p:sp>
        <p:nvSpPr>
          <p:cNvPr id="40" name="cd_71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72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🔥</a:t>
            </a:r>
            <a:endParaRPr lang="en-US" sz="2000" dirty="0"/>
          </a:p>
        </p:txBody>
      </p:sp>
      <p:sp>
        <p:nvSpPr>
          <p:cNvPr id="42" name="en_73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deep-fry</a:t>
            </a:r>
            <a:endParaRPr lang="en-US" sz="1200" dirty="0"/>
          </a:p>
        </p:txBody>
      </p:sp>
      <p:sp>
        <p:nvSpPr>
          <p:cNvPr id="43" name="R8_it74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friggere in abbondante olio</a:t>
            </a:r>
            <a:endParaRPr lang="en-US" sz="800" dirty="0"/>
          </a:p>
        </p:txBody>
      </p:sp>
      <p:sp>
        <p:nvSpPr>
          <p:cNvPr id="44" name="cd_75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76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🔹</a:t>
            </a:r>
            <a:endParaRPr lang="en-US" sz="2000" dirty="0"/>
          </a:p>
        </p:txBody>
      </p:sp>
      <p:sp>
        <p:nvSpPr>
          <p:cNvPr id="46" name="en_77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stir</a:t>
            </a:r>
            <a:endParaRPr lang="en-US" sz="1200" dirty="0"/>
          </a:p>
        </p:txBody>
      </p:sp>
      <p:sp>
        <p:nvSpPr>
          <p:cNvPr id="47" name="R9_it78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mescolare</a:t>
            </a:r>
            <a:endParaRPr lang="en-US" sz="1000" dirty="0"/>
          </a:p>
        </p:txBody>
      </p:sp>
      <p:sp>
        <p:nvSpPr>
          <p:cNvPr id="48" name="cd_79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9" name="e_80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🥣</a:t>
            </a:r>
            <a:endParaRPr lang="en-US" sz="2000" dirty="0"/>
          </a:p>
        </p:txBody>
      </p:sp>
      <p:sp>
        <p:nvSpPr>
          <p:cNvPr id="50" name="en_81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whisk / mix</a:t>
            </a:r>
            <a:endParaRPr lang="en-US" sz="1200" dirty="0"/>
          </a:p>
        </p:txBody>
      </p:sp>
      <p:sp>
        <p:nvSpPr>
          <p:cNvPr id="51" name="R10_it82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sbattere / mescolare</a:t>
            </a:r>
            <a:endParaRPr lang="en-US" sz="950" dirty="0"/>
          </a:p>
        </p:txBody>
      </p:sp>
      <p:sp>
        <p:nvSpPr>
          <p:cNvPr id="52" name="cd_83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3" name="e_84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🧂</a:t>
            </a:r>
            <a:endParaRPr lang="en-US" sz="2000" dirty="0"/>
          </a:p>
        </p:txBody>
      </p:sp>
      <p:sp>
        <p:nvSpPr>
          <p:cNvPr id="54" name="en_85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season</a:t>
            </a:r>
            <a:endParaRPr lang="en-US" sz="1200" dirty="0"/>
          </a:p>
        </p:txBody>
      </p:sp>
      <p:sp>
        <p:nvSpPr>
          <p:cNvPr id="55" name="R11_it86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condire / salare</a:t>
            </a:r>
            <a:endParaRPr lang="en-US" sz="1000" dirty="0"/>
          </a:p>
        </p:txBody>
      </p:sp>
      <p:sp>
        <p:nvSpPr>
          <p:cNvPr id="56" name="cd_87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7" name="e_88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📟</a:t>
            </a:r>
            <a:endParaRPr lang="en-US" sz="2000" dirty="0"/>
          </a:p>
        </p:txBody>
      </p:sp>
      <p:sp>
        <p:nvSpPr>
          <p:cNvPr id="58" name="en_89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microwave</a:t>
            </a:r>
            <a:endParaRPr lang="en-US" sz="1200" dirty="0"/>
          </a:p>
        </p:txBody>
      </p:sp>
      <p:sp>
        <p:nvSpPr>
          <p:cNvPr id="59" name="R12_it90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cuocere al microonde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9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9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93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Grilled, baked, roasted</a:t>
            </a:r>
            <a:endParaRPr lang="en-US" sz="2500" dirty="0"/>
          </a:p>
        </p:txBody>
      </p:sp>
      <p:pic>
        <p:nvPicPr>
          <p:cNvPr id="6" name="brP_9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95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menu word. Is the -ed /d/, /t/ or /ɪd/?</a:t>
            </a:r>
            <a:endParaRPr lang="en-US" sz="1250" dirty="0"/>
          </a:p>
        </p:txBody>
      </p:sp>
      <p:sp>
        <p:nvSpPr>
          <p:cNvPr id="8" name="insIT_9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Pronuncia. La -ed è /d/, /t/ o /ɪd/?</a:t>
            </a:r>
            <a:endParaRPr lang="en-US" sz="950" dirty="0"/>
          </a:p>
        </p:txBody>
      </p:sp>
      <p:sp>
        <p:nvSpPr>
          <p:cNvPr id="9" name="note_97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 · Controlled practice</a:t>
            </a:r>
            <a:endParaRPr lang="en-US" sz="1250" dirty="0"/>
          </a:p>
        </p:txBody>
      </p:sp>
      <p:pic>
        <p:nvPicPr>
          <p:cNvPr id="10" name="logo_9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9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PRONUNCIATION · Menu words</a:t>
            </a:r>
            <a:endParaRPr lang="en-US" sz="800" dirty="0"/>
          </a:p>
        </p:txBody>
      </p:sp>
      <p:sp>
        <p:nvSpPr>
          <p:cNvPr id="12" name="bd_100"/>
          <p:cNvSpPr/>
          <p:nvPr/>
        </p:nvSpPr>
        <p:spPr>
          <a:xfrm>
            <a:off x="54864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101"/>
          <p:cNvSpPr/>
          <p:nvPr/>
        </p:nvSpPr>
        <p:spPr>
          <a:xfrm>
            <a:off x="932688" y="141732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grilled sea bass</a:t>
            </a:r>
            <a:endParaRPr lang="en-US" sz="1300" dirty="0"/>
          </a:p>
        </p:txBody>
      </p:sp>
      <p:sp>
        <p:nvSpPr>
          <p:cNvPr id="14" name="R1_chip102"/>
          <p:cNvSpPr/>
          <p:nvPr/>
        </p:nvSpPr>
        <p:spPr>
          <a:xfrm>
            <a:off x="4297680" y="141732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/d/</a:t>
            </a:r>
            <a:endParaRPr lang="en-US" sz="1200" dirty="0"/>
          </a:p>
        </p:txBody>
      </p:sp>
      <p:sp>
        <p:nvSpPr>
          <p:cNvPr id="15" name="bd_103"/>
          <p:cNvSpPr/>
          <p:nvPr/>
        </p:nvSpPr>
        <p:spPr>
          <a:xfrm>
            <a:off x="54864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104"/>
          <p:cNvSpPr/>
          <p:nvPr/>
        </p:nvSpPr>
        <p:spPr>
          <a:xfrm>
            <a:off x="932688" y="182880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baked potatoes</a:t>
            </a:r>
            <a:endParaRPr lang="en-US" sz="1300" dirty="0"/>
          </a:p>
        </p:txBody>
      </p:sp>
      <p:sp>
        <p:nvSpPr>
          <p:cNvPr id="17" name="R2_chip105"/>
          <p:cNvSpPr/>
          <p:nvPr/>
        </p:nvSpPr>
        <p:spPr>
          <a:xfrm>
            <a:off x="4297680" y="182880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/t/</a:t>
            </a:r>
            <a:endParaRPr lang="en-US" sz="1200" dirty="0"/>
          </a:p>
        </p:txBody>
      </p:sp>
      <p:sp>
        <p:nvSpPr>
          <p:cNvPr id="18" name="bd_106"/>
          <p:cNvSpPr/>
          <p:nvPr/>
        </p:nvSpPr>
        <p:spPr>
          <a:xfrm>
            <a:off x="54864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107"/>
          <p:cNvSpPr/>
          <p:nvPr/>
        </p:nvSpPr>
        <p:spPr>
          <a:xfrm>
            <a:off x="932688" y="224028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roasted peppers</a:t>
            </a:r>
            <a:endParaRPr lang="en-US" sz="1300" dirty="0"/>
          </a:p>
        </p:txBody>
      </p:sp>
      <p:sp>
        <p:nvSpPr>
          <p:cNvPr id="20" name="R3_chip108"/>
          <p:cNvSpPr/>
          <p:nvPr/>
        </p:nvSpPr>
        <p:spPr>
          <a:xfrm>
            <a:off x="4297680" y="224028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/ɪd/</a:t>
            </a:r>
            <a:endParaRPr lang="en-US" sz="1200" dirty="0"/>
          </a:p>
        </p:txBody>
      </p:sp>
      <p:sp>
        <p:nvSpPr>
          <p:cNvPr id="21" name="bd_109"/>
          <p:cNvSpPr/>
          <p:nvPr/>
        </p:nvSpPr>
        <p:spPr>
          <a:xfrm>
            <a:off x="54864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110"/>
          <p:cNvSpPr/>
          <p:nvPr/>
        </p:nvSpPr>
        <p:spPr>
          <a:xfrm>
            <a:off x="932688" y="265176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steamed mussels</a:t>
            </a:r>
            <a:endParaRPr lang="en-US" sz="1300" dirty="0"/>
          </a:p>
        </p:txBody>
      </p:sp>
      <p:sp>
        <p:nvSpPr>
          <p:cNvPr id="23" name="R4_chip111"/>
          <p:cNvSpPr/>
          <p:nvPr/>
        </p:nvSpPr>
        <p:spPr>
          <a:xfrm>
            <a:off x="4297680" y="265176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/d/</a:t>
            </a:r>
            <a:endParaRPr lang="en-US" sz="1200" dirty="0"/>
          </a:p>
        </p:txBody>
      </p:sp>
      <p:sp>
        <p:nvSpPr>
          <p:cNvPr id="24" name="bd_112"/>
          <p:cNvSpPr/>
          <p:nvPr/>
        </p:nvSpPr>
        <p:spPr>
          <a:xfrm>
            <a:off x="54864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113"/>
          <p:cNvSpPr/>
          <p:nvPr/>
        </p:nvSpPr>
        <p:spPr>
          <a:xfrm>
            <a:off x="932688" y="306324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mashed potatoes</a:t>
            </a:r>
            <a:endParaRPr lang="en-US" sz="1300" dirty="0"/>
          </a:p>
        </p:txBody>
      </p:sp>
      <p:sp>
        <p:nvSpPr>
          <p:cNvPr id="26" name="R5_chip114"/>
          <p:cNvSpPr/>
          <p:nvPr/>
        </p:nvSpPr>
        <p:spPr>
          <a:xfrm>
            <a:off x="4297680" y="306324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/t/</a:t>
            </a:r>
            <a:endParaRPr lang="en-US" sz="1200" dirty="0"/>
          </a:p>
        </p:txBody>
      </p:sp>
      <p:sp>
        <p:nvSpPr>
          <p:cNvPr id="27" name="bd_115"/>
          <p:cNvSpPr/>
          <p:nvPr/>
        </p:nvSpPr>
        <p:spPr>
          <a:xfrm>
            <a:off x="54864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116"/>
          <p:cNvSpPr/>
          <p:nvPr/>
        </p:nvSpPr>
        <p:spPr>
          <a:xfrm>
            <a:off x="932688" y="347472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toasted bread</a:t>
            </a:r>
            <a:endParaRPr lang="en-US" sz="1300" dirty="0"/>
          </a:p>
        </p:txBody>
      </p:sp>
      <p:sp>
        <p:nvSpPr>
          <p:cNvPr id="29" name="R6_chip117"/>
          <p:cNvSpPr/>
          <p:nvPr/>
        </p:nvSpPr>
        <p:spPr>
          <a:xfrm>
            <a:off x="4297680" y="347472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/ɪd/</a:t>
            </a:r>
            <a:endParaRPr lang="en-US" sz="1200" dirty="0"/>
          </a:p>
        </p:txBody>
      </p:sp>
      <p:sp>
        <p:nvSpPr>
          <p:cNvPr id="30" name="bd_118"/>
          <p:cNvSpPr/>
          <p:nvPr/>
        </p:nvSpPr>
        <p:spPr>
          <a:xfrm>
            <a:off x="54864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q_119"/>
          <p:cNvSpPr/>
          <p:nvPr/>
        </p:nvSpPr>
        <p:spPr>
          <a:xfrm>
            <a:off x="932688" y="388620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fried calamari</a:t>
            </a:r>
            <a:endParaRPr lang="en-US" sz="1300" dirty="0"/>
          </a:p>
        </p:txBody>
      </p:sp>
      <p:sp>
        <p:nvSpPr>
          <p:cNvPr id="32" name="R7_chip120"/>
          <p:cNvSpPr/>
          <p:nvPr/>
        </p:nvSpPr>
        <p:spPr>
          <a:xfrm>
            <a:off x="4297680" y="388620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/d/</a:t>
            </a:r>
            <a:endParaRPr lang="en-US" sz="1200" dirty="0"/>
          </a:p>
        </p:txBody>
      </p:sp>
      <p:sp>
        <p:nvSpPr>
          <p:cNvPr id="33" name="bd_121"/>
          <p:cNvSpPr/>
          <p:nvPr/>
        </p:nvSpPr>
        <p:spPr>
          <a:xfrm>
            <a:off x="54864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q_122"/>
          <p:cNvSpPr/>
          <p:nvPr/>
        </p:nvSpPr>
        <p:spPr>
          <a:xfrm>
            <a:off x="932688" y="4297680"/>
            <a:ext cx="329184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whipped cream</a:t>
            </a:r>
            <a:endParaRPr lang="en-US" sz="1300" dirty="0"/>
          </a:p>
        </p:txBody>
      </p:sp>
      <p:sp>
        <p:nvSpPr>
          <p:cNvPr id="35" name="R8_chip123"/>
          <p:cNvSpPr/>
          <p:nvPr/>
        </p:nvSpPr>
        <p:spPr>
          <a:xfrm>
            <a:off x="4297680" y="4297680"/>
            <a:ext cx="448056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/t/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26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First, heat the oil…</a:t>
            </a:r>
            <a:endParaRPr lang="en-US" sz="2500" dirty="0"/>
          </a:p>
        </p:txBody>
      </p:sp>
      <p:sp>
        <p:nvSpPr>
          <p:cNvPr id="6" name="note_127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Guided discovery</a:t>
            </a:r>
            <a:endParaRPr lang="en-US" sz="1100" dirty="0"/>
          </a:p>
        </p:txBody>
      </p:sp>
      <p:pic>
        <p:nvPicPr>
          <p:cNvPr id="7" name="logo_128" descr="/home/claude/lls-course/v2/img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8" name="foot_12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GRAMMAR · Telling a recipe</a:t>
            </a:r>
            <a:endParaRPr lang="en-US" sz="800" dirty="0"/>
          </a:p>
        </p:txBody>
      </p:sp>
      <p:sp>
        <p:nvSpPr>
          <p:cNvPr id="9" name="cd_130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rh_131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Order</a:t>
            </a:r>
            <a:endParaRPr lang="en-US" sz="1250" dirty="0"/>
          </a:p>
        </p:txBody>
      </p:sp>
      <p:sp>
        <p:nvSpPr>
          <p:cNvPr id="11" name="R1_rx132"/>
          <p:cNvSpPr/>
          <p:nvPr/>
        </p:nvSpPr>
        <p:spPr>
          <a:xfrm>
            <a:off x="4572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First,…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Then,…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Next,…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that,…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Finally,…</a:t>
            </a:r>
            <a:endParaRPr lang="en-US" sz="1400" dirty="0"/>
          </a:p>
        </p:txBody>
      </p:sp>
      <p:sp>
        <p:nvSpPr>
          <p:cNvPr id="12" name="cd_133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h_134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Imperatives</a:t>
            </a:r>
            <a:endParaRPr lang="en-US" sz="1250" dirty="0"/>
          </a:p>
        </p:txBody>
      </p:sp>
      <p:sp>
        <p:nvSpPr>
          <p:cNvPr id="14" name="R2_rx135"/>
          <p:cNvSpPr/>
          <p:nvPr/>
        </p:nvSpPr>
        <p:spPr>
          <a:xfrm>
            <a:off x="33528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Heat the oil.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Add the garlic.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Season with salt and pepper.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Bake at 180°C.</a:t>
            </a:r>
            <a:endParaRPr lang="en-US" sz="1400" dirty="0"/>
          </a:p>
        </p:txBody>
      </p:sp>
      <p:sp>
        <p:nvSpPr>
          <p:cNvPr id="15" name="cd_136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rh_137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for / until</a:t>
            </a:r>
            <a:endParaRPr lang="en-US" sz="1250" dirty="0"/>
          </a:p>
        </p:txBody>
      </p:sp>
      <p:sp>
        <p:nvSpPr>
          <p:cNvPr id="17" name="R3_rx138"/>
          <p:cNvSpPr/>
          <p:nvPr/>
        </p:nvSpPr>
        <p:spPr>
          <a:xfrm>
            <a:off x="62484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Simmer for 20 minutes. (per)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 until golden. (finché)</a:t>
            </a:r>
            <a:endParaRPr lang="en-US" sz="1400" dirty="0"/>
          </a:p>
        </p:txBody>
      </p:sp>
      <p:sp>
        <p:nvSpPr>
          <p:cNvPr id="18" name="R3_ri139"/>
          <p:cNvSpPr/>
          <p:nvPr/>
        </p:nvSpPr>
        <p:spPr>
          <a:xfrm>
            <a:off x="6202680" y="4023360"/>
            <a:ext cx="2575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 + time · until + result</a:t>
            </a:r>
            <a:endParaRPr lang="en-US" sz="1100" dirty="0"/>
          </a:p>
        </p:txBody>
      </p:sp>
      <p:sp>
        <p:nvSpPr>
          <p:cNvPr id="19" name="R4_wc140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4_w141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Cook for golden → ✓ Cook until golden.     ✗ Simmer until 20 minutes → ✓ Simmer for 20 minutes.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144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for, until, first, finally?</a:t>
            </a:r>
            <a:endParaRPr lang="en-US" sz="2500" dirty="0"/>
          </a:p>
        </p:txBody>
      </p:sp>
      <p:pic>
        <p:nvPicPr>
          <p:cNvPr id="6" name="brP_14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146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 with for · until · First · Finally.</a:t>
            </a:r>
            <a:endParaRPr lang="en-US" sz="1250" dirty="0"/>
          </a:p>
        </p:txBody>
      </p:sp>
      <p:sp>
        <p:nvSpPr>
          <p:cNvPr id="8" name="insIT_14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con for / until / First / Finally.</a:t>
            </a:r>
            <a:endParaRPr lang="en-US" sz="950" dirty="0"/>
          </a:p>
        </p:txBody>
      </p:sp>
      <p:sp>
        <p:nvSpPr>
          <p:cNvPr id="9" name="note_14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SCRIVI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 · Controlled practice</a:t>
            </a:r>
            <a:endParaRPr lang="en-US" sz="1250" dirty="0"/>
          </a:p>
        </p:txBody>
      </p:sp>
      <p:pic>
        <p:nvPicPr>
          <p:cNvPr id="10" name="logo_14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5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GRAMMAR · Practice</a:t>
            </a:r>
            <a:endParaRPr lang="en-US" sz="800" dirty="0"/>
          </a:p>
        </p:txBody>
      </p:sp>
      <p:sp>
        <p:nvSpPr>
          <p:cNvPr id="12" name="bd_151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152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Boil the pasta ___ 10 minutes.</a:t>
            </a:r>
            <a:endParaRPr lang="en-US" sz="1300" dirty="0"/>
          </a:p>
        </p:txBody>
      </p:sp>
      <p:sp>
        <p:nvSpPr>
          <p:cNvPr id="14" name="R1_chip153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</a:t>
            </a:r>
            <a:endParaRPr lang="en-US" sz="1200" dirty="0"/>
          </a:p>
        </p:txBody>
      </p:sp>
      <p:sp>
        <p:nvSpPr>
          <p:cNvPr id="15" name="bd_154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155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 the onions ___ they're soft.</a:t>
            </a:r>
            <a:endParaRPr lang="en-US" sz="1300" dirty="0"/>
          </a:p>
        </p:txBody>
      </p:sp>
      <p:sp>
        <p:nvSpPr>
          <p:cNvPr id="17" name="R2_chip156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until</a:t>
            </a:r>
            <a:endParaRPr lang="en-US" sz="1200" dirty="0"/>
          </a:p>
        </p:txBody>
      </p:sp>
      <p:sp>
        <p:nvSpPr>
          <p:cNvPr id="18" name="bd_157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158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___, heat the oil.</a:t>
            </a:r>
            <a:endParaRPr lang="en-US" sz="1300" dirty="0"/>
          </a:p>
        </p:txBody>
      </p:sp>
      <p:sp>
        <p:nvSpPr>
          <p:cNvPr id="20" name="R3_chip159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</a:t>
            </a:r>
            <a:endParaRPr lang="en-US" sz="1200" dirty="0"/>
          </a:p>
        </p:txBody>
      </p:sp>
      <p:sp>
        <p:nvSpPr>
          <p:cNvPr id="21" name="bd_160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161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Bake ___ golden.</a:t>
            </a:r>
            <a:endParaRPr lang="en-US" sz="1300" dirty="0"/>
          </a:p>
        </p:txBody>
      </p:sp>
      <p:sp>
        <p:nvSpPr>
          <p:cNvPr id="23" name="R4_chip162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until</a:t>
            </a:r>
            <a:endParaRPr lang="en-US" sz="1200" dirty="0"/>
          </a:p>
        </p:txBody>
      </p:sp>
      <p:sp>
        <p:nvSpPr>
          <p:cNvPr id="24" name="bd_163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164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___, serve with basil.</a:t>
            </a:r>
            <a:endParaRPr lang="en-US" sz="1300" dirty="0"/>
          </a:p>
        </p:txBody>
      </p:sp>
      <p:sp>
        <p:nvSpPr>
          <p:cNvPr id="26" name="R5_chip165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Finally</a:t>
            </a:r>
            <a:endParaRPr lang="en-US" sz="1200" dirty="0"/>
          </a:p>
        </p:txBody>
      </p:sp>
      <p:sp>
        <p:nvSpPr>
          <p:cNvPr id="27" name="bd_166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167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Chill it ___ two hours.</a:t>
            </a:r>
            <a:endParaRPr lang="en-US" sz="1300" dirty="0"/>
          </a:p>
        </p:txBody>
      </p:sp>
      <p:sp>
        <p:nvSpPr>
          <p:cNvPr id="29" name="R6_chip168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7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171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Simple tomato sauce</a:t>
            </a:r>
            <a:endParaRPr lang="en-US" sz="2500" dirty="0"/>
          </a:p>
        </p:txBody>
      </p:sp>
      <p:pic>
        <p:nvPicPr>
          <p:cNvPr id="6" name="brP_17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173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the steps in the correct order.</a:t>
            </a:r>
            <a:endParaRPr lang="en-US" sz="1250" dirty="0"/>
          </a:p>
        </p:txBody>
      </p:sp>
      <p:sp>
        <p:nvSpPr>
          <p:cNvPr id="8" name="insIT_17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Metti i passaggi nell'ordine giusto.</a:t>
            </a:r>
            <a:endParaRPr lang="en-US" sz="950" dirty="0"/>
          </a:p>
        </p:txBody>
      </p:sp>
      <p:sp>
        <p:nvSpPr>
          <p:cNvPr id="9" name="note_175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LEGGI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Controlled practice</a:t>
            </a:r>
            <a:endParaRPr lang="en-US" sz="1250" dirty="0"/>
          </a:p>
        </p:txBody>
      </p:sp>
      <p:pic>
        <p:nvPicPr>
          <p:cNvPr id="10" name="logo_17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17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READING · A recipe</a:t>
            </a:r>
            <a:endParaRPr lang="en-US" sz="800" dirty="0"/>
          </a:p>
        </p:txBody>
      </p:sp>
      <p:sp>
        <p:nvSpPr>
          <p:cNvPr id="12" name="bd_178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q_179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Add the tinned tomatoes and a pinch of salt.</a:t>
            </a:r>
            <a:endParaRPr lang="en-US" sz="1300" dirty="0"/>
          </a:p>
        </p:txBody>
      </p:sp>
      <p:sp>
        <p:nvSpPr>
          <p:cNvPr id="14" name="R1_chip180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bd_181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q_182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Finally, add fresh basil and serve with pasta.</a:t>
            </a:r>
            <a:endParaRPr lang="en-US" sz="1300" dirty="0"/>
          </a:p>
        </p:txBody>
      </p:sp>
      <p:sp>
        <p:nvSpPr>
          <p:cNvPr id="17" name="R2_chip183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200" dirty="0"/>
          </a:p>
        </p:txBody>
      </p:sp>
      <p:sp>
        <p:nvSpPr>
          <p:cNvPr id="18" name="bd_184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q_185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Next, heat some olive oil in a saucepan.</a:t>
            </a:r>
            <a:endParaRPr lang="en-US" sz="1300" dirty="0"/>
          </a:p>
        </p:txBody>
      </p:sp>
      <p:sp>
        <p:nvSpPr>
          <p:cNvPr id="20" name="R3_chip186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bd_187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q_188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Simmer for 20 minutes. Stir from time to time.</a:t>
            </a:r>
            <a:endParaRPr lang="en-US" sz="1300" dirty="0"/>
          </a:p>
        </p:txBody>
      </p:sp>
      <p:sp>
        <p:nvSpPr>
          <p:cNvPr id="23" name="R4_chip189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bd_190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q_191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Then add the garlic and fry for one minute – don't burn it!</a:t>
            </a:r>
            <a:endParaRPr lang="en-US" sz="1300" dirty="0"/>
          </a:p>
        </p:txBody>
      </p:sp>
      <p:sp>
        <p:nvSpPr>
          <p:cNvPr id="26" name="R5_chip192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bd_193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q_194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Peel and slice two cloves of garlic.</a:t>
            </a:r>
            <a:endParaRPr lang="en-US" sz="1300" dirty="0"/>
          </a:p>
        </p:txBody>
      </p:sp>
      <p:sp>
        <p:nvSpPr>
          <p:cNvPr id="29" name="R6_chip195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9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198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Today's menu</a:t>
            </a:r>
            <a:endParaRPr lang="en-US" sz="2500" dirty="0"/>
          </a:p>
        </p:txBody>
      </p:sp>
      <p:pic>
        <p:nvPicPr>
          <p:cNvPr id="6" name="brP_19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200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menu. Answer the questions.</a:t>
            </a:r>
            <a:endParaRPr lang="en-US" sz="1250" dirty="0"/>
          </a:p>
        </p:txBody>
      </p:sp>
      <p:sp>
        <p:nvSpPr>
          <p:cNvPr id="8" name="insIT_20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il menù e rispondi.</a:t>
            </a:r>
            <a:endParaRPr lang="en-US" sz="950" dirty="0"/>
          </a:p>
        </p:txBody>
      </p:sp>
      <p:sp>
        <p:nvSpPr>
          <p:cNvPr id="9" name="note_20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👀 READ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LEGGI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 · Communicative</a:t>
            </a:r>
            <a:endParaRPr lang="en-US" sz="1250" dirty="0"/>
          </a:p>
        </p:txBody>
      </p:sp>
      <p:pic>
        <p:nvPicPr>
          <p:cNvPr id="10" name="logo_20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0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READING · A menu</a:t>
            </a:r>
            <a:endParaRPr lang="en-US" sz="800" dirty="0"/>
          </a:p>
        </p:txBody>
      </p:sp>
      <p:sp>
        <p:nvSpPr>
          <p:cNvPr id="12" name="cd_205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rd_206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🍽 Trattoria Aspra – today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STARTERS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Grilled vegetables with goat's cheese  €8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Steamed mussels in white wine  €10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MAINS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Roast chicken with baked potatoes  €14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Pan-fried sea bass with lemon  €16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Spaghetti with fresh tomato sauce (V)  €9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DESSERTS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Baked cheesecake  €6 · Fresh fruit (VG)  €5</a:t>
            </a:r>
            <a:endParaRPr lang="en-US" sz="95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(V) vegetarian · (VG) vegan</a:t>
            </a:r>
            <a:endParaRPr lang="en-US" sz="950" dirty="0"/>
          </a:p>
        </p:txBody>
      </p:sp>
      <p:sp>
        <p:nvSpPr>
          <p:cNvPr id="14" name="bd_207"/>
          <p:cNvSpPr/>
          <p:nvPr/>
        </p:nvSpPr>
        <p:spPr>
          <a:xfrm>
            <a:off x="6172200" y="1427836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rq_208"/>
          <p:cNvSpPr/>
          <p:nvPr/>
        </p:nvSpPr>
        <p:spPr>
          <a:xfrm>
            <a:off x="6492240" y="141732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dishes are cooked in the oven?</a:t>
            </a:r>
            <a:endParaRPr lang="en-US" sz="850" dirty="0"/>
          </a:p>
        </p:txBody>
      </p:sp>
      <p:sp>
        <p:nvSpPr>
          <p:cNvPr id="16" name="R1_chip209"/>
          <p:cNvSpPr/>
          <p:nvPr/>
        </p:nvSpPr>
        <p:spPr>
          <a:xfrm>
            <a:off x="6492240" y="174010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roast chicken, baked potatoes, cheesecake</a:t>
            </a:r>
            <a:endParaRPr lang="en-US" sz="750" dirty="0"/>
          </a:p>
        </p:txBody>
      </p:sp>
      <p:sp>
        <p:nvSpPr>
          <p:cNvPr id="17" name="bd_210"/>
          <p:cNvSpPr/>
          <p:nvPr/>
        </p:nvSpPr>
        <p:spPr>
          <a:xfrm>
            <a:off x="6172200" y="2109978"/>
            <a:ext cx="274320" cy="27432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rq_211"/>
          <p:cNvSpPr/>
          <p:nvPr/>
        </p:nvSpPr>
        <p:spPr>
          <a:xfrm>
            <a:off x="6492240" y="2099462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are the mussels cooked?</a:t>
            </a:r>
            <a:endParaRPr lang="en-US" sz="900" dirty="0"/>
          </a:p>
        </p:txBody>
      </p:sp>
      <p:sp>
        <p:nvSpPr>
          <p:cNvPr id="19" name="R2_chip212"/>
          <p:cNvSpPr/>
          <p:nvPr/>
        </p:nvSpPr>
        <p:spPr>
          <a:xfrm>
            <a:off x="6492240" y="2422246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steamed</a:t>
            </a:r>
            <a:endParaRPr lang="en-US" sz="900" dirty="0"/>
          </a:p>
        </p:txBody>
      </p:sp>
      <p:sp>
        <p:nvSpPr>
          <p:cNvPr id="20" name="bd_213"/>
          <p:cNvSpPr/>
          <p:nvPr/>
        </p:nvSpPr>
        <p:spPr>
          <a:xfrm>
            <a:off x="6172200" y="2792120"/>
            <a:ext cx="274320" cy="27432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rq_214"/>
          <p:cNvSpPr/>
          <p:nvPr/>
        </p:nvSpPr>
        <p:spPr>
          <a:xfrm>
            <a:off x="6492240" y="2781605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the cheapest main?</a:t>
            </a:r>
            <a:endParaRPr lang="en-US" sz="900" dirty="0"/>
          </a:p>
        </p:txBody>
      </p:sp>
      <p:sp>
        <p:nvSpPr>
          <p:cNvPr id="22" name="R3_chip215"/>
          <p:cNvSpPr/>
          <p:nvPr/>
        </p:nvSpPr>
        <p:spPr>
          <a:xfrm>
            <a:off x="6492240" y="3104388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spaghetti, €9</a:t>
            </a:r>
            <a:endParaRPr lang="en-US" sz="900" dirty="0"/>
          </a:p>
        </p:txBody>
      </p:sp>
      <p:sp>
        <p:nvSpPr>
          <p:cNvPr id="23" name="bd_216"/>
          <p:cNvSpPr/>
          <p:nvPr/>
        </p:nvSpPr>
        <p:spPr>
          <a:xfrm>
            <a:off x="6172200" y="3474263"/>
            <a:ext cx="274320" cy="274320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rq_217"/>
          <p:cNvSpPr/>
          <p:nvPr/>
        </p:nvSpPr>
        <p:spPr>
          <a:xfrm>
            <a:off x="6492240" y="3463747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can a vegan eat?</a:t>
            </a:r>
            <a:endParaRPr lang="en-US" sz="900" dirty="0"/>
          </a:p>
        </p:txBody>
      </p:sp>
      <p:sp>
        <p:nvSpPr>
          <p:cNvPr id="25" name="R4_chip218"/>
          <p:cNvSpPr/>
          <p:nvPr/>
        </p:nvSpPr>
        <p:spPr>
          <a:xfrm>
            <a:off x="6492240" y="3786530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fresh fruit</a:t>
            </a:r>
            <a:endParaRPr lang="en-US" sz="900" dirty="0"/>
          </a:p>
        </p:txBody>
      </p:sp>
      <p:sp>
        <p:nvSpPr>
          <p:cNvPr id="26" name="bd_219"/>
          <p:cNvSpPr/>
          <p:nvPr/>
        </p:nvSpPr>
        <p:spPr>
          <a:xfrm>
            <a:off x="6172200" y="4156405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900" dirty="0"/>
          </a:p>
        </p:txBody>
      </p:sp>
      <p:sp>
        <p:nvSpPr>
          <p:cNvPr id="27" name="rq_220"/>
          <p:cNvSpPr/>
          <p:nvPr/>
        </p:nvSpPr>
        <p:spPr>
          <a:xfrm>
            <a:off x="6492240" y="414589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dish would you change? Why?</a:t>
            </a:r>
            <a:endParaRPr lang="en-US" sz="850" dirty="0"/>
          </a:p>
        </p:txBody>
      </p:sp>
      <p:sp>
        <p:nvSpPr>
          <p:cNvPr id="28" name="R5_chip221"/>
          <p:cNvSpPr/>
          <p:nvPr/>
        </p:nvSpPr>
        <p:spPr>
          <a:xfrm>
            <a:off x="6492240" y="446867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own answers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2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224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 this an Italian sauce?</a:t>
            </a:r>
            <a:endParaRPr lang="en-US" sz="2500" dirty="0"/>
          </a:p>
        </p:txBody>
      </p:sp>
      <p:pic>
        <p:nvPicPr>
          <p:cNvPr id="6" name="brP_22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226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Watch. Then judge the recipe!</a:t>
            </a:r>
            <a:endParaRPr lang="en-US" sz="1250" dirty="0"/>
          </a:p>
        </p:txBody>
      </p:sp>
      <p:sp>
        <p:nvSpPr>
          <p:cNvPr id="8" name="insIT_22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Guarda. Poi giudica la ricetta!</a:t>
            </a:r>
            <a:endParaRPr lang="en-US" sz="950" dirty="0"/>
          </a:p>
        </p:txBody>
      </p:sp>
      <p:sp>
        <p:nvSpPr>
          <p:cNvPr id="9" name="note_228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🎬 WATCH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GUARDA IL VIDEO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 · Communicative</a:t>
            </a:r>
            <a:endParaRPr lang="en-US" sz="1250" dirty="0"/>
          </a:p>
        </p:txBody>
      </p:sp>
      <p:pic>
        <p:nvPicPr>
          <p:cNvPr id="10" name="logo_2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LISTENING · A famous recipe</a:t>
            </a:r>
            <a:endParaRPr lang="en-US" sz="800" dirty="0"/>
          </a:p>
        </p:txBody>
      </p:sp>
      <p:sp>
        <p:nvSpPr>
          <p:cNvPr id="12" name="cd_231"/>
          <p:cNvSpPr/>
          <p:nvPr/>
        </p:nvSpPr>
        <p:spPr>
          <a:xfrm>
            <a:off x="320040" y="1417320"/>
            <a:ext cx="2788920" cy="1508760"/>
          </a:xfrm>
          <a:prstGeom prst="roundRect">
            <a:avLst>
              <a:gd name="adj" fmla="val 848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ii_23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4" name="ih_233"/>
          <p:cNvSpPr/>
          <p:nvPr/>
        </p:nvSpPr>
        <p:spPr>
          <a:xfrm>
            <a:off x="886968" y="15087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5" name="il_234"/>
          <p:cNvSpPr/>
          <p:nvPr/>
        </p:nvSpPr>
        <p:spPr>
          <a:xfrm>
            <a:off x="886968" y="1911096"/>
            <a:ext cx="213055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3 Minute Tomato Pasta Sauce (short)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https://www.youtube.com/watch?v=lWaBh-r2ZP0</a:t>
            </a:r>
            <a:endParaRPr lang="en-US" sz="1150" dirty="0"/>
          </a:p>
        </p:txBody>
      </p:sp>
      <p:sp>
        <p:nvSpPr>
          <p:cNvPr id="16" name="R1_qb235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R1_sq236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ingredients does he use?</a:t>
            </a:r>
            <a:endParaRPr lang="en-US" sz="1400" dirty="0"/>
          </a:p>
        </p:txBody>
      </p:sp>
      <p:sp>
        <p:nvSpPr>
          <p:cNvPr id="18" name="R2_qb237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R2_sq238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cooking verbs do you hear?</a:t>
            </a:r>
            <a:endParaRPr lang="en-US" sz="1400" dirty="0"/>
          </a:p>
        </p:txBody>
      </p:sp>
      <p:sp>
        <p:nvSpPr>
          <p:cNvPr id="20" name="R3_qb239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R3_sq240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recipe in 5 steps with first, then, finally.</a:t>
            </a:r>
            <a:endParaRPr lang="en-US" sz="1400" dirty="0"/>
          </a:p>
        </p:txBody>
      </p:sp>
      <p:sp>
        <p:nvSpPr>
          <p:cNvPr id="22" name="R4_qb241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R4_sq242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Italian? What would YOU change? Convince me!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45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signature dish</a:t>
            </a:r>
            <a:endParaRPr lang="en-US" sz="2500" dirty="0"/>
          </a:p>
        </p:txBody>
      </p:sp>
      <p:pic>
        <p:nvPicPr>
          <p:cNvPr id="6" name="brP_2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88052" cy="402336"/>
          </a:xfrm>
          <a:prstGeom prst="rect">
            <a:avLst/>
          </a:prstGeom>
        </p:spPr>
      </p:pic>
      <p:sp>
        <p:nvSpPr>
          <p:cNvPr id="7" name="ins_247"/>
          <p:cNvSpPr/>
          <p:nvPr/>
        </p:nvSpPr>
        <p:spPr>
          <a:xfrm>
            <a:off x="1353312" y="731520"/>
            <a:ext cx="4732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your recipe. Then teach it to your partner!</a:t>
            </a:r>
            <a:endParaRPr lang="en-US" sz="1250" dirty="0"/>
          </a:p>
        </p:txBody>
      </p:sp>
      <p:sp>
        <p:nvSpPr>
          <p:cNvPr id="8" name="insIT_24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la tua ricetta. Poi insegnala al collega!</a:t>
            </a:r>
            <a:endParaRPr lang="en-US" sz="950" dirty="0"/>
          </a:p>
        </p:txBody>
      </p:sp>
      <p:sp>
        <p:nvSpPr>
          <p:cNvPr id="9" name="note_249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SCRIVI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9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25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5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SPEAKING · Your recipe</a:t>
            </a:r>
            <a:endParaRPr lang="en-US" sz="800" dirty="0"/>
          </a:p>
        </p:txBody>
      </p:sp>
      <p:sp>
        <p:nvSpPr>
          <p:cNvPr id="12" name="R1_qb252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R1_sq253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Name of the dish + ingredients with quantities.</a:t>
            </a:r>
            <a:endParaRPr lang="en-US" sz="1400" dirty="0"/>
          </a:p>
        </p:txBody>
      </p:sp>
      <p:sp>
        <p:nvSpPr>
          <p:cNvPr id="14" name="R2_qb254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R2_sq255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5–6 steps: First,… Then,… After that,… Finally, serve with…</a:t>
            </a:r>
            <a:endParaRPr lang="en-US" sz="1400" dirty="0"/>
          </a:p>
        </p:txBody>
      </p:sp>
      <p:sp>
        <p:nvSpPr>
          <p:cNvPr id="16" name="R3_qb256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R3_sq257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 it to your partner. RULE: no Italian words except the name of the dish!</a:t>
            </a:r>
            <a:endParaRPr lang="en-US" sz="1400" dirty="0"/>
          </a:p>
        </p:txBody>
      </p:sp>
      <p:sp>
        <p:nvSpPr>
          <p:cNvPr id="18" name="R4_qb258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R4_sq259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partner asks: How long…? What temperature? Until when?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6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6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262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26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264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partner…</a:t>
            </a:r>
            <a:endParaRPr lang="en-US" sz="1250" dirty="0"/>
          </a:p>
        </p:txBody>
      </p:sp>
      <p:sp>
        <p:nvSpPr>
          <p:cNvPr id="8" name="insIT_26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al collega…</a:t>
            </a:r>
            <a:endParaRPr lang="en-US" sz="950" dirty="0"/>
          </a:p>
        </p:txBody>
      </p:sp>
      <p:sp>
        <p:nvSpPr>
          <p:cNvPr id="9" name="note_266"/>
          <p:cNvSpPr/>
          <p:nvPr/>
        </p:nvSpPr>
        <p:spPr>
          <a:xfrm rot="180000">
            <a:off x="6382512" y="128016"/>
            <a:ext cx="2029968" cy="74980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Retrieval</a:t>
            </a:r>
            <a:endParaRPr lang="en-US" sz="1100" dirty="0"/>
          </a:p>
        </p:txBody>
      </p:sp>
      <p:pic>
        <p:nvPicPr>
          <p:cNvPr id="10" name="logo_26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6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Exit · what can you remember?</a:t>
            </a:r>
            <a:endParaRPr lang="en-US" sz="800" dirty="0"/>
          </a:p>
        </p:txBody>
      </p:sp>
      <p:sp>
        <p:nvSpPr>
          <p:cNvPr id="12" name="bd_269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270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new words from today.</a:t>
            </a:r>
            <a:endParaRPr lang="en-US" sz="1400" dirty="0"/>
          </a:p>
        </p:txBody>
      </p:sp>
      <p:sp>
        <p:nvSpPr>
          <p:cNvPr id="14" name="bd_271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272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sentences with today's grammar.</a:t>
            </a:r>
            <a:endParaRPr lang="en-US" sz="1400" dirty="0"/>
          </a:p>
        </p:txBody>
      </p:sp>
      <p:sp>
        <p:nvSpPr>
          <p:cNvPr id="16" name="bd_273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274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thing you'll say at work this week.</a:t>
            </a:r>
            <a:endParaRPr lang="en-US" sz="1400" dirty="0"/>
          </a:p>
        </p:txBody>
      </p:sp>
      <p:sp>
        <p:nvSpPr>
          <p:cNvPr id="18" name="cd_275"/>
          <p:cNvSpPr/>
          <p:nvPr/>
        </p:nvSpPr>
        <p:spPr>
          <a:xfrm>
            <a:off x="5669280" y="1417320"/>
            <a:ext cx="3200400" cy="1069848"/>
          </a:xfrm>
          <a:prstGeom prst="roundRect">
            <a:avLst>
              <a:gd name="adj" fmla="val 1196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276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277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278"/>
          <p:cNvSpPr/>
          <p:nvPr/>
        </p:nvSpPr>
        <p:spPr>
          <a:xfrm>
            <a:off x="6236208" y="191109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recipe of one dish from your menu in English (6–8 steps).</a:t>
            </a:r>
            <a:endParaRPr lang="en-US" sz="1100" dirty="0"/>
          </a:p>
        </p:txBody>
      </p:sp>
      <p:sp>
        <p:nvSpPr>
          <p:cNvPr id="22" name="st_279"/>
          <p:cNvSpPr/>
          <p:nvPr/>
        </p:nvSpPr>
        <p:spPr>
          <a:xfrm rot="-180000">
            <a:off x="5806440" y="2715768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L6 · Numbers, quantities &amp; time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28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282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28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84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28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note_286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PENSA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 · Reflection</a:t>
            </a:r>
            <a:endParaRPr lang="en-US" sz="1250" dirty="0"/>
          </a:p>
        </p:txBody>
      </p:sp>
      <p:pic>
        <p:nvPicPr>
          <p:cNvPr id="10" name="logo_28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28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Review · what did you do today?</a:t>
            </a:r>
            <a:endParaRPr lang="en-US" sz="800" dirty="0"/>
          </a:p>
        </p:txBody>
      </p:sp>
      <p:sp>
        <p:nvSpPr>
          <p:cNvPr id="12" name="cd_289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3" name="te_290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14" name="tt_291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cooking methods</a:t>
            </a:r>
            <a:endParaRPr lang="en-US" sz="1350" dirty="0"/>
          </a:p>
        </p:txBody>
      </p:sp>
      <p:sp>
        <p:nvSpPr>
          <p:cNvPr id="15" name="R1_tk292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6" name="cd_293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te_294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🧩</a:t>
            </a:r>
            <a:endParaRPr lang="en-US" sz="1800" dirty="0"/>
          </a:p>
        </p:txBody>
      </p:sp>
      <p:sp>
        <p:nvSpPr>
          <p:cNvPr id="18" name="tt_295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first, then, finally</a:t>
            </a:r>
            <a:endParaRPr lang="en-US" sz="1350" dirty="0"/>
          </a:p>
        </p:txBody>
      </p:sp>
      <p:sp>
        <p:nvSpPr>
          <p:cNvPr id="19" name="R2_tk296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0" name="cd_297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te_298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2" name="tt_299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speaking: your signature dish</a:t>
            </a:r>
            <a:endParaRPr lang="en-US" sz="1350" dirty="0"/>
          </a:p>
        </p:txBody>
      </p:sp>
      <p:sp>
        <p:nvSpPr>
          <p:cNvPr id="23" name="R3_tk300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st_301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302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303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304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305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30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607101" cy="621792"/>
          </a:xfrm>
          <a:prstGeom prst="rect">
            <a:avLst/>
          </a:prstGeom>
        </p:spPr>
      </p:pic>
      <p:sp>
        <p:nvSpPr>
          <p:cNvPr id="5" name="title_308"/>
          <p:cNvSpPr/>
          <p:nvPr/>
        </p:nvSpPr>
        <p:spPr>
          <a:xfrm>
            <a:off x="1261872" y="164592"/>
            <a:ext cx="53327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best way… and the WORST way</a:t>
            </a:r>
            <a:endParaRPr lang="en-US" sz="2250" dirty="0"/>
          </a:p>
        </p:txBody>
      </p:sp>
      <p:pic>
        <p:nvPicPr>
          <p:cNvPr id="6" name="brP_30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310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best way to cook it. Then the worst way!</a:t>
            </a:r>
            <a:endParaRPr lang="en-US" sz="1250" dirty="0"/>
          </a:p>
        </p:txBody>
      </p:sp>
      <p:sp>
        <p:nvSpPr>
          <p:cNvPr id="8" name="insIT_31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Il modo migliore per cucinarlo. Poi il peggiore!</a:t>
            </a:r>
            <a:endParaRPr lang="en-US" sz="950" dirty="0"/>
          </a:p>
        </p:txBody>
      </p:sp>
      <p:sp>
        <p:nvSpPr>
          <p:cNvPr id="9" name="note_312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💬 TALK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PARLA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 · Communicative</a:t>
            </a:r>
            <a:endParaRPr lang="en-US" sz="1250" dirty="0"/>
          </a:p>
        </p:txBody>
      </p:sp>
      <p:pic>
        <p:nvPicPr>
          <p:cNvPr id="10" name="logo_31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1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SPEAKING · Best and worst</a:t>
            </a:r>
            <a:endParaRPr lang="en-US" sz="800" dirty="0"/>
          </a:p>
        </p:txBody>
      </p:sp>
      <p:sp>
        <p:nvSpPr>
          <p:cNvPr id="12" name="ext_315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R1_qb316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R1_sq317"/>
          <p:cNvSpPr/>
          <p:nvPr/>
        </p:nvSpPr>
        <p:spPr>
          <a:xfrm>
            <a:off x="978408" y="141732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potato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The best way to cook a steak is to grill it. The worst way is to boil it!</a:t>
            </a:r>
            <a:endParaRPr lang="en-US" sz="1300" dirty="0"/>
          </a:p>
        </p:txBody>
      </p:sp>
      <p:sp>
        <p:nvSpPr>
          <p:cNvPr id="15" name="R2_qb318"/>
          <p:cNvSpPr/>
          <p:nvPr/>
        </p:nvSpPr>
        <p:spPr>
          <a:xfrm>
            <a:off x="576072" y="20101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R2_sq319"/>
          <p:cNvSpPr/>
          <p:nvPr/>
        </p:nvSpPr>
        <p:spPr>
          <a:xfrm>
            <a:off x="978408" y="197358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egg</a:t>
            </a:r>
            <a:endParaRPr lang="en-US" sz="1300" dirty="0"/>
          </a:p>
        </p:txBody>
      </p:sp>
      <p:sp>
        <p:nvSpPr>
          <p:cNvPr id="17" name="R3_qb320"/>
          <p:cNvSpPr/>
          <p:nvPr/>
        </p:nvSpPr>
        <p:spPr>
          <a:xfrm>
            <a:off x="576072" y="256641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R3_sq321"/>
          <p:cNvSpPr/>
          <p:nvPr/>
        </p:nvSpPr>
        <p:spPr>
          <a:xfrm>
            <a:off x="978408" y="252984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sea bass</a:t>
            </a:r>
            <a:endParaRPr lang="en-US" sz="1300" dirty="0"/>
          </a:p>
        </p:txBody>
      </p:sp>
      <p:sp>
        <p:nvSpPr>
          <p:cNvPr id="19" name="R4_qb322"/>
          <p:cNvSpPr/>
          <p:nvPr/>
        </p:nvSpPr>
        <p:spPr>
          <a:xfrm>
            <a:off x="576072" y="312267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R4_sq323"/>
          <p:cNvSpPr/>
          <p:nvPr/>
        </p:nvSpPr>
        <p:spPr>
          <a:xfrm>
            <a:off x="978408" y="308610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steak</a:t>
            </a:r>
            <a:endParaRPr lang="en-US" sz="1300" dirty="0"/>
          </a:p>
        </p:txBody>
      </p:sp>
      <p:sp>
        <p:nvSpPr>
          <p:cNvPr id="21" name="R5_qb324"/>
          <p:cNvSpPr/>
          <p:nvPr/>
        </p:nvSpPr>
        <p:spPr>
          <a:xfrm>
            <a:off x="576072" y="36789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R5_sq325"/>
          <p:cNvSpPr/>
          <p:nvPr/>
        </p:nvSpPr>
        <p:spPr>
          <a:xfrm>
            <a:off x="978408" y="364236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aubergine</a:t>
            </a:r>
            <a:endParaRPr lang="en-US" sz="1300" dirty="0"/>
          </a:p>
        </p:txBody>
      </p:sp>
      <p:sp>
        <p:nvSpPr>
          <p:cNvPr id="23" name="R6_qb326"/>
          <p:cNvSpPr/>
          <p:nvPr/>
        </p:nvSpPr>
        <p:spPr>
          <a:xfrm>
            <a:off x="576072" y="4235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R6_sq327"/>
          <p:cNvSpPr/>
          <p:nvPr/>
        </p:nvSpPr>
        <p:spPr>
          <a:xfrm>
            <a:off x="978408" y="419862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cake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32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330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disaster recipe</a:t>
            </a:r>
            <a:endParaRPr lang="en-US" sz="2500" dirty="0"/>
          </a:p>
        </p:txBody>
      </p:sp>
      <p:pic>
        <p:nvPicPr>
          <p:cNvPr id="6" name="brP_33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32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WORST recipe in the world. Your partner fixes it!</a:t>
            </a:r>
            <a:endParaRPr lang="en-US" sz="1250" dirty="0"/>
          </a:p>
        </p:txBody>
      </p:sp>
      <p:sp>
        <p:nvSpPr>
          <p:cNvPr id="8" name="insIT_33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la ricetta PEGGIORE. Il collega la corregge!</a:t>
            </a:r>
            <a:endParaRPr lang="en-US" sz="950" dirty="0"/>
          </a:p>
        </p:txBody>
      </p:sp>
      <p:sp>
        <p:nvSpPr>
          <p:cNvPr id="9" name="note_334"/>
          <p:cNvSpPr/>
          <p:nvPr/>
        </p:nvSpPr>
        <p:spPr>
          <a:xfrm rot="180000">
            <a:off x="6382512" y="128016"/>
            <a:ext cx="2029968" cy="102412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✍️ WRITE</a:t>
            </a:r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· SCRIVI</a:t>
            </a:r>
            <a:endParaRPr lang="en-US" sz="125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12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Writing · Communicative</a:t>
            </a:r>
            <a:endParaRPr lang="en-US" sz="1250" dirty="0"/>
          </a:p>
        </p:txBody>
      </p:sp>
      <p:pic>
        <p:nvPicPr>
          <p:cNvPr id="10" name="logo_33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33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L5 · Writing · fun</a:t>
            </a:r>
            <a:endParaRPr lang="en-US" sz="800" dirty="0"/>
          </a:p>
        </p:txBody>
      </p:sp>
      <p:sp>
        <p:nvSpPr>
          <p:cNvPr id="12" name="ext_337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3" name="R1_qb338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R1_sq339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a famous dish: carbonara, pizza margherita, arancine…</a:t>
            </a:r>
            <a:endParaRPr lang="en-US" sz="1400" dirty="0"/>
          </a:p>
        </p:txBody>
      </p:sp>
      <p:sp>
        <p:nvSpPr>
          <p:cNvPr id="15" name="R2_qb340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R2_sq341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5 terrible steps: First, boil the pizza for 2 hours…</a:t>
            </a:r>
            <a:endParaRPr lang="en-US" sz="1400" dirty="0"/>
          </a:p>
        </p:txBody>
      </p:sp>
      <p:sp>
        <p:nvSpPr>
          <p:cNvPr id="17" name="R3_qb342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R3_sq343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Swap. Your partner corrects it: Don't boil it! Bake it at 250°C for…</a:t>
            </a:r>
            <a:endParaRPr lang="en-US" sz="1400" dirty="0"/>
          </a:p>
        </p:txBody>
      </p:sp>
      <p:sp>
        <p:nvSpPr>
          <p:cNvPr id="19" name="R4_qb344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R4_sq345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best 'disaster' aloud.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L5 Cooking methods</dc:title>
  <dc:subject>PptxGenJS Presentation</dc:subject>
  <dc:creator>PptxGenJS</dc:creator>
  <cp:lastModifiedBy>PptxGenJS</cp:lastModifiedBy>
  <cp:revision>1</cp:revision>
  <dcterms:created xsi:type="dcterms:W3CDTF">2026-10-21T09:56:05Z</dcterms:created>
  <dcterms:modified xsi:type="dcterms:W3CDTF">2026-10-21T09:56:05Z</dcterms:modified>
</cp:coreProperties>
</file>