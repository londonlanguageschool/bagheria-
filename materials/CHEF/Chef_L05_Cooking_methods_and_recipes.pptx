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5 (60 min). Aims: cooking methods, recipe language, sequencing, for / until.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4 (5 min)
REVISION (5 min). VARIATION: memory + upgrade. Revises chop, slice, dice, peel, grate, crush, mince, fillet and the 'upgrade' adverbs (finely, thinly, roughly).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Cooking methods (7 min)
VOCABULARY (8 min). Contrast bake vs roast (bake bread/cakes, roast meat/vegetables) and boil vs simmer.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PRONUNCIATION · Menu words (5 min)
PRONUNCIATION (5 min). VARIATION: phonological branching — sort by sound, not spelling. /ɪd/ only after t or d. Students add 2 more menu words for each sound.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Telling a recipe (5 min)
GRAMMAR (5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Practice (5 min)
GRAMMAR 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A recipe (6 min)
READING (6 min). Answer: F C E A D B. Click 1. Note: F and C can swap (heat the oil first, then slice the garlic) — accept it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menu (6 min)
READING (6 min). Menus use past participles: grilled, steamed, roast(ed), baked, pan-fried. Last question: personalisation + justify.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A famous recipe (7 min)
VIDEO (8 min). VARIATION: mild controversy — Italian chefs love judging British-made 'Italian' food. Preview first (link checked October 2026). Push them to justify: It isn't Italian because…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Your recipe (9 min)
WRITING + SPEAKING (10 min). VARIATION: constraint challenge (no Italian). The partner must ask at least 2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L5 in the portal.
Can-dos: I can name cooking methods. · I can follow a simple recipe in English. · I can explain my recipe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Best and worst (6 min)
SPEAKING (6 min). VARIATION: opposites — 'the worst way' always gets laughs and longer answers. Ask: Who disagrees?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Writing · fun (8 min)
EXTRA (8 min). VARIATION: opposites + student-generated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5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L5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Cooking methods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 methods · first, then, finally · your signature dish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cooking methods</a:t>
            </a:r>
            <a:endParaRPr lang="en-US" sz="12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first, then, finally</a:t>
            </a:r>
            <a:endParaRPr lang="en-US" sz="12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your signature dish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My… First, I…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pot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your signature dish?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it, say it!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a cutting verb + food. Your partner gives the command!</a:t>
            </a:r>
            <a:endParaRPr lang="en-US" sz="120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un verbo + cibo. Il collega dà il comando!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REVISION · Lesson 4</a:t>
            </a:r>
            <a:endParaRPr lang="en-US" sz="800" dirty="0"/>
          </a:p>
        </p:txBody>
      </p:sp>
      <p:sp>
        <p:nvSpPr>
          <p:cNvPr id="14" name="R1_qb2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mimes: grating cheese.</a:t>
            </a:r>
            <a:endParaRPr lang="en-US" sz="1400" dirty="0"/>
          </a:p>
        </p:txBody>
      </p:sp>
      <p:sp>
        <p:nvSpPr>
          <p:cNvPr id="16" name="R2_qb3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3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B says the command: Grate the cheese!</a:t>
            </a:r>
            <a:endParaRPr lang="en-US" sz="1400" dirty="0"/>
          </a:p>
        </p:txBody>
      </p:sp>
      <p:sp>
        <p:nvSpPr>
          <p:cNvPr id="18" name="R3_qb3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3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Upgrade it: Finely grate the parmesan, please! = 2 points</a:t>
            </a:r>
            <a:endParaRPr lang="en-US" sz="1400" dirty="0"/>
          </a:p>
        </p:txBody>
      </p:sp>
      <p:sp>
        <p:nvSpPr>
          <p:cNvPr id="20" name="R4_qb3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3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mimes each. Highest score wins.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you cook it?</a:t>
            </a:r>
            <a:endParaRPr lang="en-US" sz="2500" dirty="0"/>
          </a:p>
        </p:txBody>
      </p:sp>
      <p:pic>
        <p:nvPicPr>
          <p:cNvPr id="6" name="brP_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0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verb. Click to check the Italian.</a:t>
            </a:r>
            <a:endParaRPr lang="en-US" sz="1250" dirty="0"/>
          </a:p>
        </p:txBody>
      </p:sp>
      <p:sp>
        <p:nvSpPr>
          <p:cNvPr id="8" name="insIT_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verbo. Clicca per l'italiano.</a:t>
            </a:r>
            <a:endParaRPr lang="en-US" sz="950" dirty="0"/>
          </a:p>
        </p:txBody>
      </p:sp>
      <p:sp>
        <p:nvSpPr>
          <p:cNvPr id="9" name="cmd_4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4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4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VOCABULARY · Cooking methods</a:t>
            </a:r>
            <a:endParaRPr lang="en-US" sz="800" dirty="0"/>
          </a:p>
        </p:txBody>
      </p:sp>
      <p:sp>
        <p:nvSpPr>
          <p:cNvPr id="14" name="cd_4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4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🫕</a:t>
            </a:r>
            <a:endParaRPr lang="en-US" sz="2000" dirty="0"/>
          </a:p>
        </p:txBody>
      </p:sp>
      <p:sp>
        <p:nvSpPr>
          <p:cNvPr id="16" name="en_4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boil</a:t>
            </a:r>
            <a:endParaRPr lang="en-US" sz="1200" dirty="0"/>
          </a:p>
        </p:txBody>
      </p:sp>
      <p:sp>
        <p:nvSpPr>
          <p:cNvPr id="17" name="R1_it5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bollire</a:t>
            </a:r>
            <a:endParaRPr lang="en-US" sz="1000" dirty="0"/>
          </a:p>
        </p:txBody>
      </p:sp>
      <p:sp>
        <p:nvSpPr>
          <p:cNvPr id="18" name="cd_5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5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0" name="en_5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simmer</a:t>
            </a:r>
            <a:endParaRPr lang="en-US" sz="1200" dirty="0"/>
          </a:p>
        </p:txBody>
      </p:sp>
      <p:sp>
        <p:nvSpPr>
          <p:cNvPr id="21" name="R2_it5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 fuoco lento</a:t>
            </a:r>
            <a:endParaRPr lang="en-US" sz="900" dirty="0"/>
          </a:p>
        </p:txBody>
      </p:sp>
      <p:sp>
        <p:nvSpPr>
          <p:cNvPr id="22" name="cd_5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5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♨️</a:t>
            </a:r>
            <a:endParaRPr lang="en-US" sz="2000" dirty="0"/>
          </a:p>
        </p:txBody>
      </p:sp>
      <p:sp>
        <p:nvSpPr>
          <p:cNvPr id="24" name="en_5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steam</a:t>
            </a:r>
            <a:endParaRPr lang="en-US" sz="1200" dirty="0"/>
          </a:p>
        </p:txBody>
      </p:sp>
      <p:sp>
        <p:nvSpPr>
          <p:cNvPr id="25" name="R3_it5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vapore</a:t>
            </a:r>
            <a:endParaRPr lang="en-US" sz="1000" dirty="0"/>
          </a:p>
        </p:txBody>
      </p:sp>
      <p:sp>
        <p:nvSpPr>
          <p:cNvPr id="26" name="cd_5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6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🍞</a:t>
            </a:r>
            <a:endParaRPr lang="en-US" sz="2000" dirty="0"/>
          </a:p>
        </p:txBody>
      </p:sp>
      <p:sp>
        <p:nvSpPr>
          <p:cNvPr id="28" name="en_6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bake</a:t>
            </a:r>
            <a:endParaRPr lang="en-US" sz="1200" dirty="0"/>
          </a:p>
        </p:txBody>
      </p:sp>
      <p:sp>
        <p:nvSpPr>
          <p:cNvPr id="29" name="R4_it6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forno (pane, dolci)</a:t>
            </a:r>
            <a:endParaRPr lang="en-US" sz="800" dirty="0"/>
          </a:p>
        </p:txBody>
      </p:sp>
      <p:sp>
        <p:nvSpPr>
          <p:cNvPr id="30" name="cd_6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6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🍗</a:t>
            </a:r>
            <a:endParaRPr lang="en-US" sz="2000" dirty="0"/>
          </a:p>
        </p:txBody>
      </p:sp>
      <p:sp>
        <p:nvSpPr>
          <p:cNvPr id="32" name="en_6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roast</a:t>
            </a:r>
            <a:endParaRPr lang="en-US" sz="1200" dirty="0"/>
          </a:p>
        </p:txBody>
      </p:sp>
      <p:sp>
        <p:nvSpPr>
          <p:cNvPr id="33" name="R5_it6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arrostire</a:t>
            </a:r>
            <a:endParaRPr lang="en-US" sz="1000" dirty="0"/>
          </a:p>
        </p:txBody>
      </p:sp>
      <p:sp>
        <p:nvSpPr>
          <p:cNvPr id="34" name="cd_6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6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🥩</a:t>
            </a:r>
            <a:endParaRPr lang="en-US" sz="2000" dirty="0"/>
          </a:p>
        </p:txBody>
      </p:sp>
      <p:sp>
        <p:nvSpPr>
          <p:cNvPr id="36" name="en_6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grill</a:t>
            </a:r>
            <a:endParaRPr lang="en-US" sz="1200" dirty="0"/>
          </a:p>
        </p:txBody>
      </p:sp>
      <p:sp>
        <p:nvSpPr>
          <p:cNvPr id="37" name="R6_it7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grigliare</a:t>
            </a:r>
            <a:endParaRPr lang="en-US" sz="1000" dirty="0"/>
          </a:p>
        </p:txBody>
      </p:sp>
      <p:sp>
        <p:nvSpPr>
          <p:cNvPr id="38" name="cd_7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7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0" name="en_7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fry</a:t>
            </a:r>
            <a:endParaRPr lang="en-US" sz="1200" dirty="0"/>
          </a:p>
        </p:txBody>
      </p:sp>
      <p:sp>
        <p:nvSpPr>
          <p:cNvPr id="41" name="R7_it7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friggere / saltare</a:t>
            </a:r>
            <a:endParaRPr lang="en-US" sz="1000" dirty="0"/>
          </a:p>
        </p:txBody>
      </p:sp>
      <p:sp>
        <p:nvSpPr>
          <p:cNvPr id="42" name="cd_7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7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44" name="en_7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deep-fry</a:t>
            </a:r>
            <a:endParaRPr lang="en-US" sz="1200" dirty="0"/>
          </a:p>
        </p:txBody>
      </p:sp>
      <p:sp>
        <p:nvSpPr>
          <p:cNvPr id="45" name="R8_it7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friggere in abbondante olio</a:t>
            </a:r>
            <a:endParaRPr lang="en-US" sz="800" dirty="0"/>
          </a:p>
        </p:txBody>
      </p:sp>
      <p:sp>
        <p:nvSpPr>
          <p:cNvPr id="46" name="cd_7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8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8" name="en_8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stir</a:t>
            </a:r>
            <a:endParaRPr lang="en-US" sz="1200" dirty="0"/>
          </a:p>
        </p:txBody>
      </p:sp>
      <p:sp>
        <p:nvSpPr>
          <p:cNvPr id="49" name="R9_it8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mescolare</a:t>
            </a:r>
            <a:endParaRPr lang="en-US" sz="1000" dirty="0"/>
          </a:p>
        </p:txBody>
      </p:sp>
      <p:sp>
        <p:nvSpPr>
          <p:cNvPr id="50" name="cd_8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8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52" name="en_8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whisk / mix</a:t>
            </a:r>
            <a:endParaRPr lang="en-US" sz="1200" dirty="0"/>
          </a:p>
        </p:txBody>
      </p:sp>
      <p:sp>
        <p:nvSpPr>
          <p:cNvPr id="53" name="R10_it8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sbattere / mescolare</a:t>
            </a:r>
            <a:endParaRPr lang="en-US" sz="950" dirty="0"/>
          </a:p>
        </p:txBody>
      </p:sp>
      <p:sp>
        <p:nvSpPr>
          <p:cNvPr id="54" name="cd_8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8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🧂</a:t>
            </a:r>
            <a:endParaRPr lang="en-US" sz="2000" dirty="0"/>
          </a:p>
        </p:txBody>
      </p:sp>
      <p:sp>
        <p:nvSpPr>
          <p:cNvPr id="56" name="en_8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season</a:t>
            </a:r>
            <a:endParaRPr lang="en-US" sz="1200" dirty="0"/>
          </a:p>
        </p:txBody>
      </p:sp>
      <p:sp>
        <p:nvSpPr>
          <p:cNvPr id="57" name="R11_it9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condire / salare</a:t>
            </a:r>
            <a:endParaRPr lang="en-US" sz="1000" dirty="0"/>
          </a:p>
        </p:txBody>
      </p:sp>
      <p:sp>
        <p:nvSpPr>
          <p:cNvPr id="58" name="cd_9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9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60" name="en_9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61" name="R12_it9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microonde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97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Grilled, baked, roasted</a:t>
            </a:r>
            <a:endParaRPr lang="en-US" sz="2500" dirty="0"/>
          </a:p>
        </p:txBody>
      </p:sp>
      <p:pic>
        <p:nvPicPr>
          <p:cNvPr id="6" name="brP_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9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menu word. Is the -ed /d/, /t/ or /ɪd/?</a:t>
            </a:r>
            <a:endParaRPr lang="en-US" sz="1250" dirty="0"/>
          </a:p>
        </p:txBody>
      </p:sp>
      <p:sp>
        <p:nvSpPr>
          <p:cNvPr id="8" name="insIT_1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Pronuncia. La -ed è /d/, /t/ o /ɪd/?</a:t>
            </a:r>
            <a:endParaRPr lang="en-US" sz="950" dirty="0"/>
          </a:p>
        </p:txBody>
      </p:sp>
      <p:sp>
        <p:nvSpPr>
          <p:cNvPr id="9" name="cmd_10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10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10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PRONUNCIATION · Menu words</a:t>
            </a:r>
            <a:endParaRPr lang="en-US" sz="800" dirty="0"/>
          </a:p>
        </p:txBody>
      </p:sp>
      <p:sp>
        <p:nvSpPr>
          <p:cNvPr id="14" name="bd_106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07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grilled sea bass</a:t>
            </a:r>
            <a:endParaRPr lang="en-US" sz="1300" dirty="0"/>
          </a:p>
        </p:txBody>
      </p:sp>
      <p:sp>
        <p:nvSpPr>
          <p:cNvPr id="16" name="R1_chip108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17" name="bd_109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10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baked potatoes</a:t>
            </a:r>
            <a:endParaRPr lang="en-US" sz="1300" dirty="0"/>
          </a:p>
        </p:txBody>
      </p:sp>
      <p:sp>
        <p:nvSpPr>
          <p:cNvPr id="19" name="R2_chip111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  <p:sp>
        <p:nvSpPr>
          <p:cNvPr id="20" name="bd_112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13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roasted peppers</a:t>
            </a:r>
            <a:endParaRPr lang="en-US" sz="1300" dirty="0"/>
          </a:p>
        </p:txBody>
      </p:sp>
      <p:sp>
        <p:nvSpPr>
          <p:cNvPr id="22" name="R3_chip114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/ɪd/</a:t>
            </a:r>
            <a:endParaRPr lang="en-US" sz="1200" dirty="0"/>
          </a:p>
        </p:txBody>
      </p:sp>
      <p:sp>
        <p:nvSpPr>
          <p:cNvPr id="23" name="bd_115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16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steamed mussels</a:t>
            </a:r>
            <a:endParaRPr lang="en-US" sz="1300" dirty="0"/>
          </a:p>
        </p:txBody>
      </p:sp>
      <p:sp>
        <p:nvSpPr>
          <p:cNvPr id="25" name="R4_chip117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26" name="bd_118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19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mashed potatoes</a:t>
            </a:r>
            <a:endParaRPr lang="en-US" sz="1300" dirty="0"/>
          </a:p>
        </p:txBody>
      </p:sp>
      <p:sp>
        <p:nvSpPr>
          <p:cNvPr id="28" name="R5_chip120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  <p:sp>
        <p:nvSpPr>
          <p:cNvPr id="29" name="bd_121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22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toasted bread</a:t>
            </a:r>
            <a:endParaRPr lang="en-US" sz="1300" dirty="0"/>
          </a:p>
        </p:txBody>
      </p:sp>
      <p:sp>
        <p:nvSpPr>
          <p:cNvPr id="31" name="R6_chip123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/ɪd/</a:t>
            </a:r>
            <a:endParaRPr lang="en-US" sz="1200" dirty="0"/>
          </a:p>
        </p:txBody>
      </p:sp>
      <p:sp>
        <p:nvSpPr>
          <p:cNvPr id="32" name="bd_124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q_125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fried calamari</a:t>
            </a:r>
            <a:endParaRPr lang="en-US" sz="1300" dirty="0"/>
          </a:p>
        </p:txBody>
      </p:sp>
      <p:sp>
        <p:nvSpPr>
          <p:cNvPr id="34" name="R7_chip126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35" name="bd_127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q_128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whipped cream</a:t>
            </a:r>
            <a:endParaRPr lang="en-US" sz="1300" dirty="0"/>
          </a:p>
        </p:txBody>
      </p:sp>
      <p:sp>
        <p:nvSpPr>
          <p:cNvPr id="37" name="R8_chip129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3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First, heat the oil…</a:t>
            </a:r>
            <a:endParaRPr lang="en-US" sz="2500" dirty="0"/>
          </a:p>
        </p:txBody>
      </p:sp>
      <p:sp>
        <p:nvSpPr>
          <p:cNvPr id="6" name="meta_13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7" name="tag_13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135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1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GRAMMAR · Telling a recipe</a:t>
            </a:r>
            <a:endParaRPr lang="en-US" sz="800" dirty="0"/>
          </a:p>
        </p:txBody>
      </p:sp>
      <p:sp>
        <p:nvSpPr>
          <p:cNvPr id="10" name="cd_137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138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Order</a:t>
            </a:r>
            <a:endParaRPr lang="en-US" sz="1250" dirty="0"/>
          </a:p>
        </p:txBody>
      </p:sp>
      <p:sp>
        <p:nvSpPr>
          <p:cNvPr id="12" name="R1_rx139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that,…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Finally,…</a:t>
            </a:r>
            <a:endParaRPr lang="en-US" sz="1400" dirty="0"/>
          </a:p>
        </p:txBody>
      </p:sp>
      <p:sp>
        <p:nvSpPr>
          <p:cNvPr id="13" name="cd_140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41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Imperatives</a:t>
            </a:r>
            <a:endParaRPr lang="en-US" sz="1250" dirty="0"/>
          </a:p>
        </p:txBody>
      </p:sp>
      <p:sp>
        <p:nvSpPr>
          <p:cNvPr id="15" name="R2_rx142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Heat the oil.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Add the garlic.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Season with salt and pepper.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at 180°C.</a:t>
            </a:r>
            <a:endParaRPr lang="en-US" sz="1400" dirty="0"/>
          </a:p>
        </p:txBody>
      </p:sp>
      <p:sp>
        <p:nvSpPr>
          <p:cNvPr id="16" name="cd_143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44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for / until</a:t>
            </a:r>
            <a:endParaRPr lang="en-US" sz="1250" dirty="0"/>
          </a:p>
        </p:txBody>
      </p:sp>
      <p:sp>
        <p:nvSpPr>
          <p:cNvPr id="18" name="R3_rx145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Simmer for 20 minutes. (per)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until golden. (finché)</a:t>
            </a:r>
            <a:endParaRPr lang="en-US" sz="1400" dirty="0"/>
          </a:p>
        </p:txBody>
      </p:sp>
      <p:sp>
        <p:nvSpPr>
          <p:cNvPr id="19" name="R3_ri146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+ time · until + result</a:t>
            </a:r>
            <a:endParaRPr lang="en-US" sz="1100" dirty="0"/>
          </a:p>
        </p:txBody>
      </p:sp>
      <p:sp>
        <p:nvSpPr>
          <p:cNvPr id="20" name="R4_wc147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4_w148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Cook for golden → ✓ Cook until golden.     ✗ Simmer until 20 minutes → ✓ Simmer for 20 minutes.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151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for, until, first, finally?</a:t>
            </a:r>
            <a:endParaRPr lang="en-US" sz="2500" dirty="0"/>
          </a:p>
        </p:txBody>
      </p:sp>
      <p:pic>
        <p:nvPicPr>
          <p:cNvPr id="6" name="brP_1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153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for · until · First · Finally.</a:t>
            </a:r>
            <a:endParaRPr lang="en-US" sz="1250" dirty="0"/>
          </a:p>
        </p:txBody>
      </p:sp>
      <p:sp>
        <p:nvSpPr>
          <p:cNvPr id="8" name="insIT_1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for / until / First / Finally.</a:t>
            </a:r>
            <a:endParaRPr lang="en-US" sz="950" dirty="0"/>
          </a:p>
        </p:txBody>
      </p:sp>
      <p:sp>
        <p:nvSpPr>
          <p:cNvPr id="9" name="cmd_15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15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15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GRAMMAR · Practice</a:t>
            </a:r>
            <a:endParaRPr lang="en-US" sz="800" dirty="0"/>
          </a:p>
        </p:txBody>
      </p:sp>
      <p:sp>
        <p:nvSpPr>
          <p:cNvPr id="14" name="bd_160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61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Boil the pasta ___ 10 minutes.</a:t>
            </a:r>
            <a:endParaRPr lang="en-US" sz="1300" dirty="0"/>
          </a:p>
        </p:txBody>
      </p:sp>
      <p:sp>
        <p:nvSpPr>
          <p:cNvPr id="16" name="R1_chip162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endParaRPr lang="en-US" sz="1200" dirty="0"/>
          </a:p>
        </p:txBody>
      </p:sp>
      <p:sp>
        <p:nvSpPr>
          <p:cNvPr id="17" name="bd_163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64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the onions ___ they're soft.</a:t>
            </a:r>
            <a:endParaRPr lang="en-US" sz="1300" dirty="0"/>
          </a:p>
        </p:txBody>
      </p:sp>
      <p:sp>
        <p:nvSpPr>
          <p:cNvPr id="19" name="R2_chip165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until</a:t>
            </a:r>
            <a:endParaRPr lang="en-US" sz="1200" dirty="0"/>
          </a:p>
        </p:txBody>
      </p:sp>
      <p:sp>
        <p:nvSpPr>
          <p:cNvPr id="20" name="bd_166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67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___, heat the oil.</a:t>
            </a:r>
            <a:endParaRPr lang="en-US" sz="1300" dirty="0"/>
          </a:p>
        </p:txBody>
      </p:sp>
      <p:sp>
        <p:nvSpPr>
          <p:cNvPr id="22" name="R3_chip168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</a:t>
            </a:r>
            <a:endParaRPr lang="en-US" sz="1200" dirty="0"/>
          </a:p>
        </p:txBody>
      </p:sp>
      <p:sp>
        <p:nvSpPr>
          <p:cNvPr id="23" name="bd_169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70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___ golden.</a:t>
            </a:r>
            <a:endParaRPr lang="en-US" sz="1300" dirty="0"/>
          </a:p>
        </p:txBody>
      </p:sp>
      <p:sp>
        <p:nvSpPr>
          <p:cNvPr id="25" name="R4_chip171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until</a:t>
            </a:r>
            <a:endParaRPr lang="en-US" sz="1200" dirty="0"/>
          </a:p>
        </p:txBody>
      </p:sp>
      <p:sp>
        <p:nvSpPr>
          <p:cNvPr id="26" name="bd_172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73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___, serve with basil.</a:t>
            </a:r>
            <a:endParaRPr lang="en-US" sz="1300" dirty="0"/>
          </a:p>
        </p:txBody>
      </p:sp>
      <p:sp>
        <p:nvSpPr>
          <p:cNvPr id="28" name="R5_chip174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Finally</a:t>
            </a:r>
            <a:endParaRPr lang="en-US" sz="1200" dirty="0"/>
          </a:p>
        </p:txBody>
      </p:sp>
      <p:sp>
        <p:nvSpPr>
          <p:cNvPr id="29" name="bd_175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76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Chill it ___ two hours.</a:t>
            </a:r>
            <a:endParaRPr lang="en-US" sz="1300" dirty="0"/>
          </a:p>
        </p:txBody>
      </p:sp>
      <p:sp>
        <p:nvSpPr>
          <p:cNvPr id="31" name="R6_chip177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Simple tomato sauce</a:t>
            </a:r>
            <a:endParaRPr lang="en-US" sz="25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steps in the correct order.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i passaggi nell'ordine giusto.</a:t>
            </a:r>
            <a:endParaRPr lang="en-US" sz="950" dirty="0"/>
          </a:p>
        </p:txBody>
      </p:sp>
      <p:sp>
        <p:nvSpPr>
          <p:cNvPr id="9" name="cmd_18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18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18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READING · A recipe</a:t>
            </a:r>
            <a:endParaRPr lang="en-US" sz="800" dirty="0"/>
          </a:p>
        </p:txBody>
      </p:sp>
      <p:sp>
        <p:nvSpPr>
          <p:cNvPr id="14" name="bd_189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90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Add the tinned tomatoes and a pinch of salt.</a:t>
            </a:r>
            <a:endParaRPr lang="en-US" sz="1300" dirty="0"/>
          </a:p>
        </p:txBody>
      </p:sp>
      <p:sp>
        <p:nvSpPr>
          <p:cNvPr id="16" name="R1_chip191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bd_192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93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Finally, add fresh basil and serve with pasta.</a:t>
            </a:r>
            <a:endParaRPr lang="en-US" sz="1300" dirty="0"/>
          </a:p>
        </p:txBody>
      </p:sp>
      <p:sp>
        <p:nvSpPr>
          <p:cNvPr id="19" name="R2_chip194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bd_195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96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Next, heat some olive oil in a saucepan.</a:t>
            </a:r>
            <a:endParaRPr lang="en-US" sz="1300" dirty="0"/>
          </a:p>
        </p:txBody>
      </p:sp>
      <p:sp>
        <p:nvSpPr>
          <p:cNvPr id="22" name="R3_chip197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bd_198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99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Simmer for 20 minutes. Stir from time to time.</a:t>
            </a:r>
            <a:endParaRPr lang="en-US" sz="1300" dirty="0"/>
          </a:p>
        </p:txBody>
      </p:sp>
      <p:sp>
        <p:nvSpPr>
          <p:cNvPr id="25" name="R4_chip200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bd_201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202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Then add the garlic and fry for one minute – don't burn it!</a:t>
            </a:r>
            <a:endParaRPr lang="en-US" sz="1300" dirty="0"/>
          </a:p>
        </p:txBody>
      </p:sp>
      <p:sp>
        <p:nvSpPr>
          <p:cNvPr id="28" name="R5_chip203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bd_204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205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Peel and slice two cloves of garlic.</a:t>
            </a:r>
            <a:endParaRPr lang="en-US" sz="1300" dirty="0"/>
          </a:p>
        </p:txBody>
      </p:sp>
      <p:sp>
        <p:nvSpPr>
          <p:cNvPr id="31" name="R6_chip206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209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Today's menu</a:t>
            </a:r>
            <a:endParaRPr lang="en-US" sz="2500" dirty="0"/>
          </a:p>
        </p:txBody>
      </p:sp>
      <p:pic>
        <p:nvPicPr>
          <p:cNvPr id="6" name="brP_2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21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menu. Answer the questions.</a:t>
            </a:r>
            <a:endParaRPr lang="en-US" sz="1250" dirty="0"/>
          </a:p>
        </p:txBody>
      </p:sp>
      <p:sp>
        <p:nvSpPr>
          <p:cNvPr id="8" name="insIT_2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menù e rispondi.</a:t>
            </a:r>
            <a:endParaRPr lang="en-US" sz="950" dirty="0"/>
          </a:p>
        </p:txBody>
      </p:sp>
      <p:sp>
        <p:nvSpPr>
          <p:cNvPr id="9" name="cmd_21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21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1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READING · A menu</a:t>
            </a:r>
            <a:endParaRPr lang="en-US" sz="800" dirty="0"/>
          </a:p>
        </p:txBody>
      </p:sp>
      <p:sp>
        <p:nvSpPr>
          <p:cNvPr id="14" name="cd_218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d_21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 Trattoria Aspra – today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Grilled vegetables with goat's cheese  €8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Steamed mussels in white wine  €10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Roast chicken with baked potatoes  €14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Pan-fried sea bass with lemon  €16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Spaghetti with fresh tomato sauce (V)  €9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DESSERTS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Baked cheesecake  €6 · Fresh fruit (VG)  €5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(V) vegetarian · (VG) vegan</a:t>
            </a:r>
            <a:endParaRPr lang="en-US" sz="950" dirty="0"/>
          </a:p>
        </p:txBody>
      </p:sp>
      <p:sp>
        <p:nvSpPr>
          <p:cNvPr id="16" name="bd_220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rq_221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dishes are cooked in the oven?</a:t>
            </a:r>
            <a:endParaRPr lang="en-US" sz="850" dirty="0"/>
          </a:p>
        </p:txBody>
      </p:sp>
      <p:sp>
        <p:nvSpPr>
          <p:cNvPr id="18" name="R1_chip222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 chicken, baked potatoes, cheesecake</a:t>
            </a:r>
            <a:endParaRPr lang="en-US" sz="750" dirty="0"/>
          </a:p>
        </p:txBody>
      </p:sp>
      <p:sp>
        <p:nvSpPr>
          <p:cNvPr id="19" name="bd_223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rq_224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are the mussels cooked?</a:t>
            </a:r>
            <a:endParaRPr lang="en-US" sz="900" dirty="0"/>
          </a:p>
        </p:txBody>
      </p:sp>
      <p:sp>
        <p:nvSpPr>
          <p:cNvPr id="21" name="R2_chip225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steamed</a:t>
            </a:r>
            <a:endParaRPr lang="en-US" sz="900" dirty="0"/>
          </a:p>
        </p:txBody>
      </p:sp>
      <p:sp>
        <p:nvSpPr>
          <p:cNvPr id="22" name="bd_226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rq_227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cheapest main?</a:t>
            </a:r>
            <a:endParaRPr lang="en-US" sz="900" dirty="0"/>
          </a:p>
        </p:txBody>
      </p:sp>
      <p:sp>
        <p:nvSpPr>
          <p:cNvPr id="24" name="R3_chip228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spaghetti, €9</a:t>
            </a:r>
            <a:endParaRPr lang="en-US" sz="900" dirty="0"/>
          </a:p>
        </p:txBody>
      </p:sp>
      <p:sp>
        <p:nvSpPr>
          <p:cNvPr id="25" name="bd_229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rq_230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can a vegan eat?</a:t>
            </a:r>
            <a:endParaRPr lang="en-US" sz="900" dirty="0"/>
          </a:p>
        </p:txBody>
      </p:sp>
      <p:sp>
        <p:nvSpPr>
          <p:cNvPr id="27" name="R4_chip231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fresh fruit</a:t>
            </a:r>
            <a:endParaRPr lang="en-US" sz="900" dirty="0"/>
          </a:p>
        </p:txBody>
      </p:sp>
      <p:sp>
        <p:nvSpPr>
          <p:cNvPr id="28" name="bd_232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q_233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dish would you change? Why?</a:t>
            </a:r>
            <a:endParaRPr lang="en-US" sz="850" dirty="0"/>
          </a:p>
        </p:txBody>
      </p:sp>
      <p:sp>
        <p:nvSpPr>
          <p:cNvPr id="30" name="R5_chip234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own answers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23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this an Italian sauce?</a:t>
            </a:r>
            <a:endParaRPr lang="en-US" sz="2500" dirty="0"/>
          </a:p>
        </p:txBody>
      </p:sp>
      <p:pic>
        <p:nvPicPr>
          <p:cNvPr id="6" name="brP_2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23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Watch. Then judge the recipe!</a:t>
            </a:r>
            <a:endParaRPr lang="en-US" sz="1250" dirty="0"/>
          </a:p>
        </p:txBody>
      </p:sp>
      <p:sp>
        <p:nvSpPr>
          <p:cNvPr id="8" name="insIT_2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Guarda. Poi giudica la ricetta!</a:t>
            </a:r>
            <a:endParaRPr lang="en-US" sz="950" dirty="0"/>
          </a:p>
        </p:txBody>
      </p:sp>
      <p:sp>
        <p:nvSpPr>
          <p:cNvPr id="9" name="cmd_24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algn="ctr"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24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24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LISTENING · A famous recipe</a:t>
            </a:r>
            <a:endParaRPr lang="en-US" sz="800" dirty="0"/>
          </a:p>
        </p:txBody>
      </p:sp>
      <p:sp>
        <p:nvSpPr>
          <p:cNvPr id="14" name="cd_246"/>
          <p:cNvSpPr/>
          <p:nvPr/>
        </p:nvSpPr>
        <p:spPr>
          <a:xfrm>
            <a:off x="320040" y="1417320"/>
            <a:ext cx="278892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248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249"/>
          <p:cNvSpPr/>
          <p:nvPr/>
        </p:nvSpPr>
        <p:spPr>
          <a:xfrm>
            <a:off x="886968" y="1911096"/>
            <a:ext cx="213055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3 Minute Tomato Pasta Sauce (short)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https://www.youtube.com/watch?v=lWaBh-r2ZP0</a:t>
            </a:r>
            <a:endParaRPr lang="en-US" sz="1150" dirty="0"/>
          </a:p>
        </p:txBody>
      </p:sp>
      <p:sp>
        <p:nvSpPr>
          <p:cNvPr id="18" name="R1_qb25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25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ingredients does he use?</a:t>
            </a:r>
            <a:endParaRPr lang="en-US" sz="1400" dirty="0"/>
          </a:p>
        </p:txBody>
      </p:sp>
      <p:sp>
        <p:nvSpPr>
          <p:cNvPr id="20" name="R2_qb25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25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cooking verbs do you hear?</a:t>
            </a:r>
            <a:endParaRPr lang="en-US" sz="1400" dirty="0"/>
          </a:p>
        </p:txBody>
      </p:sp>
      <p:sp>
        <p:nvSpPr>
          <p:cNvPr id="22" name="R3_qb25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25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recipe in 5 steps with first, then, finally.</a:t>
            </a:r>
            <a:endParaRPr lang="en-US" sz="1400" dirty="0"/>
          </a:p>
        </p:txBody>
      </p:sp>
      <p:sp>
        <p:nvSpPr>
          <p:cNvPr id="24" name="R4_qb25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25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Italian? What would YOU change? Convince me!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6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signature dish</a:t>
            </a:r>
            <a:endParaRPr lang="en-US" sz="2500" dirty="0"/>
          </a:p>
        </p:txBody>
      </p:sp>
      <p:pic>
        <p:nvPicPr>
          <p:cNvPr id="6" name="brP_2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262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your recipe. Then teach it to your partner!</a:t>
            </a:r>
            <a:endParaRPr lang="en-US" sz="1250" dirty="0"/>
          </a:p>
        </p:txBody>
      </p:sp>
      <p:sp>
        <p:nvSpPr>
          <p:cNvPr id="8" name="insIT_26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tua ricetta. Poi insegnala al collega!</a:t>
            </a:r>
            <a:endParaRPr lang="en-US" sz="950" dirty="0"/>
          </a:p>
        </p:txBody>
      </p:sp>
      <p:sp>
        <p:nvSpPr>
          <p:cNvPr id="9" name="cmd_26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26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26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SPEAKING · Your recipe</a:t>
            </a:r>
            <a:endParaRPr lang="en-US" sz="800" dirty="0"/>
          </a:p>
        </p:txBody>
      </p:sp>
      <p:sp>
        <p:nvSpPr>
          <p:cNvPr id="14" name="R1_qb269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70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of the dish + ingredients with quantities.</a:t>
            </a:r>
            <a:endParaRPr lang="en-US" sz="1400" dirty="0"/>
          </a:p>
        </p:txBody>
      </p:sp>
      <p:sp>
        <p:nvSpPr>
          <p:cNvPr id="16" name="R2_qb271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272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5–6 steps: First,… Then,… After that,… Finally, serve with…</a:t>
            </a:r>
            <a:endParaRPr lang="en-US" sz="1400" dirty="0"/>
          </a:p>
        </p:txBody>
      </p:sp>
      <p:sp>
        <p:nvSpPr>
          <p:cNvPr id="18" name="R3_qb273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274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 it to your partner. RULE: no Italian words except the name of the dish!</a:t>
            </a:r>
            <a:endParaRPr lang="en-US" sz="1400" dirty="0"/>
          </a:p>
        </p:txBody>
      </p:sp>
      <p:sp>
        <p:nvSpPr>
          <p:cNvPr id="20" name="R4_qb275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276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asks: How long…? What temperature? Until when?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28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28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2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Exit · what can you remember?</a:t>
            </a:r>
            <a:endParaRPr lang="en-US" sz="800" dirty="0"/>
          </a:p>
        </p:txBody>
      </p:sp>
      <p:sp>
        <p:nvSpPr>
          <p:cNvPr id="13" name="bd_28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28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28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29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29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29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293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9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29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296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recipe of one dish from your menu in English (6–8 steps).</a:t>
            </a:r>
            <a:endParaRPr lang="en-US" sz="1100" dirty="0"/>
          </a:p>
        </p:txBody>
      </p:sp>
      <p:sp>
        <p:nvSpPr>
          <p:cNvPr id="23" name="st_297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L6 · Numbers, quantities &amp; time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0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3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30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3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30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0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30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3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Review · what did you do today?</a:t>
            </a:r>
            <a:endParaRPr lang="en-US" sz="800" dirty="0"/>
          </a:p>
        </p:txBody>
      </p:sp>
      <p:sp>
        <p:nvSpPr>
          <p:cNvPr id="14" name="cd_30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31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6" name="tt_31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cooking methods</a:t>
            </a:r>
            <a:endParaRPr lang="en-US" sz="1350" dirty="0"/>
          </a:p>
        </p:txBody>
      </p:sp>
      <p:sp>
        <p:nvSpPr>
          <p:cNvPr id="17" name="R1_tk31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31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31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20" name="tt_31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first, then, finally</a:t>
            </a:r>
            <a:endParaRPr lang="en-US" sz="1350" dirty="0"/>
          </a:p>
        </p:txBody>
      </p:sp>
      <p:sp>
        <p:nvSpPr>
          <p:cNvPr id="21" name="R2_tk31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31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31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31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your signature dish</a:t>
            </a:r>
            <a:endParaRPr lang="en-US" sz="1350" dirty="0"/>
          </a:p>
        </p:txBody>
      </p:sp>
      <p:sp>
        <p:nvSpPr>
          <p:cNvPr id="25" name="R3_tk32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32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32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32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32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32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28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best way… and the WORST way</a:t>
            </a:r>
            <a:endParaRPr lang="en-US" sz="2250" dirty="0"/>
          </a:p>
        </p:txBody>
      </p:sp>
      <p:pic>
        <p:nvPicPr>
          <p:cNvPr id="6" name="brP_3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30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best way to cook it. Then the worst way!</a:t>
            </a:r>
            <a:endParaRPr lang="en-US" sz="1250" dirty="0"/>
          </a:p>
        </p:txBody>
      </p:sp>
      <p:sp>
        <p:nvSpPr>
          <p:cNvPr id="8" name="insIT_3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modo migliore per cucinarlo. Poi il peggiore!</a:t>
            </a:r>
            <a:endParaRPr lang="en-US" sz="950" dirty="0"/>
          </a:p>
        </p:txBody>
      </p:sp>
      <p:sp>
        <p:nvSpPr>
          <p:cNvPr id="9" name="cmd_33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3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33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SPEAKING · Best and worst</a:t>
            </a:r>
            <a:endParaRPr lang="en-US" sz="800" dirty="0"/>
          </a:p>
        </p:txBody>
      </p:sp>
      <p:sp>
        <p:nvSpPr>
          <p:cNvPr id="14" name="ext_33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33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339"/>
          <p:cNvSpPr/>
          <p:nvPr/>
        </p:nvSpPr>
        <p:spPr>
          <a:xfrm>
            <a:off x="978408" y="14173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potato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The best way to cook a steak is to grill it. The worst way is to boil it!</a:t>
            </a:r>
            <a:endParaRPr lang="en-US" sz="1300" dirty="0"/>
          </a:p>
        </p:txBody>
      </p:sp>
      <p:sp>
        <p:nvSpPr>
          <p:cNvPr id="17" name="R2_qb340"/>
          <p:cNvSpPr/>
          <p:nvPr/>
        </p:nvSpPr>
        <p:spPr>
          <a:xfrm>
            <a:off x="57607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341"/>
          <p:cNvSpPr/>
          <p:nvPr/>
        </p:nvSpPr>
        <p:spPr>
          <a:xfrm>
            <a:off x="978408" y="197358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egg</a:t>
            </a:r>
            <a:endParaRPr lang="en-US" sz="1300" dirty="0"/>
          </a:p>
        </p:txBody>
      </p:sp>
      <p:sp>
        <p:nvSpPr>
          <p:cNvPr id="19" name="R3_qb342"/>
          <p:cNvSpPr/>
          <p:nvPr/>
        </p:nvSpPr>
        <p:spPr>
          <a:xfrm>
            <a:off x="57607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343"/>
          <p:cNvSpPr/>
          <p:nvPr/>
        </p:nvSpPr>
        <p:spPr>
          <a:xfrm>
            <a:off x="978408" y="252984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sea bass</a:t>
            </a:r>
            <a:endParaRPr lang="en-US" sz="1300" dirty="0"/>
          </a:p>
        </p:txBody>
      </p:sp>
      <p:sp>
        <p:nvSpPr>
          <p:cNvPr id="21" name="R4_qb344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345"/>
          <p:cNvSpPr/>
          <p:nvPr/>
        </p:nvSpPr>
        <p:spPr>
          <a:xfrm>
            <a:off x="978408" y="308610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steak</a:t>
            </a:r>
            <a:endParaRPr lang="en-US" sz="1300" dirty="0"/>
          </a:p>
        </p:txBody>
      </p:sp>
      <p:sp>
        <p:nvSpPr>
          <p:cNvPr id="23" name="R5_qb346"/>
          <p:cNvSpPr/>
          <p:nvPr/>
        </p:nvSpPr>
        <p:spPr>
          <a:xfrm>
            <a:off x="57607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R5_sq347"/>
          <p:cNvSpPr/>
          <p:nvPr/>
        </p:nvSpPr>
        <p:spPr>
          <a:xfrm>
            <a:off x="978408" y="364236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aubergine</a:t>
            </a:r>
            <a:endParaRPr lang="en-US" sz="1300" dirty="0"/>
          </a:p>
        </p:txBody>
      </p:sp>
      <p:sp>
        <p:nvSpPr>
          <p:cNvPr id="25" name="R6_qb348"/>
          <p:cNvSpPr/>
          <p:nvPr/>
        </p:nvSpPr>
        <p:spPr>
          <a:xfrm>
            <a:off x="57607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R6_sq349"/>
          <p:cNvSpPr/>
          <p:nvPr/>
        </p:nvSpPr>
        <p:spPr>
          <a:xfrm>
            <a:off x="978408" y="41986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cake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5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disaster recipe</a:t>
            </a:r>
            <a:endParaRPr lang="en-US" sz="2500" dirty="0"/>
          </a:p>
        </p:txBody>
      </p:sp>
      <p:pic>
        <p:nvPicPr>
          <p:cNvPr id="6" name="brP_3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5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WORST recipe in the world. Your partner fixes it!</a:t>
            </a:r>
            <a:endParaRPr lang="en-US" sz="1250" dirty="0"/>
          </a:p>
        </p:txBody>
      </p:sp>
      <p:sp>
        <p:nvSpPr>
          <p:cNvPr id="8" name="insIT_3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ricetta PEGGIORE. Il collega la corregge!</a:t>
            </a:r>
            <a:endParaRPr lang="en-US" sz="950" dirty="0"/>
          </a:p>
        </p:txBody>
      </p:sp>
      <p:sp>
        <p:nvSpPr>
          <p:cNvPr id="9" name="cmd_35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35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35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Writing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50" dirty="0"/>
          </a:p>
        </p:txBody>
      </p:sp>
      <p:pic>
        <p:nvPicPr>
          <p:cNvPr id="12" name="logo_3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Writing · fun</a:t>
            </a:r>
            <a:endParaRPr lang="en-US" sz="800" dirty="0"/>
          </a:p>
        </p:txBody>
      </p:sp>
      <p:sp>
        <p:nvSpPr>
          <p:cNvPr id="14" name="ext_361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362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363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famous dish: carbonara, pizza margherita, arancine…</a:t>
            </a:r>
            <a:endParaRPr lang="en-US" sz="1400" dirty="0"/>
          </a:p>
        </p:txBody>
      </p:sp>
      <p:sp>
        <p:nvSpPr>
          <p:cNvPr id="17" name="R2_qb364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365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5 terrible steps: First, boil the pizza for 2 hours…</a:t>
            </a:r>
            <a:endParaRPr lang="en-US" sz="1400" dirty="0"/>
          </a:p>
        </p:txBody>
      </p:sp>
      <p:sp>
        <p:nvSpPr>
          <p:cNvPr id="19" name="R3_qb366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367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Swap. Your partner corrects it: Don't boil it! Bake it at 250°C for…</a:t>
            </a:r>
            <a:endParaRPr lang="en-US" sz="1400" dirty="0"/>
          </a:p>
        </p:txBody>
      </p:sp>
      <p:sp>
        <p:nvSpPr>
          <p:cNvPr id="21" name="R4_qb368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369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best 'disaster' aloud.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L5 Cooking methods</dc:title>
  <dc:subject>PptxGenJS Presentation</dc:subject>
  <dc:creator>PptxGenJS</dc:creator>
  <cp:lastModifiedBy>PptxGenJS</cp:lastModifiedBy>
  <cp:revision>1</cp:revision>
  <dcterms:created xsi:type="dcterms:W3CDTF">2026-10-20T06:41:57Z</dcterms:created>
  <dcterms:modified xsi:type="dcterms:W3CDTF">2026-10-20T06:41:57Z</dcterms:modified>
</cp:coreProperties>
</file>