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5 (60 min). Aims: cooking methods, recipe language, sequencing, for / until.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REVISION (5 min). VARIATION: memory + upgrade. Revises chop, slice, dice, peel, grate, crush, mince, fillet and the 'upgrade' adverbs (finely, thinly, roughly).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(8 min). Contrast bake vs roast (bake bread/cakes, roast meat/vegetables) and boil vs simmer.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PRONUNCIATION (5 min). VARIATION: phonological branching — sort by sound, not spelling. /ɪd/ only after t or d. Students add 2 more menu words for each sound. Click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(5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PRACTICE (5 min). Click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(6 min). Answer: F C E A D B. Click 1. Note: F and C can swap (heat the oil first, then slice the garlic) — accept it with a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(6 min). Menus use past participles: grilled, steamed, roast(ed), baked, pan-fried. Last question: personalisation + justify.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(8 min). VARIATION: mild controversy — Italian chefs love judging British-made 'Italian' food. Preview first (link checked October 2026). Push them to justify: It isn't Italian because…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+ SPEAKING (10 min). VARIATION: constraint challenge (no Italian). The partner must ask at least 2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Homework sheet L5 in the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(6 min). VARIATION: opposites — 'the worst way' always gets laughs and longer answers. Ask: Who disagrees?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(8 min). VARIATION: opposites + student-generated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WaBh-r2ZP0" TargetMode="External"/><Relationship Id="rId4" Type="http://schemas.openxmlformats.org/officeDocument/2006/relationships/hyperlink" Target="https://www.youtube.com/watch?v=lWaBh-r2ZP0" TargetMode="External"/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sp>
        <p:nvSpPr>
          <p:cNvPr id="3" name="logoBack_2"/>
          <p:cNvSpPr/>
          <p:nvPr/>
        </p:nvSpPr>
        <p:spPr>
          <a:xfrm>
            <a:off x="8229600" y="15544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B3F0"/>
            </a:solidFill>
            <a:prstDash val="solid"/>
          </a:ln>
        </p:spPr>
      </p:sp>
      <p:pic>
        <p:nvPicPr>
          <p:cNvPr id="4" name="logo_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footer_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20403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L5</a:t>
            </a:r>
            <a:endParaRPr lang="en-US" sz="1000" dirty="0"/>
          </a:p>
        </p:txBody>
      </p:sp>
      <p:sp>
        <p:nvSpPr>
          <p:cNvPr id="6" name="unit_5"/>
          <p:cNvSpPr txBox="1"/>
          <p:nvPr/>
        </p:nvSpPr>
        <p:spPr>
          <a:xfrm>
            <a:off x="411480" y="320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L5</a:t>
            </a:r>
            <a:endParaRPr lang="en-US" sz="5400" dirty="0"/>
          </a:p>
        </p:txBody>
      </p:sp>
      <p:sp>
        <p:nvSpPr>
          <p:cNvPr id="7" name="course_6"/>
          <p:cNvSpPr txBox="1"/>
          <p:nvPr/>
        </p:nvSpPr>
        <p:spPr>
          <a:xfrm>
            <a:off x="1828800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2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KITCHEN ENGLISH · Lesson 5 of 10</a:t>
            </a:r>
            <a:endParaRPr lang="en-US" sz="1200" dirty="0"/>
          </a:p>
        </p:txBody>
      </p:sp>
      <p:sp>
        <p:nvSpPr>
          <p:cNvPr id="8" name="title_7"/>
          <p:cNvSpPr txBox="1"/>
          <p:nvPr/>
        </p:nvSpPr>
        <p:spPr>
          <a:xfrm rot="-180000">
            <a:off x="411480" y="1325880"/>
            <a:ext cx="4343400" cy="777240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COOKING METHODS</a:t>
            </a:r>
            <a:endParaRPr lang="en-US" sz="2800" dirty="0"/>
          </a:p>
        </p:txBody>
      </p:sp>
      <p:sp>
        <p:nvSpPr>
          <p:cNvPr id="9" name="stamp_8"/>
          <p:cNvSpPr txBox="1"/>
          <p:nvPr/>
        </p:nvSpPr>
        <p:spPr>
          <a:xfrm>
            <a:off x="457200" y="2468880"/>
            <a:ext cx="3236976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cooking methods</a:t>
            </a:r>
            <a:endParaRPr lang="en-US" sz="1200" dirty="0"/>
          </a:p>
        </p:txBody>
      </p:sp>
      <p:sp>
        <p:nvSpPr>
          <p:cNvPr id="10" name="stamp_9"/>
          <p:cNvSpPr txBox="1"/>
          <p:nvPr/>
        </p:nvSpPr>
        <p:spPr>
          <a:xfrm>
            <a:off x="457200" y="2944368"/>
            <a:ext cx="4572000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first, then, finally · for / until</a:t>
            </a:r>
            <a:endParaRPr lang="en-US" sz="1200" dirty="0"/>
          </a:p>
        </p:txBody>
      </p:sp>
      <p:sp>
        <p:nvSpPr>
          <p:cNvPr id="11" name="stamp_10"/>
          <p:cNvSpPr txBox="1"/>
          <p:nvPr/>
        </p:nvSpPr>
        <p:spPr>
          <a:xfrm>
            <a:off x="457200" y="3419856"/>
            <a:ext cx="3429000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your signature dish</a:t>
            </a:r>
            <a:endParaRPr lang="en-US" sz="1200" dirty="0"/>
          </a:p>
        </p:txBody>
      </p:sp>
      <p:sp>
        <p:nvSpPr>
          <p:cNvPr id="12" name="iconBack_11"/>
          <p:cNvSpPr/>
          <p:nvPr/>
        </p:nvSpPr>
        <p:spPr>
          <a:xfrm>
            <a:off x="5669280" y="685800"/>
            <a:ext cx="1737360" cy="173736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2" descr="p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033272"/>
            <a:ext cx="1042416" cy="1042416"/>
          </a:xfrm>
          <a:prstGeom prst="rect">
            <a:avLst/>
          </a:prstGeom>
        </p:spPr>
      </p:pic>
      <p:sp>
        <p:nvSpPr>
          <p:cNvPr id="14" name="iconBack_13"/>
          <p:cNvSpPr/>
          <p:nvPr/>
        </p:nvSpPr>
        <p:spPr>
          <a:xfrm>
            <a:off x="7315200" y="1508760"/>
            <a:ext cx="10972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14" descr="stea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28216"/>
            <a:ext cx="658368" cy="658368"/>
          </a:xfrm>
          <a:prstGeom prst="rect">
            <a:avLst/>
          </a:prstGeom>
        </p:spPr>
      </p:pic>
      <p:sp>
        <p:nvSpPr>
          <p:cNvPr id="16" name="iconBack_15"/>
          <p:cNvSpPr/>
          <p:nvPr/>
        </p:nvSpPr>
        <p:spPr>
          <a:xfrm>
            <a:off x="5486400" y="2514600"/>
            <a:ext cx="960120" cy="960120"/>
          </a:xfrm>
          <a:prstGeom prst="ellipse">
            <a:avLst/>
          </a:prstGeom>
          <a:solidFill>
            <a:srgbClr val="C9B3F0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7" name="icon_16" descr="roas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706624"/>
            <a:ext cx="576072" cy="576072"/>
          </a:xfrm>
          <a:prstGeom prst="rect">
            <a:avLst/>
          </a:prstGeom>
        </p:spPr>
      </p:pic>
      <p:sp>
        <p:nvSpPr>
          <p:cNvPr id="18" name="R1_q"/>
          <p:cNvSpPr txBox="1"/>
          <p:nvPr/>
        </p:nvSpPr>
        <p:spPr>
          <a:xfrm>
            <a:off x="5120640" y="3337560"/>
            <a:ext cx="2377440" cy="77724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your signature dish?</a:t>
            </a:r>
            <a:endParaRPr lang="en-US" sz="1400" dirty="0"/>
          </a:p>
        </p:txBody>
      </p:sp>
      <p:sp>
        <p:nvSpPr>
          <p:cNvPr id="19" name="R2_a"/>
          <p:cNvSpPr txBox="1"/>
          <p:nvPr/>
        </p:nvSpPr>
        <p:spPr>
          <a:xfrm>
            <a:off x="6629400" y="4069080"/>
            <a:ext cx="2148840" cy="59436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My… First, I…</a:t>
            </a:r>
            <a:endParaRPr lang="en-US" sz="1300" dirty="0"/>
          </a:p>
        </p:txBody>
      </p:sp>
      <p:sp>
        <p:nvSpPr>
          <p:cNvPr id="20" name="tnote_17"/>
          <p:cNvSpPr txBox="1"/>
          <p:nvPr/>
        </p:nvSpPr>
        <p:spPr>
          <a:xfrm>
            <a:off x="411480" y="47731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timings, answers and tips are in the slide notes.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2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REVISION · Lesson 4</a:t>
            </a:r>
            <a:endParaRPr lang="en-US" sz="1100" dirty="0"/>
          </a:p>
        </p:txBody>
      </p:sp>
      <p:sp>
        <p:nvSpPr>
          <p:cNvPr id="5" name="timer_2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6" name="footer_2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L5</a:t>
            </a:r>
            <a:endParaRPr lang="en-US" sz="1000" dirty="0"/>
          </a:p>
        </p:txBody>
      </p:sp>
      <p:sp>
        <p:nvSpPr>
          <p:cNvPr id="7" name="title_23"/>
          <p:cNvSpPr txBox="1"/>
          <p:nvPr/>
        </p:nvSpPr>
        <p:spPr>
          <a:xfrm rot="-120000">
            <a:off x="320040" y="676656"/>
            <a:ext cx="328269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Mime it, say it!</a:t>
            </a:r>
            <a:endParaRPr lang="en-US" sz="2000" dirty="0"/>
          </a:p>
        </p:txBody>
      </p:sp>
      <p:sp>
        <p:nvSpPr>
          <p:cNvPr id="8" name="post_2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9" name="signA_2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0" name="signB_2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Mime a cutting verb + food. Your partner gives the command!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 un verbo + cibo. Il collega dà il comando!</a:t>
            </a:r>
            <a:endParaRPr lang="en-US" sz="1250" dirty="0"/>
          </a:p>
        </p:txBody>
      </p:sp>
      <p:sp>
        <p:nvSpPr>
          <p:cNvPr id="11" name="iconBack_27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2" name="icon_28" descr="knif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3" name="num_29"/>
          <p:cNvSpPr txBox="1"/>
          <p:nvPr/>
        </p:nvSpPr>
        <p:spPr>
          <a:xfrm>
            <a:off x="2788920" y="1490472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box_30"/>
          <p:cNvSpPr txBox="1"/>
          <p:nvPr/>
        </p:nvSpPr>
        <p:spPr>
          <a:xfrm>
            <a:off x="3264408" y="1371600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A mimes: grating cheese.</a:t>
            </a:r>
            <a:endParaRPr lang="en-US" sz="1300" dirty="0"/>
          </a:p>
        </p:txBody>
      </p:sp>
      <p:sp>
        <p:nvSpPr>
          <p:cNvPr id="15" name="num_31"/>
          <p:cNvSpPr txBox="1"/>
          <p:nvPr/>
        </p:nvSpPr>
        <p:spPr>
          <a:xfrm>
            <a:off x="2788920" y="2203704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box_32"/>
          <p:cNvSpPr txBox="1"/>
          <p:nvPr/>
        </p:nvSpPr>
        <p:spPr>
          <a:xfrm>
            <a:off x="3264408" y="2084832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B says the command: Grate the cheese!</a:t>
            </a:r>
            <a:endParaRPr lang="en-US" sz="1300" dirty="0"/>
          </a:p>
        </p:txBody>
      </p:sp>
      <p:sp>
        <p:nvSpPr>
          <p:cNvPr id="17" name="num_33"/>
          <p:cNvSpPr txBox="1"/>
          <p:nvPr/>
        </p:nvSpPr>
        <p:spPr>
          <a:xfrm>
            <a:off x="2788920" y="291693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box_34"/>
          <p:cNvSpPr txBox="1"/>
          <p:nvPr/>
        </p:nvSpPr>
        <p:spPr>
          <a:xfrm>
            <a:off x="3264408" y="2798064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it: Finely grate the parmesan, please! = 2 points</a:t>
            </a:r>
            <a:endParaRPr lang="en-US" sz="1300" dirty="0"/>
          </a:p>
        </p:txBody>
      </p:sp>
      <p:sp>
        <p:nvSpPr>
          <p:cNvPr id="19" name="num_35"/>
          <p:cNvSpPr txBox="1"/>
          <p:nvPr/>
        </p:nvSpPr>
        <p:spPr>
          <a:xfrm>
            <a:off x="2788920" y="3630168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box_36"/>
          <p:cNvSpPr txBox="1"/>
          <p:nvPr/>
        </p:nvSpPr>
        <p:spPr>
          <a:xfrm>
            <a:off x="3264408" y="3511296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mimes each. Highest score wins.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3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3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3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Cooking methods</a:t>
            </a:r>
            <a:endParaRPr lang="en-US" sz="1100" dirty="0"/>
          </a:p>
        </p:txBody>
      </p:sp>
      <p:sp>
        <p:nvSpPr>
          <p:cNvPr id="5" name="timer_40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7 min</a:t>
            </a:r>
            <a:endParaRPr lang="en-US" sz="1200" dirty="0"/>
          </a:p>
        </p:txBody>
      </p:sp>
      <p:sp>
        <p:nvSpPr>
          <p:cNvPr id="6" name="footer_4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L5</a:t>
            </a:r>
            <a:endParaRPr lang="en-US" sz="1000" dirty="0"/>
          </a:p>
        </p:txBody>
      </p:sp>
      <p:sp>
        <p:nvSpPr>
          <p:cNvPr id="7" name="title_42"/>
          <p:cNvSpPr txBox="1"/>
          <p:nvPr/>
        </p:nvSpPr>
        <p:spPr>
          <a:xfrm rot="-120000">
            <a:off x="320040" y="676656"/>
            <a:ext cx="380390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do you cook it?</a:t>
            </a:r>
            <a:endParaRPr lang="en-US" sz="2000" dirty="0"/>
          </a:p>
        </p:txBody>
      </p:sp>
      <p:sp>
        <p:nvSpPr>
          <p:cNvPr id="8" name="post_4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9" name="signA_4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0" name="signB_4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verb. Click to check the Italian.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Di' il verbo. Clicca per l'italiano.</a:t>
            </a:r>
            <a:endParaRPr lang="en-US" sz="1250" dirty="0"/>
          </a:p>
        </p:txBody>
      </p:sp>
      <p:sp>
        <p:nvSpPr>
          <p:cNvPr id="11" name="tile_46"/>
          <p:cNvSpPr/>
          <p:nvPr/>
        </p:nvSpPr>
        <p:spPr>
          <a:xfrm>
            <a:off x="2788920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2" name="ti_47" descr="boi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107" y="1426464"/>
            <a:ext cx="412090" cy="412090"/>
          </a:xfrm>
          <a:prstGeom prst="rect">
            <a:avLst/>
          </a:prstGeom>
        </p:spPr>
      </p:pic>
      <p:sp>
        <p:nvSpPr>
          <p:cNvPr id="13" name="tw_48"/>
          <p:cNvSpPr txBox="1"/>
          <p:nvPr/>
        </p:nvSpPr>
        <p:spPr>
          <a:xfrm>
            <a:off x="2825496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</a:t>
            </a:r>
            <a:endParaRPr lang="en-US" sz="1250" dirty="0"/>
          </a:p>
        </p:txBody>
      </p:sp>
      <p:sp>
        <p:nvSpPr>
          <p:cNvPr id="14" name="R1_it0"/>
          <p:cNvSpPr txBox="1"/>
          <p:nvPr/>
        </p:nvSpPr>
        <p:spPr>
          <a:xfrm>
            <a:off x="2825496" y="2085442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bollire</a:t>
            </a:r>
            <a:endParaRPr lang="en-US" sz="1050" dirty="0"/>
          </a:p>
        </p:txBody>
      </p:sp>
      <p:sp>
        <p:nvSpPr>
          <p:cNvPr id="15" name="tile_49"/>
          <p:cNvSpPr/>
          <p:nvPr/>
        </p:nvSpPr>
        <p:spPr>
          <a:xfrm>
            <a:off x="4325112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6" name="ti_50" descr="simm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299" y="1426464"/>
            <a:ext cx="412090" cy="412090"/>
          </a:xfrm>
          <a:prstGeom prst="rect">
            <a:avLst/>
          </a:prstGeom>
        </p:spPr>
      </p:pic>
      <p:sp>
        <p:nvSpPr>
          <p:cNvPr id="17" name="tw_51"/>
          <p:cNvSpPr txBox="1"/>
          <p:nvPr/>
        </p:nvSpPr>
        <p:spPr>
          <a:xfrm>
            <a:off x="4361688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simmer</a:t>
            </a:r>
            <a:endParaRPr lang="en-US" sz="1250" dirty="0"/>
          </a:p>
        </p:txBody>
      </p:sp>
      <p:sp>
        <p:nvSpPr>
          <p:cNvPr id="18" name="R1_it1"/>
          <p:cNvSpPr txBox="1"/>
          <p:nvPr/>
        </p:nvSpPr>
        <p:spPr>
          <a:xfrm>
            <a:off x="4361688" y="2085442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cuocere a fuoco lento</a:t>
            </a:r>
            <a:endParaRPr lang="en-US" sz="1050" dirty="0"/>
          </a:p>
        </p:txBody>
      </p:sp>
      <p:sp>
        <p:nvSpPr>
          <p:cNvPr id="19" name="tile_52"/>
          <p:cNvSpPr/>
          <p:nvPr/>
        </p:nvSpPr>
        <p:spPr>
          <a:xfrm>
            <a:off x="5861304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0" name="ti_53" descr="stea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8491" y="1426464"/>
            <a:ext cx="412090" cy="412090"/>
          </a:xfrm>
          <a:prstGeom prst="rect">
            <a:avLst/>
          </a:prstGeom>
        </p:spPr>
      </p:pic>
      <p:sp>
        <p:nvSpPr>
          <p:cNvPr id="21" name="tw_54"/>
          <p:cNvSpPr txBox="1"/>
          <p:nvPr/>
        </p:nvSpPr>
        <p:spPr>
          <a:xfrm>
            <a:off x="5897880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</a:t>
            </a:r>
            <a:endParaRPr lang="en-US" sz="1250" dirty="0"/>
          </a:p>
        </p:txBody>
      </p:sp>
      <p:sp>
        <p:nvSpPr>
          <p:cNvPr id="22" name="R1_it2"/>
          <p:cNvSpPr txBox="1"/>
          <p:nvPr/>
        </p:nvSpPr>
        <p:spPr>
          <a:xfrm>
            <a:off x="5897880" y="2085442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cuocere al vapore</a:t>
            </a:r>
            <a:endParaRPr lang="en-US" sz="1050" dirty="0"/>
          </a:p>
        </p:txBody>
      </p:sp>
      <p:sp>
        <p:nvSpPr>
          <p:cNvPr id="23" name="tile_55"/>
          <p:cNvSpPr/>
          <p:nvPr/>
        </p:nvSpPr>
        <p:spPr>
          <a:xfrm>
            <a:off x="7397496" y="1371600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4" name="ti_56" descr="bak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4683" y="1426464"/>
            <a:ext cx="412090" cy="412090"/>
          </a:xfrm>
          <a:prstGeom prst="rect">
            <a:avLst/>
          </a:prstGeom>
        </p:spPr>
      </p:pic>
      <p:sp>
        <p:nvSpPr>
          <p:cNvPr id="25" name="tw_57"/>
          <p:cNvSpPr txBox="1"/>
          <p:nvPr/>
        </p:nvSpPr>
        <p:spPr>
          <a:xfrm>
            <a:off x="7434072" y="185684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</a:t>
            </a:r>
            <a:endParaRPr lang="en-US" sz="1250" dirty="0"/>
          </a:p>
        </p:txBody>
      </p:sp>
      <p:sp>
        <p:nvSpPr>
          <p:cNvPr id="26" name="R1_it3"/>
          <p:cNvSpPr txBox="1"/>
          <p:nvPr/>
        </p:nvSpPr>
        <p:spPr>
          <a:xfrm>
            <a:off x="7434072" y="2085442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cuocere al forno (pane, dolci)</a:t>
            </a:r>
            <a:endParaRPr lang="en-US" sz="1050" dirty="0"/>
          </a:p>
        </p:txBody>
      </p:sp>
      <p:sp>
        <p:nvSpPr>
          <p:cNvPr id="27" name="tile_58"/>
          <p:cNvSpPr/>
          <p:nvPr/>
        </p:nvSpPr>
        <p:spPr>
          <a:xfrm>
            <a:off x="2788920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8" name="ti_59" descr="roas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6107" y="2566416"/>
            <a:ext cx="412090" cy="412090"/>
          </a:xfrm>
          <a:prstGeom prst="rect">
            <a:avLst/>
          </a:prstGeom>
        </p:spPr>
      </p:pic>
      <p:sp>
        <p:nvSpPr>
          <p:cNvPr id="29" name="tw_60"/>
          <p:cNvSpPr txBox="1"/>
          <p:nvPr/>
        </p:nvSpPr>
        <p:spPr>
          <a:xfrm>
            <a:off x="2825496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roast</a:t>
            </a:r>
            <a:endParaRPr lang="en-US" sz="1250" dirty="0"/>
          </a:p>
        </p:txBody>
      </p:sp>
      <p:sp>
        <p:nvSpPr>
          <p:cNvPr id="30" name="R1_it4"/>
          <p:cNvSpPr txBox="1"/>
          <p:nvPr/>
        </p:nvSpPr>
        <p:spPr>
          <a:xfrm>
            <a:off x="2825496" y="3225394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arrostire</a:t>
            </a:r>
            <a:endParaRPr lang="en-US" sz="1050" dirty="0"/>
          </a:p>
        </p:txBody>
      </p:sp>
      <p:sp>
        <p:nvSpPr>
          <p:cNvPr id="31" name="tile_61"/>
          <p:cNvSpPr/>
          <p:nvPr/>
        </p:nvSpPr>
        <p:spPr>
          <a:xfrm>
            <a:off x="4325112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2" name="ti_62" descr="gril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2299" y="2566416"/>
            <a:ext cx="412090" cy="412090"/>
          </a:xfrm>
          <a:prstGeom prst="rect">
            <a:avLst/>
          </a:prstGeom>
        </p:spPr>
      </p:pic>
      <p:sp>
        <p:nvSpPr>
          <p:cNvPr id="33" name="tw_63"/>
          <p:cNvSpPr txBox="1"/>
          <p:nvPr/>
        </p:nvSpPr>
        <p:spPr>
          <a:xfrm>
            <a:off x="4361688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</a:t>
            </a:r>
            <a:endParaRPr lang="en-US" sz="1250" dirty="0"/>
          </a:p>
        </p:txBody>
      </p:sp>
      <p:sp>
        <p:nvSpPr>
          <p:cNvPr id="34" name="R1_it5"/>
          <p:cNvSpPr txBox="1"/>
          <p:nvPr/>
        </p:nvSpPr>
        <p:spPr>
          <a:xfrm>
            <a:off x="4361688" y="3225394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grigliare</a:t>
            </a:r>
            <a:endParaRPr lang="en-US" sz="1050" dirty="0"/>
          </a:p>
        </p:txBody>
      </p:sp>
      <p:sp>
        <p:nvSpPr>
          <p:cNvPr id="35" name="tile_64"/>
          <p:cNvSpPr/>
          <p:nvPr/>
        </p:nvSpPr>
        <p:spPr>
          <a:xfrm>
            <a:off x="5861304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6" name="ti_65" descr="fry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8491" y="2566416"/>
            <a:ext cx="412090" cy="412090"/>
          </a:xfrm>
          <a:prstGeom prst="rect">
            <a:avLst/>
          </a:prstGeom>
        </p:spPr>
      </p:pic>
      <p:sp>
        <p:nvSpPr>
          <p:cNvPr id="37" name="tw_66"/>
          <p:cNvSpPr txBox="1"/>
          <p:nvPr/>
        </p:nvSpPr>
        <p:spPr>
          <a:xfrm>
            <a:off x="5897880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fry</a:t>
            </a:r>
            <a:endParaRPr lang="en-US" sz="1250" dirty="0"/>
          </a:p>
        </p:txBody>
      </p:sp>
      <p:sp>
        <p:nvSpPr>
          <p:cNvPr id="38" name="R1_it6"/>
          <p:cNvSpPr txBox="1"/>
          <p:nvPr/>
        </p:nvSpPr>
        <p:spPr>
          <a:xfrm>
            <a:off x="5897880" y="3225394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friggere / saltare</a:t>
            </a:r>
            <a:endParaRPr lang="en-US" sz="1050" dirty="0"/>
          </a:p>
        </p:txBody>
      </p:sp>
      <p:sp>
        <p:nvSpPr>
          <p:cNvPr id="39" name="tile_67"/>
          <p:cNvSpPr/>
          <p:nvPr/>
        </p:nvSpPr>
        <p:spPr>
          <a:xfrm>
            <a:off x="7397496" y="2511552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0" name="ti_68" descr="deep-fry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4683" y="2566416"/>
            <a:ext cx="412090" cy="412090"/>
          </a:xfrm>
          <a:prstGeom prst="rect">
            <a:avLst/>
          </a:prstGeom>
        </p:spPr>
      </p:pic>
      <p:sp>
        <p:nvSpPr>
          <p:cNvPr id="41" name="tw_69"/>
          <p:cNvSpPr txBox="1"/>
          <p:nvPr/>
        </p:nvSpPr>
        <p:spPr>
          <a:xfrm>
            <a:off x="7434072" y="2996794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deep-fry</a:t>
            </a:r>
            <a:endParaRPr lang="en-US" sz="1250" dirty="0"/>
          </a:p>
        </p:txBody>
      </p:sp>
      <p:sp>
        <p:nvSpPr>
          <p:cNvPr id="42" name="R1_it7"/>
          <p:cNvSpPr txBox="1"/>
          <p:nvPr/>
        </p:nvSpPr>
        <p:spPr>
          <a:xfrm>
            <a:off x="7434072" y="3225394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friggere in olio</a:t>
            </a:r>
            <a:endParaRPr lang="en-US" sz="1050" dirty="0"/>
          </a:p>
        </p:txBody>
      </p:sp>
      <p:sp>
        <p:nvSpPr>
          <p:cNvPr id="43" name="tile_70"/>
          <p:cNvSpPr/>
          <p:nvPr/>
        </p:nvSpPr>
        <p:spPr>
          <a:xfrm>
            <a:off x="2788920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4" name="ti_71" descr="stir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96107" y="3706368"/>
            <a:ext cx="412090" cy="412090"/>
          </a:xfrm>
          <a:prstGeom prst="rect">
            <a:avLst/>
          </a:prstGeom>
        </p:spPr>
      </p:pic>
      <p:sp>
        <p:nvSpPr>
          <p:cNvPr id="45" name="tw_72"/>
          <p:cNvSpPr txBox="1"/>
          <p:nvPr/>
        </p:nvSpPr>
        <p:spPr>
          <a:xfrm>
            <a:off x="2825496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stir</a:t>
            </a:r>
            <a:endParaRPr lang="en-US" sz="1250" dirty="0"/>
          </a:p>
        </p:txBody>
      </p:sp>
      <p:sp>
        <p:nvSpPr>
          <p:cNvPr id="46" name="R1_it8"/>
          <p:cNvSpPr txBox="1"/>
          <p:nvPr/>
        </p:nvSpPr>
        <p:spPr>
          <a:xfrm>
            <a:off x="2825496" y="4365346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mescolare</a:t>
            </a:r>
            <a:endParaRPr lang="en-US" sz="1050" dirty="0"/>
          </a:p>
        </p:txBody>
      </p:sp>
      <p:sp>
        <p:nvSpPr>
          <p:cNvPr id="47" name="tile_73"/>
          <p:cNvSpPr/>
          <p:nvPr/>
        </p:nvSpPr>
        <p:spPr>
          <a:xfrm>
            <a:off x="4325112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8" name="ti_74" descr="whisk / mix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32299" y="3706368"/>
            <a:ext cx="412090" cy="412090"/>
          </a:xfrm>
          <a:prstGeom prst="rect">
            <a:avLst/>
          </a:prstGeom>
        </p:spPr>
      </p:pic>
      <p:sp>
        <p:nvSpPr>
          <p:cNvPr id="49" name="tw_75"/>
          <p:cNvSpPr txBox="1"/>
          <p:nvPr/>
        </p:nvSpPr>
        <p:spPr>
          <a:xfrm>
            <a:off x="4361688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whisk / mix</a:t>
            </a:r>
            <a:endParaRPr lang="en-US" sz="1250" dirty="0"/>
          </a:p>
        </p:txBody>
      </p:sp>
      <p:sp>
        <p:nvSpPr>
          <p:cNvPr id="50" name="R1_it9"/>
          <p:cNvSpPr txBox="1"/>
          <p:nvPr/>
        </p:nvSpPr>
        <p:spPr>
          <a:xfrm>
            <a:off x="4361688" y="4365346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sbattere / mescolare</a:t>
            </a:r>
            <a:endParaRPr lang="en-US" sz="1050" dirty="0"/>
          </a:p>
        </p:txBody>
      </p:sp>
      <p:sp>
        <p:nvSpPr>
          <p:cNvPr id="51" name="tile_76"/>
          <p:cNvSpPr/>
          <p:nvPr/>
        </p:nvSpPr>
        <p:spPr>
          <a:xfrm>
            <a:off x="5861304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52" name="ti_77" descr="seas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8491" y="3706368"/>
            <a:ext cx="412090" cy="412090"/>
          </a:xfrm>
          <a:prstGeom prst="rect">
            <a:avLst/>
          </a:prstGeom>
        </p:spPr>
      </p:pic>
      <p:sp>
        <p:nvSpPr>
          <p:cNvPr id="53" name="tw_78"/>
          <p:cNvSpPr txBox="1"/>
          <p:nvPr/>
        </p:nvSpPr>
        <p:spPr>
          <a:xfrm>
            <a:off x="5897880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  <a:endParaRPr lang="en-US" sz="1250" dirty="0"/>
          </a:p>
        </p:txBody>
      </p:sp>
      <p:sp>
        <p:nvSpPr>
          <p:cNvPr id="54" name="R1_it10"/>
          <p:cNvSpPr txBox="1"/>
          <p:nvPr/>
        </p:nvSpPr>
        <p:spPr>
          <a:xfrm>
            <a:off x="5897880" y="4365346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condire / salare</a:t>
            </a:r>
            <a:endParaRPr lang="en-US" sz="1050" dirty="0"/>
          </a:p>
        </p:txBody>
      </p:sp>
      <p:sp>
        <p:nvSpPr>
          <p:cNvPr id="55" name="tile_79"/>
          <p:cNvSpPr/>
          <p:nvPr/>
        </p:nvSpPr>
        <p:spPr>
          <a:xfrm>
            <a:off x="7397496" y="3651504"/>
            <a:ext cx="1426464" cy="1030224"/>
          </a:xfrm>
          <a:prstGeom prst="roundRect">
            <a:avLst>
              <a:gd name="adj" fmla="val 710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56" name="ti_80" descr="microwave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4683" y="3706368"/>
            <a:ext cx="412090" cy="412090"/>
          </a:xfrm>
          <a:prstGeom prst="rect">
            <a:avLst/>
          </a:prstGeom>
        </p:spPr>
      </p:pic>
      <p:sp>
        <p:nvSpPr>
          <p:cNvPr id="57" name="tw_81"/>
          <p:cNvSpPr txBox="1"/>
          <p:nvPr/>
        </p:nvSpPr>
        <p:spPr>
          <a:xfrm>
            <a:off x="7434072" y="4136746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</a:t>
            </a:r>
            <a:endParaRPr lang="en-US" sz="1250" dirty="0"/>
          </a:p>
        </p:txBody>
      </p:sp>
      <p:sp>
        <p:nvSpPr>
          <p:cNvPr id="58" name="R1_it11"/>
          <p:cNvSpPr txBox="1"/>
          <p:nvPr/>
        </p:nvSpPr>
        <p:spPr>
          <a:xfrm>
            <a:off x="7434072" y="4365346"/>
            <a:ext cx="1353312" cy="288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cuocere al microonde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8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8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8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PRONUNCIATION · Menu words</a:t>
            </a:r>
            <a:endParaRPr lang="en-US" sz="1100" dirty="0"/>
          </a:p>
        </p:txBody>
      </p:sp>
      <p:sp>
        <p:nvSpPr>
          <p:cNvPr id="5" name="timer_8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6" name="footer_8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L5</a:t>
            </a:r>
            <a:endParaRPr lang="en-US" sz="1000" dirty="0"/>
          </a:p>
        </p:txBody>
      </p:sp>
      <p:sp>
        <p:nvSpPr>
          <p:cNvPr id="7" name="title_87"/>
          <p:cNvSpPr txBox="1"/>
          <p:nvPr/>
        </p:nvSpPr>
        <p:spPr>
          <a:xfrm rot="-120000">
            <a:off x="320040" y="676656"/>
            <a:ext cx="4498848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Grilled, baked, roasted</a:t>
            </a:r>
            <a:endParaRPr lang="en-US" sz="2000" dirty="0"/>
          </a:p>
        </p:txBody>
      </p:sp>
      <p:sp>
        <p:nvSpPr>
          <p:cNvPr id="8" name="post_8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9" name="signA_8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0" name="signB_9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menu word. Is the -ed /d/, /t/ or /ɪd/?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Pronuncia. La -ed è /d/, /t/ o /ɪd/?</a:t>
            </a:r>
            <a:endParaRPr lang="en-US" sz="1250" dirty="0"/>
          </a:p>
        </p:txBody>
      </p:sp>
      <p:sp>
        <p:nvSpPr>
          <p:cNvPr id="11" name="box_91"/>
          <p:cNvSpPr txBox="1"/>
          <p:nvPr/>
        </p:nvSpPr>
        <p:spPr>
          <a:xfrm>
            <a:off x="2788920" y="1371600"/>
            <a:ext cx="3017520" cy="34975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grilled sea bass</a:t>
            </a:r>
            <a:endParaRPr lang="en-US" sz="1250" dirty="0"/>
          </a:p>
        </p:txBody>
      </p:sp>
      <p:sp>
        <p:nvSpPr>
          <p:cNvPr id="12" name="R1_m0"/>
          <p:cNvSpPr txBox="1"/>
          <p:nvPr/>
        </p:nvSpPr>
        <p:spPr>
          <a:xfrm>
            <a:off x="5879592" y="1389888"/>
            <a:ext cx="2944368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/d/</a:t>
            </a:r>
            <a:endParaRPr lang="en-US" sz="1150" dirty="0"/>
          </a:p>
        </p:txBody>
      </p:sp>
      <p:sp>
        <p:nvSpPr>
          <p:cNvPr id="13" name="box_92"/>
          <p:cNvSpPr txBox="1"/>
          <p:nvPr/>
        </p:nvSpPr>
        <p:spPr>
          <a:xfrm>
            <a:off x="2788920" y="1794510"/>
            <a:ext cx="3017520" cy="34975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baked potatoes</a:t>
            </a:r>
            <a:endParaRPr lang="en-US" sz="1250" dirty="0"/>
          </a:p>
        </p:txBody>
      </p:sp>
      <p:sp>
        <p:nvSpPr>
          <p:cNvPr id="14" name="R1_m1"/>
          <p:cNvSpPr txBox="1"/>
          <p:nvPr/>
        </p:nvSpPr>
        <p:spPr>
          <a:xfrm>
            <a:off x="5879592" y="1812798"/>
            <a:ext cx="2944368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/t/</a:t>
            </a:r>
            <a:endParaRPr lang="en-US" sz="1150" dirty="0"/>
          </a:p>
        </p:txBody>
      </p:sp>
      <p:sp>
        <p:nvSpPr>
          <p:cNvPr id="15" name="box_93"/>
          <p:cNvSpPr txBox="1"/>
          <p:nvPr/>
        </p:nvSpPr>
        <p:spPr>
          <a:xfrm>
            <a:off x="2788920" y="2217420"/>
            <a:ext cx="3017520" cy="349758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roasted peppers</a:t>
            </a:r>
            <a:endParaRPr lang="en-US" sz="1250" dirty="0"/>
          </a:p>
        </p:txBody>
      </p:sp>
      <p:sp>
        <p:nvSpPr>
          <p:cNvPr id="16" name="R1_m2"/>
          <p:cNvSpPr txBox="1"/>
          <p:nvPr/>
        </p:nvSpPr>
        <p:spPr>
          <a:xfrm>
            <a:off x="5879592" y="2235708"/>
            <a:ext cx="2944368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/ɪd/</a:t>
            </a:r>
            <a:endParaRPr lang="en-US" sz="1150" dirty="0"/>
          </a:p>
        </p:txBody>
      </p:sp>
      <p:sp>
        <p:nvSpPr>
          <p:cNvPr id="17" name="box_94"/>
          <p:cNvSpPr txBox="1"/>
          <p:nvPr/>
        </p:nvSpPr>
        <p:spPr>
          <a:xfrm>
            <a:off x="2788920" y="2640330"/>
            <a:ext cx="3017520" cy="349758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steamed mussels</a:t>
            </a:r>
            <a:endParaRPr lang="en-US" sz="1250" dirty="0"/>
          </a:p>
        </p:txBody>
      </p:sp>
      <p:sp>
        <p:nvSpPr>
          <p:cNvPr id="18" name="R1_m3"/>
          <p:cNvSpPr txBox="1"/>
          <p:nvPr/>
        </p:nvSpPr>
        <p:spPr>
          <a:xfrm>
            <a:off x="5879592" y="2658618"/>
            <a:ext cx="2944368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/d/</a:t>
            </a:r>
            <a:endParaRPr lang="en-US" sz="1150" dirty="0"/>
          </a:p>
        </p:txBody>
      </p:sp>
      <p:sp>
        <p:nvSpPr>
          <p:cNvPr id="19" name="box_95"/>
          <p:cNvSpPr txBox="1"/>
          <p:nvPr/>
        </p:nvSpPr>
        <p:spPr>
          <a:xfrm>
            <a:off x="2788920" y="3063240"/>
            <a:ext cx="3017520" cy="349758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mashed potatoes</a:t>
            </a:r>
            <a:endParaRPr lang="en-US" sz="1250" dirty="0"/>
          </a:p>
        </p:txBody>
      </p:sp>
      <p:sp>
        <p:nvSpPr>
          <p:cNvPr id="20" name="R1_m4"/>
          <p:cNvSpPr txBox="1"/>
          <p:nvPr/>
        </p:nvSpPr>
        <p:spPr>
          <a:xfrm>
            <a:off x="5879592" y="3081528"/>
            <a:ext cx="2944368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/t/</a:t>
            </a:r>
            <a:endParaRPr lang="en-US" sz="1150" dirty="0"/>
          </a:p>
        </p:txBody>
      </p:sp>
      <p:sp>
        <p:nvSpPr>
          <p:cNvPr id="21" name="box_96"/>
          <p:cNvSpPr txBox="1"/>
          <p:nvPr/>
        </p:nvSpPr>
        <p:spPr>
          <a:xfrm>
            <a:off x="2788920" y="3486150"/>
            <a:ext cx="3017520" cy="349758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toasted bread</a:t>
            </a:r>
            <a:endParaRPr lang="en-US" sz="1250" dirty="0"/>
          </a:p>
        </p:txBody>
      </p:sp>
      <p:sp>
        <p:nvSpPr>
          <p:cNvPr id="22" name="R1_m5"/>
          <p:cNvSpPr txBox="1"/>
          <p:nvPr/>
        </p:nvSpPr>
        <p:spPr>
          <a:xfrm>
            <a:off x="5879592" y="3504438"/>
            <a:ext cx="2944368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/ɪd/</a:t>
            </a:r>
            <a:endParaRPr lang="en-US" sz="1150" dirty="0"/>
          </a:p>
        </p:txBody>
      </p:sp>
      <p:sp>
        <p:nvSpPr>
          <p:cNvPr id="23" name="box_97"/>
          <p:cNvSpPr txBox="1"/>
          <p:nvPr/>
        </p:nvSpPr>
        <p:spPr>
          <a:xfrm>
            <a:off x="2788920" y="3909060"/>
            <a:ext cx="3017520" cy="349758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fried calamari</a:t>
            </a:r>
            <a:endParaRPr lang="en-US" sz="1250" dirty="0"/>
          </a:p>
        </p:txBody>
      </p:sp>
      <p:sp>
        <p:nvSpPr>
          <p:cNvPr id="24" name="R1_m6"/>
          <p:cNvSpPr txBox="1"/>
          <p:nvPr/>
        </p:nvSpPr>
        <p:spPr>
          <a:xfrm>
            <a:off x="5879592" y="3927348"/>
            <a:ext cx="2944368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/d/</a:t>
            </a:r>
            <a:endParaRPr lang="en-US" sz="1150" dirty="0"/>
          </a:p>
        </p:txBody>
      </p:sp>
      <p:sp>
        <p:nvSpPr>
          <p:cNvPr id="25" name="box_98"/>
          <p:cNvSpPr txBox="1"/>
          <p:nvPr/>
        </p:nvSpPr>
        <p:spPr>
          <a:xfrm>
            <a:off x="2788920" y="4331970"/>
            <a:ext cx="3017520" cy="349758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whipped cream</a:t>
            </a:r>
            <a:endParaRPr lang="en-US" sz="1250" dirty="0"/>
          </a:p>
        </p:txBody>
      </p:sp>
      <p:sp>
        <p:nvSpPr>
          <p:cNvPr id="26" name="R1_m7"/>
          <p:cNvSpPr txBox="1"/>
          <p:nvPr/>
        </p:nvSpPr>
        <p:spPr>
          <a:xfrm>
            <a:off x="5879592" y="4350258"/>
            <a:ext cx="2944368" cy="313182"/>
          </a:xfrm>
          <a:prstGeom prst="roundRect">
            <a:avLst>
              <a:gd name="adj" fmla="val 1751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/t/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9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0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10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Telling a recipe</a:t>
            </a:r>
            <a:endParaRPr lang="en-US" sz="1100" dirty="0"/>
          </a:p>
        </p:txBody>
      </p:sp>
      <p:sp>
        <p:nvSpPr>
          <p:cNvPr id="5" name="timer_10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6" name="footer_10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L5</a:t>
            </a:r>
            <a:endParaRPr lang="en-US" sz="1000" dirty="0"/>
          </a:p>
        </p:txBody>
      </p:sp>
      <p:sp>
        <p:nvSpPr>
          <p:cNvPr id="7" name="title_104"/>
          <p:cNvSpPr txBox="1"/>
          <p:nvPr/>
        </p:nvSpPr>
        <p:spPr>
          <a:xfrm rot="-120000">
            <a:off x="320040" y="676656"/>
            <a:ext cx="397764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First, heat the oil…</a:t>
            </a:r>
            <a:endParaRPr lang="en-US" sz="2000" dirty="0"/>
          </a:p>
        </p:txBody>
      </p:sp>
      <p:sp>
        <p:nvSpPr>
          <p:cNvPr id="8" name="rh_105"/>
          <p:cNvSpPr txBox="1"/>
          <p:nvPr/>
        </p:nvSpPr>
        <p:spPr>
          <a:xfrm>
            <a:off x="320040" y="1371600"/>
            <a:ext cx="2749296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Order</a:t>
            </a:r>
            <a:endParaRPr lang="en-US" sz="1300" dirty="0"/>
          </a:p>
        </p:txBody>
      </p:sp>
      <p:sp>
        <p:nvSpPr>
          <p:cNvPr id="9" name="rb_106"/>
          <p:cNvSpPr txBox="1"/>
          <p:nvPr/>
        </p:nvSpPr>
        <p:spPr>
          <a:xfrm>
            <a:off x="320040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First,…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Then,…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Next,…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that,…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Finally,…</a:t>
            </a:r>
            <a:endParaRPr lang="en-US" sz="1350" dirty="0"/>
          </a:p>
        </p:txBody>
      </p:sp>
      <p:sp>
        <p:nvSpPr>
          <p:cNvPr id="10" name="rh_107"/>
          <p:cNvSpPr txBox="1"/>
          <p:nvPr/>
        </p:nvSpPr>
        <p:spPr>
          <a:xfrm>
            <a:off x="3197352" y="1371600"/>
            <a:ext cx="2749296" cy="384048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Imperatives</a:t>
            </a:r>
            <a:endParaRPr lang="en-US" sz="1300" dirty="0"/>
          </a:p>
        </p:txBody>
      </p:sp>
      <p:sp>
        <p:nvSpPr>
          <p:cNvPr id="11" name="rb_108"/>
          <p:cNvSpPr txBox="1"/>
          <p:nvPr/>
        </p:nvSpPr>
        <p:spPr>
          <a:xfrm>
            <a:off x="3197352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the oil.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garlic.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with salt and pepper.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 at 180°C.</a:t>
            </a:r>
            <a:endParaRPr lang="en-US" sz="1350" dirty="0"/>
          </a:p>
        </p:txBody>
      </p:sp>
      <p:sp>
        <p:nvSpPr>
          <p:cNvPr id="12" name="rh_109"/>
          <p:cNvSpPr txBox="1"/>
          <p:nvPr/>
        </p:nvSpPr>
        <p:spPr>
          <a:xfrm>
            <a:off x="6074664" y="1371600"/>
            <a:ext cx="2749296" cy="384048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/ until</a:t>
            </a:r>
            <a:endParaRPr lang="en-US" sz="1300" dirty="0"/>
          </a:p>
        </p:txBody>
      </p:sp>
      <p:sp>
        <p:nvSpPr>
          <p:cNvPr id="13" name="rb_110"/>
          <p:cNvSpPr txBox="1"/>
          <p:nvPr/>
        </p:nvSpPr>
        <p:spPr>
          <a:xfrm>
            <a:off x="6074664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Simmer for 20 minutes. (per)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until golden. (finché)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+ time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+ result</a:t>
            </a:r>
            <a:endParaRPr lang="en-US" sz="1350" dirty="0"/>
          </a:p>
        </p:txBody>
      </p:sp>
      <p:sp>
        <p:nvSpPr>
          <p:cNvPr id="14" name="watch_111"/>
          <p:cNvSpPr txBox="1"/>
          <p:nvPr/>
        </p:nvSpPr>
        <p:spPr>
          <a:xfrm>
            <a:off x="320040" y="4133088"/>
            <a:ext cx="8503920" cy="530352"/>
          </a:xfrm>
          <a:prstGeom prst="rect">
            <a:avLst/>
          </a:prstGeom>
          <a:solidFill>
            <a:srgbClr val="FFE4E6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out! 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Cook for golden → ✓ Cook until golden.     ✗ Simmer until 20 minutes → ✓ Simmer for 20 minutes.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1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1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11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Practice</a:t>
            </a:r>
            <a:endParaRPr lang="en-US" sz="1100" dirty="0"/>
          </a:p>
        </p:txBody>
      </p:sp>
      <p:sp>
        <p:nvSpPr>
          <p:cNvPr id="5" name="timer_11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6" name="footer_11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L5</a:t>
            </a:r>
            <a:endParaRPr lang="en-US" sz="1000" dirty="0"/>
          </a:p>
        </p:txBody>
      </p:sp>
      <p:sp>
        <p:nvSpPr>
          <p:cNvPr id="7" name="title_117"/>
          <p:cNvSpPr txBox="1"/>
          <p:nvPr/>
        </p:nvSpPr>
        <p:spPr>
          <a:xfrm rot="-120000">
            <a:off x="320040" y="676656"/>
            <a:ext cx="519379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for, until, first, finally?</a:t>
            </a:r>
            <a:endParaRPr lang="en-US" sz="2000" dirty="0"/>
          </a:p>
        </p:txBody>
      </p:sp>
      <p:sp>
        <p:nvSpPr>
          <p:cNvPr id="8" name="post_11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9" name="signA_11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0" name="signB_12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with for · until · First · Finally.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con for / until / First / Finally.</a:t>
            </a:r>
            <a:endParaRPr lang="en-US" sz="1250" dirty="0"/>
          </a:p>
        </p:txBody>
      </p:sp>
      <p:sp>
        <p:nvSpPr>
          <p:cNvPr id="11" name="box_121"/>
          <p:cNvSpPr txBox="1"/>
          <p:nvPr/>
        </p:nvSpPr>
        <p:spPr>
          <a:xfrm>
            <a:off x="2788920" y="1371600"/>
            <a:ext cx="2067458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Boil the pasta ___ 10 minutes.</a:t>
            </a:r>
            <a:endParaRPr lang="en-US" sz="1350" dirty="0"/>
          </a:p>
        </p:txBody>
      </p:sp>
      <p:sp>
        <p:nvSpPr>
          <p:cNvPr id="12" name="R1_a0"/>
          <p:cNvSpPr txBox="1"/>
          <p:nvPr/>
        </p:nvSpPr>
        <p:spPr>
          <a:xfrm>
            <a:off x="4911242" y="1408176"/>
            <a:ext cx="83119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1200" dirty="0"/>
          </a:p>
        </p:txBody>
      </p:sp>
      <p:sp>
        <p:nvSpPr>
          <p:cNvPr id="13" name="box_122"/>
          <p:cNvSpPr txBox="1"/>
          <p:nvPr/>
        </p:nvSpPr>
        <p:spPr>
          <a:xfrm>
            <a:off x="5870448" y="1371600"/>
            <a:ext cx="2067458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Cook the onions ___ they're soft.</a:t>
            </a:r>
            <a:endParaRPr lang="en-US" sz="1350" dirty="0"/>
          </a:p>
        </p:txBody>
      </p:sp>
      <p:sp>
        <p:nvSpPr>
          <p:cNvPr id="14" name="R1_a1"/>
          <p:cNvSpPr txBox="1"/>
          <p:nvPr/>
        </p:nvSpPr>
        <p:spPr>
          <a:xfrm>
            <a:off x="7992770" y="1408176"/>
            <a:ext cx="83119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</a:t>
            </a:r>
            <a:endParaRPr lang="en-US" sz="1200" dirty="0"/>
          </a:p>
        </p:txBody>
      </p:sp>
      <p:sp>
        <p:nvSpPr>
          <p:cNvPr id="15" name="box_123"/>
          <p:cNvSpPr txBox="1"/>
          <p:nvPr/>
        </p:nvSpPr>
        <p:spPr>
          <a:xfrm>
            <a:off x="2788920" y="2368296"/>
            <a:ext cx="2067458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___, heat the oil.</a:t>
            </a:r>
            <a:endParaRPr lang="en-US" sz="1350" dirty="0"/>
          </a:p>
        </p:txBody>
      </p:sp>
      <p:sp>
        <p:nvSpPr>
          <p:cNvPr id="16" name="R1_a2"/>
          <p:cNvSpPr txBox="1"/>
          <p:nvPr/>
        </p:nvSpPr>
        <p:spPr>
          <a:xfrm>
            <a:off x="4911242" y="2404872"/>
            <a:ext cx="83119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</a:t>
            </a:r>
            <a:endParaRPr lang="en-US" sz="1200" dirty="0"/>
          </a:p>
        </p:txBody>
      </p:sp>
      <p:sp>
        <p:nvSpPr>
          <p:cNvPr id="17" name="box_124"/>
          <p:cNvSpPr txBox="1"/>
          <p:nvPr/>
        </p:nvSpPr>
        <p:spPr>
          <a:xfrm>
            <a:off x="5870448" y="2368296"/>
            <a:ext cx="2067458" cy="8686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Bake ___ golden.</a:t>
            </a:r>
            <a:endParaRPr lang="en-US" sz="1350" dirty="0"/>
          </a:p>
        </p:txBody>
      </p:sp>
      <p:sp>
        <p:nvSpPr>
          <p:cNvPr id="18" name="R1_a3"/>
          <p:cNvSpPr txBox="1"/>
          <p:nvPr/>
        </p:nvSpPr>
        <p:spPr>
          <a:xfrm>
            <a:off x="7992770" y="2404872"/>
            <a:ext cx="83119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</a:t>
            </a:r>
            <a:endParaRPr lang="en-US" sz="1200" dirty="0"/>
          </a:p>
        </p:txBody>
      </p:sp>
      <p:sp>
        <p:nvSpPr>
          <p:cNvPr id="19" name="box_125"/>
          <p:cNvSpPr txBox="1"/>
          <p:nvPr/>
        </p:nvSpPr>
        <p:spPr>
          <a:xfrm>
            <a:off x="2788920" y="3364992"/>
            <a:ext cx="2067458" cy="86868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___, serve with basil.</a:t>
            </a:r>
            <a:endParaRPr lang="en-US" sz="1350" dirty="0"/>
          </a:p>
        </p:txBody>
      </p:sp>
      <p:sp>
        <p:nvSpPr>
          <p:cNvPr id="20" name="R1_a4"/>
          <p:cNvSpPr txBox="1"/>
          <p:nvPr/>
        </p:nvSpPr>
        <p:spPr>
          <a:xfrm>
            <a:off x="4911242" y="3401568"/>
            <a:ext cx="83119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</a:t>
            </a:r>
            <a:endParaRPr lang="en-US" sz="1200" dirty="0"/>
          </a:p>
        </p:txBody>
      </p:sp>
      <p:sp>
        <p:nvSpPr>
          <p:cNvPr id="21" name="box_126"/>
          <p:cNvSpPr txBox="1"/>
          <p:nvPr/>
        </p:nvSpPr>
        <p:spPr>
          <a:xfrm>
            <a:off x="5870448" y="3364992"/>
            <a:ext cx="2067458" cy="86868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Chill it ___ two hours.</a:t>
            </a:r>
            <a:endParaRPr lang="en-US" sz="1350" dirty="0"/>
          </a:p>
        </p:txBody>
      </p:sp>
      <p:sp>
        <p:nvSpPr>
          <p:cNvPr id="22" name="R1_a5"/>
          <p:cNvSpPr txBox="1"/>
          <p:nvPr/>
        </p:nvSpPr>
        <p:spPr>
          <a:xfrm>
            <a:off x="7992770" y="3401568"/>
            <a:ext cx="831190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2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2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12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A recipe</a:t>
            </a:r>
            <a:endParaRPr lang="en-US" sz="1100" dirty="0"/>
          </a:p>
        </p:txBody>
      </p:sp>
      <p:sp>
        <p:nvSpPr>
          <p:cNvPr id="5" name="timer_130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6" name="footer_13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L5</a:t>
            </a:r>
            <a:endParaRPr lang="en-US" sz="1000" dirty="0"/>
          </a:p>
        </p:txBody>
      </p:sp>
      <p:sp>
        <p:nvSpPr>
          <p:cNvPr id="7" name="title_132"/>
          <p:cNvSpPr txBox="1"/>
          <p:nvPr/>
        </p:nvSpPr>
        <p:spPr>
          <a:xfrm rot="-120000">
            <a:off x="320040" y="676656"/>
            <a:ext cx="380390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Simple tomato sauce</a:t>
            </a:r>
            <a:endParaRPr lang="en-US" sz="2000" dirty="0"/>
          </a:p>
        </p:txBody>
      </p:sp>
      <p:sp>
        <p:nvSpPr>
          <p:cNvPr id="8" name="post_13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9" name="signA_13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LEGGI!</a:t>
            </a:r>
            <a:endParaRPr lang="en-US" sz="1500" dirty="0"/>
          </a:p>
        </p:txBody>
      </p:sp>
      <p:sp>
        <p:nvSpPr>
          <p:cNvPr id="10" name="signB_13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steps in the correct order.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Metti i passaggi nell'ordine giusto.</a:t>
            </a:r>
            <a:endParaRPr lang="en-US" sz="1250" dirty="0"/>
          </a:p>
        </p:txBody>
      </p:sp>
      <p:sp>
        <p:nvSpPr>
          <p:cNvPr id="11" name="box_136"/>
          <p:cNvSpPr txBox="1"/>
          <p:nvPr/>
        </p:nvSpPr>
        <p:spPr>
          <a:xfrm>
            <a:off x="2788920" y="1371600"/>
            <a:ext cx="4948733" cy="4419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Add the tinned tomatoes and a pinch of salt.</a:t>
            </a:r>
            <a:endParaRPr lang="en-US" sz="1350" dirty="0"/>
          </a:p>
        </p:txBody>
      </p:sp>
      <p:sp>
        <p:nvSpPr>
          <p:cNvPr id="12" name="R1_a0"/>
          <p:cNvSpPr txBox="1"/>
          <p:nvPr/>
        </p:nvSpPr>
        <p:spPr>
          <a:xfrm>
            <a:off x="7792517" y="1408176"/>
            <a:ext cx="103144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box_137"/>
          <p:cNvSpPr txBox="1"/>
          <p:nvPr/>
        </p:nvSpPr>
        <p:spPr>
          <a:xfrm>
            <a:off x="2788920" y="1941576"/>
            <a:ext cx="4948733" cy="4419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Finally, add fresh basil and serve with pasta.</a:t>
            </a:r>
            <a:endParaRPr lang="en-US" sz="1350" dirty="0"/>
          </a:p>
        </p:txBody>
      </p:sp>
      <p:sp>
        <p:nvSpPr>
          <p:cNvPr id="14" name="R1_a1"/>
          <p:cNvSpPr txBox="1"/>
          <p:nvPr/>
        </p:nvSpPr>
        <p:spPr>
          <a:xfrm>
            <a:off x="7792517" y="1978152"/>
            <a:ext cx="103144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5" name="box_138"/>
          <p:cNvSpPr txBox="1"/>
          <p:nvPr/>
        </p:nvSpPr>
        <p:spPr>
          <a:xfrm>
            <a:off x="2788920" y="2511552"/>
            <a:ext cx="4948733" cy="4419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First, heat some olive oil in a saucepan.</a:t>
            </a:r>
            <a:endParaRPr lang="en-US" sz="1350" dirty="0"/>
          </a:p>
        </p:txBody>
      </p:sp>
      <p:sp>
        <p:nvSpPr>
          <p:cNvPr id="16" name="R1_a2"/>
          <p:cNvSpPr txBox="1"/>
          <p:nvPr/>
        </p:nvSpPr>
        <p:spPr>
          <a:xfrm>
            <a:off x="7792517" y="2548128"/>
            <a:ext cx="103144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box_139"/>
          <p:cNvSpPr txBox="1"/>
          <p:nvPr/>
        </p:nvSpPr>
        <p:spPr>
          <a:xfrm>
            <a:off x="2788920" y="3081528"/>
            <a:ext cx="4948733" cy="4419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Simmer for 20 minutes. Stir from time to time.</a:t>
            </a:r>
            <a:endParaRPr lang="en-US" sz="1350" dirty="0"/>
          </a:p>
        </p:txBody>
      </p:sp>
      <p:sp>
        <p:nvSpPr>
          <p:cNvPr id="18" name="R1_a3"/>
          <p:cNvSpPr txBox="1"/>
          <p:nvPr/>
        </p:nvSpPr>
        <p:spPr>
          <a:xfrm>
            <a:off x="7792517" y="3118104"/>
            <a:ext cx="103144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box_140"/>
          <p:cNvSpPr txBox="1"/>
          <p:nvPr/>
        </p:nvSpPr>
        <p:spPr>
          <a:xfrm>
            <a:off x="2788920" y="3651504"/>
            <a:ext cx="4948733" cy="4419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Then add the garlic and fry for one minute – don't burn it!</a:t>
            </a:r>
            <a:endParaRPr lang="en-US" sz="1350" dirty="0"/>
          </a:p>
        </p:txBody>
      </p:sp>
      <p:sp>
        <p:nvSpPr>
          <p:cNvPr id="20" name="R1_a4"/>
          <p:cNvSpPr txBox="1"/>
          <p:nvPr/>
        </p:nvSpPr>
        <p:spPr>
          <a:xfrm>
            <a:off x="7792517" y="3688080"/>
            <a:ext cx="103144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box_141"/>
          <p:cNvSpPr txBox="1"/>
          <p:nvPr/>
        </p:nvSpPr>
        <p:spPr>
          <a:xfrm>
            <a:off x="2788920" y="4221480"/>
            <a:ext cx="4948733" cy="4419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 Peel and slice two cloves of garlic.</a:t>
            </a:r>
            <a:endParaRPr lang="en-US" sz="1350" dirty="0"/>
          </a:p>
        </p:txBody>
      </p:sp>
      <p:sp>
        <p:nvSpPr>
          <p:cNvPr id="22" name="R1_a5"/>
          <p:cNvSpPr txBox="1"/>
          <p:nvPr/>
        </p:nvSpPr>
        <p:spPr>
          <a:xfrm>
            <a:off x="7792517" y="4258056"/>
            <a:ext cx="1031443" cy="368808"/>
          </a:xfrm>
          <a:prstGeom prst="roundRect">
            <a:avLst>
              <a:gd name="adj" fmla="val 14876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4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4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14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A menu</a:t>
            </a:r>
            <a:endParaRPr lang="en-US" sz="1100" dirty="0"/>
          </a:p>
        </p:txBody>
      </p:sp>
      <p:sp>
        <p:nvSpPr>
          <p:cNvPr id="5" name="timer_14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6" name="footer_14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L5</a:t>
            </a:r>
            <a:endParaRPr lang="en-US" sz="1000" dirty="0"/>
          </a:p>
        </p:txBody>
      </p:sp>
      <p:sp>
        <p:nvSpPr>
          <p:cNvPr id="7" name="title_147"/>
          <p:cNvSpPr txBox="1"/>
          <p:nvPr/>
        </p:nvSpPr>
        <p:spPr>
          <a:xfrm rot="-120000">
            <a:off x="320040" y="676656"/>
            <a:ext cx="258775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Today's menu</a:t>
            </a:r>
            <a:endParaRPr lang="en-US" sz="2000" dirty="0"/>
          </a:p>
        </p:txBody>
      </p:sp>
      <p:sp>
        <p:nvSpPr>
          <p:cNvPr id="8" name="rsign_148"/>
          <p:cNvSpPr txBox="1"/>
          <p:nvPr/>
        </p:nvSpPr>
        <p:spPr>
          <a:xfrm>
            <a:off x="320040" y="1298448"/>
            <a:ext cx="8503920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READ! LEGGI!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menu. Answer the questions.  </a:t>
            </a:r>
            <a:pPr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il menù e rispondi.</a:t>
            </a:r>
            <a:endParaRPr lang="en-US" sz="1200" dirty="0"/>
          </a:p>
        </p:txBody>
      </p:sp>
      <p:sp>
        <p:nvSpPr>
          <p:cNvPr id="9" name="rtext_149"/>
          <p:cNvSpPr txBox="1"/>
          <p:nvPr/>
        </p:nvSpPr>
        <p:spPr>
          <a:xfrm rot="-30000">
            <a:off x="320040" y="1810512"/>
            <a:ext cx="4343400" cy="2880360"/>
          </a:xfrm>
          <a:prstGeom prst="rect">
            <a:avLst/>
          </a:prstGeom>
          <a:solidFill>
            <a:srgbClr val="FFFDF5"/>
          </a:solidFill>
          <a:ln w="190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 Trattoria Aspra – today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Grilled vegetables with goat's cheese  €8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Steamed mussels in white wine  €10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Roast chicken with baked potatoes  €14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Pan-fried sea bass with lemon  €16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Spaghetti with fresh tomato sauce (V)  €9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Baked cheesecake  €6 · Fresh fruit (VG)  €5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(V) vegetarian · (VG) vegan</a:t>
            </a:r>
            <a:endParaRPr lang="en-US" sz="1300" dirty="0"/>
          </a:p>
        </p:txBody>
      </p:sp>
      <p:sp>
        <p:nvSpPr>
          <p:cNvPr id="10" name="box_150"/>
          <p:cNvSpPr txBox="1"/>
          <p:nvPr/>
        </p:nvSpPr>
        <p:spPr>
          <a:xfrm>
            <a:off x="4828032" y="1810512"/>
            <a:ext cx="2317638" cy="51755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Which dishes are cooked in the oven?</a:t>
            </a:r>
            <a:endParaRPr lang="en-US" sz="1150" dirty="0"/>
          </a:p>
        </p:txBody>
      </p:sp>
      <p:sp>
        <p:nvSpPr>
          <p:cNvPr id="11" name="R1_ra0"/>
          <p:cNvSpPr txBox="1"/>
          <p:nvPr/>
        </p:nvSpPr>
        <p:spPr>
          <a:xfrm>
            <a:off x="7191390" y="1837944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roast chicken, baked potatoes, cheesecake</a:t>
            </a:r>
            <a:endParaRPr lang="en-US" sz="1050" dirty="0"/>
          </a:p>
        </p:txBody>
      </p:sp>
      <p:sp>
        <p:nvSpPr>
          <p:cNvPr id="12" name="box_151"/>
          <p:cNvSpPr txBox="1"/>
          <p:nvPr/>
        </p:nvSpPr>
        <p:spPr>
          <a:xfrm>
            <a:off x="4828032" y="2401214"/>
            <a:ext cx="2317638" cy="51755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How are the mussels cooked?</a:t>
            </a:r>
            <a:endParaRPr lang="en-US" sz="1150" dirty="0"/>
          </a:p>
        </p:txBody>
      </p:sp>
      <p:sp>
        <p:nvSpPr>
          <p:cNvPr id="13" name="R1_ra1"/>
          <p:cNvSpPr txBox="1"/>
          <p:nvPr/>
        </p:nvSpPr>
        <p:spPr>
          <a:xfrm>
            <a:off x="7191390" y="2428646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steamed</a:t>
            </a:r>
            <a:endParaRPr lang="en-US" sz="1050" dirty="0"/>
          </a:p>
        </p:txBody>
      </p:sp>
      <p:sp>
        <p:nvSpPr>
          <p:cNvPr id="14" name="box_152"/>
          <p:cNvSpPr txBox="1"/>
          <p:nvPr/>
        </p:nvSpPr>
        <p:spPr>
          <a:xfrm>
            <a:off x="4828032" y="2991917"/>
            <a:ext cx="2317638" cy="51755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What's the cheapest main?</a:t>
            </a:r>
            <a:endParaRPr lang="en-US" sz="1150" dirty="0"/>
          </a:p>
        </p:txBody>
      </p:sp>
      <p:sp>
        <p:nvSpPr>
          <p:cNvPr id="15" name="R1_ra2"/>
          <p:cNvSpPr txBox="1"/>
          <p:nvPr/>
        </p:nvSpPr>
        <p:spPr>
          <a:xfrm>
            <a:off x="7191390" y="3019349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spaghetti, €9</a:t>
            </a:r>
            <a:endParaRPr lang="en-US" sz="1050" dirty="0"/>
          </a:p>
        </p:txBody>
      </p:sp>
      <p:sp>
        <p:nvSpPr>
          <p:cNvPr id="16" name="box_153"/>
          <p:cNvSpPr txBox="1"/>
          <p:nvPr/>
        </p:nvSpPr>
        <p:spPr>
          <a:xfrm>
            <a:off x="4828032" y="3582619"/>
            <a:ext cx="2317638" cy="51755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What can a vegan eat?</a:t>
            </a:r>
            <a:endParaRPr lang="en-US" sz="1150" dirty="0"/>
          </a:p>
        </p:txBody>
      </p:sp>
      <p:sp>
        <p:nvSpPr>
          <p:cNvPr id="17" name="R1_ra3"/>
          <p:cNvSpPr txBox="1"/>
          <p:nvPr/>
        </p:nvSpPr>
        <p:spPr>
          <a:xfrm>
            <a:off x="7191390" y="3610051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fruit</a:t>
            </a:r>
            <a:endParaRPr lang="en-US" sz="1050" dirty="0"/>
          </a:p>
        </p:txBody>
      </p:sp>
      <p:sp>
        <p:nvSpPr>
          <p:cNvPr id="18" name="box_154"/>
          <p:cNvSpPr txBox="1"/>
          <p:nvPr/>
        </p:nvSpPr>
        <p:spPr>
          <a:xfrm>
            <a:off x="4828032" y="4173322"/>
            <a:ext cx="2317638" cy="51755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Which dish would you change? Why?</a:t>
            </a:r>
            <a:endParaRPr lang="en-US" sz="1150" dirty="0"/>
          </a:p>
        </p:txBody>
      </p:sp>
      <p:sp>
        <p:nvSpPr>
          <p:cNvPr id="19" name="R1_ra4"/>
          <p:cNvSpPr txBox="1"/>
          <p:nvPr/>
        </p:nvSpPr>
        <p:spPr>
          <a:xfrm>
            <a:off x="7191390" y="4200754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answers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5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5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15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LISTENING · A famous recipe</a:t>
            </a:r>
            <a:endParaRPr lang="en-US" sz="1100" dirty="0"/>
          </a:p>
        </p:txBody>
      </p:sp>
      <p:sp>
        <p:nvSpPr>
          <p:cNvPr id="5" name="timer_15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7 min</a:t>
            </a:r>
            <a:endParaRPr lang="en-US" sz="1200" dirty="0"/>
          </a:p>
        </p:txBody>
      </p:sp>
      <p:sp>
        <p:nvSpPr>
          <p:cNvPr id="6" name="footer_15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L5</a:t>
            </a:r>
            <a:endParaRPr lang="en-US" sz="1000" dirty="0"/>
          </a:p>
        </p:txBody>
      </p:sp>
      <p:sp>
        <p:nvSpPr>
          <p:cNvPr id="7" name="title_160"/>
          <p:cNvSpPr txBox="1"/>
          <p:nvPr/>
        </p:nvSpPr>
        <p:spPr>
          <a:xfrm rot="-120000">
            <a:off x="320040" y="676656"/>
            <a:ext cx="484632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this an Italian sauce?</a:t>
            </a:r>
            <a:endParaRPr lang="en-US" sz="2000" dirty="0"/>
          </a:p>
        </p:txBody>
      </p:sp>
      <p:sp>
        <p:nvSpPr>
          <p:cNvPr id="8" name="post_161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9" name="signA_162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F59E0B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GUARDA!</a:t>
            </a:r>
            <a:endParaRPr lang="en-US" sz="1500" dirty="0"/>
          </a:p>
        </p:txBody>
      </p:sp>
      <p:sp>
        <p:nvSpPr>
          <p:cNvPr id="10" name="signB_163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Watch. Then judge the recipe!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Guarda. Poi giudica la ricetta!</a:t>
            </a:r>
            <a:endParaRPr lang="en-US" sz="1250" dirty="0"/>
          </a:p>
        </p:txBody>
      </p:sp>
      <p:sp>
        <p:nvSpPr>
          <p:cNvPr id="11" name="screen_164"/>
          <p:cNvSpPr/>
          <p:nvPr/>
        </p:nvSpPr>
        <p:spPr>
          <a:xfrm>
            <a:off x="2788920" y="137160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1F1630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2" name="play_165">
            <a:hlinkClick r:id="rId3" tooltip="3 Minute Tomato Pasta Sauce"/>
          </p:cNvPr>
          <p:cNvSpPr txBox="1"/>
          <p:nvPr/>
        </p:nvSpPr>
        <p:spPr>
          <a:xfrm>
            <a:off x="3749040" y="1874520"/>
            <a:ext cx="822960" cy="822960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3 Minute Tomato Pasta Sauc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2600" dirty="0"/>
          </a:p>
        </p:txBody>
      </p:sp>
      <p:sp>
        <p:nvSpPr>
          <p:cNvPr id="13" name="vt_166"/>
          <p:cNvSpPr txBox="1"/>
          <p:nvPr/>
        </p:nvSpPr>
        <p:spPr>
          <a:xfrm>
            <a:off x="2788920" y="3310128"/>
            <a:ext cx="2743200" cy="658368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 Minute Tomato Pasta Sauce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Jamie Oliver (YouTube) · short · click ▶ to open</a:t>
            </a:r>
            <a:endParaRPr lang="en-US" sz="1200" dirty="0"/>
          </a:p>
        </p:txBody>
      </p:sp>
      <p:sp>
        <p:nvSpPr>
          <p:cNvPr id="14" name="wyw_167"/>
          <p:cNvSpPr txBox="1"/>
          <p:nvPr/>
        </p:nvSpPr>
        <p:spPr>
          <a:xfrm>
            <a:off x="5669280" y="1371600"/>
            <a:ext cx="3154680" cy="347472"/>
          </a:xfrm>
          <a:prstGeom prst="rect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While you watch · Mentre guardi</a:t>
            </a:r>
            <a:endParaRPr lang="en-US" sz="1150" dirty="0"/>
          </a:p>
        </p:txBody>
      </p:sp>
      <p:sp>
        <p:nvSpPr>
          <p:cNvPr id="15" name="box_168"/>
          <p:cNvSpPr txBox="1"/>
          <p:nvPr/>
        </p:nvSpPr>
        <p:spPr>
          <a:xfrm>
            <a:off x="5669280" y="1810512"/>
            <a:ext cx="3154680" cy="713232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Which ingredients does he use?</a:t>
            </a:r>
            <a:endParaRPr lang="en-US" sz="1250" dirty="0"/>
          </a:p>
        </p:txBody>
      </p:sp>
      <p:sp>
        <p:nvSpPr>
          <p:cNvPr id="16" name="box_169"/>
          <p:cNvSpPr txBox="1"/>
          <p:nvPr/>
        </p:nvSpPr>
        <p:spPr>
          <a:xfrm>
            <a:off x="5669280" y="2615184"/>
            <a:ext cx="3154680" cy="713232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Which cooking verbs do you hear?</a:t>
            </a:r>
            <a:endParaRPr lang="en-US" sz="1250" dirty="0"/>
          </a:p>
        </p:txBody>
      </p:sp>
      <p:sp>
        <p:nvSpPr>
          <p:cNvPr id="17" name="box_170"/>
          <p:cNvSpPr txBox="1"/>
          <p:nvPr/>
        </p:nvSpPr>
        <p:spPr>
          <a:xfrm>
            <a:off x="5669280" y="3419856"/>
            <a:ext cx="3154680" cy="713232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Write the recipe in 5 steps with first, then, finally.</a:t>
            </a:r>
            <a:endParaRPr lang="en-US" sz="1250" dirty="0"/>
          </a:p>
        </p:txBody>
      </p:sp>
      <p:sp>
        <p:nvSpPr>
          <p:cNvPr id="18" name="bubble_171"/>
          <p:cNvSpPr txBox="1"/>
          <p:nvPr/>
        </p:nvSpPr>
        <p:spPr>
          <a:xfrm>
            <a:off x="2788920" y="4069080"/>
            <a:ext cx="2743200" cy="603504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Italian? What would YOU change? Convince me!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7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7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17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Your recipe</a:t>
            </a:r>
            <a:endParaRPr lang="en-US" sz="1100" dirty="0"/>
          </a:p>
        </p:txBody>
      </p:sp>
      <p:sp>
        <p:nvSpPr>
          <p:cNvPr id="5" name="timer_17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9 min</a:t>
            </a:r>
            <a:endParaRPr lang="en-US" sz="1200" dirty="0"/>
          </a:p>
        </p:txBody>
      </p:sp>
      <p:sp>
        <p:nvSpPr>
          <p:cNvPr id="6" name="footer_17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L5</a:t>
            </a:r>
            <a:endParaRPr lang="en-US" sz="1000" dirty="0"/>
          </a:p>
        </p:txBody>
      </p:sp>
      <p:sp>
        <p:nvSpPr>
          <p:cNvPr id="7" name="title_177"/>
          <p:cNvSpPr txBox="1"/>
          <p:nvPr/>
        </p:nvSpPr>
        <p:spPr>
          <a:xfrm rot="-120000">
            <a:off x="320040" y="676656"/>
            <a:ext cx="380390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signature dish</a:t>
            </a:r>
            <a:endParaRPr lang="en-US" sz="2000" dirty="0"/>
          </a:p>
        </p:txBody>
      </p:sp>
      <p:sp>
        <p:nvSpPr>
          <p:cNvPr id="8" name="post_17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9" name="signA_17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0" name="signB_18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recipe. Then teach it to your partner!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Scrivi la tua ricetta. Poi insegnala al collega!</a:t>
            </a:r>
            <a:endParaRPr lang="en-US" sz="1250" dirty="0"/>
          </a:p>
        </p:txBody>
      </p:sp>
      <p:sp>
        <p:nvSpPr>
          <p:cNvPr id="11" name="iconBack_181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2" name="icon_182" descr="pla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3" name="num_183"/>
          <p:cNvSpPr txBox="1"/>
          <p:nvPr/>
        </p:nvSpPr>
        <p:spPr>
          <a:xfrm>
            <a:off x="2788920" y="1490472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box_184"/>
          <p:cNvSpPr txBox="1"/>
          <p:nvPr/>
        </p:nvSpPr>
        <p:spPr>
          <a:xfrm>
            <a:off x="3264408" y="1371600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the dish + ingredients with quantities.</a:t>
            </a:r>
            <a:endParaRPr lang="en-US" sz="1300" dirty="0"/>
          </a:p>
        </p:txBody>
      </p:sp>
      <p:sp>
        <p:nvSpPr>
          <p:cNvPr id="15" name="num_185"/>
          <p:cNvSpPr txBox="1"/>
          <p:nvPr/>
        </p:nvSpPr>
        <p:spPr>
          <a:xfrm>
            <a:off x="2788920" y="2203704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box_186"/>
          <p:cNvSpPr txBox="1"/>
          <p:nvPr/>
        </p:nvSpPr>
        <p:spPr>
          <a:xfrm>
            <a:off x="3264408" y="2084832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5–6 steps: First,… Then,… After that,… Finally, serve with…</a:t>
            </a:r>
            <a:endParaRPr lang="en-US" sz="1300" dirty="0"/>
          </a:p>
        </p:txBody>
      </p:sp>
      <p:sp>
        <p:nvSpPr>
          <p:cNvPr id="17" name="num_187"/>
          <p:cNvSpPr txBox="1"/>
          <p:nvPr/>
        </p:nvSpPr>
        <p:spPr>
          <a:xfrm>
            <a:off x="2788920" y="291693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box_188"/>
          <p:cNvSpPr txBox="1"/>
          <p:nvPr/>
        </p:nvSpPr>
        <p:spPr>
          <a:xfrm>
            <a:off x="3264408" y="2798064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it to your partner. RULE: no Italian words except the name of the dish!</a:t>
            </a:r>
            <a:endParaRPr lang="en-US" sz="1300" dirty="0"/>
          </a:p>
        </p:txBody>
      </p:sp>
      <p:sp>
        <p:nvSpPr>
          <p:cNvPr id="19" name="num_189"/>
          <p:cNvSpPr txBox="1"/>
          <p:nvPr/>
        </p:nvSpPr>
        <p:spPr>
          <a:xfrm>
            <a:off x="2788920" y="3630168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box_190"/>
          <p:cNvSpPr txBox="1"/>
          <p:nvPr/>
        </p:nvSpPr>
        <p:spPr>
          <a:xfrm>
            <a:off x="3264408" y="3511296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partner asks: How long…? What temperature? Until when?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9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92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footer_19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L5</a:t>
            </a:r>
            <a:endParaRPr lang="en-US" sz="1000" dirty="0"/>
          </a:p>
        </p:txBody>
      </p:sp>
      <p:sp>
        <p:nvSpPr>
          <p:cNvPr id="5" name="title_194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what you can do!</a:t>
            </a:r>
            <a:endParaRPr lang="en-US" sz="2000" dirty="0"/>
          </a:p>
        </p:txBody>
      </p:sp>
      <p:sp>
        <p:nvSpPr>
          <p:cNvPr id="6" name="sub_195"/>
          <p:cNvSpPr txBox="1"/>
          <p:nvPr/>
        </p:nvSpPr>
        <p:spPr>
          <a:xfrm>
            <a:off x="365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cosa sai fare adesso!</a:t>
            </a:r>
            <a:endParaRPr lang="en-US" sz="1200" dirty="0"/>
          </a:p>
        </p:txBody>
      </p:sp>
      <p:sp>
        <p:nvSpPr>
          <p:cNvPr id="7" name="box_196"/>
          <p:cNvSpPr txBox="1"/>
          <p:nvPr/>
        </p:nvSpPr>
        <p:spPr>
          <a:xfrm>
            <a:off x="365760" y="1600200"/>
            <a:ext cx="4846320" cy="54864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name cooking methods.</a:t>
            </a:r>
            <a:endParaRPr lang="en-US" sz="1350" dirty="0"/>
          </a:p>
        </p:txBody>
      </p:sp>
      <p:sp>
        <p:nvSpPr>
          <p:cNvPr id="8" name="faces_197"/>
          <p:cNvSpPr txBox="1"/>
          <p:nvPr/>
        </p:nvSpPr>
        <p:spPr>
          <a:xfrm>
            <a:off x="5230368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9" name="box_198"/>
          <p:cNvSpPr txBox="1"/>
          <p:nvPr/>
        </p:nvSpPr>
        <p:spPr>
          <a:xfrm>
            <a:off x="365760" y="2240280"/>
            <a:ext cx="4846320" cy="54864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follow a simple recipe in English.</a:t>
            </a:r>
            <a:endParaRPr lang="en-US" sz="1350" dirty="0"/>
          </a:p>
        </p:txBody>
      </p:sp>
      <p:sp>
        <p:nvSpPr>
          <p:cNvPr id="10" name="faces_199"/>
          <p:cNvSpPr txBox="1"/>
          <p:nvPr/>
        </p:nvSpPr>
        <p:spPr>
          <a:xfrm>
            <a:off x="5230368" y="2240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1" name="box_200"/>
          <p:cNvSpPr txBox="1"/>
          <p:nvPr/>
        </p:nvSpPr>
        <p:spPr>
          <a:xfrm>
            <a:off x="365760" y="2880360"/>
            <a:ext cx="4846320" cy="54864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explain my recipe step by step.</a:t>
            </a:r>
            <a:endParaRPr lang="en-US" sz="1350" dirty="0"/>
          </a:p>
        </p:txBody>
      </p:sp>
      <p:sp>
        <p:nvSpPr>
          <p:cNvPr id="12" name="faces_201"/>
          <p:cNvSpPr txBox="1"/>
          <p:nvPr/>
        </p:nvSpPr>
        <p:spPr>
          <a:xfrm>
            <a:off x="5230368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3" name="hw_202"/>
          <p:cNvSpPr txBox="1"/>
          <p:nvPr/>
        </p:nvSpPr>
        <p:spPr>
          <a:xfrm rot="90000">
            <a:off x="6446520" y="1325880"/>
            <a:ext cx="2377440" cy="2651760"/>
          </a:xfrm>
          <a:prstGeom prst="rect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· COMPITI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recipe of one dish from your menu in English (6–8 steps).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teacher can attach the homework sheet in the portal.</a:t>
            </a:r>
            <a:endParaRPr lang="en-US" sz="1250" dirty="0"/>
          </a:p>
        </p:txBody>
      </p:sp>
      <p:sp>
        <p:nvSpPr>
          <p:cNvPr id="14" name="stamp_203"/>
          <p:cNvSpPr txBox="1"/>
          <p:nvPr/>
        </p:nvSpPr>
        <p:spPr>
          <a:xfrm>
            <a:off x="365760" y="3657600"/>
            <a:ext cx="44805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L6 · Numbers, quantities &amp; time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204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205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206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SPEAKING · Best and worst</a:t>
            </a:r>
            <a:endParaRPr lang="en-US" sz="1100" dirty="0"/>
          </a:p>
        </p:txBody>
      </p:sp>
      <p:sp>
        <p:nvSpPr>
          <p:cNvPr id="5" name="timer_207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6" name="extra_208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7" name="footer_20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L5</a:t>
            </a:r>
            <a:endParaRPr lang="en-US" sz="1000" dirty="0"/>
          </a:p>
        </p:txBody>
      </p:sp>
      <p:sp>
        <p:nvSpPr>
          <p:cNvPr id="8" name="title_210"/>
          <p:cNvSpPr txBox="1"/>
          <p:nvPr/>
        </p:nvSpPr>
        <p:spPr>
          <a:xfrm rot="-120000">
            <a:off x="320040" y="676656"/>
            <a:ext cx="588873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best way… and the WORST way</a:t>
            </a:r>
            <a:endParaRPr lang="en-US" sz="2000" dirty="0"/>
          </a:p>
        </p:txBody>
      </p:sp>
      <p:sp>
        <p:nvSpPr>
          <p:cNvPr id="9" name="post_211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12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1" name="signB_213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best way to cook it. Then the worst way!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modo migliore per cucinarlo. Poi il peggiore!</a:t>
            </a:r>
            <a:endParaRPr lang="en-US" sz="1250" dirty="0"/>
          </a:p>
        </p:txBody>
      </p:sp>
      <p:sp>
        <p:nvSpPr>
          <p:cNvPr id="12" name="box_214"/>
          <p:cNvSpPr txBox="1"/>
          <p:nvPr/>
        </p:nvSpPr>
        <p:spPr>
          <a:xfrm>
            <a:off x="2788920" y="1371600"/>
            <a:ext cx="2953512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a potato</a:t>
            </a:r>
            <a:endParaRPr lang="en-US" sz="1400" dirty="0"/>
          </a:p>
        </p:txBody>
      </p:sp>
      <p:sp>
        <p:nvSpPr>
          <p:cNvPr id="13" name="box_215"/>
          <p:cNvSpPr txBox="1"/>
          <p:nvPr/>
        </p:nvSpPr>
        <p:spPr>
          <a:xfrm>
            <a:off x="5870448" y="1371600"/>
            <a:ext cx="2953512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an egg</a:t>
            </a:r>
            <a:endParaRPr lang="en-US" sz="1400" dirty="0"/>
          </a:p>
        </p:txBody>
      </p:sp>
      <p:sp>
        <p:nvSpPr>
          <p:cNvPr id="14" name="box_216"/>
          <p:cNvSpPr txBox="1"/>
          <p:nvPr/>
        </p:nvSpPr>
        <p:spPr>
          <a:xfrm>
            <a:off x="2788920" y="2368296"/>
            <a:ext cx="2953512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 sea bass</a:t>
            </a:r>
            <a:endParaRPr lang="en-US" sz="1400" dirty="0"/>
          </a:p>
        </p:txBody>
      </p:sp>
      <p:sp>
        <p:nvSpPr>
          <p:cNvPr id="15" name="box_217"/>
          <p:cNvSpPr txBox="1"/>
          <p:nvPr/>
        </p:nvSpPr>
        <p:spPr>
          <a:xfrm>
            <a:off x="5870448" y="2368296"/>
            <a:ext cx="2953512" cy="8686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 steak</a:t>
            </a:r>
            <a:endParaRPr lang="en-US" sz="1400" dirty="0"/>
          </a:p>
        </p:txBody>
      </p:sp>
      <p:sp>
        <p:nvSpPr>
          <p:cNvPr id="16" name="box_218"/>
          <p:cNvSpPr txBox="1"/>
          <p:nvPr/>
        </p:nvSpPr>
        <p:spPr>
          <a:xfrm>
            <a:off x="2788920" y="3364992"/>
            <a:ext cx="2953512" cy="86868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an aubergine</a:t>
            </a:r>
            <a:endParaRPr lang="en-US" sz="1400" dirty="0"/>
          </a:p>
        </p:txBody>
      </p:sp>
      <p:sp>
        <p:nvSpPr>
          <p:cNvPr id="17" name="box_219"/>
          <p:cNvSpPr txBox="1"/>
          <p:nvPr/>
        </p:nvSpPr>
        <p:spPr>
          <a:xfrm>
            <a:off x="5870448" y="3364992"/>
            <a:ext cx="2953512" cy="86868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a cake</a:t>
            </a:r>
            <a:endParaRPr lang="en-US" sz="1400" dirty="0"/>
          </a:p>
        </p:txBody>
      </p:sp>
      <p:sp>
        <p:nvSpPr>
          <p:cNvPr id="18" name="sticky_220"/>
          <p:cNvSpPr txBox="1"/>
          <p:nvPr/>
        </p:nvSpPr>
        <p:spPr>
          <a:xfrm rot="-120000">
            <a:off x="411480" y="3931920"/>
            <a:ext cx="2286000" cy="77724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way to cook a steak is to grill it. The worst way is to boil it!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22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222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223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Writing · fun</a:t>
            </a:r>
            <a:endParaRPr lang="en-US" sz="1100" dirty="0"/>
          </a:p>
        </p:txBody>
      </p:sp>
      <p:sp>
        <p:nvSpPr>
          <p:cNvPr id="5" name="timer_224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6" name="extra_225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7" name="footer_22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L5</a:t>
            </a:r>
            <a:endParaRPr lang="en-US" sz="1000" dirty="0"/>
          </a:p>
        </p:txBody>
      </p:sp>
      <p:sp>
        <p:nvSpPr>
          <p:cNvPr id="8" name="title_227"/>
          <p:cNvSpPr txBox="1"/>
          <p:nvPr/>
        </p:nvSpPr>
        <p:spPr>
          <a:xfrm rot="-120000">
            <a:off x="320040" y="676656"/>
            <a:ext cx="380390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disaster recipe</a:t>
            </a:r>
            <a:endParaRPr lang="en-US" sz="2000" dirty="0"/>
          </a:p>
        </p:txBody>
      </p:sp>
      <p:sp>
        <p:nvSpPr>
          <p:cNvPr id="9" name="post_22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2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1" name="signB_23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WORST recipe in the world. Your partner fixes it!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Scrivi la ricetta PEGGIORE. Il collega la corregge!</a:t>
            </a:r>
            <a:endParaRPr lang="en-US" sz="1250" dirty="0"/>
          </a:p>
        </p:txBody>
      </p:sp>
      <p:sp>
        <p:nvSpPr>
          <p:cNvPr id="12" name="iconBack_231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232" descr="warn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num_233"/>
          <p:cNvSpPr txBox="1"/>
          <p:nvPr/>
        </p:nvSpPr>
        <p:spPr>
          <a:xfrm>
            <a:off x="2788920" y="1490472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box_234"/>
          <p:cNvSpPr txBox="1"/>
          <p:nvPr/>
        </p:nvSpPr>
        <p:spPr>
          <a:xfrm>
            <a:off x="3264408" y="1371600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famous dish: carbonara, pizza margherita, arancine…</a:t>
            </a:r>
            <a:endParaRPr lang="en-US" sz="1300" dirty="0"/>
          </a:p>
        </p:txBody>
      </p:sp>
      <p:sp>
        <p:nvSpPr>
          <p:cNvPr id="16" name="num_235"/>
          <p:cNvSpPr txBox="1"/>
          <p:nvPr/>
        </p:nvSpPr>
        <p:spPr>
          <a:xfrm>
            <a:off x="2788920" y="2203704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box_236"/>
          <p:cNvSpPr txBox="1"/>
          <p:nvPr/>
        </p:nvSpPr>
        <p:spPr>
          <a:xfrm>
            <a:off x="3264408" y="2084832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5 terrible steps: First, boil the pizza for 2 hours…</a:t>
            </a:r>
            <a:endParaRPr lang="en-US" sz="1300" dirty="0"/>
          </a:p>
        </p:txBody>
      </p:sp>
      <p:sp>
        <p:nvSpPr>
          <p:cNvPr id="18" name="num_237"/>
          <p:cNvSpPr txBox="1"/>
          <p:nvPr/>
        </p:nvSpPr>
        <p:spPr>
          <a:xfrm>
            <a:off x="2788920" y="291693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box_238"/>
          <p:cNvSpPr txBox="1"/>
          <p:nvPr/>
        </p:nvSpPr>
        <p:spPr>
          <a:xfrm>
            <a:off x="3264408" y="2798064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Swap. Your partner corrects it: Don't boil it! Bake it at 250°C for…</a:t>
            </a:r>
            <a:endParaRPr lang="en-US" sz="1300" dirty="0"/>
          </a:p>
        </p:txBody>
      </p:sp>
      <p:sp>
        <p:nvSpPr>
          <p:cNvPr id="20" name="num_239"/>
          <p:cNvSpPr txBox="1"/>
          <p:nvPr/>
        </p:nvSpPr>
        <p:spPr>
          <a:xfrm>
            <a:off x="2788920" y="3630168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box_240"/>
          <p:cNvSpPr txBox="1"/>
          <p:nvPr/>
        </p:nvSpPr>
        <p:spPr>
          <a:xfrm>
            <a:off x="3264408" y="3511296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best 'disaster' aloud.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London Language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Kitchen English L5 Cooking methods</dc:title>
  <dc:subject>PptxGenJS Presentation</dc:subject>
  <dc:creator>London Language School</dc:creator>
  <cp:lastModifiedBy>London Language School</cp:lastModifiedBy>
  <cp:revision>1</cp:revision>
  <dcterms:created xsi:type="dcterms:W3CDTF">2026-10-05T06:50:56Z</dcterms:created>
  <dcterms:modified xsi:type="dcterms:W3CDTF">2026-10-05T06:50:56Z</dcterms:modified>
</cp:coreProperties>
</file>