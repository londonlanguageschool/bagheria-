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1 (60 min). Aims: kitchen jobs, the verb be (+ – ?), introductions, first kitchen calls. First lesson of the course, so no revision slide. Click 1: question. Let them answer before click 2. Ask: Who is the boss? Is he/she strict? (2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(7 min). VARIATION: spot the lie + curiosity gap — they need questions to find the lie. Teacher models first with 3 sentences about yourself. Listen for be errors (I have 30 years / he is chef) and keep them for the 'Spot the error'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(8 min). Pairs match using the word bank (bottom left), then click 1 for all answers with Italian. Drill pronunciation: sous /suː/ chef, commis /ˈkɒmi/, de partie /də pɑːˈtiː/. Ask: Who has these jobs in YOUR kitchen?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(5 min). VARIATION: ranking + forbidden easy answer. After 1 minute, click 1: they cannot say 'difficult' any more. Pre-teach: stressful, tiring, boring, hard work, well paid, badly paid. Follow-up: Who disagrees? Convince me!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 (6 min). Elicit from the warm-up sentences. Italian learners: avere for age, no article before jobs, word order in questions. Students copy the Watch out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SPOT THE ERROR (5 min). VARIATION: student as teacher. Pairs correct, click 1 for answers. Then each chef writes ONE wrong sentence about the team for the partner to correct.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ROLE-PLAY (12 min). 1) Read once. 2) Swap roles, book closed, real names and real kitchens. 3) Change the rule: B must ask ONE extra follow-up question (Really? How long…? Is it hot on the grill?). VARIATION: perspective change (new person vs boss) + unexpected follow-ups.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LEXICON (6 min). VARIATION: change the energy — get them standing. Teacher mimes (carry a hot pan, walk behind them with a 'knife' = a pen, come round a corner); students shout the call. Then swap: they mime, the teacher shouts. Click 1 shows the Italian. We use these calls in every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(3 min). Students choose a face for each can-do. Homework: the L1 homework sheet (attach it in the portal).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GAME (8 min) if there is time, or next lesson as a filler. Practises be questions and short answers.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EXTRA (8 min). VARIATION: constraint challenge (only Wh- questions). Teacher chooses a famous chef (e.g. Gordon Ramsay, Massimo Bottura) — students guess who at the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sp>
        <p:nvSpPr>
          <p:cNvPr id="3" name="logoBack_2"/>
          <p:cNvSpPr/>
          <p:nvPr/>
        </p:nvSpPr>
        <p:spPr>
          <a:xfrm>
            <a:off x="8229600" y="155448"/>
            <a:ext cx="676656" cy="67665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C9B3F0"/>
            </a:solidFill>
            <a:prstDash val="solid"/>
          </a:ln>
        </p:spPr>
      </p:sp>
      <p:pic>
        <p:nvPicPr>
          <p:cNvPr id="4" name="logo_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5" name="footer_4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20403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6" name="unit_5"/>
          <p:cNvSpPr txBox="1"/>
          <p:nvPr/>
        </p:nvSpPr>
        <p:spPr>
          <a:xfrm>
            <a:off x="411480" y="32004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</a:t>
            </a:r>
            <a:endParaRPr lang="en-US" sz="5400" dirty="0"/>
          </a:p>
        </p:txBody>
      </p:sp>
      <p:sp>
        <p:nvSpPr>
          <p:cNvPr id="7" name="course_6"/>
          <p:cNvSpPr txBox="1"/>
          <p:nvPr/>
        </p:nvSpPr>
        <p:spPr>
          <a:xfrm>
            <a:off x="1828800" y="5669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9E2F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KITCHEN ENGLISH · Lesson 1 of 10</a:t>
            </a:r>
            <a:endParaRPr lang="en-US" sz="1200" dirty="0"/>
          </a:p>
        </p:txBody>
      </p:sp>
      <p:sp>
        <p:nvSpPr>
          <p:cNvPr id="8" name="title_7"/>
          <p:cNvSpPr txBox="1"/>
          <p:nvPr/>
        </p:nvSpPr>
        <p:spPr>
          <a:xfrm rot="-180000">
            <a:off x="411480" y="1325880"/>
            <a:ext cx="5120640" cy="777240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52400" tIns="152400" rIns="152400" bIns="15240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WELCOME TO THE KITCHEN</a:t>
            </a:r>
            <a:endParaRPr lang="en-US" sz="2200" dirty="0"/>
          </a:p>
        </p:txBody>
      </p:sp>
      <p:sp>
        <p:nvSpPr>
          <p:cNvPr id="9" name="stamp_8"/>
          <p:cNvSpPr txBox="1"/>
          <p:nvPr/>
        </p:nvSpPr>
        <p:spPr>
          <a:xfrm>
            <a:off x="457200" y="2468880"/>
            <a:ext cx="3332988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48BDF2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the kitchen team</a:t>
            </a:r>
            <a:endParaRPr lang="en-US" sz="1200" dirty="0"/>
          </a:p>
        </p:txBody>
      </p:sp>
      <p:sp>
        <p:nvSpPr>
          <p:cNvPr id="10" name="stamp_9"/>
          <p:cNvSpPr txBox="1"/>
          <p:nvPr/>
        </p:nvSpPr>
        <p:spPr>
          <a:xfrm>
            <a:off x="457200" y="2944368"/>
            <a:ext cx="3717036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 verb be + questions</a:t>
            </a:r>
            <a:endParaRPr lang="en-US" sz="1200" dirty="0"/>
          </a:p>
        </p:txBody>
      </p:sp>
      <p:sp>
        <p:nvSpPr>
          <p:cNvPr id="11" name="stamp_10"/>
          <p:cNvSpPr txBox="1"/>
          <p:nvPr/>
        </p:nvSpPr>
        <p:spPr>
          <a:xfrm>
            <a:off x="457200" y="3419856"/>
            <a:ext cx="2948940" cy="384048"/>
          </a:xfrm>
          <a:prstGeom prst="roundRect">
            <a:avLst>
              <a:gd name="adj" fmla="val 14286"/>
            </a:avLst>
          </a:prstGeom>
          <a:solidFill>
            <a:srgbClr val="204034"/>
          </a:solidFill>
          <a:ln w="38100">
            <a:solidFill>
              <a:srgbClr val="EF2F2F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your first day</a:t>
            </a:r>
            <a:endParaRPr lang="en-US" sz="1200" dirty="0"/>
          </a:p>
        </p:txBody>
      </p:sp>
      <p:sp>
        <p:nvSpPr>
          <p:cNvPr id="12" name="iconBack_11"/>
          <p:cNvSpPr/>
          <p:nvPr/>
        </p:nvSpPr>
        <p:spPr>
          <a:xfrm>
            <a:off x="5669280" y="685800"/>
            <a:ext cx="1737360" cy="1737360"/>
          </a:xfrm>
          <a:prstGeom prst="ellipse">
            <a:avLst/>
          </a:prstGeom>
          <a:solidFill>
            <a:srgbClr val="FFD84D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2" descr="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1033272"/>
            <a:ext cx="1042416" cy="1042416"/>
          </a:xfrm>
          <a:prstGeom prst="rect">
            <a:avLst/>
          </a:prstGeom>
        </p:spPr>
      </p:pic>
      <p:sp>
        <p:nvSpPr>
          <p:cNvPr id="14" name="iconBack_13"/>
          <p:cNvSpPr/>
          <p:nvPr/>
        </p:nvSpPr>
        <p:spPr>
          <a:xfrm>
            <a:off x="7315200" y="1508760"/>
            <a:ext cx="1097280" cy="10972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5" name="icon_14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4656" y="1728216"/>
            <a:ext cx="658368" cy="658368"/>
          </a:xfrm>
          <a:prstGeom prst="rect">
            <a:avLst/>
          </a:prstGeom>
        </p:spPr>
      </p:pic>
      <p:sp>
        <p:nvSpPr>
          <p:cNvPr id="16" name="iconBack_15"/>
          <p:cNvSpPr/>
          <p:nvPr/>
        </p:nvSpPr>
        <p:spPr>
          <a:xfrm>
            <a:off x="5486400" y="2514600"/>
            <a:ext cx="960120" cy="960120"/>
          </a:xfrm>
          <a:prstGeom prst="ellipse">
            <a:avLst/>
          </a:prstGeom>
          <a:solidFill>
            <a:srgbClr val="C9B3F0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7" name="icon_16" descr="knif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24" y="2706624"/>
            <a:ext cx="576072" cy="576072"/>
          </a:xfrm>
          <a:prstGeom prst="rect">
            <a:avLst/>
          </a:prstGeom>
        </p:spPr>
      </p:pic>
      <p:sp>
        <p:nvSpPr>
          <p:cNvPr id="18" name="R1_q"/>
          <p:cNvSpPr txBox="1"/>
          <p:nvPr/>
        </p:nvSpPr>
        <p:spPr>
          <a:xfrm>
            <a:off x="5120640" y="3337560"/>
            <a:ext cx="2377440" cy="777240"/>
          </a:xfrm>
          <a:prstGeom prst="wedgeRoundRectCallout">
            <a:avLst/>
          </a:prstGeom>
          <a:solidFill>
            <a:srgbClr val="48BDF2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 boss in your kitchen?</a:t>
            </a:r>
            <a:endParaRPr lang="en-US" sz="1400" dirty="0"/>
          </a:p>
        </p:txBody>
      </p:sp>
      <p:sp>
        <p:nvSpPr>
          <p:cNvPr id="19" name="R2_a"/>
          <p:cNvSpPr txBox="1"/>
          <p:nvPr/>
        </p:nvSpPr>
        <p:spPr>
          <a:xfrm>
            <a:off x="6629400" y="4069080"/>
            <a:ext cx="2148840" cy="594360"/>
          </a:xfrm>
          <a:prstGeom prst="wedgeRoundRectCallou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head chef is…</a:t>
            </a:r>
            <a:endParaRPr lang="en-US" sz="1300" dirty="0"/>
          </a:p>
        </p:txBody>
      </p:sp>
      <p:sp>
        <p:nvSpPr>
          <p:cNvPr id="20" name="tnote_17"/>
          <p:cNvSpPr txBox="1"/>
          <p:nvPr/>
        </p:nvSpPr>
        <p:spPr>
          <a:xfrm>
            <a:off x="411480" y="477316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9E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Teacher: timings, answers and tips are in the slide notes.</a:t>
            </a:r>
            <a:endParaRPr lang="en-US" sz="10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Warm-up</a:t>
            </a:r>
            <a:endParaRPr lang="en-US" sz="1100" dirty="0"/>
          </a:p>
        </p:txBody>
      </p:sp>
      <p:sp>
        <p:nvSpPr>
          <p:cNvPr id="5" name="timer_2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7 min</a:t>
            </a:r>
            <a:endParaRPr lang="en-US" sz="1200" dirty="0"/>
          </a:p>
        </p:txBody>
      </p:sp>
      <p:sp>
        <p:nvSpPr>
          <p:cNvPr id="6" name="footer_2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23"/>
          <p:cNvSpPr txBox="1"/>
          <p:nvPr/>
        </p:nvSpPr>
        <p:spPr>
          <a:xfrm rot="-120000">
            <a:off x="320040" y="676656"/>
            <a:ext cx="397764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Two truths and a lie</a:t>
            </a:r>
            <a:endParaRPr lang="en-US" sz="2000" dirty="0"/>
          </a:p>
        </p:txBody>
      </p:sp>
      <p:sp>
        <p:nvSpPr>
          <p:cNvPr id="8" name="post_2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2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2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3 things about you. One is a lie!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Di' 3 cose su di te. Una è una bugia!</a:t>
            </a:r>
            <a:endParaRPr lang="en-US" sz="1250" dirty="0"/>
          </a:p>
        </p:txBody>
      </p:sp>
      <p:sp>
        <p:nvSpPr>
          <p:cNvPr id="11" name="iconBack_27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2" name="icon_28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3" name="num_29"/>
          <p:cNvSpPr txBox="1"/>
          <p:nvPr/>
        </p:nvSpPr>
        <p:spPr>
          <a:xfrm>
            <a:off x="2788920" y="1482471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4" name="box_30"/>
          <p:cNvSpPr txBox="1"/>
          <p:nvPr/>
        </p:nvSpPr>
        <p:spPr>
          <a:xfrm>
            <a:off x="3264408" y="137160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3 short sentences about you and your job. Two are true. One is a lie.</a:t>
            </a:r>
            <a:endParaRPr lang="en-US" sz="1300" dirty="0"/>
          </a:p>
        </p:txBody>
      </p:sp>
      <p:sp>
        <p:nvSpPr>
          <p:cNvPr id="15" name="num_31"/>
          <p:cNvSpPr txBox="1"/>
          <p:nvPr/>
        </p:nvSpPr>
        <p:spPr>
          <a:xfrm>
            <a:off x="2788920" y="2179701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box_32"/>
          <p:cNvSpPr txBox="1"/>
          <p:nvPr/>
        </p:nvSpPr>
        <p:spPr>
          <a:xfrm>
            <a:off x="3264408" y="206883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them to your partner.</a:t>
            </a:r>
            <a:endParaRPr lang="en-US" sz="1300" dirty="0"/>
          </a:p>
        </p:txBody>
      </p:sp>
      <p:sp>
        <p:nvSpPr>
          <p:cNvPr id="17" name="num_33"/>
          <p:cNvSpPr txBox="1"/>
          <p:nvPr/>
        </p:nvSpPr>
        <p:spPr>
          <a:xfrm>
            <a:off x="2788920" y="2876931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box_34"/>
          <p:cNvSpPr txBox="1"/>
          <p:nvPr/>
        </p:nvSpPr>
        <p:spPr>
          <a:xfrm>
            <a:off x="3264408" y="276606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2 questions: Are you really…? Where is…? Is it…?</a:t>
            </a:r>
            <a:endParaRPr lang="en-US" sz="1300" dirty="0"/>
          </a:p>
        </p:txBody>
      </p:sp>
      <p:sp>
        <p:nvSpPr>
          <p:cNvPr id="19" name="num_35"/>
          <p:cNvSpPr txBox="1"/>
          <p:nvPr/>
        </p:nvSpPr>
        <p:spPr>
          <a:xfrm>
            <a:off x="2788920" y="3574161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box_36"/>
          <p:cNvSpPr txBox="1"/>
          <p:nvPr/>
        </p:nvSpPr>
        <p:spPr>
          <a:xfrm>
            <a:off x="3264408" y="3463290"/>
            <a:ext cx="5559552" cy="605790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the lie! Then swap.</a:t>
            </a:r>
            <a:endParaRPr lang="en-US" sz="1300" dirty="0"/>
          </a:p>
        </p:txBody>
      </p:sp>
      <p:sp>
        <p:nvSpPr>
          <p:cNvPr id="21" name="bubble_37"/>
          <p:cNvSpPr txBox="1"/>
          <p:nvPr/>
        </p:nvSpPr>
        <p:spPr>
          <a:xfrm>
            <a:off x="3246120" y="4160520"/>
            <a:ext cx="5577840" cy="502920"/>
          </a:xfrm>
          <a:prstGeom prst="round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 Palermo. · I'm a pastry chef. · My restaurant is open on Mondays.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38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39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40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VOCABULARY · The kitchen team</a:t>
            </a:r>
            <a:endParaRPr lang="en-US" sz="1100" dirty="0"/>
          </a:p>
        </p:txBody>
      </p:sp>
      <p:sp>
        <p:nvSpPr>
          <p:cNvPr id="5" name="timer_41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footer_4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43"/>
          <p:cNvSpPr txBox="1"/>
          <p:nvPr/>
        </p:nvSpPr>
        <p:spPr>
          <a:xfrm rot="-120000">
            <a:off x="320040" y="676656"/>
            <a:ext cx="4846320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Who's who in the kitchen?</a:t>
            </a:r>
            <a:endParaRPr lang="en-US" sz="2000" dirty="0"/>
          </a:p>
        </p:txBody>
      </p:sp>
      <p:sp>
        <p:nvSpPr>
          <p:cNvPr id="8" name="post_44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45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0" name="signB_46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jobs to the descriptions.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Abbina i lavori alle descrizioni.</a:t>
            </a:r>
            <a:endParaRPr lang="en-US" sz="1250" dirty="0"/>
          </a:p>
        </p:txBody>
      </p:sp>
      <p:sp>
        <p:nvSpPr>
          <p:cNvPr id="11" name="iconBack_47"/>
          <p:cNvSpPr/>
          <p:nvPr/>
        </p:nvSpPr>
        <p:spPr>
          <a:xfrm>
            <a:off x="2788920" y="1371600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2" name="icon_48" descr="toq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955" y="1453635"/>
            <a:ext cx="246104" cy="246104"/>
          </a:xfrm>
          <a:prstGeom prst="rect">
            <a:avLst/>
          </a:prstGeom>
        </p:spPr>
      </p:pic>
      <p:sp>
        <p:nvSpPr>
          <p:cNvPr id="13" name="box_49"/>
          <p:cNvSpPr txBox="1"/>
          <p:nvPr/>
        </p:nvSpPr>
        <p:spPr>
          <a:xfrm>
            <a:off x="3253958" y="1371600"/>
            <a:ext cx="291458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the boss – he / she writes the menu</a:t>
            </a:r>
            <a:endParaRPr lang="en-US" sz="1250" dirty="0"/>
          </a:p>
        </p:txBody>
      </p:sp>
      <p:sp>
        <p:nvSpPr>
          <p:cNvPr id="14" name="R1_m0"/>
          <p:cNvSpPr txBox="1"/>
          <p:nvPr/>
        </p:nvSpPr>
        <p:spPr>
          <a:xfrm>
            <a:off x="6241694" y="1389888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chef – capo chef</a:t>
            </a:r>
            <a:endParaRPr lang="en-US" sz="1150" dirty="0"/>
          </a:p>
        </p:txBody>
      </p:sp>
      <p:sp>
        <p:nvSpPr>
          <p:cNvPr id="15" name="iconBack_50"/>
          <p:cNvSpPr/>
          <p:nvPr/>
        </p:nvSpPr>
        <p:spPr>
          <a:xfrm>
            <a:off x="2788920" y="1854926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16" name="icon_51" descr="clipboar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955" y="1936960"/>
            <a:ext cx="246104" cy="246104"/>
          </a:xfrm>
          <a:prstGeom prst="rect">
            <a:avLst/>
          </a:prstGeom>
        </p:spPr>
      </p:pic>
      <p:sp>
        <p:nvSpPr>
          <p:cNvPr id="17" name="box_52"/>
          <p:cNvSpPr txBox="1"/>
          <p:nvPr/>
        </p:nvSpPr>
        <p:spPr>
          <a:xfrm>
            <a:off x="3253958" y="1854926"/>
            <a:ext cx="2914585" cy="410174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the second in charge – helps the boss</a:t>
            </a:r>
            <a:endParaRPr lang="en-US" sz="1250" dirty="0"/>
          </a:p>
        </p:txBody>
      </p:sp>
      <p:sp>
        <p:nvSpPr>
          <p:cNvPr id="18" name="R1_m1"/>
          <p:cNvSpPr txBox="1"/>
          <p:nvPr/>
        </p:nvSpPr>
        <p:spPr>
          <a:xfrm>
            <a:off x="6241694" y="1873214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chef – vice capo</a:t>
            </a:r>
            <a:endParaRPr lang="en-US" sz="1150" dirty="0"/>
          </a:p>
        </p:txBody>
      </p:sp>
      <p:sp>
        <p:nvSpPr>
          <p:cNvPr id="19" name="iconBack_53"/>
          <p:cNvSpPr/>
          <p:nvPr/>
        </p:nvSpPr>
        <p:spPr>
          <a:xfrm>
            <a:off x="2788920" y="2338251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0" name="icon_54" descr="po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955" y="2420286"/>
            <a:ext cx="246104" cy="246104"/>
          </a:xfrm>
          <a:prstGeom prst="rect">
            <a:avLst/>
          </a:prstGeom>
        </p:spPr>
      </p:pic>
      <p:sp>
        <p:nvSpPr>
          <p:cNvPr id="21" name="box_55"/>
          <p:cNvSpPr txBox="1"/>
          <p:nvPr/>
        </p:nvSpPr>
        <p:spPr>
          <a:xfrm>
            <a:off x="3253958" y="2338251"/>
            <a:ext cx="2914585" cy="410174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responsible for one section, e.g. sauces</a:t>
            </a:r>
            <a:endParaRPr lang="en-US" sz="1250" dirty="0"/>
          </a:p>
        </p:txBody>
      </p:sp>
      <p:sp>
        <p:nvSpPr>
          <p:cNvPr id="22" name="R1_m2"/>
          <p:cNvSpPr txBox="1"/>
          <p:nvPr/>
        </p:nvSpPr>
        <p:spPr>
          <a:xfrm>
            <a:off x="6241694" y="2356539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partie – capo partita</a:t>
            </a:r>
            <a:endParaRPr lang="en-US" sz="1150" dirty="0"/>
          </a:p>
        </p:txBody>
      </p:sp>
      <p:sp>
        <p:nvSpPr>
          <p:cNvPr id="23" name="iconBack_56"/>
          <p:cNvSpPr/>
          <p:nvPr/>
        </p:nvSpPr>
        <p:spPr>
          <a:xfrm>
            <a:off x="2788920" y="2821577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4" name="icon_57" descr="knif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70955" y="2903612"/>
            <a:ext cx="246104" cy="246104"/>
          </a:xfrm>
          <a:prstGeom prst="rect">
            <a:avLst/>
          </a:prstGeom>
        </p:spPr>
      </p:pic>
      <p:sp>
        <p:nvSpPr>
          <p:cNvPr id="25" name="box_58"/>
          <p:cNvSpPr txBox="1"/>
          <p:nvPr/>
        </p:nvSpPr>
        <p:spPr>
          <a:xfrm>
            <a:off x="3253958" y="2821577"/>
            <a:ext cx="2914585" cy="410174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a junior chef – still learning</a:t>
            </a:r>
            <a:endParaRPr lang="en-US" sz="1250" dirty="0"/>
          </a:p>
        </p:txBody>
      </p:sp>
      <p:sp>
        <p:nvSpPr>
          <p:cNvPr id="26" name="R1_m3"/>
          <p:cNvSpPr txBox="1"/>
          <p:nvPr/>
        </p:nvSpPr>
        <p:spPr>
          <a:xfrm>
            <a:off x="6241694" y="2839865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 chef – aiuto cuoco</a:t>
            </a:r>
            <a:endParaRPr lang="en-US" sz="1150" dirty="0"/>
          </a:p>
        </p:txBody>
      </p:sp>
      <p:sp>
        <p:nvSpPr>
          <p:cNvPr id="27" name="iconBack_59"/>
          <p:cNvSpPr/>
          <p:nvPr/>
        </p:nvSpPr>
        <p:spPr>
          <a:xfrm>
            <a:off x="2788920" y="3304903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28" name="icon_60" descr="cake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0955" y="3386938"/>
            <a:ext cx="246104" cy="246104"/>
          </a:xfrm>
          <a:prstGeom prst="rect">
            <a:avLst/>
          </a:prstGeom>
        </p:spPr>
      </p:pic>
      <p:sp>
        <p:nvSpPr>
          <p:cNvPr id="29" name="box_61"/>
          <p:cNvSpPr txBox="1"/>
          <p:nvPr/>
        </p:nvSpPr>
        <p:spPr>
          <a:xfrm>
            <a:off x="3253958" y="3304903"/>
            <a:ext cx="2914585" cy="410174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makes desserts, bread and cakes</a:t>
            </a:r>
            <a:endParaRPr lang="en-US" sz="1250" dirty="0"/>
          </a:p>
        </p:txBody>
      </p:sp>
      <p:sp>
        <p:nvSpPr>
          <p:cNvPr id="30" name="R1_m4"/>
          <p:cNvSpPr txBox="1"/>
          <p:nvPr/>
        </p:nvSpPr>
        <p:spPr>
          <a:xfrm>
            <a:off x="6241694" y="3323191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pastry chef – pasticciere</a:t>
            </a:r>
            <a:endParaRPr lang="en-US" sz="1150" dirty="0"/>
          </a:p>
        </p:txBody>
      </p:sp>
      <p:sp>
        <p:nvSpPr>
          <p:cNvPr id="31" name="iconBack_62"/>
          <p:cNvSpPr/>
          <p:nvPr/>
        </p:nvSpPr>
        <p:spPr>
          <a:xfrm>
            <a:off x="2788920" y="3788229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2" name="icon_63" descr="broom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70955" y="3870263"/>
            <a:ext cx="246104" cy="246104"/>
          </a:xfrm>
          <a:prstGeom prst="rect">
            <a:avLst/>
          </a:prstGeom>
        </p:spPr>
      </p:pic>
      <p:sp>
        <p:nvSpPr>
          <p:cNvPr id="33" name="box_64"/>
          <p:cNvSpPr txBox="1"/>
          <p:nvPr/>
        </p:nvSpPr>
        <p:spPr>
          <a:xfrm>
            <a:off x="3253958" y="3788229"/>
            <a:ext cx="2914585" cy="410174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washes the pots and cleans</a:t>
            </a:r>
            <a:endParaRPr lang="en-US" sz="1250" dirty="0"/>
          </a:p>
        </p:txBody>
      </p:sp>
      <p:sp>
        <p:nvSpPr>
          <p:cNvPr id="34" name="R1_m5"/>
          <p:cNvSpPr txBox="1"/>
          <p:nvPr/>
        </p:nvSpPr>
        <p:spPr>
          <a:xfrm>
            <a:off x="6241694" y="3806517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porter (KP) – lavapiatti</a:t>
            </a:r>
            <a:endParaRPr lang="en-US" sz="1150" dirty="0"/>
          </a:p>
        </p:txBody>
      </p:sp>
      <p:sp>
        <p:nvSpPr>
          <p:cNvPr id="35" name="iconBack_65"/>
          <p:cNvSpPr/>
          <p:nvPr/>
        </p:nvSpPr>
        <p:spPr>
          <a:xfrm>
            <a:off x="2788920" y="4271554"/>
            <a:ext cx="410174" cy="410174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11111"/>
            </a:solidFill>
            <a:prstDash val="solid"/>
          </a:ln>
        </p:spPr>
      </p:sp>
      <p:pic>
        <p:nvPicPr>
          <p:cNvPr id="36" name="icon_66" descr="bell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0955" y="4353589"/>
            <a:ext cx="246104" cy="246104"/>
          </a:xfrm>
          <a:prstGeom prst="rect">
            <a:avLst/>
          </a:prstGeom>
        </p:spPr>
      </p:pic>
      <p:sp>
        <p:nvSpPr>
          <p:cNvPr id="37" name="box_67"/>
          <p:cNvSpPr txBox="1"/>
          <p:nvPr/>
        </p:nvSpPr>
        <p:spPr>
          <a:xfrm>
            <a:off x="3253958" y="4271554"/>
            <a:ext cx="2914585" cy="410174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takes the food to the customers</a:t>
            </a:r>
            <a:endParaRPr lang="en-US" sz="1250" dirty="0"/>
          </a:p>
        </p:txBody>
      </p:sp>
      <p:sp>
        <p:nvSpPr>
          <p:cNvPr id="38" name="R1_m6"/>
          <p:cNvSpPr txBox="1"/>
          <p:nvPr/>
        </p:nvSpPr>
        <p:spPr>
          <a:xfrm>
            <a:off x="6241694" y="4289842"/>
            <a:ext cx="2582266" cy="373598"/>
          </a:xfrm>
          <a:prstGeom prst="roundRect">
            <a:avLst>
              <a:gd name="adj" fmla="val 14685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/ waitress – cameriere/a</a:t>
            </a:r>
            <a:endParaRPr lang="en-US" sz="1150" dirty="0"/>
          </a:p>
        </p:txBody>
      </p:sp>
      <p:sp>
        <p:nvSpPr>
          <p:cNvPr id="39" name="sticky_68"/>
          <p:cNvSpPr txBox="1"/>
          <p:nvPr/>
        </p:nvSpPr>
        <p:spPr>
          <a:xfrm rot="-120000">
            <a:off x="365760" y="3794760"/>
            <a:ext cx="2286000" cy="91440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chef de partie  ·  commis chef  ·  head chef  ·  kitchen porter (KP)  ·  pastry chef  ·  sous chef  ·  waiter / waitress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6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7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7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Opinions</a:t>
            </a:r>
            <a:endParaRPr lang="en-US" sz="1100" dirty="0"/>
          </a:p>
        </p:txBody>
      </p:sp>
      <p:sp>
        <p:nvSpPr>
          <p:cNvPr id="5" name="timer_7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7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74"/>
          <p:cNvSpPr txBox="1"/>
          <p:nvPr/>
        </p:nvSpPr>
        <p:spPr>
          <a:xfrm rot="-120000">
            <a:off x="320040" y="676656"/>
            <a:ext cx="588873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hardest job in the kitchen?</a:t>
            </a:r>
            <a:endParaRPr lang="en-US" sz="2000" dirty="0"/>
          </a:p>
        </p:txBody>
      </p:sp>
      <p:sp>
        <p:nvSpPr>
          <p:cNvPr id="8" name="post_75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76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77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on an order. Explain your top and bottom!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Mettetevi d'accordo. Spiegate il primo e l'ultimo!</a:t>
            </a:r>
            <a:endParaRPr lang="en-US" sz="1250" dirty="0"/>
          </a:p>
        </p:txBody>
      </p:sp>
      <p:sp>
        <p:nvSpPr>
          <p:cNvPr id="11" name="rt_78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HARDEST</a:t>
            </a:r>
            <a:endParaRPr lang="en-US" sz="1100" dirty="0"/>
          </a:p>
        </p:txBody>
      </p:sp>
      <p:sp>
        <p:nvSpPr>
          <p:cNvPr id="12" name="rb_79"/>
          <p:cNvSpPr txBox="1"/>
          <p:nvPr/>
        </p:nvSpPr>
        <p:spPr>
          <a:xfrm>
            <a:off x="2788920" y="4297680"/>
            <a:ext cx="1828800" cy="365760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EASIEST</a:t>
            </a:r>
            <a:endParaRPr lang="en-US" sz="1100" dirty="0"/>
          </a:p>
        </p:txBody>
      </p:sp>
      <p:sp>
        <p:nvSpPr>
          <p:cNvPr id="13" name="arrow_80"/>
          <p:cNvSpPr/>
          <p:nvPr/>
        </p:nvSpPr>
        <p:spPr>
          <a:xfrm>
            <a:off x="3474720" y="1783080"/>
            <a:ext cx="457200" cy="2423160"/>
          </a:xfrm>
          <a:prstGeom prst="upArrow">
            <a:avLst/>
          </a:prstGeom>
          <a:solidFill>
            <a:srgbClr val="C9B3F0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slot_81"/>
          <p:cNvSpPr txBox="1"/>
          <p:nvPr/>
        </p:nvSpPr>
        <p:spPr>
          <a:xfrm>
            <a:off x="4800600" y="1325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5" name="ri_82" descr="head chef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0" y="1360170"/>
            <a:ext cx="411480" cy="411480"/>
          </a:xfrm>
          <a:prstGeom prst="rect">
            <a:avLst/>
          </a:prstGeom>
        </p:spPr>
      </p:pic>
      <p:sp>
        <p:nvSpPr>
          <p:cNvPr id="16" name="box_83"/>
          <p:cNvSpPr txBox="1"/>
          <p:nvPr/>
        </p:nvSpPr>
        <p:spPr>
          <a:xfrm>
            <a:off x="5788152" y="1325880"/>
            <a:ext cx="3035808" cy="48006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chef</a:t>
            </a:r>
            <a:endParaRPr lang="en-US" sz="1300" dirty="0"/>
          </a:p>
        </p:txBody>
      </p:sp>
      <p:sp>
        <p:nvSpPr>
          <p:cNvPr id="17" name="slot_84"/>
          <p:cNvSpPr txBox="1"/>
          <p:nvPr/>
        </p:nvSpPr>
        <p:spPr>
          <a:xfrm>
            <a:off x="4800600" y="1897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18" name="ri_85" descr="sous chef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0" y="1931670"/>
            <a:ext cx="411480" cy="411480"/>
          </a:xfrm>
          <a:prstGeom prst="rect">
            <a:avLst/>
          </a:prstGeom>
        </p:spPr>
      </p:pic>
      <p:sp>
        <p:nvSpPr>
          <p:cNvPr id="19" name="box_86"/>
          <p:cNvSpPr txBox="1"/>
          <p:nvPr/>
        </p:nvSpPr>
        <p:spPr>
          <a:xfrm>
            <a:off x="5788152" y="1897380"/>
            <a:ext cx="3035808" cy="48006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 chef</a:t>
            </a:r>
            <a:endParaRPr lang="en-US" sz="1300" dirty="0"/>
          </a:p>
        </p:txBody>
      </p:sp>
      <p:sp>
        <p:nvSpPr>
          <p:cNvPr id="20" name="slot_87"/>
          <p:cNvSpPr txBox="1"/>
          <p:nvPr/>
        </p:nvSpPr>
        <p:spPr>
          <a:xfrm>
            <a:off x="4800600" y="2468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1" name="ri_88" descr="pastry chef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03520" y="2503170"/>
            <a:ext cx="411480" cy="411480"/>
          </a:xfrm>
          <a:prstGeom prst="rect">
            <a:avLst/>
          </a:prstGeom>
        </p:spPr>
      </p:pic>
      <p:sp>
        <p:nvSpPr>
          <p:cNvPr id="22" name="box_89"/>
          <p:cNvSpPr txBox="1"/>
          <p:nvPr/>
        </p:nvSpPr>
        <p:spPr>
          <a:xfrm>
            <a:off x="5788152" y="2468880"/>
            <a:ext cx="3035808" cy="48006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pastry chef</a:t>
            </a:r>
            <a:endParaRPr lang="en-US" sz="1300" dirty="0"/>
          </a:p>
        </p:txBody>
      </p:sp>
      <p:sp>
        <p:nvSpPr>
          <p:cNvPr id="23" name="slot_90"/>
          <p:cNvSpPr txBox="1"/>
          <p:nvPr/>
        </p:nvSpPr>
        <p:spPr>
          <a:xfrm>
            <a:off x="4800600" y="3040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4" name="ri_91" descr="commis chef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3074670"/>
            <a:ext cx="411480" cy="411480"/>
          </a:xfrm>
          <a:prstGeom prst="rect">
            <a:avLst/>
          </a:prstGeom>
        </p:spPr>
      </p:pic>
      <p:sp>
        <p:nvSpPr>
          <p:cNvPr id="25" name="box_92"/>
          <p:cNvSpPr txBox="1"/>
          <p:nvPr/>
        </p:nvSpPr>
        <p:spPr>
          <a:xfrm>
            <a:off x="5788152" y="3040380"/>
            <a:ext cx="3035808" cy="48006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 chef</a:t>
            </a:r>
            <a:endParaRPr lang="en-US" sz="1300" dirty="0"/>
          </a:p>
        </p:txBody>
      </p:sp>
      <p:sp>
        <p:nvSpPr>
          <p:cNvPr id="26" name="slot_93"/>
          <p:cNvSpPr txBox="1"/>
          <p:nvPr/>
        </p:nvSpPr>
        <p:spPr>
          <a:xfrm>
            <a:off x="4800600" y="36118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27" name="ri_94" descr="kitchen porter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0" y="3646170"/>
            <a:ext cx="411480" cy="411480"/>
          </a:xfrm>
          <a:prstGeom prst="rect">
            <a:avLst/>
          </a:prstGeom>
        </p:spPr>
      </p:pic>
      <p:sp>
        <p:nvSpPr>
          <p:cNvPr id="28" name="box_95"/>
          <p:cNvSpPr txBox="1"/>
          <p:nvPr/>
        </p:nvSpPr>
        <p:spPr>
          <a:xfrm>
            <a:off x="5788152" y="3611880"/>
            <a:ext cx="3035808" cy="48006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porter</a:t>
            </a:r>
            <a:endParaRPr lang="en-US" sz="1300" dirty="0"/>
          </a:p>
        </p:txBody>
      </p:sp>
      <p:sp>
        <p:nvSpPr>
          <p:cNvPr id="29" name="slot_96"/>
          <p:cNvSpPr txBox="1"/>
          <p:nvPr/>
        </p:nvSpPr>
        <p:spPr>
          <a:xfrm>
            <a:off x="4800600" y="4183380"/>
            <a:ext cx="411480" cy="480060"/>
          </a:xfrm>
          <a:prstGeom prst="rect">
            <a:avLst/>
          </a:prstGeom>
          <a:solidFill>
            <a:srgbClr val="FFFFFF"/>
          </a:solidFill>
          <a:ln w="25400">
            <a:solidFill>
              <a:srgbClr val="6D3FC0"/>
            </a:solidFill>
            <a:prstDash val="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D3FC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400" dirty="0"/>
          </a:p>
        </p:txBody>
      </p:sp>
      <p:pic>
        <p:nvPicPr>
          <p:cNvPr id="30" name="ri_97" descr="waiter / waitress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03520" y="4217670"/>
            <a:ext cx="411480" cy="411480"/>
          </a:xfrm>
          <a:prstGeom prst="rect">
            <a:avLst/>
          </a:prstGeom>
        </p:spPr>
      </p:pic>
      <p:sp>
        <p:nvSpPr>
          <p:cNvPr id="31" name="box_98"/>
          <p:cNvSpPr txBox="1"/>
          <p:nvPr/>
        </p:nvSpPr>
        <p:spPr>
          <a:xfrm>
            <a:off x="5788152" y="4183380"/>
            <a:ext cx="3035808" cy="48006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 / waitress</a:t>
            </a:r>
            <a:endParaRPr lang="en-US" sz="1300" dirty="0"/>
          </a:p>
        </p:txBody>
      </p:sp>
      <p:sp>
        <p:nvSpPr>
          <p:cNvPr id="32" name="R1_ans"/>
          <p:cNvSpPr txBox="1"/>
          <p:nvPr/>
        </p:nvSpPr>
        <p:spPr>
          <a:xfrm rot="-120000">
            <a:off x="411480" y="3886200"/>
            <a:ext cx="2240280" cy="777240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Click: NEW RULE! ✗ difficult  ✓ stressful · tiring · hot · boring · hard work</a:t>
            </a:r>
            <a:endParaRPr lang="en-US" sz="11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99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00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01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The verb be</a:t>
            </a:r>
            <a:endParaRPr lang="en-US" sz="1100" dirty="0"/>
          </a:p>
        </p:txBody>
      </p:sp>
      <p:sp>
        <p:nvSpPr>
          <p:cNvPr id="5" name="timer_102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03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104"/>
          <p:cNvSpPr txBox="1"/>
          <p:nvPr/>
        </p:nvSpPr>
        <p:spPr>
          <a:xfrm rot="-120000">
            <a:off x="320040" y="676656"/>
            <a:ext cx="241401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verb be</a:t>
            </a:r>
            <a:endParaRPr lang="en-US" sz="2000" dirty="0"/>
          </a:p>
        </p:txBody>
      </p:sp>
      <p:sp>
        <p:nvSpPr>
          <p:cNvPr id="8" name="rh_105"/>
          <p:cNvSpPr txBox="1"/>
          <p:nvPr/>
        </p:nvSpPr>
        <p:spPr>
          <a:xfrm>
            <a:off x="320040" y="1371600"/>
            <a:ext cx="2749296" cy="384048"/>
          </a:xfrm>
          <a:prstGeom prst="rect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</a:t>
            </a:r>
            <a:endParaRPr lang="en-US" sz="1300" dirty="0"/>
          </a:p>
        </p:txBody>
      </p:sp>
      <p:sp>
        <p:nvSpPr>
          <p:cNvPr id="9" name="rb_106"/>
          <p:cNvSpPr txBox="1"/>
          <p:nvPr/>
        </p:nvSpPr>
        <p:spPr>
          <a:xfrm>
            <a:off x="320040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a chef.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the head chef.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She's from Naples.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a team.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waiters.</a:t>
            </a:r>
            <a:endParaRPr lang="en-US" sz="1350" dirty="0"/>
          </a:p>
        </p:txBody>
      </p:sp>
      <p:sp>
        <p:nvSpPr>
          <p:cNvPr id="10" name="rh_107"/>
          <p:cNvSpPr txBox="1"/>
          <p:nvPr/>
        </p:nvSpPr>
        <p:spPr>
          <a:xfrm>
            <a:off x="3197352" y="1371600"/>
            <a:ext cx="2749296" cy="384048"/>
          </a:xfrm>
          <a:prstGeom prst="rect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–</a:t>
            </a:r>
            <a:endParaRPr lang="en-US" sz="1300" dirty="0"/>
          </a:p>
        </p:txBody>
      </p:sp>
      <p:sp>
        <p:nvSpPr>
          <p:cNvPr id="11" name="rb_108"/>
          <p:cNvSpPr txBox="1"/>
          <p:nvPr/>
        </p:nvSpPr>
        <p:spPr>
          <a:xfrm>
            <a:off x="3197352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not the boss.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isn't here today.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aren't ready.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 sono / non è / non siamo</a:t>
            </a:r>
            <a:endParaRPr lang="en-US" sz="1350" dirty="0"/>
          </a:p>
        </p:txBody>
      </p:sp>
      <p:sp>
        <p:nvSpPr>
          <p:cNvPr id="12" name="rh_109"/>
          <p:cNvSpPr txBox="1"/>
          <p:nvPr/>
        </p:nvSpPr>
        <p:spPr>
          <a:xfrm>
            <a:off x="6074664" y="1371600"/>
            <a:ext cx="2749296" cy="384048"/>
          </a:xfrm>
          <a:prstGeom prst="rect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?</a:t>
            </a:r>
            <a:endParaRPr lang="en-US" sz="1300" dirty="0"/>
          </a:p>
        </p:txBody>
      </p:sp>
      <p:sp>
        <p:nvSpPr>
          <p:cNvPr id="13" name="rb_110"/>
          <p:cNvSpPr txBox="1"/>
          <p:nvPr/>
        </p:nvSpPr>
        <p:spPr>
          <a:xfrm>
            <a:off x="6074664" y="1810512"/>
            <a:ext cx="2749296" cy="2157984"/>
          </a:xfrm>
          <a:prstGeom prst="rect">
            <a:avLst/>
          </a:prstGeom>
          <a:solidFill>
            <a:srgbClr val="FFFFFF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you the sous chef?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she new?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the KP?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 / No, she isn't.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(not: Yes, I'm.)</a:t>
            </a:r>
            <a:endParaRPr lang="en-US" sz="1350" dirty="0"/>
          </a:p>
        </p:txBody>
      </p:sp>
      <p:sp>
        <p:nvSpPr>
          <p:cNvPr id="14" name="watch_111"/>
          <p:cNvSpPr txBox="1"/>
          <p:nvPr/>
        </p:nvSpPr>
        <p:spPr>
          <a:xfrm>
            <a:off x="320040" y="4133088"/>
            <a:ext cx="8503920" cy="530352"/>
          </a:xfrm>
          <a:prstGeom prst="rect">
            <a:avLst/>
          </a:prstGeom>
          <a:solidFill>
            <a:srgbClr val="FFE4E6"/>
          </a:solidFill>
          <a:ln w="190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out! 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 have 35 years → ✓ I'm 35.     ✗ He is chef → ✓ He's a chef.     ✗ Where you are from? → ✓ Where are you from?</a:t>
            </a:r>
            <a:endParaRPr lang="en-US" sz="1250" dirty="0"/>
          </a:p>
        </p:txBody>
      </p:sp>
    </p:spTree>
  </p:cSld>
  <p:clrMapOvr>
    <a:masterClrMapping/>
  </p:clrMapOvr>
  <p:transition spd="med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12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13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14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GRAMMAR · Be the teacher</a:t>
            </a:r>
            <a:endParaRPr lang="en-US" sz="1100" dirty="0"/>
          </a:p>
        </p:txBody>
      </p:sp>
      <p:sp>
        <p:nvSpPr>
          <p:cNvPr id="5" name="timer_115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5 min</a:t>
            </a:r>
            <a:endParaRPr lang="en-US" sz="1200" dirty="0"/>
          </a:p>
        </p:txBody>
      </p:sp>
      <p:sp>
        <p:nvSpPr>
          <p:cNvPr id="6" name="footer_116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117"/>
          <p:cNvSpPr txBox="1"/>
          <p:nvPr/>
        </p:nvSpPr>
        <p:spPr>
          <a:xfrm rot="-120000">
            <a:off x="320040" y="676656"/>
            <a:ext cx="3456432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Spot the mistake!</a:t>
            </a:r>
            <a:endParaRPr lang="en-US" sz="2000" dirty="0"/>
          </a:p>
        </p:txBody>
      </p:sp>
      <p:sp>
        <p:nvSpPr>
          <p:cNvPr id="8" name="post_118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19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THINK!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PENSA!</a:t>
            </a:r>
            <a:endParaRPr lang="en-US" sz="1500" dirty="0"/>
          </a:p>
        </p:txBody>
      </p:sp>
      <p:sp>
        <p:nvSpPr>
          <p:cNvPr id="10" name="signB_120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mistake in each sentence. Correct it!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errore in ogni frase. Correggilo!</a:t>
            </a:r>
            <a:endParaRPr lang="en-US" sz="1250" dirty="0"/>
          </a:p>
        </p:txBody>
      </p:sp>
      <p:sp>
        <p:nvSpPr>
          <p:cNvPr id="11" name="box_121"/>
          <p:cNvSpPr txBox="1"/>
          <p:nvPr/>
        </p:nvSpPr>
        <p:spPr>
          <a:xfrm>
            <a:off x="2788920" y="1371600"/>
            <a:ext cx="1535826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He is chef.</a:t>
            </a:r>
            <a:endParaRPr lang="en-US" sz="1350" dirty="0"/>
          </a:p>
        </p:txBody>
      </p:sp>
      <p:sp>
        <p:nvSpPr>
          <p:cNvPr id="12" name="R1_a0"/>
          <p:cNvSpPr txBox="1"/>
          <p:nvPr/>
        </p:nvSpPr>
        <p:spPr>
          <a:xfrm>
            <a:off x="4379610" y="1408176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He's a chef.</a:t>
            </a:r>
            <a:endParaRPr lang="en-US" sz="1200" dirty="0"/>
          </a:p>
        </p:txBody>
      </p:sp>
      <p:sp>
        <p:nvSpPr>
          <p:cNvPr id="13" name="box_122"/>
          <p:cNvSpPr txBox="1"/>
          <p:nvPr/>
        </p:nvSpPr>
        <p:spPr>
          <a:xfrm>
            <a:off x="5870448" y="1371600"/>
            <a:ext cx="1535826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I have 35 years.</a:t>
            </a:r>
            <a:endParaRPr lang="en-US" sz="1350" dirty="0"/>
          </a:p>
        </p:txBody>
      </p:sp>
      <p:sp>
        <p:nvSpPr>
          <p:cNvPr id="14" name="R1_a1"/>
          <p:cNvSpPr txBox="1"/>
          <p:nvPr/>
        </p:nvSpPr>
        <p:spPr>
          <a:xfrm>
            <a:off x="7461138" y="1408176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35.</a:t>
            </a:r>
            <a:endParaRPr lang="en-US" sz="1200" dirty="0"/>
          </a:p>
        </p:txBody>
      </p:sp>
      <p:sp>
        <p:nvSpPr>
          <p:cNvPr id="15" name="box_123"/>
          <p:cNvSpPr txBox="1"/>
          <p:nvPr/>
        </p:nvSpPr>
        <p:spPr>
          <a:xfrm>
            <a:off x="2788920" y="2368296"/>
            <a:ext cx="1535826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Where you are from?</a:t>
            </a:r>
            <a:endParaRPr lang="en-US" sz="1350" dirty="0"/>
          </a:p>
        </p:txBody>
      </p:sp>
      <p:sp>
        <p:nvSpPr>
          <p:cNvPr id="16" name="R1_a2"/>
          <p:cNvSpPr txBox="1"/>
          <p:nvPr/>
        </p:nvSpPr>
        <p:spPr>
          <a:xfrm>
            <a:off x="4379610" y="2404872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from?</a:t>
            </a:r>
            <a:endParaRPr lang="en-US" sz="1200" dirty="0"/>
          </a:p>
        </p:txBody>
      </p:sp>
      <p:sp>
        <p:nvSpPr>
          <p:cNvPr id="17" name="box_124"/>
          <p:cNvSpPr txBox="1"/>
          <p:nvPr/>
        </p:nvSpPr>
        <p:spPr>
          <a:xfrm>
            <a:off x="5870448" y="2368296"/>
            <a:ext cx="1535826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They is in the kitchen.</a:t>
            </a:r>
            <a:endParaRPr lang="en-US" sz="1350" dirty="0"/>
          </a:p>
        </p:txBody>
      </p:sp>
      <p:sp>
        <p:nvSpPr>
          <p:cNvPr id="18" name="R1_a3"/>
          <p:cNvSpPr txBox="1"/>
          <p:nvPr/>
        </p:nvSpPr>
        <p:spPr>
          <a:xfrm>
            <a:off x="7461138" y="2404872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They're in the kitchen.</a:t>
            </a:r>
            <a:endParaRPr lang="en-US" sz="1200" dirty="0"/>
          </a:p>
        </p:txBody>
      </p:sp>
      <p:sp>
        <p:nvSpPr>
          <p:cNvPr id="19" name="box_125"/>
          <p:cNvSpPr txBox="1"/>
          <p:nvPr/>
        </p:nvSpPr>
        <p:spPr>
          <a:xfrm>
            <a:off x="2788920" y="3364992"/>
            <a:ext cx="1535826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Are you new? – Yes, I'm.</a:t>
            </a:r>
            <a:endParaRPr lang="en-US" sz="1350" dirty="0"/>
          </a:p>
        </p:txBody>
      </p:sp>
      <p:sp>
        <p:nvSpPr>
          <p:cNvPr id="20" name="R1_a4"/>
          <p:cNvSpPr txBox="1"/>
          <p:nvPr/>
        </p:nvSpPr>
        <p:spPr>
          <a:xfrm>
            <a:off x="4379610" y="3401568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</a:t>
            </a:r>
            <a:endParaRPr lang="en-US" sz="1200" dirty="0"/>
          </a:p>
        </p:txBody>
      </p:sp>
      <p:sp>
        <p:nvSpPr>
          <p:cNvPr id="21" name="box_126"/>
          <p:cNvSpPr txBox="1"/>
          <p:nvPr/>
        </p:nvSpPr>
        <p:spPr>
          <a:xfrm>
            <a:off x="5870448" y="3364992"/>
            <a:ext cx="1535826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My colleagues is from Bagheria.</a:t>
            </a:r>
            <a:endParaRPr lang="en-US" sz="1350" dirty="0"/>
          </a:p>
        </p:txBody>
      </p:sp>
      <p:sp>
        <p:nvSpPr>
          <p:cNvPr id="22" name="R1_a5"/>
          <p:cNvSpPr txBox="1"/>
          <p:nvPr/>
        </p:nvSpPr>
        <p:spPr>
          <a:xfrm>
            <a:off x="7461138" y="3401568"/>
            <a:ext cx="1362822" cy="795528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38100">
            <a:solidFill>
              <a:srgbClr val="1FA463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colleagues are from…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27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28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29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SPEAKING · Role-play</a:t>
            </a:r>
            <a:endParaRPr lang="en-US" sz="1100" dirty="0"/>
          </a:p>
        </p:txBody>
      </p:sp>
      <p:sp>
        <p:nvSpPr>
          <p:cNvPr id="5" name="timer_130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12 min</a:t>
            </a:r>
            <a:endParaRPr lang="en-US" sz="1200" dirty="0"/>
          </a:p>
        </p:txBody>
      </p:sp>
      <p:sp>
        <p:nvSpPr>
          <p:cNvPr id="6" name="footer_131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132"/>
          <p:cNvSpPr txBox="1"/>
          <p:nvPr/>
        </p:nvSpPr>
        <p:spPr>
          <a:xfrm rot="-120000">
            <a:off x="320040" y="676656"/>
            <a:ext cx="293522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first day</a:t>
            </a:r>
            <a:endParaRPr lang="en-US" sz="2000" dirty="0"/>
          </a:p>
        </p:txBody>
      </p:sp>
      <p:sp>
        <p:nvSpPr>
          <p:cNvPr id="8" name="post_133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34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135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is new. B is the sous chef. Then swap!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è nuovo. B è il sous chef. Poi scambiatevi!</a:t>
            </a:r>
            <a:endParaRPr lang="en-US" sz="1250" dirty="0"/>
          </a:p>
        </p:txBody>
      </p:sp>
      <p:sp>
        <p:nvSpPr>
          <p:cNvPr id="11" name="line_136"/>
          <p:cNvSpPr txBox="1"/>
          <p:nvPr/>
        </p:nvSpPr>
        <p:spPr>
          <a:xfrm>
            <a:off x="2788920" y="13716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Hi! Are you the new commis chef?</a:t>
            </a:r>
            <a:endParaRPr lang="en-US" sz="1250" dirty="0"/>
          </a:p>
        </p:txBody>
      </p:sp>
      <p:sp>
        <p:nvSpPr>
          <p:cNvPr id="12" name="line_137"/>
          <p:cNvSpPr txBox="1"/>
          <p:nvPr/>
        </p:nvSpPr>
        <p:spPr>
          <a:xfrm>
            <a:off x="3108960" y="193548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I am. I'm… Nice to meet you.</a:t>
            </a:r>
            <a:endParaRPr lang="en-US" sz="1250" dirty="0"/>
          </a:p>
        </p:txBody>
      </p:sp>
      <p:sp>
        <p:nvSpPr>
          <p:cNvPr id="13" name="line_138"/>
          <p:cNvSpPr txBox="1"/>
          <p:nvPr/>
        </p:nvSpPr>
        <p:spPr>
          <a:xfrm>
            <a:off x="2788920" y="249936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 too. I'm…, the sous chef. Where are you from?</a:t>
            </a:r>
            <a:endParaRPr lang="en-US" sz="1250" dirty="0"/>
          </a:p>
        </p:txBody>
      </p:sp>
      <p:sp>
        <p:nvSpPr>
          <p:cNvPr id="14" name="line_139"/>
          <p:cNvSpPr txBox="1"/>
          <p:nvPr/>
        </p:nvSpPr>
        <p:spPr>
          <a:xfrm>
            <a:off x="3108960" y="306324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from… Where's the changing room?</a:t>
            </a:r>
            <a:endParaRPr lang="en-US" sz="1250" dirty="0"/>
          </a:p>
        </p:txBody>
      </p:sp>
      <p:sp>
        <p:nvSpPr>
          <p:cNvPr id="15" name="line_140"/>
          <p:cNvSpPr txBox="1"/>
          <p:nvPr/>
        </p:nvSpPr>
        <p:spPr>
          <a:xfrm>
            <a:off x="2788920" y="362712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FFF1F2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next to the office. Your section is the grill.</a:t>
            </a:r>
            <a:endParaRPr lang="en-US" sz="1250" dirty="0"/>
          </a:p>
        </p:txBody>
      </p:sp>
      <p:sp>
        <p:nvSpPr>
          <p:cNvPr id="16" name="line_141"/>
          <p:cNvSpPr txBox="1"/>
          <p:nvPr/>
        </p:nvSpPr>
        <p:spPr>
          <a:xfrm>
            <a:off x="3108960" y="4191000"/>
            <a:ext cx="3611880" cy="490728"/>
          </a:xfrm>
          <a:prstGeom prst="roundRect">
            <a:avLst>
              <a:gd name="adj" fmla="val 14907"/>
            </a:avLst>
          </a:prstGeom>
          <a:solidFill>
            <a:srgbClr val="EFF6FF"/>
          </a:solidFill>
          <a:ln w="15875">
            <a:solidFill>
              <a:srgbClr val="111111"/>
            </a:solidFill>
          </a:ln>
        </p:spPr>
        <p:txBody>
          <a:bodyPr wrap="square" lIns="88900" tIns="88900" rIns="88900" bIns="8890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2F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</a:t>
            </a:r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OK. What time is service?</a:t>
            </a:r>
            <a:endParaRPr lang="en-US" sz="1250" dirty="0"/>
          </a:p>
        </p:txBody>
      </p:sp>
      <p:sp>
        <p:nvSpPr>
          <p:cNvPr id="17" name="phrases_142"/>
          <p:cNvSpPr txBox="1"/>
          <p:nvPr/>
        </p:nvSpPr>
        <p:spPr>
          <a:xfrm rot="90000">
            <a:off x="6858000" y="1371600"/>
            <a:ext cx="1965960" cy="3310128"/>
          </a:xfrm>
          <a:prstGeom prst="rect">
            <a:avLst/>
          </a:prstGeom>
          <a:solidFill>
            <a:srgbClr val="FFD84D"/>
          </a:solidFill>
          <a:ln w="12700">
            <a:solidFill>
              <a:srgbClr val="B7950B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01600" tIns="101600" rIns="101600" bIns="10160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phrases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meet you.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Where's / Where are…?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time is…?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the…?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Sorry, can you repeat that?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spell that?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4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4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4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LEXICON · Kitchen calls</a:t>
            </a:r>
            <a:endParaRPr lang="en-US" sz="1100" dirty="0"/>
          </a:p>
        </p:txBody>
      </p:sp>
      <p:sp>
        <p:nvSpPr>
          <p:cNvPr id="5" name="timer_14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6 min</a:t>
            </a:r>
            <a:endParaRPr lang="en-US" sz="1200" dirty="0"/>
          </a:p>
        </p:txBody>
      </p:sp>
      <p:sp>
        <p:nvSpPr>
          <p:cNvPr id="6" name="footer_147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7" name="title_148"/>
          <p:cNvSpPr txBox="1"/>
          <p:nvPr/>
        </p:nvSpPr>
        <p:spPr>
          <a:xfrm rot="-120000">
            <a:off x="320040" y="676656"/>
            <a:ext cx="20665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Shout it!</a:t>
            </a:r>
            <a:endParaRPr lang="en-US" sz="2000" dirty="0"/>
          </a:p>
        </p:txBody>
      </p:sp>
      <p:sp>
        <p:nvSpPr>
          <p:cNvPr id="8" name="post_149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9" name="signA_150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0" name="signB_151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acts it out. You shout the call – fast!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mima. Tu gridi la parola – veloce!</a:t>
            </a:r>
            <a:endParaRPr lang="en-US" sz="1250" dirty="0"/>
          </a:p>
        </p:txBody>
      </p:sp>
      <p:sp>
        <p:nvSpPr>
          <p:cNvPr id="11" name="tile_152"/>
          <p:cNvSpPr/>
          <p:nvPr/>
        </p:nvSpPr>
        <p:spPr>
          <a:xfrm>
            <a:off x="2788920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2" name="ti_153" descr="Yes, Chef!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072" y="1568196"/>
            <a:ext cx="566928" cy="566928"/>
          </a:xfrm>
          <a:prstGeom prst="rect">
            <a:avLst/>
          </a:prstGeom>
        </p:spPr>
      </p:pic>
      <p:sp>
        <p:nvSpPr>
          <p:cNvPr id="13" name="tw_154"/>
          <p:cNvSpPr txBox="1"/>
          <p:nvPr/>
        </p:nvSpPr>
        <p:spPr>
          <a:xfrm>
            <a:off x="3447288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Yes, Chef!</a:t>
            </a:r>
            <a:endParaRPr lang="en-US" sz="1300" dirty="0"/>
          </a:p>
        </p:txBody>
      </p:sp>
      <p:sp>
        <p:nvSpPr>
          <p:cNvPr id="14" name="R1_it0"/>
          <p:cNvSpPr txBox="1"/>
          <p:nvPr/>
        </p:nvSpPr>
        <p:spPr>
          <a:xfrm>
            <a:off x="3447288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Sì, Chef!</a:t>
            </a:r>
            <a:endParaRPr lang="en-US" sz="1150" dirty="0"/>
          </a:p>
        </p:txBody>
      </p:sp>
      <p:sp>
        <p:nvSpPr>
          <p:cNvPr id="15" name="tile_155"/>
          <p:cNvSpPr/>
          <p:nvPr/>
        </p:nvSpPr>
        <p:spPr>
          <a:xfrm>
            <a:off x="4837176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16" name="ti_156" descr="Heard!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568196"/>
            <a:ext cx="566928" cy="566928"/>
          </a:xfrm>
          <a:prstGeom prst="rect">
            <a:avLst/>
          </a:prstGeom>
        </p:spPr>
      </p:pic>
      <p:sp>
        <p:nvSpPr>
          <p:cNvPr id="17" name="tw_157"/>
          <p:cNvSpPr txBox="1"/>
          <p:nvPr/>
        </p:nvSpPr>
        <p:spPr>
          <a:xfrm>
            <a:off x="5495544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Heard!</a:t>
            </a:r>
            <a:endParaRPr lang="en-US" sz="1300" dirty="0"/>
          </a:p>
        </p:txBody>
      </p:sp>
      <p:sp>
        <p:nvSpPr>
          <p:cNvPr id="18" name="R1_it1"/>
          <p:cNvSpPr txBox="1"/>
          <p:nvPr/>
        </p:nvSpPr>
        <p:spPr>
          <a:xfrm>
            <a:off x="5495544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Ricevuto!</a:t>
            </a:r>
            <a:endParaRPr lang="en-US" sz="1150" dirty="0"/>
          </a:p>
        </p:txBody>
      </p:sp>
      <p:sp>
        <p:nvSpPr>
          <p:cNvPr id="19" name="tile_158"/>
          <p:cNvSpPr/>
          <p:nvPr/>
        </p:nvSpPr>
        <p:spPr>
          <a:xfrm>
            <a:off x="6885432" y="1371600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0" name="ti_159" descr="Hot!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1568196"/>
            <a:ext cx="566928" cy="566928"/>
          </a:xfrm>
          <a:prstGeom prst="rect">
            <a:avLst/>
          </a:prstGeom>
        </p:spPr>
      </p:pic>
      <p:sp>
        <p:nvSpPr>
          <p:cNvPr id="21" name="tw_160"/>
          <p:cNvSpPr txBox="1"/>
          <p:nvPr/>
        </p:nvSpPr>
        <p:spPr>
          <a:xfrm>
            <a:off x="7543800" y="1417320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Hot!</a:t>
            </a:r>
            <a:endParaRPr lang="en-US" sz="1300" dirty="0"/>
          </a:p>
        </p:txBody>
      </p:sp>
      <p:sp>
        <p:nvSpPr>
          <p:cNvPr id="22" name="R1_it2"/>
          <p:cNvSpPr txBox="1"/>
          <p:nvPr/>
        </p:nvSpPr>
        <p:spPr>
          <a:xfrm>
            <a:off x="7543800" y="1943100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Caldo! Attenzione!</a:t>
            </a:r>
            <a:endParaRPr lang="en-US" sz="1150" dirty="0"/>
          </a:p>
        </p:txBody>
      </p:sp>
      <p:sp>
        <p:nvSpPr>
          <p:cNvPr id="23" name="tile_161"/>
          <p:cNvSpPr/>
          <p:nvPr/>
        </p:nvSpPr>
        <p:spPr>
          <a:xfrm>
            <a:off x="2788920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4" name="ti_162" descr="Sharp! / Knife!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2072" y="2820924"/>
            <a:ext cx="566928" cy="566928"/>
          </a:xfrm>
          <a:prstGeom prst="rect">
            <a:avLst/>
          </a:prstGeom>
        </p:spPr>
      </p:pic>
      <p:sp>
        <p:nvSpPr>
          <p:cNvPr id="25" name="tw_163"/>
          <p:cNvSpPr txBox="1"/>
          <p:nvPr/>
        </p:nvSpPr>
        <p:spPr>
          <a:xfrm>
            <a:off x="3447288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Sharp! / Knife!</a:t>
            </a:r>
            <a:endParaRPr lang="en-US" sz="1300" dirty="0"/>
          </a:p>
        </p:txBody>
      </p:sp>
      <p:sp>
        <p:nvSpPr>
          <p:cNvPr id="26" name="R1_it3"/>
          <p:cNvSpPr txBox="1"/>
          <p:nvPr/>
        </p:nvSpPr>
        <p:spPr>
          <a:xfrm>
            <a:off x="3447288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Coltello! (lo sto portando)</a:t>
            </a:r>
            <a:endParaRPr lang="en-US" sz="1150" dirty="0"/>
          </a:p>
        </p:txBody>
      </p:sp>
      <p:sp>
        <p:nvSpPr>
          <p:cNvPr id="27" name="tile_164"/>
          <p:cNvSpPr/>
          <p:nvPr/>
        </p:nvSpPr>
        <p:spPr>
          <a:xfrm>
            <a:off x="4837176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28" name="ti_165" descr="Behind!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10328" y="2820924"/>
            <a:ext cx="566928" cy="566928"/>
          </a:xfrm>
          <a:prstGeom prst="rect">
            <a:avLst/>
          </a:prstGeom>
        </p:spPr>
      </p:pic>
      <p:sp>
        <p:nvSpPr>
          <p:cNvPr id="29" name="tw_166"/>
          <p:cNvSpPr txBox="1"/>
          <p:nvPr/>
        </p:nvSpPr>
        <p:spPr>
          <a:xfrm>
            <a:off x="5495544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Behind!</a:t>
            </a:r>
            <a:endParaRPr lang="en-US" sz="1300" dirty="0"/>
          </a:p>
        </p:txBody>
      </p:sp>
      <p:sp>
        <p:nvSpPr>
          <p:cNvPr id="30" name="R1_it4"/>
          <p:cNvSpPr txBox="1"/>
          <p:nvPr/>
        </p:nvSpPr>
        <p:spPr>
          <a:xfrm>
            <a:off x="5495544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Dietro di te!</a:t>
            </a:r>
            <a:endParaRPr lang="en-US" sz="1150" dirty="0"/>
          </a:p>
        </p:txBody>
      </p:sp>
      <p:sp>
        <p:nvSpPr>
          <p:cNvPr id="31" name="tile_167"/>
          <p:cNvSpPr/>
          <p:nvPr/>
        </p:nvSpPr>
        <p:spPr>
          <a:xfrm>
            <a:off x="6885432" y="2624328"/>
            <a:ext cx="1938528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pic>
        <p:nvPicPr>
          <p:cNvPr id="32" name="ti_168" descr="Corner!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58584" y="2820924"/>
            <a:ext cx="566928" cy="566928"/>
          </a:xfrm>
          <a:prstGeom prst="rect">
            <a:avLst/>
          </a:prstGeom>
        </p:spPr>
      </p:pic>
      <p:sp>
        <p:nvSpPr>
          <p:cNvPr id="33" name="tw_169"/>
          <p:cNvSpPr txBox="1"/>
          <p:nvPr/>
        </p:nvSpPr>
        <p:spPr>
          <a:xfrm>
            <a:off x="7543800" y="2670048"/>
            <a:ext cx="1243584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Corner!</a:t>
            </a:r>
            <a:endParaRPr lang="en-US" sz="1300" dirty="0"/>
          </a:p>
        </p:txBody>
      </p:sp>
      <p:sp>
        <p:nvSpPr>
          <p:cNvPr id="34" name="R1_it5"/>
          <p:cNvSpPr txBox="1"/>
          <p:nvPr/>
        </p:nvSpPr>
        <p:spPr>
          <a:xfrm>
            <a:off x="7543800" y="3195828"/>
            <a:ext cx="124358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Angolo!</a:t>
            </a:r>
            <a:endParaRPr lang="en-US" sz="1150" dirty="0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70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71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footer_172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5" name="title_173"/>
          <p:cNvSpPr txBox="1"/>
          <p:nvPr/>
        </p:nvSpPr>
        <p:spPr>
          <a:xfrm rot="-120000">
            <a:off x="320040" y="676656"/>
            <a:ext cx="415137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Look what you can do!</a:t>
            </a:r>
            <a:endParaRPr lang="en-US" sz="2000" dirty="0"/>
          </a:p>
        </p:txBody>
      </p:sp>
      <p:sp>
        <p:nvSpPr>
          <p:cNvPr id="6" name="sub_174"/>
          <p:cNvSpPr txBox="1"/>
          <p:nvPr/>
        </p:nvSpPr>
        <p:spPr>
          <a:xfrm>
            <a:off x="365760" y="1234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cosa sai fare adesso!</a:t>
            </a:r>
            <a:endParaRPr lang="en-US" sz="1200" dirty="0"/>
          </a:p>
        </p:txBody>
      </p:sp>
      <p:sp>
        <p:nvSpPr>
          <p:cNvPr id="7" name="box_175"/>
          <p:cNvSpPr txBox="1"/>
          <p:nvPr/>
        </p:nvSpPr>
        <p:spPr>
          <a:xfrm>
            <a:off x="365760" y="1600200"/>
            <a:ext cx="4846320" cy="54864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name the jobs in a kitchen team.</a:t>
            </a:r>
            <a:endParaRPr lang="en-US" sz="1350" dirty="0"/>
          </a:p>
        </p:txBody>
      </p:sp>
      <p:sp>
        <p:nvSpPr>
          <p:cNvPr id="8" name="faces_176"/>
          <p:cNvSpPr txBox="1"/>
          <p:nvPr/>
        </p:nvSpPr>
        <p:spPr>
          <a:xfrm>
            <a:off x="5230368" y="160020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9" name="box_177"/>
          <p:cNvSpPr txBox="1"/>
          <p:nvPr/>
        </p:nvSpPr>
        <p:spPr>
          <a:xfrm>
            <a:off x="365760" y="2240280"/>
            <a:ext cx="4846320" cy="54864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use the verb be: I'm / he isn't / Are you…?</a:t>
            </a:r>
            <a:endParaRPr lang="en-US" sz="1350" dirty="0"/>
          </a:p>
        </p:txBody>
      </p:sp>
      <p:sp>
        <p:nvSpPr>
          <p:cNvPr id="10" name="faces_178"/>
          <p:cNvSpPr txBox="1"/>
          <p:nvPr/>
        </p:nvSpPr>
        <p:spPr>
          <a:xfrm>
            <a:off x="5230368" y="224028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1" name="box_179"/>
          <p:cNvSpPr txBox="1"/>
          <p:nvPr/>
        </p:nvSpPr>
        <p:spPr>
          <a:xfrm>
            <a:off x="365760" y="2880360"/>
            <a:ext cx="4846320" cy="54864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 can introduce myself on my first day.</a:t>
            </a:r>
            <a:endParaRPr lang="en-US" sz="1350" dirty="0"/>
          </a:p>
        </p:txBody>
      </p:sp>
      <p:sp>
        <p:nvSpPr>
          <p:cNvPr id="12" name="faces_180"/>
          <p:cNvSpPr txBox="1"/>
          <p:nvPr/>
        </p:nvSpPr>
        <p:spPr>
          <a:xfrm>
            <a:off x="5230368" y="288036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😀 🙂 😐</a:t>
            </a:r>
            <a:endParaRPr lang="en-US" sz="1400" dirty="0"/>
          </a:p>
        </p:txBody>
      </p:sp>
      <p:sp>
        <p:nvSpPr>
          <p:cNvPr id="13" name="hw_181"/>
          <p:cNvSpPr txBox="1"/>
          <p:nvPr/>
        </p:nvSpPr>
        <p:spPr>
          <a:xfrm rot="90000">
            <a:off x="6446520" y="1325880"/>
            <a:ext cx="2377440" cy="2651760"/>
          </a:xfrm>
          <a:prstGeom prst="rect">
            <a:avLst/>
          </a:prstGeom>
          <a:solidFill>
            <a:srgbClr val="062F67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14300" tIns="114300" rIns="114300" bIns="11430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FFD84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HOMEWORK · COMPITI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6 sentences about your kitchen team. Marco is our head chef. He's from…</a:t>
            </a:r>
            <a:endParaRPr lang="en-US" sz="12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050" i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teacher can attach the homework sheet in the portal.</a:t>
            </a:r>
            <a:endParaRPr lang="en-US" sz="1250" dirty="0"/>
          </a:p>
        </p:txBody>
      </p:sp>
      <p:sp>
        <p:nvSpPr>
          <p:cNvPr id="14" name="stamp_182"/>
          <p:cNvSpPr txBox="1"/>
          <p:nvPr/>
        </p:nvSpPr>
        <p:spPr>
          <a:xfrm>
            <a:off x="365760" y="3657600"/>
            <a:ext cx="365760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38100">
            <a:solidFill>
              <a:srgbClr val="6D3FC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lesson: L2 · Kitchen equipment</a:t>
            </a:r>
            <a:endParaRPr lang="en-US" sz="1200" dirty="0"/>
          </a:p>
        </p:txBody>
      </p:sp>
    </p:spTree>
  </p:cSld>
  <p:clrMapOvr>
    <a:masterClrMapping/>
  </p:clrMapOvr>
  <p:transition spd="med">
    <p:push dir="l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18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18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18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Game · yes / no questions</a:t>
            </a:r>
            <a:endParaRPr lang="en-US" sz="1100" dirty="0"/>
          </a:p>
        </p:txBody>
      </p:sp>
      <p:sp>
        <p:nvSpPr>
          <p:cNvPr id="5" name="timer_18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extra_18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18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189"/>
          <p:cNvSpPr txBox="1"/>
          <p:nvPr/>
        </p:nvSpPr>
        <p:spPr>
          <a:xfrm rot="-120000">
            <a:off x="320040" y="676656"/>
            <a:ext cx="2066544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Who am I?</a:t>
            </a:r>
            <a:endParaRPr lang="en-US" sz="2000" dirty="0"/>
          </a:p>
        </p:txBody>
      </p:sp>
      <p:sp>
        <p:nvSpPr>
          <p:cNvPr id="9" name="post_19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19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1FA463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PLAY!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GIOCA!</a:t>
            </a:r>
            <a:endParaRPr lang="en-US" sz="1500" dirty="0"/>
          </a:p>
        </p:txBody>
      </p:sp>
      <p:sp>
        <p:nvSpPr>
          <p:cNvPr id="11" name="signB_19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secret kitchen job. Your partner asks questions.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Scegli un lavoro segreto. Il collega fa domande.</a:t>
            </a:r>
            <a:endParaRPr lang="en-US" sz="1250" dirty="0"/>
          </a:p>
        </p:txBody>
      </p:sp>
      <p:sp>
        <p:nvSpPr>
          <p:cNvPr id="12" name="iconBack_193"/>
          <p:cNvSpPr/>
          <p:nvPr/>
        </p:nvSpPr>
        <p:spPr>
          <a:xfrm>
            <a:off x="685800" y="3246120"/>
            <a:ext cx="1143000" cy="114300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11111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</p:sp>
      <p:pic>
        <p:nvPicPr>
          <p:cNvPr id="13" name="icon_194" descr="questi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474720"/>
            <a:ext cx="685800" cy="685800"/>
          </a:xfrm>
          <a:prstGeom prst="rect">
            <a:avLst/>
          </a:prstGeom>
        </p:spPr>
      </p:pic>
      <p:sp>
        <p:nvSpPr>
          <p:cNvPr id="14" name="num_195"/>
          <p:cNvSpPr txBox="1"/>
          <p:nvPr/>
        </p:nvSpPr>
        <p:spPr>
          <a:xfrm>
            <a:off x="2788920" y="1490472"/>
            <a:ext cx="384048" cy="384048"/>
          </a:xfrm>
          <a:prstGeom prst="ellipse">
            <a:avLst/>
          </a:prstGeom>
          <a:solidFill>
            <a:srgbClr val="EF2F2F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box_196"/>
          <p:cNvSpPr txBox="1"/>
          <p:nvPr/>
        </p:nvSpPr>
        <p:spPr>
          <a:xfrm>
            <a:off x="3264408" y="1371600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secret job: head chef, KP, pastry chef, waiter…</a:t>
            </a:r>
            <a:endParaRPr lang="en-US" sz="1300" dirty="0"/>
          </a:p>
        </p:txBody>
      </p:sp>
      <p:sp>
        <p:nvSpPr>
          <p:cNvPr id="16" name="num_197"/>
          <p:cNvSpPr txBox="1"/>
          <p:nvPr/>
        </p:nvSpPr>
        <p:spPr>
          <a:xfrm>
            <a:off x="2788920" y="2203704"/>
            <a:ext cx="384048" cy="384048"/>
          </a:xfrm>
          <a:prstGeom prst="ellipse">
            <a:avLst/>
          </a:prstGeom>
          <a:solidFill>
            <a:srgbClr val="48BDF2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box_198"/>
          <p:cNvSpPr txBox="1"/>
          <p:nvPr/>
        </p:nvSpPr>
        <p:spPr>
          <a:xfrm>
            <a:off x="3264408" y="2084832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partner asks yes / no questions: Are you the boss? Is your job hot?</a:t>
            </a:r>
            <a:endParaRPr lang="en-US" sz="1300" dirty="0"/>
          </a:p>
        </p:txBody>
      </p:sp>
      <p:sp>
        <p:nvSpPr>
          <p:cNvPr id="18" name="num_199"/>
          <p:cNvSpPr txBox="1"/>
          <p:nvPr/>
        </p:nvSpPr>
        <p:spPr>
          <a:xfrm>
            <a:off x="2788920" y="2916936"/>
            <a:ext cx="384048" cy="384048"/>
          </a:xfrm>
          <a:prstGeom prst="ellipse">
            <a:avLst/>
          </a:prstGeom>
          <a:solidFill>
            <a:srgbClr val="1FA463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box_200"/>
          <p:cNvSpPr txBox="1"/>
          <p:nvPr/>
        </p:nvSpPr>
        <p:spPr>
          <a:xfrm>
            <a:off x="3264408" y="2798064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only: Yes, I am. / No, I'm not. / Yes, it is. / No, it isn't.</a:t>
            </a:r>
            <a:endParaRPr lang="en-US" sz="1300" dirty="0"/>
          </a:p>
        </p:txBody>
      </p:sp>
      <p:sp>
        <p:nvSpPr>
          <p:cNvPr id="20" name="num_201"/>
          <p:cNvSpPr txBox="1"/>
          <p:nvPr/>
        </p:nvSpPr>
        <p:spPr>
          <a:xfrm>
            <a:off x="2788920" y="3630168"/>
            <a:ext cx="384048" cy="384048"/>
          </a:xfrm>
          <a:prstGeom prst="ellipse">
            <a:avLst/>
          </a:prstGeom>
          <a:solidFill>
            <a:srgbClr val="F59E0B"/>
          </a:solidFill>
          <a:ln w="19050">
            <a:solidFill>
              <a:srgbClr val="11111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box_202"/>
          <p:cNvSpPr txBox="1"/>
          <p:nvPr/>
        </p:nvSpPr>
        <p:spPr>
          <a:xfrm>
            <a:off x="3264408" y="3511296"/>
            <a:ext cx="5559552" cy="621792"/>
          </a:xfrm>
          <a:prstGeom prst="rect">
            <a:avLst/>
          </a:prstGeom>
          <a:solidFill>
            <a:srgbClr val="FFFFFF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in 8 questions or fewer = 1 point. Swap!</a:t>
            </a:r>
            <a:endParaRPr lang="en-US" sz="1300" dirty="0"/>
          </a:p>
        </p:txBody>
      </p:sp>
    </p:spTree>
  </p:cSld>
  <p:clrMapOvr>
    <a:masterClrMapping/>
  </p:clrMapOvr>
  <p:transition spd="med">
    <p:push dir="l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velFrame_203"/>
          <p:cNvSpPr/>
          <p:nvPr/>
        </p:nvSpPr>
        <p:spPr>
          <a:xfrm>
            <a:off x="54864" y="54864"/>
            <a:ext cx="9034272" cy="5033772"/>
          </a:xfrm>
          <a:prstGeom prst="rect">
            <a:avLst/>
          </a:prstGeom>
          <a:ln w="114300">
            <a:solidFill>
              <a:srgbClr val="C9B3F0"/>
            </a:solidFill>
            <a:prstDash val="solid"/>
          </a:ln>
        </p:spPr>
      </p:sp>
      <p:pic>
        <p:nvPicPr>
          <p:cNvPr id="3" name="logo_204" descr="London Language School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82880"/>
            <a:ext cx="585216" cy="585216"/>
          </a:xfrm>
          <a:prstGeom prst="rect">
            <a:avLst/>
          </a:prstGeom>
        </p:spPr>
      </p:pic>
      <p:sp>
        <p:nvSpPr>
          <p:cNvPr id="4" name="objective_205"/>
          <p:cNvSpPr txBox="1"/>
          <p:nvPr/>
        </p:nvSpPr>
        <p:spPr>
          <a:xfrm>
            <a:off x="320040" y="182880"/>
            <a:ext cx="4754880" cy="365760"/>
          </a:xfrm>
          <a:prstGeom prst="roundRect">
            <a:avLst>
              <a:gd name="adj" fmla="val 20000"/>
            </a:avLst>
          </a:prstGeom>
          <a:solidFill>
            <a:srgbClr val="062F67"/>
          </a:solidFill>
          <a:ln w="31750">
            <a:solidFill>
              <a:srgbClr val="111111"/>
            </a:solidFill>
          </a:ln>
        </p:spPr>
        <p:txBody>
          <a:bodyPr wrap="square" lIns="101600" tIns="101600" rIns="101600" bIns="1016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 · Speaking · questions with be</a:t>
            </a:r>
            <a:endParaRPr lang="en-US" sz="1100" dirty="0"/>
          </a:p>
        </p:txBody>
      </p:sp>
      <p:sp>
        <p:nvSpPr>
          <p:cNvPr id="5" name="timer_206"/>
          <p:cNvSpPr txBox="1"/>
          <p:nvPr/>
        </p:nvSpPr>
        <p:spPr>
          <a:xfrm>
            <a:off x="7086600" y="219456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25400">
            <a:solidFill>
              <a:srgbClr val="6D3FC0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D3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8 min</a:t>
            </a:r>
            <a:endParaRPr lang="en-US" sz="1200" dirty="0"/>
          </a:p>
        </p:txBody>
      </p:sp>
      <p:sp>
        <p:nvSpPr>
          <p:cNvPr id="6" name="extra_207"/>
          <p:cNvSpPr txBox="1"/>
          <p:nvPr/>
        </p:nvSpPr>
        <p:spPr>
          <a:xfrm rot="360000">
            <a:off x="5943600" y="201168"/>
            <a:ext cx="1005840" cy="347472"/>
          </a:xfrm>
          <a:prstGeom prst="roundRect">
            <a:avLst>
              <a:gd name="adj" fmla="val 21053"/>
            </a:avLst>
          </a:prstGeom>
          <a:solidFill>
            <a:srgbClr val="1FA463"/>
          </a:solidFill>
          <a:ln w="31750">
            <a:solidFill>
              <a:srgbClr val="11111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EXTRA</a:t>
            </a:r>
            <a:endParaRPr lang="en-US" sz="1300" dirty="0"/>
          </a:p>
        </p:txBody>
      </p:sp>
      <p:sp>
        <p:nvSpPr>
          <p:cNvPr id="7" name="footer_208"/>
          <p:cNvSpPr txBox="1"/>
          <p:nvPr/>
        </p:nvSpPr>
        <p:spPr>
          <a:xfrm>
            <a:off x="7132320" y="4818888"/>
            <a:ext cx="1737360" cy="21945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 English · L1</a:t>
            </a:r>
            <a:endParaRPr lang="en-US" sz="1000" dirty="0"/>
          </a:p>
        </p:txBody>
      </p:sp>
      <p:sp>
        <p:nvSpPr>
          <p:cNvPr id="8" name="title_209"/>
          <p:cNvSpPr txBox="1"/>
          <p:nvPr/>
        </p:nvSpPr>
        <p:spPr>
          <a:xfrm rot="-120000">
            <a:off x="320040" y="676656"/>
            <a:ext cx="5020056" cy="530352"/>
          </a:xfrm>
          <a:prstGeom prst="rect">
            <a:avLst/>
          </a:prstGeom>
          <a:solidFill>
            <a:srgbClr val="FFD84D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127000" tIns="127000" rIns="127000" bIns="12700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Interview a celebrity chef</a:t>
            </a:r>
            <a:endParaRPr lang="en-US" sz="2000" dirty="0"/>
          </a:p>
        </p:txBody>
      </p:sp>
      <p:sp>
        <p:nvSpPr>
          <p:cNvPr id="9" name="post_210"/>
          <p:cNvSpPr/>
          <p:nvPr/>
        </p:nvSpPr>
        <p:spPr>
          <a:xfrm>
            <a:off x="429768" y="1554480"/>
            <a:ext cx="128016" cy="2194560"/>
          </a:xfrm>
          <a:prstGeom prst="rect">
            <a:avLst/>
          </a:prstGeom>
          <a:solidFill>
            <a:srgbClr val="8B5A2B"/>
          </a:solidFill>
          <a:ln w="31750">
            <a:solidFill>
              <a:srgbClr val="111111"/>
            </a:solidFill>
            <a:prstDash val="solid"/>
          </a:ln>
        </p:spPr>
      </p:sp>
      <p:sp>
        <p:nvSpPr>
          <p:cNvPr id="10" name="signA_211"/>
          <p:cNvSpPr txBox="1"/>
          <p:nvPr/>
        </p:nvSpPr>
        <p:spPr>
          <a:xfrm rot="-180000">
            <a:off x="320040" y="1371600"/>
            <a:ext cx="2240280" cy="457200"/>
          </a:xfrm>
          <a:prstGeom prst="homePlate">
            <a:avLst/>
          </a:prstGeom>
          <a:solidFill>
            <a:srgbClr val="EF2F2F"/>
          </a:solidFill>
          <a:ln w="31750">
            <a:solidFill>
              <a:srgbClr val="111111"/>
            </a:solidFill>
          </a:ln>
          <a:effectLst>
            <a:outerShdw sx="100000" sy="100000" kx="0" ky="0" algn="bl" rotWithShape="0" blurRad="101600" dist="38100" dir="2700000">
              <a:srgbClr val="000000">
                <a:alpha val="35000"/>
              </a:srgbClr>
            </a:outerShdw>
          </a:effectLst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SPEAK!</a:t>
            </a:r>
            <a:pPr indent="0" marL="0">
              <a:buNone/>
            </a:pPr>
            <a:r>
              <a:rPr lang="en-US" sz="1000" dirty="0">
                <a:solidFill>
                  <a:srgbClr val="FFF3B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 PARLA!</a:t>
            </a:r>
            <a:endParaRPr lang="en-US" sz="1500" dirty="0"/>
          </a:p>
        </p:txBody>
      </p:sp>
      <p:sp>
        <p:nvSpPr>
          <p:cNvPr id="11" name="signB_212"/>
          <p:cNvSpPr txBox="1"/>
          <p:nvPr/>
        </p:nvSpPr>
        <p:spPr>
          <a:xfrm rot="120000">
            <a:off x="365760" y="1938528"/>
            <a:ext cx="2240280" cy="1051560"/>
          </a:xfrm>
          <a:prstGeom prst="rect">
            <a:avLst/>
          </a:prstGeom>
          <a:solidFill>
            <a:srgbClr val="FFFFFF"/>
          </a:solidFill>
          <a:ln w="31750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teacher is a famous chef. Ask! No yes / no questions allowed!</a:t>
            </a:r>
            <a:endParaRPr lang="en-US" sz="1250" dirty="0"/>
          </a:p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L'insegnante è uno chef famoso. Niente domande sì / no!</a:t>
            </a:r>
            <a:endParaRPr lang="en-US" sz="1250" dirty="0"/>
          </a:p>
        </p:txBody>
      </p:sp>
      <p:sp>
        <p:nvSpPr>
          <p:cNvPr id="12" name="box_213"/>
          <p:cNvSpPr txBox="1"/>
          <p:nvPr/>
        </p:nvSpPr>
        <p:spPr>
          <a:xfrm>
            <a:off x="2788920" y="1371600"/>
            <a:ext cx="2953512" cy="868680"/>
          </a:xfrm>
          <a:prstGeom prst="rect">
            <a:avLst/>
          </a:prstGeom>
          <a:solidFill>
            <a:srgbClr val="E0F2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Where…from?</a:t>
            </a:r>
            <a:endParaRPr lang="en-US" sz="1350" dirty="0"/>
          </a:p>
        </p:txBody>
      </p:sp>
      <p:sp>
        <p:nvSpPr>
          <p:cNvPr id="13" name="box_214"/>
          <p:cNvSpPr txBox="1"/>
          <p:nvPr/>
        </p:nvSpPr>
        <p:spPr>
          <a:xfrm>
            <a:off x="5870448" y="1371600"/>
            <a:ext cx="2953512" cy="868680"/>
          </a:xfrm>
          <a:prstGeom prst="rect">
            <a:avLst/>
          </a:prstGeom>
          <a:solidFill>
            <a:srgbClr val="FCE7F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How old…?</a:t>
            </a:r>
            <a:endParaRPr lang="en-US" sz="1350" dirty="0"/>
          </a:p>
        </p:txBody>
      </p:sp>
      <p:sp>
        <p:nvSpPr>
          <p:cNvPr id="14" name="box_215"/>
          <p:cNvSpPr txBox="1"/>
          <p:nvPr/>
        </p:nvSpPr>
        <p:spPr>
          <a:xfrm>
            <a:off x="2788920" y="2368296"/>
            <a:ext cx="2953512" cy="868680"/>
          </a:xfrm>
          <a:prstGeom prst="rect">
            <a:avLst/>
          </a:prstGeom>
          <a:solidFill>
            <a:srgbClr val="FEF9C3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What…favourite dish?</a:t>
            </a:r>
            <a:endParaRPr lang="en-US" sz="1350" dirty="0"/>
          </a:p>
        </p:txBody>
      </p:sp>
      <p:sp>
        <p:nvSpPr>
          <p:cNvPr id="15" name="box_216"/>
          <p:cNvSpPr txBox="1"/>
          <p:nvPr/>
        </p:nvSpPr>
        <p:spPr>
          <a:xfrm>
            <a:off x="5870448" y="2368296"/>
            <a:ext cx="2953512" cy="868680"/>
          </a:xfrm>
          <a:prstGeom prst="rect">
            <a:avLst/>
          </a:prstGeom>
          <a:solidFill>
            <a:srgbClr val="DCFCE7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Where…restaurant?</a:t>
            </a:r>
            <a:endParaRPr lang="en-US" sz="1350" dirty="0"/>
          </a:p>
        </p:txBody>
      </p:sp>
      <p:sp>
        <p:nvSpPr>
          <p:cNvPr id="16" name="box_217"/>
          <p:cNvSpPr txBox="1"/>
          <p:nvPr/>
        </p:nvSpPr>
        <p:spPr>
          <a:xfrm>
            <a:off x="2788920" y="3364992"/>
            <a:ext cx="2953512" cy="868680"/>
          </a:xfrm>
          <a:prstGeom prst="rect">
            <a:avLst/>
          </a:prstGeom>
          <a:solidFill>
            <a:srgbClr val="EDE9FE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Who…your hero?</a:t>
            </a:r>
            <a:endParaRPr lang="en-US" sz="1350" dirty="0"/>
          </a:p>
        </p:txBody>
      </p:sp>
      <p:sp>
        <p:nvSpPr>
          <p:cNvPr id="17" name="box_218"/>
          <p:cNvSpPr txBox="1"/>
          <p:nvPr/>
        </p:nvSpPr>
        <p:spPr>
          <a:xfrm>
            <a:off x="5870448" y="3364992"/>
            <a:ext cx="2953512" cy="868680"/>
          </a:xfrm>
          <a:prstGeom prst="rect">
            <a:avLst/>
          </a:prstGeom>
          <a:solidFill>
            <a:srgbClr val="FFEDD5"/>
          </a:solidFill>
          <a:ln w="15875">
            <a:solidFill>
              <a:srgbClr val="111111"/>
            </a:solidFill>
          </a:ln>
        </p:spPr>
        <p:txBody>
          <a:bodyPr wrap="square" lIns="76200" tIns="76200" rIns="76200" bIns="7620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What…worst thing about the job?</a:t>
            </a:r>
            <a:endParaRPr lang="en-US" sz="1350" dirty="0"/>
          </a:p>
        </p:txBody>
      </p:sp>
    </p:spTree>
  </p:cSld>
  <p:clrMapOvr>
    <a:masterClrMapping/>
  </p:clrMapOvr>
  <p:transition spd="med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London Language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Kitchen English L1 Welcome to the kitchen</dc:title>
  <dc:subject>PptxGenJS Presentation</dc:subject>
  <dc:creator>London Language School</dc:creator>
  <cp:lastModifiedBy>London Language School</cp:lastModifiedBy>
  <cp:revision>1</cp:revision>
  <dcterms:created xsi:type="dcterms:W3CDTF">2026-10-04T20:37:08Z</dcterms:created>
  <dcterms:modified xsi:type="dcterms:W3CDTF">2026-10-04T20:37:08Z</dcterms:modified>
</cp:coreProperties>
</file>