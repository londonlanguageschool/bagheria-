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1 (60 min). Aims: kitchen jobs, the verb be (+ – ?), introductions, first kitchen calls. First lesson of the course, so no revision slide. Click 1: question. Let them answer before click 2. Ask: Who is the boss? Is he/she strict?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SPEAKING · Warm-up (7 min)
WARM-UP (7 min). VARIATION: spot the lie + curiosity gap — they need questions to find the lie. Teacher models first with 3 sentences about yourself. Listen for be errors (I have 30 years / he is chef) and keep them for the 'Spot the error'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The kitchen team (8 min)
VOCABULARY (8 min). Pairs match using the word bank (bottom left), then click 1 for all answers with Italian. Drill pronunciation: sous /suː/ chef, commis /ˈkɒmi/, de partie /də pɑːˈtiː/. Ask: Who has these jobs in YOUR kitchen?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Opinions (5 min)
RANKING (5 min). VARIATION: ranking + forbidden easy answer. After 1 minute, click 1: they cannot say 'difficult' any more. Pre-teach: stressful, tiring, boring, hard work, well paid, badly paid. Follow-up: Who disagrees? Convince me!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verb be (6 min)
GRAMMAR (6 min). Elicit from the warm-up sentences. Italian learners: avere for age, no article before jobs, word order in questions. Students copy the Watch out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Be the teacher (5 min)
SPOT THE ERROR (5 min). VARIATION: student as teacher. Pairs correct, click 1 for answers. Then each chef writes ONE wrong sentence about the team for the partner to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SPEAKING · Role-play (12 min)
ROLE-PLAY (12 min). 1) Read once. 2) Swap roles, book closed, real names and real kitchens. 3) Change the rule: B must ask ONE extra follow-up question (Really? How long…? Is it hot on the grill?). VARIATION: perspective change (new person vs boss) + unexpected follow-ups.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LEXICON · Kitchen calls (6 min)
LEXICON (6 min). VARIATION: change the energy — get them standing. Teacher mimes (carry a hot pan, walk behind them with a 'knife' = a pen, come round a corner); students shout the call. Then swap: they mime, the teacher shouts. Click 1 shows the Italian. We use these calls in every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Exit · what can you remember? (3 min)
EXIT (3 min). Students choose a face for each can-do. Homework: the L1 homework sheet (attach it in the portal).
Can-dos: I can name the jobs in a kitchen team. · I can use the verb be: I'm / he isn't / Are you…? · I can introduce myself on my first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Game · yes / no questions (8 min)
EXTRA GAME (8 min) if there is time, or next lesson as a filler. Practises be questions and short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questions with be (8 min)
EXTRA (8 min). VARIATION: constraint challenge (only Wh- questions). Teacher chooses a famous chef (e.g. Gordon Ramsay, Massimo Bottura) — students guess who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1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L1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Welcome to the kitchen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kitchen team · the verb be + questions · your first day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the kitchen team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the verb be + questions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your first day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Our head chef is…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toque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the boss in your kitchen?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truths and a lie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3 things about you. One is a lie!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3 cose su di te. Una è una bugia!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Warm-up</a:t>
            </a:r>
            <a:endParaRPr lang="en-US" sz="800" dirty="0"/>
          </a:p>
        </p:txBody>
      </p:sp>
      <p:sp>
        <p:nvSpPr>
          <p:cNvPr id="12" name="R1_qb2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7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3 short sentences about you and your job. Two are true. One is a lie.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from Palermo. · I'm a pastry chef. · My restaurant is open on Mondays.</a:t>
            </a:r>
            <a:endParaRPr lang="en-US" sz="1250" dirty="0"/>
          </a:p>
        </p:txBody>
      </p:sp>
      <p:sp>
        <p:nvSpPr>
          <p:cNvPr id="14" name="R2_qb28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9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them to your partner.</a:t>
            </a:r>
            <a:endParaRPr lang="en-US" sz="1250" dirty="0"/>
          </a:p>
        </p:txBody>
      </p:sp>
      <p:sp>
        <p:nvSpPr>
          <p:cNvPr id="16" name="R3_qb30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31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 2 questions: Are you really…? Where is…? Is it…?</a:t>
            </a:r>
            <a:endParaRPr lang="en-US" sz="1250" dirty="0"/>
          </a:p>
        </p:txBody>
      </p:sp>
      <p:sp>
        <p:nvSpPr>
          <p:cNvPr id="18" name="R4_qb32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33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lie! Then swap.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6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who in the kitchen?</a:t>
            </a:r>
            <a:endParaRPr lang="en-US" sz="2500" dirty="0"/>
          </a:p>
        </p:txBody>
      </p:sp>
      <p:pic>
        <p:nvPicPr>
          <p:cNvPr id="6" name="brP_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3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the jobs to the descriptions.</a:t>
            </a:r>
            <a:endParaRPr lang="en-US" sz="1250" dirty="0"/>
          </a:p>
        </p:txBody>
      </p:sp>
      <p:sp>
        <p:nvSpPr>
          <p:cNvPr id="8" name="insIT_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 i lavori alle descrizioni.</a:t>
            </a:r>
            <a:endParaRPr lang="en-US" sz="950" dirty="0"/>
          </a:p>
        </p:txBody>
      </p:sp>
      <p:sp>
        <p:nvSpPr>
          <p:cNvPr id="9" name="note_4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250" dirty="0"/>
          </a:p>
        </p:txBody>
      </p:sp>
      <p:pic>
        <p:nvPicPr>
          <p:cNvPr id="10" name="logo_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VOCABULARY · The kitchen team</a:t>
            </a:r>
            <a:endParaRPr lang="en-US" sz="800" dirty="0"/>
          </a:p>
        </p:txBody>
      </p:sp>
      <p:sp>
        <p:nvSpPr>
          <p:cNvPr id="12" name="bd_43"/>
          <p:cNvSpPr/>
          <p:nvPr/>
        </p:nvSpPr>
        <p:spPr>
          <a:xfrm>
            <a:off x="54864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44"/>
          <p:cNvSpPr/>
          <p:nvPr/>
        </p:nvSpPr>
        <p:spPr>
          <a:xfrm>
            <a:off x="932688" y="1417320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boss – he / she writes the menu</a:t>
            </a:r>
            <a:endParaRPr lang="en-US" sz="1150" dirty="0"/>
          </a:p>
        </p:txBody>
      </p:sp>
      <p:sp>
        <p:nvSpPr>
          <p:cNvPr id="14" name="R1_chip45"/>
          <p:cNvSpPr/>
          <p:nvPr/>
        </p:nvSpPr>
        <p:spPr>
          <a:xfrm>
            <a:off x="4297680" y="1417320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head chef – capo chef</a:t>
            </a:r>
            <a:endParaRPr lang="en-US" sz="1200" dirty="0"/>
          </a:p>
        </p:txBody>
      </p:sp>
      <p:sp>
        <p:nvSpPr>
          <p:cNvPr id="15" name="bd_46"/>
          <p:cNvSpPr/>
          <p:nvPr/>
        </p:nvSpPr>
        <p:spPr>
          <a:xfrm>
            <a:off x="54864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47"/>
          <p:cNvSpPr/>
          <p:nvPr/>
        </p:nvSpPr>
        <p:spPr>
          <a:xfrm>
            <a:off x="932688" y="1887583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second in charge – helps the boss</a:t>
            </a:r>
            <a:endParaRPr lang="en-US" sz="1150" dirty="0"/>
          </a:p>
        </p:txBody>
      </p:sp>
      <p:sp>
        <p:nvSpPr>
          <p:cNvPr id="17" name="R2_chip48"/>
          <p:cNvSpPr/>
          <p:nvPr/>
        </p:nvSpPr>
        <p:spPr>
          <a:xfrm>
            <a:off x="4297680" y="1887583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sous chef – vice capo</a:t>
            </a:r>
            <a:endParaRPr lang="en-US" sz="1200" dirty="0"/>
          </a:p>
        </p:txBody>
      </p:sp>
      <p:sp>
        <p:nvSpPr>
          <p:cNvPr id="18" name="bd_49"/>
          <p:cNvSpPr/>
          <p:nvPr/>
        </p:nvSpPr>
        <p:spPr>
          <a:xfrm>
            <a:off x="54864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50"/>
          <p:cNvSpPr/>
          <p:nvPr/>
        </p:nvSpPr>
        <p:spPr>
          <a:xfrm>
            <a:off x="932688" y="2357846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 for one section, e.g. sauces</a:t>
            </a:r>
            <a:endParaRPr lang="en-US" sz="1150" dirty="0"/>
          </a:p>
        </p:txBody>
      </p:sp>
      <p:sp>
        <p:nvSpPr>
          <p:cNvPr id="20" name="R3_chip51"/>
          <p:cNvSpPr/>
          <p:nvPr/>
        </p:nvSpPr>
        <p:spPr>
          <a:xfrm>
            <a:off x="4297680" y="2357846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de partie – capo partita</a:t>
            </a:r>
            <a:endParaRPr lang="en-US" sz="1200" dirty="0"/>
          </a:p>
        </p:txBody>
      </p:sp>
      <p:sp>
        <p:nvSpPr>
          <p:cNvPr id="21" name="bd_52"/>
          <p:cNvSpPr/>
          <p:nvPr/>
        </p:nvSpPr>
        <p:spPr>
          <a:xfrm>
            <a:off x="54864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53"/>
          <p:cNvSpPr/>
          <p:nvPr/>
        </p:nvSpPr>
        <p:spPr>
          <a:xfrm>
            <a:off x="932688" y="2828109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junior chef – still learning</a:t>
            </a:r>
            <a:endParaRPr lang="en-US" sz="1150" dirty="0"/>
          </a:p>
        </p:txBody>
      </p:sp>
      <p:sp>
        <p:nvSpPr>
          <p:cNvPr id="23" name="R4_chip54"/>
          <p:cNvSpPr/>
          <p:nvPr/>
        </p:nvSpPr>
        <p:spPr>
          <a:xfrm>
            <a:off x="4297680" y="2828109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commis chef – aiuto cuoco</a:t>
            </a:r>
            <a:endParaRPr lang="en-US" sz="1200" dirty="0"/>
          </a:p>
        </p:txBody>
      </p:sp>
      <p:sp>
        <p:nvSpPr>
          <p:cNvPr id="24" name="bd_55"/>
          <p:cNvSpPr/>
          <p:nvPr/>
        </p:nvSpPr>
        <p:spPr>
          <a:xfrm>
            <a:off x="54864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56"/>
          <p:cNvSpPr/>
          <p:nvPr/>
        </p:nvSpPr>
        <p:spPr>
          <a:xfrm>
            <a:off x="932688" y="3298371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desserts, bread and cakes</a:t>
            </a:r>
            <a:endParaRPr lang="en-US" sz="1150" dirty="0"/>
          </a:p>
        </p:txBody>
      </p:sp>
      <p:sp>
        <p:nvSpPr>
          <p:cNvPr id="26" name="R5_chip57"/>
          <p:cNvSpPr/>
          <p:nvPr/>
        </p:nvSpPr>
        <p:spPr>
          <a:xfrm>
            <a:off x="4297680" y="3298371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pastry chef – pasticciere</a:t>
            </a:r>
            <a:endParaRPr lang="en-US" sz="1200" dirty="0"/>
          </a:p>
        </p:txBody>
      </p:sp>
      <p:sp>
        <p:nvSpPr>
          <p:cNvPr id="27" name="bd_58"/>
          <p:cNvSpPr/>
          <p:nvPr/>
        </p:nvSpPr>
        <p:spPr>
          <a:xfrm>
            <a:off x="54864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59"/>
          <p:cNvSpPr/>
          <p:nvPr/>
        </p:nvSpPr>
        <p:spPr>
          <a:xfrm>
            <a:off x="932688" y="3768634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washes the pots and cleans</a:t>
            </a:r>
            <a:endParaRPr lang="en-US" sz="1150" dirty="0"/>
          </a:p>
        </p:txBody>
      </p:sp>
      <p:sp>
        <p:nvSpPr>
          <p:cNvPr id="29" name="R6_chip60"/>
          <p:cNvSpPr/>
          <p:nvPr/>
        </p:nvSpPr>
        <p:spPr>
          <a:xfrm>
            <a:off x="4297680" y="3768634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porter (KP) – lavapiatti</a:t>
            </a:r>
            <a:endParaRPr lang="en-US" sz="1200" dirty="0"/>
          </a:p>
        </p:txBody>
      </p:sp>
      <p:sp>
        <p:nvSpPr>
          <p:cNvPr id="30" name="bd_61"/>
          <p:cNvSpPr/>
          <p:nvPr/>
        </p:nvSpPr>
        <p:spPr>
          <a:xfrm>
            <a:off x="54864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62"/>
          <p:cNvSpPr/>
          <p:nvPr/>
        </p:nvSpPr>
        <p:spPr>
          <a:xfrm>
            <a:off x="932688" y="4238897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takes the food to the customers</a:t>
            </a:r>
            <a:endParaRPr lang="en-US" sz="1150" dirty="0"/>
          </a:p>
        </p:txBody>
      </p:sp>
      <p:sp>
        <p:nvSpPr>
          <p:cNvPr id="32" name="R7_chip63"/>
          <p:cNvSpPr/>
          <p:nvPr/>
        </p:nvSpPr>
        <p:spPr>
          <a:xfrm>
            <a:off x="4297680" y="4238897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waiter / waitress – cameriere/a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6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66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hardest job in the kitchen?</a:t>
            </a:r>
            <a:endParaRPr lang="en-US" sz="2500" dirty="0"/>
          </a:p>
        </p:txBody>
      </p:sp>
      <p:pic>
        <p:nvPicPr>
          <p:cNvPr id="6" name="brP_6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68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 on an order. Explain your top and bottom!</a:t>
            </a:r>
            <a:endParaRPr lang="en-US" sz="1250" dirty="0"/>
          </a:p>
        </p:txBody>
      </p:sp>
      <p:sp>
        <p:nvSpPr>
          <p:cNvPr id="8" name="insIT_6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Mettetevi d'accordo. Spiegate il primo e l'ultimo!</a:t>
            </a:r>
            <a:endParaRPr lang="en-US" sz="950" dirty="0"/>
          </a:p>
        </p:txBody>
      </p:sp>
      <p:sp>
        <p:nvSpPr>
          <p:cNvPr id="9" name="note_7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Opinions</a:t>
            </a:r>
            <a:endParaRPr lang="en-US" sz="800" dirty="0"/>
          </a:p>
        </p:txBody>
      </p:sp>
      <p:sp>
        <p:nvSpPr>
          <p:cNvPr id="12" name="cd_73"/>
          <p:cNvSpPr/>
          <p:nvPr/>
        </p:nvSpPr>
        <p:spPr>
          <a:xfrm>
            <a:off x="320040" y="141732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75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76"/>
          <p:cNvSpPr/>
          <p:nvPr/>
        </p:nvSpPr>
        <p:spPr>
          <a:xfrm>
            <a:off x="886968" y="191109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is the hardest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agree – 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me, number 1 is…</a:t>
            </a:r>
            <a:endParaRPr lang="en-US" sz="1150" dirty="0"/>
          </a:p>
        </p:txBody>
      </p:sp>
      <p:sp>
        <p:nvSpPr>
          <p:cNvPr id="16" name="R1_qb7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78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HARDEST → EASIEST: put them in order.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head chef · sous chef · pastry chef · commis chef · kitchen porter · waiter / waitress</a:t>
            </a:r>
            <a:endParaRPr lang="en-US" sz="950" dirty="0"/>
          </a:p>
        </p:txBody>
      </p:sp>
      <p:sp>
        <p:nvSpPr>
          <p:cNvPr id="18" name="R2_qb79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80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RULE! ✗ difficult  ✓ stressful · tiring · hot · boring · hard work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verb be</a:t>
            </a:r>
            <a:endParaRPr lang="en-US" sz="2500" dirty="0"/>
          </a:p>
        </p:txBody>
      </p:sp>
      <p:sp>
        <p:nvSpPr>
          <p:cNvPr id="6" name="note_84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85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GRAMMAR · The verb be</a:t>
            </a:r>
            <a:endParaRPr lang="en-US" sz="800" dirty="0"/>
          </a:p>
        </p:txBody>
      </p:sp>
      <p:sp>
        <p:nvSpPr>
          <p:cNvPr id="9" name="cd_87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88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1" name="R1_rx89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chef.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the head chef.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from Naples.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a team.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waiters.</a:t>
            </a:r>
            <a:endParaRPr lang="en-US" sz="1400" dirty="0"/>
          </a:p>
        </p:txBody>
      </p:sp>
      <p:sp>
        <p:nvSpPr>
          <p:cNvPr id="12" name="cd_90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91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–</a:t>
            </a:r>
            <a:endParaRPr lang="en-US" sz="1250" dirty="0"/>
          </a:p>
        </p:txBody>
      </p:sp>
      <p:sp>
        <p:nvSpPr>
          <p:cNvPr id="14" name="R2_rx92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the boss.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isn't here today.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aren't ready.</a:t>
            </a:r>
            <a:endParaRPr lang="en-US" sz="1400" dirty="0"/>
          </a:p>
        </p:txBody>
      </p:sp>
      <p:sp>
        <p:nvSpPr>
          <p:cNvPr id="15" name="R2_ri93"/>
          <p:cNvSpPr/>
          <p:nvPr/>
        </p:nvSpPr>
        <p:spPr>
          <a:xfrm>
            <a:off x="33070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sono / non è / non siamo</a:t>
            </a:r>
            <a:endParaRPr lang="en-US" sz="1100" dirty="0"/>
          </a:p>
        </p:txBody>
      </p:sp>
      <p:sp>
        <p:nvSpPr>
          <p:cNvPr id="16" name="cd_9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9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18" name="R3_rx96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the sous chef?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she new?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the KP?</a:t>
            </a:r>
            <a:endParaRPr lang="en-US" sz="1400" dirty="0"/>
          </a:p>
        </p:txBody>
      </p:sp>
      <p:sp>
        <p:nvSpPr>
          <p:cNvPr id="19" name="R3_ri97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 / No, she isn't. · (not: Yes, I'm.)</a:t>
            </a:r>
            <a:endParaRPr lang="en-US" sz="900" dirty="0"/>
          </a:p>
        </p:txBody>
      </p:sp>
      <p:sp>
        <p:nvSpPr>
          <p:cNvPr id="20" name="R4_wc98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4_w99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have 35 years → ✓ I'm 35.     ✗ He is chef → ✓ He's a chef.     ✗ Where you are from? → ✓ Where are you from?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0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mistake!</a:t>
            </a:r>
            <a:endParaRPr lang="en-US" sz="2500" dirty="0"/>
          </a:p>
        </p:txBody>
      </p:sp>
      <p:pic>
        <p:nvPicPr>
          <p:cNvPr id="6" name="brP_1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104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mistake in each sentence. Correct it!</a:t>
            </a:r>
            <a:endParaRPr lang="en-US" sz="1250" dirty="0"/>
          </a:p>
        </p:txBody>
      </p:sp>
      <p:sp>
        <p:nvSpPr>
          <p:cNvPr id="8" name="insIT_10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errore in ogni frase. Correggilo!</a:t>
            </a:r>
            <a:endParaRPr lang="en-US" sz="950" dirty="0"/>
          </a:p>
        </p:txBody>
      </p:sp>
      <p:sp>
        <p:nvSpPr>
          <p:cNvPr id="9" name="note_10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1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GRAMMAR · Be the teacher</a:t>
            </a:r>
            <a:endParaRPr lang="en-US" sz="800" dirty="0"/>
          </a:p>
        </p:txBody>
      </p:sp>
      <p:sp>
        <p:nvSpPr>
          <p:cNvPr id="12" name="bd_109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10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is chef.</a:t>
            </a:r>
            <a:endParaRPr lang="en-US" sz="1300" dirty="0"/>
          </a:p>
        </p:txBody>
      </p:sp>
      <p:sp>
        <p:nvSpPr>
          <p:cNvPr id="14" name="R1_chip111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a chef.</a:t>
            </a:r>
            <a:endParaRPr lang="en-US" sz="1200" dirty="0"/>
          </a:p>
        </p:txBody>
      </p:sp>
      <p:sp>
        <p:nvSpPr>
          <p:cNvPr id="15" name="bd_112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13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 35 years.</a:t>
            </a:r>
            <a:endParaRPr lang="en-US" sz="1300" dirty="0"/>
          </a:p>
        </p:txBody>
      </p:sp>
      <p:sp>
        <p:nvSpPr>
          <p:cNvPr id="17" name="R2_chip114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35.</a:t>
            </a:r>
            <a:endParaRPr lang="en-US" sz="1200" dirty="0"/>
          </a:p>
        </p:txBody>
      </p:sp>
      <p:sp>
        <p:nvSpPr>
          <p:cNvPr id="18" name="bd_115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16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 are from?</a:t>
            </a:r>
            <a:endParaRPr lang="en-US" sz="1300" dirty="0"/>
          </a:p>
        </p:txBody>
      </p:sp>
      <p:sp>
        <p:nvSpPr>
          <p:cNvPr id="20" name="R3_chip117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you from?</a:t>
            </a:r>
            <a:endParaRPr lang="en-US" sz="1200" dirty="0"/>
          </a:p>
        </p:txBody>
      </p:sp>
      <p:sp>
        <p:nvSpPr>
          <p:cNvPr id="21" name="bd_118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19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is in the kitchen.</a:t>
            </a:r>
            <a:endParaRPr lang="en-US" sz="1300" dirty="0"/>
          </a:p>
        </p:txBody>
      </p:sp>
      <p:sp>
        <p:nvSpPr>
          <p:cNvPr id="23" name="R4_chip120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in the kitchen.</a:t>
            </a:r>
            <a:endParaRPr lang="en-US" sz="1200" dirty="0"/>
          </a:p>
        </p:txBody>
      </p:sp>
      <p:sp>
        <p:nvSpPr>
          <p:cNvPr id="24" name="bd_121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22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new? – Yes, I'm.</a:t>
            </a:r>
            <a:endParaRPr lang="en-US" sz="1300" dirty="0"/>
          </a:p>
        </p:txBody>
      </p:sp>
      <p:sp>
        <p:nvSpPr>
          <p:cNvPr id="26" name="R5_chip123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</a:t>
            </a:r>
            <a:endParaRPr lang="en-US" sz="1200" dirty="0"/>
          </a:p>
        </p:txBody>
      </p:sp>
      <p:sp>
        <p:nvSpPr>
          <p:cNvPr id="27" name="bd_124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25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colleagues is from Bagheria.</a:t>
            </a:r>
            <a:endParaRPr lang="en-US" sz="1300" dirty="0"/>
          </a:p>
        </p:txBody>
      </p:sp>
      <p:sp>
        <p:nvSpPr>
          <p:cNvPr id="29" name="R6_chip126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colleagues are from…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first day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new. B is the sous chef. Then swap!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è nuovo. B è il sous chef. Poi scambiatevi!</a:t>
            </a:r>
            <a:endParaRPr lang="en-US" sz="950" dirty="0"/>
          </a:p>
        </p:txBody>
      </p:sp>
      <p:sp>
        <p:nvSpPr>
          <p:cNvPr id="9" name="note_1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12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Guided discovery</a:t>
            </a:r>
            <a:endParaRPr lang="en-US" sz="1250" dirty="0"/>
          </a:p>
        </p:txBody>
      </p:sp>
      <p:pic>
        <p:nvPicPr>
          <p:cNvPr id="10" name="logo_1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Role-play</a:t>
            </a:r>
            <a:endParaRPr lang="en-US" sz="800" dirty="0"/>
          </a:p>
        </p:txBody>
      </p:sp>
      <p:sp>
        <p:nvSpPr>
          <p:cNvPr id="12" name="cd_136"/>
          <p:cNvSpPr/>
          <p:nvPr/>
        </p:nvSpPr>
        <p:spPr>
          <a:xfrm>
            <a:off x="320040" y="1417320"/>
            <a:ext cx="2606040" cy="2535936"/>
          </a:xfrm>
          <a:prstGeom prst="roundRect">
            <a:avLst>
              <a:gd name="adj" fmla="val 504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3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138"/>
          <p:cNvSpPr/>
          <p:nvPr/>
        </p:nvSpPr>
        <p:spPr>
          <a:xfrm>
            <a:off x="8869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139"/>
          <p:cNvSpPr/>
          <p:nvPr/>
        </p:nvSpPr>
        <p:spPr>
          <a:xfrm>
            <a:off x="886968" y="1911096"/>
            <a:ext cx="1947672" cy="1969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Nice to meet you.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/ Where are…?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is…?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the…?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can you repeat that?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spell that?</a:t>
            </a:r>
            <a:endParaRPr lang="en-US" sz="1200" dirty="0"/>
          </a:p>
        </p:txBody>
      </p:sp>
      <p:sp>
        <p:nvSpPr>
          <p:cNvPr id="16" name="who_140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17" name="sl_141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Hi! Are you the new commis chef?</a:t>
            </a:r>
            <a:endParaRPr lang="en-US" sz="1150" dirty="0"/>
          </a:p>
        </p:txBody>
      </p:sp>
      <p:sp>
        <p:nvSpPr>
          <p:cNvPr id="18" name="who_142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19" name="sl_143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 I'm… Nice to meet you.</a:t>
            </a:r>
            <a:endParaRPr lang="en-US" sz="1150" dirty="0"/>
          </a:p>
        </p:txBody>
      </p:sp>
      <p:sp>
        <p:nvSpPr>
          <p:cNvPr id="20" name="who_144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1" name="sl_145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Nice to meet you too. I'm…, the sous chef. Where are you from?</a:t>
            </a:r>
            <a:endParaRPr lang="en-US" sz="1150" dirty="0"/>
          </a:p>
        </p:txBody>
      </p:sp>
      <p:sp>
        <p:nvSpPr>
          <p:cNvPr id="22" name="who_146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l_147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from… Where's the changing room?</a:t>
            </a:r>
            <a:endParaRPr lang="en-US" sz="1150" dirty="0"/>
          </a:p>
        </p:txBody>
      </p:sp>
      <p:sp>
        <p:nvSpPr>
          <p:cNvPr id="24" name="who_148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l_149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next to the office. Your section is the grill.</a:t>
            </a:r>
            <a:endParaRPr lang="en-US" sz="1150" dirty="0"/>
          </a:p>
        </p:txBody>
      </p:sp>
      <p:sp>
        <p:nvSpPr>
          <p:cNvPr id="26" name="who_150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7" name="sl_151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OK. What time is service?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15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Shout it!</a:t>
            </a:r>
            <a:endParaRPr lang="en-US" sz="2500" dirty="0"/>
          </a:p>
        </p:txBody>
      </p:sp>
      <p:pic>
        <p:nvPicPr>
          <p:cNvPr id="6" name="brP_1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156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acts it out. You shout the call – fast!</a:t>
            </a:r>
            <a:endParaRPr lang="en-US" sz="1250" dirty="0"/>
          </a:p>
        </p:txBody>
      </p:sp>
      <p:sp>
        <p:nvSpPr>
          <p:cNvPr id="8" name="insIT_1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L'insegnante mima. Tu gridi la parola – veloce!</a:t>
            </a:r>
            <a:endParaRPr lang="en-US" sz="950" dirty="0"/>
          </a:p>
        </p:txBody>
      </p:sp>
      <p:sp>
        <p:nvSpPr>
          <p:cNvPr id="9" name="note_158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</p:txBody>
      </p:sp>
      <p:pic>
        <p:nvPicPr>
          <p:cNvPr id="10" name="logo_1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LEXICON · Kitchen calls</a:t>
            </a:r>
            <a:endParaRPr lang="en-US" sz="800" dirty="0"/>
          </a:p>
        </p:txBody>
      </p:sp>
      <p:sp>
        <p:nvSpPr>
          <p:cNvPr id="12" name="cd_161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162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👨‍🍳</a:t>
            </a:r>
            <a:endParaRPr lang="en-US" sz="2000" dirty="0"/>
          </a:p>
        </p:txBody>
      </p:sp>
      <p:sp>
        <p:nvSpPr>
          <p:cNvPr id="14" name="en_163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Yes, Chef!</a:t>
            </a:r>
            <a:endParaRPr lang="en-US" sz="1200" dirty="0"/>
          </a:p>
        </p:txBody>
      </p:sp>
      <p:sp>
        <p:nvSpPr>
          <p:cNvPr id="15" name="R1_it164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Sì, Chef!</a:t>
            </a:r>
            <a:endParaRPr lang="en-US" sz="1000" dirty="0"/>
          </a:p>
        </p:txBody>
      </p:sp>
      <p:sp>
        <p:nvSpPr>
          <p:cNvPr id="16" name="cd_165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166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👂</a:t>
            </a:r>
            <a:endParaRPr lang="en-US" sz="2000" dirty="0"/>
          </a:p>
        </p:txBody>
      </p:sp>
      <p:sp>
        <p:nvSpPr>
          <p:cNvPr id="18" name="en_167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Heard!</a:t>
            </a:r>
            <a:endParaRPr lang="en-US" sz="1200" dirty="0"/>
          </a:p>
        </p:txBody>
      </p:sp>
      <p:sp>
        <p:nvSpPr>
          <p:cNvPr id="19" name="R2_it168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Ricevuto!</a:t>
            </a:r>
            <a:endParaRPr lang="en-US" sz="1000" dirty="0"/>
          </a:p>
        </p:txBody>
      </p:sp>
      <p:sp>
        <p:nvSpPr>
          <p:cNvPr id="20" name="cd_169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70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22" name="en_171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Hot!</a:t>
            </a:r>
            <a:endParaRPr lang="en-US" sz="1200" dirty="0"/>
          </a:p>
        </p:txBody>
      </p:sp>
      <p:sp>
        <p:nvSpPr>
          <p:cNvPr id="23" name="R3_it172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Caldo! Attenzione!</a:t>
            </a:r>
            <a:endParaRPr lang="en-US" sz="1000" dirty="0"/>
          </a:p>
        </p:txBody>
      </p:sp>
      <p:sp>
        <p:nvSpPr>
          <p:cNvPr id="24" name="cd_173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74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26" name="en_175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Sharp! / Knife!</a:t>
            </a:r>
            <a:endParaRPr lang="en-US" sz="1200" dirty="0"/>
          </a:p>
        </p:txBody>
      </p:sp>
      <p:sp>
        <p:nvSpPr>
          <p:cNvPr id="27" name="R4_it176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Coltello! (lo sto portando)</a:t>
            </a:r>
            <a:endParaRPr lang="en-US" sz="800" dirty="0"/>
          </a:p>
        </p:txBody>
      </p:sp>
      <p:sp>
        <p:nvSpPr>
          <p:cNvPr id="28" name="cd_177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78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30" name="en_179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Behind!</a:t>
            </a:r>
            <a:endParaRPr lang="en-US" sz="1200" dirty="0"/>
          </a:p>
        </p:txBody>
      </p:sp>
      <p:sp>
        <p:nvSpPr>
          <p:cNvPr id="31" name="R5_it180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Dietro di te!</a:t>
            </a:r>
            <a:endParaRPr lang="en-US" sz="1000" dirty="0"/>
          </a:p>
        </p:txBody>
      </p:sp>
      <p:sp>
        <p:nvSpPr>
          <p:cNvPr id="32" name="cd_181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182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34" name="en_183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Corner!</a:t>
            </a:r>
            <a:endParaRPr lang="en-US" sz="1200" dirty="0"/>
          </a:p>
        </p:txBody>
      </p:sp>
      <p:sp>
        <p:nvSpPr>
          <p:cNvPr id="35" name="R6_it184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Angolo!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1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187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1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189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1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191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Exit · what can you remember?</a:t>
            </a:r>
            <a:endParaRPr lang="en-US" sz="800" dirty="0"/>
          </a:p>
        </p:txBody>
      </p:sp>
      <p:sp>
        <p:nvSpPr>
          <p:cNvPr id="12" name="bd_194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195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196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197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198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199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200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01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202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203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6 sentences about your kitchen team. Marco is our head chef. He's from…</a:t>
            </a:r>
            <a:endParaRPr lang="en-US" sz="900" dirty="0"/>
          </a:p>
        </p:txBody>
      </p:sp>
      <p:sp>
        <p:nvSpPr>
          <p:cNvPr id="22" name="st_204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L2 · Kitchen equipment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0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09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1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21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2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Review · what did you do today?</a:t>
            </a:r>
            <a:endParaRPr lang="en-US" sz="800" dirty="0"/>
          </a:p>
        </p:txBody>
      </p:sp>
      <p:sp>
        <p:nvSpPr>
          <p:cNvPr id="12" name="cd_214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215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4" name="tt_216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the kitchen team</a:t>
            </a:r>
            <a:endParaRPr lang="en-US" sz="1350" dirty="0"/>
          </a:p>
        </p:txBody>
      </p:sp>
      <p:sp>
        <p:nvSpPr>
          <p:cNvPr id="15" name="R1_tk217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218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219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8" name="tt_220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the verb be + questions</a:t>
            </a:r>
            <a:endParaRPr lang="en-US" sz="1350" dirty="0"/>
          </a:p>
        </p:txBody>
      </p:sp>
      <p:sp>
        <p:nvSpPr>
          <p:cNvPr id="19" name="R2_tk221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222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223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224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your first day</a:t>
            </a:r>
            <a:endParaRPr lang="en-US" sz="1350" dirty="0"/>
          </a:p>
        </p:txBody>
      </p:sp>
      <p:sp>
        <p:nvSpPr>
          <p:cNvPr id="23" name="R3_tk225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226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27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28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29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30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33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2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3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secret kitchen job. Your partner asks questions.</a:t>
            </a:r>
            <a:endParaRPr lang="en-US" sz="1250" dirty="0"/>
          </a:p>
        </p:txBody>
      </p:sp>
      <p:sp>
        <p:nvSpPr>
          <p:cNvPr id="8" name="insIT_23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un lavoro segreto. Il collega fa domande.</a:t>
            </a:r>
            <a:endParaRPr lang="en-US" sz="950" dirty="0"/>
          </a:p>
        </p:txBody>
      </p:sp>
      <p:sp>
        <p:nvSpPr>
          <p:cNvPr id="9" name="note_23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Game · yes / no questions</a:t>
            </a:r>
            <a:endParaRPr lang="en-US" sz="800" dirty="0"/>
          </a:p>
        </p:txBody>
      </p:sp>
      <p:sp>
        <p:nvSpPr>
          <p:cNvPr id="12" name="ext_240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241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242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secret job: head chef, KP, pastry chef, waiter…</a:t>
            </a:r>
            <a:endParaRPr lang="en-US" sz="1400" dirty="0"/>
          </a:p>
        </p:txBody>
      </p:sp>
      <p:sp>
        <p:nvSpPr>
          <p:cNvPr id="15" name="R2_qb243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244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 yes / no questions: Are you the boss? Is your job hot?</a:t>
            </a:r>
            <a:endParaRPr lang="en-US" sz="1400" dirty="0"/>
          </a:p>
        </p:txBody>
      </p:sp>
      <p:sp>
        <p:nvSpPr>
          <p:cNvPr id="17" name="R3_qb245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246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only: Yes, I am. / No, I'm not. / Yes, it is. / No, it isn't.</a:t>
            </a:r>
            <a:endParaRPr lang="en-US" sz="1400" dirty="0"/>
          </a:p>
        </p:txBody>
      </p:sp>
      <p:sp>
        <p:nvSpPr>
          <p:cNvPr id="19" name="R4_qb247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248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in 8 questions or fewer = 1 point. Swap!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2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251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Interview a celebrity chef</a:t>
            </a:r>
            <a:endParaRPr lang="en-US" sz="2500" dirty="0"/>
          </a:p>
        </p:txBody>
      </p:sp>
      <p:pic>
        <p:nvPicPr>
          <p:cNvPr id="6" name="brP_2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5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is a famous chef. Ask! No yes / no questions allowed!</a:t>
            </a:r>
            <a:endParaRPr lang="en-US" sz="1100" dirty="0"/>
          </a:p>
        </p:txBody>
      </p:sp>
      <p:sp>
        <p:nvSpPr>
          <p:cNvPr id="8" name="insIT_2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L'insegnante è uno chef famoso. Niente domande sì / no!</a:t>
            </a:r>
            <a:endParaRPr lang="en-US" sz="950" dirty="0"/>
          </a:p>
        </p:txBody>
      </p:sp>
      <p:sp>
        <p:nvSpPr>
          <p:cNvPr id="9" name="note_25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questions with be</a:t>
            </a:r>
            <a:endParaRPr lang="en-US" sz="800" dirty="0"/>
          </a:p>
        </p:txBody>
      </p:sp>
      <p:sp>
        <p:nvSpPr>
          <p:cNvPr id="12" name="ext_25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259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260"/>
          <p:cNvSpPr/>
          <p:nvPr/>
        </p:nvSpPr>
        <p:spPr>
          <a:xfrm>
            <a:off x="978408" y="14173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Where…from?</a:t>
            </a:r>
            <a:endParaRPr lang="en-US" sz="1400" dirty="0"/>
          </a:p>
        </p:txBody>
      </p:sp>
      <p:sp>
        <p:nvSpPr>
          <p:cNvPr id="15" name="R2_qb261"/>
          <p:cNvSpPr/>
          <p:nvPr/>
        </p:nvSpPr>
        <p:spPr>
          <a:xfrm>
            <a:off x="57607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262"/>
          <p:cNvSpPr/>
          <p:nvPr/>
        </p:nvSpPr>
        <p:spPr>
          <a:xfrm>
            <a:off x="978408" y="197358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old…?</a:t>
            </a:r>
            <a:endParaRPr lang="en-US" sz="1400" dirty="0"/>
          </a:p>
        </p:txBody>
      </p:sp>
      <p:sp>
        <p:nvSpPr>
          <p:cNvPr id="17" name="R3_qb263"/>
          <p:cNvSpPr/>
          <p:nvPr/>
        </p:nvSpPr>
        <p:spPr>
          <a:xfrm>
            <a:off x="57607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264"/>
          <p:cNvSpPr/>
          <p:nvPr/>
        </p:nvSpPr>
        <p:spPr>
          <a:xfrm>
            <a:off x="978408" y="252984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What…favourite dish?</a:t>
            </a:r>
            <a:endParaRPr lang="en-US" sz="1400" dirty="0"/>
          </a:p>
        </p:txBody>
      </p:sp>
      <p:sp>
        <p:nvSpPr>
          <p:cNvPr id="19" name="R4_qb265"/>
          <p:cNvSpPr/>
          <p:nvPr/>
        </p:nvSpPr>
        <p:spPr>
          <a:xfrm>
            <a:off x="57607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266"/>
          <p:cNvSpPr/>
          <p:nvPr/>
        </p:nvSpPr>
        <p:spPr>
          <a:xfrm>
            <a:off x="978408" y="308610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Where…restaurant?</a:t>
            </a:r>
            <a:endParaRPr lang="en-US" sz="1400" dirty="0"/>
          </a:p>
        </p:txBody>
      </p:sp>
      <p:sp>
        <p:nvSpPr>
          <p:cNvPr id="21" name="R5_qb267"/>
          <p:cNvSpPr/>
          <p:nvPr/>
        </p:nvSpPr>
        <p:spPr>
          <a:xfrm>
            <a:off x="57607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R5_sq268"/>
          <p:cNvSpPr/>
          <p:nvPr/>
        </p:nvSpPr>
        <p:spPr>
          <a:xfrm>
            <a:off x="978408" y="364236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Who…your hero?</a:t>
            </a:r>
            <a:endParaRPr lang="en-US" sz="1400" dirty="0"/>
          </a:p>
        </p:txBody>
      </p:sp>
      <p:sp>
        <p:nvSpPr>
          <p:cNvPr id="23" name="R6_qb269"/>
          <p:cNvSpPr/>
          <p:nvPr/>
        </p:nvSpPr>
        <p:spPr>
          <a:xfrm>
            <a:off x="57607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R6_sq270"/>
          <p:cNvSpPr/>
          <p:nvPr/>
        </p:nvSpPr>
        <p:spPr>
          <a:xfrm>
            <a:off x="978408" y="41986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What…worst thing about the job?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Welcome to the kitchen</dc:title>
  <dc:subject>PptxGenJS Presentation</dc:subject>
  <dc:creator>PptxGenJS</dc:creator>
  <cp:lastModifiedBy>PptxGenJS</cp:lastModifiedBy>
  <cp:revision>1</cp:revision>
  <dcterms:created xsi:type="dcterms:W3CDTF">2026-10-21T09:56:03Z</dcterms:created>
  <dcterms:modified xsi:type="dcterms:W3CDTF">2026-10-21T09:56:03Z</dcterms:modified>
</cp:coreProperties>
</file>