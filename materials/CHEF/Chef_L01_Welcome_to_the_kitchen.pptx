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1 (60 min). Aims: kitchen jobs, the verb be (+ – ?), introductions, first kitchen calls. First lesson of the course, so no revision slide. Click 1: question. Let them answer before click 2. Ask: Who is the boss? Is he/she strict?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SPEAKING · Warm-up (7 min)
WARM-UP (7 min). VARIATION: spot the lie + curiosity gap — they need questions to find the lie. Teacher models first with 3 sentences about yourself. Listen for be errors (I have 30 years / he is chef) and keep them for the 'Spot the error'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The kitchen team (8 min)
VOCABULARY (8 min). Pairs match using the word bank (bottom left), then click 1 for all answers with Italian. Drill pronunciation: sous /suː/ chef, commis /ˈkɒmi/, de partie /də pɑːˈtiː/. Ask: Who has these jobs in YOUR kitchen?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Opinions (5 min)
RANKING (5 min). VARIATION: ranking + forbidden easy answer. After 1 minute, click 1: they cannot say 'difficult' any more. Pre-teach: stressful, tiring, boring, hard work, well paid, badly paid. Follow-up: Who disagrees? Convince me!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 verb be (6 min)
GRAMMAR (6 min). Elicit from the warm-up sentences. Italian learners: avere for age, no article before jobs, word order in questions. Students copy the Watch out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Be the teacher (5 min)
SPOT THE ERROR (5 min). VARIATION: student as teacher. Pairs correct, click 1 for answers. Then each chef writes ONE wrong sentence about the team for the partner to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SPEAKING · Role-play (12 min)
ROLE-PLAY (12 min). 1) Read once. 2) Swap roles, book closed, real names and real kitchens. 3) Change the rule: B must ask ONE extra follow-up question (Really? How long…? Is it hot on the grill?). VARIATION: perspective change (new person vs boss) + unexpected follow-ups.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LEXICON · Kitchen calls (6 min)
LEXICON (6 min). VARIATION: change the energy — get them standing. Teacher mimes (carry a hot pan, walk behind them with a 'knife' = a pen, come round a corner); students shout the call. Then swap: they mime, the teacher shouts. Click 1 shows the Italian. We use these calls in every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Exit · what can you remember? (3 min)
EXIT (3 min). Students choose a face for each can-do. Homework: the L1 homework sheet (attach it in the portal).
Can-dos: I can name the jobs in a kitchen team. · I can use the verb be: I'm / he isn't / Are you…? · I can introduce myself on my first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Game · yes / no questions (8 min)
EXTRA GAME (8 min) if there is time, or next lesson as a filler. Practises be questions and short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questions with be (8 min)
EXTRA (8 min). VARIATION: constraint challenge (only Wh- questions). Teacher chooses a famous chef (e.g. Gordon Ramsay, Massimo Bottura) — students guess who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1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L1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Welcome to the kitchen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kitchen team · the verb be + questions · your first day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the kitchen team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the verb be + questions</a:t>
            </a:r>
            <a:endParaRPr lang="en-US" sz="12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your first day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Our head chef is…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toque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Who's the boss in your kitchen?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truths and a lie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3 things about you. One is a lie!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3 cose su di te. Una è una bugia!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SPEAKING · Warm-up</a:t>
            </a:r>
            <a:endParaRPr lang="en-US" sz="800" dirty="0"/>
          </a:p>
        </p:txBody>
      </p:sp>
      <p:sp>
        <p:nvSpPr>
          <p:cNvPr id="14" name="R1_qb28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29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3 short sentences about you and your job. Two are true. One is a lie.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from Palermo. · I'm a pastry chef. · My restaurant is open on Mondays.</a:t>
            </a:r>
            <a:endParaRPr lang="en-US" sz="1250" dirty="0"/>
          </a:p>
        </p:txBody>
      </p:sp>
      <p:sp>
        <p:nvSpPr>
          <p:cNvPr id="16" name="R2_qb30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31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them to your partner.</a:t>
            </a:r>
            <a:endParaRPr lang="en-US" sz="1250" dirty="0"/>
          </a:p>
        </p:txBody>
      </p:sp>
      <p:sp>
        <p:nvSpPr>
          <p:cNvPr id="18" name="R3_qb32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33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asks 2 questions: Are you really…? Where is…? Is it…?</a:t>
            </a:r>
            <a:endParaRPr lang="en-US" sz="1250" dirty="0"/>
          </a:p>
        </p:txBody>
      </p:sp>
      <p:sp>
        <p:nvSpPr>
          <p:cNvPr id="20" name="R4_qb34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35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lie! Then swap.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8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Who's who in the kitchen?</a:t>
            </a:r>
            <a:endParaRPr lang="en-US" sz="2500" dirty="0"/>
          </a:p>
        </p:txBody>
      </p:sp>
      <p:pic>
        <p:nvPicPr>
          <p:cNvPr id="6" name="brP_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0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 the jobs to the descriptions.</a:t>
            </a:r>
            <a:endParaRPr lang="en-US" sz="1250" dirty="0"/>
          </a:p>
        </p:txBody>
      </p:sp>
      <p:sp>
        <p:nvSpPr>
          <p:cNvPr id="8" name="insIT_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 i lavori alle descrizioni.</a:t>
            </a:r>
            <a:endParaRPr lang="en-US" sz="950" dirty="0"/>
          </a:p>
        </p:txBody>
      </p:sp>
      <p:sp>
        <p:nvSpPr>
          <p:cNvPr id="9" name="cmd_4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4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4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VOCABULARY · The kitchen team</a:t>
            </a:r>
            <a:endParaRPr lang="en-US" sz="800" dirty="0"/>
          </a:p>
        </p:txBody>
      </p:sp>
      <p:sp>
        <p:nvSpPr>
          <p:cNvPr id="14" name="bd_47"/>
          <p:cNvSpPr/>
          <p:nvPr/>
        </p:nvSpPr>
        <p:spPr>
          <a:xfrm>
            <a:off x="548640" y="1474143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48"/>
          <p:cNvSpPr/>
          <p:nvPr/>
        </p:nvSpPr>
        <p:spPr>
          <a:xfrm>
            <a:off x="932688" y="1417320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boss – he / she writes the menu</a:t>
            </a:r>
            <a:endParaRPr lang="en-US" sz="1150" dirty="0"/>
          </a:p>
        </p:txBody>
      </p:sp>
      <p:sp>
        <p:nvSpPr>
          <p:cNvPr id="16" name="R1_chip49"/>
          <p:cNvSpPr/>
          <p:nvPr/>
        </p:nvSpPr>
        <p:spPr>
          <a:xfrm>
            <a:off x="4297680" y="1417320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head chef – capo chef</a:t>
            </a:r>
            <a:endParaRPr lang="en-US" sz="1200" dirty="0"/>
          </a:p>
        </p:txBody>
      </p:sp>
      <p:sp>
        <p:nvSpPr>
          <p:cNvPr id="17" name="bd_50"/>
          <p:cNvSpPr/>
          <p:nvPr/>
        </p:nvSpPr>
        <p:spPr>
          <a:xfrm>
            <a:off x="548640" y="194440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51"/>
          <p:cNvSpPr/>
          <p:nvPr/>
        </p:nvSpPr>
        <p:spPr>
          <a:xfrm>
            <a:off x="932688" y="1887583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second in charge – helps the boss</a:t>
            </a:r>
            <a:endParaRPr lang="en-US" sz="1150" dirty="0"/>
          </a:p>
        </p:txBody>
      </p:sp>
      <p:sp>
        <p:nvSpPr>
          <p:cNvPr id="19" name="R2_chip52"/>
          <p:cNvSpPr/>
          <p:nvPr/>
        </p:nvSpPr>
        <p:spPr>
          <a:xfrm>
            <a:off x="4297680" y="1887583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sous chef – vice capo</a:t>
            </a:r>
            <a:endParaRPr lang="en-US" sz="1200" dirty="0"/>
          </a:p>
        </p:txBody>
      </p:sp>
      <p:sp>
        <p:nvSpPr>
          <p:cNvPr id="20" name="bd_53"/>
          <p:cNvSpPr/>
          <p:nvPr/>
        </p:nvSpPr>
        <p:spPr>
          <a:xfrm>
            <a:off x="548640" y="2414669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54"/>
          <p:cNvSpPr/>
          <p:nvPr/>
        </p:nvSpPr>
        <p:spPr>
          <a:xfrm>
            <a:off x="932688" y="2357846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 for one section, e.g. sauces</a:t>
            </a:r>
            <a:endParaRPr lang="en-US" sz="1150" dirty="0"/>
          </a:p>
        </p:txBody>
      </p:sp>
      <p:sp>
        <p:nvSpPr>
          <p:cNvPr id="22" name="R3_chip55"/>
          <p:cNvSpPr/>
          <p:nvPr/>
        </p:nvSpPr>
        <p:spPr>
          <a:xfrm>
            <a:off x="4297680" y="2357846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de partie – capo partita</a:t>
            </a:r>
            <a:endParaRPr lang="en-US" sz="1200" dirty="0"/>
          </a:p>
        </p:txBody>
      </p:sp>
      <p:sp>
        <p:nvSpPr>
          <p:cNvPr id="23" name="bd_56"/>
          <p:cNvSpPr/>
          <p:nvPr/>
        </p:nvSpPr>
        <p:spPr>
          <a:xfrm>
            <a:off x="548640" y="28849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57"/>
          <p:cNvSpPr/>
          <p:nvPr/>
        </p:nvSpPr>
        <p:spPr>
          <a:xfrm>
            <a:off x="932688" y="2828109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junior chef – still learning</a:t>
            </a:r>
            <a:endParaRPr lang="en-US" sz="1150" dirty="0"/>
          </a:p>
        </p:txBody>
      </p:sp>
      <p:sp>
        <p:nvSpPr>
          <p:cNvPr id="25" name="R4_chip58"/>
          <p:cNvSpPr/>
          <p:nvPr/>
        </p:nvSpPr>
        <p:spPr>
          <a:xfrm>
            <a:off x="4297680" y="2828109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commis chef – aiuto cuoco</a:t>
            </a:r>
            <a:endParaRPr lang="en-US" sz="1200" dirty="0"/>
          </a:p>
        </p:txBody>
      </p:sp>
      <p:sp>
        <p:nvSpPr>
          <p:cNvPr id="26" name="bd_59"/>
          <p:cNvSpPr/>
          <p:nvPr/>
        </p:nvSpPr>
        <p:spPr>
          <a:xfrm>
            <a:off x="548640" y="3355195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60"/>
          <p:cNvSpPr/>
          <p:nvPr/>
        </p:nvSpPr>
        <p:spPr>
          <a:xfrm>
            <a:off x="932688" y="3298371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desserts, bread and cakes</a:t>
            </a:r>
            <a:endParaRPr lang="en-US" sz="1150" dirty="0"/>
          </a:p>
        </p:txBody>
      </p:sp>
      <p:sp>
        <p:nvSpPr>
          <p:cNvPr id="28" name="R5_chip61"/>
          <p:cNvSpPr/>
          <p:nvPr/>
        </p:nvSpPr>
        <p:spPr>
          <a:xfrm>
            <a:off x="4297680" y="3298371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pastry chef – pasticciere</a:t>
            </a:r>
            <a:endParaRPr lang="en-US" sz="1200" dirty="0"/>
          </a:p>
        </p:txBody>
      </p:sp>
      <p:sp>
        <p:nvSpPr>
          <p:cNvPr id="29" name="bd_62"/>
          <p:cNvSpPr/>
          <p:nvPr/>
        </p:nvSpPr>
        <p:spPr>
          <a:xfrm>
            <a:off x="548640" y="3825458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63"/>
          <p:cNvSpPr/>
          <p:nvPr/>
        </p:nvSpPr>
        <p:spPr>
          <a:xfrm>
            <a:off x="932688" y="3768634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washes the pots and cleans</a:t>
            </a:r>
            <a:endParaRPr lang="en-US" sz="1150" dirty="0"/>
          </a:p>
        </p:txBody>
      </p:sp>
      <p:sp>
        <p:nvSpPr>
          <p:cNvPr id="31" name="R6_chip64"/>
          <p:cNvSpPr/>
          <p:nvPr/>
        </p:nvSpPr>
        <p:spPr>
          <a:xfrm>
            <a:off x="4297680" y="3768634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porter (KP) – lavapiatti</a:t>
            </a:r>
            <a:endParaRPr lang="en-US" sz="1200" dirty="0"/>
          </a:p>
        </p:txBody>
      </p:sp>
      <p:sp>
        <p:nvSpPr>
          <p:cNvPr id="32" name="bd_65"/>
          <p:cNvSpPr/>
          <p:nvPr/>
        </p:nvSpPr>
        <p:spPr>
          <a:xfrm>
            <a:off x="548640" y="4295721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q_66"/>
          <p:cNvSpPr/>
          <p:nvPr/>
        </p:nvSpPr>
        <p:spPr>
          <a:xfrm>
            <a:off x="932688" y="4238897"/>
            <a:ext cx="329184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takes the food to the customers</a:t>
            </a:r>
            <a:endParaRPr lang="en-US" sz="1150" dirty="0"/>
          </a:p>
        </p:txBody>
      </p:sp>
      <p:sp>
        <p:nvSpPr>
          <p:cNvPr id="34" name="R7_chip67"/>
          <p:cNvSpPr/>
          <p:nvPr/>
        </p:nvSpPr>
        <p:spPr>
          <a:xfrm>
            <a:off x="4297680" y="4238897"/>
            <a:ext cx="448056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waiter / waitress – cameriere/a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70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hardest job in the kitchen?</a:t>
            </a:r>
            <a:endParaRPr lang="en-US" sz="2500" dirty="0"/>
          </a:p>
        </p:txBody>
      </p:sp>
      <p:pic>
        <p:nvPicPr>
          <p:cNvPr id="6" name="brP_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72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Agree on an order. Explain your top and bottom!</a:t>
            </a:r>
            <a:endParaRPr lang="en-US" sz="1250" dirty="0"/>
          </a:p>
        </p:txBody>
      </p:sp>
      <p:sp>
        <p:nvSpPr>
          <p:cNvPr id="8" name="insIT_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Mettetevi d'accordo. Spiegate il primo e l'ultimo!</a:t>
            </a:r>
            <a:endParaRPr lang="en-US" sz="950" dirty="0"/>
          </a:p>
        </p:txBody>
      </p:sp>
      <p:sp>
        <p:nvSpPr>
          <p:cNvPr id="9" name="cmd_7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7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7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SPEAKING · Opinions</a:t>
            </a:r>
            <a:endParaRPr lang="en-US" sz="800" dirty="0"/>
          </a:p>
        </p:txBody>
      </p:sp>
      <p:sp>
        <p:nvSpPr>
          <p:cNvPr id="14" name="cd_79"/>
          <p:cNvSpPr/>
          <p:nvPr/>
        </p:nvSpPr>
        <p:spPr>
          <a:xfrm>
            <a:off x="320040" y="1417320"/>
            <a:ext cx="278892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8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81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82"/>
          <p:cNvSpPr/>
          <p:nvPr/>
        </p:nvSpPr>
        <p:spPr>
          <a:xfrm>
            <a:off x="886968" y="1911096"/>
            <a:ext cx="213055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is the hardest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agree – 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me, number 1 is…</a:t>
            </a:r>
            <a:endParaRPr lang="en-US" sz="1150" dirty="0"/>
          </a:p>
        </p:txBody>
      </p:sp>
      <p:sp>
        <p:nvSpPr>
          <p:cNvPr id="18" name="R1_qb8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R1_sq8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HARDEST → EASIEST: put them in order.</a:t>
            </a:r>
            <a:endParaRPr lang="en-US" sz="9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head chef · sous chef · pastry chef · commis chef · kitchen porter · waiter / waitress</a:t>
            </a:r>
            <a:endParaRPr lang="en-US" sz="950" dirty="0"/>
          </a:p>
        </p:txBody>
      </p:sp>
      <p:sp>
        <p:nvSpPr>
          <p:cNvPr id="20" name="R2_qb8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R2_sq8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RULE! ✗ difficult  ✓ stressful · tiring · hot · boring · hard work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9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verb be</a:t>
            </a:r>
            <a:endParaRPr lang="en-US" sz="2500" dirty="0"/>
          </a:p>
        </p:txBody>
      </p:sp>
      <p:sp>
        <p:nvSpPr>
          <p:cNvPr id="6" name="meta_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🙋 whole class</a:t>
            </a:r>
            <a:endParaRPr lang="en-US" sz="950" dirty="0"/>
          </a:p>
        </p:txBody>
      </p:sp>
      <p:sp>
        <p:nvSpPr>
          <p:cNvPr id="7" name="tag_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8" name="logo_92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9" name="foot_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GRAMMAR · The verb be</a:t>
            </a:r>
            <a:endParaRPr lang="en-US" sz="800" dirty="0"/>
          </a:p>
        </p:txBody>
      </p:sp>
      <p:sp>
        <p:nvSpPr>
          <p:cNvPr id="10" name="cd_94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1" name="rh_95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</a:t>
            </a:r>
            <a:endParaRPr lang="en-US" sz="1250" dirty="0"/>
          </a:p>
        </p:txBody>
      </p:sp>
      <p:sp>
        <p:nvSpPr>
          <p:cNvPr id="12" name="R1_rx96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a chef.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the head chef.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from Naples.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a team.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waiters.</a:t>
            </a:r>
            <a:endParaRPr lang="en-US" sz="1400" dirty="0"/>
          </a:p>
        </p:txBody>
      </p:sp>
      <p:sp>
        <p:nvSpPr>
          <p:cNvPr id="13" name="cd_97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98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–</a:t>
            </a:r>
            <a:endParaRPr lang="en-US" sz="1250" dirty="0"/>
          </a:p>
        </p:txBody>
      </p:sp>
      <p:sp>
        <p:nvSpPr>
          <p:cNvPr id="15" name="R2_rx99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the boss.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isn't here today.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aren't ready.</a:t>
            </a:r>
            <a:endParaRPr lang="en-US" sz="1400" dirty="0"/>
          </a:p>
        </p:txBody>
      </p:sp>
      <p:sp>
        <p:nvSpPr>
          <p:cNvPr id="16" name="R2_ri100"/>
          <p:cNvSpPr/>
          <p:nvPr/>
        </p:nvSpPr>
        <p:spPr>
          <a:xfrm>
            <a:off x="33070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sono / non è / non siamo</a:t>
            </a:r>
            <a:endParaRPr lang="en-US" sz="1100" dirty="0"/>
          </a:p>
        </p:txBody>
      </p:sp>
      <p:sp>
        <p:nvSpPr>
          <p:cNvPr id="17" name="cd_101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rh_102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?</a:t>
            </a:r>
            <a:endParaRPr lang="en-US" sz="1250" dirty="0"/>
          </a:p>
        </p:txBody>
      </p:sp>
      <p:sp>
        <p:nvSpPr>
          <p:cNvPr id="19" name="R3_rx103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the sous chef?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she new?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the KP?</a:t>
            </a:r>
            <a:endParaRPr lang="en-US" sz="1400" dirty="0"/>
          </a:p>
        </p:txBody>
      </p:sp>
      <p:sp>
        <p:nvSpPr>
          <p:cNvPr id="20" name="R3_ri104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am. / No, she isn't. · (not: Yes, I'm.)</a:t>
            </a:r>
            <a:endParaRPr lang="en-US" sz="900" dirty="0"/>
          </a:p>
        </p:txBody>
      </p:sp>
      <p:sp>
        <p:nvSpPr>
          <p:cNvPr id="21" name="R4_wc105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4_w106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have 35 years → ✓ I'm 35.     ✗ He is chef → ✓ He's a chef.     ✗ Where you are from? → ✓ Where are you from?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0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09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mistake!</a:t>
            </a:r>
            <a:endParaRPr lang="en-US" sz="2500" dirty="0"/>
          </a:p>
        </p:txBody>
      </p:sp>
      <p:pic>
        <p:nvPicPr>
          <p:cNvPr id="6" name="brP_11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111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mistake in each sentence. Correct it!</a:t>
            </a:r>
            <a:endParaRPr lang="en-US" sz="1250" dirty="0"/>
          </a:p>
        </p:txBody>
      </p:sp>
      <p:sp>
        <p:nvSpPr>
          <p:cNvPr id="8" name="insIT_11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errore in ogni frase. Correggilo!</a:t>
            </a:r>
            <a:endParaRPr lang="en-US" sz="950" dirty="0"/>
          </a:p>
        </p:txBody>
      </p:sp>
      <p:sp>
        <p:nvSpPr>
          <p:cNvPr id="9" name="cmd_11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1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11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1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GRAMMAR · Be the teacher</a:t>
            </a:r>
            <a:endParaRPr lang="en-US" sz="800" dirty="0"/>
          </a:p>
        </p:txBody>
      </p:sp>
      <p:sp>
        <p:nvSpPr>
          <p:cNvPr id="14" name="bd_118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19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is chef.</a:t>
            </a:r>
            <a:endParaRPr lang="en-US" sz="1300" dirty="0"/>
          </a:p>
        </p:txBody>
      </p:sp>
      <p:sp>
        <p:nvSpPr>
          <p:cNvPr id="16" name="R1_chip120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a chef.</a:t>
            </a:r>
            <a:endParaRPr lang="en-US" sz="1200" dirty="0"/>
          </a:p>
        </p:txBody>
      </p:sp>
      <p:sp>
        <p:nvSpPr>
          <p:cNvPr id="17" name="bd_121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22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 35 years.</a:t>
            </a:r>
            <a:endParaRPr lang="en-US" sz="1300" dirty="0"/>
          </a:p>
        </p:txBody>
      </p:sp>
      <p:sp>
        <p:nvSpPr>
          <p:cNvPr id="19" name="R2_chip123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35.</a:t>
            </a:r>
            <a:endParaRPr lang="en-US" sz="1200" dirty="0"/>
          </a:p>
        </p:txBody>
      </p:sp>
      <p:sp>
        <p:nvSpPr>
          <p:cNvPr id="20" name="bd_124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25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 are from?</a:t>
            </a:r>
            <a:endParaRPr lang="en-US" sz="1300" dirty="0"/>
          </a:p>
        </p:txBody>
      </p:sp>
      <p:sp>
        <p:nvSpPr>
          <p:cNvPr id="22" name="R3_chip126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are you from?</a:t>
            </a:r>
            <a:endParaRPr lang="en-US" sz="1200" dirty="0"/>
          </a:p>
        </p:txBody>
      </p:sp>
      <p:sp>
        <p:nvSpPr>
          <p:cNvPr id="23" name="bd_127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28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is in the kitchen.</a:t>
            </a:r>
            <a:endParaRPr lang="en-US" sz="1300" dirty="0"/>
          </a:p>
        </p:txBody>
      </p:sp>
      <p:sp>
        <p:nvSpPr>
          <p:cNvPr id="25" name="R4_chip129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in the kitchen.</a:t>
            </a:r>
            <a:endParaRPr lang="en-US" sz="1200" dirty="0"/>
          </a:p>
        </p:txBody>
      </p:sp>
      <p:sp>
        <p:nvSpPr>
          <p:cNvPr id="26" name="bd_130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31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new? – Yes, I'm.</a:t>
            </a:r>
            <a:endParaRPr lang="en-US" sz="1300" dirty="0"/>
          </a:p>
        </p:txBody>
      </p:sp>
      <p:sp>
        <p:nvSpPr>
          <p:cNvPr id="28" name="R5_chip132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am.</a:t>
            </a:r>
            <a:endParaRPr lang="en-US" sz="1200" dirty="0"/>
          </a:p>
        </p:txBody>
      </p:sp>
      <p:sp>
        <p:nvSpPr>
          <p:cNvPr id="29" name="bd_133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134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colleagues is from Bagheria.</a:t>
            </a:r>
            <a:endParaRPr lang="en-US" sz="1300" dirty="0"/>
          </a:p>
        </p:txBody>
      </p:sp>
      <p:sp>
        <p:nvSpPr>
          <p:cNvPr id="31" name="R6_chip135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colleagues are from…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3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first day</a:t>
            </a:r>
            <a:endParaRPr lang="en-US" sz="2500" dirty="0"/>
          </a:p>
        </p:txBody>
      </p:sp>
      <p:pic>
        <p:nvPicPr>
          <p:cNvPr id="6" name="brP_1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40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new. B is the sous chef. Then swap!</a:t>
            </a:r>
            <a:endParaRPr lang="en-US" sz="1250" dirty="0"/>
          </a:p>
        </p:txBody>
      </p:sp>
      <p:sp>
        <p:nvSpPr>
          <p:cNvPr id="8" name="insIT_1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è nuovo. B è il sous chef. Poi scambiatevi!</a:t>
            </a:r>
            <a:endParaRPr lang="en-US" sz="950" dirty="0"/>
          </a:p>
        </p:txBody>
      </p:sp>
      <p:sp>
        <p:nvSpPr>
          <p:cNvPr id="9" name="cmd_14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14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12 min   🏆 teams</a:t>
            </a:r>
            <a:endParaRPr lang="en-US" sz="950" dirty="0"/>
          </a:p>
        </p:txBody>
      </p:sp>
      <p:sp>
        <p:nvSpPr>
          <p:cNvPr id="11" name="tag_14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1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SPEAKING · Role-play</a:t>
            </a:r>
            <a:endParaRPr lang="en-US" sz="800" dirty="0"/>
          </a:p>
        </p:txBody>
      </p:sp>
      <p:sp>
        <p:nvSpPr>
          <p:cNvPr id="14" name="cd_147"/>
          <p:cNvSpPr/>
          <p:nvPr/>
        </p:nvSpPr>
        <p:spPr>
          <a:xfrm>
            <a:off x="320040" y="1417320"/>
            <a:ext cx="2606040" cy="2535936"/>
          </a:xfrm>
          <a:prstGeom prst="roundRect">
            <a:avLst>
              <a:gd name="adj" fmla="val 504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4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6" name="ih_149"/>
          <p:cNvSpPr/>
          <p:nvPr/>
        </p:nvSpPr>
        <p:spPr>
          <a:xfrm>
            <a:off x="886968" y="15087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7" name="il_150"/>
          <p:cNvSpPr/>
          <p:nvPr/>
        </p:nvSpPr>
        <p:spPr>
          <a:xfrm>
            <a:off x="886968" y="1911096"/>
            <a:ext cx="1947672" cy="1969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Nice to meet you.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/ Where are…?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is…?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the…?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Sorry, can you repeat that?</a:t>
            </a:r>
            <a:endParaRPr lang="en-US" sz="12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spell that?</a:t>
            </a:r>
            <a:endParaRPr lang="en-US" sz="1200" dirty="0"/>
          </a:p>
        </p:txBody>
      </p:sp>
      <p:sp>
        <p:nvSpPr>
          <p:cNvPr id="18" name="who_151"/>
          <p:cNvSpPr/>
          <p:nvPr/>
        </p:nvSpPr>
        <p:spPr>
          <a:xfrm>
            <a:off x="3108960" y="1463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19" name="sl_152"/>
          <p:cNvSpPr/>
          <p:nvPr/>
        </p:nvSpPr>
        <p:spPr>
          <a:xfrm>
            <a:off x="4114800" y="1444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Hi! Are you the new commis chef?</a:t>
            </a:r>
            <a:endParaRPr lang="en-US" sz="1150" dirty="0"/>
          </a:p>
        </p:txBody>
      </p:sp>
      <p:sp>
        <p:nvSpPr>
          <p:cNvPr id="20" name="who_153"/>
          <p:cNvSpPr/>
          <p:nvPr/>
        </p:nvSpPr>
        <p:spPr>
          <a:xfrm>
            <a:off x="3108960" y="19202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1" name="sl_154"/>
          <p:cNvSpPr/>
          <p:nvPr/>
        </p:nvSpPr>
        <p:spPr>
          <a:xfrm>
            <a:off x="4114800" y="19019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am. I'm… Nice to meet you.</a:t>
            </a:r>
            <a:endParaRPr lang="en-US" sz="1150" dirty="0"/>
          </a:p>
        </p:txBody>
      </p:sp>
      <p:sp>
        <p:nvSpPr>
          <p:cNvPr id="22" name="who_155"/>
          <p:cNvSpPr/>
          <p:nvPr/>
        </p:nvSpPr>
        <p:spPr>
          <a:xfrm>
            <a:off x="3108960" y="23774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3" name="sl_156"/>
          <p:cNvSpPr/>
          <p:nvPr/>
        </p:nvSpPr>
        <p:spPr>
          <a:xfrm>
            <a:off x="4114800" y="23591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Nice to meet you too. I'm…, the sous chef. Where are you from?</a:t>
            </a:r>
            <a:endParaRPr lang="en-US" sz="1150" dirty="0"/>
          </a:p>
        </p:txBody>
      </p:sp>
      <p:sp>
        <p:nvSpPr>
          <p:cNvPr id="24" name="who_157"/>
          <p:cNvSpPr/>
          <p:nvPr/>
        </p:nvSpPr>
        <p:spPr>
          <a:xfrm>
            <a:off x="3108960" y="28346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5" name="sl_158"/>
          <p:cNvSpPr/>
          <p:nvPr/>
        </p:nvSpPr>
        <p:spPr>
          <a:xfrm>
            <a:off x="4114800" y="28163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from… Where's the changing room?</a:t>
            </a:r>
            <a:endParaRPr lang="en-US" sz="1150" dirty="0"/>
          </a:p>
        </p:txBody>
      </p:sp>
      <p:sp>
        <p:nvSpPr>
          <p:cNvPr id="26" name="who_159"/>
          <p:cNvSpPr/>
          <p:nvPr/>
        </p:nvSpPr>
        <p:spPr>
          <a:xfrm>
            <a:off x="3108960" y="32918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950" dirty="0"/>
          </a:p>
        </p:txBody>
      </p:sp>
      <p:sp>
        <p:nvSpPr>
          <p:cNvPr id="27" name="sl_160"/>
          <p:cNvSpPr/>
          <p:nvPr/>
        </p:nvSpPr>
        <p:spPr>
          <a:xfrm>
            <a:off x="4114800" y="32735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next to the office. Your section is the grill.</a:t>
            </a:r>
            <a:endParaRPr lang="en-US" sz="1150" dirty="0"/>
          </a:p>
        </p:txBody>
      </p:sp>
      <p:sp>
        <p:nvSpPr>
          <p:cNvPr id="28" name="who_161"/>
          <p:cNvSpPr/>
          <p:nvPr/>
        </p:nvSpPr>
        <p:spPr>
          <a:xfrm>
            <a:off x="3108960" y="3749040"/>
            <a:ext cx="914400" cy="365760"/>
          </a:xfrm>
          <a:prstGeom prst="roundRect">
            <a:avLst>
              <a:gd name="adj" fmla="val 30000"/>
            </a:avLst>
          </a:prstGeom>
          <a:solidFill>
            <a:srgbClr val="FFE3EE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950" dirty="0"/>
          </a:p>
        </p:txBody>
      </p:sp>
      <p:sp>
        <p:nvSpPr>
          <p:cNvPr id="29" name="sl_162"/>
          <p:cNvSpPr/>
          <p:nvPr/>
        </p:nvSpPr>
        <p:spPr>
          <a:xfrm>
            <a:off x="4114800" y="3730752"/>
            <a:ext cx="47548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OK. What time is service?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16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Shout it!</a:t>
            </a:r>
            <a:endParaRPr lang="en-US" sz="2500" dirty="0"/>
          </a:p>
        </p:txBody>
      </p:sp>
      <p:pic>
        <p:nvPicPr>
          <p:cNvPr id="6" name="brP_1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167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acts it out. You shout the call – fast!</a:t>
            </a:r>
            <a:endParaRPr lang="en-US" sz="1250" dirty="0"/>
          </a:p>
        </p:txBody>
      </p:sp>
      <p:sp>
        <p:nvSpPr>
          <p:cNvPr id="8" name="insIT_1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L'insegnante mima. Tu gridi la parola – veloce!</a:t>
            </a:r>
            <a:endParaRPr lang="en-US" sz="950" dirty="0"/>
          </a:p>
        </p:txBody>
      </p:sp>
      <p:sp>
        <p:nvSpPr>
          <p:cNvPr id="9" name="cmd_16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17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1" name="logo_1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LEXICON · Kitchen calls</a:t>
            </a:r>
            <a:endParaRPr lang="en-US" sz="800" dirty="0"/>
          </a:p>
        </p:txBody>
      </p:sp>
      <p:sp>
        <p:nvSpPr>
          <p:cNvPr id="13" name="cd_173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17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👨‍🍳</a:t>
            </a:r>
            <a:endParaRPr lang="en-US" sz="2000" dirty="0"/>
          </a:p>
        </p:txBody>
      </p:sp>
      <p:sp>
        <p:nvSpPr>
          <p:cNvPr id="15" name="en_17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Yes, Chef!</a:t>
            </a:r>
            <a:endParaRPr lang="en-US" sz="1200" dirty="0"/>
          </a:p>
        </p:txBody>
      </p:sp>
      <p:sp>
        <p:nvSpPr>
          <p:cNvPr id="16" name="R1_it176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Sì, Chef!</a:t>
            </a:r>
            <a:endParaRPr lang="en-US" sz="1000" dirty="0"/>
          </a:p>
        </p:txBody>
      </p:sp>
      <p:sp>
        <p:nvSpPr>
          <p:cNvPr id="17" name="cd_177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178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👂</a:t>
            </a:r>
            <a:endParaRPr lang="en-US" sz="2000" dirty="0"/>
          </a:p>
        </p:txBody>
      </p:sp>
      <p:sp>
        <p:nvSpPr>
          <p:cNvPr id="19" name="en_179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Heard!</a:t>
            </a:r>
            <a:endParaRPr lang="en-US" sz="1200" dirty="0"/>
          </a:p>
        </p:txBody>
      </p:sp>
      <p:sp>
        <p:nvSpPr>
          <p:cNvPr id="20" name="R2_it180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Ricevuto!</a:t>
            </a:r>
            <a:endParaRPr lang="en-US" sz="1000" dirty="0"/>
          </a:p>
        </p:txBody>
      </p:sp>
      <p:sp>
        <p:nvSpPr>
          <p:cNvPr id="21" name="cd_181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182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23" name="en_183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Hot!</a:t>
            </a:r>
            <a:endParaRPr lang="en-US" sz="1200" dirty="0"/>
          </a:p>
        </p:txBody>
      </p:sp>
      <p:sp>
        <p:nvSpPr>
          <p:cNvPr id="24" name="R3_it184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Caldo! Attenzione!</a:t>
            </a:r>
            <a:endParaRPr lang="en-US" sz="1000" dirty="0"/>
          </a:p>
        </p:txBody>
      </p:sp>
      <p:sp>
        <p:nvSpPr>
          <p:cNvPr id="25" name="cd_185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86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🔪</a:t>
            </a:r>
            <a:endParaRPr lang="en-US" sz="2000" dirty="0"/>
          </a:p>
        </p:txBody>
      </p:sp>
      <p:sp>
        <p:nvSpPr>
          <p:cNvPr id="27" name="en_187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Sharp! / Knife!</a:t>
            </a:r>
            <a:endParaRPr lang="en-US" sz="1200" dirty="0"/>
          </a:p>
        </p:txBody>
      </p:sp>
      <p:sp>
        <p:nvSpPr>
          <p:cNvPr id="28" name="R4_it188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Coltello! (lo sto portando)</a:t>
            </a:r>
            <a:endParaRPr lang="en-US" sz="800" dirty="0"/>
          </a:p>
        </p:txBody>
      </p:sp>
      <p:sp>
        <p:nvSpPr>
          <p:cNvPr id="29" name="cd_189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90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31" name="en_191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Behind!</a:t>
            </a:r>
            <a:endParaRPr lang="en-US" sz="1200" dirty="0"/>
          </a:p>
        </p:txBody>
      </p:sp>
      <p:sp>
        <p:nvSpPr>
          <p:cNvPr id="32" name="R5_it192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Dietro di te!</a:t>
            </a:r>
            <a:endParaRPr lang="en-US" sz="1000" dirty="0"/>
          </a:p>
        </p:txBody>
      </p:sp>
      <p:sp>
        <p:nvSpPr>
          <p:cNvPr id="33" name="cd_193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194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35" name="en_195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Corner!</a:t>
            </a:r>
            <a:endParaRPr lang="en-US" sz="1200" dirty="0"/>
          </a:p>
        </p:txBody>
      </p:sp>
      <p:sp>
        <p:nvSpPr>
          <p:cNvPr id="36" name="R6_it196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Angolo!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1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19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01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0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meta_20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0" name="tag_20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20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0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Exit · what can you remember?</a:t>
            </a:r>
            <a:endParaRPr lang="en-US" sz="800" dirty="0"/>
          </a:p>
        </p:txBody>
      </p:sp>
      <p:sp>
        <p:nvSpPr>
          <p:cNvPr id="13" name="bd_20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20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5" name="bd_20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21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7" name="bd_21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21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9" name="cd_213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1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21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216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6 sentences about your kitchen team. Marco is our head chef. He's from…</a:t>
            </a:r>
            <a:endParaRPr lang="en-US" sz="900" dirty="0"/>
          </a:p>
        </p:txBody>
      </p:sp>
      <p:sp>
        <p:nvSpPr>
          <p:cNvPr id="23" name="st_217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L2 · Kitchen equipment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2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2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2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22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22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2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Review · what did you do today?</a:t>
            </a:r>
            <a:endParaRPr lang="en-US" sz="800" dirty="0"/>
          </a:p>
        </p:txBody>
      </p:sp>
      <p:sp>
        <p:nvSpPr>
          <p:cNvPr id="14" name="cd_229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230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6" name="tt_231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the kitchen team</a:t>
            </a:r>
            <a:endParaRPr lang="en-US" sz="1350" dirty="0"/>
          </a:p>
        </p:txBody>
      </p:sp>
      <p:sp>
        <p:nvSpPr>
          <p:cNvPr id="17" name="R1_tk232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233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234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20" name="tt_235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the verb be + questions</a:t>
            </a:r>
            <a:endParaRPr lang="en-US" sz="1350" dirty="0"/>
          </a:p>
        </p:txBody>
      </p:sp>
      <p:sp>
        <p:nvSpPr>
          <p:cNvPr id="21" name="R2_tk236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237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238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t_239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your first day</a:t>
            </a:r>
            <a:endParaRPr lang="en-US" sz="1350" dirty="0"/>
          </a:p>
        </p:txBody>
      </p:sp>
      <p:sp>
        <p:nvSpPr>
          <p:cNvPr id="25" name="R3_tk240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st_24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242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24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244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245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2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4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am I?</a:t>
            </a:r>
            <a:endParaRPr lang="en-US" sz="2500" dirty="0"/>
          </a:p>
        </p:txBody>
      </p:sp>
      <p:pic>
        <p:nvPicPr>
          <p:cNvPr id="6" name="brP_2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5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secret kitchen job. Your partner asks questions.</a:t>
            </a:r>
            <a:endParaRPr lang="en-US" sz="1250" dirty="0"/>
          </a:p>
        </p:txBody>
      </p:sp>
      <p:sp>
        <p:nvSpPr>
          <p:cNvPr id="8" name="insIT_25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 un lavoro segreto. Il collega fa domande.</a:t>
            </a:r>
            <a:endParaRPr lang="en-US" sz="950" dirty="0"/>
          </a:p>
        </p:txBody>
      </p:sp>
      <p:sp>
        <p:nvSpPr>
          <p:cNvPr id="9" name="cmd_25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25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950" dirty="0"/>
          </a:p>
        </p:txBody>
      </p:sp>
      <p:sp>
        <p:nvSpPr>
          <p:cNvPr id="11" name="tag_25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Game · yes / no questions</a:t>
            </a:r>
            <a:endParaRPr lang="en-US" sz="800" dirty="0"/>
          </a:p>
        </p:txBody>
      </p:sp>
      <p:sp>
        <p:nvSpPr>
          <p:cNvPr id="14" name="ext_257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258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259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secret job: head chef, KP, pastry chef, waiter…</a:t>
            </a:r>
            <a:endParaRPr lang="en-US" sz="1400" dirty="0"/>
          </a:p>
        </p:txBody>
      </p:sp>
      <p:sp>
        <p:nvSpPr>
          <p:cNvPr id="17" name="R2_qb260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261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asks yes / no questions: Are you the boss? Is your job hot?</a:t>
            </a:r>
            <a:endParaRPr lang="en-US" sz="1400" dirty="0"/>
          </a:p>
        </p:txBody>
      </p:sp>
      <p:sp>
        <p:nvSpPr>
          <p:cNvPr id="19" name="R3_qb262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263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only: Yes, I am. / No, I'm not. / Yes, it is. / No, it isn't.</a:t>
            </a:r>
            <a:endParaRPr lang="en-US" sz="1400" dirty="0"/>
          </a:p>
        </p:txBody>
      </p:sp>
      <p:sp>
        <p:nvSpPr>
          <p:cNvPr id="21" name="R4_qb264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265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in 8 questions or fewer = 1 point. Swap!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2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268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Interview a celebrity chef</a:t>
            </a:r>
            <a:endParaRPr lang="en-US" sz="2500" dirty="0"/>
          </a:p>
        </p:txBody>
      </p:sp>
      <p:pic>
        <p:nvPicPr>
          <p:cNvPr id="6" name="brP_2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70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is a famous chef. Ask! No yes / no questions allowed!</a:t>
            </a:r>
            <a:endParaRPr lang="en-US" sz="1100" dirty="0"/>
          </a:p>
        </p:txBody>
      </p:sp>
      <p:sp>
        <p:nvSpPr>
          <p:cNvPr id="8" name="insIT_27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L'insegnante è uno chef famoso. Niente domande sì / no!</a:t>
            </a:r>
            <a:endParaRPr lang="en-US" sz="950" dirty="0"/>
          </a:p>
        </p:txBody>
      </p:sp>
      <p:sp>
        <p:nvSpPr>
          <p:cNvPr id="9" name="cmd_27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7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27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7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L1 · Speaking · questions with be</a:t>
            </a:r>
            <a:endParaRPr lang="en-US" sz="800" dirty="0"/>
          </a:p>
        </p:txBody>
      </p:sp>
      <p:sp>
        <p:nvSpPr>
          <p:cNvPr id="14" name="ext_277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278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279"/>
          <p:cNvSpPr/>
          <p:nvPr/>
        </p:nvSpPr>
        <p:spPr>
          <a:xfrm>
            <a:off x="978408" y="14173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Where…from?</a:t>
            </a:r>
            <a:endParaRPr lang="en-US" sz="1400" dirty="0"/>
          </a:p>
        </p:txBody>
      </p:sp>
      <p:sp>
        <p:nvSpPr>
          <p:cNvPr id="17" name="R2_qb280"/>
          <p:cNvSpPr/>
          <p:nvPr/>
        </p:nvSpPr>
        <p:spPr>
          <a:xfrm>
            <a:off x="57607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281"/>
          <p:cNvSpPr/>
          <p:nvPr/>
        </p:nvSpPr>
        <p:spPr>
          <a:xfrm>
            <a:off x="978408" y="197358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old…?</a:t>
            </a:r>
            <a:endParaRPr lang="en-US" sz="1400" dirty="0"/>
          </a:p>
        </p:txBody>
      </p:sp>
      <p:sp>
        <p:nvSpPr>
          <p:cNvPr id="19" name="R3_qb282"/>
          <p:cNvSpPr/>
          <p:nvPr/>
        </p:nvSpPr>
        <p:spPr>
          <a:xfrm>
            <a:off x="57607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283"/>
          <p:cNvSpPr/>
          <p:nvPr/>
        </p:nvSpPr>
        <p:spPr>
          <a:xfrm>
            <a:off x="978408" y="252984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What…favourite dish?</a:t>
            </a:r>
            <a:endParaRPr lang="en-US" sz="1400" dirty="0"/>
          </a:p>
        </p:txBody>
      </p:sp>
      <p:sp>
        <p:nvSpPr>
          <p:cNvPr id="21" name="R4_qb284"/>
          <p:cNvSpPr/>
          <p:nvPr/>
        </p:nvSpPr>
        <p:spPr>
          <a:xfrm>
            <a:off x="57607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285"/>
          <p:cNvSpPr/>
          <p:nvPr/>
        </p:nvSpPr>
        <p:spPr>
          <a:xfrm>
            <a:off x="978408" y="308610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Where…restaurant?</a:t>
            </a:r>
            <a:endParaRPr lang="en-US" sz="1400" dirty="0"/>
          </a:p>
        </p:txBody>
      </p:sp>
      <p:sp>
        <p:nvSpPr>
          <p:cNvPr id="23" name="R5_qb286"/>
          <p:cNvSpPr/>
          <p:nvPr/>
        </p:nvSpPr>
        <p:spPr>
          <a:xfrm>
            <a:off x="57607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R5_sq287"/>
          <p:cNvSpPr/>
          <p:nvPr/>
        </p:nvSpPr>
        <p:spPr>
          <a:xfrm>
            <a:off x="978408" y="364236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Who…your hero?</a:t>
            </a:r>
            <a:endParaRPr lang="en-US" sz="1400" dirty="0"/>
          </a:p>
        </p:txBody>
      </p:sp>
      <p:sp>
        <p:nvSpPr>
          <p:cNvPr id="25" name="R6_qb288"/>
          <p:cNvSpPr/>
          <p:nvPr/>
        </p:nvSpPr>
        <p:spPr>
          <a:xfrm>
            <a:off x="57607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R6_sq289"/>
          <p:cNvSpPr/>
          <p:nvPr/>
        </p:nvSpPr>
        <p:spPr>
          <a:xfrm>
            <a:off x="978408" y="41986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What…worst thing about the job?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Welcome to the kitchen</dc:title>
  <dc:subject>PptxGenJS Presentation</dc:subject>
  <dc:creator>PptxGenJS</dc:creator>
  <cp:lastModifiedBy>PptxGenJS</cp:lastModifiedBy>
  <cp:revision>1</cp:revision>
  <dcterms:created xsi:type="dcterms:W3CDTF">2026-10-20T06:41:54Z</dcterms:created>
  <dcterms:modified xsi:type="dcterms:W3CDTF">2026-10-20T06:41:54Z</dcterms:modified>
</cp:coreProperties>
</file>