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 (60 min). Aims: past simple for problems, asking for help, course review and a complete shift in English.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Teacher shouts the call with energy; click 1 for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Students find 6 past simple verbs (slipped, dropped, cut, gave, put, cleaned). Then they write a 3-line report about a small (invented)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(8 min). VARIATION: negative experiences with boundaries + perspective change (retelling in the 3rd person: he burnt / she didn't…).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Click 1. Then the teacher creates the situations quickly and they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(10 min). Questions from L1–L10. Alternate questions; click 1 at the end for all answers. The winner chooses tomorrow's staff meal!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ROLE-PLAY (12 min). Teacher plays waiter / head chef / supplier. Give feedback at the end: 3 things they did very well, 2 to keep practising.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Course feedback: ask what helped most and what they want next. Homework sheet L10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 + curiosity gap. Word sets: fish · late · angry / oven · wedding · forgot / knife · new commis · ambulance (keep it light!).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3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4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6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L10</a:t>
            </a:r>
            <a:endParaRPr lang="en-US" sz="5400" dirty="0"/>
          </a:p>
        </p:txBody>
      </p:sp>
      <p:sp>
        <p:nvSpPr>
          <p:cNvPr id="7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10 of 10</a:t>
            </a:r>
            <a:endParaRPr lang="en-US" sz="1200" dirty="0"/>
          </a:p>
        </p:txBody>
      </p:sp>
      <p:sp>
        <p:nvSpPr>
          <p:cNvPr id="8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SHIFT</a:t>
            </a:r>
            <a:endParaRPr lang="en-US" sz="2800" dirty="0"/>
          </a:p>
        </p:txBody>
      </p:sp>
      <p:sp>
        <p:nvSpPr>
          <p:cNvPr id="9" name="stamp_8"/>
          <p:cNvSpPr txBox="1"/>
          <p:nvPr/>
        </p:nvSpPr>
        <p:spPr>
          <a:xfrm>
            <a:off x="457200" y="246888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past simple · what went wrong?</a:t>
            </a:r>
            <a:endParaRPr lang="en-US" sz="1200" dirty="0"/>
          </a:p>
        </p:txBody>
      </p:sp>
      <p:sp>
        <p:nvSpPr>
          <p:cNvPr id="10" name="stamp_9"/>
          <p:cNvSpPr txBox="1"/>
          <p:nvPr/>
        </p:nvSpPr>
        <p:spPr>
          <a:xfrm>
            <a:off x="457200" y="2944368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asking for help</a:t>
            </a:r>
            <a:endParaRPr lang="en-US" sz="1200" dirty="0"/>
          </a:p>
        </p:txBody>
      </p:sp>
      <p:sp>
        <p:nvSpPr>
          <p:cNvPr id="11" name="stamp_10"/>
          <p:cNvSpPr txBox="1"/>
          <p:nvPr/>
        </p:nvSpPr>
        <p:spPr>
          <a:xfrm>
            <a:off x="457200" y="3419856"/>
            <a:ext cx="294894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· the whole course</a:t>
            </a:r>
            <a:endParaRPr lang="en-US" sz="1200" dirty="0"/>
          </a:p>
        </p:txBody>
      </p:sp>
      <p:sp>
        <p:nvSpPr>
          <p:cNvPr id="12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" descr="f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4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" descr="plas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6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6" descr="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8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last week?</a:t>
            </a:r>
            <a:endParaRPr lang="en-US" sz="1400" dirty="0"/>
          </a:p>
        </p:txBody>
      </p:sp>
      <p:sp>
        <p:nvSpPr>
          <p:cNvPr id="19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burnt the sauce, Chef!</a:t>
            </a:r>
            <a:endParaRPr lang="en-US" sz="1300" dirty="0"/>
          </a:p>
        </p:txBody>
      </p:sp>
      <p:sp>
        <p:nvSpPr>
          <p:cNvPr id="20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9</a:t>
            </a:r>
            <a:endParaRPr lang="en-US" sz="1100" dirty="0"/>
          </a:p>
        </p:txBody>
      </p:sp>
      <p:sp>
        <p:nvSpPr>
          <p:cNvPr id="5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23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the call!</a:t>
            </a:r>
            <a:endParaRPr lang="en-US" sz="2000" dirty="0"/>
          </a:p>
        </p:txBody>
      </p:sp>
      <p:sp>
        <p:nvSpPr>
          <p:cNvPr id="8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25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shouts. You answer –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grida. Tu rispondi – veloce!</a:t>
            </a:r>
            <a:endParaRPr lang="en-US" sz="1250" dirty="0"/>
          </a:p>
        </p:txBody>
      </p:sp>
      <p:sp>
        <p:nvSpPr>
          <p:cNvPr id="13" name="box_29"/>
          <p:cNvSpPr txBox="1"/>
          <p:nvPr/>
        </p:nvSpPr>
        <p:spPr>
          <a:xfrm>
            <a:off x="2788920" y="1371600"/>
            <a:ext cx="147675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Order in!</a:t>
            </a:r>
            <a:endParaRPr lang="en-US" sz="1400" dirty="0"/>
          </a:p>
        </p:txBody>
      </p:sp>
      <p:sp>
        <p:nvSpPr>
          <p:cNvPr id="14" name="R1_a0"/>
          <p:cNvSpPr txBox="1"/>
          <p:nvPr/>
        </p:nvSpPr>
        <p:spPr>
          <a:xfrm>
            <a:off x="4320540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Heard, Chef!</a:t>
            </a:r>
            <a:endParaRPr lang="en-US" sz="1150" dirty="0"/>
          </a:p>
        </p:txBody>
      </p:sp>
      <p:sp>
        <p:nvSpPr>
          <p:cNvPr id="15" name="box_30"/>
          <p:cNvSpPr txBox="1"/>
          <p:nvPr/>
        </p:nvSpPr>
        <p:spPr>
          <a:xfrm>
            <a:off x="5870448" y="1371600"/>
            <a:ext cx="147675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long on table 2?</a:t>
            </a:r>
            <a:endParaRPr lang="en-US" sz="1400" dirty="0"/>
          </a:p>
        </p:txBody>
      </p:sp>
      <p:sp>
        <p:nvSpPr>
          <p:cNvPr id="16" name="R1_a1"/>
          <p:cNvSpPr txBox="1"/>
          <p:nvPr/>
        </p:nvSpPr>
        <p:spPr>
          <a:xfrm>
            <a:off x="7402068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Chef!</a:t>
            </a:r>
            <a:endParaRPr lang="en-US" sz="1150" dirty="0"/>
          </a:p>
        </p:txBody>
      </p:sp>
      <p:sp>
        <p:nvSpPr>
          <p:cNvPr id="17" name="box_31"/>
          <p:cNvSpPr txBox="1"/>
          <p:nvPr/>
        </p:nvSpPr>
        <p:spPr>
          <a:xfrm>
            <a:off x="2788920" y="2368296"/>
            <a:ext cx="147675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Service, please!</a:t>
            </a:r>
            <a:endParaRPr lang="en-US" sz="1400" dirty="0"/>
          </a:p>
        </p:txBody>
      </p:sp>
      <p:sp>
        <p:nvSpPr>
          <p:cNvPr id="18" name="R1_a2"/>
          <p:cNvSpPr txBox="1"/>
          <p:nvPr/>
        </p:nvSpPr>
        <p:spPr>
          <a:xfrm>
            <a:off x="4320540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Away! / Coming!</a:t>
            </a:r>
            <a:endParaRPr lang="en-US" sz="1150" dirty="0"/>
          </a:p>
        </p:txBody>
      </p:sp>
      <p:sp>
        <p:nvSpPr>
          <p:cNvPr id="19" name="box_32"/>
          <p:cNvSpPr txBox="1"/>
          <p:nvPr/>
        </p:nvSpPr>
        <p:spPr>
          <a:xfrm>
            <a:off x="5870448" y="2368296"/>
            <a:ext cx="147675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86 the soup!</a:t>
            </a:r>
            <a:endParaRPr lang="en-US" sz="1400" dirty="0"/>
          </a:p>
        </p:txBody>
      </p:sp>
      <p:sp>
        <p:nvSpPr>
          <p:cNvPr id="20" name="R1_a3"/>
          <p:cNvSpPr txBox="1"/>
          <p:nvPr/>
        </p:nvSpPr>
        <p:spPr>
          <a:xfrm>
            <a:off x="7402068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– no more soup.</a:t>
            </a:r>
            <a:endParaRPr lang="en-US" sz="1150" dirty="0"/>
          </a:p>
        </p:txBody>
      </p:sp>
      <p:sp>
        <p:nvSpPr>
          <p:cNvPr id="21" name="box_33"/>
          <p:cNvSpPr txBox="1"/>
          <p:nvPr/>
        </p:nvSpPr>
        <p:spPr>
          <a:xfrm>
            <a:off x="2788920" y="3364992"/>
            <a:ext cx="147675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are you doing?</a:t>
            </a:r>
            <a:endParaRPr lang="en-US" sz="1400" dirty="0"/>
          </a:p>
        </p:txBody>
      </p:sp>
      <p:sp>
        <p:nvSpPr>
          <p:cNvPr id="22" name="R1_a4"/>
          <p:cNvSpPr txBox="1"/>
          <p:nvPr/>
        </p:nvSpPr>
        <p:spPr>
          <a:xfrm>
            <a:off x="4320540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plating table 4.</a:t>
            </a:r>
            <a:endParaRPr lang="en-US" sz="1150" dirty="0"/>
          </a:p>
        </p:txBody>
      </p:sp>
      <p:sp>
        <p:nvSpPr>
          <p:cNvPr id="23" name="box_34"/>
          <p:cNvSpPr txBox="1"/>
          <p:nvPr/>
        </p:nvSpPr>
        <p:spPr>
          <a:xfrm>
            <a:off x="5870448" y="3364992"/>
            <a:ext cx="147675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Medium rare – what is it?</a:t>
            </a:r>
            <a:endParaRPr lang="en-US" sz="1400" dirty="0"/>
          </a:p>
        </p:txBody>
      </p:sp>
      <p:sp>
        <p:nvSpPr>
          <p:cNvPr id="24" name="R1_a5"/>
          <p:cNvSpPr txBox="1"/>
          <p:nvPr/>
        </p:nvSpPr>
        <p:spPr>
          <a:xfrm>
            <a:off x="7402068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in the middle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Past simple</a:t>
            </a:r>
            <a:endParaRPr lang="en-US" sz="1100" dirty="0"/>
          </a:p>
        </p:txBody>
      </p:sp>
      <p:sp>
        <p:nvSpPr>
          <p:cNvPr id="5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40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happened?</a:t>
            </a:r>
            <a:endParaRPr lang="en-US" sz="2000" dirty="0"/>
          </a:p>
        </p:txBody>
      </p:sp>
      <p:sp>
        <p:nvSpPr>
          <p:cNvPr id="8" name="tape_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42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rh_43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Regular: + -ed</a:t>
            </a:r>
            <a:endParaRPr lang="en-US" sz="1300" dirty="0"/>
          </a:p>
        </p:txBody>
      </p:sp>
      <p:sp>
        <p:nvSpPr>
          <p:cNvPr id="11" name="rb_44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→ burnt / burned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→ dropped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→ arrived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→ forgot (irr.)</a:t>
            </a:r>
            <a:endParaRPr lang="en-US" sz="1350" dirty="0"/>
          </a:p>
        </p:txBody>
      </p:sp>
      <p:sp>
        <p:nvSpPr>
          <p:cNvPr id="12" name="rh_45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Irregular</a:t>
            </a:r>
            <a:endParaRPr lang="en-US" sz="1300" dirty="0"/>
          </a:p>
        </p:txBody>
      </p:sp>
      <p:sp>
        <p:nvSpPr>
          <p:cNvPr id="13" name="rb_46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 → ran out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→ broke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→ cut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→ left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→ came</a:t>
            </a:r>
            <a:endParaRPr lang="en-US" sz="1350" dirty="0"/>
          </a:p>
        </p:txBody>
      </p:sp>
      <p:sp>
        <p:nvSpPr>
          <p:cNvPr id="14" name="rh_47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 and ?</a:t>
            </a:r>
            <a:endParaRPr lang="en-US" sz="1300" dirty="0"/>
          </a:p>
        </p:txBody>
      </p:sp>
      <p:sp>
        <p:nvSpPr>
          <p:cNvPr id="15" name="rb_48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didn't arrive.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turn off the oven?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50" dirty="0"/>
          </a:p>
        </p:txBody>
      </p:sp>
      <p:sp>
        <p:nvSpPr>
          <p:cNvPr id="16" name="watch_49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didn't burnt → ✓ I didn't burn.     ✗ Did you forgot? → ✓ Did you forget?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1100" dirty="0"/>
          </a:p>
        </p:txBody>
      </p:sp>
      <p:sp>
        <p:nvSpPr>
          <p:cNvPr id="5" name="timer_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55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problems</a:t>
            </a:r>
            <a:endParaRPr lang="en-US" sz="2000" dirty="0"/>
          </a:p>
        </p:txBody>
      </p:sp>
      <p:sp>
        <p:nvSpPr>
          <p:cNvPr id="8" name="tape_5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57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5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5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6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verbs in the past simple.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 verbi al passato.</a:t>
            </a:r>
            <a:endParaRPr lang="en-US" sz="1250" dirty="0"/>
          </a:p>
        </p:txBody>
      </p:sp>
      <p:sp>
        <p:nvSpPr>
          <p:cNvPr id="13" name="box_61"/>
          <p:cNvSpPr txBox="1"/>
          <p:nvPr/>
        </p:nvSpPr>
        <p:spPr>
          <a:xfrm>
            <a:off x="2788920" y="1371600"/>
            <a:ext cx="45866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___ (burn) the onions.</a:t>
            </a:r>
            <a:endParaRPr lang="en-US" sz="1350" dirty="0"/>
          </a:p>
        </p:txBody>
      </p:sp>
      <p:sp>
        <p:nvSpPr>
          <p:cNvPr id="14" name="R1_a0"/>
          <p:cNvSpPr txBox="1"/>
          <p:nvPr/>
        </p:nvSpPr>
        <p:spPr>
          <a:xfrm>
            <a:off x="7430414" y="1408176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/ burned</a:t>
            </a:r>
            <a:endParaRPr lang="en-US" sz="1200" dirty="0"/>
          </a:p>
        </p:txBody>
      </p:sp>
      <p:sp>
        <p:nvSpPr>
          <p:cNvPr id="15" name="box_62"/>
          <p:cNvSpPr txBox="1"/>
          <p:nvPr/>
        </p:nvSpPr>
        <p:spPr>
          <a:xfrm>
            <a:off x="2788920" y="2055571"/>
            <a:ext cx="45866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We ___ (run out) of cream.</a:t>
            </a:r>
            <a:endParaRPr lang="en-US" sz="1350" dirty="0"/>
          </a:p>
        </p:txBody>
      </p:sp>
      <p:sp>
        <p:nvSpPr>
          <p:cNvPr id="16" name="R1_a1"/>
          <p:cNvSpPr txBox="1"/>
          <p:nvPr/>
        </p:nvSpPr>
        <p:spPr>
          <a:xfrm>
            <a:off x="7430414" y="2092147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out</a:t>
            </a:r>
            <a:endParaRPr lang="en-US" sz="1200" dirty="0"/>
          </a:p>
        </p:txBody>
      </p:sp>
      <p:sp>
        <p:nvSpPr>
          <p:cNvPr id="17" name="box_63"/>
          <p:cNvSpPr txBox="1"/>
          <p:nvPr/>
        </p:nvSpPr>
        <p:spPr>
          <a:xfrm>
            <a:off x="2788920" y="2739542"/>
            <a:ext cx="45866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fish delivery ___ (not arrive).</a:t>
            </a:r>
            <a:endParaRPr lang="en-US" sz="1350" dirty="0"/>
          </a:p>
        </p:txBody>
      </p:sp>
      <p:sp>
        <p:nvSpPr>
          <p:cNvPr id="18" name="R1_a2"/>
          <p:cNvSpPr txBox="1"/>
          <p:nvPr/>
        </p:nvSpPr>
        <p:spPr>
          <a:xfrm>
            <a:off x="7430414" y="2776118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arrive</a:t>
            </a:r>
            <a:endParaRPr lang="en-US" sz="1200" dirty="0"/>
          </a:p>
        </p:txBody>
      </p:sp>
      <p:sp>
        <p:nvSpPr>
          <p:cNvPr id="19" name="box_64"/>
          <p:cNvSpPr txBox="1"/>
          <p:nvPr/>
        </p:nvSpPr>
        <p:spPr>
          <a:xfrm>
            <a:off x="2788920" y="3423514"/>
            <a:ext cx="45866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KP ___ (break) three plates.</a:t>
            </a:r>
            <a:endParaRPr lang="en-US" sz="1350" dirty="0"/>
          </a:p>
        </p:txBody>
      </p:sp>
      <p:sp>
        <p:nvSpPr>
          <p:cNvPr id="20" name="R1_a3"/>
          <p:cNvSpPr txBox="1"/>
          <p:nvPr/>
        </p:nvSpPr>
        <p:spPr>
          <a:xfrm>
            <a:off x="7430414" y="3460090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</a:t>
            </a:r>
            <a:endParaRPr lang="en-US" sz="1200" dirty="0"/>
          </a:p>
        </p:txBody>
      </p:sp>
      <p:sp>
        <p:nvSpPr>
          <p:cNvPr id="21" name="box_65"/>
          <p:cNvSpPr txBox="1"/>
          <p:nvPr/>
        </p:nvSpPr>
        <p:spPr>
          <a:xfrm>
            <a:off x="2788920" y="4107485"/>
            <a:ext cx="45866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Somebody ___ (leave) the fridge door open!</a:t>
            </a:r>
            <a:endParaRPr lang="en-US" sz="1350" dirty="0"/>
          </a:p>
        </p:txBody>
      </p:sp>
      <p:sp>
        <p:nvSpPr>
          <p:cNvPr id="22" name="R1_a4"/>
          <p:cNvSpPr txBox="1"/>
          <p:nvPr/>
        </p:nvSpPr>
        <p:spPr>
          <a:xfrm>
            <a:off x="7430414" y="4144061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6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An incident report</a:t>
            </a:r>
            <a:endParaRPr lang="en-US" sz="1100" dirty="0"/>
          </a:p>
        </p:txBody>
      </p:sp>
      <p:sp>
        <p:nvSpPr>
          <p:cNvPr id="5" name="timer_6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7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71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happened?</a:t>
            </a:r>
            <a:endParaRPr lang="en-US" sz="2000" dirty="0"/>
          </a:p>
        </p:txBody>
      </p:sp>
      <p:sp>
        <p:nvSpPr>
          <p:cNvPr id="8" name="tape_7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73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rsign_74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incident report. Answer the questions.  </a:t>
            </a:r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rapporto e rispondi.</a:t>
            </a:r>
            <a:endParaRPr lang="en-US" sz="1200" dirty="0"/>
          </a:p>
        </p:txBody>
      </p:sp>
      <p:sp>
        <p:nvSpPr>
          <p:cNvPr id="11" name="rtext_75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Incident report – Fri 21.15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Toni (commis)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I was carrying a tray of glasses and I slipped on the wet floor near the dishwasher. I dropped the tray and I cut my hand on a glass. Anna gave me first aid and put a blue plaster on it. Nobody else was hurt.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do? We cleaned the floor and put the wet floor sign out.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The KP must put the sign out every time he mops.</a:t>
            </a:r>
            <a:endParaRPr lang="en-US" sz="1300" dirty="0"/>
          </a:p>
        </p:txBody>
      </p:sp>
      <p:sp>
        <p:nvSpPr>
          <p:cNvPr id="12" name="box_76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was Toni carrying?</a:t>
            </a:r>
            <a:endParaRPr lang="en-US" sz="1150" dirty="0"/>
          </a:p>
        </p:txBody>
      </p:sp>
      <p:sp>
        <p:nvSpPr>
          <p:cNvPr id="13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tray of glasses</a:t>
            </a:r>
            <a:endParaRPr lang="en-US" sz="1050" dirty="0"/>
          </a:p>
        </p:txBody>
      </p:sp>
      <p:sp>
        <p:nvSpPr>
          <p:cNvPr id="14" name="box_77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did he fall?</a:t>
            </a:r>
            <a:endParaRPr lang="en-US" sz="1150" dirty="0"/>
          </a:p>
        </p:txBody>
      </p:sp>
      <p:sp>
        <p:nvSpPr>
          <p:cNvPr id="15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was wet</a:t>
            </a:r>
            <a:endParaRPr lang="en-US" sz="1050" dirty="0"/>
          </a:p>
        </p:txBody>
      </p:sp>
      <p:sp>
        <p:nvSpPr>
          <p:cNvPr id="16" name="box_78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did he cut his hand?</a:t>
            </a:r>
            <a:endParaRPr lang="en-US" sz="1150" dirty="0"/>
          </a:p>
        </p:txBody>
      </p:sp>
      <p:sp>
        <p:nvSpPr>
          <p:cNvPr id="17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glass</a:t>
            </a:r>
            <a:endParaRPr lang="en-US" sz="1050" dirty="0"/>
          </a:p>
        </p:txBody>
      </p:sp>
      <p:sp>
        <p:nvSpPr>
          <p:cNvPr id="18" name="box_79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Who helped him?</a:t>
            </a:r>
            <a:endParaRPr lang="en-US" sz="1150" dirty="0"/>
          </a:p>
        </p:txBody>
      </p:sp>
      <p:sp>
        <p:nvSpPr>
          <p:cNvPr id="19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sz="1050" dirty="0"/>
          </a:p>
        </p:txBody>
      </p:sp>
      <p:sp>
        <p:nvSpPr>
          <p:cNvPr id="20" name="box_80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must the KP do now?</a:t>
            </a:r>
            <a:endParaRPr lang="en-US" sz="1150" dirty="0"/>
          </a:p>
        </p:txBody>
      </p:sp>
      <p:sp>
        <p:nvSpPr>
          <p:cNvPr id="21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sign out when he mops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Stories</a:t>
            </a:r>
            <a:endParaRPr lang="en-US" sz="1100" dirty="0"/>
          </a:p>
        </p:txBody>
      </p:sp>
      <p:sp>
        <p:nvSpPr>
          <p:cNvPr id="5" name="timer_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8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86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worst shift ever</a:t>
            </a:r>
            <a:endParaRPr lang="en-US" sz="2000" dirty="0"/>
          </a:p>
        </p:txBody>
      </p:sp>
      <p:sp>
        <p:nvSpPr>
          <p:cNvPr id="8" name="tape_87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88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8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9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9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partner. Your partner tells the teacher!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Raccontalo al collega. Il collega lo racconta all'insegnante!</a:t>
            </a:r>
            <a:endParaRPr lang="en-US" sz="1250" dirty="0"/>
          </a:p>
        </p:txBody>
      </p:sp>
      <p:sp>
        <p:nvSpPr>
          <p:cNvPr id="13" name="iconBack_9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93" descr="f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94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95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bad shift (a funny one, not a sad one!).</a:t>
            </a:r>
            <a:endParaRPr lang="en-US" sz="1300" dirty="0"/>
          </a:p>
        </p:txBody>
      </p:sp>
      <p:sp>
        <p:nvSpPr>
          <p:cNvPr id="17" name="num_96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97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partner: When? What happened? What did you do?</a:t>
            </a:r>
            <a:endParaRPr lang="en-US" sz="1300" dirty="0"/>
          </a:p>
        </p:txBody>
      </p:sp>
      <p:sp>
        <p:nvSpPr>
          <p:cNvPr id="19" name="num_98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99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2 follow-up questions.</a:t>
            </a:r>
            <a:endParaRPr lang="en-US" sz="1300" dirty="0"/>
          </a:p>
        </p:txBody>
      </p:sp>
      <p:sp>
        <p:nvSpPr>
          <p:cNvPr id="21" name="num_100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101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tells the teacher YOUR story: Last summer, Claudio…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0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0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0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Asking for help</a:t>
            </a:r>
            <a:endParaRPr lang="en-US" sz="1100" dirty="0"/>
          </a:p>
        </p:txBody>
      </p:sp>
      <p:sp>
        <p:nvSpPr>
          <p:cNvPr id="5" name="timer_10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0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107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Help, Chef!</a:t>
            </a:r>
            <a:endParaRPr lang="en-US" sz="2000" dirty="0"/>
          </a:p>
        </p:txBody>
      </p:sp>
      <p:sp>
        <p:nvSpPr>
          <p:cNvPr id="8" name="tape_10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09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1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say? Match. Then practise.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dici? Abbina. Poi esercitati.</a:t>
            </a:r>
            <a:endParaRPr lang="en-US" sz="1250" dirty="0"/>
          </a:p>
        </p:txBody>
      </p:sp>
      <p:sp>
        <p:nvSpPr>
          <p:cNvPr id="13" name="box_113"/>
          <p:cNvSpPr txBox="1"/>
          <p:nvPr/>
        </p:nvSpPr>
        <p:spPr>
          <a:xfrm>
            <a:off x="2788920" y="1371600"/>
            <a:ext cx="3017520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don't understand the order.</a:t>
            </a:r>
            <a:endParaRPr lang="en-US" sz="1250" dirty="0"/>
          </a:p>
        </p:txBody>
      </p:sp>
      <p:sp>
        <p:nvSpPr>
          <p:cNvPr id="14" name="R1_m0"/>
          <p:cNvSpPr txBox="1"/>
          <p:nvPr/>
        </p:nvSpPr>
        <p:spPr>
          <a:xfrm>
            <a:off x="5879592" y="1389888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Chef, can you repeat that?</a:t>
            </a:r>
            <a:endParaRPr lang="en-US" sz="1150" dirty="0"/>
          </a:p>
        </p:txBody>
      </p:sp>
      <p:sp>
        <p:nvSpPr>
          <p:cNvPr id="15" name="box_114"/>
          <p:cNvSpPr txBox="1"/>
          <p:nvPr/>
        </p:nvSpPr>
        <p:spPr>
          <a:xfrm>
            <a:off x="2788920" y="1901952"/>
            <a:ext cx="3017520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pot is very heavy.</a:t>
            </a:r>
            <a:endParaRPr lang="en-US" sz="1250" dirty="0"/>
          </a:p>
        </p:txBody>
      </p:sp>
      <p:sp>
        <p:nvSpPr>
          <p:cNvPr id="16" name="R1_m1"/>
          <p:cNvSpPr txBox="1"/>
          <p:nvPr/>
        </p:nvSpPr>
        <p:spPr>
          <a:xfrm>
            <a:off x="5879592" y="1920240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a hand?</a:t>
            </a:r>
            <a:endParaRPr lang="en-US" sz="1150" dirty="0"/>
          </a:p>
        </p:txBody>
      </p:sp>
      <p:sp>
        <p:nvSpPr>
          <p:cNvPr id="17" name="box_115"/>
          <p:cNvSpPr txBox="1"/>
          <p:nvPr/>
        </p:nvSpPr>
        <p:spPr>
          <a:xfrm>
            <a:off x="2788920" y="2432304"/>
            <a:ext cx="3017520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can't find the saffron.</a:t>
            </a:r>
            <a:endParaRPr lang="en-US" sz="1250" dirty="0"/>
          </a:p>
        </p:txBody>
      </p:sp>
      <p:sp>
        <p:nvSpPr>
          <p:cNvPr id="18" name="R1_m2"/>
          <p:cNvSpPr txBox="1"/>
          <p:nvPr/>
        </p:nvSpPr>
        <p:spPr>
          <a:xfrm>
            <a:off x="5879592" y="2450592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keep the saffron?</a:t>
            </a:r>
            <a:endParaRPr lang="en-US" sz="1150" dirty="0"/>
          </a:p>
        </p:txBody>
      </p:sp>
      <p:sp>
        <p:nvSpPr>
          <p:cNvPr id="19" name="box_116"/>
          <p:cNvSpPr txBox="1"/>
          <p:nvPr/>
        </p:nvSpPr>
        <p:spPr>
          <a:xfrm>
            <a:off x="2788920" y="2962656"/>
            <a:ext cx="3017520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cut your finger.</a:t>
            </a:r>
            <a:endParaRPr lang="en-US" sz="1250" dirty="0"/>
          </a:p>
        </p:txBody>
      </p:sp>
      <p:sp>
        <p:nvSpPr>
          <p:cNvPr id="20" name="R1_m3"/>
          <p:cNvSpPr txBox="1"/>
          <p:nvPr/>
        </p:nvSpPr>
        <p:spPr>
          <a:xfrm>
            <a:off x="5879592" y="2980944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plaster, please.</a:t>
            </a:r>
            <a:endParaRPr lang="en-US" sz="1150" dirty="0"/>
          </a:p>
        </p:txBody>
      </p:sp>
      <p:sp>
        <p:nvSpPr>
          <p:cNvPr id="21" name="box_117"/>
          <p:cNvSpPr txBox="1"/>
          <p:nvPr/>
        </p:nvSpPr>
        <p:spPr>
          <a:xfrm>
            <a:off x="2788920" y="3493008"/>
            <a:ext cx="3017520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need more time.</a:t>
            </a:r>
            <a:endParaRPr lang="en-US" sz="1250" dirty="0"/>
          </a:p>
        </p:txBody>
      </p:sp>
      <p:sp>
        <p:nvSpPr>
          <p:cNvPr id="22" name="R1_m4"/>
          <p:cNvSpPr txBox="1"/>
          <p:nvPr/>
        </p:nvSpPr>
        <p:spPr>
          <a:xfrm>
            <a:off x="5879592" y="3511296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two more minutes, Chef.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· The whole course</a:t>
            </a:r>
            <a:endParaRPr lang="en-US" sz="1100" dirty="0"/>
          </a:p>
        </p:txBody>
      </p:sp>
      <p:sp>
        <p:nvSpPr>
          <p:cNvPr id="5" name="timer_1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1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123"/>
          <p:cNvSpPr txBox="1"/>
          <p:nvPr/>
        </p:nvSpPr>
        <p:spPr>
          <a:xfrm rot="90000">
            <a:off x="320040" y="676656"/>
            <a:ext cx="554126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quiz: Chef A v Chef B</a:t>
            </a:r>
            <a:endParaRPr lang="en-US" sz="2000" dirty="0"/>
          </a:p>
        </p:txBody>
      </p:sp>
      <p:sp>
        <p:nvSpPr>
          <p:cNvPr id="8" name="tape_1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25"/>
          <p:cNvSpPr/>
          <p:nvPr/>
        </p:nvSpPr>
        <p:spPr>
          <a:xfrm rot="-720000">
            <a:off x="529437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1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remembers more? 1 point per correct answer!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ricorda di più? 1 punto per risposta!</a:t>
            </a:r>
            <a:endParaRPr lang="en-US" sz="1250" dirty="0"/>
          </a:p>
        </p:txBody>
      </p:sp>
      <p:sp>
        <p:nvSpPr>
          <p:cNvPr id="13" name="box_129"/>
          <p:cNvSpPr txBox="1"/>
          <p:nvPr/>
        </p:nvSpPr>
        <p:spPr>
          <a:xfrm>
            <a:off x="2788920" y="1371600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is a commis chef?</a:t>
            </a:r>
            <a:endParaRPr lang="en-US" sz="1250" dirty="0"/>
          </a:p>
        </p:txBody>
      </p:sp>
      <p:sp>
        <p:nvSpPr>
          <p:cNvPr id="14" name="R1_a0"/>
          <p:cNvSpPr txBox="1"/>
          <p:nvPr/>
        </p:nvSpPr>
        <p:spPr>
          <a:xfrm>
            <a:off x="4615891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chef</a:t>
            </a:r>
            <a:endParaRPr lang="en-US" sz="1050" dirty="0"/>
          </a:p>
        </p:txBody>
      </p:sp>
      <p:sp>
        <p:nvSpPr>
          <p:cNvPr id="15" name="box_130"/>
          <p:cNvSpPr txBox="1"/>
          <p:nvPr/>
        </p:nvSpPr>
        <p:spPr>
          <a:xfrm>
            <a:off x="5870448" y="1371600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Name 5 pieces of equipment.</a:t>
            </a:r>
            <a:endParaRPr lang="en-US" sz="1250" dirty="0"/>
          </a:p>
        </p:txBody>
      </p:sp>
      <p:sp>
        <p:nvSpPr>
          <p:cNvPr id="16" name="R1_a1"/>
          <p:cNvSpPr txBox="1"/>
          <p:nvPr/>
        </p:nvSpPr>
        <p:spPr>
          <a:xfrm>
            <a:off x="7697419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knife, ladle, whisk…</a:t>
            </a:r>
            <a:endParaRPr lang="en-US" sz="1050" dirty="0"/>
          </a:p>
        </p:txBody>
      </p:sp>
      <p:sp>
        <p:nvSpPr>
          <p:cNvPr id="17" name="box_131"/>
          <p:cNvSpPr txBox="1"/>
          <p:nvPr/>
        </p:nvSpPr>
        <p:spPr>
          <a:xfrm>
            <a:off x="2788920" y="2055571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much or many: flour? eggs?</a:t>
            </a:r>
            <a:endParaRPr lang="en-US" sz="1250" dirty="0"/>
          </a:p>
        </p:txBody>
      </p:sp>
      <p:sp>
        <p:nvSpPr>
          <p:cNvPr id="18" name="R1_a2"/>
          <p:cNvSpPr txBox="1"/>
          <p:nvPr/>
        </p:nvSpPr>
        <p:spPr>
          <a:xfrm>
            <a:off x="4615891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flour, many eggs</a:t>
            </a:r>
            <a:endParaRPr lang="en-US" sz="1050" dirty="0"/>
          </a:p>
        </p:txBody>
      </p:sp>
      <p:sp>
        <p:nvSpPr>
          <p:cNvPr id="19" name="box_132"/>
          <p:cNvSpPr txBox="1"/>
          <p:nvPr/>
        </p:nvSpPr>
        <p:spPr>
          <a:xfrm>
            <a:off x="5870448" y="2055571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dice, slice, chop – what's the difference?</a:t>
            </a:r>
            <a:endParaRPr lang="en-US" sz="1250" dirty="0"/>
          </a:p>
        </p:txBody>
      </p:sp>
      <p:sp>
        <p:nvSpPr>
          <p:cNvPr id="20" name="R1_a3"/>
          <p:cNvSpPr txBox="1"/>
          <p:nvPr/>
        </p:nvSpPr>
        <p:spPr>
          <a:xfrm>
            <a:off x="7697419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 · thin pieces · small pieces</a:t>
            </a:r>
            <a:endParaRPr lang="en-US" sz="1050" dirty="0"/>
          </a:p>
        </p:txBody>
      </p:sp>
      <p:sp>
        <p:nvSpPr>
          <p:cNvPr id="21" name="box_133"/>
          <p:cNvSpPr txBox="1"/>
          <p:nvPr/>
        </p:nvSpPr>
        <p:spPr>
          <a:xfrm>
            <a:off x="2788920" y="2739542"/>
            <a:ext cx="1772107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bake or roast: a cake? a chicken?</a:t>
            </a:r>
            <a:endParaRPr lang="en-US" sz="1250" dirty="0"/>
          </a:p>
        </p:txBody>
      </p:sp>
      <p:sp>
        <p:nvSpPr>
          <p:cNvPr id="22" name="R1_a4"/>
          <p:cNvSpPr txBox="1"/>
          <p:nvPr/>
        </p:nvSpPr>
        <p:spPr>
          <a:xfrm>
            <a:off x="4615891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a cake, roast a chicken</a:t>
            </a:r>
            <a:endParaRPr lang="en-US" sz="1050" dirty="0"/>
          </a:p>
        </p:txBody>
      </p:sp>
      <p:sp>
        <p:nvSpPr>
          <p:cNvPr id="23" name="box_134"/>
          <p:cNvSpPr txBox="1"/>
          <p:nvPr/>
        </p:nvSpPr>
        <p:spPr>
          <a:xfrm>
            <a:off x="5870448" y="2739542"/>
            <a:ext cx="1772107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Say 180°C.</a:t>
            </a:r>
            <a:endParaRPr lang="en-US" sz="1250" dirty="0"/>
          </a:p>
        </p:txBody>
      </p:sp>
      <p:sp>
        <p:nvSpPr>
          <p:cNvPr id="24" name="R1_a5"/>
          <p:cNvSpPr txBox="1"/>
          <p:nvPr/>
        </p:nvSpPr>
        <p:spPr>
          <a:xfrm>
            <a:off x="7697419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and eighty degrees</a:t>
            </a:r>
            <a:endParaRPr lang="en-US" sz="1050" dirty="0"/>
          </a:p>
        </p:txBody>
      </p:sp>
      <p:sp>
        <p:nvSpPr>
          <p:cNvPr id="25" name="box_135"/>
          <p:cNvSpPr txBox="1"/>
          <p:nvPr/>
        </p:nvSpPr>
        <p:spPr>
          <a:xfrm>
            <a:off x="2788920" y="3423514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mustn't or don't have to: wear jewellery?</a:t>
            </a:r>
            <a:endParaRPr lang="en-US" sz="1250" dirty="0"/>
          </a:p>
        </p:txBody>
      </p:sp>
      <p:sp>
        <p:nvSpPr>
          <p:cNvPr id="26" name="R1_a6"/>
          <p:cNvSpPr txBox="1"/>
          <p:nvPr/>
        </p:nvSpPr>
        <p:spPr>
          <a:xfrm>
            <a:off x="4615891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050" dirty="0"/>
          </a:p>
        </p:txBody>
      </p:sp>
      <p:sp>
        <p:nvSpPr>
          <p:cNvPr id="27" name="box_136"/>
          <p:cNvSpPr txBox="1"/>
          <p:nvPr/>
        </p:nvSpPr>
        <p:spPr>
          <a:xfrm>
            <a:off x="5870448" y="3423514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Name 6 allergens.</a:t>
            </a:r>
            <a:endParaRPr lang="en-US" sz="1250" dirty="0"/>
          </a:p>
        </p:txBody>
      </p:sp>
      <p:sp>
        <p:nvSpPr>
          <p:cNvPr id="28" name="R1_a7"/>
          <p:cNvSpPr txBox="1"/>
          <p:nvPr/>
        </p:nvSpPr>
        <p:spPr>
          <a:xfrm>
            <a:off x="7697419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eggs, fish…</a:t>
            </a:r>
            <a:endParaRPr lang="en-US" sz="1050" dirty="0"/>
          </a:p>
        </p:txBody>
      </p:sp>
      <p:sp>
        <p:nvSpPr>
          <p:cNvPr id="29" name="box_137"/>
          <p:cNvSpPr txBox="1"/>
          <p:nvPr/>
        </p:nvSpPr>
        <p:spPr>
          <a:xfrm>
            <a:off x="2788920" y="4107485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'86 the soup!' means…</a:t>
            </a:r>
            <a:endParaRPr lang="en-US" sz="1250" dirty="0"/>
          </a:p>
        </p:txBody>
      </p:sp>
      <p:sp>
        <p:nvSpPr>
          <p:cNvPr id="30" name="R1_a8"/>
          <p:cNvSpPr txBox="1"/>
          <p:nvPr/>
        </p:nvSpPr>
        <p:spPr>
          <a:xfrm>
            <a:off x="4615891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soup</a:t>
            </a:r>
            <a:endParaRPr lang="en-US" sz="1050" dirty="0"/>
          </a:p>
        </p:txBody>
      </p:sp>
      <p:sp>
        <p:nvSpPr>
          <p:cNvPr id="31" name="box_138"/>
          <p:cNvSpPr txBox="1"/>
          <p:nvPr/>
        </p:nvSpPr>
        <p:spPr>
          <a:xfrm>
            <a:off x="5870448" y="4107485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Past of run out?</a:t>
            </a:r>
            <a:endParaRPr lang="en-US" sz="1250" dirty="0"/>
          </a:p>
        </p:txBody>
      </p:sp>
      <p:sp>
        <p:nvSpPr>
          <p:cNvPr id="32" name="R1_a9"/>
          <p:cNvSpPr txBox="1"/>
          <p:nvPr/>
        </p:nvSpPr>
        <p:spPr>
          <a:xfrm>
            <a:off x="7697419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out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Final role-play</a:t>
            </a:r>
            <a:endParaRPr lang="en-US" sz="1100" dirty="0"/>
          </a:p>
        </p:txBody>
      </p:sp>
      <p:sp>
        <p:nvSpPr>
          <p:cNvPr id="5" name="timer_1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11 min</a:t>
            </a:r>
            <a:endParaRPr lang="en-US" sz="1200" dirty="0"/>
          </a:p>
        </p:txBody>
      </p:sp>
      <p:sp>
        <p:nvSpPr>
          <p:cNvPr id="6" name="footer_1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title_144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shift</a:t>
            </a:r>
            <a:endParaRPr lang="en-US" sz="2000" dirty="0"/>
          </a:p>
        </p:txBody>
      </p:sp>
      <p:sp>
        <p:nvSpPr>
          <p:cNvPr id="8" name="tape_1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46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complete shift in English – from arrival to close!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un turno completo in inglese!</a:t>
            </a:r>
            <a:endParaRPr lang="en-US" sz="1250" dirty="0"/>
          </a:p>
        </p:txBody>
      </p:sp>
      <p:sp>
        <p:nvSpPr>
          <p:cNvPr id="13" name="iconBack_15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51" descr="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152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153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and greet the team: Morning, Chef! · Check the delivery: How many…? We've run out of…</a:t>
            </a:r>
            <a:endParaRPr lang="en-US" sz="1200" dirty="0"/>
          </a:p>
        </p:txBody>
      </p:sp>
      <p:sp>
        <p:nvSpPr>
          <p:cNvPr id="17" name="num_154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155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Prep: give and follow commands. Dice the carrots. – Yes, Chef!</a:t>
            </a:r>
            <a:endParaRPr lang="en-US" sz="1200" dirty="0"/>
          </a:p>
        </p:txBody>
      </p:sp>
      <p:sp>
        <p:nvSpPr>
          <p:cNvPr id="19" name="num_156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157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Allergens: the waiter asks about a dish. · Service: calls on the pass – Order in! Heard!</a:t>
            </a:r>
            <a:endParaRPr lang="en-US" sz="1200" dirty="0"/>
          </a:p>
        </p:txBody>
      </p:sp>
      <p:sp>
        <p:nvSpPr>
          <p:cNvPr id="21" name="num_158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159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problem: something goes wrong – explain and solve it. · Close: You must… – Good night, Chef!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6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6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footer_16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5" name="title_163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2000" dirty="0"/>
          </a:p>
        </p:txBody>
      </p:sp>
      <p:sp>
        <p:nvSpPr>
          <p:cNvPr id="6" name="tape_16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7" name="tape_165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sub_166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9" name="box_167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problems in the past simple.</a:t>
            </a:r>
            <a:endParaRPr lang="en-US" sz="1350" dirty="0"/>
          </a:p>
        </p:txBody>
      </p:sp>
      <p:sp>
        <p:nvSpPr>
          <p:cNvPr id="10" name="faces_168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1" name="box_169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ask for help politely.</a:t>
            </a:r>
            <a:endParaRPr lang="en-US" sz="1350" dirty="0"/>
          </a:p>
        </p:txBody>
      </p:sp>
      <p:sp>
        <p:nvSpPr>
          <p:cNvPr id="12" name="faces_170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3" name="box_171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work a full shift in English – congratulations, Chef!</a:t>
            </a:r>
            <a:endParaRPr lang="en-US" sz="1350" dirty="0"/>
          </a:p>
        </p:txBody>
      </p:sp>
      <p:sp>
        <p:nvSpPr>
          <p:cNvPr id="14" name="faces_172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5" name="hw_173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kitchen English diary: write 3 sentences in English after every shift.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6" name="stamp_174"/>
          <p:cNvSpPr txBox="1"/>
          <p:nvPr/>
        </p:nvSpPr>
        <p:spPr>
          <a:xfrm>
            <a:off x="365760" y="36576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it – well done, Chef!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7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7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7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storytelling</a:t>
            </a:r>
            <a:endParaRPr lang="en-US" sz="1100" dirty="0"/>
          </a:p>
        </p:txBody>
      </p:sp>
      <p:sp>
        <p:nvSpPr>
          <p:cNvPr id="5" name="timer_17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extra_17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18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181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Three-word disaster</a:t>
            </a:r>
            <a:endParaRPr lang="en-US" sz="2000" dirty="0"/>
          </a:p>
        </p:txBody>
      </p:sp>
      <p:sp>
        <p:nvSpPr>
          <p:cNvPr id="9" name="tape_18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83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8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8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8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kitchen disaster story with 3 secret words!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 un disastro in cucina con 3 parole segrete!</a:t>
            </a:r>
            <a:endParaRPr lang="en-US" sz="1250" dirty="0"/>
          </a:p>
        </p:txBody>
      </p:sp>
      <p:sp>
        <p:nvSpPr>
          <p:cNvPr id="14" name="iconBack_18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88" descr="d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8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9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gives each chef 3 words, e.g. delivery · burnt · birthday.</a:t>
            </a:r>
            <a:endParaRPr lang="en-US" sz="1300" dirty="0"/>
          </a:p>
        </p:txBody>
      </p:sp>
      <p:sp>
        <p:nvSpPr>
          <p:cNvPr id="18" name="num_19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9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1-minute story in the past simple. Use all 3 words!</a:t>
            </a:r>
            <a:endParaRPr lang="en-US" sz="1300" dirty="0"/>
          </a:p>
        </p:txBody>
      </p:sp>
      <p:sp>
        <p:nvSpPr>
          <p:cNvPr id="20" name="num_19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9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it. Your partner listens and guesses your 3 words.</a:t>
            </a:r>
            <a:endParaRPr lang="en-US" sz="1300" dirty="0"/>
          </a:p>
        </p:txBody>
      </p:sp>
      <p:sp>
        <p:nvSpPr>
          <p:cNvPr id="22" name="num_19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9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point: your partner retells it in 3 sentences.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L10 The final shift</dc:title>
  <dc:subject>PptxGenJS Presentation</dc:subject>
  <dc:creator>London Language School</dc:creator>
  <cp:lastModifiedBy>London Language School</cp:lastModifiedBy>
  <cp:revision>1</cp:revision>
  <dcterms:created xsi:type="dcterms:W3CDTF">2026-10-05T06:50:57Z</dcterms:created>
  <dcterms:modified xsi:type="dcterms:W3CDTF">2026-10-05T06:50:57Z</dcterms:modified>
</cp:coreProperties>
</file>