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10 (60 min). Aims: past simple for problems, asking for help, course review and a complete shift in English.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Lesson 9 (5 min)
REVISION (5 min). Teacher shouts the call with energy; click 1 for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GRAMMAR · Past simple (6 min)
GRAMMAR (6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GRAMMAR · Practice (5 min)
PRACTICE (5 min).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An incident report (6 min)
READING (6 min). Students find 6 past simple verbs (slipped, dropped, cut, gave, put, cleaned). Then they write a 3-line report about a small (invented) incident.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SPEAKING · Stories (8 min)
SPEAKING (8 min). VARIATION: negative experiences with boundaries + perspective change (retelling in the 3rd person: he burnt / she didn't…).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SPEAKING · Asking for help (6 min)
SPEAKING (6 min). Click 1. Then the teacher creates the situations quickly and they 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REVIEW · The whole course (8 min)
GAME (10 min). Questions from L1–L10. Alternate questions; click 1 at the end for all answers. The winner chooses tomorrow's staff meal!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Final role-play (11 min)
FINAL ROLE-PLAY (12 min). Teacher plays waiter / head chef / supplier. Give feedback at the end: 3 things they did very well, 2 to keep practising.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Exit · what can you remember? (3 min)
EXIT (3 min). Course feedback: ask what helped most and what they want next. Homework sheet L10 in the portal.
Can-dos: I can talk about problems in the past simple. · I can ask for help politely. · I can work a full shift in English – congratulations, Chef!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Game · storytelling (8 min)
EXTRA (8 min). VARIATION: constraint challenge + curiosity gap. Word sets: fish · late · angry / oven · wedding · forgot / knife · new commis · ambulance (keep it light!).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10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L10</a:t>
            </a:r>
            <a:endParaRPr lang="en-US" sz="20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final shift</a:t>
            </a:r>
            <a:endParaRPr lang="en-US" sz="22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simple · asking for help · the whole course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551432"/>
          </a:xfrm>
          <a:prstGeom prst="roundRect">
            <a:avLst>
              <a:gd name="adj" fmla="val 8251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past simple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asking for help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the whole course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burnt the sauce, Chef!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fire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went wrong last week?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 the call!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teacher shouts. You answer – fast!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L'insegnante grida. Tu rispondi – veloce!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Controlled practice</a:t>
            </a:r>
            <a:endParaRPr lang="en-US" sz="12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REVISION · Lesson 9</a:t>
            </a:r>
            <a:endParaRPr lang="en-US" sz="800" dirty="0"/>
          </a:p>
        </p:txBody>
      </p:sp>
      <p:sp>
        <p:nvSpPr>
          <p:cNvPr id="12" name="bd_26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27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Order in!</a:t>
            </a:r>
            <a:endParaRPr lang="en-US" sz="1300" dirty="0"/>
          </a:p>
        </p:txBody>
      </p:sp>
      <p:sp>
        <p:nvSpPr>
          <p:cNvPr id="14" name="R1_chip28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Heard, Chef!</a:t>
            </a:r>
            <a:endParaRPr lang="en-US" sz="1200" dirty="0"/>
          </a:p>
        </p:txBody>
      </p:sp>
      <p:sp>
        <p:nvSpPr>
          <p:cNvPr id="15" name="bd_29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30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on table 2?</a:t>
            </a:r>
            <a:endParaRPr lang="en-US" sz="1300" dirty="0"/>
          </a:p>
        </p:txBody>
      </p:sp>
      <p:sp>
        <p:nvSpPr>
          <p:cNvPr id="17" name="R2_chip31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minutes, Chef!</a:t>
            </a:r>
            <a:endParaRPr lang="en-US" sz="1200" dirty="0"/>
          </a:p>
        </p:txBody>
      </p:sp>
      <p:sp>
        <p:nvSpPr>
          <p:cNvPr id="18" name="bd_32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33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Service, please!</a:t>
            </a:r>
            <a:endParaRPr lang="en-US" sz="1300" dirty="0"/>
          </a:p>
        </p:txBody>
      </p:sp>
      <p:sp>
        <p:nvSpPr>
          <p:cNvPr id="20" name="R3_chip34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Away! / Coming!</a:t>
            </a:r>
            <a:endParaRPr lang="en-US" sz="1200" dirty="0"/>
          </a:p>
        </p:txBody>
      </p:sp>
      <p:sp>
        <p:nvSpPr>
          <p:cNvPr id="21" name="bd_35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36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soup!</a:t>
            </a:r>
            <a:endParaRPr lang="en-US" sz="1300" dirty="0"/>
          </a:p>
        </p:txBody>
      </p:sp>
      <p:sp>
        <p:nvSpPr>
          <p:cNvPr id="23" name="R4_chip37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Heard – no more soup.</a:t>
            </a:r>
            <a:endParaRPr lang="en-US" sz="1200" dirty="0"/>
          </a:p>
        </p:txBody>
      </p:sp>
      <p:sp>
        <p:nvSpPr>
          <p:cNvPr id="24" name="bd_38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39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doing?</a:t>
            </a:r>
            <a:endParaRPr lang="en-US" sz="1300" dirty="0"/>
          </a:p>
        </p:txBody>
      </p:sp>
      <p:sp>
        <p:nvSpPr>
          <p:cNvPr id="26" name="R5_chip40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plating table 4.</a:t>
            </a:r>
            <a:endParaRPr lang="en-US" sz="1200" dirty="0"/>
          </a:p>
        </p:txBody>
      </p:sp>
      <p:sp>
        <p:nvSpPr>
          <p:cNvPr id="27" name="bd_41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42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Medium rare – what is it?</a:t>
            </a:r>
            <a:endParaRPr lang="en-US" sz="1300" dirty="0"/>
          </a:p>
        </p:txBody>
      </p:sp>
      <p:sp>
        <p:nvSpPr>
          <p:cNvPr id="29" name="R6_chip43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pink in the middle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happened?</a:t>
            </a:r>
            <a:endParaRPr lang="en-US" sz="2400" dirty="0"/>
          </a:p>
        </p:txBody>
      </p:sp>
      <p:sp>
        <p:nvSpPr>
          <p:cNvPr id="6" name="note_47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🙋 whole class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100" dirty="0"/>
          </a:p>
        </p:txBody>
      </p:sp>
      <p:pic>
        <p:nvPicPr>
          <p:cNvPr id="7" name="logo_48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8" name="foot_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GRAMMAR · Past simple</a:t>
            </a:r>
            <a:endParaRPr lang="en-US" sz="800" dirty="0"/>
          </a:p>
        </p:txBody>
      </p:sp>
      <p:sp>
        <p:nvSpPr>
          <p:cNvPr id="9" name="cd_50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rh_51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Regular: + -ed</a:t>
            </a:r>
            <a:endParaRPr lang="en-US" sz="1250" dirty="0"/>
          </a:p>
        </p:txBody>
      </p:sp>
      <p:sp>
        <p:nvSpPr>
          <p:cNvPr id="11" name="R1_rx52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burn → burnt / burned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 → dropped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arrive → arrived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→ forgot (irr.)</a:t>
            </a:r>
            <a:endParaRPr lang="en-US" sz="1400" dirty="0"/>
          </a:p>
        </p:txBody>
      </p:sp>
      <p:sp>
        <p:nvSpPr>
          <p:cNvPr id="12" name="cd_53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54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Irregular</a:t>
            </a:r>
            <a:endParaRPr lang="en-US" sz="1250" dirty="0"/>
          </a:p>
        </p:txBody>
      </p:sp>
      <p:sp>
        <p:nvSpPr>
          <p:cNvPr id="14" name="R2_rx55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 out → ran out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break → broke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cut → cut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leave → left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→ came</a:t>
            </a:r>
            <a:endParaRPr lang="en-US" sz="1400" dirty="0"/>
          </a:p>
        </p:txBody>
      </p:sp>
      <p:sp>
        <p:nvSpPr>
          <p:cNvPr id="15" name="cd_56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rh_57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– and ?</a:t>
            </a:r>
            <a:endParaRPr lang="en-US" sz="1250" dirty="0"/>
          </a:p>
        </p:txBody>
      </p:sp>
      <p:sp>
        <p:nvSpPr>
          <p:cNvPr id="17" name="R3_rx58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delivery didn't arrive.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turn off the oven?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happened?</a:t>
            </a:r>
            <a:endParaRPr lang="en-US" sz="1400" dirty="0"/>
          </a:p>
        </p:txBody>
      </p:sp>
      <p:sp>
        <p:nvSpPr>
          <p:cNvPr id="18" name="R4_wc59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4_w60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 didn't burnt → ✓ I didn't burn.     ✗ Did you forgot? → ✓ Did you forget?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3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Kitchen problems</a:t>
            </a:r>
            <a:endParaRPr lang="en-US" sz="2500" dirty="0"/>
          </a:p>
        </p:txBody>
      </p:sp>
      <p:pic>
        <p:nvPicPr>
          <p:cNvPr id="6" name="brP_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5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verbs in the past simple.</a:t>
            </a:r>
            <a:endParaRPr lang="en-US" sz="1250" dirty="0"/>
          </a:p>
        </p:txBody>
      </p:sp>
      <p:sp>
        <p:nvSpPr>
          <p:cNvPr id="8" name="insIT_6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Metti i verbi al passato.</a:t>
            </a:r>
            <a:endParaRPr lang="en-US" sz="950" dirty="0"/>
          </a:p>
        </p:txBody>
      </p:sp>
      <p:sp>
        <p:nvSpPr>
          <p:cNvPr id="9" name="note_6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GRAMMAR · Practice</a:t>
            </a:r>
            <a:endParaRPr lang="en-US" sz="800" dirty="0"/>
          </a:p>
        </p:txBody>
      </p:sp>
      <p:sp>
        <p:nvSpPr>
          <p:cNvPr id="12" name="bd_70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71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(burn) the onions.</a:t>
            </a:r>
            <a:endParaRPr lang="en-US" sz="1300" dirty="0"/>
          </a:p>
        </p:txBody>
      </p:sp>
      <p:sp>
        <p:nvSpPr>
          <p:cNvPr id="14" name="R1_chip72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burnt / burned</a:t>
            </a:r>
            <a:endParaRPr lang="en-US" sz="1200" dirty="0"/>
          </a:p>
        </p:txBody>
      </p:sp>
      <p:sp>
        <p:nvSpPr>
          <p:cNvPr id="15" name="bd_73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74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___ (run out) of cream.</a:t>
            </a:r>
            <a:endParaRPr lang="en-US" sz="1300" dirty="0"/>
          </a:p>
        </p:txBody>
      </p:sp>
      <p:sp>
        <p:nvSpPr>
          <p:cNvPr id="17" name="R2_chip75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 out</a:t>
            </a:r>
            <a:endParaRPr lang="en-US" sz="1200" dirty="0"/>
          </a:p>
        </p:txBody>
      </p:sp>
      <p:sp>
        <p:nvSpPr>
          <p:cNvPr id="18" name="bd_76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77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fish delivery ___ (not arrive).</a:t>
            </a:r>
            <a:endParaRPr lang="en-US" sz="1300" dirty="0"/>
          </a:p>
        </p:txBody>
      </p:sp>
      <p:sp>
        <p:nvSpPr>
          <p:cNvPr id="20" name="R3_chip78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arrive</a:t>
            </a:r>
            <a:endParaRPr lang="en-US" sz="1200" dirty="0"/>
          </a:p>
        </p:txBody>
      </p:sp>
      <p:sp>
        <p:nvSpPr>
          <p:cNvPr id="21" name="bd_79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80"/>
          <p:cNvSpPr/>
          <p:nvPr/>
        </p:nvSpPr>
        <p:spPr>
          <a:xfrm>
            <a:off x="932688" y="3255264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KP ___ (break) three plates.</a:t>
            </a:r>
            <a:endParaRPr lang="en-US" sz="1300" dirty="0"/>
          </a:p>
        </p:txBody>
      </p:sp>
      <p:sp>
        <p:nvSpPr>
          <p:cNvPr id="23" name="R4_chip81"/>
          <p:cNvSpPr/>
          <p:nvPr/>
        </p:nvSpPr>
        <p:spPr>
          <a:xfrm>
            <a:off x="4297680" y="3255264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broke</a:t>
            </a:r>
            <a:endParaRPr lang="en-US" sz="1200" dirty="0"/>
          </a:p>
        </p:txBody>
      </p:sp>
      <p:sp>
        <p:nvSpPr>
          <p:cNvPr id="24" name="bd_82"/>
          <p:cNvSpPr/>
          <p:nvPr/>
        </p:nvSpPr>
        <p:spPr>
          <a:xfrm>
            <a:off x="548640" y="3995928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83"/>
          <p:cNvSpPr/>
          <p:nvPr/>
        </p:nvSpPr>
        <p:spPr>
          <a:xfrm>
            <a:off x="932688" y="3867912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Somebody ___ (leave) the fridge door open!</a:t>
            </a:r>
            <a:endParaRPr lang="en-US" sz="1300" dirty="0"/>
          </a:p>
        </p:txBody>
      </p:sp>
      <p:sp>
        <p:nvSpPr>
          <p:cNvPr id="26" name="R5_chip84"/>
          <p:cNvSpPr/>
          <p:nvPr/>
        </p:nvSpPr>
        <p:spPr>
          <a:xfrm>
            <a:off x="4297680" y="3867912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left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87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happened?</a:t>
            </a:r>
            <a:endParaRPr lang="en-US" sz="2400" dirty="0"/>
          </a:p>
        </p:txBody>
      </p:sp>
      <p:pic>
        <p:nvPicPr>
          <p:cNvPr id="6" name="brP_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89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incident report. Answer the questions.</a:t>
            </a:r>
            <a:endParaRPr lang="en-US" sz="1250" dirty="0"/>
          </a:p>
        </p:txBody>
      </p:sp>
      <p:sp>
        <p:nvSpPr>
          <p:cNvPr id="8" name="insIT_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rapporto e rispondi.</a:t>
            </a:r>
            <a:endParaRPr lang="en-US" sz="950" dirty="0"/>
          </a:p>
        </p:txBody>
      </p:sp>
      <p:sp>
        <p:nvSpPr>
          <p:cNvPr id="9" name="note_9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Communicative</a:t>
            </a:r>
            <a:endParaRPr lang="en-US" sz="1250" dirty="0"/>
          </a:p>
        </p:txBody>
      </p:sp>
      <p:pic>
        <p:nvPicPr>
          <p:cNvPr id="10" name="logo_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READING · An incident report</a:t>
            </a:r>
            <a:endParaRPr lang="en-US" sz="800" dirty="0"/>
          </a:p>
        </p:txBody>
      </p:sp>
      <p:sp>
        <p:nvSpPr>
          <p:cNvPr id="12" name="cd_94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95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📋 Incident report – Fri 21.15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Name: Toni (commis)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happened? I was carrying a tray of glasses and I slipped on the wet floor near the dishwasher. I dropped the tray and I cut my hand on a glass. Anna gave me first aid and put a blue plaster on it. Nobody else was hurt.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we do? We cleaned the floor and put the wet floor sign out.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Action: The KP must put the sign out every time he mops.</a:t>
            </a:r>
            <a:endParaRPr lang="en-US" sz="1300" dirty="0"/>
          </a:p>
        </p:txBody>
      </p:sp>
      <p:sp>
        <p:nvSpPr>
          <p:cNvPr id="14" name="bd_96"/>
          <p:cNvSpPr/>
          <p:nvPr/>
        </p:nvSpPr>
        <p:spPr>
          <a:xfrm>
            <a:off x="6172200" y="142783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rq_97"/>
          <p:cNvSpPr/>
          <p:nvPr/>
        </p:nvSpPr>
        <p:spPr>
          <a:xfrm>
            <a:off x="6492240" y="141732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was Toni carrying?</a:t>
            </a:r>
            <a:endParaRPr lang="en-US" sz="1100" dirty="0"/>
          </a:p>
        </p:txBody>
      </p:sp>
      <p:sp>
        <p:nvSpPr>
          <p:cNvPr id="16" name="R1_chip98"/>
          <p:cNvSpPr/>
          <p:nvPr/>
        </p:nvSpPr>
        <p:spPr>
          <a:xfrm>
            <a:off x="6492240" y="174010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tray of glasses</a:t>
            </a:r>
            <a:endParaRPr lang="en-US" sz="950" dirty="0"/>
          </a:p>
        </p:txBody>
      </p:sp>
      <p:sp>
        <p:nvSpPr>
          <p:cNvPr id="17" name="bd_99"/>
          <p:cNvSpPr/>
          <p:nvPr/>
        </p:nvSpPr>
        <p:spPr>
          <a:xfrm>
            <a:off x="6172200" y="2109978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rq_100"/>
          <p:cNvSpPr/>
          <p:nvPr/>
        </p:nvSpPr>
        <p:spPr>
          <a:xfrm>
            <a:off x="6492240" y="2099462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fall?</a:t>
            </a:r>
            <a:endParaRPr lang="en-US" sz="1100" dirty="0"/>
          </a:p>
        </p:txBody>
      </p:sp>
      <p:sp>
        <p:nvSpPr>
          <p:cNvPr id="19" name="R2_chip101"/>
          <p:cNvSpPr/>
          <p:nvPr/>
        </p:nvSpPr>
        <p:spPr>
          <a:xfrm>
            <a:off x="6492240" y="2422246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floor was wet</a:t>
            </a:r>
            <a:endParaRPr lang="en-US" sz="950" dirty="0"/>
          </a:p>
        </p:txBody>
      </p:sp>
      <p:sp>
        <p:nvSpPr>
          <p:cNvPr id="20" name="bd_102"/>
          <p:cNvSpPr/>
          <p:nvPr/>
        </p:nvSpPr>
        <p:spPr>
          <a:xfrm>
            <a:off x="6172200" y="2792120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rq_103"/>
          <p:cNvSpPr/>
          <p:nvPr/>
        </p:nvSpPr>
        <p:spPr>
          <a:xfrm>
            <a:off x="6492240" y="2781605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did he cut his hand?</a:t>
            </a:r>
            <a:endParaRPr lang="en-US" sz="1100" dirty="0"/>
          </a:p>
        </p:txBody>
      </p:sp>
      <p:sp>
        <p:nvSpPr>
          <p:cNvPr id="22" name="R3_chip104"/>
          <p:cNvSpPr/>
          <p:nvPr/>
        </p:nvSpPr>
        <p:spPr>
          <a:xfrm>
            <a:off x="6492240" y="3104388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a glass</a:t>
            </a:r>
            <a:endParaRPr lang="en-US" sz="950" dirty="0"/>
          </a:p>
        </p:txBody>
      </p:sp>
      <p:sp>
        <p:nvSpPr>
          <p:cNvPr id="23" name="bd_105"/>
          <p:cNvSpPr/>
          <p:nvPr/>
        </p:nvSpPr>
        <p:spPr>
          <a:xfrm>
            <a:off x="6172200" y="3474263"/>
            <a:ext cx="274320" cy="27432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rq_106"/>
          <p:cNvSpPr/>
          <p:nvPr/>
        </p:nvSpPr>
        <p:spPr>
          <a:xfrm>
            <a:off x="6492240" y="3463747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helped him?</a:t>
            </a:r>
            <a:endParaRPr lang="en-US" sz="1100" dirty="0"/>
          </a:p>
        </p:txBody>
      </p:sp>
      <p:sp>
        <p:nvSpPr>
          <p:cNvPr id="25" name="R4_chip107"/>
          <p:cNvSpPr/>
          <p:nvPr/>
        </p:nvSpPr>
        <p:spPr>
          <a:xfrm>
            <a:off x="6492240" y="3786530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Anna</a:t>
            </a:r>
            <a:endParaRPr lang="en-US" sz="950" dirty="0"/>
          </a:p>
        </p:txBody>
      </p:sp>
      <p:sp>
        <p:nvSpPr>
          <p:cNvPr id="26" name="bd_108"/>
          <p:cNvSpPr/>
          <p:nvPr/>
        </p:nvSpPr>
        <p:spPr>
          <a:xfrm>
            <a:off x="6172200" y="4156405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rq_109"/>
          <p:cNvSpPr/>
          <p:nvPr/>
        </p:nvSpPr>
        <p:spPr>
          <a:xfrm>
            <a:off x="6492240" y="414589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must the KP do now?</a:t>
            </a:r>
            <a:endParaRPr lang="en-US" sz="1100" dirty="0"/>
          </a:p>
        </p:txBody>
      </p:sp>
      <p:sp>
        <p:nvSpPr>
          <p:cNvPr id="28" name="R5_chip110"/>
          <p:cNvSpPr/>
          <p:nvPr/>
        </p:nvSpPr>
        <p:spPr>
          <a:xfrm>
            <a:off x="6492240" y="446867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sign out when he mops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1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My worst shift ever</a:t>
            </a:r>
            <a:endParaRPr lang="en-US" sz="2500" dirty="0"/>
          </a:p>
        </p:txBody>
      </p:sp>
      <p:pic>
        <p:nvPicPr>
          <p:cNvPr id="6" name="brP_1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115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partner. Your partner tells the teacher!</a:t>
            </a:r>
            <a:endParaRPr lang="en-US" sz="1250" dirty="0"/>
          </a:p>
        </p:txBody>
      </p:sp>
      <p:sp>
        <p:nvSpPr>
          <p:cNvPr id="8" name="insIT_11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Raccontalo al collega. Il collega lo racconta all'insegnante!</a:t>
            </a:r>
            <a:endParaRPr lang="en-US" sz="950" dirty="0"/>
          </a:p>
        </p:txBody>
      </p:sp>
      <p:sp>
        <p:nvSpPr>
          <p:cNvPr id="9" name="note_11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1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SPEAKING · Stories</a:t>
            </a:r>
            <a:endParaRPr lang="en-US" sz="800" dirty="0"/>
          </a:p>
        </p:txBody>
      </p:sp>
      <p:sp>
        <p:nvSpPr>
          <p:cNvPr id="12" name="R1_qb120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121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Think of a bad shift (a funny one, not a sad one!).</a:t>
            </a:r>
            <a:endParaRPr lang="en-US" sz="1400" dirty="0"/>
          </a:p>
        </p:txBody>
      </p:sp>
      <p:sp>
        <p:nvSpPr>
          <p:cNvPr id="14" name="R2_qb122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123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partner: When? What happened? What did you do?</a:t>
            </a:r>
            <a:endParaRPr lang="en-US" sz="1400" dirty="0"/>
          </a:p>
        </p:txBody>
      </p:sp>
      <p:sp>
        <p:nvSpPr>
          <p:cNvPr id="16" name="R3_qb124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125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partner asks 2 follow-up questions.</a:t>
            </a:r>
            <a:endParaRPr lang="en-US" sz="1400" dirty="0"/>
          </a:p>
        </p:txBody>
      </p:sp>
      <p:sp>
        <p:nvSpPr>
          <p:cNvPr id="18" name="R4_qb126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127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partner tells the teacher YOUR story: Last summer, Claudio…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130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Help, Chef!</a:t>
            </a:r>
            <a:endParaRPr lang="en-US" sz="2500" dirty="0"/>
          </a:p>
        </p:txBody>
      </p:sp>
      <p:pic>
        <p:nvPicPr>
          <p:cNvPr id="6" name="brP_1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132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say? Match. Then practise.</a:t>
            </a:r>
            <a:endParaRPr lang="en-US" sz="1250" dirty="0"/>
          </a:p>
        </p:txBody>
      </p:sp>
      <p:sp>
        <p:nvSpPr>
          <p:cNvPr id="8" name="insIT_13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dici? Abbina. Poi esercitati.</a:t>
            </a:r>
            <a:endParaRPr lang="en-US" sz="950" dirty="0"/>
          </a:p>
        </p:txBody>
      </p:sp>
      <p:sp>
        <p:nvSpPr>
          <p:cNvPr id="9" name="note_13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Controlled practice</a:t>
            </a:r>
            <a:endParaRPr lang="en-US" sz="1250" dirty="0"/>
          </a:p>
        </p:txBody>
      </p:sp>
      <p:pic>
        <p:nvPicPr>
          <p:cNvPr id="10" name="logo_1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SPEAKING · Asking for help</a:t>
            </a:r>
            <a:endParaRPr lang="en-US" sz="800" dirty="0"/>
          </a:p>
        </p:txBody>
      </p:sp>
      <p:sp>
        <p:nvSpPr>
          <p:cNvPr id="12" name="bd_137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38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don't understand the order.</a:t>
            </a:r>
            <a:endParaRPr lang="en-US" sz="1300" dirty="0"/>
          </a:p>
        </p:txBody>
      </p:sp>
      <p:sp>
        <p:nvSpPr>
          <p:cNvPr id="14" name="R1_chip139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Chef, can you repeat that?</a:t>
            </a:r>
            <a:endParaRPr lang="en-US" sz="1200" dirty="0"/>
          </a:p>
        </p:txBody>
      </p:sp>
      <p:sp>
        <p:nvSpPr>
          <p:cNvPr id="15" name="bd_140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41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pot is very heavy.</a:t>
            </a:r>
            <a:endParaRPr lang="en-US" sz="1300" dirty="0"/>
          </a:p>
        </p:txBody>
      </p:sp>
      <p:sp>
        <p:nvSpPr>
          <p:cNvPr id="17" name="R2_chip142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give me a hand?</a:t>
            </a:r>
            <a:endParaRPr lang="en-US" sz="1200" dirty="0"/>
          </a:p>
        </p:txBody>
      </p:sp>
      <p:sp>
        <p:nvSpPr>
          <p:cNvPr id="18" name="bd_143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44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can't find the saffron.</a:t>
            </a:r>
            <a:endParaRPr lang="en-US" sz="1300" dirty="0"/>
          </a:p>
        </p:txBody>
      </p:sp>
      <p:sp>
        <p:nvSpPr>
          <p:cNvPr id="20" name="R3_chip145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we keep the saffron?</a:t>
            </a:r>
            <a:endParaRPr lang="en-US" sz="1200" dirty="0"/>
          </a:p>
        </p:txBody>
      </p:sp>
      <p:sp>
        <p:nvSpPr>
          <p:cNvPr id="21" name="bd_146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47"/>
          <p:cNvSpPr/>
          <p:nvPr/>
        </p:nvSpPr>
        <p:spPr>
          <a:xfrm>
            <a:off x="932688" y="3255264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cut your finger.</a:t>
            </a:r>
            <a:endParaRPr lang="en-US" sz="1300" dirty="0"/>
          </a:p>
        </p:txBody>
      </p:sp>
      <p:sp>
        <p:nvSpPr>
          <p:cNvPr id="23" name="R4_chip148"/>
          <p:cNvSpPr/>
          <p:nvPr/>
        </p:nvSpPr>
        <p:spPr>
          <a:xfrm>
            <a:off x="4297680" y="3255264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need a plaster, please.</a:t>
            </a:r>
            <a:endParaRPr lang="en-US" sz="1200" dirty="0"/>
          </a:p>
        </p:txBody>
      </p:sp>
      <p:sp>
        <p:nvSpPr>
          <p:cNvPr id="24" name="bd_149"/>
          <p:cNvSpPr/>
          <p:nvPr/>
        </p:nvSpPr>
        <p:spPr>
          <a:xfrm>
            <a:off x="548640" y="3995928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50"/>
          <p:cNvSpPr/>
          <p:nvPr/>
        </p:nvSpPr>
        <p:spPr>
          <a:xfrm>
            <a:off x="932688" y="3867912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need more time.</a:t>
            </a:r>
            <a:endParaRPr lang="en-US" sz="1300" dirty="0"/>
          </a:p>
        </p:txBody>
      </p:sp>
      <p:sp>
        <p:nvSpPr>
          <p:cNvPr id="26" name="R5_chip151"/>
          <p:cNvSpPr/>
          <p:nvPr/>
        </p:nvSpPr>
        <p:spPr>
          <a:xfrm>
            <a:off x="4297680" y="3867912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need two more minutes, Chef.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154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Kitchen quiz: Chef A v Chef B</a:t>
            </a:r>
            <a:endParaRPr lang="en-US" sz="2500" dirty="0"/>
          </a:p>
        </p:txBody>
      </p:sp>
      <p:pic>
        <p:nvPicPr>
          <p:cNvPr id="6" name="brP_1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156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remembers more? 1 point per correct answer!</a:t>
            </a:r>
            <a:endParaRPr lang="en-US" sz="1250" dirty="0"/>
          </a:p>
        </p:txBody>
      </p:sp>
      <p:sp>
        <p:nvSpPr>
          <p:cNvPr id="8" name="insIT_1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 ricorda di più? 1 punto per risposta!</a:t>
            </a:r>
            <a:endParaRPr lang="en-US" sz="950" dirty="0"/>
          </a:p>
        </p:txBody>
      </p:sp>
      <p:sp>
        <p:nvSpPr>
          <p:cNvPr id="9" name="note_15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1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REVIEW · The whole course</a:t>
            </a:r>
            <a:endParaRPr lang="en-US" sz="800" dirty="0"/>
          </a:p>
        </p:txBody>
      </p:sp>
      <p:sp>
        <p:nvSpPr>
          <p:cNvPr id="12" name="cd_16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1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bd_164"/>
          <p:cNvSpPr/>
          <p:nvPr/>
        </p:nvSpPr>
        <p:spPr>
          <a:xfrm>
            <a:off x="3246120" y="1383030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6" name="gq_165"/>
          <p:cNvSpPr/>
          <p:nvPr/>
        </p:nvSpPr>
        <p:spPr>
          <a:xfrm>
            <a:off x="3657600" y="1417320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is a commis chef?</a:t>
            </a:r>
            <a:endParaRPr lang="en-US" sz="900" dirty="0"/>
          </a:p>
        </p:txBody>
      </p:sp>
      <p:sp>
        <p:nvSpPr>
          <p:cNvPr id="17" name="chip_166"/>
          <p:cNvSpPr/>
          <p:nvPr/>
        </p:nvSpPr>
        <p:spPr>
          <a:xfrm>
            <a:off x="6263640" y="1417320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junior chef</a:t>
            </a:r>
            <a:endParaRPr lang="en-US" sz="900" dirty="0"/>
          </a:p>
        </p:txBody>
      </p:sp>
      <p:sp>
        <p:nvSpPr>
          <p:cNvPr id="18" name="bd_167"/>
          <p:cNvSpPr/>
          <p:nvPr/>
        </p:nvSpPr>
        <p:spPr>
          <a:xfrm>
            <a:off x="3246120" y="170764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168"/>
          <p:cNvSpPr/>
          <p:nvPr/>
        </p:nvSpPr>
        <p:spPr>
          <a:xfrm>
            <a:off x="3657600" y="1741932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5 pieces of equipment.</a:t>
            </a:r>
            <a:endParaRPr lang="en-US" sz="900" dirty="0"/>
          </a:p>
        </p:txBody>
      </p:sp>
      <p:sp>
        <p:nvSpPr>
          <p:cNvPr id="20" name="R1_chip169"/>
          <p:cNvSpPr/>
          <p:nvPr/>
        </p:nvSpPr>
        <p:spPr>
          <a:xfrm>
            <a:off x="6263640" y="1741932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knife, ladle, whisk…</a:t>
            </a:r>
            <a:endParaRPr lang="en-US" sz="900" dirty="0"/>
          </a:p>
        </p:txBody>
      </p:sp>
      <p:sp>
        <p:nvSpPr>
          <p:cNvPr id="21" name="bd_17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171"/>
          <p:cNvSpPr/>
          <p:nvPr/>
        </p:nvSpPr>
        <p:spPr>
          <a:xfrm>
            <a:off x="3657600" y="2066544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much or many: flour? eggs?</a:t>
            </a:r>
            <a:endParaRPr lang="en-US" sz="900" dirty="0"/>
          </a:p>
        </p:txBody>
      </p:sp>
      <p:sp>
        <p:nvSpPr>
          <p:cNvPr id="23" name="R2_chip172"/>
          <p:cNvSpPr/>
          <p:nvPr/>
        </p:nvSpPr>
        <p:spPr>
          <a:xfrm>
            <a:off x="6263640" y="2066544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much flour, many eggs</a:t>
            </a:r>
            <a:endParaRPr lang="en-US" sz="900" dirty="0"/>
          </a:p>
        </p:txBody>
      </p:sp>
      <p:sp>
        <p:nvSpPr>
          <p:cNvPr id="24" name="bd_173"/>
          <p:cNvSpPr/>
          <p:nvPr/>
        </p:nvSpPr>
        <p:spPr>
          <a:xfrm>
            <a:off x="3246120" y="235686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174"/>
          <p:cNvSpPr/>
          <p:nvPr/>
        </p:nvSpPr>
        <p:spPr>
          <a:xfrm>
            <a:off x="3657600" y="2391156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dice, slice, chop – what's the difference?</a:t>
            </a:r>
            <a:endParaRPr lang="en-US" sz="800" dirty="0"/>
          </a:p>
        </p:txBody>
      </p:sp>
      <p:sp>
        <p:nvSpPr>
          <p:cNvPr id="26" name="R3_chip175"/>
          <p:cNvSpPr/>
          <p:nvPr/>
        </p:nvSpPr>
        <p:spPr>
          <a:xfrm>
            <a:off x="6263640" y="2391156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cubes · thin pieces · small pieces</a:t>
            </a:r>
            <a:endParaRPr lang="en-US" sz="900" dirty="0"/>
          </a:p>
        </p:txBody>
      </p:sp>
      <p:sp>
        <p:nvSpPr>
          <p:cNvPr id="27" name="bd_176"/>
          <p:cNvSpPr/>
          <p:nvPr/>
        </p:nvSpPr>
        <p:spPr>
          <a:xfrm>
            <a:off x="3246120" y="268147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177"/>
          <p:cNvSpPr/>
          <p:nvPr/>
        </p:nvSpPr>
        <p:spPr>
          <a:xfrm>
            <a:off x="3657600" y="2715768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bake or roast: a cake? a chicken?</a:t>
            </a:r>
            <a:endParaRPr lang="en-US" sz="900" dirty="0"/>
          </a:p>
        </p:txBody>
      </p:sp>
      <p:sp>
        <p:nvSpPr>
          <p:cNvPr id="29" name="R4_chip178"/>
          <p:cNvSpPr/>
          <p:nvPr/>
        </p:nvSpPr>
        <p:spPr>
          <a:xfrm>
            <a:off x="6263640" y="2715768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bake a cake, roast a chicken</a:t>
            </a:r>
            <a:endParaRPr lang="en-US" sz="900" dirty="0"/>
          </a:p>
        </p:txBody>
      </p:sp>
      <p:sp>
        <p:nvSpPr>
          <p:cNvPr id="30" name="bd_179"/>
          <p:cNvSpPr/>
          <p:nvPr/>
        </p:nvSpPr>
        <p:spPr>
          <a:xfrm>
            <a:off x="3246120" y="3006090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gq_180"/>
          <p:cNvSpPr/>
          <p:nvPr/>
        </p:nvSpPr>
        <p:spPr>
          <a:xfrm>
            <a:off x="3657600" y="3040380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180°C.</a:t>
            </a:r>
            <a:endParaRPr lang="en-US" sz="900" dirty="0"/>
          </a:p>
        </p:txBody>
      </p:sp>
      <p:sp>
        <p:nvSpPr>
          <p:cNvPr id="32" name="R5_chip181"/>
          <p:cNvSpPr/>
          <p:nvPr/>
        </p:nvSpPr>
        <p:spPr>
          <a:xfrm>
            <a:off x="6263640" y="3040380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hundred and eighty degrees</a:t>
            </a:r>
            <a:endParaRPr lang="en-US" sz="900" dirty="0"/>
          </a:p>
        </p:txBody>
      </p:sp>
      <p:sp>
        <p:nvSpPr>
          <p:cNvPr id="33" name="bd_182"/>
          <p:cNvSpPr/>
          <p:nvPr/>
        </p:nvSpPr>
        <p:spPr>
          <a:xfrm>
            <a:off x="3246120" y="3330702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gq_183"/>
          <p:cNvSpPr/>
          <p:nvPr/>
        </p:nvSpPr>
        <p:spPr>
          <a:xfrm>
            <a:off x="3657600" y="3364992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mustn't or don't have to: wear jewellery?</a:t>
            </a:r>
            <a:endParaRPr lang="en-US" sz="800" dirty="0"/>
          </a:p>
        </p:txBody>
      </p:sp>
      <p:sp>
        <p:nvSpPr>
          <p:cNvPr id="35" name="R6_chip184"/>
          <p:cNvSpPr/>
          <p:nvPr/>
        </p:nvSpPr>
        <p:spPr>
          <a:xfrm>
            <a:off x="6263640" y="3364992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mustn't</a:t>
            </a:r>
            <a:endParaRPr lang="en-US" sz="900" dirty="0"/>
          </a:p>
        </p:txBody>
      </p:sp>
      <p:sp>
        <p:nvSpPr>
          <p:cNvPr id="36" name="bd_18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gq_186"/>
          <p:cNvSpPr/>
          <p:nvPr/>
        </p:nvSpPr>
        <p:spPr>
          <a:xfrm>
            <a:off x="3657600" y="3689604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6 allergens.</a:t>
            </a:r>
            <a:endParaRPr lang="en-US" sz="900" dirty="0"/>
          </a:p>
        </p:txBody>
      </p:sp>
      <p:sp>
        <p:nvSpPr>
          <p:cNvPr id="38" name="R7_chip187"/>
          <p:cNvSpPr/>
          <p:nvPr/>
        </p:nvSpPr>
        <p:spPr>
          <a:xfrm>
            <a:off x="6263640" y="3689604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milk, eggs, fish…</a:t>
            </a:r>
            <a:endParaRPr lang="en-US" sz="900" dirty="0"/>
          </a:p>
        </p:txBody>
      </p:sp>
      <p:sp>
        <p:nvSpPr>
          <p:cNvPr id="39" name="bd_188"/>
          <p:cNvSpPr/>
          <p:nvPr/>
        </p:nvSpPr>
        <p:spPr>
          <a:xfrm>
            <a:off x="3246120" y="397992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0" name="gq_189"/>
          <p:cNvSpPr/>
          <p:nvPr/>
        </p:nvSpPr>
        <p:spPr>
          <a:xfrm>
            <a:off x="3657600" y="4014216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'86 the soup!' means…</a:t>
            </a:r>
            <a:endParaRPr lang="en-US" sz="900" dirty="0"/>
          </a:p>
        </p:txBody>
      </p:sp>
      <p:sp>
        <p:nvSpPr>
          <p:cNvPr id="41" name="R8_chip190"/>
          <p:cNvSpPr/>
          <p:nvPr/>
        </p:nvSpPr>
        <p:spPr>
          <a:xfrm>
            <a:off x="6263640" y="4014216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 more soup</a:t>
            </a:r>
            <a:endParaRPr lang="en-US" sz="900" dirty="0"/>
          </a:p>
        </p:txBody>
      </p:sp>
      <p:sp>
        <p:nvSpPr>
          <p:cNvPr id="42" name="bd_191"/>
          <p:cNvSpPr/>
          <p:nvPr/>
        </p:nvSpPr>
        <p:spPr>
          <a:xfrm>
            <a:off x="3246120" y="4304538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1100" dirty="0"/>
          </a:p>
        </p:txBody>
      </p:sp>
      <p:sp>
        <p:nvSpPr>
          <p:cNvPr id="43" name="gq_192"/>
          <p:cNvSpPr/>
          <p:nvPr/>
        </p:nvSpPr>
        <p:spPr>
          <a:xfrm>
            <a:off x="3657600" y="4338828"/>
            <a:ext cx="2514600" cy="260604"/>
          </a:xfrm>
          <a:prstGeom prst="roundRect">
            <a:avLst>
              <a:gd name="adj" fmla="val 350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of run out?</a:t>
            </a:r>
            <a:endParaRPr lang="en-US" sz="900" dirty="0"/>
          </a:p>
        </p:txBody>
      </p:sp>
      <p:sp>
        <p:nvSpPr>
          <p:cNvPr id="44" name="R9_chip193"/>
          <p:cNvSpPr/>
          <p:nvPr/>
        </p:nvSpPr>
        <p:spPr>
          <a:xfrm>
            <a:off x="6263640" y="4338828"/>
            <a:ext cx="2560320" cy="260604"/>
          </a:xfrm>
          <a:prstGeom prst="roundRect">
            <a:avLst>
              <a:gd name="adj" fmla="val 35088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ran out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1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196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final shift</a:t>
            </a:r>
            <a:endParaRPr lang="en-US" sz="2500" dirty="0"/>
          </a:p>
        </p:txBody>
      </p:sp>
      <p:pic>
        <p:nvPicPr>
          <p:cNvPr id="6" name="brP_1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9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a complete shift in English – from arrival to close!</a:t>
            </a:r>
            <a:endParaRPr lang="en-US" sz="1250" dirty="0"/>
          </a:p>
        </p:txBody>
      </p:sp>
      <p:sp>
        <p:nvSpPr>
          <p:cNvPr id="8" name="insIT_19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Fate un turno completo in inglese!</a:t>
            </a:r>
            <a:endParaRPr lang="en-US" sz="950" dirty="0"/>
          </a:p>
        </p:txBody>
      </p:sp>
      <p:sp>
        <p:nvSpPr>
          <p:cNvPr id="9" name="note_20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11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0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SPEAKING · Final role-play</a:t>
            </a:r>
            <a:endParaRPr lang="en-US" sz="800" dirty="0"/>
          </a:p>
        </p:txBody>
      </p:sp>
      <p:sp>
        <p:nvSpPr>
          <p:cNvPr id="12" name="R1_qb203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204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Arrive and greet the team: Morning, Chef! · Check the delivery: How many…? We've run out of…</a:t>
            </a:r>
            <a:endParaRPr lang="en-US" sz="1400" dirty="0"/>
          </a:p>
        </p:txBody>
      </p:sp>
      <p:sp>
        <p:nvSpPr>
          <p:cNvPr id="14" name="R2_qb205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206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Prep: give and follow commands. Dice the carrots. – Yes, Chef!</a:t>
            </a:r>
            <a:endParaRPr lang="en-US" sz="1400" dirty="0"/>
          </a:p>
        </p:txBody>
      </p:sp>
      <p:sp>
        <p:nvSpPr>
          <p:cNvPr id="16" name="R3_qb207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208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Allergens: the waiter asks about a dish. · Service: calls on the pass – Order in! Heard!</a:t>
            </a:r>
            <a:endParaRPr lang="en-US" sz="1400" dirty="0"/>
          </a:p>
        </p:txBody>
      </p:sp>
      <p:sp>
        <p:nvSpPr>
          <p:cNvPr id="18" name="R4_qb209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210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problem: something goes wrong – explain and solve it. · Close: You must… – Good night, Chef!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213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2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15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21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note_217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2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Exit · what can you remember?</a:t>
            </a:r>
            <a:endParaRPr lang="en-US" sz="800" dirty="0"/>
          </a:p>
        </p:txBody>
      </p:sp>
      <p:sp>
        <p:nvSpPr>
          <p:cNvPr id="12" name="bd_220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221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4" name="bd_222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223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6" name="bd_224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225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8" name="cd_226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227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228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229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a kitchen English diary: write 3 sentences in English after every shift.</a:t>
            </a:r>
            <a:endParaRPr lang="en-US" sz="950" dirty="0"/>
          </a:p>
        </p:txBody>
      </p:sp>
      <p:sp>
        <p:nvSpPr>
          <p:cNvPr id="22" name="st_230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 did it – well done, Chef!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3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33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23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35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23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23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2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Review · what did you do today?</a:t>
            </a:r>
            <a:endParaRPr lang="en-US" sz="800" dirty="0"/>
          </a:p>
        </p:txBody>
      </p:sp>
      <p:sp>
        <p:nvSpPr>
          <p:cNvPr id="12" name="cd_240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241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14" name="tt_242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past simple</a:t>
            </a:r>
            <a:endParaRPr lang="en-US" sz="1350" dirty="0"/>
          </a:p>
        </p:txBody>
      </p:sp>
      <p:sp>
        <p:nvSpPr>
          <p:cNvPr id="15" name="R1_tk243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244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245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18" name="tt_246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asking for help</a:t>
            </a:r>
            <a:endParaRPr lang="en-US" sz="1350" dirty="0"/>
          </a:p>
        </p:txBody>
      </p:sp>
      <p:sp>
        <p:nvSpPr>
          <p:cNvPr id="19" name="R2_tk247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248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249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2" name="tt_250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the whole course</a:t>
            </a:r>
            <a:endParaRPr lang="en-US" sz="1350" dirty="0"/>
          </a:p>
        </p:txBody>
      </p:sp>
      <p:sp>
        <p:nvSpPr>
          <p:cNvPr id="23" name="R3_tk251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st_252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253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254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255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256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25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9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Three-word disaster</a:t>
            </a:r>
            <a:endParaRPr lang="en-US" sz="2500" dirty="0"/>
          </a:p>
        </p:txBody>
      </p:sp>
      <p:pic>
        <p:nvPicPr>
          <p:cNvPr id="6" name="brP_26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261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a kitchen disaster story with 3 secret words!</a:t>
            </a:r>
            <a:endParaRPr lang="en-US" sz="1250" dirty="0"/>
          </a:p>
        </p:txBody>
      </p:sp>
      <p:sp>
        <p:nvSpPr>
          <p:cNvPr id="8" name="insIT_26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Racconta un disastro in cucina con 3 parole segrete!</a:t>
            </a:r>
            <a:endParaRPr lang="en-US" sz="950" dirty="0"/>
          </a:p>
        </p:txBody>
      </p:sp>
      <p:sp>
        <p:nvSpPr>
          <p:cNvPr id="9" name="note_26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L10 · Game · storytelling</a:t>
            </a:r>
            <a:endParaRPr lang="en-US" sz="800" dirty="0"/>
          </a:p>
        </p:txBody>
      </p:sp>
      <p:sp>
        <p:nvSpPr>
          <p:cNvPr id="12" name="ext_266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R1_qb267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R1_sq268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teacher gives each chef 3 words, e.g. delivery · burnt · birthday.</a:t>
            </a:r>
            <a:endParaRPr lang="en-US" sz="1400" dirty="0"/>
          </a:p>
        </p:txBody>
      </p:sp>
      <p:sp>
        <p:nvSpPr>
          <p:cNvPr id="15" name="R2_qb269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R2_sq270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Prepare a 1-minute story in the past simple. Use all 3 words!</a:t>
            </a:r>
            <a:endParaRPr lang="en-US" sz="1400" dirty="0"/>
          </a:p>
        </p:txBody>
      </p:sp>
      <p:sp>
        <p:nvSpPr>
          <p:cNvPr id="17" name="R3_qb271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R3_sq272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it. Your partner listens and guesses your 3 words.</a:t>
            </a:r>
            <a:endParaRPr lang="en-US" sz="1400" dirty="0"/>
          </a:p>
        </p:txBody>
      </p:sp>
      <p:sp>
        <p:nvSpPr>
          <p:cNvPr id="19" name="R4_qb273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R4_sq274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point: your partner retells it in 3 sentences.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L10 The final shift</dc:title>
  <dc:subject>PptxGenJS Presentation</dc:subject>
  <dc:creator>PptxGenJS</dc:creator>
  <cp:lastModifiedBy>PptxGenJS</cp:lastModifiedBy>
  <cp:revision>1</cp:revision>
  <dcterms:created xsi:type="dcterms:W3CDTF">2026-10-21T09:56:03Z</dcterms:created>
  <dcterms:modified xsi:type="dcterms:W3CDTF">2026-10-21T09:56:03Z</dcterms:modified>
</cp:coreProperties>
</file>