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LESSON 8 (60 min). Aims: the 14 allergens (UK &amp; EU law), special diets, Does it contain…?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Lesson 7 (5 min)
REVISION (5 min). Beat the clock: 60 seconds for all six, with a reason for at least three. Click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VOCABULARY · The 14 allergens (8 min)
VOCABULARY (8 min). These are the 14 allergens in UK and EU law (EU Reg. 1169/2011, Annex II). Students give a dish from their menu for each: Our pesto contains tree nuts (pine nuts) and milk.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Special diets (5 min)
VOCABULARY (5 min). Click 1. Mention: an allergy can kill; an intolerance makes you ill; a preference is a choice — all must be respected.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GRAMMAR · Asking about ingredients (6 min)
GRAMMAR (6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GRAMMAR · Practice (5 min)
GRAMMAR PRACTICE (5 min). Click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A customer email (6 min)
READING (6 min). VARIATION: perspective — what does the chef need to know? Remind: never guess; check every ingredient and the oil used for frying.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SPEAKING · Role-play (10 min)
ROLE-PLAY (10 min). VARIATION: perspective change. Round 2: use their own menu. Round 3: the teacher is a worried customer — chefs must explain clearly and safely (never promise what they can't guarantee).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GAME · Team game (8 min)
GAME (8 min). Answers vary with the recipe — accept if they can explain. e.g. carbonara: eggs, milk (pecorino / parmesan), cereals with gluten (pasta). Fish and chips: fish, gluten (batter); maybe sulphites, eggs, milk in the batter. Pesto: tree nuts (pine nuts), milk (cheese). Caesar salad: eggs, fish (anchovies), milk (parmesan), gluten (croutons), often mustard.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Exit · what can you remember? (3 min)
EXIT (3 min). Homework sheet L8 in the portal.
Can-dos: I can name the 14 allergens. · I can ask and answer: Does it contain…? Is it…? · I can talk to front of house about special diets.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OPTIONAL EXTENSIONS
The lesson ended on the previous slide ("Today you…"). Use the next slides only if there is time left, or keep them for a quick start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SPEAKING · Problem solving (6 min)
SPEAKING (6 min). They use: I can use… instead of… / I can make it without… / We can't make it safe because…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Speaking · experiences (6 min)
EXTRA (6 min). VARIATION: negative experiences with boundaries — keep it professional and light. Past simple preview for L10.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Kitchen English · Lesson 8 of 10</a:t>
            </a:r>
            <a:endParaRPr lang="en-US" sz="1000" dirty="0"/>
          </a:p>
        </p:txBody>
      </p:sp>
      <p:sp>
        <p:nvSpPr>
          <p:cNvPr id="4" name="bd_2"/>
          <p:cNvSpPr/>
          <p:nvPr/>
        </p:nvSpPr>
        <p:spPr>
          <a:xfrm>
            <a:off x="365760" y="640080"/>
            <a:ext cx="1051560" cy="105156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L8</a:t>
            </a:r>
            <a:endParaRPr lang="en-US" sz="28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Allergens &amp; diets</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050" i="1" dirty="0">
                <a:solidFill>
                  <a:srgbClr val="1B2559"/>
                </a:solidFill>
                <a:latin typeface="Segoe UI Semibold" pitchFamily="34" charset="0"/>
                <a:ea typeface="Segoe UI Semibold" pitchFamily="34" charset="-122"/>
                <a:cs typeface="Segoe UI Semibold" pitchFamily="34" charset="-120"/>
              </a:rPr>
              <a:t>the 14 allergens · Does it contain…? Is it…? · chef and waiter</a:t>
            </a:r>
            <a:endParaRPr lang="en-US" sz="1050" dirty="0"/>
          </a:p>
        </p:txBody>
      </p:sp>
      <p:sp>
        <p:nvSpPr>
          <p:cNvPr id="9" name="cd_7"/>
          <p:cNvSpPr/>
          <p:nvPr/>
        </p:nvSpPr>
        <p:spPr>
          <a:xfrm>
            <a:off x="365760" y="2148840"/>
            <a:ext cx="4206240" cy="1551432"/>
          </a:xfrm>
          <a:prstGeom prst="roundRect">
            <a:avLst>
              <a:gd name="adj" fmla="val 8251"/>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42616"/>
            <a:ext cx="3547872" cy="984504"/>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Semibold" pitchFamily="34" charset="0"/>
                <a:ea typeface="Segoe UI Semibold" pitchFamily="34" charset="-122"/>
                <a:cs typeface="Segoe UI Semibold" pitchFamily="34" charset="-120"/>
              </a:rPr>
              <a:t>🔑  learn the 14 allergens</a:t>
            </a:r>
            <a:endParaRPr lang="en-US" sz="1250" dirty="0"/>
          </a:p>
          <a:p>
            <a:pPr indent="0" marL="0">
              <a:spcBef>
                <a:spcPts val="600"/>
              </a:spcBef>
              <a:spcAft>
                <a:spcPts val="200"/>
              </a:spcAft>
              <a:buNone/>
            </a:pPr>
            <a:r>
              <a:rPr lang="en-US" sz="1250" dirty="0">
                <a:solidFill>
                  <a:srgbClr val="1B2559"/>
                </a:solidFill>
                <a:latin typeface="Segoe UI Semibold" pitchFamily="34" charset="0"/>
                <a:ea typeface="Segoe UI Semibold" pitchFamily="34" charset="-122"/>
                <a:cs typeface="Segoe UI Semibold" pitchFamily="34" charset="-120"/>
              </a:rPr>
              <a:t>🧩  practise Does it contain…? Is it…?</a:t>
            </a:r>
            <a:endParaRPr lang="en-US" sz="1250" dirty="0"/>
          </a:p>
          <a:p>
            <a:pPr indent="0" marL="0">
              <a:spcBef>
                <a:spcPts val="600"/>
              </a:spcBef>
              <a:spcAft>
                <a:spcPts val="200"/>
              </a:spcAft>
              <a:buNone/>
            </a:pPr>
            <a:r>
              <a:rPr lang="en-US" sz="1250" dirty="0">
                <a:solidFill>
                  <a:srgbClr val="1B2559"/>
                </a:solidFill>
                <a:latin typeface="Segoe UI Semibold" pitchFamily="34" charset="0"/>
                <a:ea typeface="Segoe UI Semibold" pitchFamily="34" charset="-122"/>
                <a:cs typeface="Segoe UI Semibold" pitchFamily="34" charset="-120"/>
              </a:rPr>
              <a:t>💬  practise speaking: chef and waiter</a:t>
            </a:r>
            <a:endParaRPr lang="en-US" sz="1250" dirty="0"/>
          </a:p>
        </p:txBody>
      </p:sp>
      <p:sp>
        <p:nvSpPr>
          <p:cNvPr id="13" name="R1_ex11"/>
          <p:cNvSpPr/>
          <p:nvPr/>
        </p:nvSpPr>
        <p:spPr>
          <a:xfrm>
            <a:off x="365760" y="3950208"/>
            <a:ext cx="4206240" cy="603504"/>
          </a:xfrm>
          <a:prstGeom prst="roundRect">
            <a:avLst>
              <a:gd name="adj" fmla="val 18182"/>
            </a:avLst>
          </a:prstGeom>
          <a:solidFill>
            <a:srgbClr val="FFF6CC"/>
          </a:solidFill>
          <a:ln w="28575">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Let me check with the chef.</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chef_ic_peanut_pn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Does this contain nuts?</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19"/>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Quick! must or mustn't?</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21"/>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rule – fast! Then give a reason.</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 la regola – veloce! Poi un motivo.</a:t>
            </a:r>
            <a:endParaRPr lang="en-US" sz="950" dirty="0"/>
          </a:p>
        </p:txBody>
      </p:sp>
      <p:sp>
        <p:nvSpPr>
          <p:cNvPr id="9" name="cmd_23"/>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24"/>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25"/>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Controlled practice</a:t>
            </a:r>
            <a:endParaRPr lang="en-US" sz="7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L8 · REVISION · Lesson 7</a:t>
            </a:r>
            <a:endParaRPr lang="en-US" sz="800" dirty="0"/>
          </a:p>
        </p:txBody>
      </p:sp>
      <p:sp>
        <p:nvSpPr>
          <p:cNvPr id="14" name="bd_28"/>
          <p:cNvSpPr/>
          <p:nvPr/>
        </p:nvSpPr>
        <p:spPr>
          <a:xfrm>
            <a:off x="548640" y="151333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5" name="q_29"/>
          <p:cNvSpPr/>
          <p:nvPr/>
        </p:nvSpPr>
        <p:spPr>
          <a:xfrm>
            <a:off x="932688" y="1417320"/>
            <a:ext cx="3291840" cy="502920"/>
          </a:xfrm>
          <a:prstGeom prst="roundRect">
            <a:avLst>
              <a:gd name="adj" fmla="val 1818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wear a ring at work</a:t>
            </a:r>
            <a:endParaRPr lang="en-US" sz="1300" dirty="0"/>
          </a:p>
        </p:txBody>
      </p:sp>
      <p:sp>
        <p:nvSpPr>
          <p:cNvPr id="16" name="R1_chip30"/>
          <p:cNvSpPr/>
          <p:nvPr/>
        </p:nvSpPr>
        <p:spPr>
          <a:xfrm>
            <a:off x="4297680" y="141732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mustn't</a:t>
            </a:r>
            <a:endParaRPr lang="en-US" sz="1200" dirty="0"/>
          </a:p>
        </p:txBody>
      </p:sp>
      <p:sp>
        <p:nvSpPr>
          <p:cNvPr id="17" name="bd_31"/>
          <p:cNvSpPr/>
          <p:nvPr/>
        </p:nvSpPr>
        <p:spPr>
          <a:xfrm>
            <a:off x="548640" y="206197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8" name="q_32"/>
          <p:cNvSpPr/>
          <p:nvPr/>
        </p:nvSpPr>
        <p:spPr>
          <a:xfrm>
            <a:off x="932688" y="1965960"/>
            <a:ext cx="3291840" cy="502920"/>
          </a:xfrm>
          <a:prstGeom prst="roundRect">
            <a:avLst>
              <a:gd name="adj" fmla="val 1818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wash your hands</a:t>
            </a:r>
            <a:endParaRPr lang="en-US" sz="1300" dirty="0"/>
          </a:p>
        </p:txBody>
      </p:sp>
      <p:sp>
        <p:nvSpPr>
          <p:cNvPr id="19" name="R2_chip33"/>
          <p:cNvSpPr/>
          <p:nvPr/>
        </p:nvSpPr>
        <p:spPr>
          <a:xfrm>
            <a:off x="4297680" y="196596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must</a:t>
            </a:r>
            <a:endParaRPr lang="en-US" sz="1200" dirty="0"/>
          </a:p>
        </p:txBody>
      </p:sp>
      <p:sp>
        <p:nvSpPr>
          <p:cNvPr id="20" name="bd_34"/>
          <p:cNvSpPr/>
          <p:nvPr/>
        </p:nvSpPr>
        <p:spPr>
          <a:xfrm>
            <a:off x="548640" y="26106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1" name="q_35"/>
          <p:cNvSpPr/>
          <p:nvPr/>
        </p:nvSpPr>
        <p:spPr>
          <a:xfrm>
            <a:off x="932688" y="2514600"/>
            <a:ext cx="3291840" cy="502920"/>
          </a:xfrm>
          <a:prstGeom prst="roundRect">
            <a:avLst>
              <a:gd name="adj" fmla="val 1818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keep raw meat next to salad</a:t>
            </a:r>
            <a:endParaRPr lang="en-US" sz="1300" dirty="0"/>
          </a:p>
        </p:txBody>
      </p:sp>
      <p:sp>
        <p:nvSpPr>
          <p:cNvPr id="22" name="R3_chip36"/>
          <p:cNvSpPr/>
          <p:nvPr/>
        </p:nvSpPr>
        <p:spPr>
          <a:xfrm>
            <a:off x="4297680" y="251460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mustn't</a:t>
            </a:r>
            <a:endParaRPr lang="en-US" sz="1200" dirty="0"/>
          </a:p>
        </p:txBody>
      </p:sp>
      <p:sp>
        <p:nvSpPr>
          <p:cNvPr id="23" name="bd_37"/>
          <p:cNvSpPr/>
          <p:nvPr/>
        </p:nvSpPr>
        <p:spPr>
          <a:xfrm>
            <a:off x="548640" y="315925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4" name="q_38"/>
          <p:cNvSpPr/>
          <p:nvPr/>
        </p:nvSpPr>
        <p:spPr>
          <a:xfrm>
            <a:off x="932688" y="3063240"/>
            <a:ext cx="3291840" cy="502920"/>
          </a:xfrm>
          <a:prstGeom prst="roundRect">
            <a:avLst>
              <a:gd name="adj" fmla="val 1818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clean as you go</a:t>
            </a:r>
            <a:endParaRPr lang="en-US" sz="1300" dirty="0"/>
          </a:p>
        </p:txBody>
      </p:sp>
      <p:sp>
        <p:nvSpPr>
          <p:cNvPr id="25" name="R4_chip39"/>
          <p:cNvSpPr/>
          <p:nvPr/>
        </p:nvSpPr>
        <p:spPr>
          <a:xfrm>
            <a:off x="4297680" y="306324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must</a:t>
            </a:r>
            <a:endParaRPr lang="en-US" sz="1200" dirty="0"/>
          </a:p>
        </p:txBody>
      </p:sp>
      <p:sp>
        <p:nvSpPr>
          <p:cNvPr id="26" name="bd_40"/>
          <p:cNvSpPr/>
          <p:nvPr/>
        </p:nvSpPr>
        <p:spPr>
          <a:xfrm>
            <a:off x="548640" y="370789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q_41"/>
          <p:cNvSpPr/>
          <p:nvPr/>
        </p:nvSpPr>
        <p:spPr>
          <a:xfrm>
            <a:off x="932688" y="3611880"/>
            <a:ext cx="3291840" cy="502920"/>
          </a:xfrm>
          <a:prstGeom prst="roundRect">
            <a:avLst>
              <a:gd name="adj" fmla="val 1818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use a dirty cloth</a:t>
            </a:r>
            <a:endParaRPr lang="en-US" sz="1300" dirty="0"/>
          </a:p>
        </p:txBody>
      </p:sp>
      <p:sp>
        <p:nvSpPr>
          <p:cNvPr id="28" name="R5_chip42"/>
          <p:cNvSpPr/>
          <p:nvPr/>
        </p:nvSpPr>
        <p:spPr>
          <a:xfrm>
            <a:off x="4297680" y="361188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mustn't</a:t>
            </a:r>
            <a:endParaRPr lang="en-US" sz="1200" dirty="0"/>
          </a:p>
        </p:txBody>
      </p:sp>
      <p:sp>
        <p:nvSpPr>
          <p:cNvPr id="29" name="bd_43"/>
          <p:cNvSpPr/>
          <p:nvPr/>
        </p:nvSpPr>
        <p:spPr>
          <a:xfrm>
            <a:off x="548640" y="425653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q_44"/>
          <p:cNvSpPr/>
          <p:nvPr/>
        </p:nvSpPr>
        <p:spPr>
          <a:xfrm>
            <a:off x="932688" y="4160520"/>
            <a:ext cx="3291840" cy="502920"/>
          </a:xfrm>
          <a:prstGeom prst="roundRect">
            <a:avLst>
              <a:gd name="adj" fmla="val 1818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keep the fridge at 5°C or below</a:t>
            </a:r>
            <a:endParaRPr lang="en-US" sz="1300" dirty="0"/>
          </a:p>
        </p:txBody>
      </p:sp>
      <p:sp>
        <p:nvSpPr>
          <p:cNvPr id="31" name="R6_chip45"/>
          <p:cNvSpPr/>
          <p:nvPr/>
        </p:nvSpPr>
        <p:spPr>
          <a:xfrm>
            <a:off x="4297680" y="416052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must</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400"/>
                                        <p:tgtEl>
                                          <p:spTgt spid="2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7"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48"/>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14 allergens</a:t>
            </a:r>
            <a:endParaRPr lang="en-US" sz="2500" dirty="0"/>
          </a:p>
        </p:txBody>
      </p:sp>
      <p:pic>
        <p:nvPicPr>
          <p:cNvPr id="6" name="brP_49"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50"/>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Which dishes on your menu contain them? Click for Italian.</a:t>
            </a:r>
            <a:endParaRPr lang="en-US" sz="1200" dirty="0"/>
          </a:p>
        </p:txBody>
      </p:sp>
      <p:sp>
        <p:nvSpPr>
          <p:cNvPr id="8" name="insIT_5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Quali piatti del tuo menù li contengono? Clicca per l'italiano.</a:t>
            </a:r>
            <a:endParaRPr lang="en-US" sz="950" dirty="0"/>
          </a:p>
        </p:txBody>
      </p:sp>
      <p:sp>
        <p:nvSpPr>
          <p:cNvPr id="9" name="cmd_52"/>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THINK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PENSA</a:t>
            </a:r>
            <a:endParaRPr lang="en-US" sz="950" dirty="0"/>
          </a:p>
        </p:txBody>
      </p:sp>
      <p:sp>
        <p:nvSpPr>
          <p:cNvPr id="10" name="meta_53"/>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8 min   👥 pairs</a:t>
            </a:r>
            <a:endParaRPr lang="en-US" sz="950" dirty="0"/>
          </a:p>
        </p:txBody>
      </p:sp>
      <p:sp>
        <p:nvSpPr>
          <p:cNvPr id="11" name="tag_54"/>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Controlled practice</a:t>
            </a:r>
            <a:endParaRPr lang="en-US" sz="750" dirty="0"/>
          </a:p>
        </p:txBody>
      </p:sp>
      <p:pic>
        <p:nvPicPr>
          <p:cNvPr id="12" name="logo_5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L8 · VOCABULARY · The 14 allergens</a:t>
            </a:r>
            <a:endParaRPr lang="en-US" sz="800" dirty="0"/>
          </a:p>
        </p:txBody>
      </p:sp>
      <p:sp>
        <p:nvSpPr>
          <p:cNvPr id="14" name="bd_57"/>
          <p:cNvSpPr/>
          <p:nvPr/>
        </p:nvSpPr>
        <p:spPr>
          <a:xfrm>
            <a:off x="320040" y="1325357"/>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5" name="q_58"/>
          <p:cNvSpPr/>
          <p:nvPr/>
        </p:nvSpPr>
        <p:spPr>
          <a:xfrm>
            <a:off x="704088" y="1417320"/>
            <a:ext cx="3776472" cy="126971"/>
          </a:xfrm>
          <a:prstGeom prst="roundRect">
            <a:avLst>
              <a:gd name="adj" fmla="val 7201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700" b="1" dirty="0">
                <a:solidFill>
                  <a:srgbClr val="1B2559"/>
                </a:solidFill>
                <a:latin typeface="Segoe UI Semibold" pitchFamily="34" charset="0"/>
                <a:ea typeface="Segoe UI Semibold" pitchFamily="34" charset="-122"/>
                <a:cs typeface="Segoe UI Semibold" pitchFamily="34" charset="-120"/>
              </a:rPr>
              <a:t>celery</a:t>
            </a:r>
            <a:endParaRPr lang="en-US" sz="700" dirty="0"/>
          </a:p>
        </p:txBody>
      </p:sp>
      <p:sp>
        <p:nvSpPr>
          <p:cNvPr id="16" name="R1_chip59"/>
          <p:cNvSpPr/>
          <p:nvPr/>
        </p:nvSpPr>
        <p:spPr>
          <a:xfrm>
            <a:off x="704088" y="1590011"/>
            <a:ext cx="3776472" cy="180006"/>
          </a:xfrm>
          <a:prstGeom prst="roundRect">
            <a:avLst>
              <a:gd name="adj" fmla="val 5079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sedano</a:t>
            </a:r>
            <a:endParaRPr lang="en-US" sz="1000" dirty="0"/>
          </a:p>
        </p:txBody>
      </p:sp>
      <p:sp>
        <p:nvSpPr>
          <p:cNvPr id="17" name="bd_60"/>
          <p:cNvSpPr/>
          <p:nvPr/>
        </p:nvSpPr>
        <p:spPr>
          <a:xfrm>
            <a:off x="320040" y="1806071"/>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8" name="q_61"/>
          <p:cNvSpPr/>
          <p:nvPr/>
        </p:nvSpPr>
        <p:spPr>
          <a:xfrm>
            <a:off x="704088" y="1898033"/>
            <a:ext cx="3776472" cy="126971"/>
          </a:xfrm>
          <a:prstGeom prst="roundRect">
            <a:avLst>
              <a:gd name="adj" fmla="val 7201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700" b="1" dirty="0">
                <a:solidFill>
                  <a:srgbClr val="1B2559"/>
                </a:solidFill>
                <a:latin typeface="Segoe UI Semibold" pitchFamily="34" charset="0"/>
                <a:ea typeface="Segoe UI Semibold" pitchFamily="34" charset="-122"/>
                <a:cs typeface="Segoe UI Semibold" pitchFamily="34" charset="-120"/>
              </a:rPr>
              <a:t>cereals with gluten</a:t>
            </a:r>
            <a:endParaRPr lang="en-US" sz="700" dirty="0"/>
          </a:p>
        </p:txBody>
      </p:sp>
      <p:sp>
        <p:nvSpPr>
          <p:cNvPr id="19" name="R2_chip62"/>
          <p:cNvSpPr/>
          <p:nvPr/>
        </p:nvSpPr>
        <p:spPr>
          <a:xfrm>
            <a:off x="704088" y="2070724"/>
            <a:ext cx="3776472" cy="180006"/>
          </a:xfrm>
          <a:prstGeom prst="roundRect">
            <a:avLst>
              <a:gd name="adj" fmla="val 5079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cereali con glutine</a:t>
            </a:r>
            <a:endParaRPr lang="en-US" sz="1000" dirty="0"/>
          </a:p>
        </p:txBody>
      </p:sp>
      <p:sp>
        <p:nvSpPr>
          <p:cNvPr id="20" name="bd_63"/>
          <p:cNvSpPr/>
          <p:nvPr/>
        </p:nvSpPr>
        <p:spPr>
          <a:xfrm>
            <a:off x="320040" y="2286784"/>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1" name="q_64"/>
          <p:cNvSpPr/>
          <p:nvPr/>
        </p:nvSpPr>
        <p:spPr>
          <a:xfrm>
            <a:off x="704088" y="2378746"/>
            <a:ext cx="3776472" cy="126971"/>
          </a:xfrm>
          <a:prstGeom prst="roundRect">
            <a:avLst>
              <a:gd name="adj" fmla="val 7201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700" b="1" dirty="0">
                <a:solidFill>
                  <a:srgbClr val="1B2559"/>
                </a:solidFill>
                <a:latin typeface="Segoe UI Semibold" pitchFamily="34" charset="0"/>
                <a:ea typeface="Segoe UI Semibold" pitchFamily="34" charset="-122"/>
                <a:cs typeface="Segoe UI Semibold" pitchFamily="34" charset="-120"/>
              </a:rPr>
              <a:t>crustaceans (prawns, crab)</a:t>
            </a:r>
            <a:endParaRPr lang="en-US" sz="700" dirty="0"/>
          </a:p>
        </p:txBody>
      </p:sp>
      <p:sp>
        <p:nvSpPr>
          <p:cNvPr id="22" name="R3_chip65"/>
          <p:cNvSpPr/>
          <p:nvPr/>
        </p:nvSpPr>
        <p:spPr>
          <a:xfrm>
            <a:off x="704088" y="2551437"/>
            <a:ext cx="3776472" cy="180006"/>
          </a:xfrm>
          <a:prstGeom prst="roundRect">
            <a:avLst>
              <a:gd name="adj" fmla="val 5079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crostacei</a:t>
            </a:r>
            <a:endParaRPr lang="en-US" sz="1000" dirty="0"/>
          </a:p>
        </p:txBody>
      </p:sp>
      <p:sp>
        <p:nvSpPr>
          <p:cNvPr id="23" name="bd_66"/>
          <p:cNvSpPr/>
          <p:nvPr/>
        </p:nvSpPr>
        <p:spPr>
          <a:xfrm>
            <a:off x="320040" y="2767497"/>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4" name="q_67"/>
          <p:cNvSpPr/>
          <p:nvPr/>
        </p:nvSpPr>
        <p:spPr>
          <a:xfrm>
            <a:off x="704088" y="2859459"/>
            <a:ext cx="3776472" cy="126971"/>
          </a:xfrm>
          <a:prstGeom prst="roundRect">
            <a:avLst>
              <a:gd name="adj" fmla="val 7201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700" b="1" dirty="0">
                <a:solidFill>
                  <a:srgbClr val="1B2559"/>
                </a:solidFill>
                <a:latin typeface="Segoe UI Semibold" pitchFamily="34" charset="0"/>
                <a:ea typeface="Segoe UI Semibold" pitchFamily="34" charset="-122"/>
                <a:cs typeface="Segoe UI Semibold" pitchFamily="34" charset="-120"/>
              </a:rPr>
              <a:t>eggs</a:t>
            </a:r>
            <a:endParaRPr lang="en-US" sz="700" dirty="0"/>
          </a:p>
        </p:txBody>
      </p:sp>
      <p:sp>
        <p:nvSpPr>
          <p:cNvPr id="25" name="R4_chip68"/>
          <p:cNvSpPr/>
          <p:nvPr/>
        </p:nvSpPr>
        <p:spPr>
          <a:xfrm>
            <a:off x="704088" y="3032150"/>
            <a:ext cx="3776472" cy="180006"/>
          </a:xfrm>
          <a:prstGeom prst="roundRect">
            <a:avLst>
              <a:gd name="adj" fmla="val 5079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uova</a:t>
            </a:r>
            <a:endParaRPr lang="en-US" sz="1000" dirty="0"/>
          </a:p>
        </p:txBody>
      </p:sp>
      <p:sp>
        <p:nvSpPr>
          <p:cNvPr id="26" name="bd_69"/>
          <p:cNvSpPr/>
          <p:nvPr/>
        </p:nvSpPr>
        <p:spPr>
          <a:xfrm>
            <a:off x="320040" y="3248210"/>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q_70"/>
          <p:cNvSpPr/>
          <p:nvPr/>
        </p:nvSpPr>
        <p:spPr>
          <a:xfrm>
            <a:off x="704088" y="3340173"/>
            <a:ext cx="3776472" cy="126971"/>
          </a:xfrm>
          <a:prstGeom prst="roundRect">
            <a:avLst>
              <a:gd name="adj" fmla="val 7201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700" b="1" dirty="0">
                <a:solidFill>
                  <a:srgbClr val="1B2559"/>
                </a:solidFill>
                <a:latin typeface="Segoe UI Semibold" pitchFamily="34" charset="0"/>
                <a:ea typeface="Segoe UI Semibold" pitchFamily="34" charset="-122"/>
                <a:cs typeface="Segoe UI Semibold" pitchFamily="34" charset="-120"/>
              </a:rPr>
              <a:t>fish</a:t>
            </a:r>
            <a:endParaRPr lang="en-US" sz="700" dirty="0"/>
          </a:p>
        </p:txBody>
      </p:sp>
      <p:sp>
        <p:nvSpPr>
          <p:cNvPr id="28" name="R5_chip71"/>
          <p:cNvSpPr/>
          <p:nvPr/>
        </p:nvSpPr>
        <p:spPr>
          <a:xfrm>
            <a:off x="704088" y="3512864"/>
            <a:ext cx="3776472" cy="180006"/>
          </a:xfrm>
          <a:prstGeom prst="roundRect">
            <a:avLst>
              <a:gd name="adj" fmla="val 5079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pesce</a:t>
            </a:r>
            <a:endParaRPr lang="en-US" sz="1000" dirty="0"/>
          </a:p>
        </p:txBody>
      </p:sp>
      <p:sp>
        <p:nvSpPr>
          <p:cNvPr id="29" name="bd_72"/>
          <p:cNvSpPr/>
          <p:nvPr/>
        </p:nvSpPr>
        <p:spPr>
          <a:xfrm>
            <a:off x="320040" y="3728923"/>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q_73"/>
          <p:cNvSpPr/>
          <p:nvPr/>
        </p:nvSpPr>
        <p:spPr>
          <a:xfrm>
            <a:off x="704088" y="3820886"/>
            <a:ext cx="3776472" cy="126971"/>
          </a:xfrm>
          <a:prstGeom prst="roundRect">
            <a:avLst>
              <a:gd name="adj" fmla="val 7201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700" b="1" dirty="0">
                <a:solidFill>
                  <a:srgbClr val="1B2559"/>
                </a:solidFill>
                <a:latin typeface="Segoe UI Semibold" pitchFamily="34" charset="0"/>
                <a:ea typeface="Segoe UI Semibold" pitchFamily="34" charset="-122"/>
                <a:cs typeface="Segoe UI Semibold" pitchFamily="34" charset="-120"/>
              </a:rPr>
              <a:t>lupin</a:t>
            </a:r>
            <a:endParaRPr lang="en-US" sz="700" dirty="0"/>
          </a:p>
        </p:txBody>
      </p:sp>
      <p:sp>
        <p:nvSpPr>
          <p:cNvPr id="31" name="R6_chip74"/>
          <p:cNvSpPr/>
          <p:nvPr/>
        </p:nvSpPr>
        <p:spPr>
          <a:xfrm>
            <a:off x="704088" y="3993577"/>
            <a:ext cx="3776472" cy="180006"/>
          </a:xfrm>
          <a:prstGeom prst="roundRect">
            <a:avLst>
              <a:gd name="adj" fmla="val 5079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lupini</a:t>
            </a:r>
            <a:endParaRPr lang="en-US" sz="1000" dirty="0"/>
          </a:p>
        </p:txBody>
      </p:sp>
      <p:sp>
        <p:nvSpPr>
          <p:cNvPr id="32" name="bd_75"/>
          <p:cNvSpPr/>
          <p:nvPr/>
        </p:nvSpPr>
        <p:spPr>
          <a:xfrm>
            <a:off x="320040" y="420963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3" name="q_76"/>
          <p:cNvSpPr/>
          <p:nvPr/>
        </p:nvSpPr>
        <p:spPr>
          <a:xfrm>
            <a:off x="704088" y="4301599"/>
            <a:ext cx="3776472" cy="126971"/>
          </a:xfrm>
          <a:prstGeom prst="roundRect">
            <a:avLst>
              <a:gd name="adj" fmla="val 7201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700" b="1" dirty="0">
                <a:solidFill>
                  <a:srgbClr val="1B2559"/>
                </a:solidFill>
                <a:latin typeface="Segoe UI Semibold" pitchFamily="34" charset="0"/>
                <a:ea typeface="Segoe UI Semibold" pitchFamily="34" charset="-122"/>
                <a:cs typeface="Segoe UI Semibold" pitchFamily="34" charset="-120"/>
              </a:rPr>
              <a:t>milk</a:t>
            </a:r>
            <a:endParaRPr lang="en-US" sz="700" dirty="0"/>
          </a:p>
        </p:txBody>
      </p:sp>
      <p:sp>
        <p:nvSpPr>
          <p:cNvPr id="34" name="R7_chip77"/>
          <p:cNvSpPr/>
          <p:nvPr/>
        </p:nvSpPr>
        <p:spPr>
          <a:xfrm>
            <a:off x="704088" y="4474290"/>
            <a:ext cx="3776472" cy="180006"/>
          </a:xfrm>
          <a:prstGeom prst="roundRect">
            <a:avLst>
              <a:gd name="adj" fmla="val 5079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latte</a:t>
            </a:r>
            <a:endParaRPr lang="en-US" sz="1000" dirty="0"/>
          </a:p>
        </p:txBody>
      </p:sp>
      <p:sp>
        <p:nvSpPr>
          <p:cNvPr id="35" name="bd_78"/>
          <p:cNvSpPr/>
          <p:nvPr/>
        </p:nvSpPr>
        <p:spPr>
          <a:xfrm>
            <a:off x="4709160" y="1325357"/>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36" name="q_79"/>
          <p:cNvSpPr/>
          <p:nvPr/>
        </p:nvSpPr>
        <p:spPr>
          <a:xfrm>
            <a:off x="5093208" y="1417320"/>
            <a:ext cx="3776472" cy="126971"/>
          </a:xfrm>
          <a:prstGeom prst="roundRect">
            <a:avLst>
              <a:gd name="adj" fmla="val 7201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700" b="1" dirty="0">
                <a:solidFill>
                  <a:srgbClr val="1B2559"/>
                </a:solidFill>
                <a:latin typeface="Segoe UI Semibold" pitchFamily="34" charset="0"/>
                <a:ea typeface="Segoe UI Semibold" pitchFamily="34" charset="-122"/>
                <a:cs typeface="Segoe UI Semibold" pitchFamily="34" charset="-120"/>
              </a:rPr>
              <a:t>molluscs (mussels, squid)</a:t>
            </a:r>
            <a:endParaRPr lang="en-US" sz="700" dirty="0"/>
          </a:p>
        </p:txBody>
      </p:sp>
      <p:sp>
        <p:nvSpPr>
          <p:cNvPr id="37" name="R8_chip80"/>
          <p:cNvSpPr/>
          <p:nvPr/>
        </p:nvSpPr>
        <p:spPr>
          <a:xfrm>
            <a:off x="5093208" y="1590011"/>
            <a:ext cx="3776472" cy="180006"/>
          </a:xfrm>
          <a:prstGeom prst="roundRect">
            <a:avLst>
              <a:gd name="adj" fmla="val 5079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molluschi</a:t>
            </a:r>
            <a:endParaRPr lang="en-US" sz="1000" dirty="0"/>
          </a:p>
        </p:txBody>
      </p:sp>
      <p:sp>
        <p:nvSpPr>
          <p:cNvPr id="38" name="bd_81"/>
          <p:cNvSpPr/>
          <p:nvPr/>
        </p:nvSpPr>
        <p:spPr>
          <a:xfrm>
            <a:off x="4709160" y="1806071"/>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9</a:t>
            </a:r>
            <a:endParaRPr lang="en-US" sz="1000" dirty="0"/>
          </a:p>
        </p:txBody>
      </p:sp>
      <p:sp>
        <p:nvSpPr>
          <p:cNvPr id="39" name="q_82"/>
          <p:cNvSpPr/>
          <p:nvPr/>
        </p:nvSpPr>
        <p:spPr>
          <a:xfrm>
            <a:off x="5093208" y="1898033"/>
            <a:ext cx="3776472" cy="126971"/>
          </a:xfrm>
          <a:prstGeom prst="roundRect">
            <a:avLst>
              <a:gd name="adj" fmla="val 7201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700" b="1" dirty="0">
                <a:solidFill>
                  <a:srgbClr val="1B2559"/>
                </a:solidFill>
                <a:latin typeface="Segoe UI Semibold" pitchFamily="34" charset="0"/>
                <a:ea typeface="Segoe UI Semibold" pitchFamily="34" charset="-122"/>
                <a:cs typeface="Segoe UI Semibold" pitchFamily="34" charset="-120"/>
              </a:rPr>
              <a:t>mustard</a:t>
            </a:r>
            <a:endParaRPr lang="en-US" sz="700" dirty="0"/>
          </a:p>
        </p:txBody>
      </p:sp>
      <p:sp>
        <p:nvSpPr>
          <p:cNvPr id="40" name="R9_chip83"/>
          <p:cNvSpPr/>
          <p:nvPr/>
        </p:nvSpPr>
        <p:spPr>
          <a:xfrm>
            <a:off x="5093208" y="2070724"/>
            <a:ext cx="3776472" cy="180006"/>
          </a:xfrm>
          <a:prstGeom prst="roundRect">
            <a:avLst>
              <a:gd name="adj" fmla="val 5079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senape</a:t>
            </a:r>
            <a:endParaRPr lang="en-US" sz="1000" dirty="0"/>
          </a:p>
        </p:txBody>
      </p:sp>
      <p:sp>
        <p:nvSpPr>
          <p:cNvPr id="41" name="bd_84"/>
          <p:cNvSpPr/>
          <p:nvPr/>
        </p:nvSpPr>
        <p:spPr>
          <a:xfrm>
            <a:off x="4709160" y="2286784"/>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10</a:t>
            </a:r>
            <a:endParaRPr lang="en-US" sz="800" dirty="0"/>
          </a:p>
        </p:txBody>
      </p:sp>
      <p:sp>
        <p:nvSpPr>
          <p:cNvPr id="42" name="q_85"/>
          <p:cNvSpPr/>
          <p:nvPr/>
        </p:nvSpPr>
        <p:spPr>
          <a:xfrm>
            <a:off x="5093208" y="2378746"/>
            <a:ext cx="3776472" cy="126971"/>
          </a:xfrm>
          <a:prstGeom prst="roundRect">
            <a:avLst>
              <a:gd name="adj" fmla="val 7201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700" b="1" dirty="0">
                <a:solidFill>
                  <a:srgbClr val="1B2559"/>
                </a:solidFill>
                <a:latin typeface="Segoe UI Semibold" pitchFamily="34" charset="0"/>
                <a:ea typeface="Segoe UI Semibold" pitchFamily="34" charset="-122"/>
                <a:cs typeface="Segoe UI Semibold" pitchFamily="34" charset="-120"/>
              </a:rPr>
              <a:t>tree nuts</a:t>
            </a:r>
            <a:endParaRPr lang="en-US" sz="700" dirty="0"/>
          </a:p>
        </p:txBody>
      </p:sp>
      <p:sp>
        <p:nvSpPr>
          <p:cNvPr id="43" name="R10_chip86"/>
          <p:cNvSpPr/>
          <p:nvPr/>
        </p:nvSpPr>
        <p:spPr>
          <a:xfrm>
            <a:off x="5093208" y="2551437"/>
            <a:ext cx="3776472" cy="180006"/>
          </a:xfrm>
          <a:prstGeom prst="roundRect">
            <a:avLst>
              <a:gd name="adj" fmla="val 5079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frutta a guscio</a:t>
            </a:r>
            <a:endParaRPr lang="en-US" sz="1000" dirty="0"/>
          </a:p>
        </p:txBody>
      </p:sp>
      <p:sp>
        <p:nvSpPr>
          <p:cNvPr id="44" name="bd_87"/>
          <p:cNvSpPr/>
          <p:nvPr/>
        </p:nvSpPr>
        <p:spPr>
          <a:xfrm>
            <a:off x="4709160" y="2767497"/>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11</a:t>
            </a:r>
            <a:endParaRPr lang="en-US" sz="800" dirty="0"/>
          </a:p>
        </p:txBody>
      </p:sp>
      <p:sp>
        <p:nvSpPr>
          <p:cNvPr id="45" name="q_88"/>
          <p:cNvSpPr/>
          <p:nvPr/>
        </p:nvSpPr>
        <p:spPr>
          <a:xfrm>
            <a:off x="5093208" y="2859459"/>
            <a:ext cx="3776472" cy="126971"/>
          </a:xfrm>
          <a:prstGeom prst="roundRect">
            <a:avLst>
              <a:gd name="adj" fmla="val 7201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700" b="1" dirty="0">
                <a:solidFill>
                  <a:srgbClr val="1B2559"/>
                </a:solidFill>
                <a:latin typeface="Segoe UI Semibold" pitchFamily="34" charset="0"/>
                <a:ea typeface="Segoe UI Semibold" pitchFamily="34" charset="-122"/>
                <a:cs typeface="Segoe UI Semibold" pitchFamily="34" charset="-120"/>
              </a:rPr>
              <a:t>peanuts</a:t>
            </a:r>
            <a:endParaRPr lang="en-US" sz="700" dirty="0"/>
          </a:p>
        </p:txBody>
      </p:sp>
      <p:sp>
        <p:nvSpPr>
          <p:cNvPr id="46" name="R11_chip89"/>
          <p:cNvSpPr/>
          <p:nvPr/>
        </p:nvSpPr>
        <p:spPr>
          <a:xfrm>
            <a:off x="5093208" y="3032150"/>
            <a:ext cx="3776472" cy="180006"/>
          </a:xfrm>
          <a:prstGeom prst="roundRect">
            <a:avLst>
              <a:gd name="adj" fmla="val 5079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arachidi</a:t>
            </a:r>
            <a:endParaRPr lang="en-US" sz="1000" dirty="0"/>
          </a:p>
        </p:txBody>
      </p:sp>
      <p:sp>
        <p:nvSpPr>
          <p:cNvPr id="47" name="bd_90"/>
          <p:cNvSpPr/>
          <p:nvPr/>
        </p:nvSpPr>
        <p:spPr>
          <a:xfrm>
            <a:off x="4709160" y="3248210"/>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12</a:t>
            </a:r>
            <a:endParaRPr lang="en-US" sz="800" dirty="0"/>
          </a:p>
        </p:txBody>
      </p:sp>
      <p:sp>
        <p:nvSpPr>
          <p:cNvPr id="48" name="q_91"/>
          <p:cNvSpPr/>
          <p:nvPr/>
        </p:nvSpPr>
        <p:spPr>
          <a:xfrm>
            <a:off x="5093208" y="3340173"/>
            <a:ext cx="3776472" cy="126971"/>
          </a:xfrm>
          <a:prstGeom prst="roundRect">
            <a:avLst>
              <a:gd name="adj" fmla="val 7201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700" b="1" dirty="0">
                <a:solidFill>
                  <a:srgbClr val="1B2559"/>
                </a:solidFill>
                <a:latin typeface="Segoe UI Semibold" pitchFamily="34" charset="0"/>
                <a:ea typeface="Segoe UI Semibold" pitchFamily="34" charset="-122"/>
                <a:cs typeface="Segoe UI Semibold" pitchFamily="34" charset="-120"/>
              </a:rPr>
              <a:t>sesame</a:t>
            </a:r>
            <a:endParaRPr lang="en-US" sz="700" dirty="0"/>
          </a:p>
        </p:txBody>
      </p:sp>
      <p:sp>
        <p:nvSpPr>
          <p:cNvPr id="49" name="R12_chip92"/>
          <p:cNvSpPr/>
          <p:nvPr/>
        </p:nvSpPr>
        <p:spPr>
          <a:xfrm>
            <a:off x="5093208" y="3512864"/>
            <a:ext cx="3776472" cy="180006"/>
          </a:xfrm>
          <a:prstGeom prst="roundRect">
            <a:avLst>
              <a:gd name="adj" fmla="val 5079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sesamo</a:t>
            </a:r>
            <a:endParaRPr lang="en-US" sz="1000" dirty="0"/>
          </a:p>
        </p:txBody>
      </p:sp>
      <p:sp>
        <p:nvSpPr>
          <p:cNvPr id="50" name="bd_93"/>
          <p:cNvSpPr/>
          <p:nvPr/>
        </p:nvSpPr>
        <p:spPr>
          <a:xfrm>
            <a:off x="4709160" y="3728923"/>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13</a:t>
            </a:r>
            <a:endParaRPr lang="en-US" sz="800" dirty="0"/>
          </a:p>
        </p:txBody>
      </p:sp>
      <p:sp>
        <p:nvSpPr>
          <p:cNvPr id="51" name="q_94"/>
          <p:cNvSpPr/>
          <p:nvPr/>
        </p:nvSpPr>
        <p:spPr>
          <a:xfrm>
            <a:off x="5093208" y="3820886"/>
            <a:ext cx="3776472" cy="126971"/>
          </a:xfrm>
          <a:prstGeom prst="roundRect">
            <a:avLst>
              <a:gd name="adj" fmla="val 7201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700" b="1" dirty="0">
                <a:solidFill>
                  <a:srgbClr val="1B2559"/>
                </a:solidFill>
                <a:latin typeface="Segoe UI Semibold" pitchFamily="34" charset="0"/>
                <a:ea typeface="Segoe UI Semibold" pitchFamily="34" charset="-122"/>
                <a:cs typeface="Segoe UI Semibold" pitchFamily="34" charset="-120"/>
              </a:rPr>
              <a:t>soya</a:t>
            </a:r>
            <a:endParaRPr lang="en-US" sz="700" dirty="0"/>
          </a:p>
        </p:txBody>
      </p:sp>
      <p:sp>
        <p:nvSpPr>
          <p:cNvPr id="52" name="R13_chip95"/>
          <p:cNvSpPr/>
          <p:nvPr/>
        </p:nvSpPr>
        <p:spPr>
          <a:xfrm>
            <a:off x="5093208" y="3993577"/>
            <a:ext cx="3776472" cy="180006"/>
          </a:xfrm>
          <a:prstGeom prst="roundRect">
            <a:avLst>
              <a:gd name="adj" fmla="val 5079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soia</a:t>
            </a:r>
            <a:endParaRPr lang="en-US" sz="1000" dirty="0"/>
          </a:p>
        </p:txBody>
      </p:sp>
      <p:sp>
        <p:nvSpPr>
          <p:cNvPr id="53" name="bd_96"/>
          <p:cNvSpPr/>
          <p:nvPr/>
        </p:nvSpPr>
        <p:spPr>
          <a:xfrm>
            <a:off x="4709160" y="420963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14</a:t>
            </a:r>
            <a:endParaRPr lang="en-US" sz="800" dirty="0"/>
          </a:p>
        </p:txBody>
      </p:sp>
      <p:sp>
        <p:nvSpPr>
          <p:cNvPr id="54" name="q_97"/>
          <p:cNvSpPr/>
          <p:nvPr/>
        </p:nvSpPr>
        <p:spPr>
          <a:xfrm>
            <a:off x="5093208" y="4301599"/>
            <a:ext cx="3776472" cy="126971"/>
          </a:xfrm>
          <a:prstGeom prst="roundRect">
            <a:avLst>
              <a:gd name="adj" fmla="val 7201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700" b="1" dirty="0">
                <a:solidFill>
                  <a:srgbClr val="1B2559"/>
                </a:solidFill>
                <a:latin typeface="Segoe UI Semibold" pitchFamily="34" charset="0"/>
                <a:ea typeface="Segoe UI Semibold" pitchFamily="34" charset="-122"/>
                <a:cs typeface="Segoe UI Semibold" pitchFamily="34" charset="-120"/>
              </a:rPr>
              <a:t>sulphites</a:t>
            </a:r>
            <a:endParaRPr lang="en-US" sz="700" dirty="0"/>
          </a:p>
        </p:txBody>
      </p:sp>
      <p:sp>
        <p:nvSpPr>
          <p:cNvPr id="55" name="R14_chip98"/>
          <p:cNvSpPr/>
          <p:nvPr/>
        </p:nvSpPr>
        <p:spPr>
          <a:xfrm>
            <a:off x="5093208" y="4474290"/>
            <a:ext cx="3776472" cy="180006"/>
          </a:xfrm>
          <a:prstGeom prst="roundRect">
            <a:avLst>
              <a:gd name="adj" fmla="val 5079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solfiti / anidride solforosa</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400"/>
                                        <p:tgtEl>
                                          <p:spTgt spid="2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4"/>
                                        </p:tgtEl>
                                        <p:attrNameLst>
                                          <p:attrName>style.visibility</p:attrName>
                                        </p:attrNameLst>
                                      </p:cBhvr>
                                      <p:to>
                                        <p:strVal val="visible"/>
                                      </p:to>
                                    </p:set>
                                    <p:animEffect transition="in" filter="fade">
                                      <p:cBhvr>
                                        <p:cTn id="37" dur="400"/>
                                        <p:tgtEl>
                                          <p:spTgt spid="3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7"/>
                                        </p:tgtEl>
                                        <p:attrNameLst>
                                          <p:attrName>style.visibility</p:attrName>
                                        </p:attrNameLst>
                                      </p:cBhvr>
                                      <p:to>
                                        <p:strVal val="visible"/>
                                      </p:to>
                                    </p:set>
                                    <p:animEffect transition="in" filter="fade">
                                      <p:cBhvr>
                                        <p:cTn id="42" dur="400"/>
                                        <p:tgtEl>
                                          <p:spTgt spid="3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0"/>
                                        </p:tgtEl>
                                        <p:attrNameLst>
                                          <p:attrName>style.visibility</p:attrName>
                                        </p:attrNameLst>
                                      </p:cBhvr>
                                      <p:to>
                                        <p:strVal val="visible"/>
                                      </p:to>
                                    </p:set>
                                    <p:animEffect transition="in" filter="fade">
                                      <p:cBhvr>
                                        <p:cTn id="47" dur="400"/>
                                        <p:tgtEl>
                                          <p:spTgt spid="40"/>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43"/>
                                        </p:tgtEl>
                                        <p:attrNameLst>
                                          <p:attrName>style.visibility</p:attrName>
                                        </p:attrNameLst>
                                      </p:cBhvr>
                                      <p:to>
                                        <p:strVal val="visible"/>
                                      </p:to>
                                    </p:set>
                                    <p:animEffect transition="in" filter="fade">
                                      <p:cBhvr>
                                        <p:cTn id="52" dur="400"/>
                                        <p:tgtEl>
                                          <p:spTgt spid="4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46"/>
                                        </p:tgtEl>
                                        <p:attrNameLst>
                                          <p:attrName>style.visibility</p:attrName>
                                        </p:attrNameLst>
                                      </p:cBhvr>
                                      <p:to>
                                        <p:strVal val="visible"/>
                                      </p:to>
                                    </p:set>
                                    <p:animEffect transition="in" filter="fade">
                                      <p:cBhvr>
                                        <p:cTn id="57" dur="400"/>
                                        <p:tgtEl>
                                          <p:spTgt spid="46"/>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49"/>
                                        </p:tgtEl>
                                        <p:attrNameLst>
                                          <p:attrName>style.visibility</p:attrName>
                                        </p:attrNameLst>
                                      </p:cBhvr>
                                      <p:to>
                                        <p:strVal val="visible"/>
                                      </p:to>
                                    </p:set>
                                    <p:animEffect transition="in" filter="fade">
                                      <p:cBhvr>
                                        <p:cTn id="62" dur="400"/>
                                        <p:tgtEl>
                                          <p:spTgt spid="49"/>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52"/>
                                        </p:tgtEl>
                                        <p:attrNameLst>
                                          <p:attrName>style.visibility</p:attrName>
                                        </p:attrNameLst>
                                      </p:cBhvr>
                                      <p:to>
                                        <p:strVal val="visible"/>
                                      </p:to>
                                    </p:set>
                                    <p:animEffect transition="in" filter="fade">
                                      <p:cBhvr>
                                        <p:cTn id="67" dur="400"/>
                                        <p:tgtEl>
                                          <p:spTgt spid="52"/>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55"/>
                                        </p:tgtEl>
                                        <p:attrNameLst>
                                          <p:attrName>style.visibility</p:attrName>
                                        </p:attrNameLst>
                                      </p:cBhvr>
                                      <p:to>
                                        <p:strVal val="visible"/>
                                      </p:to>
                                    </p:set>
                                    <p:animEffect transition="in" filter="fade">
                                      <p:cBhvr>
                                        <p:cTn id="72"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99"/>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100"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101"/>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Special diets</a:t>
            </a:r>
            <a:endParaRPr lang="en-US" sz="2500" dirty="0"/>
          </a:p>
        </p:txBody>
      </p:sp>
      <p:pic>
        <p:nvPicPr>
          <p:cNvPr id="6" name="brP_102"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103"/>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Match the diet to the description.</a:t>
            </a:r>
            <a:endParaRPr lang="en-US" sz="1250" dirty="0"/>
          </a:p>
        </p:txBody>
      </p:sp>
      <p:sp>
        <p:nvSpPr>
          <p:cNvPr id="8" name="insIT_10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Abbina la dieta alla descrizione.</a:t>
            </a:r>
            <a:endParaRPr lang="en-US" sz="950" dirty="0"/>
          </a:p>
        </p:txBody>
      </p:sp>
      <p:sp>
        <p:nvSpPr>
          <p:cNvPr id="9" name="cmd_105"/>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THINK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PENSA</a:t>
            </a:r>
            <a:endParaRPr lang="en-US" sz="950" dirty="0"/>
          </a:p>
        </p:txBody>
      </p:sp>
      <p:sp>
        <p:nvSpPr>
          <p:cNvPr id="10" name="meta_106"/>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107"/>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Controlled practice</a:t>
            </a:r>
            <a:endParaRPr lang="en-US" sz="750" dirty="0"/>
          </a:p>
        </p:txBody>
      </p:sp>
      <p:pic>
        <p:nvPicPr>
          <p:cNvPr id="12" name="logo_10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0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L8 · VOCABULARY · Special diets</a:t>
            </a:r>
            <a:endParaRPr lang="en-US" sz="800" dirty="0"/>
          </a:p>
        </p:txBody>
      </p:sp>
      <p:sp>
        <p:nvSpPr>
          <p:cNvPr id="14" name="bd_110"/>
          <p:cNvSpPr/>
          <p:nvPr/>
        </p:nvSpPr>
        <p:spPr>
          <a:xfrm>
            <a:off x="548640" y="151333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5" name="q_111"/>
          <p:cNvSpPr/>
          <p:nvPr/>
        </p:nvSpPr>
        <p:spPr>
          <a:xfrm>
            <a:off x="932688" y="1417320"/>
            <a:ext cx="3291840" cy="502920"/>
          </a:xfrm>
          <a:prstGeom prst="roundRect">
            <a:avLst>
              <a:gd name="adj" fmla="val 1818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vegetarian</a:t>
            </a:r>
            <a:endParaRPr lang="en-US" sz="1300" dirty="0"/>
          </a:p>
        </p:txBody>
      </p:sp>
      <p:sp>
        <p:nvSpPr>
          <p:cNvPr id="16" name="R1_chip112"/>
          <p:cNvSpPr/>
          <p:nvPr/>
        </p:nvSpPr>
        <p:spPr>
          <a:xfrm>
            <a:off x="4297680" y="141732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no meat or fish</a:t>
            </a:r>
            <a:endParaRPr lang="en-US" sz="1200" dirty="0"/>
          </a:p>
        </p:txBody>
      </p:sp>
      <p:sp>
        <p:nvSpPr>
          <p:cNvPr id="17" name="bd_113"/>
          <p:cNvSpPr/>
          <p:nvPr/>
        </p:nvSpPr>
        <p:spPr>
          <a:xfrm>
            <a:off x="548640" y="206197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8" name="q_114"/>
          <p:cNvSpPr/>
          <p:nvPr/>
        </p:nvSpPr>
        <p:spPr>
          <a:xfrm>
            <a:off x="932688" y="1965960"/>
            <a:ext cx="3291840" cy="502920"/>
          </a:xfrm>
          <a:prstGeom prst="roundRect">
            <a:avLst>
              <a:gd name="adj" fmla="val 1818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vegan</a:t>
            </a:r>
            <a:endParaRPr lang="en-US" sz="1300" dirty="0"/>
          </a:p>
        </p:txBody>
      </p:sp>
      <p:sp>
        <p:nvSpPr>
          <p:cNvPr id="19" name="R2_chip115"/>
          <p:cNvSpPr/>
          <p:nvPr/>
        </p:nvSpPr>
        <p:spPr>
          <a:xfrm>
            <a:off x="4297680" y="196596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no animal products at all</a:t>
            </a:r>
            <a:endParaRPr lang="en-US" sz="1200" dirty="0"/>
          </a:p>
        </p:txBody>
      </p:sp>
      <p:sp>
        <p:nvSpPr>
          <p:cNvPr id="20" name="bd_116"/>
          <p:cNvSpPr/>
          <p:nvPr/>
        </p:nvSpPr>
        <p:spPr>
          <a:xfrm>
            <a:off x="548640" y="26106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1" name="q_117"/>
          <p:cNvSpPr/>
          <p:nvPr/>
        </p:nvSpPr>
        <p:spPr>
          <a:xfrm>
            <a:off x="932688" y="2514600"/>
            <a:ext cx="3291840" cy="502920"/>
          </a:xfrm>
          <a:prstGeom prst="roundRect">
            <a:avLst>
              <a:gd name="adj" fmla="val 1818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gluten-free</a:t>
            </a:r>
            <a:endParaRPr lang="en-US" sz="1300" dirty="0"/>
          </a:p>
        </p:txBody>
      </p:sp>
      <p:sp>
        <p:nvSpPr>
          <p:cNvPr id="22" name="R3_chip118"/>
          <p:cNvSpPr/>
          <p:nvPr/>
        </p:nvSpPr>
        <p:spPr>
          <a:xfrm>
            <a:off x="4297680" y="251460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no wheat, barley or rye</a:t>
            </a:r>
            <a:endParaRPr lang="en-US" sz="1200" dirty="0"/>
          </a:p>
        </p:txBody>
      </p:sp>
      <p:sp>
        <p:nvSpPr>
          <p:cNvPr id="23" name="bd_119"/>
          <p:cNvSpPr/>
          <p:nvPr/>
        </p:nvSpPr>
        <p:spPr>
          <a:xfrm>
            <a:off x="548640" y="315925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4" name="q_120"/>
          <p:cNvSpPr/>
          <p:nvPr/>
        </p:nvSpPr>
        <p:spPr>
          <a:xfrm>
            <a:off x="932688" y="3063240"/>
            <a:ext cx="3291840" cy="502920"/>
          </a:xfrm>
          <a:prstGeom prst="roundRect">
            <a:avLst>
              <a:gd name="adj" fmla="val 1818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dairy-free</a:t>
            </a:r>
            <a:endParaRPr lang="en-US" sz="1300" dirty="0"/>
          </a:p>
        </p:txBody>
      </p:sp>
      <p:sp>
        <p:nvSpPr>
          <p:cNvPr id="25" name="R4_chip121"/>
          <p:cNvSpPr/>
          <p:nvPr/>
        </p:nvSpPr>
        <p:spPr>
          <a:xfrm>
            <a:off x="4297680" y="306324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no milk, cheese or butter</a:t>
            </a:r>
            <a:endParaRPr lang="en-US" sz="1200" dirty="0"/>
          </a:p>
        </p:txBody>
      </p:sp>
      <p:sp>
        <p:nvSpPr>
          <p:cNvPr id="26" name="bd_122"/>
          <p:cNvSpPr/>
          <p:nvPr/>
        </p:nvSpPr>
        <p:spPr>
          <a:xfrm>
            <a:off x="548640" y="370789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q_123"/>
          <p:cNvSpPr/>
          <p:nvPr/>
        </p:nvSpPr>
        <p:spPr>
          <a:xfrm>
            <a:off x="932688" y="3611880"/>
            <a:ext cx="3291840" cy="502920"/>
          </a:xfrm>
          <a:prstGeom prst="roundRect">
            <a:avLst>
              <a:gd name="adj" fmla="val 1818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halal</a:t>
            </a:r>
            <a:endParaRPr lang="en-US" sz="1300" dirty="0"/>
          </a:p>
        </p:txBody>
      </p:sp>
      <p:sp>
        <p:nvSpPr>
          <p:cNvPr id="28" name="R5_chip124"/>
          <p:cNvSpPr/>
          <p:nvPr/>
        </p:nvSpPr>
        <p:spPr>
          <a:xfrm>
            <a:off x="4297680" y="361188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meat prepared according to Islamic law</a:t>
            </a:r>
            <a:endParaRPr lang="en-US" sz="1200" dirty="0"/>
          </a:p>
        </p:txBody>
      </p:sp>
      <p:sp>
        <p:nvSpPr>
          <p:cNvPr id="29" name="bd_125"/>
          <p:cNvSpPr/>
          <p:nvPr/>
        </p:nvSpPr>
        <p:spPr>
          <a:xfrm>
            <a:off x="548640" y="425653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q_126"/>
          <p:cNvSpPr/>
          <p:nvPr/>
        </p:nvSpPr>
        <p:spPr>
          <a:xfrm>
            <a:off x="932688" y="4160520"/>
            <a:ext cx="3291840" cy="502920"/>
          </a:xfrm>
          <a:prstGeom prst="roundRect">
            <a:avLst>
              <a:gd name="adj" fmla="val 1818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nut allergy</a:t>
            </a:r>
            <a:endParaRPr lang="en-US" sz="1300" dirty="0"/>
          </a:p>
        </p:txBody>
      </p:sp>
      <p:sp>
        <p:nvSpPr>
          <p:cNvPr id="31" name="R6_chip127"/>
          <p:cNvSpPr/>
          <p:nvPr/>
        </p:nvSpPr>
        <p:spPr>
          <a:xfrm>
            <a:off x="4297680" y="416052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no nuts – it can be very dangerous!</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400"/>
                                        <p:tgtEl>
                                          <p:spTgt spid="2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8"/>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9"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30"/>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Does it contain nuts?</a:t>
            </a:r>
            <a:endParaRPr lang="en-US" sz="2500" dirty="0"/>
          </a:p>
        </p:txBody>
      </p:sp>
      <p:sp>
        <p:nvSpPr>
          <p:cNvPr id="6" name="meta_131"/>
          <p:cNvSpPr/>
          <p:nvPr/>
        </p:nvSpPr>
        <p:spPr>
          <a:xfrm>
            <a:off x="6510528" y="18288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6 min   🙋 whole class</a:t>
            </a:r>
            <a:endParaRPr lang="en-US" sz="950" dirty="0"/>
          </a:p>
        </p:txBody>
      </p:sp>
      <p:sp>
        <p:nvSpPr>
          <p:cNvPr id="7" name="tag_132"/>
          <p:cNvSpPr/>
          <p:nvPr/>
        </p:nvSpPr>
        <p:spPr>
          <a:xfrm>
            <a:off x="6510528" y="54864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Guided discovery</a:t>
            </a:r>
            <a:endParaRPr lang="en-US" sz="750" dirty="0"/>
          </a:p>
        </p:txBody>
      </p:sp>
      <p:pic>
        <p:nvPicPr>
          <p:cNvPr id="8" name="logo_133" descr="/home/claude/lls-course/v2/img/logo.png">    </p:cNvPr>
          <p:cNvPicPr>
            <a:picLocks noChangeAspect="1"/>
          </p:cNvPicPr>
          <p:nvPr/>
        </p:nvPicPr>
        <p:blipFill>
          <a:blip r:embed="rId3"/>
          <a:stretch>
            <a:fillRect/>
          </a:stretch>
        </p:blipFill>
        <p:spPr>
          <a:xfrm>
            <a:off x="8485632" y="128016"/>
            <a:ext cx="502920" cy="502920"/>
          </a:xfrm>
          <a:prstGeom prst="rect">
            <a:avLst/>
          </a:prstGeom>
        </p:spPr>
      </p:pic>
      <p:sp>
        <p:nvSpPr>
          <p:cNvPr id="9" name="foot_13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L8 · GRAMMAR · Asking about ingredients</a:t>
            </a:r>
            <a:endParaRPr lang="en-US" sz="800" dirty="0"/>
          </a:p>
        </p:txBody>
      </p:sp>
      <p:sp>
        <p:nvSpPr>
          <p:cNvPr id="10" name="cd_135"/>
          <p:cNvSpPr/>
          <p:nvPr/>
        </p:nvSpPr>
        <p:spPr>
          <a:xfrm>
            <a:off x="320040" y="1417320"/>
            <a:ext cx="2758440" cy="3017520"/>
          </a:xfrm>
          <a:prstGeom prst="roundRect">
            <a:avLst>
              <a:gd name="adj" fmla="val 4641"/>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1" name="rh_136"/>
          <p:cNvSpPr/>
          <p:nvPr/>
        </p:nvSpPr>
        <p:spPr>
          <a:xfrm>
            <a:off x="429768" y="1508760"/>
            <a:ext cx="25389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Questions</a:t>
            </a:r>
            <a:endParaRPr lang="en-US" sz="1250" dirty="0"/>
          </a:p>
        </p:txBody>
      </p:sp>
      <p:sp>
        <p:nvSpPr>
          <p:cNvPr id="12" name="R1_rx137"/>
          <p:cNvSpPr/>
          <p:nvPr/>
        </p:nvSpPr>
        <p:spPr>
          <a:xfrm>
            <a:off x="457200" y="2011680"/>
            <a:ext cx="2484120" cy="1965960"/>
          </a:xfrm>
          <a:prstGeom prst="rect">
            <a:avLst/>
          </a:prstGeom>
          <a:noFill/>
          <a:ln/>
        </p:spPr>
        <p:txBody>
          <a:bodyPr wrap="square" lIns="0" tIns="0" rIns="0" bIns="0" rtlCol="0" anchor="ctr">
            <a:normAutofit/>
          </a:bodyPr>
          <a:lstStyle/>
          <a:p>
            <a:pPr algn="ctr" indent="0" marL="0">
              <a:spcAft>
                <a:spcPts val="600"/>
              </a:spcAft>
              <a:buNone/>
            </a:pPr>
            <a:r>
              <a:rPr lang="en-US" sz="1400" dirty="0">
                <a:solidFill>
                  <a:srgbClr val="1B2559"/>
                </a:solidFill>
                <a:latin typeface="Segoe UI Semibold" pitchFamily="34" charset="0"/>
                <a:ea typeface="Segoe UI Semibold" pitchFamily="34" charset="-122"/>
                <a:cs typeface="Segoe UI Semibold" pitchFamily="34" charset="-120"/>
              </a:rPr>
              <a:t>Does it contain nuts?</a:t>
            </a:r>
            <a:endParaRPr lang="en-US" sz="1400" dirty="0"/>
          </a:p>
          <a:p>
            <a:pPr algn="ctr" indent="0" marL="0">
              <a:spcAft>
                <a:spcPts val="600"/>
              </a:spcAft>
              <a:buNone/>
            </a:pPr>
            <a:r>
              <a:rPr lang="en-US" sz="1400" dirty="0">
                <a:solidFill>
                  <a:srgbClr val="1B2559"/>
                </a:solidFill>
                <a:latin typeface="Segoe UI Semibold" pitchFamily="34" charset="0"/>
                <a:ea typeface="Segoe UI Semibold" pitchFamily="34" charset="-122"/>
                <a:cs typeface="Segoe UI Semibold" pitchFamily="34" charset="-120"/>
              </a:rPr>
              <a:t>Is there any milk in it?</a:t>
            </a:r>
            <a:endParaRPr lang="en-US" sz="1400" dirty="0"/>
          </a:p>
          <a:p>
            <a:pPr algn="ctr" indent="0" marL="0">
              <a:spcAft>
                <a:spcPts val="600"/>
              </a:spcAft>
              <a:buNone/>
            </a:pPr>
            <a:r>
              <a:rPr lang="en-US" sz="1400" dirty="0">
                <a:solidFill>
                  <a:srgbClr val="1B2559"/>
                </a:solidFill>
                <a:latin typeface="Segoe UI Semibold" pitchFamily="34" charset="0"/>
                <a:ea typeface="Segoe UI Semibold" pitchFamily="34" charset="-122"/>
                <a:cs typeface="Segoe UI Semibold" pitchFamily="34" charset="-120"/>
              </a:rPr>
              <a:t>Is it gluten-free?</a:t>
            </a:r>
            <a:endParaRPr lang="en-US" sz="1400" dirty="0"/>
          </a:p>
          <a:p>
            <a:pPr algn="ctr" indent="0" marL="0">
              <a:spcAft>
                <a:spcPts val="600"/>
              </a:spcAft>
              <a:buNone/>
            </a:pPr>
            <a:r>
              <a:rPr lang="en-US" sz="1400" dirty="0">
                <a:solidFill>
                  <a:srgbClr val="1B2559"/>
                </a:solidFill>
                <a:latin typeface="Segoe UI Semibold" pitchFamily="34" charset="0"/>
                <a:ea typeface="Segoe UI Semibold" pitchFamily="34" charset="-122"/>
                <a:cs typeface="Segoe UI Semibold" pitchFamily="34" charset="-120"/>
              </a:rPr>
              <a:t>What's in the sauce?</a:t>
            </a:r>
            <a:endParaRPr lang="en-US" sz="1400" dirty="0"/>
          </a:p>
        </p:txBody>
      </p:sp>
      <p:sp>
        <p:nvSpPr>
          <p:cNvPr id="13" name="cd_138"/>
          <p:cNvSpPr/>
          <p:nvPr/>
        </p:nvSpPr>
        <p:spPr>
          <a:xfrm>
            <a:off x="3215640" y="1417320"/>
            <a:ext cx="2758440" cy="3017520"/>
          </a:xfrm>
          <a:prstGeom prst="roundRect">
            <a:avLst>
              <a:gd name="adj" fmla="val 4641"/>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4" name="rh_139"/>
          <p:cNvSpPr/>
          <p:nvPr/>
        </p:nvSpPr>
        <p:spPr>
          <a:xfrm>
            <a:off x="3325368" y="1508760"/>
            <a:ext cx="25389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Answers</a:t>
            </a:r>
            <a:endParaRPr lang="en-US" sz="1250" dirty="0"/>
          </a:p>
        </p:txBody>
      </p:sp>
      <p:sp>
        <p:nvSpPr>
          <p:cNvPr id="15" name="R2_rx140"/>
          <p:cNvSpPr/>
          <p:nvPr/>
        </p:nvSpPr>
        <p:spPr>
          <a:xfrm>
            <a:off x="3352800" y="2011680"/>
            <a:ext cx="2484120" cy="1965960"/>
          </a:xfrm>
          <a:prstGeom prst="rect">
            <a:avLst/>
          </a:prstGeom>
          <a:noFill/>
          <a:ln/>
        </p:spPr>
        <p:txBody>
          <a:bodyPr wrap="square" lIns="0" tIns="0" rIns="0" bIns="0" rtlCol="0" anchor="ctr">
            <a:normAutofit/>
          </a:bodyPr>
          <a:lstStyle/>
          <a:p>
            <a:pPr algn="ctr" indent="0" marL="0">
              <a:spcAft>
                <a:spcPts val="600"/>
              </a:spcAft>
              <a:buNone/>
            </a:pPr>
            <a:r>
              <a:rPr lang="en-US" sz="1400" dirty="0">
                <a:solidFill>
                  <a:srgbClr val="1B2559"/>
                </a:solidFill>
                <a:latin typeface="Segoe UI Semibold" pitchFamily="34" charset="0"/>
                <a:ea typeface="Segoe UI Semibold" pitchFamily="34" charset="-122"/>
                <a:cs typeface="Segoe UI Semibold" pitchFamily="34" charset="-120"/>
              </a:rPr>
              <a:t>Yes, it does. / No, it doesn't.</a:t>
            </a:r>
            <a:endParaRPr lang="en-US" sz="1400" dirty="0"/>
          </a:p>
          <a:p>
            <a:pPr algn="ctr" indent="0" marL="0">
              <a:spcAft>
                <a:spcPts val="600"/>
              </a:spcAft>
              <a:buNone/>
            </a:pPr>
            <a:r>
              <a:rPr lang="en-US" sz="1400" dirty="0">
                <a:solidFill>
                  <a:srgbClr val="1B2559"/>
                </a:solidFill>
                <a:latin typeface="Segoe UI Semibold" pitchFamily="34" charset="0"/>
                <a:ea typeface="Segoe UI Semibold" pitchFamily="34" charset="-122"/>
                <a:cs typeface="Segoe UI Semibold" pitchFamily="34" charset="-120"/>
              </a:rPr>
              <a:t>Yes, there is. / No, there isn't.</a:t>
            </a:r>
            <a:endParaRPr lang="en-US" sz="1400" dirty="0"/>
          </a:p>
          <a:p>
            <a:pPr algn="ctr" indent="0" marL="0">
              <a:spcAft>
                <a:spcPts val="600"/>
              </a:spcAft>
              <a:buNone/>
            </a:pPr>
            <a:r>
              <a:rPr lang="en-US" sz="1400" dirty="0">
                <a:solidFill>
                  <a:srgbClr val="1B2559"/>
                </a:solidFill>
                <a:latin typeface="Segoe UI Semibold" pitchFamily="34" charset="0"/>
                <a:ea typeface="Segoe UI Semibold" pitchFamily="34" charset="-122"/>
                <a:cs typeface="Segoe UI Semibold" pitchFamily="34" charset="-120"/>
              </a:rPr>
              <a:t>It contains eggs and milk.</a:t>
            </a:r>
            <a:endParaRPr lang="en-US" sz="1400" dirty="0"/>
          </a:p>
          <a:p>
            <a:pPr algn="ctr" indent="0" marL="0">
              <a:spcAft>
                <a:spcPts val="600"/>
              </a:spcAft>
              <a:buNone/>
            </a:pPr>
            <a:r>
              <a:rPr lang="en-US" sz="1400" dirty="0">
                <a:solidFill>
                  <a:srgbClr val="1B2559"/>
                </a:solidFill>
                <a:latin typeface="Segoe UI Semibold" pitchFamily="34" charset="0"/>
                <a:ea typeface="Segoe UI Semibold" pitchFamily="34" charset="-122"/>
                <a:cs typeface="Segoe UI Semibold" pitchFamily="34" charset="-120"/>
              </a:rPr>
              <a:t>I'll check with the chef.</a:t>
            </a:r>
            <a:endParaRPr lang="en-US" sz="1400" dirty="0"/>
          </a:p>
        </p:txBody>
      </p:sp>
      <p:sp>
        <p:nvSpPr>
          <p:cNvPr id="16" name="cd_141"/>
          <p:cNvSpPr/>
          <p:nvPr/>
        </p:nvSpPr>
        <p:spPr>
          <a:xfrm>
            <a:off x="6111240" y="1417320"/>
            <a:ext cx="2758440" cy="3017520"/>
          </a:xfrm>
          <a:prstGeom prst="roundRect">
            <a:avLst>
              <a:gd name="adj" fmla="val 4641"/>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7" name="rh_142"/>
          <p:cNvSpPr/>
          <p:nvPr/>
        </p:nvSpPr>
        <p:spPr>
          <a:xfrm>
            <a:off x="6220968" y="1508760"/>
            <a:ext cx="25389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Safety</a:t>
            </a:r>
            <a:endParaRPr lang="en-US" sz="1250" dirty="0"/>
          </a:p>
        </p:txBody>
      </p:sp>
      <p:sp>
        <p:nvSpPr>
          <p:cNvPr id="18" name="R3_rx143"/>
          <p:cNvSpPr/>
          <p:nvPr/>
        </p:nvSpPr>
        <p:spPr>
          <a:xfrm>
            <a:off x="6248400" y="2011680"/>
            <a:ext cx="2484120" cy="1965960"/>
          </a:xfrm>
          <a:prstGeom prst="rect">
            <a:avLst/>
          </a:prstGeom>
          <a:noFill/>
          <a:ln/>
        </p:spPr>
        <p:txBody>
          <a:bodyPr wrap="square" lIns="0" tIns="0" rIns="0" bIns="0" rtlCol="0" anchor="ctr">
            <a:normAutofit/>
          </a:bodyPr>
          <a:lstStyle/>
          <a:p>
            <a:pPr algn="ctr" indent="0" marL="0">
              <a:spcAft>
                <a:spcPts val="600"/>
              </a:spcAft>
              <a:buNone/>
            </a:pPr>
            <a:r>
              <a:rPr lang="en-US" sz="1400" dirty="0">
                <a:solidFill>
                  <a:srgbClr val="1B2559"/>
                </a:solidFill>
                <a:latin typeface="Segoe UI Semibold" pitchFamily="34" charset="0"/>
                <a:ea typeface="Segoe UI Semibold" pitchFamily="34" charset="-122"/>
                <a:cs typeface="Segoe UI Semibold" pitchFamily="34" charset="-120"/>
              </a:rPr>
              <a:t>Can you make it without…?</a:t>
            </a:r>
            <a:endParaRPr lang="en-US" sz="1400" dirty="0"/>
          </a:p>
          <a:p>
            <a:pPr algn="ctr" indent="0" marL="0">
              <a:spcAft>
                <a:spcPts val="600"/>
              </a:spcAft>
              <a:buNone/>
            </a:pPr>
            <a:r>
              <a:rPr lang="en-US" sz="1400" dirty="0">
                <a:solidFill>
                  <a:srgbClr val="1B2559"/>
                </a:solidFill>
                <a:latin typeface="Segoe UI Semibold" pitchFamily="34" charset="0"/>
                <a:ea typeface="Segoe UI Semibold" pitchFamily="34" charset="-122"/>
                <a:cs typeface="Segoe UI Semibold" pitchFamily="34" charset="-120"/>
              </a:rPr>
              <a:t>Use a clean board and clean utensils.</a:t>
            </a:r>
            <a:endParaRPr lang="en-US" sz="1400" dirty="0"/>
          </a:p>
          <a:p>
            <a:pPr algn="ctr" indent="0" marL="0">
              <a:spcAft>
                <a:spcPts val="600"/>
              </a:spcAft>
              <a:buNone/>
            </a:pPr>
            <a:r>
              <a:rPr lang="en-US" sz="1400" dirty="0">
                <a:solidFill>
                  <a:srgbClr val="1B2559"/>
                </a:solidFill>
                <a:latin typeface="Segoe UI Semibold" pitchFamily="34" charset="0"/>
                <a:ea typeface="Segoe UI Semibold" pitchFamily="34" charset="-122"/>
                <a:cs typeface="Segoe UI Semibold" pitchFamily="34" charset="-120"/>
              </a:rPr>
              <a:t>Never guess! Always check.</a:t>
            </a:r>
            <a:endParaRPr lang="en-US" sz="1400" dirty="0"/>
          </a:p>
        </p:txBody>
      </p:sp>
      <p:sp>
        <p:nvSpPr>
          <p:cNvPr id="19" name="R4_wc144"/>
          <p:cNvSpPr/>
          <p:nvPr/>
        </p:nvSpPr>
        <p:spPr>
          <a:xfrm>
            <a:off x="320040" y="4544568"/>
            <a:ext cx="8549640" cy="329184"/>
          </a:xfrm>
          <a:prstGeom prst="roundRect">
            <a:avLst>
              <a:gd name="adj" fmla="val 38889"/>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0" name="R4_w145"/>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 Contains it nuts? → ✓ Does it contain nuts?     ✗ It contain → ✓ It contains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400"/>
                                        <p:tgtEl>
                                          <p:spTgt spid="1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400"/>
                                        <p:tgtEl>
                                          <p:spTgt spid="19"/>
                                        </p:tgtEl>
                                      </p:cBhvr>
                                    </p:animEffect>
                                  </p:childTnLst>
                                </p:cTn>
                              </p:par>
                              <p:par>
                                <p:cTn id="23" presetID="10" presetClass="entr" presetSubtype="0" fill="hold" nodeType="withEffect">
                                  <p:stCondLst>
                                    <p:cond delay="0"/>
                                  </p:stCondLst>
                                  <p:childTnLst>
                                    <p:set>
                                      <p:cBhvr>
                                        <p:cTn id="24" dur="1" fill="hold">
                                          <p:stCondLst>
                                            <p:cond delay="0"/>
                                          </p:stCondLst>
                                        </p:cTn>
                                        <p:tgtEl>
                                          <p:spTgt spid="20"/>
                                        </p:tgtEl>
                                        <p:attrNameLst>
                                          <p:attrName>style.visibility</p:attrName>
                                        </p:attrNameLst>
                                      </p:cBhvr>
                                      <p:to>
                                        <p:strVal val="visible"/>
                                      </p:to>
                                    </p:set>
                                    <p:animEffect transition="in" filter="fade">
                                      <p:cBhvr>
                                        <p:cTn id="25"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46"/>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47"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48"/>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Does it… ? Is there…?</a:t>
            </a:r>
            <a:endParaRPr lang="en-US" sz="2500" dirty="0"/>
          </a:p>
        </p:txBody>
      </p:sp>
      <p:pic>
        <p:nvPicPr>
          <p:cNvPr id="6" name="brP_149"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150"/>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questions and answers.</a:t>
            </a:r>
            <a:endParaRPr lang="en-US" sz="1250" dirty="0"/>
          </a:p>
        </p:txBody>
      </p:sp>
      <p:sp>
        <p:nvSpPr>
          <p:cNvPr id="8" name="insIT_15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Completa domande e risposte.</a:t>
            </a:r>
            <a:endParaRPr lang="en-US" sz="950" dirty="0"/>
          </a:p>
        </p:txBody>
      </p:sp>
      <p:sp>
        <p:nvSpPr>
          <p:cNvPr id="9" name="cmd_152"/>
          <p:cNvSpPr/>
          <p:nvPr/>
        </p:nvSpPr>
        <p:spPr>
          <a:xfrm>
            <a:off x="6510528" y="182880"/>
            <a:ext cx="1901952" cy="274320"/>
          </a:xfrm>
          <a:prstGeom prst="roundRect">
            <a:avLst>
              <a:gd name="adj" fmla="val 50000"/>
            </a:avLst>
          </a:prstGeom>
          <a:solidFill>
            <a:srgbClr val="FFFFFF"/>
          </a:solidFill>
          <a:ln w="28575">
            <a:solidFill>
              <a:srgbClr val="CDBFF3"/>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7B5CD6"/>
                </a:solidFill>
                <a:latin typeface="Arial Rounded MT Bold" pitchFamily="34" charset="0"/>
                <a:ea typeface="Arial Rounded MT Bold" pitchFamily="34" charset="-122"/>
                <a:cs typeface="Arial Rounded MT Bold" pitchFamily="34" charset="-120"/>
              </a:rPr>
              <a:t>WRITE</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SCRIVI</a:t>
            </a:r>
            <a:endParaRPr lang="en-US" sz="950" dirty="0"/>
          </a:p>
        </p:txBody>
      </p:sp>
      <p:sp>
        <p:nvSpPr>
          <p:cNvPr id="10" name="meta_153"/>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154"/>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Controlled practice</a:t>
            </a:r>
            <a:endParaRPr lang="en-US" sz="750" dirty="0"/>
          </a:p>
        </p:txBody>
      </p:sp>
      <p:pic>
        <p:nvPicPr>
          <p:cNvPr id="12" name="logo_15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5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L8 · GRAMMAR · Practice</a:t>
            </a:r>
            <a:endParaRPr lang="en-US" sz="800" dirty="0"/>
          </a:p>
        </p:txBody>
      </p:sp>
      <p:sp>
        <p:nvSpPr>
          <p:cNvPr id="14" name="bd_157"/>
          <p:cNvSpPr/>
          <p:nvPr/>
        </p:nvSpPr>
        <p:spPr>
          <a:xfrm>
            <a:off x="548640" y="151333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5" name="q_158"/>
          <p:cNvSpPr/>
          <p:nvPr/>
        </p:nvSpPr>
        <p:spPr>
          <a:xfrm>
            <a:off x="932688" y="1417320"/>
            <a:ext cx="3291840" cy="502920"/>
          </a:xfrm>
          <a:prstGeom prst="roundRect">
            <a:avLst>
              <a:gd name="adj" fmla="val 1818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___ the soup contain celery?</a:t>
            </a:r>
            <a:endParaRPr lang="en-US" sz="1300" dirty="0"/>
          </a:p>
        </p:txBody>
      </p:sp>
      <p:sp>
        <p:nvSpPr>
          <p:cNvPr id="16" name="R1_chip159"/>
          <p:cNvSpPr/>
          <p:nvPr/>
        </p:nvSpPr>
        <p:spPr>
          <a:xfrm>
            <a:off x="4297680" y="141732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Does</a:t>
            </a:r>
            <a:endParaRPr lang="en-US" sz="1200" dirty="0"/>
          </a:p>
        </p:txBody>
      </p:sp>
      <p:sp>
        <p:nvSpPr>
          <p:cNvPr id="17" name="bd_160"/>
          <p:cNvSpPr/>
          <p:nvPr/>
        </p:nvSpPr>
        <p:spPr>
          <a:xfrm>
            <a:off x="548640" y="206197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8" name="q_161"/>
          <p:cNvSpPr/>
          <p:nvPr/>
        </p:nvSpPr>
        <p:spPr>
          <a:xfrm>
            <a:off x="932688" y="1965960"/>
            <a:ext cx="3291840" cy="502920"/>
          </a:xfrm>
          <a:prstGeom prst="roundRect">
            <a:avLst>
              <a:gd name="adj" fmla="val 1818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___ there any nuts in the cake?</a:t>
            </a:r>
            <a:endParaRPr lang="en-US" sz="1300" dirty="0"/>
          </a:p>
        </p:txBody>
      </p:sp>
      <p:sp>
        <p:nvSpPr>
          <p:cNvPr id="19" name="R2_chip162"/>
          <p:cNvSpPr/>
          <p:nvPr/>
        </p:nvSpPr>
        <p:spPr>
          <a:xfrm>
            <a:off x="4297680" y="196596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Is</a:t>
            </a:r>
            <a:endParaRPr lang="en-US" sz="1200" dirty="0"/>
          </a:p>
        </p:txBody>
      </p:sp>
      <p:sp>
        <p:nvSpPr>
          <p:cNvPr id="20" name="bd_163"/>
          <p:cNvSpPr/>
          <p:nvPr/>
        </p:nvSpPr>
        <p:spPr>
          <a:xfrm>
            <a:off x="548640" y="26106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1" name="q_164"/>
          <p:cNvSpPr/>
          <p:nvPr/>
        </p:nvSpPr>
        <p:spPr>
          <a:xfrm>
            <a:off x="932688" y="2514600"/>
            <a:ext cx="3291840" cy="502920"/>
          </a:xfrm>
          <a:prstGeom prst="roundRect">
            <a:avLst>
              <a:gd name="adj" fmla="val 1818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It ___ (contain) milk and eggs.</a:t>
            </a:r>
            <a:endParaRPr lang="en-US" sz="1300" dirty="0"/>
          </a:p>
        </p:txBody>
      </p:sp>
      <p:sp>
        <p:nvSpPr>
          <p:cNvPr id="22" name="R3_chip165"/>
          <p:cNvSpPr/>
          <p:nvPr/>
        </p:nvSpPr>
        <p:spPr>
          <a:xfrm>
            <a:off x="4297680" y="251460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contains</a:t>
            </a:r>
            <a:endParaRPr lang="en-US" sz="1200" dirty="0"/>
          </a:p>
        </p:txBody>
      </p:sp>
      <p:sp>
        <p:nvSpPr>
          <p:cNvPr id="23" name="bd_166"/>
          <p:cNvSpPr/>
          <p:nvPr/>
        </p:nvSpPr>
        <p:spPr>
          <a:xfrm>
            <a:off x="548640" y="315925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4" name="q_167"/>
          <p:cNvSpPr/>
          <p:nvPr/>
        </p:nvSpPr>
        <p:spPr>
          <a:xfrm>
            <a:off x="932688" y="3063240"/>
            <a:ext cx="3291840" cy="502920"/>
          </a:xfrm>
          <a:prstGeom prst="roundRect">
            <a:avLst>
              <a:gd name="adj" fmla="val 1818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Is it gluten-free? – No, it ___.</a:t>
            </a:r>
            <a:endParaRPr lang="en-US" sz="1300" dirty="0"/>
          </a:p>
        </p:txBody>
      </p:sp>
      <p:sp>
        <p:nvSpPr>
          <p:cNvPr id="25" name="R4_chip168"/>
          <p:cNvSpPr/>
          <p:nvPr/>
        </p:nvSpPr>
        <p:spPr>
          <a:xfrm>
            <a:off x="4297680" y="306324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isn't</a:t>
            </a:r>
            <a:endParaRPr lang="en-US" sz="1200" dirty="0"/>
          </a:p>
        </p:txBody>
      </p:sp>
      <p:sp>
        <p:nvSpPr>
          <p:cNvPr id="26" name="bd_169"/>
          <p:cNvSpPr/>
          <p:nvPr/>
        </p:nvSpPr>
        <p:spPr>
          <a:xfrm>
            <a:off x="548640" y="370789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q_170"/>
          <p:cNvSpPr/>
          <p:nvPr/>
        </p:nvSpPr>
        <p:spPr>
          <a:xfrm>
            <a:off x="932688" y="3611880"/>
            <a:ext cx="3291840" cy="502920"/>
          </a:xfrm>
          <a:prstGeom prst="roundRect">
            <a:avLst>
              <a:gd name="adj" fmla="val 1818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Does it contain fish? – Yes, it ___.</a:t>
            </a:r>
            <a:endParaRPr lang="en-US" sz="1300" dirty="0"/>
          </a:p>
        </p:txBody>
      </p:sp>
      <p:sp>
        <p:nvSpPr>
          <p:cNvPr id="28" name="R5_chip171"/>
          <p:cNvSpPr/>
          <p:nvPr/>
        </p:nvSpPr>
        <p:spPr>
          <a:xfrm>
            <a:off x="4297680" y="361188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does</a:t>
            </a:r>
            <a:endParaRPr lang="en-US" sz="1200" dirty="0"/>
          </a:p>
        </p:txBody>
      </p:sp>
      <p:sp>
        <p:nvSpPr>
          <p:cNvPr id="29" name="bd_172"/>
          <p:cNvSpPr/>
          <p:nvPr/>
        </p:nvSpPr>
        <p:spPr>
          <a:xfrm>
            <a:off x="548640" y="425653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q_173"/>
          <p:cNvSpPr/>
          <p:nvPr/>
        </p:nvSpPr>
        <p:spPr>
          <a:xfrm>
            <a:off x="932688" y="4160520"/>
            <a:ext cx="3291840" cy="502920"/>
          </a:xfrm>
          <a:prstGeom prst="roundRect">
            <a:avLst>
              <a:gd name="adj" fmla="val 1818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Can you make it ___ cheese?</a:t>
            </a:r>
            <a:endParaRPr lang="en-US" sz="1300" dirty="0"/>
          </a:p>
        </p:txBody>
      </p:sp>
      <p:sp>
        <p:nvSpPr>
          <p:cNvPr id="31" name="R6_chip174"/>
          <p:cNvSpPr/>
          <p:nvPr/>
        </p:nvSpPr>
        <p:spPr>
          <a:xfrm>
            <a:off x="4297680" y="416052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without</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400"/>
                                        <p:tgtEl>
                                          <p:spTgt spid="2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5"/>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76" descr="/home/claude/lls-course/v2/assets/brush-yellow.png">    </p:cNvPr>
          <p:cNvPicPr>
            <a:picLocks noChangeAspect="1"/>
          </p:cNvPicPr>
          <p:nvPr/>
        </p:nvPicPr>
        <p:blipFill>
          <a:blip r:embed="rId2"/>
          <a:stretch>
            <a:fillRect/>
          </a:stretch>
        </p:blipFill>
        <p:spPr>
          <a:xfrm>
            <a:off x="1097280" y="146304"/>
            <a:ext cx="5135270" cy="621792"/>
          </a:xfrm>
          <a:prstGeom prst="rect">
            <a:avLst/>
          </a:prstGeom>
        </p:spPr>
      </p:pic>
      <p:sp>
        <p:nvSpPr>
          <p:cNvPr id="5" name="title_177"/>
          <p:cNvSpPr/>
          <p:nvPr/>
        </p:nvSpPr>
        <p:spPr>
          <a:xfrm>
            <a:off x="1261872" y="164592"/>
            <a:ext cx="486095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 booking with special needs</a:t>
            </a:r>
            <a:endParaRPr lang="en-US" sz="2500" dirty="0"/>
          </a:p>
        </p:txBody>
      </p:sp>
      <p:pic>
        <p:nvPicPr>
          <p:cNvPr id="6" name="brP_178" descr="/home/claude/lls-course/v2/assets/brush-pink.png">    </p:cNvPr>
          <p:cNvPicPr>
            <a:picLocks noChangeAspect="1"/>
          </p:cNvPicPr>
          <p:nvPr/>
        </p:nvPicPr>
        <p:blipFill>
          <a:blip r:embed="rId3"/>
          <a:stretch>
            <a:fillRect/>
          </a:stretch>
        </p:blipFill>
        <p:spPr>
          <a:xfrm>
            <a:off x="1207008" y="731520"/>
            <a:ext cx="4640580" cy="402336"/>
          </a:xfrm>
          <a:prstGeom prst="rect">
            <a:avLst/>
          </a:prstGeom>
        </p:spPr>
      </p:pic>
      <p:sp>
        <p:nvSpPr>
          <p:cNvPr id="7" name="ins_179"/>
          <p:cNvSpPr/>
          <p:nvPr/>
        </p:nvSpPr>
        <p:spPr>
          <a:xfrm>
            <a:off x="1353312" y="731520"/>
            <a:ext cx="438454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booking email. Answer the questions.</a:t>
            </a:r>
            <a:endParaRPr lang="en-US" sz="1250" dirty="0"/>
          </a:p>
        </p:txBody>
      </p:sp>
      <p:sp>
        <p:nvSpPr>
          <p:cNvPr id="8" name="insIT_18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l'email di prenotazione e rispondi.</a:t>
            </a:r>
            <a:endParaRPr lang="en-US" sz="950" dirty="0"/>
          </a:p>
        </p:txBody>
      </p:sp>
      <p:sp>
        <p:nvSpPr>
          <p:cNvPr id="9" name="cmd_181"/>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182"/>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6 min   👤 alone</a:t>
            </a:r>
            <a:endParaRPr lang="en-US" sz="950" dirty="0"/>
          </a:p>
        </p:txBody>
      </p:sp>
      <p:sp>
        <p:nvSpPr>
          <p:cNvPr id="11" name="tag_183"/>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18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8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L8 · READING · A customer email</a:t>
            </a:r>
            <a:endParaRPr lang="en-US" sz="800" dirty="0"/>
          </a:p>
        </p:txBody>
      </p:sp>
      <p:sp>
        <p:nvSpPr>
          <p:cNvPr id="14" name="cd_186"/>
          <p:cNvSpPr/>
          <p:nvPr/>
        </p:nvSpPr>
        <p:spPr>
          <a:xfrm>
            <a:off x="320040" y="1417320"/>
            <a:ext cx="576072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rd_187"/>
          <p:cNvSpPr/>
          <p:nvPr/>
        </p:nvSpPr>
        <p:spPr>
          <a:xfrm>
            <a:off x="457200" y="1527048"/>
            <a:ext cx="5486400" cy="3090672"/>
          </a:xfrm>
          <a:prstGeom prst="rect">
            <a:avLst/>
          </a:prstGeom>
          <a:noFill/>
          <a:ln/>
        </p:spPr>
        <p:txBody>
          <a:bodyPr wrap="square" lIns="0" tIns="0" rIns="0" bIns="0" rtlCol="0" anchor="t"/>
          <a:lstStyle/>
          <a:p>
            <a:pPr indent="0" marL="0">
              <a:lnSpc>
                <a:spcPct val="105000"/>
              </a:lnSpc>
              <a:spcAft>
                <a:spcPts val="400"/>
              </a:spcAft>
              <a:buNone/>
            </a:pPr>
            <a:r>
              <a:rPr lang="en-US" sz="2000" b="1" dirty="0">
                <a:solidFill>
                  <a:srgbClr val="1F6F43"/>
                </a:solidFill>
                <a:latin typeface="Georgia" pitchFamily="34" charset="0"/>
                <a:ea typeface="Georgia" pitchFamily="34" charset="-122"/>
                <a:cs typeface="Georgia" pitchFamily="34" charset="-120"/>
              </a:rPr>
              <a:t>✉ Table for 6 – Saturday 8 p.m.</a:t>
            </a:r>
            <a:endParaRPr lang="en-US" sz="1500" dirty="0"/>
          </a:p>
          <a:p>
            <a:pPr indent="0" marL="0">
              <a:lnSpc>
                <a:spcPct val="105000"/>
              </a:lnSpc>
              <a:spcAft>
                <a:spcPts val="700"/>
              </a:spcAft>
              <a:buNone/>
            </a:pPr>
            <a:r>
              <a:rPr lang="en-US" sz="1500" dirty="0">
                <a:solidFill>
                  <a:srgbClr val="1B2559"/>
                </a:solidFill>
                <a:latin typeface="Georgia" pitchFamily="34" charset="0"/>
                <a:ea typeface="Georgia" pitchFamily="34" charset="-122"/>
                <a:cs typeface="Georgia" pitchFamily="34" charset="-120"/>
              </a:rPr>
              <a:t>Hello, I'd like to book a table for six on Saturday at 8 p.m. My son Luca (9) has a peanut allergy – it's serious and he carries an adrenaline pen. My sister is vegan and my husband can't eat gluten. Can you prepare something for them? We'd love to try your arancine! Thank you, Giulia</a:t>
            </a:r>
            <a:endParaRPr lang="en-US" sz="1500" dirty="0"/>
          </a:p>
        </p:txBody>
      </p:sp>
      <p:sp>
        <p:nvSpPr>
          <p:cNvPr id="16" name="bd_188"/>
          <p:cNvSpPr/>
          <p:nvPr/>
        </p:nvSpPr>
        <p:spPr>
          <a:xfrm>
            <a:off x="6172200" y="1427836"/>
            <a:ext cx="274320" cy="27432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900" dirty="0">
                <a:solidFill>
                  <a:srgbClr val="FFFFFF"/>
                </a:solidFill>
                <a:latin typeface="Arial Rounded MT Bold" pitchFamily="34" charset="0"/>
                <a:ea typeface="Arial Rounded MT Bold" pitchFamily="34" charset="-122"/>
                <a:cs typeface="Arial Rounded MT Bold" pitchFamily="34" charset="-120"/>
              </a:rPr>
              <a:t>1</a:t>
            </a:r>
            <a:endParaRPr lang="en-US" sz="900" dirty="0"/>
          </a:p>
        </p:txBody>
      </p:sp>
      <p:sp>
        <p:nvSpPr>
          <p:cNvPr id="17" name="rq_189"/>
          <p:cNvSpPr/>
          <p:nvPr/>
        </p:nvSpPr>
        <p:spPr>
          <a:xfrm>
            <a:off x="6492240" y="1417320"/>
            <a:ext cx="2423160" cy="295351"/>
          </a:xfrm>
          <a:prstGeom prst="roundRect">
            <a:avLst>
              <a:gd name="adj" fmla="val 24768"/>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How many people?</a:t>
            </a:r>
            <a:endParaRPr lang="en-US" sz="900" dirty="0"/>
          </a:p>
        </p:txBody>
      </p:sp>
      <p:sp>
        <p:nvSpPr>
          <p:cNvPr id="18" name="R1_chip190"/>
          <p:cNvSpPr/>
          <p:nvPr/>
        </p:nvSpPr>
        <p:spPr>
          <a:xfrm>
            <a:off x="6492240" y="1740103"/>
            <a:ext cx="2423160" cy="267919"/>
          </a:xfrm>
          <a:prstGeom prst="roundRect">
            <a:avLst>
              <a:gd name="adj" fmla="val 3413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six</a:t>
            </a:r>
            <a:endParaRPr lang="en-US" sz="900" dirty="0"/>
          </a:p>
        </p:txBody>
      </p:sp>
      <p:sp>
        <p:nvSpPr>
          <p:cNvPr id="19" name="bd_191"/>
          <p:cNvSpPr/>
          <p:nvPr/>
        </p:nvSpPr>
        <p:spPr>
          <a:xfrm>
            <a:off x="6172200" y="2109978"/>
            <a:ext cx="274320" cy="27432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900" dirty="0">
                <a:solidFill>
                  <a:srgbClr val="FFFFFF"/>
                </a:solidFill>
                <a:latin typeface="Arial Rounded MT Bold" pitchFamily="34" charset="0"/>
                <a:ea typeface="Arial Rounded MT Bold" pitchFamily="34" charset="-122"/>
                <a:cs typeface="Arial Rounded MT Bold" pitchFamily="34" charset="-120"/>
              </a:rPr>
              <a:t>2</a:t>
            </a:r>
            <a:endParaRPr lang="en-US" sz="900" dirty="0"/>
          </a:p>
        </p:txBody>
      </p:sp>
      <p:sp>
        <p:nvSpPr>
          <p:cNvPr id="20" name="rq_192"/>
          <p:cNvSpPr/>
          <p:nvPr/>
        </p:nvSpPr>
        <p:spPr>
          <a:xfrm>
            <a:off x="6492240" y="2099462"/>
            <a:ext cx="2423160" cy="295351"/>
          </a:xfrm>
          <a:prstGeom prst="roundRect">
            <a:avLst>
              <a:gd name="adj" fmla="val 24768"/>
            </a:avLst>
          </a:prstGeom>
          <a:solidFill>
            <a:srgbClr val="FFFFFF"/>
          </a:solidFill>
          <a:ln w="28575">
            <a:solidFill>
              <a:srgbClr val="A9D3F5"/>
            </a:solidFill>
          </a:ln>
        </p:spPr>
        <p:txBody>
          <a:bodyPr wrap="square" lIns="76200" tIns="0" rIns="762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Who has an allergy? To what?</a:t>
            </a:r>
            <a:endParaRPr lang="en-US" sz="900" dirty="0"/>
          </a:p>
        </p:txBody>
      </p:sp>
      <p:sp>
        <p:nvSpPr>
          <p:cNvPr id="21" name="R2_chip193"/>
          <p:cNvSpPr/>
          <p:nvPr/>
        </p:nvSpPr>
        <p:spPr>
          <a:xfrm>
            <a:off x="6492240" y="2422246"/>
            <a:ext cx="2423160" cy="267919"/>
          </a:xfrm>
          <a:prstGeom prst="roundRect">
            <a:avLst>
              <a:gd name="adj" fmla="val 3413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her son – peanuts</a:t>
            </a:r>
            <a:endParaRPr lang="en-US" sz="900" dirty="0"/>
          </a:p>
        </p:txBody>
      </p:sp>
      <p:sp>
        <p:nvSpPr>
          <p:cNvPr id="22" name="bd_194"/>
          <p:cNvSpPr/>
          <p:nvPr/>
        </p:nvSpPr>
        <p:spPr>
          <a:xfrm>
            <a:off x="6172200" y="2792120"/>
            <a:ext cx="274320" cy="27432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900" dirty="0">
                <a:solidFill>
                  <a:srgbClr val="FFFFFF"/>
                </a:solidFill>
                <a:latin typeface="Arial Rounded MT Bold" pitchFamily="34" charset="0"/>
                <a:ea typeface="Arial Rounded MT Bold" pitchFamily="34" charset="-122"/>
                <a:cs typeface="Arial Rounded MT Bold" pitchFamily="34" charset="-120"/>
              </a:rPr>
              <a:t>3</a:t>
            </a:r>
            <a:endParaRPr lang="en-US" sz="900" dirty="0"/>
          </a:p>
        </p:txBody>
      </p:sp>
      <p:sp>
        <p:nvSpPr>
          <p:cNvPr id="23" name="rq_195"/>
          <p:cNvSpPr/>
          <p:nvPr/>
        </p:nvSpPr>
        <p:spPr>
          <a:xfrm>
            <a:off x="6492240" y="2781605"/>
            <a:ext cx="2423160" cy="295351"/>
          </a:xfrm>
          <a:prstGeom prst="roundRect">
            <a:avLst>
              <a:gd name="adj" fmla="val 24768"/>
            </a:avLst>
          </a:prstGeom>
          <a:solidFill>
            <a:srgbClr val="FFFFFF"/>
          </a:solidFill>
          <a:ln w="28575">
            <a:solidFill>
              <a:srgbClr val="A8E5BE"/>
            </a:solidFill>
          </a:ln>
        </p:spPr>
        <p:txBody>
          <a:bodyPr wrap="square" lIns="76200" tIns="0" rIns="762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Which two other diets?</a:t>
            </a:r>
            <a:endParaRPr lang="en-US" sz="900" dirty="0"/>
          </a:p>
        </p:txBody>
      </p:sp>
      <p:sp>
        <p:nvSpPr>
          <p:cNvPr id="24" name="R3_chip196"/>
          <p:cNvSpPr/>
          <p:nvPr/>
        </p:nvSpPr>
        <p:spPr>
          <a:xfrm>
            <a:off x="6492240" y="3104388"/>
            <a:ext cx="2423160" cy="267919"/>
          </a:xfrm>
          <a:prstGeom prst="roundRect">
            <a:avLst>
              <a:gd name="adj" fmla="val 3413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vegan, gluten-free</a:t>
            </a:r>
            <a:endParaRPr lang="en-US" sz="900" dirty="0"/>
          </a:p>
        </p:txBody>
      </p:sp>
      <p:sp>
        <p:nvSpPr>
          <p:cNvPr id="25" name="bd_197"/>
          <p:cNvSpPr/>
          <p:nvPr/>
        </p:nvSpPr>
        <p:spPr>
          <a:xfrm>
            <a:off x="6172200" y="3474263"/>
            <a:ext cx="274320" cy="274320"/>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900" dirty="0">
                <a:solidFill>
                  <a:srgbClr val="FFFFFF"/>
                </a:solidFill>
                <a:latin typeface="Arial Rounded MT Bold" pitchFamily="34" charset="0"/>
                <a:ea typeface="Arial Rounded MT Bold" pitchFamily="34" charset="-122"/>
                <a:cs typeface="Arial Rounded MT Bold" pitchFamily="34" charset="-120"/>
              </a:rPr>
              <a:t>4</a:t>
            </a:r>
            <a:endParaRPr lang="en-US" sz="900" dirty="0"/>
          </a:p>
        </p:txBody>
      </p:sp>
      <p:sp>
        <p:nvSpPr>
          <p:cNvPr id="26" name="rq_198"/>
          <p:cNvSpPr/>
          <p:nvPr/>
        </p:nvSpPr>
        <p:spPr>
          <a:xfrm>
            <a:off x="6492240" y="3463747"/>
            <a:ext cx="2423160" cy="295351"/>
          </a:xfrm>
          <a:prstGeom prst="roundRect">
            <a:avLst>
              <a:gd name="adj" fmla="val 24768"/>
            </a:avLst>
          </a:prstGeom>
          <a:solidFill>
            <a:srgbClr val="FFFFFF"/>
          </a:solidFill>
          <a:ln w="28575">
            <a:solidFill>
              <a:srgbClr val="FFE07A"/>
            </a:solidFill>
          </a:ln>
        </p:spPr>
        <p:txBody>
          <a:bodyPr wrap="square" lIns="76200" tIns="0" rIns="76200" bIns="0" rtlCol="0" anchor="ctr">
            <a:normAutofit/>
          </a:bodyP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Can the husband eat normal arancine?</a:t>
            </a:r>
            <a:endParaRPr lang="en-US" sz="850" dirty="0"/>
          </a:p>
        </p:txBody>
      </p:sp>
      <p:sp>
        <p:nvSpPr>
          <p:cNvPr id="27" name="R4_chip199"/>
          <p:cNvSpPr/>
          <p:nvPr/>
        </p:nvSpPr>
        <p:spPr>
          <a:xfrm>
            <a:off x="6492240" y="3786530"/>
            <a:ext cx="2423160" cy="267919"/>
          </a:xfrm>
          <a:prstGeom prst="roundRect">
            <a:avLst>
              <a:gd name="adj" fmla="val 3413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No – breadcrumbs contain gluten</a:t>
            </a:r>
            <a:endParaRPr lang="en-US" sz="900" dirty="0"/>
          </a:p>
        </p:txBody>
      </p:sp>
      <p:sp>
        <p:nvSpPr>
          <p:cNvPr id="28" name="bd_200"/>
          <p:cNvSpPr/>
          <p:nvPr/>
        </p:nvSpPr>
        <p:spPr>
          <a:xfrm>
            <a:off x="6172200" y="4156405"/>
            <a:ext cx="274320" cy="27432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900" dirty="0">
                <a:solidFill>
                  <a:srgbClr val="FFFFFF"/>
                </a:solidFill>
                <a:latin typeface="Arial Rounded MT Bold" pitchFamily="34" charset="0"/>
                <a:ea typeface="Arial Rounded MT Bold" pitchFamily="34" charset="-122"/>
                <a:cs typeface="Arial Rounded MT Bold" pitchFamily="34" charset="-120"/>
              </a:rPr>
              <a:t>5</a:t>
            </a:r>
            <a:endParaRPr lang="en-US" sz="900" dirty="0"/>
          </a:p>
        </p:txBody>
      </p:sp>
      <p:sp>
        <p:nvSpPr>
          <p:cNvPr id="29" name="rq_201"/>
          <p:cNvSpPr/>
          <p:nvPr/>
        </p:nvSpPr>
        <p:spPr>
          <a:xfrm>
            <a:off x="6492240" y="4145890"/>
            <a:ext cx="2423160" cy="295351"/>
          </a:xfrm>
          <a:prstGeom prst="roundRect">
            <a:avLst>
              <a:gd name="adj" fmla="val 24768"/>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Write 2 questions to ask Giulia.</a:t>
            </a:r>
            <a:endParaRPr lang="en-US" sz="900" dirty="0"/>
          </a:p>
        </p:txBody>
      </p:sp>
      <p:sp>
        <p:nvSpPr>
          <p:cNvPr id="30" name="R5_chip202"/>
          <p:cNvSpPr/>
          <p:nvPr/>
        </p:nvSpPr>
        <p:spPr>
          <a:xfrm>
            <a:off x="6492240" y="4468673"/>
            <a:ext cx="2423160" cy="267919"/>
          </a:xfrm>
          <a:prstGeom prst="roundRect">
            <a:avLst>
              <a:gd name="adj" fmla="val 3413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800" b="1" dirty="0">
                <a:solidFill>
                  <a:srgbClr val="1B2559"/>
                </a:solidFill>
                <a:latin typeface="Segoe UI Semibold" pitchFamily="34" charset="0"/>
                <a:ea typeface="Segoe UI Semibold" pitchFamily="34" charset="-122"/>
                <a:cs typeface="Segoe UI Semibold" pitchFamily="34" charset="-120"/>
              </a:rPr>
              <a:t>e.g. Any other allergies? Tree nuts OK?</a:t>
            </a:r>
            <a:endParaRPr lang="en-US" sz="8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3"/>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04"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205"/>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waiter asks…</a:t>
            </a:r>
            <a:endParaRPr lang="en-US" sz="2500" dirty="0"/>
          </a:p>
        </p:txBody>
      </p:sp>
      <p:pic>
        <p:nvPicPr>
          <p:cNvPr id="6" name="brP_206"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207"/>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 is the waiter. B is the chef. Then swap!</a:t>
            </a:r>
            <a:endParaRPr lang="en-US" sz="1250" dirty="0"/>
          </a:p>
        </p:txBody>
      </p:sp>
      <p:sp>
        <p:nvSpPr>
          <p:cNvPr id="8" name="insIT_20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 è il cameriere. B è lo chef. Poi scambiatevi!</a:t>
            </a:r>
            <a:endParaRPr lang="en-US" sz="950" dirty="0"/>
          </a:p>
        </p:txBody>
      </p:sp>
      <p:sp>
        <p:nvSpPr>
          <p:cNvPr id="9" name="cmd_209"/>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210"/>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10 min   🏆 teams</a:t>
            </a:r>
            <a:endParaRPr lang="en-US" sz="950" dirty="0"/>
          </a:p>
        </p:txBody>
      </p:sp>
      <p:sp>
        <p:nvSpPr>
          <p:cNvPr id="11" name="tag_211"/>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Guided discovery</a:t>
            </a:r>
            <a:endParaRPr lang="en-US" sz="750" dirty="0"/>
          </a:p>
        </p:txBody>
      </p:sp>
      <p:pic>
        <p:nvPicPr>
          <p:cNvPr id="12" name="logo_21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1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L8 · SPEAKING · Role-play</a:t>
            </a:r>
            <a:endParaRPr lang="en-US" sz="800" dirty="0"/>
          </a:p>
        </p:txBody>
      </p:sp>
      <p:sp>
        <p:nvSpPr>
          <p:cNvPr id="14" name="cd_214"/>
          <p:cNvSpPr/>
          <p:nvPr/>
        </p:nvSpPr>
        <p:spPr>
          <a:xfrm>
            <a:off x="320040" y="1417320"/>
            <a:ext cx="2606040" cy="2731008"/>
          </a:xfrm>
          <a:prstGeom prst="roundRect">
            <a:avLst>
              <a:gd name="adj" fmla="val 4912"/>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1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16"/>
          <p:cNvSpPr/>
          <p:nvPr/>
        </p:nvSpPr>
        <p:spPr>
          <a:xfrm>
            <a:off x="886968" y="15087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217"/>
          <p:cNvSpPr/>
          <p:nvPr/>
        </p:nvSpPr>
        <p:spPr>
          <a:xfrm>
            <a:off x="886968" y="1911096"/>
            <a:ext cx="1947672" cy="21640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Let me check.</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I'm afraid it contains…</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I can make it without…</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I can't guarantee it.</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We can offer…</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It's cooked in the same oil.</a:t>
            </a:r>
            <a:endParaRPr lang="en-US" sz="1200" dirty="0"/>
          </a:p>
        </p:txBody>
      </p:sp>
      <p:sp>
        <p:nvSpPr>
          <p:cNvPr id="18" name="who_218"/>
          <p:cNvSpPr/>
          <p:nvPr/>
        </p:nvSpPr>
        <p:spPr>
          <a:xfrm>
            <a:off x="3108960" y="14630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Waiter</a:t>
            </a:r>
            <a:endParaRPr lang="en-US" sz="950" dirty="0"/>
          </a:p>
        </p:txBody>
      </p:sp>
      <p:sp>
        <p:nvSpPr>
          <p:cNvPr id="19" name="sl_219"/>
          <p:cNvSpPr/>
          <p:nvPr/>
        </p:nvSpPr>
        <p:spPr>
          <a:xfrm>
            <a:off x="4114800" y="14447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Chef, table 4 has a nut allergy. Does the pesto contain nuts?</a:t>
            </a:r>
            <a:endParaRPr lang="en-US" sz="1150" dirty="0"/>
          </a:p>
        </p:txBody>
      </p:sp>
      <p:sp>
        <p:nvSpPr>
          <p:cNvPr id="20" name="who_220"/>
          <p:cNvSpPr/>
          <p:nvPr/>
        </p:nvSpPr>
        <p:spPr>
          <a:xfrm>
            <a:off x="3108960" y="19202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Chef</a:t>
            </a:r>
            <a:endParaRPr lang="en-US" sz="950" dirty="0"/>
          </a:p>
        </p:txBody>
      </p:sp>
      <p:sp>
        <p:nvSpPr>
          <p:cNvPr id="21" name="sl_221"/>
          <p:cNvSpPr/>
          <p:nvPr/>
        </p:nvSpPr>
        <p:spPr>
          <a:xfrm>
            <a:off x="4114800" y="19019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Yes, it does – pine nuts. I can make it without nuts.</a:t>
            </a:r>
            <a:endParaRPr lang="en-US" sz="1150" dirty="0"/>
          </a:p>
        </p:txBody>
      </p:sp>
      <p:sp>
        <p:nvSpPr>
          <p:cNvPr id="22" name="who_222"/>
          <p:cNvSpPr/>
          <p:nvPr/>
        </p:nvSpPr>
        <p:spPr>
          <a:xfrm>
            <a:off x="3108960" y="23774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Waiter</a:t>
            </a:r>
            <a:endParaRPr lang="en-US" sz="950" dirty="0"/>
          </a:p>
        </p:txBody>
      </p:sp>
      <p:sp>
        <p:nvSpPr>
          <p:cNvPr id="23" name="sl_223"/>
          <p:cNvSpPr/>
          <p:nvPr/>
        </p:nvSpPr>
        <p:spPr>
          <a:xfrm>
            <a:off x="4114800" y="23591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Great. And is the risotto vegetarian?</a:t>
            </a:r>
            <a:endParaRPr lang="en-US" sz="1150" dirty="0"/>
          </a:p>
        </p:txBody>
      </p:sp>
      <p:sp>
        <p:nvSpPr>
          <p:cNvPr id="24" name="who_224"/>
          <p:cNvSpPr/>
          <p:nvPr/>
        </p:nvSpPr>
        <p:spPr>
          <a:xfrm>
            <a:off x="3108960" y="28346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Chef</a:t>
            </a:r>
            <a:endParaRPr lang="en-US" sz="950" dirty="0"/>
          </a:p>
        </p:txBody>
      </p:sp>
      <p:sp>
        <p:nvSpPr>
          <p:cNvPr id="25" name="sl_225"/>
          <p:cNvSpPr/>
          <p:nvPr/>
        </p:nvSpPr>
        <p:spPr>
          <a:xfrm>
            <a:off x="4114800" y="28163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No, it isn't. We use chicken stock. I can use vegetable stock.</a:t>
            </a:r>
            <a:endParaRPr lang="en-US" sz="1150" dirty="0"/>
          </a:p>
        </p:txBody>
      </p:sp>
      <p:sp>
        <p:nvSpPr>
          <p:cNvPr id="26" name="who_226"/>
          <p:cNvSpPr/>
          <p:nvPr/>
        </p:nvSpPr>
        <p:spPr>
          <a:xfrm>
            <a:off x="3108960" y="32918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Waiter</a:t>
            </a:r>
            <a:endParaRPr lang="en-US" sz="950" dirty="0"/>
          </a:p>
        </p:txBody>
      </p:sp>
      <p:sp>
        <p:nvSpPr>
          <p:cNvPr id="27" name="sl_227"/>
          <p:cNvSpPr/>
          <p:nvPr/>
        </p:nvSpPr>
        <p:spPr>
          <a:xfrm>
            <a:off x="4114800" y="32735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And the tiramisù – is it gluten-free?</a:t>
            </a:r>
            <a:endParaRPr lang="en-US" sz="1150" dirty="0"/>
          </a:p>
        </p:txBody>
      </p:sp>
      <p:sp>
        <p:nvSpPr>
          <p:cNvPr id="28" name="who_228"/>
          <p:cNvSpPr/>
          <p:nvPr/>
        </p:nvSpPr>
        <p:spPr>
          <a:xfrm>
            <a:off x="3108960" y="37490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Chef</a:t>
            </a:r>
            <a:endParaRPr lang="en-US" sz="950" dirty="0"/>
          </a:p>
        </p:txBody>
      </p:sp>
      <p:sp>
        <p:nvSpPr>
          <p:cNvPr id="29" name="sl_229"/>
          <p:cNvSpPr/>
          <p:nvPr/>
        </p:nvSpPr>
        <p:spPr>
          <a:xfrm>
            <a:off x="4114800" y="37307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No. There are biscuits in it. Offer the panna cotta.</a:t>
            </a:r>
            <a:endParaRPr lang="en-US" sz="1150" dirty="0"/>
          </a:p>
        </p:txBody>
      </p:sp>
    </p:spTree>
  </p:cSld>
  <p:clrMapOvr>
    <a:masterClrMapping/>
  </p:clrMapOvr>
  <p:transition spd="med">
    <p:push dir="l"/>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30"/>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31"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232"/>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Allergen detective</a:t>
            </a:r>
            <a:endParaRPr lang="en-US" sz="2500" dirty="0"/>
          </a:p>
        </p:txBody>
      </p:sp>
      <p:pic>
        <p:nvPicPr>
          <p:cNvPr id="6" name="brP_233"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234"/>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Hear the dish. Find ALL the allergens!</a:t>
            </a:r>
            <a:endParaRPr lang="en-US" sz="1250" dirty="0"/>
          </a:p>
        </p:txBody>
      </p:sp>
      <p:sp>
        <p:nvSpPr>
          <p:cNvPr id="8" name="insIT_23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il piatto. Trova TUTTI gli allergeni!</a:t>
            </a:r>
            <a:endParaRPr lang="en-US" sz="950" dirty="0"/>
          </a:p>
        </p:txBody>
      </p:sp>
      <p:sp>
        <p:nvSpPr>
          <p:cNvPr id="9" name="cmd_236"/>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PLAY</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GIOCA</a:t>
            </a:r>
            <a:endParaRPr lang="en-US" sz="950" dirty="0"/>
          </a:p>
        </p:txBody>
      </p:sp>
      <p:sp>
        <p:nvSpPr>
          <p:cNvPr id="10" name="meta_237"/>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8 min   🏆 teams</a:t>
            </a:r>
            <a:endParaRPr lang="en-US" sz="950" dirty="0"/>
          </a:p>
        </p:txBody>
      </p:sp>
      <p:sp>
        <p:nvSpPr>
          <p:cNvPr id="11" name="tag_238"/>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23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4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L8 · GAME · Team game</a:t>
            </a:r>
            <a:endParaRPr lang="en-US" sz="800" dirty="0"/>
          </a:p>
        </p:txBody>
      </p:sp>
      <p:sp>
        <p:nvSpPr>
          <p:cNvPr id="14" name="R1_qb241"/>
          <p:cNvSpPr/>
          <p:nvPr/>
        </p:nvSpPr>
        <p:spPr>
          <a:xfrm>
            <a:off x="57607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5" name="R1_sq242"/>
          <p:cNvSpPr/>
          <p:nvPr/>
        </p:nvSpPr>
        <p:spPr>
          <a:xfrm>
            <a:off x="978408" y="1417320"/>
            <a:ext cx="789127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The teacher says a dish: spaghetti carbonara / fish and chips / pesto genovese / Caesar salad.</a:t>
            </a:r>
            <a:endParaRPr lang="en-US" sz="1400" dirty="0"/>
          </a:p>
        </p:txBody>
      </p:sp>
      <p:sp>
        <p:nvSpPr>
          <p:cNvPr id="16" name="R2_qb243"/>
          <p:cNvSpPr/>
          <p:nvPr/>
        </p:nvSpPr>
        <p:spPr>
          <a:xfrm>
            <a:off x="57607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17" name="R2_sq244"/>
          <p:cNvSpPr/>
          <p:nvPr/>
        </p:nvSpPr>
        <p:spPr>
          <a:xfrm>
            <a:off x="978408" y="2020824"/>
            <a:ext cx="789127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Chefs list the allergens: It contains eggs, milk and gluten.</a:t>
            </a:r>
            <a:endParaRPr lang="en-US" sz="1400" dirty="0"/>
          </a:p>
        </p:txBody>
      </p:sp>
      <p:sp>
        <p:nvSpPr>
          <p:cNvPr id="18" name="R3_qb245"/>
          <p:cNvSpPr/>
          <p:nvPr/>
        </p:nvSpPr>
        <p:spPr>
          <a:xfrm>
            <a:off x="57607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19" name="R3_sq246"/>
          <p:cNvSpPr/>
          <p:nvPr/>
        </p:nvSpPr>
        <p:spPr>
          <a:xfrm>
            <a:off x="978408" y="2624328"/>
            <a:ext cx="789127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Correct allergen = 1 point. Missed allergen = –1!</a:t>
            </a:r>
            <a:endParaRPr lang="en-US" sz="1400" dirty="0"/>
          </a:p>
        </p:txBody>
      </p:sp>
      <p:sp>
        <p:nvSpPr>
          <p:cNvPr id="20" name="R4_qb247"/>
          <p:cNvSpPr/>
          <p:nvPr/>
        </p:nvSpPr>
        <p:spPr>
          <a:xfrm>
            <a:off x="57607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1" name="R4_sq248"/>
          <p:cNvSpPr/>
          <p:nvPr/>
        </p:nvSpPr>
        <p:spPr>
          <a:xfrm>
            <a:off x="978408" y="3227832"/>
            <a:ext cx="789127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Last round: dishes from YOUR restaurant menu.</a:t>
            </a:r>
            <a:endParaRPr lang="en-US" sz="14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par>
                                <p:cTn id="8" presetID="10" presetClass="entr" presetSubtype="0" fill="hold"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400"/>
                                        <p:tgtEl>
                                          <p:spTgt spid="1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00"/>
                                        <p:tgtEl>
                                          <p:spTgt spid="16"/>
                                        </p:tgtEl>
                                      </p:cBhvr>
                                    </p:animEffect>
                                  </p:childTnLst>
                                </p:cTn>
                              </p:par>
                              <p:par>
                                <p:cTn id="16" presetID="10" presetClass="entr" presetSubtype="0" fill="hold" nodeType="with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400"/>
                                        <p:tgtEl>
                                          <p:spTgt spid="1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400"/>
                                        <p:tgtEl>
                                          <p:spTgt spid="18"/>
                                        </p:tgtEl>
                                      </p:cBhvr>
                                    </p:animEffect>
                                  </p:childTnLst>
                                </p:cTn>
                              </p:par>
                              <p:par>
                                <p:cTn id="24" presetID="10" presetClass="entr" presetSubtype="0" fill="hold" nodeType="with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400"/>
                                        <p:tgtEl>
                                          <p:spTgt spid="19"/>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400"/>
                                        <p:tgtEl>
                                          <p:spTgt spid="20"/>
                                        </p:tgtEl>
                                      </p:cBhvr>
                                    </p:animEffect>
                                  </p:childTnLst>
                                </p:cTn>
                              </p:par>
                              <p:par>
                                <p:cTn id="32" presetID="10" presetClass="entr" presetSubtype="0" fill="hold" nodeType="with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49"/>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50"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251"/>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252" descr="/home/claude/lls-course/v2/assets/brush-pink.png">    </p:cNvPr>
          <p:cNvPicPr>
            <a:picLocks noChangeAspect="1"/>
          </p:cNvPicPr>
          <p:nvPr/>
        </p:nvPicPr>
        <p:blipFill>
          <a:blip r:embed="rId3"/>
          <a:stretch>
            <a:fillRect/>
          </a:stretch>
        </p:blipFill>
        <p:spPr>
          <a:xfrm>
            <a:off x="1207008" y="731520"/>
            <a:ext cx="2295144" cy="402336"/>
          </a:xfrm>
          <a:prstGeom prst="rect">
            <a:avLst/>
          </a:prstGeom>
        </p:spPr>
      </p:pic>
      <p:sp>
        <p:nvSpPr>
          <p:cNvPr id="7" name="ins_253"/>
          <p:cNvSpPr/>
          <p:nvPr/>
        </p:nvSpPr>
        <p:spPr>
          <a:xfrm>
            <a:off x="1353312" y="731520"/>
            <a:ext cx="20391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Tell your partner…</a:t>
            </a:r>
            <a:endParaRPr lang="en-US" sz="1250" dirty="0"/>
          </a:p>
        </p:txBody>
      </p:sp>
      <p:sp>
        <p:nvSpPr>
          <p:cNvPr id="8" name="insIT_25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 al collega…</a:t>
            </a:r>
            <a:endParaRPr lang="en-US" sz="950" dirty="0"/>
          </a:p>
        </p:txBody>
      </p:sp>
      <p:sp>
        <p:nvSpPr>
          <p:cNvPr id="9" name="meta_255"/>
          <p:cNvSpPr/>
          <p:nvPr/>
        </p:nvSpPr>
        <p:spPr>
          <a:xfrm>
            <a:off x="6510528" y="18288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0" name="tag_256"/>
          <p:cNvSpPr/>
          <p:nvPr/>
        </p:nvSpPr>
        <p:spPr>
          <a:xfrm>
            <a:off x="6510528" y="54864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Retrieval</a:t>
            </a:r>
            <a:endParaRPr lang="en-US" sz="950" dirty="0"/>
          </a:p>
        </p:txBody>
      </p:sp>
      <p:pic>
        <p:nvPicPr>
          <p:cNvPr id="11" name="logo_25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5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L8 · Exit · what can you remember?</a:t>
            </a:r>
            <a:endParaRPr lang="en-US" sz="800" dirty="0"/>
          </a:p>
        </p:txBody>
      </p:sp>
      <p:sp>
        <p:nvSpPr>
          <p:cNvPr id="13" name="bd_259"/>
          <p:cNvSpPr/>
          <p:nvPr/>
        </p:nvSpPr>
        <p:spPr>
          <a:xfrm>
            <a:off x="457200" y="1508760"/>
            <a:ext cx="777240" cy="7772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260"/>
          <p:cNvSpPr/>
          <p:nvPr/>
        </p:nvSpPr>
        <p:spPr>
          <a:xfrm>
            <a:off x="1417320" y="1581912"/>
            <a:ext cx="3931920" cy="640080"/>
          </a:xfrm>
          <a:prstGeom prst="roundRect">
            <a:avLst>
              <a:gd name="adj" fmla="val 2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3 new words from today.</a:t>
            </a:r>
            <a:endParaRPr lang="en-US" sz="1400" dirty="0"/>
          </a:p>
        </p:txBody>
      </p:sp>
      <p:sp>
        <p:nvSpPr>
          <p:cNvPr id="15" name="bd_261"/>
          <p:cNvSpPr/>
          <p:nvPr/>
        </p:nvSpPr>
        <p:spPr>
          <a:xfrm>
            <a:off x="457200" y="2468880"/>
            <a:ext cx="777240" cy="7772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262"/>
          <p:cNvSpPr/>
          <p:nvPr/>
        </p:nvSpPr>
        <p:spPr>
          <a:xfrm>
            <a:off x="1417320" y="2542032"/>
            <a:ext cx="3931920" cy="640080"/>
          </a:xfrm>
          <a:prstGeom prst="roundRect">
            <a:avLst>
              <a:gd name="adj" fmla="val 2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2 sentences with today's grammar.</a:t>
            </a:r>
            <a:endParaRPr lang="en-US" sz="1400" dirty="0"/>
          </a:p>
        </p:txBody>
      </p:sp>
      <p:sp>
        <p:nvSpPr>
          <p:cNvPr id="17" name="bd_263"/>
          <p:cNvSpPr/>
          <p:nvPr/>
        </p:nvSpPr>
        <p:spPr>
          <a:xfrm>
            <a:off x="457200" y="3429000"/>
            <a:ext cx="777240" cy="7772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264"/>
          <p:cNvSpPr/>
          <p:nvPr/>
        </p:nvSpPr>
        <p:spPr>
          <a:xfrm>
            <a:off x="1417320" y="3502152"/>
            <a:ext cx="3931920" cy="640080"/>
          </a:xfrm>
          <a:prstGeom prst="roundRect">
            <a:avLst>
              <a:gd name="adj" fmla="val 2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1 thing you'll say at work this week.</a:t>
            </a:r>
            <a:endParaRPr lang="en-US" sz="1400" dirty="0"/>
          </a:p>
        </p:txBody>
      </p:sp>
      <p:sp>
        <p:nvSpPr>
          <p:cNvPr id="19" name="cd_265"/>
          <p:cNvSpPr/>
          <p:nvPr/>
        </p:nvSpPr>
        <p:spPr>
          <a:xfrm>
            <a:off x="5669280" y="1417320"/>
            <a:ext cx="3200400" cy="1069848"/>
          </a:xfrm>
          <a:prstGeom prst="roundRect">
            <a:avLst>
              <a:gd name="adj" fmla="val 11966"/>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266"/>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267"/>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268"/>
          <p:cNvSpPr/>
          <p:nvPr/>
        </p:nvSpPr>
        <p:spPr>
          <a:xfrm>
            <a:off x="6236208" y="1911096"/>
            <a:ext cx="2542032" cy="50292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Make an allergen list in English for 5 dishes on your menu.</a:t>
            </a:r>
            <a:endParaRPr lang="en-US" sz="1150" dirty="0"/>
          </a:p>
        </p:txBody>
      </p:sp>
      <p:sp>
        <p:nvSpPr>
          <p:cNvPr id="23" name="st_269"/>
          <p:cNvSpPr/>
          <p:nvPr/>
        </p:nvSpPr>
        <p:spPr>
          <a:xfrm rot="-180000">
            <a:off x="5806440" y="2715768"/>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L9 · Service!</a:t>
            </a:r>
            <a:endParaRPr lang="en-US" sz="1100" dirty="0"/>
          </a:p>
        </p:txBody>
      </p:sp>
    </p:spTree>
  </p:cSld>
  <p:clrMapOvr>
    <a:masterClrMapping/>
  </p:clrMapOvr>
  <p:transition spd="med">
    <p:push dir="l"/>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0"/>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271"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272"/>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273"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274"/>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27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276"/>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THINK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PENSA</a:t>
            </a:r>
            <a:endParaRPr lang="en-US" sz="950" dirty="0"/>
          </a:p>
        </p:txBody>
      </p:sp>
      <p:sp>
        <p:nvSpPr>
          <p:cNvPr id="10" name="meta_277"/>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278"/>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Reflection</a:t>
            </a:r>
            <a:endParaRPr lang="en-US" sz="950" dirty="0"/>
          </a:p>
        </p:txBody>
      </p:sp>
      <p:pic>
        <p:nvPicPr>
          <p:cNvPr id="12" name="logo_27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8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L8 · Review · what did you do today?</a:t>
            </a:r>
            <a:endParaRPr lang="en-US" sz="800" dirty="0"/>
          </a:p>
        </p:txBody>
      </p:sp>
      <p:sp>
        <p:nvSpPr>
          <p:cNvPr id="14" name="cd_281"/>
          <p:cNvSpPr/>
          <p:nvPr/>
        </p:nvSpPr>
        <p:spPr>
          <a:xfrm>
            <a:off x="548640" y="1417320"/>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5" name="te_282"/>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283"/>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Learnt the 14 allergens</a:t>
            </a:r>
            <a:endParaRPr lang="en-US" sz="1350" dirty="0"/>
          </a:p>
        </p:txBody>
      </p:sp>
      <p:sp>
        <p:nvSpPr>
          <p:cNvPr id="17" name="R1_tk284"/>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285"/>
          <p:cNvSpPr/>
          <p:nvPr/>
        </p:nvSpPr>
        <p:spPr>
          <a:xfrm>
            <a:off x="548640" y="2020824"/>
            <a:ext cx="6035040" cy="530352"/>
          </a:xfrm>
          <a:prstGeom prst="roundRect">
            <a:avLst>
              <a:gd name="adj" fmla="val 24138"/>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9" name="te_286"/>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287"/>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Practised Does it contain…? Is it…?</a:t>
            </a:r>
            <a:endParaRPr lang="en-US" sz="1350" dirty="0"/>
          </a:p>
        </p:txBody>
      </p:sp>
      <p:sp>
        <p:nvSpPr>
          <p:cNvPr id="21" name="R2_tk288"/>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289"/>
          <p:cNvSpPr/>
          <p:nvPr/>
        </p:nvSpPr>
        <p:spPr>
          <a:xfrm>
            <a:off x="548640" y="2624328"/>
            <a:ext cx="6035040" cy="530352"/>
          </a:xfrm>
          <a:prstGeom prst="roundRect">
            <a:avLst>
              <a:gd name="adj" fmla="val 24138"/>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3" name="te_290"/>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291"/>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Practised speaking: chef and waiter</a:t>
            </a:r>
            <a:endParaRPr lang="en-US" sz="1350" dirty="0"/>
          </a:p>
        </p:txBody>
      </p:sp>
      <p:sp>
        <p:nvSpPr>
          <p:cNvPr id="25" name="R3_tk292"/>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st_293"/>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dv_294"/>
          <p:cNvSpPr/>
          <p:nvPr/>
        </p:nvSpPr>
        <p:spPr>
          <a:xfrm>
            <a:off x="4023360" y="914400"/>
            <a:ext cx="1097280" cy="914400"/>
          </a:xfrm>
          <a:prstGeom prst="rect">
            <a:avLst/>
          </a:prstGeom>
          <a:noFill/>
          <a:ln/>
        </p:spPr>
        <p:txBody>
          <a:bodyPr wrap="square" lIns="0" tIns="0" rIns="0" bIns="0" rtlCol="0" anchor="ctr"/>
          <a:lstStyle/>
          <a:p>
            <a:pPr algn="ctr" indent="0" marL="0">
              <a:buNone/>
            </a:pPr>
            <a:r>
              <a:rPr lang="en-US" sz="5400" dirty="0">
                <a:solidFill>
                  <a:srgbClr val="000000"/>
                </a:solidFill>
              </a:rPr>
              <a:t>⭐</a:t>
            </a:r>
            <a:endParaRPr lang="en-US" sz="5400" dirty="0"/>
          </a:p>
        </p:txBody>
      </p:sp>
      <p:sp>
        <p:nvSpPr>
          <p:cNvPr id="4" name="dvt_295"/>
          <p:cNvSpPr/>
          <p:nvPr/>
        </p:nvSpPr>
        <p:spPr>
          <a:xfrm>
            <a:off x="914400" y="1828800"/>
            <a:ext cx="7315200" cy="731520"/>
          </a:xfrm>
          <a:prstGeom prst="rect">
            <a:avLst/>
          </a:prstGeom>
          <a:noFill/>
          <a:ln/>
        </p:spPr>
        <p:txBody>
          <a:bodyPr wrap="square" lIns="0" tIns="0" rIns="0" bIns="0" rtlCol="0" anchor="ctr"/>
          <a:lstStyle/>
          <a:p>
            <a:pPr algn="ctr" indent="0" marL="0">
              <a:buNone/>
            </a:pPr>
            <a:r>
              <a:rPr lang="en-US" sz="3400" dirty="0">
                <a:solidFill>
                  <a:srgbClr val="1B2559"/>
                </a:solidFill>
                <a:latin typeface="Arial Rounded MT Bold" pitchFamily="34" charset="0"/>
                <a:ea typeface="Arial Rounded MT Bold" pitchFamily="34" charset="-122"/>
                <a:cs typeface="Arial Rounded MT Bold" pitchFamily="34" charset="-120"/>
              </a:rPr>
              <a:t>Optional extensions</a:t>
            </a:r>
            <a:endParaRPr lang="en-US" sz="3400" dirty="0"/>
          </a:p>
        </p:txBody>
      </p:sp>
      <p:sp>
        <p:nvSpPr>
          <p:cNvPr id="5" name="dvs_296"/>
          <p:cNvSpPr/>
          <p:nvPr/>
        </p:nvSpPr>
        <p:spPr>
          <a:xfrm>
            <a:off x="914400" y="2606040"/>
            <a:ext cx="7315200" cy="457200"/>
          </a:xfrm>
          <a:prstGeom prst="rect">
            <a:avLst/>
          </a:prstGeom>
          <a:noFill/>
          <a:ln/>
        </p:spPr>
        <p:txBody>
          <a:bodyPr wrap="square" lIns="0" tIns="0" rIns="0" bIns="0" rtlCol="0" anchor="ctr"/>
          <a:lstStyle/>
          <a:p>
            <a:pPr algn="ctr" indent="0" marL="0">
              <a:buNone/>
            </a:pPr>
            <a:r>
              <a:rPr lang="en-US" sz="1250" i="1" dirty="0">
                <a:solidFill>
                  <a:srgbClr val="5B6785"/>
                </a:solidFill>
                <a:latin typeface="Segoe UI Semibold" pitchFamily="34" charset="0"/>
                <a:ea typeface="Segoe UI Semibold" pitchFamily="34" charset="-122"/>
                <a:cs typeface="Segoe UI Semibold" pitchFamily="34" charset="-120"/>
              </a:rPr>
              <a:t>Only if there's time – the lesson is finished. · Solo se c'è tempo – la lezione è finita.</a:t>
            </a:r>
            <a:endParaRPr lang="en-US" sz="1250" dirty="0"/>
          </a:p>
        </p:txBody>
      </p:sp>
      <p:pic>
        <p:nvPicPr>
          <p:cNvPr id="6" name="logo_297" descr="/home/claude/lls-course/v2/img/logo.png">    </p:cNvPr>
          <p:cNvPicPr>
            <a:picLocks noChangeAspect="1"/>
          </p:cNvPicPr>
          <p:nvPr/>
        </p:nvPicPr>
        <p:blipFill>
          <a:blip r:embed="rId2"/>
          <a:stretch>
            <a:fillRect/>
          </a:stretch>
        </p:blipFill>
        <p:spPr>
          <a:xfrm>
            <a:off x="8485632" y="4526280"/>
            <a:ext cx="502920" cy="502920"/>
          </a:xfrm>
          <a:prstGeom prst="rect">
            <a:avLst/>
          </a:prstGeom>
        </p:spPr>
      </p:pic>
    </p:spTree>
  </p:cSld>
  <p:clrMapOvr>
    <a:masterClrMapping/>
  </p:clrMapOvr>
  <p:transition spd="med">
    <p:push dir="l"/>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98"/>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299"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300"/>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Menu makeover</a:t>
            </a:r>
            <a:endParaRPr lang="en-US" sz="2400" dirty="0"/>
          </a:p>
        </p:txBody>
      </p:sp>
      <p:pic>
        <p:nvPicPr>
          <p:cNvPr id="6" name="brP_301"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302"/>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Make the dish safe for the customer. What do you change?</a:t>
            </a:r>
            <a:endParaRPr lang="en-US" sz="1250" dirty="0"/>
          </a:p>
        </p:txBody>
      </p:sp>
      <p:sp>
        <p:nvSpPr>
          <p:cNvPr id="8" name="insIT_30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Rendi il piatto sicuro per il cliente. Cosa cambi?</a:t>
            </a:r>
            <a:endParaRPr lang="en-US" sz="950" dirty="0"/>
          </a:p>
        </p:txBody>
      </p:sp>
      <p:sp>
        <p:nvSpPr>
          <p:cNvPr id="9" name="cmd_304"/>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305"/>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6 min   👥 pairs</a:t>
            </a:r>
            <a:endParaRPr lang="en-US" sz="950" dirty="0"/>
          </a:p>
        </p:txBody>
      </p:sp>
      <p:sp>
        <p:nvSpPr>
          <p:cNvPr id="11" name="tag_306"/>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30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0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L8 · SPEAKING · Problem solving</a:t>
            </a:r>
            <a:endParaRPr lang="en-US" sz="800" dirty="0"/>
          </a:p>
        </p:txBody>
      </p:sp>
      <p:sp>
        <p:nvSpPr>
          <p:cNvPr id="14" name="ext_309"/>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5" name="R1_qb310"/>
          <p:cNvSpPr/>
          <p:nvPr/>
        </p:nvSpPr>
        <p:spPr>
          <a:xfrm>
            <a:off x="57607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6" name="R1_sq311"/>
          <p:cNvSpPr/>
          <p:nvPr/>
        </p:nvSpPr>
        <p:spPr>
          <a:xfrm>
            <a:off x="978408" y="1417320"/>
            <a:ext cx="7891272" cy="483108"/>
          </a:xfrm>
          <a:prstGeom prst="roundRect">
            <a:avLst>
              <a:gd name="adj" fmla="val 22713"/>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pasta alla carbonara → vegan</a:t>
            </a:r>
            <a:endParaRPr lang="en-US" sz="1400" dirty="0"/>
          </a:p>
        </p:txBody>
      </p:sp>
      <p:sp>
        <p:nvSpPr>
          <p:cNvPr id="17" name="R2_qb312"/>
          <p:cNvSpPr/>
          <p:nvPr/>
        </p:nvSpPr>
        <p:spPr>
          <a:xfrm>
            <a:off x="576072" y="201015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18" name="R2_sq313"/>
          <p:cNvSpPr/>
          <p:nvPr/>
        </p:nvSpPr>
        <p:spPr>
          <a:xfrm>
            <a:off x="978408" y="1973580"/>
            <a:ext cx="7891272" cy="483108"/>
          </a:xfrm>
          <a:prstGeom prst="roundRect">
            <a:avLst>
              <a:gd name="adj" fmla="val 22713"/>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arancine → gluten-free</a:t>
            </a:r>
            <a:endParaRPr lang="en-US" sz="1400" dirty="0"/>
          </a:p>
        </p:txBody>
      </p:sp>
      <p:sp>
        <p:nvSpPr>
          <p:cNvPr id="19" name="R3_qb314"/>
          <p:cNvSpPr/>
          <p:nvPr/>
        </p:nvSpPr>
        <p:spPr>
          <a:xfrm>
            <a:off x="576072" y="2566416"/>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0" name="R3_sq315"/>
          <p:cNvSpPr/>
          <p:nvPr/>
        </p:nvSpPr>
        <p:spPr>
          <a:xfrm>
            <a:off x="978408" y="2529840"/>
            <a:ext cx="7891272" cy="483108"/>
          </a:xfrm>
          <a:prstGeom prst="roundRect">
            <a:avLst>
              <a:gd name="adj" fmla="val 22713"/>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tiramisù → dairy-free</a:t>
            </a:r>
            <a:endParaRPr lang="en-US" sz="1400" dirty="0"/>
          </a:p>
        </p:txBody>
      </p:sp>
      <p:sp>
        <p:nvSpPr>
          <p:cNvPr id="21" name="R4_qb316"/>
          <p:cNvSpPr/>
          <p:nvPr/>
        </p:nvSpPr>
        <p:spPr>
          <a:xfrm>
            <a:off x="576072" y="3122676"/>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2" name="R4_sq317"/>
          <p:cNvSpPr/>
          <p:nvPr/>
        </p:nvSpPr>
        <p:spPr>
          <a:xfrm>
            <a:off x="978408" y="3086100"/>
            <a:ext cx="7891272" cy="483108"/>
          </a:xfrm>
          <a:prstGeom prst="roundRect">
            <a:avLst>
              <a:gd name="adj" fmla="val 22713"/>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pasta con le sarde → vegetarian</a:t>
            </a:r>
            <a:endParaRPr lang="en-US" sz="1400" dirty="0"/>
          </a:p>
        </p:txBody>
      </p:sp>
      <p:sp>
        <p:nvSpPr>
          <p:cNvPr id="23" name="R5_qb318"/>
          <p:cNvSpPr/>
          <p:nvPr/>
        </p:nvSpPr>
        <p:spPr>
          <a:xfrm>
            <a:off x="576072" y="367893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4" name="R5_sq319"/>
          <p:cNvSpPr/>
          <p:nvPr/>
        </p:nvSpPr>
        <p:spPr>
          <a:xfrm>
            <a:off x="978408" y="3642360"/>
            <a:ext cx="7891272" cy="483108"/>
          </a:xfrm>
          <a:prstGeom prst="roundRect">
            <a:avLst>
              <a:gd name="adj" fmla="val 22713"/>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cannoli → nut-free</a:t>
            </a:r>
            <a:endParaRPr lang="en-US" sz="1400" dirty="0"/>
          </a:p>
        </p:txBody>
      </p:sp>
      <p:sp>
        <p:nvSpPr>
          <p:cNvPr id="25" name="R6_qb320"/>
          <p:cNvSpPr/>
          <p:nvPr/>
        </p:nvSpPr>
        <p:spPr>
          <a:xfrm>
            <a:off x="576072" y="423519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26" name="R6_sq321"/>
          <p:cNvSpPr/>
          <p:nvPr/>
        </p:nvSpPr>
        <p:spPr>
          <a:xfrm>
            <a:off x="978408" y="4198620"/>
            <a:ext cx="7891272" cy="483108"/>
          </a:xfrm>
          <a:prstGeom prst="roundRect">
            <a:avLst>
              <a:gd name="adj" fmla="val 22713"/>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Caesar salad → fish-free</a:t>
            </a:r>
            <a:endParaRPr lang="en-US" sz="14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par>
                                <p:cTn id="8" presetID="10" presetClass="entr" presetSubtype="0" fill="hold"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400"/>
                                        <p:tgtEl>
                                          <p:spTgt spid="1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400"/>
                                        <p:tgtEl>
                                          <p:spTgt spid="17"/>
                                        </p:tgtEl>
                                      </p:cBhvr>
                                    </p:animEffect>
                                  </p:childTnLst>
                                </p:cTn>
                              </p:par>
                              <p:par>
                                <p:cTn id="16" presetID="10" presetClass="entr" presetSubtype="0" fill="hold" nodeType="with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400"/>
                                        <p:tgtEl>
                                          <p:spTgt spid="1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9"/>
                                        </p:tgtEl>
                                        <p:attrNameLst>
                                          <p:attrName>style.visibility</p:attrName>
                                        </p:attrNameLst>
                                      </p:cBhvr>
                                      <p:to>
                                        <p:strVal val="visible"/>
                                      </p:to>
                                    </p:set>
                                    <p:animEffect transition="in" filter="fade">
                                      <p:cBhvr>
                                        <p:cTn id="23" dur="400"/>
                                        <p:tgtEl>
                                          <p:spTgt spid="19"/>
                                        </p:tgtEl>
                                      </p:cBhvr>
                                    </p:animEffect>
                                  </p:childTnLst>
                                </p:cTn>
                              </p:par>
                              <p:par>
                                <p:cTn id="24" presetID="10" presetClass="entr" presetSubtype="0" fill="hold" nodeType="withEffect">
                                  <p:stCondLst>
                                    <p:cond delay="0"/>
                                  </p:stCondLst>
                                  <p:childTnLst>
                                    <p:set>
                                      <p:cBhvr>
                                        <p:cTn id="25" dur="1" fill="hold">
                                          <p:stCondLst>
                                            <p:cond delay="0"/>
                                          </p:stCondLst>
                                        </p:cTn>
                                        <p:tgtEl>
                                          <p:spTgt spid="20"/>
                                        </p:tgtEl>
                                        <p:attrNameLst>
                                          <p:attrName>style.visibility</p:attrName>
                                        </p:attrNameLst>
                                      </p:cBhvr>
                                      <p:to>
                                        <p:strVal val="visible"/>
                                      </p:to>
                                    </p:set>
                                    <p:animEffect transition="in" filter="fade">
                                      <p:cBhvr>
                                        <p:cTn id="26" dur="400"/>
                                        <p:tgtEl>
                                          <p:spTgt spid="2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3"/>
                                        </p:tgtEl>
                                        <p:attrNameLst>
                                          <p:attrName>style.visibility</p:attrName>
                                        </p:attrNameLst>
                                      </p:cBhvr>
                                      <p:to>
                                        <p:strVal val="visible"/>
                                      </p:to>
                                    </p:set>
                                    <p:animEffect transition="in" filter="fade">
                                      <p:cBhvr>
                                        <p:cTn id="39" dur="400"/>
                                        <p:tgtEl>
                                          <p:spTgt spid="23"/>
                                        </p:tgtEl>
                                      </p:cBhvr>
                                    </p:animEffect>
                                  </p:childTnLst>
                                </p:cTn>
                              </p:par>
                              <p:par>
                                <p:cTn id="40" presetID="10" presetClass="entr" presetSubtype="0" fill="hold" nodeType="withEffect">
                                  <p:stCondLst>
                                    <p:cond delay="0"/>
                                  </p:stCondLst>
                                  <p:childTnLst>
                                    <p:set>
                                      <p:cBhvr>
                                        <p:cTn id="41" dur="1" fill="hold">
                                          <p:stCondLst>
                                            <p:cond delay="0"/>
                                          </p:stCondLst>
                                        </p:cTn>
                                        <p:tgtEl>
                                          <p:spTgt spid="24"/>
                                        </p:tgtEl>
                                        <p:attrNameLst>
                                          <p:attrName>style.visibility</p:attrName>
                                        </p:attrNameLst>
                                      </p:cBhvr>
                                      <p:to>
                                        <p:strVal val="visible"/>
                                      </p:to>
                                    </p:set>
                                    <p:animEffect transition="in" filter="fade">
                                      <p:cBhvr>
                                        <p:cTn id="42" dur="400"/>
                                        <p:tgtEl>
                                          <p:spTgt spid="2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5"/>
                                        </p:tgtEl>
                                        <p:attrNameLst>
                                          <p:attrName>style.visibility</p:attrName>
                                        </p:attrNameLst>
                                      </p:cBhvr>
                                      <p:to>
                                        <p:strVal val="visible"/>
                                      </p:to>
                                    </p:set>
                                    <p:animEffect transition="in" filter="fade">
                                      <p:cBhvr>
                                        <p:cTn id="47" dur="400"/>
                                        <p:tgtEl>
                                          <p:spTgt spid="25"/>
                                        </p:tgtEl>
                                      </p:cBhvr>
                                    </p:animEffect>
                                  </p:childTnLst>
                                </p:cTn>
                              </p:par>
                              <p:par>
                                <p:cTn id="48" presetID="10" presetClass="entr" presetSubtype="0" fill="hold" nodeType="with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fade">
                                      <p:cBhvr>
                                        <p:cTn id="5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2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323"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324"/>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 difficult customer</a:t>
            </a:r>
            <a:endParaRPr lang="en-US" sz="2500" dirty="0"/>
          </a:p>
        </p:txBody>
      </p:sp>
      <p:pic>
        <p:nvPicPr>
          <p:cNvPr id="6" name="brP_325"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326"/>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Tell a story about a difficult order. (Only what you want to share!)</a:t>
            </a:r>
            <a:endParaRPr lang="en-US" sz="1100" dirty="0"/>
          </a:p>
        </p:txBody>
      </p:sp>
      <p:sp>
        <p:nvSpPr>
          <p:cNvPr id="8" name="insIT_32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Racconta un ordine difficile. (Solo quello che vuoi!)</a:t>
            </a:r>
            <a:endParaRPr lang="en-US" sz="950" dirty="0"/>
          </a:p>
        </p:txBody>
      </p:sp>
      <p:sp>
        <p:nvSpPr>
          <p:cNvPr id="9" name="cmd_328"/>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329"/>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6 min   👥 pairs</a:t>
            </a:r>
            <a:endParaRPr lang="en-US" sz="950" dirty="0"/>
          </a:p>
        </p:txBody>
      </p:sp>
      <p:sp>
        <p:nvSpPr>
          <p:cNvPr id="11" name="tag_330"/>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33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3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L8 · Speaking · experiences</a:t>
            </a:r>
            <a:endParaRPr lang="en-US" sz="800" dirty="0"/>
          </a:p>
        </p:txBody>
      </p:sp>
      <p:sp>
        <p:nvSpPr>
          <p:cNvPr id="14" name="ext_333"/>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5" name="R1_qb334"/>
          <p:cNvSpPr/>
          <p:nvPr/>
        </p:nvSpPr>
        <p:spPr>
          <a:xfrm>
            <a:off x="57607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6" name="R1_sq335"/>
          <p:cNvSpPr/>
          <p:nvPr/>
        </p:nvSpPr>
        <p:spPr>
          <a:xfrm>
            <a:off x="978408" y="1417320"/>
            <a:ext cx="789127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What did the customer ask for?</a:t>
            </a:r>
            <a:endParaRPr lang="en-US" sz="1400" dirty="0"/>
          </a:p>
        </p:txBody>
      </p:sp>
      <p:sp>
        <p:nvSpPr>
          <p:cNvPr id="17" name="R2_qb336"/>
          <p:cNvSpPr/>
          <p:nvPr/>
        </p:nvSpPr>
        <p:spPr>
          <a:xfrm>
            <a:off x="57607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18" name="R2_sq337"/>
          <p:cNvSpPr/>
          <p:nvPr/>
        </p:nvSpPr>
        <p:spPr>
          <a:xfrm>
            <a:off x="978408" y="2020824"/>
            <a:ext cx="789127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What was the problem?</a:t>
            </a:r>
            <a:endParaRPr lang="en-US" sz="1400" dirty="0"/>
          </a:p>
        </p:txBody>
      </p:sp>
      <p:sp>
        <p:nvSpPr>
          <p:cNvPr id="19" name="R3_qb338"/>
          <p:cNvSpPr/>
          <p:nvPr/>
        </p:nvSpPr>
        <p:spPr>
          <a:xfrm>
            <a:off x="57607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0" name="R3_sq339"/>
          <p:cNvSpPr/>
          <p:nvPr/>
        </p:nvSpPr>
        <p:spPr>
          <a:xfrm>
            <a:off x="978408" y="2624328"/>
            <a:ext cx="789127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What did you do?</a:t>
            </a:r>
            <a:endParaRPr lang="en-US" sz="1400" dirty="0"/>
          </a:p>
        </p:txBody>
      </p:sp>
      <p:sp>
        <p:nvSpPr>
          <p:cNvPr id="21" name="R4_qb340"/>
          <p:cNvSpPr/>
          <p:nvPr/>
        </p:nvSpPr>
        <p:spPr>
          <a:xfrm>
            <a:off x="57607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2" name="R4_sq341"/>
          <p:cNvSpPr/>
          <p:nvPr/>
        </p:nvSpPr>
        <p:spPr>
          <a:xfrm>
            <a:off x="978408" y="3227832"/>
            <a:ext cx="789127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Would you do the same again?</a:t>
            </a:r>
            <a:endParaRPr lang="en-US" sz="14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par>
                                <p:cTn id="8" presetID="10" presetClass="entr" presetSubtype="0" fill="hold"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400"/>
                                        <p:tgtEl>
                                          <p:spTgt spid="1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400"/>
                                        <p:tgtEl>
                                          <p:spTgt spid="17"/>
                                        </p:tgtEl>
                                      </p:cBhvr>
                                    </p:animEffect>
                                  </p:childTnLst>
                                </p:cTn>
                              </p:par>
                              <p:par>
                                <p:cTn id="16" presetID="10" presetClass="entr" presetSubtype="0" fill="hold" nodeType="with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400"/>
                                        <p:tgtEl>
                                          <p:spTgt spid="1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9"/>
                                        </p:tgtEl>
                                        <p:attrNameLst>
                                          <p:attrName>style.visibility</p:attrName>
                                        </p:attrNameLst>
                                      </p:cBhvr>
                                      <p:to>
                                        <p:strVal val="visible"/>
                                      </p:to>
                                    </p:set>
                                    <p:animEffect transition="in" filter="fade">
                                      <p:cBhvr>
                                        <p:cTn id="23" dur="400"/>
                                        <p:tgtEl>
                                          <p:spTgt spid="19"/>
                                        </p:tgtEl>
                                      </p:cBhvr>
                                    </p:animEffect>
                                  </p:childTnLst>
                                </p:cTn>
                              </p:par>
                              <p:par>
                                <p:cTn id="24" presetID="10" presetClass="entr" presetSubtype="0" fill="hold" nodeType="withEffect">
                                  <p:stCondLst>
                                    <p:cond delay="0"/>
                                  </p:stCondLst>
                                  <p:childTnLst>
                                    <p:set>
                                      <p:cBhvr>
                                        <p:cTn id="25" dur="1" fill="hold">
                                          <p:stCondLst>
                                            <p:cond delay="0"/>
                                          </p:stCondLst>
                                        </p:cTn>
                                        <p:tgtEl>
                                          <p:spTgt spid="20"/>
                                        </p:tgtEl>
                                        <p:attrNameLst>
                                          <p:attrName>style.visibility</p:attrName>
                                        </p:attrNameLst>
                                      </p:cBhvr>
                                      <p:to>
                                        <p:strVal val="visible"/>
                                      </p:to>
                                    </p:set>
                                    <p:animEffect transition="in" filter="fade">
                                      <p:cBhvr>
                                        <p:cTn id="26" dur="400"/>
                                        <p:tgtEl>
                                          <p:spTgt spid="2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L8 Allergens &amp; diets</dc:title>
  <dc:subject>PptxGenJS Presentation</dc:subject>
  <dc:creator>PptxGenJS</dc:creator>
  <cp:lastModifiedBy>PptxGenJS</cp:lastModifiedBy>
  <cp:revision>1</cp:revision>
  <dcterms:created xsi:type="dcterms:W3CDTF">2026-10-20T06:41:58Z</dcterms:created>
  <dcterms:modified xsi:type="dcterms:W3CDTF">2026-10-20T06:41:58Z</dcterms:modified>
</cp:coreProperties>
</file>