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6 (60 min). Aims: saying kitchen numbers, How much / how many / how long, can / can't / could. (2 min)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REVISION (5 min). VARIATION: reverse the obvious. Students use the key words; click once per line to check. Then quick-fire: bake or roast? a cake / a chicken / bread / potatoes.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NUMBERS (6 min). Then micro-challenge: count DOWN from 250 degrees in 20s (250, 230, 210…) — fastest without mistakes wins. Watch out: two hundred grams (not hundreds); one and a half kilos (not one kilo and half).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SPEAKING (8 min). Match orally, click 1. Then each chef chooses one dish from their menu and the partner asks all 6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VOCABULARY (6 min). Click 1. Examples: Marinate the lamb overnight. Prepare the sauce in advance. Table 6 changed their order at the last minute!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 (5 min). Pronunciation: can /kən/ in sentences, can't /kɑːnt/ — stress helps them hear the difference.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 PRACTICE (5 min). Click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(6 min). Students read the temperatures aloud correctly (minus eighteen degrees). Links to next lesson (health &amp; safety). Click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CHALLENGE (5 min). × 3. Students must say the full answer, not just the number. Click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(8 min). Teacher: read similar pairs to make them listen (15 / 50 minutes, 13 / 30 degrees).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 (3 min). Homework sheet L6 in the portal.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SPEAKING (6 min). VARIATION: personalisation + follow-ups. Answers to report: Analisa can… but she can't…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EXTRA (6 min). Students say 'I think it's about…'. Click 1 for answers.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velFrame_1"/>
          <p:cNvSpPr/>
          <p:nvPr/>
        </p:nvSpPr>
        <p:spPr>
          <a:xfrm>
            <a:off x="54864" y="54864"/>
            <a:ext cx="9034272" cy="5033772"/>
          </a:xfrm>
          <a:prstGeom prst="rect">
            <a:avLst/>
          </a:prstGeom>
          <a:ln w="114300">
            <a:solidFill>
              <a:srgbClr val="C9B3F0"/>
            </a:solidFill>
            <a:prstDash val="solid"/>
          </a:ln>
        </p:spPr>
      </p:sp>
      <p:sp>
        <p:nvSpPr>
          <p:cNvPr id="3" name="logoBack_2"/>
          <p:cNvSpPr/>
          <p:nvPr/>
        </p:nvSpPr>
        <p:spPr>
          <a:xfrm>
            <a:off x="8229600" y="155448"/>
            <a:ext cx="676656" cy="67665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C9B3F0"/>
            </a:solidFill>
            <a:prstDash val="solid"/>
          </a:ln>
        </p:spPr>
      </p:sp>
      <p:pic>
        <p:nvPicPr>
          <p:cNvPr id="4" name="logo_3" descr="London Language School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82880"/>
            <a:ext cx="585216" cy="585216"/>
          </a:xfrm>
          <a:prstGeom prst="rect">
            <a:avLst/>
          </a:prstGeom>
        </p:spPr>
      </p:pic>
      <p:sp>
        <p:nvSpPr>
          <p:cNvPr id="5" name="footer_4"/>
          <p:cNvSpPr txBox="1"/>
          <p:nvPr/>
        </p:nvSpPr>
        <p:spPr>
          <a:xfrm>
            <a:off x="7132320" y="4818888"/>
            <a:ext cx="1737360" cy="219456"/>
          </a:xfrm>
          <a:prstGeom prst="rect">
            <a:avLst/>
          </a:prstGeom>
          <a:solidFill>
            <a:srgbClr val="2B24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9E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 English · L6</a:t>
            </a:r>
            <a:endParaRPr lang="en-US" sz="1000" dirty="0"/>
          </a:p>
        </p:txBody>
      </p:sp>
      <p:sp>
        <p:nvSpPr>
          <p:cNvPr id="6" name="unit_5"/>
          <p:cNvSpPr txBox="1"/>
          <p:nvPr/>
        </p:nvSpPr>
        <p:spPr>
          <a:xfrm>
            <a:off x="411480" y="32004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FFD84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L6</a:t>
            </a:r>
            <a:endParaRPr lang="en-US" sz="5400" dirty="0"/>
          </a:p>
        </p:txBody>
      </p:sp>
      <p:sp>
        <p:nvSpPr>
          <p:cNvPr id="7" name="course_6"/>
          <p:cNvSpPr txBox="1"/>
          <p:nvPr/>
        </p:nvSpPr>
        <p:spPr>
          <a:xfrm>
            <a:off x="1828800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9E2F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KITCHEN ENGLISH · Lesson 6 of 10</a:t>
            </a:r>
            <a:endParaRPr lang="en-US" sz="1200" dirty="0"/>
          </a:p>
        </p:txBody>
      </p:sp>
      <p:sp>
        <p:nvSpPr>
          <p:cNvPr id="8" name="title_7"/>
          <p:cNvSpPr txBox="1"/>
          <p:nvPr/>
        </p:nvSpPr>
        <p:spPr>
          <a:xfrm rot="-180000">
            <a:off x="411480" y="1325880"/>
            <a:ext cx="4096512" cy="777240"/>
          </a:xfrm>
          <a:prstGeom prst="rect">
            <a:avLst/>
          </a:prstGeom>
          <a:solidFill>
            <a:srgbClr val="FFD84D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152400" tIns="152400" rIns="152400" bIns="15240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NUMBERS &amp; TIME</a:t>
            </a:r>
            <a:endParaRPr lang="en-US" sz="2800" dirty="0"/>
          </a:p>
        </p:txBody>
      </p:sp>
      <p:sp>
        <p:nvSpPr>
          <p:cNvPr id="9" name="stamp_8"/>
          <p:cNvSpPr txBox="1"/>
          <p:nvPr/>
        </p:nvSpPr>
        <p:spPr>
          <a:xfrm>
            <a:off x="457200" y="2468880"/>
            <a:ext cx="4197096" cy="384048"/>
          </a:xfrm>
          <a:prstGeom prst="roundRect">
            <a:avLst>
              <a:gd name="adj" fmla="val 14286"/>
            </a:avLst>
          </a:prstGeom>
          <a:solidFill>
            <a:srgbClr val="2B2440"/>
          </a:solidFill>
          <a:ln w="38100">
            <a:solidFill>
              <a:srgbClr val="48BDF2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NUMBERS · weights, temperatures, times</a:t>
            </a:r>
            <a:endParaRPr lang="en-US" sz="1200" dirty="0"/>
          </a:p>
        </p:txBody>
      </p:sp>
      <p:sp>
        <p:nvSpPr>
          <p:cNvPr id="10" name="stamp_9"/>
          <p:cNvSpPr txBox="1"/>
          <p:nvPr/>
        </p:nvSpPr>
        <p:spPr>
          <a:xfrm>
            <a:off x="457200" y="2944368"/>
            <a:ext cx="3332988" cy="384048"/>
          </a:xfrm>
          <a:prstGeom prst="roundRect">
            <a:avLst>
              <a:gd name="adj" fmla="val 14286"/>
            </a:avLst>
          </a:prstGeom>
          <a:solidFill>
            <a:srgbClr val="2B2440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GRAMMAR · can / can't / could</a:t>
            </a:r>
            <a:endParaRPr lang="en-US" sz="1200" dirty="0"/>
          </a:p>
        </p:txBody>
      </p:sp>
      <p:sp>
        <p:nvSpPr>
          <p:cNvPr id="11" name="stamp_10"/>
          <p:cNvSpPr txBox="1"/>
          <p:nvPr/>
        </p:nvSpPr>
        <p:spPr>
          <a:xfrm>
            <a:off x="457200" y="3419856"/>
            <a:ext cx="3429000" cy="384048"/>
          </a:xfrm>
          <a:prstGeom prst="roundRect">
            <a:avLst>
              <a:gd name="adj" fmla="val 14286"/>
            </a:avLst>
          </a:prstGeom>
          <a:solidFill>
            <a:srgbClr val="2B2440"/>
          </a:solidFill>
          <a:ln w="38100">
            <a:solidFill>
              <a:srgbClr val="EF2F2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SPEAKING · How long? How much?</a:t>
            </a:r>
            <a:endParaRPr lang="en-US" sz="1200" dirty="0"/>
          </a:p>
        </p:txBody>
      </p:sp>
      <p:sp>
        <p:nvSpPr>
          <p:cNvPr id="12" name="iconBack_11"/>
          <p:cNvSpPr/>
          <p:nvPr/>
        </p:nvSpPr>
        <p:spPr>
          <a:xfrm>
            <a:off x="5669280" y="685800"/>
            <a:ext cx="1737360" cy="1737360"/>
          </a:xfrm>
          <a:prstGeom prst="ellipse">
            <a:avLst/>
          </a:prstGeom>
          <a:solidFill>
            <a:srgbClr val="FFD84D"/>
          </a:solidFill>
          <a:ln w="31750">
            <a:solidFill>
              <a:srgbClr val="111111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pic>
        <p:nvPicPr>
          <p:cNvPr id="13" name="icon_12" descr="therm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6752" y="1033272"/>
            <a:ext cx="1042416" cy="1042416"/>
          </a:xfrm>
          <a:prstGeom prst="rect">
            <a:avLst/>
          </a:prstGeom>
        </p:spPr>
      </p:pic>
      <p:sp>
        <p:nvSpPr>
          <p:cNvPr id="14" name="iconBack_13"/>
          <p:cNvSpPr/>
          <p:nvPr/>
        </p:nvSpPr>
        <p:spPr>
          <a:xfrm>
            <a:off x="7315200" y="150876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11111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pic>
        <p:nvPicPr>
          <p:cNvPr id="15" name="icon_14" descr="scal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4656" y="1728216"/>
            <a:ext cx="658368" cy="658368"/>
          </a:xfrm>
          <a:prstGeom prst="rect">
            <a:avLst/>
          </a:prstGeom>
        </p:spPr>
      </p:pic>
      <p:sp>
        <p:nvSpPr>
          <p:cNvPr id="16" name="iconBack_15"/>
          <p:cNvSpPr/>
          <p:nvPr/>
        </p:nvSpPr>
        <p:spPr>
          <a:xfrm>
            <a:off x="5486400" y="2514600"/>
            <a:ext cx="960120" cy="960120"/>
          </a:xfrm>
          <a:prstGeom prst="ellipse">
            <a:avLst/>
          </a:prstGeom>
          <a:solidFill>
            <a:srgbClr val="C9B3F0"/>
          </a:solidFill>
          <a:ln w="31750">
            <a:solidFill>
              <a:srgbClr val="111111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pic>
        <p:nvPicPr>
          <p:cNvPr id="17" name="icon_16" descr="tim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78424" y="2706624"/>
            <a:ext cx="576072" cy="576072"/>
          </a:xfrm>
          <a:prstGeom prst="rect">
            <a:avLst/>
          </a:prstGeom>
        </p:spPr>
      </p:pic>
      <p:sp>
        <p:nvSpPr>
          <p:cNvPr id="18" name="R1_q"/>
          <p:cNvSpPr txBox="1"/>
          <p:nvPr/>
        </p:nvSpPr>
        <p:spPr>
          <a:xfrm>
            <a:off x="5120640" y="3337560"/>
            <a:ext cx="2377440" cy="777240"/>
          </a:xfrm>
          <a:prstGeom prst="wedgeRoundRectCallout">
            <a:avLst/>
          </a:prstGeom>
          <a:solidFill>
            <a:srgbClr val="48BDF2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does it take?</a:t>
            </a:r>
            <a:endParaRPr lang="en-US" sz="1400" dirty="0"/>
          </a:p>
        </p:txBody>
      </p:sp>
      <p:sp>
        <p:nvSpPr>
          <p:cNvPr id="19" name="R2_a"/>
          <p:cNvSpPr txBox="1"/>
          <p:nvPr/>
        </p:nvSpPr>
        <p:spPr>
          <a:xfrm>
            <a:off x="6629400" y="4069080"/>
            <a:ext cx="2148840" cy="594360"/>
          </a:xfrm>
          <a:prstGeom prst="wedgeRoundRectCallout">
            <a:avLst/>
          </a:prstGeom>
          <a:solidFill>
            <a:srgbClr val="FFD84D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25 minutes at 180 degrees.</a:t>
            </a:r>
            <a:endParaRPr lang="en-US" sz="1300" dirty="0"/>
          </a:p>
        </p:txBody>
      </p:sp>
      <p:sp>
        <p:nvSpPr>
          <p:cNvPr id="20" name="tnote_17"/>
          <p:cNvSpPr txBox="1"/>
          <p:nvPr/>
        </p:nvSpPr>
        <p:spPr>
          <a:xfrm>
            <a:off x="411480" y="4773168"/>
            <a:ext cx="5029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E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Teacher: timings, answers and tips are in the slide notes.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velFrame_18"/>
          <p:cNvSpPr/>
          <p:nvPr/>
        </p:nvSpPr>
        <p:spPr>
          <a:xfrm>
            <a:off x="54864" y="54864"/>
            <a:ext cx="9034272" cy="5033772"/>
          </a:xfrm>
          <a:prstGeom prst="rect">
            <a:avLst/>
          </a:prstGeom>
          <a:ln w="114300">
            <a:solidFill>
              <a:srgbClr val="C9B3F0"/>
            </a:solidFill>
            <a:prstDash val="solid"/>
          </a:ln>
        </p:spPr>
      </p:sp>
      <p:pic>
        <p:nvPicPr>
          <p:cNvPr id="3" name="logo_19" descr="London Language School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82880"/>
            <a:ext cx="585216" cy="585216"/>
          </a:xfrm>
          <a:prstGeom prst="rect">
            <a:avLst/>
          </a:prstGeom>
        </p:spPr>
      </p:pic>
      <p:sp>
        <p:nvSpPr>
          <p:cNvPr id="4" name="objective_20"/>
          <p:cNvSpPr txBox="1"/>
          <p:nvPr/>
        </p:nvSpPr>
        <p:spPr>
          <a:xfrm>
            <a:off x="320040" y="182880"/>
            <a:ext cx="4754880" cy="365760"/>
          </a:xfrm>
          <a:prstGeom prst="roundRect">
            <a:avLst>
              <a:gd name="adj" fmla="val 20000"/>
            </a:avLst>
          </a:prstGeom>
          <a:solidFill>
            <a:srgbClr val="062F67"/>
          </a:solidFill>
          <a:ln w="31750">
            <a:solidFill>
              <a:srgbClr val="111111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REVISION · Lesson 5</a:t>
            </a:r>
            <a:endParaRPr lang="en-US" sz="1100" dirty="0"/>
          </a:p>
        </p:txBody>
      </p:sp>
      <p:sp>
        <p:nvSpPr>
          <p:cNvPr id="5" name="timer_21"/>
          <p:cNvSpPr txBox="1"/>
          <p:nvPr/>
        </p:nvSpPr>
        <p:spPr>
          <a:xfrm>
            <a:off x="7086600" y="219456"/>
            <a:ext cx="100584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25400">
            <a:solidFill>
              <a:srgbClr val="6D3FC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3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5 min</a:t>
            </a:r>
            <a:endParaRPr lang="en-US" sz="1200" dirty="0"/>
          </a:p>
        </p:txBody>
      </p:sp>
      <p:sp>
        <p:nvSpPr>
          <p:cNvPr id="6" name="footer_22"/>
          <p:cNvSpPr txBox="1"/>
          <p:nvPr/>
        </p:nvSpPr>
        <p:spPr>
          <a:xfrm>
            <a:off x="7132320" y="4818888"/>
            <a:ext cx="173736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 English · L6</a:t>
            </a:r>
            <a:endParaRPr lang="en-US" sz="1000" dirty="0"/>
          </a:p>
        </p:txBody>
      </p:sp>
      <p:sp>
        <p:nvSpPr>
          <p:cNvPr id="7" name="title_23"/>
          <p:cNvSpPr txBox="1"/>
          <p:nvPr/>
        </p:nvSpPr>
        <p:spPr>
          <a:xfrm rot="90000">
            <a:off x="320040" y="676656"/>
            <a:ext cx="3977640" cy="530352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recipe backwards</a:t>
            </a:r>
            <a:endParaRPr lang="en-US" sz="2000" dirty="0"/>
          </a:p>
        </p:txBody>
      </p:sp>
      <p:sp>
        <p:nvSpPr>
          <p:cNvPr id="8" name="tape_24"/>
          <p:cNvSpPr/>
          <p:nvPr/>
        </p:nvSpPr>
        <p:spPr>
          <a:xfrm rot="-720000">
            <a:off x="210312" y="585216"/>
            <a:ext cx="685800" cy="219456"/>
          </a:xfrm>
          <a:prstGeom prst="rect">
            <a:avLst/>
          </a:prstGeom>
          <a:solidFill>
            <a:srgbClr val="C9B3F0">
              <a:alpha val="80000"/>
            </a:srgbClr>
          </a:solidFill>
          <a:ln w="6350">
            <a:solidFill>
              <a:srgbClr val="C9B3F0"/>
            </a:solidFill>
            <a:prstDash val="solid"/>
          </a:ln>
        </p:spPr>
      </p:sp>
      <p:sp>
        <p:nvSpPr>
          <p:cNvPr id="9" name="tape_25"/>
          <p:cNvSpPr/>
          <p:nvPr/>
        </p:nvSpPr>
        <p:spPr>
          <a:xfrm rot="-720000">
            <a:off x="3730752" y="1069848"/>
            <a:ext cx="685800" cy="219456"/>
          </a:xfrm>
          <a:prstGeom prst="rect">
            <a:avLst/>
          </a:prstGeom>
          <a:solidFill>
            <a:srgbClr val="C9B3F0">
              <a:alpha val="80000"/>
            </a:srgbClr>
          </a:solidFill>
          <a:ln w="6350">
            <a:solidFill>
              <a:srgbClr val="C9B3F0"/>
            </a:solidFill>
            <a:prstDash val="solid"/>
          </a:ln>
        </p:spPr>
      </p:sp>
      <p:sp>
        <p:nvSpPr>
          <p:cNvPr id="10" name="post_26"/>
          <p:cNvSpPr/>
          <p:nvPr/>
        </p:nvSpPr>
        <p:spPr>
          <a:xfrm>
            <a:off x="429768" y="1554480"/>
            <a:ext cx="128016" cy="2194560"/>
          </a:xfrm>
          <a:prstGeom prst="rect">
            <a:avLst/>
          </a:prstGeom>
          <a:solidFill>
            <a:srgbClr val="8B5A2B"/>
          </a:solidFill>
          <a:ln w="31750">
            <a:solidFill>
              <a:srgbClr val="111111"/>
            </a:solidFill>
            <a:prstDash val="solid"/>
          </a:ln>
        </p:spPr>
      </p:sp>
      <p:sp>
        <p:nvSpPr>
          <p:cNvPr id="11" name="signA_27"/>
          <p:cNvSpPr txBox="1"/>
          <p:nvPr/>
        </p:nvSpPr>
        <p:spPr>
          <a:xfrm rot="-180000">
            <a:off x="320040" y="1371600"/>
            <a:ext cx="2240280" cy="457200"/>
          </a:xfrm>
          <a:prstGeom prst="homePlate">
            <a:avLst/>
          </a:prstGeom>
          <a:solidFill>
            <a:srgbClr val="B45309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REMEMBER!</a:t>
            </a:r>
            <a:pPr indent="0" marL="0">
              <a:buNone/>
            </a:pPr>
            <a:r>
              <a:rPr lang="en-US" sz="1000" dirty="0">
                <a:solidFill>
                  <a:srgbClr val="FFF3B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 RICORDA!</a:t>
            </a:r>
            <a:endParaRPr lang="en-US" sz="1500" dirty="0"/>
          </a:p>
        </p:txBody>
      </p:sp>
      <p:sp>
        <p:nvSpPr>
          <p:cNvPr id="12" name="signB_28"/>
          <p:cNvSpPr txBox="1"/>
          <p:nvPr/>
        </p:nvSpPr>
        <p:spPr>
          <a:xfrm rot="120000">
            <a:off x="365760" y="1938528"/>
            <a:ext cx="2240280" cy="1051560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last lesson's sauce recipe – starting from the END!</a:t>
            </a:r>
            <a:endParaRPr lang="en-US" sz="1250" dirty="0"/>
          </a:p>
          <a:p>
            <a:pPr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Racconta la ricetta della salsa – dalla FINE!</a:t>
            </a:r>
            <a:endParaRPr lang="en-US" sz="1250" dirty="0"/>
          </a:p>
        </p:txBody>
      </p:sp>
      <p:sp>
        <p:nvSpPr>
          <p:cNvPr id="13" name="box_29"/>
          <p:cNvSpPr txBox="1"/>
          <p:nvPr/>
        </p:nvSpPr>
        <p:spPr>
          <a:xfrm>
            <a:off x="2788920" y="1371600"/>
            <a:ext cx="2172614" cy="555955"/>
          </a:xfrm>
          <a:prstGeom prst="rect">
            <a:avLst/>
          </a:prstGeom>
          <a:solidFill>
            <a:srgbClr val="E0F2FE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basil · pasta</a:t>
            </a:r>
            <a:endParaRPr lang="en-US" sz="1350" dirty="0"/>
          </a:p>
        </p:txBody>
      </p:sp>
      <p:sp>
        <p:nvSpPr>
          <p:cNvPr id="14" name="R1_a0"/>
          <p:cNvSpPr txBox="1"/>
          <p:nvPr/>
        </p:nvSpPr>
        <p:spPr>
          <a:xfrm>
            <a:off x="5016398" y="1408176"/>
            <a:ext cx="3807562" cy="482803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Finally, add fresh basil and serve with pasta.</a:t>
            </a:r>
            <a:endParaRPr lang="en-US" sz="1200" dirty="0"/>
          </a:p>
        </p:txBody>
      </p:sp>
      <p:sp>
        <p:nvSpPr>
          <p:cNvPr id="15" name="box_30"/>
          <p:cNvSpPr txBox="1"/>
          <p:nvPr/>
        </p:nvSpPr>
        <p:spPr>
          <a:xfrm>
            <a:off x="2788920" y="2055571"/>
            <a:ext cx="2172614" cy="555955"/>
          </a:xfrm>
          <a:prstGeom prst="rect">
            <a:avLst/>
          </a:prstGeom>
          <a:solidFill>
            <a:srgbClr val="FCE7F3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20 minutes · stir</a:t>
            </a:r>
            <a:endParaRPr lang="en-US" sz="1350" dirty="0"/>
          </a:p>
        </p:txBody>
      </p:sp>
      <p:sp>
        <p:nvSpPr>
          <p:cNvPr id="16" name="R2_a1"/>
          <p:cNvSpPr txBox="1"/>
          <p:nvPr/>
        </p:nvSpPr>
        <p:spPr>
          <a:xfrm>
            <a:off x="5016398" y="2092147"/>
            <a:ext cx="3807562" cy="482803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that, simmer for 20 minutes and stir.</a:t>
            </a:r>
            <a:endParaRPr lang="en-US" sz="1200" dirty="0"/>
          </a:p>
        </p:txBody>
      </p:sp>
      <p:sp>
        <p:nvSpPr>
          <p:cNvPr id="17" name="box_31"/>
          <p:cNvSpPr txBox="1"/>
          <p:nvPr/>
        </p:nvSpPr>
        <p:spPr>
          <a:xfrm>
            <a:off x="2788920" y="2739542"/>
            <a:ext cx="2172614" cy="555955"/>
          </a:xfrm>
          <a:prstGeom prst="rect">
            <a:avLst/>
          </a:prstGeom>
          <a:solidFill>
            <a:srgbClr val="FEF9C3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tinned tomatoes · salt</a:t>
            </a:r>
            <a:endParaRPr lang="en-US" sz="1350" dirty="0"/>
          </a:p>
        </p:txBody>
      </p:sp>
      <p:sp>
        <p:nvSpPr>
          <p:cNvPr id="18" name="R3_a2"/>
          <p:cNvSpPr txBox="1"/>
          <p:nvPr/>
        </p:nvSpPr>
        <p:spPr>
          <a:xfrm>
            <a:off x="5016398" y="2776118"/>
            <a:ext cx="3807562" cy="482803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that, add the tomatoes and some salt.</a:t>
            </a:r>
            <a:endParaRPr lang="en-US" sz="1200" dirty="0"/>
          </a:p>
        </p:txBody>
      </p:sp>
      <p:sp>
        <p:nvSpPr>
          <p:cNvPr id="19" name="box_32"/>
          <p:cNvSpPr txBox="1"/>
          <p:nvPr/>
        </p:nvSpPr>
        <p:spPr>
          <a:xfrm>
            <a:off x="2788920" y="3423514"/>
            <a:ext cx="2172614" cy="555955"/>
          </a:xfrm>
          <a:prstGeom prst="rect">
            <a:avLst/>
          </a:prstGeom>
          <a:solidFill>
            <a:srgbClr val="DCFCE7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garlic · 1 minute</a:t>
            </a:r>
            <a:endParaRPr lang="en-US" sz="1350" dirty="0"/>
          </a:p>
        </p:txBody>
      </p:sp>
      <p:sp>
        <p:nvSpPr>
          <p:cNvPr id="20" name="R4_a3"/>
          <p:cNvSpPr txBox="1"/>
          <p:nvPr/>
        </p:nvSpPr>
        <p:spPr>
          <a:xfrm>
            <a:off x="5016398" y="3460090"/>
            <a:ext cx="3807562" cy="482803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that, fry the garlic for one minute.</a:t>
            </a:r>
            <a:endParaRPr lang="en-US" sz="1200" dirty="0"/>
          </a:p>
        </p:txBody>
      </p:sp>
      <p:sp>
        <p:nvSpPr>
          <p:cNvPr id="21" name="box_33"/>
          <p:cNvSpPr txBox="1"/>
          <p:nvPr/>
        </p:nvSpPr>
        <p:spPr>
          <a:xfrm>
            <a:off x="2788920" y="4107485"/>
            <a:ext cx="2172614" cy="555955"/>
          </a:xfrm>
          <a:prstGeom prst="rect">
            <a:avLst/>
          </a:prstGeom>
          <a:solidFill>
            <a:srgbClr val="EDE9FE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olive oil · saucepan</a:t>
            </a:r>
            <a:endParaRPr lang="en-US" sz="1350" dirty="0"/>
          </a:p>
        </p:txBody>
      </p:sp>
      <p:sp>
        <p:nvSpPr>
          <p:cNvPr id="22" name="R5_a4"/>
          <p:cNvSpPr txBox="1"/>
          <p:nvPr/>
        </p:nvSpPr>
        <p:spPr>
          <a:xfrm>
            <a:off x="5016398" y="4144061"/>
            <a:ext cx="3807562" cy="482803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First, heat some olive oil in a saucepan.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velFrame_34"/>
          <p:cNvSpPr/>
          <p:nvPr/>
        </p:nvSpPr>
        <p:spPr>
          <a:xfrm>
            <a:off x="54864" y="54864"/>
            <a:ext cx="9034272" cy="5033772"/>
          </a:xfrm>
          <a:prstGeom prst="rect">
            <a:avLst/>
          </a:prstGeom>
          <a:ln w="114300">
            <a:solidFill>
              <a:srgbClr val="C9B3F0"/>
            </a:solidFill>
            <a:prstDash val="solid"/>
          </a:ln>
        </p:spPr>
      </p:sp>
      <p:pic>
        <p:nvPicPr>
          <p:cNvPr id="3" name="logo_35" descr="London Language School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82880"/>
            <a:ext cx="585216" cy="585216"/>
          </a:xfrm>
          <a:prstGeom prst="rect">
            <a:avLst/>
          </a:prstGeom>
        </p:spPr>
      </p:pic>
      <p:sp>
        <p:nvSpPr>
          <p:cNvPr id="4" name="objective_36"/>
          <p:cNvSpPr txBox="1"/>
          <p:nvPr/>
        </p:nvSpPr>
        <p:spPr>
          <a:xfrm>
            <a:off x="320040" y="182880"/>
            <a:ext cx="4754880" cy="365760"/>
          </a:xfrm>
          <a:prstGeom prst="roundRect">
            <a:avLst>
              <a:gd name="adj" fmla="val 20000"/>
            </a:avLst>
          </a:prstGeom>
          <a:solidFill>
            <a:srgbClr val="062F67"/>
          </a:solidFill>
          <a:ln w="31750">
            <a:solidFill>
              <a:srgbClr val="111111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NUMBERS · Say it!</a:t>
            </a:r>
            <a:endParaRPr lang="en-US" sz="1100" dirty="0"/>
          </a:p>
        </p:txBody>
      </p:sp>
      <p:sp>
        <p:nvSpPr>
          <p:cNvPr id="5" name="timer_37"/>
          <p:cNvSpPr txBox="1"/>
          <p:nvPr/>
        </p:nvSpPr>
        <p:spPr>
          <a:xfrm>
            <a:off x="7086600" y="219456"/>
            <a:ext cx="100584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25400">
            <a:solidFill>
              <a:srgbClr val="6D3FC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3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6 min</a:t>
            </a:r>
            <a:endParaRPr lang="en-US" sz="1200" dirty="0"/>
          </a:p>
        </p:txBody>
      </p:sp>
      <p:sp>
        <p:nvSpPr>
          <p:cNvPr id="6" name="footer_38"/>
          <p:cNvSpPr txBox="1"/>
          <p:nvPr/>
        </p:nvSpPr>
        <p:spPr>
          <a:xfrm>
            <a:off x="7132320" y="4818888"/>
            <a:ext cx="173736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 English · L6</a:t>
            </a:r>
            <a:endParaRPr lang="en-US" sz="1000" dirty="0"/>
          </a:p>
        </p:txBody>
      </p:sp>
      <p:sp>
        <p:nvSpPr>
          <p:cNvPr id="7" name="title_39"/>
          <p:cNvSpPr txBox="1"/>
          <p:nvPr/>
        </p:nvSpPr>
        <p:spPr>
          <a:xfrm rot="90000">
            <a:off x="320040" y="676656"/>
            <a:ext cx="3630168" cy="530352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Say it like a chef</a:t>
            </a:r>
            <a:endParaRPr lang="en-US" sz="2000" dirty="0"/>
          </a:p>
        </p:txBody>
      </p:sp>
      <p:sp>
        <p:nvSpPr>
          <p:cNvPr id="8" name="tape_40"/>
          <p:cNvSpPr/>
          <p:nvPr/>
        </p:nvSpPr>
        <p:spPr>
          <a:xfrm rot="-720000">
            <a:off x="210312" y="585216"/>
            <a:ext cx="685800" cy="219456"/>
          </a:xfrm>
          <a:prstGeom prst="rect">
            <a:avLst/>
          </a:prstGeom>
          <a:solidFill>
            <a:srgbClr val="C9B3F0">
              <a:alpha val="80000"/>
            </a:srgbClr>
          </a:solidFill>
          <a:ln w="6350">
            <a:solidFill>
              <a:srgbClr val="C9B3F0"/>
            </a:solidFill>
            <a:prstDash val="solid"/>
          </a:ln>
        </p:spPr>
      </p:sp>
      <p:sp>
        <p:nvSpPr>
          <p:cNvPr id="9" name="tape_41"/>
          <p:cNvSpPr/>
          <p:nvPr/>
        </p:nvSpPr>
        <p:spPr>
          <a:xfrm rot="-720000">
            <a:off x="3383280" y="1069848"/>
            <a:ext cx="685800" cy="219456"/>
          </a:xfrm>
          <a:prstGeom prst="rect">
            <a:avLst/>
          </a:prstGeom>
          <a:solidFill>
            <a:srgbClr val="C9B3F0">
              <a:alpha val="80000"/>
            </a:srgbClr>
          </a:solidFill>
          <a:ln w="6350">
            <a:solidFill>
              <a:srgbClr val="C9B3F0"/>
            </a:solidFill>
            <a:prstDash val="solid"/>
          </a:ln>
        </p:spPr>
      </p:sp>
      <p:sp>
        <p:nvSpPr>
          <p:cNvPr id="10" name="post_42"/>
          <p:cNvSpPr/>
          <p:nvPr/>
        </p:nvSpPr>
        <p:spPr>
          <a:xfrm>
            <a:off x="429768" y="1554480"/>
            <a:ext cx="128016" cy="2194560"/>
          </a:xfrm>
          <a:prstGeom prst="rect">
            <a:avLst/>
          </a:prstGeom>
          <a:solidFill>
            <a:srgbClr val="8B5A2B"/>
          </a:solidFill>
          <a:ln w="31750">
            <a:solidFill>
              <a:srgbClr val="111111"/>
            </a:solidFill>
            <a:prstDash val="solid"/>
          </a:ln>
        </p:spPr>
      </p:sp>
      <p:sp>
        <p:nvSpPr>
          <p:cNvPr id="11" name="signA_43"/>
          <p:cNvSpPr txBox="1"/>
          <p:nvPr/>
        </p:nvSpPr>
        <p:spPr>
          <a:xfrm rot="-180000">
            <a:off x="320040" y="1371600"/>
            <a:ext cx="2240280" cy="457200"/>
          </a:xfrm>
          <a:prstGeom prst="homePlate">
            <a:avLst/>
          </a:prstGeom>
          <a:solidFill>
            <a:srgbClr val="EF2F2F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SPEAK!</a:t>
            </a:r>
            <a:pPr indent="0" marL="0">
              <a:buNone/>
            </a:pPr>
            <a:r>
              <a:rPr lang="en-US" sz="1000" dirty="0">
                <a:solidFill>
                  <a:srgbClr val="FFF3B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 PARLA!</a:t>
            </a:r>
            <a:endParaRPr lang="en-US" sz="1500" dirty="0"/>
          </a:p>
        </p:txBody>
      </p:sp>
      <p:sp>
        <p:nvSpPr>
          <p:cNvPr id="12" name="signB_44"/>
          <p:cNvSpPr txBox="1"/>
          <p:nvPr/>
        </p:nvSpPr>
        <p:spPr>
          <a:xfrm rot="120000">
            <a:off x="365760" y="1938528"/>
            <a:ext cx="2240280" cy="1051560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say these? Click to check.</a:t>
            </a:r>
            <a:endParaRPr lang="en-US" sz="1250" dirty="0"/>
          </a:p>
          <a:p>
            <a:pPr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si dicono? Clicca per controllare.</a:t>
            </a:r>
            <a:endParaRPr lang="en-US" sz="1250" dirty="0"/>
          </a:p>
        </p:txBody>
      </p:sp>
      <p:sp>
        <p:nvSpPr>
          <p:cNvPr id="13" name="box_45"/>
          <p:cNvSpPr txBox="1"/>
          <p:nvPr/>
        </p:nvSpPr>
        <p:spPr>
          <a:xfrm>
            <a:off x="2788920" y="1371600"/>
            <a:ext cx="945124" cy="726948"/>
          </a:xfrm>
          <a:prstGeom prst="rect">
            <a:avLst/>
          </a:prstGeom>
          <a:solidFill>
            <a:srgbClr val="E0F2FE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250 g</a:t>
            </a:r>
            <a:endParaRPr lang="en-US" sz="1350" dirty="0"/>
          </a:p>
        </p:txBody>
      </p:sp>
      <p:sp>
        <p:nvSpPr>
          <p:cNvPr id="14" name="R1_a0"/>
          <p:cNvSpPr txBox="1"/>
          <p:nvPr/>
        </p:nvSpPr>
        <p:spPr>
          <a:xfrm>
            <a:off x="3788908" y="1408176"/>
            <a:ext cx="1953524" cy="653796"/>
          </a:xfrm>
          <a:prstGeom prst="roundRect">
            <a:avLst>
              <a:gd name="adj" fmla="val 8392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hundred and fifty grams</a:t>
            </a:r>
            <a:endParaRPr lang="en-US" sz="1150" dirty="0"/>
          </a:p>
        </p:txBody>
      </p:sp>
      <p:sp>
        <p:nvSpPr>
          <p:cNvPr id="15" name="box_46"/>
          <p:cNvSpPr txBox="1"/>
          <p:nvPr/>
        </p:nvSpPr>
        <p:spPr>
          <a:xfrm>
            <a:off x="5870448" y="1371600"/>
            <a:ext cx="945124" cy="726948"/>
          </a:xfrm>
          <a:prstGeom prst="rect">
            <a:avLst/>
          </a:prstGeom>
          <a:solidFill>
            <a:srgbClr val="FCE7F3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–18°C</a:t>
            </a:r>
            <a:endParaRPr lang="en-US" sz="1350" dirty="0"/>
          </a:p>
        </p:txBody>
      </p:sp>
      <p:sp>
        <p:nvSpPr>
          <p:cNvPr id="16" name="R1_a1"/>
          <p:cNvSpPr txBox="1"/>
          <p:nvPr/>
        </p:nvSpPr>
        <p:spPr>
          <a:xfrm>
            <a:off x="6870436" y="1408176"/>
            <a:ext cx="1953524" cy="653796"/>
          </a:xfrm>
          <a:prstGeom prst="roundRect">
            <a:avLst>
              <a:gd name="adj" fmla="val 8392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minus eighteen degrees</a:t>
            </a:r>
            <a:endParaRPr lang="en-US" sz="1150" dirty="0"/>
          </a:p>
        </p:txBody>
      </p:sp>
      <p:sp>
        <p:nvSpPr>
          <p:cNvPr id="17" name="box_47"/>
          <p:cNvSpPr txBox="1"/>
          <p:nvPr/>
        </p:nvSpPr>
        <p:spPr>
          <a:xfrm>
            <a:off x="2788920" y="2226564"/>
            <a:ext cx="945124" cy="726948"/>
          </a:xfrm>
          <a:prstGeom prst="rect">
            <a:avLst/>
          </a:prstGeom>
          <a:solidFill>
            <a:srgbClr val="FEF9C3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1.5 kg</a:t>
            </a:r>
            <a:endParaRPr lang="en-US" sz="1350" dirty="0"/>
          </a:p>
        </p:txBody>
      </p:sp>
      <p:sp>
        <p:nvSpPr>
          <p:cNvPr id="18" name="R1_a2"/>
          <p:cNvSpPr txBox="1"/>
          <p:nvPr/>
        </p:nvSpPr>
        <p:spPr>
          <a:xfrm>
            <a:off x="3788908" y="2263140"/>
            <a:ext cx="1953524" cy="653796"/>
          </a:xfrm>
          <a:prstGeom prst="roundRect">
            <a:avLst>
              <a:gd name="adj" fmla="val 8392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and a half kilos</a:t>
            </a:r>
            <a:endParaRPr lang="en-US" sz="1150" dirty="0"/>
          </a:p>
        </p:txBody>
      </p:sp>
      <p:sp>
        <p:nvSpPr>
          <p:cNvPr id="19" name="box_48"/>
          <p:cNvSpPr txBox="1"/>
          <p:nvPr/>
        </p:nvSpPr>
        <p:spPr>
          <a:xfrm>
            <a:off x="5870448" y="2226564"/>
            <a:ext cx="945124" cy="726948"/>
          </a:xfrm>
          <a:prstGeom prst="rect">
            <a:avLst/>
          </a:prstGeom>
          <a:solidFill>
            <a:srgbClr val="DCFCE7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500 ml</a:t>
            </a:r>
            <a:endParaRPr lang="en-US" sz="1350" dirty="0"/>
          </a:p>
        </p:txBody>
      </p:sp>
      <p:sp>
        <p:nvSpPr>
          <p:cNvPr id="20" name="R1_a3"/>
          <p:cNvSpPr txBox="1"/>
          <p:nvPr/>
        </p:nvSpPr>
        <p:spPr>
          <a:xfrm>
            <a:off x="6870436" y="2263140"/>
            <a:ext cx="1953524" cy="653796"/>
          </a:xfrm>
          <a:prstGeom prst="roundRect">
            <a:avLst>
              <a:gd name="adj" fmla="val 8392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hundred millilitres</a:t>
            </a:r>
            <a:endParaRPr lang="en-US" sz="1150" dirty="0"/>
          </a:p>
        </p:txBody>
      </p:sp>
      <p:sp>
        <p:nvSpPr>
          <p:cNvPr id="21" name="box_49"/>
          <p:cNvSpPr txBox="1"/>
          <p:nvPr/>
        </p:nvSpPr>
        <p:spPr>
          <a:xfrm>
            <a:off x="2788920" y="3081528"/>
            <a:ext cx="945124" cy="726948"/>
          </a:xfrm>
          <a:prstGeom prst="rect">
            <a:avLst/>
          </a:prstGeom>
          <a:solidFill>
            <a:srgbClr val="EDE9FE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180°C</a:t>
            </a:r>
            <a:endParaRPr lang="en-US" sz="1350" dirty="0"/>
          </a:p>
        </p:txBody>
      </p:sp>
      <p:sp>
        <p:nvSpPr>
          <p:cNvPr id="22" name="R1_a4"/>
          <p:cNvSpPr txBox="1"/>
          <p:nvPr/>
        </p:nvSpPr>
        <p:spPr>
          <a:xfrm>
            <a:off x="3788908" y="3118104"/>
            <a:ext cx="1953524" cy="653796"/>
          </a:xfrm>
          <a:prstGeom prst="roundRect">
            <a:avLst>
              <a:gd name="adj" fmla="val 8392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hundred and eighty degrees</a:t>
            </a:r>
            <a:endParaRPr lang="en-US" sz="1150" dirty="0"/>
          </a:p>
        </p:txBody>
      </p:sp>
      <p:sp>
        <p:nvSpPr>
          <p:cNvPr id="23" name="box_50"/>
          <p:cNvSpPr txBox="1"/>
          <p:nvPr/>
        </p:nvSpPr>
        <p:spPr>
          <a:xfrm>
            <a:off x="5870448" y="3081528"/>
            <a:ext cx="945124" cy="726948"/>
          </a:xfrm>
          <a:prstGeom prst="rect">
            <a:avLst/>
          </a:prstGeom>
          <a:solidFill>
            <a:srgbClr val="FFEDD5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15 min</a:t>
            </a:r>
            <a:endParaRPr lang="en-US" sz="1350" dirty="0"/>
          </a:p>
        </p:txBody>
      </p:sp>
      <p:sp>
        <p:nvSpPr>
          <p:cNvPr id="24" name="R1_a5"/>
          <p:cNvSpPr txBox="1"/>
          <p:nvPr/>
        </p:nvSpPr>
        <p:spPr>
          <a:xfrm>
            <a:off x="6870436" y="3118104"/>
            <a:ext cx="1953524" cy="653796"/>
          </a:xfrm>
          <a:prstGeom prst="roundRect">
            <a:avLst>
              <a:gd name="adj" fmla="val 8392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fifteen minutes / a quarter of an hour</a:t>
            </a:r>
            <a:endParaRPr lang="en-US" sz="1150" dirty="0"/>
          </a:p>
        </p:txBody>
      </p:sp>
      <p:sp>
        <p:nvSpPr>
          <p:cNvPr id="25" name="box_51"/>
          <p:cNvSpPr txBox="1"/>
          <p:nvPr/>
        </p:nvSpPr>
        <p:spPr>
          <a:xfrm>
            <a:off x="2788920" y="3936492"/>
            <a:ext cx="945124" cy="726948"/>
          </a:xfrm>
          <a:prstGeom prst="rect">
            <a:avLst/>
          </a:prstGeom>
          <a:solidFill>
            <a:srgbClr val="E0F2FE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1 tbsp</a:t>
            </a:r>
            <a:endParaRPr lang="en-US" sz="1350" dirty="0"/>
          </a:p>
        </p:txBody>
      </p:sp>
      <p:sp>
        <p:nvSpPr>
          <p:cNvPr id="26" name="R1_a6"/>
          <p:cNvSpPr txBox="1"/>
          <p:nvPr/>
        </p:nvSpPr>
        <p:spPr>
          <a:xfrm>
            <a:off x="3788908" y="3973068"/>
            <a:ext cx="1953524" cy="653796"/>
          </a:xfrm>
          <a:prstGeom prst="roundRect">
            <a:avLst>
              <a:gd name="adj" fmla="val 8392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tablespoon</a:t>
            </a:r>
            <a:endParaRPr lang="en-US" sz="1150" dirty="0"/>
          </a:p>
        </p:txBody>
      </p:sp>
      <p:sp>
        <p:nvSpPr>
          <p:cNvPr id="27" name="box_52"/>
          <p:cNvSpPr txBox="1"/>
          <p:nvPr/>
        </p:nvSpPr>
        <p:spPr>
          <a:xfrm>
            <a:off x="5870448" y="3936492"/>
            <a:ext cx="945124" cy="726948"/>
          </a:xfrm>
          <a:prstGeom prst="rect">
            <a:avLst/>
          </a:prstGeom>
          <a:solidFill>
            <a:srgbClr val="FCE7F3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1 tsp</a:t>
            </a:r>
            <a:endParaRPr lang="en-US" sz="1350" dirty="0"/>
          </a:p>
        </p:txBody>
      </p:sp>
      <p:sp>
        <p:nvSpPr>
          <p:cNvPr id="28" name="R1_a7"/>
          <p:cNvSpPr txBox="1"/>
          <p:nvPr/>
        </p:nvSpPr>
        <p:spPr>
          <a:xfrm>
            <a:off x="6870436" y="3973068"/>
            <a:ext cx="1953524" cy="653796"/>
          </a:xfrm>
          <a:prstGeom prst="roundRect">
            <a:avLst>
              <a:gd name="adj" fmla="val 8392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teaspoon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velFrame_53"/>
          <p:cNvSpPr/>
          <p:nvPr/>
        </p:nvSpPr>
        <p:spPr>
          <a:xfrm>
            <a:off x="54864" y="54864"/>
            <a:ext cx="9034272" cy="5033772"/>
          </a:xfrm>
          <a:prstGeom prst="rect">
            <a:avLst/>
          </a:prstGeom>
          <a:ln w="114300">
            <a:solidFill>
              <a:srgbClr val="C9B3F0"/>
            </a:solidFill>
            <a:prstDash val="solid"/>
          </a:ln>
        </p:spPr>
      </p:sp>
      <p:pic>
        <p:nvPicPr>
          <p:cNvPr id="3" name="logo_54" descr="London Language School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82880"/>
            <a:ext cx="585216" cy="585216"/>
          </a:xfrm>
          <a:prstGeom prst="rect">
            <a:avLst/>
          </a:prstGeom>
        </p:spPr>
      </p:pic>
      <p:sp>
        <p:nvSpPr>
          <p:cNvPr id="4" name="objective_55"/>
          <p:cNvSpPr txBox="1"/>
          <p:nvPr/>
        </p:nvSpPr>
        <p:spPr>
          <a:xfrm>
            <a:off x="320040" y="182880"/>
            <a:ext cx="4754880" cy="365760"/>
          </a:xfrm>
          <a:prstGeom prst="roundRect">
            <a:avLst>
              <a:gd name="adj" fmla="val 20000"/>
            </a:avLst>
          </a:prstGeom>
          <a:solidFill>
            <a:srgbClr val="062F67"/>
          </a:solidFill>
          <a:ln w="31750">
            <a:solidFill>
              <a:srgbClr val="111111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SPEAKING · Kitchen questions</a:t>
            </a:r>
            <a:endParaRPr lang="en-US" sz="1100" dirty="0"/>
          </a:p>
        </p:txBody>
      </p:sp>
      <p:sp>
        <p:nvSpPr>
          <p:cNvPr id="5" name="timer_56"/>
          <p:cNvSpPr txBox="1"/>
          <p:nvPr/>
        </p:nvSpPr>
        <p:spPr>
          <a:xfrm>
            <a:off x="7086600" y="219456"/>
            <a:ext cx="100584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25400">
            <a:solidFill>
              <a:srgbClr val="6D3FC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3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8 min</a:t>
            </a:r>
            <a:endParaRPr lang="en-US" sz="1200" dirty="0"/>
          </a:p>
        </p:txBody>
      </p:sp>
      <p:sp>
        <p:nvSpPr>
          <p:cNvPr id="6" name="footer_57"/>
          <p:cNvSpPr txBox="1"/>
          <p:nvPr/>
        </p:nvSpPr>
        <p:spPr>
          <a:xfrm>
            <a:off x="7132320" y="4818888"/>
            <a:ext cx="173736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 English · L6</a:t>
            </a:r>
            <a:endParaRPr lang="en-US" sz="1000" dirty="0"/>
          </a:p>
        </p:txBody>
      </p:sp>
      <p:sp>
        <p:nvSpPr>
          <p:cNvPr id="7" name="title_58"/>
          <p:cNvSpPr txBox="1"/>
          <p:nvPr/>
        </p:nvSpPr>
        <p:spPr>
          <a:xfrm rot="90000">
            <a:off x="320040" y="676656"/>
            <a:ext cx="5193792" cy="530352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long? What temperature?</a:t>
            </a:r>
            <a:endParaRPr lang="en-US" sz="2000" dirty="0"/>
          </a:p>
        </p:txBody>
      </p:sp>
      <p:sp>
        <p:nvSpPr>
          <p:cNvPr id="8" name="tape_59"/>
          <p:cNvSpPr/>
          <p:nvPr/>
        </p:nvSpPr>
        <p:spPr>
          <a:xfrm rot="-720000">
            <a:off x="210312" y="585216"/>
            <a:ext cx="685800" cy="219456"/>
          </a:xfrm>
          <a:prstGeom prst="rect">
            <a:avLst/>
          </a:prstGeom>
          <a:solidFill>
            <a:srgbClr val="C9B3F0">
              <a:alpha val="80000"/>
            </a:srgbClr>
          </a:solidFill>
          <a:ln w="6350">
            <a:solidFill>
              <a:srgbClr val="C9B3F0"/>
            </a:solidFill>
            <a:prstDash val="solid"/>
          </a:ln>
        </p:spPr>
      </p:sp>
      <p:sp>
        <p:nvSpPr>
          <p:cNvPr id="9" name="tape_60"/>
          <p:cNvSpPr/>
          <p:nvPr/>
        </p:nvSpPr>
        <p:spPr>
          <a:xfrm rot="-720000">
            <a:off x="4946904" y="1069848"/>
            <a:ext cx="685800" cy="219456"/>
          </a:xfrm>
          <a:prstGeom prst="rect">
            <a:avLst/>
          </a:prstGeom>
          <a:solidFill>
            <a:srgbClr val="C9B3F0">
              <a:alpha val="80000"/>
            </a:srgbClr>
          </a:solidFill>
          <a:ln w="6350">
            <a:solidFill>
              <a:srgbClr val="C9B3F0"/>
            </a:solidFill>
            <a:prstDash val="solid"/>
          </a:ln>
        </p:spPr>
      </p:sp>
      <p:sp>
        <p:nvSpPr>
          <p:cNvPr id="10" name="post_61"/>
          <p:cNvSpPr/>
          <p:nvPr/>
        </p:nvSpPr>
        <p:spPr>
          <a:xfrm>
            <a:off x="429768" y="1554480"/>
            <a:ext cx="128016" cy="2194560"/>
          </a:xfrm>
          <a:prstGeom prst="rect">
            <a:avLst/>
          </a:prstGeom>
          <a:solidFill>
            <a:srgbClr val="8B5A2B"/>
          </a:solidFill>
          <a:ln w="31750">
            <a:solidFill>
              <a:srgbClr val="111111"/>
            </a:solidFill>
            <a:prstDash val="solid"/>
          </a:ln>
        </p:spPr>
      </p:sp>
      <p:sp>
        <p:nvSpPr>
          <p:cNvPr id="11" name="signA_62"/>
          <p:cNvSpPr txBox="1"/>
          <p:nvPr/>
        </p:nvSpPr>
        <p:spPr>
          <a:xfrm rot="-180000">
            <a:off x="320040" y="1371600"/>
            <a:ext cx="2240280" cy="457200"/>
          </a:xfrm>
          <a:prstGeom prst="homePlate">
            <a:avLst/>
          </a:prstGeom>
          <a:solidFill>
            <a:srgbClr val="EF2F2F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SPEAK!</a:t>
            </a:r>
            <a:pPr indent="0" marL="0">
              <a:buNone/>
            </a:pPr>
            <a:r>
              <a:rPr lang="en-US" sz="1000" dirty="0">
                <a:solidFill>
                  <a:srgbClr val="FFF3B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 PARLA!</a:t>
            </a:r>
            <a:endParaRPr lang="en-US" sz="1500" dirty="0"/>
          </a:p>
        </p:txBody>
      </p:sp>
      <p:sp>
        <p:nvSpPr>
          <p:cNvPr id="12" name="signB_63"/>
          <p:cNvSpPr txBox="1"/>
          <p:nvPr/>
        </p:nvSpPr>
        <p:spPr>
          <a:xfrm rot="120000">
            <a:off x="365760" y="1938528"/>
            <a:ext cx="2240280" cy="1051560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Match. Then ask about YOUR dishes!</a:t>
            </a:r>
            <a:endParaRPr lang="en-US" sz="1250" dirty="0"/>
          </a:p>
          <a:p>
            <a:pPr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Abbina. Poi chiedi dei TUOI piatti!</a:t>
            </a:r>
            <a:endParaRPr lang="en-US" sz="1250" dirty="0"/>
          </a:p>
        </p:txBody>
      </p:sp>
      <p:sp>
        <p:nvSpPr>
          <p:cNvPr id="13" name="box_64"/>
          <p:cNvSpPr txBox="1"/>
          <p:nvPr/>
        </p:nvSpPr>
        <p:spPr>
          <a:xfrm>
            <a:off x="2788920" y="1371600"/>
            <a:ext cx="3319272" cy="457200"/>
          </a:xfrm>
          <a:prstGeom prst="rect">
            <a:avLst/>
          </a:prstGeom>
          <a:solidFill>
            <a:srgbClr val="E0F2FE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How much flour do we need?</a:t>
            </a:r>
            <a:endParaRPr lang="en-US" sz="1250" dirty="0"/>
          </a:p>
        </p:txBody>
      </p:sp>
      <p:sp>
        <p:nvSpPr>
          <p:cNvPr id="14" name="R1_m0"/>
          <p:cNvSpPr txBox="1"/>
          <p:nvPr/>
        </p:nvSpPr>
        <p:spPr>
          <a:xfrm>
            <a:off x="6181344" y="1389888"/>
            <a:ext cx="2642616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500 grams.</a:t>
            </a:r>
            <a:endParaRPr lang="en-US" sz="1150" dirty="0"/>
          </a:p>
        </p:txBody>
      </p:sp>
      <p:sp>
        <p:nvSpPr>
          <p:cNvPr id="15" name="box_65"/>
          <p:cNvSpPr txBox="1"/>
          <p:nvPr/>
        </p:nvSpPr>
        <p:spPr>
          <a:xfrm>
            <a:off x="2788920" y="1901952"/>
            <a:ext cx="3319272" cy="457200"/>
          </a:xfrm>
          <a:prstGeom prst="rect">
            <a:avLst/>
          </a:prstGeom>
          <a:solidFill>
            <a:srgbClr val="FCE7F3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How many portions does it make?</a:t>
            </a:r>
            <a:endParaRPr lang="en-US" sz="1250" dirty="0"/>
          </a:p>
        </p:txBody>
      </p:sp>
      <p:sp>
        <p:nvSpPr>
          <p:cNvPr id="16" name="R1_m1"/>
          <p:cNvSpPr txBox="1"/>
          <p:nvPr/>
        </p:nvSpPr>
        <p:spPr>
          <a:xfrm>
            <a:off x="6181344" y="1920240"/>
            <a:ext cx="2642616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makes 8 portions.</a:t>
            </a:r>
            <a:endParaRPr lang="en-US" sz="1150" dirty="0"/>
          </a:p>
        </p:txBody>
      </p:sp>
      <p:sp>
        <p:nvSpPr>
          <p:cNvPr id="17" name="box_66"/>
          <p:cNvSpPr txBox="1"/>
          <p:nvPr/>
        </p:nvSpPr>
        <p:spPr>
          <a:xfrm>
            <a:off x="2788920" y="2432304"/>
            <a:ext cx="3319272" cy="457200"/>
          </a:xfrm>
          <a:prstGeom prst="rect">
            <a:avLst/>
          </a:prstGeom>
          <a:solidFill>
            <a:srgbClr val="FEF9C3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How long does it take to cook?</a:t>
            </a:r>
            <a:endParaRPr lang="en-US" sz="1250" dirty="0"/>
          </a:p>
        </p:txBody>
      </p:sp>
      <p:sp>
        <p:nvSpPr>
          <p:cNvPr id="18" name="R1_m2"/>
          <p:cNvSpPr txBox="1"/>
          <p:nvPr/>
        </p:nvSpPr>
        <p:spPr>
          <a:xfrm>
            <a:off x="6181344" y="2450592"/>
            <a:ext cx="2642616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20 minutes.</a:t>
            </a:r>
            <a:endParaRPr lang="en-US" sz="1150" dirty="0"/>
          </a:p>
        </p:txBody>
      </p:sp>
      <p:sp>
        <p:nvSpPr>
          <p:cNvPr id="19" name="box_67"/>
          <p:cNvSpPr txBox="1"/>
          <p:nvPr/>
        </p:nvSpPr>
        <p:spPr>
          <a:xfrm>
            <a:off x="2788920" y="2962656"/>
            <a:ext cx="3319272" cy="457200"/>
          </a:xfrm>
          <a:prstGeom prst="rect">
            <a:avLst/>
          </a:prstGeom>
          <a:solidFill>
            <a:srgbClr val="DCFCE7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What temperature is the oven?</a:t>
            </a:r>
            <a:endParaRPr lang="en-US" sz="1250" dirty="0"/>
          </a:p>
        </p:txBody>
      </p:sp>
      <p:sp>
        <p:nvSpPr>
          <p:cNvPr id="20" name="R1_m3"/>
          <p:cNvSpPr txBox="1"/>
          <p:nvPr/>
        </p:nvSpPr>
        <p:spPr>
          <a:xfrm>
            <a:off x="6181344" y="2980944"/>
            <a:ext cx="2642616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at 200 degrees.</a:t>
            </a:r>
            <a:endParaRPr lang="en-US" sz="1150" dirty="0"/>
          </a:p>
        </p:txBody>
      </p:sp>
      <p:sp>
        <p:nvSpPr>
          <p:cNvPr id="21" name="box_68"/>
          <p:cNvSpPr txBox="1"/>
          <p:nvPr/>
        </p:nvSpPr>
        <p:spPr>
          <a:xfrm>
            <a:off x="2788920" y="3493008"/>
            <a:ext cx="3319272" cy="457200"/>
          </a:xfrm>
          <a:prstGeom prst="rect">
            <a:avLst/>
          </a:prstGeom>
          <a:solidFill>
            <a:srgbClr val="EDE9FE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How long can we keep it in the fridge?</a:t>
            </a:r>
            <a:endParaRPr lang="en-US" sz="1250" dirty="0"/>
          </a:p>
        </p:txBody>
      </p:sp>
      <p:sp>
        <p:nvSpPr>
          <p:cNvPr id="22" name="R1_m4"/>
          <p:cNvSpPr txBox="1"/>
          <p:nvPr/>
        </p:nvSpPr>
        <p:spPr>
          <a:xfrm>
            <a:off x="6181344" y="3511296"/>
            <a:ext cx="2642616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three days.</a:t>
            </a:r>
            <a:endParaRPr lang="en-US" sz="1150" dirty="0"/>
          </a:p>
        </p:txBody>
      </p:sp>
      <p:sp>
        <p:nvSpPr>
          <p:cNvPr id="23" name="box_69"/>
          <p:cNvSpPr txBox="1"/>
          <p:nvPr/>
        </p:nvSpPr>
        <p:spPr>
          <a:xfrm>
            <a:off x="2788920" y="4023360"/>
            <a:ext cx="3319272" cy="457200"/>
          </a:xfrm>
          <a:prstGeom prst="rect">
            <a:avLst/>
          </a:prstGeom>
          <a:solidFill>
            <a:srgbClr val="FFEDD5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What time do we start prep?</a:t>
            </a:r>
            <a:endParaRPr lang="en-US" sz="1250" dirty="0"/>
          </a:p>
        </p:txBody>
      </p:sp>
      <p:sp>
        <p:nvSpPr>
          <p:cNvPr id="24" name="R1_m5"/>
          <p:cNvSpPr txBox="1"/>
          <p:nvPr/>
        </p:nvSpPr>
        <p:spPr>
          <a:xfrm>
            <a:off x="6181344" y="4041648"/>
            <a:ext cx="2642616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half past ten.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velFrame_70"/>
          <p:cNvSpPr/>
          <p:nvPr/>
        </p:nvSpPr>
        <p:spPr>
          <a:xfrm>
            <a:off x="54864" y="54864"/>
            <a:ext cx="9034272" cy="5033772"/>
          </a:xfrm>
          <a:prstGeom prst="rect">
            <a:avLst/>
          </a:prstGeom>
          <a:ln w="114300">
            <a:solidFill>
              <a:srgbClr val="C9B3F0"/>
            </a:solidFill>
            <a:prstDash val="solid"/>
          </a:ln>
        </p:spPr>
      </p:sp>
      <p:pic>
        <p:nvPicPr>
          <p:cNvPr id="3" name="logo_71" descr="London Language School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82880"/>
            <a:ext cx="585216" cy="585216"/>
          </a:xfrm>
          <a:prstGeom prst="rect">
            <a:avLst/>
          </a:prstGeom>
        </p:spPr>
      </p:pic>
      <p:sp>
        <p:nvSpPr>
          <p:cNvPr id="4" name="objective_72"/>
          <p:cNvSpPr txBox="1"/>
          <p:nvPr/>
        </p:nvSpPr>
        <p:spPr>
          <a:xfrm>
            <a:off x="320040" y="182880"/>
            <a:ext cx="4754880" cy="365760"/>
          </a:xfrm>
          <a:prstGeom prst="roundRect">
            <a:avLst>
              <a:gd name="adj" fmla="val 20000"/>
            </a:avLst>
          </a:prstGeom>
          <a:solidFill>
            <a:srgbClr val="062F67"/>
          </a:solidFill>
          <a:ln w="31750">
            <a:solidFill>
              <a:srgbClr val="111111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VOCABULARY · Time words</a:t>
            </a:r>
            <a:endParaRPr lang="en-US" sz="1100" dirty="0"/>
          </a:p>
        </p:txBody>
      </p:sp>
      <p:sp>
        <p:nvSpPr>
          <p:cNvPr id="5" name="timer_73"/>
          <p:cNvSpPr txBox="1"/>
          <p:nvPr/>
        </p:nvSpPr>
        <p:spPr>
          <a:xfrm>
            <a:off x="7086600" y="219456"/>
            <a:ext cx="100584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25400">
            <a:solidFill>
              <a:srgbClr val="6D3FC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3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6 min</a:t>
            </a:r>
            <a:endParaRPr lang="en-US" sz="1200" dirty="0"/>
          </a:p>
        </p:txBody>
      </p:sp>
      <p:sp>
        <p:nvSpPr>
          <p:cNvPr id="6" name="footer_74"/>
          <p:cNvSpPr txBox="1"/>
          <p:nvPr/>
        </p:nvSpPr>
        <p:spPr>
          <a:xfrm>
            <a:off x="7132320" y="4818888"/>
            <a:ext cx="173736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 English · L6</a:t>
            </a:r>
            <a:endParaRPr lang="en-US" sz="1000" dirty="0"/>
          </a:p>
        </p:txBody>
      </p:sp>
      <p:sp>
        <p:nvSpPr>
          <p:cNvPr id="7" name="title_75"/>
          <p:cNvSpPr txBox="1"/>
          <p:nvPr/>
        </p:nvSpPr>
        <p:spPr>
          <a:xfrm rot="90000">
            <a:off x="320040" y="676656"/>
            <a:ext cx="3456432" cy="530352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ASAP! In advance!</a:t>
            </a:r>
            <a:endParaRPr lang="en-US" sz="2000" dirty="0"/>
          </a:p>
        </p:txBody>
      </p:sp>
      <p:sp>
        <p:nvSpPr>
          <p:cNvPr id="8" name="tape_76"/>
          <p:cNvSpPr/>
          <p:nvPr/>
        </p:nvSpPr>
        <p:spPr>
          <a:xfrm rot="-720000">
            <a:off x="210312" y="585216"/>
            <a:ext cx="685800" cy="219456"/>
          </a:xfrm>
          <a:prstGeom prst="rect">
            <a:avLst/>
          </a:prstGeom>
          <a:solidFill>
            <a:srgbClr val="C9B3F0">
              <a:alpha val="80000"/>
            </a:srgbClr>
          </a:solidFill>
          <a:ln w="6350">
            <a:solidFill>
              <a:srgbClr val="C9B3F0"/>
            </a:solidFill>
            <a:prstDash val="solid"/>
          </a:ln>
        </p:spPr>
      </p:sp>
      <p:sp>
        <p:nvSpPr>
          <p:cNvPr id="9" name="tape_77"/>
          <p:cNvSpPr/>
          <p:nvPr/>
        </p:nvSpPr>
        <p:spPr>
          <a:xfrm rot="-720000">
            <a:off x="3209544" y="1069848"/>
            <a:ext cx="685800" cy="219456"/>
          </a:xfrm>
          <a:prstGeom prst="rect">
            <a:avLst/>
          </a:prstGeom>
          <a:solidFill>
            <a:srgbClr val="C9B3F0">
              <a:alpha val="80000"/>
            </a:srgbClr>
          </a:solidFill>
          <a:ln w="6350">
            <a:solidFill>
              <a:srgbClr val="C9B3F0"/>
            </a:solidFill>
            <a:prstDash val="solid"/>
          </a:ln>
        </p:spPr>
      </p:sp>
      <p:sp>
        <p:nvSpPr>
          <p:cNvPr id="10" name="post_78"/>
          <p:cNvSpPr/>
          <p:nvPr/>
        </p:nvSpPr>
        <p:spPr>
          <a:xfrm>
            <a:off x="429768" y="1554480"/>
            <a:ext cx="128016" cy="2194560"/>
          </a:xfrm>
          <a:prstGeom prst="rect">
            <a:avLst/>
          </a:prstGeom>
          <a:solidFill>
            <a:srgbClr val="8B5A2B"/>
          </a:solidFill>
          <a:ln w="31750">
            <a:solidFill>
              <a:srgbClr val="111111"/>
            </a:solidFill>
            <a:prstDash val="solid"/>
          </a:ln>
        </p:spPr>
      </p:sp>
      <p:sp>
        <p:nvSpPr>
          <p:cNvPr id="11" name="signA_79"/>
          <p:cNvSpPr txBox="1"/>
          <p:nvPr/>
        </p:nvSpPr>
        <p:spPr>
          <a:xfrm rot="-180000">
            <a:off x="320040" y="1371600"/>
            <a:ext cx="2240280" cy="457200"/>
          </a:xfrm>
          <a:prstGeom prst="homePlate">
            <a:avLst/>
          </a:prstGeom>
          <a:solidFill>
            <a:srgbClr val="062F67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THINK!</a:t>
            </a:r>
            <a:pPr indent="0" marL="0">
              <a:buNone/>
            </a:pPr>
            <a:r>
              <a:rPr lang="en-US" sz="1000" dirty="0">
                <a:solidFill>
                  <a:srgbClr val="FFF3B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 PENSA!</a:t>
            </a:r>
            <a:endParaRPr lang="en-US" sz="1500" dirty="0"/>
          </a:p>
        </p:txBody>
      </p:sp>
      <p:sp>
        <p:nvSpPr>
          <p:cNvPr id="12" name="signB_80"/>
          <p:cNvSpPr txBox="1"/>
          <p:nvPr/>
        </p:nvSpPr>
        <p:spPr>
          <a:xfrm rot="120000">
            <a:off x="365760" y="1938528"/>
            <a:ext cx="2240280" cy="1051560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Match. Then use 3 in a sentence about your kitchen.</a:t>
            </a:r>
            <a:endParaRPr lang="en-US" sz="1250" dirty="0"/>
          </a:p>
          <a:p>
            <a:pPr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Abbina. Poi usane 3 in una frase.</a:t>
            </a:r>
            <a:endParaRPr lang="en-US" sz="1250" dirty="0"/>
          </a:p>
        </p:txBody>
      </p:sp>
      <p:sp>
        <p:nvSpPr>
          <p:cNvPr id="13" name="box_81"/>
          <p:cNvSpPr txBox="1"/>
          <p:nvPr/>
        </p:nvSpPr>
        <p:spPr>
          <a:xfrm>
            <a:off x="2788920" y="1371600"/>
            <a:ext cx="2534717" cy="457200"/>
          </a:xfrm>
          <a:prstGeom prst="rect">
            <a:avLst/>
          </a:prstGeom>
          <a:solidFill>
            <a:srgbClr val="E0F2FE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ASAP</a:t>
            </a:r>
            <a:endParaRPr lang="en-US" sz="1250" dirty="0"/>
          </a:p>
        </p:txBody>
      </p:sp>
      <p:sp>
        <p:nvSpPr>
          <p:cNvPr id="14" name="R1_m0"/>
          <p:cNvSpPr txBox="1"/>
          <p:nvPr/>
        </p:nvSpPr>
        <p:spPr>
          <a:xfrm>
            <a:off x="5396789" y="1389888"/>
            <a:ext cx="3427171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soon as possible – subito</a:t>
            </a:r>
            <a:endParaRPr lang="en-US" sz="1150" dirty="0"/>
          </a:p>
        </p:txBody>
      </p:sp>
      <p:sp>
        <p:nvSpPr>
          <p:cNvPr id="15" name="box_82"/>
          <p:cNvSpPr txBox="1"/>
          <p:nvPr/>
        </p:nvSpPr>
        <p:spPr>
          <a:xfrm>
            <a:off x="2788920" y="1901952"/>
            <a:ext cx="2534717" cy="457200"/>
          </a:xfrm>
          <a:prstGeom prst="rect">
            <a:avLst/>
          </a:prstGeom>
          <a:solidFill>
            <a:srgbClr val="FCE7F3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in advance</a:t>
            </a:r>
            <a:endParaRPr lang="en-US" sz="1250" dirty="0"/>
          </a:p>
        </p:txBody>
      </p:sp>
      <p:sp>
        <p:nvSpPr>
          <p:cNvPr id="16" name="R1_m1"/>
          <p:cNvSpPr txBox="1"/>
          <p:nvPr/>
        </p:nvSpPr>
        <p:spPr>
          <a:xfrm>
            <a:off x="5396789" y="1920240"/>
            <a:ext cx="3427171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– in anticipo</a:t>
            </a:r>
            <a:endParaRPr lang="en-US" sz="1150" dirty="0"/>
          </a:p>
        </p:txBody>
      </p:sp>
      <p:sp>
        <p:nvSpPr>
          <p:cNvPr id="17" name="box_83"/>
          <p:cNvSpPr txBox="1"/>
          <p:nvPr/>
        </p:nvSpPr>
        <p:spPr>
          <a:xfrm>
            <a:off x="2788920" y="2432304"/>
            <a:ext cx="2534717" cy="457200"/>
          </a:xfrm>
          <a:prstGeom prst="rect">
            <a:avLst/>
          </a:prstGeom>
          <a:solidFill>
            <a:srgbClr val="FEF9C3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overnight</a:t>
            </a:r>
            <a:endParaRPr lang="en-US" sz="1250" dirty="0"/>
          </a:p>
        </p:txBody>
      </p:sp>
      <p:sp>
        <p:nvSpPr>
          <p:cNvPr id="18" name="R1_m2"/>
          <p:cNvSpPr txBox="1"/>
          <p:nvPr/>
        </p:nvSpPr>
        <p:spPr>
          <a:xfrm>
            <a:off x="5396789" y="2450592"/>
            <a:ext cx="3427171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night – per tutta la notte</a:t>
            </a:r>
            <a:endParaRPr lang="en-US" sz="1150" dirty="0"/>
          </a:p>
        </p:txBody>
      </p:sp>
      <p:sp>
        <p:nvSpPr>
          <p:cNvPr id="19" name="box_84"/>
          <p:cNvSpPr txBox="1"/>
          <p:nvPr/>
        </p:nvSpPr>
        <p:spPr>
          <a:xfrm>
            <a:off x="2788920" y="2962656"/>
            <a:ext cx="2534717" cy="457200"/>
          </a:xfrm>
          <a:prstGeom prst="rect">
            <a:avLst/>
          </a:prstGeom>
          <a:solidFill>
            <a:srgbClr val="DCFCE7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at the last minute</a:t>
            </a:r>
            <a:endParaRPr lang="en-US" sz="1250" dirty="0"/>
          </a:p>
        </p:txBody>
      </p:sp>
      <p:sp>
        <p:nvSpPr>
          <p:cNvPr id="20" name="R1_m3"/>
          <p:cNvSpPr txBox="1"/>
          <p:nvPr/>
        </p:nvSpPr>
        <p:spPr>
          <a:xfrm>
            <a:off x="5396789" y="2980944"/>
            <a:ext cx="3427171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late – all'ultimo momento</a:t>
            </a:r>
            <a:endParaRPr lang="en-US" sz="1150" dirty="0"/>
          </a:p>
        </p:txBody>
      </p:sp>
      <p:sp>
        <p:nvSpPr>
          <p:cNvPr id="21" name="box_85"/>
          <p:cNvSpPr txBox="1"/>
          <p:nvPr/>
        </p:nvSpPr>
        <p:spPr>
          <a:xfrm>
            <a:off x="2788920" y="3493008"/>
            <a:ext cx="2534717" cy="457200"/>
          </a:xfrm>
          <a:prstGeom prst="rect">
            <a:avLst/>
          </a:prstGeom>
          <a:solidFill>
            <a:srgbClr val="EDE9FE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half an hour</a:t>
            </a:r>
            <a:endParaRPr lang="en-US" sz="1250" dirty="0"/>
          </a:p>
        </p:txBody>
      </p:sp>
      <p:sp>
        <p:nvSpPr>
          <p:cNvPr id="22" name="R1_m4"/>
          <p:cNvSpPr txBox="1"/>
          <p:nvPr/>
        </p:nvSpPr>
        <p:spPr>
          <a:xfrm>
            <a:off x="5396789" y="3511296"/>
            <a:ext cx="3427171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minutes</a:t>
            </a:r>
            <a:endParaRPr lang="en-US" sz="1150" dirty="0"/>
          </a:p>
        </p:txBody>
      </p:sp>
      <p:sp>
        <p:nvSpPr>
          <p:cNvPr id="23" name="box_86"/>
          <p:cNvSpPr txBox="1"/>
          <p:nvPr/>
        </p:nvSpPr>
        <p:spPr>
          <a:xfrm>
            <a:off x="2788920" y="4023360"/>
            <a:ext cx="2534717" cy="457200"/>
          </a:xfrm>
          <a:prstGeom prst="rect">
            <a:avLst/>
          </a:prstGeom>
          <a:solidFill>
            <a:srgbClr val="FFEDD5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a quarter of an hour</a:t>
            </a:r>
            <a:endParaRPr lang="en-US" sz="1250" dirty="0"/>
          </a:p>
        </p:txBody>
      </p:sp>
      <p:sp>
        <p:nvSpPr>
          <p:cNvPr id="24" name="R1_m5"/>
          <p:cNvSpPr txBox="1"/>
          <p:nvPr/>
        </p:nvSpPr>
        <p:spPr>
          <a:xfrm>
            <a:off x="5396789" y="4041648"/>
            <a:ext cx="3427171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minutes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velFrame_87"/>
          <p:cNvSpPr/>
          <p:nvPr/>
        </p:nvSpPr>
        <p:spPr>
          <a:xfrm>
            <a:off x="54864" y="54864"/>
            <a:ext cx="9034272" cy="5033772"/>
          </a:xfrm>
          <a:prstGeom prst="rect">
            <a:avLst/>
          </a:prstGeom>
          <a:ln w="114300">
            <a:solidFill>
              <a:srgbClr val="C9B3F0"/>
            </a:solidFill>
            <a:prstDash val="solid"/>
          </a:ln>
        </p:spPr>
      </p:sp>
      <p:pic>
        <p:nvPicPr>
          <p:cNvPr id="3" name="logo_88" descr="London Language School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82880"/>
            <a:ext cx="585216" cy="585216"/>
          </a:xfrm>
          <a:prstGeom prst="rect">
            <a:avLst/>
          </a:prstGeom>
        </p:spPr>
      </p:pic>
      <p:sp>
        <p:nvSpPr>
          <p:cNvPr id="4" name="objective_89"/>
          <p:cNvSpPr txBox="1"/>
          <p:nvPr/>
        </p:nvSpPr>
        <p:spPr>
          <a:xfrm>
            <a:off x="320040" y="182880"/>
            <a:ext cx="4754880" cy="365760"/>
          </a:xfrm>
          <a:prstGeom prst="roundRect">
            <a:avLst>
              <a:gd name="adj" fmla="val 20000"/>
            </a:avLst>
          </a:prstGeom>
          <a:solidFill>
            <a:srgbClr val="062F67"/>
          </a:solidFill>
          <a:ln w="31750">
            <a:solidFill>
              <a:srgbClr val="111111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GRAMMAR · can / can't / could</a:t>
            </a:r>
            <a:endParaRPr lang="en-US" sz="1100" dirty="0"/>
          </a:p>
        </p:txBody>
      </p:sp>
      <p:sp>
        <p:nvSpPr>
          <p:cNvPr id="5" name="timer_90"/>
          <p:cNvSpPr txBox="1"/>
          <p:nvPr/>
        </p:nvSpPr>
        <p:spPr>
          <a:xfrm>
            <a:off x="7086600" y="219456"/>
            <a:ext cx="100584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25400">
            <a:solidFill>
              <a:srgbClr val="6D3FC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3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5 min</a:t>
            </a:r>
            <a:endParaRPr lang="en-US" sz="1200" dirty="0"/>
          </a:p>
        </p:txBody>
      </p:sp>
      <p:sp>
        <p:nvSpPr>
          <p:cNvPr id="6" name="footer_91"/>
          <p:cNvSpPr txBox="1"/>
          <p:nvPr/>
        </p:nvSpPr>
        <p:spPr>
          <a:xfrm>
            <a:off x="7132320" y="4818888"/>
            <a:ext cx="173736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 English · L6</a:t>
            </a:r>
            <a:endParaRPr lang="en-US" sz="1000" dirty="0"/>
          </a:p>
        </p:txBody>
      </p:sp>
      <p:sp>
        <p:nvSpPr>
          <p:cNvPr id="7" name="title_92"/>
          <p:cNvSpPr txBox="1"/>
          <p:nvPr/>
        </p:nvSpPr>
        <p:spPr>
          <a:xfrm rot="90000">
            <a:off x="320040" y="676656"/>
            <a:ext cx="3803904" cy="530352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Can you make bread?</a:t>
            </a:r>
            <a:endParaRPr lang="en-US" sz="2000" dirty="0"/>
          </a:p>
        </p:txBody>
      </p:sp>
      <p:sp>
        <p:nvSpPr>
          <p:cNvPr id="8" name="tape_93"/>
          <p:cNvSpPr/>
          <p:nvPr/>
        </p:nvSpPr>
        <p:spPr>
          <a:xfrm rot="-720000">
            <a:off x="210312" y="585216"/>
            <a:ext cx="685800" cy="219456"/>
          </a:xfrm>
          <a:prstGeom prst="rect">
            <a:avLst/>
          </a:prstGeom>
          <a:solidFill>
            <a:srgbClr val="C9B3F0">
              <a:alpha val="80000"/>
            </a:srgbClr>
          </a:solidFill>
          <a:ln w="6350">
            <a:solidFill>
              <a:srgbClr val="C9B3F0"/>
            </a:solidFill>
            <a:prstDash val="solid"/>
          </a:ln>
        </p:spPr>
      </p:sp>
      <p:sp>
        <p:nvSpPr>
          <p:cNvPr id="9" name="tape_94"/>
          <p:cNvSpPr/>
          <p:nvPr/>
        </p:nvSpPr>
        <p:spPr>
          <a:xfrm rot="-720000">
            <a:off x="3557016" y="1069848"/>
            <a:ext cx="685800" cy="219456"/>
          </a:xfrm>
          <a:prstGeom prst="rect">
            <a:avLst/>
          </a:prstGeom>
          <a:solidFill>
            <a:srgbClr val="C9B3F0">
              <a:alpha val="80000"/>
            </a:srgbClr>
          </a:solidFill>
          <a:ln w="6350">
            <a:solidFill>
              <a:srgbClr val="C9B3F0"/>
            </a:solidFill>
            <a:prstDash val="solid"/>
          </a:ln>
        </p:spPr>
      </p:sp>
      <p:sp>
        <p:nvSpPr>
          <p:cNvPr id="10" name="rh_95"/>
          <p:cNvSpPr txBox="1"/>
          <p:nvPr/>
        </p:nvSpPr>
        <p:spPr>
          <a:xfrm>
            <a:off x="320040" y="1371600"/>
            <a:ext cx="2749296" cy="384048"/>
          </a:xfrm>
          <a:prstGeom prst="rect">
            <a:avLst/>
          </a:prstGeom>
          <a:solidFill>
            <a:srgbClr val="48BDF2"/>
          </a:solidFill>
          <a:ln w="19050">
            <a:solidFill>
              <a:srgbClr val="11111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Ability</a:t>
            </a:r>
            <a:endParaRPr lang="en-US" sz="1300" dirty="0"/>
          </a:p>
        </p:txBody>
      </p:sp>
      <p:sp>
        <p:nvSpPr>
          <p:cNvPr id="11" name="rb_96"/>
          <p:cNvSpPr txBox="1"/>
          <p:nvPr/>
        </p:nvSpPr>
        <p:spPr>
          <a:xfrm>
            <a:off x="320040" y="1810512"/>
            <a:ext cx="2749296" cy="2157984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 wrap="square" lIns="101600" tIns="101600" rIns="101600" bIns="10160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make fresh pasta.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can't speak French.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fillet a fish?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i="1" dirty="0">
                <a:solidFill>
                  <a:srgbClr val="6D3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Yes, I can. / No, I can't.</a:t>
            </a:r>
            <a:endParaRPr lang="en-US" sz="1350" dirty="0"/>
          </a:p>
        </p:txBody>
      </p:sp>
      <p:sp>
        <p:nvSpPr>
          <p:cNvPr id="12" name="rh_97"/>
          <p:cNvSpPr txBox="1"/>
          <p:nvPr/>
        </p:nvSpPr>
        <p:spPr>
          <a:xfrm>
            <a:off x="3197352" y="1371600"/>
            <a:ext cx="2749296" cy="384048"/>
          </a:xfrm>
          <a:prstGeom prst="rect">
            <a:avLst/>
          </a:prstGeom>
          <a:solidFill>
            <a:srgbClr val="EF2F2F"/>
          </a:solidFill>
          <a:ln w="19050">
            <a:solidFill>
              <a:srgbClr val="11111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Permission</a:t>
            </a:r>
            <a:endParaRPr lang="en-US" sz="1300" dirty="0"/>
          </a:p>
        </p:txBody>
      </p:sp>
      <p:sp>
        <p:nvSpPr>
          <p:cNvPr id="13" name="rb_98"/>
          <p:cNvSpPr txBox="1"/>
          <p:nvPr/>
        </p:nvSpPr>
        <p:spPr>
          <a:xfrm>
            <a:off x="3197352" y="1810512"/>
            <a:ext cx="2749296" cy="2157984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 wrap="square" lIns="101600" tIns="101600" rIns="101600" bIns="10160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I take my break now?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can't use your phone in the kitchen.</a:t>
            </a:r>
            <a:endParaRPr lang="en-US" sz="1350" dirty="0"/>
          </a:p>
        </p:txBody>
      </p:sp>
      <p:sp>
        <p:nvSpPr>
          <p:cNvPr id="14" name="rh_99"/>
          <p:cNvSpPr txBox="1"/>
          <p:nvPr/>
        </p:nvSpPr>
        <p:spPr>
          <a:xfrm>
            <a:off x="6074664" y="1371600"/>
            <a:ext cx="2749296" cy="384048"/>
          </a:xfrm>
          <a:prstGeom prst="rect">
            <a:avLst/>
          </a:prstGeom>
          <a:solidFill>
            <a:srgbClr val="1FA463"/>
          </a:solidFill>
          <a:ln w="19050">
            <a:solidFill>
              <a:srgbClr val="11111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Requests</a:t>
            </a:r>
            <a:endParaRPr lang="en-US" sz="1300" dirty="0"/>
          </a:p>
        </p:txBody>
      </p:sp>
      <p:sp>
        <p:nvSpPr>
          <p:cNvPr id="15" name="rb_100"/>
          <p:cNvSpPr txBox="1"/>
          <p:nvPr/>
        </p:nvSpPr>
        <p:spPr>
          <a:xfrm>
            <a:off x="6074664" y="1810512"/>
            <a:ext cx="2749296" cy="2157984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 wrap="square" lIns="101600" tIns="101600" rIns="101600" bIns="10160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help me?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 you pass the salt, please?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i="1" dirty="0">
                <a:solidFill>
                  <a:srgbClr val="6D3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 = more polite</a:t>
            </a:r>
            <a:endParaRPr lang="en-US" sz="1350" dirty="0"/>
          </a:p>
        </p:txBody>
      </p:sp>
      <p:sp>
        <p:nvSpPr>
          <p:cNvPr id="16" name="watch_101"/>
          <p:cNvSpPr txBox="1"/>
          <p:nvPr/>
        </p:nvSpPr>
        <p:spPr>
          <a:xfrm>
            <a:off x="320040" y="4133088"/>
            <a:ext cx="8503920" cy="530352"/>
          </a:xfrm>
          <a:prstGeom prst="rect">
            <a:avLst/>
          </a:prstGeom>
          <a:solidFill>
            <a:srgbClr val="FFE4E6"/>
          </a:solidFill>
          <a:ln w="19050">
            <a:solidFill>
              <a:srgbClr val="111111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out!  </a:t>
            </a:r>
            <a:pPr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I can to cook → ✓ I can cook.     ✗ Do you can…? → ✓ Can you…?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velFrame_102"/>
          <p:cNvSpPr/>
          <p:nvPr/>
        </p:nvSpPr>
        <p:spPr>
          <a:xfrm>
            <a:off x="54864" y="54864"/>
            <a:ext cx="9034272" cy="5033772"/>
          </a:xfrm>
          <a:prstGeom prst="rect">
            <a:avLst/>
          </a:prstGeom>
          <a:ln w="114300">
            <a:solidFill>
              <a:srgbClr val="C9B3F0"/>
            </a:solidFill>
            <a:prstDash val="solid"/>
          </a:ln>
        </p:spPr>
      </p:sp>
      <p:pic>
        <p:nvPicPr>
          <p:cNvPr id="3" name="logo_103" descr="London Language School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82880"/>
            <a:ext cx="585216" cy="585216"/>
          </a:xfrm>
          <a:prstGeom prst="rect">
            <a:avLst/>
          </a:prstGeom>
        </p:spPr>
      </p:pic>
      <p:sp>
        <p:nvSpPr>
          <p:cNvPr id="4" name="objective_104"/>
          <p:cNvSpPr txBox="1"/>
          <p:nvPr/>
        </p:nvSpPr>
        <p:spPr>
          <a:xfrm>
            <a:off x="320040" y="182880"/>
            <a:ext cx="4754880" cy="365760"/>
          </a:xfrm>
          <a:prstGeom prst="roundRect">
            <a:avLst>
              <a:gd name="adj" fmla="val 20000"/>
            </a:avLst>
          </a:prstGeom>
          <a:solidFill>
            <a:srgbClr val="062F67"/>
          </a:solidFill>
          <a:ln w="31750">
            <a:solidFill>
              <a:srgbClr val="111111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GRAMMAR · Practice</a:t>
            </a:r>
            <a:endParaRPr lang="en-US" sz="1100" dirty="0"/>
          </a:p>
        </p:txBody>
      </p:sp>
      <p:sp>
        <p:nvSpPr>
          <p:cNvPr id="5" name="timer_105"/>
          <p:cNvSpPr txBox="1"/>
          <p:nvPr/>
        </p:nvSpPr>
        <p:spPr>
          <a:xfrm>
            <a:off x="7086600" y="219456"/>
            <a:ext cx="100584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25400">
            <a:solidFill>
              <a:srgbClr val="6D3FC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3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5 min</a:t>
            </a:r>
            <a:endParaRPr lang="en-US" sz="1200" dirty="0"/>
          </a:p>
        </p:txBody>
      </p:sp>
      <p:sp>
        <p:nvSpPr>
          <p:cNvPr id="6" name="footer_106"/>
          <p:cNvSpPr txBox="1"/>
          <p:nvPr/>
        </p:nvSpPr>
        <p:spPr>
          <a:xfrm>
            <a:off x="7132320" y="4818888"/>
            <a:ext cx="173736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 English · L6</a:t>
            </a:r>
            <a:endParaRPr lang="en-US" sz="1000" dirty="0"/>
          </a:p>
        </p:txBody>
      </p:sp>
      <p:sp>
        <p:nvSpPr>
          <p:cNvPr id="7" name="title_107"/>
          <p:cNvSpPr txBox="1"/>
          <p:nvPr/>
        </p:nvSpPr>
        <p:spPr>
          <a:xfrm rot="90000">
            <a:off x="320040" y="676656"/>
            <a:ext cx="3977640" cy="530352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can, can't or could?</a:t>
            </a:r>
            <a:endParaRPr lang="en-US" sz="2000" dirty="0"/>
          </a:p>
        </p:txBody>
      </p:sp>
      <p:sp>
        <p:nvSpPr>
          <p:cNvPr id="8" name="tape_108"/>
          <p:cNvSpPr/>
          <p:nvPr/>
        </p:nvSpPr>
        <p:spPr>
          <a:xfrm rot="-720000">
            <a:off x="210312" y="585216"/>
            <a:ext cx="685800" cy="219456"/>
          </a:xfrm>
          <a:prstGeom prst="rect">
            <a:avLst/>
          </a:prstGeom>
          <a:solidFill>
            <a:srgbClr val="C9B3F0">
              <a:alpha val="80000"/>
            </a:srgbClr>
          </a:solidFill>
          <a:ln w="6350">
            <a:solidFill>
              <a:srgbClr val="C9B3F0"/>
            </a:solidFill>
            <a:prstDash val="solid"/>
          </a:ln>
        </p:spPr>
      </p:sp>
      <p:sp>
        <p:nvSpPr>
          <p:cNvPr id="9" name="tape_109"/>
          <p:cNvSpPr/>
          <p:nvPr/>
        </p:nvSpPr>
        <p:spPr>
          <a:xfrm rot="-720000">
            <a:off x="3730752" y="1069848"/>
            <a:ext cx="685800" cy="219456"/>
          </a:xfrm>
          <a:prstGeom prst="rect">
            <a:avLst/>
          </a:prstGeom>
          <a:solidFill>
            <a:srgbClr val="C9B3F0">
              <a:alpha val="80000"/>
            </a:srgbClr>
          </a:solidFill>
          <a:ln w="6350">
            <a:solidFill>
              <a:srgbClr val="C9B3F0"/>
            </a:solidFill>
            <a:prstDash val="solid"/>
          </a:ln>
        </p:spPr>
      </p:sp>
      <p:sp>
        <p:nvSpPr>
          <p:cNvPr id="10" name="post_110"/>
          <p:cNvSpPr/>
          <p:nvPr/>
        </p:nvSpPr>
        <p:spPr>
          <a:xfrm>
            <a:off x="429768" y="1554480"/>
            <a:ext cx="128016" cy="2194560"/>
          </a:xfrm>
          <a:prstGeom prst="rect">
            <a:avLst/>
          </a:prstGeom>
          <a:solidFill>
            <a:srgbClr val="8B5A2B"/>
          </a:solidFill>
          <a:ln w="31750">
            <a:solidFill>
              <a:srgbClr val="111111"/>
            </a:solidFill>
            <a:prstDash val="solid"/>
          </a:ln>
        </p:spPr>
      </p:sp>
      <p:sp>
        <p:nvSpPr>
          <p:cNvPr id="11" name="signA_111"/>
          <p:cNvSpPr txBox="1"/>
          <p:nvPr/>
        </p:nvSpPr>
        <p:spPr>
          <a:xfrm rot="-180000">
            <a:off x="320040" y="1371600"/>
            <a:ext cx="2240280" cy="457200"/>
          </a:xfrm>
          <a:prstGeom prst="homePlate">
            <a:avLst/>
          </a:prstGeom>
          <a:solidFill>
            <a:srgbClr val="6D3FC0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WRITE!</a:t>
            </a:r>
            <a:pPr indent="0" marL="0">
              <a:buNone/>
            </a:pPr>
            <a:r>
              <a:rPr lang="en-US" sz="1000" dirty="0">
                <a:solidFill>
                  <a:srgbClr val="FFF3B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 SCRIVI!</a:t>
            </a:r>
            <a:endParaRPr lang="en-US" sz="1500" dirty="0"/>
          </a:p>
        </p:txBody>
      </p:sp>
      <p:sp>
        <p:nvSpPr>
          <p:cNvPr id="12" name="signB_112"/>
          <p:cNvSpPr txBox="1"/>
          <p:nvPr/>
        </p:nvSpPr>
        <p:spPr>
          <a:xfrm rot="120000">
            <a:off x="365760" y="1938528"/>
            <a:ext cx="2240280" cy="1051560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with can · can't · could.</a:t>
            </a:r>
            <a:endParaRPr lang="en-US" sz="1250" dirty="0"/>
          </a:p>
          <a:p>
            <a:pPr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 con can / can't / could.</a:t>
            </a:r>
            <a:endParaRPr lang="en-US" sz="1250" dirty="0"/>
          </a:p>
        </p:txBody>
      </p:sp>
      <p:sp>
        <p:nvSpPr>
          <p:cNvPr id="13" name="box_113"/>
          <p:cNvSpPr txBox="1"/>
          <p:nvPr/>
        </p:nvSpPr>
        <p:spPr>
          <a:xfrm>
            <a:off x="2788920" y="1371600"/>
            <a:ext cx="1949318" cy="868680"/>
          </a:xfrm>
          <a:prstGeom prst="rect">
            <a:avLst/>
          </a:prstGeom>
          <a:solidFill>
            <a:srgbClr val="E0F2FE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___ you pass me the salt, please?</a:t>
            </a:r>
            <a:endParaRPr lang="en-US" sz="1350" dirty="0"/>
          </a:p>
        </p:txBody>
      </p:sp>
      <p:sp>
        <p:nvSpPr>
          <p:cNvPr id="14" name="R1_a0"/>
          <p:cNvSpPr txBox="1"/>
          <p:nvPr/>
        </p:nvSpPr>
        <p:spPr>
          <a:xfrm>
            <a:off x="4793102" y="1408176"/>
            <a:ext cx="949330" cy="795528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 / Can</a:t>
            </a:r>
            <a:endParaRPr lang="en-US" sz="1200" dirty="0"/>
          </a:p>
        </p:txBody>
      </p:sp>
      <p:sp>
        <p:nvSpPr>
          <p:cNvPr id="15" name="box_114"/>
          <p:cNvSpPr txBox="1"/>
          <p:nvPr/>
        </p:nvSpPr>
        <p:spPr>
          <a:xfrm>
            <a:off x="5870448" y="1371600"/>
            <a:ext cx="1949318" cy="868680"/>
          </a:xfrm>
          <a:prstGeom prst="rect">
            <a:avLst/>
          </a:prstGeom>
          <a:solidFill>
            <a:srgbClr val="FCE7F3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I ___ make bread – I never learnt.</a:t>
            </a:r>
            <a:endParaRPr lang="en-US" sz="1350" dirty="0"/>
          </a:p>
        </p:txBody>
      </p:sp>
      <p:sp>
        <p:nvSpPr>
          <p:cNvPr id="16" name="R1_a1"/>
          <p:cNvSpPr txBox="1"/>
          <p:nvPr/>
        </p:nvSpPr>
        <p:spPr>
          <a:xfrm>
            <a:off x="7874630" y="1408176"/>
            <a:ext cx="949330" cy="795528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can't</a:t>
            </a:r>
            <a:endParaRPr lang="en-US" sz="1200" dirty="0"/>
          </a:p>
        </p:txBody>
      </p:sp>
      <p:sp>
        <p:nvSpPr>
          <p:cNvPr id="17" name="box_115"/>
          <p:cNvSpPr txBox="1"/>
          <p:nvPr/>
        </p:nvSpPr>
        <p:spPr>
          <a:xfrm>
            <a:off x="2788920" y="2368296"/>
            <a:ext cx="1949318" cy="868680"/>
          </a:xfrm>
          <a:prstGeom prst="rect">
            <a:avLst/>
          </a:prstGeom>
          <a:solidFill>
            <a:srgbClr val="FEF9C3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___ I leave early today?</a:t>
            </a:r>
            <a:endParaRPr lang="en-US" sz="1350" dirty="0"/>
          </a:p>
        </p:txBody>
      </p:sp>
      <p:sp>
        <p:nvSpPr>
          <p:cNvPr id="18" name="R1_a2"/>
          <p:cNvSpPr txBox="1"/>
          <p:nvPr/>
        </p:nvSpPr>
        <p:spPr>
          <a:xfrm>
            <a:off x="4793102" y="2404872"/>
            <a:ext cx="949330" cy="795528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</a:t>
            </a:r>
            <a:endParaRPr lang="en-US" sz="1200" dirty="0"/>
          </a:p>
        </p:txBody>
      </p:sp>
      <p:sp>
        <p:nvSpPr>
          <p:cNvPr id="19" name="box_116"/>
          <p:cNvSpPr txBox="1"/>
          <p:nvPr/>
        </p:nvSpPr>
        <p:spPr>
          <a:xfrm>
            <a:off x="5870448" y="2368296"/>
            <a:ext cx="1949318" cy="868680"/>
          </a:xfrm>
          <a:prstGeom prst="rect">
            <a:avLst/>
          </a:prstGeom>
          <a:solidFill>
            <a:srgbClr val="DCFCE7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She ___ cook for 200 people!</a:t>
            </a:r>
            <a:endParaRPr lang="en-US" sz="1350" dirty="0"/>
          </a:p>
        </p:txBody>
      </p:sp>
      <p:sp>
        <p:nvSpPr>
          <p:cNvPr id="20" name="R1_a3"/>
          <p:cNvSpPr txBox="1"/>
          <p:nvPr/>
        </p:nvSpPr>
        <p:spPr>
          <a:xfrm>
            <a:off x="7874630" y="2404872"/>
            <a:ext cx="949330" cy="795528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</a:t>
            </a:r>
            <a:endParaRPr lang="en-US" sz="1200" dirty="0"/>
          </a:p>
        </p:txBody>
      </p:sp>
      <p:sp>
        <p:nvSpPr>
          <p:cNvPr id="21" name="box_117"/>
          <p:cNvSpPr txBox="1"/>
          <p:nvPr/>
        </p:nvSpPr>
        <p:spPr>
          <a:xfrm>
            <a:off x="2788920" y="3364992"/>
            <a:ext cx="1949318" cy="868680"/>
          </a:xfrm>
          <a:prstGeom prst="rect">
            <a:avLst/>
          </a:prstGeom>
          <a:solidFill>
            <a:srgbClr val="EDE9FE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You ___ smoke in the kitchen!</a:t>
            </a:r>
            <a:endParaRPr lang="en-US" sz="1350" dirty="0"/>
          </a:p>
        </p:txBody>
      </p:sp>
      <p:sp>
        <p:nvSpPr>
          <p:cNvPr id="22" name="R1_a4"/>
          <p:cNvSpPr txBox="1"/>
          <p:nvPr/>
        </p:nvSpPr>
        <p:spPr>
          <a:xfrm>
            <a:off x="4793102" y="3401568"/>
            <a:ext cx="949330" cy="795528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can't</a:t>
            </a:r>
            <a:endParaRPr lang="en-US" sz="1200" dirty="0"/>
          </a:p>
        </p:txBody>
      </p:sp>
      <p:sp>
        <p:nvSpPr>
          <p:cNvPr id="23" name="box_118"/>
          <p:cNvSpPr txBox="1"/>
          <p:nvPr/>
        </p:nvSpPr>
        <p:spPr>
          <a:xfrm>
            <a:off x="5870448" y="3364992"/>
            <a:ext cx="1949318" cy="868680"/>
          </a:xfrm>
          <a:prstGeom prst="rect">
            <a:avLst/>
          </a:prstGeom>
          <a:solidFill>
            <a:srgbClr val="FFEDD5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___ you help me with this box?</a:t>
            </a:r>
            <a:endParaRPr lang="en-US" sz="1350" dirty="0"/>
          </a:p>
        </p:txBody>
      </p:sp>
      <p:sp>
        <p:nvSpPr>
          <p:cNvPr id="24" name="R1_a5"/>
          <p:cNvSpPr txBox="1"/>
          <p:nvPr/>
        </p:nvSpPr>
        <p:spPr>
          <a:xfrm>
            <a:off x="7874630" y="3401568"/>
            <a:ext cx="949330" cy="795528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 / Can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velFrame_119"/>
          <p:cNvSpPr/>
          <p:nvPr/>
        </p:nvSpPr>
        <p:spPr>
          <a:xfrm>
            <a:off x="54864" y="54864"/>
            <a:ext cx="9034272" cy="5033772"/>
          </a:xfrm>
          <a:prstGeom prst="rect">
            <a:avLst/>
          </a:prstGeom>
          <a:ln w="114300">
            <a:solidFill>
              <a:srgbClr val="C9B3F0"/>
            </a:solidFill>
            <a:prstDash val="solid"/>
          </a:ln>
        </p:spPr>
      </p:sp>
      <p:pic>
        <p:nvPicPr>
          <p:cNvPr id="3" name="logo_120" descr="London Language School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82880"/>
            <a:ext cx="585216" cy="585216"/>
          </a:xfrm>
          <a:prstGeom prst="rect">
            <a:avLst/>
          </a:prstGeom>
        </p:spPr>
      </p:pic>
      <p:sp>
        <p:nvSpPr>
          <p:cNvPr id="4" name="objective_121"/>
          <p:cNvSpPr txBox="1"/>
          <p:nvPr/>
        </p:nvSpPr>
        <p:spPr>
          <a:xfrm>
            <a:off x="320040" y="182880"/>
            <a:ext cx="4754880" cy="365760"/>
          </a:xfrm>
          <a:prstGeom prst="roundRect">
            <a:avLst>
              <a:gd name="adj" fmla="val 20000"/>
            </a:avLst>
          </a:prstGeom>
          <a:solidFill>
            <a:srgbClr val="062F67"/>
          </a:solidFill>
          <a:ln w="31750">
            <a:solidFill>
              <a:srgbClr val="111111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READING · A temperature log</a:t>
            </a:r>
            <a:endParaRPr lang="en-US" sz="1100" dirty="0"/>
          </a:p>
        </p:txBody>
      </p:sp>
      <p:sp>
        <p:nvSpPr>
          <p:cNvPr id="5" name="timer_122"/>
          <p:cNvSpPr txBox="1"/>
          <p:nvPr/>
        </p:nvSpPr>
        <p:spPr>
          <a:xfrm>
            <a:off x="7086600" y="219456"/>
            <a:ext cx="100584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25400">
            <a:solidFill>
              <a:srgbClr val="6D3FC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3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6 min</a:t>
            </a:r>
            <a:endParaRPr lang="en-US" sz="1200" dirty="0"/>
          </a:p>
        </p:txBody>
      </p:sp>
      <p:sp>
        <p:nvSpPr>
          <p:cNvPr id="6" name="footer_123"/>
          <p:cNvSpPr txBox="1"/>
          <p:nvPr/>
        </p:nvSpPr>
        <p:spPr>
          <a:xfrm>
            <a:off x="7132320" y="4818888"/>
            <a:ext cx="173736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 English · L6</a:t>
            </a:r>
            <a:endParaRPr lang="en-US" sz="1000" dirty="0"/>
          </a:p>
        </p:txBody>
      </p:sp>
      <p:sp>
        <p:nvSpPr>
          <p:cNvPr id="7" name="title_124"/>
          <p:cNvSpPr txBox="1"/>
          <p:nvPr/>
        </p:nvSpPr>
        <p:spPr>
          <a:xfrm rot="90000">
            <a:off x="320040" y="676656"/>
            <a:ext cx="2587752" cy="530352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Fridge check</a:t>
            </a:r>
            <a:endParaRPr lang="en-US" sz="2000" dirty="0"/>
          </a:p>
        </p:txBody>
      </p:sp>
      <p:sp>
        <p:nvSpPr>
          <p:cNvPr id="8" name="tape_125"/>
          <p:cNvSpPr/>
          <p:nvPr/>
        </p:nvSpPr>
        <p:spPr>
          <a:xfrm rot="-720000">
            <a:off x="210312" y="585216"/>
            <a:ext cx="685800" cy="219456"/>
          </a:xfrm>
          <a:prstGeom prst="rect">
            <a:avLst/>
          </a:prstGeom>
          <a:solidFill>
            <a:srgbClr val="C9B3F0">
              <a:alpha val="80000"/>
            </a:srgbClr>
          </a:solidFill>
          <a:ln w="6350">
            <a:solidFill>
              <a:srgbClr val="C9B3F0"/>
            </a:solidFill>
            <a:prstDash val="solid"/>
          </a:ln>
        </p:spPr>
      </p:sp>
      <p:sp>
        <p:nvSpPr>
          <p:cNvPr id="9" name="tape_126"/>
          <p:cNvSpPr/>
          <p:nvPr/>
        </p:nvSpPr>
        <p:spPr>
          <a:xfrm rot="-720000">
            <a:off x="2340864" y="1069848"/>
            <a:ext cx="685800" cy="219456"/>
          </a:xfrm>
          <a:prstGeom prst="rect">
            <a:avLst/>
          </a:prstGeom>
          <a:solidFill>
            <a:srgbClr val="C9B3F0">
              <a:alpha val="80000"/>
            </a:srgbClr>
          </a:solidFill>
          <a:ln w="6350">
            <a:solidFill>
              <a:srgbClr val="C9B3F0"/>
            </a:solidFill>
            <a:prstDash val="solid"/>
          </a:ln>
        </p:spPr>
      </p:sp>
      <p:sp>
        <p:nvSpPr>
          <p:cNvPr id="10" name="rsign_127"/>
          <p:cNvSpPr txBox="1"/>
          <p:nvPr/>
        </p:nvSpPr>
        <p:spPr>
          <a:xfrm>
            <a:off x="320040" y="1298448"/>
            <a:ext cx="8503920" cy="384048"/>
          </a:xfrm>
          <a:prstGeom prst="rect">
            <a:avLst/>
          </a:prstGeom>
          <a:solidFill>
            <a:srgbClr val="48BDF2"/>
          </a:solidFill>
          <a:ln w="19050">
            <a:solidFill>
              <a:srgbClr val="111111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READ! LEGGI!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temperature log. Answer the questions.  </a:t>
            </a:r>
            <a:pPr indent="0" marL="0">
              <a:buNone/>
            </a:pPr>
            <a:r>
              <a:rPr lang="en-US" sz="110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Leggi il registro delle temperature e rispondi.</a:t>
            </a:r>
            <a:endParaRPr lang="en-US" sz="1200" dirty="0"/>
          </a:p>
        </p:txBody>
      </p:sp>
      <p:sp>
        <p:nvSpPr>
          <p:cNvPr id="11" name="rtext_128"/>
          <p:cNvSpPr txBox="1"/>
          <p:nvPr/>
        </p:nvSpPr>
        <p:spPr>
          <a:xfrm rot="-30000">
            <a:off x="320040" y="1810512"/>
            <a:ext cx="4343400" cy="2880360"/>
          </a:xfrm>
          <a:prstGeom prst="rect">
            <a:avLst/>
          </a:prstGeom>
          <a:solidFill>
            <a:srgbClr val="FFFDF5"/>
          </a:solidFill>
          <a:ln w="190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114300" tIns="114300" rIns="114300" bIns="11430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6D3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🌡 Temperature log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7.00  Fridge 1: 3°C · Fridge 2: 4°C · Freezer: –18°C ✓ (Marco)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15.00  Fridge 1: 4°C · Fridge 2: 9°C ✗ Door open! Closed it. 15.30: 5°C ✓ (Anna)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 7.00  Fridge 1: 3°C · Fridge 2: 4°C · Freezer: –12°C ✗ Called the engineer. (Marco)</a:t>
            </a:r>
            <a:endParaRPr lang="en-US" sz="1300" dirty="0"/>
          </a:p>
        </p:txBody>
      </p:sp>
      <p:sp>
        <p:nvSpPr>
          <p:cNvPr id="12" name="box_129"/>
          <p:cNvSpPr txBox="1"/>
          <p:nvPr/>
        </p:nvSpPr>
        <p:spPr>
          <a:xfrm>
            <a:off x="4828032" y="1810512"/>
            <a:ext cx="2317638" cy="517550"/>
          </a:xfrm>
          <a:prstGeom prst="rect">
            <a:avLst/>
          </a:prstGeom>
          <a:solidFill>
            <a:srgbClr val="E0F2FE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Which fridge had a problem on Monday?</a:t>
            </a:r>
            <a:endParaRPr lang="en-US" sz="1150" dirty="0"/>
          </a:p>
        </p:txBody>
      </p:sp>
      <p:sp>
        <p:nvSpPr>
          <p:cNvPr id="13" name="R1_ra0"/>
          <p:cNvSpPr txBox="1"/>
          <p:nvPr/>
        </p:nvSpPr>
        <p:spPr>
          <a:xfrm>
            <a:off x="7191390" y="1837944"/>
            <a:ext cx="1632570" cy="462686"/>
          </a:xfrm>
          <a:prstGeom prst="roundRect">
            <a:avLst>
              <a:gd name="adj" fmla="val 11858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Fridge 2 – 9°C</a:t>
            </a:r>
            <a:endParaRPr lang="en-US" sz="1050" dirty="0"/>
          </a:p>
        </p:txBody>
      </p:sp>
      <p:sp>
        <p:nvSpPr>
          <p:cNvPr id="14" name="box_130"/>
          <p:cNvSpPr txBox="1"/>
          <p:nvPr/>
        </p:nvSpPr>
        <p:spPr>
          <a:xfrm>
            <a:off x="4828032" y="2401214"/>
            <a:ext cx="2317638" cy="517550"/>
          </a:xfrm>
          <a:prstGeom prst="rect">
            <a:avLst/>
          </a:prstGeom>
          <a:solidFill>
            <a:srgbClr val="FCE7F3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Why?</a:t>
            </a:r>
            <a:endParaRPr lang="en-US" sz="1150" dirty="0"/>
          </a:p>
        </p:txBody>
      </p:sp>
      <p:sp>
        <p:nvSpPr>
          <p:cNvPr id="15" name="R1_ra1"/>
          <p:cNvSpPr txBox="1"/>
          <p:nvPr/>
        </p:nvSpPr>
        <p:spPr>
          <a:xfrm>
            <a:off x="7191390" y="2428646"/>
            <a:ext cx="1632570" cy="462686"/>
          </a:xfrm>
          <a:prstGeom prst="roundRect">
            <a:avLst>
              <a:gd name="adj" fmla="val 11858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door was open</a:t>
            </a:r>
            <a:endParaRPr lang="en-US" sz="1050" dirty="0"/>
          </a:p>
        </p:txBody>
      </p:sp>
      <p:sp>
        <p:nvSpPr>
          <p:cNvPr id="16" name="box_131"/>
          <p:cNvSpPr txBox="1"/>
          <p:nvPr/>
        </p:nvSpPr>
        <p:spPr>
          <a:xfrm>
            <a:off x="4828032" y="2991917"/>
            <a:ext cx="2317638" cy="517550"/>
          </a:xfrm>
          <a:prstGeom prst="rect">
            <a:avLst/>
          </a:prstGeom>
          <a:solidFill>
            <a:srgbClr val="FEF9C3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What was it at 15.30?</a:t>
            </a:r>
            <a:endParaRPr lang="en-US" sz="1150" dirty="0"/>
          </a:p>
        </p:txBody>
      </p:sp>
      <p:sp>
        <p:nvSpPr>
          <p:cNvPr id="17" name="R1_ra2"/>
          <p:cNvSpPr txBox="1"/>
          <p:nvPr/>
        </p:nvSpPr>
        <p:spPr>
          <a:xfrm>
            <a:off x="7191390" y="3019349"/>
            <a:ext cx="1632570" cy="462686"/>
          </a:xfrm>
          <a:prstGeom prst="roundRect">
            <a:avLst>
              <a:gd name="adj" fmla="val 11858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5°C</a:t>
            </a:r>
            <a:endParaRPr lang="en-US" sz="1050" dirty="0"/>
          </a:p>
        </p:txBody>
      </p:sp>
      <p:sp>
        <p:nvSpPr>
          <p:cNvPr id="18" name="box_132"/>
          <p:cNvSpPr txBox="1"/>
          <p:nvPr/>
        </p:nvSpPr>
        <p:spPr>
          <a:xfrm>
            <a:off x="4828032" y="3582619"/>
            <a:ext cx="2317638" cy="517550"/>
          </a:xfrm>
          <a:prstGeom prst="rect">
            <a:avLst/>
          </a:prstGeom>
          <a:solidFill>
            <a:srgbClr val="DCFCE7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What was wrong with the freezer?</a:t>
            </a:r>
            <a:endParaRPr lang="en-US" sz="1150" dirty="0"/>
          </a:p>
        </p:txBody>
      </p:sp>
      <p:sp>
        <p:nvSpPr>
          <p:cNvPr id="19" name="R1_ra3"/>
          <p:cNvSpPr txBox="1"/>
          <p:nvPr/>
        </p:nvSpPr>
        <p:spPr>
          <a:xfrm>
            <a:off x="7191390" y="3610051"/>
            <a:ext cx="1632570" cy="462686"/>
          </a:xfrm>
          <a:prstGeom prst="roundRect">
            <a:avLst>
              <a:gd name="adj" fmla="val 11858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–12°C (should be –18°C)</a:t>
            </a:r>
            <a:endParaRPr lang="en-US" sz="1050" dirty="0"/>
          </a:p>
        </p:txBody>
      </p:sp>
      <p:sp>
        <p:nvSpPr>
          <p:cNvPr id="20" name="box_133"/>
          <p:cNvSpPr txBox="1"/>
          <p:nvPr/>
        </p:nvSpPr>
        <p:spPr>
          <a:xfrm>
            <a:off x="4828032" y="4173322"/>
            <a:ext cx="2317638" cy="517550"/>
          </a:xfrm>
          <a:prstGeom prst="rect">
            <a:avLst/>
          </a:prstGeom>
          <a:solidFill>
            <a:srgbClr val="EDE9FE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What did Marco do?</a:t>
            </a:r>
            <a:endParaRPr lang="en-US" sz="1150" dirty="0"/>
          </a:p>
        </p:txBody>
      </p:sp>
      <p:sp>
        <p:nvSpPr>
          <p:cNvPr id="21" name="R1_ra4"/>
          <p:cNvSpPr txBox="1"/>
          <p:nvPr/>
        </p:nvSpPr>
        <p:spPr>
          <a:xfrm>
            <a:off x="7191390" y="4200754"/>
            <a:ext cx="1632570" cy="462686"/>
          </a:xfrm>
          <a:prstGeom prst="roundRect">
            <a:avLst>
              <a:gd name="adj" fmla="val 11858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 the engineer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velFrame_134"/>
          <p:cNvSpPr/>
          <p:nvPr/>
        </p:nvSpPr>
        <p:spPr>
          <a:xfrm>
            <a:off x="54864" y="54864"/>
            <a:ext cx="9034272" cy="5033772"/>
          </a:xfrm>
          <a:prstGeom prst="rect">
            <a:avLst/>
          </a:prstGeom>
          <a:ln w="114300">
            <a:solidFill>
              <a:srgbClr val="C9B3F0"/>
            </a:solidFill>
            <a:prstDash val="solid"/>
          </a:ln>
        </p:spPr>
      </p:sp>
      <p:pic>
        <p:nvPicPr>
          <p:cNvPr id="3" name="logo_135" descr="London Language School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82880"/>
            <a:ext cx="585216" cy="585216"/>
          </a:xfrm>
          <a:prstGeom prst="rect">
            <a:avLst/>
          </a:prstGeom>
        </p:spPr>
      </p:pic>
      <p:sp>
        <p:nvSpPr>
          <p:cNvPr id="4" name="objective_136"/>
          <p:cNvSpPr txBox="1"/>
          <p:nvPr/>
        </p:nvSpPr>
        <p:spPr>
          <a:xfrm>
            <a:off x="320040" y="182880"/>
            <a:ext cx="4754880" cy="365760"/>
          </a:xfrm>
          <a:prstGeom prst="roundRect">
            <a:avLst>
              <a:gd name="adj" fmla="val 20000"/>
            </a:avLst>
          </a:prstGeom>
          <a:solidFill>
            <a:srgbClr val="062F67"/>
          </a:solidFill>
          <a:ln w="31750">
            <a:solidFill>
              <a:srgbClr val="111111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NUMBERS · Maths challenge</a:t>
            </a:r>
            <a:endParaRPr lang="en-US" sz="1100" dirty="0"/>
          </a:p>
        </p:txBody>
      </p:sp>
      <p:sp>
        <p:nvSpPr>
          <p:cNvPr id="5" name="timer_137"/>
          <p:cNvSpPr txBox="1"/>
          <p:nvPr/>
        </p:nvSpPr>
        <p:spPr>
          <a:xfrm>
            <a:off x="7086600" y="219456"/>
            <a:ext cx="100584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25400">
            <a:solidFill>
              <a:srgbClr val="6D3FC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3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5 min</a:t>
            </a:r>
            <a:endParaRPr lang="en-US" sz="1200" dirty="0"/>
          </a:p>
        </p:txBody>
      </p:sp>
      <p:sp>
        <p:nvSpPr>
          <p:cNvPr id="6" name="footer_138"/>
          <p:cNvSpPr txBox="1"/>
          <p:nvPr/>
        </p:nvSpPr>
        <p:spPr>
          <a:xfrm>
            <a:off x="7132320" y="4818888"/>
            <a:ext cx="173736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 English · L6</a:t>
            </a:r>
            <a:endParaRPr lang="en-US" sz="1000" dirty="0"/>
          </a:p>
        </p:txBody>
      </p:sp>
      <p:sp>
        <p:nvSpPr>
          <p:cNvPr id="7" name="title_139"/>
          <p:cNvSpPr txBox="1"/>
          <p:nvPr/>
        </p:nvSpPr>
        <p:spPr>
          <a:xfrm rot="90000">
            <a:off x="320040" y="676656"/>
            <a:ext cx="3456432" cy="530352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Scale the recipe!</a:t>
            </a:r>
            <a:endParaRPr lang="en-US" sz="2000" dirty="0"/>
          </a:p>
        </p:txBody>
      </p:sp>
      <p:sp>
        <p:nvSpPr>
          <p:cNvPr id="8" name="tape_140"/>
          <p:cNvSpPr/>
          <p:nvPr/>
        </p:nvSpPr>
        <p:spPr>
          <a:xfrm rot="-720000">
            <a:off x="210312" y="585216"/>
            <a:ext cx="685800" cy="219456"/>
          </a:xfrm>
          <a:prstGeom prst="rect">
            <a:avLst/>
          </a:prstGeom>
          <a:solidFill>
            <a:srgbClr val="C9B3F0">
              <a:alpha val="80000"/>
            </a:srgbClr>
          </a:solidFill>
          <a:ln w="6350">
            <a:solidFill>
              <a:srgbClr val="C9B3F0"/>
            </a:solidFill>
            <a:prstDash val="solid"/>
          </a:ln>
        </p:spPr>
      </p:sp>
      <p:sp>
        <p:nvSpPr>
          <p:cNvPr id="9" name="tape_141"/>
          <p:cNvSpPr/>
          <p:nvPr/>
        </p:nvSpPr>
        <p:spPr>
          <a:xfrm rot="-720000">
            <a:off x="3209544" y="1069848"/>
            <a:ext cx="685800" cy="219456"/>
          </a:xfrm>
          <a:prstGeom prst="rect">
            <a:avLst/>
          </a:prstGeom>
          <a:solidFill>
            <a:srgbClr val="C9B3F0">
              <a:alpha val="80000"/>
            </a:srgbClr>
          </a:solidFill>
          <a:ln w="6350">
            <a:solidFill>
              <a:srgbClr val="C9B3F0"/>
            </a:solidFill>
            <a:prstDash val="solid"/>
          </a:ln>
        </p:spPr>
      </p:sp>
      <p:sp>
        <p:nvSpPr>
          <p:cNvPr id="10" name="post_142"/>
          <p:cNvSpPr/>
          <p:nvPr/>
        </p:nvSpPr>
        <p:spPr>
          <a:xfrm>
            <a:off x="429768" y="1554480"/>
            <a:ext cx="128016" cy="2194560"/>
          </a:xfrm>
          <a:prstGeom prst="rect">
            <a:avLst/>
          </a:prstGeom>
          <a:solidFill>
            <a:srgbClr val="8B5A2B"/>
          </a:solidFill>
          <a:ln w="31750">
            <a:solidFill>
              <a:srgbClr val="111111"/>
            </a:solidFill>
            <a:prstDash val="solid"/>
          </a:ln>
        </p:spPr>
      </p:sp>
      <p:sp>
        <p:nvSpPr>
          <p:cNvPr id="11" name="signA_143"/>
          <p:cNvSpPr txBox="1"/>
          <p:nvPr/>
        </p:nvSpPr>
        <p:spPr>
          <a:xfrm rot="-180000">
            <a:off x="320040" y="1371600"/>
            <a:ext cx="2240280" cy="457200"/>
          </a:xfrm>
          <a:prstGeom prst="homePlate">
            <a:avLst/>
          </a:prstGeom>
          <a:solidFill>
            <a:srgbClr val="062F67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THINK!</a:t>
            </a:r>
            <a:pPr indent="0" marL="0">
              <a:buNone/>
            </a:pPr>
            <a:r>
              <a:rPr lang="en-US" sz="1000" dirty="0">
                <a:solidFill>
                  <a:srgbClr val="FFF3B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 PENSA!</a:t>
            </a:r>
            <a:endParaRPr lang="en-US" sz="1500" dirty="0"/>
          </a:p>
        </p:txBody>
      </p:sp>
      <p:sp>
        <p:nvSpPr>
          <p:cNvPr id="12" name="signB_144"/>
          <p:cNvSpPr txBox="1"/>
          <p:nvPr/>
        </p:nvSpPr>
        <p:spPr>
          <a:xfrm rot="120000">
            <a:off x="365760" y="1938528"/>
            <a:ext cx="2240280" cy="1051560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recipe is for 4. Make it for 12! Say it in full.</a:t>
            </a:r>
            <a:endParaRPr lang="en-US" sz="1250" dirty="0"/>
          </a:p>
          <a:p>
            <a:pPr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ricetta è per 4. Falla per 12! Dillo per intero.</a:t>
            </a:r>
            <a:endParaRPr lang="en-US" sz="1250" dirty="0"/>
          </a:p>
        </p:txBody>
      </p:sp>
      <p:sp>
        <p:nvSpPr>
          <p:cNvPr id="13" name="box_145"/>
          <p:cNvSpPr txBox="1"/>
          <p:nvPr/>
        </p:nvSpPr>
        <p:spPr>
          <a:xfrm>
            <a:off x="2788920" y="1371600"/>
            <a:ext cx="3017520" cy="555955"/>
          </a:xfrm>
          <a:prstGeom prst="rect">
            <a:avLst/>
          </a:prstGeom>
          <a:solidFill>
            <a:srgbClr val="E0F2FE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200 g pasta → ?</a:t>
            </a:r>
            <a:endParaRPr lang="en-US" sz="1350" dirty="0"/>
          </a:p>
        </p:txBody>
      </p:sp>
      <p:sp>
        <p:nvSpPr>
          <p:cNvPr id="14" name="R1_a0"/>
          <p:cNvSpPr txBox="1"/>
          <p:nvPr/>
        </p:nvSpPr>
        <p:spPr>
          <a:xfrm>
            <a:off x="5861304" y="1408176"/>
            <a:ext cx="2962656" cy="482803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hundred grams of pasta</a:t>
            </a:r>
            <a:endParaRPr lang="en-US" sz="1250" dirty="0"/>
          </a:p>
        </p:txBody>
      </p:sp>
      <p:sp>
        <p:nvSpPr>
          <p:cNvPr id="15" name="box_146"/>
          <p:cNvSpPr txBox="1"/>
          <p:nvPr/>
        </p:nvSpPr>
        <p:spPr>
          <a:xfrm>
            <a:off x="2788920" y="2055571"/>
            <a:ext cx="3017520" cy="555955"/>
          </a:xfrm>
          <a:prstGeom prst="rect">
            <a:avLst/>
          </a:prstGeom>
          <a:solidFill>
            <a:srgbClr val="FCE7F3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2 eggs → ?</a:t>
            </a:r>
            <a:endParaRPr lang="en-US" sz="1350" dirty="0"/>
          </a:p>
        </p:txBody>
      </p:sp>
      <p:sp>
        <p:nvSpPr>
          <p:cNvPr id="16" name="R1_a1"/>
          <p:cNvSpPr txBox="1"/>
          <p:nvPr/>
        </p:nvSpPr>
        <p:spPr>
          <a:xfrm>
            <a:off x="5861304" y="2092147"/>
            <a:ext cx="2962656" cy="482803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eggs</a:t>
            </a:r>
            <a:endParaRPr lang="en-US" sz="1250" dirty="0"/>
          </a:p>
        </p:txBody>
      </p:sp>
      <p:sp>
        <p:nvSpPr>
          <p:cNvPr id="17" name="box_147"/>
          <p:cNvSpPr txBox="1"/>
          <p:nvPr/>
        </p:nvSpPr>
        <p:spPr>
          <a:xfrm>
            <a:off x="2788920" y="2739542"/>
            <a:ext cx="3017520" cy="555955"/>
          </a:xfrm>
          <a:prstGeom prst="rect">
            <a:avLst/>
          </a:prstGeom>
          <a:solidFill>
            <a:srgbClr val="FEF9C3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100 ml cream → ?</a:t>
            </a:r>
            <a:endParaRPr lang="en-US" sz="1350" dirty="0"/>
          </a:p>
        </p:txBody>
      </p:sp>
      <p:sp>
        <p:nvSpPr>
          <p:cNvPr id="18" name="R1_a2"/>
          <p:cNvSpPr txBox="1"/>
          <p:nvPr/>
        </p:nvSpPr>
        <p:spPr>
          <a:xfrm>
            <a:off x="5861304" y="2776118"/>
            <a:ext cx="2962656" cy="482803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hundred millilitres of cream</a:t>
            </a:r>
            <a:endParaRPr lang="en-US" sz="1250" dirty="0"/>
          </a:p>
        </p:txBody>
      </p:sp>
      <p:sp>
        <p:nvSpPr>
          <p:cNvPr id="19" name="box_148"/>
          <p:cNvSpPr txBox="1"/>
          <p:nvPr/>
        </p:nvSpPr>
        <p:spPr>
          <a:xfrm>
            <a:off x="2788920" y="3423514"/>
            <a:ext cx="3017520" cy="555955"/>
          </a:xfrm>
          <a:prstGeom prst="rect">
            <a:avLst/>
          </a:prstGeom>
          <a:solidFill>
            <a:srgbClr val="DCFCE7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50 g parmesan → ?</a:t>
            </a:r>
            <a:endParaRPr lang="en-US" sz="1350" dirty="0"/>
          </a:p>
        </p:txBody>
      </p:sp>
      <p:sp>
        <p:nvSpPr>
          <p:cNvPr id="20" name="R1_a3"/>
          <p:cNvSpPr txBox="1"/>
          <p:nvPr/>
        </p:nvSpPr>
        <p:spPr>
          <a:xfrm>
            <a:off x="5861304" y="3460090"/>
            <a:ext cx="2962656" cy="482803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hundred and fifty grams of parmesan</a:t>
            </a:r>
            <a:endParaRPr lang="en-US" sz="1250" dirty="0"/>
          </a:p>
        </p:txBody>
      </p:sp>
      <p:sp>
        <p:nvSpPr>
          <p:cNvPr id="21" name="box_149"/>
          <p:cNvSpPr txBox="1"/>
          <p:nvPr/>
        </p:nvSpPr>
        <p:spPr>
          <a:xfrm>
            <a:off x="2788920" y="4107485"/>
            <a:ext cx="3017520" cy="555955"/>
          </a:xfrm>
          <a:prstGeom prst="rect">
            <a:avLst/>
          </a:prstGeom>
          <a:solidFill>
            <a:srgbClr val="EDE9FE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1 tbsp olive oil → ?</a:t>
            </a:r>
            <a:endParaRPr lang="en-US" sz="1350" dirty="0"/>
          </a:p>
        </p:txBody>
      </p:sp>
      <p:sp>
        <p:nvSpPr>
          <p:cNvPr id="22" name="R1_a4"/>
          <p:cNvSpPr txBox="1"/>
          <p:nvPr/>
        </p:nvSpPr>
        <p:spPr>
          <a:xfrm>
            <a:off x="5861304" y="4144061"/>
            <a:ext cx="2962656" cy="482803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tablespoons of olive oil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velFrame_150"/>
          <p:cNvSpPr/>
          <p:nvPr/>
        </p:nvSpPr>
        <p:spPr>
          <a:xfrm>
            <a:off x="54864" y="54864"/>
            <a:ext cx="9034272" cy="5033772"/>
          </a:xfrm>
          <a:prstGeom prst="rect">
            <a:avLst/>
          </a:prstGeom>
          <a:ln w="114300">
            <a:solidFill>
              <a:srgbClr val="C9B3F0"/>
            </a:solidFill>
            <a:prstDash val="solid"/>
          </a:ln>
        </p:spPr>
      </p:sp>
      <p:pic>
        <p:nvPicPr>
          <p:cNvPr id="3" name="logo_151" descr="London Language School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82880"/>
            <a:ext cx="585216" cy="585216"/>
          </a:xfrm>
          <a:prstGeom prst="rect">
            <a:avLst/>
          </a:prstGeom>
        </p:spPr>
      </p:pic>
      <p:sp>
        <p:nvSpPr>
          <p:cNvPr id="4" name="objective_152"/>
          <p:cNvSpPr txBox="1"/>
          <p:nvPr/>
        </p:nvSpPr>
        <p:spPr>
          <a:xfrm>
            <a:off x="320040" y="182880"/>
            <a:ext cx="4754880" cy="365760"/>
          </a:xfrm>
          <a:prstGeom prst="roundRect">
            <a:avLst>
              <a:gd name="adj" fmla="val 20000"/>
            </a:avLst>
          </a:prstGeom>
          <a:solidFill>
            <a:srgbClr val="062F67"/>
          </a:solidFill>
          <a:ln w="31750">
            <a:solidFill>
              <a:srgbClr val="111111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GAME · Listening to numbers</a:t>
            </a:r>
            <a:endParaRPr lang="en-US" sz="1100" dirty="0"/>
          </a:p>
        </p:txBody>
      </p:sp>
      <p:sp>
        <p:nvSpPr>
          <p:cNvPr id="5" name="timer_153"/>
          <p:cNvSpPr txBox="1"/>
          <p:nvPr/>
        </p:nvSpPr>
        <p:spPr>
          <a:xfrm>
            <a:off x="7086600" y="219456"/>
            <a:ext cx="100584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25400">
            <a:solidFill>
              <a:srgbClr val="6D3FC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3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8 min</a:t>
            </a:r>
            <a:endParaRPr lang="en-US" sz="1200" dirty="0"/>
          </a:p>
        </p:txBody>
      </p:sp>
      <p:sp>
        <p:nvSpPr>
          <p:cNvPr id="6" name="footer_154"/>
          <p:cNvSpPr txBox="1"/>
          <p:nvPr/>
        </p:nvSpPr>
        <p:spPr>
          <a:xfrm>
            <a:off x="7132320" y="4818888"/>
            <a:ext cx="173736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 English · L6</a:t>
            </a:r>
            <a:endParaRPr lang="en-US" sz="1000" dirty="0"/>
          </a:p>
        </p:txBody>
      </p:sp>
      <p:sp>
        <p:nvSpPr>
          <p:cNvPr id="7" name="title_155"/>
          <p:cNvSpPr txBox="1"/>
          <p:nvPr/>
        </p:nvSpPr>
        <p:spPr>
          <a:xfrm rot="90000">
            <a:off x="320040" y="676656"/>
            <a:ext cx="2761488" cy="530352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Kitchen bingo</a:t>
            </a:r>
            <a:endParaRPr lang="en-US" sz="2000" dirty="0"/>
          </a:p>
        </p:txBody>
      </p:sp>
      <p:sp>
        <p:nvSpPr>
          <p:cNvPr id="8" name="tape_156"/>
          <p:cNvSpPr/>
          <p:nvPr/>
        </p:nvSpPr>
        <p:spPr>
          <a:xfrm rot="-720000">
            <a:off x="210312" y="585216"/>
            <a:ext cx="685800" cy="219456"/>
          </a:xfrm>
          <a:prstGeom prst="rect">
            <a:avLst/>
          </a:prstGeom>
          <a:solidFill>
            <a:srgbClr val="C9B3F0">
              <a:alpha val="80000"/>
            </a:srgbClr>
          </a:solidFill>
          <a:ln w="6350">
            <a:solidFill>
              <a:srgbClr val="C9B3F0"/>
            </a:solidFill>
            <a:prstDash val="solid"/>
          </a:ln>
        </p:spPr>
      </p:sp>
      <p:sp>
        <p:nvSpPr>
          <p:cNvPr id="9" name="tape_157"/>
          <p:cNvSpPr/>
          <p:nvPr/>
        </p:nvSpPr>
        <p:spPr>
          <a:xfrm rot="-720000">
            <a:off x="2514600" y="1069848"/>
            <a:ext cx="685800" cy="219456"/>
          </a:xfrm>
          <a:prstGeom prst="rect">
            <a:avLst/>
          </a:prstGeom>
          <a:solidFill>
            <a:srgbClr val="C9B3F0">
              <a:alpha val="80000"/>
            </a:srgbClr>
          </a:solidFill>
          <a:ln w="6350">
            <a:solidFill>
              <a:srgbClr val="C9B3F0"/>
            </a:solidFill>
            <a:prstDash val="solid"/>
          </a:ln>
        </p:spPr>
      </p:sp>
      <p:sp>
        <p:nvSpPr>
          <p:cNvPr id="10" name="post_158"/>
          <p:cNvSpPr/>
          <p:nvPr/>
        </p:nvSpPr>
        <p:spPr>
          <a:xfrm>
            <a:off x="429768" y="1554480"/>
            <a:ext cx="128016" cy="2194560"/>
          </a:xfrm>
          <a:prstGeom prst="rect">
            <a:avLst/>
          </a:prstGeom>
          <a:solidFill>
            <a:srgbClr val="8B5A2B"/>
          </a:solidFill>
          <a:ln w="31750">
            <a:solidFill>
              <a:srgbClr val="111111"/>
            </a:solidFill>
            <a:prstDash val="solid"/>
          </a:ln>
        </p:spPr>
      </p:sp>
      <p:sp>
        <p:nvSpPr>
          <p:cNvPr id="11" name="signA_159"/>
          <p:cNvSpPr txBox="1"/>
          <p:nvPr/>
        </p:nvSpPr>
        <p:spPr>
          <a:xfrm rot="-180000">
            <a:off x="320040" y="1371600"/>
            <a:ext cx="2240280" cy="457200"/>
          </a:xfrm>
          <a:prstGeom prst="homePlate">
            <a:avLst/>
          </a:prstGeom>
          <a:solidFill>
            <a:srgbClr val="1FA463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PLAY!</a:t>
            </a:r>
            <a:pPr indent="0" marL="0">
              <a:buNone/>
            </a:pPr>
            <a:r>
              <a:rPr lang="en-US" sz="1000" dirty="0">
                <a:solidFill>
                  <a:srgbClr val="FFF3B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 GIOCA!</a:t>
            </a:r>
            <a:endParaRPr lang="en-US" sz="1500" dirty="0"/>
          </a:p>
        </p:txBody>
      </p:sp>
      <p:sp>
        <p:nvSpPr>
          <p:cNvPr id="12" name="signB_160"/>
          <p:cNvSpPr txBox="1"/>
          <p:nvPr/>
        </p:nvSpPr>
        <p:spPr>
          <a:xfrm rot="120000">
            <a:off x="365760" y="1938528"/>
            <a:ext cx="2240280" cy="1051560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to the numbers. Cross them out!</a:t>
            </a:r>
            <a:endParaRPr lang="en-US" sz="1250" dirty="0"/>
          </a:p>
          <a:p>
            <a:pPr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Ascolta i numeri e cancellali!</a:t>
            </a:r>
            <a:endParaRPr lang="en-US" sz="1250" dirty="0"/>
          </a:p>
        </p:txBody>
      </p:sp>
      <p:sp>
        <p:nvSpPr>
          <p:cNvPr id="13" name="iconBack_161"/>
          <p:cNvSpPr/>
          <p:nvPr/>
        </p:nvSpPr>
        <p:spPr>
          <a:xfrm>
            <a:off x="685800" y="3246120"/>
            <a:ext cx="1143000" cy="1143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11111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pic>
        <p:nvPicPr>
          <p:cNvPr id="14" name="icon_162" descr="di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474720"/>
            <a:ext cx="685800" cy="685800"/>
          </a:xfrm>
          <a:prstGeom prst="rect">
            <a:avLst/>
          </a:prstGeom>
        </p:spPr>
      </p:pic>
      <p:sp>
        <p:nvSpPr>
          <p:cNvPr id="15" name="num_163"/>
          <p:cNvSpPr txBox="1"/>
          <p:nvPr/>
        </p:nvSpPr>
        <p:spPr>
          <a:xfrm>
            <a:off x="2788920" y="1490472"/>
            <a:ext cx="384048" cy="384048"/>
          </a:xfrm>
          <a:prstGeom prst="ellipse">
            <a:avLst/>
          </a:prstGeom>
          <a:solidFill>
            <a:srgbClr val="EF2F2F"/>
          </a:solidFill>
          <a:ln w="19050">
            <a:solidFill>
              <a:srgbClr val="11111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300" dirty="0"/>
          </a:p>
        </p:txBody>
      </p:sp>
      <p:sp>
        <p:nvSpPr>
          <p:cNvPr id="16" name="box_164"/>
          <p:cNvSpPr txBox="1"/>
          <p:nvPr/>
        </p:nvSpPr>
        <p:spPr>
          <a:xfrm>
            <a:off x="3264408" y="1371600"/>
            <a:ext cx="5559552" cy="621792"/>
          </a:xfrm>
          <a:prstGeom prst="rect">
            <a:avLst/>
          </a:prstGeom>
          <a:solidFill>
            <a:srgbClr val="FFFFFF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 3 × 3 grid. Write 9 kitchen numbers: 180°C, 250 g, 15 minutes, 2 litres…</a:t>
            </a:r>
            <a:endParaRPr lang="en-US" sz="1300" dirty="0"/>
          </a:p>
        </p:txBody>
      </p:sp>
      <p:sp>
        <p:nvSpPr>
          <p:cNvPr id="17" name="num_165"/>
          <p:cNvSpPr txBox="1"/>
          <p:nvPr/>
        </p:nvSpPr>
        <p:spPr>
          <a:xfrm>
            <a:off x="2788920" y="2203704"/>
            <a:ext cx="384048" cy="384048"/>
          </a:xfrm>
          <a:prstGeom prst="ellipse">
            <a:avLst/>
          </a:prstGeom>
          <a:solidFill>
            <a:srgbClr val="48BDF2"/>
          </a:solidFill>
          <a:ln w="19050">
            <a:solidFill>
              <a:srgbClr val="11111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box_166"/>
          <p:cNvSpPr txBox="1"/>
          <p:nvPr/>
        </p:nvSpPr>
        <p:spPr>
          <a:xfrm>
            <a:off x="3264408" y="2084832"/>
            <a:ext cx="5559552" cy="621792"/>
          </a:xfrm>
          <a:prstGeom prst="rect">
            <a:avLst/>
          </a:prstGeom>
          <a:solidFill>
            <a:srgbClr val="FFFFFF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(then a chef) reads out numbers.</a:t>
            </a:r>
            <a:endParaRPr lang="en-US" sz="1300" dirty="0"/>
          </a:p>
        </p:txBody>
      </p:sp>
      <p:sp>
        <p:nvSpPr>
          <p:cNvPr id="19" name="num_167"/>
          <p:cNvSpPr txBox="1"/>
          <p:nvPr/>
        </p:nvSpPr>
        <p:spPr>
          <a:xfrm>
            <a:off x="2788920" y="2916936"/>
            <a:ext cx="384048" cy="384048"/>
          </a:xfrm>
          <a:prstGeom prst="ellipse">
            <a:avLst/>
          </a:prstGeom>
          <a:solidFill>
            <a:srgbClr val="1FA463"/>
          </a:solidFill>
          <a:ln w="19050">
            <a:solidFill>
              <a:srgbClr val="11111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box_168"/>
          <p:cNvSpPr txBox="1"/>
          <p:nvPr/>
        </p:nvSpPr>
        <p:spPr>
          <a:xfrm>
            <a:off x="3264408" y="2798064"/>
            <a:ext cx="5559552" cy="621792"/>
          </a:xfrm>
          <a:prstGeom prst="rect">
            <a:avLst/>
          </a:prstGeom>
          <a:solidFill>
            <a:srgbClr val="FFFFFF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 out the numbers you hear.</a:t>
            </a:r>
            <a:endParaRPr lang="en-US" sz="1300" dirty="0"/>
          </a:p>
        </p:txBody>
      </p:sp>
      <p:sp>
        <p:nvSpPr>
          <p:cNvPr id="21" name="num_169"/>
          <p:cNvSpPr txBox="1"/>
          <p:nvPr/>
        </p:nvSpPr>
        <p:spPr>
          <a:xfrm>
            <a:off x="2788920" y="3630168"/>
            <a:ext cx="384048" cy="384048"/>
          </a:xfrm>
          <a:prstGeom prst="ellipse">
            <a:avLst/>
          </a:prstGeom>
          <a:solidFill>
            <a:srgbClr val="F59E0B"/>
          </a:solidFill>
          <a:ln w="19050">
            <a:solidFill>
              <a:srgbClr val="11111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box_170"/>
          <p:cNvSpPr txBox="1"/>
          <p:nvPr/>
        </p:nvSpPr>
        <p:spPr>
          <a:xfrm>
            <a:off x="3264408" y="3511296"/>
            <a:ext cx="5559552" cy="621792"/>
          </a:xfrm>
          <a:prstGeom prst="rect">
            <a:avLst/>
          </a:prstGeom>
          <a:solidFill>
            <a:srgbClr val="FFFFFF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to complete a line shouts 'Service!' – and reads the line back correctly to win.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velFrame_171"/>
          <p:cNvSpPr/>
          <p:nvPr/>
        </p:nvSpPr>
        <p:spPr>
          <a:xfrm>
            <a:off x="54864" y="54864"/>
            <a:ext cx="9034272" cy="5033772"/>
          </a:xfrm>
          <a:prstGeom prst="rect">
            <a:avLst/>
          </a:prstGeom>
          <a:ln w="114300">
            <a:solidFill>
              <a:srgbClr val="C9B3F0"/>
            </a:solidFill>
            <a:prstDash val="solid"/>
          </a:ln>
        </p:spPr>
      </p:sp>
      <p:pic>
        <p:nvPicPr>
          <p:cNvPr id="3" name="logo_172" descr="London Language School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82880"/>
            <a:ext cx="585216" cy="585216"/>
          </a:xfrm>
          <a:prstGeom prst="rect">
            <a:avLst/>
          </a:prstGeom>
        </p:spPr>
      </p:pic>
      <p:sp>
        <p:nvSpPr>
          <p:cNvPr id="4" name="footer_173"/>
          <p:cNvSpPr txBox="1"/>
          <p:nvPr/>
        </p:nvSpPr>
        <p:spPr>
          <a:xfrm>
            <a:off x="7132320" y="4818888"/>
            <a:ext cx="173736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 English · L6</a:t>
            </a:r>
            <a:endParaRPr lang="en-US" sz="1000" dirty="0"/>
          </a:p>
        </p:txBody>
      </p:sp>
      <p:sp>
        <p:nvSpPr>
          <p:cNvPr id="5" name="title_174"/>
          <p:cNvSpPr txBox="1"/>
          <p:nvPr/>
        </p:nvSpPr>
        <p:spPr>
          <a:xfrm rot="90000">
            <a:off x="320040" y="676656"/>
            <a:ext cx="4151376" cy="530352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Look what you can do!</a:t>
            </a:r>
            <a:endParaRPr lang="en-US" sz="2000" dirty="0"/>
          </a:p>
        </p:txBody>
      </p:sp>
      <p:sp>
        <p:nvSpPr>
          <p:cNvPr id="6" name="tape_175"/>
          <p:cNvSpPr/>
          <p:nvPr/>
        </p:nvSpPr>
        <p:spPr>
          <a:xfrm rot="-720000">
            <a:off x="210312" y="585216"/>
            <a:ext cx="685800" cy="219456"/>
          </a:xfrm>
          <a:prstGeom prst="rect">
            <a:avLst/>
          </a:prstGeom>
          <a:solidFill>
            <a:srgbClr val="C9B3F0">
              <a:alpha val="80000"/>
            </a:srgbClr>
          </a:solidFill>
          <a:ln w="6350">
            <a:solidFill>
              <a:srgbClr val="C9B3F0"/>
            </a:solidFill>
            <a:prstDash val="solid"/>
          </a:ln>
        </p:spPr>
      </p:sp>
      <p:sp>
        <p:nvSpPr>
          <p:cNvPr id="7" name="tape_176"/>
          <p:cNvSpPr/>
          <p:nvPr/>
        </p:nvSpPr>
        <p:spPr>
          <a:xfrm rot="-720000">
            <a:off x="3904488" y="1069848"/>
            <a:ext cx="685800" cy="219456"/>
          </a:xfrm>
          <a:prstGeom prst="rect">
            <a:avLst/>
          </a:prstGeom>
          <a:solidFill>
            <a:srgbClr val="C9B3F0">
              <a:alpha val="80000"/>
            </a:srgbClr>
          </a:solidFill>
          <a:ln w="6350">
            <a:solidFill>
              <a:srgbClr val="C9B3F0"/>
            </a:solidFill>
            <a:prstDash val="solid"/>
          </a:ln>
        </p:spPr>
      </p:sp>
      <p:sp>
        <p:nvSpPr>
          <p:cNvPr id="8" name="sub_177"/>
          <p:cNvSpPr txBox="1"/>
          <p:nvPr/>
        </p:nvSpPr>
        <p:spPr>
          <a:xfrm>
            <a:off x="365760" y="1234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 cosa sai fare adesso!</a:t>
            </a:r>
            <a:endParaRPr lang="en-US" sz="1200" dirty="0"/>
          </a:p>
        </p:txBody>
      </p:sp>
      <p:sp>
        <p:nvSpPr>
          <p:cNvPr id="9" name="box_178"/>
          <p:cNvSpPr txBox="1"/>
          <p:nvPr/>
        </p:nvSpPr>
        <p:spPr>
          <a:xfrm>
            <a:off x="365760" y="1600200"/>
            <a:ext cx="4846320" cy="548640"/>
          </a:xfrm>
          <a:prstGeom prst="rect">
            <a:avLst/>
          </a:prstGeom>
          <a:solidFill>
            <a:srgbClr val="E0F2FE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I can say weights, temperatures and times.</a:t>
            </a:r>
            <a:endParaRPr lang="en-US" sz="1350" dirty="0"/>
          </a:p>
        </p:txBody>
      </p:sp>
      <p:sp>
        <p:nvSpPr>
          <p:cNvPr id="10" name="faces_179"/>
          <p:cNvSpPr txBox="1"/>
          <p:nvPr/>
        </p:nvSpPr>
        <p:spPr>
          <a:xfrm>
            <a:off x="5230368" y="1600200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😀 🙂 😐</a:t>
            </a:r>
            <a:endParaRPr lang="en-US" sz="1400" dirty="0"/>
          </a:p>
        </p:txBody>
      </p:sp>
      <p:sp>
        <p:nvSpPr>
          <p:cNvPr id="11" name="box_180"/>
          <p:cNvSpPr txBox="1"/>
          <p:nvPr/>
        </p:nvSpPr>
        <p:spPr>
          <a:xfrm>
            <a:off x="365760" y="2240280"/>
            <a:ext cx="4846320" cy="548640"/>
          </a:xfrm>
          <a:prstGeom prst="rect">
            <a:avLst/>
          </a:prstGeom>
          <a:solidFill>
            <a:srgbClr val="FCE7F3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I can ask How much? How many? How long?</a:t>
            </a:r>
            <a:endParaRPr lang="en-US" sz="1350" dirty="0"/>
          </a:p>
        </p:txBody>
      </p:sp>
      <p:sp>
        <p:nvSpPr>
          <p:cNvPr id="12" name="faces_181"/>
          <p:cNvSpPr txBox="1"/>
          <p:nvPr/>
        </p:nvSpPr>
        <p:spPr>
          <a:xfrm>
            <a:off x="5230368" y="2240280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😀 🙂 😐</a:t>
            </a:r>
            <a:endParaRPr lang="en-US" sz="1400" dirty="0"/>
          </a:p>
        </p:txBody>
      </p:sp>
      <p:sp>
        <p:nvSpPr>
          <p:cNvPr id="13" name="box_182"/>
          <p:cNvSpPr txBox="1"/>
          <p:nvPr/>
        </p:nvSpPr>
        <p:spPr>
          <a:xfrm>
            <a:off x="365760" y="2880360"/>
            <a:ext cx="4846320" cy="548640"/>
          </a:xfrm>
          <a:prstGeom prst="rect">
            <a:avLst/>
          </a:prstGeom>
          <a:solidFill>
            <a:srgbClr val="FEF9C3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I can use can / can't / could.</a:t>
            </a:r>
            <a:endParaRPr lang="en-US" sz="1350" dirty="0"/>
          </a:p>
        </p:txBody>
      </p:sp>
      <p:sp>
        <p:nvSpPr>
          <p:cNvPr id="14" name="faces_183"/>
          <p:cNvSpPr txBox="1"/>
          <p:nvPr/>
        </p:nvSpPr>
        <p:spPr>
          <a:xfrm>
            <a:off x="5230368" y="2880360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😀 🙂 😐</a:t>
            </a:r>
            <a:endParaRPr lang="en-US" sz="1400" dirty="0"/>
          </a:p>
        </p:txBody>
      </p:sp>
      <p:sp>
        <p:nvSpPr>
          <p:cNvPr id="15" name="hw_184"/>
          <p:cNvSpPr txBox="1"/>
          <p:nvPr/>
        </p:nvSpPr>
        <p:spPr>
          <a:xfrm rot="90000">
            <a:off x="6446520" y="1325880"/>
            <a:ext cx="2377440" cy="2651760"/>
          </a:xfrm>
          <a:prstGeom prst="rect">
            <a:avLst/>
          </a:prstGeom>
          <a:solidFill>
            <a:srgbClr val="062F67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114300" tIns="114300" rIns="114300" bIns="11430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FFD84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HOMEWORK · COMPITI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6 'Can you…?' questions about cooking skills. Ask a colleague at work!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teacher can attach the homework sheet in the portal.</a:t>
            </a:r>
            <a:endParaRPr lang="en-US" sz="1250" dirty="0"/>
          </a:p>
        </p:txBody>
      </p:sp>
      <p:sp>
        <p:nvSpPr>
          <p:cNvPr id="16" name="stamp_185"/>
          <p:cNvSpPr txBox="1"/>
          <p:nvPr/>
        </p:nvSpPr>
        <p:spPr>
          <a:xfrm>
            <a:off x="365760" y="3657600"/>
            <a:ext cx="347472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38100">
            <a:solidFill>
              <a:srgbClr val="6D3FC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D3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lesson: L7 · Health &amp; safety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velFrame_186"/>
          <p:cNvSpPr/>
          <p:nvPr/>
        </p:nvSpPr>
        <p:spPr>
          <a:xfrm>
            <a:off x="54864" y="54864"/>
            <a:ext cx="9034272" cy="5033772"/>
          </a:xfrm>
          <a:prstGeom prst="rect">
            <a:avLst/>
          </a:prstGeom>
          <a:ln w="114300">
            <a:solidFill>
              <a:srgbClr val="C9B3F0"/>
            </a:solidFill>
            <a:prstDash val="solid"/>
          </a:ln>
        </p:spPr>
      </p:sp>
      <p:pic>
        <p:nvPicPr>
          <p:cNvPr id="3" name="logo_187" descr="London Language School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82880"/>
            <a:ext cx="585216" cy="585216"/>
          </a:xfrm>
          <a:prstGeom prst="rect">
            <a:avLst/>
          </a:prstGeom>
        </p:spPr>
      </p:pic>
      <p:sp>
        <p:nvSpPr>
          <p:cNvPr id="4" name="objective_188"/>
          <p:cNvSpPr txBox="1"/>
          <p:nvPr/>
        </p:nvSpPr>
        <p:spPr>
          <a:xfrm>
            <a:off x="320040" y="182880"/>
            <a:ext cx="4754880" cy="365760"/>
          </a:xfrm>
          <a:prstGeom prst="roundRect">
            <a:avLst>
              <a:gd name="adj" fmla="val 20000"/>
            </a:avLst>
          </a:prstGeom>
          <a:solidFill>
            <a:srgbClr val="062F67"/>
          </a:solidFill>
          <a:ln w="31750">
            <a:solidFill>
              <a:srgbClr val="111111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EXTRA · SPEAKING · Skills</a:t>
            </a:r>
            <a:endParaRPr lang="en-US" sz="1100" dirty="0"/>
          </a:p>
        </p:txBody>
      </p:sp>
      <p:sp>
        <p:nvSpPr>
          <p:cNvPr id="5" name="timer_189"/>
          <p:cNvSpPr txBox="1"/>
          <p:nvPr/>
        </p:nvSpPr>
        <p:spPr>
          <a:xfrm>
            <a:off x="7086600" y="219456"/>
            <a:ext cx="100584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25400">
            <a:solidFill>
              <a:srgbClr val="6D3FC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3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6 min</a:t>
            </a:r>
            <a:endParaRPr lang="en-US" sz="1200" dirty="0"/>
          </a:p>
        </p:txBody>
      </p:sp>
      <p:sp>
        <p:nvSpPr>
          <p:cNvPr id="6" name="extra_190"/>
          <p:cNvSpPr txBox="1"/>
          <p:nvPr/>
        </p:nvSpPr>
        <p:spPr>
          <a:xfrm rot="360000">
            <a:off x="5943600" y="201168"/>
            <a:ext cx="1005840" cy="347472"/>
          </a:xfrm>
          <a:prstGeom prst="roundRect">
            <a:avLst>
              <a:gd name="adj" fmla="val 21053"/>
            </a:avLst>
          </a:prstGeom>
          <a:solidFill>
            <a:srgbClr val="1FA463"/>
          </a:solidFill>
          <a:ln w="31750">
            <a:solidFill>
              <a:srgbClr val="11111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EXTRA</a:t>
            </a:r>
            <a:endParaRPr lang="en-US" sz="1300" dirty="0"/>
          </a:p>
        </p:txBody>
      </p:sp>
      <p:sp>
        <p:nvSpPr>
          <p:cNvPr id="7" name="footer_191"/>
          <p:cNvSpPr txBox="1"/>
          <p:nvPr/>
        </p:nvSpPr>
        <p:spPr>
          <a:xfrm>
            <a:off x="7132320" y="4818888"/>
            <a:ext cx="173736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 English · L6</a:t>
            </a:r>
            <a:endParaRPr lang="en-US" sz="1000" dirty="0"/>
          </a:p>
        </p:txBody>
      </p:sp>
      <p:sp>
        <p:nvSpPr>
          <p:cNvPr id="8" name="title_192"/>
          <p:cNvSpPr txBox="1"/>
          <p:nvPr/>
        </p:nvSpPr>
        <p:spPr>
          <a:xfrm rot="90000">
            <a:off x="320040" y="676656"/>
            <a:ext cx="2066544" cy="530352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Can you…?</a:t>
            </a:r>
            <a:endParaRPr lang="en-US" sz="2000" dirty="0"/>
          </a:p>
        </p:txBody>
      </p:sp>
      <p:sp>
        <p:nvSpPr>
          <p:cNvPr id="9" name="tape_193"/>
          <p:cNvSpPr/>
          <p:nvPr/>
        </p:nvSpPr>
        <p:spPr>
          <a:xfrm rot="-720000">
            <a:off x="210312" y="585216"/>
            <a:ext cx="685800" cy="219456"/>
          </a:xfrm>
          <a:prstGeom prst="rect">
            <a:avLst/>
          </a:prstGeom>
          <a:solidFill>
            <a:srgbClr val="C9B3F0">
              <a:alpha val="80000"/>
            </a:srgbClr>
          </a:solidFill>
          <a:ln w="6350">
            <a:solidFill>
              <a:srgbClr val="C9B3F0"/>
            </a:solidFill>
            <a:prstDash val="solid"/>
          </a:ln>
        </p:spPr>
      </p:sp>
      <p:sp>
        <p:nvSpPr>
          <p:cNvPr id="10" name="tape_194"/>
          <p:cNvSpPr/>
          <p:nvPr/>
        </p:nvSpPr>
        <p:spPr>
          <a:xfrm rot="-720000">
            <a:off x="1819656" y="1069848"/>
            <a:ext cx="685800" cy="219456"/>
          </a:xfrm>
          <a:prstGeom prst="rect">
            <a:avLst/>
          </a:prstGeom>
          <a:solidFill>
            <a:srgbClr val="C9B3F0">
              <a:alpha val="80000"/>
            </a:srgbClr>
          </a:solidFill>
          <a:ln w="6350">
            <a:solidFill>
              <a:srgbClr val="C9B3F0"/>
            </a:solidFill>
            <a:prstDash val="solid"/>
          </a:ln>
        </p:spPr>
      </p:sp>
      <p:sp>
        <p:nvSpPr>
          <p:cNvPr id="11" name="post_195"/>
          <p:cNvSpPr/>
          <p:nvPr/>
        </p:nvSpPr>
        <p:spPr>
          <a:xfrm>
            <a:off x="429768" y="1554480"/>
            <a:ext cx="128016" cy="2194560"/>
          </a:xfrm>
          <a:prstGeom prst="rect">
            <a:avLst/>
          </a:prstGeom>
          <a:solidFill>
            <a:srgbClr val="8B5A2B"/>
          </a:solidFill>
          <a:ln w="31750">
            <a:solidFill>
              <a:srgbClr val="111111"/>
            </a:solidFill>
            <a:prstDash val="solid"/>
          </a:ln>
        </p:spPr>
      </p:sp>
      <p:sp>
        <p:nvSpPr>
          <p:cNvPr id="12" name="signA_196"/>
          <p:cNvSpPr txBox="1"/>
          <p:nvPr/>
        </p:nvSpPr>
        <p:spPr>
          <a:xfrm rot="-180000">
            <a:off x="320040" y="1371600"/>
            <a:ext cx="2240280" cy="457200"/>
          </a:xfrm>
          <a:prstGeom prst="homePlate">
            <a:avLst/>
          </a:prstGeom>
          <a:solidFill>
            <a:srgbClr val="EF2F2F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SPEAK!</a:t>
            </a:r>
            <a:pPr indent="0" marL="0">
              <a:buNone/>
            </a:pPr>
            <a:r>
              <a:rPr lang="en-US" sz="1000" dirty="0">
                <a:solidFill>
                  <a:srgbClr val="FFF3B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 PARLA!</a:t>
            </a:r>
            <a:endParaRPr lang="en-US" sz="1500" dirty="0"/>
          </a:p>
        </p:txBody>
      </p:sp>
      <p:sp>
        <p:nvSpPr>
          <p:cNvPr id="13" name="signB_197"/>
          <p:cNvSpPr txBox="1"/>
          <p:nvPr/>
        </p:nvSpPr>
        <p:spPr>
          <a:xfrm rot="120000">
            <a:off x="365760" y="1938528"/>
            <a:ext cx="2240280" cy="1051560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your partner. If YES, ask a follow-up question!</a:t>
            </a:r>
            <a:endParaRPr lang="en-US" sz="1250" dirty="0"/>
          </a:p>
          <a:p>
            <a:pPr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Chiedi al collega. Se SÌ, fai un'altra domanda!</a:t>
            </a:r>
            <a:endParaRPr lang="en-US" sz="1250" dirty="0"/>
          </a:p>
        </p:txBody>
      </p:sp>
      <p:sp>
        <p:nvSpPr>
          <p:cNvPr id="14" name="box_198"/>
          <p:cNvSpPr txBox="1"/>
          <p:nvPr/>
        </p:nvSpPr>
        <p:spPr>
          <a:xfrm>
            <a:off x="2788920" y="1371600"/>
            <a:ext cx="2953512" cy="868680"/>
          </a:xfrm>
          <a:prstGeom prst="rect">
            <a:avLst/>
          </a:prstGeom>
          <a:solidFill>
            <a:srgbClr val="E0F2FE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make fresh pasta by hand?</a:t>
            </a:r>
            <a:endParaRPr lang="en-US" sz="1350" dirty="0"/>
          </a:p>
        </p:txBody>
      </p:sp>
      <p:sp>
        <p:nvSpPr>
          <p:cNvPr id="15" name="box_199"/>
          <p:cNvSpPr txBox="1"/>
          <p:nvPr/>
        </p:nvSpPr>
        <p:spPr>
          <a:xfrm>
            <a:off x="5870448" y="1371600"/>
            <a:ext cx="2953512" cy="868680"/>
          </a:xfrm>
          <a:prstGeom prst="rect">
            <a:avLst/>
          </a:prstGeom>
          <a:solidFill>
            <a:srgbClr val="FCE7F3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fillet a whole fish?</a:t>
            </a:r>
            <a:endParaRPr lang="en-US" sz="1350" dirty="0"/>
          </a:p>
        </p:txBody>
      </p:sp>
      <p:sp>
        <p:nvSpPr>
          <p:cNvPr id="16" name="box_200"/>
          <p:cNvSpPr txBox="1"/>
          <p:nvPr/>
        </p:nvSpPr>
        <p:spPr>
          <a:xfrm>
            <a:off x="2788920" y="2368296"/>
            <a:ext cx="2953512" cy="868680"/>
          </a:xfrm>
          <a:prstGeom prst="rect">
            <a:avLst/>
          </a:prstGeom>
          <a:solidFill>
            <a:srgbClr val="FEF9C3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make bread without a recipe?</a:t>
            </a:r>
            <a:endParaRPr lang="en-US" sz="1350" dirty="0"/>
          </a:p>
        </p:txBody>
      </p:sp>
      <p:sp>
        <p:nvSpPr>
          <p:cNvPr id="17" name="box_201"/>
          <p:cNvSpPr txBox="1"/>
          <p:nvPr/>
        </p:nvSpPr>
        <p:spPr>
          <a:xfrm>
            <a:off x="5870448" y="2368296"/>
            <a:ext cx="2953512" cy="868680"/>
          </a:xfrm>
          <a:prstGeom prst="rect">
            <a:avLst/>
          </a:prstGeom>
          <a:solidFill>
            <a:srgbClr val="DCFCE7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cook a steak perfectly rare?</a:t>
            </a:r>
            <a:endParaRPr lang="en-US" sz="1350" dirty="0"/>
          </a:p>
        </p:txBody>
      </p:sp>
      <p:sp>
        <p:nvSpPr>
          <p:cNvPr id="18" name="box_202"/>
          <p:cNvSpPr txBox="1"/>
          <p:nvPr/>
        </p:nvSpPr>
        <p:spPr>
          <a:xfrm>
            <a:off x="2788920" y="3364992"/>
            <a:ext cx="2953512" cy="868680"/>
          </a:xfrm>
          <a:prstGeom prst="rect">
            <a:avLst/>
          </a:prstGeom>
          <a:solidFill>
            <a:srgbClr val="EDE9FE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work 14 hours without a break?</a:t>
            </a:r>
            <a:endParaRPr lang="en-US" sz="1350" dirty="0"/>
          </a:p>
        </p:txBody>
      </p:sp>
      <p:sp>
        <p:nvSpPr>
          <p:cNvPr id="19" name="box_203"/>
          <p:cNvSpPr txBox="1"/>
          <p:nvPr/>
        </p:nvSpPr>
        <p:spPr>
          <a:xfrm>
            <a:off x="5870448" y="3364992"/>
            <a:ext cx="2953512" cy="868680"/>
          </a:xfrm>
          <a:prstGeom prst="rect">
            <a:avLst/>
          </a:prstGeom>
          <a:solidFill>
            <a:srgbClr val="FFEDD5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cook for 200 people?</a:t>
            </a:r>
            <a:endParaRPr lang="en-US" sz="1350" dirty="0"/>
          </a:p>
        </p:txBody>
      </p:sp>
      <p:sp>
        <p:nvSpPr>
          <p:cNvPr id="20" name="sticky_204"/>
          <p:cNvSpPr txBox="1"/>
          <p:nvPr/>
        </p:nvSpPr>
        <p:spPr>
          <a:xfrm rot="-120000">
            <a:off x="411480" y="3977640"/>
            <a:ext cx="2194560" cy="640080"/>
          </a:xfrm>
          <a:prstGeom prst="rect">
            <a:avLst/>
          </a:prstGeom>
          <a:solidFill>
            <a:srgbClr val="FFD84D"/>
          </a:solidFill>
          <a:ln w="12700">
            <a:solidFill>
              <a:srgbClr val="B7950B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Yes, I can. → Really? How long does it take?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velFrame_205"/>
          <p:cNvSpPr/>
          <p:nvPr/>
        </p:nvSpPr>
        <p:spPr>
          <a:xfrm>
            <a:off x="54864" y="54864"/>
            <a:ext cx="9034272" cy="5033772"/>
          </a:xfrm>
          <a:prstGeom prst="rect">
            <a:avLst/>
          </a:prstGeom>
          <a:ln w="114300">
            <a:solidFill>
              <a:srgbClr val="C9B3F0"/>
            </a:solidFill>
            <a:prstDash val="solid"/>
          </a:ln>
        </p:spPr>
      </p:sp>
      <p:pic>
        <p:nvPicPr>
          <p:cNvPr id="3" name="logo_206" descr="London Language School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82880"/>
            <a:ext cx="585216" cy="585216"/>
          </a:xfrm>
          <a:prstGeom prst="rect">
            <a:avLst/>
          </a:prstGeom>
        </p:spPr>
      </p:pic>
      <p:sp>
        <p:nvSpPr>
          <p:cNvPr id="4" name="objective_207"/>
          <p:cNvSpPr txBox="1"/>
          <p:nvPr/>
        </p:nvSpPr>
        <p:spPr>
          <a:xfrm>
            <a:off x="320040" y="182880"/>
            <a:ext cx="4754880" cy="365760"/>
          </a:xfrm>
          <a:prstGeom prst="roundRect">
            <a:avLst>
              <a:gd name="adj" fmla="val 20000"/>
            </a:avLst>
          </a:prstGeom>
          <a:solidFill>
            <a:srgbClr val="062F67"/>
          </a:solidFill>
          <a:ln w="31750">
            <a:solidFill>
              <a:srgbClr val="111111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EXTRA · Quiz · estimating</a:t>
            </a:r>
            <a:endParaRPr lang="en-US" sz="1100" dirty="0"/>
          </a:p>
        </p:txBody>
      </p:sp>
      <p:sp>
        <p:nvSpPr>
          <p:cNvPr id="5" name="timer_208"/>
          <p:cNvSpPr txBox="1"/>
          <p:nvPr/>
        </p:nvSpPr>
        <p:spPr>
          <a:xfrm>
            <a:off x="7086600" y="219456"/>
            <a:ext cx="100584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25400">
            <a:solidFill>
              <a:srgbClr val="6D3FC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3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6 min</a:t>
            </a:r>
            <a:endParaRPr lang="en-US" sz="1200" dirty="0"/>
          </a:p>
        </p:txBody>
      </p:sp>
      <p:sp>
        <p:nvSpPr>
          <p:cNvPr id="6" name="extra_209"/>
          <p:cNvSpPr txBox="1"/>
          <p:nvPr/>
        </p:nvSpPr>
        <p:spPr>
          <a:xfrm rot="360000">
            <a:off x="5943600" y="201168"/>
            <a:ext cx="1005840" cy="347472"/>
          </a:xfrm>
          <a:prstGeom prst="roundRect">
            <a:avLst>
              <a:gd name="adj" fmla="val 21053"/>
            </a:avLst>
          </a:prstGeom>
          <a:solidFill>
            <a:srgbClr val="1FA463"/>
          </a:solidFill>
          <a:ln w="31750">
            <a:solidFill>
              <a:srgbClr val="11111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EXTRA</a:t>
            </a:r>
            <a:endParaRPr lang="en-US" sz="1300" dirty="0"/>
          </a:p>
        </p:txBody>
      </p:sp>
      <p:sp>
        <p:nvSpPr>
          <p:cNvPr id="7" name="footer_210"/>
          <p:cNvSpPr txBox="1"/>
          <p:nvPr/>
        </p:nvSpPr>
        <p:spPr>
          <a:xfrm>
            <a:off x="7132320" y="4818888"/>
            <a:ext cx="173736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 English · L6</a:t>
            </a:r>
            <a:endParaRPr lang="en-US" sz="1000" dirty="0"/>
          </a:p>
        </p:txBody>
      </p:sp>
      <p:sp>
        <p:nvSpPr>
          <p:cNvPr id="8" name="title_211"/>
          <p:cNvSpPr txBox="1"/>
          <p:nvPr/>
        </p:nvSpPr>
        <p:spPr>
          <a:xfrm rot="90000">
            <a:off x="320040" y="676656"/>
            <a:ext cx="3282696" cy="530352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Guess the number</a:t>
            </a:r>
            <a:endParaRPr lang="en-US" sz="2000" dirty="0"/>
          </a:p>
        </p:txBody>
      </p:sp>
      <p:sp>
        <p:nvSpPr>
          <p:cNvPr id="9" name="tape_212"/>
          <p:cNvSpPr/>
          <p:nvPr/>
        </p:nvSpPr>
        <p:spPr>
          <a:xfrm rot="-720000">
            <a:off x="210312" y="585216"/>
            <a:ext cx="685800" cy="219456"/>
          </a:xfrm>
          <a:prstGeom prst="rect">
            <a:avLst/>
          </a:prstGeom>
          <a:solidFill>
            <a:srgbClr val="C9B3F0">
              <a:alpha val="80000"/>
            </a:srgbClr>
          </a:solidFill>
          <a:ln w="6350">
            <a:solidFill>
              <a:srgbClr val="C9B3F0"/>
            </a:solidFill>
            <a:prstDash val="solid"/>
          </a:ln>
        </p:spPr>
      </p:sp>
      <p:sp>
        <p:nvSpPr>
          <p:cNvPr id="10" name="tape_213"/>
          <p:cNvSpPr/>
          <p:nvPr/>
        </p:nvSpPr>
        <p:spPr>
          <a:xfrm rot="-720000">
            <a:off x="3035808" y="1069848"/>
            <a:ext cx="685800" cy="219456"/>
          </a:xfrm>
          <a:prstGeom prst="rect">
            <a:avLst/>
          </a:prstGeom>
          <a:solidFill>
            <a:srgbClr val="C9B3F0">
              <a:alpha val="80000"/>
            </a:srgbClr>
          </a:solidFill>
          <a:ln w="6350">
            <a:solidFill>
              <a:srgbClr val="C9B3F0"/>
            </a:solidFill>
            <a:prstDash val="solid"/>
          </a:ln>
        </p:spPr>
      </p:sp>
      <p:sp>
        <p:nvSpPr>
          <p:cNvPr id="11" name="post_214"/>
          <p:cNvSpPr/>
          <p:nvPr/>
        </p:nvSpPr>
        <p:spPr>
          <a:xfrm>
            <a:off x="429768" y="1554480"/>
            <a:ext cx="128016" cy="2194560"/>
          </a:xfrm>
          <a:prstGeom prst="rect">
            <a:avLst/>
          </a:prstGeom>
          <a:solidFill>
            <a:srgbClr val="8B5A2B"/>
          </a:solidFill>
          <a:ln w="31750">
            <a:solidFill>
              <a:srgbClr val="111111"/>
            </a:solidFill>
            <a:prstDash val="solid"/>
          </a:ln>
        </p:spPr>
      </p:sp>
      <p:sp>
        <p:nvSpPr>
          <p:cNvPr id="12" name="signA_215"/>
          <p:cNvSpPr txBox="1"/>
          <p:nvPr/>
        </p:nvSpPr>
        <p:spPr>
          <a:xfrm rot="-180000">
            <a:off x="320040" y="1371600"/>
            <a:ext cx="2240280" cy="457200"/>
          </a:xfrm>
          <a:prstGeom prst="homePlate">
            <a:avLst/>
          </a:prstGeom>
          <a:solidFill>
            <a:srgbClr val="062F67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THINK!</a:t>
            </a:r>
            <a:pPr indent="0" marL="0">
              <a:buNone/>
            </a:pPr>
            <a:r>
              <a:rPr lang="en-US" sz="1000" dirty="0">
                <a:solidFill>
                  <a:srgbClr val="FFF3B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 PENSA!</a:t>
            </a:r>
            <a:endParaRPr lang="en-US" sz="1500" dirty="0"/>
          </a:p>
        </p:txBody>
      </p:sp>
      <p:sp>
        <p:nvSpPr>
          <p:cNvPr id="13" name="signB_216"/>
          <p:cNvSpPr txBox="1"/>
          <p:nvPr/>
        </p:nvSpPr>
        <p:spPr>
          <a:xfrm rot="120000">
            <a:off x="365760" y="1938528"/>
            <a:ext cx="2240280" cy="1051560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Guess! Closest answer wins a point.</a:t>
            </a:r>
            <a:endParaRPr lang="en-US" sz="1250" dirty="0"/>
          </a:p>
          <a:p>
            <a:pPr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Indovina! La risposta più vicina vince un punto.</a:t>
            </a:r>
            <a:endParaRPr lang="en-US" sz="1250" dirty="0"/>
          </a:p>
        </p:txBody>
      </p:sp>
      <p:sp>
        <p:nvSpPr>
          <p:cNvPr id="14" name="box_217"/>
          <p:cNvSpPr txBox="1"/>
          <p:nvPr/>
        </p:nvSpPr>
        <p:spPr>
          <a:xfrm>
            <a:off x="2788920" y="1371600"/>
            <a:ext cx="1949318" cy="868680"/>
          </a:xfrm>
          <a:prstGeom prst="rect">
            <a:avLst/>
          </a:prstGeom>
          <a:solidFill>
            <a:srgbClr val="E0F2FE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Water boils at… °C (at sea level)</a:t>
            </a:r>
            <a:endParaRPr lang="en-US" sz="1350" dirty="0"/>
          </a:p>
        </p:txBody>
      </p:sp>
      <p:sp>
        <p:nvSpPr>
          <p:cNvPr id="15" name="R1_a0"/>
          <p:cNvSpPr txBox="1"/>
          <p:nvPr/>
        </p:nvSpPr>
        <p:spPr>
          <a:xfrm>
            <a:off x="4793102" y="1408176"/>
            <a:ext cx="949330" cy="795528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100°C</a:t>
            </a:r>
            <a:endParaRPr lang="en-US" sz="1200" dirty="0"/>
          </a:p>
        </p:txBody>
      </p:sp>
      <p:sp>
        <p:nvSpPr>
          <p:cNvPr id="16" name="box_218"/>
          <p:cNvSpPr txBox="1"/>
          <p:nvPr/>
        </p:nvSpPr>
        <p:spPr>
          <a:xfrm>
            <a:off x="5870448" y="1371600"/>
            <a:ext cx="1949318" cy="868680"/>
          </a:xfrm>
          <a:prstGeom prst="rect">
            <a:avLst/>
          </a:prstGeom>
          <a:solidFill>
            <a:srgbClr val="FCE7F3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A freezer should be at…</a:t>
            </a:r>
            <a:endParaRPr lang="en-US" sz="1350" dirty="0"/>
          </a:p>
        </p:txBody>
      </p:sp>
      <p:sp>
        <p:nvSpPr>
          <p:cNvPr id="17" name="R1_a1"/>
          <p:cNvSpPr txBox="1"/>
          <p:nvPr/>
        </p:nvSpPr>
        <p:spPr>
          <a:xfrm>
            <a:off x="7874630" y="1408176"/>
            <a:ext cx="949330" cy="795528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–18°C or colder</a:t>
            </a:r>
            <a:endParaRPr lang="en-US" sz="1200" dirty="0"/>
          </a:p>
        </p:txBody>
      </p:sp>
      <p:sp>
        <p:nvSpPr>
          <p:cNvPr id="18" name="box_219"/>
          <p:cNvSpPr txBox="1"/>
          <p:nvPr/>
        </p:nvSpPr>
        <p:spPr>
          <a:xfrm>
            <a:off x="2788920" y="2368296"/>
            <a:ext cx="1949318" cy="868680"/>
          </a:xfrm>
          <a:prstGeom prst="rect">
            <a:avLst/>
          </a:prstGeom>
          <a:solidFill>
            <a:srgbClr val="FEF9C3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Teaspoons in a tablespoon?</a:t>
            </a:r>
            <a:endParaRPr lang="en-US" sz="1350" dirty="0"/>
          </a:p>
        </p:txBody>
      </p:sp>
      <p:sp>
        <p:nvSpPr>
          <p:cNvPr id="19" name="R1_a2"/>
          <p:cNvSpPr txBox="1"/>
          <p:nvPr/>
        </p:nvSpPr>
        <p:spPr>
          <a:xfrm>
            <a:off x="4793102" y="2404872"/>
            <a:ext cx="949330" cy="795528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box_220"/>
          <p:cNvSpPr txBox="1"/>
          <p:nvPr/>
        </p:nvSpPr>
        <p:spPr>
          <a:xfrm>
            <a:off x="5870448" y="2368296"/>
            <a:ext cx="1949318" cy="868680"/>
          </a:xfrm>
          <a:prstGeom prst="rect">
            <a:avLst/>
          </a:prstGeom>
          <a:solidFill>
            <a:srgbClr val="DCFCE7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Grams in a pound (lb)?</a:t>
            </a:r>
            <a:endParaRPr lang="en-US" sz="1350" dirty="0"/>
          </a:p>
        </p:txBody>
      </p:sp>
      <p:sp>
        <p:nvSpPr>
          <p:cNvPr id="21" name="R1_a3"/>
          <p:cNvSpPr txBox="1"/>
          <p:nvPr/>
        </p:nvSpPr>
        <p:spPr>
          <a:xfrm>
            <a:off x="7874630" y="2404872"/>
            <a:ext cx="949330" cy="795528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454 g</a:t>
            </a:r>
            <a:endParaRPr lang="en-US" sz="1200" dirty="0"/>
          </a:p>
        </p:txBody>
      </p:sp>
      <p:sp>
        <p:nvSpPr>
          <p:cNvPr id="22" name="box_221"/>
          <p:cNvSpPr txBox="1"/>
          <p:nvPr/>
        </p:nvSpPr>
        <p:spPr>
          <a:xfrm>
            <a:off x="2788920" y="3364992"/>
            <a:ext cx="1949318" cy="868680"/>
          </a:xfrm>
          <a:prstGeom prst="rect">
            <a:avLst/>
          </a:prstGeom>
          <a:solidFill>
            <a:srgbClr val="EDE9FE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Minutes in 'a quarter of an hour'?</a:t>
            </a:r>
            <a:endParaRPr lang="en-US" sz="1350" dirty="0"/>
          </a:p>
        </p:txBody>
      </p:sp>
      <p:sp>
        <p:nvSpPr>
          <p:cNvPr id="23" name="R1_a4"/>
          <p:cNvSpPr txBox="1"/>
          <p:nvPr/>
        </p:nvSpPr>
        <p:spPr>
          <a:xfrm>
            <a:off x="4793102" y="3401568"/>
            <a:ext cx="949330" cy="795528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200" dirty="0"/>
          </a:p>
        </p:txBody>
      </p:sp>
      <p:sp>
        <p:nvSpPr>
          <p:cNvPr id="24" name="box_222"/>
          <p:cNvSpPr txBox="1"/>
          <p:nvPr/>
        </p:nvSpPr>
        <p:spPr>
          <a:xfrm>
            <a:off x="5870448" y="3364992"/>
            <a:ext cx="1949318" cy="868680"/>
          </a:xfrm>
          <a:prstGeom prst="rect">
            <a:avLst/>
          </a:prstGeom>
          <a:solidFill>
            <a:srgbClr val="FFEDD5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A fridge should be at…</a:t>
            </a:r>
            <a:endParaRPr lang="en-US" sz="1350" dirty="0"/>
          </a:p>
        </p:txBody>
      </p:sp>
      <p:sp>
        <p:nvSpPr>
          <p:cNvPr id="25" name="R1_a5"/>
          <p:cNvSpPr txBox="1"/>
          <p:nvPr/>
        </p:nvSpPr>
        <p:spPr>
          <a:xfrm>
            <a:off x="7874630" y="3401568"/>
            <a:ext cx="949330" cy="795528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5°C or below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London Language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Kitchen English L6 Numbers &amp; time</dc:title>
  <dc:subject>PptxGenJS Presentation</dc:subject>
  <dc:creator>London Language School</dc:creator>
  <cp:lastModifiedBy>London Language School</cp:lastModifiedBy>
  <cp:revision>1</cp:revision>
  <dcterms:created xsi:type="dcterms:W3CDTF">2026-10-05T06:50:57Z</dcterms:created>
  <dcterms:modified xsi:type="dcterms:W3CDTF">2026-10-05T06:50:57Z</dcterms:modified>
</cp:coreProperties>
</file>