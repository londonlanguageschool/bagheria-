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LESSON 6 (60 min). Aims: saying kitchen numbers, How much / how many / how long, can / can't / could. 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Lesson 5 (5 min)
REVISION (5 min). VARIATION: reverse the obvious. Students use the key words; click once per line to check. Then quick-fire: bake or roast? a cake / a chicken / bread / potatoes.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NUMBERS · Say it! (6 min)
NUMBERS (6 min). Then micro-challenge: count DOWN from 250 degrees in 20s (250, 230, 210…) — fastest without mistakes wins. Watch out: two hundred grams (not hundreds); one and a half kilos (not one kilo and half).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Kitchen questions (8 min)
SPEAKING (8 min). Match orally, click 1. Then each chef chooses one dish from their menu and the partner asks all 6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Time words (6 min)
VOCABULARY (6 min). Click 1. Examples: Marinate the lamb overnight. Prepare the sauce in advance. Table 6 changed their order at the last minute!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GRAMMAR · can / can't / could (5 min)
GRAMMAR (5 min). Pronunciation: can /kən/ in sentences, can't /kɑːnt/ — stress helps them hear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GRAMMAR · Practice (5 min)
GRAMMAR PRACTICE (5 min).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READING · A temperature log (6 min)
READING (6 min). Students read the temperatures aloud correctly (minus eighteen degrees). Links to next lesson (health &amp; safety).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NUMBERS · Maths challenge (5 min)
CHALLENGE (5 min). × 3. Students must say the full answer, not just the number. Click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GAME · Listening to numbers (8 min)
GAME (8 min). Teacher: read similar pairs to make them listen (15 / 50 minutes, 13 / 30 degrees).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Exit · what can you remember? (3 min)
EXIT (3 min). Homework sheet L6 in the portal.
Can-dos: I can say weights, temperatures and times. · I can ask How much? How many? How long? · I can use can / can't / could.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SPEAKING · Skills (6 min)
SPEAKING (6 min). VARIATION: personalisation + follow-ups. Answers to report: Analisa can… but she can't…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Quiz · estimating (6 min)
EXTRA (6 min). Students say 'I think it's about…'. Click 1 for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Kitchen English · Lesson 6 of 10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L6</a:t>
            </a:r>
            <a:endParaRPr lang="en-US" sz="28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Numbers &amp; time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weights, temperatures, times · can / can't / could · How long? How much?</a:t>
            </a:r>
            <a:endParaRPr lang="en-US" sz="10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weights, temperatures, times</a:t>
            </a:r>
            <a:endParaRPr lang="en-US" sz="10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🧩  practise can / can't / could</a:t>
            </a:r>
            <a:endParaRPr lang="en-US" sz="10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practise speaking: How long? How much?</a:t>
            </a:r>
            <a:endParaRPr lang="en-US" sz="10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25 minutes at 180 degrees.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chef_ic_thermo_pn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long does it take?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recipe backwards</a:t>
            </a:r>
            <a:endParaRPr lang="en-US" sz="25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last lesson's sauce recipe – starting from the END!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Racconta la ricetta della salsa – dalla FINE!</a:t>
            </a:r>
            <a:endParaRPr lang="en-US" sz="950" dirty="0"/>
          </a:p>
        </p:txBody>
      </p:sp>
      <p:sp>
        <p:nvSpPr>
          <p:cNvPr id="9" name="meta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0" name="tag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1" name="logo_2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REVISION · Lesson 5</a:t>
            </a:r>
            <a:endParaRPr lang="en-US" sz="800" dirty="0"/>
          </a:p>
        </p:txBody>
      </p:sp>
      <p:sp>
        <p:nvSpPr>
          <p:cNvPr id="13" name="bd_27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q_28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basil · pasta</a:t>
            </a:r>
            <a:endParaRPr lang="en-US" sz="1300" dirty="0"/>
          </a:p>
        </p:txBody>
      </p:sp>
      <p:sp>
        <p:nvSpPr>
          <p:cNvPr id="15" name="R1_chip29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Finally, add fresh basil and serve with pasta.</a:t>
            </a:r>
            <a:endParaRPr lang="en-US" sz="1200" dirty="0"/>
          </a:p>
        </p:txBody>
      </p:sp>
      <p:sp>
        <p:nvSpPr>
          <p:cNvPr id="16" name="bd_30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q_31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minutes · stir</a:t>
            </a:r>
            <a:endParaRPr lang="en-US" sz="1300" dirty="0"/>
          </a:p>
        </p:txBody>
      </p:sp>
      <p:sp>
        <p:nvSpPr>
          <p:cNvPr id="18" name="R2_chip32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that, simmer for 20 minutes and stir.</a:t>
            </a:r>
            <a:endParaRPr lang="en-US" sz="1200" dirty="0"/>
          </a:p>
        </p:txBody>
      </p:sp>
      <p:sp>
        <p:nvSpPr>
          <p:cNvPr id="19" name="bd_33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q_34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tinned tomatoes · salt</a:t>
            </a:r>
            <a:endParaRPr lang="en-US" sz="1300" dirty="0"/>
          </a:p>
        </p:txBody>
      </p:sp>
      <p:sp>
        <p:nvSpPr>
          <p:cNvPr id="21" name="R3_chip35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that, add the tomatoes and some salt.</a:t>
            </a:r>
            <a:endParaRPr lang="en-US" sz="1200" dirty="0"/>
          </a:p>
        </p:txBody>
      </p:sp>
      <p:sp>
        <p:nvSpPr>
          <p:cNvPr id="22" name="bd_36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q_37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garlic · 1 minute</a:t>
            </a:r>
            <a:endParaRPr lang="en-US" sz="1300" dirty="0"/>
          </a:p>
        </p:txBody>
      </p:sp>
      <p:sp>
        <p:nvSpPr>
          <p:cNvPr id="24" name="R4_chip38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that, fry the garlic for one minute.</a:t>
            </a:r>
            <a:endParaRPr lang="en-US" sz="1200" dirty="0"/>
          </a:p>
        </p:txBody>
      </p:sp>
      <p:sp>
        <p:nvSpPr>
          <p:cNvPr id="25" name="bd_39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q_40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 oil · saucepan</a:t>
            </a:r>
            <a:endParaRPr lang="en-US" sz="1300" dirty="0"/>
          </a:p>
        </p:txBody>
      </p:sp>
      <p:sp>
        <p:nvSpPr>
          <p:cNvPr id="27" name="R5_chip41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First, heat some olive oil in a saucepan.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4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 like a chef</a:t>
            </a:r>
            <a:endParaRPr lang="en-US" sz="2500" dirty="0"/>
          </a:p>
        </p:txBody>
      </p:sp>
      <p:pic>
        <p:nvPicPr>
          <p:cNvPr id="6" name="brP_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46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say these? Click to check.</a:t>
            </a:r>
            <a:endParaRPr lang="en-US" sz="1250" dirty="0"/>
          </a:p>
        </p:txBody>
      </p:sp>
      <p:sp>
        <p:nvSpPr>
          <p:cNvPr id="8" name="insIT_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si dicono? Clicca per controllare.</a:t>
            </a:r>
            <a:endParaRPr lang="en-US" sz="950" dirty="0"/>
          </a:p>
        </p:txBody>
      </p:sp>
      <p:sp>
        <p:nvSpPr>
          <p:cNvPr id="9" name="cmd_4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49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5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NUMBERS · Say it!</a:t>
            </a:r>
            <a:endParaRPr lang="en-US" sz="800" dirty="0"/>
          </a:p>
        </p:txBody>
      </p:sp>
      <p:sp>
        <p:nvSpPr>
          <p:cNvPr id="13" name="bd_52"/>
          <p:cNvSpPr/>
          <p:nvPr/>
        </p:nvSpPr>
        <p:spPr>
          <a:xfrm>
            <a:off x="32004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q_53"/>
          <p:cNvSpPr/>
          <p:nvPr/>
        </p:nvSpPr>
        <p:spPr>
          <a:xfrm>
            <a:off x="70408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endParaRPr lang="en-US" sz="1200" dirty="0"/>
          </a:p>
        </p:txBody>
      </p:sp>
      <p:sp>
        <p:nvSpPr>
          <p:cNvPr id="15" name="R1_chip54"/>
          <p:cNvSpPr/>
          <p:nvPr/>
        </p:nvSpPr>
        <p:spPr>
          <a:xfrm>
            <a:off x="70408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hundred and fifty grams</a:t>
            </a:r>
            <a:endParaRPr lang="en-US" sz="1150" dirty="0"/>
          </a:p>
        </p:txBody>
      </p:sp>
      <p:sp>
        <p:nvSpPr>
          <p:cNvPr id="16" name="bd_55"/>
          <p:cNvSpPr/>
          <p:nvPr/>
        </p:nvSpPr>
        <p:spPr>
          <a:xfrm>
            <a:off x="32004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q_56"/>
          <p:cNvSpPr/>
          <p:nvPr/>
        </p:nvSpPr>
        <p:spPr>
          <a:xfrm>
            <a:off x="70408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–18°C</a:t>
            </a:r>
            <a:endParaRPr lang="en-US" sz="1200" dirty="0"/>
          </a:p>
        </p:txBody>
      </p:sp>
      <p:sp>
        <p:nvSpPr>
          <p:cNvPr id="18" name="R2_chip57"/>
          <p:cNvSpPr/>
          <p:nvPr/>
        </p:nvSpPr>
        <p:spPr>
          <a:xfrm>
            <a:off x="70408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minus eighteen degrees</a:t>
            </a:r>
            <a:endParaRPr lang="en-US" sz="1150" dirty="0"/>
          </a:p>
        </p:txBody>
      </p:sp>
      <p:sp>
        <p:nvSpPr>
          <p:cNvPr id="19" name="bd_58"/>
          <p:cNvSpPr/>
          <p:nvPr/>
        </p:nvSpPr>
        <p:spPr>
          <a:xfrm>
            <a:off x="32004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q_59"/>
          <p:cNvSpPr/>
          <p:nvPr/>
        </p:nvSpPr>
        <p:spPr>
          <a:xfrm>
            <a:off x="70408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1.5 kg</a:t>
            </a:r>
            <a:endParaRPr lang="en-US" sz="1200" dirty="0"/>
          </a:p>
        </p:txBody>
      </p:sp>
      <p:sp>
        <p:nvSpPr>
          <p:cNvPr id="21" name="R3_chip60"/>
          <p:cNvSpPr/>
          <p:nvPr/>
        </p:nvSpPr>
        <p:spPr>
          <a:xfrm>
            <a:off x="70408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and a half kilos</a:t>
            </a:r>
            <a:endParaRPr lang="en-US" sz="1150" dirty="0"/>
          </a:p>
        </p:txBody>
      </p:sp>
      <p:sp>
        <p:nvSpPr>
          <p:cNvPr id="22" name="bd_61"/>
          <p:cNvSpPr/>
          <p:nvPr/>
        </p:nvSpPr>
        <p:spPr>
          <a:xfrm>
            <a:off x="320040" y="391399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q_62"/>
          <p:cNvSpPr/>
          <p:nvPr/>
        </p:nvSpPr>
        <p:spPr>
          <a:xfrm>
            <a:off x="704088" y="3941064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ml</a:t>
            </a:r>
            <a:endParaRPr lang="en-US" sz="1200" dirty="0"/>
          </a:p>
        </p:txBody>
      </p:sp>
      <p:sp>
        <p:nvSpPr>
          <p:cNvPr id="24" name="R4_chip63"/>
          <p:cNvSpPr/>
          <p:nvPr/>
        </p:nvSpPr>
        <p:spPr>
          <a:xfrm>
            <a:off x="704088" y="4243548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five hundred millilitres</a:t>
            </a:r>
            <a:endParaRPr lang="en-US" sz="1150" dirty="0"/>
          </a:p>
        </p:txBody>
      </p:sp>
      <p:sp>
        <p:nvSpPr>
          <p:cNvPr id="25" name="bd_64"/>
          <p:cNvSpPr/>
          <p:nvPr/>
        </p:nvSpPr>
        <p:spPr>
          <a:xfrm>
            <a:off x="4709160" y="1390254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q_65"/>
          <p:cNvSpPr/>
          <p:nvPr/>
        </p:nvSpPr>
        <p:spPr>
          <a:xfrm>
            <a:off x="5093208" y="1417320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180°C</a:t>
            </a:r>
            <a:endParaRPr lang="en-US" sz="1200" dirty="0"/>
          </a:p>
        </p:txBody>
      </p:sp>
      <p:sp>
        <p:nvSpPr>
          <p:cNvPr id="27" name="R5_chip66"/>
          <p:cNvSpPr/>
          <p:nvPr/>
        </p:nvSpPr>
        <p:spPr>
          <a:xfrm>
            <a:off x="5093208" y="1719804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hundred and eighty degrees</a:t>
            </a:r>
            <a:endParaRPr lang="en-US" sz="1150" dirty="0"/>
          </a:p>
        </p:txBody>
      </p:sp>
      <p:sp>
        <p:nvSpPr>
          <p:cNvPr id="28" name="bd_67"/>
          <p:cNvSpPr/>
          <p:nvPr/>
        </p:nvSpPr>
        <p:spPr>
          <a:xfrm>
            <a:off x="4709160" y="223150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29" name="q_68"/>
          <p:cNvSpPr/>
          <p:nvPr/>
        </p:nvSpPr>
        <p:spPr>
          <a:xfrm>
            <a:off x="5093208" y="2258568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</a:t>
            </a:r>
            <a:endParaRPr lang="en-US" sz="1200" dirty="0"/>
          </a:p>
        </p:txBody>
      </p:sp>
      <p:sp>
        <p:nvSpPr>
          <p:cNvPr id="30" name="R6_chip69"/>
          <p:cNvSpPr/>
          <p:nvPr/>
        </p:nvSpPr>
        <p:spPr>
          <a:xfrm>
            <a:off x="5093208" y="2561052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fifteen minutes / a quarter of an hour</a:t>
            </a:r>
            <a:endParaRPr lang="en-US" sz="1150" dirty="0"/>
          </a:p>
        </p:txBody>
      </p:sp>
      <p:sp>
        <p:nvSpPr>
          <p:cNvPr id="31" name="bd_70"/>
          <p:cNvSpPr/>
          <p:nvPr/>
        </p:nvSpPr>
        <p:spPr>
          <a:xfrm>
            <a:off x="4709160" y="3072750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q_71"/>
          <p:cNvSpPr/>
          <p:nvPr/>
        </p:nvSpPr>
        <p:spPr>
          <a:xfrm>
            <a:off x="5093208" y="3099816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tbsp</a:t>
            </a:r>
            <a:endParaRPr lang="en-US" sz="1200" dirty="0"/>
          </a:p>
        </p:txBody>
      </p:sp>
      <p:sp>
        <p:nvSpPr>
          <p:cNvPr id="33" name="R7_chip72"/>
          <p:cNvSpPr/>
          <p:nvPr/>
        </p:nvSpPr>
        <p:spPr>
          <a:xfrm>
            <a:off x="5093208" y="3402300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tablespoon</a:t>
            </a:r>
            <a:endParaRPr lang="en-US" sz="1150" dirty="0"/>
          </a:p>
        </p:txBody>
      </p:sp>
      <p:sp>
        <p:nvSpPr>
          <p:cNvPr id="34" name="bd_73"/>
          <p:cNvSpPr/>
          <p:nvPr/>
        </p:nvSpPr>
        <p:spPr>
          <a:xfrm>
            <a:off x="4709160" y="3913998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q_74"/>
          <p:cNvSpPr/>
          <p:nvPr/>
        </p:nvSpPr>
        <p:spPr>
          <a:xfrm>
            <a:off x="5093208" y="3941064"/>
            <a:ext cx="3776472" cy="256764"/>
          </a:xfrm>
          <a:prstGeom prst="roundRect">
            <a:avLst>
              <a:gd name="adj" fmla="val 3561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tsp</a:t>
            </a:r>
            <a:endParaRPr lang="en-US" sz="1200" dirty="0"/>
          </a:p>
        </p:txBody>
      </p:sp>
      <p:sp>
        <p:nvSpPr>
          <p:cNvPr id="36" name="R8_chip75"/>
          <p:cNvSpPr/>
          <p:nvPr/>
        </p:nvSpPr>
        <p:spPr>
          <a:xfrm>
            <a:off x="5093208" y="4243548"/>
            <a:ext cx="3776472" cy="410748"/>
          </a:xfrm>
          <a:prstGeom prst="roundRect">
            <a:avLst>
              <a:gd name="adj" fmla="val 2226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teaspoon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78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long? What temperature?</a:t>
            </a:r>
            <a:endParaRPr lang="en-US" sz="2250" dirty="0"/>
          </a:p>
        </p:txBody>
      </p:sp>
      <p:pic>
        <p:nvPicPr>
          <p:cNvPr id="6" name="brP_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80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Match. Then ask about YOUR dishes!</a:t>
            </a:r>
            <a:endParaRPr lang="en-US" sz="1250" dirty="0"/>
          </a:p>
        </p:txBody>
      </p:sp>
      <p:sp>
        <p:nvSpPr>
          <p:cNvPr id="8" name="insIT_8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Abbina. Poi chiedi dei TUOI piatti!</a:t>
            </a:r>
            <a:endParaRPr lang="en-US" sz="950" dirty="0"/>
          </a:p>
        </p:txBody>
      </p:sp>
      <p:sp>
        <p:nvSpPr>
          <p:cNvPr id="9" name="cmd_8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8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👥 pairs</a:t>
            </a:r>
            <a:endParaRPr lang="en-US" sz="950" dirty="0"/>
          </a:p>
        </p:txBody>
      </p:sp>
      <p:sp>
        <p:nvSpPr>
          <p:cNvPr id="11" name="tag_8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SPEAKING · Kitchen questions</a:t>
            </a:r>
            <a:endParaRPr lang="en-US" sz="800" dirty="0"/>
          </a:p>
        </p:txBody>
      </p:sp>
      <p:sp>
        <p:nvSpPr>
          <p:cNvPr id="14" name="bd_87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88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flour do we need?</a:t>
            </a:r>
            <a:endParaRPr lang="en-US" sz="1300" dirty="0"/>
          </a:p>
        </p:txBody>
      </p:sp>
      <p:sp>
        <p:nvSpPr>
          <p:cNvPr id="16" name="R1_chip89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500 grams.</a:t>
            </a:r>
            <a:endParaRPr lang="en-US" sz="1200" dirty="0"/>
          </a:p>
        </p:txBody>
      </p:sp>
      <p:sp>
        <p:nvSpPr>
          <p:cNvPr id="17" name="bd_90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91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many portions does it make?</a:t>
            </a:r>
            <a:endParaRPr lang="en-US" sz="1300" dirty="0"/>
          </a:p>
        </p:txBody>
      </p:sp>
      <p:sp>
        <p:nvSpPr>
          <p:cNvPr id="19" name="R2_chip92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makes 8 portions.</a:t>
            </a:r>
            <a:endParaRPr lang="en-US" sz="1200" dirty="0"/>
          </a:p>
        </p:txBody>
      </p:sp>
      <p:sp>
        <p:nvSpPr>
          <p:cNvPr id="20" name="bd_93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94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does it take to cook?</a:t>
            </a:r>
            <a:endParaRPr lang="en-US" sz="1300" dirty="0"/>
          </a:p>
        </p:txBody>
      </p:sp>
      <p:sp>
        <p:nvSpPr>
          <p:cNvPr id="22" name="R3_chip95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20 minutes.</a:t>
            </a:r>
            <a:endParaRPr lang="en-US" sz="1200" dirty="0"/>
          </a:p>
        </p:txBody>
      </p:sp>
      <p:sp>
        <p:nvSpPr>
          <p:cNvPr id="23" name="bd_96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97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temperature is the oven?</a:t>
            </a:r>
            <a:endParaRPr lang="en-US" sz="1300" dirty="0"/>
          </a:p>
        </p:txBody>
      </p:sp>
      <p:sp>
        <p:nvSpPr>
          <p:cNvPr id="25" name="R4_chip98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at 200 degrees.</a:t>
            </a:r>
            <a:endParaRPr lang="en-US" sz="1200" dirty="0"/>
          </a:p>
        </p:txBody>
      </p:sp>
      <p:sp>
        <p:nvSpPr>
          <p:cNvPr id="26" name="bd_99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00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long can we keep it in the fridge?</a:t>
            </a:r>
            <a:endParaRPr lang="en-US" sz="1300" dirty="0"/>
          </a:p>
        </p:txBody>
      </p:sp>
      <p:sp>
        <p:nvSpPr>
          <p:cNvPr id="28" name="R5_chip101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three days.</a:t>
            </a:r>
            <a:endParaRPr lang="en-US" sz="1200" dirty="0"/>
          </a:p>
        </p:txBody>
      </p:sp>
      <p:sp>
        <p:nvSpPr>
          <p:cNvPr id="29" name="bd_102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03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time do we start prep?</a:t>
            </a:r>
            <a:endParaRPr lang="en-US" sz="1300" dirty="0"/>
          </a:p>
        </p:txBody>
      </p:sp>
      <p:sp>
        <p:nvSpPr>
          <p:cNvPr id="31" name="R6_chip104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half past ten.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10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ASAP! In advance!</a:t>
            </a:r>
            <a:endParaRPr lang="en-US" sz="2500" dirty="0"/>
          </a:p>
        </p:txBody>
      </p:sp>
      <p:pic>
        <p:nvPicPr>
          <p:cNvPr id="6" name="brP_1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109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Match. Then use 3 in a sentence about your kitchen.</a:t>
            </a:r>
            <a:endParaRPr lang="en-US" sz="1250" dirty="0"/>
          </a:p>
        </p:txBody>
      </p:sp>
      <p:sp>
        <p:nvSpPr>
          <p:cNvPr id="8" name="insIT_11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Abbina. Poi usane 3 in una frase.</a:t>
            </a:r>
            <a:endParaRPr lang="en-US" sz="950" dirty="0"/>
          </a:p>
        </p:txBody>
      </p:sp>
      <p:sp>
        <p:nvSpPr>
          <p:cNvPr id="9" name="cmd_11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1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11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VOCABULARY · Time words</a:t>
            </a:r>
            <a:endParaRPr lang="en-US" sz="800" dirty="0"/>
          </a:p>
        </p:txBody>
      </p:sp>
      <p:sp>
        <p:nvSpPr>
          <p:cNvPr id="14" name="bd_116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17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ASAP</a:t>
            </a:r>
            <a:endParaRPr lang="en-US" sz="1300" dirty="0"/>
          </a:p>
        </p:txBody>
      </p:sp>
      <p:sp>
        <p:nvSpPr>
          <p:cNvPr id="16" name="R1_chip118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 soon as possible – subito</a:t>
            </a:r>
            <a:endParaRPr lang="en-US" sz="1200" dirty="0"/>
          </a:p>
        </p:txBody>
      </p:sp>
      <p:sp>
        <p:nvSpPr>
          <p:cNvPr id="17" name="bd_119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20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advance</a:t>
            </a:r>
            <a:endParaRPr lang="en-US" sz="1300" dirty="0"/>
          </a:p>
        </p:txBody>
      </p:sp>
      <p:sp>
        <p:nvSpPr>
          <p:cNvPr id="19" name="R2_chip121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before – in anticipo</a:t>
            </a:r>
            <a:endParaRPr lang="en-US" sz="1200" dirty="0"/>
          </a:p>
        </p:txBody>
      </p:sp>
      <p:sp>
        <p:nvSpPr>
          <p:cNvPr id="20" name="bd_122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23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</a:t>
            </a:r>
            <a:endParaRPr lang="en-US" sz="1300" dirty="0"/>
          </a:p>
        </p:txBody>
      </p:sp>
      <p:sp>
        <p:nvSpPr>
          <p:cNvPr id="22" name="R3_chip124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all night – per tutta la notte</a:t>
            </a:r>
            <a:endParaRPr lang="en-US" sz="1200" dirty="0"/>
          </a:p>
        </p:txBody>
      </p:sp>
      <p:sp>
        <p:nvSpPr>
          <p:cNvPr id="23" name="bd_125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26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the last minute</a:t>
            </a:r>
            <a:endParaRPr lang="en-US" sz="1300" dirty="0"/>
          </a:p>
        </p:txBody>
      </p:sp>
      <p:sp>
        <p:nvSpPr>
          <p:cNvPr id="25" name="R4_chip127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very late – all'ultimo momento</a:t>
            </a:r>
            <a:endParaRPr lang="en-US" sz="1200" dirty="0"/>
          </a:p>
        </p:txBody>
      </p:sp>
      <p:sp>
        <p:nvSpPr>
          <p:cNvPr id="26" name="bd_128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29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half an hour</a:t>
            </a:r>
            <a:endParaRPr lang="en-US" sz="1300" dirty="0"/>
          </a:p>
        </p:txBody>
      </p:sp>
      <p:sp>
        <p:nvSpPr>
          <p:cNvPr id="28" name="R5_chip130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30 minutes</a:t>
            </a:r>
            <a:endParaRPr lang="en-US" sz="1200" dirty="0"/>
          </a:p>
        </p:txBody>
      </p:sp>
      <p:sp>
        <p:nvSpPr>
          <p:cNvPr id="29" name="bd_131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32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quarter of an hour</a:t>
            </a:r>
            <a:endParaRPr lang="en-US" sz="1300" dirty="0"/>
          </a:p>
        </p:txBody>
      </p:sp>
      <p:sp>
        <p:nvSpPr>
          <p:cNvPr id="31" name="R6_chip133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 minutes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13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make bread?</a:t>
            </a:r>
            <a:endParaRPr lang="en-US" sz="2400" dirty="0"/>
          </a:p>
        </p:txBody>
      </p:sp>
      <p:sp>
        <p:nvSpPr>
          <p:cNvPr id="6" name="meta_13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7" name="tag_138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8" name="logo_139" descr="/home/claude/lls-course/v2/img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9" name="foot_14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GRAMMAR · can / can't / could</a:t>
            </a:r>
            <a:endParaRPr lang="en-US" sz="800" dirty="0"/>
          </a:p>
        </p:txBody>
      </p:sp>
      <p:sp>
        <p:nvSpPr>
          <p:cNvPr id="10" name="cd_141"/>
          <p:cNvSpPr/>
          <p:nvPr/>
        </p:nvSpPr>
        <p:spPr>
          <a:xfrm>
            <a:off x="3200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1" name="rh_142"/>
          <p:cNvSpPr/>
          <p:nvPr/>
        </p:nvSpPr>
        <p:spPr>
          <a:xfrm>
            <a:off x="4297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Ability</a:t>
            </a:r>
            <a:endParaRPr lang="en-US" sz="1250" dirty="0"/>
          </a:p>
        </p:txBody>
      </p:sp>
      <p:sp>
        <p:nvSpPr>
          <p:cNvPr id="12" name="R1_rx143"/>
          <p:cNvSpPr/>
          <p:nvPr/>
        </p:nvSpPr>
        <p:spPr>
          <a:xfrm>
            <a:off x="4572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can make fresh pasta.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can't speak French.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fillet a fish?</a:t>
            </a:r>
            <a:endParaRPr lang="en-US" sz="1400" dirty="0"/>
          </a:p>
        </p:txBody>
      </p:sp>
      <p:sp>
        <p:nvSpPr>
          <p:cNvPr id="13" name="R1_ri144"/>
          <p:cNvSpPr/>
          <p:nvPr/>
        </p:nvSpPr>
        <p:spPr>
          <a:xfrm>
            <a:off x="4114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Yes, I can. / No, I can't.</a:t>
            </a:r>
            <a:endParaRPr lang="en-US" sz="1100" dirty="0"/>
          </a:p>
        </p:txBody>
      </p:sp>
      <p:sp>
        <p:nvSpPr>
          <p:cNvPr id="14" name="cd_145"/>
          <p:cNvSpPr/>
          <p:nvPr/>
        </p:nvSpPr>
        <p:spPr>
          <a:xfrm>
            <a:off x="32156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146"/>
          <p:cNvSpPr/>
          <p:nvPr/>
        </p:nvSpPr>
        <p:spPr>
          <a:xfrm>
            <a:off x="33253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Permission</a:t>
            </a:r>
            <a:endParaRPr lang="en-US" sz="1250" dirty="0"/>
          </a:p>
        </p:txBody>
      </p:sp>
      <p:sp>
        <p:nvSpPr>
          <p:cNvPr id="16" name="R2_rx147"/>
          <p:cNvSpPr/>
          <p:nvPr/>
        </p:nvSpPr>
        <p:spPr>
          <a:xfrm>
            <a:off x="33528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I take my break now?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can't use your phone in the kitchen.</a:t>
            </a:r>
            <a:endParaRPr lang="en-US" sz="1400" dirty="0"/>
          </a:p>
        </p:txBody>
      </p:sp>
      <p:sp>
        <p:nvSpPr>
          <p:cNvPr id="17" name="cd_148"/>
          <p:cNvSpPr/>
          <p:nvPr/>
        </p:nvSpPr>
        <p:spPr>
          <a:xfrm>
            <a:off x="6111240" y="1417320"/>
            <a:ext cx="2758440" cy="301752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rh_149"/>
          <p:cNvSpPr/>
          <p:nvPr/>
        </p:nvSpPr>
        <p:spPr>
          <a:xfrm>
            <a:off x="6220968" y="1508760"/>
            <a:ext cx="25389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Requests</a:t>
            </a:r>
            <a:endParaRPr lang="en-US" sz="1250" dirty="0"/>
          </a:p>
        </p:txBody>
      </p:sp>
      <p:sp>
        <p:nvSpPr>
          <p:cNvPr id="19" name="R3_rx150"/>
          <p:cNvSpPr/>
          <p:nvPr/>
        </p:nvSpPr>
        <p:spPr>
          <a:xfrm>
            <a:off x="6248400" y="2011680"/>
            <a:ext cx="24841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help me?</a:t>
            </a:r>
            <a:endParaRPr lang="en-US" sz="14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pass the salt, please?</a:t>
            </a:r>
            <a:endParaRPr lang="en-US" sz="1400" dirty="0"/>
          </a:p>
        </p:txBody>
      </p:sp>
      <p:sp>
        <p:nvSpPr>
          <p:cNvPr id="20" name="R3_ri151"/>
          <p:cNvSpPr/>
          <p:nvPr/>
        </p:nvSpPr>
        <p:spPr>
          <a:xfrm>
            <a:off x="6202680" y="4023360"/>
            <a:ext cx="2575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= more polite</a:t>
            </a:r>
            <a:endParaRPr lang="en-US" sz="1100" dirty="0"/>
          </a:p>
        </p:txBody>
      </p:sp>
      <p:sp>
        <p:nvSpPr>
          <p:cNvPr id="21" name="R4_wc152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4_w153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✗ I can to cook → ✓ I can cook.     ✗ Do you can…? → ✓ Can you…?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5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can, can't or could?</a:t>
            </a:r>
            <a:endParaRPr lang="en-US" sz="2500" dirty="0"/>
          </a:p>
        </p:txBody>
      </p:sp>
      <p:pic>
        <p:nvPicPr>
          <p:cNvPr id="6" name="brP_1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15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Complete with can · can't · could.</a:t>
            </a:r>
            <a:endParaRPr lang="en-US" sz="1250" dirty="0"/>
          </a:p>
        </p:txBody>
      </p:sp>
      <p:sp>
        <p:nvSpPr>
          <p:cNvPr id="8" name="insIT_1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con can / can't / could.</a:t>
            </a:r>
            <a:endParaRPr lang="en-US" sz="950" dirty="0"/>
          </a:p>
        </p:txBody>
      </p:sp>
      <p:sp>
        <p:nvSpPr>
          <p:cNvPr id="9" name="cmd_16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✍️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950" dirty="0"/>
          </a:p>
        </p:txBody>
      </p:sp>
      <p:sp>
        <p:nvSpPr>
          <p:cNvPr id="10" name="meta_16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16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GRAMMAR · Practice</a:t>
            </a:r>
            <a:endParaRPr lang="en-US" sz="800" dirty="0"/>
          </a:p>
        </p:txBody>
      </p:sp>
      <p:sp>
        <p:nvSpPr>
          <p:cNvPr id="14" name="bd_165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166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you pass me the salt, please?</a:t>
            </a:r>
            <a:endParaRPr lang="en-US" sz="1300" dirty="0"/>
          </a:p>
        </p:txBody>
      </p:sp>
      <p:sp>
        <p:nvSpPr>
          <p:cNvPr id="16" name="R1_chip167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/ Can</a:t>
            </a:r>
            <a:endParaRPr lang="en-US" sz="1200" dirty="0"/>
          </a:p>
        </p:txBody>
      </p:sp>
      <p:sp>
        <p:nvSpPr>
          <p:cNvPr id="17" name="bd_168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169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___ make bread – I never learnt.</a:t>
            </a:r>
            <a:endParaRPr lang="en-US" sz="1300" dirty="0"/>
          </a:p>
        </p:txBody>
      </p:sp>
      <p:sp>
        <p:nvSpPr>
          <p:cNvPr id="19" name="R2_chip170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200" dirty="0"/>
          </a:p>
        </p:txBody>
      </p:sp>
      <p:sp>
        <p:nvSpPr>
          <p:cNvPr id="20" name="bd_171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172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I leave early today?</a:t>
            </a:r>
            <a:endParaRPr lang="en-US" sz="1300" dirty="0"/>
          </a:p>
        </p:txBody>
      </p:sp>
      <p:sp>
        <p:nvSpPr>
          <p:cNvPr id="22" name="R3_chip173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</a:t>
            </a:r>
            <a:endParaRPr lang="en-US" sz="1200" dirty="0"/>
          </a:p>
        </p:txBody>
      </p:sp>
      <p:sp>
        <p:nvSpPr>
          <p:cNvPr id="23" name="bd_174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175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___ cook for 200 people!</a:t>
            </a:r>
            <a:endParaRPr lang="en-US" sz="1300" dirty="0"/>
          </a:p>
        </p:txBody>
      </p:sp>
      <p:sp>
        <p:nvSpPr>
          <p:cNvPr id="25" name="R4_chip176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</a:t>
            </a:r>
            <a:endParaRPr lang="en-US" sz="1200" dirty="0"/>
          </a:p>
        </p:txBody>
      </p:sp>
      <p:sp>
        <p:nvSpPr>
          <p:cNvPr id="26" name="bd_177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178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___ smoke in the kitchen!</a:t>
            </a:r>
            <a:endParaRPr lang="en-US" sz="1300" dirty="0"/>
          </a:p>
        </p:txBody>
      </p:sp>
      <p:sp>
        <p:nvSpPr>
          <p:cNvPr id="28" name="R5_chip179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200" dirty="0"/>
          </a:p>
        </p:txBody>
      </p:sp>
      <p:sp>
        <p:nvSpPr>
          <p:cNvPr id="29" name="bd_180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181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___ you help me with this box?</a:t>
            </a:r>
            <a:endParaRPr lang="en-US" sz="1300" dirty="0"/>
          </a:p>
        </p:txBody>
      </p:sp>
      <p:sp>
        <p:nvSpPr>
          <p:cNvPr id="31" name="R6_chip182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/ Can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185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Fridge check</a:t>
            </a:r>
            <a:endParaRPr lang="en-US" sz="2500" dirty="0"/>
          </a:p>
        </p:txBody>
      </p:sp>
      <p:pic>
        <p:nvPicPr>
          <p:cNvPr id="6" name="brP_1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187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temperature log. Answer the questions.</a:t>
            </a:r>
            <a:endParaRPr lang="en-US" sz="1250" dirty="0"/>
          </a:p>
        </p:txBody>
      </p:sp>
      <p:sp>
        <p:nvSpPr>
          <p:cNvPr id="8" name="insIT_18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il registro delle temperature e rispondi.</a:t>
            </a:r>
            <a:endParaRPr lang="en-US" sz="950" dirty="0"/>
          </a:p>
        </p:txBody>
      </p:sp>
      <p:sp>
        <p:nvSpPr>
          <p:cNvPr id="9" name="cmd_18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19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👤 alone</a:t>
            </a:r>
            <a:endParaRPr lang="en-US" sz="950" dirty="0"/>
          </a:p>
        </p:txBody>
      </p:sp>
      <p:sp>
        <p:nvSpPr>
          <p:cNvPr id="11" name="tag_19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READING · A temperature log</a:t>
            </a:r>
            <a:endParaRPr lang="en-US" sz="800" dirty="0"/>
          </a:p>
        </p:txBody>
      </p:sp>
      <p:sp>
        <p:nvSpPr>
          <p:cNvPr id="14" name="cd_194"/>
          <p:cNvSpPr/>
          <p:nvPr/>
        </p:nvSpPr>
        <p:spPr>
          <a:xfrm>
            <a:off x="320040" y="1417320"/>
            <a:ext cx="5760720" cy="3364992"/>
          </a:xfrm>
          <a:prstGeom prst="roundRect">
            <a:avLst>
              <a:gd name="adj" fmla="val 3804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d_195"/>
          <p:cNvSpPr/>
          <p:nvPr/>
        </p:nvSpPr>
        <p:spPr>
          <a:xfrm>
            <a:off x="457200" y="1527048"/>
            <a:ext cx="54864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🌡 Temperature log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 7.00  Fridge 1: 3°C · Fridge 2: 4°C · Freezer: –18°C ✓ (Marco)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 15.00  Fridge 1: 4°C · Fridge 2: 9°C ✗ Door open! Closed it. 15.30: 5°C ✓ (Anna)</a:t>
            </a:r>
            <a:endParaRPr lang="en-US" sz="1500" dirty="0"/>
          </a:p>
          <a:p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5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TUE 7.00  Fridge 1: 3°C · Fridge 2: 4°C · Freezer: –12°C ✗ Called the engineer. (Marco)</a:t>
            </a:r>
            <a:endParaRPr lang="en-US" sz="1500" dirty="0"/>
          </a:p>
        </p:txBody>
      </p:sp>
      <p:sp>
        <p:nvSpPr>
          <p:cNvPr id="16" name="bd_196"/>
          <p:cNvSpPr/>
          <p:nvPr/>
        </p:nvSpPr>
        <p:spPr>
          <a:xfrm>
            <a:off x="6172200" y="1427836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900" dirty="0"/>
          </a:p>
        </p:txBody>
      </p:sp>
      <p:sp>
        <p:nvSpPr>
          <p:cNvPr id="17" name="rq_197"/>
          <p:cNvSpPr/>
          <p:nvPr/>
        </p:nvSpPr>
        <p:spPr>
          <a:xfrm>
            <a:off x="6492240" y="141732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fridge had a problem on Monday?</a:t>
            </a:r>
            <a:endParaRPr lang="en-US" sz="800" dirty="0"/>
          </a:p>
        </p:txBody>
      </p:sp>
      <p:sp>
        <p:nvSpPr>
          <p:cNvPr id="18" name="R1_chip198"/>
          <p:cNvSpPr/>
          <p:nvPr/>
        </p:nvSpPr>
        <p:spPr>
          <a:xfrm>
            <a:off x="6492240" y="174010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Fridge 2 – 9°C</a:t>
            </a:r>
            <a:endParaRPr lang="en-US" sz="1050" dirty="0"/>
          </a:p>
        </p:txBody>
      </p:sp>
      <p:sp>
        <p:nvSpPr>
          <p:cNvPr id="19" name="bd_199"/>
          <p:cNvSpPr/>
          <p:nvPr/>
        </p:nvSpPr>
        <p:spPr>
          <a:xfrm>
            <a:off x="6172200" y="2109978"/>
            <a:ext cx="274320" cy="27432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900" dirty="0"/>
          </a:p>
        </p:txBody>
      </p:sp>
      <p:sp>
        <p:nvSpPr>
          <p:cNvPr id="20" name="rq_200"/>
          <p:cNvSpPr/>
          <p:nvPr/>
        </p:nvSpPr>
        <p:spPr>
          <a:xfrm>
            <a:off x="6492240" y="2099462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Why?</a:t>
            </a:r>
            <a:endParaRPr lang="en-US" sz="900" dirty="0"/>
          </a:p>
        </p:txBody>
      </p:sp>
      <p:sp>
        <p:nvSpPr>
          <p:cNvPr id="21" name="R2_chip201"/>
          <p:cNvSpPr/>
          <p:nvPr/>
        </p:nvSpPr>
        <p:spPr>
          <a:xfrm>
            <a:off x="6492240" y="2422246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door was open</a:t>
            </a:r>
            <a:endParaRPr lang="en-US" sz="1050" dirty="0"/>
          </a:p>
        </p:txBody>
      </p:sp>
      <p:sp>
        <p:nvSpPr>
          <p:cNvPr id="22" name="bd_202"/>
          <p:cNvSpPr/>
          <p:nvPr/>
        </p:nvSpPr>
        <p:spPr>
          <a:xfrm>
            <a:off x="6172200" y="2792120"/>
            <a:ext cx="274320" cy="27432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900" dirty="0"/>
          </a:p>
        </p:txBody>
      </p:sp>
      <p:sp>
        <p:nvSpPr>
          <p:cNvPr id="23" name="rq_203"/>
          <p:cNvSpPr/>
          <p:nvPr/>
        </p:nvSpPr>
        <p:spPr>
          <a:xfrm>
            <a:off x="6492240" y="2781605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was it at 15.30?</a:t>
            </a:r>
            <a:endParaRPr lang="en-US" sz="900" dirty="0"/>
          </a:p>
        </p:txBody>
      </p:sp>
      <p:sp>
        <p:nvSpPr>
          <p:cNvPr id="24" name="R3_chip204"/>
          <p:cNvSpPr/>
          <p:nvPr/>
        </p:nvSpPr>
        <p:spPr>
          <a:xfrm>
            <a:off x="6492240" y="3104388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5°C</a:t>
            </a:r>
            <a:endParaRPr lang="en-US" sz="1050" dirty="0"/>
          </a:p>
        </p:txBody>
      </p:sp>
      <p:sp>
        <p:nvSpPr>
          <p:cNvPr id="25" name="bd_205"/>
          <p:cNvSpPr/>
          <p:nvPr/>
        </p:nvSpPr>
        <p:spPr>
          <a:xfrm>
            <a:off x="6172200" y="3474263"/>
            <a:ext cx="274320" cy="274320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rq_206"/>
          <p:cNvSpPr/>
          <p:nvPr/>
        </p:nvSpPr>
        <p:spPr>
          <a:xfrm>
            <a:off x="6492240" y="3463747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was wrong with the freezer?</a:t>
            </a:r>
            <a:endParaRPr lang="en-US" sz="900" dirty="0"/>
          </a:p>
        </p:txBody>
      </p:sp>
      <p:sp>
        <p:nvSpPr>
          <p:cNvPr id="27" name="R4_chip207"/>
          <p:cNvSpPr/>
          <p:nvPr/>
        </p:nvSpPr>
        <p:spPr>
          <a:xfrm>
            <a:off x="6492240" y="3786530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–12°C (should be –18°C)</a:t>
            </a:r>
            <a:endParaRPr lang="en-US" sz="1050" dirty="0"/>
          </a:p>
        </p:txBody>
      </p:sp>
      <p:sp>
        <p:nvSpPr>
          <p:cNvPr id="28" name="bd_208"/>
          <p:cNvSpPr/>
          <p:nvPr/>
        </p:nvSpPr>
        <p:spPr>
          <a:xfrm>
            <a:off x="6172200" y="4156405"/>
            <a:ext cx="274320" cy="27432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rq_209"/>
          <p:cNvSpPr/>
          <p:nvPr/>
        </p:nvSpPr>
        <p:spPr>
          <a:xfrm>
            <a:off x="6492240" y="4145890"/>
            <a:ext cx="2423160" cy="295351"/>
          </a:xfrm>
          <a:prstGeom prst="roundRect">
            <a:avLst>
              <a:gd name="adj" fmla="val 24768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Marco do?</a:t>
            </a:r>
            <a:endParaRPr lang="en-US" sz="900" dirty="0"/>
          </a:p>
        </p:txBody>
      </p:sp>
      <p:sp>
        <p:nvSpPr>
          <p:cNvPr id="30" name="R5_chip210"/>
          <p:cNvSpPr/>
          <p:nvPr/>
        </p:nvSpPr>
        <p:spPr>
          <a:xfrm>
            <a:off x="6492240" y="4468673"/>
            <a:ext cx="2423160" cy="267919"/>
          </a:xfrm>
          <a:prstGeom prst="roundRect">
            <a:avLst>
              <a:gd name="adj" fmla="val 3413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called the engineer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213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Scale the recipe!</a:t>
            </a:r>
            <a:endParaRPr lang="en-US" sz="2500" dirty="0"/>
          </a:p>
        </p:txBody>
      </p:sp>
      <p:pic>
        <p:nvPicPr>
          <p:cNvPr id="6" name="brP_2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48656" cy="402336"/>
          </a:xfrm>
          <a:prstGeom prst="rect">
            <a:avLst/>
          </a:prstGeom>
        </p:spPr>
      </p:pic>
      <p:sp>
        <p:nvSpPr>
          <p:cNvPr id="7" name="ins_215"/>
          <p:cNvSpPr/>
          <p:nvPr/>
        </p:nvSpPr>
        <p:spPr>
          <a:xfrm>
            <a:off x="1353312" y="731520"/>
            <a:ext cx="49926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recipe is for 4. Make it for 12! Say it in full.</a:t>
            </a:r>
            <a:endParaRPr lang="en-US" sz="1250" dirty="0"/>
          </a:p>
        </p:txBody>
      </p:sp>
      <p:sp>
        <p:nvSpPr>
          <p:cNvPr id="8" name="insIT_21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 ricetta è per 4. Falla per 12! Dillo per intero.</a:t>
            </a:r>
            <a:endParaRPr lang="en-US" sz="950" dirty="0"/>
          </a:p>
        </p:txBody>
      </p:sp>
      <p:sp>
        <p:nvSpPr>
          <p:cNvPr id="9" name="cmd_21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18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pic>
        <p:nvPicPr>
          <p:cNvPr id="11" name="logo_21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2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NUMBERS · Maths challenge</a:t>
            </a:r>
            <a:endParaRPr lang="en-US" sz="800" dirty="0"/>
          </a:p>
        </p:txBody>
      </p:sp>
      <p:sp>
        <p:nvSpPr>
          <p:cNvPr id="13" name="bd_221"/>
          <p:cNvSpPr/>
          <p:nvPr/>
        </p:nvSpPr>
        <p:spPr>
          <a:xfrm>
            <a:off x="548640" y="154533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q_222"/>
          <p:cNvSpPr/>
          <p:nvPr/>
        </p:nvSpPr>
        <p:spPr>
          <a:xfrm>
            <a:off x="932688" y="1417320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pasta → ?</a:t>
            </a:r>
            <a:endParaRPr lang="en-US" sz="1300" dirty="0"/>
          </a:p>
        </p:txBody>
      </p:sp>
      <p:sp>
        <p:nvSpPr>
          <p:cNvPr id="15" name="R1_chip223"/>
          <p:cNvSpPr/>
          <p:nvPr/>
        </p:nvSpPr>
        <p:spPr>
          <a:xfrm>
            <a:off x="4297680" y="1417320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hundred grams of pasta</a:t>
            </a:r>
            <a:endParaRPr lang="en-US" sz="1200" dirty="0"/>
          </a:p>
        </p:txBody>
      </p:sp>
      <p:sp>
        <p:nvSpPr>
          <p:cNvPr id="16" name="bd_224"/>
          <p:cNvSpPr/>
          <p:nvPr/>
        </p:nvSpPr>
        <p:spPr>
          <a:xfrm>
            <a:off x="548640" y="2157984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q_225"/>
          <p:cNvSpPr/>
          <p:nvPr/>
        </p:nvSpPr>
        <p:spPr>
          <a:xfrm>
            <a:off x="932688" y="2029968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eggs → ?</a:t>
            </a:r>
            <a:endParaRPr lang="en-US" sz="1300" dirty="0"/>
          </a:p>
        </p:txBody>
      </p:sp>
      <p:sp>
        <p:nvSpPr>
          <p:cNvPr id="18" name="R2_chip226"/>
          <p:cNvSpPr/>
          <p:nvPr/>
        </p:nvSpPr>
        <p:spPr>
          <a:xfrm>
            <a:off x="4297680" y="2029968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eggs</a:t>
            </a:r>
            <a:endParaRPr lang="en-US" sz="1200" dirty="0"/>
          </a:p>
        </p:txBody>
      </p:sp>
      <p:sp>
        <p:nvSpPr>
          <p:cNvPr id="19" name="bd_227"/>
          <p:cNvSpPr/>
          <p:nvPr/>
        </p:nvSpPr>
        <p:spPr>
          <a:xfrm>
            <a:off x="548640" y="2770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q_228"/>
          <p:cNvSpPr/>
          <p:nvPr/>
        </p:nvSpPr>
        <p:spPr>
          <a:xfrm>
            <a:off x="932688" y="2642616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ml cream → ?</a:t>
            </a:r>
            <a:endParaRPr lang="en-US" sz="1300" dirty="0"/>
          </a:p>
        </p:txBody>
      </p:sp>
      <p:sp>
        <p:nvSpPr>
          <p:cNvPr id="21" name="R3_chip229"/>
          <p:cNvSpPr/>
          <p:nvPr/>
        </p:nvSpPr>
        <p:spPr>
          <a:xfrm>
            <a:off x="4297680" y="2642616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hundred millilitres of cream</a:t>
            </a:r>
            <a:endParaRPr lang="en-US" sz="1200" dirty="0"/>
          </a:p>
        </p:txBody>
      </p:sp>
      <p:sp>
        <p:nvSpPr>
          <p:cNvPr id="22" name="bd_230"/>
          <p:cNvSpPr/>
          <p:nvPr/>
        </p:nvSpPr>
        <p:spPr>
          <a:xfrm>
            <a:off x="548640" y="3383280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q_231"/>
          <p:cNvSpPr/>
          <p:nvPr/>
        </p:nvSpPr>
        <p:spPr>
          <a:xfrm>
            <a:off x="932688" y="3255264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parmesan → ?</a:t>
            </a:r>
            <a:endParaRPr lang="en-US" sz="1300" dirty="0"/>
          </a:p>
        </p:txBody>
      </p:sp>
      <p:sp>
        <p:nvSpPr>
          <p:cNvPr id="24" name="R4_chip232"/>
          <p:cNvSpPr/>
          <p:nvPr/>
        </p:nvSpPr>
        <p:spPr>
          <a:xfrm>
            <a:off x="4297680" y="3255264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hundred and fifty grams of parmesan</a:t>
            </a:r>
            <a:endParaRPr lang="en-US" sz="1200" dirty="0"/>
          </a:p>
        </p:txBody>
      </p:sp>
      <p:sp>
        <p:nvSpPr>
          <p:cNvPr id="25" name="bd_233"/>
          <p:cNvSpPr/>
          <p:nvPr/>
        </p:nvSpPr>
        <p:spPr>
          <a:xfrm>
            <a:off x="548640" y="3995928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q_234"/>
          <p:cNvSpPr/>
          <p:nvPr/>
        </p:nvSpPr>
        <p:spPr>
          <a:xfrm>
            <a:off x="932688" y="3867912"/>
            <a:ext cx="32918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tbsp olive oil → ?</a:t>
            </a:r>
            <a:endParaRPr lang="en-US" sz="1300" dirty="0"/>
          </a:p>
        </p:txBody>
      </p:sp>
      <p:sp>
        <p:nvSpPr>
          <p:cNvPr id="27" name="R5_chip235"/>
          <p:cNvSpPr/>
          <p:nvPr/>
        </p:nvSpPr>
        <p:spPr>
          <a:xfrm>
            <a:off x="4297680" y="3867912"/>
            <a:ext cx="4480560" cy="566928"/>
          </a:xfrm>
          <a:prstGeom prst="roundRect">
            <a:avLst>
              <a:gd name="adj" fmla="val 16129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three tablespoons of olive oil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238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Kitchen bingo</a:t>
            </a:r>
            <a:endParaRPr lang="en-US" sz="2500" dirty="0"/>
          </a:p>
        </p:txBody>
      </p:sp>
      <p:pic>
        <p:nvPicPr>
          <p:cNvPr id="6" name="brP_2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40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numbers. Cross them out!</a:t>
            </a:r>
            <a:endParaRPr lang="en-US" sz="1250" dirty="0"/>
          </a:p>
        </p:txBody>
      </p:sp>
      <p:sp>
        <p:nvSpPr>
          <p:cNvPr id="8" name="insIT_24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i numeri e cancellali!</a:t>
            </a:r>
            <a:endParaRPr lang="en-US" sz="950" dirty="0"/>
          </a:p>
        </p:txBody>
      </p:sp>
      <p:sp>
        <p:nvSpPr>
          <p:cNvPr id="9" name="cmd_24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24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8 min   🏆 teams</a:t>
            </a:r>
            <a:endParaRPr lang="en-US" sz="950" dirty="0"/>
          </a:p>
        </p:txBody>
      </p:sp>
      <p:sp>
        <p:nvSpPr>
          <p:cNvPr id="11" name="tag_24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4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4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GAME · Listening to numbers</a:t>
            </a:r>
            <a:endParaRPr lang="en-US" sz="800" dirty="0"/>
          </a:p>
        </p:txBody>
      </p:sp>
      <p:sp>
        <p:nvSpPr>
          <p:cNvPr id="14" name="R1_qb247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R1_sq248"/>
          <p:cNvSpPr/>
          <p:nvPr/>
        </p:nvSpPr>
        <p:spPr>
          <a:xfrm>
            <a:off x="978408" y="1417320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Draw a 3 × 3 grid. Write 9 kitchen numbers: 180°C, 250 g, 15 minutes, 2 litres…</a:t>
            </a:r>
            <a:endParaRPr lang="en-US" sz="1400" dirty="0"/>
          </a:p>
        </p:txBody>
      </p:sp>
      <p:sp>
        <p:nvSpPr>
          <p:cNvPr id="16" name="R2_qb249"/>
          <p:cNvSpPr/>
          <p:nvPr/>
        </p:nvSpPr>
        <p:spPr>
          <a:xfrm>
            <a:off x="57607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R2_sq250"/>
          <p:cNvSpPr/>
          <p:nvPr/>
        </p:nvSpPr>
        <p:spPr>
          <a:xfrm>
            <a:off x="978408" y="2020824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teacher (then a chef) reads out numbers.</a:t>
            </a:r>
            <a:endParaRPr lang="en-US" sz="1400" dirty="0"/>
          </a:p>
        </p:txBody>
      </p:sp>
      <p:sp>
        <p:nvSpPr>
          <p:cNvPr id="18" name="R3_qb251"/>
          <p:cNvSpPr/>
          <p:nvPr/>
        </p:nvSpPr>
        <p:spPr>
          <a:xfrm>
            <a:off x="57607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R3_sq252"/>
          <p:cNvSpPr/>
          <p:nvPr/>
        </p:nvSpPr>
        <p:spPr>
          <a:xfrm>
            <a:off x="978408" y="2624328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out the numbers you hear.</a:t>
            </a:r>
            <a:endParaRPr lang="en-US" sz="1400" dirty="0"/>
          </a:p>
        </p:txBody>
      </p:sp>
      <p:sp>
        <p:nvSpPr>
          <p:cNvPr id="20" name="R4_qb253"/>
          <p:cNvSpPr/>
          <p:nvPr/>
        </p:nvSpPr>
        <p:spPr>
          <a:xfrm>
            <a:off x="57607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R4_sq254"/>
          <p:cNvSpPr/>
          <p:nvPr/>
        </p:nvSpPr>
        <p:spPr>
          <a:xfrm>
            <a:off x="978408" y="3227832"/>
            <a:ext cx="789127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to complete a line shouts 'Service!' – and reads the line back correctly to win.</a:t>
            </a:r>
            <a:endParaRPr lang="en-US" sz="14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5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257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25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2295144" cy="402336"/>
          </a:xfrm>
          <a:prstGeom prst="rect">
            <a:avLst/>
          </a:prstGeom>
        </p:spPr>
      </p:pic>
      <p:sp>
        <p:nvSpPr>
          <p:cNvPr id="7" name="ins_259"/>
          <p:cNvSpPr/>
          <p:nvPr/>
        </p:nvSpPr>
        <p:spPr>
          <a:xfrm>
            <a:off x="1353312" y="731520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 your partner…</a:t>
            </a:r>
            <a:endParaRPr lang="en-US" sz="1250" dirty="0"/>
          </a:p>
        </p:txBody>
      </p:sp>
      <p:sp>
        <p:nvSpPr>
          <p:cNvPr id="8" name="insIT_26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al collega…</a:t>
            </a:r>
            <a:endParaRPr lang="en-US" sz="950" dirty="0"/>
          </a:p>
        </p:txBody>
      </p:sp>
      <p:sp>
        <p:nvSpPr>
          <p:cNvPr id="9" name="meta_26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0" name="tag_26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Exit · what can you remember?</a:t>
            </a:r>
            <a:endParaRPr lang="en-US" sz="800" dirty="0"/>
          </a:p>
        </p:txBody>
      </p:sp>
      <p:sp>
        <p:nvSpPr>
          <p:cNvPr id="13" name="bd_265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266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new words from today.</a:t>
            </a:r>
            <a:endParaRPr lang="en-US" sz="1400" dirty="0"/>
          </a:p>
        </p:txBody>
      </p:sp>
      <p:sp>
        <p:nvSpPr>
          <p:cNvPr id="15" name="bd_267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268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sentences with today's grammar.</a:t>
            </a:r>
            <a:endParaRPr lang="en-US" sz="1400" dirty="0"/>
          </a:p>
        </p:txBody>
      </p:sp>
      <p:sp>
        <p:nvSpPr>
          <p:cNvPr id="17" name="bd_269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270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thing you'll say at work this week.</a:t>
            </a:r>
            <a:endParaRPr lang="en-US" sz="1400" dirty="0"/>
          </a:p>
        </p:txBody>
      </p:sp>
      <p:sp>
        <p:nvSpPr>
          <p:cNvPr id="19" name="cd_271"/>
          <p:cNvSpPr/>
          <p:nvPr/>
        </p:nvSpPr>
        <p:spPr>
          <a:xfrm>
            <a:off x="5669280" y="1417320"/>
            <a:ext cx="3200400" cy="1069848"/>
          </a:xfrm>
          <a:prstGeom prst="roundRect">
            <a:avLst>
              <a:gd name="adj" fmla="val 11966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272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273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274"/>
          <p:cNvSpPr/>
          <p:nvPr/>
        </p:nvSpPr>
        <p:spPr>
          <a:xfrm>
            <a:off x="6236208" y="1911096"/>
            <a:ext cx="2542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6 'Can you…?' questions about cooking skills. Ask a colleague at work!</a:t>
            </a:r>
            <a:endParaRPr lang="en-US" sz="900" dirty="0"/>
          </a:p>
        </p:txBody>
      </p:sp>
      <p:sp>
        <p:nvSpPr>
          <p:cNvPr id="23" name="st_275"/>
          <p:cNvSpPr/>
          <p:nvPr/>
        </p:nvSpPr>
        <p:spPr>
          <a:xfrm rot="-180000">
            <a:off x="5806440" y="2715768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L7 · Health &amp; safety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7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27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278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27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80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28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28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83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284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28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8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Review · what did you do today?</a:t>
            </a:r>
            <a:endParaRPr lang="en-US" sz="800" dirty="0"/>
          </a:p>
        </p:txBody>
      </p:sp>
      <p:sp>
        <p:nvSpPr>
          <p:cNvPr id="14" name="cd_287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288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16" name="tt_289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weights, temperatures, times</a:t>
            </a:r>
            <a:endParaRPr lang="en-US" sz="1350" dirty="0"/>
          </a:p>
        </p:txBody>
      </p:sp>
      <p:sp>
        <p:nvSpPr>
          <p:cNvPr id="17" name="R1_tk290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291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292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🧩</a:t>
            </a:r>
            <a:endParaRPr lang="en-US" sz="1800" dirty="0"/>
          </a:p>
        </p:txBody>
      </p:sp>
      <p:sp>
        <p:nvSpPr>
          <p:cNvPr id="20" name="tt_293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can / can't / could</a:t>
            </a:r>
            <a:endParaRPr lang="en-US" sz="1350" dirty="0"/>
          </a:p>
        </p:txBody>
      </p:sp>
      <p:sp>
        <p:nvSpPr>
          <p:cNvPr id="21" name="R2_tk294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295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296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24" name="tt_297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speaking: How long? How much?</a:t>
            </a:r>
            <a:endParaRPr lang="en-US" sz="1350" dirty="0"/>
          </a:p>
        </p:txBody>
      </p:sp>
      <p:sp>
        <p:nvSpPr>
          <p:cNvPr id="25" name="R3_tk298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st_299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300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301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302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303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306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you…?</a:t>
            </a:r>
            <a:endParaRPr lang="en-US" sz="2400" dirty="0"/>
          </a:p>
        </p:txBody>
      </p:sp>
      <p:pic>
        <p:nvPicPr>
          <p:cNvPr id="6" name="brP_3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308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your partner. If YES, ask a follow-up question!</a:t>
            </a:r>
            <a:endParaRPr lang="en-US" sz="1250" dirty="0"/>
          </a:p>
        </p:txBody>
      </p:sp>
      <p:sp>
        <p:nvSpPr>
          <p:cNvPr id="8" name="insIT_3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Chiedi al collega. Se SÌ, fai un'altra domanda!</a:t>
            </a:r>
            <a:endParaRPr lang="en-US" sz="950" dirty="0"/>
          </a:p>
        </p:txBody>
      </p:sp>
      <p:sp>
        <p:nvSpPr>
          <p:cNvPr id="9" name="cmd_31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31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sp>
        <p:nvSpPr>
          <p:cNvPr id="11" name="tag_31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31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1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SPEAKING · Skills</a:t>
            </a:r>
            <a:endParaRPr lang="en-US" sz="800" dirty="0"/>
          </a:p>
        </p:txBody>
      </p:sp>
      <p:sp>
        <p:nvSpPr>
          <p:cNvPr id="14" name="ext_315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R1_qb316"/>
          <p:cNvSpPr/>
          <p:nvPr/>
        </p:nvSpPr>
        <p:spPr>
          <a:xfrm>
            <a:off x="57607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R1_sq317"/>
          <p:cNvSpPr/>
          <p:nvPr/>
        </p:nvSpPr>
        <p:spPr>
          <a:xfrm>
            <a:off x="978408" y="14173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fresh pasta by hand?</a:t>
            </a:r>
            <a:endParaRPr lang="en-US" sz="1300" dirty="0"/>
          </a:p>
          <a:p>
            <a:pPr indent="0" marL="0">
              <a:buNone/>
            </a:pPr>
            <a:r>
              <a:rPr lang="en-US" sz="10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I can. → Really? How long does it take?</a:t>
            </a:r>
            <a:endParaRPr lang="en-US" sz="1300" dirty="0"/>
          </a:p>
        </p:txBody>
      </p:sp>
      <p:sp>
        <p:nvSpPr>
          <p:cNvPr id="17" name="R2_qb318"/>
          <p:cNvSpPr/>
          <p:nvPr/>
        </p:nvSpPr>
        <p:spPr>
          <a:xfrm>
            <a:off x="576072" y="20101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R2_sq319"/>
          <p:cNvSpPr/>
          <p:nvPr/>
        </p:nvSpPr>
        <p:spPr>
          <a:xfrm>
            <a:off x="978408" y="197358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fillet a whole fish?</a:t>
            </a:r>
            <a:endParaRPr lang="en-US" sz="1300" dirty="0"/>
          </a:p>
        </p:txBody>
      </p:sp>
      <p:sp>
        <p:nvSpPr>
          <p:cNvPr id="19" name="R3_qb320"/>
          <p:cNvSpPr/>
          <p:nvPr/>
        </p:nvSpPr>
        <p:spPr>
          <a:xfrm>
            <a:off x="576072" y="2566416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R3_sq321"/>
          <p:cNvSpPr/>
          <p:nvPr/>
        </p:nvSpPr>
        <p:spPr>
          <a:xfrm>
            <a:off x="978408" y="252984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bread without a recipe?</a:t>
            </a:r>
            <a:endParaRPr lang="en-US" sz="1300" dirty="0"/>
          </a:p>
        </p:txBody>
      </p:sp>
      <p:sp>
        <p:nvSpPr>
          <p:cNvPr id="21" name="R4_qb322"/>
          <p:cNvSpPr/>
          <p:nvPr/>
        </p:nvSpPr>
        <p:spPr>
          <a:xfrm>
            <a:off x="576072" y="3122676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R4_sq323"/>
          <p:cNvSpPr/>
          <p:nvPr/>
        </p:nvSpPr>
        <p:spPr>
          <a:xfrm>
            <a:off x="978408" y="308610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a steak perfectly rare?</a:t>
            </a:r>
            <a:endParaRPr lang="en-US" sz="1300" dirty="0"/>
          </a:p>
        </p:txBody>
      </p:sp>
      <p:sp>
        <p:nvSpPr>
          <p:cNvPr id="23" name="R5_qb324"/>
          <p:cNvSpPr/>
          <p:nvPr/>
        </p:nvSpPr>
        <p:spPr>
          <a:xfrm>
            <a:off x="576072" y="367893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R5_sq325"/>
          <p:cNvSpPr/>
          <p:nvPr/>
        </p:nvSpPr>
        <p:spPr>
          <a:xfrm>
            <a:off x="978408" y="364236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14 hours without a break?</a:t>
            </a:r>
            <a:endParaRPr lang="en-US" sz="1300" dirty="0"/>
          </a:p>
        </p:txBody>
      </p:sp>
      <p:sp>
        <p:nvSpPr>
          <p:cNvPr id="25" name="R6_qb326"/>
          <p:cNvSpPr/>
          <p:nvPr/>
        </p:nvSpPr>
        <p:spPr>
          <a:xfrm>
            <a:off x="576072" y="423519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R6_sq327"/>
          <p:cNvSpPr/>
          <p:nvPr/>
        </p:nvSpPr>
        <p:spPr>
          <a:xfrm>
            <a:off x="978408" y="4198620"/>
            <a:ext cx="789127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cook for 200 people?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32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30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</a:t>
            </a:r>
            <a:endParaRPr lang="en-US" sz="2400" dirty="0"/>
          </a:p>
        </p:txBody>
      </p:sp>
      <p:pic>
        <p:nvPicPr>
          <p:cNvPr id="6" name="brP_33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332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Closest answer wins a point.</a:t>
            </a:r>
            <a:endParaRPr lang="en-US" sz="1250" dirty="0"/>
          </a:p>
        </p:txBody>
      </p:sp>
      <p:sp>
        <p:nvSpPr>
          <p:cNvPr id="8" name="insIT_33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La risposta più vicina vince un punto.</a:t>
            </a:r>
            <a:endParaRPr lang="en-US" sz="950" dirty="0"/>
          </a:p>
        </p:txBody>
      </p:sp>
      <p:sp>
        <p:nvSpPr>
          <p:cNvPr id="9" name="cmd_33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3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6 min   👥 pairs</a:t>
            </a:r>
            <a:endParaRPr lang="en-US" sz="950" dirty="0"/>
          </a:p>
        </p:txBody>
      </p:sp>
      <p:pic>
        <p:nvPicPr>
          <p:cNvPr id="11" name="logo_33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33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L6 · Quiz · estimating</a:t>
            </a:r>
            <a:endParaRPr lang="en-US" sz="800" dirty="0"/>
          </a:p>
        </p:txBody>
      </p:sp>
      <p:sp>
        <p:nvSpPr>
          <p:cNvPr id="13" name="ext_338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4" name="bd_339"/>
          <p:cNvSpPr/>
          <p:nvPr/>
        </p:nvSpPr>
        <p:spPr>
          <a:xfrm>
            <a:off x="548640" y="151333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q_340"/>
          <p:cNvSpPr/>
          <p:nvPr/>
        </p:nvSpPr>
        <p:spPr>
          <a:xfrm>
            <a:off x="932688" y="14173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Water boils at… °C (at sea level)</a:t>
            </a:r>
            <a:endParaRPr lang="en-US" sz="1300" dirty="0"/>
          </a:p>
        </p:txBody>
      </p:sp>
      <p:sp>
        <p:nvSpPr>
          <p:cNvPr id="16" name="R1_chip341"/>
          <p:cNvSpPr/>
          <p:nvPr/>
        </p:nvSpPr>
        <p:spPr>
          <a:xfrm>
            <a:off x="4297680" y="14173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100°C</a:t>
            </a:r>
            <a:endParaRPr lang="en-US" sz="1200" dirty="0"/>
          </a:p>
        </p:txBody>
      </p:sp>
      <p:sp>
        <p:nvSpPr>
          <p:cNvPr id="17" name="bd_342"/>
          <p:cNvSpPr/>
          <p:nvPr/>
        </p:nvSpPr>
        <p:spPr>
          <a:xfrm>
            <a:off x="548640" y="206197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q_343"/>
          <p:cNvSpPr/>
          <p:nvPr/>
        </p:nvSpPr>
        <p:spPr>
          <a:xfrm>
            <a:off x="932688" y="196596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freezer should be at…</a:t>
            </a:r>
            <a:endParaRPr lang="en-US" sz="1300" dirty="0"/>
          </a:p>
        </p:txBody>
      </p:sp>
      <p:sp>
        <p:nvSpPr>
          <p:cNvPr id="19" name="R2_chip344"/>
          <p:cNvSpPr/>
          <p:nvPr/>
        </p:nvSpPr>
        <p:spPr>
          <a:xfrm>
            <a:off x="4297680" y="196596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–18°C or colder</a:t>
            </a:r>
            <a:endParaRPr lang="en-US" sz="1200" dirty="0"/>
          </a:p>
        </p:txBody>
      </p:sp>
      <p:sp>
        <p:nvSpPr>
          <p:cNvPr id="20" name="bd_345"/>
          <p:cNvSpPr/>
          <p:nvPr/>
        </p:nvSpPr>
        <p:spPr>
          <a:xfrm>
            <a:off x="548640" y="26106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q_346"/>
          <p:cNvSpPr/>
          <p:nvPr/>
        </p:nvSpPr>
        <p:spPr>
          <a:xfrm>
            <a:off x="932688" y="251460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Teaspoons in a tablespoon?</a:t>
            </a:r>
            <a:endParaRPr lang="en-US" sz="1300" dirty="0"/>
          </a:p>
        </p:txBody>
      </p:sp>
      <p:sp>
        <p:nvSpPr>
          <p:cNvPr id="22" name="R3_chip347"/>
          <p:cNvSpPr/>
          <p:nvPr/>
        </p:nvSpPr>
        <p:spPr>
          <a:xfrm>
            <a:off x="4297680" y="251460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bd_348"/>
          <p:cNvSpPr/>
          <p:nvPr/>
        </p:nvSpPr>
        <p:spPr>
          <a:xfrm>
            <a:off x="548640" y="315925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q_349"/>
          <p:cNvSpPr/>
          <p:nvPr/>
        </p:nvSpPr>
        <p:spPr>
          <a:xfrm>
            <a:off x="932688" y="306324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Grams in a pound (lb)?</a:t>
            </a:r>
            <a:endParaRPr lang="en-US" sz="1300" dirty="0"/>
          </a:p>
        </p:txBody>
      </p:sp>
      <p:sp>
        <p:nvSpPr>
          <p:cNvPr id="25" name="R4_chip350"/>
          <p:cNvSpPr/>
          <p:nvPr/>
        </p:nvSpPr>
        <p:spPr>
          <a:xfrm>
            <a:off x="4297680" y="306324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about 454 g</a:t>
            </a:r>
            <a:endParaRPr lang="en-US" sz="1200" dirty="0"/>
          </a:p>
        </p:txBody>
      </p:sp>
      <p:sp>
        <p:nvSpPr>
          <p:cNvPr id="26" name="bd_351"/>
          <p:cNvSpPr/>
          <p:nvPr/>
        </p:nvSpPr>
        <p:spPr>
          <a:xfrm>
            <a:off x="548640" y="370789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q_352"/>
          <p:cNvSpPr/>
          <p:nvPr/>
        </p:nvSpPr>
        <p:spPr>
          <a:xfrm>
            <a:off x="932688" y="361188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Minutes in 'a quarter of an hour'?</a:t>
            </a:r>
            <a:endParaRPr lang="en-US" sz="1300" dirty="0"/>
          </a:p>
        </p:txBody>
      </p:sp>
      <p:sp>
        <p:nvSpPr>
          <p:cNvPr id="28" name="R5_chip353"/>
          <p:cNvSpPr/>
          <p:nvPr/>
        </p:nvSpPr>
        <p:spPr>
          <a:xfrm>
            <a:off x="4297680" y="361188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</a:t>
            </a:r>
            <a:endParaRPr lang="en-US" sz="1200" dirty="0"/>
          </a:p>
        </p:txBody>
      </p:sp>
      <p:sp>
        <p:nvSpPr>
          <p:cNvPr id="29" name="bd_354"/>
          <p:cNvSpPr/>
          <p:nvPr/>
        </p:nvSpPr>
        <p:spPr>
          <a:xfrm>
            <a:off x="548640" y="42565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q_355"/>
          <p:cNvSpPr/>
          <p:nvPr/>
        </p:nvSpPr>
        <p:spPr>
          <a:xfrm>
            <a:off x="932688" y="4160520"/>
            <a:ext cx="329184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fridge should be at…</a:t>
            </a:r>
            <a:endParaRPr lang="en-US" sz="1300" dirty="0"/>
          </a:p>
        </p:txBody>
      </p:sp>
      <p:sp>
        <p:nvSpPr>
          <p:cNvPr id="31" name="R6_chip356"/>
          <p:cNvSpPr/>
          <p:nvPr/>
        </p:nvSpPr>
        <p:spPr>
          <a:xfrm>
            <a:off x="4297680" y="4160520"/>
            <a:ext cx="4480560" cy="502920"/>
          </a:xfrm>
          <a:prstGeom prst="roundRect">
            <a:avLst>
              <a:gd name="adj" fmla="val 18182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5°C or below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L6 Numbers &amp; time</dc:title>
  <dc:subject>PptxGenJS Presentation</dc:subject>
  <dc:creator>PptxGenJS</dc:creator>
  <cp:lastModifiedBy>PptxGenJS</cp:lastModifiedBy>
  <cp:revision>1</cp:revision>
  <dcterms:created xsi:type="dcterms:W3CDTF">2026-10-20T06:41:57Z</dcterms:created>
  <dcterms:modified xsi:type="dcterms:W3CDTF">2026-10-20T06:41:57Z</dcterms:modified>
</cp:coreProperties>
</file>