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LESSON 6 (60 min). Aims: saying kitchen numbers, How much / how many / how long, can / can't / could.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Lesson 5 (5 min)
REVISION (5 min). VARIATION: reverse the obvious. Students use the key words; click once per line to check. Then quick-fire: bake or roast? a cake / a chicken / bread / potatoes.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NUMBERS · Say it! (6 min)
NUMBERS (6 min). Then micro-challenge: count DOWN from 250 degrees in 20s (250, 230, 210…) — fastest without mistakes wins. Watch out: two hundred grams (not hundreds); one and a half kilos (not one kilo and half).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SPEAKING · Kitchen questions (8 min)
SPEAKING (8 min). Match orally, click 1. Then each chef chooses one dish from their menu and the partner asks all 6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· Time words (6 min)
VOCABULARY (6 min). Click 1. Examples: Marinate the lamb overnight. Prepare the sauce in advance. Table 6 changed their order at the last minute!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· can / can't / could (5 min)
GRAMMAR (5 min). Pronunciation: can /kən/ in sentences, can't /kɑːnt/ — stress helps them hear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· Practice (5 min)
GRAMMAR PRACTICE (5 min).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READING · A temperature log (6 min)
READING (6 min). Students read the temperatures aloud correctly (minus eighteen degrees). Links to next lesson (health &amp; safety).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NUMBERS · Maths challenge (5 min)
CHALLENGE (5 min). × 3. Students must say the full answer, not just the number.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GAME · Listening to numbers (8 min)
GAME (8 min). Teacher: read similar pairs to make them listen (15 / 50 minutes, 13 / 30 degrees).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Exit · what can you remember? (3 min)
EXIT (3 min). Homework sheet L6 in the portal.
Can-dos: I can say weights, temperatures and times. · I can ask How much? How many? How long? · I can use can / can't / could.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SPEAKING · Skills (6 min)
SPEAKING (6 min). VARIATION: personalisation + follow-ups. Answers to report: Analisa can… but she can't…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Quiz · estimating (6 min)
EXTRA (6 min). Students say 'I think it's about…'. Click 1 for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Kitchen English · Lesson 6 of 10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L6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Numbers &amp; time</a:t>
            </a:r>
            <a:endParaRPr lang="en-US" sz="24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weights, temperatures, times · can / can't / could · How long? How much?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 practise speaking: weights, temperatures, times</a:t>
            </a:r>
            <a:endParaRPr lang="en-US" sz="10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🧩  practise can / can't / could</a:t>
            </a:r>
            <a:endParaRPr lang="en-US" sz="10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 practise speaking: How long? How much?</a:t>
            </a:r>
            <a:endParaRPr lang="en-US" sz="10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 25 minutes at 180 degrees.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chef_ic_thermo_pn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long does it take?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recipe backwards</a:t>
            </a:r>
            <a:endParaRPr lang="en-US" sz="25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last lesson's sauce recipe – starting from the END!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Racconta la ricetta della salsa – dalla FINE!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Controlled practice</a:t>
            </a:r>
            <a:endParaRPr lang="en-US" sz="110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REVISION · Lesson 5</a:t>
            </a:r>
            <a:endParaRPr lang="en-US" sz="800" dirty="0"/>
          </a:p>
        </p:txBody>
      </p:sp>
      <p:sp>
        <p:nvSpPr>
          <p:cNvPr id="12" name="bd_26"/>
          <p:cNvSpPr/>
          <p:nvPr/>
        </p:nvSpPr>
        <p:spPr>
          <a:xfrm>
            <a:off x="548640" y="154533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27"/>
          <p:cNvSpPr/>
          <p:nvPr/>
        </p:nvSpPr>
        <p:spPr>
          <a:xfrm>
            <a:off x="932688" y="141732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basil · pasta</a:t>
            </a:r>
            <a:endParaRPr lang="en-US" sz="1300" dirty="0"/>
          </a:p>
        </p:txBody>
      </p:sp>
      <p:sp>
        <p:nvSpPr>
          <p:cNvPr id="14" name="R1_chip28"/>
          <p:cNvSpPr/>
          <p:nvPr/>
        </p:nvSpPr>
        <p:spPr>
          <a:xfrm>
            <a:off x="4297680" y="1417320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Finally, add fresh basil and serve with pasta.</a:t>
            </a:r>
            <a:endParaRPr lang="en-US" sz="1200" dirty="0"/>
          </a:p>
        </p:txBody>
      </p:sp>
      <p:sp>
        <p:nvSpPr>
          <p:cNvPr id="15" name="bd_29"/>
          <p:cNvSpPr/>
          <p:nvPr/>
        </p:nvSpPr>
        <p:spPr>
          <a:xfrm>
            <a:off x="548640" y="2157984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30"/>
          <p:cNvSpPr/>
          <p:nvPr/>
        </p:nvSpPr>
        <p:spPr>
          <a:xfrm>
            <a:off x="932688" y="2029968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minutes · stir</a:t>
            </a:r>
            <a:endParaRPr lang="en-US" sz="1300" dirty="0"/>
          </a:p>
        </p:txBody>
      </p:sp>
      <p:sp>
        <p:nvSpPr>
          <p:cNvPr id="17" name="R2_chip31"/>
          <p:cNvSpPr/>
          <p:nvPr/>
        </p:nvSpPr>
        <p:spPr>
          <a:xfrm>
            <a:off x="4297680" y="2029968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that, simmer for 20 minutes and stir.</a:t>
            </a:r>
            <a:endParaRPr lang="en-US" sz="1200" dirty="0"/>
          </a:p>
        </p:txBody>
      </p:sp>
      <p:sp>
        <p:nvSpPr>
          <p:cNvPr id="18" name="bd_32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33"/>
          <p:cNvSpPr/>
          <p:nvPr/>
        </p:nvSpPr>
        <p:spPr>
          <a:xfrm>
            <a:off x="932688" y="2642616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tinned tomatoes · salt</a:t>
            </a:r>
            <a:endParaRPr lang="en-US" sz="1300" dirty="0"/>
          </a:p>
        </p:txBody>
      </p:sp>
      <p:sp>
        <p:nvSpPr>
          <p:cNvPr id="20" name="R3_chip34"/>
          <p:cNvSpPr/>
          <p:nvPr/>
        </p:nvSpPr>
        <p:spPr>
          <a:xfrm>
            <a:off x="4297680" y="2642616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that, add the tomatoes and some salt.</a:t>
            </a:r>
            <a:endParaRPr lang="en-US" sz="1200" dirty="0"/>
          </a:p>
        </p:txBody>
      </p:sp>
      <p:sp>
        <p:nvSpPr>
          <p:cNvPr id="21" name="bd_35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36"/>
          <p:cNvSpPr/>
          <p:nvPr/>
        </p:nvSpPr>
        <p:spPr>
          <a:xfrm>
            <a:off x="932688" y="3255264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garlic · 1 minute</a:t>
            </a:r>
            <a:endParaRPr lang="en-US" sz="1300" dirty="0"/>
          </a:p>
        </p:txBody>
      </p:sp>
      <p:sp>
        <p:nvSpPr>
          <p:cNvPr id="23" name="R4_chip37"/>
          <p:cNvSpPr/>
          <p:nvPr/>
        </p:nvSpPr>
        <p:spPr>
          <a:xfrm>
            <a:off x="4297680" y="3255264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that, fry the garlic for one minute.</a:t>
            </a:r>
            <a:endParaRPr lang="en-US" sz="1200" dirty="0"/>
          </a:p>
        </p:txBody>
      </p:sp>
      <p:sp>
        <p:nvSpPr>
          <p:cNvPr id="24" name="bd_38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39"/>
          <p:cNvSpPr/>
          <p:nvPr/>
        </p:nvSpPr>
        <p:spPr>
          <a:xfrm>
            <a:off x="932688" y="3867912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olive oil · saucepan</a:t>
            </a:r>
            <a:endParaRPr lang="en-US" sz="1300" dirty="0"/>
          </a:p>
        </p:txBody>
      </p:sp>
      <p:sp>
        <p:nvSpPr>
          <p:cNvPr id="26" name="R5_chip40"/>
          <p:cNvSpPr/>
          <p:nvPr/>
        </p:nvSpPr>
        <p:spPr>
          <a:xfrm>
            <a:off x="4297680" y="3867912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First, heat some olive oil in a saucepan.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43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 like a chef</a:t>
            </a:r>
            <a:endParaRPr lang="en-US" sz="2500" dirty="0"/>
          </a:p>
        </p:txBody>
      </p:sp>
      <p:pic>
        <p:nvPicPr>
          <p:cNvPr id="6" name="brP_4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45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do you say these? Click to check.</a:t>
            </a:r>
            <a:endParaRPr lang="en-US" sz="1250" dirty="0"/>
          </a:p>
        </p:txBody>
      </p:sp>
      <p:sp>
        <p:nvSpPr>
          <p:cNvPr id="8" name="insIT_4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Come si dicono? Clicca per controllare.</a:t>
            </a:r>
            <a:endParaRPr lang="en-US" sz="950" dirty="0"/>
          </a:p>
        </p:txBody>
      </p:sp>
      <p:sp>
        <p:nvSpPr>
          <p:cNvPr id="9" name="note_47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1250" dirty="0"/>
          </a:p>
        </p:txBody>
      </p:sp>
      <p:pic>
        <p:nvPicPr>
          <p:cNvPr id="10" name="logo_4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NUMBERS · Say it!</a:t>
            </a:r>
            <a:endParaRPr lang="en-US" sz="800" dirty="0"/>
          </a:p>
        </p:txBody>
      </p:sp>
      <p:sp>
        <p:nvSpPr>
          <p:cNvPr id="12" name="bd_50"/>
          <p:cNvSpPr/>
          <p:nvPr/>
        </p:nvSpPr>
        <p:spPr>
          <a:xfrm>
            <a:off x="32004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51"/>
          <p:cNvSpPr/>
          <p:nvPr/>
        </p:nvSpPr>
        <p:spPr>
          <a:xfrm>
            <a:off x="70408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endParaRPr lang="en-US" sz="1200" dirty="0"/>
          </a:p>
        </p:txBody>
      </p:sp>
      <p:sp>
        <p:nvSpPr>
          <p:cNvPr id="14" name="R1_chip52"/>
          <p:cNvSpPr/>
          <p:nvPr/>
        </p:nvSpPr>
        <p:spPr>
          <a:xfrm>
            <a:off x="70408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hundred and fifty grams</a:t>
            </a:r>
            <a:endParaRPr lang="en-US" sz="1150" dirty="0"/>
          </a:p>
        </p:txBody>
      </p:sp>
      <p:sp>
        <p:nvSpPr>
          <p:cNvPr id="15" name="bd_53"/>
          <p:cNvSpPr/>
          <p:nvPr/>
        </p:nvSpPr>
        <p:spPr>
          <a:xfrm>
            <a:off x="32004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54"/>
          <p:cNvSpPr/>
          <p:nvPr/>
        </p:nvSpPr>
        <p:spPr>
          <a:xfrm>
            <a:off x="70408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–18°C</a:t>
            </a:r>
            <a:endParaRPr lang="en-US" sz="1200" dirty="0"/>
          </a:p>
        </p:txBody>
      </p:sp>
      <p:sp>
        <p:nvSpPr>
          <p:cNvPr id="17" name="R2_chip55"/>
          <p:cNvSpPr/>
          <p:nvPr/>
        </p:nvSpPr>
        <p:spPr>
          <a:xfrm>
            <a:off x="70408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minus eighteen degrees</a:t>
            </a:r>
            <a:endParaRPr lang="en-US" sz="1150" dirty="0"/>
          </a:p>
        </p:txBody>
      </p:sp>
      <p:sp>
        <p:nvSpPr>
          <p:cNvPr id="18" name="bd_56"/>
          <p:cNvSpPr/>
          <p:nvPr/>
        </p:nvSpPr>
        <p:spPr>
          <a:xfrm>
            <a:off x="32004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57"/>
          <p:cNvSpPr/>
          <p:nvPr/>
        </p:nvSpPr>
        <p:spPr>
          <a:xfrm>
            <a:off x="70408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1.5 kg</a:t>
            </a:r>
            <a:endParaRPr lang="en-US" sz="1200" dirty="0"/>
          </a:p>
        </p:txBody>
      </p:sp>
      <p:sp>
        <p:nvSpPr>
          <p:cNvPr id="20" name="R3_chip58"/>
          <p:cNvSpPr/>
          <p:nvPr/>
        </p:nvSpPr>
        <p:spPr>
          <a:xfrm>
            <a:off x="70408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and a half kilos</a:t>
            </a:r>
            <a:endParaRPr lang="en-US" sz="1150" dirty="0"/>
          </a:p>
        </p:txBody>
      </p:sp>
      <p:sp>
        <p:nvSpPr>
          <p:cNvPr id="21" name="bd_59"/>
          <p:cNvSpPr/>
          <p:nvPr/>
        </p:nvSpPr>
        <p:spPr>
          <a:xfrm>
            <a:off x="320040" y="391399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60"/>
          <p:cNvSpPr/>
          <p:nvPr/>
        </p:nvSpPr>
        <p:spPr>
          <a:xfrm>
            <a:off x="704088" y="3941064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ml</a:t>
            </a:r>
            <a:endParaRPr lang="en-US" sz="1200" dirty="0"/>
          </a:p>
        </p:txBody>
      </p:sp>
      <p:sp>
        <p:nvSpPr>
          <p:cNvPr id="23" name="R4_chip61"/>
          <p:cNvSpPr/>
          <p:nvPr/>
        </p:nvSpPr>
        <p:spPr>
          <a:xfrm>
            <a:off x="704088" y="4243548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hundred millilitres</a:t>
            </a:r>
            <a:endParaRPr lang="en-US" sz="1150" dirty="0"/>
          </a:p>
        </p:txBody>
      </p:sp>
      <p:sp>
        <p:nvSpPr>
          <p:cNvPr id="24" name="bd_62"/>
          <p:cNvSpPr/>
          <p:nvPr/>
        </p:nvSpPr>
        <p:spPr>
          <a:xfrm>
            <a:off x="470916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63"/>
          <p:cNvSpPr/>
          <p:nvPr/>
        </p:nvSpPr>
        <p:spPr>
          <a:xfrm>
            <a:off x="509320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180°C</a:t>
            </a:r>
            <a:endParaRPr lang="en-US" sz="1200" dirty="0"/>
          </a:p>
        </p:txBody>
      </p:sp>
      <p:sp>
        <p:nvSpPr>
          <p:cNvPr id="26" name="R5_chip64"/>
          <p:cNvSpPr/>
          <p:nvPr/>
        </p:nvSpPr>
        <p:spPr>
          <a:xfrm>
            <a:off x="509320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hundred and eighty degrees</a:t>
            </a:r>
            <a:endParaRPr lang="en-US" sz="1150" dirty="0"/>
          </a:p>
        </p:txBody>
      </p:sp>
      <p:sp>
        <p:nvSpPr>
          <p:cNvPr id="27" name="bd_65"/>
          <p:cNvSpPr/>
          <p:nvPr/>
        </p:nvSpPr>
        <p:spPr>
          <a:xfrm>
            <a:off x="470916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66"/>
          <p:cNvSpPr/>
          <p:nvPr/>
        </p:nvSpPr>
        <p:spPr>
          <a:xfrm>
            <a:off x="509320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</a:t>
            </a:r>
            <a:endParaRPr lang="en-US" sz="1200" dirty="0"/>
          </a:p>
        </p:txBody>
      </p:sp>
      <p:sp>
        <p:nvSpPr>
          <p:cNvPr id="29" name="R6_chip67"/>
          <p:cNvSpPr/>
          <p:nvPr/>
        </p:nvSpPr>
        <p:spPr>
          <a:xfrm>
            <a:off x="509320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fifteen minutes / a quarter of an hour</a:t>
            </a:r>
            <a:endParaRPr lang="en-US" sz="1150" dirty="0"/>
          </a:p>
        </p:txBody>
      </p:sp>
      <p:sp>
        <p:nvSpPr>
          <p:cNvPr id="30" name="bd_68"/>
          <p:cNvSpPr/>
          <p:nvPr/>
        </p:nvSpPr>
        <p:spPr>
          <a:xfrm>
            <a:off x="470916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q_69"/>
          <p:cNvSpPr/>
          <p:nvPr/>
        </p:nvSpPr>
        <p:spPr>
          <a:xfrm>
            <a:off x="509320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tbsp</a:t>
            </a:r>
            <a:endParaRPr lang="en-US" sz="1200" dirty="0"/>
          </a:p>
        </p:txBody>
      </p:sp>
      <p:sp>
        <p:nvSpPr>
          <p:cNvPr id="32" name="R7_chip70"/>
          <p:cNvSpPr/>
          <p:nvPr/>
        </p:nvSpPr>
        <p:spPr>
          <a:xfrm>
            <a:off x="509320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tablespoon</a:t>
            </a:r>
            <a:endParaRPr lang="en-US" sz="1150" dirty="0"/>
          </a:p>
        </p:txBody>
      </p:sp>
      <p:sp>
        <p:nvSpPr>
          <p:cNvPr id="33" name="bd_71"/>
          <p:cNvSpPr/>
          <p:nvPr/>
        </p:nvSpPr>
        <p:spPr>
          <a:xfrm>
            <a:off x="4709160" y="391399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q_72"/>
          <p:cNvSpPr/>
          <p:nvPr/>
        </p:nvSpPr>
        <p:spPr>
          <a:xfrm>
            <a:off x="5093208" y="3941064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tsp</a:t>
            </a:r>
            <a:endParaRPr lang="en-US" sz="1200" dirty="0"/>
          </a:p>
        </p:txBody>
      </p:sp>
      <p:sp>
        <p:nvSpPr>
          <p:cNvPr id="35" name="R8_chip73"/>
          <p:cNvSpPr/>
          <p:nvPr/>
        </p:nvSpPr>
        <p:spPr>
          <a:xfrm>
            <a:off x="5093208" y="4243548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teaspoon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977994" cy="621792"/>
          </a:xfrm>
          <a:prstGeom prst="rect">
            <a:avLst/>
          </a:prstGeom>
        </p:spPr>
      </p:pic>
      <p:sp>
        <p:nvSpPr>
          <p:cNvPr id="5" name="title_76"/>
          <p:cNvSpPr/>
          <p:nvPr/>
        </p:nvSpPr>
        <p:spPr>
          <a:xfrm>
            <a:off x="1261872" y="164592"/>
            <a:ext cx="4703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long? What temperature?</a:t>
            </a:r>
            <a:endParaRPr lang="en-US" sz="2250" dirty="0"/>
          </a:p>
        </p:txBody>
      </p:sp>
      <p:pic>
        <p:nvPicPr>
          <p:cNvPr id="6" name="brP_7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78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Match. Then ask about YOUR dishes!</a:t>
            </a:r>
            <a:endParaRPr lang="en-US" sz="1250" dirty="0"/>
          </a:p>
        </p:txBody>
      </p:sp>
      <p:sp>
        <p:nvSpPr>
          <p:cNvPr id="8" name="insIT_7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Abbina. Poi chiedi dei TUOI piatti!</a:t>
            </a:r>
            <a:endParaRPr lang="en-US" sz="950" dirty="0"/>
          </a:p>
        </p:txBody>
      </p:sp>
      <p:sp>
        <p:nvSpPr>
          <p:cNvPr id="9" name="note_8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Controlled practice</a:t>
            </a:r>
            <a:endParaRPr lang="en-US" sz="1250" dirty="0"/>
          </a:p>
        </p:txBody>
      </p:sp>
      <p:pic>
        <p:nvPicPr>
          <p:cNvPr id="10" name="logo_8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8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SPEAKING · Kitchen questions</a:t>
            </a:r>
            <a:endParaRPr lang="en-US" sz="800" dirty="0"/>
          </a:p>
        </p:txBody>
      </p:sp>
      <p:sp>
        <p:nvSpPr>
          <p:cNvPr id="12" name="bd_83"/>
          <p:cNvSpPr/>
          <p:nvPr/>
        </p:nvSpPr>
        <p:spPr>
          <a:xfrm>
            <a:off x="548640" y="151333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84"/>
          <p:cNvSpPr/>
          <p:nvPr/>
        </p:nvSpPr>
        <p:spPr>
          <a:xfrm>
            <a:off x="932688" y="14173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flour do we need?</a:t>
            </a:r>
            <a:endParaRPr lang="en-US" sz="1300" dirty="0"/>
          </a:p>
        </p:txBody>
      </p:sp>
      <p:sp>
        <p:nvSpPr>
          <p:cNvPr id="14" name="R1_chip85"/>
          <p:cNvSpPr/>
          <p:nvPr/>
        </p:nvSpPr>
        <p:spPr>
          <a:xfrm>
            <a:off x="4297680" y="14173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 500 grams.</a:t>
            </a:r>
            <a:endParaRPr lang="en-US" sz="1200" dirty="0"/>
          </a:p>
        </p:txBody>
      </p:sp>
      <p:sp>
        <p:nvSpPr>
          <p:cNvPr id="15" name="bd_86"/>
          <p:cNvSpPr/>
          <p:nvPr/>
        </p:nvSpPr>
        <p:spPr>
          <a:xfrm>
            <a:off x="548640" y="20619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87"/>
          <p:cNvSpPr/>
          <p:nvPr/>
        </p:nvSpPr>
        <p:spPr>
          <a:xfrm>
            <a:off x="932688" y="19659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many portions does it make?</a:t>
            </a:r>
            <a:endParaRPr lang="en-US" sz="1300" dirty="0"/>
          </a:p>
        </p:txBody>
      </p:sp>
      <p:sp>
        <p:nvSpPr>
          <p:cNvPr id="17" name="R2_chip88"/>
          <p:cNvSpPr/>
          <p:nvPr/>
        </p:nvSpPr>
        <p:spPr>
          <a:xfrm>
            <a:off x="4297680" y="196596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makes 8 portions.</a:t>
            </a:r>
            <a:endParaRPr lang="en-US" sz="1200" dirty="0"/>
          </a:p>
        </p:txBody>
      </p:sp>
      <p:sp>
        <p:nvSpPr>
          <p:cNvPr id="18" name="bd_89"/>
          <p:cNvSpPr/>
          <p:nvPr/>
        </p:nvSpPr>
        <p:spPr>
          <a:xfrm>
            <a:off x="548640" y="26106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90"/>
          <p:cNvSpPr/>
          <p:nvPr/>
        </p:nvSpPr>
        <p:spPr>
          <a:xfrm>
            <a:off x="932688" y="25146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long does it take to cook?</a:t>
            </a:r>
            <a:endParaRPr lang="en-US" sz="1300" dirty="0"/>
          </a:p>
        </p:txBody>
      </p:sp>
      <p:sp>
        <p:nvSpPr>
          <p:cNvPr id="20" name="R3_chip91"/>
          <p:cNvSpPr/>
          <p:nvPr/>
        </p:nvSpPr>
        <p:spPr>
          <a:xfrm>
            <a:off x="4297680" y="251460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 20 minutes.</a:t>
            </a:r>
            <a:endParaRPr lang="en-US" sz="1200" dirty="0"/>
          </a:p>
        </p:txBody>
      </p:sp>
      <p:sp>
        <p:nvSpPr>
          <p:cNvPr id="21" name="bd_92"/>
          <p:cNvSpPr/>
          <p:nvPr/>
        </p:nvSpPr>
        <p:spPr>
          <a:xfrm>
            <a:off x="548640" y="315925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93"/>
          <p:cNvSpPr/>
          <p:nvPr/>
        </p:nvSpPr>
        <p:spPr>
          <a:xfrm>
            <a:off x="932688" y="30632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temperature is the oven?</a:t>
            </a:r>
            <a:endParaRPr lang="en-US" sz="1300" dirty="0"/>
          </a:p>
        </p:txBody>
      </p:sp>
      <p:sp>
        <p:nvSpPr>
          <p:cNvPr id="23" name="R4_chip94"/>
          <p:cNvSpPr/>
          <p:nvPr/>
        </p:nvSpPr>
        <p:spPr>
          <a:xfrm>
            <a:off x="4297680" y="306324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at 200 degrees.</a:t>
            </a:r>
            <a:endParaRPr lang="en-US" sz="1200" dirty="0"/>
          </a:p>
        </p:txBody>
      </p:sp>
      <p:sp>
        <p:nvSpPr>
          <p:cNvPr id="24" name="bd_95"/>
          <p:cNvSpPr/>
          <p:nvPr/>
        </p:nvSpPr>
        <p:spPr>
          <a:xfrm>
            <a:off x="548640" y="370789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96"/>
          <p:cNvSpPr/>
          <p:nvPr/>
        </p:nvSpPr>
        <p:spPr>
          <a:xfrm>
            <a:off x="932688" y="361188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long can we keep it in the fridge?</a:t>
            </a:r>
            <a:endParaRPr lang="en-US" sz="1300" dirty="0"/>
          </a:p>
        </p:txBody>
      </p:sp>
      <p:sp>
        <p:nvSpPr>
          <p:cNvPr id="26" name="R5_chip97"/>
          <p:cNvSpPr/>
          <p:nvPr/>
        </p:nvSpPr>
        <p:spPr>
          <a:xfrm>
            <a:off x="4297680" y="361188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 three days.</a:t>
            </a:r>
            <a:endParaRPr lang="en-US" sz="1200" dirty="0"/>
          </a:p>
        </p:txBody>
      </p:sp>
      <p:sp>
        <p:nvSpPr>
          <p:cNvPr id="27" name="bd_98"/>
          <p:cNvSpPr/>
          <p:nvPr/>
        </p:nvSpPr>
        <p:spPr>
          <a:xfrm>
            <a:off x="548640" y="42565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99"/>
          <p:cNvSpPr/>
          <p:nvPr/>
        </p:nvSpPr>
        <p:spPr>
          <a:xfrm>
            <a:off x="932688" y="4160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do we start prep?</a:t>
            </a:r>
            <a:endParaRPr lang="en-US" sz="1300" dirty="0"/>
          </a:p>
        </p:txBody>
      </p:sp>
      <p:sp>
        <p:nvSpPr>
          <p:cNvPr id="29" name="R6_chip100"/>
          <p:cNvSpPr/>
          <p:nvPr/>
        </p:nvSpPr>
        <p:spPr>
          <a:xfrm>
            <a:off x="4297680" y="41605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half past ten.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0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103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ASAP! In advance!</a:t>
            </a:r>
            <a:endParaRPr lang="en-US" sz="2500" dirty="0"/>
          </a:p>
        </p:txBody>
      </p:sp>
      <p:pic>
        <p:nvPicPr>
          <p:cNvPr id="6" name="brP_10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105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Match. Then use 3 in a sentence about your kitchen.</a:t>
            </a:r>
            <a:endParaRPr lang="en-US" sz="1250" dirty="0"/>
          </a:p>
        </p:txBody>
      </p:sp>
      <p:sp>
        <p:nvSpPr>
          <p:cNvPr id="8" name="insIT_10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Abbina. Poi usane 3 in una frase.</a:t>
            </a:r>
            <a:endParaRPr lang="en-US" sz="950" dirty="0"/>
          </a:p>
        </p:txBody>
      </p:sp>
      <p:sp>
        <p:nvSpPr>
          <p:cNvPr id="9" name="note_10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250" dirty="0"/>
          </a:p>
        </p:txBody>
      </p:sp>
      <p:pic>
        <p:nvPicPr>
          <p:cNvPr id="10" name="logo_10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0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VOCABULARY · Time words</a:t>
            </a:r>
            <a:endParaRPr lang="en-US" sz="800" dirty="0"/>
          </a:p>
        </p:txBody>
      </p:sp>
      <p:sp>
        <p:nvSpPr>
          <p:cNvPr id="12" name="bd_110"/>
          <p:cNvSpPr/>
          <p:nvPr/>
        </p:nvSpPr>
        <p:spPr>
          <a:xfrm>
            <a:off x="548640" y="151333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111"/>
          <p:cNvSpPr/>
          <p:nvPr/>
        </p:nvSpPr>
        <p:spPr>
          <a:xfrm>
            <a:off x="932688" y="14173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ASAP</a:t>
            </a:r>
            <a:endParaRPr lang="en-US" sz="1300" dirty="0"/>
          </a:p>
        </p:txBody>
      </p:sp>
      <p:sp>
        <p:nvSpPr>
          <p:cNvPr id="14" name="R1_chip112"/>
          <p:cNvSpPr/>
          <p:nvPr/>
        </p:nvSpPr>
        <p:spPr>
          <a:xfrm>
            <a:off x="4297680" y="14173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 soon as possible – subito</a:t>
            </a:r>
            <a:endParaRPr lang="en-US" sz="1200" dirty="0"/>
          </a:p>
        </p:txBody>
      </p:sp>
      <p:sp>
        <p:nvSpPr>
          <p:cNvPr id="15" name="bd_113"/>
          <p:cNvSpPr/>
          <p:nvPr/>
        </p:nvSpPr>
        <p:spPr>
          <a:xfrm>
            <a:off x="548640" y="20619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114"/>
          <p:cNvSpPr/>
          <p:nvPr/>
        </p:nvSpPr>
        <p:spPr>
          <a:xfrm>
            <a:off x="932688" y="19659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advance</a:t>
            </a:r>
            <a:endParaRPr lang="en-US" sz="1300" dirty="0"/>
          </a:p>
        </p:txBody>
      </p:sp>
      <p:sp>
        <p:nvSpPr>
          <p:cNvPr id="17" name="R2_chip115"/>
          <p:cNvSpPr/>
          <p:nvPr/>
        </p:nvSpPr>
        <p:spPr>
          <a:xfrm>
            <a:off x="4297680" y="196596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– in anticipo</a:t>
            </a:r>
            <a:endParaRPr lang="en-US" sz="1200" dirty="0"/>
          </a:p>
        </p:txBody>
      </p:sp>
      <p:sp>
        <p:nvSpPr>
          <p:cNvPr id="18" name="bd_116"/>
          <p:cNvSpPr/>
          <p:nvPr/>
        </p:nvSpPr>
        <p:spPr>
          <a:xfrm>
            <a:off x="548640" y="26106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117"/>
          <p:cNvSpPr/>
          <p:nvPr/>
        </p:nvSpPr>
        <p:spPr>
          <a:xfrm>
            <a:off x="932688" y="25146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overnight</a:t>
            </a:r>
            <a:endParaRPr lang="en-US" sz="1300" dirty="0"/>
          </a:p>
        </p:txBody>
      </p:sp>
      <p:sp>
        <p:nvSpPr>
          <p:cNvPr id="20" name="R3_chip118"/>
          <p:cNvSpPr/>
          <p:nvPr/>
        </p:nvSpPr>
        <p:spPr>
          <a:xfrm>
            <a:off x="4297680" y="251460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all night – per tutta la notte</a:t>
            </a:r>
            <a:endParaRPr lang="en-US" sz="1200" dirty="0"/>
          </a:p>
        </p:txBody>
      </p:sp>
      <p:sp>
        <p:nvSpPr>
          <p:cNvPr id="21" name="bd_119"/>
          <p:cNvSpPr/>
          <p:nvPr/>
        </p:nvSpPr>
        <p:spPr>
          <a:xfrm>
            <a:off x="548640" y="315925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120"/>
          <p:cNvSpPr/>
          <p:nvPr/>
        </p:nvSpPr>
        <p:spPr>
          <a:xfrm>
            <a:off x="932688" y="30632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the last minute</a:t>
            </a:r>
            <a:endParaRPr lang="en-US" sz="1300" dirty="0"/>
          </a:p>
        </p:txBody>
      </p:sp>
      <p:sp>
        <p:nvSpPr>
          <p:cNvPr id="23" name="R4_chip121"/>
          <p:cNvSpPr/>
          <p:nvPr/>
        </p:nvSpPr>
        <p:spPr>
          <a:xfrm>
            <a:off x="4297680" y="306324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very late – all'ultimo momento</a:t>
            </a:r>
            <a:endParaRPr lang="en-US" sz="1200" dirty="0"/>
          </a:p>
        </p:txBody>
      </p:sp>
      <p:sp>
        <p:nvSpPr>
          <p:cNvPr id="24" name="bd_122"/>
          <p:cNvSpPr/>
          <p:nvPr/>
        </p:nvSpPr>
        <p:spPr>
          <a:xfrm>
            <a:off x="548640" y="370789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123"/>
          <p:cNvSpPr/>
          <p:nvPr/>
        </p:nvSpPr>
        <p:spPr>
          <a:xfrm>
            <a:off x="932688" y="361188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half an hour</a:t>
            </a:r>
            <a:endParaRPr lang="en-US" sz="1300" dirty="0"/>
          </a:p>
        </p:txBody>
      </p:sp>
      <p:sp>
        <p:nvSpPr>
          <p:cNvPr id="26" name="R5_chip124"/>
          <p:cNvSpPr/>
          <p:nvPr/>
        </p:nvSpPr>
        <p:spPr>
          <a:xfrm>
            <a:off x="4297680" y="361188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 minutes</a:t>
            </a:r>
            <a:endParaRPr lang="en-US" sz="1200" dirty="0"/>
          </a:p>
        </p:txBody>
      </p:sp>
      <p:sp>
        <p:nvSpPr>
          <p:cNvPr id="27" name="bd_125"/>
          <p:cNvSpPr/>
          <p:nvPr/>
        </p:nvSpPr>
        <p:spPr>
          <a:xfrm>
            <a:off x="548640" y="42565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126"/>
          <p:cNvSpPr/>
          <p:nvPr/>
        </p:nvSpPr>
        <p:spPr>
          <a:xfrm>
            <a:off x="932688" y="4160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quarter of an hour</a:t>
            </a:r>
            <a:endParaRPr lang="en-US" sz="1300" dirty="0"/>
          </a:p>
        </p:txBody>
      </p:sp>
      <p:sp>
        <p:nvSpPr>
          <p:cNvPr id="29" name="R6_chip127"/>
          <p:cNvSpPr/>
          <p:nvPr/>
        </p:nvSpPr>
        <p:spPr>
          <a:xfrm>
            <a:off x="4297680" y="41605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minutes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2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130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make bread?</a:t>
            </a:r>
            <a:endParaRPr lang="en-US" sz="2400" dirty="0"/>
          </a:p>
        </p:txBody>
      </p:sp>
      <p:sp>
        <p:nvSpPr>
          <p:cNvPr id="6" name="note_131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100" dirty="0"/>
          </a:p>
        </p:txBody>
      </p:sp>
      <p:pic>
        <p:nvPicPr>
          <p:cNvPr id="7" name="logo_132" descr="/home/claude/lls-course/v2/img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8" name="foot_13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GRAMMAR · can / can't / could</a:t>
            </a:r>
            <a:endParaRPr lang="en-US" sz="800" dirty="0"/>
          </a:p>
        </p:txBody>
      </p:sp>
      <p:sp>
        <p:nvSpPr>
          <p:cNvPr id="9" name="cd_134"/>
          <p:cNvSpPr/>
          <p:nvPr/>
        </p:nvSpPr>
        <p:spPr>
          <a:xfrm>
            <a:off x="3200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rh_135"/>
          <p:cNvSpPr/>
          <p:nvPr/>
        </p:nvSpPr>
        <p:spPr>
          <a:xfrm>
            <a:off x="4297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Ability</a:t>
            </a:r>
            <a:endParaRPr lang="en-US" sz="1250" dirty="0"/>
          </a:p>
        </p:txBody>
      </p:sp>
      <p:sp>
        <p:nvSpPr>
          <p:cNvPr id="11" name="R1_rx136"/>
          <p:cNvSpPr/>
          <p:nvPr/>
        </p:nvSpPr>
        <p:spPr>
          <a:xfrm>
            <a:off x="4572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can make fresh pasta.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can't speak French.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fillet a fish?</a:t>
            </a:r>
            <a:endParaRPr lang="en-US" sz="1400" dirty="0"/>
          </a:p>
        </p:txBody>
      </p:sp>
      <p:sp>
        <p:nvSpPr>
          <p:cNvPr id="12" name="R1_ri137"/>
          <p:cNvSpPr/>
          <p:nvPr/>
        </p:nvSpPr>
        <p:spPr>
          <a:xfrm>
            <a:off x="411480" y="4023360"/>
            <a:ext cx="257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I can. / No, I can't.</a:t>
            </a:r>
            <a:endParaRPr lang="en-US" sz="1100" dirty="0"/>
          </a:p>
        </p:txBody>
      </p:sp>
      <p:sp>
        <p:nvSpPr>
          <p:cNvPr id="13" name="cd_138"/>
          <p:cNvSpPr/>
          <p:nvPr/>
        </p:nvSpPr>
        <p:spPr>
          <a:xfrm>
            <a:off x="32156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rh_139"/>
          <p:cNvSpPr/>
          <p:nvPr/>
        </p:nvSpPr>
        <p:spPr>
          <a:xfrm>
            <a:off x="33253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Permission</a:t>
            </a:r>
            <a:endParaRPr lang="en-US" sz="1250" dirty="0"/>
          </a:p>
        </p:txBody>
      </p:sp>
      <p:sp>
        <p:nvSpPr>
          <p:cNvPr id="15" name="R2_rx140"/>
          <p:cNvSpPr/>
          <p:nvPr/>
        </p:nvSpPr>
        <p:spPr>
          <a:xfrm>
            <a:off x="33528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take my break now?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can't use your phone in the kitchen.</a:t>
            </a:r>
            <a:endParaRPr lang="en-US" sz="1400" dirty="0"/>
          </a:p>
        </p:txBody>
      </p:sp>
      <p:sp>
        <p:nvSpPr>
          <p:cNvPr id="16" name="cd_141"/>
          <p:cNvSpPr/>
          <p:nvPr/>
        </p:nvSpPr>
        <p:spPr>
          <a:xfrm>
            <a:off x="61112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142"/>
          <p:cNvSpPr/>
          <p:nvPr/>
        </p:nvSpPr>
        <p:spPr>
          <a:xfrm>
            <a:off x="62209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Requests</a:t>
            </a:r>
            <a:endParaRPr lang="en-US" sz="1250" dirty="0"/>
          </a:p>
        </p:txBody>
      </p:sp>
      <p:sp>
        <p:nvSpPr>
          <p:cNvPr id="18" name="R3_rx143"/>
          <p:cNvSpPr/>
          <p:nvPr/>
        </p:nvSpPr>
        <p:spPr>
          <a:xfrm>
            <a:off x="62484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help me?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Could you pass the salt, please?</a:t>
            </a:r>
            <a:endParaRPr lang="en-US" sz="1400" dirty="0"/>
          </a:p>
        </p:txBody>
      </p:sp>
      <p:sp>
        <p:nvSpPr>
          <p:cNvPr id="19" name="R3_ri144"/>
          <p:cNvSpPr/>
          <p:nvPr/>
        </p:nvSpPr>
        <p:spPr>
          <a:xfrm>
            <a:off x="6202680" y="4023360"/>
            <a:ext cx="257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could = more polite</a:t>
            </a:r>
            <a:endParaRPr lang="en-US" sz="1100" dirty="0"/>
          </a:p>
        </p:txBody>
      </p:sp>
      <p:sp>
        <p:nvSpPr>
          <p:cNvPr id="20" name="R4_wc145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4_w146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I can to cook → ✓ I can cook.     ✗ Do you can…? → ✓ Can you…?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149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can, can't or could?</a:t>
            </a:r>
            <a:endParaRPr lang="en-US" sz="2500" dirty="0"/>
          </a:p>
        </p:txBody>
      </p:sp>
      <p:pic>
        <p:nvPicPr>
          <p:cNvPr id="6" name="brP_1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151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can · can't · could.</a:t>
            </a:r>
            <a:endParaRPr lang="en-US" sz="1250" dirty="0"/>
          </a:p>
        </p:txBody>
      </p:sp>
      <p:sp>
        <p:nvSpPr>
          <p:cNvPr id="8" name="insIT_1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can / can't / could.</a:t>
            </a:r>
            <a:endParaRPr lang="en-US" sz="950" dirty="0"/>
          </a:p>
        </p:txBody>
      </p:sp>
      <p:sp>
        <p:nvSpPr>
          <p:cNvPr id="9" name="note_15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SCRIVI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250" dirty="0"/>
          </a:p>
        </p:txBody>
      </p:sp>
      <p:pic>
        <p:nvPicPr>
          <p:cNvPr id="10" name="logo_15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5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GRAMMAR · Practice</a:t>
            </a:r>
            <a:endParaRPr lang="en-US" sz="800" dirty="0"/>
          </a:p>
        </p:txBody>
      </p:sp>
      <p:sp>
        <p:nvSpPr>
          <p:cNvPr id="12" name="bd_156"/>
          <p:cNvSpPr/>
          <p:nvPr/>
        </p:nvSpPr>
        <p:spPr>
          <a:xfrm>
            <a:off x="548640" y="151333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157"/>
          <p:cNvSpPr/>
          <p:nvPr/>
        </p:nvSpPr>
        <p:spPr>
          <a:xfrm>
            <a:off x="932688" y="14173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you pass me the salt, please?</a:t>
            </a:r>
            <a:endParaRPr lang="en-US" sz="1300" dirty="0"/>
          </a:p>
        </p:txBody>
      </p:sp>
      <p:sp>
        <p:nvSpPr>
          <p:cNvPr id="14" name="R1_chip158"/>
          <p:cNvSpPr/>
          <p:nvPr/>
        </p:nvSpPr>
        <p:spPr>
          <a:xfrm>
            <a:off x="4297680" y="14173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Could / Can</a:t>
            </a:r>
            <a:endParaRPr lang="en-US" sz="1200" dirty="0"/>
          </a:p>
        </p:txBody>
      </p:sp>
      <p:sp>
        <p:nvSpPr>
          <p:cNvPr id="15" name="bd_159"/>
          <p:cNvSpPr/>
          <p:nvPr/>
        </p:nvSpPr>
        <p:spPr>
          <a:xfrm>
            <a:off x="548640" y="20619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160"/>
          <p:cNvSpPr/>
          <p:nvPr/>
        </p:nvSpPr>
        <p:spPr>
          <a:xfrm>
            <a:off x="932688" y="19659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___ make bread – I never learnt.</a:t>
            </a:r>
            <a:endParaRPr lang="en-US" sz="1300" dirty="0"/>
          </a:p>
        </p:txBody>
      </p:sp>
      <p:sp>
        <p:nvSpPr>
          <p:cNvPr id="17" name="R2_chip161"/>
          <p:cNvSpPr/>
          <p:nvPr/>
        </p:nvSpPr>
        <p:spPr>
          <a:xfrm>
            <a:off x="4297680" y="196596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</a:t>
            </a:r>
            <a:endParaRPr lang="en-US" sz="1200" dirty="0"/>
          </a:p>
        </p:txBody>
      </p:sp>
      <p:sp>
        <p:nvSpPr>
          <p:cNvPr id="18" name="bd_162"/>
          <p:cNvSpPr/>
          <p:nvPr/>
        </p:nvSpPr>
        <p:spPr>
          <a:xfrm>
            <a:off x="548640" y="26106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163"/>
          <p:cNvSpPr/>
          <p:nvPr/>
        </p:nvSpPr>
        <p:spPr>
          <a:xfrm>
            <a:off x="932688" y="25146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I leave early today?</a:t>
            </a:r>
            <a:endParaRPr lang="en-US" sz="1300" dirty="0"/>
          </a:p>
        </p:txBody>
      </p:sp>
      <p:sp>
        <p:nvSpPr>
          <p:cNvPr id="20" name="R3_chip164"/>
          <p:cNvSpPr/>
          <p:nvPr/>
        </p:nvSpPr>
        <p:spPr>
          <a:xfrm>
            <a:off x="4297680" y="251460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</a:t>
            </a:r>
            <a:endParaRPr lang="en-US" sz="1200" dirty="0"/>
          </a:p>
        </p:txBody>
      </p:sp>
      <p:sp>
        <p:nvSpPr>
          <p:cNvPr id="21" name="bd_165"/>
          <p:cNvSpPr/>
          <p:nvPr/>
        </p:nvSpPr>
        <p:spPr>
          <a:xfrm>
            <a:off x="548640" y="315925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166"/>
          <p:cNvSpPr/>
          <p:nvPr/>
        </p:nvSpPr>
        <p:spPr>
          <a:xfrm>
            <a:off x="932688" y="30632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___ cook for 200 people!</a:t>
            </a:r>
            <a:endParaRPr lang="en-US" sz="1300" dirty="0"/>
          </a:p>
        </p:txBody>
      </p:sp>
      <p:sp>
        <p:nvSpPr>
          <p:cNvPr id="23" name="R4_chip167"/>
          <p:cNvSpPr/>
          <p:nvPr/>
        </p:nvSpPr>
        <p:spPr>
          <a:xfrm>
            <a:off x="4297680" y="306324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</a:t>
            </a:r>
            <a:endParaRPr lang="en-US" sz="1200" dirty="0"/>
          </a:p>
        </p:txBody>
      </p:sp>
      <p:sp>
        <p:nvSpPr>
          <p:cNvPr id="24" name="bd_168"/>
          <p:cNvSpPr/>
          <p:nvPr/>
        </p:nvSpPr>
        <p:spPr>
          <a:xfrm>
            <a:off x="548640" y="370789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169"/>
          <p:cNvSpPr/>
          <p:nvPr/>
        </p:nvSpPr>
        <p:spPr>
          <a:xfrm>
            <a:off x="932688" y="361188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___ smoke in the kitchen!</a:t>
            </a:r>
            <a:endParaRPr lang="en-US" sz="1300" dirty="0"/>
          </a:p>
        </p:txBody>
      </p:sp>
      <p:sp>
        <p:nvSpPr>
          <p:cNvPr id="26" name="R5_chip170"/>
          <p:cNvSpPr/>
          <p:nvPr/>
        </p:nvSpPr>
        <p:spPr>
          <a:xfrm>
            <a:off x="4297680" y="361188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</a:t>
            </a:r>
            <a:endParaRPr lang="en-US" sz="1200" dirty="0"/>
          </a:p>
        </p:txBody>
      </p:sp>
      <p:sp>
        <p:nvSpPr>
          <p:cNvPr id="27" name="bd_171"/>
          <p:cNvSpPr/>
          <p:nvPr/>
        </p:nvSpPr>
        <p:spPr>
          <a:xfrm>
            <a:off x="548640" y="42565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172"/>
          <p:cNvSpPr/>
          <p:nvPr/>
        </p:nvSpPr>
        <p:spPr>
          <a:xfrm>
            <a:off x="932688" y="4160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you help me with this box?</a:t>
            </a:r>
            <a:endParaRPr lang="en-US" sz="1300" dirty="0"/>
          </a:p>
        </p:txBody>
      </p:sp>
      <p:sp>
        <p:nvSpPr>
          <p:cNvPr id="29" name="R6_chip173"/>
          <p:cNvSpPr/>
          <p:nvPr/>
        </p:nvSpPr>
        <p:spPr>
          <a:xfrm>
            <a:off x="4297680" y="41605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Could / Can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7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176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Fridge check</a:t>
            </a:r>
            <a:endParaRPr lang="en-US" sz="2500" dirty="0"/>
          </a:p>
        </p:txBody>
      </p:sp>
      <p:pic>
        <p:nvPicPr>
          <p:cNvPr id="6" name="brP_17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178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temperature log. Answer the questions.</a:t>
            </a:r>
            <a:endParaRPr lang="en-US" sz="1250" dirty="0"/>
          </a:p>
        </p:txBody>
      </p:sp>
      <p:sp>
        <p:nvSpPr>
          <p:cNvPr id="8" name="insIT_17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il registro delle temperature e rispondi.</a:t>
            </a:r>
            <a:endParaRPr lang="en-US" sz="950" dirty="0"/>
          </a:p>
        </p:txBody>
      </p:sp>
      <p:sp>
        <p:nvSpPr>
          <p:cNvPr id="9" name="note_18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LEGGI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Communicative</a:t>
            </a:r>
            <a:endParaRPr lang="en-US" sz="1250" dirty="0"/>
          </a:p>
        </p:txBody>
      </p:sp>
      <p:pic>
        <p:nvPicPr>
          <p:cNvPr id="10" name="logo_18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8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READING · A temperature log</a:t>
            </a:r>
            <a:endParaRPr lang="en-US" sz="800" dirty="0"/>
          </a:p>
        </p:txBody>
      </p:sp>
      <p:sp>
        <p:nvSpPr>
          <p:cNvPr id="12" name="cd_183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8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🌡 Temperature log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7.00  Fridge 1: 3°C · Fridge 2: 4°C · Freezer: –18°C ✓ (Marco)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15.00  Fridge 1: 4°C · Fridge 2: 9°C ✗ Door open! Closed it. 15.30: 5°C ✓ (Anna)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TUE 7.00  Fridge 1: 3°C · Fridge 2: 4°C · Freezer: –12°C ✗ Called the engineer. (Marco)</a:t>
            </a:r>
            <a:endParaRPr lang="en-US" sz="1500" dirty="0"/>
          </a:p>
        </p:txBody>
      </p:sp>
      <p:sp>
        <p:nvSpPr>
          <p:cNvPr id="14" name="bd_185"/>
          <p:cNvSpPr/>
          <p:nvPr/>
        </p:nvSpPr>
        <p:spPr>
          <a:xfrm>
            <a:off x="6172200" y="1427836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rq_186"/>
          <p:cNvSpPr/>
          <p:nvPr/>
        </p:nvSpPr>
        <p:spPr>
          <a:xfrm>
            <a:off x="6492240" y="1417320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fridge had a problem on Monday?</a:t>
            </a:r>
            <a:endParaRPr lang="en-US" sz="800" dirty="0"/>
          </a:p>
        </p:txBody>
      </p:sp>
      <p:sp>
        <p:nvSpPr>
          <p:cNvPr id="16" name="R1_chip187"/>
          <p:cNvSpPr/>
          <p:nvPr/>
        </p:nvSpPr>
        <p:spPr>
          <a:xfrm>
            <a:off x="6492240" y="1740103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Fridge 2 – 9°C</a:t>
            </a:r>
            <a:endParaRPr lang="en-US" sz="1050" dirty="0"/>
          </a:p>
        </p:txBody>
      </p:sp>
      <p:sp>
        <p:nvSpPr>
          <p:cNvPr id="17" name="bd_188"/>
          <p:cNvSpPr/>
          <p:nvPr/>
        </p:nvSpPr>
        <p:spPr>
          <a:xfrm>
            <a:off x="6172200" y="2109978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rq_189"/>
          <p:cNvSpPr/>
          <p:nvPr/>
        </p:nvSpPr>
        <p:spPr>
          <a:xfrm>
            <a:off x="6492240" y="2099462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Why?</a:t>
            </a:r>
            <a:endParaRPr lang="en-US" sz="900" dirty="0"/>
          </a:p>
        </p:txBody>
      </p:sp>
      <p:sp>
        <p:nvSpPr>
          <p:cNvPr id="19" name="R2_chip190"/>
          <p:cNvSpPr/>
          <p:nvPr/>
        </p:nvSpPr>
        <p:spPr>
          <a:xfrm>
            <a:off x="6492240" y="2422246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door was open</a:t>
            </a:r>
            <a:endParaRPr lang="en-US" sz="1050" dirty="0"/>
          </a:p>
        </p:txBody>
      </p:sp>
      <p:sp>
        <p:nvSpPr>
          <p:cNvPr id="20" name="bd_191"/>
          <p:cNvSpPr/>
          <p:nvPr/>
        </p:nvSpPr>
        <p:spPr>
          <a:xfrm>
            <a:off x="6172200" y="2792120"/>
            <a:ext cx="274320" cy="27432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rq_192"/>
          <p:cNvSpPr/>
          <p:nvPr/>
        </p:nvSpPr>
        <p:spPr>
          <a:xfrm>
            <a:off x="6492240" y="2781605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was it at 15.30?</a:t>
            </a:r>
            <a:endParaRPr lang="en-US" sz="900" dirty="0"/>
          </a:p>
        </p:txBody>
      </p:sp>
      <p:sp>
        <p:nvSpPr>
          <p:cNvPr id="22" name="R3_chip193"/>
          <p:cNvSpPr/>
          <p:nvPr/>
        </p:nvSpPr>
        <p:spPr>
          <a:xfrm>
            <a:off x="6492240" y="3104388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5°C</a:t>
            </a:r>
            <a:endParaRPr lang="en-US" sz="1050" dirty="0"/>
          </a:p>
        </p:txBody>
      </p:sp>
      <p:sp>
        <p:nvSpPr>
          <p:cNvPr id="23" name="bd_194"/>
          <p:cNvSpPr/>
          <p:nvPr/>
        </p:nvSpPr>
        <p:spPr>
          <a:xfrm>
            <a:off x="6172200" y="3474263"/>
            <a:ext cx="274320" cy="274320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rq_195"/>
          <p:cNvSpPr/>
          <p:nvPr/>
        </p:nvSpPr>
        <p:spPr>
          <a:xfrm>
            <a:off x="6492240" y="3463747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was wrong with the freezer?</a:t>
            </a:r>
            <a:endParaRPr lang="en-US" sz="900" dirty="0"/>
          </a:p>
        </p:txBody>
      </p:sp>
      <p:sp>
        <p:nvSpPr>
          <p:cNvPr id="25" name="R4_chip196"/>
          <p:cNvSpPr/>
          <p:nvPr/>
        </p:nvSpPr>
        <p:spPr>
          <a:xfrm>
            <a:off x="6492240" y="3786530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–12°C (should be –18°C)</a:t>
            </a:r>
            <a:endParaRPr lang="en-US" sz="1050" dirty="0"/>
          </a:p>
        </p:txBody>
      </p:sp>
      <p:sp>
        <p:nvSpPr>
          <p:cNvPr id="26" name="bd_197"/>
          <p:cNvSpPr/>
          <p:nvPr/>
        </p:nvSpPr>
        <p:spPr>
          <a:xfrm>
            <a:off x="6172200" y="4156405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rq_198"/>
          <p:cNvSpPr/>
          <p:nvPr/>
        </p:nvSpPr>
        <p:spPr>
          <a:xfrm>
            <a:off x="6492240" y="4145890"/>
            <a:ext cx="2423160" cy="295351"/>
          </a:xfrm>
          <a:prstGeom prst="roundRect">
            <a:avLst>
              <a:gd name="adj" fmla="val 2476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Marco do?</a:t>
            </a:r>
            <a:endParaRPr lang="en-US" sz="900" dirty="0"/>
          </a:p>
        </p:txBody>
      </p:sp>
      <p:sp>
        <p:nvSpPr>
          <p:cNvPr id="28" name="R5_chip199"/>
          <p:cNvSpPr/>
          <p:nvPr/>
        </p:nvSpPr>
        <p:spPr>
          <a:xfrm>
            <a:off x="6492240" y="4468673"/>
            <a:ext cx="2423160" cy="267919"/>
          </a:xfrm>
          <a:prstGeom prst="roundRect">
            <a:avLst>
              <a:gd name="adj" fmla="val 3413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called the engineer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0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202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Scale the recipe!</a:t>
            </a:r>
            <a:endParaRPr lang="en-US" sz="2500" dirty="0"/>
          </a:p>
        </p:txBody>
      </p:sp>
      <p:pic>
        <p:nvPicPr>
          <p:cNvPr id="6" name="brP_20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48656" cy="402336"/>
          </a:xfrm>
          <a:prstGeom prst="rect">
            <a:avLst/>
          </a:prstGeom>
        </p:spPr>
      </p:pic>
      <p:sp>
        <p:nvSpPr>
          <p:cNvPr id="7" name="ins_204"/>
          <p:cNvSpPr/>
          <p:nvPr/>
        </p:nvSpPr>
        <p:spPr>
          <a:xfrm>
            <a:off x="1353312" y="73152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recipe is for 4. Make it for 12! Say it in full.</a:t>
            </a:r>
            <a:endParaRPr lang="en-US" sz="1250" dirty="0"/>
          </a:p>
        </p:txBody>
      </p:sp>
      <p:sp>
        <p:nvSpPr>
          <p:cNvPr id="8" name="insIT_20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ricetta è per 4. Falla per 12! Dillo per intero.</a:t>
            </a:r>
            <a:endParaRPr lang="en-US" sz="950" dirty="0"/>
          </a:p>
        </p:txBody>
      </p:sp>
      <p:sp>
        <p:nvSpPr>
          <p:cNvPr id="9" name="note_206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250" dirty="0"/>
          </a:p>
        </p:txBody>
      </p:sp>
      <p:pic>
        <p:nvPicPr>
          <p:cNvPr id="10" name="logo_20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0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NUMBERS · Maths challenge</a:t>
            </a:r>
            <a:endParaRPr lang="en-US" sz="800" dirty="0"/>
          </a:p>
        </p:txBody>
      </p:sp>
      <p:sp>
        <p:nvSpPr>
          <p:cNvPr id="12" name="bd_209"/>
          <p:cNvSpPr/>
          <p:nvPr/>
        </p:nvSpPr>
        <p:spPr>
          <a:xfrm>
            <a:off x="548640" y="154533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210"/>
          <p:cNvSpPr/>
          <p:nvPr/>
        </p:nvSpPr>
        <p:spPr>
          <a:xfrm>
            <a:off x="932688" y="141732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 pasta → ?</a:t>
            </a:r>
            <a:endParaRPr lang="en-US" sz="1300" dirty="0"/>
          </a:p>
        </p:txBody>
      </p:sp>
      <p:sp>
        <p:nvSpPr>
          <p:cNvPr id="14" name="R1_chip211"/>
          <p:cNvSpPr/>
          <p:nvPr/>
        </p:nvSpPr>
        <p:spPr>
          <a:xfrm>
            <a:off x="4297680" y="1417320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hundred grams of pasta</a:t>
            </a:r>
            <a:endParaRPr lang="en-US" sz="1200" dirty="0"/>
          </a:p>
        </p:txBody>
      </p:sp>
      <p:sp>
        <p:nvSpPr>
          <p:cNvPr id="15" name="bd_212"/>
          <p:cNvSpPr/>
          <p:nvPr/>
        </p:nvSpPr>
        <p:spPr>
          <a:xfrm>
            <a:off x="548640" y="2157984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213"/>
          <p:cNvSpPr/>
          <p:nvPr/>
        </p:nvSpPr>
        <p:spPr>
          <a:xfrm>
            <a:off x="932688" y="2029968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eggs → ?</a:t>
            </a:r>
            <a:endParaRPr lang="en-US" sz="1300" dirty="0"/>
          </a:p>
        </p:txBody>
      </p:sp>
      <p:sp>
        <p:nvSpPr>
          <p:cNvPr id="17" name="R2_chip214"/>
          <p:cNvSpPr/>
          <p:nvPr/>
        </p:nvSpPr>
        <p:spPr>
          <a:xfrm>
            <a:off x="4297680" y="2029968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eggs</a:t>
            </a:r>
            <a:endParaRPr lang="en-US" sz="1200" dirty="0"/>
          </a:p>
        </p:txBody>
      </p:sp>
      <p:sp>
        <p:nvSpPr>
          <p:cNvPr id="18" name="bd_215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216"/>
          <p:cNvSpPr/>
          <p:nvPr/>
        </p:nvSpPr>
        <p:spPr>
          <a:xfrm>
            <a:off x="932688" y="2642616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ml cream → ?</a:t>
            </a:r>
            <a:endParaRPr lang="en-US" sz="1300" dirty="0"/>
          </a:p>
        </p:txBody>
      </p:sp>
      <p:sp>
        <p:nvSpPr>
          <p:cNvPr id="20" name="R3_chip217"/>
          <p:cNvSpPr/>
          <p:nvPr/>
        </p:nvSpPr>
        <p:spPr>
          <a:xfrm>
            <a:off x="4297680" y="2642616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hundred millilitres of cream</a:t>
            </a:r>
            <a:endParaRPr lang="en-US" sz="1200" dirty="0"/>
          </a:p>
        </p:txBody>
      </p:sp>
      <p:sp>
        <p:nvSpPr>
          <p:cNvPr id="21" name="bd_218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219"/>
          <p:cNvSpPr/>
          <p:nvPr/>
        </p:nvSpPr>
        <p:spPr>
          <a:xfrm>
            <a:off x="932688" y="3255264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 parmesan → ?</a:t>
            </a:r>
            <a:endParaRPr lang="en-US" sz="1300" dirty="0"/>
          </a:p>
        </p:txBody>
      </p:sp>
      <p:sp>
        <p:nvSpPr>
          <p:cNvPr id="23" name="R4_chip220"/>
          <p:cNvSpPr/>
          <p:nvPr/>
        </p:nvSpPr>
        <p:spPr>
          <a:xfrm>
            <a:off x="4297680" y="3255264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hundred and fifty grams of parmesan</a:t>
            </a:r>
            <a:endParaRPr lang="en-US" sz="1200" dirty="0"/>
          </a:p>
        </p:txBody>
      </p:sp>
      <p:sp>
        <p:nvSpPr>
          <p:cNvPr id="24" name="bd_221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222"/>
          <p:cNvSpPr/>
          <p:nvPr/>
        </p:nvSpPr>
        <p:spPr>
          <a:xfrm>
            <a:off x="932688" y="3867912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tbsp olive oil → ?</a:t>
            </a:r>
            <a:endParaRPr lang="en-US" sz="1300" dirty="0"/>
          </a:p>
        </p:txBody>
      </p:sp>
      <p:sp>
        <p:nvSpPr>
          <p:cNvPr id="26" name="R5_chip223"/>
          <p:cNvSpPr/>
          <p:nvPr/>
        </p:nvSpPr>
        <p:spPr>
          <a:xfrm>
            <a:off x="4297680" y="3867912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tablespoons of olive oil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2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226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Kitchen bingo</a:t>
            </a:r>
            <a:endParaRPr lang="en-US" sz="2500" dirty="0"/>
          </a:p>
        </p:txBody>
      </p:sp>
      <p:pic>
        <p:nvPicPr>
          <p:cNvPr id="6" name="brP_22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228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numbers. Cross them out!</a:t>
            </a:r>
            <a:endParaRPr lang="en-US" sz="1250" dirty="0"/>
          </a:p>
        </p:txBody>
      </p:sp>
      <p:sp>
        <p:nvSpPr>
          <p:cNvPr id="8" name="insIT_22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i numeri e cancellali!</a:t>
            </a:r>
            <a:endParaRPr lang="en-US" sz="950" dirty="0"/>
          </a:p>
        </p:txBody>
      </p:sp>
      <p:sp>
        <p:nvSpPr>
          <p:cNvPr id="9" name="note_23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Communicative</a:t>
            </a:r>
            <a:endParaRPr lang="en-US" sz="1250" dirty="0"/>
          </a:p>
        </p:txBody>
      </p:sp>
      <p:pic>
        <p:nvPicPr>
          <p:cNvPr id="10" name="logo_23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3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GAME · Listening to numbers</a:t>
            </a:r>
            <a:endParaRPr lang="en-US" sz="800" dirty="0"/>
          </a:p>
        </p:txBody>
      </p:sp>
      <p:sp>
        <p:nvSpPr>
          <p:cNvPr id="12" name="R1_qb233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R1_sq234"/>
          <p:cNvSpPr/>
          <p:nvPr/>
        </p:nvSpPr>
        <p:spPr>
          <a:xfrm>
            <a:off x="978408" y="1417320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Draw a 3 × 3 grid. Write 9 kitchen numbers: 180°C, 250 g, 15 minutes, 2 litres…</a:t>
            </a:r>
            <a:endParaRPr lang="en-US" sz="1400" dirty="0"/>
          </a:p>
        </p:txBody>
      </p:sp>
      <p:sp>
        <p:nvSpPr>
          <p:cNvPr id="14" name="R2_qb235"/>
          <p:cNvSpPr/>
          <p:nvPr/>
        </p:nvSpPr>
        <p:spPr>
          <a:xfrm>
            <a:off x="57607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R2_sq236"/>
          <p:cNvSpPr/>
          <p:nvPr/>
        </p:nvSpPr>
        <p:spPr>
          <a:xfrm>
            <a:off x="978408" y="2020824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teacher (then a chef) reads out numbers.</a:t>
            </a:r>
            <a:endParaRPr lang="en-US" sz="1400" dirty="0"/>
          </a:p>
        </p:txBody>
      </p:sp>
      <p:sp>
        <p:nvSpPr>
          <p:cNvPr id="16" name="R3_qb237"/>
          <p:cNvSpPr/>
          <p:nvPr/>
        </p:nvSpPr>
        <p:spPr>
          <a:xfrm>
            <a:off x="57607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R3_sq238"/>
          <p:cNvSpPr/>
          <p:nvPr/>
        </p:nvSpPr>
        <p:spPr>
          <a:xfrm>
            <a:off x="978408" y="2624328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Cross out the numbers you hear.</a:t>
            </a:r>
            <a:endParaRPr lang="en-US" sz="1400" dirty="0"/>
          </a:p>
        </p:txBody>
      </p:sp>
      <p:sp>
        <p:nvSpPr>
          <p:cNvPr id="18" name="R4_qb239"/>
          <p:cNvSpPr/>
          <p:nvPr/>
        </p:nvSpPr>
        <p:spPr>
          <a:xfrm>
            <a:off x="57607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R4_sq240"/>
          <p:cNvSpPr/>
          <p:nvPr/>
        </p:nvSpPr>
        <p:spPr>
          <a:xfrm>
            <a:off x="978408" y="3227832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to complete a line shouts 'Service!' – and reads the line back correctly to win.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4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243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24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2295144" cy="402336"/>
          </a:xfrm>
          <a:prstGeom prst="rect">
            <a:avLst/>
          </a:prstGeom>
        </p:spPr>
      </p:pic>
      <p:sp>
        <p:nvSpPr>
          <p:cNvPr id="7" name="ins_245"/>
          <p:cNvSpPr/>
          <p:nvPr/>
        </p:nvSpPr>
        <p:spPr>
          <a:xfrm>
            <a:off x="1353312" y="731520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your partner…</a:t>
            </a:r>
            <a:endParaRPr lang="en-US" sz="1250" dirty="0"/>
          </a:p>
        </p:txBody>
      </p:sp>
      <p:sp>
        <p:nvSpPr>
          <p:cNvPr id="8" name="insIT_24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al collega…</a:t>
            </a:r>
            <a:endParaRPr lang="en-US" sz="950" dirty="0"/>
          </a:p>
        </p:txBody>
      </p:sp>
      <p:sp>
        <p:nvSpPr>
          <p:cNvPr id="9" name="note_247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24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4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Exit · what can you remember?</a:t>
            </a:r>
            <a:endParaRPr lang="en-US" sz="800" dirty="0"/>
          </a:p>
        </p:txBody>
      </p:sp>
      <p:sp>
        <p:nvSpPr>
          <p:cNvPr id="12" name="bd_250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251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new words from today.</a:t>
            </a:r>
            <a:endParaRPr lang="en-US" sz="1400" dirty="0"/>
          </a:p>
        </p:txBody>
      </p:sp>
      <p:sp>
        <p:nvSpPr>
          <p:cNvPr id="14" name="bd_252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253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sentences with today's grammar.</a:t>
            </a:r>
            <a:endParaRPr lang="en-US" sz="1400" dirty="0"/>
          </a:p>
        </p:txBody>
      </p:sp>
      <p:sp>
        <p:nvSpPr>
          <p:cNvPr id="16" name="bd_254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255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you'll say at work this week.</a:t>
            </a:r>
            <a:endParaRPr lang="en-US" sz="1400" dirty="0"/>
          </a:p>
        </p:txBody>
      </p:sp>
      <p:sp>
        <p:nvSpPr>
          <p:cNvPr id="18" name="cd_256"/>
          <p:cNvSpPr/>
          <p:nvPr/>
        </p:nvSpPr>
        <p:spPr>
          <a:xfrm>
            <a:off x="5669280" y="1417320"/>
            <a:ext cx="3200400" cy="1069848"/>
          </a:xfrm>
          <a:prstGeom prst="roundRect">
            <a:avLst>
              <a:gd name="adj" fmla="val 1196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257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258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259"/>
          <p:cNvSpPr/>
          <p:nvPr/>
        </p:nvSpPr>
        <p:spPr>
          <a:xfrm>
            <a:off x="6236208" y="191109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6 'Can you…?' questions about cooking skills. Ask a colleague at work!</a:t>
            </a:r>
            <a:endParaRPr lang="en-US" sz="900" dirty="0"/>
          </a:p>
        </p:txBody>
      </p:sp>
      <p:sp>
        <p:nvSpPr>
          <p:cNvPr id="22" name="st_260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L7 · Health &amp; safety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6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26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263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26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265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26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26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26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Review · what did you do today?</a:t>
            </a:r>
            <a:endParaRPr lang="en-US" sz="800" dirty="0"/>
          </a:p>
        </p:txBody>
      </p:sp>
      <p:sp>
        <p:nvSpPr>
          <p:cNvPr id="12" name="cd_270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271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4" name="tt_272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speaking: weights, temperatures, times</a:t>
            </a:r>
            <a:endParaRPr lang="en-US" sz="1350" dirty="0"/>
          </a:p>
        </p:txBody>
      </p:sp>
      <p:sp>
        <p:nvSpPr>
          <p:cNvPr id="15" name="R1_tk273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274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275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18" name="tt_276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can / can't / could</a:t>
            </a:r>
            <a:endParaRPr lang="en-US" sz="1350" dirty="0"/>
          </a:p>
        </p:txBody>
      </p:sp>
      <p:sp>
        <p:nvSpPr>
          <p:cNvPr id="19" name="R2_tk277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278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279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2" name="tt_280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speaking: How long? How much?</a:t>
            </a:r>
            <a:endParaRPr lang="en-US" sz="1350" dirty="0"/>
          </a:p>
        </p:txBody>
      </p:sp>
      <p:sp>
        <p:nvSpPr>
          <p:cNvPr id="23" name="R3_tk281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st_282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283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284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285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286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8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28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289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you…?</a:t>
            </a:r>
            <a:endParaRPr lang="en-US" sz="2400" dirty="0"/>
          </a:p>
        </p:txBody>
      </p:sp>
      <p:pic>
        <p:nvPicPr>
          <p:cNvPr id="6" name="brP_29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291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your partner. If YES, ask a follow-up question!</a:t>
            </a:r>
            <a:endParaRPr lang="en-US" sz="1250" dirty="0"/>
          </a:p>
        </p:txBody>
      </p:sp>
      <p:sp>
        <p:nvSpPr>
          <p:cNvPr id="8" name="insIT_29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Chiedi al collega. Se SÌ, fai un'altra domanda!</a:t>
            </a:r>
            <a:endParaRPr lang="en-US" sz="950" dirty="0"/>
          </a:p>
        </p:txBody>
      </p:sp>
      <p:sp>
        <p:nvSpPr>
          <p:cNvPr id="9" name="note_29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29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9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SPEAKING · Skills</a:t>
            </a:r>
            <a:endParaRPr lang="en-US" sz="800" dirty="0"/>
          </a:p>
        </p:txBody>
      </p:sp>
      <p:sp>
        <p:nvSpPr>
          <p:cNvPr id="12" name="ext_296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R1_qb297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R1_sq298"/>
          <p:cNvSpPr/>
          <p:nvPr/>
        </p:nvSpPr>
        <p:spPr>
          <a:xfrm>
            <a:off x="978408" y="1417320"/>
            <a:ext cx="789127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fresh pasta by hand?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Yes, I can. → Really? How long does it take?</a:t>
            </a:r>
            <a:endParaRPr lang="en-US" sz="1300" dirty="0"/>
          </a:p>
        </p:txBody>
      </p:sp>
      <p:sp>
        <p:nvSpPr>
          <p:cNvPr id="15" name="R2_qb299"/>
          <p:cNvSpPr/>
          <p:nvPr/>
        </p:nvSpPr>
        <p:spPr>
          <a:xfrm>
            <a:off x="576072" y="20101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R2_sq300"/>
          <p:cNvSpPr/>
          <p:nvPr/>
        </p:nvSpPr>
        <p:spPr>
          <a:xfrm>
            <a:off x="978408" y="1973580"/>
            <a:ext cx="789127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fillet a whole fish?</a:t>
            </a:r>
            <a:endParaRPr lang="en-US" sz="1300" dirty="0"/>
          </a:p>
        </p:txBody>
      </p:sp>
      <p:sp>
        <p:nvSpPr>
          <p:cNvPr id="17" name="R3_qb301"/>
          <p:cNvSpPr/>
          <p:nvPr/>
        </p:nvSpPr>
        <p:spPr>
          <a:xfrm>
            <a:off x="576072" y="2566416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R3_sq302"/>
          <p:cNvSpPr/>
          <p:nvPr/>
        </p:nvSpPr>
        <p:spPr>
          <a:xfrm>
            <a:off x="978408" y="2529840"/>
            <a:ext cx="789127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bread without a recipe?</a:t>
            </a:r>
            <a:endParaRPr lang="en-US" sz="1300" dirty="0"/>
          </a:p>
        </p:txBody>
      </p:sp>
      <p:sp>
        <p:nvSpPr>
          <p:cNvPr id="19" name="R4_qb303"/>
          <p:cNvSpPr/>
          <p:nvPr/>
        </p:nvSpPr>
        <p:spPr>
          <a:xfrm>
            <a:off x="576072" y="3122676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R4_sq304"/>
          <p:cNvSpPr/>
          <p:nvPr/>
        </p:nvSpPr>
        <p:spPr>
          <a:xfrm>
            <a:off x="978408" y="3086100"/>
            <a:ext cx="789127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cook a steak perfectly rare?</a:t>
            </a:r>
            <a:endParaRPr lang="en-US" sz="1300" dirty="0"/>
          </a:p>
        </p:txBody>
      </p:sp>
      <p:sp>
        <p:nvSpPr>
          <p:cNvPr id="21" name="R5_qb305"/>
          <p:cNvSpPr/>
          <p:nvPr/>
        </p:nvSpPr>
        <p:spPr>
          <a:xfrm>
            <a:off x="576072" y="367893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R5_sq306"/>
          <p:cNvSpPr/>
          <p:nvPr/>
        </p:nvSpPr>
        <p:spPr>
          <a:xfrm>
            <a:off x="978408" y="3642360"/>
            <a:ext cx="789127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14 hours without a break?</a:t>
            </a:r>
            <a:endParaRPr lang="en-US" sz="1300" dirty="0"/>
          </a:p>
        </p:txBody>
      </p:sp>
      <p:sp>
        <p:nvSpPr>
          <p:cNvPr id="23" name="R6_qb307"/>
          <p:cNvSpPr/>
          <p:nvPr/>
        </p:nvSpPr>
        <p:spPr>
          <a:xfrm>
            <a:off x="576072" y="423519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R6_sq308"/>
          <p:cNvSpPr/>
          <p:nvPr/>
        </p:nvSpPr>
        <p:spPr>
          <a:xfrm>
            <a:off x="978408" y="4198620"/>
            <a:ext cx="789127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cook for 200 people?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0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1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311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the number</a:t>
            </a:r>
            <a:endParaRPr lang="en-US" sz="2400" dirty="0"/>
          </a:p>
        </p:txBody>
      </p:sp>
      <p:pic>
        <p:nvPicPr>
          <p:cNvPr id="6" name="brP_31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313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Guess! Closest answer wins a point.</a:t>
            </a:r>
            <a:endParaRPr lang="en-US" sz="1250" dirty="0"/>
          </a:p>
        </p:txBody>
      </p:sp>
      <p:sp>
        <p:nvSpPr>
          <p:cNvPr id="8" name="insIT_31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Indovina! La risposta più vicina vince un punto.</a:t>
            </a:r>
            <a:endParaRPr lang="en-US" sz="950" dirty="0"/>
          </a:p>
        </p:txBody>
      </p:sp>
      <p:sp>
        <p:nvSpPr>
          <p:cNvPr id="9" name="note_315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1250" dirty="0"/>
          </a:p>
        </p:txBody>
      </p:sp>
      <p:pic>
        <p:nvPicPr>
          <p:cNvPr id="10" name="logo_31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1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L6 · Quiz · estimating</a:t>
            </a:r>
            <a:endParaRPr lang="en-US" sz="800" dirty="0"/>
          </a:p>
        </p:txBody>
      </p:sp>
      <p:sp>
        <p:nvSpPr>
          <p:cNvPr id="12" name="ext_318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bd_319"/>
          <p:cNvSpPr/>
          <p:nvPr/>
        </p:nvSpPr>
        <p:spPr>
          <a:xfrm>
            <a:off x="548640" y="151333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q_320"/>
          <p:cNvSpPr/>
          <p:nvPr/>
        </p:nvSpPr>
        <p:spPr>
          <a:xfrm>
            <a:off x="932688" y="14173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Water boils at… °C (at sea level)</a:t>
            </a:r>
            <a:endParaRPr lang="en-US" sz="1300" dirty="0"/>
          </a:p>
        </p:txBody>
      </p:sp>
      <p:sp>
        <p:nvSpPr>
          <p:cNvPr id="15" name="R1_chip321"/>
          <p:cNvSpPr/>
          <p:nvPr/>
        </p:nvSpPr>
        <p:spPr>
          <a:xfrm>
            <a:off x="4297680" y="14173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100°C</a:t>
            </a:r>
            <a:endParaRPr lang="en-US" sz="1200" dirty="0"/>
          </a:p>
        </p:txBody>
      </p:sp>
      <p:sp>
        <p:nvSpPr>
          <p:cNvPr id="16" name="bd_322"/>
          <p:cNvSpPr/>
          <p:nvPr/>
        </p:nvSpPr>
        <p:spPr>
          <a:xfrm>
            <a:off x="548640" y="20619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q_323"/>
          <p:cNvSpPr/>
          <p:nvPr/>
        </p:nvSpPr>
        <p:spPr>
          <a:xfrm>
            <a:off x="932688" y="19659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freezer should be at…</a:t>
            </a:r>
            <a:endParaRPr lang="en-US" sz="1300" dirty="0"/>
          </a:p>
        </p:txBody>
      </p:sp>
      <p:sp>
        <p:nvSpPr>
          <p:cNvPr id="18" name="R2_chip324"/>
          <p:cNvSpPr/>
          <p:nvPr/>
        </p:nvSpPr>
        <p:spPr>
          <a:xfrm>
            <a:off x="4297680" y="196596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–18°C or colder</a:t>
            </a:r>
            <a:endParaRPr lang="en-US" sz="1200" dirty="0"/>
          </a:p>
        </p:txBody>
      </p:sp>
      <p:sp>
        <p:nvSpPr>
          <p:cNvPr id="19" name="bd_325"/>
          <p:cNvSpPr/>
          <p:nvPr/>
        </p:nvSpPr>
        <p:spPr>
          <a:xfrm>
            <a:off x="548640" y="26106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q_326"/>
          <p:cNvSpPr/>
          <p:nvPr/>
        </p:nvSpPr>
        <p:spPr>
          <a:xfrm>
            <a:off x="932688" y="25146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Teaspoons in a tablespoon?</a:t>
            </a:r>
            <a:endParaRPr lang="en-US" sz="1300" dirty="0"/>
          </a:p>
        </p:txBody>
      </p:sp>
      <p:sp>
        <p:nvSpPr>
          <p:cNvPr id="21" name="R3_chip327"/>
          <p:cNvSpPr/>
          <p:nvPr/>
        </p:nvSpPr>
        <p:spPr>
          <a:xfrm>
            <a:off x="4297680" y="251460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bd_328"/>
          <p:cNvSpPr/>
          <p:nvPr/>
        </p:nvSpPr>
        <p:spPr>
          <a:xfrm>
            <a:off x="548640" y="315925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q_329"/>
          <p:cNvSpPr/>
          <p:nvPr/>
        </p:nvSpPr>
        <p:spPr>
          <a:xfrm>
            <a:off x="932688" y="30632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Grams in a pound (lb)?</a:t>
            </a:r>
            <a:endParaRPr lang="en-US" sz="1300" dirty="0"/>
          </a:p>
        </p:txBody>
      </p:sp>
      <p:sp>
        <p:nvSpPr>
          <p:cNvPr id="24" name="R4_chip330"/>
          <p:cNvSpPr/>
          <p:nvPr/>
        </p:nvSpPr>
        <p:spPr>
          <a:xfrm>
            <a:off x="4297680" y="306324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 454 g</a:t>
            </a:r>
            <a:endParaRPr lang="en-US" sz="1200" dirty="0"/>
          </a:p>
        </p:txBody>
      </p:sp>
      <p:sp>
        <p:nvSpPr>
          <p:cNvPr id="25" name="bd_331"/>
          <p:cNvSpPr/>
          <p:nvPr/>
        </p:nvSpPr>
        <p:spPr>
          <a:xfrm>
            <a:off x="548640" y="370789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q_332"/>
          <p:cNvSpPr/>
          <p:nvPr/>
        </p:nvSpPr>
        <p:spPr>
          <a:xfrm>
            <a:off x="932688" y="361188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Minutes in 'a quarter of an hour'?</a:t>
            </a:r>
            <a:endParaRPr lang="en-US" sz="1300" dirty="0"/>
          </a:p>
        </p:txBody>
      </p:sp>
      <p:sp>
        <p:nvSpPr>
          <p:cNvPr id="27" name="R5_chip333"/>
          <p:cNvSpPr/>
          <p:nvPr/>
        </p:nvSpPr>
        <p:spPr>
          <a:xfrm>
            <a:off x="4297680" y="361188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1200" dirty="0"/>
          </a:p>
        </p:txBody>
      </p:sp>
      <p:sp>
        <p:nvSpPr>
          <p:cNvPr id="28" name="bd_334"/>
          <p:cNvSpPr/>
          <p:nvPr/>
        </p:nvSpPr>
        <p:spPr>
          <a:xfrm>
            <a:off x="548640" y="42565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q_335"/>
          <p:cNvSpPr/>
          <p:nvPr/>
        </p:nvSpPr>
        <p:spPr>
          <a:xfrm>
            <a:off x="932688" y="4160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fridge should be at…</a:t>
            </a:r>
            <a:endParaRPr lang="en-US" sz="1300" dirty="0"/>
          </a:p>
        </p:txBody>
      </p:sp>
      <p:sp>
        <p:nvSpPr>
          <p:cNvPr id="30" name="R6_chip336"/>
          <p:cNvSpPr/>
          <p:nvPr/>
        </p:nvSpPr>
        <p:spPr>
          <a:xfrm>
            <a:off x="4297680" y="41605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5°C or below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L6 Numbers &amp; time</dc:title>
  <dc:subject>PptxGenJS Presentation</dc:subject>
  <dc:creator>PptxGenJS</dc:creator>
  <cp:lastModifiedBy>PptxGenJS</cp:lastModifiedBy>
  <cp:revision>1</cp:revision>
  <dcterms:created xsi:type="dcterms:W3CDTF">2026-10-21T09:56:05Z</dcterms:created>
  <dcterms:modified xsi:type="dcterms:W3CDTF">2026-10-21T09:56:05Z</dcterms:modified>
</cp:coreProperties>
</file>