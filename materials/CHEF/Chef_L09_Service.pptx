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LESSON 9 (60 min). Aims: calls on the pass, steak cooking, present continuous, a service simulation.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Lesson 8 (5 min)
REVISION (5 min). VARIATION: micro-challenge against the clock. Teacher is the waiter and fires the questions; chefs answer about their own menu. Round 2: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LEXICON · Calls on the pass (7 min)
LEXICON (8 min). Click 1. Practise shouting them with the right energy. '86' = eighty-six.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Steak (4 min)
VOCABULARY (4 min). Click 1. Italian: al sangue = rare; ben cotta = well done. Ask: How do YOU like your steak? Which is the worst way to cook a good steak?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Plating (5 min)
VOCABULARY (5 min). Click 1. Model: First I warm the plate, then I stack the potatoes, add the fish, drizzle some oil, garnish with parsley and wipe the 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 Present continuous (6 min)
GRAMMAR (6 min). Quick drill: 'Freeze!' — the teacher mimes, they say what you're doing (You're stirring the sauce!).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 Practice (5 min)
GRAMMAR PRACTICE (5 min). Click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A busy night (6 min)
READING (6 min). Then students describe THEIR kitchen at 9 p.m. on a Saturday in the present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SPEAKING · Two perspectives (7 min)
SPEAKING (8 min). VARIATION: perspective change — each side thinks the other is the problem. Round 2: swap roles and add one new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GAME · Simulation (10 min)
GAME (12 min). Add problems: 86 the salmon! Re-fire table 3! Table 4 has a nut allergy!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Exit · what can you remember? (3 min)
EXIT (3 min). Homework sheet L9 in the portal.
Can-dos: I can understand and use calls during service. · I can use the present continuous: I'm plating… · I can talk about how steak is cooked.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Video · real TV (10 min)
EXTRA VIDEO (10 min). Full episode — preview and choose 3–5 minutes before the lesson. Contains bleeped language. Links to L7 health &amp;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Kitchen English · Lesson 9 of 10</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L9</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3000" dirty="0">
                <a:solidFill>
                  <a:srgbClr val="1B2559"/>
                </a:solidFill>
                <a:latin typeface="Arial Rounded MT Bold" pitchFamily="34" charset="0"/>
                <a:ea typeface="Arial Rounded MT Bold" pitchFamily="34" charset="-122"/>
                <a:cs typeface="Arial Rounded MT Bold" pitchFamily="34" charset="-120"/>
              </a:rPr>
              <a:t>Service!</a:t>
            </a:r>
            <a:endParaRPr lang="en-US" sz="30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calls on the pass · present continuous · a busy service</a:t>
            </a:r>
            <a:endParaRPr lang="en-US" sz="1050" dirty="0"/>
          </a:p>
        </p:txBody>
      </p:sp>
      <p:sp>
        <p:nvSpPr>
          <p:cNvPr id="9" name="cd_7"/>
          <p:cNvSpPr/>
          <p:nvPr/>
        </p:nvSpPr>
        <p:spPr>
          <a:xfrm>
            <a:off x="365760" y="2148840"/>
            <a:ext cx="4206240" cy="1551432"/>
          </a:xfrm>
          <a:prstGeom prst="roundRect">
            <a:avLst>
              <a:gd name="adj" fmla="val 8251"/>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984504"/>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Semibold" pitchFamily="34" charset="0"/>
                <a:ea typeface="Segoe UI Semibold" pitchFamily="34" charset="-122"/>
                <a:cs typeface="Segoe UI Semibold" pitchFamily="34" charset="-120"/>
              </a:rPr>
              <a:t>🔑  learn calls on the pass</a:t>
            </a:r>
            <a:endParaRPr lang="en-US" sz="1250" dirty="0"/>
          </a:p>
          <a:p>
            <a:pPr indent="0" marL="0">
              <a:spcBef>
                <a:spcPts val="600"/>
              </a:spcBef>
              <a:spcAft>
                <a:spcPts val="200"/>
              </a:spcAft>
              <a:buNone/>
            </a:pPr>
            <a:r>
              <a:rPr lang="en-US" sz="1250" dirty="0">
                <a:solidFill>
                  <a:srgbClr val="1B2559"/>
                </a:solidFill>
                <a:latin typeface="Segoe UI Semibold" pitchFamily="34" charset="0"/>
                <a:ea typeface="Segoe UI Semibold" pitchFamily="34" charset="-122"/>
                <a:cs typeface="Segoe UI Semibold" pitchFamily="34" charset="-120"/>
              </a:rPr>
              <a:t>🧩  practise present continuous</a:t>
            </a:r>
            <a:endParaRPr lang="en-US" sz="1250" dirty="0"/>
          </a:p>
          <a:p>
            <a:pPr indent="0" marL="0">
              <a:spcBef>
                <a:spcPts val="600"/>
              </a:spcBef>
              <a:spcAft>
                <a:spcPts val="200"/>
              </a:spcAft>
              <a:buNone/>
            </a:pPr>
            <a:r>
              <a:rPr lang="en-US" sz="1250" dirty="0">
                <a:solidFill>
                  <a:srgbClr val="1B2559"/>
                </a:solidFill>
                <a:latin typeface="Segoe UI Semibold" pitchFamily="34" charset="0"/>
                <a:ea typeface="Segoe UI Semibold" pitchFamily="34" charset="-122"/>
                <a:cs typeface="Segoe UI Semibold" pitchFamily="34" charset="-120"/>
              </a:rPr>
              <a:t>💬  practise speaking: a busy service</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Two minutes, Chef!</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chef_ic_bell_pn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How long on table 6?</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19"/>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Beat the clock: 60 seconds!</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The waiter asks. Answer in full – you have 60 seconds!</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Il cameriere chiede. Rispondi per intero – 60 secondi!</a:t>
            </a:r>
            <a:endParaRPr lang="en-US" sz="950" dirty="0"/>
          </a:p>
        </p:txBody>
      </p:sp>
      <p:sp>
        <p:nvSpPr>
          <p:cNvPr id="9" name="cmd_23"/>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24"/>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25"/>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REVISION · Lesson 8</a:t>
            </a:r>
            <a:endParaRPr lang="en-US" sz="800" dirty="0"/>
          </a:p>
        </p:txBody>
      </p:sp>
      <p:sp>
        <p:nvSpPr>
          <p:cNvPr id="14" name="R1_qb28"/>
          <p:cNvSpPr/>
          <p:nvPr/>
        </p:nvSpPr>
        <p:spPr>
          <a:xfrm>
            <a:off x="57607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5" name="R1_sq29"/>
          <p:cNvSpPr/>
          <p:nvPr/>
        </p:nvSpPr>
        <p:spPr>
          <a:xfrm>
            <a:off x="978408" y="1417320"/>
            <a:ext cx="789127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Is the soup vegan?</a:t>
            </a:r>
            <a:endParaRPr lang="en-US" sz="1400" dirty="0"/>
          </a:p>
        </p:txBody>
      </p:sp>
      <p:sp>
        <p:nvSpPr>
          <p:cNvPr id="16" name="R2_qb30"/>
          <p:cNvSpPr/>
          <p:nvPr/>
        </p:nvSpPr>
        <p:spPr>
          <a:xfrm>
            <a:off x="576072" y="20101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7" name="R2_sq31"/>
          <p:cNvSpPr/>
          <p:nvPr/>
        </p:nvSpPr>
        <p:spPr>
          <a:xfrm>
            <a:off x="978408" y="1973580"/>
            <a:ext cx="789127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Does the cake contain nuts?</a:t>
            </a:r>
            <a:endParaRPr lang="en-US" sz="1400" dirty="0"/>
          </a:p>
        </p:txBody>
      </p:sp>
      <p:sp>
        <p:nvSpPr>
          <p:cNvPr id="18" name="R3_qb32"/>
          <p:cNvSpPr/>
          <p:nvPr/>
        </p:nvSpPr>
        <p:spPr>
          <a:xfrm>
            <a:off x="576072" y="256641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19" name="R3_sq33"/>
          <p:cNvSpPr/>
          <p:nvPr/>
        </p:nvSpPr>
        <p:spPr>
          <a:xfrm>
            <a:off x="978408" y="2529840"/>
            <a:ext cx="7891272" cy="483108"/>
          </a:xfrm>
          <a:prstGeom prst="roundRect">
            <a:avLst>
              <a:gd name="adj" fmla="val 22713"/>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Is the pasta gluten-free?</a:t>
            </a:r>
            <a:endParaRPr lang="en-US" sz="1400" dirty="0"/>
          </a:p>
        </p:txBody>
      </p:sp>
      <p:sp>
        <p:nvSpPr>
          <p:cNvPr id="20" name="R4_qb34"/>
          <p:cNvSpPr/>
          <p:nvPr/>
        </p:nvSpPr>
        <p:spPr>
          <a:xfrm>
            <a:off x="576072" y="3122676"/>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1" name="R4_sq35"/>
          <p:cNvSpPr/>
          <p:nvPr/>
        </p:nvSpPr>
        <p:spPr>
          <a:xfrm>
            <a:off x="978408" y="3086100"/>
            <a:ext cx="7891272" cy="483108"/>
          </a:xfrm>
          <a:prstGeom prst="roundRect">
            <a:avLst>
              <a:gd name="adj" fmla="val 22713"/>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Can you make it without cheese?</a:t>
            </a:r>
            <a:endParaRPr lang="en-US" sz="1400" dirty="0"/>
          </a:p>
        </p:txBody>
      </p:sp>
      <p:sp>
        <p:nvSpPr>
          <p:cNvPr id="22" name="R5_qb36"/>
          <p:cNvSpPr/>
          <p:nvPr/>
        </p:nvSpPr>
        <p:spPr>
          <a:xfrm>
            <a:off x="576072" y="36789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3" name="R5_sq37"/>
          <p:cNvSpPr/>
          <p:nvPr/>
        </p:nvSpPr>
        <p:spPr>
          <a:xfrm>
            <a:off x="978408" y="3642360"/>
            <a:ext cx="789127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What's in the sauce?</a:t>
            </a:r>
            <a:endParaRPr lang="en-US" sz="1400" dirty="0"/>
          </a:p>
        </p:txBody>
      </p:sp>
      <p:sp>
        <p:nvSpPr>
          <p:cNvPr id="24" name="R6_qb38"/>
          <p:cNvSpPr/>
          <p:nvPr/>
        </p:nvSpPr>
        <p:spPr>
          <a:xfrm>
            <a:off x="576072" y="423519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25" name="R6_sq39"/>
          <p:cNvSpPr/>
          <p:nvPr/>
        </p:nvSpPr>
        <p:spPr>
          <a:xfrm>
            <a:off x="978408" y="4198620"/>
            <a:ext cx="789127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Does the fish come with prawns?</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4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Calls on the pass</a:t>
            </a:r>
            <a:endParaRPr lang="en-US" sz="2500" dirty="0"/>
          </a:p>
        </p:txBody>
      </p:sp>
      <p:pic>
        <p:nvPicPr>
          <p:cNvPr id="6" name="brP_43" descr="/home/claude/lls-course/v2/assets/brush-pink.png">    </p:cNvPr>
          <p:cNvPicPr>
            <a:picLocks noChangeAspect="1"/>
          </p:cNvPicPr>
          <p:nvPr/>
        </p:nvPicPr>
        <p:blipFill>
          <a:blip r:embed="rId3"/>
          <a:stretch>
            <a:fillRect/>
          </a:stretch>
        </p:blipFill>
        <p:spPr>
          <a:xfrm>
            <a:off x="1207008" y="731520"/>
            <a:ext cx="2903220" cy="402336"/>
          </a:xfrm>
          <a:prstGeom prst="rect">
            <a:avLst/>
          </a:prstGeom>
        </p:spPr>
      </p:pic>
      <p:sp>
        <p:nvSpPr>
          <p:cNvPr id="7" name="ins_44"/>
          <p:cNvSpPr/>
          <p:nvPr/>
        </p:nvSpPr>
        <p:spPr>
          <a:xfrm>
            <a:off x="1353312" y="731520"/>
            <a:ext cx="26471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does it mean? Match.</a:t>
            </a:r>
            <a:endParaRPr lang="en-US" sz="1250" dirty="0"/>
          </a:p>
        </p:txBody>
      </p:sp>
      <p:sp>
        <p:nvSpPr>
          <p:cNvPr id="8" name="insIT_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Cosa significa? Abbina.</a:t>
            </a:r>
            <a:endParaRPr lang="en-US" sz="950" dirty="0"/>
          </a:p>
        </p:txBody>
      </p:sp>
      <p:sp>
        <p:nvSpPr>
          <p:cNvPr id="9" name="cmd_46"/>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47"/>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7 min   👥 pairs</a:t>
            </a:r>
            <a:endParaRPr lang="en-US" sz="950" dirty="0"/>
          </a:p>
        </p:txBody>
      </p:sp>
      <p:pic>
        <p:nvPicPr>
          <p:cNvPr id="11" name="logo_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LEXICON · Calls on the pass</a:t>
            </a:r>
            <a:endParaRPr lang="en-US" sz="800" dirty="0"/>
          </a:p>
        </p:txBody>
      </p:sp>
      <p:sp>
        <p:nvSpPr>
          <p:cNvPr id="13" name="bd_50"/>
          <p:cNvSpPr/>
          <p:nvPr/>
        </p:nvSpPr>
        <p:spPr>
          <a:xfrm>
            <a:off x="548640" y="1474143"/>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4" name="q_51"/>
          <p:cNvSpPr/>
          <p:nvPr/>
        </p:nvSpPr>
        <p:spPr>
          <a:xfrm>
            <a:off x="932688" y="1417320"/>
            <a:ext cx="3291840" cy="424543"/>
          </a:xfrm>
          <a:prstGeom prst="roundRect">
            <a:avLst>
              <a:gd name="adj" fmla="val 21538"/>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Order in! / Check on!</a:t>
            </a:r>
            <a:endParaRPr lang="en-US" sz="1300" dirty="0"/>
          </a:p>
        </p:txBody>
      </p:sp>
      <p:sp>
        <p:nvSpPr>
          <p:cNvPr id="15" name="R1_chip52"/>
          <p:cNvSpPr/>
          <p:nvPr/>
        </p:nvSpPr>
        <p:spPr>
          <a:xfrm>
            <a:off x="4297680" y="1417320"/>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new order has arrived</a:t>
            </a:r>
            <a:endParaRPr lang="en-US" sz="1200" dirty="0"/>
          </a:p>
        </p:txBody>
      </p:sp>
      <p:sp>
        <p:nvSpPr>
          <p:cNvPr id="16" name="bd_53"/>
          <p:cNvSpPr/>
          <p:nvPr/>
        </p:nvSpPr>
        <p:spPr>
          <a:xfrm>
            <a:off x="548640" y="194440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7" name="q_54"/>
          <p:cNvSpPr/>
          <p:nvPr/>
        </p:nvSpPr>
        <p:spPr>
          <a:xfrm>
            <a:off x="932688" y="1887583"/>
            <a:ext cx="3291840" cy="424543"/>
          </a:xfrm>
          <a:prstGeom prst="roundRect">
            <a:avLst>
              <a:gd name="adj" fmla="val 21538"/>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Service, please! / Away!</a:t>
            </a:r>
            <a:endParaRPr lang="en-US" sz="1300" dirty="0"/>
          </a:p>
        </p:txBody>
      </p:sp>
      <p:sp>
        <p:nvSpPr>
          <p:cNvPr id="18" name="R2_chip55"/>
          <p:cNvSpPr/>
          <p:nvPr/>
        </p:nvSpPr>
        <p:spPr>
          <a:xfrm>
            <a:off x="4297680" y="1887583"/>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 food is ready – take it!</a:t>
            </a:r>
            <a:endParaRPr lang="en-US" sz="1200" dirty="0"/>
          </a:p>
        </p:txBody>
      </p:sp>
      <p:sp>
        <p:nvSpPr>
          <p:cNvPr id="19" name="bd_56"/>
          <p:cNvSpPr/>
          <p:nvPr/>
        </p:nvSpPr>
        <p:spPr>
          <a:xfrm>
            <a:off x="548640" y="2414669"/>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0" name="q_57"/>
          <p:cNvSpPr/>
          <p:nvPr/>
        </p:nvSpPr>
        <p:spPr>
          <a:xfrm>
            <a:off x="932688" y="2357846"/>
            <a:ext cx="3291840" cy="424543"/>
          </a:xfrm>
          <a:prstGeom prst="roundRect">
            <a:avLst>
              <a:gd name="adj" fmla="val 21538"/>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the salmon.</a:t>
            </a:r>
            <a:endParaRPr lang="en-US" sz="1300" dirty="0"/>
          </a:p>
        </p:txBody>
      </p:sp>
      <p:sp>
        <p:nvSpPr>
          <p:cNvPr id="21" name="R3_chip58"/>
          <p:cNvSpPr/>
          <p:nvPr/>
        </p:nvSpPr>
        <p:spPr>
          <a:xfrm>
            <a:off x="4297680" y="2357846"/>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there's no more salmon</a:t>
            </a:r>
            <a:endParaRPr lang="en-US" sz="1200" dirty="0"/>
          </a:p>
        </p:txBody>
      </p:sp>
      <p:sp>
        <p:nvSpPr>
          <p:cNvPr id="22" name="bd_59"/>
          <p:cNvSpPr/>
          <p:nvPr/>
        </p:nvSpPr>
        <p:spPr>
          <a:xfrm>
            <a:off x="548640" y="28849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3" name="q_60"/>
          <p:cNvSpPr/>
          <p:nvPr/>
        </p:nvSpPr>
        <p:spPr>
          <a:xfrm>
            <a:off x="932688" y="2828109"/>
            <a:ext cx="3291840" cy="424543"/>
          </a:xfrm>
          <a:prstGeom prst="roundRect">
            <a:avLst>
              <a:gd name="adj" fmla="val 21538"/>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How long on table 6?</a:t>
            </a:r>
            <a:endParaRPr lang="en-US" sz="1300" dirty="0"/>
          </a:p>
        </p:txBody>
      </p:sp>
      <p:sp>
        <p:nvSpPr>
          <p:cNvPr id="24" name="R4_chip61"/>
          <p:cNvSpPr/>
          <p:nvPr/>
        </p:nvSpPr>
        <p:spPr>
          <a:xfrm>
            <a:off x="4297680" y="2828109"/>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how much time do you need?</a:t>
            </a:r>
            <a:endParaRPr lang="en-US" sz="1200" dirty="0"/>
          </a:p>
        </p:txBody>
      </p:sp>
      <p:sp>
        <p:nvSpPr>
          <p:cNvPr id="25" name="bd_62"/>
          <p:cNvSpPr/>
          <p:nvPr/>
        </p:nvSpPr>
        <p:spPr>
          <a:xfrm>
            <a:off x="548640" y="335519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6" name="q_63"/>
          <p:cNvSpPr/>
          <p:nvPr/>
        </p:nvSpPr>
        <p:spPr>
          <a:xfrm>
            <a:off x="932688" y="3298371"/>
            <a:ext cx="3291840" cy="424543"/>
          </a:xfrm>
          <a:prstGeom prst="roundRect">
            <a:avLst>
              <a:gd name="adj" fmla="val 21538"/>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Heard, Chef!</a:t>
            </a:r>
            <a:endParaRPr lang="en-US" sz="1300" dirty="0"/>
          </a:p>
        </p:txBody>
      </p:sp>
      <p:sp>
        <p:nvSpPr>
          <p:cNvPr id="27" name="R5_chip64"/>
          <p:cNvSpPr/>
          <p:nvPr/>
        </p:nvSpPr>
        <p:spPr>
          <a:xfrm>
            <a:off x="4297680" y="3298371"/>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 understand</a:t>
            </a:r>
            <a:endParaRPr lang="en-US" sz="1200" dirty="0"/>
          </a:p>
        </p:txBody>
      </p:sp>
      <p:sp>
        <p:nvSpPr>
          <p:cNvPr id="28" name="bd_65"/>
          <p:cNvSpPr/>
          <p:nvPr/>
        </p:nvSpPr>
        <p:spPr>
          <a:xfrm>
            <a:off x="548640" y="3825458"/>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9" name="q_66"/>
          <p:cNvSpPr/>
          <p:nvPr/>
        </p:nvSpPr>
        <p:spPr>
          <a:xfrm>
            <a:off x="932688" y="3768634"/>
            <a:ext cx="3291840" cy="424543"/>
          </a:xfrm>
          <a:prstGeom prst="roundRect">
            <a:avLst>
              <a:gd name="adj" fmla="val 21538"/>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Two minutes, Chef!</a:t>
            </a:r>
            <a:endParaRPr lang="en-US" sz="1300" dirty="0"/>
          </a:p>
        </p:txBody>
      </p:sp>
      <p:sp>
        <p:nvSpPr>
          <p:cNvPr id="30" name="R6_chip67"/>
          <p:cNvSpPr/>
          <p:nvPr/>
        </p:nvSpPr>
        <p:spPr>
          <a:xfrm>
            <a:off x="4297680" y="3768634"/>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 need two more minutes</a:t>
            </a:r>
            <a:endParaRPr lang="en-US" sz="1200" dirty="0"/>
          </a:p>
        </p:txBody>
      </p:sp>
      <p:sp>
        <p:nvSpPr>
          <p:cNvPr id="31" name="bd_68"/>
          <p:cNvSpPr/>
          <p:nvPr/>
        </p:nvSpPr>
        <p:spPr>
          <a:xfrm>
            <a:off x="548640" y="4295721"/>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2" name="q_69"/>
          <p:cNvSpPr/>
          <p:nvPr/>
        </p:nvSpPr>
        <p:spPr>
          <a:xfrm>
            <a:off x="932688" y="4238897"/>
            <a:ext cx="3291840" cy="424543"/>
          </a:xfrm>
          <a:prstGeom prst="roundRect">
            <a:avLst>
              <a:gd name="adj" fmla="val 21538"/>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Re-fire table 3.</a:t>
            </a:r>
            <a:endParaRPr lang="en-US" sz="1300" dirty="0"/>
          </a:p>
        </p:txBody>
      </p:sp>
      <p:sp>
        <p:nvSpPr>
          <p:cNvPr id="33" name="R7_chip70"/>
          <p:cNvSpPr/>
          <p:nvPr/>
        </p:nvSpPr>
        <p:spPr>
          <a:xfrm>
            <a:off x="4297680" y="4238897"/>
            <a:ext cx="448056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cook the dish again</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4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2"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73"/>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How would you like it?</a:t>
            </a:r>
            <a:endParaRPr lang="en-US" sz="2500" dirty="0"/>
          </a:p>
        </p:txBody>
      </p:sp>
      <p:pic>
        <p:nvPicPr>
          <p:cNvPr id="6" name="brP_74"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75"/>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Put them in order: least cooked → most cooked.</a:t>
            </a:r>
            <a:endParaRPr lang="en-US" sz="1250" dirty="0"/>
          </a:p>
        </p:txBody>
      </p:sp>
      <p:sp>
        <p:nvSpPr>
          <p:cNvPr id="8" name="insIT_7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 ordine: dal meno cotto al più cotto.</a:t>
            </a:r>
            <a:endParaRPr lang="en-US" sz="950" dirty="0"/>
          </a:p>
        </p:txBody>
      </p:sp>
      <p:sp>
        <p:nvSpPr>
          <p:cNvPr id="9" name="cmd_77"/>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7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7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Communicative</a:t>
            </a:r>
            <a:endParaRPr lang="en-US" sz="750" dirty="0"/>
          </a:p>
        </p:txBody>
      </p:sp>
      <p:pic>
        <p:nvPicPr>
          <p:cNvPr id="12" name="logo_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VOCABULARY · Steak</a:t>
            </a:r>
            <a:endParaRPr lang="en-US" sz="800" dirty="0"/>
          </a:p>
        </p:txBody>
      </p:sp>
      <p:sp>
        <p:nvSpPr>
          <p:cNvPr id="14" name="cd_82"/>
          <p:cNvSpPr/>
          <p:nvPr/>
        </p:nvSpPr>
        <p:spPr>
          <a:xfrm>
            <a:off x="320040" y="1417320"/>
            <a:ext cx="278892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8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84"/>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85"/>
          <p:cNvSpPr/>
          <p:nvPr/>
        </p:nvSpPr>
        <p:spPr>
          <a:xfrm>
            <a:off x="886968" y="1911096"/>
            <a:ext cx="213055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think … is the least cooked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don't agree – …</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For me, number 1 is…</a:t>
            </a:r>
            <a:endParaRPr lang="en-US" sz="1150" dirty="0"/>
          </a:p>
        </p:txBody>
      </p:sp>
      <p:sp>
        <p:nvSpPr>
          <p:cNvPr id="18" name="R1_qb8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8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LEAST COOKED → MOST COOKED: put them in order.</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medium · well done · blue · medium rare · rare · medium well</a:t>
            </a:r>
            <a:endParaRPr lang="en-US" sz="1100" dirty="0"/>
          </a:p>
        </p:txBody>
      </p:sp>
      <p:sp>
        <p:nvSpPr>
          <p:cNvPr id="20" name="R2_qb8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8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blue → rare → medium rare → medium → medium well → well done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9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9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Plate up!</a:t>
            </a:r>
            <a:endParaRPr lang="en-US" sz="2500" dirty="0"/>
          </a:p>
        </p:txBody>
      </p:sp>
      <p:pic>
        <p:nvPicPr>
          <p:cNvPr id="6" name="brP_93" descr="/home/claude/lls-course/v2/assets/brush-pink.png">    </p:cNvPr>
          <p:cNvPicPr>
            <a:picLocks noChangeAspect="1"/>
          </p:cNvPicPr>
          <p:nvPr/>
        </p:nvPicPr>
        <p:blipFill>
          <a:blip r:embed="rId3"/>
          <a:stretch>
            <a:fillRect/>
          </a:stretch>
        </p:blipFill>
        <p:spPr>
          <a:xfrm>
            <a:off x="1207008" y="731520"/>
            <a:ext cx="5074920" cy="402336"/>
          </a:xfrm>
          <a:prstGeom prst="rect">
            <a:avLst/>
          </a:prstGeom>
        </p:spPr>
      </p:pic>
      <p:sp>
        <p:nvSpPr>
          <p:cNvPr id="7" name="ins_94"/>
          <p:cNvSpPr/>
          <p:nvPr/>
        </p:nvSpPr>
        <p:spPr>
          <a:xfrm>
            <a:off x="1353312" y="731520"/>
            <a:ext cx="48188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Match. Then describe how you plate your best dish.</a:t>
            </a:r>
            <a:endParaRPr lang="en-US" sz="1250" dirty="0"/>
          </a:p>
        </p:txBody>
      </p:sp>
      <p:sp>
        <p:nvSpPr>
          <p:cNvPr id="8" name="insIT_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Abbina. Poi descrivi come impiatti il tuo piatto migliore.</a:t>
            </a:r>
            <a:endParaRPr lang="en-US" sz="950" dirty="0"/>
          </a:p>
        </p:txBody>
      </p:sp>
      <p:sp>
        <p:nvSpPr>
          <p:cNvPr id="9" name="cmd_96"/>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97"/>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98"/>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Controlled practice</a:t>
            </a:r>
            <a:endParaRPr lang="en-US" sz="750" dirty="0"/>
          </a:p>
        </p:txBody>
      </p:sp>
      <p:pic>
        <p:nvPicPr>
          <p:cNvPr id="12" name="logo_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VOCABULARY · Plating</a:t>
            </a:r>
            <a:endParaRPr lang="en-US" sz="800" dirty="0"/>
          </a:p>
        </p:txBody>
      </p:sp>
      <p:sp>
        <p:nvSpPr>
          <p:cNvPr id="14" name="bd_101"/>
          <p:cNvSpPr/>
          <p:nvPr/>
        </p:nvSpPr>
        <p:spPr>
          <a:xfrm>
            <a:off x="548640" y="151333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q_102"/>
          <p:cNvSpPr/>
          <p:nvPr/>
        </p:nvSpPr>
        <p:spPr>
          <a:xfrm>
            <a:off x="932688" y="141732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plate up</a:t>
            </a:r>
            <a:endParaRPr lang="en-US" sz="1300" dirty="0"/>
          </a:p>
        </p:txBody>
      </p:sp>
      <p:sp>
        <p:nvSpPr>
          <p:cNvPr id="16" name="R1_chip103"/>
          <p:cNvSpPr/>
          <p:nvPr/>
        </p:nvSpPr>
        <p:spPr>
          <a:xfrm>
            <a:off x="4297680" y="141732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impiattare</a:t>
            </a:r>
            <a:endParaRPr lang="en-US" sz="1200" dirty="0"/>
          </a:p>
        </p:txBody>
      </p:sp>
      <p:sp>
        <p:nvSpPr>
          <p:cNvPr id="17" name="bd_104"/>
          <p:cNvSpPr/>
          <p:nvPr/>
        </p:nvSpPr>
        <p:spPr>
          <a:xfrm>
            <a:off x="548640" y="20619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8" name="q_105"/>
          <p:cNvSpPr/>
          <p:nvPr/>
        </p:nvSpPr>
        <p:spPr>
          <a:xfrm>
            <a:off x="932688" y="196596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garnish</a:t>
            </a:r>
            <a:endParaRPr lang="en-US" sz="1300" dirty="0"/>
          </a:p>
        </p:txBody>
      </p:sp>
      <p:sp>
        <p:nvSpPr>
          <p:cNvPr id="19" name="R2_chip106"/>
          <p:cNvSpPr/>
          <p:nvPr/>
        </p:nvSpPr>
        <p:spPr>
          <a:xfrm>
            <a:off x="4297680" y="196596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guarnire</a:t>
            </a:r>
            <a:endParaRPr lang="en-US" sz="1200" dirty="0"/>
          </a:p>
        </p:txBody>
      </p:sp>
      <p:sp>
        <p:nvSpPr>
          <p:cNvPr id="20" name="bd_107"/>
          <p:cNvSpPr/>
          <p:nvPr/>
        </p:nvSpPr>
        <p:spPr>
          <a:xfrm>
            <a:off x="548640" y="26106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1" name="q_108"/>
          <p:cNvSpPr/>
          <p:nvPr/>
        </p:nvSpPr>
        <p:spPr>
          <a:xfrm>
            <a:off x="932688" y="2514600"/>
            <a:ext cx="3291840" cy="502920"/>
          </a:xfrm>
          <a:prstGeom prst="roundRect">
            <a:avLst>
              <a:gd name="adj" fmla="val 1818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drizzle (oil)</a:t>
            </a:r>
            <a:endParaRPr lang="en-US" sz="1300" dirty="0"/>
          </a:p>
        </p:txBody>
      </p:sp>
      <p:sp>
        <p:nvSpPr>
          <p:cNvPr id="22" name="R3_chip109"/>
          <p:cNvSpPr/>
          <p:nvPr/>
        </p:nvSpPr>
        <p:spPr>
          <a:xfrm>
            <a:off x="4297680" y="251460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un filo d'olio</a:t>
            </a:r>
            <a:endParaRPr lang="en-US" sz="1200" dirty="0"/>
          </a:p>
        </p:txBody>
      </p:sp>
      <p:sp>
        <p:nvSpPr>
          <p:cNvPr id="23" name="bd_110"/>
          <p:cNvSpPr/>
          <p:nvPr/>
        </p:nvSpPr>
        <p:spPr>
          <a:xfrm>
            <a:off x="548640" y="315925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4" name="q_111"/>
          <p:cNvSpPr/>
          <p:nvPr/>
        </p:nvSpPr>
        <p:spPr>
          <a:xfrm>
            <a:off x="932688" y="3063240"/>
            <a:ext cx="3291840" cy="502920"/>
          </a:xfrm>
          <a:prstGeom prst="roundRect">
            <a:avLst>
              <a:gd name="adj" fmla="val 1818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wipe the rim</a:t>
            </a:r>
            <a:endParaRPr lang="en-US" sz="1300" dirty="0"/>
          </a:p>
        </p:txBody>
      </p:sp>
      <p:sp>
        <p:nvSpPr>
          <p:cNvPr id="25" name="R4_chip112"/>
          <p:cNvSpPr/>
          <p:nvPr/>
        </p:nvSpPr>
        <p:spPr>
          <a:xfrm>
            <a:off x="4297680" y="306324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pulire il bordo</a:t>
            </a:r>
            <a:endParaRPr lang="en-US" sz="1200" dirty="0"/>
          </a:p>
        </p:txBody>
      </p:sp>
      <p:sp>
        <p:nvSpPr>
          <p:cNvPr id="26" name="bd_113"/>
          <p:cNvSpPr/>
          <p:nvPr/>
        </p:nvSpPr>
        <p:spPr>
          <a:xfrm>
            <a:off x="548640" y="370789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q_114"/>
          <p:cNvSpPr/>
          <p:nvPr/>
        </p:nvSpPr>
        <p:spPr>
          <a:xfrm>
            <a:off x="932688" y="361188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warm the plates</a:t>
            </a:r>
            <a:endParaRPr lang="en-US" sz="1300" dirty="0"/>
          </a:p>
        </p:txBody>
      </p:sp>
      <p:sp>
        <p:nvSpPr>
          <p:cNvPr id="28" name="R5_chip115"/>
          <p:cNvSpPr/>
          <p:nvPr/>
        </p:nvSpPr>
        <p:spPr>
          <a:xfrm>
            <a:off x="4297680" y="361188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scaldare i piatti</a:t>
            </a:r>
            <a:endParaRPr lang="en-US" sz="1200" dirty="0"/>
          </a:p>
        </p:txBody>
      </p:sp>
      <p:sp>
        <p:nvSpPr>
          <p:cNvPr id="29" name="bd_116"/>
          <p:cNvSpPr/>
          <p:nvPr/>
        </p:nvSpPr>
        <p:spPr>
          <a:xfrm>
            <a:off x="548640" y="42565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q_117"/>
          <p:cNvSpPr/>
          <p:nvPr/>
        </p:nvSpPr>
        <p:spPr>
          <a:xfrm>
            <a:off x="932688" y="416052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stack</a:t>
            </a:r>
            <a:endParaRPr lang="en-US" sz="1300" dirty="0"/>
          </a:p>
        </p:txBody>
      </p:sp>
      <p:sp>
        <p:nvSpPr>
          <p:cNvPr id="31" name="R6_chip118"/>
          <p:cNvSpPr/>
          <p:nvPr/>
        </p:nvSpPr>
        <p:spPr>
          <a:xfrm>
            <a:off x="4297680" y="416052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impilare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20"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21"/>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I'm plating table 4!</a:t>
            </a:r>
            <a:endParaRPr lang="en-US" sz="2500" dirty="0"/>
          </a:p>
        </p:txBody>
      </p:sp>
      <p:sp>
        <p:nvSpPr>
          <p:cNvPr id="6" name="meta_122"/>
          <p:cNvSpPr/>
          <p:nvPr/>
        </p:nvSpPr>
        <p:spPr>
          <a:xfrm>
            <a:off x="6510528" y="18288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6 min   🙋 whole class</a:t>
            </a:r>
            <a:endParaRPr lang="en-US" sz="950" dirty="0"/>
          </a:p>
        </p:txBody>
      </p:sp>
      <p:sp>
        <p:nvSpPr>
          <p:cNvPr id="7" name="tag_123"/>
          <p:cNvSpPr/>
          <p:nvPr/>
        </p:nvSpPr>
        <p:spPr>
          <a:xfrm>
            <a:off x="6510528" y="54864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Guided discovery</a:t>
            </a:r>
            <a:endParaRPr lang="en-US" sz="750" dirty="0"/>
          </a:p>
        </p:txBody>
      </p:sp>
      <p:pic>
        <p:nvPicPr>
          <p:cNvPr id="8" name="logo_124" descr="/home/claude/lls-course/v2/img/logo.png">    </p:cNvPr>
          <p:cNvPicPr>
            <a:picLocks noChangeAspect="1"/>
          </p:cNvPicPr>
          <p:nvPr/>
        </p:nvPicPr>
        <p:blipFill>
          <a:blip r:embed="rId3"/>
          <a:stretch>
            <a:fillRect/>
          </a:stretch>
        </p:blipFill>
        <p:spPr>
          <a:xfrm>
            <a:off x="8485632" y="128016"/>
            <a:ext cx="502920" cy="502920"/>
          </a:xfrm>
          <a:prstGeom prst="rect">
            <a:avLst/>
          </a:prstGeom>
        </p:spPr>
      </p:pic>
      <p:sp>
        <p:nvSpPr>
          <p:cNvPr id="9" name="foot_1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GRAMMAR · Present continuous</a:t>
            </a:r>
            <a:endParaRPr lang="en-US" sz="800" dirty="0"/>
          </a:p>
        </p:txBody>
      </p:sp>
      <p:sp>
        <p:nvSpPr>
          <p:cNvPr id="10" name="cd_126"/>
          <p:cNvSpPr/>
          <p:nvPr/>
        </p:nvSpPr>
        <p:spPr>
          <a:xfrm>
            <a:off x="320040" y="1417320"/>
            <a:ext cx="2758440" cy="3017520"/>
          </a:xfrm>
          <a:prstGeom prst="roundRect">
            <a:avLst>
              <a:gd name="adj" fmla="val 4641"/>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1" name="rh_127"/>
          <p:cNvSpPr/>
          <p:nvPr/>
        </p:nvSpPr>
        <p:spPr>
          <a:xfrm>
            <a:off x="429768" y="1508760"/>
            <a:ext cx="25389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Now!</a:t>
            </a:r>
            <a:endParaRPr lang="en-US" sz="1250" dirty="0"/>
          </a:p>
        </p:txBody>
      </p:sp>
      <p:sp>
        <p:nvSpPr>
          <p:cNvPr id="12" name="R1_rx128"/>
          <p:cNvSpPr/>
          <p:nvPr/>
        </p:nvSpPr>
        <p:spPr>
          <a:xfrm>
            <a:off x="4572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am / is / are + -ing</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I'm plating table 4.</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He's cooking the steaks.</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We're waiting for the fish.</a:t>
            </a:r>
            <a:endParaRPr lang="en-US" sz="1400" dirty="0"/>
          </a:p>
        </p:txBody>
      </p:sp>
      <p:sp>
        <p:nvSpPr>
          <p:cNvPr id="13" name="cd_129"/>
          <p:cNvSpPr/>
          <p:nvPr/>
        </p:nvSpPr>
        <p:spPr>
          <a:xfrm>
            <a:off x="3215640" y="1417320"/>
            <a:ext cx="2758440" cy="3017520"/>
          </a:xfrm>
          <a:prstGeom prst="roundRect">
            <a:avLst>
              <a:gd name="adj" fmla="val 4641"/>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4" name="rh_130"/>
          <p:cNvSpPr/>
          <p:nvPr/>
        </p:nvSpPr>
        <p:spPr>
          <a:xfrm>
            <a:off x="3325368" y="1508760"/>
            <a:ext cx="25389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Questions</a:t>
            </a:r>
            <a:endParaRPr lang="en-US" sz="1250" dirty="0"/>
          </a:p>
        </p:txBody>
      </p:sp>
      <p:sp>
        <p:nvSpPr>
          <p:cNvPr id="15" name="R2_rx131"/>
          <p:cNvSpPr/>
          <p:nvPr/>
        </p:nvSpPr>
        <p:spPr>
          <a:xfrm>
            <a:off x="33528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What are you doing?</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Is the risotto cooking?</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Are you ready?</a:t>
            </a:r>
            <a:endParaRPr lang="en-US" sz="1400" dirty="0"/>
          </a:p>
        </p:txBody>
      </p:sp>
      <p:sp>
        <p:nvSpPr>
          <p:cNvPr id="16" name="cd_132"/>
          <p:cNvSpPr/>
          <p:nvPr/>
        </p:nvSpPr>
        <p:spPr>
          <a:xfrm>
            <a:off x="6111240" y="1417320"/>
            <a:ext cx="2758440" cy="3017520"/>
          </a:xfrm>
          <a:prstGeom prst="roundRect">
            <a:avLst>
              <a:gd name="adj" fmla="val 4641"/>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7" name="rh_133"/>
          <p:cNvSpPr/>
          <p:nvPr/>
        </p:nvSpPr>
        <p:spPr>
          <a:xfrm>
            <a:off x="6220968" y="1508760"/>
            <a:ext cx="25389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Answers</a:t>
            </a:r>
            <a:endParaRPr lang="en-US" sz="1250" dirty="0"/>
          </a:p>
        </p:txBody>
      </p:sp>
      <p:sp>
        <p:nvSpPr>
          <p:cNvPr id="18" name="R3_rx134"/>
          <p:cNvSpPr/>
          <p:nvPr/>
        </p:nvSpPr>
        <p:spPr>
          <a:xfrm>
            <a:off x="6248400" y="2011680"/>
            <a:ext cx="2484120" cy="1965960"/>
          </a:xfrm>
          <a:prstGeom prst="rect">
            <a:avLst/>
          </a:prstGeom>
          <a:noFill/>
          <a:ln/>
        </p:spPr>
        <p:txBody>
          <a:bodyPr wrap="square" lIns="0" tIns="0" rIns="0" bIns="0" rtlCol="0" anchor="ctr">
            <a:normAutofit/>
          </a:bodyPr>
          <a:lstStyle/>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I'm finishing the sauce, Chef.</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No, I'm still waiting.</a:t>
            </a:r>
            <a:endParaRPr lang="en-US" sz="1400" dirty="0"/>
          </a:p>
          <a:p>
            <a:pPr algn="ctr" indent="0" marL="0">
              <a:spcAft>
                <a:spcPts val="600"/>
              </a:spcAft>
              <a:buNone/>
            </a:pPr>
            <a:r>
              <a:rPr lang="en-US" sz="1400" dirty="0">
                <a:solidFill>
                  <a:srgbClr val="1B2559"/>
                </a:solidFill>
                <a:latin typeface="Segoe UI Semibold" pitchFamily="34" charset="0"/>
                <a:ea typeface="Segoe UI Semibold" pitchFamily="34" charset="-122"/>
                <a:cs typeface="Segoe UI Semibold" pitchFamily="34" charset="-120"/>
              </a:rPr>
              <a:t>Nearly there – one minute!</a:t>
            </a:r>
            <a:endParaRPr lang="en-US" sz="1400" dirty="0"/>
          </a:p>
        </p:txBody>
      </p:sp>
      <p:sp>
        <p:nvSpPr>
          <p:cNvPr id="19" name="R4_wc135"/>
          <p:cNvSpPr/>
          <p:nvPr/>
        </p:nvSpPr>
        <p:spPr>
          <a:xfrm>
            <a:off x="320040" y="4544568"/>
            <a:ext cx="8549640" cy="329184"/>
          </a:xfrm>
          <a:prstGeom prst="roundRect">
            <a:avLst>
              <a:gd name="adj" fmla="val 38889"/>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0" name="R4_w136"/>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 I plate now → ✓ I'm plating now.     ✗ What you are doing? → ✓ What are you doing?</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3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38"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39"/>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What's happening?</a:t>
            </a:r>
            <a:endParaRPr lang="en-US" sz="2400" dirty="0"/>
          </a:p>
        </p:txBody>
      </p:sp>
      <p:pic>
        <p:nvPicPr>
          <p:cNvPr id="6" name="brP_140"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141"/>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Put the verbs in the present continuous.</a:t>
            </a:r>
            <a:endParaRPr lang="en-US" sz="1250" dirty="0"/>
          </a:p>
        </p:txBody>
      </p:sp>
      <p:sp>
        <p:nvSpPr>
          <p:cNvPr id="8" name="insIT_14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Metti i verbi al present continuous.</a:t>
            </a:r>
            <a:endParaRPr lang="en-US" sz="950" dirty="0"/>
          </a:p>
        </p:txBody>
      </p:sp>
      <p:sp>
        <p:nvSpPr>
          <p:cNvPr id="9" name="cmd_143"/>
          <p:cNvSpPr/>
          <p:nvPr/>
        </p:nvSpPr>
        <p:spPr>
          <a:xfrm>
            <a:off x="6510528" y="182880"/>
            <a:ext cx="1901952" cy="274320"/>
          </a:xfrm>
          <a:prstGeom prst="roundRect">
            <a:avLst>
              <a:gd name="adj" fmla="val 50000"/>
            </a:avLst>
          </a:prstGeom>
          <a:solidFill>
            <a:srgbClr val="FFFFFF"/>
          </a:solidFill>
          <a:ln w="28575">
            <a:solidFill>
              <a:srgbClr val="CDBFF3"/>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7B5CD6"/>
                </a:solidFill>
                <a:latin typeface="Arial Rounded MT Bold" pitchFamily="34" charset="0"/>
                <a:ea typeface="Arial Rounded MT Bold" pitchFamily="34" charset="-122"/>
                <a:cs typeface="Arial Rounded MT Bold" pitchFamily="34" charset="-120"/>
              </a:rPr>
              <a:t>WRITE</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SCRIVI</a:t>
            </a:r>
            <a:endParaRPr lang="en-US" sz="950" dirty="0"/>
          </a:p>
        </p:txBody>
      </p:sp>
      <p:sp>
        <p:nvSpPr>
          <p:cNvPr id="10" name="meta_144"/>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145"/>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Grammar</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Controlled practice</a:t>
            </a:r>
            <a:endParaRPr lang="en-US" sz="750" dirty="0"/>
          </a:p>
        </p:txBody>
      </p:sp>
      <p:pic>
        <p:nvPicPr>
          <p:cNvPr id="12" name="logo_14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4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GRAMMAR · Practice</a:t>
            </a:r>
            <a:endParaRPr lang="en-US" sz="800" dirty="0"/>
          </a:p>
        </p:txBody>
      </p:sp>
      <p:sp>
        <p:nvSpPr>
          <p:cNvPr id="14" name="bd_148"/>
          <p:cNvSpPr/>
          <p:nvPr/>
        </p:nvSpPr>
        <p:spPr>
          <a:xfrm>
            <a:off x="548640" y="151333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q_149"/>
          <p:cNvSpPr/>
          <p:nvPr/>
        </p:nvSpPr>
        <p:spPr>
          <a:xfrm>
            <a:off x="932688" y="141732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Marco ___ (cook) the fish.</a:t>
            </a:r>
            <a:endParaRPr lang="en-US" sz="1300" dirty="0"/>
          </a:p>
        </p:txBody>
      </p:sp>
      <p:sp>
        <p:nvSpPr>
          <p:cNvPr id="16" name="R1_chip150"/>
          <p:cNvSpPr/>
          <p:nvPr/>
        </p:nvSpPr>
        <p:spPr>
          <a:xfrm>
            <a:off x="4297680" y="141732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is cooking</a:t>
            </a:r>
            <a:endParaRPr lang="en-US" sz="1200" dirty="0"/>
          </a:p>
        </p:txBody>
      </p:sp>
      <p:sp>
        <p:nvSpPr>
          <p:cNvPr id="17" name="bd_151"/>
          <p:cNvSpPr/>
          <p:nvPr/>
        </p:nvSpPr>
        <p:spPr>
          <a:xfrm>
            <a:off x="548640" y="20619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8" name="q_152"/>
          <p:cNvSpPr/>
          <p:nvPr/>
        </p:nvSpPr>
        <p:spPr>
          <a:xfrm>
            <a:off x="932688" y="196596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What ___ you ___ (do)?</a:t>
            </a:r>
            <a:endParaRPr lang="en-US" sz="1300" dirty="0"/>
          </a:p>
        </p:txBody>
      </p:sp>
      <p:sp>
        <p:nvSpPr>
          <p:cNvPr id="19" name="R2_chip153"/>
          <p:cNvSpPr/>
          <p:nvPr/>
        </p:nvSpPr>
        <p:spPr>
          <a:xfrm>
            <a:off x="4297680" y="196596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are … doing</a:t>
            </a:r>
            <a:endParaRPr lang="en-US" sz="1200" dirty="0"/>
          </a:p>
        </p:txBody>
      </p:sp>
      <p:sp>
        <p:nvSpPr>
          <p:cNvPr id="20" name="bd_154"/>
          <p:cNvSpPr/>
          <p:nvPr/>
        </p:nvSpPr>
        <p:spPr>
          <a:xfrm>
            <a:off x="548640" y="26106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1" name="q_155"/>
          <p:cNvSpPr/>
          <p:nvPr/>
        </p:nvSpPr>
        <p:spPr>
          <a:xfrm>
            <a:off x="932688" y="2514600"/>
            <a:ext cx="3291840" cy="502920"/>
          </a:xfrm>
          <a:prstGeom prst="roundRect">
            <a:avLst>
              <a:gd name="adj" fmla="val 1818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We ___ (not wait) for it.</a:t>
            </a:r>
            <a:endParaRPr lang="en-US" sz="1300" dirty="0"/>
          </a:p>
        </p:txBody>
      </p:sp>
      <p:sp>
        <p:nvSpPr>
          <p:cNvPr id="22" name="R3_chip156"/>
          <p:cNvSpPr/>
          <p:nvPr/>
        </p:nvSpPr>
        <p:spPr>
          <a:xfrm>
            <a:off x="4297680" y="251460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aren't waiting</a:t>
            </a:r>
            <a:endParaRPr lang="en-US" sz="1200" dirty="0"/>
          </a:p>
        </p:txBody>
      </p:sp>
      <p:sp>
        <p:nvSpPr>
          <p:cNvPr id="23" name="bd_157"/>
          <p:cNvSpPr/>
          <p:nvPr/>
        </p:nvSpPr>
        <p:spPr>
          <a:xfrm>
            <a:off x="548640" y="315925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4" name="q_158"/>
          <p:cNvSpPr/>
          <p:nvPr/>
        </p:nvSpPr>
        <p:spPr>
          <a:xfrm>
            <a:off x="932688" y="3063240"/>
            <a:ext cx="3291840" cy="502920"/>
          </a:xfrm>
          <a:prstGeom prst="roundRect">
            <a:avLst>
              <a:gd name="adj" fmla="val 1818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___ the soup ___ (boil)?</a:t>
            </a:r>
            <a:endParaRPr lang="en-US" sz="1300" dirty="0"/>
          </a:p>
        </p:txBody>
      </p:sp>
      <p:sp>
        <p:nvSpPr>
          <p:cNvPr id="25" name="R4_chip159"/>
          <p:cNvSpPr/>
          <p:nvPr/>
        </p:nvSpPr>
        <p:spPr>
          <a:xfrm>
            <a:off x="4297680" y="306324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Is … boiling</a:t>
            </a:r>
            <a:endParaRPr lang="en-US" sz="1200" dirty="0"/>
          </a:p>
        </p:txBody>
      </p:sp>
      <p:sp>
        <p:nvSpPr>
          <p:cNvPr id="26" name="bd_160"/>
          <p:cNvSpPr/>
          <p:nvPr/>
        </p:nvSpPr>
        <p:spPr>
          <a:xfrm>
            <a:off x="548640" y="370789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q_161"/>
          <p:cNvSpPr/>
          <p:nvPr/>
        </p:nvSpPr>
        <p:spPr>
          <a:xfrm>
            <a:off x="932688" y="361188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I ___ (plate) table 6!</a:t>
            </a:r>
            <a:endParaRPr lang="en-US" sz="1300" dirty="0"/>
          </a:p>
        </p:txBody>
      </p:sp>
      <p:sp>
        <p:nvSpPr>
          <p:cNvPr id="28" name="R5_chip162"/>
          <p:cNvSpPr/>
          <p:nvPr/>
        </p:nvSpPr>
        <p:spPr>
          <a:xfrm>
            <a:off x="4297680" y="361188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 plating</a:t>
            </a:r>
            <a:endParaRPr lang="en-US" sz="1200" dirty="0"/>
          </a:p>
        </p:txBody>
      </p:sp>
      <p:sp>
        <p:nvSpPr>
          <p:cNvPr id="29" name="bd_163"/>
          <p:cNvSpPr/>
          <p:nvPr/>
        </p:nvSpPr>
        <p:spPr>
          <a:xfrm>
            <a:off x="548640" y="42565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q_164"/>
          <p:cNvSpPr/>
          <p:nvPr/>
        </p:nvSpPr>
        <p:spPr>
          <a:xfrm>
            <a:off x="932688" y="416052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They ___ (eat) dessert.</a:t>
            </a:r>
            <a:endParaRPr lang="en-US" sz="1300" dirty="0"/>
          </a:p>
        </p:txBody>
      </p:sp>
      <p:sp>
        <p:nvSpPr>
          <p:cNvPr id="31" name="R6_chip165"/>
          <p:cNvSpPr/>
          <p:nvPr/>
        </p:nvSpPr>
        <p:spPr>
          <a:xfrm>
            <a:off x="4297680" y="4160520"/>
            <a:ext cx="4480560" cy="502920"/>
          </a:xfrm>
          <a:prstGeom prst="roundRect">
            <a:avLst>
              <a:gd name="adj" fmla="val 1818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are eating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67"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68"/>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Saturday, 9 p.m.</a:t>
            </a:r>
            <a:endParaRPr lang="en-US" sz="2500" dirty="0"/>
          </a:p>
        </p:txBody>
      </p:sp>
      <p:pic>
        <p:nvPicPr>
          <p:cNvPr id="6" name="brP_169"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70"/>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What's happening in the kitchen?</a:t>
            </a:r>
            <a:endParaRPr lang="en-US" sz="1250" dirty="0"/>
          </a:p>
        </p:txBody>
      </p:sp>
      <p:sp>
        <p:nvSpPr>
          <p:cNvPr id="8" name="insIT_17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Cosa succede in cucina?</a:t>
            </a:r>
            <a:endParaRPr lang="en-US" sz="950" dirty="0"/>
          </a:p>
        </p:txBody>
      </p:sp>
      <p:sp>
        <p:nvSpPr>
          <p:cNvPr id="9" name="cmd_172"/>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meta_173"/>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6 min   👤 alone</a:t>
            </a:r>
            <a:endParaRPr lang="en-US" sz="950" dirty="0"/>
          </a:p>
        </p:txBody>
      </p:sp>
      <p:sp>
        <p:nvSpPr>
          <p:cNvPr id="11" name="tag_174"/>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17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7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READING · A busy night</a:t>
            </a:r>
            <a:endParaRPr lang="en-US" sz="800" dirty="0"/>
          </a:p>
        </p:txBody>
      </p:sp>
      <p:sp>
        <p:nvSpPr>
          <p:cNvPr id="14" name="cd_177"/>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178"/>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 Saturday night</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It's 9 p.m. and the restaurant is full. Marco is cooking six steaks on the grill and Anna is plating the starters for table 12. The KP is washing glasses as fast as he can. Table 4 is waiting for their mains – they're getting angry. The head chef is shouting 'How long on table 4?' and Marco answers 'Two minutes, Chef!' Outside, it's raining and more customers are arriving.</a:t>
            </a:r>
            <a:endParaRPr lang="en-US" sz="1500" dirty="0"/>
          </a:p>
        </p:txBody>
      </p:sp>
      <p:sp>
        <p:nvSpPr>
          <p:cNvPr id="16" name="bd_179"/>
          <p:cNvSpPr/>
          <p:nvPr/>
        </p:nvSpPr>
        <p:spPr>
          <a:xfrm>
            <a:off x="6172200" y="1427836"/>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1</a:t>
            </a:r>
            <a:endParaRPr lang="en-US" sz="900" dirty="0"/>
          </a:p>
        </p:txBody>
      </p:sp>
      <p:sp>
        <p:nvSpPr>
          <p:cNvPr id="17" name="rq_180"/>
          <p:cNvSpPr/>
          <p:nvPr/>
        </p:nvSpPr>
        <p:spPr>
          <a:xfrm>
            <a:off x="6492240" y="1417320"/>
            <a:ext cx="2423160" cy="295351"/>
          </a:xfrm>
          <a:prstGeom prst="roundRect">
            <a:avLst>
              <a:gd name="adj" fmla="val 24768"/>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What's Marco doing?</a:t>
            </a:r>
            <a:endParaRPr lang="en-US" sz="1050" dirty="0"/>
          </a:p>
        </p:txBody>
      </p:sp>
      <p:sp>
        <p:nvSpPr>
          <p:cNvPr id="18" name="R1_chip181"/>
          <p:cNvSpPr/>
          <p:nvPr/>
        </p:nvSpPr>
        <p:spPr>
          <a:xfrm>
            <a:off x="6492240" y="1740103"/>
            <a:ext cx="2423160" cy="267919"/>
          </a:xfrm>
          <a:prstGeom prst="roundRect">
            <a:avLst>
              <a:gd name="adj" fmla="val 3413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cooking six steaks</a:t>
            </a:r>
            <a:endParaRPr lang="en-US" sz="1050" dirty="0"/>
          </a:p>
        </p:txBody>
      </p:sp>
      <p:sp>
        <p:nvSpPr>
          <p:cNvPr id="19" name="bd_182"/>
          <p:cNvSpPr/>
          <p:nvPr/>
        </p:nvSpPr>
        <p:spPr>
          <a:xfrm>
            <a:off x="6172200" y="2109978"/>
            <a:ext cx="274320" cy="27432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2</a:t>
            </a:r>
            <a:endParaRPr lang="en-US" sz="900" dirty="0"/>
          </a:p>
        </p:txBody>
      </p:sp>
      <p:sp>
        <p:nvSpPr>
          <p:cNvPr id="20" name="rq_183"/>
          <p:cNvSpPr/>
          <p:nvPr/>
        </p:nvSpPr>
        <p:spPr>
          <a:xfrm>
            <a:off x="6492240" y="2099462"/>
            <a:ext cx="2423160" cy="295351"/>
          </a:xfrm>
          <a:prstGeom prst="roundRect">
            <a:avLst>
              <a:gd name="adj" fmla="val 24768"/>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Who's plating the starters?</a:t>
            </a:r>
            <a:endParaRPr lang="en-US" sz="1050" dirty="0"/>
          </a:p>
        </p:txBody>
      </p:sp>
      <p:sp>
        <p:nvSpPr>
          <p:cNvPr id="21" name="R2_chip184"/>
          <p:cNvSpPr/>
          <p:nvPr/>
        </p:nvSpPr>
        <p:spPr>
          <a:xfrm>
            <a:off x="6492240" y="2422246"/>
            <a:ext cx="2423160" cy="267919"/>
          </a:xfrm>
          <a:prstGeom prst="roundRect">
            <a:avLst>
              <a:gd name="adj" fmla="val 3413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Anna</a:t>
            </a:r>
            <a:endParaRPr lang="en-US" sz="1050" dirty="0"/>
          </a:p>
        </p:txBody>
      </p:sp>
      <p:sp>
        <p:nvSpPr>
          <p:cNvPr id="22" name="bd_185"/>
          <p:cNvSpPr/>
          <p:nvPr/>
        </p:nvSpPr>
        <p:spPr>
          <a:xfrm>
            <a:off x="6172200" y="2792120"/>
            <a:ext cx="274320" cy="27432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3</a:t>
            </a:r>
            <a:endParaRPr lang="en-US" sz="900" dirty="0"/>
          </a:p>
        </p:txBody>
      </p:sp>
      <p:sp>
        <p:nvSpPr>
          <p:cNvPr id="23" name="rq_186"/>
          <p:cNvSpPr/>
          <p:nvPr/>
        </p:nvSpPr>
        <p:spPr>
          <a:xfrm>
            <a:off x="6492240" y="2781605"/>
            <a:ext cx="2423160" cy="295351"/>
          </a:xfrm>
          <a:prstGeom prst="roundRect">
            <a:avLst>
              <a:gd name="adj" fmla="val 24768"/>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Why is table 4 angry?</a:t>
            </a:r>
            <a:endParaRPr lang="en-US" sz="1050" dirty="0"/>
          </a:p>
        </p:txBody>
      </p:sp>
      <p:sp>
        <p:nvSpPr>
          <p:cNvPr id="24" name="R3_chip187"/>
          <p:cNvSpPr/>
          <p:nvPr/>
        </p:nvSpPr>
        <p:spPr>
          <a:xfrm>
            <a:off x="6492240" y="3104388"/>
            <a:ext cx="2423160" cy="267919"/>
          </a:xfrm>
          <a:prstGeom prst="roundRect">
            <a:avLst>
              <a:gd name="adj" fmla="val 3413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waiting for their mains</a:t>
            </a:r>
            <a:endParaRPr lang="en-US" sz="1050" dirty="0"/>
          </a:p>
        </p:txBody>
      </p:sp>
      <p:sp>
        <p:nvSpPr>
          <p:cNvPr id="25" name="bd_188"/>
          <p:cNvSpPr/>
          <p:nvPr/>
        </p:nvSpPr>
        <p:spPr>
          <a:xfrm>
            <a:off x="6172200" y="3474263"/>
            <a:ext cx="274320" cy="274320"/>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4</a:t>
            </a:r>
            <a:endParaRPr lang="en-US" sz="900" dirty="0"/>
          </a:p>
        </p:txBody>
      </p:sp>
      <p:sp>
        <p:nvSpPr>
          <p:cNvPr id="26" name="rq_189"/>
          <p:cNvSpPr/>
          <p:nvPr/>
        </p:nvSpPr>
        <p:spPr>
          <a:xfrm>
            <a:off x="6492240" y="3463747"/>
            <a:ext cx="2423160" cy="295351"/>
          </a:xfrm>
          <a:prstGeom prst="roundRect">
            <a:avLst>
              <a:gd name="adj" fmla="val 24768"/>
            </a:avLst>
          </a:prstGeom>
          <a:solidFill>
            <a:srgbClr val="FFFFFF"/>
          </a:solidFill>
          <a:ln w="28575">
            <a:solidFill>
              <a:srgbClr val="FFE07A"/>
            </a:solidFill>
          </a:ln>
        </p:spPr>
        <p:txBody>
          <a:bodyPr wrap="square" lIns="76200" tIns="0" rIns="762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What's the weather like?</a:t>
            </a:r>
            <a:endParaRPr lang="en-US" sz="1050" dirty="0"/>
          </a:p>
        </p:txBody>
      </p:sp>
      <p:sp>
        <p:nvSpPr>
          <p:cNvPr id="27" name="R4_chip190"/>
          <p:cNvSpPr/>
          <p:nvPr/>
        </p:nvSpPr>
        <p:spPr>
          <a:xfrm>
            <a:off x="6492240" y="3786530"/>
            <a:ext cx="2423160" cy="267919"/>
          </a:xfrm>
          <a:prstGeom prst="roundRect">
            <a:avLst>
              <a:gd name="adj" fmla="val 3413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it's raining</a:t>
            </a:r>
            <a:endParaRPr lang="en-US" sz="1050" dirty="0"/>
          </a:p>
        </p:txBody>
      </p:sp>
      <p:sp>
        <p:nvSpPr>
          <p:cNvPr id="28" name="bd_191"/>
          <p:cNvSpPr/>
          <p:nvPr/>
        </p:nvSpPr>
        <p:spPr>
          <a:xfrm>
            <a:off x="6172200" y="4156405"/>
            <a:ext cx="274320" cy="27432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900" dirty="0">
                <a:solidFill>
                  <a:srgbClr val="FFFFFF"/>
                </a:solidFill>
                <a:latin typeface="Arial Rounded MT Bold" pitchFamily="34" charset="0"/>
                <a:ea typeface="Arial Rounded MT Bold" pitchFamily="34" charset="-122"/>
                <a:cs typeface="Arial Rounded MT Bold" pitchFamily="34" charset="-120"/>
              </a:rPr>
              <a:t>5</a:t>
            </a:r>
            <a:endParaRPr lang="en-US" sz="900" dirty="0"/>
          </a:p>
        </p:txBody>
      </p:sp>
      <p:sp>
        <p:nvSpPr>
          <p:cNvPr id="29" name="rq_192"/>
          <p:cNvSpPr/>
          <p:nvPr/>
        </p:nvSpPr>
        <p:spPr>
          <a:xfrm>
            <a:off x="6492240" y="4145890"/>
            <a:ext cx="2423160" cy="295351"/>
          </a:xfrm>
          <a:prstGeom prst="roundRect">
            <a:avLst>
              <a:gd name="adj" fmla="val 24768"/>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1050" b="1" dirty="0">
                <a:solidFill>
                  <a:srgbClr val="1B2559"/>
                </a:solidFill>
                <a:latin typeface="Segoe UI Semibold" pitchFamily="34" charset="0"/>
                <a:ea typeface="Segoe UI Semibold" pitchFamily="34" charset="-122"/>
                <a:cs typeface="Segoe UI Semibold" pitchFamily="34" charset="-120"/>
              </a:rPr>
              <a:t>Is the restaurant quiet?</a:t>
            </a:r>
            <a:endParaRPr lang="en-US" sz="1050" dirty="0"/>
          </a:p>
        </p:txBody>
      </p:sp>
      <p:sp>
        <p:nvSpPr>
          <p:cNvPr id="30" name="R5_chip193"/>
          <p:cNvSpPr/>
          <p:nvPr/>
        </p:nvSpPr>
        <p:spPr>
          <a:xfrm>
            <a:off x="6492240" y="4468673"/>
            <a:ext cx="2423160" cy="267919"/>
          </a:xfrm>
          <a:prstGeom prst="roundRect">
            <a:avLst>
              <a:gd name="adj" fmla="val 3413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No – it's full</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195"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196"/>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Chef v waiter</a:t>
            </a:r>
            <a:endParaRPr lang="en-US" sz="2500" dirty="0"/>
          </a:p>
        </p:txBody>
      </p:sp>
      <p:pic>
        <p:nvPicPr>
          <p:cNvPr id="6" name="brP_19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9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Read. Then do it again – the waiter is angry, the chef is busy!</a:t>
            </a:r>
            <a:endParaRPr lang="en-US" sz="1200" dirty="0"/>
          </a:p>
        </p:txBody>
      </p:sp>
      <p:sp>
        <p:nvSpPr>
          <p:cNvPr id="8" name="insIT_19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Leggete. Poi rifatelo – cameriere arrabbiato, chef impegnato!</a:t>
            </a:r>
            <a:endParaRPr lang="en-US" sz="950" dirty="0"/>
          </a:p>
        </p:txBody>
      </p:sp>
      <p:sp>
        <p:nvSpPr>
          <p:cNvPr id="9" name="cmd_200"/>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201"/>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7 min   👥 pairs</a:t>
            </a:r>
            <a:endParaRPr lang="en-US" sz="950" dirty="0"/>
          </a:p>
        </p:txBody>
      </p:sp>
      <p:sp>
        <p:nvSpPr>
          <p:cNvPr id="11" name="tag_202"/>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Guided discovery</a:t>
            </a:r>
            <a:endParaRPr lang="en-US" sz="750" dirty="0"/>
          </a:p>
        </p:txBody>
      </p:sp>
      <p:pic>
        <p:nvPicPr>
          <p:cNvPr id="12" name="logo_20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SPEAKING · Two perspectives</a:t>
            </a:r>
            <a:endParaRPr lang="en-US" sz="800" dirty="0"/>
          </a:p>
        </p:txBody>
      </p:sp>
      <p:sp>
        <p:nvSpPr>
          <p:cNvPr id="14" name="cd_205"/>
          <p:cNvSpPr/>
          <p:nvPr/>
        </p:nvSpPr>
        <p:spPr>
          <a:xfrm>
            <a:off x="320040" y="1417320"/>
            <a:ext cx="2606040" cy="2069592"/>
          </a:xfrm>
          <a:prstGeom prst="roundRect">
            <a:avLst>
              <a:gd name="adj" fmla="val 618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0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07"/>
          <p:cNvSpPr/>
          <p:nvPr/>
        </p:nvSpPr>
        <p:spPr>
          <a:xfrm>
            <a:off x="8869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208"/>
          <p:cNvSpPr/>
          <p:nvPr/>
        </p:nvSpPr>
        <p:spPr>
          <a:xfrm>
            <a:off x="886968" y="1911096"/>
            <a:ext cx="1947672" cy="15026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They're waiting for…</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I'm doing it now!</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Nearly there!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Calm down, please.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Sorry about the wait.</a:t>
            </a:r>
            <a:endParaRPr lang="en-US" sz="1200" dirty="0"/>
          </a:p>
        </p:txBody>
      </p:sp>
      <p:sp>
        <p:nvSpPr>
          <p:cNvPr id="18" name="who_209"/>
          <p:cNvSpPr/>
          <p:nvPr/>
        </p:nvSpPr>
        <p:spPr>
          <a:xfrm>
            <a:off x="3108960" y="1463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Waiter</a:t>
            </a:r>
            <a:endParaRPr lang="en-US" sz="950" dirty="0"/>
          </a:p>
        </p:txBody>
      </p:sp>
      <p:sp>
        <p:nvSpPr>
          <p:cNvPr id="19" name="sl_210"/>
          <p:cNvSpPr/>
          <p:nvPr/>
        </p:nvSpPr>
        <p:spPr>
          <a:xfrm>
            <a:off x="4114800" y="1444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Chef, table 7 is waiting. They're getting angry!</a:t>
            </a:r>
            <a:endParaRPr lang="en-US" sz="1150" dirty="0"/>
          </a:p>
        </p:txBody>
      </p:sp>
      <p:sp>
        <p:nvSpPr>
          <p:cNvPr id="20" name="who_211"/>
          <p:cNvSpPr/>
          <p:nvPr/>
        </p:nvSpPr>
        <p:spPr>
          <a:xfrm>
            <a:off x="3108960" y="19202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Chef</a:t>
            </a:r>
            <a:endParaRPr lang="en-US" sz="950" dirty="0"/>
          </a:p>
        </p:txBody>
      </p:sp>
      <p:sp>
        <p:nvSpPr>
          <p:cNvPr id="21" name="sl_212"/>
          <p:cNvSpPr/>
          <p:nvPr/>
        </p:nvSpPr>
        <p:spPr>
          <a:xfrm>
            <a:off x="4114800" y="19019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know! I'm cooking their steaks now.</a:t>
            </a:r>
            <a:endParaRPr lang="en-US" sz="1150" dirty="0"/>
          </a:p>
        </p:txBody>
      </p:sp>
      <p:sp>
        <p:nvSpPr>
          <p:cNvPr id="22" name="who_213"/>
          <p:cNvSpPr/>
          <p:nvPr/>
        </p:nvSpPr>
        <p:spPr>
          <a:xfrm>
            <a:off x="3108960" y="23774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Waiter</a:t>
            </a:r>
            <a:endParaRPr lang="en-US" sz="950" dirty="0"/>
          </a:p>
        </p:txBody>
      </p:sp>
      <p:sp>
        <p:nvSpPr>
          <p:cNvPr id="23" name="sl_214"/>
          <p:cNvSpPr/>
          <p:nvPr/>
        </p:nvSpPr>
        <p:spPr>
          <a:xfrm>
            <a:off x="4114800" y="23591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How long?</a:t>
            </a:r>
            <a:endParaRPr lang="en-US" sz="1150" dirty="0"/>
          </a:p>
        </p:txBody>
      </p:sp>
      <p:sp>
        <p:nvSpPr>
          <p:cNvPr id="24" name="who_215"/>
          <p:cNvSpPr/>
          <p:nvPr/>
        </p:nvSpPr>
        <p:spPr>
          <a:xfrm>
            <a:off x="3108960" y="28346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Chef</a:t>
            </a:r>
            <a:endParaRPr lang="en-US" sz="950" dirty="0"/>
          </a:p>
        </p:txBody>
      </p:sp>
      <p:sp>
        <p:nvSpPr>
          <p:cNvPr id="25" name="sl_216"/>
          <p:cNvSpPr/>
          <p:nvPr/>
        </p:nvSpPr>
        <p:spPr>
          <a:xfrm>
            <a:off x="4114800" y="28163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Three minutes. Is table 7 having dessert too?</a:t>
            </a:r>
            <a:endParaRPr lang="en-US" sz="1150" dirty="0"/>
          </a:p>
        </p:txBody>
      </p:sp>
      <p:sp>
        <p:nvSpPr>
          <p:cNvPr id="26" name="who_217"/>
          <p:cNvSpPr/>
          <p:nvPr/>
        </p:nvSpPr>
        <p:spPr>
          <a:xfrm>
            <a:off x="3108960" y="32918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Waiter</a:t>
            </a:r>
            <a:endParaRPr lang="en-US" sz="950" dirty="0"/>
          </a:p>
        </p:txBody>
      </p:sp>
      <p:sp>
        <p:nvSpPr>
          <p:cNvPr id="27" name="sl_218"/>
          <p:cNvSpPr/>
          <p:nvPr/>
        </p:nvSpPr>
        <p:spPr>
          <a:xfrm>
            <a:off x="4114800" y="32735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Yes. And table 2 is asking for more bread.</a:t>
            </a:r>
            <a:endParaRPr lang="en-US" sz="1150" dirty="0"/>
          </a:p>
        </p:txBody>
      </p:sp>
      <p:sp>
        <p:nvSpPr>
          <p:cNvPr id="28" name="who_219"/>
          <p:cNvSpPr/>
          <p:nvPr/>
        </p:nvSpPr>
        <p:spPr>
          <a:xfrm>
            <a:off x="3108960" y="3749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Chef</a:t>
            </a:r>
            <a:endParaRPr lang="en-US" sz="950" dirty="0"/>
          </a:p>
        </p:txBody>
      </p:sp>
      <p:sp>
        <p:nvSpPr>
          <p:cNvPr id="29" name="sl_220"/>
          <p:cNvSpPr/>
          <p:nvPr/>
        </p:nvSpPr>
        <p:spPr>
          <a:xfrm>
            <a:off x="4114800" y="3730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Heard. Marco's cutting it now.</a:t>
            </a:r>
            <a:endParaRPr lang="en-US" sz="11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22"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23"/>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Service simulation</a:t>
            </a:r>
            <a:endParaRPr lang="en-US" sz="2500" dirty="0"/>
          </a:p>
        </p:txBody>
      </p:sp>
      <p:pic>
        <p:nvPicPr>
          <p:cNvPr id="6" name="brP_224"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225"/>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The teacher calls the orders. Chefs respond!</a:t>
            </a:r>
            <a:endParaRPr lang="en-US" sz="1250" dirty="0"/>
          </a:p>
        </p:txBody>
      </p:sp>
      <p:sp>
        <p:nvSpPr>
          <p:cNvPr id="8" name="insIT_2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L'insegnante chiama gli ordini. Gli chef rispondono!</a:t>
            </a:r>
            <a:endParaRPr lang="en-US" sz="950" dirty="0"/>
          </a:p>
        </p:txBody>
      </p:sp>
      <p:sp>
        <p:nvSpPr>
          <p:cNvPr id="9" name="cmd_227"/>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PLAY</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GIOCA</a:t>
            </a:r>
            <a:endParaRPr lang="en-US" sz="950" dirty="0"/>
          </a:p>
        </p:txBody>
      </p:sp>
      <p:sp>
        <p:nvSpPr>
          <p:cNvPr id="10" name="meta_22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10 min   🏆 teams</a:t>
            </a:r>
            <a:endParaRPr lang="en-US" sz="950" dirty="0"/>
          </a:p>
        </p:txBody>
      </p:sp>
      <p:sp>
        <p:nvSpPr>
          <p:cNvPr id="11" name="tag_22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23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3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GAME · Simulation</a:t>
            </a:r>
            <a:endParaRPr lang="en-US" sz="800" dirty="0"/>
          </a:p>
        </p:txBody>
      </p:sp>
      <p:sp>
        <p:nvSpPr>
          <p:cNvPr id="14" name="R1_qb232"/>
          <p:cNvSpPr/>
          <p:nvPr/>
        </p:nvSpPr>
        <p:spPr>
          <a:xfrm>
            <a:off x="57607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5" name="R1_sq233"/>
          <p:cNvSpPr/>
          <p:nvPr/>
        </p:nvSpPr>
        <p:spPr>
          <a:xfrm>
            <a:off x="978408" y="1417320"/>
            <a:ext cx="789127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Teacher (head chef): Order in! Table 5: two risotto, one steak medium rare!</a:t>
            </a:r>
            <a:endParaRPr lang="en-US" sz="1400" dirty="0"/>
          </a:p>
        </p:txBody>
      </p:sp>
      <p:sp>
        <p:nvSpPr>
          <p:cNvPr id="16" name="R2_qb234"/>
          <p:cNvSpPr/>
          <p:nvPr/>
        </p:nvSpPr>
        <p:spPr>
          <a:xfrm>
            <a:off x="57607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7" name="R2_sq235"/>
          <p:cNvSpPr/>
          <p:nvPr/>
        </p:nvSpPr>
        <p:spPr>
          <a:xfrm>
            <a:off x="978408" y="2020824"/>
            <a:ext cx="789127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Chefs: Heard, Chef! – then say what they are doing: I'm cooking the steak.</a:t>
            </a:r>
            <a:endParaRPr lang="en-US" sz="1400" dirty="0"/>
          </a:p>
        </p:txBody>
      </p:sp>
      <p:sp>
        <p:nvSpPr>
          <p:cNvPr id="18" name="R3_qb236"/>
          <p:cNvSpPr/>
          <p:nvPr/>
        </p:nvSpPr>
        <p:spPr>
          <a:xfrm>
            <a:off x="57607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19" name="R3_sq237"/>
          <p:cNvSpPr/>
          <p:nvPr/>
        </p:nvSpPr>
        <p:spPr>
          <a:xfrm>
            <a:off x="978408" y="2624328"/>
            <a:ext cx="789127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Teacher: How long on table 5? – Three minutes, Chef!</a:t>
            </a:r>
            <a:endParaRPr lang="en-US" sz="1400" dirty="0"/>
          </a:p>
        </p:txBody>
      </p:sp>
      <p:sp>
        <p:nvSpPr>
          <p:cNvPr id="20" name="R4_qb238"/>
          <p:cNvSpPr/>
          <p:nvPr/>
        </p:nvSpPr>
        <p:spPr>
          <a:xfrm>
            <a:off x="57607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1" name="R4_sq239"/>
          <p:cNvSpPr/>
          <p:nvPr/>
        </p:nvSpPr>
        <p:spPr>
          <a:xfrm>
            <a:off x="978408" y="3227832"/>
            <a:ext cx="789127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Service, please! – Away! Faster every round. Then a chef is the head chef!</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4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24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243" descr="/home/claude/lls-course/v2/assets/brush-pink.png">    </p:cNvPr>
          <p:cNvPicPr>
            <a:picLocks noChangeAspect="1"/>
          </p:cNvPicPr>
          <p:nvPr/>
        </p:nvPicPr>
        <p:blipFill>
          <a:blip r:embed="rId3"/>
          <a:stretch>
            <a:fillRect/>
          </a:stretch>
        </p:blipFill>
        <p:spPr>
          <a:xfrm>
            <a:off x="1207008" y="731520"/>
            <a:ext cx="2295144" cy="402336"/>
          </a:xfrm>
          <a:prstGeom prst="rect">
            <a:avLst/>
          </a:prstGeom>
        </p:spPr>
      </p:pic>
      <p:sp>
        <p:nvSpPr>
          <p:cNvPr id="7" name="ins_244"/>
          <p:cNvSpPr/>
          <p:nvPr/>
        </p:nvSpPr>
        <p:spPr>
          <a:xfrm>
            <a:off x="1353312" y="731520"/>
            <a:ext cx="20391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your partner…</a:t>
            </a:r>
            <a:endParaRPr lang="en-US" sz="1250" dirty="0"/>
          </a:p>
        </p:txBody>
      </p:sp>
      <p:sp>
        <p:nvSpPr>
          <p:cNvPr id="8" name="insIT_2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al collega…</a:t>
            </a:r>
            <a:endParaRPr lang="en-US" sz="950" dirty="0"/>
          </a:p>
        </p:txBody>
      </p:sp>
      <p:sp>
        <p:nvSpPr>
          <p:cNvPr id="9" name="meta_246"/>
          <p:cNvSpPr/>
          <p:nvPr/>
        </p:nvSpPr>
        <p:spPr>
          <a:xfrm>
            <a:off x="6510528" y="18288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0" name="tag_247"/>
          <p:cNvSpPr/>
          <p:nvPr/>
        </p:nvSpPr>
        <p:spPr>
          <a:xfrm>
            <a:off x="6510528" y="54864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Retrieval</a:t>
            </a:r>
            <a:endParaRPr lang="en-US" sz="950" dirty="0"/>
          </a:p>
        </p:txBody>
      </p:sp>
      <p:pic>
        <p:nvPicPr>
          <p:cNvPr id="11" name="logo_2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2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Exit · what can you remember?</a:t>
            </a:r>
            <a:endParaRPr lang="en-US" sz="800" dirty="0"/>
          </a:p>
        </p:txBody>
      </p:sp>
      <p:sp>
        <p:nvSpPr>
          <p:cNvPr id="13" name="bd_250"/>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251"/>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new words from today.</a:t>
            </a:r>
            <a:endParaRPr lang="en-US" sz="1400" dirty="0"/>
          </a:p>
        </p:txBody>
      </p:sp>
      <p:sp>
        <p:nvSpPr>
          <p:cNvPr id="15" name="bd_252"/>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253"/>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sentences with today's grammar.</a:t>
            </a:r>
            <a:endParaRPr lang="en-US" sz="1400" dirty="0"/>
          </a:p>
        </p:txBody>
      </p:sp>
      <p:sp>
        <p:nvSpPr>
          <p:cNvPr id="17" name="bd_254"/>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255"/>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you'll say at work this week.</a:t>
            </a:r>
            <a:endParaRPr lang="en-US" sz="1400" dirty="0"/>
          </a:p>
        </p:txBody>
      </p:sp>
      <p:sp>
        <p:nvSpPr>
          <p:cNvPr id="19" name="cd_256"/>
          <p:cNvSpPr/>
          <p:nvPr/>
        </p:nvSpPr>
        <p:spPr>
          <a:xfrm>
            <a:off x="5669280" y="1417320"/>
            <a:ext cx="3200400" cy="1069848"/>
          </a:xfrm>
          <a:prstGeom prst="roundRect">
            <a:avLst>
              <a:gd name="adj" fmla="val 11966"/>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257"/>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258"/>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259"/>
          <p:cNvSpPr/>
          <p:nvPr/>
        </p:nvSpPr>
        <p:spPr>
          <a:xfrm>
            <a:off x="6236208" y="1911096"/>
            <a:ext cx="2542032" cy="50292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Write the calls for a busy service at your restaurant: 8 calls with answers.</a:t>
            </a:r>
            <a:endParaRPr lang="en-US" sz="1000" dirty="0"/>
          </a:p>
        </p:txBody>
      </p:sp>
      <p:sp>
        <p:nvSpPr>
          <p:cNvPr id="23" name="st_260"/>
          <p:cNvSpPr/>
          <p:nvPr/>
        </p:nvSpPr>
        <p:spPr>
          <a:xfrm rot="-180000">
            <a:off x="5806440" y="2715768"/>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L10 · Problems &amp; the final shift</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262"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263"/>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264"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265"/>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26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267"/>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950" dirty="0">
                <a:solidFill>
                  <a:srgbClr val="000000"/>
                </a:solidFill>
              </a:rPr>
              <a:t>💡 </a:t>
            </a:r>
            <a:pPr algn="ct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algn="ct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268"/>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269"/>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Reflection</a:t>
            </a:r>
            <a:endParaRPr lang="en-US" sz="950" dirty="0"/>
          </a:p>
        </p:txBody>
      </p:sp>
      <p:pic>
        <p:nvPicPr>
          <p:cNvPr id="12" name="logo_27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Review · what did you do today?</a:t>
            </a:r>
            <a:endParaRPr lang="en-US" sz="800" dirty="0"/>
          </a:p>
        </p:txBody>
      </p:sp>
      <p:sp>
        <p:nvSpPr>
          <p:cNvPr id="14" name="cd_272"/>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5" name="te_273"/>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274"/>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calls on the pass</a:t>
            </a:r>
            <a:endParaRPr lang="en-US" sz="1350" dirty="0"/>
          </a:p>
        </p:txBody>
      </p:sp>
      <p:sp>
        <p:nvSpPr>
          <p:cNvPr id="17" name="R1_tk275"/>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276"/>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9" name="te_277"/>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278"/>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present continuous</a:t>
            </a:r>
            <a:endParaRPr lang="en-US" sz="1350" dirty="0"/>
          </a:p>
        </p:txBody>
      </p:sp>
      <p:sp>
        <p:nvSpPr>
          <p:cNvPr id="21" name="R2_tk279"/>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280"/>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3" name="te_281"/>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282"/>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speaking: a busy service</a:t>
            </a:r>
            <a:endParaRPr lang="en-US" sz="1350" dirty="0"/>
          </a:p>
        </p:txBody>
      </p:sp>
      <p:sp>
        <p:nvSpPr>
          <p:cNvPr id="25" name="R3_tk283"/>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st_284"/>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285"/>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286"/>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287"/>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288"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290"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291"/>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A busy service goes wrong</a:t>
            </a:r>
            <a:endParaRPr lang="en-US" sz="2400" dirty="0"/>
          </a:p>
        </p:txBody>
      </p:sp>
      <p:pic>
        <p:nvPicPr>
          <p:cNvPr id="6" name="brP_292"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93"/>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a short part. What is going wrong?</a:t>
            </a:r>
            <a:endParaRPr lang="en-US" sz="1250" dirty="0"/>
          </a:p>
        </p:txBody>
      </p:sp>
      <p:sp>
        <p:nvSpPr>
          <p:cNvPr id="8" name="insIT_29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una parte. Cosa va storto?</a:t>
            </a:r>
            <a:endParaRPr lang="en-US" sz="950" dirty="0"/>
          </a:p>
        </p:txBody>
      </p:sp>
      <p:sp>
        <p:nvSpPr>
          <p:cNvPr id="9" name="cmd_295"/>
          <p:cNvSpPr/>
          <p:nvPr/>
        </p:nvSpPr>
        <p:spPr>
          <a:xfrm>
            <a:off x="6510528" y="182880"/>
            <a:ext cx="1901952" cy="274320"/>
          </a:xfrm>
          <a:prstGeom prst="roundRect">
            <a:avLst>
              <a:gd name="adj" fmla="val 50000"/>
            </a:avLst>
          </a:prstGeom>
          <a:solidFill>
            <a:srgbClr val="FFFFFF"/>
          </a:solidFill>
          <a:ln w="28575">
            <a:solidFill>
              <a:srgbClr val="CDBFF3"/>
            </a:solidFill>
          </a:ln>
          <a:effectLst>
            <a:outerShdw sx="100000" sy="100000" kx="0" ky="0" algn="bl" rotWithShape="0" blurRad="88900" dist="31750" dir="5400000">
              <a:srgbClr val="1B2559">
                <a:alpha val="8000"/>
              </a:srgbClr>
            </a:outerShdw>
          </a:effectLst>
        </p:spPr>
        <p:txBody>
          <a:bodyPr wrap="square" lIns="76200" tIns="0" rIns="76200" bIns="0" rtlCol="0" anchor="ctr">
            <a:normAutofit/>
          </a:bodyPr>
          <a:lstStyle/>
          <a:p>
            <a:pPr algn="ctr" indent="0" marL="0">
              <a:buNone/>
            </a:pPr>
            <a:r>
              <a:rPr lang="en-US" sz="800" dirty="0">
                <a:solidFill>
                  <a:srgbClr val="000000"/>
                </a:solidFill>
              </a:rPr>
              <a:t>🎬 </a:t>
            </a:r>
            <a:pPr algn="ctr" indent="0" marL="0">
              <a:buNone/>
            </a:pPr>
            <a:r>
              <a:rPr lang="en-US" sz="800" dirty="0">
                <a:solidFill>
                  <a:srgbClr val="7B5CD6"/>
                </a:solidFill>
                <a:latin typeface="Arial Rounded MT Bold" pitchFamily="34" charset="0"/>
                <a:ea typeface="Arial Rounded MT Bold" pitchFamily="34" charset="-122"/>
                <a:cs typeface="Arial Rounded MT Bold" pitchFamily="34" charset="-120"/>
              </a:rPr>
              <a:t>WATCH</a:t>
            </a:r>
            <a:pPr algn="ctr" indent="0" marL="0">
              <a:buNone/>
            </a:pPr>
            <a:r>
              <a:rPr lang="en-US" sz="800" dirty="0">
                <a:solidFill>
                  <a:srgbClr val="5B6785"/>
                </a:solidFill>
                <a:latin typeface="Segoe UI Semibold" pitchFamily="34" charset="0"/>
                <a:ea typeface="Segoe UI Semibold" pitchFamily="34" charset="-122"/>
                <a:cs typeface="Segoe UI Semibold" pitchFamily="34" charset="-120"/>
              </a:rPr>
              <a:t>  GUARDA IL VIDEO</a:t>
            </a:r>
            <a:endParaRPr lang="en-US" sz="800" dirty="0"/>
          </a:p>
        </p:txBody>
      </p:sp>
      <p:sp>
        <p:nvSpPr>
          <p:cNvPr id="10" name="meta_296"/>
          <p:cNvSpPr/>
          <p:nvPr/>
        </p:nvSpPr>
        <p:spPr>
          <a:xfrm>
            <a:off x="6510528" y="54864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10 min   🙋 whole class</a:t>
            </a:r>
            <a:endParaRPr lang="en-US" sz="950" dirty="0"/>
          </a:p>
        </p:txBody>
      </p:sp>
      <p:sp>
        <p:nvSpPr>
          <p:cNvPr id="11" name="tag_297"/>
          <p:cNvSpPr/>
          <p:nvPr/>
        </p:nvSpPr>
        <p:spPr>
          <a:xfrm>
            <a:off x="6510528" y="914400"/>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Listening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29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9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L9 · Video · real TV</a:t>
            </a:r>
            <a:endParaRPr lang="en-US" sz="800" dirty="0"/>
          </a:p>
        </p:txBody>
      </p:sp>
      <p:sp>
        <p:nvSpPr>
          <p:cNvPr id="14" name="ext_300"/>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5" name="cd_301"/>
          <p:cNvSpPr/>
          <p:nvPr/>
        </p:nvSpPr>
        <p:spPr>
          <a:xfrm>
            <a:off x="320040" y="1417320"/>
            <a:ext cx="2788920" cy="1508760"/>
          </a:xfrm>
          <a:prstGeom prst="roundRect">
            <a:avLst>
              <a:gd name="adj" fmla="val 84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6" name="ii_30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303"/>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8" name="il_304"/>
          <p:cNvSpPr/>
          <p:nvPr/>
        </p:nvSpPr>
        <p:spPr>
          <a:xfrm>
            <a:off x="886968" y="1911096"/>
            <a:ext cx="2130552" cy="94183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 Gordon Ramsay Catches A Possibly Lethal Mistake (choose 3–5 min)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https://www.youtube.com/watch?v=cXaT9J5RX5A</a:t>
            </a:r>
            <a:endParaRPr lang="en-US" sz="1150" dirty="0"/>
          </a:p>
        </p:txBody>
      </p:sp>
      <p:sp>
        <p:nvSpPr>
          <p:cNvPr id="19" name="R1_qb305"/>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R1_sq306"/>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What is the problem?</a:t>
            </a:r>
            <a:endParaRPr lang="en-US" sz="1400" dirty="0"/>
          </a:p>
        </p:txBody>
      </p:sp>
      <p:sp>
        <p:nvSpPr>
          <p:cNvPr id="21" name="R2_qb307"/>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R2_sq308"/>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What are the chefs doing wrong?</a:t>
            </a:r>
            <a:endParaRPr lang="en-US" sz="1400" dirty="0"/>
          </a:p>
        </p:txBody>
      </p:sp>
      <p:sp>
        <p:nvSpPr>
          <p:cNvPr id="23" name="R3_qb309"/>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310"/>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What should they do? Use must / mustn't.</a:t>
            </a:r>
            <a:endParaRPr lang="en-US" sz="1400" dirty="0"/>
          </a:p>
        </p:txBody>
      </p:sp>
      <p:sp>
        <p:nvSpPr>
          <p:cNvPr id="25" name="R4_qb311"/>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312"/>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400" dirty="0">
                <a:solidFill>
                  <a:srgbClr val="1B2559"/>
                </a:solidFill>
                <a:latin typeface="Segoe UI Semibold" pitchFamily="34" charset="0"/>
                <a:ea typeface="Segoe UI Semibold" pitchFamily="34" charset="-122"/>
                <a:cs typeface="Segoe UI Semibold" pitchFamily="34" charset="-120"/>
              </a:rPr>
              <a:t>Has this happened in your kitchen?</a:t>
            </a:r>
            <a:endParaRPr lang="en-US" sz="14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L9 Service!</dc:title>
  <dc:subject>PptxGenJS Presentation</dc:subject>
  <dc:creator>PptxGenJS</dc:creator>
  <cp:lastModifiedBy>PptxGenJS</cp:lastModifiedBy>
  <cp:revision>1</cp:revision>
  <dcterms:created xsi:type="dcterms:W3CDTF">2026-10-20T06:41:59Z</dcterms:created>
  <dcterms:modified xsi:type="dcterms:W3CDTF">2026-10-20T06:41:59Z</dcterms:modified>
</cp:coreProperties>
</file>