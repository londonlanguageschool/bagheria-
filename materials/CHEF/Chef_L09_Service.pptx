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9 (60 min). Aims: calls on the pass, steak cooking, present continuous, a service simulation.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REVISION (5 min). VARIATION: micro-challenge against the clock. Teacher is the waiter and fires the questions; chefs answer about their own menu. Round 2: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LEXICON (8 min). Click 1. Practise shouting them with the right energy. '86' = eighty-six.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(4 min). Click 1. Italian: al sangue = rare; ben cotta = well done. Ask: How do YOU like your steak? Which is the worst way to cook a good steak?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(5 min). Click 1. Model: First I warm the plate, then I stack the potatoes, add the fish, drizzle some oil, garnish with parsley and wipe the 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(6 min). Quick drill: 'Freeze!' — the teacher mimes, they say what you're doing (You're stirring the sauce!).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PRACTICE (5 min). Click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(6 min). Then students describe THEIR kitchen at 9 p.m. on a Saturday in the present continuous.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(8 min). VARIATION: perspective change — each side thinks the other is the problem. Round 2: swap roles and add one new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 (12 min). Add problems: 86 the salmon! Re-fire table 3! Table 4 has a nut allergy!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(3 min). Homework sheet L9 in the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 VIDEO (10 min). Full episode — preview and choose 3–5 minutes before the lesson. Contains bleeped language. Links to L7 health &amp;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cXaT9J5RX5A" TargetMode="External"/><Relationship Id="rId4" Type="http://schemas.openxmlformats.org/officeDocument/2006/relationships/hyperlink" Target="https://www.youtube.com/watch?v=cXaT9J5RX5A" TargetMode="External"/><Relationship Id="rId1" Type="http://schemas.openxmlformats.org/officeDocument/2006/relationships/image" Target="../media/Slide-12-image-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1"/>
          <p:cNvSpPr/>
          <p:nvPr/>
        </p:nvSpPr>
        <p:spPr>
          <a:xfrm>
            <a:off x="54864" y="54864"/>
            <a:ext cx="9034272" cy="5033772"/>
          </a:xfrm>
          <a:prstGeom prst="rect">
            <a:avLst/>
          </a:prstGeom>
          <a:ln w="114300">
            <a:solidFill>
              <a:srgbClr val="C9B3F0"/>
            </a:solidFill>
            <a:prstDash val="solid"/>
          </a:ln>
        </p:spPr>
      </p:sp>
      <p:sp>
        <p:nvSpPr>
          <p:cNvPr id="3" name="logoBack_2"/>
          <p:cNvSpPr/>
          <p:nvPr/>
        </p:nvSpPr>
        <p:spPr>
          <a:xfrm>
            <a:off x="8229600" y="155448"/>
            <a:ext cx="676656" cy="676656"/>
          </a:xfrm>
          <a:prstGeom prst="ellipse">
            <a:avLst/>
          </a:prstGeom>
          <a:solidFill>
            <a:srgbClr val="FFFFFF"/>
          </a:solidFill>
          <a:ln w="25400">
            <a:solidFill>
              <a:srgbClr val="C9B3F0"/>
            </a:solidFill>
            <a:prstDash val="solid"/>
          </a:ln>
        </p:spPr>
      </p:sp>
      <p:pic>
        <p:nvPicPr>
          <p:cNvPr id="4" name="logo_3"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5" name="footer_4"/>
          <p:cNvSpPr txBox="1"/>
          <p:nvPr/>
        </p:nvSpPr>
        <p:spPr>
          <a:xfrm>
            <a:off x="7132320" y="4818888"/>
            <a:ext cx="1737360" cy="219456"/>
          </a:xfrm>
          <a:prstGeom prst="rect">
            <a:avLst/>
          </a:prstGeom>
          <a:solidFill>
            <a:srgbClr val="204034"/>
          </a:solidFill>
          <a:ln/>
        </p:spPr>
        <p:txBody>
          <a:bodyPr wrap="square" lIns="0" tIns="0" rIns="0" bIns="0" rtlCol="0" anchor="ctr"/>
          <a:lstStyle/>
          <a:p>
            <a:pPr algn="ctr" indent="0" marL="0">
              <a:buNone/>
            </a:pPr>
            <a:r>
              <a:rPr lang="en-US" sz="1000" dirty="0">
                <a:solidFill>
                  <a:srgbClr val="E9E2FB"/>
                </a:solidFill>
                <a:latin typeface="Calibri" pitchFamily="34" charset="0"/>
                <a:ea typeface="Calibri" pitchFamily="34" charset="-122"/>
                <a:cs typeface="Calibri" pitchFamily="34" charset="-120"/>
              </a:rPr>
              <a:t>Kitchen English · L9</a:t>
            </a:r>
            <a:endParaRPr lang="en-US" sz="1000" dirty="0"/>
          </a:p>
        </p:txBody>
      </p:sp>
      <p:sp>
        <p:nvSpPr>
          <p:cNvPr id="6" name="unit_5"/>
          <p:cNvSpPr txBox="1"/>
          <p:nvPr/>
        </p:nvSpPr>
        <p:spPr>
          <a:xfrm>
            <a:off x="411480" y="320040"/>
            <a:ext cx="1463040" cy="914400"/>
          </a:xfrm>
          <a:prstGeom prst="rect">
            <a:avLst/>
          </a:prstGeom>
          <a:noFill/>
          <a:ln/>
        </p:spPr>
        <p:txBody>
          <a:bodyPr wrap="square" rtlCol="0" anchor="ctr"/>
          <a:lstStyle/>
          <a:p>
            <a:pPr indent="0" marL="0">
              <a:buNone/>
            </a:pPr>
            <a:r>
              <a:rPr lang="en-US" sz="5400" dirty="0">
                <a:solidFill>
                  <a:srgbClr val="FFD84D"/>
                </a:solidFill>
                <a:latin typeface="Arial Black" pitchFamily="34" charset="0"/>
                <a:ea typeface="Arial Black" pitchFamily="34" charset="-122"/>
                <a:cs typeface="Arial Black" pitchFamily="34" charset="-120"/>
              </a:rPr>
              <a:t>L9</a:t>
            </a:r>
            <a:endParaRPr lang="en-US" sz="5400" dirty="0"/>
          </a:p>
        </p:txBody>
      </p:sp>
      <p:sp>
        <p:nvSpPr>
          <p:cNvPr id="7" name="course_6"/>
          <p:cNvSpPr txBox="1"/>
          <p:nvPr/>
        </p:nvSpPr>
        <p:spPr>
          <a:xfrm>
            <a:off x="1828800" y="566928"/>
            <a:ext cx="3840480" cy="365760"/>
          </a:xfrm>
          <a:prstGeom prst="rect">
            <a:avLst/>
          </a:prstGeom>
          <a:noFill/>
          <a:ln/>
        </p:spPr>
        <p:txBody>
          <a:bodyPr wrap="square" rtlCol="0" anchor="ctr"/>
          <a:lstStyle/>
          <a:p>
            <a:pPr indent="0" marL="0">
              <a:buNone/>
            </a:pPr>
            <a:r>
              <a:rPr lang="en-US" sz="1200" dirty="0">
                <a:solidFill>
                  <a:srgbClr val="E9E2FB"/>
                </a:solidFill>
                <a:latin typeface="Arial Black" pitchFamily="34" charset="0"/>
                <a:ea typeface="Arial Black" pitchFamily="34" charset="-122"/>
                <a:cs typeface="Arial Black" pitchFamily="34" charset="-120"/>
              </a:rPr>
              <a:t>KITCHEN ENGLISH · Lesson 9 of 10</a:t>
            </a:r>
            <a:endParaRPr lang="en-US" sz="1200" dirty="0"/>
          </a:p>
        </p:txBody>
      </p:sp>
      <p:sp>
        <p:nvSpPr>
          <p:cNvPr id="8" name="title_7"/>
          <p:cNvSpPr txBox="1"/>
          <p:nvPr/>
        </p:nvSpPr>
        <p:spPr>
          <a:xfrm rot="-180000">
            <a:off x="411480" y="1325880"/>
            <a:ext cx="2615184" cy="777240"/>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52400" tIns="152400" rIns="152400" bIns="15240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SERVICE!</a:t>
            </a:r>
            <a:endParaRPr lang="en-US" sz="2800" dirty="0"/>
          </a:p>
        </p:txBody>
      </p:sp>
      <p:sp>
        <p:nvSpPr>
          <p:cNvPr id="9" name="stamp_8"/>
          <p:cNvSpPr txBox="1"/>
          <p:nvPr/>
        </p:nvSpPr>
        <p:spPr>
          <a:xfrm>
            <a:off x="457200" y="2468880"/>
            <a:ext cx="3140964" cy="384048"/>
          </a:xfrm>
          <a:prstGeom prst="roundRect">
            <a:avLst>
              <a:gd name="adj" fmla="val 14286"/>
            </a:avLst>
          </a:prstGeom>
          <a:solidFill>
            <a:srgbClr val="204034"/>
          </a:solidFill>
          <a:ln w="38100">
            <a:solidFill>
              <a:srgbClr val="48BDF2"/>
            </a:solidFill>
          </a:ln>
        </p:spPr>
        <p:txBody>
          <a:bodyPr wrap="square" lIns="25400" tIns="25400" rIns="25400" bIns="25400" rtlCol="0" anchor="ctr"/>
          <a:lstStyle/>
          <a:p>
            <a:pPr algn="ctr" indent="0" marL="0">
              <a:buNone/>
            </a:pPr>
            <a:r>
              <a:rPr lang="en-US" sz="1200" dirty="0">
                <a:solidFill>
                  <a:srgbClr val="FFFFFF"/>
                </a:solidFill>
                <a:latin typeface="Arial Black" pitchFamily="34" charset="0"/>
                <a:ea typeface="Arial Black" pitchFamily="34" charset="-122"/>
                <a:cs typeface="Arial Black" pitchFamily="34" charset="-120"/>
              </a:rPr>
              <a:t>LEXICON · calls on the pass</a:t>
            </a:r>
            <a:endParaRPr lang="en-US" sz="1200" dirty="0"/>
          </a:p>
        </p:txBody>
      </p:sp>
      <p:sp>
        <p:nvSpPr>
          <p:cNvPr id="10" name="stamp_9"/>
          <p:cNvSpPr txBox="1"/>
          <p:nvPr/>
        </p:nvSpPr>
        <p:spPr>
          <a:xfrm>
            <a:off x="457200" y="2944368"/>
            <a:ext cx="3236976" cy="384048"/>
          </a:xfrm>
          <a:prstGeom prst="roundRect">
            <a:avLst>
              <a:gd name="adj" fmla="val 14286"/>
            </a:avLst>
          </a:prstGeom>
          <a:solidFill>
            <a:srgbClr val="204034"/>
          </a:solidFill>
          <a:ln w="38100">
            <a:solidFill>
              <a:srgbClr val="1FA463"/>
            </a:solidFill>
          </a:ln>
        </p:spPr>
        <p:txBody>
          <a:bodyPr wrap="square" lIns="25400" tIns="25400" rIns="25400" bIns="25400" rtlCol="0" anchor="ctr"/>
          <a:lstStyle/>
          <a:p>
            <a:pPr algn="ctr" indent="0" marL="0">
              <a:buNone/>
            </a:pPr>
            <a:r>
              <a:rPr lang="en-US" sz="1200" dirty="0">
                <a:solidFill>
                  <a:srgbClr val="FFFFFF"/>
                </a:solidFill>
                <a:latin typeface="Arial Black" pitchFamily="34" charset="0"/>
                <a:ea typeface="Arial Black" pitchFamily="34" charset="-122"/>
                <a:cs typeface="Arial Black" pitchFamily="34" charset="-120"/>
              </a:rPr>
              <a:t>GRAMMAR · present continuous</a:t>
            </a:r>
            <a:endParaRPr lang="en-US" sz="1200" dirty="0"/>
          </a:p>
        </p:txBody>
      </p:sp>
      <p:sp>
        <p:nvSpPr>
          <p:cNvPr id="11" name="stamp_10"/>
          <p:cNvSpPr txBox="1"/>
          <p:nvPr/>
        </p:nvSpPr>
        <p:spPr>
          <a:xfrm>
            <a:off x="457200" y="3419856"/>
            <a:ext cx="2948940" cy="384048"/>
          </a:xfrm>
          <a:prstGeom prst="roundRect">
            <a:avLst>
              <a:gd name="adj" fmla="val 14286"/>
            </a:avLst>
          </a:prstGeom>
          <a:solidFill>
            <a:srgbClr val="204034"/>
          </a:solidFill>
          <a:ln w="38100">
            <a:solidFill>
              <a:srgbClr val="EF2F2F"/>
            </a:solidFill>
          </a:ln>
        </p:spPr>
        <p:txBody>
          <a:bodyPr wrap="square" lIns="25400" tIns="25400" rIns="25400" bIns="25400" rtlCol="0" anchor="ctr"/>
          <a:lstStyle/>
          <a:p>
            <a:pPr algn="ctr" indent="0" marL="0">
              <a:buNone/>
            </a:pPr>
            <a:r>
              <a:rPr lang="en-US" sz="1200" dirty="0">
                <a:solidFill>
                  <a:srgbClr val="FFFFFF"/>
                </a:solidFill>
                <a:latin typeface="Arial Black" pitchFamily="34" charset="0"/>
                <a:ea typeface="Arial Black" pitchFamily="34" charset="-122"/>
                <a:cs typeface="Arial Black" pitchFamily="34" charset="-120"/>
              </a:rPr>
              <a:t>SPEAKING · a busy service</a:t>
            </a:r>
            <a:endParaRPr lang="en-US" sz="1200" dirty="0"/>
          </a:p>
        </p:txBody>
      </p:sp>
      <p:sp>
        <p:nvSpPr>
          <p:cNvPr id="12" name="iconBack_11"/>
          <p:cNvSpPr/>
          <p:nvPr/>
        </p:nvSpPr>
        <p:spPr>
          <a:xfrm>
            <a:off x="5669280" y="685800"/>
            <a:ext cx="1737360" cy="1737360"/>
          </a:xfrm>
          <a:prstGeom prst="ellipse">
            <a:avLst/>
          </a:prstGeom>
          <a:solidFill>
            <a:srgbClr val="FFD84D"/>
          </a:solidFill>
          <a:ln w="31750">
            <a:solidFill>
              <a:srgbClr val="111111"/>
            </a:solidFill>
            <a:prstDash val="solid"/>
          </a:ln>
          <a:effectLst>
            <a:outerShdw sx="100000" sy="100000" kx="0" ky="0" algn="bl" rotWithShape="0" blurRad="101600" dist="38100" dir="2700000">
              <a:srgbClr val="000000">
                <a:alpha val="35000"/>
              </a:srgbClr>
            </a:outerShdw>
          </a:effectLst>
        </p:spPr>
      </p:sp>
      <p:pic>
        <p:nvPicPr>
          <p:cNvPr id="13" name="icon_12" descr="bell">    </p:cNvPr>
          <p:cNvPicPr>
            <a:picLocks noChangeAspect="1"/>
          </p:cNvPicPr>
          <p:nvPr/>
        </p:nvPicPr>
        <p:blipFill>
          <a:blip r:embed="rId3"/>
          <a:stretch>
            <a:fillRect/>
          </a:stretch>
        </p:blipFill>
        <p:spPr>
          <a:xfrm>
            <a:off x="6016752" y="1033272"/>
            <a:ext cx="1042416" cy="1042416"/>
          </a:xfrm>
          <a:prstGeom prst="rect">
            <a:avLst/>
          </a:prstGeom>
        </p:spPr>
      </p:pic>
      <p:sp>
        <p:nvSpPr>
          <p:cNvPr id="14" name="iconBack_13"/>
          <p:cNvSpPr/>
          <p:nvPr/>
        </p:nvSpPr>
        <p:spPr>
          <a:xfrm>
            <a:off x="7315200" y="1508760"/>
            <a:ext cx="1097280" cy="1097280"/>
          </a:xfrm>
          <a:prstGeom prst="ellipse">
            <a:avLst/>
          </a:prstGeom>
          <a:solidFill>
            <a:srgbClr val="FFFFFF"/>
          </a:solidFill>
          <a:ln w="31750">
            <a:solidFill>
              <a:srgbClr val="111111"/>
            </a:solidFill>
            <a:prstDash val="solid"/>
          </a:ln>
          <a:effectLst>
            <a:outerShdw sx="100000" sy="100000" kx="0" ky="0" algn="bl" rotWithShape="0" blurRad="101600" dist="38100" dir="2700000">
              <a:srgbClr val="000000">
                <a:alpha val="35000"/>
              </a:srgbClr>
            </a:outerShdw>
          </a:effectLst>
        </p:spPr>
      </p:sp>
      <p:pic>
        <p:nvPicPr>
          <p:cNvPr id="15" name="icon_14" descr="ticket">    </p:cNvPr>
          <p:cNvPicPr>
            <a:picLocks noChangeAspect="1"/>
          </p:cNvPicPr>
          <p:nvPr/>
        </p:nvPicPr>
        <p:blipFill>
          <a:blip r:embed="rId4"/>
          <a:stretch>
            <a:fillRect/>
          </a:stretch>
        </p:blipFill>
        <p:spPr>
          <a:xfrm>
            <a:off x="7534656" y="1728216"/>
            <a:ext cx="658368" cy="658368"/>
          </a:xfrm>
          <a:prstGeom prst="rect">
            <a:avLst/>
          </a:prstGeom>
        </p:spPr>
      </p:pic>
      <p:sp>
        <p:nvSpPr>
          <p:cNvPr id="16" name="iconBack_15"/>
          <p:cNvSpPr/>
          <p:nvPr/>
        </p:nvSpPr>
        <p:spPr>
          <a:xfrm>
            <a:off x="5486400" y="2514600"/>
            <a:ext cx="960120" cy="960120"/>
          </a:xfrm>
          <a:prstGeom prst="ellipse">
            <a:avLst/>
          </a:prstGeom>
          <a:solidFill>
            <a:srgbClr val="C9B3F0"/>
          </a:solidFill>
          <a:ln w="31750">
            <a:solidFill>
              <a:srgbClr val="111111"/>
            </a:solidFill>
            <a:prstDash val="solid"/>
          </a:ln>
          <a:effectLst>
            <a:outerShdw sx="100000" sy="100000" kx="0" ky="0" algn="bl" rotWithShape="0" blurRad="101600" dist="38100" dir="2700000">
              <a:srgbClr val="000000">
                <a:alpha val="35000"/>
              </a:srgbClr>
            </a:outerShdw>
          </a:effectLst>
        </p:spPr>
      </p:sp>
      <p:pic>
        <p:nvPicPr>
          <p:cNvPr id="17" name="icon_16" descr="steak">    </p:cNvPr>
          <p:cNvPicPr>
            <a:picLocks noChangeAspect="1"/>
          </p:cNvPicPr>
          <p:nvPr/>
        </p:nvPicPr>
        <p:blipFill>
          <a:blip r:embed="rId5"/>
          <a:stretch>
            <a:fillRect/>
          </a:stretch>
        </p:blipFill>
        <p:spPr>
          <a:xfrm>
            <a:off x="5678424" y="2706624"/>
            <a:ext cx="576072" cy="576072"/>
          </a:xfrm>
          <a:prstGeom prst="rect">
            <a:avLst/>
          </a:prstGeom>
        </p:spPr>
      </p:pic>
      <p:sp>
        <p:nvSpPr>
          <p:cNvPr id="18" name="R1_q"/>
          <p:cNvSpPr txBox="1"/>
          <p:nvPr/>
        </p:nvSpPr>
        <p:spPr>
          <a:xfrm>
            <a:off x="5120640" y="3337560"/>
            <a:ext cx="2377440" cy="777240"/>
          </a:xfrm>
          <a:prstGeom prst="wedgeRoundRectCallout">
            <a:avLst/>
          </a:prstGeom>
          <a:solidFill>
            <a:srgbClr val="48BDF2"/>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algn="ctr" indent="0" marL="0">
              <a:buNone/>
            </a:pPr>
            <a:r>
              <a:rPr lang="en-US" sz="1400" b="1" dirty="0">
                <a:solidFill>
                  <a:srgbClr val="111111"/>
                </a:solidFill>
                <a:latin typeface="Calibri" pitchFamily="34" charset="0"/>
                <a:ea typeface="Calibri" pitchFamily="34" charset="-122"/>
                <a:cs typeface="Calibri" pitchFamily="34" charset="-120"/>
              </a:rPr>
              <a:t>How long on table 6?</a:t>
            </a:r>
            <a:endParaRPr lang="en-US" sz="1400" dirty="0"/>
          </a:p>
        </p:txBody>
      </p:sp>
      <p:sp>
        <p:nvSpPr>
          <p:cNvPr id="19" name="R2_a"/>
          <p:cNvSpPr txBox="1"/>
          <p:nvPr/>
        </p:nvSpPr>
        <p:spPr>
          <a:xfrm>
            <a:off x="6629400" y="4069080"/>
            <a:ext cx="2148840" cy="594360"/>
          </a:xfrm>
          <a:prstGeom prst="wedgeRoundRectCallou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algn="ctr" indent="0" marL="0">
              <a:buNone/>
            </a:pPr>
            <a:r>
              <a:rPr lang="en-US" sz="1300" b="1" dirty="0">
                <a:solidFill>
                  <a:srgbClr val="111111"/>
                </a:solidFill>
                <a:latin typeface="Calibri" pitchFamily="34" charset="0"/>
                <a:ea typeface="Calibri" pitchFamily="34" charset="-122"/>
                <a:cs typeface="Calibri" pitchFamily="34" charset="-120"/>
              </a:rPr>
              <a:t>Two minutes, Chef!</a:t>
            </a:r>
            <a:endParaRPr lang="en-US" sz="1300" dirty="0"/>
          </a:p>
        </p:txBody>
      </p:sp>
      <p:sp>
        <p:nvSpPr>
          <p:cNvPr id="20" name="tnote_17"/>
          <p:cNvSpPr txBox="1"/>
          <p:nvPr/>
        </p:nvSpPr>
        <p:spPr>
          <a:xfrm>
            <a:off x="411480" y="4773168"/>
            <a:ext cx="5029200" cy="237744"/>
          </a:xfrm>
          <a:prstGeom prst="rect">
            <a:avLst/>
          </a:prstGeom>
          <a:noFill/>
          <a:ln/>
        </p:spPr>
        <p:txBody>
          <a:bodyPr wrap="square" rtlCol="0" anchor="ctr"/>
          <a:lstStyle/>
          <a:p>
            <a:pPr indent="0" marL="0">
              <a:buNone/>
            </a:pPr>
            <a:r>
              <a:rPr lang="en-US" sz="1000" dirty="0">
                <a:solidFill>
                  <a:srgbClr val="E9E2FB"/>
                </a:solidFill>
                <a:latin typeface="Calibri" pitchFamily="34" charset="0"/>
                <a:ea typeface="Calibri" pitchFamily="34" charset="-122"/>
                <a:cs typeface="Calibri" pitchFamily="34" charset="-120"/>
              </a:rPr>
              <a:t>Teacher: timings, answers and tips are in the slide notes.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18"/>
          <p:cNvSpPr/>
          <p:nvPr/>
        </p:nvSpPr>
        <p:spPr>
          <a:xfrm>
            <a:off x="54864" y="54864"/>
            <a:ext cx="9034272" cy="5033772"/>
          </a:xfrm>
          <a:prstGeom prst="rect">
            <a:avLst/>
          </a:prstGeom>
          <a:ln w="114300">
            <a:solidFill>
              <a:srgbClr val="C9B3F0"/>
            </a:solidFill>
            <a:prstDash val="solid"/>
          </a:ln>
        </p:spPr>
      </p:sp>
      <p:pic>
        <p:nvPicPr>
          <p:cNvPr id="3" name="logo_19"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objective_20"/>
          <p:cNvSpPr txBox="1"/>
          <p:nvPr/>
        </p:nvSpPr>
        <p:spPr>
          <a:xfrm>
            <a:off x="320040" y="182880"/>
            <a:ext cx="4754880" cy="365760"/>
          </a:xfrm>
          <a:prstGeom prst="roundRect">
            <a:avLst>
              <a:gd name="adj" fmla="val 20000"/>
            </a:avLst>
          </a:prstGeom>
          <a:solidFill>
            <a:srgbClr val="062F67"/>
          </a:solidFill>
          <a:ln w="31750">
            <a:solidFill>
              <a:srgbClr val="111111"/>
            </a:solidFill>
          </a:ln>
        </p:spPr>
        <p:txBody>
          <a:bodyPr wrap="square" lIns="101600" tIns="101600" rIns="101600" bIns="101600" rtlCol="0" anchor="ctr"/>
          <a:lstStyle/>
          <a:p>
            <a:pPr indent="0" marL="0">
              <a:buNone/>
            </a:pPr>
            <a:r>
              <a:rPr lang="en-US" sz="1100" dirty="0">
                <a:solidFill>
                  <a:srgbClr val="FFFFFF"/>
                </a:solidFill>
                <a:latin typeface="Arial Black" pitchFamily="34" charset="0"/>
                <a:ea typeface="Arial Black" pitchFamily="34" charset="-122"/>
                <a:cs typeface="Arial Black" pitchFamily="34" charset="-120"/>
              </a:rPr>
              <a:t>REVISION · Lesson 8</a:t>
            </a:r>
            <a:endParaRPr lang="en-US" sz="1100" dirty="0"/>
          </a:p>
        </p:txBody>
      </p:sp>
      <p:sp>
        <p:nvSpPr>
          <p:cNvPr id="5" name="timer_21"/>
          <p:cNvSpPr txBox="1"/>
          <p:nvPr/>
        </p:nvSpPr>
        <p:spPr>
          <a:xfrm>
            <a:off x="7086600" y="219456"/>
            <a:ext cx="1005840" cy="310896"/>
          </a:xfrm>
          <a:prstGeom prst="roundRect">
            <a:avLst>
              <a:gd name="adj" fmla="val 23529"/>
            </a:avLst>
          </a:prstGeom>
          <a:solidFill>
            <a:srgbClr val="FFFFFF"/>
          </a:solidFill>
          <a:ln w="25400">
            <a:solidFill>
              <a:srgbClr val="6D3FC0"/>
            </a:solidFill>
          </a:ln>
        </p:spPr>
        <p:txBody>
          <a:bodyPr wrap="square" lIns="0" tIns="0" rIns="0" bIns="0" rtlCol="0" anchor="ctr"/>
          <a:lstStyle/>
          <a:p>
            <a:pPr algn="ctr" indent="0" marL="0">
              <a:buNone/>
            </a:pPr>
            <a:r>
              <a:rPr lang="en-US" sz="1200" b="1" dirty="0">
                <a:solidFill>
                  <a:srgbClr val="6D3FC0"/>
                </a:solidFill>
                <a:latin typeface="Calibri" pitchFamily="34" charset="0"/>
                <a:ea typeface="Calibri" pitchFamily="34" charset="-122"/>
                <a:cs typeface="Calibri" pitchFamily="34" charset="-120"/>
              </a:rPr>
              <a:t>⏱ 5 min</a:t>
            </a:r>
            <a:endParaRPr lang="en-US" sz="1200" dirty="0"/>
          </a:p>
        </p:txBody>
      </p:sp>
      <p:sp>
        <p:nvSpPr>
          <p:cNvPr id="6" name="footer_22"/>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7" name="title_23"/>
          <p:cNvSpPr txBox="1"/>
          <p:nvPr/>
        </p:nvSpPr>
        <p:spPr>
          <a:xfrm rot="-120000">
            <a:off x="320040" y="676656"/>
            <a:ext cx="5193792"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Beat the clock: 60 seconds!</a:t>
            </a:r>
            <a:endParaRPr lang="en-US" sz="2000" dirty="0"/>
          </a:p>
        </p:txBody>
      </p:sp>
      <p:sp>
        <p:nvSpPr>
          <p:cNvPr id="8" name="post_24"/>
          <p:cNvSpPr/>
          <p:nvPr/>
        </p:nvSpPr>
        <p:spPr>
          <a:xfrm>
            <a:off x="429768" y="1554480"/>
            <a:ext cx="128016" cy="2194560"/>
          </a:xfrm>
          <a:prstGeom prst="rect">
            <a:avLst/>
          </a:prstGeom>
          <a:solidFill>
            <a:srgbClr val="8B5A2B"/>
          </a:solidFill>
          <a:ln w="31750">
            <a:solidFill>
              <a:srgbClr val="111111"/>
            </a:solidFill>
            <a:prstDash val="solid"/>
          </a:ln>
        </p:spPr>
      </p:sp>
      <p:sp>
        <p:nvSpPr>
          <p:cNvPr id="9" name="signA_25"/>
          <p:cNvSpPr txBox="1"/>
          <p:nvPr/>
        </p:nvSpPr>
        <p:spPr>
          <a:xfrm rot="-180000">
            <a:off x="320040" y="1371600"/>
            <a:ext cx="2240280" cy="457200"/>
          </a:xfrm>
          <a:prstGeom prst="homePlate">
            <a:avLst/>
          </a:prstGeom>
          <a:solidFill>
            <a:srgbClr val="EF2F2F"/>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SPEAK!</a:t>
            </a:r>
            <a:pPr indent="0" marL="0">
              <a:buNone/>
            </a:pPr>
            <a:r>
              <a:rPr lang="en-US" sz="1000" dirty="0">
                <a:solidFill>
                  <a:srgbClr val="FFF3B0"/>
                </a:solidFill>
                <a:latin typeface="Arial Black" pitchFamily="34" charset="0"/>
                <a:ea typeface="Arial Black" pitchFamily="34" charset="-122"/>
                <a:cs typeface="Arial Black" pitchFamily="34" charset="-120"/>
              </a:rPr>
              <a:t>  PARLA!</a:t>
            </a:r>
            <a:endParaRPr lang="en-US" sz="1500" dirty="0"/>
          </a:p>
        </p:txBody>
      </p:sp>
      <p:sp>
        <p:nvSpPr>
          <p:cNvPr id="10" name="signB_26"/>
          <p:cNvSpPr txBox="1"/>
          <p:nvPr/>
        </p:nvSpPr>
        <p:spPr>
          <a:xfrm rot="120000">
            <a:off x="365760" y="1938528"/>
            <a:ext cx="2240280" cy="1051560"/>
          </a:xfrm>
          <a:prstGeom prst="rect">
            <a:avLst/>
          </a:prstGeom>
          <a:solidFill>
            <a:srgbClr val="FFFFFF"/>
          </a:solidFill>
          <a:ln w="31750">
            <a:solidFill>
              <a:srgbClr val="111111"/>
            </a:solidFill>
          </a:ln>
        </p:spPr>
        <p:txBody>
          <a:bodyPr wrap="square" lIns="76200" tIns="76200" rIns="76200" bIns="76200" rtlCol="0" anchor="ctr"/>
          <a:lstStyle/>
          <a:p>
            <a:pPr indent="0" marL="0">
              <a:buNone/>
            </a:pPr>
            <a:r>
              <a:rPr lang="en-US" sz="1250" dirty="0">
                <a:solidFill>
                  <a:srgbClr val="111111"/>
                </a:solidFill>
                <a:latin typeface="Calibri" pitchFamily="34" charset="0"/>
                <a:ea typeface="Calibri" pitchFamily="34" charset="-122"/>
                <a:cs typeface="Calibri" pitchFamily="34" charset="-120"/>
              </a:rPr>
              <a:t>The waiter asks. Answer in full – you have 60 seconds!</a:t>
            </a:r>
            <a:endParaRPr lang="en-US" sz="1250" dirty="0"/>
          </a:p>
          <a:p>
            <a:pPr indent="0" marL="0">
              <a:buNone/>
            </a:pPr>
            <a:r>
              <a:rPr lang="en-US" sz="1100" i="1" dirty="0">
                <a:solidFill>
                  <a:srgbClr val="334155"/>
                </a:solidFill>
                <a:latin typeface="Calibri" pitchFamily="34" charset="0"/>
                <a:ea typeface="Calibri" pitchFamily="34" charset="-122"/>
                <a:cs typeface="Calibri" pitchFamily="34" charset="-120"/>
              </a:rPr>
              <a:t>Il cameriere chiede. Rispondi per intero – 60 secondi!</a:t>
            </a:r>
            <a:endParaRPr lang="en-US" sz="1250" dirty="0"/>
          </a:p>
        </p:txBody>
      </p:sp>
      <p:sp>
        <p:nvSpPr>
          <p:cNvPr id="11" name="box_27"/>
          <p:cNvSpPr txBox="1"/>
          <p:nvPr/>
        </p:nvSpPr>
        <p:spPr>
          <a:xfrm>
            <a:off x="2788920" y="1371600"/>
            <a:ext cx="2953512" cy="868680"/>
          </a:xfrm>
          <a:prstGeom prst="rect">
            <a:avLst/>
          </a:prstGeom>
          <a:solidFill>
            <a:srgbClr val="E0F2FE"/>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1  Is the soup vegan?</a:t>
            </a:r>
            <a:endParaRPr lang="en-US" sz="1350" dirty="0"/>
          </a:p>
        </p:txBody>
      </p:sp>
      <p:sp>
        <p:nvSpPr>
          <p:cNvPr id="12" name="box_28"/>
          <p:cNvSpPr txBox="1"/>
          <p:nvPr/>
        </p:nvSpPr>
        <p:spPr>
          <a:xfrm>
            <a:off x="5870448" y="1371600"/>
            <a:ext cx="2953512" cy="868680"/>
          </a:xfrm>
          <a:prstGeom prst="rect">
            <a:avLst/>
          </a:prstGeom>
          <a:solidFill>
            <a:srgbClr val="FCE7F3"/>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2  Does the cake contain nuts?</a:t>
            </a:r>
            <a:endParaRPr lang="en-US" sz="1350" dirty="0"/>
          </a:p>
        </p:txBody>
      </p:sp>
      <p:sp>
        <p:nvSpPr>
          <p:cNvPr id="13" name="box_29"/>
          <p:cNvSpPr txBox="1"/>
          <p:nvPr/>
        </p:nvSpPr>
        <p:spPr>
          <a:xfrm>
            <a:off x="2788920" y="2368296"/>
            <a:ext cx="2953512" cy="868680"/>
          </a:xfrm>
          <a:prstGeom prst="rect">
            <a:avLst/>
          </a:prstGeom>
          <a:solidFill>
            <a:srgbClr val="FEF9C3"/>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3  Is the pasta gluten-free?</a:t>
            </a:r>
            <a:endParaRPr lang="en-US" sz="1350" dirty="0"/>
          </a:p>
        </p:txBody>
      </p:sp>
      <p:sp>
        <p:nvSpPr>
          <p:cNvPr id="14" name="box_30"/>
          <p:cNvSpPr txBox="1"/>
          <p:nvPr/>
        </p:nvSpPr>
        <p:spPr>
          <a:xfrm>
            <a:off x="5870448" y="2368296"/>
            <a:ext cx="2953512" cy="868680"/>
          </a:xfrm>
          <a:prstGeom prst="rect">
            <a:avLst/>
          </a:prstGeom>
          <a:solidFill>
            <a:srgbClr val="DCFCE7"/>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4  Can you make it without cheese?</a:t>
            </a:r>
            <a:endParaRPr lang="en-US" sz="1350" dirty="0"/>
          </a:p>
        </p:txBody>
      </p:sp>
      <p:sp>
        <p:nvSpPr>
          <p:cNvPr id="15" name="box_31"/>
          <p:cNvSpPr txBox="1"/>
          <p:nvPr/>
        </p:nvSpPr>
        <p:spPr>
          <a:xfrm>
            <a:off x="2788920" y="3364992"/>
            <a:ext cx="2953512" cy="868680"/>
          </a:xfrm>
          <a:prstGeom prst="rect">
            <a:avLst/>
          </a:prstGeom>
          <a:solidFill>
            <a:srgbClr val="EDE9FE"/>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5  What's in the sauce?</a:t>
            </a:r>
            <a:endParaRPr lang="en-US" sz="1350" dirty="0"/>
          </a:p>
        </p:txBody>
      </p:sp>
      <p:sp>
        <p:nvSpPr>
          <p:cNvPr id="16" name="box_32"/>
          <p:cNvSpPr txBox="1"/>
          <p:nvPr/>
        </p:nvSpPr>
        <p:spPr>
          <a:xfrm>
            <a:off x="5870448" y="3364992"/>
            <a:ext cx="2953512" cy="868680"/>
          </a:xfrm>
          <a:prstGeom prst="rect">
            <a:avLst/>
          </a:prstGeom>
          <a:solidFill>
            <a:srgbClr val="FFEDD5"/>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6  Does the fish come with prawns?</a:t>
            </a:r>
            <a:endParaRPr lang="en-US" sz="13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33"/>
          <p:cNvSpPr/>
          <p:nvPr/>
        </p:nvSpPr>
        <p:spPr>
          <a:xfrm>
            <a:off x="54864" y="54864"/>
            <a:ext cx="9034272" cy="5033772"/>
          </a:xfrm>
          <a:prstGeom prst="rect">
            <a:avLst/>
          </a:prstGeom>
          <a:ln w="114300">
            <a:solidFill>
              <a:srgbClr val="C9B3F0"/>
            </a:solidFill>
            <a:prstDash val="solid"/>
          </a:ln>
        </p:spPr>
      </p:sp>
      <p:pic>
        <p:nvPicPr>
          <p:cNvPr id="3" name="logo_34"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objective_35"/>
          <p:cNvSpPr txBox="1"/>
          <p:nvPr/>
        </p:nvSpPr>
        <p:spPr>
          <a:xfrm>
            <a:off x="320040" y="182880"/>
            <a:ext cx="4754880" cy="365760"/>
          </a:xfrm>
          <a:prstGeom prst="roundRect">
            <a:avLst>
              <a:gd name="adj" fmla="val 20000"/>
            </a:avLst>
          </a:prstGeom>
          <a:solidFill>
            <a:srgbClr val="062F67"/>
          </a:solidFill>
          <a:ln w="31750">
            <a:solidFill>
              <a:srgbClr val="111111"/>
            </a:solidFill>
          </a:ln>
        </p:spPr>
        <p:txBody>
          <a:bodyPr wrap="square" lIns="101600" tIns="101600" rIns="101600" bIns="101600" rtlCol="0" anchor="ctr"/>
          <a:lstStyle/>
          <a:p>
            <a:pPr indent="0" marL="0">
              <a:buNone/>
            </a:pPr>
            <a:r>
              <a:rPr lang="en-US" sz="1100" dirty="0">
                <a:solidFill>
                  <a:srgbClr val="FFFFFF"/>
                </a:solidFill>
                <a:latin typeface="Arial Black" pitchFamily="34" charset="0"/>
                <a:ea typeface="Arial Black" pitchFamily="34" charset="-122"/>
                <a:cs typeface="Arial Black" pitchFamily="34" charset="-120"/>
              </a:rPr>
              <a:t>LEXICON · Calls on the pass</a:t>
            </a:r>
            <a:endParaRPr lang="en-US" sz="1100" dirty="0"/>
          </a:p>
        </p:txBody>
      </p:sp>
      <p:sp>
        <p:nvSpPr>
          <p:cNvPr id="5" name="timer_36"/>
          <p:cNvSpPr txBox="1"/>
          <p:nvPr/>
        </p:nvSpPr>
        <p:spPr>
          <a:xfrm>
            <a:off x="7086600" y="219456"/>
            <a:ext cx="1005840" cy="310896"/>
          </a:xfrm>
          <a:prstGeom prst="roundRect">
            <a:avLst>
              <a:gd name="adj" fmla="val 23529"/>
            </a:avLst>
          </a:prstGeom>
          <a:solidFill>
            <a:srgbClr val="FFFFFF"/>
          </a:solidFill>
          <a:ln w="25400">
            <a:solidFill>
              <a:srgbClr val="6D3FC0"/>
            </a:solidFill>
          </a:ln>
        </p:spPr>
        <p:txBody>
          <a:bodyPr wrap="square" lIns="0" tIns="0" rIns="0" bIns="0" rtlCol="0" anchor="ctr"/>
          <a:lstStyle/>
          <a:p>
            <a:pPr algn="ctr" indent="0" marL="0">
              <a:buNone/>
            </a:pPr>
            <a:r>
              <a:rPr lang="en-US" sz="1200" b="1" dirty="0">
                <a:solidFill>
                  <a:srgbClr val="6D3FC0"/>
                </a:solidFill>
                <a:latin typeface="Calibri" pitchFamily="34" charset="0"/>
                <a:ea typeface="Calibri" pitchFamily="34" charset="-122"/>
                <a:cs typeface="Calibri" pitchFamily="34" charset="-120"/>
              </a:rPr>
              <a:t>⏱ 7 min</a:t>
            </a:r>
            <a:endParaRPr lang="en-US" sz="1200" dirty="0"/>
          </a:p>
        </p:txBody>
      </p:sp>
      <p:sp>
        <p:nvSpPr>
          <p:cNvPr id="6" name="footer_37"/>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7" name="title_38"/>
          <p:cNvSpPr txBox="1"/>
          <p:nvPr/>
        </p:nvSpPr>
        <p:spPr>
          <a:xfrm rot="-120000">
            <a:off x="320040" y="676656"/>
            <a:ext cx="3456432"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Calls on the pass</a:t>
            </a:r>
            <a:endParaRPr lang="en-US" sz="2000" dirty="0"/>
          </a:p>
        </p:txBody>
      </p:sp>
      <p:sp>
        <p:nvSpPr>
          <p:cNvPr id="8" name="post_39"/>
          <p:cNvSpPr/>
          <p:nvPr/>
        </p:nvSpPr>
        <p:spPr>
          <a:xfrm>
            <a:off x="429768" y="1554480"/>
            <a:ext cx="128016" cy="2194560"/>
          </a:xfrm>
          <a:prstGeom prst="rect">
            <a:avLst/>
          </a:prstGeom>
          <a:solidFill>
            <a:srgbClr val="8B5A2B"/>
          </a:solidFill>
          <a:ln w="31750">
            <a:solidFill>
              <a:srgbClr val="111111"/>
            </a:solidFill>
            <a:prstDash val="solid"/>
          </a:ln>
        </p:spPr>
      </p:sp>
      <p:sp>
        <p:nvSpPr>
          <p:cNvPr id="9" name="signA_40"/>
          <p:cNvSpPr txBox="1"/>
          <p:nvPr/>
        </p:nvSpPr>
        <p:spPr>
          <a:xfrm rot="-180000">
            <a:off x="320040" y="1371600"/>
            <a:ext cx="2240280" cy="457200"/>
          </a:xfrm>
          <a:prstGeom prst="homePlate">
            <a:avLst/>
          </a:prstGeom>
          <a:solidFill>
            <a:srgbClr val="062F67"/>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THINK!</a:t>
            </a:r>
            <a:pPr indent="0" marL="0">
              <a:buNone/>
            </a:pPr>
            <a:r>
              <a:rPr lang="en-US" sz="1000" dirty="0">
                <a:solidFill>
                  <a:srgbClr val="FFF3B0"/>
                </a:solidFill>
                <a:latin typeface="Arial Black" pitchFamily="34" charset="0"/>
                <a:ea typeface="Arial Black" pitchFamily="34" charset="-122"/>
                <a:cs typeface="Arial Black" pitchFamily="34" charset="-120"/>
              </a:rPr>
              <a:t>  PENSA!</a:t>
            </a:r>
            <a:endParaRPr lang="en-US" sz="1500" dirty="0"/>
          </a:p>
        </p:txBody>
      </p:sp>
      <p:sp>
        <p:nvSpPr>
          <p:cNvPr id="10" name="signB_41"/>
          <p:cNvSpPr txBox="1"/>
          <p:nvPr/>
        </p:nvSpPr>
        <p:spPr>
          <a:xfrm rot="120000">
            <a:off x="365760" y="1938528"/>
            <a:ext cx="2240280" cy="1051560"/>
          </a:xfrm>
          <a:prstGeom prst="rect">
            <a:avLst/>
          </a:prstGeom>
          <a:solidFill>
            <a:srgbClr val="FFFFFF"/>
          </a:solidFill>
          <a:ln w="31750">
            <a:solidFill>
              <a:srgbClr val="111111"/>
            </a:solidFill>
          </a:ln>
        </p:spPr>
        <p:txBody>
          <a:bodyPr wrap="square" lIns="76200" tIns="76200" rIns="76200" bIns="76200" rtlCol="0" anchor="ctr"/>
          <a:lstStyle/>
          <a:p>
            <a:pPr indent="0" marL="0">
              <a:buNone/>
            </a:pPr>
            <a:r>
              <a:rPr lang="en-US" sz="1250" dirty="0">
                <a:solidFill>
                  <a:srgbClr val="111111"/>
                </a:solidFill>
                <a:latin typeface="Calibri" pitchFamily="34" charset="0"/>
                <a:ea typeface="Calibri" pitchFamily="34" charset="-122"/>
                <a:cs typeface="Calibri" pitchFamily="34" charset="-120"/>
              </a:rPr>
              <a:t>What does it mean? Match.</a:t>
            </a:r>
            <a:endParaRPr lang="en-US" sz="1250" dirty="0"/>
          </a:p>
          <a:p>
            <a:pPr indent="0" marL="0">
              <a:buNone/>
            </a:pPr>
            <a:r>
              <a:rPr lang="en-US" sz="1100" i="1" dirty="0">
                <a:solidFill>
                  <a:srgbClr val="334155"/>
                </a:solidFill>
                <a:latin typeface="Calibri" pitchFamily="34" charset="0"/>
                <a:ea typeface="Calibri" pitchFamily="34" charset="-122"/>
                <a:cs typeface="Calibri" pitchFamily="34" charset="-120"/>
              </a:rPr>
              <a:t>Cosa significa? Abbina.</a:t>
            </a:r>
            <a:endParaRPr lang="en-US" sz="1250" dirty="0"/>
          </a:p>
        </p:txBody>
      </p:sp>
      <p:sp>
        <p:nvSpPr>
          <p:cNvPr id="11" name="box_42"/>
          <p:cNvSpPr txBox="1"/>
          <p:nvPr/>
        </p:nvSpPr>
        <p:spPr>
          <a:xfrm>
            <a:off x="2788920" y="1371600"/>
            <a:ext cx="2896819" cy="410174"/>
          </a:xfrm>
          <a:prstGeom prst="rect">
            <a:avLst/>
          </a:prstGeom>
          <a:solidFill>
            <a:srgbClr val="E0F2FE"/>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1  Order in! / Check on!</a:t>
            </a:r>
            <a:endParaRPr lang="en-US" sz="1250" dirty="0"/>
          </a:p>
        </p:txBody>
      </p:sp>
      <p:sp>
        <p:nvSpPr>
          <p:cNvPr id="12" name="R1_m0"/>
          <p:cNvSpPr txBox="1"/>
          <p:nvPr/>
        </p:nvSpPr>
        <p:spPr>
          <a:xfrm>
            <a:off x="5758891" y="1389888"/>
            <a:ext cx="3065069" cy="373598"/>
          </a:xfrm>
          <a:prstGeom prst="roundRect">
            <a:avLst>
              <a:gd name="adj" fmla="val 14685"/>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a new order has arrived</a:t>
            </a:r>
            <a:endParaRPr lang="en-US" sz="1150" dirty="0"/>
          </a:p>
        </p:txBody>
      </p:sp>
      <p:sp>
        <p:nvSpPr>
          <p:cNvPr id="13" name="box_43"/>
          <p:cNvSpPr txBox="1"/>
          <p:nvPr/>
        </p:nvSpPr>
        <p:spPr>
          <a:xfrm>
            <a:off x="2788920" y="1854926"/>
            <a:ext cx="2896819" cy="410174"/>
          </a:xfrm>
          <a:prstGeom prst="rect">
            <a:avLst/>
          </a:prstGeom>
          <a:solidFill>
            <a:srgbClr val="FCE7F3"/>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2  Service, please! / Away!</a:t>
            </a:r>
            <a:endParaRPr lang="en-US" sz="1250" dirty="0"/>
          </a:p>
        </p:txBody>
      </p:sp>
      <p:sp>
        <p:nvSpPr>
          <p:cNvPr id="14" name="R1_m1"/>
          <p:cNvSpPr txBox="1"/>
          <p:nvPr/>
        </p:nvSpPr>
        <p:spPr>
          <a:xfrm>
            <a:off x="5758891" y="1873214"/>
            <a:ext cx="3065069" cy="373598"/>
          </a:xfrm>
          <a:prstGeom prst="roundRect">
            <a:avLst>
              <a:gd name="adj" fmla="val 14685"/>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the food is ready – take it!</a:t>
            </a:r>
            <a:endParaRPr lang="en-US" sz="1150" dirty="0"/>
          </a:p>
        </p:txBody>
      </p:sp>
      <p:sp>
        <p:nvSpPr>
          <p:cNvPr id="15" name="box_44"/>
          <p:cNvSpPr txBox="1"/>
          <p:nvPr/>
        </p:nvSpPr>
        <p:spPr>
          <a:xfrm>
            <a:off x="2788920" y="2338251"/>
            <a:ext cx="2896819" cy="410174"/>
          </a:xfrm>
          <a:prstGeom prst="rect">
            <a:avLst/>
          </a:prstGeom>
          <a:solidFill>
            <a:srgbClr val="FEF9C3"/>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3  86 the salmon.</a:t>
            </a:r>
            <a:endParaRPr lang="en-US" sz="1250" dirty="0"/>
          </a:p>
        </p:txBody>
      </p:sp>
      <p:sp>
        <p:nvSpPr>
          <p:cNvPr id="16" name="R1_m2"/>
          <p:cNvSpPr txBox="1"/>
          <p:nvPr/>
        </p:nvSpPr>
        <p:spPr>
          <a:xfrm>
            <a:off x="5758891" y="2356539"/>
            <a:ext cx="3065069" cy="373598"/>
          </a:xfrm>
          <a:prstGeom prst="roundRect">
            <a:avLst>
              <a:gd name="adj" fmla="val 14685"/>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there's no more salmon</a:t>
            </a:r>
            <a:endParaRPr lang="en-US" sz="1150" dirty="0"/>
          </a:p>
        </p:txBody>
      </p:sp>
      <p:sp>
        <p:nvSpPr>
          <p:cNvPr id="17" name="box_45"/>
          <p:cNvSpPr txBox="1"/>
          <p:nvPr/>
        </p:nvSpPr>
        <p:spPr>
          <a:xfrm>
            <a:off x="2788920" y="2821577"/>
            <a:ext cx="2896819" cy="410174"/>
          </a:xfrm>
          <a:prstGeom prst="rect">
            <a:avLst/>
          </a:prstGeom>
          <a:solidFill>
            <a:srgbClr val="DCFCE7"/>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4  How long on table 6?</a:t>
            </a:r>
            <a:endParaRPr lang="en-US" sz="1250" dirty="0"/>
          </a:p>
        </p:txBody>
      </p:sp>
      <p:sp>
        <p:nvSpPr>
          <p:cNvPr id="18" name="R1_m3"/>
          <p:cNvSpPr txBox="1"/>
          <p:nvPr/>
        </p:nvSpPr>
        <p:spPr>
          <a:xfrm>
            <a:off x="5758891" y="2839865"/>
            <a:ext cx="3065069" cy="373598"/>
          </a:xfrm>
          <a:prstGeom prst="roundRect">
            <a:avLst>
              <a:gd name="adj" fmla="val 14685"/>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how much time do you need?</a:t>
            </a:r>
            <a:endParaRPr lang="en-US" sz="1150" dirty="0"/>
          </a:p>
        </p:txBody>
      </p:sp>
      <p:sp>
        <p:nvSpPr>
          <p:cNvPr id="19" name="box_46"/>
          <p:cNvSpPr txBox="1"/>
          <p:nvPr/>
        </p:nvSpPr>
        <p:spPr>
          <a:xfrm>
            <a:off x="2788920" y="3304903"/>
            <a:ext cx="2896819" cy="410174"/>
          </a:xfrm>
          <a:prstGeom prst="rect">
            <a:avLst/>
          </a:prstGeom>
          <a:solidFill>
            <a:srgbClr val="EDE9FE"/>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5  Heard, Chef!</a:t>
            </a:r>
            <a:endParaRPr lang="en-US" sz="1250" dirty="0"/>
          </a:p>
        </p:txBody>
      </p:sp>
      <p:sp>
        <p:nvSpPr>
          <p:cNvPr id="20" name="R1_m4"/>
          <p:cNvSpPr txBox="1"/>
          <p:nvPr/>
        </p:nvSpPr>
        <p:spPr>
          <a:xfrm>
            <a:off x="5758891" y="3323191"/>
            <a:ext cx="3065069" cy="373598"/>
          </a:xfrm>
          <a:prstGeom prst="roundRect">
            <a:avLst>
              <a:gd name="adj" fmla="val 14685"/>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I understand</a:t>
            </a:r>
            <a:endParaRPr lang="en-US" sz="1150" dirty="0"/>
          </a:p>
        </p:txBody>
      </p:sp>
      <p:sp>
        <p:nvSpPr>
          <p:cNvPr id="21" name="box_47"/>
          <p:cNvSpPr txBox="1"/>
          <p:nvPr/>
        </p:nvSpPr>
        <p:spPr>
          <a:xfrm>
            <a:off x="2788920" y="3788229"/>
            <a:ext cx="2896819" cy="410174"/>
          </a:xfrm>
          <a:prstGeom prst="rect">
            <a:avLst/>
          </a:prstGeom>
          <a:solidFill>
            <a:srgbClr val="FFEDD5"/>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6  Two minutes, Chef!</a:t>
            </a:r>
            <a:endParaRPr lang="en-US" sz="1250" dirty="0"/>
          </a:p>
        </p:txBody>
      </p:sp>
      <p:sp>
        <p:nvSpPr>
          <p:cNvPr id="22" name="R1_m5"/>
          <p:cNvSpPr txBox="1"/>
          <p:nvPr/>
        </p:nvSpPr>
        <p:spPr>
          <a:xfrm>
            <a:off x="5758891" y="3806517"/>
            <a:ext cx="3065069" cy="373598"/>
          </a:xfrm>
          <a:prstGeom prst="roundRect">
            <a:avLst>
              <a:gd name="adj" fmla="val 14685"/>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I need two more minutes</a:t>
            </a:r>
            <a:endParaRPr lang="en-US" sz="1150" dirty="0"/>
          </a:p>
        </p:txBody>
      </p:sp>
      <p:sp>
        <p:nvSpPr>
          <p:cNvPr id="23" name="box_48"/>
          <p:cNvSpPr txBox="1"/>
          <p:nvPr/>
        </p:nvSpPr>
        <p:spPr>
          <a:xfrm>
            <a:off x="2788920" y="4271554"/>
            <a:ext cx="2896819" cy="410174"/>
          </a:xfrm>
          <a:prstGeom prst="rect">
            <a:avLst/>
          </a:prstGeom>
          <a:solidFill>
            <a:srgbClr val="E0F2FE"/>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7  Re-fire table 3.</a:t>
            </a:r>
            <a:endParaRPr lang="en-US" sz="1250" dirty="0"/>
          </a:p>
        </p:txBody>
      </p:sp>
      <p:sp>
        <p:nvSpPr>
          <p:cNvPr id="24" name="R1_m6"/>
          <p:cNvSpPr txBox="1"/>
          <p:nvPr/>
        </p:nvSpPr>
        <p:spPr>
          <a:xfrm>
            <a:off x="5758891" y="4289842"/>
            <a:ext cx="3065069" cy="373598"/>
          </a:xfrm>
          <a:prstGeom prst="roundRect">
            <a:avLst>
              <a:gd name="adj" fmla="val 14685"/>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cook the dish again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par>
                                <p:cTn id="23" presetID="10" presetClass="entr" presetSubtype="0" fill="hold"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49"/>
          <p:cNvSpPr/>
          <p:nvPr/>
        </p:nvSpPr>
        <p:spPr>
          <a:xfrm>
            <a:off x="54864" y="54864"/>
            <a:ext cx="9034272" cy="5033772"/>
          </a:xfrm>
          <a:prstGeom prst="rect">
            <a:avLst/>
          </a:prstGeom>
          <a:ln w="114300">
            <a:solidFill>
              <a:srgbClr val="C9B3F0"/>
            </a:solidFill>
            <a:prstDash val="solid"/>
          </a:ln>
        </p:spPr>
      </p:sp>
      <p:pic>
        <p:nvPicPr>
          <p:cNvPr id="3" name="logo_50"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objective_51"/>
          <p:cNvSpPr txBox="1"/>
          <p:nvPr/>
        </p:nvSpPr>
        <p:spPr>
          <a:xfrm>
            <a:off x="320040" y="182880"/>
            <a:ext cx="4754880" cy="365760"/>
          </a:xfrm>
          <a:prstGeom prst="roundRect">
            <a:avLst>
              <a:gd name="adj" fmla="val 20000"/>
            </a:avLst>
          </a:prstGeom>
          <a:solidFill>
            <a:srgbClr val="062F67"/>
          </a:solidFill>
          <a:ln w="31750">
            <a:solidFill>
              <a:srgbClr val="111111"/>
            </a:solidFill>
          </a:ln>
        </p:spPr>
        <p:txBody>
          <a:bodyPr wrap="square" lIns="101600" tIns="101600" rIns="101600" bIns="101600" rtlCol="0" anchor="ctr"/>
          <a:lstStyle/>
          <a:p>
            <a:pPr indent="0" marL="0">
              <a:buNone/>
            </a:pPr>
            <a:r>
              <a:rPr lang="en-US" sz="1100" dirty="0">
                <a:solidFill>
                  <a:srgbClr val="FFFFFF"/>
                </a:solidFill>
                <a:latin typeface="Arial Black" pitchFamily="34" charset="0"/>
                <a:ea typeface="Arial Black" pitchFamily="34" charset="-122"/>
                <a:cs typeface="Arial Black" pitchFamily="34" charset="-120"/>
              </a:rPr>
              <a:t>VOCABULARY · Steak</a:t>
            </a:r>
            <a:endParaRPr lang="en-US" sz="1100" dirty="0"/>
          </a:p>
        </p:txBody>
      </p:sp>
      <p:sp>
        <p:nvSpPr>
          <p:cNvPr id="5" name="timer_52"/>
          <p:cNvSpPr txBox="1"/>
          <p:nvPr/>
        </p:nvSpPr>
        <p:spPr>
          <a:xfrm>
            <a:off x="7086600" y="219456"/>
            <a:ext cx="1005840" cy="310896"/>
          </a:xfrm>
          <a:prstGeom prst="roundRect">
            <a:avLst>
              <a:gd name="adj" fmla="val 23529"/>
            </a:avLst>
          </a:prstGeom>
          <a:solidFill>
            <a:srgbClr val="FFFFFF"/>
          </a:solidFill>
          <a:ln w="25400">
            <a:solidFill>
              <a:srgbClr val="6D3FC0"/>
            </a:solidFill>
          </a:ln>
        </p:spPr>
        <p:txBody>
          <a:bodyPr wrap="square" lIns="0" tIns="0" rIns="0" bIns="0" rtlCol="0" anchor="ctr"/>
          <a:lstStyle/>
          <a:p>
            <a:pPr algn="ctr" indent="0" marL="0">
              <a:buNone/>
            </a:pPr>
            <a:r>
              <a:rPr lang="en-US" sz="1200" b="1" dirty="0">
                <a:solidFill>
                  <a:srgbClr val="6D3FC0"/>
                </a:solidFill>
                <a:latin typeface="Calibri" pitchFamily="34" charset="0"/>
                <a:ea typeface="Calibri" pitchFamily="34" charset="-122"/>
                <a:cs typeface="Calibri" pitchFamily="34" charset="-120"/>
              </a:rPr>
              <a:t>⏱ 4 min</a:t>
            </a:r>
            <a:endParaRPr lang="en-US" sz="1200" dirty="0"/>
          </a:p>
        </p:txBody>
      </p:sp>
      <p:sp>
        <p:nvSpPr>
          <p:cNvPr id="6" name="footer_53"/>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7" name="title_54"/>
          <p:cNvSpPr txBox="1"/>
          <p:nvPr/>
        </p:nvSpPr>
        <p:spPr>
          <a:xfrm rot="-120000">
            <a:off x="320040" y="676656"/>
            <a:ext cx="4325112"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How would you like it?</a:t>
            </a:r>
            <a:endParaRPr lang="en-US" sz="2000" dirty="0"/>
          </a:p>
        </p:txBody>
      </p:sp>
      <p:sp>
        <p:nvSpPr>
          <p:cNvPr id="8" name="post_55"/>
          <p:cNvSpPr/>
          <p:nvPr/>
        </p:nvSpPr>
        <p:spPr>
          <a:xfrm>
            <a:off x="429768" y="1554480"/>
            <a:ext cx="128016" cy="2194560"/>
          </a:xfrm>
          <a:prstGeom prst="rect">
            <a:avLst/>
          </a:prstGeom>
          <a:solidFill>
            <a:srgbClr val="8B5A2B"/>
          </a:solidFill>
          <a:ln w="31750">
            <a:solidFill>
              <a:srgbClr val="111111"/>
            </a:solidFill>
            <a:prstDash val="solid"/>
          </a:ln>
        </p:spPr>
      </p:sp>
      <p:sp>
        <p:nvSpPr>
          <p:cNvPr id="9" name="signA_56"/>
          <p:cNvSpPr txBox="1"/>
          <p:nvPr/>
        </p:nvSpPr>
        <p:spPr>
          <a:xfrm rot="-180000">
            <a:off x="320040" y="1371600"/>
            <a:ext cx="2240280" cy="457200"/>
          </a:xfrm>
          <a:prstGeom prst="homePlate">
            <a:avLst/>
          </a:prstGeom>
          <a:solidFill>
            <a:srgbClr val="062F67"/>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THINK!</a:t>
            </a:r>
            <a:pPr indent="0" marL="0">
              <a:buNone/>
            </a:pPr>
            <a:r>
              <a:rPr lang="en-US" sz="1000" dirty="0">
                <a:solidFill>
                  <a:srgbClr val="FFF3B0"/>
                </a:solidFill>
                <a:latin typeface="Arial Black" pitchFamily="34" charset="0"/>
                <a:ea typeface="Arial Black" pitchFamily="34" charset="-122"/>
                <a:cs typeface="Arial Black" pitchFamily="34" charset="-120"/>
              </a:rPr>
              <a:t>  PENSA!</a:t>
            </a:r>
            <a:endParaRPr lang="en-US" sz="1500" dirty="0"/>
          </a:p>
        </p:txBody>
      </p:sp>
      <p:sp>
        <p:nvSpPr>
          <p:cNvPr id="10" name="signB_57"/>
          <p:cNvSpPr txBox="1"/>
          <p:nvPr/>
        </p:nvSpPr>
        <p:spPr>
          <a:xfrm rot="120000">
            <a:off x="365760" y="1938528"/>
            <a:ext cx="2240280" cy="1051560"/>
          </a:xfrm>
          <a:prstGeom prst="rect">
            <a:avLst/>
          </a:prstGeom>
          <a:solidFill>
            <a:srgbClr val="FFFFFF"/>
          </a:solidFill>
          <a:ln w="31750">
            <a:solidFill>
              <a:srgbClr val="111111"/>
            </a:solidFill>
          </a:ln>
        </p:spPr>
        <p:txBody>
          <a:bodyPr wrap="square" lIns="76200" tIns="76200" rIns="76200" bIns="76200" rtlCol="0" anchor="ctr"/>
          <a:lstStyle/>
          <a:p>
            <a:pPr indent="0" marL="0">
              <a:buNone/>
            </a:pPr>
            <a:r>
              <a:rPr lang="en-US" sz="1250" dirty="0">
                <a:solidFill>
                  <a:srgbClr val="111111"/>
                </a:solidFill>
                <a:latin typeface="Calibri" pitchFamily="34" charset="0"/>
                <a:ea typeface="Calibri" pitchFamily="34" charset="-122"/>
                <a:cs typeface="Calibri" pitchFamily="34" charset="-120"/>
              </a:rPr>
              <a:t>Put them in order: least cooked → most cooked.</a:t>
            </a:r>
            <a:endParaRPr lang="en-US" sz="1250" dirty="0"/>
          </a:p>
          <a:p>
            <a:pPr indent="0" marL="0">
              <a:buNone/>
            </a:pPr>
            <a:r>
              <a:rPr lang="en-US" sz="1100" i="1" dirty="0">
                <a:solidFill>
                  <a:srgbClr val="334155"/>
                </a:solidFill>
                <a:latin typeface="Calibri" pitchFamily="34" charset="0"/>
                <a:ea typeface="Calibri" pitchFamily="34" charset="-122"/>
                <a:cs typeface="Calibri" pitchFamily="34" charset="-120"/>
              </a:rPr>
              <a:t>In ordine: dal meno cotto al più cotto.</a:t>
            </a:r>
            <a:endParaRPr lang="en-US" sz="1250" dirty="0"/>
          </a:p>
        </p:txBody>
      </p:sp>
      <p:sp>
        <p:nvSpPr>
          <p:cNvPr id="11" name="rt_58"/>
          <p:cNvSpPr txBox="1"/>
          <p:nvPr/>
        </p:nvSpPr>
        <p:spPr>
          <a:xfrm>
            <a:off x="2788920" y="1325880"/>
            <a:ext cx="1828800" cy="365760"/>
          </a:xfrm>
          <a:prstGeom prst="rect">
            <a:avLst/>
          </a:prstGeom>
          <a:solidFill>
            <a:srgbClr val="1FA463"/>
          </a:solidFill>
          <a:ln w="19050">
            <a:solidFill>
              <a:srgbClr val="111111"/>
            </a:solidFill>
          </a:ln>
        </p:spPr>
        <p:txBody>
          <a:bodyPr wrap="square" lIns="25400" tIns="25400" rIns="25400" bIns="25400" rtlCol="0" anchor="ctr"/>
          <a:lstStyle/>
          <a:p>
            <a:pPr algn="ctr" indent="0" marL="0">
              <a:buNone/>
            </a:pPr>
            <a:r>
              <a:rPr lang="en-US" sz="1100" dirty="0">
                <a:solidFill>
                  <a:srgbClr val="FFFFFF"/>
                </a:solidFill>
                <a:latin typeface="Arial Black" pitchFamily="34" charset="0"/>
                <a:ea typeface="Arial Black" pitchFamily="34" charset="-122"/>
                <a:cs typeface="Arial Black" pitchFamily="34" charset="-120"/>
              </a:rPr>
              <a:t>LEAST COOKED</a:t>
            </a:r>
            <a:endParaRPr lang="en-US" sz="1100" dirty="0"/>
          </a:p>
        </p:txBody>
      </p:sp>
      <p:sp>
        <p:nvSpPr>
          <p:cNvPr id="12" name="rb_59"/>
          <p:cNvSpPr txBox="1"/>
          <p:nvPr/>
        </p:nvSpPr>
        <p:spPr>
          <a:xfrm>
            <a:off x="2788920" y="4297680"/>
            <a:ext cx="1828800" cy="365760"/>
          </a:xfrm>
          <a:prstGeom prst="rect">
            <a:avLst/>
          </a:prstGeom>
          <a:solidFill>
            <a:srgbClr val="EF2F2F"/>
          </a:solidFill>
          <a:ln w="19050">
            <a:solidFill>
              <a:srgbClr val="111111"/>
            </a:solidFill>
          </a:ln>
        </p:spPr>
        <p:txBody>
          <a:bodyPr wrap="square" lIns="25400" tIns="25400" rIns="25400" bIns="25400" rtlCol="0" anchor="ctr"/>
          <a:lstStyle/>
          <a:p>
            <a:pPr algn="ctr" indent="0" marL="0">
              <a:buNone/>
            </a:pPr>
            <a:r>
              <a:rPr lang="en-US" sz="1100" dirty="0">
                <a:solidFill>
                  <a:srgbClr val="FFFFFF"/>
                </a:solidFill>
                <a:latin typeface="Arial Black" pitchFamily="34" charset="0"/>
                <a:ea typeface="Arial Black" pitchFamily="34" charset="-122"/>
                <a:cs typeface="Arial Black" pitchFamily="34" charset="-120"/>
              </a:rPr>
              <a:t>MOST COOKED</a:t>
            </a:r>
            <a:endParaRPr lang="en-US" sz="1100" dirty="0"/>
          </a:p>
        </p:txBody>
      </p:sp>
      <p:sp>
        <p:nvSpPr>
          <p:cNvPr id="13" name="arrow_60"/>
          <p:cNvSpPr/>
          <p:nvPr/>
        </p:nvSpPr>
        <p:spPr>
          <a:xfrm>
            <a:off x="3474720" y="1783080"/>
            <a:ext cx="457200" cy="2423160"/>
          </a:xfrm>
          <a:prstGeom prst="upArrow">
            <a:avLst/>
          </a:prstGeom>
          <a:solidFill>
            <a:srgbClr val="C9B3F0"/>
          </a:solidFill>
          <a:ln w="19050">
            <a:solidFill>
              <a:srgbClr val="111111"/>
            </a:solidFill>
            <a:prstDash val="solid"/>
          </a:ln>
        </p:spPr>
      </p:sp>
      <p:sp>
        <p:nvSpPr>
          <p:cNvPr id="14" name="slot_61"/>
          <p:cNvSpPr txBox="1"/>
          <p:nvPr/>
        </p:nvSpPr>
        <p:spPr>
          <a:xfrm>
            <a:off x="4800600" y="1325880"/>
            <a:ext cx="411480" cy="480060"/>
          </a:xfrm>
          <a:prstGeom prst="rect">
            <a:avLst/>
          </a:prstGeom>
          <a:solidFill>
            <a:srgbClr val="FFFFFF"/>
          </a:solidFill>
          <a:ln w="25400">
            <a:solidFill>
              <a:srgbClr val="6D3FC0"/>
            </a:solidFill>
            <a:prstDash val="dash"/>
          </a:ln>
        </p:spPr>
        <p:txBody>
          <a:bodyPr wrap="square" lIns="0" tIns="0" rIns="0" bIns="0" rtlCol="0" anchor="ctr"/>
          <a:lstStyle/>
          <a:p>
            <a:pPr algn="ctr" indent="0" marL="0">
              <a:buNone/>
            </a:pPr>
            <a:r>
              <a:rPr lang="en-US" sz="1400" dirty="0">
                <a:solidFill>
                  <a:srgbClr val="6D3FC0"/>
                </a:solidFill>
                <a:latin typeface="Arial Black" pitchFamily="34" charset="0"/>
                <a:ea typeface="Arial Black" pitchFamily="34" charset="-122"/>
                <a:cs typeface="Arial Black" pitchFamily="34" charset="-120"/>
              </a:rPr>
              <a:t>?</a:t>
            </a:r>
            <a:endParaRPr lang="en-US" sz="1400" dirty="0"/>
          </a:p>
        </p:txBody>
      </p:sp>
      <p:sp>
        <p:nvSpPr>
          <p:cNvPr id="15" name="box_62"/>
          <p:cNvSpPr txBox="1"/>
          <p:nvPr/>
        </p:nvSpPr>
        <p:spPr>
          <a:xfrm>
            <a:off x="5303520" y="1325880"/>
            <a:ext cx="3520440" cy="480060"/>
          </a:xfrm>
          <a:prstGeom prst="rect">
            <a:avLst/>
          </a:prstGeom>
          <a:solidFill>
            <a:srgbClr val="E0F2FE"/>
          </a:solidFill>
          <a:ln w="15875">
            <a:solidFill>
              <a:srgbClr val="111111"/>
            </a:solidFill>
          </a:ln>
        </p:spPr>
        <p:txBody>
          <a:bodyPr wrap="square" lIns="76200" tIns="76200" rIns="76200" bIns="76200" rtlCol="0" anchor="ctr"/>
          <a:lstStyle/>
          <a:p>
            <a:pPr algn="l" indent="0" marL="0">
              <a:buNone/>
            </a:pPr>
            <a:r>
              <a:rPr lang="en-US" sz="1300" b="1" dirty="0">
                <a:solidFill>
                  <a:srgbClr val="111111"/>
                </a:solidFill>
                <a:latin typeface="Calibri" pitchFamily="34" charset="0"/>
                <a:ea typeface="Calibri" pitchFamily="34" charset="-122"/>
                <a:cs typeface="Calibri" pitchFamily="34" charset="-120"/>
              </a:rPr>
              <a:t>medium</a:t>
            </a:r>
            <a:endParaRPr lang="en-US" sz="1300" dirty="0"/>
          </a:p>
        </p:txBody>
      </p:sp>
      <p:sp>
        <p:nvSpPr>
          <p:cNvPr id="16" name="slot_63"/>
          <p:cNvSpPr txBox="1"/>
          <p:nvPr/>
        </p:nvSpPr>
        <p:spPr>
          <a:xfrm>
            <a:off x="4800600" y="1897380"/>
            <a:ext cx="411480" cy="480060"/>
          </a:xfrm>
          <a:prstGeom prst="rect">
            <a:avLst/>
          </a:prstGeom>
          <a:solidFill>
            <a:srgbClr val="FFFFFF"/>
          </a:solidFill>
          <a:ln w="25400">
            <a:solidFill>
              <a:srgbClr val="6D3FC0"/>
            </a:solidFill>
            <a:prstDash val="dash"/>
          </a:ln>
        </p:spPr>
        <p:txBody>
          <a:bodyPr wrap="square" lIns="0" tIns="0" rIns="0" bIns="0" rtlCol="0" anchor="ctr"/>
          <a:lstStyle/>
          <a:p>
            <a:pPr algn="ctr" indent="0" marL="0">
              <a:buNone/>
            </a:pPr>
            <a:r>
              <a:rPr lang="en-US" sz="1400" dirty="0">
                <a:solidFill>
                  <a:srgbClr val="6D3FC0"/>
                </a:solidFill>
                <a:latin typeface="Arial Black" pitchFamily="34" charset="0"/>
                <a:ea typeface="Arial Black" pitchFamily="34" charset="-122"/>
                <a:cs typeface="Arial Black" pitchFamily="34" charset="-120"/>
              </a:rPr>
              <a:t>?</a:t>
            </a:r>
            <a:endParaRPr lang="en-US" sz="1400" dirty="0"/>
          </a:p>
        </p:txBody>
      </p:sp>
      <p:sp>
        <p:nvSpPr>
          <p:cNvPr id="17" name="box_64"/>
          <p:cNvSpPr txBox="1"/>
          <p:nvPr/>
        </p:nvSpPr>
        <p:spPr>
          <a:xfrm>
            <a:off x="5303520" y="1897380"/>
            <a:ext cx="3520440" cy="480060"/>
          </a:xfrm>
          <a:prstGeom prst="rect">
            <a:avLst/>
          </a:prstGeom>
          <a:solidFill>
            <a:srgbClr val="FCE7F3"/>
          </a:solidFill>
          <a:ln w="15875">
            <a:solidFill>
              <a:srgbClr val="111111"/>
            </a:solidFill>
          </a:ln>
        </p:spPr>
        <p:txBody>
          <a:bodyPr wrap="square" lIns="76200" tIns="76200" rIns="76200" bIns="76200" rtlCol="0" anchor="ctr"/>
          <a:lstStyle/>
          <a:p>
            <a:pPr algn="l" indent="0" marL="0">
              <a:buNone/>
            </a:pPr>
            <a:r>
              <a:rPr lang="en-US" sz="1300" b="1" dirty="0">
                <a:solidFill>
                  <a:srgbClr val="111111"/>
                </a:solidFill>
                <a:latin typeface="Calibri" pitchFamily="34" charset="0"/>
                <a:ea typeface="Calibri" pitchFamily="34" charset="-122"/>
                <a:cs typeface="Calibri" pitchFamily="34" charset="-120"/>
              </a:rPr>
              <a:t>well done</a:t>
            </a:r>
            <a:endParaRPr lang="en-US" sz="1300" dirty="0"/>
          </a:p>
        </p:txBody>
      </p:sp>
      <p:sp>
        <p:nvSpPr>
          <p:cNvPr id="18" name="slot_65"/>
          <p:cNvSpPr txBox="1"/>
          <p:nvPr/>
        </p:nvSpPr>
        <p:spPr>
          <a:xfrm>
            <a:off x="4800600" y="2468880"/>
            <a:ext cx="411480" cy="480060"/>
          </a:xfrm>
          <a:prstGeom prst="rect">
            <a:avLst/>
          </a:prstGeom>
          <a:solidFill>
            <a:srgbClr val="FFFFFF"/>
          </a:solidFill>
          <a:ln w="25400">
            <a:solidFill>
              <a:srgbClr val="6D3FC0"/>
            </a:solidFill>
            <a:prstDash val="dash"/>
          </a:ln>
        </p:spPr>
        <p:txBody>
          <a:bodyPr wrap="square" lIns="0" tIns="0" rIns="0" bIns="0" rtlCol="0" anchor="ctr"/>
          <a:lstStyle/>
          <a:p>
            <a:pPr algn="ctr" indent="0" marL="0">
              <a:buNone/>
            </a:pPr>
            <a:r>
              <a:rPr lang="en-US" sz="1400" dirty="0">
                <a:solidFill>
                  <a:srgbClr val="6D3FC0"/>
                </a:solidFill>
                <a:latin typeface="Arial Black" pitchFamily="34" charset="0"/>
                <a:ea typeface="Arial Black" pitchFamily="34" charset="-122"/>
                <a:cs typeface="Arial Black" pitchFamily="34" charset="-120"/>
              </a:rPr>
              <a:t>?</a:t>
            </a:r>
            <a:endParaRPr lang="en-US" sz="1400" dirty="0"/>
          </a:p>
        </p:txBody>
      </p:sp>
      <p:sp>
        <p:nvSpPr>
          <p:cNvPr id="19" name="box_66"/>
          <p:cNvSpPr txBox="1"/>
          <p:nvPr/>
        </p:nvSpPr>
        <p:spPr>
          <a:xfrm>
            <a:off x="5303520" y="2468880"/>
            <a:ext cx="3520440" cy="480060"/>
          </a:xfrm>
          <a:prstGeom prst="rect">
            <a:avLst/>
          </a:prstGeom>
          <a:solidFill>
            <a:srgbClr val="FEF9C3"/>
          </a:solidFill>
          <a:ln w="15875">
            <a:solidFill>
              <a:srgbClr val="111111"/>
            </a:solidFill>
          </a:ln>
        </p:spPr>
        <p:txBody>
          <a:bodyPr wrap="square" lIns="76200" tIns="76200" rIns="76200" bIns="76200" rtlCol="0" anchor="ctr"/>
          <a:lstStyle/>
          <a:p>
            <a:pPr algn="l" indent="0" marL="0">
              <a:buNone/>
            </a:pPr>
            <a:r>
              <a:rPr lang="en-US" sz="1300" b="1" dirty="0">
                <a:solidFill>
                  <a:srgbClr val="111111"/>
                </a:solidFill>
                <a:latin typeface="Calibri" pitchFamily="34" charset="0"/>
                <a:ea typeface="Calibri" pitchFamily="34" charset="-122"/>
                <a:cs typeface="Calibri" pitchFamily="34" charset="-120"/>
              </a:rPr>
              <a:t>blue</a:t>
            </a:r>
            <a:endParaRPr lang="en-US" sz="1300" dirty="0"/>
          </a:p>
        </p:txBody>
      </p:sp>
      <p:sp>
        <p:nvSpPr>
          <p:cNvPr id="20" name="slot_67"/>
          <p:cNvSpPr txBox="1"/>
          <p:nvPr/>
        </p:nvSpPr>
        <p:spPr>
          <a:xfrm>
            <a:off x="4800600" y="3040380"/>
            <a:ext cx="411480" cy="480060"/>
          </a:xfrm>
          <a:prstGeom prst="rect">
            <a:avLst/>
          </a:prstGeom>
          <a:solidFill>
            <a:srgbClr val="FFFFFF"/>
          </a:solidFill>
          <a:ln w="25400">
            <a:solidFill>
              <a:srgbClr val="6D3FC0"/>
            </a:solidFill>
            <a:prstDash val="dash"/>
          </a:ln>
        </p:spPr>
        <p:txBody>
          <a:bodyPr wrap="square" lIns="0" tIns="0" rIns="0" bIns="0" rtlCol="0" anchor="ctr"/>
          <a:lstStyle/>
          <a:p>
            <a:pPr algn="ctr" indent="0" marL="0">
              <a:buNone/>
            </a:pPr>
            <a:r>
              <a:rPr lang="en-US" sz="1400" dirty="0">
                <a:solidFill>
                  <a:srgbClr val="6D3FC0"/>
                </a:solidFill>
                <a:latin typeface="Arial Black" pitchFamily="34" charset="0"/>
                <a:ea typeface="Arial Black" pitchFamily="34" charset="-122"/>
                <a:cs typeface="Arial Black" pitchFamily="34" charset="-120"/>
              </a:rPr>
              <a:t>?</a:t>
            </a:r>
            <a:endParaRPr lang="en-US" sz="1400" dirty="0"/>
          </a:p>
        </p:txBody>
      </p:sp>
      <p:sp>
        <p:nvSpPr>
          <p:cNvPr id="21" name="box_68"/>
          <p:cNvSpPr txBox="1"/>
          <p:nvPr/>
        </p:nvSpPr>
        <p:spPr>
          <a:xfrm>
            <a:off x="5303520" y="3040380"/>
            <a:ext cx="3520440" cy="480060"/>
          </a:xfrm>
          <a:prstGeom prst="rect">
            <a:avLst/>
          </a:prstGeom>
          <a:solidFill>
            <a:srgbClr val="DCFCE7"/>
          </a:solidFill>
          <a:ln w="15875">
            <a:solidFill>
              <a:srgbClr val="111111"/>
            </a:solidFill>
          </a:ln>
        </p:spPr>
        <p:txBody>
          <a:bodyPr wrap="square" lIns="76200" tIns="76200" rIns="76200" bIns="76200" rtlCol="0" anchor="ctr"/>
          <a:lstStyle/>
          <a:p>
            <a:pPr algn="l" indent="0" marL="0">
              <a:buNone/>
            </a:pPr>
            <a:r>
              <a:rPr lang="en-US" sz="1300" b="1" dirty="0">
                <a:solidFill>
                  <a:srgbClr val="111111"/>
                </a:solidFill>
                <a:latin typeface="Calibri" pitchFamily="34" charset="0"/>
                <a:ea typeface="Calibri" pitchFamily="34" charset="-122"/>
                <a:cs typeface="Calibri" pitchFamily="34" charset="-120"/>
              </a:rPr>
              <a:t>medium rare</a:t>
            </a:r>
            <a:endParaRPr lang="en-US" sz="1300" dirty="0"/>
          </a:p>
        </p:txBody>
      </p:sp>
      <p:sp>
        <p:nvSpPr>
          <p:cNvPr id="22" name="slot_69"/>
          <p:cNvSpPr txBox="1"/>
          <p:nvPr/>
        </p:nvSpPr>
        <p:spPr>
          <a:xfrm>
            <a:off x="4800600" y="3611880"/>
            <a:ext cx="411480" cy="480060"/>
          </a:xfrm>
          <a:prstGeom prst="rect">
            <a:avLst/>
          </a:prstGeom>
          <a:solidFill>
            <a:srgbClr val="FFFFFF"/>
          </a:solidFill>
          <a:ln w="25400">
            <a:solidFill>
              <a:srgbClr val="6D3FC0"/>
            </a:solidFill>
            <a:prstDash val="dash"/>
          </a:ln>
        </p:spPr>
        <p:txBody>
          <a:bodyPr wrap="square" lIns="0" tIns="0" rIns="0" bIns="0" rtlCol="0" anchor="ctr"/>
          <a:lstStyle/>
          <a:p>
            <a:pPr algn="ctr" indent="0" marL="0">
              <a:buNone/>
            </a:pPr>
            <a:r>
              <a:rPr lang="en-US" sz="1400" dirty="0">
                <a:solidFill>
                  <a:srgbClr val="6D3FC0"/>
                </a:solidFill>
                <a:latin typeface="Arial Black" pitchFamily="34" charset="0"/>
                <a:ea typeface="Arial Black" pitchFamily="34" charset="-122"/>
                <a:cs typeface="Arial Black" pitchFamily="34" charset="-120"/>
              </a:rPr>
              <a:t>?</a:t>
            </a:r>
            <a:endParaRPr lang="en-US" sz="1400" dirty="0"/>
          </a:p>
        </p:txBody>
      </p:sp>
      <p:sp>
        <p:nvSpPr>
          <p:cNvPr id="23" name="box_70"/>
          <p:cNvSpPr txBox="1"/>
          <p:nvPr/>
        </p:nvSpPr>
        <p:spPr>
          <a:xfrm>
            <a:off x="5303520" y="3611880"/>
            <a:ext cx="3520440" cy="480060"/>
          </a:xfrm>
          <a:prstGeom prst="rect">
            <a:avLst/>
          </a:prstGeom>
          <a:solidFill>
            <a:srgbClr val="EDE9FE"/>
          </a:solidFill>
          <a:ln w="15875">
            <a:solidFill>
              <a:srgbClr val="111111"/>
            </a:solidFill>
          </a:ln>
        </p:spPr>
        <p:txBody>
          <a:bodyPr wrap="square" lIns="76200" tIns="76200" rIns="76200" bIns="76200" rtlCol="0" anchor="ctr"/>
          <a:lstStyle/>
          <a:p>
            <a:pPr algn="l" indent="0" marL="0">
              <a:buNone/>
            </a:pPr>
            <a:r>
              <a:rPr lang="en-US" sz="1300" b="1" dirty="0">
                <a:solidFill>
                  <a:srgbClr val="111111"/>
                </a:solidFill>
                <a:latin typeface="Calibri" pitchFamily="34" charset="0"/>
                <a:ea typeface="Calibri" pitchFamily="34" charset="-122"/>
                <a:cs typeface="Calibri" pitchFamily="34" charset="-120"/>
              </a:rPr>
              <a:t>rare</a:t>
            </a:r>
            <a:endParaRPr lang="en-US" sz="1300" dirty="0"/>
          </a:p>
        </p:txBody>
      </p:sp>
      <p:sp>
        <p:nvSpPr>
          <p:cNvPr id="24" name="slot_71"/>
          <p:cNvSpPr txBox="1"/>
          <p:nvPr/>
        </p:nvSpPr>
        <p:spPr>
          <a:xfrm>
            <a:off x="4800600" y="4183380"/>
            <a:ext cx="411480" cy="480060"/>
          </a:xfrm>
          <a:prstGeom prst="rect">
            <a:avLst/>
          </a:prstGeom>
          <a:solidFill>
            <a:srgbClr val="FFFFFF"/>
          </a:solidFill>
          <a:ln w="25400">
            <a:solidFill>
              <a:srgbClr val="6D3FC0"/>
            </a:solidFill>
            <a:prstDash val="dash"/>
          </a:ln>
        </p:spPr>
        <p:txBody>
          <a:bodyPr wrap="square" lIns="0" tIns="0" rIns="0" bIns="0" rtlCol="0" anchor="ctr"/>
          <a:lstStyle/>
          <a:p>
            <a:pPr algn="ctr" indent="0" marL="0">
              <a:buNone/>
            </a:pPr>
            <a:r>
              <a:rPr lang="en-US" sz="1400" dirty="0">
                <a:solidFill>
                  <a:srgbClr val="6D3FC0"/>
                </a:solidFill>
                <a:latin typeface="Arial Black" pitchFamily="34" charset="0"/>
                <a:ea typeface="Arial Black" pitchFamily="34" charset="-122"/>
                <a:cs typeface="Arial Black" pitchFamily="34" charset="-120"/>
              </a:rPr>
              <a:t>?</a:t>
            </a:r>
            <a:endParaRPr lang="en-US" sz="1400" dirty="0"/>
          </a:p>
        </p:txBody>
      </p:sp>
      <p:sp>
        <p:nvSpPr>
          <p:cNvPr id="25" name="box_72"/>
          <p:cNvSpPr txBox="1"/>
          <p:nvPr/>
        </p:nvSpPr>
        <p:spPr>
          <a:xfrm>
            <a:off x="5303520" y="4183380"/>
            <a:ext cx="3520440" cy="480060"/>
          </a:xfrm>
          <a:prstGeom prst="rect">
            <a:avLst/>
          </a:prstGeom>
          <a:solidFill>
            <a:srgbClr val="FFEDD5"/>
          </a:solidFill>
          <a:ln w="15875">
            <a:solidFill>
              <a:srgbClr val="111111"/>
            </a:solidFill>
          </a:ln>
        </p:spPr>
        <p:txBody>
          <a:bodyPr wrap="square" lIns="76200" tIns="76200" rIns="76200" bIns="76200" rtlCol="0" anchor="ctr"/>
          <a:lstStyle/>
          <a:p>
            <a:pPr algn="l" indent="0" marL="0">
              <a:buNone/>
            </a:pPr>
            <a:r>
              <a:rPr lang="en-US" sz="1300" b="1" dirty="0">
                <a:solidFill>
                  <a:srgbClr val="111111"/>
                </a:solidFill>
                <a:latin typeface="Calibri" pitchFamily="34" charset="0"/>
                <a:ea typeface="Calibri" pitchFamily="34" charset="-122"/>
                <a:cs typeface="Calibri" pitchFamily="34" charset="-120"/>
              </a:rPr>
              <a:t>medium well</a:t>
            </a:r>
            <a:endParaRPr lang="en-US" sz="1300" dirty="0"/>
          </a:p>
        </p:txBody>
      </p:sp>
      <p:sp>
        <p:nvSpPr>
          <p:cNvPr id="26" name="R1_ans"/>
          <p:cNvSpPr txBox="1"/>
          <p:nvPr/>
        </p:nvSpPr>
        <p:spPr>
          <a:xfrm rot="-120000">
            <a:off x="411480" y="3886200"/>
            <a:ext cx="2240280" cy="777240"/>
          </a:xfrm>
          <a:prstGeom prst="rect">
            <a:avLst/>
          </a:prstGeom>
          <a:solidFill>
            <a:srgbClr val="FFD84D"/>
          </a:solidFill>
          <a:ln w="12700">
            <a:solidFill>
              <a:srgbClr val="B7950B"/>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algn="ctr" indent="0" marL="0">
              <a:buNone/>
            </a:pPr>
            <a:r>
              <a:rPr lang="en-US" sz="1100" b="1" dirty="0">
                <a:solidFill>
                  <a:srgbClr val="111111"/>
                </a:solidFill>
                <a:latin typeface="Calibri" pitchFamily="34" charset="0"/>
                <a:ea typeface="Calibri" pitchFamily="34" charset="-122"/>
                <a:cs typeface="Calibri" pitchFamily="34" charset="-120"/>
              </a:rPr>
              <a:t>blue → rare → medium rare → medium → medium well → well done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73"/>
          <p:cNvSpPr/>
          <p:nvPr/>
        </p:nvSpPr>
        <p:spPr>
          <a:xfrm>
            <a:off x="54864" y="54864"/>
            <a:ext cx="9034272" cy="5033772"/>
          </a:xfrm>
          <a:prstGeom prst="rect">
            <a:avLst/>
          </a:prstGeom>
          <a:ln w="114300">
            <a:solidFill>
              <a:srgbClr val="C9B3F0"/>
            </a:solidFill>
            <a:prstDash val="solid"/>
          </a:ln>
        </p:spPr>
      </p:sp>
      <p:pic>
        <p:nvPicPr>
          <p:cNvPr id="3" name="logo_74"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objective_75"/>
          <p:cNvSpPr txBox="1"/>
          <p:nvPr/>
        </p:nvSpPr>
        <p:spPr>
          <a:xfrm>
            <a:off x="320040" y="182880"/>
            <a:ext cx="4754880" cy="365760"/>
          </a:xfrm>
          <a:prstGeom prst="roundRect">
            <a:avLst>
              <a:gd name="adj" fmla="val 20000"/>
            </a:avLst>
          </a:prstGeom>
          <a:solidFill>
            <a:srgbClr val="062F67"/>
          </a:solidFill>
          <a:ln w="31750">
            <a:solidFill>
              <a:srgbClr val="111111"/>
            </a:solidFill>
          </a:ln>
        </p:spPr>
        <p:txBody>
          <a:bodyPr wrap="square" lIns="101600" tIns="101600" rIns="101600" bIns="101600" rtlCol="0" anchor="ctr"/>
          <a:lstStyle/>
          <a:p>
            <a:pPr indent="0" marL="0">
              <a:buNone/>
            </a:pPr>
            <a:r>
              <a:rPr lang="en-US" sz="1100" dirty="0">
                <a:solidFill>
                  <a:srgbClr val="FFFFFF"/>
                </a:solidFill>
                <a:latin typeface="Arial Black" pitchFamily="34" charset="0"/>
                <a:ea typeface="Arial Black" pitchFamily="34" charset="-122"/>
                <a:cs typeface="Arial Black" pitchFamily="34" charset="-120"/>
              </a:rPr>
              <a:t>VOCABULARY · Plating</a:t>
            </a:r>
            <a:endParaRPr lang="en-US" sz="1100" dirty="0"/>
          </a:p>
        </p:txBody>
      </p:sp>
      <p:sp>
        <p:nvSpPr>
          <p:cNvPr id="5" name="timer_76"/>
          <p:cNvSpPr txBox="1"/>
          <p:nvPr/>
        </p:nvSpPr>
        <p:spPr>
          <a:xfrm>
            <a:off x="7086600" y="219456"/>
            <a:ext cx="1005840" cy="310896"/>
          </a:xfrm>
          <a:prstGeom prst="roundRect">
            <a:avLst>
              <a:gd name="adj" fmla="val 23529"/>
            </a:avLst>
          </a:prstGeom>
          <a:solidFill>
            <a:srgbClr val="FFFFFF"/>
          </a:solidFill>
          <a:ln w="25400">
            <a:solidFill>
              <a:srgbClr val="6D3FC0"/>
            </a:solidFill>
          </a:ln>
        </p:spPr>
        <p:txBody>
          <a:bodyPr wrap="square" lIns="0" tIns="0" rIns="0" bIns="0" rtlCol="0" anchor="ctr"/>
          <a:lstStyle/>
          <a:p>
            <a:pPr algn="ctr" indent="0" marL="0">
              <a:buNone/>
            </a:pPr>
            <a:r>
              <a:rPr lang="en-US" sz="1200" b="1" dirty="0">
                <a:solidFill>
                  <a:srgbClr val="6D3FC0"/>
                </a:solidFill>
                <a:latin typeface="Calibri" pitchFamily="34" charset="0"/>
                <a:ea typeface="Calibri" pitchFamily="34" charset="-122"/>
                <a:cs typeface="Calibri" pitchFamily="34" charset="-120"/>
              </a:rPr>
              <a:t>⏱ 5 min</a:t>
            </a:r>
            <a:endParaRPr lang="en-US" sz="1200" dirty="0"/>
          </a:p>
        </p:txBody>
      </p:sp>
      <p:sp>
        <p:nvSpPr>
          <p:cNvPr id="6" name="footer_77"/>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7" name="title_78"/>
          <p:cNvSpPr txBox="1"/>
          <p:nvPr/>
        </p:nvSpPr>
        <p:spPr>
          <a:xfrm rot="-120000">
            <a:off x="320040" y="676656"/>
            <a:ext cx="2066544"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Plate up!</a:t>
            </a:r>
            <a:endParaRPr lang="en-US" sz="2000" dirty="0"/>
          </a:p>
        </p:txBody>
      </p:sp>
      <p:sp>
        <p:nvSpPr>
          <p:cNvPr id="8" name="post_79"/>
          <p:cNvSpPr/>
          <p:nvPr/>
        </p:nvSpPr>
        <p:spPr>
          <a:xfrm>
            <a:off x="429768" y="1554480"/>
            <a:ext cx="128016" cy="2194560"/>
          </a:xfrm>
          <a:prstGeom prst="rect">
            <a:avLst/>
          </a:prstGeom>
          <a:solidFill>
            <a:srgbClr val="8B5A2B"/>
          </a:solidFill>
          <a:ln w="31750">
            <a:solidFill>
              <a:srgbClr val="111111"/>
            </a:solidFill>
            <a:prstDash val="solid"/>
          </a:ln>
        </p:spPr>
      </p:sp>
      <p:sp>
        <p:nvSpPr>
          <p:cNvPr id="9" name="signA_80"/>
          <p:cNvSpPr txBox="1"/>
          <p:nvPr/>
        </p:nvSpPr>
        <p:spPr>
          <a:xfrm rot="-180000">
            <a:off x="320040" y="1371600"/>
            <a:ext cx="2240280" cy="457200"/>
          </a:xfrm>
          <a:prstGeom prst="homePlate">
            <a:avLst/>
          </a:prstGeom>
          <a:solidFill>
            <a:srgbClr val="062F67"/>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THINK!</a:t>
            </a:r>
            <a:pPr indent="0" marL="0">
              <a:buNone/>
            </a:pPr>
            <a:r>
              <a:rPr lang="en-US" sz="1000" dirty="0">
                <a:solidFill>
                  <a:srgbClr val="FFF3B0"/>
                </a:solidFill>
                <a:latin typeface="Arial Black" pitchFamily="34" charset="0"/>
                <a:ea typeface="Arial Black" pitchFamily="34" charset="-122"/>
                <a:cs typeface="Arial Black" pitchFamily="34" charset="-120"/>
              </a:rPr>
              <a:t>  PENSA!</a:t>
            </a:r>
            <a:endParaRPr lang="en-US" sz="1500" dirty="0"/>
          </a:p>
        </p:txBody>
      </p:sp>
      <p:sp>
        <p:nvSpPr>
          <p:cNvPr id="10" name="signB_81"/>
          <p:cNvSpPr txBox="1"/>
          <p:nvPr/>
        </p:nvSpPr>
        <p:spPr>
          <a:xfrm rot="120000">
            <a:off x="365760" y="1938528"/>
            <a:ext cx="2240280" cy="1051560"/>
          </a:xfrm>
          <a:prstGeom prst="rect">
            <a:avLst/>
          </a:prstGeom>
          <a:solidFill>
            <a:srgbClr val="FFFFFF"/>
          </a:solidFill>
          <a:ln w="31750">
            <a:solidFill>
              <a:srgbClr val="111111"/>
            </a:solidFill>
          </a:ln>
        </p:spPr>
        <p:txBody>
          <a:bodyPr wrap="square" lIns="76200" tIns="76200" rIns="76200" bIns="76200" rtlCol="0" anchor="ctr"/>
          <a:lstStyle/>
          <a:p>
            <a:pPr indent="0" marL="0">
              <a:buNone/>
            </a:pPr>
            <a:r>
              <a:rPr lang="en-US" sz="1250" dirty="0">
                <a:solidFill>
                  <a:srgbClr val="111111"/>
                </a:solidFill>
                <a:latin typeface="Calibri" pitchFamily="34" charset="0"/>
                <a:ea typeface="Calibri" pitchFamily="34" charset="-122"/>
                <a:cs typeface="Calibri" pitchFamily="34" charset="-120"/>
              </a:rPr>
              <a:t>Match. Then describe how you plate your best dish.</a:t>
            </a:r>
            <a:endParaRPr lang="en-US" sz="1250" dirty="0"/>
          </a:p>
          <a:p>
            <a:pPr indent="0" marL="0">
              <a:buNone/>
            </a:pPr>
            <a:r>
              <a:rPr lang="en-US" sz="1100" i="1" dirty="0">
                <a:solidFill>
                  <a:srgbClr val="334155"/>
                </a:solidFill>
                <a:latin typeface="Calibri" pitchFamily="34" charset="0"/>
                <a:ea typeface="Calibri" pitchFamily="34" charset="-122"/>
                <a:cs typeface="Calibri" pitchFamily="34" charset="-120"/>
              </a:rPr>
              <a:t>Abbina. Poi descrivi come impiatti il tuo piatto migliore.</a:t>
            </a:r>
            <a:endParaRPr lang="en-US" sz="1250" dirty="0"/>
          </a:p>
        </p:txBody>
      </p:sp>
      <p:sp>
        <p:nvSpPr>
          <p:cNvPr id="11" name="box_82"/>
          <p:cNvSpPr txBox="1"/>
          <p:nvPr/>
        </p:nvSpPr>
        <p:spPr>
          <a:xfrm>
            <a:off x="2788920" y="1371600"/>
            <a:ext cx="2715768" cy="457200"/>
          </a:xfrm>
          <a:prstGeom prst="rect">
            <a:avLst/>
          </a:prstGeom>
          <a:solidFill>
            <a:srgbClr val="E0F2FE"/>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1  plate up</a:t>
            </a:r>
            <a:endParaRPr lang="en-US" sz="1250" dirty="0"/>
          </a:p>
        </p:txBody>
      </p:sp>
      <p:sp>
        <p:nvSpPr>
          <p:cNvPr id="12" name="R1_m0"/>
          <p:cNvSpPr txBox="1"/>
          <p:nvPr/>
        </p:nvSpPr>
        <p:spPr>
          <a:xfrm>
            <a:off x="5577840" y="1389888"/>
            <a:ext cx="3246120" cy="420624"/>
          </a:xfrm>
          <a:prstGeom prst="roundRect">
            <a:avLst>
              <a:gd name="adj" fmla="val 13043"/>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impiattare</a:t>
            </a:r>
            <a:endParaRPr lang="en-US" sz="1150" dirty="0"/>
          </a:p>
        </p:txBody>
      </p:sp>
      <p:sp>
        <p:nvSpPr>
          <p:cNvPr id="13" name="box_83"/>
          <p:cNvSpPr txBox="1"/>
          <p:nvPr/>
        </p:nvSpPr>
        <p:spPr>
          <a:xfrm>
            <a:off x="2788920" y="1901952"/>
            <a:ext cx="2715768" cy="457200"/>
          </a:xfrm>
          <a:prstGeom prst="rect">
            <a:avLst/>
          </a:prstGeom>
          <a:solidFill>
            <a:srgbClr val="FCE7F3"/>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2  garnish</a:t>
            </a:r>
            <a:endParaRPr lang="en-US" sz="1250" dirty="0"/>
          </a:p>
        </p:txBody>
      </p:sp>
      <p:sp>
        <p:nvSpPr>
          <p:cNvPr id="14" name="R1_m1"/>
          <p:cNvSpPr txBox="1"/>
          <p:nvPr/>
        </p:nvSpPr>
        <p:spPr>
          <a:xfrm>
            <a:off x="5577840" y="1920240"/>
            <a:ext cx="3246120" cy="420624"/>
          </a:xfrm>
          <a:prstGeom prst="roundRect">
            <a:avLst>
              <a:gd name="adj" fmla="val 13043"/>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guarnire</a:t>
            </a:r>
            <a:endParaRPr lang="en-US" sz="1150" dirty="0"/>
          </a:p>
        </p:txBody>
      </p:sp>
      <p:sp>
        <p:nvSpPr>
          <p:cNvPr id="15" name="box_84"/>
          <p:cNvSpPr txBox="1"/>
          <p:nvPr/>
        </p:nvSpPr>
        <p:spPr>
          <a:xfrm>
            <a:off x="2788920" y="2432304"/>
            <a:ext cx="2715768" cy="457200"/>
          </a:xfrm>
          <a:prstGeom prst="rect">
            <a:avLst/>
          </a:prstGeom>
          <a:solidFill>
            <a:srgbClr val="FEF9C3"/>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3  drizzle (oil)</a:t>
            </a:r>
            <a:endParaRPr lang="en-US" sz="1250" dirty="0"/>
          </a:p>
        </p:txBody>
      </p:sp>
      <p:sp>
        <p:nvSpPr>
          <p:cNvPr id="16" name="R1_m2"/>
          <p:cNvSpPr txBox="1"/>
          <p:nvPr/>
        </p:nvSpPr>
        <p:spPr>
          <a:xfrm>
            <a:off x="5577840" y="2450592"/>
            <a:ext cx="3246120" cy="420624"/>
          </a:xfrm>
          <a:prstGeom prst="roundRect">
            <a:avLst>
              <a:gd name="adj" fmla="val 13043"/>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un filo d'olio</a:t>
            </a:r>
            <a:endParaRPr lang="en-US" sz="1150" dirty="0"/>
          </a:p>
        </p:txBody>
      </p:sp>
      <p:sp>
        <p:nvSpPr>
          <p:cNvPr id="17" name="box_85"/>
          <p:cNvSpPr txBox="1"/>
          <p:nvPr/>
        </p:nvSpPr>
        <p:spPr>
          <a:xfrm>
            <a:off x="2788920" y="2962656"/>
            <a:ext cx="2715768" cy="457200"/>
          </a:xfrm>
          <a:prstGeom prst="rect">
            <a:avLst/>
          </a:prstGeom>
          <a:solidFill>
            <a:srgbClr val="DCFCE7"/>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4  wipe the rim</a:t>
            </a:r>
            <a:endParaRPr lang="en-US" sz="1250" dirty="0"/>
          </a:p>
        </p:txBody>
      </p:sp>
      <p:sp>
        <p:nvSpPr>
          <p:cNvPr id="18" name="R1_m3"/>
          <p:cNvSpPr txBox="1"/>
          <p:nvPr/>
        </p:nvSpPr>
        <p:spPr>
          <a:xfrm>
            <a:off x="5577840" y="2980944"/>
            <a:ext cx="3246120" cy="420624"/>
          </a:xfrm>
          <a:prstGeom prst="roundRect">
            <a:avLst>
              <a:gd name="adj" fmla="val 13043"/>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pulire il bordo</a:t>
            </a:r>
            <a:endParaRPr lang="en-US" sz="1150" dirty="0"/>
          </a:p>
        </p:txBody>
      </p:sp>
      <p:sp>
        <p:nvSpPr>
          <p:cNvPr id="19" name="box_86"/>
          <p:cNvSpPr txBox="1"/>
          <p:nvPr/>
        </p:nvSpPr>
        <p:spPr>
          <a:xfrm>
            <a:off x="2788920" y="3493008"/>
            <a:ext cx="2715768" cy="457200"/>
          </a:xfrm>
          <a:prstGeom prst="rect">
            <a:avLst/>
          </a:prstGeom>
          <a:solidFill>
            <a:srgbClr val="EDE9FE"/>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5  warm the plates</a:t>
            </a:r>
            <a:endParaRPr lang="en-US" sz="1250" dirty="0"/>
          </a:p>
        </p:txBody>
      </p:sp>
      <p:sp>
        <p:nvSpPr>
          <p:cNvPr id="20" name="R1_m4"/>
          <p:cNvSpPr txBox="1"/>
          <p:nvPr/>
        </p:nvSpPr>
        <p:spPr>
          <a:xfrm>
            <a:off x="5577840" y="3511296"/>
            <a:ext cx="3246120" cy="420624"/>
          </a:xfrm>
          <a:prstGeom prst="roundRect">
            <a:avLst>
              <a:gd name="adj" fmla="val 13043"/>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scaldare i piatti</a:t>
            </a:r>
            <a:endParaRPr lang="en-US" sz="1150" dirty="0"/>
          </a:p>
        </p:txBody>
      </p:sp>
      <p:sp>
        <p:nvSpPr>
          <p:cNvPr id="21" name="box_87"/>
          <p:cNvSpPr txBox="1"/>
          <p:nvPr/>
        </p:nvSpPr>
        <p:spPr>
          <a:xfrm>
            <a:off x="2788920" y="4023360"/>
            <a:ext cx="2715768" cy="457200"/>
          </a:xfrm>
          <a:prstGeom prst="rect">
            <a:avLst/>
          </a:prstGeom>
          <a:solidFill>
            <a:srgbClr val="FFEDD5"/>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6  stack</a:t>
            </a:r>
            <a:endParaRPr lang="en-US" sz="1250" dirty="0"/>
          </a:p>
        </p:txBody>
      </p:sp>
      <p:sp>
        <p:nvSpPr>
          <p:cNvPr id="22" name="R1_m5"/>
          <p:cNvSpPr txBox="1"/>
          <p:nvPr/>
        </p:nvSpPr>
        <p:spPr>
          <a:xfrm>
            <a:off x="5577840" y="4041648"/>
            <a:ext cx="3246120" cy="420624"/>
          </a:xfrm>
          <a:prstGeom prst="roundRect">
            <a:avLst>
              <a:gd name="adj" fmla="val 13043"/>
            </a:avLst>
          </a:prstGeom>
          <a:solidFill>
            <a:srgbClr val="FFFFFF"/>
          </a:solidFill>
          <a:ln w="38100">
            <a:solidFill>
              <a:srgbClr val="1FA463"/>
            </a:solidFill>
          </a:ln>
        </p:spPr>
        <p:txBody>
          <a:bodyPr wrap="square" lIns="25400" tIns="25400" rIns="25400" bIns="25400" rtlCol="0" anchor="ctr"/>
          <a:lstStyle/>
          <a:p>
            <a:pPr algn="ctr" indent="0" marL="0">
              <a:buNone/>
            </a:pPr>
            <a:r>
              <a:rPr lang="en-US" sz="1150" dirty="0">
                <a:solidFill>
                  <a:srgbClr val="111111"/>
                </a:solidFill>
                <a:latin typeface="Calibri" pitchFamily="34" charset="0"/>
                <a:ea typeface="Calibri" pitchFamily="34" charset="-122"/>
                <a:cs typeface="Calibri" pitchFamily="34" charset="-120"/>
              </a:rPr>
              <a:t>impilare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88"/>
          <p:cNvSpPr/>
          <p:nvPr/>
        </p:nvSpPr>
        <p:spPr>
          <a:xfrm>
            <a:off x="54864" y="54864"/>
            <a:ext cx="9034272" cy="5033772"/>
          </a:xfrm>
          <a:prstGeom prst="rect">
            <a:avLst/>
          </a:prstGeom>
          <a:ln w="114300">
            <a:solidFill>
              <a:srgbClr val="C9B3F0"/>
            </a:solidFill>
            <a:prstDash val="solid"/>
          </a:ln>
        </p:spPr>
      </p:sp>
      <p:pic>
        <p:nvPicPr>
          <p:cNvPr id="3" name="logo_89"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objective_90"/>
          <p:cNvSpPr txBox="1"/>
          <p:nvPr/>
        </p:nvSpPr>
        <p:spPr>
          <a:xfrm>
            <a:off x="320040" y="182880"/>
            <a:ext cx="4754880" cy="365760"/>
          </a:xfrm>
          <a:prstGeom prst="roundRect">
            <a:avLst>
              <a:gd name="adj" fmla="val 20000"/>
            </a:avLst>
          </a:prstGeom>
          <a:solidFill>
            <a:srgbClr val="062F67"/>
          </a:solidFill>
          <a:ln w="31750">
            <a:solidFill>
              <a:srgbClr val="111111"/>
            </a:solidFill>
          </a:ln>
        </p:spPr>
        <p:txBody>
          <a:bodyPr wrap="square" lIns="101600" tIns="101600" rIns="101600" bIns="101600" rtlCol="0" anchor="ctr"/>
          <a:lstStyle/>
          <a:p>
            <a:pPr indent="0" marL="0">
              <a:buNone/>
            </a:pPr>
            <a:r>
              <a:rPr lang="en-US" sz="1100" dirty="0">
                <a:solidFill>
                  <a:srgbClr val="FFFFFF"/>
                </a:solidFill>
                <a:latin typeface="Arial Black" pitchFamily="34" charset="0"/>
                <a:ea typeface="Arial Black" pitchFamily="34" charset="-122"/>
                <a:cs typeface="Arial Black" pitchFamily="34" charset="-120"/>
              </a:rPr>
              <a:t>GRAMMAR · Present continuous</a:t>
            </a:r>
            <a:endParaRPr lang="en-US" sz="1100" dirty="0"/>
          </a:p>
        </p:txBody>
      </p:sp>
      <p:sp>
        <p:nvSpPr>
          <p:cNvPr id="5" name="timer_91"/>
          <p:cNvSpPr txBox="1"/>
          <p:nvPr/>
        </p:nvSpPr>
        <p:spPr>
          <a:xfrm>
            <a:off x="7086600" y="219456"/>
            <a:ext cx="1005840" cy="310896"/>
          </a:xfrm>
          <a:prstGeom prst="roundRect">
            <a:avLst>
              <a:gd name="adj" fmla="val 23529"/>
            </a:avLst>
          </a:prstGeom>
          <a:solidFill>
            <a:srgbClr val="FFFFFF"/>
          </a:solidFill>
          <a:ln w="25400">
            <a:solidFill>
              <a:srgbClr val="6D3FC0"/>
            </a:solidFill>
          </a:ln>
        </p:spPr>
        <p:txBody>
          <a:bodyPr wrap="square" lIns="0" tIns="0" rIns="0" bIns="0" rtlCol="0" anchor="ctr"/>
          <a:lstStyle/>
          <a:p>
            <a:pPr algn="ctr" indent="0" marL="0">
              <a:buNone/>
            </a:pPr>
            <a:r>
              <a:rPr lang="en-US" sz="1200" b="1" dirty="0">
                <a:solidFill>
                  <a:srgbClr val="6D3FC0"/>
                </a:solidFill>
                <a:latin typeface="Calibri" pitchFamily="34" charset="0"/>
                <a:ea typeface="Calibri" pitchFamily="34" charset="-122"/>
                <a:cs typeface="Calibri" pitchFamily="34" charset="-120"/>
              </a:rPr>
              <a:t>⏱ 6 min</a:t>
            </a:r>
            <a:endParaRPr lang="en-US" sz="1200" dirty="0"/>
          </a:p>
        </p:txBody>
      </p:sp>
      <p:sp>
        <p:nvSpPr>
          <p:cNvPr id="6" name="footer_92"/>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7" name="title_93"/>
          <p:cNvSpPr txBox="1"/>
          <p:nvPr/>
        </p:nvSpPr>
        <p:spPr>
          <a:xfrm rot="-120000">
            <a:off x="320040" y="676656"/>
            <a:ext cx="3977640"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I'm plating table 4!</a:t>
            </a:r>
            <a:endParaRPr lang="en-US" sz="2000" dirty="0"/>
          </a:p>
        </p:txBody>
      </p:sp>
      <p:sp>
        <p:nvSpPr>
          <p:cNvPr id="8" name="rh_94"/>
          <p:cNvSpPr txBox="1"/>
          <p:nvPr/>
        </p:nvSpPr>
        <p:spPr>
          <a:xfrm>
            <a:off x="320040" y="1371600"/>
            <a:ext cx="2749296" cy="384048"/>
          </a:xfrm>
          <a:prstGeom prst="rect">
            <a:avLst/>
          </a:prstGeom>
          <a:solidFill>
            <a:srgbClr val="48BDF2"/>
          </a:solidFill>
          <a:ln w="19050">
            <a:solidFill>
              <a:srgbClr val="111111"/>
            </a:solidFill>
          </a:ln>
        </p:spPr>
        <p:txBody>
          <a:bodyPr wrap="square" lIns="25400" tIns="25400" rIns="25400" bIns="25400" rtlCol="0" anchor="ctr"/>
          <a:lstStyle/>
          <a:p>
            <a:pPr algn="ctr" indent="0" marL="0">
              <a:buNone/>
            </a:pPr>
            <a:r>
              <a:rPr lang="en-US" sz="1300" dirty="0">
                <a:solidFill>
                  <a:srgbClr val="FFFFFF"/>
                </a:solidFill>
                <a:latin typeface="Arial Black" pitchFamily="34" charset="0"/>
                <a:ea typeface="Arial Black" pitchFamily="34" charset="-122"/>
                <a:cs typeface="Arial Black" pitchFamily="34" charset="-120"/>
              </a:rPr>
              <a:t>Now!</a:t>
            </a:r>
            <a:endParaRPr lang="en-US" sz="1300" dirty="0"/>
          </a:p>
        </p:txBody>
      </p:sp>
      <p:sp>
        <p:nvSpPr>
          <p:cNvPr id="9" name="rb_95"/>
          <p:cNvSpPr txBox="1"/>
          <p:nvPr/>
        </p:nvSpPr>
        <p:spPr>
          <a:xfrm>
            <a:off x="320040" y="1810512"/>
            <a:ext cx="2749296" cy="2157984"/>
          </a:xfrm>
          <a:prstGeom prst="rect">
            <a:avLst/>
          </a:prstGeom>
          <a:solidFill>
            <a:srgbClr val="FFFFFF"/>
          </a:solidFill>
          <a:ln w="19050">
            <a:solidFill>
              <a:srgbClr val="111111"/>
            </a:solidFill>
          </a:ln>
        </p:spPr>
        <p:txBody>
          <a:bodyPr wrap="square" lIns="101600" tIns="101600" rIns="101600" bIns="101600" rtlCol="0" anchor="t"/>
          <a:lstStyle/>
          <a:p>
            <a:pPr indent="0" marL="0">
              <a:spcAft>
                <a:spcPts val="400"/>
              </a:spcAft>
              <a:buNone/>
            </a:pPr>
            <a:r>
              <a:rPr lang="en-US" sz="1350" dirty="0">
                <a:solidFill>
                  <a:srgbClr val="111111"/>
                </a:solidFill>
                <a:latin typeface="Calibri" pitchFamily="34" charset="0"/>
                <a:ea typeface="Calibri" pitchFamily="34" charset="-122"/>
                <a:cs typeface="Calibri" pitchFamily="34" charset="-120"/>
              </a:rPr>
              <a:t>am / is / are + -ing</a:t>
            </a:r>
            <a:endParaRPr lang="en-US" sz="1350" dirty="0"/>
          </a:p>
          <a:p>
            <a:pPr indent="0" marL="0">
              <a:spcAft>
                <a:spcPts val="400"/>
              </a:spcAft>
              <a:buNone/>
            </a:pPr>
            <a:r>
              <a:rPr lang="en-US" sz="1350" dirty="0">
                <a:solidFill>
                  <a:srgbClr val="111111"/>
                </a:solidFill>
                <a:latin typeface="Calibri" pitchFamily="34" charset="0"/>
                <a:ea typeface="Calibri" pitchFamily="34" charset="-122"/>
                <a:cs typeface="Calibri" pitchFamily="34" charset="-120"/>
              </a:rPr>
              <a:t>I'm plating table 4.</a:t>
            </a:r>
            <a:endParaRPr lang="en-US" sz="1350" dirty="0"/>
          </a:p>
          <a:p>
            <a:pPr indent="0" marL="0">
              <a:spcAft>
                <a:spcPts val="400"/>
              </a:spcAft>
              <a:buNone/>
            </a:pPr>
            <a:r>
              <a:rPr lang="en-US" sz="1350" dirty="0">
                <a:solidFill>
                  <a:srgbClr val="111111"/>
                </a:solidFill>
                <a:latin typeface="Calibri" pitchFamily="34" charset="0"/>
                <a:ea typeface="Calibri" pitchFamily="34" charset="-122"/>
                <a:cs typeface="Calibri" pitchFamily="34" charset="-120"/>
              </a:rPr>
              <a:t>He's cooking the steaks.</a:t>
            </a:r>
            <a:endParaRPr lang="en-US" sz="1350" dirty="0"/>
          </a:p>
          <a:p>
            <a:pPr indent="0" marL="0">
              <a:spcAft>
                <a:spcPts val="400"/>
              </a:spcAft>
              <a:buNone/>
            </a:pPr>
            <a:r>
              <a:rPr lang="en-US" sz="1350" dirty="0">
                <a:solidFill>
                  <a:srgbClr val="111111"/>
                </a:solidFill>
                <a:latin typeface="Calibri" pitchFamily="34" charset="0"/>
                <a:ea typeface="Calibri" pitchFamily="34" charset="-122"/>
                <a:cs typeface="Calibri" pitchFamily="34" charset="-120"/>
              </a:rPr>
              <a:t>We're waiting for the fish.</a:t>
            </a:r>
            <a:endParaRPr lang="en-US" sz="1350" dirty="0"/>
          </a:p>
        </p:txBody>
      </p:sp>
      <p:sp>
        <p:nvSpPr>
          <p:cNvPr id="10" name="rh_96"/>
          <p:cNvSpPr txBox="1"/>
          <p:nvPr/>
        </p:nvSpPr>
        <p:spPr>
          <a:xfrm>
            <a:off x="3197352" y="1371600"/>
            <a:ext cx="2749296" cy="384048"/>
          </a:xfrm>
          <a:prstGeom prst="rect">
            <a:avLst/>
          </a:prstGeom>
          <a:solidFill>
            <a:srgbClr val="EF2F2F"/>
          </a:solidFill>
          <a:ln w="19050">
            <a:solidFill>
              <a:srgbClr val="111111"/>
            </a:solidFill>
          </a:ln>
        </p:spPr>
        <p:txBody>
          <a:bodyPr wrap="square" lIns="25400" tIns="25400" rIns="25400" bIns="25400" rtlCol="0" anchor="ctr"/>
          <a:lstStyle/>
          <a:p>
            <a:pPr algn="ctr" indent="0" marL="0">
              <a:buNone/>
            </a:pPr>
            <a:r>
              <a:rPr lang="en-US" sz="1300" dirty="0">
                <a:solidFill>
                  <a:srgbClr val="FFFFFF"/>
                </a:solidFill>
                <a:latin typeface="Arial Black" pitchFamily="34" charset="0"/>
                <a:ea typeface="Arial Black" pitchFamily="34" charset="-122"/>
                <a:cs typeface="Arial Black" pitchFamily="34" charset="-120"/>
              </a:rPr>
              <a:t>Questions</a:t>
            </a:r>
            <a:endParaRPr lang="en-US" sz="1300" dirty="0"/>
          </a:p>
        </p:txBody>
      </p:sp>
      <p:sp>
        <p:nvSpPr>
          <p:cNvPr id="11" name="rb_97"/>
          <p:cNvSpPr txBox="1"/>
          <p:nvPr/>
        </p:nvSpPr>
        <p:spPr>
          <a:xfrm>
            <a:off x="3197352" y="1810512"/>
            <a:ext cx="2749296" cy="2157984"/>
          </a:xfrm>
          <a:prstGeom prst="rect">
            <a:avLst/>
          </a:prstGeom>
          <a:solidFill>
            <a:srgbClr val="FFFFFF"/>
          </a:solidFill>
          <a:ln w="19050">
            <a:solidFill>
              <a:srgbClr val="111111"/>
            </a:solidFill>
          </a:ln>
        </p:spPr>
        <p:txBody>
          <a:bodyPr wrap="square" lIns="101600" tIns="101600" rIns="101600" bIns="101600" rtlCol="0" anchor="t"/>
          <a:lstStyle/>
          <a:p>
            <a:pPr indent="0" marL="0">
              <a:spcAft>
                <a:spcPts val="400"/>
              </a:spcAft>
              <a:buNone/>
            </a:pPr>
            <a:r>
              <a:rPr lang="en-US" sz="1350" dirty="0">
                <a:solidFill>
                  <a:srgbClr val="111111"/>
                </a:solidFill>
                <a:latin typeface="Calibri" pitchFamily="34" charset="0"/>
                <a:ea typeface="Calibri" pitchFamily="34" charset="-122"/>
                <a:cs typeface="Calibri" pitchFamily="34" charset="-120"/>
              </a:rPr>
              <a:t>What are you doing?</a:t>
            </a:r>
            <a:endParaRPr lang="en-US" sz="1350" dirty="0"/>
          </a:p>
          <a:p>
            <a:pPr indent="0" marL="0">
              <a:spcAft>
                <a:spcPts val="400"/>
              </a:spcAft>
              <a:buNone/>
            </a:pPr>
            <a:r>
              <a:rPr lang="en-US" sz="1350" dirty="0">
                <a:solidFill>
                  <a:srgbClr val="111111"/>
                </a:solidFill>
                <a:latin typeface="Calibri" pitchFamily="34" charset="0"/>
                <a:ea typeface="Calibri" pitchFamily="34" charset="-122"/>
                <a:cs typeface="Calibri" pitchFamily="34" charset="-120"/>
              </a:rPr>
              <a:t>Is the risotto cooking?</a:t>
            </a:r>
            <a:endParaRPr lang="en-US" sz="1350" dirty="0"/>
          </a:p>
          <a:p>
            <a:pPr indent="0" marL="0">
              <a:spcAft>
                <a:spcPts val="400"/>
              </a:spcAft>
              <a:buNone/>
            </a:pPr>
            <a:r>
              <a:rPr lang="en-US" sz="1350" dirty="0">
                <a:solidFill>
                  <a:srgbClr val="111111"/>
                </a:solidFill>
                <a:latin typeface="Calibri" pitchFamily="34" charset="0"/>
                <a:ea typeface="Calibri" pitchFamily="34" charset="-122"/>
                <a:cs typeface="Calibri" pitchFamily="34" charset="-120"/>
              </a:rPr>
              <a:t>Are you ready?</a:t>
            </a:r>
            <a:endParaRPr lang="en-US" sz="1350" dirty="0"/>
          </a:p>
        </p:txBody>
      </p:sp>
      <p:sp>
        <p:nvSpPr>
          <p:cNvPr id="12" name="rh_98"/>
          <p:cNvSpPr txBox="1"/>
          <p:nvPr/>
        </p:nvSpPr>
        <p:spPr>
          <a:xfrm>
            <a:off x="6074664" y="1371600"/>
            <a:ext cx="2749296" cy="384048"/>
          </a:xfrm>
          <a:prstGeom prst="rect">
            <a:avLst/>
          </a:prstGeom>
          <a:solidFill>
            <a:srgbClr val="1FA463"/>
          </a:solidFill>
          <a:ln w="19050">
            <a:solidFill>
              <a:srgbClr val="111111"/>
            </a:solidFill>
          </a:ln>
        </p:spPr>
        <p:txBody>
          <a:bodyPr wrap="square" lIns="25400" tIns="25400" rIns="25400" bIns="25400" rtlCol="0" anchor="ctr"/>
          <a:lstStyle/>
          <a:p>
            <a:pPr algn="ctr" indent="0" marL="0">
              <a:buNone/>
            </a:pPr>
            <a:r>
              <a:rPr lang="en-US" sz="1300" dirty="0">
                <a:solidFill>
                  <a:srgbClr val="FFFFFF"/>
                </a:solidFill>
                <a:latin typeface="Arial Black" pitchFamily="34" charset="0"/>
                <a:ea typeface="Arial Black" pitchFamily="34" charset="-122"/>
                <a:cs typeface="Arial Black" pitchFamily="34" charset="-120"/>
              </a:rPr>
              <a:t>Answers</a:t>
            </a:r>
            <a:endParaRPr lang="en-US" sz="1300" dirty="0"/>
          </a:p>
        </p:txBody>
      </p:sp>
      <p:sp>
        <p:nvSpPr>
          <p:cNvPr id="13" name="rb_99"/>
          <p:cNvSpPr txBox="1"/>
          <p:nvPr/>
        </p:nvSpPr>
        <p:spPr>
          <a:xfrm>
            <a:off x="6074664" y="1810512"/>
            <a:ext cx="2749296" cy="2157984"/>
          </a:xfrm>
          <a:prstGeom prst="rect">
            <a:avLst/>
          </a:prstGeom>
          <a:solidFill>
            <a:srgbClr val="FFFFFF"/>
          </a:solidFill>
          <a:ln w="19050">
            <a:solidFill>
              <a:srgbClr val="111111"/>
            </a:solidFill>
          </a:ln>
        </p:spPr>
        <p:txBody>
          <a:bodyPr wrap="square" lIns="101600" tIns="101600" rIns="101600" bIns="101600" rtlCol="0" anchor="t"/>
          <a:lstStyle/>
          <a:p>
            <a:pPr indent="0" marL="0">
              <a:spcAft>
                <a:spcPts val="400"/>
              </a:spcAft>
              <a:buNone/>
            </a:pPr>
            <a:r>
              <a:rPr lang="en-US" sz="1350" dirty="0">
                <a:solidFill>
                  <a:srgbClr val="111111"/>
                </a:solidFill>
                <a:latin typeface="Calibri" pitchFamily="34" charset="0"/>
                <a:ea typeface="Calibri" pitchFamily="34" charset="-122"/>
                <a:cs typeface="Calibri" pitchFamily="34" charset="-120"/>
              </a:rPr>
              <a:t>I'm finishing the sauce, Chef.</a:t>
            </a:r>
            <a:endParaRPr lang="en-US" sz="1350" dirty="0"/>
          </a:p>
          <a:p>
            <a:pPr indent="0" marL="0">
              <a:spcAft>
                <a:spcPts val="400"/>
              </a:spcAft>
              <a:buNone/>
            </a:pPr>
            <a:r>
              <a:rPr lang="en-US" sz="1350" dirty="0">
                <a:solidFill>
                  <a:srgbClr val="111111"/>
                </a:solidFill>
                <a:latin typeface="Calibri" pitchFamily="34" charset="0"/>
                <a:ea typeface="Calibri" pitchFamily="34" charset="-122"/>
                <a:cs typeface="Calibri" pitchFamily="34" charset="-120"/>
              </a:rPr>
              <a:t>No, I'm still waiting.</a:t>
            </a:r>
            <a:endParaRPr lang="en-US" sz="1350" dirty="0"/>
          </a:p>
          <a:p>
            <a:pPr indent="0" marL="0">
              <a:spcAft>
                <a:spcPts val="400"/>
              </a:spcAft>
              <a:buNone/>
            </a:pPr>
            <a:r>
              <a:rPr lang="en-US" sz="1350" dirty="0">
                <a:solidFill>
                  <a:srgbClr val="111111"/>
                </a:solidFill>
                <a:latin typeface="Calibri" pitchFamily="34" charset="0"/>
                <a:ea typeface="Calibri" pitchFamily="34" charset="-122"/>
                <a:cs typeface="Calibri" pitchFamily="34" charset="-120"/>
              </a:rPr>
              <a:t>Nearly there – one minute!</a:t>
            </a:r>
            <a:endParaRPr lang="en-US" sz="1350" dirty="0"/>
          </a:p>
        </p:txBody>
      </p:sp>
      <p:sp>
        <p:nvSpPr>
          <p:cNvPr id="14" name="watch_100"/>
          <p:cNvSpPr txBox="1"/>
          <p:nvPr/>
        </p:nvSpPr>
        <p:spPr>
          <a:xfrm>
            <a:off x="320040" y="4133088"/>
            <a:ext cx="8503920" cy="530352"/>
          </a:xfrm>
          <a:prstGeom prst="rect">
            <a:avLst/>
          </a:prstGeom>
          <a:solidFill>
            <a:srgbClr val="FFE4E6"/>
          </a:solidFill>
          <a:ln w="19050">
            <a:solidFill>
              <a:srgbClr val="111111"/>
            </a:solidFill>
          </a:ln>
        </p:spPr>
        <p:txBody>
          <a:bodyPr wrap="square" lIns="101600" tIns="101600" rIns="101600" bIns="101600" rtlCol="0" anchor="ctr"/>
          <a:lstStyle/>
          <a:p>
            <a:pPr indent="0" marL="0">
              <a:buNone/>
            </a:pPr>
            <a:r>
              <a:rPr lang="en-US" sz="1250" b="1" dirty="0">
                <a:solidFill>
                  <a:srgbClr val="EF2F2F"/>
                </a:solidFill>
                <a:latin typeface="Calibri" pitchFamily="34" charset="0"/>
                <a:ea typeface="Calibri" pitchFamily="34" charset="-122"/>
                <a:cs typeface="Calibri" pitchFamily="34" charset="-120"/>
              </a:rPr>
              <a:t>Watch out!  </a:t>
            </a:r>
            <a:pPr indent="0" marL="0">
              <a:buNone/>
            </a:pPr>
            <a:r>
              <a:rPr lang="en-US" sz="1250" dirty="0">
                <a:solidFill>
                  <a:srgbClr val="111111"/>
                </a:solidFill>
                <a:latin typeface="Calibri" pitchFamily="34" charset="0"/>
                <a:ea typeface="Calibri" pitchFamily="34" charset="-122"/>
                <a:cs typeface="Calibri" pitchFamily="34" charset="-120"/>
              </a:rPr>
              <a:t>✗ I plate now → ✓ I'm plating now.     ✗ What you are doing? → ✓ What are you doing?</a:t>
            </a:r>
            <a:endParaRPr lang="en-US" sz="125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101"/>
          <p:cNvSpPr/>
          <p:nvPr/>
        </p:nvSpPr>
        <p:spPr>
          <a:xfrm>
            <a:off x="54864" y="54864"/>
            <a:ext cx="9034272" cy="5033772"/>
          </a:xfrm>
          <a:prstGeom prst="rect">
            <a:avLst/>
          </a:prstGeom>
          <a:ln w="114300">
            <a:solidFill>
              <a:srgbClr val="C9B3F0"/>
            </a:solidFill>
            <a:prstDash val="solid"/>
          </a:ln>
        </p:spPr>
      </p:sp>
      <p:pic>
        <p:nvPicPr>
          <p:cNvPr id="3" name="logo_102"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objective_103"/>
          <p:cNvSpPr txBox="1"/>
          <p:nvPr/>
        </p:nvSpPr>
        <p:spPr>
          <a:xfrm>
            <a:off x="320040" y="182880"/>
            <a:ext cx="4754880" cy="365760"/>
          </a:xfrm>
          <a:prstGeom prst="roundRect">
            <a:avLst>
              <a:gd name="adj" fmla="val 20000"/>
            </a:avLst>
          </a:prstGeom>
          <a:solidFill>
            <a:srgbClr val="062F67"/>
          </a:solidFill>
          <a:ln w="31750">
            <a:solidFill>
              <a:srgbClr val="111111"/>
            </a:solidFill>
          </a:ln>
        </p:spPr>
        <p:txBody>
          <a:bodyPr wrap="square" lIns="101600" tIns="101600" rIns="101600" bIns="101600" rtlCol="0" anchor="ctr"/>
          <a:lstStyle/>
          <a:p>
            <a:pPr indent="0" marL="0">
              <a:buNone/>
            </a:pPr>
            <a:r>
              <a:rPr lang="en-US" sz="1100" dirty="0">
                <a:solidFill>
                  <a:srgbClr val="FFFFFF"/>
                </a:solidFill>
                <a:latin typeface="Arial Black" pitchFamily="34" charset="0"/>
                <a:ea typeface="Arial Black" pitchFamily="34" charset="-122"/>
                <a:cs typeface="Arial Black" pitchFamily="34" charset="-120"/>
              </a:rPr>
              <a:t>GRAMMAR · Practice</a:t>
            </a:r>
            <a:endParaRPr lang="en-US" sz="1100" dirty="0"/>
          </a:p>
        </p:txBody>
      </p:sp>
      <p:sp>
        <p:nvSpPr>
          <p:cNvPr id="5" name="timer_104"/>
          <p:cNvSpPr txBox="1"/>
          <p:nvPr/>
        </p:nvSpPr>
        <p:spPr>
          <a:xfrm>
            <a:off x="7086600" y="219456"/>
            <a:ext cx="1005840" cy="310896"/>
          </a:xfrm>
          <a:prstGeom prst="roundRect">
            <a:avLst>
              <a:gd name="adj" fmla="val 23529"/>
            </a:avLst>
          </a:prstGeom>
          <a:solidFill>
            <a:srgbClr val="FFFFFF"/>
          </a:solidFill>
          <a:ln w="25400">
            <a:solidFill>
              <a:srgbClr val="6D3FC0"/>
            </a:solidFill>
          </a:ln>
        </p:spPr>
        <p:txBody>
          <a:bodyPr wrap="square" lIns="0" tIns="0" rIns="0" bIns="0" rtlCol="0" anchor="ctr"/>
          <a:lstStyle/>
          <a:p>
            <a:pPr algn="ctr" indent="0" marL="0">
              <a:buNone/>
            </a:pPr>
            <a:r>
              <a:rPr lang="en-US" sz="1200" b="1" dirty="0">
                <a:solidFill>
                  <a:srgbClr val="6D3FC0"/>
                </a:solidFill>
                <a:latin typeface="Calibri" pitchFamily="34" charset="0"/>
                <a:ea typeface="Calibri" pitchFamily="34" charset="-122"/>
                <a:cs typeface="Calibri" pitchFamily="34" charset="-120"/>
              </a:rPr>
              <a:t>⏱ 5 min</a:t>
            </a:r>
            <a:endParaRPr lang="en-US" sz="1200" dirty="0"/>
          </a:p>
        </p:txBody>
      </p:sp>
      <p:sp>
        <p:nvSpPr>
          <p:cNvPr id="6" name="footer_105"/>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7" name="title_106"/>
          <p:cNvSpPr txBox="1"/>
          <p:nvPr/>
        </p:nvSpPr>
        <p:spPr>
          <a:xfrm rot="-120000">
            <a:off x="320040" y="676656"/>
            <a:ext cx="3456432"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What's happening?</a:t>
            </a:r>
            <a:endParaRPr lang="en-US" sz="2000" dirty="0"/>
          </a:p>
        </p:txBody>
      </p:sp>
      <p:sp>
        <p:nvSpPr>
          <p:cNvPr id="8" name="post_107"/>
          <p:cNvSpPr/>
          <p:nvPr/>
        </p:nvSpPr>
        <p:spPr>
          <a:xfrm>
            <a:off x="429768" y="1554480"/>
            <a:ext cx="128016" cy="2194560"/>
          </a:xfrm>
          <a:prstGeom prst="rect">
            <a:avLst/>
          </a:prstGeom>
          <a:solidFill>
            <a:srgbClr val="8B5A2B"/>
          </a:solidFill>
          <a:ln w="31750">
            <a:solidFill>
              <a:srgbClr val="111111"/>
            </a:solidFill>
            <a:prstDash val="solid"/>
          </a:ln>
        </p:spPr>
      </p:sp>
      <p:sp>
        <p:nvSpPr>
          <p:cNvPr id="9" name="signA_108"/>
          <p:cNvSpPr txBox="1"/>
          <p:nvPr/>
        </p:nvSpPr>
        <p:spPr>
          <a:xfrm rot="-180000">
            <a:off x="320040" y="1371600"/>
            <a:ext cx="2240280" cy="457200"/>
          </a:xfrm>
          <a:prstGeom prst="homePlate">
            <a:avLst/>
          </a:prstGeom>
          <a:solidFill>
            <a:srgbClr val="6D3FC0"/>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WRITE!</a:t>
            </a:r>
            <a:pPr indent="0" marL="0">
              <a:buNone/>
            </a:pPr>
            <a:r>
              <a:rPr lang="en-US" sz="1000" dirty="0">
                <a:solidFill>
                  <a:srgbClr val="FFF3B0"/>
                </a:solidFill>
                <a:latin typeface="Arial Black" pitchFamily="34" charset="0"/>
                <a:ea typeface="Arial Black" pitchFamily="34" charset="-122"/>
                <a:cs typeface="Arial Black" pitchFamily="34" charset="-120"/>
              </a:rPr>
              <a:t>  SCRIVI!</a:t>
            </a:r>
            <a:endParaRPr lang="en-US" sz="1500" dirty="0"/>
          </a:p>
        </p:txBody>
      </p:sp>
      <p:sp>
        <p:nvSpPr>
          <p:cNvPr id="10" name="signB_109"/>
          <p:cNvSpPr txBox="1"/>
          <p:nvPr/>
        </p:nvSpPr>
        <p:spPr>
          <a:xfrm rot="120000">
            <a:off x="365760" y="1938528"/>
            <a:ext cx="2240280" cy="1051560"/>
          </a:xfrm>
          <a:prstGeom prst="rect">
            <a:avLst/>
          </a:prstGeom>
          <a:solidFill>
            <a:srgbClr val="FFFFFF"/>
          </a:solidFill>
          <a:ln w="31750">
            <a:solidFill>
              <a:srgbClr val="111111"/>
            </a:solidFill>
          </a:ln>
        </p:spPr>
        <p:txBody>
          <a:bodyPr wrap="square" lIns="76200" tIns="76200" rIns="76200" bIns="76200" rtlCol="0" anchor="ctr"/>
          <a:lstStyle/>
          <a:p>
            <a:pPr indent="0" marL="0">
              <a:buNone/>
            </a:pPr>
            <a:r>
              <a:rPr lang="en-US" sz="1250" dirty="0">
                <a:solidFill>
                  <a:srgbClr val="111111"/>
                </a:solidFill>
                <a:latin typeface="Calibri" pitchFamily="34" charset="0"/>
                <a:ea typeface="Calibri" pitchFamily="34" charset="-122"/>
                <a:cs typeface="Calibri" pitchFamily="34" charset="-120"/>
              </a:rPr>
              <a:t>Put the verbs in the present continuous.</a:t>
            </a:r>
            <a:endParaRPr lang="en-US" sz="1250" dirty="0"/>
          </a:p>
          <a:p>
            <a:pPr indent="0" marL="0">
              <a:buNone/>
            </a:pPr>
            <a:r>
              <a:rPr lang="en-US" sz="1100" i="1" dirty="0">
                <a:solidFill>
                  <a:srgbClr val="334155"/>
                </a:solidFill>
                <a:latin typeface="Calibri" pitchFamily="34" charset="0"/>
                <a:ea typeface="Calibri" pitchFamily="34" charset="-122"/>
                <a:cs typeface="Calibri" pitchFamily="34" charset="-120"/>
              </a:rPr>
              <a:t>Metti i verbi al present continuous.</a:t>
            </a:r>
            <a:endParaRPr lang="en-US" sz="1250" dirty="0"/>
          </a:p>
        </p:txBody>
      </p:sp>
      <p:sp>
        <p:nvSpPr>
          <p:cNvPr id="11" name="box_110"/>
          <p:cNvSpPr txBox="1"/>
          <p:nvPr/>
        </p:nvSpPr>
        <p:spPr>
          <a:xfrm>
            <a:off x="2788920" y="1371600"/>
            <a:ext cx="1831177" cy="868680"/>
          </a:xfrm>
          <a:prstGeom prst="rect">
            <a:avLst/>
          </a:prstGeom>
          <a:solidFill>
            <a:srgbClr val="E0F2FE"/>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1  Marco ___ (cook) the fish.</a:t>
            </a:r>
            <a:endParaRPr lang="en-US" sz="1350" dirty="0"/>
          </a:p>
        </p:txBody>
      </p:sp>
      <p:sp>
        <p:nvSpPr>
          <p:cNvPr id="12" name="R1_a0"/>
          <p:cNvSpPr txBox="1"/>
          <p:nvPr/>
        </p:nvSpPr>
        <p:spPr>
          <a:xfrm>
            <a:off x="4674961" y="1408176"/>
            <a:ext cx="1067471" cy="795528"/>
          </a:xfrm>
          <a:prstGeom prst="roundRect">
            <a:avLst>
              <a:gd name="adj" fmla="val 6897"/>
            </a:avLst>
          </a:prstGeom>
          <a:solidFill>
            <a:srgbClr val="FFFFFF"/>
          </a:solidFill>
          <a:ln w="38100">
            <a:solidFill>
              <a:srgbClr val="1FA463"/>
            </a:solidFill>
          </a:ln>
        </p:spPr>
        <p:txBody>
          <a:bodyPr wrap="square" lIns="25400" tIns="25400" rIns="25400" bIns="25400" rtlCol="0" anchor="ctr"/>
          <a:lstStyle/>
          <a:p>
            <a:pPr algn="ctr" indent="0" marL="0">
              <a:buNone/>
            </a:pPr>
            <a:r>
              <a:rPr lang="en-US" sz="1200" dirty="0">
                <a:solidFill>
                  <a:srgbClr val="111111"/>
                </a:solidFill>
                <a:latin typeface="Calibri" pitchFamily="34" charset="0"/>
                <a:ea typeface="Calibri" pitchFamily="34" charset="-122"/>
                <a:cs typeface="Calibri" pitchFamily="34" charset="-120"/>
              </a:rPr>
              <a:t>is cooking</a:t>
            </a:r>
            <a:endParaRPr lang="en-US" sz="1200" dirty="0"/>
          </a:p>
        </p:txBody>
      </p:sp>
      <p:sp>
        <p:nvSpPr>
          <p:cNvPr id="13" name="box_111"/>
          <p:cNvSpPr txBox="1"/>
          <p:nvPr/>
        </p:nvSpPr>
        <p:spPr>
          <a:xfrm>
            <a:off x="5870448" y="1371600"/>
            <a:ext cx="1831177" cy="868680"/>
          </a:xfrm>
          <a:prstGeom prst="rect">
            <a:avLst/>
          </a:prstGeom>
          <a:solidFill>
            <a:srgbClr val="FCE7F3"/>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2  What ___ you ___ (do)?</a:t>
            </a:r>
            <a:endParaRPr lang="en-US" sz="1350" dirty="0"/>
          </a:p>
        </p:txBody>
      </p:sp>
      <p:sp>
        <p:nvSpPr>
          <p:cNvPr id="14" name="R1_a1"/>
          <p:cNvSpPr txBox="1"/>
          <p:nvPr/>
        </p:nvSpPr>
        <p:spPr>
          <a:xfrm>
            <a:off x="7756489" y="1408176"/>
            <a:ext cx="1067471" cy="795528"/>
          </a:xfrm>
          <a:prstGeom prst="roundRect">
            <a:avLst>
              <a:gd name="adj" fmla="val 6897"/>
            </a:avLst>
          </a:prstGeom>
          <a:solidFill>
            <a:srgbClr val="FFFFFF"/>
          </a:solidFill>
          <a:ln w="38100">
            <a:solidFill>
              <a:srgbClr val="1FA463"/>
            </a:solidFill>
          </a:ln>
        </p:spPr>
        <p:txBody>
          <a:bodyPr wrap="square" lIns="25400" tIns="25400" rIns="25400" bIns="25400" rtlCol="0" anchor="ctr"/>
          <a:lstStyle/>
          <a:p>
            <a:pPr algn="ctr" indent="0" marL="0">
              <a:buNone/>
            </a:pPr>
            <a:r>
              <a:rPr lang="en-US" sz="1200" dirty="0">
                <a:solidFill>
                  <a:srgbClr val="111111"/>
                </a:solidFill>
                <a:latin typeface="Calibri" pitchFamily="34" charset="0"/>
                <a:ea typeface="Calibri" pitchFamily="34" charset="-122"/>
                <a:cs typeface="Calibri" pitchFamily="34" charset="-120"/>
              </a:rPr>
              <a:t>are … doing</a:t>
            </a:r>
            <a:endParaRPr lang="en-US" sz="1200" dirty="0"/>
          </a:p>
        </p:txBody>
      </p:sp>
      <p:sp>
        <p:nvSpPr>
          <p:cNvPr id="15" name="box_112"/>
          <p:cNvSpPr txBox="1"/>
          <p:nvPr/>
        </p:nvSpPr>
        <p:spPr>
          <a:xfrm>
            <a:off x="2788920" y="2368296"/>
            <a:ext cx="1831177" cy="868680"/>
          </a:xfrm>
          <a:prstGeom prst="rect">
            <a:avLst/>
          </a:prstGeom>
          <a:solidFill>
            <a:srgbClr val="FEF9C3"/>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3  We ___ (not wait) for it.</a:t>
            </a:r>
            <a:endParaRPr lang="en-US" sz="1350" dirty="0"/>
          </a:p>
        </p:txBody>
      </p:sp>
      <p:sp>
        <p:nvSpPr>
          <p:cNvPr id="16" name="R1_a2"/>
          <p:cNvSpPr txBox="1"/>
          <p:nvPr/>
        </p:nvSpPr>
        <p:spPr>
          <a:xfrm>
            <a:off x="4674961" y="2404872"/>
            <a:ext cx="1067471" cy="795528"/>
          </a:xfrm>
          <a:prstGeom prst="roundRect">
            <a:avLst>
              <a:gd name="adj" fmla="val 6897"/>
            </a:avLst>
          </a:prstGeom>
          <a:solidFill>
            <a:srgbClr val="FFFFFF"/>
          </a:solidFill>
          <a:ln w="38100">
            <a:solidFill>
              <a:srgbClr val="1FA463"/>
            </a:solidFill>
          </a:ln>
        </p:spPr>
        <p:txBody>
          <a:bodyPr wrap="square" lIns="25400" tIns="25400" rIns="25400" bIns="25400" rtlCol="0" anchor="ctr"/>
          <a:lstStyle/>
          <a:p>
            <a:pPr algn="ctr" indent="0" marL="0">
              <a:buNone/>
            </a:pPr>
            <a:r>
              <a:rPr lang="en-US" sz="1200" dirty="0">
                <a:solidFill>
                  <a:srgbClr val="111111"/>
                </a:solidFill>
                <a:latin typeface="Calibri" pitchFamily="34" charset="0"/>
                <a:ea typeface="Calibri" pitchFamily="34" charset="-122"/>
                <a:cs typeface="Calibri" pitchFamily="34" charset="-120"/>
              </a:rPr>
              <a:t>aren't waiting</a:t>
            </a:r>
            <a:endParaRPr lang="en-US" sz="1200" dirty="0"/>
          </a:p>
        </p:txBody>
      </p:sp>
      <p:sp>
        <p:nvSpPr>
          <p:cNvPr id="17" name="box_113"/>
          <p:cNvSpPr txBox="1"/>
          <p:nvPr/>
        </p:nvSpPr>
        <p:spPr>
          <a:xfrm>
            <a:off x="5870448" y="2368296"/>
            <a:ext cx="1831177" cy="868680"/>
          </a:xfrm>
          <a:prstGeom prst="rect">
            <a:avLst/>
          </a:prstGeom>
          <a:solidFill>
            <a:srgbClr val="DCFCE7"/>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4  ___ the soup ___ (boil)?</a:t>
            </a:r>
            <a:endParaRPr lang="en-US" sz="1350" dirty="0"/>
          </a:p>
        </p:txBody>
      </p:sp>
      <p:sp>
        <p:nvSpPr>
          <p:cNvPr id="18" name="R1_a3"/>
          <p:cNvSpPr txBox="1"/>
          <p:nvPr/>
        </p:nvSpPr>
        <p:spPr>
          <a:xfrm>
            <a:off x="7756489" y="2404872"/>
            <a:ext cx="1067471" cy="795528"/>
          </a:xfrm>
          <a:prstGeom prst="roundRect">
            <a:avLst>
              <a:gd name="adj" fmla="val 6897"/>
            </a:avLst>
          </a:prstGeom>
          <a:solidFill>
            <a:srgbClr val="FFFFFF"/>
          </a:solidFill>
          <a:ln w="38100">
            <a:solidFill>
              <a:srgbClr val="1FA463"/>
            </a:solidFill>
          </a:ln>
        </p:spPr>
        <p:txBody>
          <a:bodyPr wrap="square" lIns="25400" tIns="25400" rIns="25400" bIns="25400" rtlCol="0" anchor="ctr"/>
          <a:lstStyle/>
          <a:p>
            <a:pPr algn="ctr" indent="0" marL="0">
              <a:buNone/>
            </a:pPr>
            <a:r>
              <a:rPr lang="en-US" sz="1200" dirty="0">
                <a:solidFill>
                  <a:srgbClr val="111111"/>
                </a:solidFill>
                <a:latin typeface="Calibri" pitchFamily="34" charset="0"/>
                <a:ea typeface="Calibri" pitchFamily="34" charset="-122"/>
                <a:cs typeface="Calibri" pitchFamily="34" charset="-120"/>
              </a:rPr>
              <a:t>Is … boiling</a:t>
            </a:r>
            <a:endParaRPr lang="en-US" sz="1200" dirty="0"/>
          </a:p>
        </p:txBody>
      </p:sp>
      <p:sp>
        <p:nvSpPr>
          <p:cNvPr id="19" name="box_114"/>
          <p:cNvSpPr txBox="1"/>
          <p:nvPr/>
        </p:nvSpPr>
        <p:spPr>
          <a:xfrm>
            <a:off x="2788920" y="3364992"/>
            <a:ext cx="1831177" cy="868680"/>
          </a:xfrm>
          <a:prstGeom prst="rect">
            <a:avLst/>
          </a:prstGeom>
          <a:solidFill>
            <a:srgbClr val="EDE9FE"/>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5  I ___ (plate) table 6!</a:t>
            </a:r>
            <a:endParaRPr lang="en-US" sz="1350" dirty="0"/>
          </a:p>
        </p:txBody>
      </p:sp>
      <p:sp>
        <p:nvSpPr>
          <p:cNvPr id="20" name="R1_a4"/>
          <p:cNvSpPr txBox="1"/>
          <p:nvPr/>
        </p:nvSpPr>
        <p:spPr>
          <a:xfrm>
            <a:off x="4674961" y="3401568"/>
            <a:ext cx="1067471" cy="795528"/>
          </a:xfrm>
          <a:prstGeom prst="roundRect">
            <a:avLst>
              <a:gd name="adj" fmla="val 6897"/>
            </a:avLst>
          </a:prstGeom>
          <a:solidFill>
            <a:srgbClr val="FFFFFF"/>
          </a:solidFill>
          <a:ln w="38100">
            <a:solidFill>
              <a:srgbClr val="1FA463"/>
            </a:solidFill>
          </a:ln>
        </p:spPr>
        <p:txBody>
          <a:bodyPr wrap="square" lIns="25400" tIns="25400" rIns="25400" bIns="25400" rtlCol="0" anchor="ctr"/>
          <a:lstStyle/>
          <a:p>
            <a:pPr algn="ctr" indent="0" marL="0">
              <a:buNone/>
            </a:pPr>
            <a:r>
              <a:rPr lang="en-US" sz="1200" dirty="0">
                <a:solidFill>
                  <a:srgbClr val="111111"/>
                </a:solidFill>
                <a:latin typeface="Calibri" pitchFamily="34" charset="0"/>
                <a:ea typeface="Calibri" pitchFamily="34" charset="-122"/>
                <a:cs typeface="Calibri" pitchFamily="34" charset="-120"/>
              </a:rPr>
              <a:t>'m plating</a:t>
            </a:r>
            <a:endParaRPr lang="en-US" sz="1200" dirty="0"/>
          </a:p>
        </p:txBody>
      </p:sp>
      <p:sp>
        <p:nvSpPr>
          <p:cNvPr id="21" name="box_115"/>
          <p:cNvSpPr txBox="1"/>
          <p:nvPr/>
        </p:nvSpPr>
        <p:spPr>
          <a:xfrm>
            <a:off x="5870448" y="3364992"/>
            <a:ext cx="1831177" cy="868680"/>
          </a:xfrm>
          <a:prstGeom prst="rect">
            <a:avLst/>
          </a:prstGeom>
          <a:solidFill>
            <a:srgbClr val="FFEDD5"/>
          </a:solidFill>
          <a:ln w="15875">
            <a:solidFill>
              <a:srgbClr val="111111"/>
            </a:solidFill>
          </a:ln>
        </p:spPr>
        <p:txBody>
          <a:bodyPr wrap="square" lIns="76200" tIns="76200" rIns="76200" bIns="76200" rtlCol="0" anchor="ctr"/>
          <a:lstStyle/>
          <a:p>
            <a:pPr algn="l" indent="0" marL="0">
              <a:buNone/>
            </a:pPr>
            <a:r>
              <a:rPr lang="en-US" sz="1350" dirty="0">
                <a:solidFill>
                  <a:srgbClr val="111111"/>
                </a:solidFill>
                <a:latin typeface="Calibri" pitchFamily="34" charset="0"/>
                <a:ea typeface="Calibri" pitchFamily="34" charset="-122"/>
                <a:cs typeface="Calibri" pitchFamily="34" charset="-120"/>
              </a:rPr>
              <a:t>6  They ___ (eat) dessert.</a:t>
            </a:r>
            <a:endParaRPr lang="en-US" sz="1350" dirty="0"/>
          </a:p>
        </p:txBody>
      </p:sp>
      <p:sp>
        <p:nvSpPr>
          <p:cNvPr id="22" name="R1_a5"/>
          <p:cNvSpPr txBox="1"/>
          <p:nvPr/>
        </p:nvSpPr>
        <p:spPr>
          <a:xfrm>
            <a:off x="7756489" y="3401568"/>
            <a:ext cx="1067471" cy="795528"/>
          </a:xfrm>
          <a:prstGeom prst="roundRect">
            <a:avLst>
              <a:gd name="adj" fmla="val 6897"/>
            </a:avLst>
          </a:prstGeom>
          <a:solidFill>
            <a:srgbClr val="FFFFFF"/>
          </a:solidFill>
          <a:ln w="38100">
            <a:solidFill>
              <a:srgbClr val="1FA463"/>
            </a:solidFill>
          </a:ln>
        </p:spPr>
        <p:txBody>
          <a:bodyPr wrap="square" lIns="25400" tIns="25400" rIns="25400" bIns="25400" rtlCol="0" anchor="ctr"/>
          <a:lstStyle/>
          <a:p>
            <a:pPr algn="ctr" indent="0" marL="0">
              <a:buNone/>
            </a:pPr>
            <a:r>
              <a:rPr lang="en-US" sz="1200" dirty="0">
                <a:solidFill>
                  <a:srgbClr val="111111"/>
                </a:solidFill>
                <a:latin typeface="Calibri" pitchFamily="34" charset="0"/>
                <a:ea typeface="Calibri" pitchFamily="34" charset="-122"/>
                <a:cs typeface="Calibri" pitchFamily="34" charset="-120"/>
              </a:rPr>
              <a:t>are eating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116"/>
          <p:cNvSpPr/>
          <p:nvPr/>
        </p:nvSpPr>
        <p:spPr>
          <a:xfrm>
            <a:off x="54864" y="54864"/>
            <a:ext cx="9034272" cy="5033772"/>
          </a:xfrm>
          <a:prstGeom prst="rect">
            <a:avLst/>
          </a:prstGeom>
          <a:ln w="114300">
            <a:solidFill>
              <a:srgbClr val="C9B3F0"/>
            </a:solidFill>
            <a:prstDash val="solid"/>
          </a:ln>
        </p:spPr>
      </p:sp>
      <p:pic>
        <p:nvPicPr>
          <p:cNvPr id="3" name="logo_117"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objective_118"/>
          <p:cNvSpPr txBox="1"/>
          <p:nvPr/>
        </p:nvSpPr>
        <p:spPr>
          <a:xfrm>
            <a:off x="320040" y="182880"/>
            <a:ext cx="4754880" cy="365760"/>
          </a:xfrm>
          <a:prstGeom prst="roundRect">
            <a:avLst>
              <a:gd name="adj" fmla="val 20000"/>
            </a:avLst>
          </a:prstGeom>
          <a:solidFill>
            <a:srgbClr val="062F67"/>
          </a:solidFill>
          <a:ln w="31750">
            <a:solidFill>
              <a:srgbClr val="111111"/>
            </a:solidFill>
          </a:ln>
        </p:spPr>
        <p:txBody>
          <a:bodyPr wrap="square" lIns="101600" tIns="101600" rIns="101600" bIns="101600" rtlCol="0" anchor="ctr"/>
          <a:lstStyle/>
          <a:p>
            <a:pPr indent="0" marL="0">
              <a:buNone/>
            </a:pPr>
            <a:r>
              <a:rPr lang="en-US" sz="1100" dirty="0">
                <a:solidFill>
                  <a:srgbClr val="FFFFFF"/>
                </a:solidFill>
                <a:latin typeface="Arial Black" pitchFamily="34" charset="0"/>
                <a:ea typeface="Arial Black" pitchFamily="34" charset="-122"/>
                <a:cs typeface="Arial Black" pitchFamily="34" charset="-120"/>
              </a:rPr>
              <a:t>READING · A busy night</a:t>
            </a:r>
            <a:endParaRPr lang="en-US" sz="1100" dirty="0"/>
          </a:p>
        </p:txBody>
      </p:sp>
      <p:sp>
        <p:nvSpPr>
          <p:cNvPr id="5" name="timer_119"/>
          <p:cNvSpPr txBox="1"/>
          <p:nvPr/>
        </p:nvSpPr>
        <p:spPr>
          <a:xfrm>
            <a:off x="7086600" y="219456"/>
            <a:ext cx="1005840" cy="310896"/>
          </a:xfrm>
          <a:prstGeom prst="roundRect">
            <a:avLst>
              <a:gd name="adj" fmla="val 23529"/>
            </a:avLst>
          </a:prstGeom>
          <a:solidFill>
            <a:srgbClr val="FFFFFF"/>
          </a:solidFill>
          <a:ln w="25400">
            <a:solidFill>
              <a:srgbClr val="6D3FC0"/>
            </a:solidFill>
          </a:ln>
        </p:spPr>
        <p:txBody>
          <a:bodyPr wrap="square" lIns="0" tIns="0" rIns="0" bIns="0" rtlCol="0" anchor="ctr"/>
          <a:lstStyle/>
          <a:p>
            <a:pPr algn="ctr" indent="0" marL="0">
              <a:buNone/>
            </a:pPr>
            <a:r>
              <a:rPr lang="en-US" sz="1200" b="1" dirty="0">
                <a:solidFill>
                  <a:srgbClr val="6D3FC0"/>
                </a:solidFill>
                <a:latin typeface="Calibri" pitchFamily="34" charset="0"/>
                <a:ea typeface="Calibri" pitchFamily="34" charset="-122"/>
                <a:cs typeface="Calibri" pitchFamily="34" charset="-120"/>
              </a:rPr>
              <a:t>⏱ 6 min</a:t>
            </a:r>
            <a:endParaRPr lang="en-US" sz="1200" dirty="0"/>
          </a:p>
        </p:txBody>
      </p:sp>
      <p:sp>
        <p:nvSpPr>
          <p:cNvPr id="6" name="footer_120"/>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7" name="title_121"/>
          <p:cNvSpPr txBox="1"/>
          <p:nvPr/>
        </p:nvSpPr>
        <p:spPr>
          <a:xfrm rot="-120000">
            <a:off x="320040" y="676656"/>
            <a:ext cx="3282696"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Saturday, 9 p.m.</a:t>
            </a:r>
            <a:endParaRPr lang="en-US" sz="2000" dirty="0"/>
          </a:p>
        </p:txBody>
      </p:sp>
      <p:sp>
        <p:nvSpPr>
          <p:cNvPr id="8" name="rsign_122"/>
          <p:cNvSpPr txBox="1"/>
          <p:nvPr/>
        </p:nvSpPr>
        <p:spPr>
          <a:xfrm>
            <a:off x="320040" y="1298448"/>
            <a:ext cx="8503920" cy="384048"/>
          </a:xfrm>
          <a:prstGeom prst="rect">
            <a:avLst/>
          </a:prstGeom>
          <a:solidFill>
            <a:srgbClr val="48BDF2"/>
          </a:solidFill>
          <a:ln w="19050">
            <a:solidFill>
              <a:srgbClr val="111111"/>
            </a:solidFill>
          </a:ln>
        </p:spPr>
        <p:txBody>
          <a:bodyPr wrap="square" lIns="101600" tIns="101600" rIns="101600" bIns="10160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READ! LEGGI!  </a:t>
            </a:r>
            <a:pPr indent="0" marL="0">
              <a:buNone/>
            </a:pPr>
            <a:r>
              <a:rPr lang="en-US" sz="1200" dirty="0">
                <a:solidFill>
                  <a:srgbClr val="FFFFFF"/>
                </a:solidFill>
                <a:latin typeface="Calibri" pitchFamily="34" charset="0"/>
                <a:ea typeface="Calibri" pitchFamily="34" charset="-122"/>
                <a:cs typeface="Calibri" pitchFamily="34" charset="-120"/>
              </a:rPr>
              <a:t>Read. What's happening in the kitchen?  </a:t>
            </a:r>
            <a:pPr indent="0" marL="0">
              <a:buNone/>
            </a:pPr>
            <a:r>
              <a:rPr lang="en-US" sz="1100" i="1" dirty="0">
                <a:solidFill>
                  <a:srgbClr val="E2E8F0"/>
                </a:solidFill>
                <a:latin typeface="Calibri" pitchFamily="34" charset="0"/>
                <a:ea typeface="Calibri" pitchFamily="34" charset="-122"/>
                <a:cs typeface="Calibri" pitchFamily="34" charset="-120"/>
              </a:rPr>
              <a:t>Leggi. Cosa succede in cucina?</a:t>
            </a:r>
            <a:endParaRPr lang="en-US" sz="1200" dirty="0"/>
          </a:p>
        </p:txBody>
      </p:sp>
      <p:sp>
        <p:nvSpPr>
          <p:cNvPr id="9" name="rtext_123"/>
          <p:cNvSpPr txBox="1"/>
          <p:nvPr/>
        </p:nvSpPr>
        <p:spPr>
          <a:xfrm rot="-30000">
            <a:off x="320040" y="1810512"/>
            <a:ext cx="4343400" cy="2880360"/>
          </a:xfrm>
          <a:prstGeom prst="rect">
            <a:avLst/>
          </a:prstGeom>
          <a:solidFill>
            <a:srgbClr val="FFFDF5"/>
          </a:solidFill>
          <a:ln w="19050">
            <a:solidFill>
              <a:srgbClr val="111111"/>
            </a:solidFill>
          </a:ln>
          <a:effectLst>
            <a:outerShdw sx="100000" sy="100000" kx="0" ky="0" algn="bl" rotWithShape="0" blurRad="101600" dist="38100" dir="2700000">
              <a:srgbClr val="000000">
                <a:alpha val="35000"/>
              </a:srgbClr>
            </a:outerShdw>
          </a:effectLst>
        </p:spPr>
        <p:txBody>
          <a:bodyPr wrap="square" lIns="114300" tIns="114300" rIns="114300" bIns="114300" rtlCol="0" anchor="t"/>
          <a:lstStyle/>
          <a:p>
            <a:pPr indent="0" marL="0">
              <a:spcAft>
                <a:spcPts val="400"/>
              </a:spcAft>
              <a:buNone/>
            </a:pPr>
            <a:r>
              <a:rPr lang="en-US" sz="1300" b="1" dirty="0">
                <a:solidFill>
                  <a:srgbClr val="6D3FC0"/>
                </a:solidFill>
                <a:latin typeface="Calibri" pitchFamily="34" charset="0"/>
                <a:ea typeface="Calibri" pitchFamily="34" charset="-122"/>
                <a:cs typeface="Calibri" pitchFamily="34" charset="-120"/>
              </a:rPr>
              <a:t>🔥 Saturday night</a:t>
            </a:r>
            <a:endParaRPr lang="en-US" sz="1300" dirty="0"/>
          </a:p>
          <a:p>
            <a:pPr indent="0" marL="0">
              <a:spcAft>
                <a:spcPts val="400"/>
              </a:spcAft>
              <a:buNone/>
            </a:pPr>
            <a:r>
              <a:rPr lang="en-US" sz="1300" dirty="0">
                <a:solidFill>
                  <a:srgbClr val="111111"/>
                </a:solidFill>
                <a:latin typeface="Calibri" pitchFamily="34" charset="0"/>
                <a:ea typeface="Calibri" pitchFamily="34" charset="-122"/>
                <a:cs typeface="Calibri" pitchFamily="34" charset="-120"/>
              </a:rPr>
              <a:t>It's 9 p.m. and the restaurant is full. Marco is cooking six steaks on the grill and Anna is plating the starters for table 12. The KP is washing glasses as fast as he can. Table 4 is waiting for their mains – they're getting angry. The head chef is shouting 'How long on table 4?' and Marco answers 'Two minutes, Chef!' Outside, it's raining and more customers are arriving.</a:t>
            </a:r>
            <a:endParaRPr lang="en-US" sz="1300" dirty="0"/>
          </a:p>
        </p:txBody>
      </p:sp>
      <p:sp>
        <p:nvSpPr>
          <p:cNvPr id="10" name="box_124"/>
          <p:cNvSpPr txBox="1"/>
          <p:nvPr/>
        </p:nvSpPr>
        <p:spPr>
          <a:xfrm>
            <a:off x="4828032" y="1810512"/>
            <a:ext cx="2317638" cy="517550"/>
          </a:xfrm>
          <a:prstGeom prst="rect">
            <a:avLst/>
          </a:prstGeom>
          <a:solidFill>
            <a:srgbClr val="E0F2FE"/>
          </a:solidFill>
          <a:ln w="15875">
            <a:solidFill>
              <a:srgbClr val="111111"/>
            </a:solidFill>
          </a:ln>
        </p:spPr>
        <p:txBody>
          <a:bodyPr wrap="square" lIns="76200" tIns="76200" rIns="76200" bIns="76200" rtlCol="0" anchor="ctr"/>
          <a:lstStyle/>
          <a:p>
            <a:pPr algn="l" indent="0" marL="0">
              <a:buNone/>
            </a:pPr>
            <a:r>
              <a:rPr lang="en-US" sz="1150" dirty="0">
                <a:solidFill>
                  <a:srgbClr val="111111"/>
                </a:solidFill>
                <a:latin typeface="Calibri" pitchFamily="34" charset="0"/>
                <a:ea typeface="Calibri" pitchFamily="34" charset="-122"/>
                <a:cs typeface="Calibri" pitchFamily="34" charset="-120"/>
              </a:rPr>
              <a:t>1  What's Marco doing?</a:t>
            </a:r>
            <a:endParaRPr lang="en-US" sz="1150" dirty="0"/>
          </a:p>
        </p:txBody>
      </p:sp>
      <p:sp>
        <p:nvSpPr>
          <p:cNvPr id="11" name="R1_ra0"/>
          <p:cNvSpPr txBox="1"/>
          <p:nvPr/>
        </p:nvSpPr>
        <p:spPr>
          <a:xfrm>
            <a:off x="7191390" y="1837944"/>
            <a:ext cx="1632570" cy="462686"/>
          </a:xfrm>
          <a:prstGeom prst="roundRect">
            <a:avLst>
              <a:gd name="adj" fmla="val 11858"/>
            </a:avLst>
          </a:prstGeom>
          <a:solidFill>
            <a:srgbClr val="FFFFFF"/>
          </a:solidFill>
          <a:ln w="38100">
            <a:solidFill>
              <a:srgbClr val="1FA463"/>
            </a:solidFill>
          </a:ln>
        </p:spPr>
        <p:txBody>
          <a:bodyPr wrap="square" lIns="25400" tIns="25400" rIns="25400" bIns="25400" rtlCol="0" anchor="ctr"/>
          <a:lstStyle/>
          <a:p>
            <a:pPr algn="ctr" indent="0" marL="0">
              <a:buNone/>
            </a:pPr>
            <a:r>
              <a:rPr lang="en-US" sz="1050" dirty="0">
                <a:solidFill>
                  <a:srgbClr val="111111"/>
                </a:solidFill>
                <a:latin typeface="Calibri" pitchFamily="34" charset="0"/>
                <a:ea typeface="Calibri" pitchFamily="34" charset="-122"/>
                <a:cs typeface="Calibri" pitchFamily="34" charset="-120"/>
              </a:rPr>
              <a:t>cooking six steaks</a:t>
            </a:r>
            <a:endParaRPr lang="en-US" sz="1050" dirty="0"/>
          </a:p>
        </p:txBody>
      </p:sp>
      <p:sp>
        <p:nvSpPr>
          <p:cNvPr id="12" name="box_125"/>
          <p:cNvSpPr txBox="1"/>
          <p:nvPr/>
        </p:nvSpPr>
        <p:spPr>
          <a:xfrm>
            <a:off x="4828032" y="2401214"/>
            <a:ext cx="2317638" cy="517550"/>
          </a:xfrm>
          <a:prstGeom prst="rect">
            <a:avLst/>
          </a:prstGeom>
          <a:solidFill>
            <a:srgbClr val="FCE7F3"/>
          </a:solidFill>
          <a:ln w="15875">
            <a:solidFill>
              <a:srgbClr val="111111"/>
            </a:solidFill>
          </a:ln>
        </p:spPr>
        <p:txBody>
          <a:bodyPr wrap="square" lIns="76200" tIns="76200" rIns="76200" bIns="76200" rtlCol="0" anchor="ctr"/>
          <a:lstStyle/>
          <a:p>
            <a:pPr algn="l" indent="0" marL="0">
              <a:buNone/>
            </a:pPr>
            <a:r>
              <a:rPr lang="en-US" sz="1150" dirty="0">
                <a:solidFill>
                  <a:srgbClr val="111111"/>
                </a:solidFill>
                <a:latin typeface="Calibri" pitchFamily="34" charset="0"/>
                <a:ea typeface="Calibri" pitchFamily="34" charset="-122"/>
                <a:cs typeface="Calibri" pitchFamily="34" charset="-120"/>
              </a:rPr>
              <a:t>2  Who's plating the starters?</a:t>
            </a:r>
            <a:endParaRPr lang="en-US" sz="1150" dirty="0"/>
          </a:p>
        </p:txBody>
      </p:sp>
      <p:sp>
        <p:nvSpPr>
          <p:cNvPr id="13" name="R1_ra1"/>
          <p:cNvSpPr txBox="1"/>
          <p:nvPr/>
        </p:nvSpPr>
        <p:spPr>
          <a:xfrm>
            <a:off x="7191390" y="2428646"/>
            <a:ext cx="1632570" cy="462686"/>
          </a:xfrm>
          <a:prstGeom prst="roundRect">
            <a:avLst>
              <a:gd name="adj" fmla="val 11858"/>
            </a:avLst>
          </a:prstGeom>
          <a:solidFill>
            <a:srgbClr val="FFFFFF"/>
          </a:solidFill>
          <a:ln w="38100">
            <a:solidFill>
              <a:srgbClr val="1FA463"/>
            </a:solidFill>
          </a:ln>
        </p:spPr>
        <p:txBody>
          <a:bodyPr wrap="square" lIns="25400" tIns="25400" rIns="25400" bIns="25400" rtlCol="0" anchor="ctr"/>
          <a:lstStyle/>
          <a:p>
            <a:pPr algn="ctr" indent="0" marL="0">
              <a:buNone/>
            </a:pPr>
            <a:r>
              <a:rPr lang="en-US" sz="1050" dirty="0">
                <a:solidFill>
                  <a:srgbClr val="111111"/>
                </a:solidFill>
                <a:latin typeface="Calibri" pitchFamily="34" charset="0"/>
                <a:ea typeface="Calibri" pitchFamily="34" charset="-122"/>
                <a:cs typeface="Calibri" pitchFamily="34" charset="-120"/>
              </a:rPr>
              <a:t>Anna</a:t>
            </a:r>
            <a:endParaRPr lang="en-US" sz="1050" dirty="0"/>
          </a:p>
        </p:txBody>
      </p:sp>
      <p:sp>
        <p:nvSpPr>
          <p:cNvPr id="14" name="box_126"/>
          <p:cNvSpPr txBox="1"/>
          <p:nvPr/>
        </p:nvSpPr>
        <p:spPr>
          <a:xfrm>
            <a:off x="4828032" y="2991917"/>
            <a:ext cx="2317638" cy="517550"/>
          </a:xfrm>
          <a:prstGeom prst="rect">
            <a:avLst/>
          </a:prstGeom>
          <a:solidFill>
            <a:srgbClr val="FEF9C3"/>
          </a:solidFill>
          <a:ln w="15875">
            <a:solidFill>
              <a:srgbClr val="111111"/>
            </a:solidFill>
          </a:ln>
        </p:spPr>
        <p:txBody>
          <a:bodyPr wrap="square" lIns="76200" tIns="76200" rIns="76200" bIns="76200" rtlCol="0" anchor="ctr"/>
          <a:lstStyle/>
          <a:p>
            <a:pPr algn="l" indent="0" marL="0">
              <a:buNone/>
            </a:pPr>
            <a:r>
              <a:rPr lang="en-US" sz="1150" dirty="0">
                <a:solidFill>
                  <a:srgbClr val="111111"/>
                </a:solidFill>
                <a:latin typeface="Calibri" pitchFamily="34" charset="0"/>
                <a:ea typeface="Calibri" pitchFamily="34" charset="-122"/>
                <a:cs typeface="Calibri" pitchFamily="34" charset="-120"/>
              </a:rPr>
              <a:t>3  Why is table 4 angry?</a:t>
            </a:r>
            <a:endParaRPr lang="en-US" sz="1150" dirty="0"/>
          </a:p>
        </p:txBody>
      </p:sp>
      <p:sp>
        <p:nvSpPr>
          <p:cNvPr id="15" name="R1_ra2"/>
          <p:cNvSpPr txBox="1"/>
          <p:nvPr/>
        </p:nvSpPr>
        <p:spPr>
          <a:xfrm>
            <a:off x="7191390" y="3019349"/>
            <a:ext cx="1632570" cy="462686"/>
          </a:xfrm>
          <a:prstGeom prst="roundRect">
            <a:avLst>
              <a:gd name="adj" fmla="val 11858"/>
            </a:avLst>
          </a:prstGeom>
          <a:solidFill>
            <a:srgbClr val="FFFFFF"/>
          </a:solidFill>
          <a:ln w="38100">
            <a:solidFill>
              <a:srgbClr val="1FA463"/>
            </a:solidFill>
          </a:ln>
        </p:spPr>
        <p:txBody>
          <a:bodyPr wrap="square" lIns="25400" tIns="25400" rIns="25400" bIns="25400" rtlCol="0" anchor="ctr"/>
          <a:lstStyle/>
          <a:p>
            <a:pPr algn="ctr" indent="0" marL="0">
              <a:buNone/>
            </a:pPr>
            <a:r>
              <a:rPr lang="en-US" sz="1050" dirty="0">
                <a:solidFill>
                  <a:srgbClr val="111111"/>
                </a:solidFill>
                <a:latin typeface="Calibri" pitchFamily="34" charset="0"/>
                <a:ea typeface="Calibri" pitchFamily="34" charset="-122"/>
                <a:cs typeface="Calibri" pitchFamily="34" charset="-120"/>
              </a:rPr>
              <a:t>waiting for their mains</a:t>
            </a:r>
            <a:endParaRPr lang="en-US" sz="1050" dirty="0"/>
          </a:p>
        </p:txBody>
      </p:sp>
      <p:sp>
        <p:nvSpPr>
          <p:cNvPr id="16" name="box_127"/>
          <p:cNvSpPr txBox="1"/>
          <p:nvPr/>
        </p:nvSpPr>
        <p:spPr>
          <a:xfrm>
            <a:off x="4828032" y="3582619"/>
            <a:ext cx="2317638" cy="517550"/>
          </a:xfrm>
          <a:prstGeom prst="rect">
            <a:avLst/>
          </a:prstGeom>
          <a:solidFill>
            <a:srgbClr val="DCFCE7"/>
          </a:solidFill>
          <a:ln w="15875">
            <a:solidFill>
              <a:srgbClr val="111111"/>
            </a:solidFill>
          </a:ln>
        </p:spPr>
        <p:txBody>
          <a:bodyPr wrap="square" lIns="76200" tIns="76200" rIns="76200" bIns="76200" rtlCol="0" anchor="ctr"/>
          <a:lstStyle/>
          <a:p>
            <a:pPr algn="l" indent="0" marL="0">
              <a:buNone/>
            </a:pPr>
            <a:r>
              <a:rPr lang="en-US" sz="1150" dirty="0">
                <a:solidFill>
                  <a:srgbClr val="111111"/>
                </a:solidFill>
                <a:latin typeface="Calibri" pitchFamily="34" charset="0"/>
                <a:ea typeface="Calibri" pitchFamily="34" charset="-122"/>
                <a:cs typeface="Calibri" pitchFamily="34" charset="-120"/>
              </a:rPr>
              <a:t>4  What's the weather like?</a:t>
            </a:r>
            <a:endParaRPr lang="en-US" sz="1150" dirty="0"/>
          </a:p>
        </p:txBody>
      </p:sp>
      <p:sp>
        <p:nvSpPr>
          <p:cNvPr id="17" name="R1_ra3"/>
          <p:cNvSpPr txBox="1"/>
          <p:nvPr/>
        </p:nvSpPr>
        <p:spPr>
          <a:xfrm>
            <a:off x="7191390" y="3610051"/>
            <a:ext cx="1632570" cy="462686"/>
          </a:xfrm>
          <a:prstGeom prst="roundRect">
            <a:avLst>
              <a:gd name="adj" fmla="val 11858"/>
            </a:avLst>
          </a:prstGeom>
          <a:solidFill>
            <a:srgbClr val="FFFFFF"/>
          </a:solidFill>
          <a:ln w="38100">
            <a:solidFill>
              <a:srgbClr val="1FA463"/>
            </a:solidFill>
          </a:ln>
        </p:spPr>
        <p:txBody>
          <a:bodyPr wrap="square" lIns="25400" tIns="25400" rIns="25400" bIns="25400" rtlCol="0" anchor="ctr"/>
          <a:lstStyle/>
          <a:p>
            <a:pPr algn="ctr" indent="0" marL="0">
              <a:buNone/>
            </a:pPr>
            <a:r>
              <a:rPr lang="en-US" sz="1050" dirty="0">
                <a:solidFill>
                  <a:srgbClr val="111111"/>
                </a:solidFill>
                <a:latin typeface="Calibri" pitchFamily="34" charset="0"/>
                <a:ea typeface="Calibri" pitchFamily="34" charset="-122"/>
                <a:cs typeface="Calibri" pitchFamily="34" charset="-120"/>
              </a:rPr>
              <a:t>it's raining</a:t>
            </a:r>
            <a:endParaRPr lang="en-US" sz="1050" dirty="0"/>
          </a:p>
        </p:txBody>
      </p:sp>
      <p:sp>
        <p:nvSpPr>
          <p:cNvPr id="18" name="box_128"/>
          <p:cNvSpPr txBox="1"/>
          <p:nvPr/>
        </p:nvSpPr>
        <p:spPr>
          <a:xfrm>
            <a:off x="4828032" y="4173322"/>
            <a:ext cx="2317638" cy="517550"/>
          </a:xfrm>
          <a:prstGeom prst="rect">
            <a:avLst/>
          </a:prstGeom>
          <a:solidFill>
            <a:srgbClr val="EDE9FE"/>
          </a:solidFill>
          <a:ln w="15875">
            <a:solidFill>
              <a:srgbClr val="111111"/>
            </a:solidFill>
          </a:ln>
        </p:spPr>
        <p:txBody>
          <a:bodyPr wrap="square" lIns="76200" tIns="76200" rIns="76200" bIns="76200" rtlCol="0" anchor="ctr"/>
          <a:lstStyle/>
          <a:p>
            <a:pPr algn="l" indent="0" marL="0">
              <a:buNone/>
            </a:pPr>
            <a:r>
              <a:rPr lang="en-US" sz="1150" dirty="0">
                <a:solidFill>
                  <a:srgbClr val="111111"/>
                </a:solidFill>
                <a:latin typeface="Calibri" pitchFamily="34" charset="0"/>
                <a:ea typeface="Calibri" pitchFamily="34" charset="-122"/>
                <a:cs typeface="Calibri" pitchFamily="34" charset="-120"/>
              </a:rPr>
              <a:t>5  Is the restaurant quiet?</a:t>
            </a:r>
            <a:endParaRPr lang="en-US" sz="1150" dirty="0"/>
          </a:p>
        </p:txBody>
      </p:sp>
      <p:sp>
        <p:nvSpPr>
          <p:cNvPr id="19" name="R1_ra4"/>
          <p:cNvSpPr txBox="1"/>
          <p:nvPr/>
        </p:nvSpPr>
        <p:spPr>
          <a:xfrm>
            <a:off x="7191390" y="4200754"/>
            <a:ext cx="1632570" cy="462686"/>
          </a:xfrm>
          <a:prstGeom prst="roundRect">
            <a:avLst>
              <a:gd name="adj" fmla="val 11858"/>
            </a:avLst>
          </a:prstGeom>
          <a:solidFill>
            <a:srgbClr val="FFFFFF"/>
          </a:solidFill>
          <a:ln w="38100">
            <a:solidFill>
              <a:srgbClr val="1FA463"/>
            </a:solidFill>
          </a:ln>
        </p:spPr>
        <p:txBody>
          <a:bodyPr wrap="square" lIns="25400" tIns="25400" rIns="25400" bIns="25400" rtlCol="0" anchor="ctr"/>
          <a:lstStyle/>
          <a:p>
            <a:pPr algn="ctr" indent="0" marL="0">
              <a:buNone/>
            </a:pPr>
            <a:r>
              <a:rPr lang="en-US" sz="1050" dirty="0">
                <a:solidFill>
                  <a:srgbClr val="111111"/>
                </a:solidFill>
                <a:latin typeface="Calibri" pitchFamily="34" charset="0"/>
                <a:ea typeface="Calibri" pitchFamily="34" charset="-122"/>
                <a:cs typeface="Calibri" pitchFamily="34" charset="-120"/>
              </a:rPr>
              <a:t>No – it's full</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129"/>
          <p:cNvSpPr/>
          <p:nvPr/>
        </p:nvSpPr>
        <p:spPr>
          <a:xfrm>
            <a:off x="54864" y="54864"/>
            <a:ext cx="9034272" cy="5033772"/>
          </a:xfrm>
          <a:prstGeom prst="rect">
            <a:avLst/>
          </a:prstGeom>
          <a:ln w="114300">
            <a:solidFill>
              <a:srgbClr val="C9B3F0"/>
            </a:solidFill>
            <a:prstDash val="solid"/>
          </a:ln>
        </p:spPr>
      </p:sp>
      <p:pic>
        <p:nvPicPr>
          <p:cNvPr id="3" name="logo_130"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objective_131"/>
          <p:cNvSpPr txBox="1"/>
          <p:nvPr/>
        </p:nvSpPr>
        <p:spPr>
          <a:xfrm>
            <a:off x="320040" y="182880"/>
            <a:ext cx="4754880" cy="365760"/>
          </a:xfrm>
          <a:prstGeom prst="roundRect">
            <a:avLst>
              <a:gd name="adj" fmla="val 20000"/>
            </a:avLst>
          </a:prstGeom>
          <a:solidFill>
            <a:srgbClr val="062F67"/>
          </a:solidFill>
          <a:ln w="31750">
            <a:solidFill>
              <a:srgbClr val="111111"/>
            </a:solidFill>
          </a:ln>
        </p:spPr>
        <p:txBody>
          <a:bodyPr wrap="square" lIns="101600" tIns="101600" rIns="101600" bIns="101600" rtlCol="0" anchor="ctr"/>
          <a:lstStyle/>
          <a:p>
            <a:pPr indent="0" marL="0">
              <a:buNone/>
            </a:pPr>
            <a:r>
              <a:rPr lang="en-US" sz="1100" dirty="0">
                <a:solidFill>
                  <a:srgbClr val="FFFFFF"/>
                </a:solidFill>
                <a:latin typeface="Arial Black" pitchFamily="34" charset="0"/>
                <a:ea typeface="Arial Black" pitchFamily="34" charset="-122"/>
                <a:cs typeface="Arial Black" pitchFamily="34" charset="-120"/>
              </a:rPr>
              <a:t>SPEAKING · Two perspectives</a:t>
            </a:r>
            <a:endParaRPr lang="en-US" sz="1100" dirty="0"/>
          </a:p>
        </p:txBody>
      </p:sp>
      <p:sp>
        <p:nvSpPr>
          <p:cNvPr id="5" name="timer_132"/>
          <p:cNvSpPr txBox="1"/>
          <p:nvPr/>
        </p:nvSpPr>
        <p:spPr>
          <a:xfrm>
            <a:off x="7086600" y="219456"/>
            <a:ext cx="1005840" cy="310896"/>
          </a:xfrm>
          <a:prstGeom prst="roundRect">
            <a:avLst>
              <a:gd name="adj" fmla="val 23529"/>
            </a:avLst>
          </a:prstGeom>
          <a:solidFill>
            <a:srgbClr val="FFFFFF"/>
          </a:solidFill>
          <a:ln w="25400">
            <a:solidFill>
              <a:srgbClr val="6D3FC0"/>
            </a:solidFill>
          </a:ln>
        </p:spPr>
        <p:txBody>
          <a:bodyPr wrap="square" lIns="0" tIns="0" rIns="0" bIns="0" rtlCol="0" anchor="ctr"/>
          <a:lstStyle/>
          <a:p>
            <a:pPr algn="ctr" indent="0" marL="0">
              <a:buNone/>
            </a:pPr>
            <a:r>
              <a:rPr lang="en-US" sz="1200" b="1" dirty="0">
                <a:solidFill>
                  <a:srgbClr val="6D3FC0"/>
                </a:solidFill>
                <a:latin typeface="Calibri" pitchFamily="34" charset="0"/>
                <a:ea typeface="Calibri" pitchFamily="34" charset="-122"/>
                <a:cs typeface="Calibri" pitchFamily="34" charset="-120"/>
              </a:rPr>
              <a:t>⏱ 7 min</a:t>
            </a:r>
            <a:endParaRPr lang="en-US" sz="1200" dirty="0"/>
          </a:p>
        </p:txBody>
      </p:sp>
      <p:sp>
        <p:nvSpPr>
          <p:cNvPr id="6" name="footer_133"/>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7" name="title_134"/>
          <p:cNvSpPr txBox="1"/>
          <p:nvPr/>
        </p:nvSpPr>
        <p:spPr>
          <a:xfrm rot="-120000">
            <a:off x="320040" y="676656"/>
            <a:ext cx="2761488"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Chef v waiter</a:t>
            </a:r>
            <a:endParaRPr lang="en-US" sz="2000" dirty="0"/>
          </a:p>
        </p:txBody>
      </p:sp>
      <p:sp>
        <p:nvSpPr>
          <p:cNvPr id="8" name="post_135"/>
          <p:cNvSpPr/>
          <p:nvPr/>
        </p:nvSpPr>
        <p:spPr>
          <a:xfrm>
            <a:off x="429768" y="1554480"/>
            <a:ext cx="128016" cy="2194560"/>
          </a:xfrm>
          <a:prstGeom prst="rect">
            <a:avLst/>
          </a:prstGeom>
          <a:solidFill>
            <a:srgbClr val="8B5A2B"/>
          </a:solidFill>
          <a:ln w="31750">
            <a:solidFill>
              <a:srgbClr val="111111"/>
            </a:solidFill>
            <a:prstDash val="solid"/>
          </a:ln>
        </p:spPr>
      </p:sp>
      <p:sp>
        <p:nvSpPr>
          <p:cNvPr id="9" name="signA_136"/>
          <p:cNvSpPr txBox="1"/>
          <p:nvPr/>
        </p:nvSpPr>
        <p:spPr>
          <a:xfrm rot="-180000">
            <a:off x="320040" y="1371600"/>
            <a:ext cx="2240280" cy="457200"/>
          </a:xfrm>
          <a:prstGeom prst="homePlate">
            <a:avLst/>
          </a:prstGeom>
          <a:solidFill>
            <a:srgbClr val="EF2F2F"/>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SPEAK!</a:t>
            </a:r>
            <a:pPr indent="0" marL="0">
              <a:buNone/>
            </a:pPr>
            <a:r>
              <a:rPr lang="en-US" sz="1000" dirty="0">
                <a:solidFill>
                  <a:srgbClr val="FFF3B0"/>
                </a:solidFill>
                <a:latin typeface="Arial Black" pitchFamily="34" charset="0"/>
                <a:ea typeface="Arial Black" pitchFamily="34" charset="-122"/>
                <a:cs typeface="Arial Black" pitchFamily="34" charset="-120"/>
              </a:rPr>
              <a:t>  PARLA!</a:t>
            </a:r>
            <a:endParaRPr lang="en-US" sz="1500" dirty="0"/>
          </a:p>
        </p:txBody>
      </p:sp>
      <p:sp>
        <p:nvSpPr>
          <p:cNvPr id="10" name="signB_137"/>
          <p:cNvSpPr txBox="1"/>
          <p:nvPr/>
        </p:nvSpPr>
        <p:spPr>
          <a:xfrm rot="120000">
            <a:off x="365760" y="1938528"/>
            <a:ext cx="2240280" cy="1051560"/>
          </a:xfrm>
          <a:prstGeom prst="rect">
            <a:avLst/>
          </a:prstGeom>
          <a:solidFill>
            <a:srgbClr val="FFFFFF"/>
          </a:solidFill>
          <a:ln w="31750">
            <a:solidFill>
              <a:srgbClr val="111111"/>
            </a:solidFill>
          </a:ln>
        </p:spPr>
        <p:txBody>
          <a:bodyPr wrap="square" lIns="76200" tIns="76200" rIns="76200" bIns="76200" rtlCol="0" anchor="ctr"/>
          <a:lstStyle/>
          <a:p>
            <a:pPr indent="0" marL="0">
              <a:buNone/>
            </a:pPr>
            <a:r>
              <a:rPr lang="en-US" sz="1250" dirty="0">
                <a:solidFill>
                  <a:srgbClr val="111111"/>
                </a:solidFill>
                <a:latin typeface="Calibri" pitchFamily="34" charset="0"/>
                <a:ea typeface="Calibri" pitchFamily="34" charset="-122"/>
                <a:cs typeface="Calibri" pitchFamily="34" charset="-120"/>
              </a:rPr>
              <a:t>Read. Then do it again – the waiter is angry, the chef is busy!</a:t>
            </a:r>
            <a:endParaRPr lang="en-US" sz="1250" dirty="0"/>
          </a:p>
          <a:p>
            <a:pPr indent="0" marL="0">
              <a:buNone/>
            </a:pPr>
            <a:r>
              <a:rPr lang="en-US" sz="1100" i="1" dirty="0">
                <a:solidFill>
                  <a:srgbClr val="334155"/>
                </a:solidFill>
                <a:latin typeface="Calibri" pitchFamily="34" charset="0"/>
                <a:ea typeface="Calibri" pitchFamily="34" charset="-122"/>
                <a:cs typeface="Calibri" pitchFamily="34" charset="-120"/>
              </a:rPr>
              <a:t>Leggete. Poi rifatelo – cameriere arrabbiato, chef impegnato!</a:t>
            </a:r>
            <a:endParaRPr lang="en-US" sz="1250" dirty="0"/>
          </a:p>
        </p:txBody>
      </p:sp>
      <p:sp>
        <p:nvSpPr>
          <p:cNvPr id="11" name="line_138"/>
          <p:cNvSpPr txBox="1"/>
          <p:nvPr/>
        </p:nvSpPr>
        <p:spPr>
          <a:xfrm>
            <a:off x="2788920" y="1371600"/>
            <a:ext cx="3611880" cy="490728"/>
          </a:xfrm>
          <a:prstGeom prst="roundRect">
            <a:avLst>
              <a:gd name="adj" fmla="val 14907"/>
            </a:avLst>
          </a:prstGeom>
          <a:solidFill>
            <a:srgbClr val="FFF1F2"/>
          </a:solidFill>
          <a:ln w="15875">
            <a:solidFill>
              <a:srgbClr val="111111"/>
            </a:solidFill>
          </a:ln>
        </p:spPr>
        <p:txBody>
          <a:bodyPr wrap="square" lIns="88900" tIns="88900" rIns="88900" bIns="88900" rtlCol="0" anchor="ctr"/>
          <a:lstStyle/>
          <a:p>
            <a:pPr indent="0" marL="0">
              <a:buNone/>
            </a:pPr>
            <a:r>
              <a:rPr lang="en-US" sz="1250" b="1" dirty="0">
                <a:solidFill>
                  <a:srgbClr val="EF2F2F"/>
                </a:solidFill>
                <a:latin typeface="Calibri" pitchFamily="34" charset="0"/>
                <a:ea typeface="Calibri" pitchFamily="34" charset="-122"/>
                <a:cs typeface="Calibri" pitchFamily="34" charset="-120"/>
              </a:rPr>
              <a:t>Waiter: </a:t>
            </a:r>
            <a:pPr indent="0" marL="0">
              <a:buNone/>
            </a:pPr>
            <a:r>
              <a:rPr lang="en-US" sz="1250" dirty="0">
                <a:solidFill>
                  <a:srgbClr val="111111"/>
                </a:solidFill>
                <a:latin typeface="Calibri" pitchFamily="34" charset="0"/>
                <a:ea typeface="Calibri" pitchFamily="34" charset="-122"/>
                <a:cs typeface="Calibri" pitchFamily="34" charset="-120"/>
              </a:rPr>
              <a:t>Chef, table 7 is waiting. They're getting angry!</a:t>
            </a:r>
            <a:endParaRPr lang="en-US" sz="1250" dirty="0"/>
          </a:p>
        </p:txBody>
      </p:sp>
      <p:sp>
        <p:nvSpPr>
          <p:cNvPr id="12" name="line_139"/>
          <p:cNvSpPr txBox="1"/>
          <p:nvPr/>
        </p:nvSpPr>
        <p:spPr>
          <a:xfrm>
            <a:off x="3108960" y="1935480"/>
            <a:ext cx="3611880" cy="490728"/>
          </a:xfrm>
          <a:prstGeom prst="roundRect">
            <a:avLst>
              <a:gd name="adj" fmla="val 14907"/>
            </a:avLst>
          </a:prstGeom>
          <a:solidFill>
            <a:srgbClr val="EFF6FF"/>
          </a:solidFill>
          <a:ln w="15875">
            <a:solidFill>
              <a:srgbClr val="111111"/>
            </a:solidFill>
          </a:ln>
        </p:spPr>
        <p:txBody>
          <a:bodyPr wrap="square" lIns="88900" tIns="88900" rIns="88900" bIns="88900" rtlCol="0" anchor="ctr"/>
          <a:lstStyle/>
          <a:p>
            <a:pPr indent="0" marL="0">
              <a:buNone/>
            </a:pPr>
            <a:r>
              <a:rPr lang="en-US" sz="1250" b="1" dirty="0">
                <a:solidFill>
                  <a:srgbClr val="062F67"/>
                </a:solidFill>
                <a:latin typeface="Calibri" pitchFamily="34" charset="0"/>
                <a:ea typeface="Calibri" pitchFamily="34" charset="-122"/>
                <a:cs typeface="Calibri" pitchFamily="34" charset="-120"/>
              </a:rPr>
              <a:t>Chef: </a:t>
            </a:r>
            <a:pPr indent="0" marL="0">
              <a:buNone/>
            </a:pPr>
            <a:r>
              <a:rPr lang="en-US" sz="1250" dirty="0">
                <a:solidFill>
                  <a:srgbClr val="111111"/>
                </a:solidFill>
                <a:latin typeface="Calibri" pitchFamily="34" charset="0"/>
                <a:ea typeface="Calibri" pitchFamily="34" charset="-122"/>
                <a:cs typeface="Calibri" pitchFamily="34" charset="-120"/>
              </a:rPr>
              <a:t>I know! I'm cooking their steaks now.</a:t>
            </a:r>
            <a:endParaRPr lang="en-US" sz="1250" dirty="0"/>
          </a:p>
        </p:txBody>
      </p:sp>
      <p:sp>
        <p:nvSpPr>
          <p:cNvPr id="13" name="line_140"/>
          <p:cNvSpPr txBox="1"/>
          <p:nvPr/>
        </p:nvSpPr>
        <p:spPr>
          <a:xfrm>
            <a:off x="2788920" y="2499360"/>
            <a:ext cx="3611880" cy="490728"/>
          </a:xfrm>
          <a:prstGeom prst="roundRect">
            <a:avLst>
              <a:gd name="adj" fmla="val 14907"/>
            </a:avLst>
          </a:prstGeom>
          <a:solidFill>
            <a:srgbClr val="FFF1F2"/>
          </a:solidFill>
          <a:ln w="15875">
            <a:solidFill>
              <a:srgbClr val="111111"/>
            </a:solidFill>
          </a:ln>
        </p:spPr>
        <p:txBody>
          <a:bodyPr wrap="square" lIns="88900" tIns="88900" rIns="88900" bIns="88900" rtlCol="0" anchor="ctr"/>
          <a:lstStyle/>
          <a:p>
            <a:pPr indent="0" marL="0">
              <a:buNone/>
            </a:pPr>
            <a:r>
              <a:rPr lang="en-US" sz="1250" b="1" dirty="0">
                <a:solidFill>
                  <a:srgbClr val="EF2F2F"/>
                </a:solidFill>
                <a:latin typeface="Calibri" pitchFamily="34" charset="0"/>
                <a:ea typeface="Calibri" pitchFamily="34" charset="-122"/>
                <a:cs typeface="Calibri" pitchFamily="34" charset="-120"/>
              </a:rPr>
              <a:t>Waiter: </a:t>
            </a:r>
            <a:pPr indent="0" marL="0">
              <a:buNone/>
            </a:pPr>
            <a:r>
              <a:rPr lang="en-US" sz="1250" dirty="0">
                <a:solidFill>
                  <a:srgbClr val="111111"/>
                </a:solidFill>
                <a:latin typeface="Calibri" pitchFamily="34" charset="0"/>
                <a:ea typeface="Calibri" pitchFamily="34" charset="-122"/>
                <a:cs typeface="Calibri" pitchFamily="34" charset="-120"/>
              </a:rPr>
              <a:t>How long?</a:t>
            </a:r>
            <a:endParaRPr lang="en-US" sz="1250" dirty="0"/>
          </a:p>
        </p:txBody>
      </p:sp>
      <p:sp>
        <p:nvSpPr>
          <p:cNvPr id="14" name="line_141"/>
          <p:cNvSpPr txBox="1"/>
          <p:nvPr/>
        </p:nvSpPr>
        <p:spPr>
          <a:xfrm>
            <a:off x="3108960" y="3063240"/>
            <a:ext cx="3611880" cy="490728"/>
          </a:xfrm>
          <a:prstGeom prst="roundRect">
            <a:avLst>
              <a:gd name="adj" fmla="val 14907"/>
            </a:avLst>
          </a:prstGeom>
          <a:solidFill>
            <a:srgbClr val="EFF6FF"/>
          </a:solidFill>
          <a:ln w="15875">
            <a:solidFill>
              <a:srgbClr val="111111"/>
            </a:solidFill>
          </a:ln>
        </p:spPr>
        <p:txBody>
          <a:bodyPr wrap="square" lIns="88900" tIns="88900" rIns="88900" bIns="88900" rtlCol="0" anchor="ctr"/>
          <a:lstStyle/>
          <a:p>
            <a:pPr indent="0" marL="0">
              <a:buNone/>
            </a:pPr>
            <a:r>
              <a:rPr lang="en-US" sz="1250" b="1" dirty="0">
                <a:solidFill>
                  <a:srgbClr val="062F67"/>
                </a:solidFill>
                <a:latin typeface="Calibri" pitchFamily="34" charset="0"/>
                <a:ea typeface="Calibri" pitchFamily="34" charset="-122"/>
                <a:cs typeface="Calibri" pitchFamily="34" charset="-120"/>
              </a:rPr>
              <a:t>Chef: </a:t>
            </a:r>
            <a:pPr indent="0" marL="0">
              <a:buNone/>
            </a:pPr>
            <a:r>
              <a:rPr lang="en-US" sz="1250" dirty="0">
                <a:solidFill>
                  <a:srgbClr val="111111"/>
                </a:solidFill>
                <a:latin typeface="Calibri" pitchFamily="34" charset="0"/>
                <a:ea typeface="Calibri" pitchFamily="34" charset="-122"/>
                <a:cs typeface="Calibri" pitchFamily="34" charset="-120"/>
              </a:rPr>
              <a:t>Three minutes. Is table 7 having dessert too?</a:t>
            </a:r>
            <a:endParaRPr lang="en-US" sz="1250" dirty="0"/>
          </a:p>
        </p:txBody>
      </p:sp>
      <p:sp>
        <p:nvSpPr>
          <p:cNvPr id="15" name="line_142"/>
          <p:cNvSpPr txBox="1"/>
          <p:nvPr/>
        </p:nvSpPr>
        <p:spPr>
          <a:xfrm>
            <a:off x="2788920" y="3627120"/>
            <a:ext cx="3611880" cy="490728"/>
          </a:xfrm>
          <a:prstGeom prst="roundRect">
            <a:avLst>
              <a:gd name="adj" fmla="val 14907"/>
            </a:avLst>
          </a:prstGeom>
          <a:solidFill>
            <a:srgbClr val="FFF1F2"/>
          </a:solidFill>
          <a:ln w="15875">
            <a:solidFill>
              <a:srgbClr val="111111"/>
            </a:solidFill>
          </a:ln>
        </p:spPr>
        <p:txBody>
          <a:bodyPr wrap="square" lIns="88900" tIns="88900" rIns="88900" bIns="88900" rtlCol="0" anchor="ctr"/>
          <a:lstStyle/>
          <a:p>
            <a:pPr indent="0" marL="0">
              <a:buNone/>
            </a:pPr>
            <a:r>
              <a:rPr lang="en-US" sz="1250" b="1" dirty="0">
                <a:solidFill>
                  <a:srgbClr val="EF2F2F"/>
                </a:solidFill>
                <a:latin typeface="Calibri" pitchFamily="34" charset="0"/>
                <a:ea typeface="Calibri" pitchFamily="34" charset="-122"/>
                <a:cs typeface="Calibri" pitchFamily="34" charset="-120"/>
              </a:rPr>
              <a:t>Waiter: </a:t>
            </a:r>
            <a:pPr indent="0" marL="0">
              <a:buNone/>
            </a:pPr>
            <a:r>
              <a:rPr lang="en-US" sz="1250" dirty="0">
                <a:solidFill>
                  <a:srgbClr val="111111"/>
                </a:solidFill>
                <a:latin typeface="Calibri" pitchFamily="34" charset="0"/>
                <a:ea typeface="Calibri" pitchFamily="34" charset="-122"/>
                <a:cs typeface="Calibri" pitchFamily="34" charset="-120"/>
              </a:rPr>
              <a:t>Yes. And table 2 is asking for more bread.</a:t>
            </a:r>
            <a:endParaRPr lang="en-US" sz="1250" dirty="0"/>
          </a:p>
        </p:txBody>
      </p:sp>
      <p:sp>
        <p:nvSpPr>
          <p:cNvPr id="16" name="line_143"/>
          <p:cNvSpPr txBox="1"/>
          <p:nvPr/>
        </p:nvSpPr>
        <p:spPr>
          <a:xfrm>
            <a:off x="3108960" y="4191000"/>
            <a:ext cx="3611880" cy="490728"/>
          </a:xfrm>
          <a:prstGeom prst="roundRect">
            <a:avLst>
              <a:gd name="adj" fmla="val 14907"/>
            </a:avLst>
          </a:prstGeom>
          <a:solidFill>
            <a:srgbClr val="EFF6FF"/>
          </a:solidFill>
          <a:ln w="15875">
            <a:solidFill>
              <a:srgbClr val="111111"/>
            </a:solidFill>
          </a:ln>
        </p:spPr>
        <p:txBody>
          <a:bodyPr wrap="square" lIns="88900" tIns="88900" rIns="88900" bIns="88900" rtlCol="0" anchor="ctr"/>
          <a:lstStyle/>
          <a:p>
            <a:pPr indent="0" marL="0">
              <a:buNone/>
            </a:pPr>
            <a:r>
              <a:rPr lang="en-US" sz="1250" b="1" dirty="0">
                <a:solidFill>
                  <a:srgbClr val="062F67"/>
                </a:solidFill>
                <a:latin typeface="Calibri" pitchFamily="34" charset="0"/>
                <a:ea typeface="Calibri" pitchFamily="34" charset="-122"/>
                <a:cs typeface="Calibri" pitchFamily="34" charset="-120"/>
              </a:rPr>
              <a:t>Chef: </a:t>
            </a:r>
            <a:pPr indent="0" marL="0">
              <a:buNone/>
            </a:pPr>
            <a:r>
              <a:rPr lang="en-US" sz="1250" dirty="0">
                <a:solidFill>
                  <a:srgbClr val="111111"/>
                </a:solidFill>
                <a:latin typeface="Calibri" pitchFamily="34" charset="0"/>
                <a:ea typeface="Calibri" pitchFamily="34" charset="-122"/>
                <a:cs typeface="Calibri" pitchFamily="34" charset="-120"/>
              </a:rPr>
              <a:t>Heard. Marco's cutting it now.</a:t>
            </a:r>
            <a:endParaRPr lang="en-US" sz="1250" dirty="0"/>
          </a:p>
        </p:txBody>
      </p:sp>
      <p:sp>
        <p:nvSpPr>
          <p:cNvPr id="17" name="phrases_144"/>
          <p:cNvSpPr txBox="1"/>
          <p:nvPr/>
        </p:nvSpPr>
        <p:spPr>
          <a:xfrm rot="90000">
            <a:off x="6858000" y="1371600"/>
            <a:ext cx="1965960" cy="3310128"/>
          </a:xfrm>
          <a:prstGeom prst="rect">
            <a:avLst/>
          </a:prstGeom>
          <a:solidFill>
            <a:srgbClr val="FFD84D"/>
          </a:solidFill>
          <a:ln w="12700">
            <a:solidFill>
              <a:srgbClr val="B7950B"/>
            </a:solidFill>
          </a:ln>
          <a:effectLst>
            <a:outerShdw sx="100000" sy="100000" kx="0" ky="0" algn="bl" rotWithShape="0" blurRad="101600" dist="38100" dir="2700000">
              <a:srgbClr val="000000">
                <a:alpha val="35000"/>
              </a:srgbClr>
            </a:outerShdw>
          </a:effectLst>
        </p:spPr>
        <p:txBody>
          <a:bodyPr wrap="square" lIns="101600" tIns="101600" rIns="101600" bIns="101600" rtlCol="0" anchor="t"/>
          <a:lstStyle/>
          <a:p>
            <a:pPr indent="0" marL="0">
              <a:spcAft>
                <a:spcPts val="300"/>
              </a:spcAft>
              <a:buNone/>
            </a:pPr>
            <a:r>
              <a:rPr lang="en-US" sz="1200" b="1" dirty="0">
                <a:solidFill>
                  <a:srgbClr val="6D3FC0"/>
                </a:solidFill>
                <a:latin typeface="Calibri" pitchFamily="34" charset="0"/>
                <a:ea typeface="Calibri" pitchFamily="34" charset="-122"/>
                <a:cs typeface="Calibri" pitchFamily="34" charset="-120"/>
              </a:rPr>
              <a:t>Useful phrases</a:t>
            </a:r>
            <a:endParaRPr lang="en-US" sz="1200" dirty="0"/>
          </a:p>
          <a:p>
            <a:pPr indent="0" marL="0">
              <a:spcAft>
                <a:spcPts val="300"/>
              </a:spcAft>
              <a:buNone/>
            </a:pPr>
            <a:r>
              <a:rPr lang="en-US" sz="1200" dirty="0">
                <a:solidFill>
                  <a:srgbClr val="111111"/>
                </a:solidFill>
                <a:latin typeface="Calibri" pitchFamily="34" charset="0"/>
                <a:ea typeface="Calibri" pitchFamily="34" charset="-122"/>
                <a:cs typeface="Calibri" pitchFamily="34" charset="-120"/>
              </a:rPr>
              <a:t>They're waiting for…</a:t>
            </a:r>
            <a:endParaRPr lang="en-US" sz="1200" dirty="0"/>
          </a:p>
          <a:p>
            <a:pPr indent="0" marL="0">
              <a:spcAft>
                <a:spcPts val="300"/>
              </a:spcAft>
              <a:buNone/>
            </a:pPr>
            <a:r>
              <a:rPr lang="en-US" sz="1200" dirty="0">
                <a:solidFill>
                  <a:srgbClr val="111111"/>
                </a:solidFill>
                <a:latin typeface="Calibri" pitchFamily="34" charset="0"/>
                <a:ea typeface="Calibri" pitchFamily="34" charset="-122"/>
                <a:cs typeface="Calibri" pitchFamily="34" charset="-120"/>
              </a:rPr>
              <a:t>I'm doing it now!</a:t>
            </a:r>
            <a:endParaRPr lang="en-US" sz="1200" dirty="0"/>
          </a:p>
          <a:p>
            <a:pPr indent="0" marL="0">
              <a:spcAft>
                <a:spcPts val="300"/>
              </a:spcAft>
              <a:buNone/>
            </a:pPr>
            <a:r>
              <a:rPr lang="en-US" sz="1200" dirty="0">
                <a:solidFill>
                  <a:srgbClr val="111111"/>
                </a:solidFill>
                <a:latin typeface="Calibri" pitchFamily="34" charset="0"/>
                <a:ea typeface="Calibri" pitchFamily="34" charset="-122"/>
                <a:cs typeface="Calibri" pitchFamily="34" charset="-120"/>
              </a:rPr>
              <a:t>Nearly there!</a:t>
            </a:r>
            <a:endParaRPr lang="en-US" sz="1200" dirty="0"/>
          </a:p>
          <a:p>
            <a:pPr indent="0" marL="0">
              <a:spcAft>
                <a:spcPts val="300"/>
              </a:spcAft>
              <a:buNone/>
            </a:pPr>
            <a:r>
              <a:rPr lang="en-US" sz="1200" dirty="0">
                <a:solidFill>
                  <a:srgbClr val="111111"/>
                </a:solidFill>
                <a:latin typeface="Calibri" pitchFamily="34" charset="0"/>
                <a:ea typeface="Calibri" pitchFamily="34" charset="-122"/>
                <a:cs typeface="Calibri" pitchFamily="34" charset="-120"/>
              </a:rPr>
              <a:t>Calm down, please.</a:t>
            </a:r>
            <a:endParaRPr lang="en-US" sz="1200" dirty="0"/>
          </a:p>
          <a:p>
            <a:pPr indent="0" marL="0">
              <a:spcAft>
                <a:spcPts val="300"/>
              </a:spcAft>
              <a:buNone/>
            </a:pPr>
            <a:r>
              <a:rPr lang="en-US" sz="1200" dirty="0">
                <a:solidFill>
                  <a:srgbClr val="111111"/>
                </a:solidFill>
                <a:latin typeface="Calibri" pitchFamily="34" charset="0"/>
                <a:ea typeface="Calibri" pitchFamily="34" charset="-122"/>
                <a:cs typeface="Calibri" pitchFamily="34" charset="-120"/>
              </a:rPr>
              <a:t>Sorry about the wait.</a:t>
            </a:r>
            <a:endParaRPr lang="en-US" sz="1200" dirty="0"/>
          </a:p>
        </p:txBody>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145"/>
          <p:cNvSpPr/>
          <p:nvPr/>
        </p:nvSpPr>
        <p:spPr>
          <a:xfrm>
            <a:off x="54864" y="54864"/>
            <a:ext cx="9034272" cy="5033772"/>
          </a:xfrm>
          <a:prstGeom prst="rect">
            <a:avLst/>
          </a:prstGeom>
          <a:ln w="114300">
            <a:solidFill>
              <a:srgbClr val="C9B3F0"/>
            </a:solidFill>
            <a:prstDash val="solid"/>
          </a:ln>
        </p:spPr>
      </p:sp>
      <p:pic>
        <p:nvPicPr>
          <p:cNvPr id="3" name="logo_146"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objective_147"/>
          <p:cNvSpPr txBox="1"/>
          <p:nvPr/>
        </p:nvSpPr>
        <p:spPr>
          <a:xfrm>
            <a:off x="320040" y="182880"/>
            <a:ext cx="4754880" cy="365760"/>
          </a:xfrm>
          <a:prstGeom prst="roundRect">
            <a:avLst>
              <a:gd name="adj" fmla="val 20000"/>
            </a:avLst>
          </a:prstGeom>
          <a:solidFill>
            <a:srgbClr val="062F67"/>
          </a:solidFill>
          <a:ln w="31750">
            <a:solidFill>
              <a:srgbClr val="111111"/>
            </a:solidFill>
          </a:ln>
        </p:spPr>
        <p:txBody>
          <a:bodyPr wrap="square" lIns="101600" tIns="101600" rIns="101600" bIns="101600" rtlCol="0" anchor="ctr"/>
          <a:lstStyle/>
          <a:p>
            <a:pPr indent="0" marL="0">
              <a:buNone/>
            </a:pPr>
            <a:r>
              <a:rPr lang="en-US" sz="1100" dirty="0">
                <a:solidFill>
                  <a:srgbClr val="FFFFFF"/>
                </a:solidFill>
                <a:latin typeface="Arial Black" pitchFamily="34" charset="0"/>
                <a:ea typeface="Arial Black" pitchFamily="34" charset="-122"/>
                <a:cs typeface="Arial Black" pitchFamily="34" charset="-120"/>
              </a:rPr>
              <a:t>GAME · Simulation</a:t>
            </a:r>
            <a:endParaRPr lang="en-US" sz="1100" dirty="0"/>
          </a:p>
        </p:txBody>
      </p:sp>
      <p:sp>
        <p:nvSpPr>
          <p:cNvPr id="5" name="timer_148"/>
          <p:cNvSpPr txBox="1"/>
          <p:nvPr/>
        </p:nvSpPr>
        <p:spPr>
          <a:xfrm>
            <a:off x="7086600" y="219456"/>
            <a:ext cx="1005840" cy="310896"/>
          </a:xfrm>
          <a:prstGeom prst="roundRect">
            <a:avLst>
              <a:gd name="adj" fmla="val 23529"/>
            </a:avLst>
          </a:prstGeom>
          <a:solidFill>
            <a:srgbClr val="FFFFFF"/>
          </a:solidFill>
          <a:ln w="25400">
            <a:solidFill>
              <a:srgbClr val="6D3FC0"/>
            </a:solidFill>
          </a:ln>
        </p:spPr>
        <p:txBody>
          <a:bodyPr wrap="square" lIns="0" tIns="0" rIns="0" bIns="0" rtlCol="0" anchor="ctr"/>
          <a:lstStyle/>
          <a:p>
            <a:pPr algn="ctr" indent="0" marL="0">
              <a:buNone/>
            </a:pPr>
            <a:r>
              <a:rPr lang="en-US" sz="1200" b="1" dirty="0">
                <a:solidFill>
                  <a:srgbClr val="6D3FC0"/>
                </a:solidFill>
                <a:latin typeface="Calibri" pitchFamily="34" charset="0"/>
                <a:ea typeface="Calibri" pitchFamily="34" charset="-122"/>
                <a:cs typeface="Calibri" pitchFamily="34" charset="-120"/>
              </a:rPr>
              <a:t>⏱ 10 min</a:t>
            </a:r>
            <a:endParaRPr lang="en-US" sz="1200" dirty="0"/>
          </a:p>
        </p:txBody>
      </p:sp>
      <p:sp>
        <p:nvSpPr>
          <p:cNvPr id="6" name="footer_149"/>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7" name="title_150"/>
          <p:cNvSpPr txBox="1"/>
          <p:nvPr/>
        </p:nvSpPr>
        <p:spPr>
          <a:xfrm rot="-120000">
            <a:off x="320040" y="676656"/>
            <a:ext cx="3630168"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Service simulation</a:t>
            </a:r>
            <a:endParaRPr lang="en-US" sz="2000" dirty="0"/>
          </a:p>
        </p:txBody>
      </p:sp>
      <p:sp>
        <p:nvSpPr>
          <p:cNvPr id="8" name="post_151"/>
          <p:cNvSpPr/>
          <p:nvPr/>
        </p:nvSpPr>
        <p:spPr>
          <a:xfrm>
            <a:off x="429768" y="1554480"/>
            <a:ext cx="128016" cy="2194560"/>
          </a:xfrm>
          <a:prstGeom prst="rect">
            <a:avLst/>
          </a:prstGeom>
          <a:solidFill>
            <a:srgbClr val="8B5A2B"/>
          </a:solidFill>
          <a:ln w="31750">
            <a:solidFill>
              <a:srgbClr val="111111"/>
            </a:solidFill>
            <a:prstDash val="solid"/>
          </a:ln>
        </p:spPr>
      </p:sp>
      <p:sp>
        <p:nvSpPr>
          <p:cNvPr id="9" name="signA_152"/>
          <p:cNvSpPr txBox="1"/>
          <p:nvPr/>
        </p:nvSpPr>
        <p:spPr>
          <a:xfrm rot="-180000">
            <a:off x="320040" y="1371600"/>
            <a:ext cx="2240280" cy="457200"/>
          </a:xfrm>
          <a:prstGeom prst="homePlate">
            <a:avLst/>
          </a:prstGeom>
          <a:solidFill>
            <a:srgbClr val="1FA463"/>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PLAY!</a:t>
            </a:r>
            <a:pPr indent="0" marL="0">
              <a:buNone/>
            </a:pPr>
            <a:r>
              <a:rPr lang="en-US" sz="1000" dirty="0">
                <a:solidFill>
                  <a:srgbClr val="FFF3B0"/>
                </a:solidFill>
                <a:latin typeface="Arial Black" pitchFamily="34" charset="0"/>
                <a:ea typeface="Arial Black" pitchFamily="34" charset="-122"/>
                <a:cs typeface="Arial Black" pitchFamily="34" charset="-120"/>
              </a:rPr>
              <a:t>  GIOCA!</a:t>
            </a:r>
            <a:endParaRPr lang="en-US" sz="1500" dirty="0"/>
          </a:p>
        </p:txBody>
      </p:sp>
      <p:sp>
        <p:nvSpPr>
          <p:cNvPr id="10" name="signB_153"/>
          <p:cNvSpPr txBox="1"/>
          <p:nvPr/>
        </p:nvSpPr>
        <p:spPr>
          <a:xfrm rot="120000">
            <a:off x="365760" y="1938528"/>
            <a:ext cx="2240280" cy="1051560"/>
          </a:xfrm>
          <a:prstGeom prst="rect">
            <a:avLst/>
          </a:prstGeom>
          <a:solidFill>
            <a:srgbClr val="FFFFFF"/>
          </a:solidFill>
          <a:ln w="31750">
            <a:solidFill>
              <a:srgbClr val="111111"/>
            </a:solidFill>
          </a:ln>
        </p:spPr>
        <p:txBody>
          <a:bodyPr wrap="square" lIns="76200" tIns="76200" rIns="76200" bIns="76200" rtlCol="0" anchor="ctr"/>
          <a:lstStyle/>
          <a:p>
            <a:pPr indent="0" marL="0">
              <a:buNone/>
            </a:pPr>
            <a:r>
              <a:rPr lang="en-US" sz="1250" dirty="0">
                <a:solidFill>
                  <a:srgbClr val="111111"/>
                </a:solidFill>
                <a:latin typeface="Calibri" pitchFamily="34" charset="0"/>
                <a:ea typeface="Calibri" pitchFamily="34" charset="-122"/>
                <a:cs typeface="Calibri" pitchFamily="34" charset="-120"/>
              </a:rPr>
              <a:t>The teacher calls the orders. Chefs respond!</a:t>
            </a:r>
            <a:endParaRPr lang="en-US" sz="1250" dirty="0"/>
          </a:p>
          <a:p>
            <a:pPr indent="0" marL="0">
              <a:buNone/>
            </a:pPr>
            <a:r>
              <a:rPr lang="en-US" sz="1100" i="1" dirty="0">
                <a:solidFill>
                  <a:srgbClr val="334155"/>
                </a:solidFill>
                <a:latin typeface="Calibri" pitchFamily="34" charset="0"/>
                <a:ea typeface="Calibri" pitchFamily="34" charset="-122"/>
                <a:cs typeface="Calibri" pitchFamily="34" charset="-120"/>
              </a:rPr>
              <a:t>L'insegnante chiama gli ordini. Gli chef rispondono!</a:t>
            </a:r>
            <a:endParaRPr lang="en-US" sz="1250" dirty="0"/>
          </a:p>
        </p:txBody>
      </p:sp>
      <p:sp>
        <p:nvSpPr>
          <p:cNvPr id="11" name="iconBack_154"/>
          <p:cNvSpPr/>
          <p:nvPr/>
        </p:nvSpPr>
        <p:spPr>
          <a:xfrm>
            <a:off x="685800" y="3246120"/>
            <a:ext cx="1143000" cy="1143000"/>
          </a:xfrm>
          <a:prstGeom prst="ellipse">
            <a:avLst/>
          </a:prstGeom>
          <a:solidFill>
            <a:srgbClr val="FFFFFF"/>
          </a:solidFill>
          <a:ln w="31750">
            <a:solidFill>
              <a:srgbClr val="111111"/>
            </a:solidFill>
            <a:prstDash val="solid"/>
          </a:ln>
          <a:effectLst>
            <a:outerShdw sx="100000" sy="100000" kx="0" ky="0" algn="bl" rotWithShape="0" blurRad="101600" dist="38100" dir="2700000">
              <a:srgbClr val="000000">
                <a:alpha val="35000"/>
              </a:srgbClr>
            </a:outerShdw>
          </a:effectLst>
        </p:spPr>
      </p:sp>
      <p:pic>
        <p:nvPicPr>
          <p:cNvPr id="12" name="icon_155" descr="bell">    </p:cNvPr>
          <p:cNvPicPr>
            <a:picLocks noChangeAspect="1"/>
          </p:cNvPicPr>
          <p:nvPr/>
        </p:nvPicPr>
        <p:blipFill>
          <a:blip r:embed="rId3"/>
          <a:stretch>
            <a:fillRect/>
          </a:stretch>
        </p:blipFill>
        <p:spPr>
          <a:xfrm>
            <a:off x="914400" y="3474720"/>
            <a:ext cx="685800" cy="685800"/>
          </a:xfrm>
          <a:prstGeom prst="rect">
            <a:avLst/>
          </a:prstGeom>
        </p:spPr>
      </p:pic>
      <p:sp>
        <p:nvSpPr>
          <p:cNvPr id="13" name="num_156"/>
          <p:cNvSpPr txBox="1"/>
          <p:nvPr/>
        </p:nvSpPr>
        <p:spPr>
          <a:xfrm>
            <a:off x="2788920" y="1490472"/>
            <a:ext cx="384048" cy="384048"/>
          </a:xfrm>
          <a:prstGeom prst="ellipse">
            <a:avLst/>
          </a:prstGeom>
          <a:solidFill>
            <a:srgbClr val="EF2F2F"/>
          </a:solidFill>
          <a:ln w="19050">
            <a:solidFill>
              <a:srgbClr val="111111"/>
            </a:solidFill>
          </a:ln>
        </p:spPr>
        <p:txBody>
          <a:bodyPr wrap="square" lIns="0" tIns="0" rIns="0" bIns="0" rtlCol="0" anchor="ctr"/>
          <a:lstStyle/>
          <a:p>
            <a:pPr algn="ctr" indent="0" marL="0">
              <a:buNone/>
            </a:pPr>
            <a:r>
              <a:rPr lang="en-US" sz="1300" dirty="0">
                <a:solidFill>
                  <a:srgbClr val="FFFFFF"/>
                </a:solidFill>
                <a:latin typeface="Arial Black" pitchFamily="34" charset="0"/>
                <a:ea typeface="Arial Black" pitchFamily="34" charset="-122"/>
                <a:cs typeface="Arial Black" pitchFamily="34" charset="-120"/>
              </a:rPr>
              <a:t>1</a:t>
            </a:r>
            <a:endParaRPr lang="en-US" sz="1300" dirty="0"/>
          </a:p>
        </p:txBody>
      </p:sp>
      <p:sp>
        <p:nvSpPr>
          <p:cNvPr id="14" name="box_157"/>
          <p:cNvSpPr txBox="1"/>
          <p:nvPr/>
        </p:nvSpPr>
        <p:spPr>
          <a:xfrm>
            <a:off x="3264408" y="1371600"/>
            <a:ext cx="5559552" cy="621792"/>
          </a:xfrm>
          <a:prstGeom prst="rect">
            <a:avLst/>
          </a:prstGeom>
          <a:solidFill>
            <a:srgbClr val="FFFFFF"/>
          </a:solidFill>
          <a:ln w="15875">
            <a:solidFill>
              <a:srgbClr val="111111"/>
            </a:solidFill>
          </a:ln>
        </p:spPr>
        <p:txBody>
          <a:bodyPr wrap="square" lIns="76200" tIns="76200" rIns="76200" bIns="76200" rtlCol="0" anchor="ctr"/>
          <a:lstStyle/>
          <a:p>
            <a:pPr algn="l" indent="0" marL="0">
              <a:buNone/>
            </a:pPr>
            <a:r>
              <a:rPr lang="en-US" sz="1300" dirty="0">
                <a:solidFill>
                  <a:srgbClr val="111111"/>
                </a:solidFill>
                <a:latin typeface="Calibri" pitchFamily="34" charset="0"/>
                <a:ea typeface="Calibri" pitchFamily="34" charset="-122"/>
                <a:cs typeface="Calibri" pitchFamily="34" charset="-120"/>
              </a:rPr>
              <a:t>Teacher (head chef): Order in! Table 5: two risotto, one steak medium rare!</a:t>
            </a:r>
            <a:endParaRPr lang="en-US" sz="1300" dirty="0"/>
          </a:p>
        </p:txBody>
      </p:sp>
      <p:sp>
        <p:nvSpPr>
          <p:cNvPr id="15" name="num_158"/>
          <p:cNvSpPr txBox="1"/>
          <p:nvPr/>
        </p:nvSpPr>
        <p:spPr>
          <a:xfrm>
            <a:off x="2788920" y="2203704"/>
            <a:ext cx="384048" cy="384048"/>
          </a:xfrm>
          <a:prstGeom prst="ellipse">
            <a:avLst/>
          </a:prstGeom>
          <a:solidFill>
            <a:srgbClr val="48BDF2"/>
          </a:solidFill>
          <a:ln w="19050">
            <a:solidFill>
              <a:srgbClr val="111111"/>
            </a:solidFill>
          </a:ln>
        </p:spPr>
        <p:txBody>
          <a:bodyPr wrap="square" lIns="0" tIns="0" rIns="0" bIns="0" rtlCol="0" anchor="ctr"/>
          <a:lstStyle/>
          <a:p>
            <a:pPr algn="ctr" indent="0" marL="0">
              <a:buNone/>
            </a:pPr>
            <a:r>
              <a:rPr lang="en-US" sz="1300" dirty="0">
                <a:solidFill>
                  <a:srgbClr val="FFFFFF"/>
                </a:solidFill>
                <a:latin typeface="Arial Black" pitchFamily="34" charset="0"/>
                <a:ea typeface="Arial Black" pitchFamily="34" charset="-122"/>
                <a:cs typeface="Arial Black" pitchFamily="34" charset="-120"/>
              </a:rPr>
              <a:t>2</a:t>
            </a:r>
            <a:endParaRPr lang="en-US" sz="1300" dirty="0"/>
          </a:p>
        </p:txBody>
      </p:sp>
      <p:sp>
        <p:nvSpPr>
          <p:cNvPr id="16" name="box_159"/>
          <p:cNvSpPr txBox="1"/>
          <p:nvPr/>
        </p:nvSpPr>
        <p:spPr>
          <a:xfrm>
            <a:off x="3264408" y="2084832"/>
            <a:ext cx="5559552" cy="621792"/>
          </a:xfrm>
          <a:prstGeom prst="rect">
            <a:avLst/>
          </a:prstGeom>
          <a:solidFill>
            <a:srgbClr val="FFFFFF"/>
          </a:solidFill>
          <a:ln w="15875">
            <a:solidFill>
              <a:srgbClr val="111111"/>
            </a:solidFill>
          </a:ln>
        </p:spPr>
        <p:txBody>
          <a:bodyPr wrap="square" lIns="76200" tIns="76200" rIns="76200" bIns="76200" rtlCol="0" anchor="ctr"/>
          <a:lstStyle/>
          <a:p>
            <a:pPr algn="l" indent="0" marL="0">
              <a:buNone/>
            </a:pPr>
            <a:r>
              <a:rPr lang="en-US" sz="1300" dirty="0">
                <a:solidFill>
                  <a:srgbClr val="111111"/>
                </a:solidFill>
                <a:latin typeface="Calibri" pitchFamily="34" charset="0"/>
                <a:ea typeface="Calibri" pitchFamily="34" charset="-122"/>
                <a:cs typeface="Calibri" pitchFamily="34" charset="-120"/>
              </a:rPr>
              <a:t>Chefs: Heard, Chef! – then say what they are doing: I'm cooking the steak.</a:t>
            </a:r>
            <a:endParaRPr lang="en-US" sz="1300" dirty="0"/>
          </a:p>
        </p:txBody>
      </p:sp>
      <p:sp>
        <p:nvSpPr>
          <p:cNvPr id="17" name="num_160"/>
          <p:cNvSpPr txBox="1"/>
          <p:nvPr/>
        </p:nvSpPr>
        <p:spPr>
          <a:xfrm>
            <a:off x="2788920" y="2916936"/>
            <a:ext cx="384048" cy="384048"/>
          </a:xfrm>
          <a:prstGeom prst="ellipse">
            <a:avLst/>
          </a:prstGeom>
          <a:solidFill>
            <a:srgbClr val="1FA463"/>
          </a:solidFill>
          <a:ln w="19050">
            <a:solidFill>
              <a:srgbClr val="111111"/>
            </a:solidFill>
          </a:ln>
        </p:spPr>
        <p:txBody>
          <a:bodyPr wrap="square" lIns="0" tIns="0" rIns="0" bIns="0" rtlCol="0" anchor="ctr"/>
          <a:lstStyle/>
          <a:p>
            <a:pPr algn="ctr" indent="0" marL="0">
              <a:buNone/>
            </a:pPr>
            <a:r>
              <a:rPr lang="en-US" sz="1300" dirty="0">
                <a:solidFill>
                  <a:srgbClr val="FFFFFF"/>
                </a:solidFill>
                <a:latin typeface="Arial Black" pitchFamily="34" charset="0"/>
                <a:ea typeface="Arial Black" pitchFamily="34" charset="-122"/>
                <a:cs typeface="Arial Black" pitchFamily="34" charset="-120"/>
              </a:rPr>
              <a:t>3</a:t>
            </a:r>
            <a:endParaRPr lang="en-US" sz="1300" dirty="0"/>
          </a:p>
        </p:txBody>
      </p:sp>
      <p:sp>
        <p:nvSpPr>
          <p:cNvPr id="18" name="box_161"/>
          <p:cNvSpPr txBox="1"/>
          <p:nvPr/>
        </p:nvSpPr>
        <p:spPr>
          <a:xfrm>
            <a:off x="3264408" y="2798064"/>
            <a:ext cx="5559552" cy="621792"/>
          </a:xfrm>
          <a:prstGeom prst="rect">
            <a:avLst/>
          </a:prstGeom>
          <a:solidFill>
            <a:srgbClr val="FFFFFF"/>
          </a:solidFill>
          <a:ln w="15875">
            <a:solidFill>
              <a:srgbClr val="111111"/>
            </a:solidFill>
          </a:ln>
        </p:spPr>
        <p:txBody>
          <a:bodyPr wrap="square" lIns="76200" tIns="76200" rIns="76200" bIns="76200" rtlCol="0" anchor="ctr"/>
          <a:lstStyle/>
          <a:p>
            <a:pPr algn="l" indent="0" marL="0">
              <a:buNone/>
            </a:pPr>
            <a:r>
              <a:rPr lang="en-US" sz="1300" dirty="0">
                <a:solidFill>
                  <a:srgbClr val="111111"/>
                </a:solidFill>
                <a:latin typeface="Calibri" pitchFamily="34" charset="0"/>
                <a:ea typeface="Calibri" pitchFamily="34" charset="-122"/>
                <a:cs typeface="Calibri" pitchFamily="34" charset="-120"/>
              </a:rPr>
              <a:t>Teacher: How long on table 5? – Three minutes, Chef!</a:t>
            </a:r>
            <a:endParaRPr lang="en-US" sz="1300" dirty="0"/>
          </a:p>
        </p:txBody>
      </p:sp>
      <p:sp>
        <p:nvSpPr>
          <p:cNvPr id="19" name="num_162"/>
          <p:cNvSpPr txBox="1"/>
          <p:nvPr/>
        </p:nvSpPr>
        <p:spPr>
          <a:xfrm>
            <a:off x="2788920" y="3630168"/>
            <a:ext cx="384048" cy="384048"/>
          </a:xfrm>
          <a:prstGeom prst="ellipse">
            <a:avLst/>
          </a:prstGeom>
          <a:solidFill>
            <a:srgbClr val="F59E0B"/>
          </a:solidFill>
          <a:ln w="19050">
            <a:solidFill>
              <a:srgbClr val="111111"/>
            </a:solidFill>
          </a:ln>
        </p:spPr>
        <p:txBody>
          <a:bodyPr wrap="square" lIns="0" tIns="0" rIns="0" bIns="0" rtlCol="0" anchor="ctr"/>
          <a:lstStyle/>
          <a:p>
            <a:pPr algn="ctr" indent="0" marL="0">
              <a:buNone/>
            </a:pPr>
            <a:r>
              <a:rPr lang="en-US" sz="1300" dirty="0">
                <a:solidFill>
                  <a:srgbClr val="FFFFFF"/>
                </a:solidFill>
                <a:latin typeface="Arial Black" pitchFamily="34" charset="0"/>
                <a:ea typeface="Arial Black" pitchFamily="34" charset="-122"/>
                <a:cs typeface="Arial Black" pitchFamily="34" charset="-120"/>
              </a:rPr>
              <a:t>4</a:t>
            </a:r>
            <a:endParaRPr lang="en-US" sz="1300" dirty="0"/>
          </a:p>
        </p:txBody>
      </p:sp>
      <p:sp>
        <p:nvSpPr>
          <p:cNvPr id="20" name="box_163"/>
          <p:cNvSpPr txBox="1"/>
          <p:nvPr/>
        </p:nvSpPr>
        <p:spPr>
          <a:xfrm>
            <a:off x="3264408" y="3511296"/>
            <a:ext cx="5559552" cy="621792"/>
          </a:xfrm>
          <a:prstGeom prst="rect">
            <a:avLst/>
          </a:prstGeom>
          <a:solidFill>
            <a:srgbClr val="FFFFFF"/>
          </a:solidFill>
          <a:ln w="15875">
            <a:solidFill>
              <a:srgbClr val="111111"/>
            </a:solidFill>
          </a:ln>
        </p:spPr>
        <p:txBody>
          <a:bodyPr wrap="square" lIns="76200" tIns="76200" rIns="76200" bIns="76200" rtlCol="0" anchor="ctr"/>
          <a:lstStyle/>
          <a:p>
            <a:pPr algn="l" indent="0" marL="0">
              <a:buNone/>
            </a:pPr>
            <a:r>
              <a:rPr lang="en-US" sz="1300" dirty="0">
                <a:solidFill>
                  <a:srgbClr val="111111"/>
                </a:solidFill>
                <a:latin typeface="Calibri" pitchFamily="34" charset="0"/>
                <a:ea typeface="Calibri" pitchFamily="34" charset="-122"/>
                <a:cs typeface="Calibri" pitchFamily="34" charset="-120"/>
              </a:rPr>
              <a:t>Service, please! – Away! Faster every round. Then a chef is the head chef!</a:t>
            </a:r>
            <a:endParaRPr lang="en-US" sz="1300" dirty="0"/>
          </a:p>
        </p:txBody>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164"/>
          <p:cNvSpPr/>
          <p:nvPr/>
        </p:nvSpPr>
        <p:spPr>
          <a:xfrm>
            <a:off x="54864" y="54864"/>
            <a:ext cx="9034272" cy="5033772"/>
          </a:xfrm>
          <a:prstGeom prst="rect">
            <a:avLst/>
          </a:prstGeom>
          <a:ln w="114300">
            <a:solidFill>
              <a:srgbClr val="C9B3F0"/>
            </a:solidFill>
            <a:prstDash val="solid"/>
          </a:ln>
        </p:spPr>
      </p:sp>
      <p:pic>
        <p:nvPicPr>
          <p:cNvPr id="3" name="logo_165"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footer_166"/>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5" name="title_167"/>
          <p:cNvSpPr txBox="1"/>
          <p:nvPr/>
        </p:nvSpPr>
        <p:spPr>
          <a:xfrm rot="-120000">
            <a:off x="320040" y="676656"/>
            <a:ext cx="4151376"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Look what you can do!</a:t>
            </a:r>
            <a:endParaRPr lang="en-US" sz="2000" dirty="0"/>
          </a:p>
        </p:txBody>
      </p:sp>
      <p:sp>
        <p:nvSpPr>
          <p:cNvPr id="6" name="sub_168"/>
          <p:cNvSpPr txBox="1"/>
          <p:nvPr/>
        </p:nvSpPr>
        <p:spPr>
          <a:xfrm>
            <a:off x="365760" y="1234440"/>
            <a:ext cx="3657600" cy="274320"/>
          </a:xfrm>
          <a:prstGeom prst="rect">
            <a:avLst/>
          </a:prstGeom>
          <a:noFill/>
          <a:ln/>
        </p:spPr>
        <p:txBody>
          <a:bodyPr wrap="square" rtlCol="0" anchor="ctr"/>
          <a:lstStyle/>
          <a:p>
            <a:pPr indent="0" marL="0">
              <a:buNone/>
            </a:pPr>
            <a:r>
              <a:rPr lang="en-US" sz="1200" i="1" dirty="0">
                <a:solidFill>
                  <a:srgbClr val="334155"/>
                </a:solidFill>
                <a:latin typeface="Calibri" pitchFamily="34" charset="0"/>
                <a:ea typeface="Calibri" pitchFamily="34" charset="-122"/>
                <a:cs typeface="Calibri" pitchFamily="34" charset="-120"/>
              </a:rPr>
              <a:t>Guarda cosa sai fare adesso!</a:t>
            </a:r>
            <a:endParaRPr lang="en-US" sz="1200" dirty="0"/>
          </a:p>
        </p:txBody>
      </p:sp>
      <p:sp>
        <p:nvSpPr>
          <p:cNvPr id="7" name="box_169"/>
          <p:cNvSpPr txBox="1"/>
          <p:nvPr/>
        </p:nvSpPr>
        <p:spPr>
          <a:xfrm>
            <a:off x="365760" y="1600200"/>
            <a:ext cx="4846320" cy="548640"/>
          </a:xfrm>
          <a:prstGeom prst="rect">
            <a:avLst/>
          </a:prstGeom>
          <a:solidFill>
            <a:srgbClr val="E0F2FE"/>
          </a:solidFill>
          <a:ln w="15875">
            <a:solidFill>
              <a:srgbClr val="111111"/>
            </a:solidFill>
          </a:ln>
        </p:spPr>
        <p:txBody>
          <a:bodyPr wrap="square" lIns="76200" tIns="76200" rIns="76200" bIns="76200" rtlCol="0" anchor="ctr"/>
          <a:lstStyle/>
          <a:p>
            <a:pPr algn="l" indent="0" marL="0">
              <a:buNone/>
            </a:pPr>
            <a:r>
              <a:rPr lang="en-US" sz="1350" b="1" dirty="0">
                <a:solidFill>
                  <a:srgbClr val="111111"/>
                </a:solidFill>
                <a:latin typeface="Calibri" pitchFamily="34" charset="0"/>
                <a:ea typeface="Calibri" pitchFamily="34" charset="-122"/>
                <a:cs typeface="Calibri" pitchFamily="34" charset="-120"/>
              </a:rPr>
              <a:t>✓  I can understand and use calls during service.</a:t>
            </a:r>
            <a:endParaRPr lang="en-US" sz="1350" dirty="0"/>
          </a:p>
        </p:txBody>
      </p:sp>
      <p:sp>
        <p:nvSpPr>
          <p:cNvPr id="8" name="faces_170"/>
          <p:cNvSpPr txBox="1"/>
          <p:nvPr/>
        </p:nvSpPr>
        <p:spPr>
          <a:xfrm>
            <a:off x="5230368" y="1600200"/>
            <a:ext cx="1188720" cy="548640"/>
          </a:xfrm>
          <a:prstGeom prst="rect">
            <a:avLst/>
          </a:prstGeom>
          <a:noFill/>
          <a:ln/>
        </p:spPr>
        <p:txBody>
          <a:bodyPr wrap="square"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 🙂 😐</a:t>
            </a:r>
            <a:endParaRPr lang="en-US" sz="1400" dirty="0"/>
          </a:p>
        </p:txBody>
      </p:sp>
      <p:sp>
        <p:nvSpPr>
          <p:cNvPr id="9" name="box_171"/>
          <p:cNvSpPr txBox="1"/>
          <p:nvPr/>
        </p:nvSpPr>
        <p:spPr>
          <a:xfrm>
            <a:off x="365760" y="2240280"/>
            <a:ext cx="4846320" cy="548640"/>
          </a:xfrm>
          <a:prstGeom prst="rect">
            <a:avLst/>
          </a:prstGeom>
          <a:solidFill>
            <a:srgbClr val="FCE7F3"/>
          </a:solidFill>
          <a:ln w="15875">
            <a:solidFill>
              <a:srgbClr val="111111"/>
            </a:solidFill>
          </a:ln>
        </p:spPr>
        <p:txBody>
          <a:bodyPr wrap="square" lIns="76200" tIns="76200" rIns="76200" bIns="76200" rtlCol="0" anchor="ctr"/>
          <a:lstStyle/>
          <a:p>
            <a:pPr algn="l" indent="0" marL="0">
              <a:buNone/>
            </a:pPr>
            <a:r>
              <a:rPr lang="en-US" sz="1350" b="1" dirty="0">
                <a:solidFill>
                  <a:srgbClr val="111111"/>
                </a:solidFill>
                <a:latin typeface="Calibri" pitchFamily="34" charset="0"/>
                <a:ea typeface="Calibri" pitchFamily="34" charset="-122"/>
                <a:cs typeface="Calibri" pitchFamily="34" charset="-120"/>
              </a:rPr>
              <a:t>✓  I can use the present continuous: I'm plating…</a:t>
            </a:r>
            <a:endParaRPr lang="en-US" sz="1350" dirty="0"/>
          </a:p>
        </p:txBody>
      </p:sp>
      <p:sp>
        <p:nvSpPr>
          <p:cNvPr id="10" name="faces_172"/>
          <p:cNvSpPr txBox="1"/>
          <p:nvPr/>
        </p:nvSpPr>
        <p:spPr>
          <a:xfrm>
            <a:off x="5230368" y="2240280"/>
            <a:ext cx="1188720" cy="548640"/>
          </a:xfrm>
          <a:prstGeom prst="rect">
            <a:avLst/>
          </a:prstGeom>
          <a:noFill/>
          <a:ln/>
        </p:spPr>
        <p:txBody>
          <a:bodyPr wrap="square"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 🙂 😐</a:t>
            </a:r>
            <a:endParaRPr lang="en-US" sz="1400" dirty="0"/>
          </a:p>
        </p:txBody>
      </p:sp>
      <p:sp>
        <p:nvSpPr>
          <p:cNvPr id="11" name="box_173"/>
          <p:cNvSpPr txBox="1"/>
          <p:nvPr/>
        </p:nvSpPr>
        <p:spPr>
          <a:xfrm>
            <a:off x="365760" y="2880360"/>
            <a:ext cx="4846320" cy="548640"/>
          </a:xfrm>
          <a:prstGeom prst="rect">
            <a:avLst/>
          </a:prstGeom>
          <a:solidFill>
            <a:srgbClr val="FEF9C3"/>
          </a:solidFill>
          <a:ln w="15875">
            <a:solidFill>
              <a:srgbClr val="111111"/>
            </a:solidFill>
          </a:ln>
        </p:spPr>
        <p:txBody>
          <a:bodyPr wrap="square" lIns="76200" tIns="76200" rIns="76200" bIns="76200" rtlCol="0" anchor="ctr"/>
          <a:lstStyle/>
          <a:p>
            <a:pPr algn="l" indent="0" marL="0">
              <a:buNone/>
            </a:pPr>
            <a:r>
              <a:rPr lang="en-US" sz="1350" b="1" dirty="0">
                <a:solidFill>
                  <a:srgbClr val="111111"/>
                </a:solidFill>
                <a:latin typeface="Calibri" pitchFamily="34" charset="0"/>
                <a:ea typeface="Calibri" pitchFamily="34" charset="-122"/>
                <a:cs typeface="Calibri" pitchFamily="34" charset="-120"/>
              </a:rPr>
              <a:t>✓  I can talk about how steak is cooked.</a:t>
            </a:r>
            <a:endParaRPr lang="en-US" sz="1350" dirty="0"/>
          </a:p>
        </p:txBody>
      </p:sp>
      <p:sp>
        <p:nvSpPr>
          <p:cNvPr id="12" name="faces_174"/>
          <p:cNvSpPr txBox="1"/>
          <p:nvPr/>
        </p:nvSpPr>
        <p:spPr>
          <a:xfrm>
            <a:off x="5230368" y="2880360"/>
            <a:ext cx="1188720" cy="548640"/>
          </a:xfrm>
          <a:prstGeom prst="rect">
            <a:avLst/>
          </a:prstGeom>
          <a:noFill/>
          <a:ln/>
        </p:spPr>
        <p:txBody>
          <a:bodyPr wrap="square"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 🙂 😐</a:t>
            </a:r>
            <a:endParaRPr lang="en-US" sz="1400" dirty="0"/>
          </a:p>
        </p:txBody>
      </p:sp>
      <p:sp>
        <p:nvSpPr>
          <p:cNvPr id="13" name="hw_175"/>
          <p:cNvSpPr txBox="1"/>
          <p:nvPr/>
        </p:nvSpPr>
        <p:spPr>
          <a:xfrm rot="90000">
            <a:off x="6446520" y="1325880"/>
            <a:ext cx="2377440" cy="2651760"/>
          </a:xfrm>
          <a:prstGeom prst="rect">
            <a:avLst/>
          </a:prstGeom>
          <a:solidFill>
            <a:srgbClr val="062F67"/>
          </a:solidFill>
          <a:ln w="31750">
            <a:solidFill>
              <a:srgbClr val="111111"/>
            </a:solidFill>
          </a:ln>
          <a:effectLst>
            <a:outerShdw sx="100000" sy="100000" kx="0" ky="0" algn="bl" rotWithShape="0" blurRad="101600" dist="38100" dir="2700000">
              <a:srgbClr val="000000">
                <a:alpha val="35000"/>
              </a:srgbClr>
            </a:outerShdw>
          </a:effectLst>
        </p:spPr>
        <p:txBody>
          <a:bodyPr wrap="square" lIns="114300" tIns="114300" rIns="114300" bIns="114300" rtlCol="0" anchor="t"/>
          <a:lstStyle/>
          <a:p>
            <a:pPr indent="0" marL="0">
              <a:spcAft>
                <a:spcPts val="500"/>
              </a:spcAft>
              <a:buNone/>
            </a:pPr>
            <a:r>
              <a:rPr lang="en-US" sz="1200" b="1" dirty="0">
                <a:solidFill>
                  <a:srgbClr val="FFD84D"/>
                </a:solidFill>
                <a:latin typeface="Arial Black" pitchFamily="34" charset="0"/>
                <a:ea typeface="Arial Black" pitchFamily="34" charset="-122"/>
                <a:cs typeface="Arial Black" pitchFamily="34" charset="-120"/>
              </a:rPr>
              <a:t>HOMEWORK · COMPITI</a:t>
            </a:r>
            <a:endParaRPr lang="en-US" sz="1250" dirty="0"/>
          </a:p>
          <a:p>
            <a:pPr indent="0" marL="0">
              <a:spcAft>
                <a:spcPts val="500"/>
              </a:spcAft>
              <a:buNone/>
            </a:pPr>
            <a:r>
              <a:rPr lang="en-US" sz="1250" dirty="0">
                <a:solidFill>
                  <a:srgbClr val="FFFFFF"/>
                </a:solidFill>
                <a:latin typeface="Calibri" pitchFamily="34" charset="0"/>
                <a:ea typeface="Calibri" pitchFamily="34" charset="-122"/>
                <a:cs typeface="Calibri" pitchFamily="34" charset="-120"/>
              </a:rPr>
              <a:t>Write the calls for a busy service at your restaurant: 8 calls with answers.</a:t>
            </a:r>
            <a:endParaRPr lang="en-US" sz="1250" dirty="0"/>
          </a:p>
          <a:p>
            <a:pPr indent="0" marL="0">
              <a:spcAft>
                <a:spcPts val="500"/>
              </a:spcAft>
              <a:buNone/>
            </a:pPr>
            <a:r>
              <a:rPr lang="en-US" sz="1050" i="1" dirty="0">
                <a:solidFill>
                  <a:srgbClr val="C7D2FE"/>
                </a:solidFill>
                <a:latin typeface="Calibri" pitchFamily="34" charset="0"/>
                <a:ea typeface="Calibri" pitchFamily="34" charset="-122"/>
                <a:cs typeface="Calibri" pitchFamily="34" charset="-120"/>
              </a:rPr>
              <a:t>Your teacher can attach the homework sheet in the portal.</a:t>
            </a:r>
            <a:endParaRPr lang="en-US" sz="1250" dirty="0"/>
          </a:p>
        </p:txBody>
      </p:sp>
      <p:sp>
        <p:nvSpPr>
          <p:cNvPr id="14" name="stamp_176"/>
          <p:cNvSpPr txBox="1"/>
          <p:nvPr/>
        </p:nvSpPr>
        <p:spPr>
          <a:xfrm>
            <a:off x="365760" y="3657600"/>
            <a:ext cx="4572000" cy="384048"/>
          </a:xfrm>
          <a:prstGeom prst="roundRect">
            <a:avLst>
              <a:gd name="adj" fmla="val 14286"/>
            </a:avLst>
          </a:prstGeom>
          <a:solidFill>
            <a:srgbClr val="FFFFFF"/>
          </a:solidFill>
          <a:ln w="38100">
            <a:solidFill>
              <a:srgbClr val="6D3FC0"/>
            </a:solidFill>
          </a:ln>
        </p:spPr>
        <p:txBody>
          <a:bodyPr wrap="square" lIns="25400" tIns="25400" rIns="25400" bIns="25400" rtlCol="0" anchor="ctr"/>
          <a:lstStyle/>
          <a:p>
            <a:pPr algn="ctr" indent="0" marL="0">
              <a:buNone/>
            </a:pPr>
            <a:r>
              <a:rPr lang="en-US" sz="1200" dirty="0">
                <a:solidFill>
                  <a:srgbClr val="6D3FC0"/>
                </a:solidFill>
                <a:latin typeface="Calibri" pitchFamily="34" charset="0"/>
                <a:ea typeface="Calibri" pitchFamily="34" charset="-122"/>
                <a:cs typeface="Calibri" pitchFamily="34" charset="-120"/>
              </a:rPr>
              <a:t>Next lesson: L10 · Problems &amp; the final shift</a:t>
            </a:r>
            <a:endParaRPr lang="en-US" sz="1200" dirty="0"/>
          </a:p>
        </p:txBody>
      </p:sp>
    </p:spTree>
  </p:cSld>
  <p:clrMapOvr>
    <a:masterClrMapping/>
  </p:clrMapOvr>
  <p:transition spd="med">
    <p:push dir="l"/>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levelFrame_177"/>
          <p:cNvSpPr/>
          <p:nvPr/>
        </p:nvSpPr>
        <p:spPr>
          <a:xfrm>
            <a:off x="54864" y="54864"/>
            <a:ext cx="9034272" cy="5033772"/>
          </a:xfrm>
          <a:prstGeom prst="rect">
            <a:avLst/>
          </a:prstGeom>
          <a:ln w="114300">
            <a:solidFill>
              <a:srgbClr val="C9B3F0"/>
            </a:solidFill>
            <a:prstDash val="solid"/>
          </a:ln>
        </p:spPr>
      </p:sp>
      <p:pic>
        <p:nvPicPr>
          <p:cNvPr id="3" name="logo_178" descr="London Language School logo">    </p:cNvPr>
          <p:cNvPicPr>
            <a:picLocks noChangeAspect="1"/>
          </p:cNvPicPr>
          <p:nvPr/>
        </p:nvPicPr>
        <p:blipFill>
          <a:blip r:embed="rId2"/>
          <a:stretch>
            <a:fillRect/>
          </a:stretch>
        </p:blipFill>
        <p:spPr>
          <a:xfrm>
            <a:off x="8275320" y="182880"/>
            <a:ext cx="585216" cy="585216"/>
          </a:xfrm>
          <a:prstGeom prst="rect">
            <a:avLst/>
          </a:prstGeom>
        </p:spPr>
      </p:pic>
      <p:sp>
        <p:nvSpPr>
          <p:cNvPr id="4" name="objective_179"/>
          <p:cNvSpPr txBox="1"/>
          <p:nvPr/>
        </p:nvSpPr>
        <p:spPr>
          <a:xfrm>
            <a:off x="320040" y="182880"/>
            <a:ext cx="4754880" cy="365760"/>
          </a:xfrm>
          <a:prstGeom prst="roundRect">
            <a:avLst>
              <a:gd name="adj" fmla="val 20000"/>
            </a:avLst>
          </a:prstGeom>
          <a:solidFill>
            <a:srgbClr val="062F67"/>
          </a:solidFill>
          <a:ln w="31750">
            <a:solidFill>
              <a:srgbClr val="111111"/>
            </a:solidFill>
          </a:ln>
        </p:spPr>
        <p:txBody>
          <a:bodyPr wrap="square" lIns="101600" tIns="101600" rIns="101600" bIns="101600" rtlCol="0" anchor="ctr"/>
          <a:lstStyle/>
          <a:p>
            <a:pPr indent="0" marL="0">
              <a:buNone/>
            </a:pPr>
            <a:r>
              <a:rPr lang="en-US" sz="1100" dirty="0">
                <a:solidFill>
                  <a:srgbClr val="FFFFFF"/>
                </a:solidFill>
                <a:latin typeface="Arial Black" pitchFamily="34" charset="0"/>
                <a:ea typeface="Arial Black" pitchFamily="34" charset="-122"/>
                <a:cs typeface="Arial Black" pitchFamily="34" charset="-120"/>
              </a:rPr>
              <a:t>EXTRA · Video · real TV</a:t>
            </a:r>
            <a:endParaRPr lang="en-US" sz="1100" dirty="0"/>
          </a:p>
        </p:txBody>
      </p:sp>
      <p:sp>
        <p:nvSpPr>
          <p:cNvPr id="5" name="timer_180"/>
          <p:cNvSpPr txBox="1"/>
          <p:nvPr/>
        </p:nvSpPr>
        <p:spPr>
          <a:xfrm>
            <a:off x="7086600" y="219456"/>
            <a:ext cx="1005840" cy="310896"/>
          </a:xfrm>
          <a:prstGeom prst="roundRect">
            <a:avLst>
              <a:gd name="adj" fmla="val 23529"/>
            </a:avLst>
          </a:prstGeom>
          <a:solidFill>
            <a:srgbClr val="FFFFFF"/>
          </a:solidFill>
          <a:ln w="25400">
            <a:solidFill>
              <a:srgbClr val="6D3FC0"/>
            </a:solidFill>
          </a:ln>
        </p:spPr>
        <p:txBody>
          <a:bodyPr wrap="square" lIns="0" tIns="0" rIns="0" bIns="0" rtlCol="0" anchor="ctr"/>
          <a:lstStyle/>
          <a:p>
            <a:pPr algn="ctr" indent="0" marL="0">
              <a:buNone/>
            </a:pPr>
            <a:r>
              <a:rPr lang="en-US" sz="1200" b="1" dirty="0">
                <a:solidFill>
                  <a:srgbClr val="6D3FC0"/>
                </a:solidFill>
                <a:latin typeface="Calibri" pitchFamily="34" charset="0"/>
                <a:ea typeface="Calibri" pitchFamily="34" charset="-122"/>
                <a:cs typeface="Calibri" pitchFamily="34" charset="-120"/>
              </a:rPr>
              <a:t>⏱ 10 min</a:t>
            </a:r>
            <a:endParaRPr lang="en-US" sz="1200" dirty="0"/>
          </a:p>
        </p:txBody>
      </p:sp>
      <p:sp>
        <p:nvSpPr>
          <p:cNvPr id="6" name="extra_181"/>
          <p:cNvSpPr txBox="1"/>
          <p:nvPr/>
        </p:nvSpPr>
        <p:spPr>
          <a:xfrm rot="360000">
            <a:off x="5943600" y="201168"/>
            <a:ext cx="1005840" cy="347472"/>
          </a:xfrm>
          <a:prstGeom prst="roundRect">
            <a:avLst>
              <a:gd name="adj" fmla="val 21053"/>
            </a:avLst>
          </a:prstGeom>
          <a:solidFill>
            <a:srgbClr val="1FA463"/>
          </a:solidFill>
          <a:ln w="31750">
            <a:solidFill>
              <a:srgbClr val="111111"/>
            </a:solidFill>
          </a:ln>
        </p:spPr>
        <p:txBody>
          <a:bodyPr wrap="square" rtlCol="0" anchor="ctr"/>
          <a:lstStyle/>
          <a:p>
            <a:pPr algn="ctr" indent="0" marL="0">
              <a:buNone/>
            </a:pPr>
            <a:r>
              <a:rPr lang="en-US" sz="1300" dirty="0">
                <a:solidFill>
                  <a:srgbClr val="FFFFFF"/>
                </a:solidFill>
                <a:latin typeface="Arial Black" pitchFamily="34" charset="0"/>
                <a:ea typeface="Arial Black" pitchFamily="34" charset="-122"/>
                <a:cs typeface="Arial Black" pitchFamily="34" charset="-120"/>
              </a:rPr>
              <a:t>EXTRA</a:t>
            </a:r>
            <a:endParaRPr lang="en-US" sz="1300" dirty="0"/>
          </a:p>
        </p:txBody>
      </p:sp>
      <p:sp>
        <p:nvSpPr>
          <p:cNvPr id="7" name="footer_182"/>
          <p:cNvSpPr txBox="1"/>
          <p:nvPr/>
        </p:nvSpPr>
        <p:spPr>
          <a:xfrm>
            <a:off x="7132320" y="4818888"/>
            <a:ext cx="1737360" cy="219456"/>
          </a:xfrm>
          <a:prstGeom prst="rect">
            <a:avLst/>
          </a:prstGeom>
          <a:solidFill>
            <a:srgbClr val="FFFFFF"/>
          </a:solidFill>
          <a:ln/>
        </p:spPr>
        <p:txBody>
          <a:bodyPr wrap="square" lIns="0" tIns="0" rIns="0" bIns="0" rtlCol="0" anchor="ctr"/>
          <a:lstStyle/>
          <a:p>
            <a:pPr algn="ctr" indent="0" marL="0">
              <a:buNone/>
            </a:pPr>
            <a:r>
              <a:rPr lang="en-US" sz="1000" dirty="0">
                <a:solidFill>
                  <a:srgbClr val="334155"/>
                </a:solidFill>
                <a:latin typeface="Calibri" pitchFamily="34" charset="0"/>
                <a:ea typeface="Calibri" pitchFamily="34" charset="-122"/>
                <a:cs typeface="Calibri" pitchFamily="34" charset="-120"/>
              </a:rPr>
              <a:t>Kitchen English · L9</a:t>
            </a:r>
            <a:endParaRPr lang="en-US" sz="1000" dirty="0"/>
          </a:p>
        </p:txBody>
      </p:sp>
      <p:sp>
        <p:nvSpPr>
          <p:cNvPr id="8" name="title_183"/>
          <p:cNvSpPr txBox="1"/>
          <p:nvPr/>
        </p:nvSpPr>
        <p:spPr>
          <a:xfrm rot="-120000">
            <a:off x="320040" y="676656"/>
            <a:ext cx="4846320" cy="530352"/>
          </a:xfrm>
          <a:prstGeom prst="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127000" tIns="127000" rIns="127000" bIns="127000" rtlCol="0" anchor="ctr"/>
          <a:lstStyle/>
          <a:p>
            <a:pPr indent="0" marL="0">
              <a:buNone/>
            </a:pPr>
            <a:r>
              <a:rPr lang="en-US" sz="2000" dirty="0">
                <a:solidFill>
                  <a:srgbClr val="111111"/>
                </a:solidFill>
                <a:latin typeface="Arial Black" pitchFamily="34" charset="0"/>
                <a:ea typeface="Arial Black" pitchFamily="34" charset="-122"/>
                <a:cs typeface="Arial Black" pitchFamily="34" charset="-120"/>
              </a:rPr>
              <a:t>A busy service goes wrong</a:t>
            </a:r>
            <a:endParaRPr lang="en-US" sz="2000" dirty="0"/>
          </a:p>
        </p:txBody>
      </p:sp>
      <p:sp>
        <p:nvSpPr>
          <p:cNvPr id="9" name="post_184"/>
          <p:cNvSpPr/>
          <p:nvPr/>
        </p:nvSpPr>
        <p:spPr>
          <a:xfrm>
            <a:off x="429768" y="1554480"/>
            <a:ext cx="128016" cy="2194560"/>
          </a:xfrm>
          <a:prstGeom prst="rect">
            <a:avLst/>
          </a:prstGeom>
          <a:solidFill>
            <a:srgbClr val="8B5A2B"/>
          </a:solidFill>
          <a:ln w="31750">
            <a:solidFill>
              <a:srgbClr val="111111"/>
            </a:solidFill>
            <a:prstDash val="solid"/>
          </a:ln>
        </p:spPr>
      </p:sp>
      <p:sp>
        <p:nvSpPr>
          <p:cNvPr id="10" name="signA_185"/>
          <p:cNvSpPr txBox="1"/>
          <p:nvPr/>
        </p:nvSpPr>
        <p:spPr>
          <a:xfrm rot="-180000">
            <a:off x="320040" y="1371600"/>
            <a:ext cx="2240280" cy="457200"/>
          </a:xfrm>
          <a:prstGeom prst="homePlate">
            <a:avLst/>
          </a:prstGeom>
          <a:solidFill>
            <a:srgbClr val="F59E0B"/>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WATCH!</a:t>
            </a:r>
            <a:pPr indent="0" marL="0">
              <a:buNone/>
            </a:pPr>
            <a:r>
              <a:rPr lang="en-US" sz="1000" dirty="0">
                <a:solidFill>
                  <a:srgbClr val="FFF3B0"/>
                </a:solidFill>
                <a:latin typeface="Arial Black" pitchFamily="34" charset="0"/>
                <a:ea typeface="Arial Black" pitchFamily="34" charset="-122"/>
                <a:cs typeface="Arial Black" pitchFamily="34" charset="-120"/>
              </a:rPr>
              <a:t>  GUARDA!</a:t>
            </a:r>
            <a:endParaRPr lang="en-US" sz="1500" dirty="0"/>
          </a:p>
        </p:txBody>
      </p:sp>
      <p:sp>
        <p:nvSpPr>
          <p:cNvPr id="11" name="signB_186"/>
          <p:cNvSpPr txBox="1"/>
          <p:nvPr/>
        </p:nvSpPr>
        <p:spPr>
          <a:xfrm rot="120000">
            <a:off x="365760" y="1938528"/>
            <a:ext cx="2240280" cy="1051560"/>
          </a:xfrm>
          <a:prstGeom prst="rect">
            <a:avLst/>
          </a:prstGeom>
          <a:solidFill>
            <a:srgbClr val="FFFFFF"/>
          </a:solidFill>
          <a:ln w="31750">
            <a:solidFill>
              <a:srgbClr val="111111"/>
            </a:solidFill>
          </a:ln>
        </p:spPr>
        <p:txBody>
          <a:bodyPr wrap="square" lIns="76200" tIns="76200" rIns="76200" bIns="76200" rtlCol="0" anchor="ctr"/>
          <a:lstStyle/>
          <a:p>
            <a:pPr indent="0" marL="0">
              <a:buNone/>
            </a:pPr>
            <a:r>
              <a:rPr lang="en-US" sz="1250" dirty="0">
                <a:solidFill>
                  <a:srgbClr val="111111"/>
                </a:solidFill>
                <a:latin typeface="Calibri" pitchFamily="34" charset="0"/>
                <a:ea typeface="Calibri" pitchFamily="34" charset="-122"/>
                <a:cs typeface="Calibri" pitchFamily="34" charset="-120"/>
              </a:rPr>
              <a:t>Watch a short part. What is going wrong?</a:t>
            </a:r>
            <a:endParaRPr lang="en-US" sz="1250" dirty="0"/>
          </a:p>
          <a:p>
            <a:pPr indent="0" marL="0">
              <a:buNone/>
            </a:pPr>
            <a:r>
              <a:rPr lang="en-US" sz="1100" i="1" dirty="0">
                <a:solidFill>
                  <a:srgbClr val="334155"/>
                </a:solidFill>
                <a:latin typeface="Calibri" pitchFamily="34" charset="0"/>
                <a:ea typeface="Calibri" pitchFamily="34" charset="-122"/>
                <a:cs typeface="Calibri" pitchFamily="34" charset="-120"/>
              </a:rPr>
              <a:t>Guarda una parte. Cosa va storto?</a:t>
            </a:r>
            <a:endParaRPr lang="en-US" sz="1250" dirty="0"/>
          </a:p>
        </p:txBody>
      </p:sp>
      <p:sp>
        <p:nvSpPr>
          <p:cNvPr id="12" name="screen_187"/>
          <p:cNvSpPr/>
          <p:nvPr/>
        </p:nvSpPr>
        <p:spPr>
          <a:xfrm>
            <a:off x="2788920" y="1371600"/>
            <a:ext cx="2743200" cy="1874520"/>
          </a:xfrm>
          <a:prstGeom prst="roundRect">
            <a:avLst>
              <a:gd name="adj" fmla="val 4878"/>
            </a:avLst>
          </a:prstGeom>
          <a:solidFill>
            <a:srgbClr val="1F1630"/>
          </a:solidFill>
          <a:ln w="31750">
            <a:solidFill>
              <a:srgbClr val="111111"/>
            </a:solidFill>
            <a:prstDash val="solid"/>
          </a:ln>
          <a:effectLst>
            <a:outerShdw sx="100000" sy="100000" kx="0" ky="0" algn="bl" rotWithShape="0" blurRad="101600" dist="38100" dir="2700000">
              <a:srgbClr val="000000">
                <a:alpha val="35000"/>
              </a:srgbClr>
            </a:outerShdw>
          </a:effectLst>
        </p:spPr>
      </p:sp>
      <p:sp>
        <p:nvSpPr>
          <p:cNvPr id="13" name="play_188">
            <a:hlinkClick r:id="rId3" tooltip="Gordon Ramsay Catches A Possibly Lethal Mistake"/>
          </p:cNvPr>
          <p:cNvSpPr txBox="1"/>
          <p:nvPr/>
        </p:nvSpPr>
        <p:spPr>
          <a:xfrm>
            <a:off x="3749040" y="1874520"/>
            <a:ext cx="822960" cy="822960"/>
          </a:xfrm>
          <a:prstGeom prst="ellipse">
            <a:avLst/>
          </a:prstGeom>
          <a:solidFill>
            <a:srgbClr val="EF2F2F"/>
          </a:solidFill>
          <a:ln w="19050">
            <a:solidFill>
              <a:srgbClr val="111111"/>
            </a:solidFill>
          </a:ln>
        </p:spPr>
        <p:txBody>
          <a:bodyPr wrap="square" lIns="0" tIns="0" rIns="0" bIns="0" rtlCol="0" anchor="ctr"/>
          <a:lstStyle/>
          <a:p>
            <a:pPr algn="ctr" indent="0" marL="0">
              <a:buNone/>
            </a:pPr>
            <a:r>
              <a:rPr lang="en-US" sz="2600" u="sng" dirty="0">
                <a:solidFill>
                  <a:srgbClr val="FFFFFF"/>
                </a:solidFill>
                <a:latin typeface="Calibri" pitchFamily="34" charset="0"/>
                <a:ea typeface="Calibri" pitchFamily="34" charset="-122"/>
                <a:cs typeface="Calibri" pitchFamily="34" charset="-120"/>
                <a:hlinkClick r:id="rId3" invalidUrl="" action="" tgtFrame="" tooltip="Gordon Ramsay Catches A Possibly Lethal Mistake" history="1" highlightClick="0" endSnd="0">
                  <a:extLst>
                    <a:ext uri="{A12FA001-AC4F-418D-AE19-62706E023703}">
                      <ahyp:hlinkClr xmlns:ahyp="http://schemas.microsoft.com/office/drawing/2018/hyperlinkcolor" val="tx"/>
                    </a:ext>
                  </a:extLst>
                </a:hlinkClick>
              </a:rPr>
              <a:t>▶</a:t>
            </a:r>
            <a:endParaRPr lang="en-US" sz="2600" dirty="0"/>
          </a:p>
        </p:txBody>
      </p:sp>
      <p:sp>
        <p:nvSpPr>
          <p:cNvPr id="14" name="vt_189"/>
          <p:cNvSpPr txBox="1"/>
          <p:nvPr/>
        </p:nvSpPr>
        <p:spPr>
          <a:xfrm>
            <a:off x="2788920" y="3310128"/>
            <a:ext cx="2743200" cy="658368"/>
          </a:xfrm>
          <a:prstGeom prst="rect">
            <a:avLst/>
          </a:prstGeom>
          <a:solidFill>
            <a:srgbClr val="FFFFFF"/>
          </a:solidFill>
          <a:ln w="15875">
            <a:solidFill>
              <a:srgbClr val="111111"/>
            </a:solidFill>
          </a:ln>
        </p:spPr>
        <p:txBody>
          <a:bodyPr wrap="square" lIns="76200" tIns="76200" rIns="76200" bIns="76200" rtlCol="0" anchor="ctr"/>
          <a:lstStyle/>
          <a:p>
            <a:pPr indent="0" marL="0">
              <a:buNone/>
            </a:pPr>
            <a:r>
              <a:rPr lang="en-US" sz="1200" b="1" u="sng" dirty="0">
                <a:solidFill>
                  <a:srgbClr val="11111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Gordon Ramsay Catches A Possibly Lethal Mistake</a:t>
            </a:r>
            <a:endParaRPr lang="en-US" sz="1200" dirty="0"/>
          </a:p>
          <a:p>
            <a:pPr indent="0" marL="0">
              <a:buNone/>
            </a:pPr>
            <a:r>
              <a:rPr lang="en-US" sz="1050" dirty="0">
                <a:solidFill>
                  <a:srgbClr val="475569"/>
                </a:solidFill>
                <a:latin typeface="Calibri" pitchFamily="34" charset="0"/>
                <a:ea typeface="Calibri" pitchFamily="34" charset="-122"/>
                <a:cs typeface="Calibri" pitchFamily="34" charset="-120"/>
              </a:rPr>
              <a:t>Kitchen Nightmares · choose 3–5 min · click ▶ to open</a:t>
            </a:r>
            <a:endParaRPr lang="en-US" sz="1200" dirty="0"/>
          </a:p>
        </p:txBody>
      </p:sp>
      <p:sp>
        <p:nvSpPr>
          <p:cNvPr id="15" name="wyw_190"/>
          <p:cNvSpPr txBox="1"/>
          <p:nvPr/>
        </p:nvSpPr>
        <p:spPr>
          <a:xfrm>
            <a:off x="5669280" y="1371600"/>
            <a:ext cx="3154680" cy="347472"/>
          </a:xfrm>
          <a:prstGeom prst="rect">
            <a:avLst/>
          </a:prstGeom>
          <a:solidFill>
            <a:srgbClr val="F59E0B"/>
          </a:solidFill>
          <a:ln w="19050">
            <a:solidFill>
              <a:srgbClr val="111111"/>
            </a:solidFill>
          </a:ln>
        </p:spPr>
        <p:txBody>
          <a:bodyPr wrap="square" lIns="25400" tIns="25400" rIns="25400" bIns="25400" rtlCol="0" anchor="ctr"/>
          <a:lstStyle/>
          <a:p>
            <a:pPr algn="ctr" indent="0" marL="0">
              <a:buNone/>
            </a:pPr>
            <a:r>
              <a:rPr lang="en-US" sz="1150" dirty="0">
                <a:solidFill>
                  <a:srgbClr val="FFFFFF"/>
                </a:solidFill>
                <a:latin typeface="Arial Black" pitchFamily="34" charset="0"/>
                <a:ea typeface="Arial Black" pitchFamily="34" charset="-122"/>
                <a:cs typeface="Arial Black" pitchFamily="34" charset="-120"/>
              </a:rPr>
              <a:t>While you watch · Mentre guardi</a:t>
            </a:r>
            <a:endParaRPr lang="en-US" sz="1150" dirty="0"/>
          </a:p>
        </p:txBody>
      </p:sp>
      <p:sp>
        <p:nvSpPr>
          <p:cNvPr id="16" name="box_191"/>
          <p:cNvSpPr txBox="1"/>
          <p:nvPr/>
        </p:nvSpPr>
        <p:spPr>
          <a:xfrm>
            <a:off x="5669280" y="1810512"/>
            <a:ext cx="3154680" cy="713232"/>
          </a:xfrm>
          <a:prstGeom prst="rect">
            <a:avLst/>
          </a:prstGeom>
          <a:solidFill>
            <a:srgbClr val="E0F2FE"/>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1  What is the problem?</a:t>
            </a:r>
            <a:endParaRPr lang="en-US" sz="1250" dirty="0"/>
          </a:p>
        </p:txBody>
      </p:sp>
      <p:sp>
        <p:nvSpPr>
          <p:cNvPr id="17" name="box_192"/>
          <p:cNvSpPr txBox="1"/>
          <p:nvPr/>
        </p:nvSpPr>
        <p:spPr>
          <a:xfrm>
            <a:off x="5669280" y="2615184"/>
            <a:ext cx="3154680" cy="713232"/>
          </a:xfrm>
          <a:prstGeom prst="rect">
            <a:avLst/>
          </a:prstGeom>
          <a:solidFill>
            <a:srgbClr val="FCE7F3"/>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2  What are the chefs doing wrong?</a:t>
            </a:r>
            <a:endParaRPr lang="en-US" sz="1250" dirty="0"/>
          </a:p>
        </p:txBody>
      </p:sp>
      <p:sp>
        <p:nvSpPr>
          <p:cNvPr id="18" name="box_193"/>
          <p:cNvSpPr txBox="1"/>
          <p:nvPr/>
        </p:nvSpPr>
        <p:spPr>
          <a:xfrm>
            <a:off x="5669280" y="3419856"/>
            <a:ext cx="3154680" cy="713232"/>
          </a:xfrm>
          <a:prstGeom prst="rect">
            <a:avLst/>
          </a:prstGeom>
          <a:solidFill>
            <a:srgbClr val="FEF9C3"/>
          </a:solidFill>
          <a:ln w="15875">
            <a:solidFill>
              <a:srgbClr val="111111"/>
            </a:solidFill>
          </a:ln>
        </p:spPr>
        <p:txBody>
          <a:bodyPr wrap="square" lIns="76200" tIns="76200" rIns="76200" bIns="76200" rtlCol="0" anchor="ctr"/>
          <a:lstStyle/>
          <a:p>
            <a:pPr algn="l" indent="0" marL="0">
              <a:buNone/>
            </a:pPr>
            <a:r>
              <a:rPr lang="en-US" sz="1250" dirty="0">
                <a:solidFill>
                  <a:srgbClr val="111111"/>
                </a:solidFill>
                <a:latin typeface="Calibri" pitchFamily="34" charset="0"/>
                <a:ea typeface="Calibri" pitchFamily="34" charset="-122"/>
                <a:cs typeface="Calibri" pitchFamily="34" charset="-120"/>
              </a:rPr>
              <a:t>3  What should they do? Use must / mustn't.</a:t>
            </a:r>
            <a:endParaRPr lang="en-US" sz="1250" dirty="0"/>
          </a:p>
        </p:txBody>
      </p:sp>
      <p:sp>
        <p:nvSpPr>
          <p:cNvPr id="19" name="bubble_194"/>
          <p:cNvSpPr txBox="1"/>
          <p:nvPr/>
        </p:nvSpPr>
        <p:spPr>
          <a:xfrm>
            <a:off x="2788920" y="4069080"/>
            <a:ext cx="2743200" cy="603504"/>
          </a:xfrm>
          <a:prstGeom prst="roundRect">
            <a:avLst/>
          </a:prstGeom>
          <a:solidFill>
            <a:srgbClr val="FFD84D"/>
          </a:solidFill>
          <a:ln w="31750">
            <a:solidFill>
              <a:srgbClr val="111111"/>
            </a:solidFill>
          </a:ln>
          <a:effectLst>
            <a:outerShdw sx="100000" sy="100000" kx="0" ky="0" algn="bl" rotWithShape="0" blurRad="101600" dist="38100" dir="2700000">
              <a:srgbClr val="000000">
                <a:alpha val="35000"/>
              </a:srgbClr>
            </a:outerShdw>
          </a:effectLst>
        </p:spPr>
        <p:txBody>
          <a:bodyPr wrap="square" lIns="76200" tIns="76200" rIns="76200" bIns="76200" rtlCol="0" anchor="ctr"/>
          <a:lstStyle/>
          <a:p>
            <a:pPr algn="ctr" indent="0" marL="0">
              <a:buNone/>
            </a:pPr>
            <a:r>
              <a:rPr lang="en-US" sz="1200" b="1" dirty="0">
                <a:solidFill>
                  <a:srgbClr val="111111"/>
                </a:solidFill>
                <a:latin typeface="Calibri" pitchFamily="34" charset="0"/>
                <a:ea typeface="Calibri" pitchFamily="34" charset="-122"/>
                <a:cs typeface="Calibri" pitchFamily="34" charset="-120"/>
              </a:rPr>
              <a:t>Has this happened in your kitchen?</a:t>
            </a:r>
            <a:endParaRPr lang="en-US" sz="1200" dirty="0"/>
          </a:p>
        </p:txBody>
      </p:sp>
    </p:spTree>
  </p:cSld>
  <p:clrMapOvr>
    <a:masterClrMapping/>
  </p:clrMapOvr>
  <p:transition spd="med">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London Language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Kitchen English L9 Service!</dc:title>
  <dc:subject>PptxGenJS Presentation</dc:subject>
  <dc:creator>London Language School</dc:creator>
  <cp:lastModifiedBy>London Language School</cp:lastModifiedBy>
  <cp:revision>1</cp:revision>
  <dcterms:created xsi:type="dcterms:W3CDTF">2026-10-05T06:50:57Z</dcterms:created>
  <dcterms:modified xsi:type="dcterms:W3CDTF">2026-10-05T06:50:57Z</dcterms:modified>
</cp:coreProperties>
</file>